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42837"/>
                  </a:solidFill>
                  <a:latin typeface="Times New Roman"/>
                </a:rPr>
                <a:t>Collect transitions
(sₜ, aₜ, rₜ, cₖ,ₜ, sₜ₊₁)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142837"/>
                  </a:solidFill>
                  <a:latin typeface="Times New Roman"/>
                </a:rPr>
                <a:t>Rollout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25529"/>
                  </a:solidFill>
                  <a:latin typeface="Times New Roman"/>
                </a:rPr>
                <a:t>Soft / hard</a:t>
              </a:r>
            </a:p>
          </p:txBody>
        </p:sp>
        <p:sp>
          <p:nvSpPr>
            <p:cNvPr id="154" name="capmini0_0_0"/>
            <p:cNvSpPr/>
            <p:nvPr/>
          </p:nvSpPr>
          <p:spPr>
            <a:xfrm>
              <a:off x="1991226" y="800100"/>
              <a:ext cx="44366" cy="58653"/>
            </a:xfrm>
            <a:prstGeom prst="rect">
              <a:avLst/>
            </a:prstGeom>
            <a:solidFill>
              <a:srgbClr val="03823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capmini0_0_1"/>
            <p:cNvSpPr/>
            <p:nvPr/>
          </p:nvSpPr>
          <p:spPr>
            <a:xfrm>
              <a:off x="2035592" y="800100"/>
              <a:ext cx="44366" cy="58653"/>
            </a:xfrm>
            <a:prstGeom prst="rect">
              <a:avLst/>
            </a:prstGeom>
            <a:solidFill>
              <a:srgbClr val="E2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apmini0_0_2"/>
            <p:cNvSpPr/>
            <p:nvPr/>
          </p:nvSpPr>
          <p:spPr>
            <a:xfrm>
              <a:off x="2079959" y="800100"/>
              <a:ext cx="44366" cy="58653"/>
            </a:xfrm>
            <a:prstGeom prst="rect">
              <a:avLst/>
            </a:prstGeom>
            <a:solidFill>
              <a:srgbClr val="EA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capmini0_0_3"/>
            <p:cNvSpPr/>
            <p:nvPr/>
          </p:nvSpPr>
          <p:spPr>
            <a:xfrm>
              <a:off x="2124325" y="800100"/>
              <a:ext cx="44366" cy="58653"/>
            </a:xfrm>
            <a:prstGeom prst="rect">
              <a:avLst/>
            </a:prstGeom>
            <a:solidFill>
              <a:srgbClr val="E8F7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apmini0_1_0"/>
            <p:cNvSpPr/>
            <p:nvPr/>
          </p:nvSpPr>
          <p:spPr>
            <a:xfrm>
              <a:off x="1991226" y="858753"/>
              <a:ext cx="44366" cy="58653"/>
            </a:xfrm>
            <a:prstGeom prst="rect">
              <a:avLst/>
            </a:prstGeom>
            <a:solidFill>
              <a:srgbClr val="C3E4C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pmini0_1_1"/>
            <p:cNvSpPr/>
            <p:nvPr/>
          </p:nvSpPr>
          <p:spPr>
            <a:xfrm>
              <a:off x="2035592" y="858753"/>
              <a:ext cx="44366" cy="58653"/>
            </a:xfrm>
            <a:prstGeom prst="rect">
              <a:avLst/>
            </a:prstGeom>
            <a:solidFill>
              <a:srgbClr val="007C3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pmini0_1_2"/>
            <p:cNvSpPr/>
            <p:nvPr/>
          </p:nvSpPr>
          <p:spPr>
            <a:xfrm>
              <a:off x="2079959" y="858753"/>
              <a:ext cx="44366" cy="58653"/>
            </a:xfrm>
            <a:prstGeom prst="rect">
              <a:avLst/>
            </a:prstGeom>
            <a:solidFill>
              <a:srgbClr val="1E64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capmini0_1_3"/>
            <p:cNvSpPr/>
            <p:nvPr/>
          </p:nvSpPr>
          <p:spPr>
            <a:xfrm>
              <a:off x="2124325" y="858753"/>
              <a:ext cx="44366" cy="58653"/>
            </a:xfrm>
            <a:prstGeom prst="rect">
              <a:avLst/>
            </a:prstGeom>
            <a:solidFill>
              <a:srgbClr val="E8F8E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apmini0_2_0"/>
            <p:cNvSpPr/>
            <p:nvPr/>
          </p:nvSpPr>
          <p:spPr>
            <a:xfrm>
              <a:off x="1991226" y="917407"/>
              <a:ext cx="44366" cy="58653"/>
            </a:xfrm>
            <a:prstGeom prst="rect">
              <a:avLst/>
            </a:prstGeom>
            <a:solidFill>
              <a:srgbClr val="FCFE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pmini0_2_1"/>
            <p:cNvSpPr/>
            <p:nvPr/>
          </p:nvSpPr>
          <p:spPr>
            <a:xfrm>
              <a:off x="2035592" y="917407"/>
              <a:ext cx="44366" cy="58653"/>
            </a:xfrm>
            <a:prstGeom prst="rect">
              <a:avLst/>
            </a:prstGeom>
            <a:solidFill>
              <a:srgbClr val="8DC89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pmini0_2_2"/>
            <p:cNvSpPr/>
            <p:nvPr/>
          </p:nvSpPr>
          <p:spPr>
            <a:xfrm>
              <a:off x="2079959" y="917407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pmini0_2_3"/>
            <p:cNvSpPr/>
            <p:nvPr/>
          </p:nvSpPr>
          <p:spPr>
            <a:xfrm>
              <a:off x="2124325" y="917407"/>
              <a:ext cx="44366" cy="58653"/>
            </a:xfrm>
            <a:prstGeom prst="rect">
              <a:avLst/>
            </a:prstGeom>
            <a:solidFill>
              <a:srgbClr val="71BD7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pmini0_3_0"/>
            <p:cNvSpPr/>
            <p:nvPr/>
          </p:nvSpPr>
          <p:spPr>
            <a:xfrm>
              <a:off x="1991226" y="976061"/>
              <a:ext cx="44366" cy="58653"/>
            </a:xfrm>
            <a:prstGeom prst="rect">
              <a:avLst/>
            </a:prstGeom>
            <a:solidFill>
              <a:srgbClr val="D8EED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pmini0_3_1"/>
            <p:cNvSpPr/>
            <p:nvPr/>
          </p:nvSpPr>
          <p:spPr>
            <a:xfrm>
              <a:off x="2035592" y="976061"/>
              <a:ext cx="44366" cy="58653"/>
            </a:xfrm>
            <a:prstGeom prst="rect">
              <a:avLst/>
            </a:prstGeom>
            <a:solidFill>
              <a:srgbClr val="F9FBF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pmini0_3_2"/>
            <p:cNvSpPr/>
            <p:nvPr/>
          </p:nvSpPr>
          <p:spPr>
            <a:xfrm>
              <a:off x="2079959" y="976061"/>
              <a:ext cx="44366" cy="58653"/>
            </a:xfrm>
            <a:prstGeom prst="rect">
              <a:avLst/>
            </a:prstGeom>
            <a:solidFill>
              <a:srgbClr val="0170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capmini0_3_3"/>
            <p:cNvSpPr/>
            <p:nvPr/>
          </p:nvSpPr>
          <p:spPr>
            <a:xfrm>
              <a:off x="2124325" y="976061"/>
              <a:ext cx="44366" cy="58653"/>
            </a:xfrm>
            <a:prstGeom prst="rect">
              <a:avLst/>
            </a:prstGeom>
            <a:solidFill>
              <a:srgbClr val="F5FAF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capmini1_0_0"/>
            <p:cNvSpPr/>
            <p:nvPr/>
          </p:nvSpPr>
          <p:spPr>
            <a:xfrm>
              <a:off x="2234865" y="800100"/>
              <a:ext cx="44366" cy="58653"/>
            </a:xfrm>
            <a:prstGeom prst="rect">
              <a:avLst/>
            </a:prstGeom>
            <a:solidFill>
              <a:srgbClr val="01843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capmini1_0_1"/>
            <p:cNvSpPr/>
            <p:nvPr/>
          </p:nvSpPr>
          <p:spPr>
            <a:xfrm>
              <a:off x="2279232" y="800100"/>
              <a:ext cx="44366" cy="58653"/>
            </a:xfrm>
            <a:prstGeom prst="rect">
              <a:avLst/>
            </a:prstGeom>
            <a:solidFill>
              <a:srgbClr val="DCF0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capmini1_0_2"/>
            <p:cNvSpPr/>
            <p:nvPr/>
          </p:nvSpPr>
          <p:spPr>
            <a:xfrm>
              <a:off x="2323598" y="800100"/>
              <a:ext cx="44366" cy="58653"/>
            </a:xfrm>
            <a:prstGeom prst="rect">
              <a:avLst/>
            </a:prstGeom>
            <a:solidFill>
              <a:srgbClr val="F2FA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capmini1_0_3"/>
            <p:cNvSpPr/>
            <p:nvPr/>
          </p:nvSpPr>
          <p:spPr>
            <a:xfrm>
              <a:off x="2367965" y="800100"/>
              <a:ext cx="44366" cy="58653"/>
            </a:xfrm>
            <a:prstGeom prst="rect">
              <a:avLst/>
            </a:prstGeom>
            <a:solidFill>
              <a:srgbClr val="E2F4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capmini1_1_0"/>
            <p:cNvSpPr/>
            <p:nvPr/>
          </p:nvSpPr>
          <p:spPr>
            <a:xfrm>
              <a:off x="2234865" y="858753"/>
              <a:ext cx="44366" cy="58653"/>
            </a:xfrm>
            <a:prstGeom prst="rect">
              <a:avLst/>
            </a:prstGeom>
            <a:solidFill>
              <a:srgbClr val="BFE3C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capmini1_1_1"/>
            <p:cNvSpPr/>
            <p:nvPr/>
          </p:nvSpPr>
          <p:spPr>
            <a:xfrm>
              <a:off x="2279232" y="858753"/>
              <a:ext cx="44366" cy="58653"/>
            </a:xfrm>
            <a:prstGeom prst="rect">
              <a:avLst/>
            </a:prstGeom>
            <a:solidFill>
              <a:srgbClr val="0173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capmini1_1_2"/>
            <p:cNvSpPr/>
            <p:nvPr/>
          </p:nvSpPr>
          <p:spPr>
            <a:xfrm>
              <a:off x="2323598" y="858753"/>
              <a:ext cx="44366" cy="58653"/>
            </a:xfrm>
            <a:prstGeom prst="rect">
              <a:avLst/>
            </a:prstGeom>
            <a:solidFill>
              <a:srgbClr val="0B4B1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capmini1_1_3"/>
            <p:cNvSpPr/>
            <p:nvPr/>
          </p:nvSpPr>
          <p:spPr>
            <a:xfrm>
              <a:off x="2367965" y="858753"/>
              <a:ext cx="44366" cy="58653"/>
            </a:xfrm>
            <a:prstGeom prst="rect">
              <a:avLst/>
            </a:prstGeom>
            <a:solidFill>
              <a:srgbClr val="E3F5E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capmini1_2_0"/>
            <p:cNvSpPr/>
            <p:nvPr/>
          </p:nvSpPr>
          <p:spPr>
            <a:xfrm>
              <a:off x="2234865" y="917407"/>
              <a:ext cx="44366" cy="58653"/>
            </a:xfrm>
            <a:prstGeom prst="rect">
              <a:avLst/>
            </a:prstGeom>
            <a:solidFill>
              <a:srgbClr val="FCFD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apmini1_2_1"/>
            <p:cNvSpPr/>
            <p:nvPr/>
          </p:nvSpPr>
          <p:spPr>
            <a:xfrm>
              <a:off x="2279232" y="917407"/>
              <a:ext cx="44366" cy="58653"/>
            </a:xfrm>
            <a:prstGeom prst="rect">
              <a:avLst/>
            </a:prstGeom>
            <a:solidFill>
              <a:srgbClr val="8AC68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capmini1_2_2"/>
            <p:cNvSpPr/>
            <p:nvPr/>
          </p:nvSpPr>
          <p:spPr>
            <a:xfrm>
              <a:off x="2323598" y="917407"/>
              <a:ext cx="44366" cy="58653"/>
            </a:xfrm>
            <a:prstGeom prst="rect">
              <a:avLst/>
            </a:prstGeom>
            <a:solidFill>
              <a:srgbClr val="D3EED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pmini1_2_3"/>
            <p:cNvSpPr/>
            <p:nvPr/>
          </p:nvSpPr>
          <p:spPr>
            <a:xfrm>
              <a:off x="2367965" y="917407"/>
              <a:ext cx="44366" cy="58653"/>
            </a:xfrm>
            <a:prstGeom prst="rect">
              <a:avLst/>
            </a:prstGeom>
            <a:solidFill>
              <a:srgbClr val="72BE7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apmini1_3_0"/>
            <p:cNvSpPr/>
            <p:nvPr/>
          </p:nvSpPr>
          <p:spPr>
            <a:xfrm>
              <a:off x="2234865" y="976061"/>
              <a:ext cx="44366" cy="58653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apmini1_3_1"/>
            <p:cNvSpPr/>
            <p:nvPr/>
          </p:nvSpPr>
          <p:spPr>
            <a:xfrm>
              <a:off x="2279232" y="976061"/>
              <a:ext cx="44366" cy="58653"/>
            </a:xfrm>
            <a:prstGeom prst="rect">
              <a:avLst/>
            </a:prstGeom>
            <a:solidFill>
              <a:srgbClr val="F6F9F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apmini1_3_2"/>
            <p:cNvSpPr/>
            <p:nvPr/>
          </p:nvSpPr>
          <p:spPr>
            <a:xfrm>
              <a:off x="2323598" y="976061"/>
              <a:ext cx="44366" cy="58653"/>
            </a:xfrm>
            <a:prstGeom prst="rect">
              <a:avLst/>
            </a:prstGeom>
            <a:solidFill>
              <a:srgbClr val="006E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apmini1_3_3"/>
            <p:cNvSpPr/>
            <p:nvPr/>
          </p:nvSpPr>
          <p:spPr>
            <a:xfrm>
              <a:off x="2367965" y="976061"/>
              <a:ext cx="44366" cy="58653"/>
            </a:xfrm>
            <a:prstGeom prst="rect">
              <a:avLst/>
            </a:prstGeom>
            <a:solidFill>
              <a:srgbClr val="ABCAB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apmini2_0_0"/>
            <p:cNvSpPr/>
            <p:nvPr/>
          </p:nvSpPr>
          <p:spPr>
            <a:xfrm>
              <a:off x="2547686" y="800100"/>
              <a:ext cx="44366" cy="58653"/>
            </a:xfrm>
            <a:prstGeom prst="rect">
              <a:avLst/>
            </a:prstGeom>
            <a:solidFill>
              <a:srgbClr val="07853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capmini2_0_1"/>
            <p:cNvSpPr/>
            <p:nvPr/>
          </p:nvSpPr>
          <p:spPr>
            <a:xfrm>
              <a:off x="2592053" y="800100"/>
              <a:ext cx="44366" cy="58653"/>
            </a:xfrm>
            <a:prstGeom prst="rect">
              <a:avLst/>
            </a:prstGeom>
            <a:solidFill>
              <a:srgbClr val="E1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capmini2_0_2"/>
            <p:cNvSpPr/>
            <p:nvPr/>
          </p:nvSpPr>
          <p:spPr>
            <a:xfrm>
              <a:off x="2636419" y="800100"/>
              <a:ext cx="44366" cy="58653"/>
            </a:xfrm>
            <a:prstGeom prst="rect">
              <a:avLst/>
            </a:prstGeom>
            <a:solidFill>
              <a:srgbClr val="ECF8E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capmini2_0_3"/>
            <p:cNvSpPr/>
            <p:nvPr/>
          </p:nvSpPr>
          <p:spPr>
            <a:xfrm>
              <a:off x="2680786" y="800100"/>
              <a:ext cx="44366" cy="58653"/>
            </a:xfrm>
            <a:prstGeom prst="rect">
              <a:avLst/>
            </a:prstGeom>
            <a:solidFill>
              <a:srgbClr val="E4F5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capmini2_1_0"/>
            <p:cNvSpPr/>
            <p:nvPr/>
          </p:nvSpPr>
          <p:spPr>
            <a:xfrm>
              <a:off x="2547686" y="858753"/>
              <a:ext cx="44366" cy="58653"/>
            </a:xfrm>
            <a:prstGeom prst="rect">
              <a:avLst/>
            </a:prstGeom>
            <a:solidFill>
              <a:srgbClr val="B9E1B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apmini2_1_1"/>
            <p:cNvSpPr/>
            <p:nvPr/>
          </p:nvSpPr>
          <p:spPr>
            <a:xfrm>
              <a:off x="2592053" y="858753"/>
              <a:ext cx="44366" cy="58653"/>
            </a:xfrm>
            <a:prstGeom prst="rect">
              <a:avLst/>
            </a:prstGeom>
            <a:solidFill>
              <a:srgbClr val="0367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capmini2_1_2"/>
            <p:cNvSpPr/>
            <p:nvPr/>
          </p:nvSpPr>
          <p:spPr>
            <a:xfrm>
              <a:off x="2636419" y="858753"/>
              <a:ext cx="44366" cy="58653"/>
            </a:xfrm>
            <a:prstGeom prst="rect">
              <a:avLst/>
            </a:prstGeom>
            <a:solidFill>
              <a:srgbClr val="4F865B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apmini2_1_3"/>
            <p:cNvSpPr/>
            <p:nvPr/>
          </p:nvSpPr>
          <p:spPr>
            <a:xfrm>
              <a:off x="2680786" y="858753"/>
              <a:ext cx="44366" cy="58653"/>
            </a:xfrm>
            <a:prstGeom prst="rect">
              <a:avLst/>
            </a:prstGeom>
            <a:solidFill>
              <a:srgbClr val="E1F5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capmini2_2_0"/>
            <p:cNvSpPr/>
            <p:nvPr/>
          </p:nvSpPr>
          <p:spPr>
            <a:xfrm>
              <a:off x="2547686" y="917407"/>
              <a:ext cx="44366" cy="58653"/>
            </a:xfrm>
            <a:prstGeom prst="rect">
              <a:avLst/>
            </a:prstGeom>
            <a:solidFill>
              <a:srgbClr val="FCFDF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capmini2_2_1"/>
            <p:cNvSpPr/>
            <p:nvPr/>
          </p:nvSpPr>
          <p:spPr>
            <a:xfrm>
              <a:off x="2592053" y="917407"/>
              <a:ext cx="44366" cy="58653"/>
            </a:xfrm>
            <a:prstGeom prst="rect">
              <a:avLst/>
            </a:prstGeom>
            <a:solidFill>
              <a:srgbClr val="95CA9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capmini2_2_2"/>
            <p:cNvSpPr/>
            <p:nvPr/>
          </p:nvSpPr>
          <p:spPr>
            <a:xfrm>
              <a:off x="2636419" y="917407"/>
              <a:ext cx="44366" cy="58653"/>
            </a:xfrm>
            <a:prstGeom prst="rect">
              <a:avLst/>
            </a:prstGeom>
            <a:solidFill>
              <a:srgbClr val="DEF4E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apmini2_2_3"/>
            <p:cNvSpPr/>
            <p:nvPr/>
          </p:nvSpPr>
          <p:spPr>
            <a:xfrm>
              <a:off x="2680786" y="917407"/>
              <a:ext cx="44366" cy="58653"/>
            </a:xfrm>
            <a:prstGeom prst="rect">
              <a:avLst/>
            </a:prstGeom>
            <a:solidFill>
              <a:srgbClr val="86C88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capmini2_3_0"/>
            <p:cNvSpPr/>
            <p:nvPr/>
          </p:nvSpPr>
          <p:spPr>
            <a:xfrm>
              <a:off x="2547686" y="976061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pmini2_3_1"/>
            <p:cNvSpPr/>
            <p:nvPr/>
          </p:nvSpPr>
          <p:spPr>
            <a:xfrm>
              <a:off x="2592053" y="976061"/>
              <a:ext cx="44366" cy="58653"/>
            </a:xfrm>
            <a:prstGeom prst="rect">
              <a:avLst/>
            </a:prstGeom>
            <a:solidFill>
              <a:srgbClr val="F3FA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pmini2_3_2"/>
            <p:cNvSpPr/>
            <p:nvPr/>
          </p:nvSpPr>
          <p:spPr>
            <a:xfrm>
              <a:off x="2636419" y="976061"/>
              <a:ext cx="44366" cy="58653"/>
            </a:xfrm>
            <a:prstGeom prst="rect">
              <a:avLst/>
            </a:prstGeom>
            <a:solidFill>
              <a:srgbClr val="016F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apmini2_3_3"/>
            <p:cNvSpPr/>
            <p:nvPr/>
          </p:nvSpPr>
          <p:spPr>
            <a:xfrm>
              <a:off x="2680786" y="976061"/>
              <a:ext cx="44366" cy="58653"/>
            </a:xfrm>
            <a:prstGeom prst="rect">
              <a:avLst/>
            </a:prstGeom>
            <a:solidFill>
              <a:srgbClr val="F3F6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apellipsis"/>
            <p:cNvSpPr txBox="1"/>
            <p:nvPr/>
          </p:nvSpPr>
          <p:spPr>
            <a:xfrm>
              <a:off x="2436394" y="821155"/>
              <a:ext cx="96252" cy="144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0" i="0">
                  <a:solidFill>
                    <a:srgbClr val="101010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203" name="compose_brace"/>
            <p:cNvSpPr/>
            <p:nvPr/>
          </p:nvSpPr>
          <p:spPr>
            <a:xfrm>
              <a:off x="1991226" y="1097881"/>
              <a:ext cx="718886" cy="75197"/>
            </a:xfrm>
            <a:custGeom>
              <a:avLst/>
              <a:gdLst/>
              <a:ahLst/>
              <a:cxnLst/>
              <a:rect l="0" t="0" r="r" b="b"/>
              <a:pathLst>
                <a:path w="718886" h="75197" fill="none">
                  <a:moveTo>
                    <a:pt x="0" y="0"/>
                  </a:moveTo>
                  <a:lnTo>
                    <a:pt x="12031" y="45118"/>
                  </a:lnTo>
                  <a:lnTo>
                    <a:pt x="339892" y="45118"/>
                  </a:lnTo>
                  <a:lnTo>
                    <a:pt x="354931" y="75197"/>
                  </a:lnTo>
                  <a:lnTo>
                    <a:pt x="369971" y="45118"/>
                  </a:lnTo>
                  <a:lnTo>
                    <a:pt x="718886" y="45118"/>
                  </a:lnTo>
                  <a:lnTo>
                    <a:pt x="718886" y="0"/>
                  </a:lnTo>
                </a:path>
              </a:pathLst>
            </a:custGeom>
            <a:noFill/>
            <a:ln w="60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brace_arrow"/>
            <p:cNvSpPr/>
            <p:nvPr/>
          </p:nvSpPr>
          <p:spPr>
            <a:xfrm>
              <a:off x="2346157" y="1152023"/>
              <a:ext cx="30" cy="123323"/>
            </a:xfrm>
            <a:custGeom>
              <a:avLst/>
              <a:gdLst/>
              <a:ahLst/>
              <a:cxnLst/>
              <a:rect l="0" t="0" r="r" b="b"/>
              <a:pathLst>
                <a:path w="1" h="123323" fill="none">
                  <a:moveTo>
                    <a:pt x="0" y="0"/>
                  </a:moveTo>
                  <a:lnTo>
                    <a:pt x="0" y="123323"/>
                  </a:lnTo>
                </a:path>
              </a:pathLst>
            </a:custGeom>
            <a:noFill/>
            <a:ln w="90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omposed_0_0"/>
            <p:cNvSpPr/>
            <p:nvPr/>
          </p:nvSpPr>
          <p:spPr>
            <a:xfrm>
              <a:off x="2195763" y="1482892"/>
              <a:ext cx="74445" cy="96252"/>
            </a:xfrm>
            <a:prstGeom prst="rect">
              <a:avLst/>
            </a:prstGeom>
            <a:solidFill>
              <a:srgbClr val="01713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mposed_0_1"/>
            <p:cNvSpPr/>
            <p:nvPr/>
          </p:nvSpPr>
          <p:spPr>
            <a:xfrm>
              <a:off x="2270208" y="1482892"/>
              <a:ext cx="74445" cy="96252"/>
            </a:xfrm>
            <a:prstGeom prst="rect">
              <a:avLst/>
            </a:prstGeom>
            <a:solidFill>
              <a:srgbClr val="E4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mposed_0_2"/>
            <p:cNvSpPr/>
            <p:nvPr/>
          </p:nvSpPr>
          <p:spPr>
            <a:xfrm>
              <a:off x="2344653" y="1482892"/>
              <a:ext cx="74445" cy="96252"/>
            </a:xfrm>
            <a:prstGeom prst="rect">
              <a:avLst/>
            </a:prstGeom>
            <a:solidFill>
              <a:srgbClr val="E8F5E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composed_0_3"/>
            <p:cNvSpPr/>
            <p:nvPr/>
          </p:nvSpPr>
          <p:spPr>
            <a:xfrm>
              <a:off x="2419099" y="1482892"/>
              <a:ext cx="74445" cy="96252"/>
            </a:xfrm>
            <a:prstGeom prst="rect">
              <a:avLst/>
            </a:prstGeom>
            <a:solidFill>
              <a:srgbClr val="EB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composed_1_0"/>
            <p:cNvSpPr/>
            <p:nvPr/>
          </p:nvSpPr>
          <p:spPr>
            <a:xfrm>
              <a:off x="2195763" y="1579144"/>
              <a:ext cx="74445" cy="96252"/>
            </a:xfrm>
            <a:prstGeom prst="rect">
              <a:avLst/>
            </a:prstGeom>
            <a:solidFill>
              <a:srgbClr val="A8D6A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composed_1_1"/>
            <p:cNvSpPr/>
            <p:nvPr/>
          </p:nvSpPr>
          <p:spPr>
            <a:xfrm>
              <a:off x="2270208" y="1579144"/>
              <a:ext cx="74445" cy="96252"/>
            </a:xfrm>
            <a:prstGeom prst="rect">
              <a:avLst/>
            </a:prstGeom>
            <a:solidFill>
              <a:srgbClr val="006C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omposed_1_2"/>
            <p:cNvSpPr/>
            <p:nvPr/>
          </p:nvSpPr>
          <p:spPr>
            <a:xfrm>
              <a:off x="2344653" y="1579144"/>
              <a:ext cx="74445" cy="96252"/>
            </a:xfrm>
            <a:prstGeom prst="rect">
              <a:avLst/>
            </a:prstGeom>
            <a:solidFill>
              <a:srgbClr val="D4E5D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omposed_1_3"/>
            <p:cNvSpPr/>
            <p:nvPr/>
          </p:nvSpPr>
          <p:spPr>
            <a:xfrm>
              <a:off x="2419099" y="1579144"/>
              <a:ext cx="74445" cy="96252"/>
            </a:xfrm>
            <a:prstGeom prst="rect">
              <a:avLst/>
            </a:prstGeom>
            <a:solidFill>
              <a:srgbClr val="EAF6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composed_2_0"/>
            <p:cNvSpPr/>
            <p:nvPr/>
          </p:nvSpPr>
          <p:spPr>
            <a:xfrm>
              <a:off x="2195763" y="1675397"/>
              <a:ext cx="74445" cy="96252"/>
            </a:xfrm>
            <a:prstGeom prst="rect">
              <a:avLst/>
            </a:prstGeom>
            <a:solidFill>
              <a:srgbClr val="F5FB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composed_2_1"/>
            <p:cNvSpPr/>
            <p:nvPr/>
          </p:nvSpPr>
          <p:spPr>
            <a:xfrm>
              <a:off x="2270208" y="1675397"/>
              <a:ext cx="74445" cy="96252"/>
            </a:xfrm>
            <a:prstGeom prst="rect">
              <a:avLst/>
            </a:prstGeom>
            <a:solidFill>
              <a:srgbClr val="8FC88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composed_2_2"/>
            <p:cNvSpPr/>
            <p:nvPr/>
          </p:nvSpPr>
          <p:spPr>
            <a:xfrm>
              <a:off x="2344653" y="1675397"/>
              <a:ext cx="74445" cy="96252"/>
            </a:xfrm>
            <a:prstGeom prst="rect">
              <a:avLst/>
            </a:prstGeom>
            <a:solidFill>
              <a:srgbClr val="E3F2E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mposed_2_3"/>
            <p:cNvSpPr/>
            <p:nvPr/>
          </p:nvSpPr>
          <p:spPr>
            <a:xfrm>
              <a:off x="2419099" y="1675397"/>
              <a:ext cx="74445" cy="96252"/>
            </a:xfrm>
            <a:prstGeom prst="rect">
              <a:avLst/>
            </a:prstGeom>
            <a:solidFill>
              <a:srgbClr val="3DA24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composed_3_0"/>
            <p:cNvSpPr/>
            <p:nvPr/>
          </p:nvSpPr>
          <p:spPr>
            <a:xfrm>
              <a:off x="2195763" y="1771650"/>
              <a:ext cx="74445" cy="96252"/>
            </a:xfrm>
            <a:prstGeom prst="rect">
              <a:avLst/>
            </a:prstGeom>
            <a:solidFill>
              <a:srgbClr val="D8EE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omposed_3_1"/>
            <p:cNvSpPr/>
            <p:nvPr/>
          </p:nvSpPr>
          <p:spPr>
            <a:xfrm>
              <a:off x="2270208" y="1771650"/>
              <a:ext cx="74445" cy="96252"/>
            </a:xfrm>
            <a:prstGeom prst="rect">
              <a:avLst/>
            </a:prstGeom>
            <a:solidFill>
              <a:srgbClr val="F3FA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mposed_3_2"/>
            <p:cNvSpPr/>
            <p:nvPr/>
          </p:nvSpPr>
          <p:spPr>
            <a:xfrm>
              <a:off x="2344653" y="1771650"/>
              <a:ext cx="74445" cy="96252"/>
            </a:xfrm>
            <a:prstGeom prst="rect">
              <a:avLst/>
            </a:prstGeom>
            <a:solidFill>
              <a:srgbClr val="0171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omposed_3_3"/>
            <p:cNvSpPr/>
            <p:nvPr/>
          </p:nvSpPr>
          <p:spPr>
            <a:xfrm>
              <a:off x="2419099" y="1771650"/>
              <a:ext cx="74445" cy="96252"/>
            </a:xfrm>
            <a:prstGeom prst="rect">
              <a:avLst/>
            </a:prstGeom>
            <a:solidFill>
              <a:srgbClr val="40924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omposebox"/>
            <p:cNvSpPr/>
            <p:nvPr/>
          </p:nvSpPr>
          <p:spPr>
            <a:xfrm>
              <a:off x="1982202" y="2048376"/>
              <a:ext cx="736934" cy="460207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ne_matrix"/>
            <p:cNvSpPr txBox="1"/>
            <p:nvPr/>
          </p:nvSpPr>
          <p:spPr>
            <a:xfrm>
              <a:off x="2021305" y="2328110"/>
              <a:ext cx="664744" cy="1173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soft: bₖ = Bₖ/L
hard: F_H = 0</a:t>
              </a:r>
            </a:p>
          </p:txBody>
        </p:sp>
        <p:grpSp>
          <p:nvGrpSpPr>
            <p:cNvPr id="223" name="cap_label0"/>
            <p:cNvGrpSpPr/>
            <p:nvPr/>
          </p:nvGrpSpPr>
          <p:grpSpPr>
            <a:xfrm>
              <a:off x="1997242" y="664074"/>
              <a:ext cx="129846" cy="82197"/>
              <a:chOff x="2013145" y="676114"/>
              <a:chExt cx="138897" cy="82197"/>
            </a:xfrm>
          </p:grpSpPr>
          <p:sp>
            <p:nvSpPr>
              <p:cNvPr id="224" name="cap_label0_outline_0"/>
              <p:cNvSpPr/>
              <p:nvPr/>
            </p:nvSpPr>
            <p:spPr>
              <a:xfrm>
                <a:off x="201314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ap_label0_outline_1"/>
              <p:cNvSpPr/>
              <p:nvPr/>
            </p:nvSpPr>
            <p:spPr>
              <a:xfrm>
                <a:off x="207724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ap_label0_outline_2"/>
              <p:cNvSpPr/>
              <p:nvPr/>
            </p:nvSpPr>
            <p:spPr>
              <a:xfrm>
                <a:off x="2106264" y="678781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7"/>
                      <a:pt x="4679" y="5397"/>
                    </a:cubicBezTo>
                    <a:cubicBezTo>
                      <a:pt x="6044" y="5397"/>
                      <a:pt x="6632" y="6374"/>
                      <a:pt x="6632" y="8453"/>
                    </a:cubicBezTo>
                    <a:lnTo>
                      <a:pt x="6632" y="37905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ap_label0_outline_3"/>
              <p:cNvSpPr/>
              <p:nvPr/>
            </p:nvSpPr>
            <p:spPr>
              <a:xfrm>
                <a:off x="213539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cap_label1"/>
            <p:cNvGrpSpPr/>
            <p:nvPr/>
          </p:nvGrpSpPr>
          <p:grpSpPr>
            <a:xfrm>
              <a:off x="2240881" y="664074"/>
              <a:ext cx="129845" cy="82197"/>
              <a:chOff x="2256785" y="676114"/>
              <a:chExt cx="138896" cy="82197"/>
            </a:xfrm>
          </p:grpSpPr>
          <p:sp>
            <p:nvSpPr>
              <p:cNvPr id="229" name="cap_label1_outline_0"/>
              <p:cNvSpPr/>
              <p:nvPr/>
            </p:nvSpPr>
            <p:spPr>
              <a:xfrm>
                <a:off x="225678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ap_label1_outline_1"/>
              <p:cNvSpPr/>
              <p:nvPr/>
            </p:nvSpPr>
            <p:spPr>
              <a:xfrm>
                <a:off x="2320886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ap_label1_outline_2"/>
              <p:cNvSpPr/>
              <p:nvPr/>
            </p:nvSpPr>
            <p:spPr>
              <a:xfrm>
                <a:off x="2344633" y="678781"/>
                <a:ext cx="28936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28936" h="43954">
                    <a:moveTo>
                      <a:pt x="28936" y="35048"/>
                    </a:moveTo>
                    <a:lnTo>
                      <a:pt x="28091" y="34723"/>
                    </a:lnTo>
                    <a:cubicBezTo>
                      <a:pt x="25686" y="38425"/>
                      <a:pt x="24840" y="39013"/>
                      <a:pt x="21916" y="39013"/>
                    </a:cubicBezTo>
                    <a:lnTo>
                      <a:pt x="6374" y="39013"/>
                    </a:lnTo>
                    <a:lnTo>
                      <a:pt x="17296" y="27567"/>
                    </a:lnTo>
                    <a:cubicBezTo>
                      <a:pt x="23082" y="21522"/>
                      <a:pt x="25618" y="16581"/>
                      <a:pt x="25618" y="11509"/>
                    </a:cubicBezTo>
                    <a:cubicBezTo>
                      <a:pt x="25618" y="5008"/>
                      <a:pt x="20352" y="0"/>
                      <a:pt x="13593" y="0"/>
                    </a:cubicBezTo>
                    <a:cubicBezTo>
                      <a:pt x="10013" y="0"/>
                      <a:pt x="6636" y="1433"/>
                      <a:pt x="4227" y="4032"/>
                    </a:cubicBezTo>
                    <a:cubicBezTo>
                      <a:pt x="2147" y="6243"/>
                      <a:pt x="1171" y="8322"/>
                      <a:pt x="67" y="12938"/>
                    </a:cubicBezTo>
                    <a:lnTo>
                      <a:pt x="1433" y="13263"/>
                    </a:lnTo>
                    <a:cubicBezTo>
                      <a:pt x="4032" y="6894"/>
                      <a:pt x="6374" y="4810"/>
                      <a:pt x="10859" y="4810"/>
                    </a:cubicBezTo>
                    <a:cubicBezTo>
                      <a:pt x="16323" y="4810"/>
                      <a:pt x="20026" y="8517"/>
                      <a:pt x="20026" y="13978"/>
                    </a:cubicBezTo>
                    <a:cubicBezTo>
                      <a:pt x="20026" y="19050"/>
                      <a:pt x="17038" y="25098"/>
                      <a:pt x="11577" y="30885"/>
                    </a:cubicBezTo>
                    <a:lnTo>
                      <a:pt x="0" y="43172"/>
                    </a:lnTo>
                    <a:lnTo>
                      <a:pt x="0" y="43954"/>
                    </a:lnTo>
                    <a:lnTo>
                      <a:pt x="25360" y="43954"/>
                    </a:lnTo>
                    <a:lnTo>
                      <a:pt x="28936" y="3504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ap_label1_outline_3"/>
              <p:cNvSpPr/>
              <p:nvPr/>
            </p:nvSpPr>
            <p:spPr>
              <a:xfrm>
                <a:off x="237903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cap_label2"/>
            <p:cNvGrpSpPr/>
            <p:nvPr/>
          </p:nvGrpSpPr>
          <p:grpSpPr>
            <a:xfrm>
              <a:off x="2553702" y="664074"/>
              <a:ext cx="135576" cy="82197"/>
              <a:chOff x="2569606" y="676114"/>
              <a:chExt cx="168195" cy="82197"/>
            </a:xfrm>
          </p:grpSpPr>
          <p:sp>
            <p:nvSpPr>
              <p:cNvPr id="234" name="cap_label2_outline_0"/>
              <p:cNvSpPr/>
              <p:nvPr/>
            </p:nvSpPr>
            <p:spPr>
              <a:xfrm>
                <a:off x="2569606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ap_label2_outline_1"/>
              <p:cNvSpPr/>
              <p:nvPr/>
            </p:nvSpPr>
            <p:spPr>
              <a:xfrm>
                <a:off x="263370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ap_label2_outline_2"/>
              <p:cNvSpPr/>
              <p:nvPr/>
            </p:nvSpPr>
            <p:spPr>
              <a:xfrm>
                <a:off x="2657520" y="680277"/>
                <a:ext cx="5643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6440" h="42458">
                    <a:moveTo>
                      <a:pt x="50848" y="42458"/>
                    </a:moveTo>
                    <a:lnTo>
                      <a:pt x="50780" y="41418"/>
                    </a:lnTo>
                    <a:cubicBezTo>
                      <a:pt x="45581" y="41029"/>
                      <a:pt x="45061" y="40830"/>
                      <a:pt x="42525" y="37775"/>
                    </a:cubicBezTo>
                    <a:lnTo>
                      <a:pt x="26983" y="18074"/>
                    </a:lnTo>
                    <a:lnTo>
                      <a:pt x="50522" y="3381"/>
                    </a:lnTo>
                    <a:cubicBezTo>
                      <a:pt x="52864" y="2016"/>
                      <a:pt x="54554" y="1302"/>
                      <a:pt x="56440" y="1040"/>
                    </a:cubicBezTo>
                    <a:lnTo>
                      <a:pt x="56372" y="0"/>
                    </a:lnTo>
                    <a:lnTo>
                      <a:pt x="39144" y="0"/>
                    </a:lnTo>
                    <a:lnTo>
                      <a:pt x="39207" y="1040"/>
                    </a:lnTo>
                    <a:lnTo>
                      <a:pt x="41612" y="1234"/>
                    </a:lnTo>
                    <a:cubicBezTo>
                      <a:pt x="43696" y="1365"/>
                      <a:pt x="44605" y="1754"/>
                      <a:pt x="44605" y="2536"/>
                    </a:cubicBezTo>
                    <a:cubicBezTo>
                      <a:pt x="44605" y="4096"/>
                      <a:pt x="40120" y="7541"/>
                      <a:pt x="32901" y="11573"/>
                    </a:cubicBezTo>
                    <a:lnTo>
                      <a:pt x="20419" y="18467"/>
                    </a:lnTo>
                    <a:lnTo>
                      <a:pt x="23928" y="5850"/>
                    </a:lnTo>
                    <a:cubicBezTo>
                      <a:pt x="24904" y="2600"/>
                      <a:pt x="27245" y="1302"/>
                      <a:pt x="32187" y="1040"/>
                    </a:cubicBezTo>
                    <a:lnTo>
                      <a:pt x="32119" y="0"/>
                    </a:lnTo>
                    <a:lnTo>
                      <a:pt x="8453" y="0"/>
                    </a:lnTo>
                    <a:lnTo>
                      <a:pt x="8517" y="1040"/>
                    </a:lnTo>
                    <a:cubicBezTo>
                      <a:pt x="13914" y="1429"/>
                      <a:pt x="15153" y="1949"/>
                      <a:pt x="15280" y="3838"/>
                    </a:cubicBezTo>
                    <a:cubicBezTo>
                      <a:pt x="15347" y="4032"/>
                      <a:pt x="15347" y="4290"/>
                      <a:pt x="15347" y="4485"/>
                    </a:cubicBezTo>
                    <a:cubicBezTo>
                      <a:pt x="15347" y="5398"/>
                      <a:pt x="15216" y="6501"/>
                      <a:pt x="14696" y="7866"/>
                    </a:cubicBezTo>
                    <a:lnTo>
                      <a:pt x="6830" y="36608"/>
                    </a:lnTo>
                    <a:cubicBezTo>
                      <a:pt x="5659" y="40509"/>
                      <a:pt x="4941" y="40830"/>
                      <a:pt x="0" y="41418"/>
                    </a:cubicBezTo>
                    <a:lnTo>
                      <a:pt x="67" y="42458"/>
                    </a:lnTo>
                    <a:lnTo>
                      <a:pt x="21586" y="42458"/>
                    </a:lnTo>
                    <a:lnTo>
                      <a:pt x="21522" y="41418"/>
                    </a:lnTo>
                    <a:cubicBezTo>
                      <a:pt x="16125" y="40961"/>
                      <a:pt x="15411" y="40573"/>
                      <a:pt x="15280" y="38556"/>
                    </a:cubicBezTo>
                    <a:cubicBezTo>
                      <a:pt x="15280" y="38425"/>
                      <a:pt x="15280" y="38231"/>
                      <a:pt x="15280" y="38100"/>
                    </a:cubicBezTo>
                    <a:cubicBezTo>
                      <a:pt x="15280" y="37580"/>
                      <a:pt x="15347" y="37060"/>
                      <a:pt x="15605" y="36020"/>
                    </a:cubicBezTo>
                    <a:lnTo>
                      <a:pt x="16061" y="34655"/>
                    </a:lnTo>
                    <a:lnTo>
                      <a:pt x="20094" y="19832"/>
                    </a:lnTo>
                    <a:lnTo>
                      <a:pt x="31278" y="33353"/>
                    </a:lnTo>
                    <a:cubicBezTo>
                      <a:pt x="33552" y="36020"/>
                      <a:pt x="34981" y="38294"/>
                      <a:pt x="34981" y="39596"/>
                    </a:cubicBezTo>
                    <a:cubicBezTo>
                      <a:pt x="34981" y="40509"/>
                      <a:pt x="33683" y="41029"/>
                      <a:pt x="30885" y="41223"/>
                    </a:cubicBezTo>
                    <a:lnTo>
                      <a:pt x="28222" y="41418"/>
                    </a:lnTo>
                    <a:lnTo>
                      <a:pt x="28285" y="42458"/>
                    </a:lnTo>
                    <a:lnTo>
                      <a:pt x="50848" y="424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ap_label2_outline_3"/>
              <p:cNvSpPr/>
              <p:nvPr/>
            </p:nvSpPr>
            <p:spPr>
              <a:xfrm>
                <a:off x="272115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composed_S"/>
            <p:cNvGrpSpPr/>
            <p:nvPr/>
          </p:nvGrpSpPr>
          <p:grpSpPr>
            <a:xfrm>
              <a:off x="2306193" y="1333188"/>
              <a:ext cx="56951" cy="72056"/>
              <a:chOff x="2322517" y="1346670"/>
              <a:chExt cx="56951" cy="72056"/>
            </a:xfrm>
          </p:grpSpPr>
          <p:sp>
            <p:nvSpPr>
              <p:cNvPr id="239" name="composed_S_outline_0"/>
              <p:cNvSpPr/>
              <p:nvPr/>
            </p:nvSpPr>
            <p:spPr>
              <a:xfrm>
                <a:off x="2322517" y="1346670"/>
                <a:ext cx="56951" cy="72056"/>
              </a:xfrm>
              <a:custGeom>
                <a:avLst/>
                <a:gdLst/>
                <a:ahLst/>
                <a:cxnLst/>
                <a:rect l="0" t="0" r="r" b="b"/>
                <a:pathLst>
                  <a:path w="56952" h="72057">
                    <a:moveTo>
                      <a:pt x="49506" y="51078"/>
                    </a:moveTo>
                    <a:cubicBezTo>
                      <a:pt x="49296" y="44260"/>
                      <a:pt x="46462" y="40275"/>
                      <a:pt x="35135" y="30627"/>
                    </a:cubicBezTo>
                    <a:cubicBezTo>
                      <a:pt x="23809" y="21082"/>
                      <a:pt x="22757" y="19613"/>
                      <a:pt x="22550" y="14474"/>
                    </a:cubicBezTo>
                    <a:cubicBezTo>
                      <a:pt x="22340" y="7866"/>
                      <a:pt x="27269" y="3774"/>
                      <a:pt x="35449" y="3774"/>
                    </a:cubicBezTo>
                    <a:cubicBezTo>
                      <a:pt x="39961" y="3774"/>
                      <a:pt x="43632" y="5032"/>
                      <a:pt x="46359" y="7548"/>
                    </a:cubicBezTo>
                    <a:cubicBezTo>
                      <a:pt x="49296" y="10172"/>
                      <a:pt x="50240" y="13740"/>
                      <a:pt x="50657" y="20764"/>
                    </a:cubicBezTo>
                    <a:lnTo>
                      <a:pt x="52860" y="21082"/>
                    </a:lnTo>
                    <a:lnTo>
                      <a:pt x="56952" y="0"/>
                    </a:lnTo>
                    <a:lnTo>
                      <a:pt x="54225" y="0"/>
                    </a:lnTo>
                    <a:cubicBezTo>
                      <a:pt x="52649" y="2409"/>
                      <a:pt x="51602" y="2937"/>
                      <a:pt x="48875" y="2937"/>
                    </a:cubicBezTo>
                    <a:cubicBezTo>
                      <a:pt x="47304" y="2937"/>
                      <a:pt x="45938" y="2409"/>
                      <a:pt x="43315" y="1572"/>
                    </a:cubicBezTo>
                    <a:cubicBezTo>
                      <a:pt x="40588" y="627"/>
                      <a:pt x="36604" y="103"/>
                      <a:pt x="32829" y="103"/>
                    </a:cubicBezTo>
                    <a:cubicBezTo>
                      <a:pt x="20137" y="103"/>
                      <a:pt x="11537" y="7342"/>
                      <a:pt x="11851" y="17617"/>
                    </a:cubicBezTo>
                    <a:cubicBezTo>
                      <a:pt x="12061" y="23285"/>
                      <a:pt x="13946" y="26325"/>
                      <a:pt x="21499" y="33036"/>
                    </a:cubicBezTo>
                    <a:cubicBezTo>
                      <a:pt x="23074" y="34401"/>
                      <a:pt x="24856" y="35869"/>
                      <a:pt x="26428" y="37441"/>
                    </a:cubicBezTo>
                    <a:lnTo>
                      <a:pt x="31361" y="41847"/>
                    </a:lnTo>
                    <a:cubicBezTo>
                      <a:pt x="37128" y="46986"/>
                      <a:pt x="38699" y="49712"/>
                      <a:pt x="38910" y="54225"/>
                    </a:cubicBezTo>
                    <a:cubicBezTo>
                      <a:pt x="39120" y="62194"/>
                      <a:pt x="32722" y="68175"/>
                      <a:pt x="23809" y="68175"/>
                    </a:cubicBezTo>
                    <a:cubicBezTo>
                      <a:pt x="13740" y="68175"/>
                      <a:pt x="5977" y="60726"/>
                      <a:pt x="5663" y="50447"/>
                    </a:cubicBezTo>
                    <a:cubicBezTo>
                      <a:pt x="5556" y="49712"/>
                      <a:pt x="5556" y="49296"/>
                      <a:pt x="5767" y="48351"/>
                    </a:cubicBezTo>
                    <a:lnTo>
                      <a:pt x="3250" y="48141"/>
                    </a:lnTo>
                    <a:lnTo>
                      <a:pt x="0" y="71739"/>
                    </a:lnTo>
                    <a:lnTo>
                      <a:pt x="2203" y="71739"/>
                    </a:lnTo>
                    <a:cubicBezTo>
                      <a:pt x="3040" y="69120"/>
                      <a:pt x="4088" y="68068"/>
                      <a:pt x="6608" y="68068"/>
                    </a:cubicBezTo>
                    <a:cubicBezTo>
                      <a:pt x="7969" y="68068"/>
                      <a:pt x="9751" y="68489"/>
                      <a:pt x="13006" y="69433"/>
                    </a:cubicBezTo>
                    <a:cubicBezTo>
                      <a:pt x="18562" y="71215"/>
                      <a:pt x="22023" y="72057"/>
                      <a:pt x="25801" y="72057"/>
                    </a:cubicBezTo>
                    <a:cubicBezTo>
                      <a:pt x="39751" y="72057"/>
                      <a:pt x="49923" y="63036"/>
                      <a:pt x="49506" y="510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>
                  <a:solidFill>
                    <a:srgbClr val="125529"/>
                  </a:solidFill>
                  <a:latin typeface="Times New Roman"/>
                </a:rPr>
                <a:t>Flow projection</a:t>
              </a:r>
            </a:p>
          </p:txBody>
        </p:sp>
        <p:sp>
          <p:nvSpPr>
            <p:cNvPr id="258" name="projection_formula_box"/>
            <p:cNvSpPr/>
            <p:nvPr/>
          </p:nvSpPr>
          <p:spPr>
            <a:xfrm>
              <a:off x="2857500" y="583531"/>
              <a:ext cx="1109913" cy="255671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5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terations"/>
            <p:cNvSpPr txBox="1"/>
            <p:nvPr/>
          </p:nvSpPr>
          <p:spPr>
            <a:xfrm>
              <a:off x="3013910" y="959518"/>
              <a:ext cx="812131" cy="1383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reroute F̂ → F★</a:t>
              </a:r>
            </a:p>
          </p:txBody>
        </p:sp>
        <p:sp>
          <p:nvSpPr>
            <p:cNvPr id="260" name="iter_row"/>
            <p:cNvSpPr txBox="1"/>
            <p:nvPr/>
          </p:nvSpPr>
          <p:spPr>
            <a:xfrm>
              <a:off x="3248526" y="1149015"/>
              <a:ext cx="183481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flow</a:t>
              </a:r>
            </a:p>
          </p:txBody>
        </p:sp>
        <p:sp>
          <p:nvSpPr>
            <p:cNvPr id="261" name="iter_col"/>
            <p:cNvSpPr txBox="1"/>
            <p:nvPr/>
          </p:nvSpPr>
          <p:spPr>
            <a:xfrm>
              <a:off x="3489157" y="1149015"/>
              <a:ext cx="192505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cost</a:t>
              </a:r>
            </a:p>
          </p:txBody>
        </p:sp>
        <p:sp>
          <p:nvSpPr>
            <p:cNvPr id="262" name="iter_projected"/>
            <p:cNvSpPr txBox="1"/>
            <p:nvPr/>
          </p:nvSpPr>
          <p:spPr>
            <a:xfrm>
              <a:off x="3726781" y="1149015"/>
              <a:ext cx="237623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F★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peat"/>
            <p:cNvSpPr/>
            <p:nvPr/>
          </p:nvSpPr>
          <p:spPr>
            <a:xfrm>
              <a:off x="3001878" y="1846847"/>
              <a:ext cx="836194" cy="159418"/>
            </a:xfrm>
            <a:custGeom>
              <a:avLst/>
              <a:gdLst/>
              <a:ahLst/>
              <a:cxnLst/>
              <a:rect l="0" t="0" r="r" b="b"/>
              <a:pathLst>
                <a:path w="836194" h="159418" fill="none">
                  <a:moveTo>
                    <a:pt x="0" y="0"/>
                  </a:moveTo>
                  <a:lnTo>
                    <a:pt x="0" y="144378"/>
                  </a:lnTo>
                  <a:lnTo>
                    <a:pt x="21055" y="159418"/>
                  </a:lnTo>
                  <a:lnTo>
                    <a:pt x="824163" y="159418"/>
                  </a:lnTo>
                  <a:lnTo>
                    <a:pt x="836194" y="138363"/>
                  </a:lnTo>
                  <a:lnTo>
                    <a:pt x="836194" y="3007"/>
                  </a:lnTo>
                </a:path>
              </a:pathLst>
            </a:custGeom>
            <a:noFill/>
            <a:ln w="661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peat_label"/>
            <p:cNvSpPr txBox="1"/>
            <p:nvPr/>
          </p:nvSpPr>
          <p:spPr>
            <a:xfrm>
              <a:off x="3071060" y="1870910"/>
              <a:ext cx="700839" cy="1052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flow only</a:t>
              </a:r>
            </a:p>
          </p:txBody>
        </p:sp>
        <p:sp>
          <p:nvSpPr>
            <p:cNvPr id="312" name="certbox"/>
            <p:cNvSpPr/>
            <p:nvPr/>
          </p:nvSpPr>
          <p:spPr>
            <a:xfrm>
              <a:off x="2989847" y="2255921"/>
              <a:ext cx="812131" cy="240631"/>
            </a:xfrm>
            <a:prstGeom prst="roundRect">
              <a:avLst>
                <a:gd name="adj" fmla="val 2500"/>
              </a:avLst>
            </a:prstGeom>
            <a:solidFill>
              <a:srgbClr val="EFF7EC"/>
            </a:solidFill>
            <a:ln w="42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32" name="kernel"/>
            <p:cNvGrpSpPr/>
            <p:nvPr/>
          </p:nvGrpSpPr>
          <p:grpSpPr>
            <a:xfrm>
              <a:off x="2830428" y="1261182"/>
              <a:ext cx="334212" cy="93058"/>
              <a:chOff x="2845406" y="1273881"/>
              <a:chExt cx="458332" cy="93058"/>
            </a:xfrm>
          </p:grpSpPr>
          <p:sp>
            <p:nvSpPr>
              <p:cNvPr id="333" name="kernel_outline_0"/>
              <p:cNvSpPr/>
              <p:nvPr/>
            </p:nvSpPr>
            <p:spPr>
              <a:xfrm>
                <a:off x="2845406" y="1295939"/>
                <a:ext cx="65031" cy="48922"/>
              </a:xfrm>
              <a:custGeom>
                <a:avLst/>
                <a:gdLst/>
                <a:ahLst/>
                <a:cxnLst/>
                <a:rect l="0" t="0" r="r" b="b"/>
                <a:pathLst>
                  <a:path w="65032" h="48923">
                    <a:moveTo>
                      <a:pt x="58587" y="48923"/>
                    </a:moveTo>
                    <a:lnTo>
                      <a:pt x="58511" y="47724"/>
                    </a:lnTo>
                    <a:cubicBezTo>
                      <a:pt x="52519" y="47276"/>
                      <a:pt x="51919" y="47050"/>
                      <a:pt x="48998" y="43529"/>
                    </a:cubicBezTo>
                    <a:lnTo>
                      <a:pt x="31091" y="20828"/>
                    </a:lnTo>
                    <a:lnTo>
                      <a:pt x="58214" y="3897"/>
                    </a:lnTo>
                    <a:cubicBezTo>
                      <a:pt x="60908" y="2322"/>
                      <a:pt x="62857" y="1500"/>
                      <a:pt x="65032" y="1199"/>
                    </a:cubicBezTo>
                    <a:lnTo>
                      <a:pt x="64957" y="0"/>
                    </a:lnTo>
                    <a:lnTo>
                      <a:pt x="45101" y="0"/>
                    </a:lnTo>
                    <a:lnTo>
                      <a:pt x="45176" y="1199"/>
                    </a:lnTo>
                    <a:lnTo>
                      <a:pt x="47950" y="1425"/>
                    </a:lnTo>
                    <a:cubicBezTo>
                      <a:pt x="50348" y="1576"/>
                      <a:pt x="51395" y="2024"/>
                      <a:pt x="51395" y="2921"/>
                    </a:cubicBezTo>
                    <a:cubicBezTo>
                      <a:pt x="51395" y="4723"/>
                      <a:pt x="46224" y="8692"/>
                      <a:pt x="37909" y="13335"/>
                    </a:cubicBezTo>
                    <a:lnTo>
                      <a:pt x="23527" y="21276"/>
                    </a:lnTo>
                    <a:lnTo>
                      <a:pt x="27571" y="6743"/>
                    </a:lnTo>
                    <a:cubicBezTo>
                      <a:pt x="28694" y="2996"/>
                      <a:pt x="31393" y="1500"/>
                      <a:pt x="37084" y="1199"/>
                    </a:cubicBezTo>
                    <a:lnTo>
                      <a:pt x="37013" y="0"/>
                    </a:lnTo>
                    <a:lnTo>
                      <a:pt x="9739" y="0"/>
                    </a:lnTo>
                    <a:lnTo>
                      <a:pt x="9815" y="1199"/>
                    </a:lnTo>
                    <a:cubicBezTo>
                      <a:pt x="16034" y="1651"/>
                      <a:pt x="17459" y="2250"/>
                      <a:pt x="17605" y="4421"/>
                    </a:cubicBezTo>
                    <a:cubicBezTo>
                      <a:pt x="17681" y="4647"/>
                      <a:pt x="17681" y="4945"/>
                      <a:pt x="17681" y="5171"/>
                    </a:cubicBezTo>
                    <a:cubicBezTo>
                      <a:pt x="17681" y="6219"/>
                      <a:pt x="17534" y="7493"/>
                      <a:pt x="16931" y="9065"/>
                    </a:cubicBezTo>
                    <a:lnTo>
                      <a:pt x="7866" y="42180"/>
                    </a:lnTo>
                    <a:cubicBezTo>
                      <a:pt x="6521" y="46676"/>
                      <a:pt x="5695" y="47050"/>
                      <a:pt x="0" y="47724"/>
                    </a:cubicBezTo>
                    <a:lnTo>
                      <a:pt x="75" y="48923"/>
                    </a:lnTo>
                    <a:lnTo>
                      <a:pt x="24872" y="48923"/>
                    </a:lnTo>
                    <a:lnTo>
                      <a:pt x="24801" y="47724"/>
                    </a:lnTo>
                    <a:cubicBezTo>
                      <a:pt x="18582" y="47200"/>
                      <a:pt x="17756" y="46752"/>
                      <a:pt x="17605" y="44426"/>
                    </a:cubicBezTo>
                    <a:cubicBezTo>
                      <a:pt x="17605" y="44279"/>
                      <a:pt x="17605" y="44053"/>
                      <a:pt x="17605" y="43902"/>
                    </a:cubicBezTo>
                    <a:cubicBezTo>
                      <a:pt x="17605" y="43303"/>
                      <a:pt x="17681" y="42704"/>
                      <a:pt x="17982" y="41505"/>
                    </a:cubicBezTo>
                    <a:lnTo>
                      <a:pt x="18506" y="39934"/>
                    </a:lnTo>
                    <a:lnTo>
                      <a:pt x="23150" y="22852"/>
                    </a:lnTo>
                    <a:lnTo>
                      <a:pt x="36036" y="38433"/>
                    </a:lnTo>
                    <a:cubicBezTo>
                      <a:pt x="38660" y="41505"/>
                      <a:pt x="40307" y="44129"/>
                      <a:pt x="40307" y="45625"/>
                    </a:cubicBezTo>
                    <a:cubicBezTo>
                      <a:pt x="40307" y="46676"/>
                      <a:pt x="38810" y="47276"/>
                      <a:pt x="35588" y="47498"/>
                    </a:cubicBezTo>
                    <a:lnTo>
                      <a:pt x="32516" y="47724"/>
                    </a:lnTo>
                    <a:lnTo>
                      <a:pt x="32591" y="48923"/>
                    </a:lnTo>
                    <a:lnTo>
                      <a:pt x="58587" y="489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kernel_outline_1"/>
              <p:cNvSpPr/>
              <p:nvPr/>
            </p:nvSpPr>
            <p:spPr>
              <a:xfrm>
                <a:off x="2910977" y="1322430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3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6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3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kernel_outline_2"/>
              <p:cNvSpPr/>
              <p:nvPr/>
            </p:nvSpPr>
            <p:spPr>
              <a:xfrm>
                <a:off x="2928545" y="1322430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10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3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2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10"/>
                      <a:pt x="5445" y="44510"/>
                    </a:cubicBezTo>
                    <a:cubicBezTo>
                      <a:pt x="11208" y="44510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3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kernel_outline_3"/>
              <p:cNvSpPr/>
              <p:nvPr/>
            </p:nvSpPr>
            <p:spPr>
              <a:xfrm>
                <a:off x="2989695" y="1315942"/>
                <a:ext cx="38357" cy="19407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19407">
                    <a:moveTo>
                      <a:pt x="38358" y="4199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9"/>
                    </a:lnTo>
                    <a:lnTo>
                      <a:pt x="38358" y="4199"/>
                    </a:lnTo>
                    <a:close/>
                    <a:moveTo>
                      <a:pt x="38358" y="19407"/>
                    </a:moveTo>
                    <a:lnTo>
                      <a:pt x="38358" y="15208"/>
                    </a:lnTo>
                    <a:lnTo>
                      <a:pt x="0" y="15208"/>
                    </a:lnTo>
                    <a:lnTo>
                      <a:pt x="0" y="19407"/>
                    </a:lnTo>
                    <a:lnTo>
                      <a:pt x="38358" y="1940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kernel_outline_4"/>
              <p:cNvSpPr/>
              <p:nvPr/>
            </p:nvSpPr>
            <p:spPr>
              <a:xfrm>
                <a:off x="3056575" y="1311822"/>
                <a:ext cx="36786" cy="33865"/>
              </a:xfrm>
              <a:custGeom>
                <a:avLst/>
                <a:gdLst/>
                <a:ahLst/>
                <a:cxnLst/>
                <a:rect l="0" t="0" r="r" b="b"/>
                <a:pathLst>
                  <a:path w="36786" h="33865">
                    <a:moveTo>
                      <a:pt x="34012" y="25773"/>
                    </a:moveTo>
                    <a:lnTo>
                      <a:pt x="32667" y="24872"/>
                    </a:lnTo>
                    <a:cubicBezTo>
                      <a:pt x="25999" y="29293"/>
                      <a:pt x="22927" y="30492"/>
                      <a:pt x="18657" y="30492"/>
                    </a:cubicBezTo>
                    <a:cubicBezTo>
                      <a:pt x="13188" y="30492"/>
                      <a:pt x="9215" y="27797"/>
                      <a:pt x="8918" y="23674"/>
                    </a:cubicBezTo>
                    <a:cubicBezTo>
                      <a:pt x="8918" y="23451"/>
                      <a:pt x="8918" y="23225"/>
                      <a:pt x="8918" y="22999"/>
                    </a:cubicBezTo>
                    <a:cubicBezTo>
                      <a:pt x="8918" y="22102"/>
                      <a:pt x="9065" y="21054"/>
                      <a:pt x="9664" y="19105"/>
                    </a:cubicBezTo>
                    <a:lnTo>
                      <a:pt x="12438" y="18804"/>
                    </a:lnTo>
                    <a:cubicBezTo>
                      <a:pt x="26896" y="17232"/>
                      <a:pt x="36786" y="11763"/>
                      <a:pt x="36786" y="5544"/>
                    </a:cubicBezTo>
                    <a:cubicBezTo>
                      <a:pt x="36786" y="5393"/>
                      <a:pt x="36786" y="5247"/>
                      <a:pt x="36786" y="5096"/>
                    </a:cubicBezTo>
                    <a:cubicBezTo>
                      <a:pt x="36560" y="1949"/>
                      <a:pt x="33488" y="0"/>
                      <a:pt x="28468" y="0"/>
                    </a:cubicBezTo>
                    <a:cubicBezTo>
                      <a:pt x="14387" y="0"/>
                      <a:pt x="0" y="11688"/>
                      <a:pt x="0" y="22701"/>
                    </a:cubicBezTo>
                    <a:cubicBezTo>
                      <a:pt x="0" y="22999"/>
                      <a:pt x="0" y="23300"/>
                      <a:pt x="0" y="23598"/>
                    </a:cubicBezTo>
                    <a:cubicBezTo>
                      <a:pt x="448" y="29670"/>
                      <a:pt x="6219" y="33865"/>
                      <a:pt x="13934" y="33865"/>
                    </a:cubicBezTo>
                    <a:cubicBezTo>
                      <a:pt x="21054" y="33865"/>
                      <a:pt x="28543" y="30869"/>
                      <a:pt x="34012" y="25773"/>
                    </a:cubicBezTo>
                    <a:close/>
                    <a:moveTo>
                      <a:pt x="26523" y="1722"/>
                    </a:moveTo>
                    <a:cubicBezTo>
                      <a:pt x="28694" y="1722"/>
                      <a:pt x="30043" y="2921"/>
                      <a:pt x="30043" y="4945"/>
                    </a:cubicBezTo>
                    <a:cubicBezTo>
                      <a:pt x="30043" y="7191"/>
                      <a:pt x="28396" y="9739"/>
                      <a:pt x="25698" y="11914"/>
                    </a:cubicBezTo>
                    <a:cubicBezTo>
                      <a:pt x="22253" y="14533"/>
                      <a:pt x="18582" y="15883"/>
                      <a:pt x="10188" y="17458"/>
                    </a:cubicBezTo>
                    <a:lnTo>
                      <a:pt x="11688" y="14161"/>
                    </a:lnTo>
                    <a:cubicBezTo>
                      <a:pt x="14609" y="7493"/>
                      <a:pt x="21427" y="1722"/>
                      <a:pt x="26523" y="1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kernel_outline_5"/>
              <p:cNvSpPr/>
              <p:nvPr/>
            </p:nvSpPr>
            <p:spPr>
              <a:xfrm>
                <a:off x="3105188" y="1295979"/>
                <a:ext cx="26812" cy="2928"/>
              </a:xfrm>
              <a:custGeom>
                <a:avLst/>
                <a:gdLst/>
                <a:ahLst/>
                <a:cxnLst/>
                <a:rect l="0" t="0" r="r" b="b"/>
                <a:pathLst>
                  <a:path w="26813" h="2929">
                    <a:moveTo>
                      <a:pt x="26813" y="2929"/>
                    </a:moveTo>
                    <a:lnTo>
                      <a:pt x="26813" y="0"/>
                    </a:lnTo>
                    <a:lnTo>
                      <a:pt x="0" y="0"/>
                    </a:lnTo>
                    <a:lnTo>
                      <a:pt x="0" y="2929"/>
                    </a:lnTo>
                    <a:lnTo>
                      <a:pt x="26813" y="29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kernel_outline_6"/>
              <p:cNvSpPr/>
              <p:nvPr/>
            </p:nvSpPr>
            <p:spPr>
              <a:xfrm>
                <a:off x="3138241" y="1276707"/>
                <a:ext cx="47236" cy="34194"/>
              </a:xfrm>
              <a:custGeom>
                <a:avLst/>
                <a:gdLst/>
                <a:ahLst/>
                <a:cxnLst/>
                <a:rect l="0" t="0" r="r" b="b"/>
                <a:pathLst>
                  <a:path w="47236" h="34195">
                    <a:moveTo>
                      <a:pt x="47184" y="14085"/>
                    </a:moveTo>
                    <a:cubicBezTo>
                      <a:pt x="46605" y="5497"/>
                      <a:pt x="38544" y="0"/>
                      <a:pt x="26603" y="0"/>
                    </a:cubicBezTo>
                    <a:lnTo>
                      <a:pt x="7910" y="0"/>
                    </a:lnTo>
                    <a:lnTo>
                      <a:pt x="7961" y="837"/>
                    </a:lnTo>
                    <a:cubicBezTo>
                      <a:pt x="12414" y="1151"/>
                      <a:pt x="13406" y="1520"/>
                      <a:pt x="13406" y="3195"/>
                    </a:cubicBezTo>
                    <a:cubicBezTo>
                      <a:pt x="13406" y="3981"/>
                      <a:pt x="13196" y="5132"/>
                      <a:pt x="12934" y="6338"/>
                    </a:cubicBezTo>
                    <a:lnTo>
                      <a:pt x="5342" y="29484"/>
                    </a:lnTo>
                    <a:cubicBezTo>
                      <a:pt x="4401" y="32520"/>
                      <a:pt x="3770" y="32834"/>
                      <a:pt x="0" y="33357"/>
                    </a:cubicBezTo>
                    <a:lnTo>
                      <a:pt x="56" y="34195"/>
                    </a:lnTo>
                    <a:lnTo>
                      <a:pt x="17546" y="34195"/>
                    </a:lnTo>
                    <a:cubicBezTo>
                      <a:pt x="25348" y="34195"/>
                      <a:pt x="32365" y="32623"/>
                      <a:pt x="37338" y="29849"/>
                    </a:cubicBezTo>
                    <a:cubicBezTo>
                      <a:pt x="43621" y="26392"/>
                      <a:pt x="47236" y="20896"/>
                      <a:pt x="47236" y="15081"/>
                    </a:cubicBezTo>
                    <a:cubicBezTo>
                      <a:pt x="47236" y="14768"/>
                      <a:pt x="47236" y="14403"/>
                      <a:pt x="47184" y="14085"/>
                    </a:cubicBezTo>
                    <a:close/>
                    <a:moveTo>
                      <a:pt x="39172" y="12831"/>
                    </a:moveTo>
                    <a:cubicBezTo>
                      <a:pt x="39223" y="13248"/>
                      <a:pt x="39223" y="13668"/>
                      <a:pt x="39223" y="14085"/>
                    </a:cubicBezTo>
                    <a:cubicBezTo>
                      <a:pt x="39223" y="19376"/>
                      <a:pt x="36973" y="24610"/>
                      <a:pt x="32941" y="27912"/>
                    </a:cubicBezTo>
                    <a:cubicBezTo>
                      <a:pt x="29119" y="31052"/>
                      <a:pt x="23725" y="32623"/>
                      <a:pt x="16704" y="32623"/>
                    </a:cubicBezTo>
                    <a:cubicBezTo>
                      <a:pt x="13514" y="32623"/>
                      <a:pt x="12152" y="32048"/>
                      <a:pt x="12152" y="30583"/>
                    </a:cubicBezTo>
                    <a:cubicBezTo>
                      <a:pt x="12152" y="29849"/>
                      <a:pt x="12517" y="28750"/>
                      <a:pt x="13355" y="25714"/>
                    </a:cubicBezTo>
                    <a:lnTo>
                      <a:pt x="20737" y="3092"/>
                    </a:lnTo>
                    <a:cubicBezTo>
                      <a:pt x="20999" y="1937"/>
                      <a:pt x="21892" y="1572"/>
                      <a:pt x="24507" y="1572"/>
                    </a:cubicBezTo>
                    <a:cubicBezTo>
                      <a:pt x="28174" y="1572"/>
                      <a:pt x="31472" y="2250"/>
                      <a:pt x="33619" y="3405"/>
                    </a:cubicBezTo>
                    <a:cubicBezTo>
                      <a:pt x="37024" y="5235"/>
                      <a:pt x="38910" y="8640"/>
                      <a:pt x="39172" y="128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kernel_outline_7"/>
              <p:cNvSpPr/>
              <p:nvPr/>
            </p:nvSpPr>
            <p:spPr>
              <a:xfrm>
                <a:off x="3191088" y="1291925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2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5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2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kernel_outline_8"/>
              <p:cNvSpPr/>
              <p:nvPr/>
            </p:nvSpPr>
            <p:spPr>
              <a:xfrm>
                <a:off x="3208657" y="1291925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09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2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1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09"/>
                      <a:pt x="5445" y="44509"/>
                    </a:cubicBezTo>
                    <a:cubicBezTo>
                      <a:pt x="11208" y="44509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2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kernel_outline_9"/>
              <p:cNvSpPr/>
              <p:nvPr/>
            </p:nvSpPr>
            <p:spPr>
              <a:xfrm>
                <a:off x="3247594" y="1273881"/>
                <a:ext cx="17593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17593" h="47129">
                    <a:moveTo>
                      <a:pt x="0" y="47129"/>
                    </a:moveTo>
                    <a:lnTo>
                      <a:pt x="2723" y="47129"/>
                    </a:lnTo>
                    <a:lnTo>
                      <a:pt x="17593" y="0"/>
                    </a:lnTo>
                    <a:lnTo>
                      <a:pt x="14871" y="0"/>
                    </a:lnTo>
                    <a:lnTo>
                      <a:pt x="0" y="471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kernel_outline_10"/>
              <p:cNvSpPr/>
              <p:nvPr/>
            </p:nvSpPr>
            <p:spPr>
              <a:xfrm>
                <a:off x="3274358" y="1287808"/>
                <a:ext cx="29380" cy="23669"/>
              </a:xfrm>
              <a:custGeom>
                <a:avLst/>
                <a:gdLst/>
                <a:ahLst/>
                <a:cxnLst/>
                <a:rect l="0" t="0" r="r" b="b"/>
                <a:pathLst>
                  <a:path w="29381" h="23670">
                    <a:moveTo>
                      <a:pt x="29381" y="4294"/>
                    </a:moveTo>
                    <a:cubicBezTo>
                      <a:pt x="29325" y="837"/>
                      <a:pt x="21209" y="0"/>
                      <a:pt x="17963" y="0"/>
                    </a:cubicBezTo>
                    <a:cubicBezTo>
                      <a:pt x="13145" y="0"/>
                      <a:pt x="5604" y="1675"/>
                      <a:pt x="5656" y="6548"/>
                    </a:cubicBezTo>
                    <a:cubicBezTo>
                      <a:pt x="5711" y="8957"/>
                      <a:pt x="8485" y="10473"/>
                      <a:pt x="11573" y="10843"/>
                    </a:cubicBezTo>
                    <a:lnTo>
                      <a:pt x="11573" y="11049"/>
                    </a:lnTo>
                    <a:cubicBezTo>
                      <a:pt x="6652" y="11521"/>
                      <a:pt x="-51" y="13771"/>
                      <a:pt x="0" y="17911"/>
                    </a:cubicBezTo>
                    <a:cubicBezTo>
                      <a:pt x="56" y="22729"/>
                      <a:pt x="6965" y="23670"/>
                      <a:pt x="11835" y="23670"/>
                    </a:cubicBezTo>
                    <a:cubicBezTo>
                      <a:pt x="16709" y="23670"/>
                      <a:pt x="22257" y="22467"/>
                      <a:pt x="25349" y="19324"/>
                    </a:cubicBezTo>
                    <a:cubicBezTo>
                      <a:pt x="25976" y="18641"/>
                      <a:pt x="26710" y="17859"/>
                      <a:pt x="26710" y="16966"/>
                    </a:cubicBezTo>
                    <a:cubicBezTo>
                      <a:pt x="26654" y="16339"/>
                      <a:pt x="25976" y="15657"/>
                      <a:pt x="25190" y="15657"/>
                    </a:cubicBezTo>
                    <a:cubicBezTo>
                      <a:pt x="22102" y="15657"/>
                      <a:pt x="21578" y="22257"/>
                      <a:pt x="13042" y="22257"/>
                    </a:cubicBezTo>
                    <a:cubicBezTo>
                      <a:pt x="9744" y="22257"/>
                      <a:pt x="7176" y="21261"/>
                      <a:pt x="7124" y="18328"/>
                    </a:cubicBezTo>
                    <a:cubicBezTo>
                      <a:pt x="7073" y="15502"/>
                      <a:pt x="9220" y="12307"/>
                      <a:pt x="13196" y="12307"/>
                    </a:cubicBezTo>
                    <a:cubicBezTo>
                      <a:pt x="15030" y="12307"/>
                      <a:pt x="16812" y="12882"/>
                      <a:pt x="18645" y="12882"/>
                    </a:cubicBezTo>
                    <a:cubicBezTo>
                      <a:pt x="20162" y="12882"/>
                      <a:pt x="21420" y="12517"/>
                      <a:pt x="21368" y="11156"/>
                    </a:cubicBezTo>
                    <a:cubicBezTo>
                      <a:pt x="21368" y="9950"/>
                      <a:pt x="20479" y="9795"/>
                      <a:pt x="19221" y="9795"/>
                    </a:cubicBezTo>
                    <a:cubicBezTo>
                      <a:pt x="17808" y="9795"/>
                      <a:pt x="16602" y="9950"/>
                      <a:pt x="15240" y="9950"/>
                    </a:cubicBezTo>
                    <a:cubicBezTo>
                      <a:pt x="12990" y="9950"/>
                      <a:pt x="12045" y="9164"/>
                      <a:pt x="11994" y="7279"/>
                    </a:cubicBezTo>
                    <a:cubicBezTo>
                      <a:pt x="11994" y="4346"/>
                      <a:pt x="14665" y="1417"/>
                      <a:pt x="18332" y="1417"/>
                    </a:cubicBezTo>
                    <a:cubicBezTo>
                      <a:pt x="23725" y="1417"/>
                      <a:pt x="23202" y="6338"/>
                      <a:pt x="26813" y="6338"/>
                    </a:cubicBezTo>
                    <a:cubicBezTo>
                      <a:pt x="28278" y="6338"/>
                      <a:pt x="29381" y="5604"/>
                      <a:pt x="29381" y="4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E88B10"/>
                  </a:solidFill>
                  <a:latin typeface="Times New Roman"/>
                </a:rPr>
                <a:t>Priced PPO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E88B10"/>
                  </a:solidFill>
                  <a:latin typeface="Times New Roman"/>
                </a:rPr>
                <a:t>price fusion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1792" y="715878"/>
              <a:ext cx="839202" cy="351923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ppo_label"/>
            <p:cNvSpPr txBox="1"/>
            <p:nvPr/>
          </p:nvSpPr>
          <p:spPr>
            <a:xfrm>
              <a:off x="4132847" y="1188118"/>
              <a:ext cx="797092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E88B10"/>
                  </a:solidFill>
                  <a:latin typeface="Times New Roman"/>
                </a:rPr>
                <a:t>priced advantage</a:t>
              </a:r>
            </a:p>
          </p:txBody>
        </p:sp>
        <p:sp>
          <p:nvSpPr>
            <p:cNvPr id="359" name="ppo_box"/>
            <p:cNvSpPr/>
            <p:nvPr/>
          </p:nvSpPr>
          <p:spPr>
            <a:xfrm>
              <a:off x="4087728" y="1316736"/>
              <a:ext cx="869281" cy="713232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993392"/>
              <a:ext cx="30" cy="146304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current_projection_eq"/>
          <p:cNvSpPr txBox="1"/>
          <p:nvPr/>
        </p:nvSpPr>
        <p:spPr>
          <a:xfrm>
            <a:off x="2907792" y="630936"/>
            <a:ext cx="1005840" cy="164592"/>
          </a:xfrm>
          <a:prstGeom prst="rect">
            <a:avLst/>
          </a:prstGeom>
          <a:solidFill>
            <a:srgbClr val="FFFFFF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F★ = projε(F̂; b, H)</a:t>
            </a:r>
          </a:p>
        </p:txBody>
      </p:sp>
      <p:sp>
        <p:nvSpPr>
          <p:cNvPr id="444" name="current_price_eq"/>
          <p:cNvSpPr txBox="1"/>
          <p:nvPr/>
        </p:nvSpPr>
        <p:spPr>
          <a:xfrm>
            <a:off x="4142232" y="786384"/>
            <a:ext cx="768096" cy="155448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λ = λ̄★ + β</a:t>
            </a:r>
          </a:p>
        </p:txBody>
      </p:sp>
      <p:sp>
        <p:nvSpPr>
          <p:cNvPr id="445" name="current_advantage_eq"/>
          <p:cNvSpPr txBox="1"/>
          <p:nvPr/>
        </p:nvSpPr>
        <p:spPr>
          <a:xfrm>
            <a:off x="4133087" y="1371600"/>
            <a:ext cx="786384" cy="237744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Ã = Aᵣ − λ · A𝑐</a:t>
            </a:r>
          </a:p>
        </p:txBody>
      </p:sp>
      <p:sp>
        <p:nvSpPr>
          <p:cNvPr id="446" name="current_update_eq"/>
          <p:cNvSpPr txBox="1"/>
          <p:nvPr/>
        </p:nvSpPr>
        <p:spPr>
          <a:xfrm>
            <a:off x="4133087" y="1719072"/>
            <a:ext cx="786384" cy="265176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PPO / TRPO
→ πₜ₊₁</a:t>
            </a:r>
          </a:p>
        </p:txBody>
      </p:sp>
      <p:sp>
        <p:nvSpPr>
          <p:cNvPr id="447" name="current_safety_prices"/>
          <p:cNvSpPr txBox="1"/>
          <p:nvPr/>
        </p:nvSpPr>
        <p:spPr>
          <a:xfrm>
            <a:off x="3054096" y="2304288"/>
            <a:ext cx="676656" cy="109728"/>
          </a:xfrm>
          <a:prstGeom prst="rect">
            <a:avLst/>
          </a:prstGeom>
          <a:solidFill>
            <a:srgbClr val="F0F8F0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prices λ★</a:t>
            </a:r>
          </a:p>
        </p:txBody>
      </p:sp>
      <p:sp>
        <p:nvSpPr>
          <p:cNvPr id="448" name="current_flow_key"/>
          <p:cNvSpPr txBox="1"/>
          <p:nvPr/>
        </p:nvSpPr>
        <p:spPr>
          <a:xfrm>
            <a:off x="1261872" y="1764792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818E6"/>
                </a:solidFill>
                <a:latin typeface="Times New Roman"/>
              </a:rPr>
              <a:t>flow  F̂</a:t>
            </a:r>
          </a:p>
        </p:txBody>
      </p:sp>
      <p:sp>
        <p:nvSpPr>
          <p:cNvPr id="449" name="current_adv_key"/>
          <p:cNvSpPr txBox="1"/>
          <p:nvPr/>
        </p:nvSpPr>
        <p:spPr>
          <a:xfrm>
            <a:off x="1261872" y="2057400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502882"/>
                </a:solidFill>
                <a:latin typeface="Times New Roman"/>
              </a:rPr>
              <a:t>adv.  A</a:t>
            </a:r>
          </a:p>
        </p:txBody>
      </p:sp>
      <p:sp>
        <p:nvSpPr>
          <p:cNvPr id="450" name="current_cost_key"/>
          <p:cNvSpPr txBox="1"/>
          <p:nvPr/>
        </p:nvSpPr>
        <p:spPr>
          <a:xfrm>
            <a:off x="1261872" y="2350008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cost  Cₖ</a:t>
            </a:r>
          </a:p>
        </p:txBody>
      </p:sp>
      <p:sp>
        <p:nvSpPr>
          <p:cNvPr id="451" name="observed_cost_feedback"/>
          <p:cNvSpPr txBox="1"/>
          <p:nvPr/>
        </p:nvSpPr>
        <p:spPr>
          <a:xfrm>
            <a:off x="4151376" y="1042415"/>
            <a:ext cx="768096" cy="109728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2860" rIns="22860" tIns="13716" bIns="13716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J̄ₖ − Bₖ  →  β</a:t>
            </a:r>
          </a:p>
        </p:txBody>
      </p:sp>
      <p:sp>
        <p:nvSpPr>
          <p:cNvPr id="452" name="observed_episode_cost"/>
          <p:cNvSpPr txBox="1"/>
          <p:nvPr/>
        </p:nvSpPr>
        <p:spPr>
          <a:xfrm>
            <a:off x="146304" y="1527048"/>
            <a:ext cx="548640" cy="118872"/>
          </a:xfrm>
          <a:prstGeom prst="rect">
            <a:avLst/>
          </a:prstGeom>
          <a:noFill/>
          <a:ln>
            <a:noFill/>
          </a:ln>
        </p:spPr>
        <p:txBody>
          <a:bodyPr wrap="square" lIns="22860" rIns="22860" tIns="13716" bIns="13716" anchor="ctr">
            <a:spAutoFit/>
          </a:bodyPr>
          <a:lstStyle/>
          <a:p>
            <a:pPr algn="ctr"/>
            <a:r>
              <a:rPr sz="700" b="0">
                <a:solidFill>
                  <a:srgbClr val="E88B10"/>
                </a:solidFill>
                <a:latin typeface="Times New Roman"/>
              </a:rPr>
              <a:t>observed episode cost  J̄ₖ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