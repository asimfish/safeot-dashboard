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3017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module_penalty"/>
          <p:cNvGrpSpPr/>
          <p:nvPr/>
        </p:nvGrpSpPr>
        <p:grpSpPr>
          <a:xfrm>
            <a:off x="25400" y="38100"/>
            <a:ext cx="1244600" cy="2095500"/>
            <a:chOff x="25400" y="38100"/>
            <a:chExt cx="1244600" cy="2095500"/>
          </a:xfrm>
        </p:grpSpPr>
        <p:sp>
          <p:nvSpPr>
            <p:cNvPr id="3" name="penalty_border"/>
            <p:cNvSpPr/>
            <p:nvPr/>
          </p:nvSpPr>
          <p:spPr>
            <a:xfrm>
              <a:off x="25400" y="38100"/>
              <a:ext cx="1244600" cy="20955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7620">
              <a:solidFill>
                <a:srgbClr val="CBD4D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left_x"/>
            <p:cNvSpPr/>
            <p:nvPr/>
          </p:nvSpPr>
          <p:spPr>
            <a:xfrm>
              <a:off x="190500" y="1574800"/>
              <a:ext cx="1016000" cy="127"/>
            </a:xfrm>
            <a:custGeom>
              <a:avLst/>
              <a:gdLst/>
              <a:ahLst/>
              <a:cxnLst/>
              <a:rect l="0" t="0" r="r" b="b"/>
              <a:pathLst>
                <a:path w="1016000" h="1" fill="none">
                  <a:moveTo>
                    <a:pt x="0" y="0"/>
                  </a:moveTo>
                  <a:lnTo>
                    <a:pt x="1016000" y="0"/>
                  </a:lnTo>
                </a:path>
              </a:pathLst>
            </a:custGeom>
            <a:noFill/>
            <a:ln w="8255">
              <a:solidFill>
                <a:srgbClr val="24333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left_y"/>
            <p:cNvSpPr/>
            <p:nvPr/>
          </p:nvSpPr>
          <p:spPr>
            <a:xfrm>
              <a:off x="190500" y="965200"/>
              <a:ext cx="127" cy="622300"/>
            </a:xfrm>
            <a:custGeom>
              <a:avLst/>
              <a:gdLst/>
              <a:ahLst/>
              <a:cxnLst/>
              <a:rect l="0" t="0" r="r" b="b"/>
              <a:pathLst>
                <a:path w="1" h="622300" fill="none">
                  <a:moveTo>
                    <a:pt x="0" y="622300"/>
                  </a:moveTo>
                  <a:lnTo>
                    <a:pt x="0" y="0"/>
                  </a:lnTo>
                </a:path>
              </a:pathLst>
            </a:custGeom>
            <a:noFill/>
            <a:ln w="8255">
              <a:solidFill>
                <a:srgbClr val="24333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left_budget"/>
            <p:cNvSpPr/>
            <p:nvPr/>
          </p:nvSpPr>
          <p:spPr>
            <a:xfrm>
              <a:off x="190500" y="1320800"/>
              <a:ext cx="1003300" cy="127"/>
            </a:xfrm>
            <a:custGeom>
              <a:avLst/>
              <a:gdLst/>
              <a:ahLst/>
              <a:cxnLst/>
              <a:rect l="0" t="0" r="r" b="b"/>
              <a:pathLst>
                <a:path w="1003300" h="1" fill="none">
                  <a:moveTo>
                    <a:pt x="0" y="0"/>
                  </a:moveTo>
                  <a:lnTo>
                    <a:pt x="1003300" y="0"/>
                  </a:lnTo>
                </a:path>
              </a:pathLst>
            </a:custGeom>
            <a:noFill/>
            <a:ln w="7620">
              <a:solidFill>
                <a:srgbClr val="A57957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left_curve"/>
            <p:cNvSpPr/>
            <p:nvPr/>
          </p:nvSpPr>
          <p:spPr>
            <a:xfrm>
              <a:off x="228600" y="1003300"/>
              <a:ext cx="889000" cy="546100"/>
            </a:xfrm>
            <a:custGeom>
              <a:avLst/>
              <a:gdLst/>
              <a:ahLst/>
              <a:cxnLst/>
              <a:rect l="0" t="0" r="r" b="b"/>
              <a:pathLst>
                <a:path w="1032591" h="544384" fill="none">
                  <a:moveTo>
                    <a:pt x="0" y="544384"/>
                  </a:moveTo>
                  <a:lnTo>
                    <a:pt x="2675" y="543380"/>
                  </a:lnTo>
                  <a:lnTo>
                    <a:pt x="5350" y="540037"/>
                  </a:lnTo>
                  <a:lnTo>
                    <a:pt x="37451" y="476168"/>
                  </a:lnTo>
                  <a:lnTo>
                    <a:pt x="50827" y="454099"/>
                  </a:lnTo>
                  <a:lnTo>
                    <a:pt x="58852" y="445405"/>
                  </a:lnTo>
                  <a:lnTo>
                    <a:pt x="69552" y="436376"/>
                  </a:lnTo>
                  <a:lnTo>
                    <a:pt x="80253" y="430357"/>
                  </a:lnTo>
                  <a:lnTo>
                    <a:pt x="90953" y="422332"/>
                  </a:lnTo>
                  <a:lnTo>
                    <a:pt x="112354" y="399594"/>
                  </a:lnTo>
                  <a:lnTo>
                    <a:pt x="136430" y="368830"/>
                  </a:lnTo>
                  <a:lnTo>
                    <a:pt x="152481" y="356123"/>
                  </a:lnTo>
                  <a:lnTo>
                    <a:pt x="165856" y="348432"/>
                  </a:lnTo>
                  <a:lnTo>
                    <a:pt x="195282" y="339069"/>
                  </a:lnTo>
                  <a:lnTo>
                    <a:pt x="222033" y="327366"/>
                  </a:lnTo>
                  <a:lnTo>
                    <a:pt x="238084" y="314325"/>
                  </a:lnTo>
                  <a:lnTo>
                    <a:pt x="264835" y="275870"/>
                  </a:lnTo>
                  <a:lnTo>
                    <a:pt x="272860" y="266173"/>
                  </a:lnTo>
                  <a:lnTo>
                    <a:pt x="280886" y="258482"/>
                  </a:lnTo>
                  <a:lnTo>
                    <a:pt x="294261" y="249453"/>
                  </a:lnTo>
                  <a:lnTo>
                    <a:pt x="312987" y="242765"/>
                  </a:lnTo>
                  <a:lnTo>
                    <a:pt x="326362" y="236412"/>
                  </a:lnTo>
                  <a:lnTo>
                    <a:pt x="337063" y="229724"/>
                  </a:lnTo>
                  <a:lnTo>
                    <a:pt x="358464" y="210330"/>
                  </a:lnTo>
                  <a:lnTo>
                    <a:pt x="369164" y="201970"/>
                  </a:lnTo>
                  <a:lnTo>
                    <a:pt x="393240" y="178228"/>
                  </a:lnTo>
                  <a:lnTo>
                    <a:pt x="417316" y="163850"/>
                  </a:lnTo>
                  <a:lnTo>
                    <a:pt x="438717" y="155490"/>
                  </a:lnTo>
                  <a:lnTo>
                    <a:pt x="484194" y="142115"/>
                  </a:lnTo>
                  <a:lnTo>
                    <a:pt x="500244" y="139105"/>
                  </a:lnTo>
                  <a:lnTo>
                    <a:pt x="521645" y="139105"/>
                  </a:lnTo>
                  <a:lnTo>
                    <a:pt x="556422" y="134758"/>
                  </a:lnTo>
                  <a:lnTo>
                    <a:pt x="569797" y="130745"/>
                  </a:lnTo>
                  <a:lnTo>
                    <a:pt x="585848" y="123723"/>
                  </a:lnTo>
                  <a:lnTo>
                    <a:pt x="604574" y="118039"/>
                  </a:lnTo>
                  <a:lnTo>
                    <a:pt x="617949" y="115029"/>
                  </a:lnTo>
                  <a:lnTo>
                    <a:pt x="634000" y="114695"/>
                  </a:lnTo>
                  <a:lnTo>
                    <a:pt x="655401" y="109010"/>
                  </a:lnTo>
                  <a:lnTo>
                    <a:pt x="679477" y="100985"/>
                  </a:lnTo>
                  <a:lnTo>
                    <a:pt x="703552" y="89616"/>
                  </a:lnTo>
                  <a:lnTo>
                    <a:pt x="754380" y="57514"/>
                  </a:lnTo>
                  <a:lnTo>
                    <a:pt x="775780" y="46814"/>
                  </a:lnTo>
                  <a:lnTo>
                    <a:pt x="783806" y="44139"/>
                  </a:lnTo>
                  <a:lnTo>
                    <a:pt x="794506" y="38120"/>
                  </a:lnTo>
                  <a:lnTo>
                    <a:pt x="807882" y="37451"/>
                  </a:lnTo>
                  <a:lnTo>
                    <a:pt x="829282" y="34441"/>
                  </a:lnTo>
                  <a:lnTo>
                    <a:pt x="853358" y="26751"/>
                  </a:lnTo>
                  <a:lnTo>
                    <a:pt x="864059" y="26751"/>
                  </a:lnTo>
                  <a:lnTo>
                    <a:pt x="874759" y="24075"/>
                  </a:lnTo>
                  <a:lnTo>
                    <a:pt x="893485" y="23741"/>
                  </a:lnTo>
                  <a:lnTo>
                    <a:pt x="912211" y="18725"/>
                  </a:lnTo>
                  <a:lnTo>
                    <a:pt x="920236" y="18056"/>
                  </a:lnTo>
                  <a:lnTo>
                    <a:pt x="936287" y="12372"/>
                  </a:lnTo>
                  <a:lnTo>
                    <a:pt x="952337" y="8359"/>
                  </a:lnTo>
                  <a:lnTo>
                    <a:pt x="984439" y="8025"/>
                  </a:lnTo>
                  <a:lnTo>
                    <a:pt x="992464" y="5684"/>
                  </a:lnTo>
                  <a:lnTo>
                    <a:pt x="1003164" y="5015"/>
                  </a:lnTo>
                  <a:lnTo>
                    <a:pt x="1011190" y="3009"/>
                  </a:lnTo>
                  <a:lnTo>
                    <a:pt x="1019215" y="2675"/>
                  </a:lnTo>
                  <a:lnTo>
                    <a:pt x="1027240" y="0"/>
                  </a:lnTo>
                  <a:lnTo>
                    <a:pt x="1032591" y="0"/>
                  </a:lnTo>
                </a:path>
              </a:pathLst>
            </a:custGeom>
            <a:noFill/>
            <a:ln w="5350">
              <a:solidFill>
                <a:srgbClr val="60789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leakage_leader"/>
            <p:cNvSpPr/>
            <p:nvPr/>
          </p:nvSpPr>
          <p:spPr>
            <a:xfrm>
              <a:off x="901700" y="1016000"/>
              <a:ext cx="50800" cy="139700"/>
            </a:xfrm>
            <a:custGeom>
              <a:avLst/>
              <a:gdLst/>
              <a:ahLst/>
              <a:cxnLst/>
              <a:rect l="0" t="0" r="r" b="b"/>
              <a:pathLst>
                <a:path w="50800" h="139700" fill="none">
                  <a:moveTo>
                    <a:pt x="0" y="0"/>
                  </a:moveTo>
                  <a:lnTo>
                    <a:pt x="50800" y="139700"/>
                  </a:lnTo>
                </a:path>
              </a:pathLst>
            </a:custGeom>
            <a:noFill/>
            <a:ln w="7620">
              <a:solidFill>
                <a:srgbClr val="A5795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left_x_label"/>
            <p:cNvSpPr txBox="1"/>
            <p:nvPr/>
          </p:nvSpPr>
          <p:spPr>
            <a:xfrm>
              <a:off x="762000" y="1600200"/>
              <a:ext cx="4318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24333B"/>
                  </a:solidFill>
                  <a:latin typeface="Liberation Serif"/>
                </a:rPr>
                <a:t>training</a:t>
              </a:r>
            </a:p>
          </p:txBody>
        </p:sp>
        <p:sp>
          <p:nvSpPr>
            <p:cNvPr id="10" name="leakage_label"/>
            <p:cNvSpPr txBox="1"/>
            <p:nvPr/>
          </p:nvSpPr>
          <p:spPr>
            <a:xfrm>
              <a:off x="317500" y="889000"/>
              <a:ext cx="8509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A57957"/>
                  </a:solidFill>
                  <a:latin typeface="Liberation Serif"/>
                </a:rPr>
                <a:t>budget leakage</a:t>
              </a:r>
            </a:p>
          </p:txBody>
        </p:sp>
        <p:sp>
          <p:nvSpPr>
            <p:cNvPr id="11" name="left_schematic"/>
            <p:cNvSpPr txBox="1"/>
            <p:nvPr/>
          </p:nvSpPr>
          <p:spPr>
            <a:xfrm>
              <a:off x="114300" y="1993900"/>
              <a:ext cx="10922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76858D"/>
                  </a:solidFill>
                  <a:latin typeface="Liberation Serif"/>
                </a:rPr>
                <a:t>(schematic)</a:t>
              </a:r>
            </a:p>
          </p:txBody>
        </p:sp>
        <p:sp>
          <p:nvSpPr>
            <p:cNvPr id="12" name="left_title"/>
            <p:cNvSpPr txBox="1"/>
            <p:nvPr/>
          </p:nvSpPr>
          <p:spPr>
            <a:xfrm>
              <a:off x="76200" y="127000"/>
              <a:ext cx="1143000" cy="177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 i="0">
                  <a:solidFill>
                    <a:srgbClr val="607891"/>
                  </a:solidFill>
                  <a:latin typeface="Liberation Serif"/>
                </a:rPr>
                <a:t>Penalty view</a:t>
              </a:r>
            </a:p>
          </p:txBody>
        </p:sp>
        <p:sp>
          <p:nvSpPr>
            <p:cNvPr id="13" name="left_sub"/>
            <p:cNvSpPr txBox="1"/>
            <p:nvPr/>
          </p:nvSpPr>
          <p:spPr>
            <a:xfrm>
              <a:off x="76200" y="368300"/>
              <a:ext cx="11430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01010"/>
                  </a:solidFill>
                  <a:latin typeface="Liberation Serif"/>
                </a:rPr>
                <a:t>Costs enter the objective</a:t>
              </a:r>
            </a:p>
          </p:txBody>
        </p:sp>
        <p:sp>
          <p:nvSpPr>
            <p:cNvPr id="14" name="penalty_rule"/>
            <p:cNvSpPr txBox="1"/>
            <p:nvPr/>
          </p:nvSpPr>
          <p:spPr>
            <a:xfrm>
              <a:off x="139700" y="622300"/>
              <a:ext cx="1016000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76858D"/>
                  </a:solidFill>
                  <a:latin typeface="Liberation Serif"/>
                </a:rPr>
                <a:t>Fixed penalty</a:t>
              </a:r>
            </a:p>
          </p:txBody>
        </p:sp>
        <p:sp>
          <p:nvSpPr>
            <p:cNvPr id="15" name="left_note"/>
            <p:cNvSpPr txBox="1"/>
            <p:nvPr/>
          </p:nvSpPr>
          <p:spPr>
            <a:xfrm>
              <a:off x="101600" y="1714500"/>
              <a:ext cx="1117600" cy="266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01010"/>
                  </a:solidFill>
                  <a:latin typeface="Liberation Serif"/>
                </a:rPr>
                <a:t>Fixed prices can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01010"/>
                  </a:solidFill>
                  <a:latin typeface="Liberation Serif"/>
                </a:rPr>
                <a:t>leave budget leakage.</a:t>
              </a:r>
            </a:p>
          </p:txBody>
        </p:sp>
        <p:grpSp>
          <p:nvGrpSpPr>
            <p:cNvPr id="16" name="left_B"/>
            <p:cNvGrpSpPr/>
            <p:nvPr/>
          </p:nvGrpSpPr>
          <p:grpSpPr>
            <a:xfrm>
              <a:off x="48505" y="1209297"/>
              <a:ext cx="137178" cy="109139"/>
              <a:chOff x="48505" y="1209297"/>
              <a:chExt cx="137178" cy="109139"/>
            </a:xfrm>
          </p:grpSpPr>
          <p:sp>
            <p:nvSpPr>
              <p:cNvPr id="17" name="left_B_outline_0"/>
              <p:cNvSpPr/>
              <p:nvPr/>
            </p:nvSpPr>
            <p:spPr>
              <a:xfrm>
                <a:off x="48505" y="1209297"/>
                <a:ext cx="75398" cy="82609"/>
              </a:xfrm>
              <a:custGeom>
                <a:avLst/>
                <a:gdLst/>
                <a:ahLst/>
                <a:cxnLst/>
                <a:rect l="0" t="0" r="r" b="b"/>
                <a:pathLst>
                  <a:path w="75398" h="82610">
                    <a:moveTo>
                      <a:pt x="69199" y="57309"/>
                    </a:moveTo>
                    <a:cubicBezTo>
                      <a:pt x="69199" y="48073"/>
                      <a:pt x="65278" y="43390"/>
                      <a:pt x="53261" y="38207"/>
                    </a:cubicBezTo>
                    <a:cubicBezTo>
                      <a:pt x="62242" y="36056"/>
                      <a:pt x="65909" y="34536"/>
                      <a:pt x="69957" y="30996"/>
                    </a:cubicBezTo>
                    <a:cubicBezTo>
                      <a:pt x="73501" y="27960"/>
                      <a:pt x="75398" y="23785"/>
                      <a:pt x="75398" y="18598"/>
                    </a:cubicBezTo>
                    <a:cubicBezTo>
                      <a:pt x="75398" y="6580"/>
                      <a:pt x="66417" y="0"/>
                      <a:pt x="50097" y="0"/>
                    </a:cubicBezTo>
                    <a:lnTo>
                      <a:pt x="17458" y="0"/>
                    </a:lnTo>
                    <a:lnTo>
                      <a:pt x="17458" y="2024"/>
                    </a:lnTo>
                    <a:cubicBezTo>
                      <a:pt x="25428" y="2655"/>
                      <a:pt x="27198" y="3544"/>
                      <a:pt x="27198" y="7211"/>
                    </a:cubicBezTo>
                    <a:cubicBezTo>
                      <a:pt x="27198" y="9108"/>
                      <a:pt x="26694" y="12144"/>
                      <a:pt x="25809" y="15307"/>
                    </a:cubicBezTo>
                    <a:lnTo>
                      <a:pt x="10247" y="71223"/>
                    </a:lnTo>
                    <a:cubicBezTo>
                      <a:pt x="7969" y="78561"/>
                      <a:pt x="7084" y="79319"/>
                      <a:pt x="0" y="80585"/>
                    </a:cubicBezTo>
                    <a:lnTo>
                      <a:pt x="0" y="82610"/>
                    </a:lnTo>
                    <a:lnTo>
                      <a:pt x="35675" y="82610"/>
                    </a:lnTo>
                    <a:cubicBezTo>
                      <a:pt x="55539" y="82610"/>
                      <a:pt x="69199" y="72362"/>
                      <a:pt x="69199" y="57309"/>
                    </a:cubicBezTo>
                    <a:close/>
                    <a:moveTo>
                      <a:pt x="55539" y="56801"/>
                    </a:moveTo>
                    <a:cubicBezTo>
                      <a:pt x="55539" y="70465"/>
                      <a:pt x="46176" y="78815"/>
                      <a:pt x="30742" y="78815"/>
                    </a:cubicBezTo>
                    <a:cubicBezTo>
                      <a:pt x="25428" y="78815"/>
                      <a:pt x="22646" y="77041"/>
                      <a:pt x="22646" y="73501"/>
                    </a:cubicBezTo>
                    <a:cubicBezTo>
                      <a:pt x="22646" y="71858"/>
                      <a:pt x="24162" y="65909"/>
                      <a:pt x="27071" y="55789"/>
                    </a:cubicBezTo>
                    <a:lnTo>
                      <a:pt x="31119" y="40735"/>
                    </a:lnTo>
                    <a:cubicBezTo>
                      <a:pt x="39092" y="40735"/>
                      <a:pt x="44529" y="41243"/>
                      <a:pt x="47061" y="42255"/>
                    </a:cubicBezTo>
                    <a:cubicBezTo>
                      <a:pt x="52376" y="44279"/>
                      <a:pt x="55539" y="49844"/>
                      <a:pt x="55539" y="56801"/>
                    </a:cubicBezTo>
                    <a:close/>
                    <a:moveTo>
                      <a:pt x="62623" y="17459"/>
                    </a:moveTo>
                    <a:cubicBezTo>
                      <a:pt x="62623" y="30488"/>
                      <a:pt x="54146" y="36687"/>
                      <a:pt x="36687" y="36687"/>
                    </a:cubicBezTo>
                    <a:lnTo>
                      <a:pt x="32385" y="36687"/>
                    </a:lnTo>
                    <a:lnTo>
                      <a:pt x="40608" y="7338"/>
                    </a:lnTo>
                    <a:cubicBezTo>
                      <a:pt x="41366" y="4556"/>
                      <a:pt x="42886" y="3794"/>
                      <a:pt x="47819" y="3794"/>
                    </a:cubicBezTo>
                    <a:cubicBezTo>
                      <a:pt x="58067" y="3794"/>
                      <a:pt x="62623" y="8096"/>
                      <a:pt x="62623" y="17459"/>
                    </a:cubicBezTo>
                    <a:close/>
                  </a:path>
                </a:pathLst>
              </a:custGeom>
              <a:solidFill>
                <a:srgbClr val="A5795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" name="left_B_outline_1"/>
              <p:cNvSpPr/>
              <p:nvPr/>
            </p:nvSpPr>
            <p:spPr>
              <a:xfrm>
                <a:off x="135046" y="1246424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A5795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19" name="module_safeot"/>
          <p:cNvGrpSpPr/>
          <p:nvPr/>
        </p:nvGrpSpPr>
        <p:grpSpPr>
          <a:xfrm>
            <a:off x="1333500" y="38100"/>
            <a:ext cx="2362200" cy="2095500"/>
            <a:chOff x="1333500" y="38100"/>
            <a:chExt cx="2362200" cy="2095500"/>
          </a:xfrm>
        </p:grpSpPr>
        <p:sp>
          <p:nvSpPr>
            <p:cNvPr id="20" name="safeot_border"/>
            <p:cNvSpPr/>
            <p:nvPr/>
          </p:nvSpPr>
          <p:spPr>
            <a:xfrm>
              <a:off x="1333500" y="38100"/>
              <a:ext cx="2362200" cy="20955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7620">
              <a:solidFill>
                <a:srgbClr val="8BA99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costcard0"/>
            <p:cNvSpPr/>
            <p:nvPr/>
          </p:nvSpPr>
          <p:spPr>
            <a:xfrm>
              <a:off x="1447800" y="825500"/>
              <a:ext cx="508000" cy="190500"/>
            </a:xfrm>
            <a:prstGeom prst="roundRect">
              <a:avLst>
                <a:gd name="adj" fmla="val 2500"/>
              </a:avLst>
            </a:prstGeom>
            <a:solidFill>
              <a:srgbClr val="FAFBFA"/>
            </a:solidFill>
            <a:ln w="7620">
              <a:solidFill>
                <a:srgbClr val="D9E0E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costcard1"/>
            <p:cNvSpPr/>
            <p:nvPr/>
          </p:nvSpPr>
          <p:spPr>
            <a:xfrm>
              <a:off x="1447800" y="1066800"/>
              <a:ext cx="508000" cy="190500"/>
            </a:xfrm>
            <a:prstGeom prst="roundRect">
              <a:avLst>
                <a:gd name="adj" fmla="val 2500"/>
              </a:avLst>
            </a:prstGeom>
            <a:solidFill>
              <a:srgbClr val="FAFBFA"/>
            </a:solidFill>
            <a:ln w="7620">
              <a:solidFill>
                <a:srgbClr val="D9E0E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costcard2"/>
            <p:cNvSpPr/>
            <p:nvPr/>
          </p:nvSpPr>
          <p:spPr>
            <a:xfrm>
              <a:off x="1447800" y="1308100"/>
              <a:ext cx="508000" cy="190500"/>
            </a:xfrm>
            <a:prstGeom prst="roundRect">
              <a:avLst>
                <a:gd name="adj" fmla="val 2500"/>
              </a:avLst>
            </a:prstGeom>
            <a:solidFill>
              <a:srgbClr val="FAFBFA"/>
            </a:solidFill>
            <a:ln w="7620">
              <a:solidFill>
                <a:srgbClr val="D9E0E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costcard3"/>
            <p:cNvSpPr/>
            <p:nvPr/>
          </p:nvSpPr>
          <p:spPr>
            <a:xfrm>
              <a:off x="1447800" y="1549400"/>
              <a:ext cx="508000" cy="190500"/>
            </a:xfrm>
            <a:prstGeom prst="roundRect">
              <a:avLst>
                <a:gd name="adj" fmla="val 2500"/>
              </a:avLst>
            </a:prstGeom>
            <a:solidFill>
              <a:srgbClr val="FAFBFA"/>
            </a:solidFill>
            <a:ln w="7620">
              <a:solidFill>
                <a:srgbClr val="D9E0E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safeot_title"/>
            <p:cNvSpPr txBox="1"/>
            <p:nvPr/>
          </p:nvSpPr>
          <p:spPr>
            <a:xfrm>
              <a:off x="1714500" y="114300"/>
              <a:ext cx="1612900" cy="2032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80" b="1" i="0">
                  <a:solidFill>
                    <a:srgbClr val="3F746B"/>
                  </a:solidFill>
                  <a:latin typeface="Liberation Serif"/>
                </a:rPr>
                <a:t>SafeOT</a:t>
              </a:r>
            </a:p>
          </p:txBody>
        </p:sp>
        <p:sp>
          <p:nvSpPr>
            <p:cNvPr id="26" name="subtitle"/>
            <p:cNvSpPr txBox="1"/>
            <p:nvPr/>
          </p:nvSpPr>
          <p:spPr>
            <a:xfrm>
              <a:off x="1422400" y="368300"/>
              <a:ext cx="21844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 b="1" i="0">
                  <a:solidFill>
                    <a:srgbClr val="3F746B"/>
                  </a:solidFill>
                  <a:latin typeface="Liberation Serif"/>
                </a:rPr>
                <a:t>One flow, all budgets</a:t>
              </a:r>
            </a:p>
          </p:txBody>
        </p:sp>
        <p:sp>
          <p:nvSpPr>
            <p:cNvPr id="27" name="costs_title"/>
            <p:cNvSpPr txBox="1"/>
            <p:nvPr/>
          </p:nvSpPr>
          <p:spPr>
            <a:xfrm>
              <a:off x="1397000" y="609600"/>
              <a:ext cx="6350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0" b="1" i="0">
                  <a:solidFill>
                    <a:srgbClr val="24333B"/>
                  </a:solidFill>
                  <a:latin typeface="Liberation Serif"/>
                </a:rPr>
                <a:t>Soft costs</a:t>
              </a:r>
            </a:p>
          </p:txBody>
        </p:sp>
        <p:sp>
          <p:nvSpPr>
            <p:cNvPr id="28" name="solve_title"/>
            <p:cNvSpPr txBox="1"/>
            <p:nvPr/>
          </p:nvSpPr>
          <p:spPr>
            <a:xfrm>
              <a:off x="2082800" y="609600"/>
              <a:ext cx="15240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0" b="1" i="0">
                  <a:solidFill>
                    <a:srgbClr val="24333B"/>
                  </a:solidFill>
                  <a:latin typeface="Liberation Serif"/>
                </a:rPr>
                <a:t>Entropic projection</a:t>
              </a:r>
            </a:p>
          </p:txBody>
        </p:sp>
        <p:grpSp>
          <p:nvGrpSpPr>
            <p:cNvPr id="29" name="icon_cost_icon0"/>
            <p:cNvGrpSpPr/>
            <p:nvPr/>
          </p:nvGrpSpPr>
          <p:grpSpPr>
            <a:xfrm>
              <a:off x="1498600" y="860044"/>
              <a:ext cx="139700" cy="118745"/>
              <a:chOff x="1498600" y="860044"/>
              <a:chExt cx="139700" cy="118745"/>
            </a:xfrm>
          </p:grpSpPr>
          <p:sp>
            <p:nvSpPr>
              <p:cNvPr id="30" name="cost_icon0deck"/>
              <p:cNvSpPr/>
              <p:nvPr/>
            </p:nvSpPr>
            <p:spPr>
              <a:xfrm>
                <a:off x="1498600" y="913130"/>
                <a:ext cx="139700" cy="127"/>
              </a:xfrm>
              <a:custGeom>
                <a:avLst/>
                <a:gdLst/>
                <a:ahLst/>
                <a:cxnLst/>
                <a:rect l="0" t="0" r="r" b="b"/>
                <a:pathLst>
                  <a:path w="139700" h="1" fill="none">
                    <a:moveTo>
                      <a:pt x="0" y="0"/>
                    </a:moveTo>
                    <a:lnTo>
                      <a:pt x="139700" y="0"/>
                    </a:lnTo>
                  </a:path>
                </a:pathLst>
              </a:custGeom>
              <a:noFill/>
              <a:ln w="9525">
                <a:solidFill>
                  <a:srgbClr val="7685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" name="cost_icon00"/>
              <p:cNvSpPr/>
              <p:nvPr/>
            </p:nvSpPr>
            <p:spPr>
              <a:xfrm>
                <a:off x="1526540" y="860044"/>
                <a:ext cx="127" cy="103378"/>
              </a:xfrm>
              <a:custGeom>
                <a:avLst/>
                <a:gdLst/>
                <a:ahLst/>
                <a:cxnLst/>
                <a:rect l="0" t="0" r="r" b="b"/>
                <a:pathLst>
                  <a:path w="1" h="103378" fill="none">
                    <a:moveTo>
                      <a:pt x="0" y="0"/>
                    </a:moveTo>
                    <a:lnTo>
                      <a:pt x="0" y="103378"/>
                    </a:lnTo>
                  </a:path>
                </a:pathLst>
              </a:custGeom>
              <a:noFill/>
              <a:ln w="9525">
                <a:solidFill>
                  <a:srgbClr val="7685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" name="cost_icon01"/>
              <p:cNvSpPr/>
              <p:nvPr/>
            </p:nvSpPr>
            <p:spPr>
              <a:xfrm>
                <a:off x="1610360" y="860044"/>
                <a:ext cx="127" cy="103378"/>
              </a:xfrm>
              <a:custGeom>
                <a:avLst/>
                <a:gdLst/>
                <a:ahLst/>
                <a:cxnLst/>
                <a:rect l="0" t="0" r="r" b="b"/>
                <a:pathLst>
                  <a:path w="1" h="103378" fill="none">
                    <a:moveTo>
                      <a:pt x="0" y="0"/>
                    </a:moveTo>
                    <a:lnTo>
                      <a:pt x="0" y="103378"/>
                    </a:lnTo>
                  </a:path>
                </a:pathLst>
              </a:custGeom>
              <a:noFill/>
              <a:ln w="9525">
                <a:solidFill>
                  <a:srgbClr val="7685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" name="cost_icon0arch"/>
              <p:cNvSpPr/>
              <p:nvPr/>
            </p:nvSpPr>
            <p:spPr>
              <a:xfrm>
                <a:off x="1526540" y="869823"/>
                <a:ext cx="83819" cy="27241"/>
              </a:xfrm>
              <a:custGeom>
                <a:avLst/>
                <a:gdLst/>
                <a:ahLst/>
                <a:cxnLst/>
                <a:rect l="0" t="0" r="r" b="b"/>
                <a:pathLst>
                  <a:path w="83819" h="27241" fill="none">
                    <a:moveTo>
                      <a:pt x="0" y="0"/>
                    </a:moveTo>
                    <a:quadBezTo>
                      <a:pt x="41909" y="54482"/>
                      <a:pt x="83819" y="0"/>
                    </a:quadBezTo>
                  </a:path>
                </a:pathLst>
              </a:custGeom>
              <a:noFill/>
              <a:ln w="8255">
                <a:solidFill>
                  <a:srgbClr val="7685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" name="cost_icon0wave"/>
              <p:cNvSpPr/>
              <p:nvPr/>
            </p:nvSpPr>
            <p:spPr>
              <a:xfrm>
                <a:off x="1498600" y="962025"/>
                <a:ext cx="139700" cy="16764"/>
              </a:xfrm>
              <a:custGeom>
                <a:avLst/>
                <a:gdLst/>
                <a:ahLst/>
                <a:cxnLst/>
                <a:rect l="0" t="0" r="r" b="b"/>
                <a:pathLst>
                  <a:path w="139700" h="16764" fill="none">
                    <a:moveTo>
                      <a:pt x="0" y="8382"/>
                    </a:moveTo>
                    <a:quadBezTo>
                      <a:pt x="34925" y="-8381"/>
                      <a:pt x="69850" y="8382"/>
                    </a:quadBezTo>
                    <a:quadBezTo>
                      <a:pt x="104775" y="25146"/>
                      <a:pt x="139700" y="8382"/>
                    </a:quadBezTo>
                  </a:path>
                </a:pathLst>
              </a:custGeom>
              <a:noFill/>
              <a:ln w="8255">
                <a:solidFill>
                  <a:srgbClr val="7685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35" name="cost_index0"/>
            <p:cNvSpPr txBox="1"/>
            <p:nvPr/>
          </p:nvSpPr>
          <p:spPr>
            <a:xfrm>
              <a:off x="1701800" y="838200"/>
              <a:ext cx="203200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0" b="0" i="0">
                  <a:solidFill>
                    <a:srgbClr val="76858D"/>
                  </a:solidFill>
                  <a:latin typeface="Liberation Serif"/>
                </a:rPr>
                <a:t>1</a:t>
              </a:r>
            </a:p>
          </p:txBody>
        </p:sp>
        <p:grpSp>
          <p:nvGrpSpPr>
            <p:cNvPr id="36" name="icon_cost_icon1"/>
            <p:cNvGrpSpPr/>
            <p:nvPr/>
          </p:nvGrpSpPr>
          <p:grpSpPr>
            <a:xfrm>
              <a:off x="1523422" y="1084580"/>
              <a:ext cx="90054" cy="117348"/>
              <a:chOff x="1523422" y="1084580"/>
              <a:chExt cx="90054" cy="117348"/>
            </a:xfrm>
          </p:grpSpPr>
          <p:sp>
            <p:nvSpPr>
              <p:cNvPr id="37" name="cost_icon1drop"/>
              <p:cNvSpPr/>
              <p:nvPr/>
            </p:nvSpPr>
            <p:spPr>
              <a:xfrm>
                <a:off x="1523422" y="1084580"/>
                <a:ext cx="90054" cy="117348"/>
              </a:xfrm>
              <a:custGeom>
                <a:avLst/>
                <a:gdLst/>
                <a:ahLst/>
                <a:cxnLst/>
                <a:rect l="0" t="0" r="r" b="b"/>
                <a:pathLst>
                  <a:path w="90054" h="117348" fill="norm">
                    <a:moveTo>
                      <a:pt x="45027" y="0"/>
                    </a:moveTo>
                    <a:cubicBezTo>
                      <a:pt x="33851" y="41909"/>
                      <a:pt x="-3867" y="55880"/>
                      <a:pt x="323" y="88011"/>
                    </a:cubicBezTo>
                    <a:cubicBezTo>
                      <a:pt x="4514" y="127127"/>
                      <a:pt x="85540" y="127127"/>
                      <a:pt x="89731" y="88011"/>
                    </a:cubicBezTo>
                    <a:cubicBezTo>
                      <a:pt x="93922" y="55880"/>
                      <a:pt x="56203" y="41909"/>
                      <a:pt x="45027" y="0"/>
                    </a:cubicBezTo>
                    <a:close/>
                  </a:path>
                </a:pathLst>
              </a:custGeom>
              <a:solidFill>
                <a:srgbClr val="EDF2F3"/>
              </a:solidFill>
              <a:ln w="8255">
                <a:solidFill>
                  <a:srgbClr val="7685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38" name="cost_index1"/>
            <p:cNvSpPr txBox="1"/>
            <p:nvPr/>
          </p:nvSpPr>
          <p:spPr>
            <a:xfrm>
              <a:off x="1701800" y="1079500"/>
              <a:ext cx="203200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0" b="0" i="0">
                  <a:solidFill>
                    <a:srgbClr val="76858D"/>
                  </a:solidFill>
                  <a:latin typeface="Liberation Serif"/>
                </a:rPr>
                <a:t>2</a:t>
              </a:r>
            </a:p>
          </p:txBody>
        </p:sp>
        <p:grpSp>
          <p:nvGrpSpPr>
            <p:cNvPr id="39" name="icon_cost_icon2"/>
            <p:cNvGrpSpPr/>
            <p:nvPr/>
          </p:nvGrpSpPr>
          <p:grpSpPr>
            <a:xfrm>
              <a:off x="1501394" y="1345438"/>
              <a:ext cx="136905" cy="113157"/>
              <a:chOff x="1501394" y="1345438"/>
              <a:chExt cx="136905" cy="113157"/>
            </a:xfrm>
          </p:grpSpPr>
          <p:sp>
            <p:nvSpPr>
              <p:cNvPr id="40" name="cost_icon2track"/>
              <p:cNvSpPr/>
              <p:nvPr/>
            </p:nvSpPr>
            <p:spPr>
              <a:xfrm>
                <a:off x="1501394" y="1436243"/>
                <a:ext cx="86614" cy="22352"/>
              </a:xfrm>
              <a:prstGeom prst="roundRect">
                <a:avLst>
                  <a:gd name="adj" fmla="val 2500"/>
                </a:avLst>
              </a:prstGeom>
              <a:solidFill>
                <a:srgbClr val="FFFFFF"/>
              </a:solidFill>
              <a:ln w="8255">
                <a:solidFill>
                  <a:srgbClr val="7685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" name="cost_icon2cab"/>
              <p:cNvSpPr/>
              <p:nvPr/>
            </p:nvSpPr>
            <p:spPr>
              <a:xfrm>
                <a:off x="1515364" y="1395730"/>
                <a:ext cx="48894" cy="39116"/>
              </a:xfrm>
              <a:prstGeom prst="roundRect">
                <a:avLst>
                  <a:gd name="adj" fmla="val 2500"/>
                </a:avLst>
              </a:prstGeom>
              <a:solidFill>
                <a:srgbClr val="FFFFFF"/>
              </a:solidFill>
              <a:ln w="8255">
                <a:solidFill>
                  <a:srgbClr val="7685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" name="cost_icon2arm"/>
              <p:cNvSpPr/>
              <p:nvPr/>
            </p:nvSpPr>
            <p:spPr>
              <a:xfrm>
                <a:off x="1554480" y="1345438"/>
                <a:ext cx="68453" cy="78231"/>
              </a:xfrm>
              <a:custGeom>
                <a:avLst/>
                <a:gdLst/>
                <a:ahLst/>
                <a:cxnLst/>
                <a:rect l="0" t="0" r="r" b="b"/>
                <a:pathLst>
                  <a:path w="68453" h="78231" fill="none">
                    <a:moveTo>
                      <a:pt x="0" y="50291"/>
                    </a:moveTo>
                    <a:lnTo>
                      <a:pt x="29336" y="0"/>
                    </a:lnTo>
                    <a:lnTo>
                      <a:pt x="68453" y="23748"/>
                    </a:lnTo>
                    <a:lnTo>
                      <a:pt x="53085" y="78231"/>
                    </a:lnTo>
                  </a:path>
                </a:pathLst>
              </a:custGeom>
              <a:noFill/>
              <a:ln w="11430">
                <a:solidFill>
                  <a:srgbClr val="7685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" name="cost_icon2bucket"/>
              <p:cNvSpPr/>
              <p:nvPr/>
            </p:nvSpPr>
            <p:spPr>
              <a:xfrm>
                <a:off x="1597787" y="1423670"/>
                <a:ext cx="40512" cy="29337"/>
              </a:xfrm>
              <a:custGeom>
                <a:avLst/>
                <a:gdLst/>
                <a:ahLst/>
                <a:cxnLst/>
                <a:rect l="0" t="0" r="r" b="b"/>
                <a:pathLst>
                  <a:path w="40512" h="29337" fill="none">
                    <a:moveTo>
                      <a:pt x="9778" y="0"/>
                    </a:moveTo>
                    <a:lnTo>
                      <a:pt x="40512" y="0"/>
                    </a:lnTo>
                    <a:lnTo>
                      <a:pt x="25146" y="29337"/>
                    </a:lnTo>
                    <a:lnTo>
                      <a:pt x="0" y="13969"/>
                    </a:lnTo>
                  </a:path>
                </a:pathLst>
              </a:custGeom>
              <a:noFill/>
              <a:ln w="8255">
                <a:solidFill>
                  <a:srgbClr val="7685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44" name="cost_index2"/>
            <p:cNvSpPr txBox="1"/>
            <p:nvPr/>
          </p:nvSpPr>
          <p:spPr>
            <a:xfrm>
              <a:off x="1701800" y="1320800"/>
              <a:ext cx="203200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0" b="0" i="0">
                  <a:solidFill>
                    <a:srgbClr val="76858D"/>
                  </a:solidFill>
                  <a:latin typeface="Liberation Serif"/>
                </a:rPr>
                <a:t>3</a:t>
              </a:r>
            </a:p>
          </p:txBody>
        </p:sp>
        <p:grpSp>
          <p:nvGrpSpPr>
            <p:cNvPr id="45" name="icon_cost_icon3"/>
            <p:cNvGrpSpPr/>
            <p:nvPr/>
          </p:nvGrpSpPr>
          <p:grpSpPr>
            <a:xfrm>
              <a:off x="1515494" y="1567180"/>
              <a:ext cx="102199" cy="137948"/>
              <a:chOff x="1515494" y="1567180"/>
              <a:chExt cx="102199" cy="137948"/>
            </a:xfrm>
          </p:grpSpPr>
          <p:sp>
            <p:nvSpPr>
              <p:cNvPr id="46" name="cost_icon3flame"/>
              <p:cNvSpPr/>
              <p:nvPr/>
            </p:nvSpPr>
            <p:spPr>
              <a:xfrm>
                <a:off x="1515494" y="1567180"/>
                <a:ext cx="102199" cy="137948"/>
              </a:xfrm>
              <a:custGeom>
                <a:avLst/>
                <a:gdLst/>
                <a:ahLst/>
                <a:cxnLst/>
                <a:rect l="0" t="0" r="r" b="b"/>
                <a:pathLst>
                  <a:path w="102199" h="137948" fill="norm">
                    <a:moveTo>
                      <a:pt x="55749" y="0"/>
                    </a:moveTo>
                    <a:cubicBezTo>
                      <a:pt x="87880" y="48894"/>
                      <a:pt x="32000" y="50291"/>
                      <a:pt x="89277" y="83819"/>
                    </a:cubicBezTo>
                    <a:cubicBezTo>
                      <a:pt x="133981" y="127126"/>
                      <a:pt x="51558" y="163449"/>
                      <a:pt x="11045" y="114554"/>
                    </a:cubicBezTo>
                    <a:cubicBezTo>
                      <a:pt x="-19688" y="82423"/>
                      <a:pt x="23618" y="65658"/>
                      <a:pt x="22221" y="39115"/>
                    </a:cubicBezTo>
                    <a:cubicBezTo>
                      <a:pt x="52955" y="76835"/>
                      <a:pt x="54352" y="34925"/>
                      <a:pt x="55749" y="0"/>
                    </a:cubicBezTo>
                    <a:close/>
                  </a:path>
                </a:pathLst>
              </a:custGeom>
              <a:solidFill>
                <a:srgbClr val="EDF2F3"/>
              </a:solidFill>
              <a:ln w="8255">
                <a:solidFill>
                  <a:srgbClr val="7685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47" name="cost_index3"/>
            <p:cNvSpPr txBox="1"/>
            <p:nvPr/>
          </p:nvSpPr>
          <p:spPr>
            <a:xfrm>
              <a:off x="1701800" y="1562100"/>
              <a:ext cx="203200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0" b="0" i="0">
                  <a:solidFill>
                    <a:srgbClr val="76858D"/>
                  </a:solidFill>
                  <a:latin typeface="Liberation Serif"/>
                </a:rPr>
                <a:t>K</a:t>
              </a:r>
            </a:p>
          </p:txBody>
        </p:sp>
        <p:sp>
          <p:nvSpPr>
            <p:cNvPr id="48" name="to_solve"/>
            <p:cNvSpPr/>
            <p:nvPr/>
          </p:nvSpPr>
          <p:spPr>
            <a:xfrm>
              <a:off x="1981200" y="1200150"/>
              <a:ext cx="152400" cy="127"/>
            </a:xfrm>
            <a:custGeom>
              <a:avLst/>
              <a:gdLst/>
              <a:ahLst/>
              <a:cxnLst/>
              <a:rect l="0" t="0" r="r" b="b"/>
              <a:pathLst>
                <a:path w="152400" h="1" fill="none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noFill/>
            <a:ln w="8890">
              <a:solidFill>
                <a:srgbClr val="3F746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49" name="motif_unified_graph"/>
            <p:cNvGrpSpPr/>
            <p:nvPr/>
          </p:nvGrpSpPr>
          <p:grpSpPr>
            <a:xfrm>
              <a:off x="2164715" y="894715"/>
              <a:ext cx="1322069" cy="610869"/>
              <a:chOff x="2164715" y="894715"/>
              <a:chExt cx="1322069" cy="610869"/>
            </a:xfrm>
          </p:grpSpPr>
          <p:sp>
            <p:nvSpPr>
              <p:cNvPr id="50" name="unified_graph_edge0"/>
              <p:cNvSpPr/>
              <p:nvPr/>
            </p:nvSpPr>
            <p:spPr>
              <a:xfrm>
                <a:off x="2224152" y="944903"/>
                <a:ext cx="360804" cy="237443"/>
              </a:xfrm>
              <a:custGeom>
                <a:avLst/>
                <a:gdLst/>
                <a:ahLst/>
                <a:cxnLst/>
                <a:rect l="0" t="0" r="r" b="b"/>
                <a:pathLst>
                  <a:path w="360804" h="237443" fill="none">
                    <a:moveTo>
                      <a:pt x="0" y="237443"/>
                    </a:moveTo>
                    <a:lnTo>
                      <a:pt x="360804" y="0"/>
                    </a:lnTo>
                  </a:path>
                </a:pathLst>
              </a:custGeom>
              <a:noFill/>
              <a:ln w="10795">
                <a:solidFill>
                  <a:srgbClr val="98A4A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" name="unified_graph_edge1"/>
              <p:cNvSpPr/>
              <p:nvPr/>
            </p:nvSpPr>
            <p:spPr>
              <a:xfrm>
                <a:off x="2644394" y="927100"/>
                <a:ext cx="362711" cy="127"/>
              </a:xfrm>
              <a:custGeom>
                <a:avLst/>
                <a:gdLst/>
                <a:ahLst/>
                <a:cxnLst/>
                <a:rect l="0" t="0" r="r" b="b"/>
                <a:pathLst>
                  <a:path w="362711" h="1" fill="none">
                    <a:moveTo>
                      <a:pt x="0" y="0"/>
                    </a:moveTo>
                    <a:lnTo>
                      <a:pt x="362711" y="0"/>
                    </a:lnTo>
                  </a:path>
                </a:pathLst>
              </a:custGeom>
              <a:noFill/>
              <a:ln w="10795">
                <a:solidFill>
                  <a:srgbClr val="98A4A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" name="unified_graph_edge2"/>
              <p:cNvSpPr/>
              <p:nvPr/>
            </p:nvSpPr>
            <p:spPr>
              <a:xfrm>
                <a:off x="3066543" y="944903"/>
                <a:ext cx="360804" cy="237443"/>
              </a:xfrm>
              <a:custGeom>
                <a:avLst/>
                <a:gdLst/>
                <a:ahLst/>
                <a:cxnLst/>
                <a:rect l="0" t="0" r="r" b="b"/>
                <a:pathLst>
                  <a:path w="360804" h="237443" fill="none">
                    <a:moveTo>
                      <a:pt x="0" y="0"/>
                    </a:moveTo>
                    <a:lnTo>
                      <a:pt x="360804" y="237443"/>
                    </a:lnTo>
                  </a:path>
                </a:pathLst>
              </a:custGeom>
              <a:noFill/>
              <a:ln w="10795">
                <a:solidFill>
                  <a:srgbClr val="98A4AA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" name="unified_graph_edge3"/>
              <p:cNvSpPr/>
              <p:nvPr/>
            </p:nvSpPr>
            <p:spPr>
              <a:xfrm>
                <a:off x="2224152" y="1217953"/>
                <a:ext cx="360804" cy="237443"/>
              </a:xfrm>
              <a:custGeom>
                <a:avLst/>
                <a:gdLst/>
                <a:ahLst/>
                <a:cxnLst/>
                <a:rect l="0" t="0" r="r" b="b"/>
                <a:pathLst>
                  <a:path w="360804" h="237443" fill="none">
                    <a:moveTo>
                      <a:pt x="0" y="0"/>
                    </a:moveTo>
                    <a:lnTo>
                      <a:pt x="360804" y="237443"/>
                    </a:lnTo>
                  </a:path>
                </a:pathLst>
              </a:custGeom>
              <a:noFill/>
              <a:ln w="5715">
                <a:solidFill>
                  <a:srgbClr val="98A4A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" name="unified_graph_target3"/>
              <p:cNvSpPr/>
              <p:nvPr/>
            </p:nvSpPr>
            <p:spPr>
              <a:xfrm>
                <a:off x="2214378" y="1232805"/>
                <a:ext cx="360804" cy="237443"/>
              </a:xfrm>
              <a:custGeom>
                <a:avLst/>
                <a:gdLst/>
                <a:ahLst/>
                <a:cxnLst/>
                <a:rect l="0" t="0" r="r" b="b"/>
                <a:pathLst>
                  <a:path w="360804" h="237443" fill="none">
                    <a:moveTo>
                      <a:pt x="0" y="0"/>
                    </a:moveTo>
                    <a:lnTo>
                      <a:pt x="360804" y="237443"/>
                    </a:lnTo>
                  </a:path>
                </a:pathLst>
              </a:custGeom>
              <a:noFill/>
              <a:ln w="19050">
                <a:solidFill>
                  <a:srgbClr val="3F746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" name="unified_graph_edge4"/>
              <p:cNvSpPr/>
              <p:nvPr/>
            </p:nvSpPr>
            <p:spPr>
              <a:xfrm>
                <a:off x="2644394" y="1473200"/>
                <a:ext cx="362711" cy="127"/>
              </a:xfrm>
              <a:custGeom>
                <a:avLst/>
                <a:gdLst/>
                <a:ahLst/>
                <a:cxnLst/>
                <a:rect l="0" t="0" r="r" b="b"/>
                <a:pathLst>
                  <a:path w="362711" h="1" fill="none">
                    <a:moveTo>
                      <a:pt x="0" y="0"/>
                    </a:moveTo>
                    <a:lnTo>
                      <a:pt x="362711" y="0"/>
                    </a:lnTo>
                  </a:path>
                </a:pathLst>
              </a:custGeom>
              <a:noFill/>
              <a:ln w="5715">
                <a:solidFill>
                  <a:srgbClr val="98A4A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" name="unified_graph_target4"/>
              <p:cNvSpPr/>
              <p:nvPr/>
            </p:nvSpPr>
            <p:spPr>
              <a:xfrm>
                <a:off x="2644394" y="1490980"/>
                <a:ext cx="362711" cy="127"/>
              </a:xfrm>
              <a:custGeom>
                <a:avLst/>
                <a:gdLst/>
                <a:ahLst/>
                <a:cxnLst/>
                <a:rect l="0" t="0" r="r" b="b"/>
                <a:pathLst>
                  <a:path w="362711" h="1" fill="none">
                    <a:moveTo>
                      <a:pt x="0" y="0"/>
                    </a:moveTo>
                    <a:lnTo>
                      <a:pt x="362711" y="0"/>
                    </a:lnTo>
                  </a:path>
                </a:pathLst>
              </a:custGeom>
              <a:noFill/>
              <a:ln w="19050">
                <a:solidFill>
                  <a:srgbClr val="3F746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" name="unified_graph_edge5"/>
              <p:cNvSpPr/>
              <p:nvPr/>
            </p:nvSpPr>
            <p:spPr>
              <a:xfrm>
                <a:off x="3066543" y="1217953"/>
                <a:ext cx="360804" cy="237443"/>
              </a:xfrm>
              <a:custGeom>
                <a:avLst/>
                <a:gdLst/>
                <a:ahLst/>
                <a:cxnLst/>
                <a:rect l="0" t="0" r="r" b="b"/>
                <a:pathLst>
                  <a:path w="360804" h="237443" fill="none">
                    <a:moveTo>
                      <a:pt x="0" y="237443"/>
                    </a:moveTo>
                    <a:lnTo>
                      <a:pt x="360804" y="0"/>
                    </a:lnTo>
                  </a:path>
                </a:pathLst>
              </a:custGeom>
              <a:noFill/>
              <a:ln w="5715">
                <a:solidFill>
                  <a:srgbClr val="98A4AA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" name="unified_graph_target5"/>
              <p:cNvSpPr/>
              <p:nvPr/>
            </p:nvSpPr>
            <p:spPr>
              <a:xfrm>
                <a:off x="3076317" y="1232805"/>
                <a:ext cx="360804" cy="237443"/>
              </a:xfrm>
              <a:custGeom>
                <a:avLst/>
                <a:gdLst/>
                <a:ahLst/>
                <a:cxnLst/>
                <a:rect l="0" t="0" r="r" b="b"/>
                <a:pathLst>
                  <a:path w="360804" h="237443" fill="none">
                    <a:moveTo>
                      <a:pt x="0" y="237443"/>
                    </a:moveTo>
                    <a:lnTo>
                      <a:pt x="360804" y="0"/>
                    </a:lnTo>
                  </a:path>
                </a:pathLst>
              </a:custGeom>
              <a:noFill/>
              <a:ln w="19050">
                <a:solidFill>
                  <a:srgbClr val="3F746B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" name="unified_graph_excluded"/>
              <p:cNvSpPr/>
              <p:nvPr/>
            </p:nvSpPr>
            <p:spPr>
              <a:xfrm>
                <a:off x="2612009" y="959485"/>
                <a:ext cx="127" cy="481330"/>
              </a:xfrm>
              <a:custGeom>
                <a:avLst/>
                <a:gdLst/>
                <a:ahLst/>
                <a:cxnLst/>
                <a:rect l="0" t="0" r="r" b="b"/>
                <a:pathLst>
                  <a:path w="1" h="481330" fill="none">
                    <a:moveTo>
                      <a:pt x="0" y="0"/>
                    </a:moveTo>
                    <a:lnTo>
                      <a:pt x="0" y="481330"/>
                    </a:lnTo>
                  </a:path>
                </a:pathLst>
              </a:custGeom>
              <a:noFill/>
              <a:ln w="8255">
                <a:solidFill>
                  <a:srgbClr val="A57957"/>
                </a:solidFill>
                <a:prstDash val="dash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" name="unified_graph_cross0"/>
              <p:cNvSpPr/>
              <p:nvPr/>
            </p:nvSpPr>
            <p:spPr>
              <a:xfrm>
                <a:off x="2591689" y="1179830"/>
                <a:ext cx="40639" cy="40639"/>
              </a:xfrm>
              <a:custGeom>
                <a:avLst/>
                <a:gdLst/>
                <a:ahLst/>
                <a:cxnLst/>
                <a:rect l="0" t="0" r="r" b="b"/>
                <a:pathLst>
                  <a:path w="40639" h="40639" fill="none">
                    <a:moveTo>
                      <a:pt x="0" y="40639"/>
                    </a:moveTo>
                    <a:lnTo>
                      <a:pt x="40639" y="0"/>
                    </a:lnTo>
                  </a:path>
                </a:pathLst>
              </a:custGeom>
              <a:noFill/>
              <a:ln w="10160">
                <a:solidFill>
                  <a:srgbClr val="A5795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" name="unified_graph_cross1"/>
              <p:cNvSpPr/>
              <p:nvPr/>
            </p:nvSpPr>
            <p:spPr>
              <a:xfrm>
                <a:off x="2591689" y="1179830"/>
                <a:ext cx="40639" cy="40639"/>
              </a:xfrm>
              <a:custGeom>
                <a:avLst/>
                <a:gdLst/>
                <a:ahLst/>
                <a:cxnLst/>
                <a:rect l="0" t="0" r="r" b="b"/>
                <a:pathLst>
                  <a:path w="40639" h="40639" fill="none">
                    <a:moveTo>
                      <a:pt x="0" y="0"/>
                    </a:moveTo>
                    <a:lnTo>
                      <a:pt x="40639" y="40639"/>
                    </a:lnTo>
                  </a:path>
                </a:pathLst>
              </a:custGeom>
              <a:noFill/>
              <a:ln w="10160">
                <a:solidFill>
                  <a:srgbClr val="A5795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" name="unified_graph_node0"/>
              <p:cNvSpPr/>
              <p:nvPr/>
            </p:nvSpPr>
            <p:spPr>
              <a:xfrm>
                <a:off x="2164715" y="1167765"/>
                <a:ext cx="64769" cy="64769"/>
              </a:xfrm>
              <a:prstGeom prst="ellipse">
                <a:avLst/>
              </a:prstGeom>
              <a:solidFill>
                <a:srgbClr val="E9F1ED"/>
              </a:solidFill>
              <a:ln w="8255">
                <a:solidFill>
                  <a:srgbClr val="3F746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" name="unified_graph_node1"/>
              <p:cNvSpPr/>
              <p:nvPr/>
            </p:nvSpPr>
            <p:spPr>
              <a:xfrm>
                <a:off x="2579624" y="894715"/>
                <a:ext cx="64769" cy="64769"/>
              </a:xfrm>
              <a:prstGeom prst="ellipse">
                <a:avLst/>
              </a:prstGeom>
              <a:solidFill>
                <a:srgbClr val="FFFFFF"/>
              </a:solidFill>
              <a:ln w="8255">
                <a:solidFill>
                  <a:srgbClr val="7685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" name="unified_graph_node2"/>
              <p:cNvSpPr/>
              <p:nvPr/>
            </p:nvSpPr>
            <p:spPr>
              <a:xfrm>
                <a:off x="2579624" y="1440815"/>
                <a:ext cx="64769" cy="64769"/>
              </a:xfrm>
              <a:prstGeom prst="ellipse">
                <a:avLst/>
              </a:prstGeom>
              <a:solidFill>
                <a:srgbClr val="E9F1ED"/>
              </a:solidFill>
              <a:ln w="8255">
                <a:solidFill>
                  <a:srgbClr val="3F746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" name="unified_graph_node3"/>
              <p:cNvSpPr/>
              <p:nvPr/>
            </p:nvSpPr>
            <p:spPr>
              <a:xfrm>
                <a:off x="3007105" y="894715"/>
                <a:ext cx="64769" cy="64769"/>
              </a:xfrm>
              <a:prstGeom prst="ellipse">
                <a:avLst/>
              </a:prstGeom>
              <a:solidFill>
                <a:srgbClr val="FFFFFF"/>
              </a:solidFill>
              <a:ln w="8255">
                <a:solidFill>
                  <a:srgbClr val="7685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" name="unified_graph_node4"/>
              <p:cNvSpPr/>
              <p:nvPr/>
            </p:nvSpPr>
            <p:spPr>
              <a:xfrm>
                <a:off x="3007105" y="1440815"/>
                <a:ext cx="64769" cy="64769"/>
              </a:xfrm>
              <a:prstGeom prst="ellipse">
                <a:avLst/>
              </a:prstGeom>
              <a:solidFill>
                <a:srgbClr val="E9F1ED"/>
              </a:solidFill>
              <a:ln w="8255">
                <a:solidFill>
                  <a:srgbClr val="3F746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" name="unified_graph_node5"/>
              <p:cNvSpPr/>
              <p:nvPr/>
            </p:nvSpPr>
            <p:spPr>
              <a:xfrm>
                <a:off x="3422015" y="1167765"/>
                <a:ext cx="64769" cy="64769"/>
              </a:xfrm>
              <a:prstGeom prst="ellipse">
                <a:avLst/>
              </a:prstGeom>
              <a:solidFill>
                <a:srgbClr val="E9F1ED"/>
              </a:solidFill>
              <a:ln w="8255">
                <a:solidFill>
                  <a:srgbClr val="3F746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68" name="flow_key"/>
            <p:cNvSpPr txBox="1"/>
            <p:nvPr/>
          </p:nvSpPr>
          <p:spPr>
            <a:xfrm>
              <a:off x="2057400" y="1549400"/>
              <a:ext cx="15748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76858D"/>
                  </a:solidFill>
                  <a:latin typeface="Liberation Serif"/>
                </a:rPr>
                <a:t>gray: observed · green: target</a:t>
              </a:r>
            </a:p>
          </p:txBody>
        </p:sp>
        <p:sp>
          <p:nvSpPr>
            <p:cNvPr id="69" name="hard_key"/>
            <p:cNvSpPr txBox="1"/>
            <p:nvPr/>
          </p:nvSpPr>
          <p:spPr>
            <a:xfrm>
              <a:off x="1384300" y="1790700"/>
              <a:ext cx="22479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A57957"/>
                  </a:solidFill>
                  <a:latin typeface="Liberation Serif"/>
                </a:rPr>
                <a:t>× hard constraints remove edges</a:t>
              </a:r>
            </a:p>
          </p:txBody>
        </p:sp>
      </p:grpSp>
      <p:grpSp>
        <p:nvGrpSpPr>
          <p:cNvPr id="70" name="module_budget"/>
          <p:cNvGrpSpPr/>
          <p:nvPr/>
        </p:nvGrpSpPr>
        <p:grpSpPr>
          <a:xfrm>
            <a:off x="3759200" y="38100"/>
            <a:ext cx="1244600" cy="2095500"/>
            <a:chOff x="3759200" y="38100"/>
            <a:chExt cx="1244600" cy="2095500"/>
          </a:xfrm>
        </p:grpSpPr>
        <p:sp>
          <p:nvSpPr>
            <p:cNvPr id="71" name="budget_border"/>
            <p:cNvSpPr/>
            <p:nvPr/>
          </p:nvSpPr>
          <p:spPr>
            <a:xfrm>
              <a:off x="3759200" y="38100"/>
              <a:ext cx="1244600" cy="20955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7620">
              <a:solidFill>
                <a:srgbClr val="CBD4D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right_x"/>
            <p:cNvSpPr/>
            <p:nvPr/>
          </p:nvSpPr>
          <p:spPr>
            <a:xfrm>
              <a:off x="3924300" y="1574800"/>
              <a:ext cx="1016000" cy="127"/>
            </a:xfrm>
            <a:custGeom>
              <a:avLst/>
              <a:gdLst/>
              <a:ahLst/>
              <a:cxnLst/>
              <a:rect l="0" t="0" r="r" b="b"/>
              <a:pathLst>
                <a:path w="1016000" h="1" fill="none">
                  <a:moveTo>
                    <a:pt x="0" y="0"/>
                  </a:moveTo>
                  <a:lnTo>
                    <a:pt x="1016000" y="0"/>
                  </a:lnTo>
                </a:path>
              </a:pathLst>
            </a:custGeom>
            <a:noFill/>
            <a:ln w="8255">
              <a:solidFill>
                <a:srgbClr val="24333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right_y"/>
            <p:cNvSpPr/>
            <p:nvPr/>
          </p:nvSpPr>
          <p:spPr>
            <a:xfrm>
              <a:off x="3924300" y="965200"/>
              <a:ext cx="127" cy="622300"/>
            </a:xfrm>
            <a:custGeom>
              <a:avLst/>
              <a:gdLst/>
              <a:ahLst/>
              <a:cxnLst/>
              <a:rect l="0" t="0" r="r" b="b"/>
              <a:pathLst>
                <a:path w="1" h="622300" fill="none">
                  <a:moveTo>
                    <a:pt x="0" y="622300"/>
                  </a:moveTo>
                  <a:lnTo>
                    <a:pt x="0" y="0"/>
                  </a:lnTo>
                </a:path>
              </a:pathLst>
            </a:custGeom>
            <a:noFill/>
            <a:ln w="8255">
              <a:solidFill>
                <a:srgbClr val="24333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right_budget"/>
            <p:cNvSpPr/>
            <p:nvPr/>
          </p:nvSpPr>
          <p:spPr>
            <a:xfrm>
              <a:off x="3924300" y="1206500"/>
              <a:ext cx="1016000" cy="127"/>
            </a:xfrm>
            <a:custGeom>
              <a:avLst/>
              <a:gdLst/>
              <a:ahLst/>
              <a:cxnLst/>
              <a:rect l="0" t="0" r="r" b="b"/>
              <a:pathLst>
                <a:path w="1016000" h="1" fill="none">
                  <a:moveTo>
                    <a:pt x="0" y="0"/>
                  </a:moveTo>
                  <a:lnTo>
                    <a:pt x="1016000" y="0"/>
                  </a:lnTo>
                </a:path>
              </a:pathLst>
            </a:custGeom>
            <a:noFill/>
            <a:ln w="7620">
              <a:solidFill>
                <a:srgbClr val="A57957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oscillation"/>
            <p:cNvSpPr/>
            <p:nvPr/>
          </p:nvSpPr>
          <p:spPr>
            <a:xfrm>
              <a:off x="3949700" y="1054100"/>
              <a:ext cx="939800" cy="457200"/>
            </a:xfrm>
            <a:custGeom>
              <a:avLst/>
              <a:gdLst/>
              <a:ahLst/>
              <a:cxnLst/>
              <a:rect l="0" t="0" r="r" b="b"/>
              <a:pathLst>
                <a:path w="952337" h="365152" fill="none">
                  <a:moveTo>
                    <a:pt x="0" y="88947"/>
                  </a:moveTo>
                  <a:lnTo>
                    <a:pt x="2675" y="92291"/>
                  </a:lnTo>
                  <a:lnTo>
                    <a:pt x="8025" y="108676"/>
                  </a:lnTo>
                  <a:lnTo>
                    <a:pt x="58852" y="305965"/>
                  </a:lnTo>
                  <a:lnTo>
                    <a:pt x="72227" y="336394"/>
                  </a:lnTo>
                  <a:lnTo>
                    <a:pt x="80253" y="349435"/>
                  </a:lnTo>
                  <a:lnTo>
                    <a:pt x="88278" y="354451"/>
                  </a:lnTo>
                  <a:lnTo>
                    <a:pt x="96303" y="356123"/>
                  </a:lnTo>
                  <a:lnTo>
                    <a:pt x="107004" y="350438"/>
                  </a:lnTo>
                  <a:lnTo>
                    <a:pt x="112354" y="342748"/>
                  </a:lnTo>
                  <a:lnTo>
                    <a:pt x="117704" y="330710"/>
                  </a:lnTo>
                  <a:lnTo>
                    <a:pt x="125730" y="306968"/>
                  </a:lnTo>
                  <a:lnTo>
                    <a:pt x="133755" y="270185"/>
                  </a:lnTo>
                  <a:lnTo>
                    <a:pt x="149805" y="203308"/>
                  </a:lnTo>
                  <a:lnTo>
                    <a:pt x="163181" y="152982"/>
                  </a:lnTo>
                  <a:lnTo>
                    <a:pt x="168531" y="128237"/>
                  </a:lnTo>
                  <a:lnTo>
                    <a:pt x="179232" y="89281"/>
                  </a:lnTo>
                  <a:lnTo>
                    <a:pt x="200632" y="22292"/>
                  </a:lnTo>
                  <a:lnTo>
                    <a:pt x="208658" y="10366"/>
                  </a:lnTo>
                  <a:lnTo>
                    <a:pt x="216683" y="3343"/>
                  </a:lnTo>
                  <a:lnTo>
                    <a:pt x="227384" y="0"/>
                  </a:lnTo>
                  <a:lnTo>
                    <a:pt x="235409" y="3343"/>
                  </a:lnTo>
                  <a:lnTo>
                    <a:pt x="240759" y="8359"/>
                  </a:lnTo>
                  <a:lnTo>
                    <a:pt x="251460" y="23407"/>
                  </a:lnTo>
                  <a:lnTo>
                    <a:pt x="264835" y="57180"/>
                  </a:lnTo>
                  <a:lnTo>
                    <a:pt x="288911" y="131080"/>
                  </a:lnTo>
                  <a:lnTo>
                    <a:pt x="296936" y="163181"/>
                  </a:lnTo>
                  <a:lnTo>
                    <a:pt x="329038" y="268513"/>
                  </a:lnTo>
                  <a:lnTo>
                    <a:pt x="342413" y="307971"/>
                  </a:lnTo>
                  <a:lnTo>
                    <a:pt x="355789" y="335725"/>
                  </a:lnTo>
                  <a:lnTo>
                    <a:pt x="366489" y="352110"/>
                  </a:lnTo>
                  <a:lnTo>
                    <a:pt x="377190" y="361808"/>
                  </a:lnTo>
                  <a:lnTo>
                    <a:pt x="382540" y="364148"/>
                  </a:lnTo>
                  <a:lnTo>
                    <a:pt x="390565" y="365152"/>
                  </a:lnTo>
                  <a:lnTo>
                    <a:pt x="398590" y="362476"/>
                  </a:lnTo>
                  <a:lnTo>
                    <a:pt x="401265" y="360470"/>
                  </a:lnTo>
                  <a:lnTo>
                    <a:pt x="411966" y="348432"/>
                  </a:lnTo>
                  <a:lnTo>
                    <a:pt x="422666" y="328369"/>
                  </a:lnTo>
                  <a:lnTo>
                    <a:pt x="430692" y="309309"/>
                  </a:lnTo>
                  <a:lnTo>
                    <a:pt x="460118" y="204980"/>
                  </a:lnTo>
                  <a:lnTo>
                    <a:pt x="478844" y="131247"/>
                  </a:lnTo>
                  <a:lnTo>
                    <a:pt x="484194" y="116032"/>
                  </a:lnTo>
                  <a:lnTo>
                    <a:pt x="494894" y="78246"/>
                  </a:lnTo>
                  <a:lnTo>
                    <a:pt x="502920" y="55174"/>
                  </a:lnTo>
                  <a:lnTo>
                    <a:pt x="508270" y="44696"/>
                  </a:lnTo>
                  <a:lnTo>
                    <a:pt x="516295" y="22515"/>
                  </a:lnTo>
                  <a:lnTo>
                    <a:pt x="524320" y="10031"/>
                  </a:lnTo>
                  <a:lnTo>
                    <a:pt x="532346" y="2340"/>
                  </a:lnTo>
                  <a:lnTo>
                    <a:pt x="540371" y="0"/>
                  </a:lnTo>
                  <a:lnTo>
                    <a:pt x="548396" y="2675"/>
                  </a:lnTo>
                  <a:lnTo>
                    <a:pt x="556422" y="10366"/>
                  </a:lnTo>
                  <a:lnTo>
                    <a:pt x="564447" y="22515"/>
                  </a:lnTo>
                  <a:lnTo>
                    <a:pt x="585848" y="81925"/>
                  </a:lnTo>
                  <a:lnTo>
                    <a:pt x="599223" y="127736"/>
                  </a:lnTo>
                  <a:lnTo>
                    <a:pt x="604574" y="152481"/>
                  </a:lnTo>
                  <a:lnTo>
                    <a:pt x="628650" y="239756"/>
                  </a:lnTo>
                  <a:lnTo>
                    <a:pt x="650050" y="311092"/>
                  </a:lnTo>
                  <a:lnTo>
                    <a:pt x="663426" y="341076"/>
                  </a:lnTo>
                  <a:lnTo>
                    <a:pt x="674126" y="357461"/>
                  </a:lnTo>
                  <a:lnTo>
                    <a:pt x="679477" y="362476"/>
                  </a:lnTo>
                  <a:lnTo>
                    <a:pt x="690177" y="364483"/>
                  </a:lnTo>
                  <a:lnTo>
                    <a:pt x="695527" y="362811"/>
                  </a:lnTo>
                  <a:lnTo>
                    <a:pt x="700877" y="358464"/>
                  </a:lnTo>
                  <a:lnTo>
                    <a:pt x="708903" y="347763"/>
                  </a:lnTo>
                  <a:lnTo>
                    <a:pt x="714253" y="336060"/>
                  </a:lnTo>
                  <a:lnTo>
                    <a:pt x="724953" y="305965"/>
                  </a:lnTo>
                  <a:lnTo>
                    <a:pt x="767755" y="129408"/>
                  </a:lnTo>
                  <a:lnTo>
                    <a:pt x="786481" y="63199"/>
                  </a:lnTo>
                  <a:lnTo>
                    <a:pt x="799856" y="23630"/>
                  </a:lnTo>
                  <a:lnTo>
                    <a:pt x="805207" y="14713"/>
                  </a:lnTo>
                  <a:lnTo>
                    <a:pt x="813232" y="5015"/>
                  </a:lnTo>
                  <a:lnTo>
                    <a:pt x="821257" y="1003"/>
                  </a:lnTo>
                  <a:lnTo>
                    <a:pt x="829282" y="1003"/>
                  </a:lnTo>
                  <a:lnTo>
                    <a:pt x="834633" y="3343"/>
                  </a:lnTo>
                  <a:lnTo>
                    <a:pt x="839983" y="7356"/>
                  </a:lnTo>
                  <a:lnTo>
                    <a:pt x="850683" y="21735"/>
                  </a:lnTo>
                  <a:lnTo>
                    <a:pt x="869409" y="66543"/>
                  </a:lnTo>
                  <a:lnTo>
                    <a:pt x="890810" y="130913"/>
                  </a:lnTo>
                  <a:lnTo>
                    <a:pt x="896160" y="152982"/>
                  </a:lnTo>
                  <a:lnTo>
                    <a:pt x="933612" y="274867"/>
                  </a:lnTo>
                  <a:lnTo>
                    <a:pt x="941637" y="306132"/>
                  </a:lnTo>
                  <a:lnTo>
                    <a:pt x="949662" y="330710"/>
                  </a:lnTo>
                  <a:lnTo>
                    <a:pt x="952337" y="335948"/>
                  </a:lnTo>
                </a:path>
              </a:pathLst>
            </a:custGeom>
            <a:noFill/>
            <a:ln w="5350">
              <a:solidFill>
                <a:srgbClr val="A5795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right_x_label"/>
            <p:cNvSpPr txBox="1"/>
            <p:nvPr/>
          </p:nvSpPr>
          <p:spPr>
            <a:xfrm>
              <a:off x="4495800" y="1600200"/>
              <a:ext cx="4318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24333B"/>
                  </a:solidFill>
                  <a:latin typeface="Liberation Serif"/>
                </a:rPr>
                <a:t>training</a:t>
              </a:r>
            </a:p>
          </p:txBody>
        </p:sp>
        <p:sp>
          <p:nvSpPr>
            <p:cNvPr id="77" name="right_schematic"/>
            <p:cNvSpPr txBox="1"/>
            <p:nvPr/>
          </p:nvSpPr>
          <p:spPr>
            <a:xfrm>
              <a:off x="3810000" y="1993900"/>
              <a:ext cx="11430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76858D"/>
                  </a:solidFill>
                  <a:latin typeface="Liberation Serif"/>
                </a:rPr>
                <a:t>(schematic)</a:t>
              </a:r>
            </a:p>
          </p:txBody>
        </p:sp>
        <p:sp>
          <p:nvSpPr>
            <p:cNvPr id="78" name="right_title"/>
            <p:cNvSpPr txBox="1"/>
            <p:nvPr/>
          </p:nvSpPr>
          <p:spPr>
            <a:xfrm>
              <a:off x="3784600" y="127000"/>
              <a:ext cx="1193800" cy="177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 i="0">
                  <a:solidFill>
                    <a:srgbClr val="607891"/>
                  </a:solidFill>
                  <a:latin typeface="Liberation Serif"/>
                </a:rPr>
                <a:t>Constraint view</a:t>
              </a:r>
            </a:p>
          </p:txBody>
        </p:sp>
        <p:sp>
          <p:nvSpPr>
            <p:cNvPr id="79" name="right_sub"/>
            <p:cNvSpPr txBox="1"/>
            <p:nvPr/>
          </p:nvSpPr>
          <p:spPr>
            <a:xfrm>
              <a:off x="3810000" y="368300"/>
              <a:ext cx="11430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01010"/>
                  </a:solidFill>
                  <a:latin typeface="Liberation Serif"/>
                </a:rPr>
                <a:t>Budgets bound costs</a:t>
              </a:r>
            </a:p>
          </p:txBody>
        </p:sp>
        <p:sp>
          <p:nvSpPr>
            <p:cNvPr id="80" name="constraint_rule"/>
            <p:cNvSpPr txBox="1"/>
            <p:nvPr/>
          </p:nvSpPr>
          <p:spPr>
            <a:xfrm>
              <a:off x="3822700" y="622300"/>
              <a:ext cx="1117600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76858D"/>
                  </a:solidFill>
                  <a:latin typeface="Liberation Serif"/>
                </a:rPr>
                <a:t>Lagrangian feedback</a:t>
              </a:r>
            </a:p>
          </p:txBody>
        </p:sp>
        <p:sp>
          <p:nvSpPr>
            <p:cNvPr id="81" name="right_note"/>
            <p:cNvSpPr txBox="1"/>
            <p:nvPr/>
          </p:nvSpPr>
          <p:spPr>
            <a:xfrm>
              <a:off x="3810000" y="1714500"/>
              <a:ext cx="1143000" cy="266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01010"/>
                  </a:solidFill>
                  <a:latin typeface="Liberation Serif"/>
                </a:rPr>
                <a:t>Observed-cost feedback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01010"/>
                  </a:solidFill>
                  <a:latin typeface="Liberation Serif"/>
                </a:rPr>
                <a:t>can lag and oscillate.</a:t>
              </a:r>
            </a:p>
          </p:txBody>
        </p:sp>
        <p:grpSp>
          <p:nvGrpSpPr>
            <p:cNvPr id="82" name="right_B"/>
            <p:cNvGrpSpPr/>
            <p:nvPr/>
          </p:nvGrpSpPr>
          <p:grpSpPr>
            <a:xfrm>
              <a:off x="3782305" y="1196597"/>
              <a:ext cx="137178" cy="109139"/>
              <a:chOff x="3782305" y="1196597"/>
              <a:chExt cx="137178" cy="109139"/>
            </a:xfrm>
          </p:grpSpPr>
          <p:sp>
            <p:nvSpPr>
              <p:cNvPr id="83" name="right_B_outline_0"/>
              <p:cNvSpPr/>
              <p:nvPr/>
            </p:nvSpPr>
            <p:spPr>
              <a:xfrm>
                <a:off x="3782305" y="1196597"/>
                <a:ext cx="75398" cy="82609"/>
              </a:xfrm>
              <a:custGeom>
                <a:avLst/>
                <a:gdLst/>
                <a:ahLst/>
                <a:cxnLst/>
                <a:rect l="0" t="0" r="r" b="b"/>
                <a:pathLst>
                  <a:path w="75398" h="82610">
                    <a:moveTo>
                      <a:pt x="69199" y="57309"/>
                    </a:moveTo>
                    <a:cubicBezTo>
                      <a:pt x="69199" y="48073"/>
                      <a:pt x="65278" y="43390"/>
                      <a:pt x="53261" y="38207"/>
                    </a:cubicBezTo>
                    <a:cubicBezTo>
                      <a:pt x="62242" y="36056"/>
                      <a:pt x="65909" y="34536"/>
                      <a:pt x="69957" y="30996"/>
                    </a:cubicBezTo>
                    <a:cubicBezTo>
                      <a:pt x="73501" y="27960"/>
                      <a:pt x="75398" y="23785"/>
                      <a:pt x="75398" y="18598"/>
                    </a:cubicBezTo>
                    <a:cubicBezTo>
                      <a:pt x="75398" y="6580"/>
                      <a:pt x="66417" y="0"/>
                      <a:pt x="50097" y="0"/>
                    </a:cubicBezTo>
                    <a:lnTo>
                      <a:pt x="17458" y="0"/>
                    </a:lnTo>
                    <a:lnTo>
                      <a:pt x="17458" y="2024"/>
                    </a:lnTo>
                    <a:cubicBezTo>
                      <a:pt x="25428" y="2655"/>
                      <a:pt x="27198" y="3544"/>
                      <a:pt x="27198" y="7211"/>
                    </a:cubicBezTo>
                    <a:cubicBezTo>
                      <a:pt x="27198" y="9108"/>
                      <a:pt x="26694" y="12144"/>
                      <a:pt x="25809" y="15307"/>
                    </a:cubicBezTo>
                    <a:lnTo>
                      <a:pt x="10247" y="71223"/>
                    </a:lnTo>
                    <a:cubicBezTo>
                      <a:pt x="7969" y="78561"/>
                      <a:pt x="7084" y="79319"/>
                      <a:pt x="0" y="80585"/>
                    </a:cubicBezTo>
                    <a:lnTo>
                      <a:pt x="0" y="82610"/>
                    </a:lnTo>
                    <a:lnTo>
                      <a:pt x="35675" y="82610"/>
                    </a:lnTo>
                    <a:cubicBezTo>
                      <a:pt x="55539" y="82610"/>
                      <a:pt x="69199" y="72362"/>
                      <a:pt x="69199" y="57309"/>
                    </a:cubicBezTo>
                    <a:close/>
                    <a:moveTo>
                      <a:pt x="55539" y="56801"/>
                    </a:moveTo>
                    <a:cubicBezTo>
                      <a:pt x="55539" y="70465"/>
                      <a:pt x="46176" y="78815"/>
                      <a:pt x="30742" y="78815"/>
                    </a:cubicBezTo>
                    <a:cubicBezTo>
                      <a:pt x="25428" y="78815"/>
                      <a:pt x="22646" y="77041"/>
                      <a:pt x="22646" y="73501"/>
                    </a:cubicBezTo>
                    <a:cubicBezTo>
                      <a:pt x="22646" y="71858"/>
                      <a:pt x="24162" y="65909"/>
                      <a:pt x="27071" y="55789"/>
                    </a:cubicBezTo>
                    <a:lnTo>
                      <a:pt x="31119" y="40735"/>
                    </a:lnTo>
                    <a:cubicBezTo>
                      <a:pt x="39092" y="40735"/>
                      <a:pt x="44529" y="41243"/>
                      <a:pt x="47061" y="42255"/>
                    </a:cubicBezTo>
                    <a:cubicBezTo>
                      <a:pt x="52376" y="44279"/>
                      <a:pt x="55539" y="49844"/>
                      <a:pt x="55539" y="56801"/>
                    </a:cubicBezTo>
                    <a:close/>
                    <a:moveTo>
                      <a:pt x="62623" y="17459"/>
                    </a:moveTo>
                    <a:cubicBezTo>
                      <a:pt x="62623" y="30488"/>
                      <a:pt x="54146" y="36687"/>
                      <a:pt x="36687" y="36687"/>
                    </a:cubicBezTo>
                    <a:lnTo>
                      <a:pt x="32385" y="36687"/>
                    </a:lnTo>
                    <a:lnTo>
                      <a:pt x="40608" y="7338"/>
                    </a:lnTo>
                    <a:cubicBezTo>
                      <a:pt x="41366" y="4556"/>
                      <a:pt x="42886" y="3794"/>
                      <a:pt x="47819" y="3794"/>
                    </a:cubicBezTo>
                    <a:cubicBezTo>
                      <a:pt x="58067" y="3794"/>
                      <a:pt x="62623" y="8096"/>
                      <a:pt x="62623" y="17459"/>
                    </a:cubicBezTo>
                    <a:close/>
                  </a:path>
                </a:pathLst>
              </a:custGeom>
              <a:solidFill>
                <a:srgbClr val="A5795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" name="right_B_outline_1"/>
              <p:cNvSpPr/>
              <p:nvPr/>
            </p:nvSpPr>
            <p:spPr>
              <a:xfrm>
                <a:off x="3868846" y="1233724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A5795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85" name="module_price_bridge"/>
          <p:cNvGrpSpPr/>
          <p:nvPr/>
        </p:nvGrpSpPr>
        <p:grpSpPr>
          <a:xfrm>
            <a:off x="50800" y="2197100"/>
            <a:ext cx="4927600" cy="381000"/>
            <a:chOff x="50800" y="2197100"/>
            <a:chExt cx="4927600" cy="381000"/>
          </a:xfrm>
        </p:grpSpPr>
        <p:sp>
          <p:nvSpPr>
            <p:cNvPr id="86" name="price_band"/>
            <p:cNvSpPr/>
            <p:nvPr/>
          </p:nvSpPr>
          <p:spPr>
            <a:xfrm>
              <a:off x="50800" y="2197100"/>
              <a:ext cx="4927600" cy="381000"/>
            </a:xfrm>
            <a:prstGeom prst="roundRect">
              <a:avLst>
                <a:gd name="adj" fmla="val 2500"/>
              </a:avLst>
            </a:prstGeom>
            <a:solidFill>
              <a:srgbClr val="F5F8F6"/>
            </a:solidFill>
            <a:ln w="7620">
              <a:solidFill>
                <a:srgbClr val="D5E0D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algorithm"/>
            <p:cNvSpPr txBox="1"/>
            <p:nvPr/>
          </p:nvSpPr>
          <p:spPr>
            <a:xfrm>
              <a:off x="3556000" y="2298700"/>
              <a:ext cx="723900" cy="177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24333B"/>
                  </a:solidFill>
                  <a:latin typeface="Liberation Serif"/>
                </a:rPr>
                <a:t>PPO/TRPO</a:t>
              </a:r>
            </a:p>
          </p:txBody>
        </p:sp>
        <p:sp>
          <p:nvSpPr>
            <p:cNvPr id="88" name="actor_next"/>
            <p:cNvSpPr/>
            <p:nvPr/>
          </p:nvSpPr>
          <p:spPr>
            <a:xfrm>
              <a:off x="4318000" y="2387600"/>
              <a:ext cx="254000" cy="127"/>
            </a:xfrm>
            <a:custGeom>
              <a:avLst/>
              <a:gdLst/>
              <a:ahLst/>
              <a:cxnLst/>
              <a:rect l="0" t="0" r="r" b="b"/>
              <a:pathLst>
                <a:path w="254000" h="1" fill="none">
                  <a:moveTo>
                    <a:pt x="0" y="0"/>
                  </a:moveTo>
                  <a:lnTo>
                    <a:pt x="254000" y="0"/>
                  </a:lnTo>
                </a:path>
              </a:pathLst>
            </a:custGeom>
            <a:noFill/>
            <a:ln w="8255">
              <a:solidFill>
                <a:srgbClr val="76858D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solved_price"/>
            <p:cNvSpPr txBox="1"/>
            <p:nvPr/>
          </p:nvSpPr>
          <p:spPr>
            <a:xfrm>
              <a:off x="114300" y="2286000"/>
              <a:ext cx="647700" cy="2032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3F746B"/>
                  </a:solidFill>
                  <a:latin typeface="Liberation Serif"/>
                </a:rPr>
                <a:t>graph prices</a:t>
              </a:r>
            </a:p>
          </p:txBody>
        </p:sp>
        <p:sp>
          <p:nvSpPr>
            <p:cNvPr id="90" name="raw_to_filter"/>
            <p:cNvSpPr/>
            <p:nvPr/>
          </p:nvSpPr>
          <p:spPr>
            <a:xfrm>
              <a:off x="774700" y="2387600"/>
              <a:ext cx="101600" cy="127"/>
            </a:xfrm>
            <a:custGeom>
              <a:avLst/>
              <a:gdLst/>
              <a:ahLst/>
              <a:cxnLst/>
              <a:rect l="0" t="0" r="r" b="b"/>
              <a:pathLst>
                <a:path w="101600" h="1" fill="none">
                  <a:moveTo>
                    <a:pt x="0" y="0"/>
                  </a:moveTo>
                  <a:lnTo>
                    <a:pt x="101600" y="0"/>
                  </a:lnTo>
                </a:path>
              </a:pathLst>
            </a:custGeom>
            <a:noFill/>
            <a:ln w="8255">
              <a:solidFill>
                <a:srgbClr val="3F746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filter"/>
            <p:cNvSpPr txBox="1"/>
            <p:nvPr/>
          </p:nvSpPr>
          <p:spPr>
            <a:xfrm>
              <a:off x="889000" y="2298700"/>
              <a:ext cx="584200" cy="177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76858D"/>
                  </a:solidFill>
                  <a:latin typeface="Liberation Serif"/>
                </a:rPr>
                <a:t>clip + EMA</a:t>
              </a:r>
            </a:p>
          </p:txBody>
        </p:sp>
        <p:sp>
          <p:nvSpPr>
            <p:cNvPr id="92" name="filter_to_price"/>
            <p:cNvSpPr/>
            <p:nvPr/>
          </p:nvSpPr>
          <p:spPr>
            <a:xfrm>
              <a:off x="1498600" y="2387600"/>
              <a:ext cx="165100" cy="127"/>
            </a:xfrm>
            <a:custGeom>
              <a:avLst/>
              <a:gdLst/>
              <a:ahLst/>
              <a:cxnLst/>
              <a:rect l="0" t="0" r="r" b="b"/>
              <a:pathLst>
                <a:path w="165100" h="1" fill="none">
                  <a:moveTo>
                    <a:pt x="0" y="0"/>
                  </a:moveTo>
                  <a:lnTo>
                    <a:pt x="165100" y="0"/>
                  </a:lnTo>
                </a:path>
              </a:pathLst>
            </a:custGeom>
            <a:noFill/>
            <a:ln w="8255">
              <a:solidFill>
                <a:srgbClr val="3F746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feedback_note"/>
            <p:cNvSpPr txBox="1"/>
            <p:nvPr/>
          </p:nvSpPr>
          <p:spPr>
            <a:xfrm>
              <a:off x="1612900" y="2438400"/>
              <a:ext cx="14224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A57957"/>
                  </a:solidFill>
                  <a:latin typeface="Liberation Serif"/>
                </a:rPr>
                <a:t>observed-cost feedback</a:t>
              </a:r>
            </a:p>
          </p:txBody>
        </p:sp>
        <p:sp>
          <p:nvSpPr>
            <p:cNvPr id="94" name="feedback_to_beta"/>
            <p:cNvSpPr/>
            <p:nvPr/>
          </p:nvSpPr>
          <p:spPr>
            <a:xfrm>
              <a:off x="2768600" y="2336800"/>
              <a:ext cx="355600" cy="165100"/>
            </a:xfrm>
            <a:custGeom>
              <a:avLst/>
              <a:gdLst/>
              <a:ahLst/>
              <a:cxnLst/>
              <a:rect l="0" t="0" r="r" b="b"/>
              <a:pathLst>
                <a:path w="355600" h="165100" fill="none">
                  <a:moveTo>
                    <a:pt x="241300" y="165100"/>
                  </a:moveTo>
                  <a:lnTo>
                    <a:pt x="355600" y="165100"/>
                  </a:lnTo>
                  <a:lnTo>
                    <a:pt x="355600" y="0"/>
                  </a:lnTo>
                  <a:lnTo>
                    <a:pt x="0" y="0"/>
                  </a:lnTo>
                </a:path>
              </a:pathLst>
            </a:custGeom>
            <a:noFill/>
            <a:ln w="8255">
              <a:solidFill>
                <a:srgbClr val="A57957"/>
              </a:solidFill>
              <a:prstDash val="dash"/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price_to_actor"/>
            <p:cNvSpPr/>
            <p:nvPr/>
          </p:nvSpPr>
          <p:spPr>
            <a:xfrm>
              <a:off x="3175000" y="2387600"/>
              <a:ext cx="355600" cy="127"/>
            </a:xfrm>
            <a:custGeom>
              <a:avLst/>
              <a:gdLst/>
              <a:ahLst/>
              <a:cxnLst/>
              <a:rect l="0" t="0" r="r" b="b"/>
              <a:pathLst>
                <a:path w="355600" h="1" fill="none">
                  <a:moveTo>
                    <a:pt x="0" y="0"/>
                  </a:moveTo>
                  <a:lnTo>
                    <a:pt x="355600" y="0"/>
                  </a:lnTo>
                </a:path>
              </a:pathLst>
            </a:custGeom>
            <a:noFill/>
            <a:ln w="8890">
              <a:solidFill>
                <a:srgbClr val="3F746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actor"/>
            <p:cNvSpPr txBox="1"/>
            <p:nvPr/>
          </p:nvSpPr>
          <p:spPr>
            <a:xfrm>
              <a:off x="3162300" y="2222500"/>
              <a:ext cx="3683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76858D"/>
                  </a:solidFill>
                  <a:latin typeface="Liberation Serif"/>
                </a:rPr>
                <a:t>actor</a:t>
              </a:r>
            </a:p>
          </p:txBody>
        </p:sp>
        <p:grpSp>
          <p:nvGrpSpPr>
            <p:cNvPr id="97" name="pi_next"/>
            <p:cNvGrpSpPr/>
            <p:nvPr/>
          </p:nvGrpSpPr>
          <p:grpSpPr>
            <a:xfrm>
              <a:off x="4659255" y="2345622"/>
              <a:ext cx="217856" cy="82537"/>
              <a:chOff x="4659255" y="2345622"/>
              <a:chExt cx="217856" cy="82537"/>
            </a:xfrm>
          </p:grpSpPr>
          <p:sp>
            <p:nvSpPr>
              <p:cNvPr id="98" name="pi_next_outline_0"/>
              <p:cNvSpPr/>
              <p:nvPr/>
            </p:nvSpPr>
            <p:spPr>
              <a:xfrm>
                <a:off x="4659255" y="2345622"/>
                <a:ext cx="65528" cy="57181"/>
              </a:xfrm>
              <a:custGeom>
                <a:avLst/>
                <a:gdLst/>
                <a:ahLst/>
                <a:cxnLst/>
                <a:rect l="0" t="0" r="r" b="b"/>
                <a:pathLst>
                  <a:path w="65528" h="57182">
                    <a:moveTo>
                      <a:pt x="65528" y="0"/>
                    </a:moveTo>
                    <a:lnTo>
                      <a:pt x="21757" y="0"/>
                    </a:lnTo>
                    <a:cubicBezTo>
                      <a:pt x="10120" y="0"/>
                      <a:pt x="3163" y="13915"/>
                      <a:pt x="2151" y="16320"/>
                    </a:cubicBezTo>
                    <a:lnTo>
                      <a:pt x="3540" y="16320"/>
                    </a:lnTo>
                    <a:cubicBezTo>
                      <a:pt x="4175" y="15435"/>
                      <a:pt x="8854" y="9235"/>
                      <a:pt x="15430" y="9235"/>
                    </a:cubicBezTo>
                    <a:lnTo>
                      <a:pt x="22011" y="9235"/>
                    </a:lnTo>
                    <a:lnTo>
                      <a:pt x="13156" y="35925"/>
                    </a:lnTo>
                    <a:cubicBezTo>
                      <a:pt x="10370" y="44275"/>
                      <a:pt x="0" y="44656"/>
                      <a:pt x="0" y="53257"/>
                    </a:cubicBezTo>
                    <a:lnTo>
                      <a:pt x="0" y="53892"/>
                    </a:lnTo>
                    <a:cubicBezTo>
                      <a:pt x="0" y="56043"/>
                      <a:pt x="1643" y="57182"/>
                      <a:pt x="4679" y="57182"/>
                    </a:cubicBezTo>
                    <a:cubicBezTo>
                      <a:pt x="9485" y="57182"/>
                      <a:pt x="14041" y="54146"/>
                      <a:pt x="20241" y="36179"/>
                    </a:cubicBezTo>
                    <a:lnTo>
                      <a:pt x="29476" y="9235"/>
                    </a:lnTo>
                    <a:lnTo>
                      <a:pt x="42251" y="9235"/>
                    </a:lnTo>
                    <a:lnTo>
                      <a:pt x="36052" y="36433"/>
                    </a:lnTo>
                    <a:cubicBezTo>
                      <a:pt x="35167" y="40100"/>
                      <a:pt x="34663" y="43263"/>
                      <a:pt x="34663" y="45795"/>
                    </a:cubicBezTo>
                    <a:lnTo>
                      <a:pt x="34663" y="46934"/>
                    </a:lnTo>
                    <a:cubicBezTo>
                      <a:pt x="34663" y="52372"/>
                      <a:pt x="38457" y="57182"/>
                      <a:pt x="44656" y="57182"/>
                    </a:cubicBezTo>
                    <a:cubicBezTo>
                      <a:pt x="47565" y="57182"/>
                      <a:pt x="50983" y="56297"/>
                      <a:pt x="50983" y="52122"/>
                    </a:cubicBezTo>
                    <a:lnTo>
                      <a:pt x="50983" y="51614"/>
                    </a:lnTo>
                    <a:cubicBezTo>
                      <a:pt x="50983" y="44148"/>
                      <a:pt x="43390" y="45160"/>
                      <a:pt x="43390" y="38076"/>
                    </a:cubicBezTo>
                    <a:cubicBezTo>
                      <a:pt x="43390" y="37064"/>
                      <a:pt x="43517" y="35925"/>
                      <a:pt x="43898" y="34536"/>
                    </a:cubicBezTo>
                    <a:lnTo>
                      <a:pt x="50094" y="9235"/>
                    </a:lnTo>
                    <a:lnTo>
                      <a:pt x="63377" y="9235"/>
                    </a:lnTo>
                    <a:lnTo>
                      <a:pt x="65528" y="0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" name="pi_next_outline_1"/>
              <p:cNvSpPr/>
              <p:nvPr/>
            </p:nvSpPr>
            <p:spPr>
              <a:xfrm>
                <a:off x="4732587" y="2370156"/>
                <a:ext cx="29777" cy="58003"/>
              </a:xfrm>
              <a:custGeom>
                <a:avLst/>
                <a:gdLst/>
                <a:ahLst/>
                <a:cxnLst/>
                <a:rect l="0" t="0" r="r" b="b"/>
                <a:pathLst>
                  <a:path w="29777" h="58003">
                    <a:moveTo>
                      <a:pt x="22205" y="45240"/>
                    </a:moveTo>
                    <a:lnTo>
                      <a:pt x="20649" y="44513"/>
                    </a:lnTo>
                    <a:cubicBezTo>
                      <a:pt x="15045" y="51050"/>
                      <a:pt x="13283" y="52713"/>
                      <a:pt x="11414" y="52713"/>
                    </a:cubicBezTo>
                    <a:cubicBezTo>
                      <a:pt x="9858" y="52713"/>
                      <a:pt x="9029" y="51467"/>
                      <a:pt x="9648" y="50117"/>
                    </a:cubicBezTo>
                    <a:lnTo>
                      <a:pt x="19300" y="15772"/>
                    </a:lnTo>
                    <a:lnTo>
                      <a:pt x="29262" y="15772"/>
                    </a:lnTo>
                    <a:lnTo>
                      <a:pt x="29777" y="12244"/>
                    </a:lnTo>
                    <a:lnTo>
                      <a:pt x="20233" y="12244"/>
                    </a:lnTo>
                    <a:lnTo>
                      <a:pt x="22931" y="1556"/>
                    </a:lnTo>
                    <a:lnTo>
                      <a:pt x="21896" y="0"/>
                    </a:lnTo>
                    <a:lnTo>
                      <a:pt x="21582" y="0"/>
                    </a:lnTo>
                    <a:cubicBezTo>
                      <a:pt x="21165" y="0"/>
                      <a:pt x="20649" y="314"/>
                      <a:pt x="20233" y="937"/>
                    </a:cubicBezTo>
                    <a:cubicBezTo>
                      <a:pt x="15875" y="6124"/>
                      <a:pt x="8715" y="11728"/>
                      <a:pt x="4981" y="12557"/>
                    </a:cubicBezTo>
                    <a:cubicBezTo>
                      <a:pt x="2179" y="13387"/>
                      <a:pt x="1246" y="14010"/>
                      <a:pt x="1246" y="15149"/>
                    </a:cubicBezTo>
                    <a:cubicBezTo>
                      <a:pt x="1246" y="15149"/>
                      <a:pt x="1246" y="15462"/>
                      <a:pt x="1453" y="15772"/>
                    </a:cubicBezTo>
                    <a:lnTo>
                      <a:pt x="10271" y="15772"/>
                    </a:lnTo>
                    <a:lnTo>
                      <a:pt x="1766" y="46280"/>
                    </a:lnTo>
                    <a:cubicBezTo>
                      <a:pt x="623" y="49701"/>
                      <a:pt x="0" y="53126"/>
                      <a:pt x="0" y="54165"/>
                    </a:cubicBezTo>
                    <a:cubicBezTo>
                      <a:pt x="103" y="56344"/>
                      <a:pt x="2492" y="58003"/>
                      <a:pt x="5707" y="58003"/>
                    </a:cubicBezTo>
                    <a:cubicBezTo>
                      <a:pt x="11105" y="58003"/>
                      <a:pt x="14942" y="55098"/>
                      <a:pt x="22205" y="45240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" name="pi_next_outline_2"/>
              <p:cNvSpPr/>
              <p:nvPr/>
            </p:nvSpPr>
            <p:spPr>
              <a:xfrm>
                <a:off x="4776686" y="2373478"/>
                <a:ext cx="53125" cy="53332"/>
              </a:xfrm>
              <a:custGeom>
                <a:avLst/>
                <a:gdLst/>
                <a:ahLst/>
                <a:cxnLst/>
                <a:rect l="0" t="0" r="r" b="b"/>
                <a:pathLst>
                  <a:path w="53126" h="53332">
                    <a:moveTo>
                      <a:pt x="23138" y="23241"/>
                    </a:moveTo>
                    <a:lnTo>
                      <a:pt x="0" y="23241"/>
                    </a:lnTo>
                    <a:lnTo>
                      <a:pt x="0" y="30091"/>
                    </a:lnTo>
                    <a:lnTo>
                      <a:pt x="23138" y="30091"/>
                    </a:lnTo>
                    <a:lnTo>
                      <a:pt x="23138" y="53332"/>
                    </a:lnTo>
                    <a:lnTo>
                      <a:pt x="29988" y="53332"/>
                    </a:lnTo>
                    <a:lnTo>
                      <a:pt x="29988" y="30091"/>
                    </a:lnTo>
                    <a:lnTo>
                      <a:pt x="53126" y="30091"/>
                    </a:lnTo>
                    <a:lnTo>
                      <a:pt x="53126" y="23241"/>
                    </a:lnTo>
                    <a:lnTo>
                      <a:pt x="29988" y="23241"/>
                    </a:lnTo>
                    <a:lnTo>
                      <a:pt x="29988" y="0"/>
                    </a:lnTo>
                    <a:lnTo>
                      <a:pt x="23138" y="0"/>
                    </a:lnTo>
                    <a:lnTo>
                      <a:pt x="23138" y="23241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" name="pi_next_outline_3"/>
              <p:cNvSpPr/>
              <p:nvPr/>
            </p:nvSpPr>
            <p:spPr>
              <a:xfrm>
                <a:off x="4847747" y="2356667"/>
                <a:ext cx="29364" cy="70143"/>
              </a:xfrm>
              <a:custGeom>
                <a:avLst/>
                <a:gdLst/>
                <a:ahLst/>
                <a:cxnLst/>
                <a:rect l="0" t="0" r="r" b="b"/>
                <a:pathLst>
                  <a:path w="29365" h="70144">
                    <a:moveTo>
                      <a:pt x="29365" y="70144"/>
                    </a:moveTo>
                    <a:lnTo>
                      <a:pt x="29365" y="68588"/>
                    </a:lnTo>
                    <a:cubicBezTo>
                      <a:pt x="21165" y="68485"/>
                      <a:pt x="19506" y="67445"/>
                      <a:pt x="19506" y="62464"/>
                    </a:cubicBezTo>
                    <a:lnTo>
                      <a:pt x="19506" y="210"/>
                    </a:lnTo>
                    <a:lnTo>
                      <a:pt x="18677" y="0"/>
                    </a:lnTo>
                    <a:lnTo>
                      <a:pt x="0" y="9446"/>
                    </a:lnTo>
                    <a:lnTo>
                      <a:pt x="0" y="10898"/>
                    </a:lnTo>
                    <a:cubicBezTo>
                      <a:pt x="1246" y="10378"/>
                      <a:pt x="2385" y="9962"/>
                      <a:pt x="2802" y="9755"/>
                    </a:cubicBezTo>
                    <a:cubicBezTo>
                      <a:pt x="4671" y="9029"/>
                      <a:pt x="6433" y="8612"/>
                      <a:pt x="7469" y="8612"/>
                    </a:cubicBezTo>
                    <a:cubicBezTo>
                      <a:pt x="9648" y="8612"/>
                      <a:pt x="10585" y="10172"/>
                      <a:pt x="10585" y="13490"/>
                    </a:cubicBezTo>
                    <a:lnTo>
                      <a:pt x="10585" y="60496"/>
                    </a:lnTo>
                    <a:cubicBezTo>
                      <a:pt x="10585" y="63917"/>
                      <a:pt x="9755" y="66306"/>
                      <a:pt x="8092" y="67239"/>
                    </a:cubicBezTo>
                    <a:cubicBezTo>
                      <a:pt x="6537" y="68171"/>
                      <a:pt x="5084" y="68485"/>
                      <a:pt x="726" y="68588"/>
                    </a:cubicBezTo>
                    <a:lnTo>
                      <a:pt x="726" y="70144"/>
                    </a:lnTo>
                    <a:lnTo>
                      <a:pt x="29365" y="70144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02" name="combined"/>
            <p:cNvGrpSpPr/>
            <p:nvPr/>
          </p:nvGrpSpPr>
          <p:grpSpPr>
            <a:xfrm>
              <a:off x="2047536" y="2257901"/>
              <a:ext cx="694873" cy="158164"/>
              <a:chOff x="2047536" y="2257901"/>
              <a:chExt cx="694873" cy="158164"/>
            </a:xfrm>
          </p:grpSpPr>
          <p:sp>
            <p:nvSpPr>
              <p:cNvPr id="103" name="combined_outline_0"/>
              <p:cNvSpPr/>
              <p:nvPr/>
            </p:nvSpPr>
            <p:spPr>
              <a:xfrm>
                <a:off x="2047536" y="2278847"/>
                <a:ext cx="64646" cy="84256"/>
              </a:xfrm>
              <a:custGeom>
                <a:avLst/>
                <a:gdLst/>
                <a:ahLst/>
                <a:cxnLst/>
                <a:rect l="0" t="0" r="r" b="b"/>
                <a:pathLst>
                  <a:path w="64647" h="84257">
                    <a:moveTo>
                      <a:pt x="64647" y="73628"/>
                    </a:moveTo>
                    <a:lnTo>
                      <a:pt x="64520" y="73374"/>
                    </a:lnTo>
                    <a:cubicBezTo>
                      <a:pt x="62746" y="73374"/>
                      <a:pt x="60599" y="77676"/>
                      <a:pt x="55285" y="77676"/>
                    </a:cubicBezTo>
                    <a:cubicBezTo>
                      <a:pt x="31373" y="77676"/>
                      <a:pt x="74894" y="0"/>
                      <a:pt x="37699" y="0"/>
                    </a:cubicBezTo>
                    <a:lnTo>
                      <a:pt x="36306" y="0"/>
                    </a:lnTo>
                    <a:cubicBezTo>
                      <a:pt x="34032" y="0"/>
                      <a:pt x="28718" y="1897"/>
                      <a:pt x="27071" y="3417"/>
                    </a:cubicBezTo>
                    <a:cubicBezTo>
                      <a:pt x="26948" y="3544"/>
                      <a:pt x="27960" y="4683"/>
                      <a:pt x="28083" y="4683"/>
                    </a:cubicBezTo>
                    <a:cubicBezTo>
                      <a:pt x="28718" y="4175"/>
                      <a:pt x="31500" y="3036"/>
                      <a:pt x="34032" y="3036"/>
                    </a:cubicBezTo>
                    <a:cubicBezTo>
                      <a:pt x="46303" y="3036"/>
                      <a:pt x="43013" y="23277"/>
                      <a:pt x="43013" y="26567"/>
                    </a:cubicBezTo>
                    <a:cubicBezTo>
                      <a:pt x="43140" y="26948"/>
                      <a:pt x="43013" y="27202"/>
                      <a:pt x="42886" y="27706"/>
                    </a:cubicBezTo>
                    <a:cubicBezTo>
                      <a:pt x="40354" y="39473"/>
                      <a:pt x="3036" y="72616"/>
                      <a:pt x="0" y="82864"/>
                    </a:cubicBezTo>
                    <a:lnTo>
                      <a:pt x="12652" y="82864"/>
                    </a:lnTo>
                    <a:cubicBezTo>
                      <a:pt x="12652" y="81598"/>
                      <a:pt x="12775" y="80331"/>
                      <a:pt x="13029" y="78942"/>
                    </a:cubicBezTo>
                    <a:cubicBezTo>
                      <a:pt x="16701" y="62750"/>
                      <a:pt x="41493" y="38207"/>
                      <a:pt x="41493" y="38080"/>
                    </a:cubicBezTo>
                    <a:lnTo>
                      <a:pt x="41620" y="38080"/>
                    </a:lnTo>
                    <a:cubicBezTo>
                      <a:pt x="40862" y="44656"/>
                      <a:pt x="29476" y="84257"/>
                      <a:pt x="50098" y="84257"/>
                    </a:cubicBezTo>
                    <a:cubicBezTo>
                      <a:pt x="55662" y="84257"/>
                      <a:pt x="64393" y="75148"/>
                      <a:pt x="64647" y="73628"/>
                    </a:cubicBezTo>
                    <a:close/>
                  </a:path>
                </a:pathLst>
              </a:custGeom>
              <a:solidFill>
                <a:srgbClr val="3F74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" name="combined_outline_1"/>
              <p:cNvSpPr/>
              <p:nvPr/>
            </p:nvSpPr>
            <p:spPr>
              <a:xfrm>
                <a:off x="2122685" y="2316228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4"/>
                      <a:pt x="30817" y="35592"/>
                      <a:pt x="20233" y="44101"/>
                    </a:cubicBezTo>
                    <a:lnTo>
                      <a:pt x="15149" y="47939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3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3F74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" name="combined_outline_2"/>
              <p:cNvSpPr/>
              <p:nvPr/>
            </p:nvSpPr>
            <p:spPr>
              <a:xfrm>
                <a:off x="2227357" y="2312880"/>
                <a:ext cx="64773" cy="32766"/>
              </a:xfrm>
              <a:custGeom>
                <a:avLst/>
                <a:gdLst/>
                <a:ahLst/>
                <a:cxnLst/>
                <a:rect l="0" t="0" r="r" b="b"/>
                <a:pathLst>
                  <a:path w="64774" h="32766">
                    <a:moveTo>
                      <a:pt x="64774" y="7084"/>
                    </a:moveTo>
                    <a:lnTo>
                      <a:pt x="64774" y="0"/>
                    </a:lnTo>
                    <a:lnTo>
                      <a:pt x="0" y="0"/>
                    </a:lnTo>
                    <a:lnTo>
                      <a:pt x="0" y="7084"/>
                    </a:lnTo>
                    <a:lnTo>
                      <a:pt x="64774" y="7084"/>
                    </a:lnTo>
                    <a:close/>
                    <a:moveTo>
                      <a:pt x="64774" y="32766"/>
                    </a:moveTo>
                    <a:lnTo>
                      <a:pt x="64774" y="25682"/>
                    </a:lnTo>
                    <a:lnTo>
                      <a:pt x="0" y="25682"/>
                    </a:lnTo>
                    <a:lnTo>
                      <a:pt x="0" y="32766"/>
                    </a:lnTo>
                    <a:lnTo>
                      <a:pt x="64774" y="32766"/>
                    </a:lnTo>
                    <a:close/>
                  </a:path>
                </a:pathLst>
              </a:custGeom>
              <a:solidFill>
                <a:srgbClr val="3F74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" name="combined_outline_3"/>
              <p:cNvSpPr/>
              <p:nvPr/>
            </p:nvSpPr>
            <p:spPr>
              <a:xfrm>
                <a:off x="2357877" y="2257901"/>
                <a:ext cx="39342" cy="6830"/>
              </a:xfrm>
              <a:custGeom>
                <a:avLst/>
                <a:gdLst/>
                <a:ahLst/>
                <a:cxnLst/>
                <a:rect l="0" t="0" r="r" b="b"/>
                <a:pathLst>
                  <a:path w="39342" h="6830">
                    <a:moveTo>
                      <a:pt x="39342" y="6830"/>
                    </a:moveTo>
                    <a:lnTo>
                      <a:pt x="39342" y="0"/>
                    </a:lnTo>
                    <a:lnTo>
                      <a:pt x="0" y="0"/>
                    </a:lnTo>
                    <a:lnTo>
                      <a:pt x="0" y="6830"/>
                    </a:lnTo>
                    <a:lnTo>
                      <a:pt x="39342" y="6830"/>
                    </a:lnTo>
                    <a:close/>
                  </a:path>
                </a:pathLst>
              </a:custGeom>
              <a:solidFill>
                <a:srgbClr val="3F74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" name="combined_outline_4"/>
              <p:cNvSpPr/>
              <p:nvPr/>
            </p:nvSpPr>
            <p:spPr>
              <a:xfrm>
                <a:off x="2335509" y="2278847"/>
                <a:ext cx="64647" cy="84256"/>
              </a:xfrm>
              <a:custGeom>
                <a:avLst/>
                <a:gdLst/>
                <a:ahLst/>
                <a:cxnLst/>
                <a:rect l="0" t="0" r="r" b="b"/>
                <a:pathLst>
                  <a:path w="64647" h="84257">
                    <a:moveTo>
                      <a:pt x="64647" y="73628"/>
                    </a:moveTo>
                    <a:lnTo>
                      <a:pt x="64520" y="73374"/>
                    </a:lnTo>
                    <a:cubicBezTo>
                      <a:pt x="62746" y="73374"/>
                      <a:pt x="60599" y="77676"/>
                      <a:pt x="55285" y="77676"/>
                    </a:cubicBezTo>
                    <a:cubicBezTo>
                      <a:pt x="31373" y="77676"/>
                      <a:pt x="74894" y="0"/>
                      <a:pt x="37699" y="0"/>
                    </a:cubicBezTo>
                    <a:lnTo>
                      <a:pt x="36306" y="0"/>
                    </a:lnTo>
                    <a:cubicBezTo>
                      <a:pt x="34032" y="0"/>
                      <a:pt x="28718" y="1897"/>
                      <a:pt x="27071" y="3417"/>
                    </a:cubicBezTo>
                    <a:cubicBezTo>
                      <a:pt x="26948" y="3544"/>
                      <a:pt x="27960" y="4683"/>
                      <a:pt x="28083" y="4683"/>
                    </a:cubicBezTo>
                    <a:cubicBezTo>
                      <a:pt x="28718" y="4175"/>
                      <a:pt x="31500" y="3036"/>
                      <a:pt x="34032" y="3036"/>
                    </a:cubicBezTo>
                    <a:cubicBezTo>
                      <a:pt x="46303" y="3036"/>
                      <a:pt x="43013" y="23277"/>
                      <a:pt x="43013" y="26567"/>
                    </a:cubicBezTo>
                    <a:cubicBezTo>
                      <a:pt x="43140" y="26948"/>
                      <a:pt x="43013" y="27202"/>
                      <a:pt x="42886" y="27706"/>
                    </a:cubicBezTo>
                    <a:cubicBezTo>
                      <a:pt x="40354" y="39473"/>
                      <a:pt x="3036" y="72616"/>
                      <a:pt x="0" y="82864"/>
                    </a:cubicBezTo>
                    <a:lnTo>
                      <a:pt x="12652" y="82864"/>
                    </a:lnTo>
                    <a:cubicBezTo>
                      <a:pt x="12652" y="81598"/>
                      <a:pt x="12775" y="80331"/>
                      <a:pt x="13029" y="78942"/>
                    </a:cubicBezTo>
                    <a:cubicBezTo>
                      <a:pt x="16700" y="62750"/>
                      <a:pt x="41493" y="38207"/>
                      <a:pt x="41493" y="38080"/>
                    </a:cubicBezTo>
                    <a:lnTo>
                      <a:pt x="41620" y="38080"/>
                    </a:lnTo>
                    <a:cubicBezTo>
                      <a:pt x="40862" y="44656"/>
                      <a:pt x="29476" y="84257"/>
                      <a:pt x="50098" y="84257"/>
                    </a:cubicBezTo>
                    <a:cubicBezTo>
                      <a:pt x="55662" y="84257"/>
                      <a:pt x="64393" y="75148"/>
                      <a:pt x="64647" y="73628"/>
                    </a:cubicBezTo>
                    <a:close/>
                  </a:path>
                </a:pathLst>
              </a:custGeom>
              <a:solidFill>
                <a:srgbClr val="3F74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" name="combined_outline_5"/>
              <p:cNvSpPr/>
              <p:nvPr/>
            </p:nvSpPr>
            <p:spPr>
              <a:xfrm>
                <a:off x="2404352" y="2258708"/>
                <a:ext cx="64849" cy="57689"/>
              </a:xfrm>
              <a:custGeom>
                <a:avLst/>
                <a:gdLst/>
                <a:ahLst/>
                <a:cxnLst/>
                <a:rect l="0" t="0" r="r" b="b"/>
                <a:pathLst>
                  <a:path w="64849" h="57690">
                    <a:moveTo>
                      <a:pt x="64849" y="21995"/>
                    </a:moveTo>
                    <a:lnTo>
                      <a:pt x="64849" y="21892"/>
                    </a:lnTo>
                    <a:lnTo>
                      <a:pt x="39116" y="23241"/>
                    </a:lnTo>
                    <a:lnTo>
                      <a:pt x="32579" y="0"/>
                    </a:lnTo>
                    <a:lnTo>
                      <a:pt x="32373" y="0"/>
                    </a:lnTo>
                    <a:lnTo>
                      <a:pt x="25733" y="23241"/>
                    </a:lnTo>
                    <a:lnTo>
                      <a:pt x="0" y="21892"/>
                    </a:lnTo>
                    <a:lnTo>
                      <a:pt x="0" y="21995"/>
                    </a:lnTo>
                    <a:lnTo>
                      <a:pt x="21685" y="35068"/>
                    </a:lnTo>
                    <a:lnTo>
                      <a:pt x="12347" y="57483"/>
                    </a:lnTo>
                    <a:lnTo>
                      <a:pt x="12450" y="57587"/>
                    </a:lnTo>
                    <a:lnTo>
                      <a:pt x="32476" y="42335"/>
                    </a:lnTo>
                    <a:lnTo>
                      <a:pt x="52503" y="57690"/>
                    </a:lnTo>
                    <a:lnTo>
                      <a:pt x="43164" y="35068"/>
                    </a:lnTo>
                    <a:lnTo>
                      <a:pt x="64849" y="21995"/>
                    </a:lnTo>
                    <a:close/>
                  </a:path>
                </a:pathLst>
              </a:custGeom>
              <a:solidFill>
                <a:srgbClr val="3F74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" name="combined_outline_6"/>
              <p:cNvSpPr/>
              <p:nvPr/>
            </p:nvSpPr>
            <p:spPr>
              <a:xfrm>
                <a:off x="2410670" y="2344053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3F74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" name="combined_outline_7"/>
              <p:cNvSpPr/>
              <p:nvPr/>
            </p:nvSpPr>
            <p:spPr>
              <a:xfrm>
                <a:off x="2512205" y="2296687"/>
                <a:ext cx="64773" cy="65023"/>
              </a:xfrm>
              <a:custGeom>
                <a:avLst/>
                <a:gdLst/>
                <a:ahLst/>
                <a:cxnLst/>
                <a:rect l="0" t="0" r="r" b="b"/>
                <a:pathLst>
                  <a:path w="64774" h="65024">
                    <a:moveTo>
                      <a:pt x="28214" y="28337"/>
                    </a:moveTo>
                    <a:lnTo>
                      <a:pt x="0" y="28337"/>
                    </a:lnTo>
                    <a:lnTo>
                      <a:pt x="0" y="36687"/>
                    </a:lnTo>
                    <a:lnTo>
                      <a:pt x="28214" y="36687"/>
                    </a:lnTo>
                    <a:lnTo>
                      <a:pt x="28214" y="65024"/>
                    </a:lnTo>
                    <a:lnTo>
                      <a:pt x="36560" y="65024"/>
                    </a:lnTo>
                    <a:lnTo>
                      <a:pt x="36560" y="36687"/>
                    </a:lnTo>
                    <a:lnTo>
                      <a:pt x="64774" y="36687"/>
                    </a:lnTo>
                    <a:lnTo>
                      <a:pt x="64774" y="28337"/>
                    </a:lnTo>
                    <a:lnTo>
                      <a:pt x="36560" y="28337"/>
                    </a:lnTo>
                    <a:lnTo>
                      <a:pt x="36560" y="0"/>
                    </a:lnTo>
                    <a:lnTo>
                      <a:pt x="28214" y="0"/>
                    </a:lnTo>
                    <a:lnTo>
                      <a:pt x="28214" y="28337"/>
                    </a:lnTo>
                    <a:close/>
                  </a:path>
                </a:pathLst>
              </a:custGeom>
              <a:solidFill>
                <a:srgbClr val="3F74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" name="combined_outline_8"/>
              <p:cNvSpPr/>
              <p:nvPr/>
            </p:nvSpPr>
            <p:spPr>
              <a:xfrm>
                <a:off x="2607636" y="2278847"/>
                <a:ext cx="76156" cy="109049"/>
              </a:xfrm>
              <a:custGeom>
                <a:avLst/>
                <a:gdLst/>
                <a:ahLst/>
                <a:cxnLst/>
                <a:rect l="0" t="0" r="r" b="b"/>
                <a:pathLst>
                  <a:path w="76156" h="109049">
                    <a:moveTo>
                      <a:pt x="76156" y="14550"/>
                    </a:moveTo>
                    <a:cubicBezTo>
                      <a:pt x="76156" y="4556"/>
                      <a:pt x="68060" y="0"/>
                      <a:pt x="57563" y="0"/>
                    </a:cubicBezTo>
                    <a:cubicBezTo>
                      <a:pt x="44152" y="0"/>
                      <a:pt x="31123" y="8981"/>
                      <a:pt x="27579" y="21761"/>
                    </a:cubicBezTo>
                    <a:lnTo>
                      <a:pt x="8223" y="92353"/>
                    </a:lnTo>
                    <a:cubicBezTo>
                      <a:pt x="6072" y="100322"/>
                      <a:pt x="1266" y="107406"/>
                      <a:pt x="0" y="109049"/>
                    </a:cubicBezTo>
                    <a:lnTo>
                      <a:pt x="11259" y="109049"/>
                    </a:lnTo>
                    <a:cubicBezTo>
                      <a:pt x="11386" y="109049"/>
                      <a:pt x="13410" y="108037"/>
                      <a:pt x="17586" y="92226"/>
                    </a:cubicBezTo>
                    <a:lnTo>
                      <a:pt x="21888" y="75906"/>
                    </a:lnTo>
                    <a:lnTo>
                      <a:pt x="22011" y="75906"/>
                    </a:lnTo>
                    <a:cubicBezTo>
                      <a:pt x="22011" y="76033"/>
                      <a:pt x="26186" y="85015"/>
                      <a:pt x="38965" y="85015"/>
                    </a:cubicBezTo>
                    <a:cubicBezTo>
                      <a:pt x="57940" y="85015"/>
                      <a:pt x="70719" y="70846"/>
                      <a:pt x="70719" y="56297"/>
                    </a:cubicBezTo>
                    <a:cubicBezTo>
                      <a:pt x="70719" y="40485"/>
                      <a:pt x="56424" y="38080"/>
                      <a:pt x="56297" y="38080"/>
                    </a:cubicBezTo>
                    <a:lnTo>
                      <a:pt x="56297" y="37572"/>
                    </a:lnTo>
                    <a:cubicBezTo>
                      <a:pt x="56424" y="37572"/>
                      <a:pt x="76156" y="33020"/>
                      <a:pt x="76156" y="14550"/>
                    </a:cubicBezTo>
                    <a:close/>
                    <a:moveTo>
                      <a:pt x="66163" y="14296"/>
                    </a:moveTo>
                    <a:cubicBezTo>
                      <a:pt x="66163" y="20118"/>
                      <a:pt x="62873" y="34413"/>
                      <a:pt x="52753" y="34413"/>
                    </a:cubicBezTo>
                    <a:cubicBezTo>
                      <a:pt x="50097" y="34413"/>
                      <a:pt x="48074" y="33905"/>
                      <a:pt x="46049" y="33905"/>
                    </a:cubicBezTo>
                    <a:cubicBezTo>
                      <a:pt x="42632" y="33905"/>
                      <a:pt x="40231" y="36814"/>
                      <a:pt x="40231" y="39092"/>
                    </a:cubicBezTo>
                    <a:cubicBezTo>
                      <a:pt x="40231" y="40485"/>
                      <a:pt x="41243" y="41620"/>
                      <a:pt x="43517" y="41620"/>
                    </a:cubicBezTo>
                    <a:cubicBezTo>
                      <a:pt x="47061" y="41620"/>
                      <a:pt x="47947" y="40989"/>
                      <a:pt x="50856" y="40989"/>
                    </a:cubicBezTo>
                    <a:cubicBezTo>
                      <a:pt x="57182" y="40989"/>
                      <a:pt x="59964" y="47819"/>
                      <a:pt x="59964" y="54904"/>
                    </a:cubicBezTo>
                    <a:cubicBezTo>
                      <a:pt x="59964" y="67556"/>
                      <a:pt x="52376" y="79196"/>
                      <a:pt x="38838" y="79196"/>
                    </a:cubicBezTo>
                    <a:cubicBezTo>
                      <a:pt x="30234" y="79196"/>
                      <a:pt x="24670" y="74767"/>
                      <a:pt x="24670" y="67429"/>
                    </a:cubicBezTo>
                    <a:cubicBezTo>
                      <a:pt x="24670" y="65913"/>
                      <a:pt x="24924" y="64266"/>
                      <a:pt x="25428" y="62496"/>
                    </a:cubicBezTo>
                    <a:lnTo>
                      <a:pt x="36814" y="21888"/>
                    </a:lnTo>
                    <a:cubicBezTo>
                      <a:pt x="39092" y="13664"/>
                      <a:pt x="44910" y="3544"/>
                      <a:pt x="56297" y="3544"/>
                    </a:cubicBezTo>
                    <a:cubicBezTo>
                      <a:pt x="63508" y="3544"/>
                      <a:pt x="66163" y="8477"/>
                      <a:pt x="66163" y="14296"/>
                    </a:cubicBezTo>
                    <a:close/>
                  </a:path>
                </a:pathLst>
              </a:custGeom>
              <a:solidFill>
                <a:srgbClr val="3F74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" name="combined_outline_9"/>
              <p:cNvSpPr/>
              <p:nvPr/>
            </p:nvSpPr>
            <p:spPr>
              <a:xfrm>
                <a:off x="2691772" y="2316228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4"/>
                      <a:pt x="30817" y="35592"/>
                      <a:pt x="20233" y="44101"/>
                    </a:cubicBezTo>
                    <a:lnTo>
                      <a:pt x="15149" y="47939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3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3F74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113" name="module_spectrum"/>
          <p:cNvGrpSpPr/>
          <p:nvPr/>
        </p:nvGrpSpPr>
        <p:grpSpPr>
          <a:xfrm>
            <a:off x="38100" y="1968500"/>
            <a:ext cx="4914900" cy="1034464"/>
            <a:chOff x="38100" y="1968500"/>
            <a:chExt cx="4914900" cy="1034464"/>
          </a:xfrm>
        </p:grpSpPr>
        <p:sp>
          <p:nvSpPr>
            <p:cNvPr id="114" name="ours_marker"/>
            <p:cNvSpPr/>
            <p:nvPr/>
          </p:nvSpPr>
          <p:spPr>
            <a:xfrm>
              <a:off x="2184400" y="2717800"/>
              <a:ext cx="660400" cy="133350"/>
            </a:xfrm>
            <a:prstGeom prst="roundRect">
              <a:avLst>
                <a:gd name="adj" fmla="val 2500"/>
              </a:avLst>
            </a:prstGeom>
            <a:solidFill>
              <a:srgbClr val="3F746B"/>
            </a:solidFill>
            <a:ln w="7620">
              <a:solidFill>
                <a:srgbClr val="3F74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setting0"/>
            <p:cNvSpPr txBox="1"/>
            <p:nvPr/>
          </p:nvSpPr>
          <p:spPr>
            <a:xfrm>
              <a:off x="38100" y="2717800"/>
              <a:ext cx="9652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24333B"/>
                  </a:solidFill>
                  <a:latin typeface="Liberation Serif"/>
                </a:rPr>
                <a:t>Fixed penalty</a:t>
              </a:r>
            </a:p>
          </p:txBody>
        </p:sp>
        <p:sp>
          <p:nvSpPr>
            <p:cNvPr id="116" name="setting1"/>
            <p:cNvSpPr txBox="1"/>
            <p:nvPr/>
          </p:nvSpPr>
          <p:spPr>
            <a:xfrm>
              <a:off x="1054100" y="2717800"/>
              <a:ext cx="10795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24333B"/>
                  </a:solidFill>
                  <a:latin typeface="Liberation Serif"/>
                </a:rPr>
                <a:t>Lagrangian</a:t>
              </a:r>
            </a:p>
          </p:txBody>
        </p:sp>
        <p:sp>
          <p:nvSpPr>
            <p:cNvPr id="117" name="setting2"/>
            <p:cNvSpPr txBox="1"/>
            <p:nvPr/>
          </p:nvSpPr>
          <p:spPr>
            <a:xfrm>
              <a:off x="2184400" y="2717800"/>
              <a:ext cx="6604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FFFFFF"/>
                  </a:solidFill>
                  <a:latin typeface="Liberation Serif"/>
                </a:rPr>
                <a:t>SafeOT</a:t>
              </a:r>
            </a:p>
          </p:txBody>
        </p:sp>
        <p:sp>
          <p:nvSpPr>
            <p:cNvPr id="118" name="setting3"/>
            <p:cNvSpPr txBox="1"/>
            <p:nvPr/>
          </p:nvSpPr>
          <p:spPr>
            <a:xfrm>
              <a:off x="2908300" y="2717800"/>
              <a:ext cx="5715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24333B"/>
                  </a:solidFill>
                  <a:latin typeface="Liberation Serif"/>
                </a:rPr>
                <a:t>LP</a:t>
              </a:r>
            </a:p>
          </p:txBody>
        </p:sp>
        <p:sp>
          <p:nvSpPr>
            <p:cNvPr id="119" name="setting4"/>
            <p:cNvSpPr txBox="1"/>
            <p:nvPr/>
          </p:nvSpPr>
          <p:spPr>
            <a:xfrm>
              <a:off x="3543300" y="2717800"/>
              <a:ext cx="14097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24333B"/>
                  </a:solidFill>
                  <a:latin typeface="Liberation Serif"/>
                </a:rPr>
                <a:t>Active-set</a:t>
              </a:r>
            </a:p>
          </p:txBody>
        </p:sp>
        <p:sp>
          <p:nvSpPr>
            <p:cNvPr id="120" name="exact"/>
            <p:cNvSpPr txBox="1"/>
            <p:nvPr/>
          </p:nvSpPr>
          <p:spPr>
            <a:xfrm>
              <a:off x="1054100" y="2590800"/>
              <a:ext cx="11684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76858D"/>
                  </a:solidFill>
                  <a:latin typeface="Liberation Serif"/>
                </a:rPr>
                <a:t>exact settings</a:t>
              </a:r>
            </a:p>
          </p:txBody>
        </p:sp>
        <p:sp>
          <p:nvSpPr>
            <p:cNvPr id="121" name="limits"/>
            <p:cNvSpPr txBox="1"/>
            <p:nvPr/>
          </p:nvSpPr>
          <p:spPr>
            <a:xfrm>
              <a:off x="3136900" y="2590800"/>
              <a:ext cx="17907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76858D"/>
                  </a:solidFill>
                  <a:latin typeface="Liberation Serif"/>
                </a:rPr>
                <a:t>conditional limits</a:t>
              </a:r>
            </a:p>
          </p:txBody>
        </p:sp>
        <p:sp>
          <p:nvSpPr>
            <p:cNvPr id="122" name="advance_price"/>
            <p:cNvSpPr txBox="1"/>
            <p:nvPr/>
          </p:nvSpPr>
          <p:spPr>
            <a:xfrm>
              <a:off x="1473200" y="1968500"/>
              <a:ext cx="21463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3F746B"/>
                  </a:solidFill>
                  <a:latin typeface="Liberation Serif"/>
                </a:rPr>
                <a:t>Safety prices before violations</a:t>
              </a:r>
            </a:p>
          </p:txBody>
        </p:sp>
        <p:sp>
          <p:nvSpPr>
            <p:cNvPr id="123" name="rule_exact"/>
            <p:cNvSpPr/>
            <p:nvPr/>
          </p:nvSpPr>
          <p:spPr>
            <a:xfrm>
              <a:off x="228600" y="2857500"/>
              <a:ext cx="1943100" cy="127"/>
            </a:xfrm>
            <a:custGeom>
              <a:avLst/>
              <a:gdLst/>
              <a:ahLst/>
              <a:cxnLst/>
              <a:rect l="0" t="0" r="r" b="b"/>
              <a:pathLst>
                <a:path w="1943100" h="1" fill="none">
                  <a:moveTo>
                    <a:pt x="0" y="0"/>
                  </a:moveTo>
                  <a:lnTo>
                    <a:pt x="1943100" y="0"/>
                  </a:lnTo>
                </a:path>
              </a:pathLst>
            </a:custGeom>
            <a:noFill/>
            <a:ln w="8255">
              <a:solidFill>
                <a:srgbClr val="60789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rule_limits"/>
            <p:cNvSpPr/>
            <p:nvPr/>
          </p:nvSpPr>
          <p:spPr>
            <a:xfrm>
              <a:off x="2832100" y="2857500"/>
              <a:ext cx="1993900" cy="127"/>
            </a:xfrm>
            <a:custGeom>
              <a:avLst/>
              <a:gdLst/>
              <a:ahLst/>
              <a:cxnLst/>
              <a:rect l="0" t="0" r="r" b="b"/>
              <a:pathLst>
                <a:path w="1993900" h="1" fill="none">
                  <a:moveTo>
                    <a:pt x="0" y="0"/>
                  </a:moveTo>
                  <a:lnTo>
                    <a:pt x="1993900" y="0"/>
                  </a:lnTo>
                </a:path>
              </a:pathLst>
            </a:custGeom>
            <a:noFill/>
            <a:ln w="8255">
              <a:solidFill>
                <a:srgbClr val="60789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one_rule"/>
            <p:cNvSpPr txBox="1"/>
            <p:nvPr/>
          </p:nvSpPr>
          <p:spPr>
            <a:xfrm>
              <a:off x="50800" y="2590800"/>
              <a:ext cx="9271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 i="0">
                  <a:solidFill>
                    <a:srgbClr val="24333B"/>
                  </a:solidFill>
                  <a:latin typeface="Liberation Serif"/>
                </a:rPr>
                <a:t>One price rule</a:t>
              </a:r>
            </a:p>
          </p:txBody>
        </p:sp>
        <p:grpSp>
          <p:nvGrpSpPr>
            <p:cNvPr id="126" name="fixed"/>
            <p:cNvGrpSpPr/>
            <p:nvPr/>
          </p:nvGrpSpPr>
          <p:grpSpPr>
            <a:xfrm>
              <a:off x="211019" y="2897125"/>
              <a:ext cx="674266" cy="105839"/>
              <a:chOff x="211019" y="2897125"/>
              <a:chExt cx="674266" cy="105839"/>
            </a:xfrm>
          </p:grpSpPr>
          <p:sp>
            <p:nvSpPr>
              <p:cNvPr id="127" name="fixed_outline_0"/>
              <p:cNvSpPr/>
              <p:nvPr/>
            </p:nvSpPr>
            <p:spPr>
              <a:xfrm>
                <a:off x="211019" y="2922533"/>
                <a:ext cx="47163" cy="47462"/>
              </a:xfrm>
              <a:custGeom>
                <a:avLst/>
                <a:gdLst/>
                <a:ahLst/>
                <a:cxnLst/>
                <a:rect l="0" t="0" r="r" b="b"/>
                <a:pathLst>
                  <a:path w="47164" h="47462">
                    <a:moveTo>
                      <a:pt x="40859" y="36227"/>
                    </a:moveTo>
                    <a:lnTo>
                      <a:pt x="38862" y="35179"/>
                    </a:lnTo>
                    <a:cubicBezTo>
                      <a:pt x="32461" y="41374"/>
                      <a:pt x="27944" y="43684"/>
                      <a:pt x="21959" y="43684"/>
                    </a:cubicBezTo>
                    <a:cubicBezTo>
                      <a:pt x="15133" y="43684"/>
                      <a:pt x="10827" y="39271"/>
                      <a:pt x="10514" y="31710"/>
                    </a:cubicBezTo>
                    <a:cubicBezTo>
                      <a:pt x="10200" y="22789"/>
                      <a:pt x="14189" y="13442"/>
                      <a:pt x="20697" y="7247"/>
                    </a:cubicBezTo>
                    <a:cubicBezTo>
                      <a:pt x="24059" y="4096"/>
                      <a:pt x="28786" y="2207"/>
                      <a:pt x="33616" y="2207"/>
                    </a:cubicBezTo>
                    <a:cubicBezTo>
                      <a:pt x="36449" y="2207"/>
                      <a:pt x="38128" y="3048"/>
                      <a:pt x="38128" y="4306"/>
                    </a:cubicBezTo>
                    <a:cubicBezTo>
                      <a:pt x="38235" y="4830"/>
                      <a:pt x="38128" y="5358"/>
                      <a:pt x="37604" y="6303"/>
                    </a:cubicBezTo>
                    <a:cubicBezTo>
                      <a:pt x="36660" y="7668"/>
                      <a:pt x="36552" y="8295"/>
                      <a:pt x="36552" y="9346"/>
                    </a:cubicBezTo>
                    <a:cubicBezTo>
                      <a:pt x="36660" y="11867"/>
                      <a:pt x="38446" y="13335"/>
                      <a:pt x="41382" y="13335"/>
                    </a:cubicBezTo>
                    <a:cubicBezTo>
                      <a:pt x="44744" y="13335"/>
                      <a:pt x="47264" y="11343"/>
                      <a:pt x="47161" y="8505"/>
                    </a:cubicBezTo>
                    <a:cubicBezTo>
                      <a:pt x="46951" y="3572"/>
                      <a:pt x="41593" y="0"/>
                      <a:pt x="34139" y="0"/>
                    </a:cubicBezTo>
                    <a:cubicBezTo>
                      <a:pt x="15975" y="0"/>
                      <a:pt x="-512" y="15331"/>
                      <a:pt x="12" y="31710"/>
                    </a:cubicBezTo>
                    <a:cubicBezTo>
                      <a:pt x="330" y="41688"/>
                      <a:pt x="7152" y="47462"/>
                      <a:pt x="18388" y="47462"/>
                    </a:cubicBezTo>
                    <a:cubicBezTo>
                      <a:pt x="27524" y="47462"/>
                      <a:pt x="33616" y="44311"/>
                      <a:pt x="40859" y="36227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" name="fixed_outline_1"/>
              <p:cNvSpPr/>
              <p:nvPr/>
            </p:nvSpPr>
            <p:spPr>
              <a:xfrm>
                <a:off x="300526" y="2928307"/>
                <a:ext cx="53760" cy="27197"/>
              </a:xfrm>
              <a:custGeom>
                <a:avLst/>
                <a:gdLst/>
                <a:ahLst/>
                <a:cxnLst/>
                <a:rect l="0" t="0" r="r" b="b"/>
                <a:pathLst>
                  <a:path w="53761" h="27198">
                    <a:moveTo>
                      <a:pt x="53761" y="5882"/>
                    </a:moveTo>
                    <a:lnTo>
                      <a:pt x="53761" y="0"/>
                    </a:lnTo>
                    <a:lnTo>
                      <a:pt x="0" y="0"/>
                    </a:lnTo>
                    <a:lnTo>
                      <a:pt x="0" y="5882"/>
                    </a:lnTo>
                    <a:lnTo>
                      <a:pt x="53761" y="5882"/>
                    </a:lnTo>
                    <a:close/>
                    <a:moveTo>
                      <a:pt x="53761" y="27198"/>
                    </a:moveTo>
                    <a:lnTo>
                      <a:pt x="53761" y="21316"/>
                    </a:lnTo>
                    <a:lnTo>
                      <a:pt x="0" y="21316"/>
                    </a:lnTo>
                    <a:lnTo>
                      <a:pt x="0" y="27198"/>
                    </a:lnTo>
                    <a:lnTo>
                      <a:pt x="53761" y="27198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" name="fixed_outline_2"/>
              <p:cNvSpPr/>
              <p:nvPr/>
            </p:nvSpPr>
            <p:spPr>
              <a:xfrm>
                <a:off x="392499" y="2897859"/>
                <a:ext cx="47462" cy="72449"/>
              </a:xfrm>
              <a:custGeom>
                <a:avLst/>
                <a:gdLst/>
                <a:ahLst/>
                <a:cxnLst/>
                <a:rect l="0" t="0" r="r" b="b"/>
                <a:pathLst>
                  <a:path w="47462" h="72450">
                    <a:moveTo>
                      <a:pt x="47462" y="36330"/>
                    </a:moveTo>
                    <a:cubicBezTo>
                      <a:pt x="47462" y="14804"/>
                      <a:pt x="37906" y="0"/>
                      <a:pt x="24150" y="0"/>
                    </a:cubicBezTo>
                    <a:cubicBezTo>
                      <a:pt x="18375" y="0"/>
                      <a:pt x="13966" y="1786"/>
                      <a:pt x="10081" y="5461"/>
                    </a:cubicBezTo>
                    <a:cubicBezTo>
                      <a:pt x="3989" y="11339"/>
                      <a:pt x="0" y="23416"/>
                      <a:pt x="0" y="35699"/>
                    </a:cubicBezTo>
                    <a:cubicBezTo>
                      <a:pt x="0" y="47145"/>
                      <a:pt x="3465" y="59432"/>
                      <a:pt x="8402" y="65310"/>
                    </a:cubicBezTo>
                    <a:cubicBezTo>
                      <a:pt x="12283" y="69929"/>
                      <a:pt x="17641" y="72450"/>
                      <a:pt x="23729" y="72450"/>
                    </a:cubicBezTo>
                    <a:cubicBezTo>
                      <a:pt x="29087" y="72450"/>
                      <a:pt x="33599" y="70668"/>
                      <a:pt x="37382" y="66993"/>
                    </a:cubicBezTo>
                    <a:cubicBezTo>
                      <a:pt x="43470" y="61214"/>
                      <a:pt x="47462" y="49034"/>
                      <a:pt x="47462" y="36330"/>
                    </a:cubicBezTo>
                    <a:close/>
                    <a:moveTo>
                      <a:pt x="37382" y="36540"/>
                    </a:moveTo>
                    <a:cubicBezTo>
                      <a:pt x="37382" y="58488"/>
                      <a:pt x="32762" y="69723"/>
                      <a:pt x="23729" y="69723"/>
                    </a:cubicBezTo>
                    <a:cubicBezTo>
                      <a:pt x="14700" y="69723"/>
                      <a:pt x="10081" y="58488"/>
                      <a:pt x="10081" y="36644"/>
                    </a:cubicBezTo>
                    <a:cubicBezTo>
                      <a:pt x="10081" y="14387"/>
                      <a:pt x="14803" y="2730"/>
                      <a:pt x="23836" y="2730"/>
                    </a:cubicBezTo>
                    <a:cubicBezTo>
                      <a:pt x="32655" y="2730"/>
                      <a:pt x="37382" y="14593"/>
                      <a:pt x="37382" y="36540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" name="fixed_outline_3"/>
              <p:cNvSpPr/>
              <p:nvPr/>
            </p:nvSpPr>
            <p:spPr>
              <a:xfrm>
                <a:off x="450887" y="2958128"/>
                <a:ext cx="16696" cy="25832"/>
              </a:xfrm>
              <a:custGeom>
                <a:avLst/>
                <a:gdLst/>
                <a:ahLst/>
                <a:cxnLst/>
                <a:rect l="0" t="0" r="r" b="b"/>
                <a:pathLst>
                  <a:path w="16696" h="25833">
                    <a:moveTo>
                      <a:pt x="16696" y="10081"/>
                    </a:moveTo>
                    <a:cubicBezTo>
                      <a:pt x="16696" y="1365"/>
                      <a:pt x="9870" y="0"/>
                      <a:pt x="7037" y="0"/>
                    </a:cubicBezTo>
                    <a:cubicBezTo>
                      <a:pt x="3993" y="0"/>
                      <a:pt x="0" y="1893"/>
                      <a:pt x="0" y="6406"/>
                    </a:cubicBezTo>
                    <a:cubicBezTo>
                      <a:pt x="0" y="10608"/>
                      <a:pt x="4096" y="11656"/>
                      <a:pt x="7144" y="11656"/>
                    </a:cubicBezTo>
                    <a:cubicBezTo>
                      <a:pt x="7878" y="11656"/>
                      <a:pt x="8505" y="11553"/>
                      <a:pt x="8822" y="11446"/>
                    </a:cubicBezTo>
                    <a:cubicBezTo>
                      <a:pt x="9243" y="11343"/>
                      <a:pt x="9767" y="11236"/>
                      <a:pt x="9977" y="11236"/>
                    </a:cubicBezTo>
                    <a:cubicBezTo>
                      <a:pt x="10712" y="11236"/>
                      <a:pt x="11553" y="11763"/>
                      <a:pt x="11553" y="12708"/>
                    </a:cubicBezTo>
                    <a:cubicBezTo>
                      <a:pt x="11553" y="14700"/>
                      <a:pt x="9664" y="19217"/>
                      <a:pt x="1996" y="23626"/>
                    </a:cubicBezTo>
                    <a:lnTo>
                      <a:pt x="3048" y="25833"/>
                    </a:lnTo>
                    <a:cubicBezTo>
                      <a:pt x="6723" y="24781"/>
                      <a:pt x="16696" y="17538"/>
                      <a:pt x="16696" y="10081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" name="fixed_outline_4"/>
              <p:cNvSpPr/>
              <p:nvPr/>
            </p:nvSpPr>
            <p:spPr>
              <a:xfrm>
                <a:off x="514931" y="2900062"/>
                <a:ext cx="71191" cy="90515"/>
              </a:xfrm>
              <a:custGeom>
                <a:avLst/>
                <a:gdLst/>
                <a:ahLst/>
                <a:cxnLst/>
                <a:rect l="0" t="0" r="r" b="b"/>
                <a:pathLst>
                  <a:path w="71192" h="90515">
                    <a:moveTo>
                      <a:pt x="71192" y="12077"/>
                    </a:moveTo>
                    <a:cubicBezTo>
                      <a:pt x="71192" y="3782"/>
                      <a:pt x="63318" y="0"/>
                      <a:pt x="53026" y="0"/>
                    </a:cubicBezTo>
                    <a:cubicBezTo>
                      <a:pt x="39902" y="0"/>
                      <a:pt x="27198" y="7457"/>
                      <a:pt x="23733" y="18062"/>
                    </a:cubicBezTo>
                    <a:lnTo>
                      <a:pt x="7350" y="76652"/>
                    </a:lnTo>
                    <a:cubicBezTo>
                      <a:pt x="5461" y="83268"/>
                      <a:pt x="1155" y="89150"/>
                      <a:pt x="0" y="90515"/>
                    </a:cubicBezTo>
                    <a:lnTo>
                      <a:pt x="10922" y="90515"/>
                    </a:lnTo>
                    <a:cubicBezTo>
                      <a:pt x="11025" y="90515"/>
                      <a:pt x="12918" y="89674"/>
                      <a:pt x="16907" y="76549"/>
                    </a:cubicBezTo>
                    <a:lnTo>
                      <a:pt x="20689" y="63004"/>
                    </a:lnTo>
                    <a:lnTo>
                      <a:pt x="20792" y="63004"/>
                    </a:lnTo>
                    <a:cubicBezTo>
                      <a:pt x="20792" y="63107"/>
                      <a:pt x="24678" y="70564"/>
                      <a:pt x="36334" y="70564"/>
                    </a:cubicBezTo>
                    <a:cubicBezTo>
                      <a:pt x="53657" y="70564"/>
                      <a:pt x="65523" y="58805"/>
                      <a:pt x="65523" y="46728"/>
                    </a:cubicBezTo>
                    <a:cubicBezTo>
                      <a:pt x="65523" y="33603"/>
                      <a:pt x="50403" y="31607"/>
                      <a:pt x="50296" y="31607"/>
                    </a:cubicBezTo>
                    <a:lnTo>
                      <a:pt x="50296" y="31186"/>
                    </a:lnTo>
                    <a:cubicBezTo>
                      <a:pt x="50403" y="31186"/>
                      <a:pt x="71192" y="27408"/>
                      <a:pt x="71192" y="12077"/>
                    </a:cubicBezTo>
                    <a:close/>
                    <a:moveTo>
                      <a:pt x="60798" y="11866"/>
                    </a:moveTo>
                    <a:cubicBezTo>
                      <a:pt x="60798" y="16697"/>
                      <a:pt x="57646" y="28563"/>
                      <a:pt x="48093" y="28563"/>
                    </a:cubicBezTo>
                    <a:cubicBezTo>
                      <a:pt x="45573" y="28563"/>
                      <a:pt x="43474" y="28142"/>
                      <a:pt x="41584" y="28142"/>
                    </a:cubicBezTo>
                    <a:cubicBezTo>
                      <a:pt x="38326" y="28142"/>
                      <a:pt x="36123" y="30559"/>
                      <a:pt x="36123" y="32449"/>
                    </a:cubicBezTo>
                    <a:cubicBezTo>
                      <a:pt x="36123" y="33603"/>
                      <a:pt x="37068" y="34548"/>
                      <a:pt x="39168" y="34548"/>
                    </a:cubicBezTo>
                    <a:cubicBezTo>
                      <a:pt x="42422" y="34548"/>
                      <a:pt x="43263" y="34024"/>
                      <a:pt x="45887" y="34024"/>
                    </a:cubicBezTo>
                    <a:cubicBezTo>
                      <a:pt x="51661" y="34024"/>
                      <a:pt x="54289" y="39691"/>
                      <a:pt x="54289" y="45573"/>
                    </a:cubicBezTo>
                    <a:cubicBezTo>
                      <a:pt x="54289" y="56074"/>
                      <a:pt x="47569" y="65734"/>
                      <a:pt x="35596" y="65734"/>
                    </a:cubicBezTo>
                    <a:cubicBezTo>
                      <a:pt x="28039" y="65734"/>
                      <a:pt x="23209" y="62059"/>
                      <a:pt x="23209" y="55967"/>
                    </a:cubicBezTo>
                    <a:cubicBezTo>
                      <a:pt x="23209" y="54709"/>
                      <a:pt x="23416" y="53344"/>
                      <a:pt x="23836" y="51872"/>
                    </a:cubicBezTo>
                    <a:lnTo>
                      <a:pt x="33183" y="18169"/>
                    </a:lnTo>
                    <a:cubicBezTo>
                      <a:pt x="35282" y="11343"/>
                      <a:pt x="40846" y="2941"/>
                      <a:pt x="51558" y="2941"/>
                    </a:cubicBezTo>
                    <a:cubicBezTo>
                      <a:pt x="58277" y="2941"/>
                      <a:pt x="60798" y="7037"/>
                      <a:pt x="60798" y="11866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" name="fixed_outline_5"/>
              <p:cNvSpPr/>
              <p:nvPr/>
            </p:nvSpPr>
            <p:spPr>
              <a:xfrm>
                <a:off x="591498" y="2930952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" name="fixed_outline_6"/>
              <p:cNvSpPr/>
              <p:nvPr/>
            </p:nvSpPr>
            <p:spPr>
              <a:xfrm>
                <a:off x="682678" y="2897125"/>
                <a:ext cx="105429" cy="71715"/>
              </a:xfrm>
              <a:custGeom>
                <a:avLst/>
                <a:gdLst/>
                <a:ahLst/>
                <a:cxnLst/>
                <a:rect l="0" t="0" r="r" b="b"/>
                <a:pathLst>
                  <a:path w="105430" h="71715">
                    <a:moveTo>
                      <a:pt x="51451" y="71715"/>
                    </a:moveTo>
                    <a:lnTo>
                      <a:pt x="51451" y="70140"/>
                    </a:lnTo>
                    <a:cubicBezTo>
                      <a:pt x="45573" y="69616"/>
                      <a:pt x="44418" y="68251"/>
                      <a:pt x="44418" y="61532"/>
                    </a:cubicBezTo>
                    <a:lnTo>
                      <a:pt x="44418" y="34020"/>
                    </a:lnTo>
                    <a:lnTo>
                      <a:pt x="44629" y="23729"/>
                    </a:lnTo>
                    <a:lnTo>
                      <a:pt x="44208" y="23416"/>
                    </a:lnTo>
                    <a:cubicBezTo>
                      <a:pt x="39588" y="24150"/>
                      <a:pt x="36540" y="24463"/>
                      <a:pt x="32341" y="24463"/>
                    </a:cubicBezTo>
                    <a:lnTo>
                      <a:pt x="15855" y="24463"/>
                    </a:lnTo>
                    <a:lnTo>
                      <a:pt x="15855" y="19951"/>
                    </a:lnTo>
                    <a:lnTo>
                      <a:pt x="15855" y="19320"/>
                    </a:lnTo>
                    <a:cubicBezTo>
                      <a:pt x="15645" y="14593"/>
                      <a:pt x="16276" y="10604"/>
                      <a:pt x="17641" y="8084"/>
                    </a:cubicBezTo>
                    <a:cubicBezTo>
                      <a:pt x="19427" y="4830"/>
                      <a:pt x="23205" y="2623"/>
                      <a:pt x="26988" y="2623"/>
                    </a:cubicBezTo>
                    <a:cubicBezTo>
                      <a:pt x="29928" y="2623"/>
                      <a:pt x="31921" y="3989"/>
                      <a:pt x="34441" y="7560"/>
                    </a:cubicBezTo>
                    <a:cubicBezTo>
                      <a:pt x="36437" y="10497"/>
                      <a:pt x="37802" y="11446"/>
                      <a:pt x="39588" y="11446"/>
                    </a:cubicBezTo>
                    <a:cubicBezTo>
                      <a:pt x="41791" y="11446"/>
                      <a:pt x="43366" y="9763"/>
                      <a:pt x="43366" y="7350"/>
                    </a:cubicBezTo>
                    <a:cubicBezTo>
                      <a:pt x="43366" y="2834"/>
                      <a:pt x="38116" y="0"/>
                      <a:pt x="30031" y="0"/>
                    </a:cubicBezTo>
                    <a:cubicBezTo>
                      <a:pt x="22050" y="0"/>
                      <a:pt x="15962" y="2623"/>
                      <a:pt x="12180" y="7874"/>
                    </a:cubicBezTo>
                    <a:cubicBezTo>
                      <a:pt x="9033" y="12283"/>
                      <a:pt x="7874" y="16066"/>
                      <a:pt x="7247" y="24463"/>
                    </a:cubicBezTo>
                    <a:lnTo>
                      <a:pt x="0" y="24463"/>
                    </a:lnTo>
                    <a:lnTo>
                      <a:pt x="0" y="27928"/>
                    </a:lnTo>
                    <a:lnTo>
                      <a:pt x="7140" y="27928"/>
                    </a:lnTo>
                    <a:lnTo>
                      <a:pt x="7140" y="61845"/>
                    </a:lnTo>
                    <a:cubicBezTo>
                      <a:pt x="7140" y="68564"/>
                      <a:pt x="5985" y="69929"/>
                      <a:pt x="107" y="70140"/>
                    </a:cubicBezTo>
                    <a:lnTo>
                      <a:pt x="107" y="71715"/>
                    </a:lnTo>
                    <a:lnTo>
                      <a:pt x="23205" y="71715"/>
                    </a:lnTo>
                    <a:lnTo>
                      <a:pt x="23205" y="70140"/>
                    </a:lnTo>
                    <a:cubicBezTo>
                      <a:pt x="17328" y="69719"/>
                      <a:pt x="15962" y="68251"/>
                      <a:pt x="15962" y="62476"/>
                    </a:cubicBezTo>
                    <a:lnTo>
                      <a:pt x="15962" y="27928"/>
                    </a:lnTo>
                    <a:lnTo>
                      <a:pt x="24991" y="27928"/>
                    </a:lnTo>
                    <a:cubicBezTo>
                      <a:pt x="35072" y="27928"/>
                      <a:pt x="35596" y="28246"/>
                      <a:pt x="35596" y="33810"/>
                    </a:cubicBezTo>
                    <a:lnTo>
                      <a:pt x="35596" y="61532"/>
                    </a:lnTo>
                    <a:cubicBezTo>
                      <a:pt x="35596" y="68671"/>
                      <a:pt x="34861" y="69616"/>
                      <a:pt x="28353" y="70140"/>
                    </a:cubicBezTo>
                    <a:lnTo>
                      <a:pt x="28353" y="71715"/>
                    </a:lnTo>
                    <a:lnTo>
                      <a:pt x="51451" y="71715"/>
                    </a:lnTo>
                    <a:close/>
                    <a:moveTo>
                      <a:pt x="105430" y="71715"/>
                    </a:moveTo>
                    <a:lnTo>
                      <a:pt x="105430" y="70140"/>
                    </a:lnTo>
                    <a:cubicBezTo>
                      <a:pt x="102176" y="70140"/>
                      <a:pt x="100076" y="68461"/>
                      <a:pt x="96822" y="63841"/>
                    </a:cubicBezTo>
                    <a:lnTo>
                      <a:pt x="83380" y="43259"/>
                    </a:lnTo>
                    <a:lnTo>
                      <a:pt x="92095" y="30659"/>
                    </a:lnTo>
                    <a:cubicBezTo>
                      <a:pt x="94091" y="27825"/>
                      <a:pt x="97238" y="26146"/>
                      <a:pt x="100600" y="26039"/>
                    </a:cubicBezTo>
                    <a:lnTo>
                      <a:pt x="100600" y="24463"/>
                    </a:lnTo>
                    <a:lnTo>
                      <a:pt x="84010" y="24463"/>
                    </a:lnTo>
                    <a:lnTo>
                      <a:pt x="84010" y="26039"/>
                    </a:lnTo>
                    <a:cubicBezTo>
                      <a:pt x="87158" y="26249"/>
                      <a:pt x="88209" y="26880"/>
                      <a:pt x="88209" y="28349"/>
                    </a:cubicBezTo>
                    <a:cubicBezTo>
                      <a:pt x="88209" y="29611"/>
                      <a:pt x="86951" y="31921"/>
                      <a:pt x="84324" y="35175"/>
                    </a:cubicBezTo>
                    <a:cubicBezTo>
                      <a:pt x="83800" y="35806"/>
                      <a:pt x="82538" y="37695"/>
                      <a:pt x="81173" y="39795"/>
                    </a:cubicBezTo>
                    <a:lnTo>
                      <a:pt x="79704" y="37695"/>
                    </a:lnTo>
                    <a:cubicBezTo>
                      <a:pt x="76764" y="33286"/>
                      <a:pt x="74874" y="29714"/>
                      <a:pt x="74874" y="28349"/>
                    </a:cubicBezTo>
                    <a:cubicBezTo>
                      <a:pt x="74874" y="26880"/>
                      <a:pt x="76240" y="26146"/>
                      <a:pt x="79391" y="26039"/>
                    </a:cubicBezTo>
                    <a:lnTo>
                      <a:pt x="79391" y="24463"/>
                    </a:lnTo>
                    <a:lnTo>
                      <a:pt x="57654" y="24463"/>
                    </a:lnTo>
                    <a:lnTo>
                      <a:pt x="57654" y="26039"/>
                    </a:lnTo>
                    <a:lnTo>
                      <a:pt x="58599" y="26039"/>
                    </a:lnTo>
                    <a:cubicBezTo>
                      <a:pt x="61750" y="26039"/>
                      <a:pt x="63429" y="27404"/>
                      <a:pt x="66683" y="32341"/>
                    </a:cubicBezTo>
                    <a:lnTo>
                      <a:pt x="76553" y="47458"/>
                    </a:lnTo>
                    <a:lnTo>
                      <a:pt x="64584" y="64786"/>
                    </a:lnTo>
                    <a:cubicBezTo>
                      <a:pt x="61432" y="69092"/>
                      <a:pt x="60384" y="69826"/>
                      <a:pt x="56920" y="70140"/>
                    </a:cubicBezTo>
                    <a:lnTo>
                      <a:pt x="56920" y="71715"/>
                    </a:lnTo>
                    <a:lnTo>
                      <a:pt x="72144" y="71715"/>
                    </a:lnTo>
                    <a:lnTo>
                      <a:pt x="72144" y="70140"/>
                    </a:lnTo>
                    <a:cubicBezTo>
                      <a:pt x="69203" y="70140"/>
                      <a:pt x="67945" y="69616"/>
                      <a:pt x="67945" y="68251"/>
                    </a:cubicBezTo>
                    <a:cubicBezTo>
                      <a:pt x="67945" y="67620"/>
                      <a:pt x="68679" y="66044"/>
                      <a:pt x="70045" y="63944"/>
                    </a:cubicBezTo>
                    <a:lnTo>
                      <a:pt x="78339" y="51030"/>
                    </a:lnTo>
                    <a:lnTo>
                      <a:pt x="87896" y="65730"/>
                    </a:lnTo>
                    <a:cubicBezTo>
                      <a:pt x="88317" y="66361"/>
                      <a:pt x="88523" y="66989"/>
                      <a:pt x="88523" y="67620"/>
                    </a:cubicBezTo>
                    <a:cubicBezTo>
                      <a:pt x="88523" y="69509"/>
                      <a:pt x="87789" y="69929"/>
                      <a:pt x="84324" y="70140"/>
                    </a:cubicBezTo>
                    <a:lnTo>
                      <a:pt x="84324" y="71715"/>
                    </a:lnTo>
                    <a:lnTo>
                      <a:pt x="105430" y="71715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" name="fixed_outline_7"/>
              <p:cNvSpPr/>
              <p:nvPr/>
            </p:nvSpPr>
            <p:spPr>
              <a:xfrm>
                <a:off x="789724" y="2897125"/>
                <a:ext cx="95561" cy="72767"/>
              </a:xfrm>
              <a:custGeom>
                <a:avLst/>
                <a:gdLst/>
                <a:ahLst/>
                <a:cxnLst/>
                <a:rect l="0" t="0" r="r" b="b"/>
                <a:pathLst>
                  <a:path w="95562" h="72767">
                    <a:moveTo>
                      <a:pt x="41898" y="55229"/>
                    </a:moveTo>
                    <a:lnTo>
                      <a:pt x="40219" y="54495"/>
                    </a:lnTo>
                    <a:cubicBezTo>
                      <a:pt x="35178" y="62476"/>
                      <a:pt x="30662" y="65520"/>
                      <a:pt x="23944" y="65520"/>
                    </a:cubicBezTo>
                    <a:cubicBezTo>
                      <a:pt x="18169" y="65520"/>
                      <a:pt x="13756" y="62790"/>
                      <a:pt x="10712" y="57118"/>
                    </a:cubicBezTo>
                    <a:cubicBezTo>
                      <a:pt x="8612" y="53026"/>
                      <a:pt x="7771" y="49351"/>
                      <a:pt x="7561" y="42628"/>
                    </a:cubicBezTo>
                    <a:lnTo>
                      <a:pt x="39902" y="42628"/>
                    </a:lnTo>
                    <a:cubicBezTo>
                      <a:pt x="39065" y="35806"/>
                      <a:pt x="38013" y="32758"/>
                      <a:pt x="35389" y="29400"/>
                    </a:cubicBezTo>
                    <a:cubicBezTo>
                      <a:pt x="32238" y="25618"/>
                      <a:pt x="27409" y="23416"/>
                      <a:pt x="21948" y="23416"/>
                    </a:cubicBezTo>
                    <a:cubicBezTo>
                      <a:pt x="8926" y="23416"/>
                      <a:pt x="0" y="33913"/>
                      <a:pt x="0" y="49244"/>
                    </a:cubicBezTo>
                    <a:cubicBezTo>
                      <a:pt x="0" y="63734"/>
                      <a:pt x="7561" y="72767"/>
                      <a:pt x="19638" y="72767"/>
                    </a:cubicBezTo>
                    <a:cubicBezTo>
                      <a:pt x="29717" y="72767"/>
                      <a:pt x="37489" y="66572"/>
                      <a:pt x="41898" y="55229"/>
                    </a:cubicBezTo>
                    <a:close/>
                    <a:moveTo>
                      <a:pt x="29194" y="39271"/>
                    </a:moveTo>
                    <a:lnTo>
                      <a:pt x="7771" y="39271"/>
                    </a:lnTo>
                    <a:cubicBezTo>
                      <a:pt x="8926" y="30976"/>
                      <a:pt x="12498" y="27194"/>
                      <a:pt x="18903" y="27194"/>
                    </a:cubicBezTo>
                    <a:cubicBezTo>
                      <a:pt x="25309" y="27194"/>
                      <a:pt x="27829" y="30135"/>
                      <a:pt x="29194" y="39271"/>
                    </a:cubicBezTo>
                    <a:close/>
                    <a:moveTo>
                      <a:pt x="95562" y="67306"/>
                    </a:moveTo>
                    <a:lnTo>
                      <a:pt x="95562" y="65623"/>
                    </a:lnTo>
                    <a:cubicBezTo>
                      <a:pt x="93668" y="65730"/>
                      <a:pt x="93458" y="65730"/>
                      <a:pt x="93145" y="65730"/>
                    </a:cubicBezTo>
                    <a:cubicBezTo>
                      <a:pt x="89367" y="65730"/>
                      <a:pt x="88525" y="64576"/>
                      <a:pt x="88525" y="59746"/>
                    </a:cubicBezTo>
                    <a:lnTo>
                      <a:pt x="88525" y="210"/>
                    </a:lnTo>
                    <a:lnTo>
                      <a:pt x="88002" y="0"/>
                    </a:lnTo>
                    <a:cubicBezTo>
                      <a:pt x="82961" y="1782"/>
                      <a:pt x="79286" y="2834"/>
                      <a:pt x="72562" y="4620"/>
                    </a:cubicBezTo>
                    <a:lnTo>
                      <a:pt x="72562" y="6298"/>
                    </a:lnTo>
                    <a:cubicBezTo>
                      <a:pt x="73404" y="6195"/>
                      <a:pt x="74035" y="6195"/>
                      <a:pt x="74872" y="6195"/>
                    </a:cubicBezTo>
                    <a:cubicBezTo>
                      <a:pt x="78757" y="6195"/>
                      <a:pt x="79702" y="7243"/>
                      <a:pt x="79702" y="11549"/>
                    </a:cubicBezTo>
                    <a:lnTo>
                      <a:pt x="79702" y="27928"/>
                    </a:lnTo>
                    <a:cubicBezTo>
                      <a:pt x="75714" y="24571"/>
                      <a:pt x="72880" y="23416"/>
                      <a:pt x="68677" y="23416"/>
                    </a:cubicBezTo>
                    <a:cubicBezTo>
                      <a:pt x="56605" y="23416"/>
                      <a:pt x="46837" y="35278"/>
                      <a:pt x="46837" y="50189"/>
                    </a:cubicBezTo>
                    <a:cubicBezTo>
                      <a:pt x="46837" y="63631"/>
                      <a:pt x="54715" y="72767"/>
                      <a:pt x="66264" y="72767"/>
                    </a:cubicBezTo>
                    <a:cubicBezTo>
                      <a:pt x="72146" y="72767"/>
                      <a:pt x="76135" y="70664"/>
                      <a:pt x="79702" y="65730"/>
                    </a:cubicBezTo>
                    <a:lnTo>
                      <a:pt x="79702" y="72450"/>
                    </a:lnTo>
                    <a:lnTo>
                      <a:pt x="80123" y="72767"/>
                    </a:lnTo>
                    <a:lnTo>
                      <a:pt x="95562" y="67306"/>
                    </a:lnTo>
                    <a:close/>
                    <a:moveTo>
                      <a:pt x="79702" y="61004"/>
                    </a:moveTo>
                    <a:cubicBezTo>
                      <a:pt x="79702" y="61742"/>
                      <a:pt x="78968" y="63000"/>
                      <a:pt x="77920" y="64155"/>
                    </a:cubicBezTo>
                    <a:cubicBezTo>
                      <a:pt x="76027" y="66254"/>
                      <a:pt x="73404" y="67306"/>
                      <a:pt x="70360" y="67306"/>
                    </a:cubicBezTo>
                    <a:cubicBezTo>
                      <a:pt x="61644" y="67306"/>
                      <a:pt x="55871" y="58904"/>
                      <a:pt x="55871" y="45990"/>
                    </a:cubicBezTo>
                    <a:cubicBezTo>
                      <a:pt x="55871" y="34123"/>
                      <a:pt x="61014" y="26353"/>
                      <a:pt x="68995" y="26353"/>
                    </a:cubicBezTo>
                    <a:cubicBezTo>
                      <a:pt x="74559" y="26353"/>
                      <a:pt x="79702" y="31290"/>
                      <a:pt x="79702" y="36854"/>
                    </a:cubicBezTo>
                    <a:lnTo>
                      <a:pt x="79702" y="61004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35" name="lag"/>
            <p:cNvGrpSpPr/>
            <p:nvPr/>
          </p:nvGrpSpPr>
          <p:grpSpPr>
            <a:xfrm>
              <a:off x="1205200" y="2897125"/>
              <a:ext cx="818218" cy="105839"/>
              <a:chOff x="1205200" y="2897125"/>
              <a:chExt cx="818218" cy="105839"/>
            </a:xfrm>
          </p:grpSpPr>
          <p:sp>
            <p:nvSpPr>
              <p:cNvPr id="136" name="lag_outline_0"/>
              <p:cNvSpPr/>
              <p:nvPr/>
            </p:nvSpPr>
            <p:spPr>
              <a:xfrm>
                <a:off x="1205200" y="2922533"/>
                <a:ext cx="47163" cy="47462"/>
              </a:xfrm>
              <a:custGeom>
                <a:avLst/>
                <a:gdLst/>
                <a:ahLst/>
                <a:cxnLst/>
                <a:rect l="0" t="0" r="r" b="b"/>
                <a:pathLst>
                  <a:path w="47164" h="47462">
                    <a:moveTo>
                      <a:pt x="40859" y="36227"/>
                    </a:moveTo>
                    <a:lnTo>
                      <a:pt x="38862" y="35179"/>
                    </a:lnTo>
                    <a:cubicBezTo>
                      <a:pt x="32461" y="41374"/>
                      <a:pt x="27944" y="43684"/>
                      <a:pt x="21959" y="43684"/>
                    </a:cubicBezTo>
                    <a:cubicBezTo>
                      <a:pt x="15133" y="43684"/>
                      <a:pt x="10827" y="39271"/>
                      <a:pt x="10514" y="31710"/>
                    </a:cubicBezTo>
                    <a:cubicBezTo>
                      <a:pt x="10200" y="22789"/>
                      <a:pt x="14189" y="13442"/>
                      <a:pt x="20697" y="7247"/>
                    </a:cubicBezTo>
                    <a:cubicBezTo>
                      <a:pt x="24059" y="4096"/>
                      <a:pt x="28786" y="2207"/>
                      <a:pt x="33616" y="2207"/>
                    </a:cubicBezTo>
                    <a:cubicBezTo>
                      <a:pt x="36449" y="2207"/>
                      <a:pt x="38128" y="3048"/>
                      <a:pt x="38128" y="4306"/>
                    </a:cubicBezTo>
                    <a:cubicBezTo>
                      <a:pt x="38235" y="4830"/>
                      <a:pt x="38128" y="5358"/>
                      <a:pt x="37604" y="6303"/>
                    </a:cubicBezTo>
                    <a:cubicBezTo>
                      <a:pt x="36660" y="7668"/>
                      <a:pt x="36552" y="8295"/>
                      <a:pt x="36552" y="9346"/>
                    </a:cubicBezTo>
                    <a:cubicBezTo>
                      <a:pt x="36660" y="11867"/>
                      <a:pt x="38446" y="13335"/>
                      <a:pt x="41382" y="13335"/>
                    </a:cubicBezTo>
                    <a:cubicBezTo>
                      <a:pt x="44744" y="13335"/>
                      <a:pt x="47264" y="11343"/>
                      <a:pt x="47161" y="8505"/>
                    </a:cubicBezTo>
                    <a:cubicBezTo>
                      <a:pt x="46951" y="3572"/>
                      <a:pt x="41593" y="0"/>
                      <a:pt x="34139" y="0"/>
                    </a:cubicBezTo>
                    <a:cubicBezTo>
                      <a:pt x="15975" y="0"/>
                      <a:pt x="-512" y="15331"/>
                      <a:pt x="12" y="31710"/>
                    </a:cubicBezTo>
                    <a:cubicBezTo>
                      <a:pt x="330" y="41688"/>
                      <a:pt x="7152" y="47462"/>
                      <a:pt x="18388" y="47462"/>
                    </a:cubicBezTo>
                    <a:cubicBezTo>
                      <a:pt x="27524" y="47462"/>
                      <a:pt x="33616" y="44311"/>
                      <a:pt x="40859" y="36227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" name="lag_outline_1"/>
              <p:cNvSpPr/>
              <p:nvPr/>
            </p:nvSpPr>
            <p:spPr>
              <a:xfrm>
                <a:off x="1294708" y="2928307"/>
                <a:ext cx="53760" cy="27197"/>
              </a:xfrm>
              <a:custGeom>
                <a:avLst/>
                <a:gdLst/>
                <a:ahLst/>
                <a:cxnLst/>
                <a:rect l="0" t="0" r="r" b="b"/>
                <a:pathLst>
                  <a:path w="53761" h="27198">
                    <a:moveTo>
                      <a:pt x="53761" y="5882"/>
                    </a:moveTo>
                    <a:lnTo>
                      <a:pt x="53761" y="0"/>
                    </a:lnTo>
                    <a:lnTo>
                      <a:pt x="0" y="0"/>
                    </a:lnTo>
                    <a:lnTo>
                      <a:pt x="0" y="5882"/>
                    </a:lnTo>
                    <a:lnTo>
                      <a:pt x="53761" y="5882"/>
                    </a:lnTo>
                    <a:close/>
                    <a:moveTo>
                      <a:pt x="53761" y="27198"/>
                    </a:moveTo>
                    <a:lnTo>
                      <a:pt x="53761" y="21316"/>
                    </a:lnTo>
                    <a:lnTo>
                      <a:pt x="0" y="21316"/>
                    </a:lnTo>
                    <a:lnTo>
                      <a:pt x="0" y="27198"/>
                    </a:lnTo>
                    <a:lnTo>
                      <a:pt x="53761" y="27198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" name="lag_outline_2"/>
              <p:cNvSpPr/>
              <p:nvPr/>
            </p:nvSpPr>
            <p:spPr>
              <a:xfrm>
                <a:off x="1386680" y="2897859"/>
                <a:ext cx="47462" cy="72449"/>
              </a:xfrm>
              <a:custGeom>
                <a:avLst/>
                <a:gdLst/>
                <a:ahLst/>
                <a:cxnLst/>
                <a:rect l="0" t="0" r="r" b="b"/>
                <a:pathLst>
                  <a:path w="47462" h="72450">
                    <a:moveTo>
                      <a:pt x="47462" y="36330"/>
                    </a:moveTo>
                    <a:cubicBezTo>
                      <a:pt x="47462" y="14804"/>
                      <a:pt x="37906" y="0"/>
                      <a:pt x="24150" y="0"/>
                    </a:cubicBezTo>
                    <a:cubicBezTo>
                      <a:pt x="18375" y="0"/>
                      <a:pt x="13966" y="1786"/>
                      <a:pt x="10081" y="5461"/>
                    </a:cubicBezTo>
                    <a:cubicBezTo>
                      <a:pt x="3989" y="11339"/>
                      <a:pt x="0" y="23416"/>
                      <a:pt x="0" y="35699"/>
                    </a:cubicBezTo>
                    <a:cubicBezTo>
                      <a:pt x="0" y="47145"/>
                      <a:pt x="3465" y="59432"/>
                      <a:pt x="8402" y="65310"/>
                    </a:cubicBezTo>
                    <a:cubicBezTo>
                      <a:pt x="12283" y="69929"/>
                      <a:pt x="17641" y="72450"/>
                      <a:pt x="23729" y="72450"/>
                    </a:cubicBezTo>
                    <a:cubicBezTo>
                      <a:pt x="29087" y="72450"/>
                      <a:pt x="33599" y="70668"/>
                      <a:pt x="37382" y="66993"/>
                    </a:cubicBezTo>
                    <a:cubicBezTo>
                      <a:pt x="43470" y="61214"/>
                      <a:pt x="47462" y="49034"/>
                      <a:pt x="47462" y="36330"/>
                    </a:cubicBezTo>
                    <a:close/>
                    <a:moveTo>
                      <a:pt x="37382" y="36540"/>
                    </a:moveTo>
                    <a:cubicBezTo>
                      <a:pt x="37382" y="58488"/>
                      <a:pt x="32762" y="69723"/>
                      <a:pt x="23729" y="69723"/>
                    </a:cubicBezTo>
                    <a:cubicBezTo>
                      <a:pt x="14700" y="69723"/>
                      <a:pt x="10081" y="58488"/>
                      <a:pt x="10081" y="36644"/>
                    </a:cubicBezTo>
                    <a:cubicBezTo>
                      <a:pt x="10081" y="14387"/>
                      <a:pt x="14803" y="2730"/>
                      <a:pt x="23836" y="2730"/>
                    </a:cubicBezTo>
                    <a:cubicBezTo>
                      <a:pt x="32655" y="2730"/>
                      <a:pt x="37382" y="14593"/>
                      <a:pt x="37382" y="36540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" name="lag_outline_3"/>
              <p:cNvSpPr/>
              <p:nvPr/>
            </p:nvSpPr>
            <p:spPr>
              <a:xfrm>
                <a:off x="1445068" y="2958128"/>
                <a:ext cx="16696" cy="25832"/>
              </a:xfrm>
              <a:custGeom>
                <a:avLst/>
                <a:gdLst/>
                <a:ahLst/>
                <a:cxnLst/>
                <a:rect l="0" t="0" r="r" b="b"/>
                <a:pathLst>
                  <a:path w="16696" h="25833">
                    <a:moveTo>
                      <a:pt x="16696" y="10081"/>
                    </a:moveTo>
                    <a:cubicBezTo>
                      <a:pt x="16696" y="1365"/>
                      <a:pt x="9870" y="0"/>
                      <a:pt x="7037" y="0"/>
                    </a:cubicBezTo>
                    <a:cubicBezTo>
                      <a:pt x="3993" y="0"/>
                      <a:pt x="0" y="1893"/>
                      <a:pt x="0" y="6406"/>
                    </a:cubicBezTo>
                    <a:cubicBezTo>
                      <a:pt x="0" y="10608"/>
                      <a:pt x="4096" y="11656"/>
                      <a:pt x="7144" y="11656"/>
                    </a:cubicBezTo>
                    <a:cubicBezTo>
                      <a:pt x="7878" y="11656"/>
                      <a:pt x="8505" y="11553"/>
                      <a:pt x="8822" y="11446"/>
                    </a:cubicBezTo>
                    <a:cubicBezTo>
                      <a:pt x="9243" y="11343"/>
                      <a:pt x="9767" y="11236"/>
                      <a:pt x="9977" y="11236"/>
                    </a:cubicBezTo>
                    <a:cubicBezTo>
                      <a:pt x="10712" y="11236"/>
                      <a:pt x="11553" y="11763"/>
                      <a:pt x="11553" y="12708"/>
                    </a:cubicBezTo>
                    <a:cubicBezTo>
                      <a:pt x="11553" y="14700"/>
                      <a:pt x="9664" y="19217"/>
                      <a:pt x="1996" y="23626"/>
                    </a:cubicBezTo>
                    <a:lnTo>
                      <a:pt x="3048" y="25833"/>
                    </a:lnTo>
                    <a:cubicBezTo>
                      <a:pt x="6723" y="24781"/>
                      <a:pt x="16696" y="17538"/>
                      <a:pt x="16696" y="10081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0" name="lag_outline_4"/>
              <p:cNvSpPr/>
              <p:nvPr/>
            </p:nvSpPr>
            <p:spPr>
              <a:xfrm>
                <a:off x="1509112" y="2900062"/>
                <a:ext cx="71191" cy="90515"/>
              </a:xfrm>
              <a:custGeom>
                <a:avLst/>
                <a:gdLst/>
                <a:ahLst/>
                <a:cxnLst/>
                <a:rect l="0" t="0" r="r" b="b"/>
                <a:pathLst>
                  <a:path w="71192" h="90515">
                    <a:moveTo>
                      <a:pt x="71192" y="12077"/>
                    </a:moveTo>
                    <a:cubicBezTo>
                      <a:pt x="71192" y="3782"/>
                      <a:pt x="63318" y="0"/>
                      <a:pt x="53026" y="0"/>
                    </a:cubicBezTo>
                    <a:cubicBezTo>
                      <a:pt x="39902" y="0"/>
                      <a:pt x="27198" y="7457"/>
                      <a:pt x="23733" y="18062"/>
                    </a:cubicBezTo>
                    <a:lnTo>
                      <a:pt x="7350" y="76652"/>
                    </a:lnTo>
                    <a:cubicBezTo>
                      <a:pt x="5461" y="83268"/>
                      <a:pt x="1155" y="89150"/>
                      <a:pt x="0" y="90515"/>
                    </a:cubicBezTo>
                    <a:lnTo>
                      <a:pt x="10922" y="90515"/>
                    </a:lnTo>
                    <a:cubicBezTo>
                      <a:pt x="11025" y="90515"/>
                      <a:pt x="12918" y="89674"/>
                      <a:pt x="16907" y="76549"/>
                    </a:cubicBezTo>
                    <a:lnTo>
                      <a:pt x="20689" y="63004"/>
                    </a:lnTo>
                    <a:lnTo>
                      <a:pt x="20792" y="63004"/>
                    </a:lnTo>
                    <a:cubicBezTo>
                      <a:pt x="20792" y="63107"/>
                      <a:pt x="24678" y="70564"/>
                      <a:pt x="36334" y="70564"/>
                    </a:cubicBezTo>
                    <a:cubicBezTo>
                      <a:pt x="53657" y="70564"/>
                      <a:pt x="65523" y="58805"/>
                      <a:pt x="65523" y="46728"/>
                    </a:cubicBezTo>
                    <a:cubicBezTo>
                      <a:pt x="65523" y="33603"/>
                      <a:pt x="50403" y="31607"/>
                      <a:pt x="50296" y="31607"/>
                    </a:cubicBezTo>
                    <a:lnTo>
                      <a:pt x="50296" y="31186"/>
                    </a:lnTo>
                    <a:cubicBezTo>
                      <a:pt x="50403" y="31186"/>
                      <a:pt x="71192" y="27408"/>
                      <a:pt x="71192" y="12077"/>
                    </a:cubicBezTo>
                    <a:close/>
                    <a:moveTo>
                      <a:pt x="60798" y="11866"/>
                    </a:moveTo>
                    <a:cubicBezTo>
                      <a:pt x="60798" y="16697"/>
                      <a:pt x="57646" y="28563"/>
                      <a:pt x="48093" y="28563"/>
                    </a:cubicBezTo>
                    <a:cubicBezTo>
                      <a:pt x="45573" y="28563"/>
                      <a:pt x="43474" y="28142"/>
                      <a:pt x="41584" y="28142"/>
                    </a:cubicBezTo>
                    <a:cubicBezTo>
                      <a:pt x="38326" y="28142"/>
                      <a:pt x="36123" y="30559"/>
                      <a:pt x="36123" y="32449"/>
                    </a:cubicBezTo>
                    <a:cubicBezTo>
                      <a:pt x="36123" y="33603"/>
                      <a:pt x="37068" y="34548"/>
                      <a:pt x="39168" y="34548"/>
                    </a:cubicBezTo>
                    <a:cubicBezTo>
                      <a:pt x="42422" y="34548"/>
                      <a:pt x="43263" y="34024"/>
                      <a:pt x="45887" y="34024"/>
                    </a:cubicBezTo>
                    <a:cubicBezTo>
                      <a:pt x="51661" y="34024"/>
                      <a:pt x="54289" y="39691"/>
                      <a:pt x="54289" y="45573"/>
                    </a:cubicBezTo>
                    <a:cubicBezTo>
                      <a:pt x="54289" y="56074"/>
                      <a:pt x="47569" y="65734"/>
                      <a:pt x="35596" y="65734"/>
                    </a:cubicBezTo>
                    <a:cubicBezTo>
                      <a:pt x="28039" y="65734"/>
                      <a:pt x="23209" y="62059"/>
                      <a:pt x="23209" y="55967"/>
                    </a:cubicBezTo>
                    <a:cubicBezTo>
                      <a:pt x="23209" y="54709"/>
                      <a:pt x="23416" y="53344"/>
                      <a:pt x="23836" y="51872"/>
                    </a:cubicBezTo>
                    <a:lnTo>
                      <a:pt x="33183" y="18169"/>
                    </a:lnTo>
                    <a:cubicBezTo>
                      <a:pt x="35282" y="11343"/>
                      <a:pt x="40846" y="2941"/>
                      <a:pt x="51558" y="2941"/>
                    </a:cubicBezTo>
                    <a:cubicBezTo>
                      <a:pt x="58277" y="2941"/>
                      <a:pt x="60798" y="7037"/>
                      <a:pt x="60798" y="11866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1" name="lag_outline_5"/>
              <p:cNvSpPr/>
              <p:nvPr/>
            </p:nvSpPr>
            <p:spPr>
              <a:xfrm>
                <a:off x="1585679" y="2930952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" name="lag_outline_6"/>
              <p:cNvSpPr/>
              <p:nvPr/>
            </p:nvSpPr>
            <p:spPr>
              <a:xfrm>
                <a:off x="1677490" y="2897125"/>
                <a:ext cx="302856" cy="94499"/>
              </a:xfrm>
              <a:custGeom>
                <a:avLst/>
                <a:gdLst/>
                <a:ahLst/>
                <a:cxnLst/>
                <a:rect l="0" t="0" r="r" b="b"/>
                <a:pathLst>
                  <a:path w="302857" h="94500">
                    <a:moveTo>
                      <a:pt x="42525" y="67516"/>
                    </a:moveTo>
                    <a:lnTo>
                      <a:pt x="42525" y="64786"/>
                    </a:lnTo>
                    <a:cubicBezTo>
                      <a:pt x="40739" y="66254"/>
                      <a:pt x="39481" y="66782"/>
                      <a:pt x="37906" y="66782"/>
                    </a:cubicBezTo>
                    <a:cubicBezTo>
                      <a:pt x="35489" y="66782"/>
                      <a:pt x="34754" y="65310"/>
                      <a:pt x="34754" y="60690"/>
                    </a:cubicBezTo>
                    <a:lnTo>
                      <a:pt x="34754" y="40215"/>
                    </a:lnTo>
                    <a:cubicBezTo>
                      <a:pt x="34754" y="34858"/>
                      <a:pt x="34230" y="31921"/>
                      <a:pt x="32762" y="29504"/>
                    </a:cubicBezTo>
                    <a:cubicBezTo>
                      <a:pt x="30555" y="25515"/>
                      <a:pt x="26039" y="23416"/>
                      <a:pt x="19633" y="23416"/>
                    </a:cubicBezTo>
                    <a:cubicBezTo>
                      <a:pt x="14280" y="23416"/>
                      <a:pt x="9239" y="24884"/>
                      <a:pt x="6298" y="27301"/>
                    </a:cubicBezTo>
                    <a:cubicBezTo>
                      <a:pt x="3675" y="29504"/>
                      <a:pt x="1996" y="32548"/>
                      <a:pt x="1996" y="35175"/>
                    </a:cubicBezTo>
                    <a:cubicBezTo>
                      <a:pt x="1996" y="37588"/>
                      <a:pt x="3989" y="39691"/>
                      <a:pt x="6509" y="39691"/>
                    </a:cubicBezTo>
                    <a:cubicBezTo>
                      <a:pt x="9029" y="39691"/>
                      <a:pt x="11236" y="37588"/>
                      <a:pt x="11236" y="35278"/>
                    </a:cubicBezTo>
                    <a:cubicBezTo>
                      <a:pt x="11236" y="34858"/>
                      <a:pt x="11128" y="34334"/>
                      <a:pt x="11025" y="33599"/>
                    </a:cubicBezTo>
                    <a:cubicBezTo>
                      <a:pt x="10815" y="32655"/>
                      <a:pt x="10712" y="31814"/>
                      <a:pt x="10712" y="31079"/>
                    </a:cubicBezTo>
                    <a:cubicBezTo>
                      <a:pt x="10712" y="28246"/>
                      <a:pt x="14069" y="25936"/>
                      <a:pt x="18268" y="25936"/>
                    </a:cubicBezTo>
                    <a:cubicBezTo>
                      <a:pt x="23416" y="25936"/>
                      <a:pt x="26249" y="28980"/>
                      <a:pt x="26249" y="34651"/>
                    </a:cubicBezTo>
                    <a:lnTo>
                      <a:pt x="26249" y="41053"/>
                    </a:lnTo>
                    <a:cubicBezTo>
                      <a:pt x="10081" y="47565"/>
                      <a:pt x="8295" y="48403"/>
                      <a:pt x="3778" y="52395"/>
                    </a:cubicBezTo>
                    <a:cubicBezTo>
                      <a:pt x="1468" y="54495"/>
                      <a:pt x="0" y="58067"/>
                      <a:pt x="0" y="61532"/>
                    </a:cubicBezTo>
                    <a:cubicBezTo>
                      <a:pt x="0" y="68143"/>
                      <a:pt x="4516" y="72767"/>
                      <a:pt x="11025" y="72767"/>
                    </a:cubicBezTo>
                    <a:cubicBezTo>
                      <a:pt x="15645" y="72767"/>
                      <a:pt x="19951" y="70560"/>
                      <a:pt x="26357" y="65099"/>
                    </a:cubicBezTo>
                    <a:cubicBezTo>
                      <a:pt x="26880" y="70664"/>
                      <a:pt x="28769" y="72767"/>
                      <a:pt x="33076" y="72767"/>
                    </a:cubicBezTo>
                    <a:cubicBezTo>
                      <a:pt x="36647" y="72767"/>
                      <a:pt x="38850" y="71505"/>
                      <a:pt x="42525" y="67516"/>
                    </a:cubicBezTo>
                    <a:close/>
                    <a:moveTo>
                      <a:pt x="26249" y="58801"/>
                    </a:moveTo>
                    <a:cubicBezTo>
                      <a:pt x="26249" y="62055"/>
                      <a:pt x="25725" y="63000"/>
                      <a:pt x="23519" y="64365"/>
                    </a:cubicBezTo>
                    <a:cubicBezTo>
                      <a:pt x="20999" y="65834"/>
                      <a:pt x="18062" y="66675"/>
                      <a:pt x="15855" y="66675"/>
                    </a:cubicBezTo>
                    <a:cubicBezTo>
                      <a:pt x="12180" y="66675"/>
                      <a:pt x="9239" y="63107"/>
                      <a:pt x="9239" y="58591"/>
                    </a:cubicBezTo>
                    <a:lnTo>
                      <a:pt x="9239" y="58170"/>
                    </a:lnTo>
                    <a:cubicBezTo>
                      <a:pt x="9239" y="51975"/>
                      <a:pt x="13545" y="48196"/>
                      <a:pt x="26249" y="43573"/>
                    </a:cubicBezTo>
                    <a:lnTo>
                      <a:pt x="26249" y="58801"/>
                    </a:lnTo>
                    <a:close/>
                    <a:moveTo>
                      <a:pt x="94300" y="67306"/>
                    </a:moveTo>
                    <a:lnTo>
                      <a:pt x="94300" y="65623"/>
                    </a:lnTo>
                    <a:cubicBezTo>
                      <a:pt x="92406" y="65730"/>
                      <a:pt x="92196" y="65730"/>
                      <a:pt x="91883" y="65730"/>
                    </a:cubicBezTo>
                    <a:cubicBezTo>
                      <a:pt x="88104" y="65730"/>
                      <a:pt x="87263" y="64576"/>
                      <a:pt x="87263" y="59746"/>
                    </a:cubicBezTo>
                    <a:lnTo>
                      <a:pt x="87263" y="210"/>
                    </a:lnTo>
                    <a:lnTo>
                      <a:pt x="86739" y="0"/>
                    </a:lnTo>
                    <a:cubicBezTo>
                      <a:pt x="81699" y="1782"/>
                      <a:pt x="78024" y="2834"/>
                      <a:pt x="71301" y="4620"/>
                    </a:cubicBezTo>
                    <a:lnTo>
                      <a:pt x="71301" y="6298"/>
                    </a:lnTo>
                    <a:cubicBezTo>
                      <a:pt x="72142" y="6195"/>
                      <a:pt x="72773" y="6195"/>
                      <a:pt x="73610" y="6195"/>
                    </a:cubicBezTo>
                    <a:cubicBezTo>
                      <a:pt x="77496" y="6195"/>
                      <a:pt x="78440" y="7243"/>
                      <a:pt x="78440" y="11549"/>
                    </a:cubicBezTo>
                    <a:lnTo>
                      <a:pt x="78440" y="27928"/>
                    </a:lnTo>
                    <a:cubicBezTo>
                      <a:pt x="74452" y="24571"/>
                      <a:pt x="71618" y="23416"/>
                      <a:pt x="67415" y="23416"/>
                    </a:cubicBezTo>
                    <a:cubicBezTo>
                      <a:pt x="55342" y="23416"/>
                      <a:pt x="45575" y="35278"/>
                      <a:pt x="45575" y="50189"/>
                    </a:cubicBezTo>
                    <a:cubicBezTo>
                      <a:pt x="45575" y="63631"/>
                      <a:pt x="53453" y="72767"/>
                      <a:pt x="65002" y="72767"/>
                    </a:cubicBezTo>
                    <a:cubicBezTo>
                      <a:pt x="70884" y="72767"/>
                      <a:pt x="74872" y="70664"/>
                      <a:pt x="78440" y="65730"/>
                    </a:cubicBezTo>
                    <a:lnTo>
                      <a:pt x="78440" y="72450"/>
                    </a:lnTo>
                    <a:lnTo>
                      <a:pt x="78861" y="72767"/>
                    </a:lnTo>
                    <a:lnTo>
                      <a:pt x="94300" y="67306"/>
                    </a:lnTo>
                    <a:close/>
                    <a:moveTo>
                      <a:pt x="78440" y="61004"/>
                    </a:moveTo>
                    <a:cubicBezTo>
                      <a:pt x="78440" y="61742"/>
                      <a:pt x="77706" y="63000"/>
                      <a:pt x="76658" y="64155"/>
                    </a:cubicBezTo>
                    <a:cubicBezTo>
                      <a:pt x="74765" y="66254"/>
                      <a:pt x="72142" y="67306"/>
                      <a:pt x="69098" y="67306"/>
                    </a:cubicBezTo>
                    <a:cubicBezTo>
                      <a:pt x="60383" y="67306"/>
                      <a:pt x="54608" y="58904"/>
                      <a:pt x="54608" y="45990"/>
                    </a:cubicBezTo>
                    <a:cubicBezTo>
                      <a:pt x="54608" y="34123"/>
                      <a:pt x="59752" y="26353"/>
                      <a:pt x="67733" y="26353"/>
                    </a:cubicBezTo>
                    <a:cubicBezTo>
                      <a:pt x="73297" y="26353"/>
                      <a:pt x="78440" y="31290"/>
                      <a:pt x="78440" y="36854"/>
                    </a:cubicBezTo>
                    <a:lnTo>
                      <a:pt x="78440" y="61004"/>
                    </a:lnTo>
                    <a:close/>
                    <a:moveTo>
                      <a:pt x="141660" y="67516"/>
                    </a:moveTo>
                    <a:lnTo>
                      <a:pt x="141660" y="64786"/>
                    </a:lnTo>
                    <a:cubicBezTo>
                      <a:pt x="139874" y="66254"/>
                      <a:pt x="138615" y="66782"/>
                      <a:pt x="137039" y="66782"/>
                    </a:cubicBezTo>
                    <a:cubicBezTo>
                      <a:pt x="134623" y="66782"/>
                      <a:pt x="133888" y="65310"/>
                      <a:pt x="133888" y="60690"/>
                    </a:cubicBezTo>
                    <a:lnTo>
                      <a:pt x="133888" y="40215"/>
                    </a:lnTo>
                    <a:cubicBezTo>
                      <a:pt x="133888" y="34858"/>
                      <a:pt x="133365" y="31921"/>
                      <a:pt x="131896" y="29504"/>
                    </a:cubicBezTo>
                    <a:cubicBezTo>
                      <a:pt x="129690" y="25515"/>
                      <a:pt x="125174" y="23416"/>
                      <a:pt x="118768" y="23416"/>
                    </a:cubicBezTo>
                    <a:cubicBezTo>
                      <a:pt x="113414" y="23416"/>
                      <a:pt x="108374" y="24884"/>
                      <a:pt x="105433" y="27301"/>
                    </a:cubicBezTo>
                    <a:cubicBezTo>
                      <a:pt x="102810" y="29504"/>
                      <a:pt x="101131" y="32548"/>
                      <a:pt x="101131" y="35175"/>
                    </a:cubicBezTo>
                    <a:cubicBezTo>
                      <a:pt x="101131" y="37588"/>
                      <a:pt x="103123" y="39691"/>
                      <a:pt x="105643" y="39691"/>
                    </a:cubicBezTo>
                    <a:cubicBezTo>
                      <a:pt x="108163" y="39691"/>
                      <a:pt x="110370" y="37588"/>
                      <a:pt x="110370" y="35278"/>
                    </a:cubicBezTo>
                    <a:cubicBezTo>
                      <a:pt x="110370" y="34858"/>
                      <a:pt x="110263" y="34334"/>
                      <a:pt x="110160" y="33599"/>
                    </a:cubicBezTo>
                    <a:cubicBezTo>
                      <a:pt x="109949" y="32655"/>
                      <a:pt x="109846" y="31814"/>
                      <a:pt x="109846" y="31079"/>
                    </a:cubicBezTo>
                    <a:cubicBezTo>
                      <a:pt x="109846" y="28246"/>
                      <a:pt x="113204" y="25936"/>
                      <a:pt x="117403" y="25936"/>
                    </a:cubicBezTo>
                    <a:cubicBezTo>
                      <a:pt x="122550" y="25936"/>
                      <a:pt x="125383" y="28980"/>
                      <a:pt x="125383" y="34651"/>
                    </a:cubicBezTo>
                    <a:lnTo>
                      <a:pt x="125383" y="41053"/>
                    </a:lnTo>
                    <a:cubicBezTo>
                      <a:pt x="109215" y="47565"/>
                      <a:pt x="107429" y="48403"/>
                      <a:pt x="102913" y="52395"/>
                    </a:cubicBezTo>
                    <a:cubicBezTo>
                      <a:pt x="100603" y="54495"/>
                      <a:pt x="99134" y="58067"/>
                      <a:pt x="99134" y="61532"/>
                    </a:cubicBezTo>
                    <a:cubicBezTo>
                      <a:pt x="99134" y="68143"/>
                      <a:pt x="103651" y="72767"/>
                      <a:pt x="110160" y="72767"/>
                    </a:cubicBezTo>
                    <a:cubicBezTo>
                      <a:pt x="114779" y="72767"/>
                      <a:pt x="119085" y="70560"/>
                      <a:pt x="125491" y="65099"/>
                    </a:cubicBezTo>
                    <a:cubicBezTo>
                      <a:pt x="126014" y="70664"/>
                      <a:pt x="127904" y="72767"/>
                      <a:pt x="132210" y="72767"/>
                    </a:cubicBezTo>
                    <a:cubicBezTo>
                      <a:pt x="135782" y="72767"/>
                      <a:pt x="137984" y="71505"/>
                      <a:pt x="141660" y="67516"/>
                    </a:cubicBezTo>
                    <a:close/>
                    <a:moveTo>
                      <a:pt x="125383" y="58801"/>
                    </a:moveTo>
                    <a:cubicBezTo>
                      <a:pt x="125383" y="62055"/>
                      <a:pt x="124860" y="63000"/>
                      <a:pt x="122653" y="64365"/>
                    </a:cubicBezTo>
                    <a:cubicBezTo>
                      <a:pt x="120133" y="65834"/>
                      <a:pt x="117196" y="66675"/>
                      <a:pt x="114990" y="66675"/>
                    </a:cubicBezTo>
                    <a:cubicBezTo>
                      <a:pt x="111314" y="66675"/>
                      <a:pt x="108374" y="63107"/>
                      <a:pt x="108374" y="58591"/>
                    </a:cubicBezTo>
                    <a:lnTo>
                      <a:pt x="108374" y="58170"/>
                    </a:lnTo>
                    <a:cubicBezTo>
                      <a:pt x="108374" y="51975"/>
                      <a:pt x="112680" y="48196"/>
                      <a:pt x="125383" y="43573"/>
                    </a:cubicBezTo>
                    <a:lnTo>
                      <a:pt x="125383" y="58801"/>
                    </a:lnTo>
                    <a:close/>
                    <a:moveTo>
                      <a:pt x="191228" y="45780"/>
                    </a:moveTo>
                    <a:cubicBezTo>
                      <a:pt x="191228" y="32758"/>
                      <a:pt x="183877" y="23416"/>
                      <a:pt x="173693" y="23416"/>
                    </a:cubicBezTo>
                    <a:cubicBezTo>
                      <a:pt x="167811" y="23416"/>
                      <a:pt x="163192" y="26039"/>
                      <a:pt x="158572" y="31710"/>
                    </a:cubicBezTo>
                    <a:lnTo>
                      <a:pt x="158572" y="23626"/>
                    </a:lnTo>
                    <a:lnTo>
                      <a:pt x="157941" y="23416"/>
                    </a:lnTo>
                    <a:cubicBezTo>
                      <a:pt x="152270" y="25618"/>
                      <a:pt x="148595" y="26984"/>
                      <a:pt x="142820" y="28769"/>
                    </a:cubicBezTo>
                    <a:lnTo>
                      <a:pt x="142820" y="30448"/>
                    </a:lnTo>
                    <a:cubicBezTo>
                      <a:pt x="143765" y="30345"/>
                      <a:pt x="144499" y="30345"/>
                      <a:pt x="145448" y="30345"/>
                    </a:cubicBezTo>
                    <a:cubicBezTo>
                      <a:pt x="149015" y="30345"/>
                      <a:pt x="149749" y="31393"/>
                      <a:pt x="149749" y="36330"/>
                    </a:cubicBezTo>
                    <a:lnTo>
                      <a:pt x="149749" y="85471"/>
                    </a:lnTo>
                    <a:cubicBezTo>
                      <a:pt x="149749" y="90932"/>
                      <a:pt x="148595" y="92087"/>
                      <a:pt x="142400" y="92714"/>
                    </a:cubicBezTo>
                    <a:lnTo>
                      <a:pt x="142400" y="94500"/>
                    </a:lnTo>
                    <a:lnTo>
                      <a:pt x="167811" y="94500"/>
                    </a:lnTo>
                    <a:lnTo>
                      <a:pt x="167811" y="92611"/>
                    </a:lnTo>
                    <a:cubicBezTo>
                      <a:pt x="159937" y="92508"/>
                      <a:pt x="158572" y="91353"/>
                      <a:pt x="158572" y="84737"/>
                    </a:cubicBezTo>
                    <a:lnTo>
                      <a:pt x="158572" y="68251"/>
                    </a:lnTo>
                    <a:cubicBezTo>
                      <a:pt x="162248" y="71715"/>
                      <a:pt x="164767" y="72767"/>
                      <a:pt x="169177" y="72767"/>
                    </a:cubicBezTo>
                    <a:cubicBezTo>
                      <a:pt x="181567" y="72767"/>
                      <a:pt x="191228" y="61004"/>
                      <a:pt x="191228" y="45780"/>
                    </a:cubicBezTo>
                    <a:close/>
                    <a:moveTo>
                      <a:pt x="182198" y="49875"/>
                    </a:moveTo>
                    <a:cubicBezTo>
                      <a:pt x="182198" y="61532"/>
                      <a:pt x="177051" y="69406"/>
                      <a:pt x="169490" y="69406"/>
                    </a:cubicBezTo>
                    <a:cubicBezTo>
                      <a:pt x="164558" y="69406"/>
                      <a:pt x="158572" y="65623"/>
                      <a:pt x="158572" y="62476"/>
                    </a:cubicBezTo>
                    <a:lnTo>
                      <a:pt x="158572" y="36643"/>
                    </a:lnTo>
                    <a:cubicBezTo>
                      <a:pt x="158572" y="33496"/>
                      <a:pt x="164450" y="29714"/>
                      <a:pt x="169280" y="29714"/>
                    </a:cubicBezTo>
                    <a:cubicBezTo>
                      <a:pt x="177051" y="29714"/>
                      <a:pt x="182198" y="37695"/>
                      <a:pt x="182198" y="49875"/>
                    </a:cubicBezTo>
                    <a:close/>
                    <a:moveTo>
                      <a:pt x="223681" y="64786"/>
                    </a:moveTo>
                    <a:lnTo>
                      <a:pt x="222316" y="63631"/>
                    </a:lnTo>
                    <a:cubicBezTo>
                      <a:pt x="220006" y="66361"/>
                      <a:pt x="218323" y="67306"/>
                      <a:pt x="216013" y="67306"/>
                    </a:cubicBezTo>
                    <a:cubicBezTo>
                      <a:pt x="212128" y="67306"/>
                      <a:pt x="210552" y="64576"/>
                      <a:pt x="210552" y="57857"/>
                    </a:cubicBezTo>
                    <a:lnTo>
                      <a:pt x="210552" y="27825"/>
                    </a:lnTo>
                    <a:lnTo>
                      <a:pt x="221160" y="27825"/>
                    </a:lnTo>
                    <a:lnTo>
                      <a:pt x="221160" y="24463"/>
                    </a:lnTo>
                    <a:lnTo>
                      <a:pt x="210552" y="24463"/>
                    </a:lnTo>
                    <a:lnTo>
                      <a:pt x="210552" y="12283"/>
                    </a:lnTo>
                    <a:cubicBezTo>
                      <a:pt x="210552" y="11236"/>
                      <a:pt x="210346" y="10918"/>
                      <a:pt x="209818" y="10918"/>
                    </a:cubicBezTo>
                    <a:cubicBezTo>
                      <a:pt x="209187" y="11970"/>
                      <a:pt x="208453" y="12914"/>
                      <a:pt x="207719" y="13859"/>
                    </a:cubicBezTo>
                    <a:cubicBezTo>
                      <a:pt x="203832" y="19633"/>
                      <a:pt x="200265" y="23519"/>
                      <a:pt x="197535" y="25094"/>
                    </a:cubicBezTo>
                    <a:cubicBezTo>
                      <a:pt x="196380" y="25829"/>
                      <a:pt x="195749" y="26460"/>
                      <a:pt x="195749" y="27091"/>
                    </a:cubicBezTo>
                    <a:cubicBezTo>
                      <a:pt x="195749" y="27404"/>
                      <a:pt x="195852" y="27614"/>
                      <a:pt x="196169" y="27825"/>
                    </a:cubicBezTo>
                    <a:lnTo>
                      <a:pt x="201733" y="27825"/>
                    </a:lnTo>
                    <a:lnTo>
                      <a:pt x="201733" y="59428"/>
                    </a:lnTo>
                    <a:cubicBezTo>
                      <a:pt x="201733" y="68251"/>
                      <a:pt x="204885" y="72767"/>
                      <a:pt x="210972" y="72767"/>
                    </a:cubicBezTo>
                    <a:cubicBezTo>
                      <a:pt x="216224" y="72767"/>
                      <a:pt x="220212" y="70247"/>
                      <a:pt x="223681" y="64786"/>
                    </a:cubicBezTo>
                    <a:close/>
                    <a:moveTo>
                      <a:pt x="250144" y="71715"/>
                    </a:moveTo>
                    <a:lnTo>
                      <a:pt x="250144" y="70140"/>
                    </a:lnTo>
                    <a:cubicBezTo>
                      <a:pt x="243215" y="69616"/>
                      <a:pt x="242373" y="68564"/>
                      <a:pt x="242373" y="61004"/>
                    </a:cubicBezTo>
                    <a:lnTo>
                      <a:pt x="242373" y="23729"/>
                    </a:lnTo>
                    <a:lnTo>
                      <a:pt x="241953" y="23416"/>
                    </a:lnTo>
                    <a:lnTo>
                      <a:pt x="225676" y="29190"/>
                    </a:lnTo>
                    <a:lnTo>
                      <a:pt x="225676" y="30766"/>
                    </a:lnTo>
                    <a:lnTo>
                      <a:pt x="226518" y="30659"/>
                    </a:lnTo>
                    <a:cubicBezTo>
                      <a:pt x="227777" y="30448"/>
                      <a:pt x="229142" y="30345"/>
                      <a:pt x="230086" y="30345"/>
                    </a:cubicBezTo>
                    <a:cubicBezTo>
                      <a:pt x="232607" y="30345"/>
                      <a:pt x="233550" y="32024"/>
                      <a:pt x="233550" y="36643"/>
                    </a:cubicBezTo>
                    <a:lnTo>
                      <a:pt x="233550" y="61004"/>
                    </a:lnTo>
                    <a:cubicBezTo>
                      <a:pt x="233550" y="68564"/>
                      <a:pt x="232503" y="69719"/>
                      <a:pt x="225256" y="70140"/>
                    </a:cubicBezTo>
                    <a:lnTo>
                      <a:pt x="225256" y="71715"/>
                    </a:lnTo>
                    <a:lnTo>
                      <a:pt x="250144" y="71715"/>
                    </a:lnTo>
                    <a:close/>
                    <a:moveTo>
                      <a:pt x="243318" y="5354"/>
                    </a:moveTo>
                    <a:cubicBezTo>
                      <a:pt x="243318" y="2413"/>
                      <a:pt x="241008" y="0"/>
                      <a:pt x="237964" y="0"/>
                    </a:cubicBezTo>
                    <a:cubicBezTo>
                      <a:pt x="235024" y="0"/>
                      <a:pt x="232607" y="2413"/>
                      <a:pt x="232607" y="5354"/>
                    </a:cubicBezTo>
                    <a:cubicBezTo>
                      <a:pt x="232607" y="8398"/>
                      <a:pt x="235024" y="10708"/>
                      <a:pt x="237964" y="10708"/>
                    </a:cubicBezTo>
                    <a:cubicBezTo>
                      <a:pt x="241008" y="10708"/>
                      <a:pt x="243318" y="8398"/>
                      <a:pt x="243318" y="5354"/>
                    </a:cubicBezTo>
                    <a:close/>
                    <a:moveTo>
                      <a:pt x="302857" y="26039"/>
                    </a:moveTo>
                    <a:lnTo>
                      <a:pt x="302857" y="24463"/>
                    </a:lnTo>
                    <a:lnTo>
                      <a:pt x="288265" y="24463"/>
                    </a:lnTo>
                    <a:lnTo>
                      <a:pt x="288265" y="26039"/>
                    </a:lnTo>
                    <a:cubicBezTo>
                      <a:pt x="291621" y="26353"/>
                      <a:pt x="293197" y="27404"/>
                      <a:pt x="293197" y="29400"/>
                    </a:cubicBezTo>
                    <a:cubicBezTo>
                      <a:pt x="293197" y="30448"/>
                      <a:pt x="292986" y="31500"/>
                      <a:pt x="292566" y="32548"/>
                    </a:cubicBezTo>
                    <a:lnTo>
                      <a:pt x="282172" y="59746"/>
                    </a:lnTo>
                    <a:lnTo>
                      <a:pt x="271460" y="32865"/>
                    </a:lnTo>
                    <a:cubicBezTo>
                      <a:pt x="270834" y="31393"/>
                      <a:pt x="270516" y="29924"/>
                      <a:pt x="270516" y="28980"/>
                    </a:cubicBezTo>
                    <a:cubicBezTo>
                      <a:pt x="270516" y="27091"/>
                      <a:pt x="271671" y="26353"/>
                      <a:pt x="275346" y="26039"/>
                    </a:cubicBezTo>
                    <a:lnTo>
                      <a:pt x="275346" y="24463"/>
                    </a:lnTo>
                    <a:lnTo>
                      <a:pt x="254768" y="24463"/>
                    </a:lnTo>
                    <a:lnTo>
                      <a:pt x="254768" y="26039"/>
                    </a:lnTo>
                    <a:cubicBezTo>
                      <a:pt x="258756" y="26249"/>
                      <a:pt x="259490" y="27301"/>
                      <a:pt x="264321" y="38116"/>
                    </a:cubicBezTo>
                    <a:lnTo>
                      <a:pt x="276921" y="68251"/>
                    </a:lnTo>
                    <a:cubicBezTo>
                      <a:pt x="277132" y="68882"/>
                      <a:pt x="277445" y="69616"/>
                      <a:pt x="277763" y="70457"/>
                    </a:cubicBezTo>
                    <a:cubicBezTo>
                      <a:pt x="278394" y="72346"/>
                      <a:pt x="279022" y="73184"/>
                      <a:pt x="279651" y="73184"/>
                    </a:cubicBezTo>
                    <a:cubicBezTo>
                      <a:pt x="280283" y="73184"/>
                      <a:pt x="281017" y="71818"/>
                      <a:pt x="282593" y="67937"/>
                    </a:cubicBezTo>
                    <a:lnTo>
                      <a:pt x="296031" y="34230"/>
                    </a:lnTo>
                    <a:cubicBezTo>
                      <a:pt x="299079" y="27091"/>
                      <a:pt x="299706" y="26353"/>
                      <a:pt x="302857" y="26039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" name="lag_outline_7"/>
              <p:cNvSpPr/>
              <p:nvPr/>
            </p:nvSpPr>
            <p:spPr>
              <a:xfrm>
                <a:off x="1981521" y="2920540"/>
                <a:ext cx="41897" cy="49351"/>
              </a:xfrm>
              <a:custGeom>
                <a:avLst/>
                <a:gdLst/>
                <a:ahLst/>
                <a:cxnLst/>
                <a:rect l="0" t="0" r="r" b="b"/>
                <a:pathLst>
                  <a:path w="41897" h="49351">
                    <a:moveTo>
                      <a:pt x="41897" y="31814"/>
                    </a:moveTo>
                    <a:lnTo>
                      <a:pt x="40220" y="31079"/>
                    </a:lnTo>
                    <a:cubicBezTo>
                      <a:pt x="35179" y="39060"/>
                      <a:pt x="30663" y="42104"/>
                      <a:pt x="23943" y="42104"/>
                    </a:cubicBezTo>
                    <a:cubicBezTo>
                      <a:pt x="18169" y="42104"/>
                      <a:pt x="13755" y="39374"/>
                      <a:pt x="10711" y="33703"/>
                    </a:cubicBezTo>
                    <a:cubicBezTo>
                      <a:pt x="8612" y="29611"/>
                      <a:pt x="7771" y="25936"/>
                      <a:pt x="7560" y="19213"/>
                    </a:cubicBezTo>
                    <a:lnTo>
                      <a:pt x="39902" y="19213"/>
                    </a:lnTo>
                    <a:cubicBezTo>
                      <a:pt x="39064" y="12391"/>
                      <a:pt x="38012" y="9343"/>
                      <a:pt x="35389" y="5985"/>
                    </a:cubicBezTo>
                    <a:cubicBezTo>
                      <a:pt x="32238" y="2203"/>
                      <a:pt x="27408" y="0"/>
                      <a:pt x="21947" y="0"/>
                    </a:cubicBezTo>
                    <a:cubicBezTo>
                      <a:pt x="8926" y="0"/>
                      <a:pt x="0" y="10497"/>
                      <a:pt x="0" y="25829"/>
                    </a:cubicBezTo>
                    <a:cubicBezTo>
                      <a:pt x="0" y="40319"/>
                      <a:pt x="7560" y="49351"/>
                      <a:pt x="19637" y="49351"/>
                    </a:cubicBezTo>
                    <a:cubicBezTo>
                      <a:pt x="29718" y="49351"/>
                      <a:pt x="37489" y="43156"/>
                      <a:pt x="41897" y="31814"/>
                    </a:cubicBezTo>
                    <a:close/>
                    <a:moveTo>
                      <a:pt x="29193" y="15855"/>
                    </a:moveTo>
                    <a:lnTo>
                      <a:pt x="7771" y="15855"/>
                    </a:lnTo>
                    <a:cubicBezTo>
                      <a:pt x="8926" y="7560"/>
                      <a:pt x="12497" y="3778"/>
                      <a:pt x="18903" y="3778"/>
                    </a:cubicBezTo>
                    <a:cubicBezTo>
                      <a:pt x="25309" y="3778"/>
                      <a:pt x="27828" y="6719"/>
                      <a:pt x="29193" y="15855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44" name="finite"/>
            <p:cNvGrpSpPr/>
            <p:nvPr/>
          </p:nvGrpSpPr>
          <p:grpSpPr>
            <a:xfrm>
              <a:off x="2379824" y="2913439"/>
              <a:ext cx="305906" cy="72869"/>
              <a:chOff x="2379824" y="2913439"/>
              <a:chExt cx="305906" cy="72869"/>
            </a:xfrm>
          </p:grpSpPr>
          <p:sp>
            <p:nvSpPr>
              <p:cNvPr id="145" name="finite_outline_0"/>
              <p:cNvSpPr/>
              <p:nvPr/>
            </p:nvSpPr>
            <p:spPr>
              <a:xfrm>
                <a:off x="2379824" y="2913439"/>
                <a:ext cx="210551" cy="72766"/>
              </a:xfrm>
              <a:custGeom>
                <a:avLst/>
                <a:gdLst/>
                <a:ahLst/>
                <a:cxnLst/>
                <a:rect l="0" t="0" r="r" b="b"/>
                <a:pathLst>
                  <a:path w="210551" h="72767">
                    <a:moveTo>
                      <a:pt x="51451" y="71715"/>
                    </a:moveTo>
                    <a:lnTo>
                      <a:pt x="51451" y="70140"/>
                    </a:lnTo>
                    <a:cubicBezTo>
                      <a:pt x="45573" y="69616"/>
                      <a:pt x="44418" y="68251"/>
                      <a:pt x="44418" y="61531"/>
                    </a:cubicBezTo>
                    <a:lnTo>
                      <a:pt x="44418" y="34020"/>
                    </a:lnTo>
                    <a:lnTo>
                      <a:pt x="44629" y="23729"/>
                    </a:lnTo>
                    <a:lnTo>
                      <a:pt x="44208" y="23416"/>
                    </a:lnTo>
                    <a:cubicBezTo>
                      <a:pt x="39588" y="24150"/>
                      <a:pt x="36540" y="24463"/>
                      <a:pt x="32341" y="24463"/>
                    </a:cubicBezTo>
                    <a:lnTo>
                      <a:pt x="15855" y="24463"/>
                    </a:lnTo>
                    <a:lnTo>
                      <a:pt x="15855" y="19951"/>
                    </a:lnTo>
                    <a:lnTo>
                      <a:pt x="15855" y="19320"/>
                    </a:lnTo>
                    <a:cubicBezTo>
                      <a:pt x="15645" y="14593"/>
                      <a:pt x="16276" y="10604"/>
                      <a:pt x="17641" y="8084"/>
                    </a:cubicBezTo>
                    <a:cubicBezTo>
                      <a:pt x="19427" y="4830"/>
                      <a:pt x="23205" y="2623"/>
                      <a:pt x="26987" y="2623"/>
                    </a:cubicBezTo>
                    <a:cubicBezTo>
                      <a:pt x="29928" y="2623"/>
                      <a:pt x="31921" y="3989"/>
                      <a:pt x="34441" y="7560"/>
                    </a:cubicBezTo>
                    <a:cubicBezTo>
                      <a:pt x="36437" y="10497"/>
                      <a:pt x="37802" y="11446"/>
                      <a:pt x="39588" y="11446"/>
                    </a:cubicBezTo>
                    <a:cubicBezTo>
                      <a:pt x="41791" y="11446"/>
                      <a:pt x="43367" y="9763"/>
                      <a:pt x="43367" y="7350"/>
                    </a:cubicBezTo>
                    <a:cubicBezTo>
                      <a:pt x="43367" y="2834"/>
                      <a:pt x="38116" y="0"/>
                      <a:pt x="30032" y="0"/>
                    </a:cubicBezTo>
                    <a:cubicBezTo>
                      <a:pt x="22050" y="0"/>
                      <a:pt x="15962" y="2623"/>
                      <a:pt x="12180" y="7874"/>
                    </a:cubicBezTo>
                    <a:cubicBezTo>
                      <a:pt x="9033" y="12283"/>
                      <a:pt x="7874" y="16066"/>
                      <a:pt x="7247" y="24463"/>
                    </a:cubicBezTo>
                    <a:lnTo>
                      <a:pt x="0" y="24463"/>
                    </a:lnTo>
                    <a:lnTo>
                      <a:pt x="0" y="27928"/>
                    </a:lnTo>
                    <a:lnTo>
                      <a:pt x="7140" y="27928"/>
                    </a:lnTo>
                    <a:lnTo>
                      <a:pt x="7140" y="61845"/>
                    </a:lnTo>
                    <a:cubicBezTo>
                      <a:pt x="7140" y="68564"/>
                      <a:pt x="5985" y="69929"/>
                      <a:pt x="107" y="70140"/>
                    </a:cubicBezTo>
                    <a:lnTo>
                      <a:pt x="107" y="71715"/>
                    </a:lnTo>
                    <a:lnTo>
                      <a:pt x="23205" y="71715"/>
                    </a:lnTo>
                    <a:lnTo>
                      <a:pt x="23205" y="70140"/>
                    </a:lnTo>
                    <a:cubicBezTo>
                      <a:pt x="17328" y="69719"/>
                      <a:pt x="15962" y="68251"/>
                      <a:pt x="15962" y="62476"/>
                    </a:cubicBezTo>
                    <a:lnTo>
                      <a:pt x="15962" y="27928"/>
                    </a:lnTo>
                    <a:lnTo>
                      <a:pt x="24991" y="27928"/>
                    </a:lnTo>
                    <a:cubicBezTo>
                      <a:pt x="35072" y="27928"/>
                      <a:pt x="35596" y="28246"/>
                      <a:pt x="35596" y="33810"/>
                    </a:cubicBezTo>
                    <a:lnTo>
                      <a:pt x="35596" y="61531"/>
                    </a:lnTo>
                    <a:cubicBezTo>
                      <a:pt x="35596" y="68671"/>
                      <a:pt x="34861" y="69616"/>
                      <a:pt x="28353" y="70140"/>
                    </a:cubicBezTo>
                    <a:lnTo>
                      <a:pt x="28353" y="71715"/>
                    </a:lnTo>
                    <a:lnTo>
                      <a:pt x="51451" y="71715"/>
                    </a:lnTo>
                    <a:close/>
                    <a:moveTo>
                      <a:pt x="106061" y="71715"/>
                    </a:moveTo>
                    <a:lnTo>
                      <a:pt x="106061" y="70140"/>
                    </a:lnTo>
                    <a:cubicBezTo>
                      <a:pt x="100913" y="69616"/>
                      <a:pt x="99655" y="68354"/>
                      <a:pt x="99655" y="63210"/>
                    </a:cubicBezTo>
                    <a:lnTo>
                      <a:pt x="99655" y="39164"/>
                    </a:lnTo>
                    <a:cubicBezTo>
                      <a:pt x="99655" y="29293"/>
                      <a:pt x="95036" y="23416"/>
                      <a:pt x="87265" y="23416"/>
                    </a:cubicBezTo>
                    <a:cubicBezTo>
                      <a:pt x="82435" y="23416"/>
                      <a:pt x="79181" y="25198"/>
                      <a:pt x="72041" y="31921"/>
                    </a:cubicBezTo>
                    <a:lnTo>
                      <a:pt x="72041" y="23626"/>
                    </a:lnTo>
                    <a:lnTo>
                      <a:pt x="71303" y="23416"/>
                    </a:lnTo>
                    <a:cubicBezTo>
                      <a:pt x="66159" y="25305"/>
                      <a:pt x="62587" y="26460"/>
                      <a:pt x="56813" y="28138"/>
                    </a:cubicBezTo>
                    <a:lnTo>
                      <a:pt x="56813" y="29924"/>
                    </a:lnTo>
                    <a:cubicBezTo>
                      <a:pt x="57444" y="29611"/>
                      <a:pt x="58495" y="29504"/>
                      <a:pt x="59650" y="29504"/>
                    </a:cubicBezTo>
                    <a:cubicBezTo>
                      <a:pt x="62587" y="29504"/>
                      <a:pt x="63536" y="31079"/>
                      <a:pt x="63536" y="36223"/>
                    </a:cubicBezTo>
                    <a:lnTo>
                      <a:pt x="63536" y="62266"/>
                    </a:lnTo>
                    <a:cubicBezTo>
                      <a:pt x="63536" y="68251"/>
                      <a:pt x="62381" y="69719"/>
                      <a:pt x="57023" y="70140"/>
                    </a:cubicBezTo>
                    <a:lnTo>
                      <a:pt x="57023" y="71715"/>
                    </a:lnTo>
                    <a:lnTo>
                      <a:pt x="79284" y="71715"/>
                    </a:lnTo>
                    <a:lnTo>
                      <a:pt x="79284" y="70140"/>
                    </a:lnTo>
                    <a:cubicBezTo>
                      <a:pt x="73930" y="69719"/>
                      <a:pt x="72354" y="68461"/>
                      <a:pt x="72354" y="64679"/>
                    </a:cubicBezTo>
                    <a:lnTo>
                      <a:pt x="72354" y="35175"/>
                    </a:lnTo>
                    <a:cubicBezTo>
                      <a:pt x="77395" y="30448"/>
                      <a:pt x="79704" y="29190"/>
                      <a:pt x="83169" y="29190"/>
                    </a:cubicBezTo>
                    <a:cubicBezTo>
                      <a:pt x="88317" y="29190"/>
                      <a:pt x="90833" y="32444"/>
                      <a:pt x="90833" y="39374"/>
                    </a:cubicBezTo>
                    <a:lnTo>
                      <a:pt x="90833" y="61321"/>
                    </a:lnTo>
                    <a:cubicBezTo>
                      <a:pt x="90833" y="67937"/>
                      <a:pt x="89471" y="69719"/>
                      <a:pt x="84221" y="70140"/>
                    </a:cubicBezTo>
                    <a:lnTo>
                      <a:pt x="84221" y="71715"/>
                    </a:lnTo>
                    <a:lnTo>
                      <a:pt x="106061" y="71715"/>
                    </a:lnTo>
                    <a:close/>
                    <a:moveTo>
                      <a:pt x="134208" y="71715"/>
                    </a:moveTo>
                    <a:lnTo>
                      <a:pt x="134208" y="70140"/>
                    </a:lnTo>
                    <a:cubicBezTo>
                      <a:pt x="127279" y="69616"/>
                      <a:pt x="126438" y="68564"/>
                      <a:pt x="126438" y="61004"/>
                    </a:cubicBezTo>
                    <a:lnTo>
                      <a:pt x="126438" y="23729"/>
                    </a:lnTo>
                    <a:lnTo>
                      <a:pt x="126016" y="23416"/>
                    </a:lnTo>
                    <a:lnTo>
                      <a:pt x="109741" y="29190"/>
                    </a:lnTo>
                    <a:lnTo>
                      <a:pt x="109741" y="30766"/>
                    </a:lnTo>
                    <a:lnTo>
                      <a:pt x="110582" y="30659"/>
                    </a:lnTo>
                    <a:cubicBezTo>
                      <a:pt x="111840" y="30448"/>
                      <a:pt x="113206" y="30345"/>
                      <a:pt x="114150" y="30345"/>
                    </a:cubicBezTo>
                    <a:cubicBezTo>
                      <a:pt x="116670" y="30345"/>
                      <a:pt x="117615" y="32024"/>
                      <a:pt x="117615" y="36643"/>
                    </a:cubicBezTo>
                    <a:lnTo>
                      <a:pt x="117615" y="61004"/>
                    </a:lnTo>
                    <a:cubicBezTo>
                      <a:pt x="117615" y="68564"/>
                      <a:pt x="116567" y="69719"/>
                      <a:pt x="109320" y="70140"/>
                    </a:cubicBezTo>
                    <a:lnTo>
                      <a:pt x="109320" y="71715"/>
                    </a:lnTo>
                    <a:lnTo>
                      <a:pt x="134208" y="71715"/>
                    </a:lnTo>
                    <a:close/>
                    <a:moveTo>
                      <a:pt x="127382" y="5354"/>
                    </a:moveTo>
                    <a:cubicBezTo>
                      <a:pt x="127382" y="2413"/>
                      <a:pt x="125073" y="0"/>
                      <a:pt x="122028" y="0"/>
                    </a:cubicBezTo>
                    <a:cubicBezTo>
                      <a:pt x="119087" y="0"/>
                      <a:pt x="116670" y="2413"/>
                      <a:pt x="116670" y="5354"/>
                    </a:cubicBezTo>
                    <a:cubicBezTo>
                      <a:pt x="116670" y="8398"/>
                      <a:pt x="119087" y="10708"/>
                      <a:pt x="122028" y="10708"/>
                    </a:cubicBezTo>
                    <a:cubicBezTo>
                      <a:pt x="125073" y="10708"/>
                      <a:pt x="127382" y="8398"/>
                      <a:pt x="127382" y="5354"/>
                    </a:cubicBezTo>
                    <a:close/>
                    <a:moveTo>
                      <a:pt x="166133" y="64786"/>
                    </a:moveTo>
                    <a:lnTo>
                      <a:pt x="164768" y="63631"/>
                    </a:lnTo>
                    <a:cubicBezTo>
                      <a:pt x="162458" y="66361"/>
                      <a:pt x="160775" y="67306"/>
                      <a:pt x="158465" y="67306"/>
                    </a:cubicBezTo>
                    <a:cubicBezTo>
                      <a:pt x="154580" y="67306"/>
                      <a:pt x="153004" y="64575"/>
                      <a:pt x="153004" y="57856"/>
                    </a:cubicBezTo>
                    <a:lnTo>
                      <a:pt x="153004" y="27825"/>
                    </a:lnTo>
                    <a:lnTo>
                      <a:pt x="163612" y="27825"/>
                    </a:lnTo>
                    <a:lnTo>
                      <a:pt x="163612" y="24463"/>
                    </a:lnTo>
                    <a:lnTo>
                      <a:pt x="153004" y="24463"/>
                    </a:lnTo>
                    <a:lnTo>
                      <a:pt x="153004" y="12283"/>
                    </a:lnTo>
                    <a:cubicBezTo>
                      <a:pt x="153004" y="11235"/>
                      <a:pt x="152798" y="10918"/>
                      <a:pt x="152270" y="10918"/>
                    </a:cubicBezTo>
                    <a:cubicBezTo>
                      <a:pt x="151639" y="11970"/>
                      <a:pt x="150905" y="12914"/>
                      <a:pt x="150170" y="13859"/>
                    </a:cubicBezTo>
                    <a:cubicBezTo>
                      <a:pt x="146286" y="19633"/>
                      <a:pt x="142717" y="23519"/>
                      <a:pt x="139986" y="25094"/>
                    </a:cubicBezTo>
                    <a:cubicBezTo>
                      <a:pt x="138832" y="25829"/>
                      <a:pt x="138201" y="26460"/>
                      <a:pt x="138201" y="27091"/>
                    </a:cubicBezTo>
                    <a:cubicBezTo>
                      <a:pt x="138201" y="27404"/>
                      <a:pt x="138304" y="27614"/>
                      <a:pt x="138621" y="27825"/>
                    </a:cubicBezTo>
                    <a:lnTo>
                      <a:pt x="144186" y="27825"/>
                    </a:lnTo>
                    <a:lnTo>
                      <a:pt x="144186" y="59428"/>
                    </a:lnTo>
                    <a:cubicBezTo>
                      <a:pt x="144186" y="68251"/>
                      <a:pt x="147337" y="72767"/>
                      <a:pt x="153425" y="72767"/>
                    </a:cubicBezTo>
                    <a:cubicBezTo>
                      <a:pt x="158676" y="72767"/>
                      <a:pt x="162665" y="70247"/>
                      <a:pt x="166133" y="64786"/>
                    </a:cubicBezTo>
                    <a:close/>
                    <a:moveTo>
                      <a:pt x="210551" y="55229"/>
                    </a:moveTo>
                    <a:lnTo>
                      <a:pt x="208872" y="54495"/>
                    </a:lnTo>
                    <a:cubicBezTo>
                      <a:pt x="203832" y="62476"/>
                      <a:pt x="199316" y="65520"/>
                      <a:pt x="192596" y="65520"/>
                    </a:cubicBezTo>
                    <a:cubicBezTo>
                      <a:pt x="186821" y="65520"/>
                      <a:pt x="182408" y="62790"/>
                      <a:pt x="179365" y="57118"/>
                    </a:cubicBezTo>
                    <a:cubicBezTo>
                      <a:pt x="177265" y="53026"/>
                      <a:pt x="176424" y="49351"/>
                      <a:pt x="176213" y="42628"/>
                    </a:cubicBezTo>
                    <a:lnTo>
                      <a:pt x="208555" y="42628"/>
                    </a:lnTo>
                    <a:cubicBezTo>
                      <a:pt x="207718" y="35806"/>
                      <a:pt x="206665" y="32758"/>
                      <a:pt x="204043" y="29401"/>
                    </a:cubicBezTo>
                    <a:cubicBezTo>
                      <a:pt x="200892" y="25618"/>
                      <a:pt x="196061" y="23416"/>
                      <a:pt x="190600" y="23416"/>
                    </a:cubicBezTo>
                    <a:cubicBezTo>
                      <a:pt x="177578" y="23416"/>
                      <a:pt x="168653" y="33913"/>
                      <a:pt x="168653" y="49244"/>
                    </a:cubicBezTo>
                    <a:cubicBezTo>
                      <a:pt x="168653" y="63734"/>
                      <a:pt x="176213" y="72767"/>
                      <a:pt x="188291" y="72767"/>
                    </a:cubicBezTo>
                    <a:cubicBezTo>
                      <a:pt x="198371" y="72767"/>
                      <a:pt x="206142" y="66572"/>
                      <a:pt x="210551" y="55229"/>
                    </a:cubicBezTo>
                    <a:close/>
                    <a:moveTo>
                      <a:pt x="197848" y="39271"/>
                    </a:moveTo>
                    <a:lnTo>
                      <a:pt x="176424" y="39271"/>
                    </a:lnTo>
                    <a:cubicBezTo>
                      <a:pt x="177578" y="30976"/>
                      <a:pt x="181151" y="27194"/>
                      <a:pt x="187557" y="27194"/>
                    </a:cubicBezTo>
                    <a:cubicBezTo>
                      <a:pt x="193961" y="27194"/>
                      <a:pt x="196482" y="30135"/>
                      <a:pt x="197848" y="39271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" name="finite_outline_1"/>
              <p:cNvSpPr/>
              <p:nvPr/>
            </p:nvSpPr>
            <p:spPr>
              <a:xfrm>
                <a:off x="2630605" y="2938846"/>
                <a:ext cx="55125" cy="47462"/>
              </a:xfrm>
              <a:custGeom>
                <a:avLst/>
                <a:gdLst/>
                <a:ahLst/>
                <a:cxnLst/>
                <a:rect l="0" t="0" r="r" b="b"/>
                <a:pathLst>
                  <a:path w="55126" h="47462">
                    <a:moveTo>
                      <a:pt x="55126" y="8612"/>
                    </a:moveTo>
                    <a:cubicBezTo>
                      <a:pt x="55126" y="1683"/>
                      <a:pt x="40005" y="0"/>
                      <a:pt x="33917" y="0"/>
                    </a:cubicBezTo>
                    <a:cubicBezTo>
                      <a:pt x="24888" y="0"/>
                      <a:pt x="10815" y="3362"/>
                      <a:pt x="10815" y="13125"/>
                    </a:cubicBezTo>
                    <a:cubicBezTo>
                      <a:pt x="10815" y="17959"/>
                      <a:pt x="15855" y="21003"/>
                      <a:pt x="21630" y="21737"/>
                    </a:cubicBezTo>
                    <a:lnTo>
                      <a:pt x="21630" y="22158"/>
                    </a:lnTo>
                    <a:cubicBezTo>
                      <a:pt x="12498" y="23102"/>
                      <a:pt x="0" y="27619"/>
                      <a:pt x="0" y="35913"/>
                    </a:cubicBezTo>
                    <a:cubicBezTo>
                      <a:pt x="0" y="45573"/>
                      <a:pt x="12811" y="47462"/>
                      <a:pt x="21947" y="47462"/>
                    </a:cubicBezTo>
                    <a:cubicBezTo>
                      <a:pt x="31083" y="47462"/>
                      <a:pt x="41370" y="45049"/>
                      <a:pt x="47252" y="38747"/>
                    </a:cubicBezTo>
                    <a:cubicBezTo>
                      <a:pt x="48407" y="37382"/>
                      <a:pt x="49772" y="35806"/>
                      <a:pt x="49772" y="34020"/>
                    </a:cubicBezTo>
                    <a:cubicBezTo>
                      <a:pt x="49772" y="32762"/>
                      <a:pt x="48510" y="31397"/>
                      <a:pt x="47042" y="31397"/>
                    </a:cubicBezTo>
                    <a:cubicBezTo>
                      <a:pt x="41267" y="31397"/>
                      <a:pt x="40112" y="44629"/>
                      <a:pt x="24150" y="44629"/>
                    </a:cubicBezTo>
                    <a:cubicBezTo>
                      <a:pt x="17955" y="44629"/>
                      <a:pt x="13232" y="42632"/>
                      <a:pt x="13232" y="36751"/>
                    </a:cubicBezTo>
                    <a:cubicBezTo>
                      <a:pt x="13232" y="31083"/>
                      <a:pt x="17328" y="24678"/>
                      <a:pt x="24781" y="24678"/>
                    </a:cubicBezTo>
                    <a:cubicBezTo>
                      <a:pt x="28246" y="24678"/>
                      <a:pt x="31397" y="25833"/>
                      <a:pt x="34861" y="25833"/>
                    </a:cubicBezTo>
                    <a:cubicBezTo>
                      <a:pt x="37695" y="25833"/>
                      <a:pt x="40005" y="25098"/>
                      <a:pt x="40005" y="22368"/>
                    </a:cubicBezTo>
                    <a:cubicBezTo>
                      <a:pt x="40005" y="19951"/>
                      <a:pt x="38326" y="19637"/>
                      <a:pt x="36016" y="19637"/>
                    </a:cubicBezTo>
                    <a:cubicBezTo>
                      <a:pt x="33393" y="19637"/>
                      <a:pt x="31083" y="19951"/>
                      <a:pt x="28563" y="19951"/>
                    </a:cubicBezTo>
                    <a:cubicBezTo>
                      <a:pt x="24360" y="19951"/>
                      <a:pt x="22578" y="18375"/>
                      <a:pt x="22578" y="14597"/>
                    </a:cubicBezTo>
                    <a:cubicBezTo>
                      <a:pt x="22578" y="8715"/>
                      <a:pt x="27722" y="2838"/>
                      <a:pt x="34548" y="2838"/>
                    </a:cubicBezTo>
                    <a:cubicBezTo>
                      <a:pt x="44629" y="2838"/>
                      <a:pt x="43577" y="12708"/>
                      <a:pt x="50296" y="12708"/>
                    </a:cubicBezTo>
                    <a:cubicBezTo>
                      <a:pt x="53026" y="12708"/>
                      <a:pt x="55126" y="11236"/>
                      <a:pt x="55126" y="8612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47" name="lp"/>
            <p:cNvGrpSpPr/>
            <p:nvPr/>
          </p:nvGrpSpPr>
          <p:grpSpPr>
            <a:xfrm>
              <a:off x="3035328" y="2913302"/>
              <a:ext cx="275982" cy="72449"/>
              <a:chOff x="3035328" y="2913302"/>
              <a:chExt cx="275982" cy="72449"/>
            </a:xfrm>
          </p:grpSpPr>
          <p:sp>
            <p:nvSpPr>
              <p:cNvPr id="148" name="lp_outline_0"/>
              <p:cNvSpPr/>
              <p:nvPr/>
            </p:nvSpPr>
            <p:spPr>
              <a:xfrm>
                <a:off x="3035328" y="2937976"/>
                <a:ext cx="55125" cy="47462"/>
              </a:xfrm>
              <a:custGeom>
                <a:avLst/>
                <a:gdLst/>
                <a:ahLst/>
                <a:cxnLst/>
                <a:rect l="0" t="0" r="r" b="b"/>
                <a:pathLst>
                  <a:path w="55126" h="47462">
                    <a:moveTo>
                      <a:pt x="55126" y="8612"/>
                    </a:moveTo>
                    <a:cubicBezTo>
                      <a:pt x="55126" y="1683"/>
                      <a:pt x="40005" y="0"/>
                      <a:pt x="33917" y="0"/>
                    </a:cubicBezTo>
                    <a:cubicBezTo>
                      <a:pt x="24888" y="0"/>
                      <a:pt x="10815" y="3362"/>
                      <a:pt x="10815" y="13125"/>
                    </a:cubicBezTo>
                    <a:cubicBezTo>
                      <a:pt x="10815" y="17959"/>
                      <a:pt x="15855" y="21003"/>
                      <a:pt x="21630" y="21737"/>
                    </a:cubicBezTo>
                    <a:lnTo>
                      <a:pt x="21630" y="22158"/>
                    </a:lnTo>
                    <a:cubicBezTo>
                      <a:pt x="12498" y="23102"/>
                      <a:pt x="0" y="27619"/>
                      <a:pt x="0" y="35913"/>
                    </a:cubicBezTo>
                    <a:cubicBezTo>
                      <a:pt x="0" y="45573"/>
                      <a:pt x="12811" y="47462"/>
                      <a:pt x="21947" y="47462"/>
                    </a:cubicBezTo>
                    <a:cubicBezTo>
                      <a:pt x="31083" y="47462"/>
                      <a:pt x="41370" y="45049"/>
                      <a:pt x="47252" y="38747"/>
                    </a:cubicBezTo>
                    <a:cubicBezTo>
                      <a:pt x="48407" y="37382"/>
                      <a:pt x="49772" y="35806"/>
                      <a:pt x="49772" y="34020"/>
                    </a:cubicBezTo>
                    <a:cubicBezTo>
                      <a:pt x="49772" y="32762"/>
                      <a:pt x="48510" y="31397"/>
                      <a:pt x="47042" y="31397"/>
                    </a:cubicBezTo>
                    <a:cubicBezTo>
                      <a:pt x="41267" y="31397"/>
                      <a:pt x="40112" y="44629"/>
                      <a:pt x="24150" y="44629"/>
                    </a:cubicBezTo>
                    <a:cubicBezTo>
                      <a:pt x="17955" y="44629"/>
                      <a:pt x="13232" y="42632"/>
                      <a:pt x="13232" y="36751"/>
                    </a:cubicBezTo>
                    <a:cubicBezTo>
                      <a:pt x="13232" y="31083"/>
                      <a:pt x="17328" y="24678"/>
                      <a:pt x="24781" y="24678"/>
                    </a:cubicBezTo>
                    <a:cubicBezTo>
                      <a:pt x="28246" y="24678"/>
                      <a:pt x="31397" y="25833"/>
                      <a:pt x="34861" y="25833"/>
                    </a:cubicBezTo>
                    <a:cubicBezTo>
                      <a:pt x="37695" y="25833"/>
                      <a:pt x="40005" y="25098"/>
                      <a:pt x="40005" y="22368"/>
                    </a:cubicBezTo>
                    <a:cubicBezTo>
                      <a:pt x="40005" y="19951"/>
                      <a:pt x="38326" y="19637"/>
                      <a:pt x="36016" y="19637"/>
                    </a:cubicBezTo>
                    <a:cubicBezTo>
                      <a:pt x="33393" y="19637"/>
                      <a:pt x="31083" y="19951"/>
                      <a:pt x="28563" y="19951"/>
                    </a:cubicBezTo>
                    <a:cubicBezTo>
                      <a:pt x="24360" y="19951"/>
                      <a:pt x="22578" y="18375"/>
                      <a:pt x="22578" y="14597"/>
                    </a:cubicBezTo>
                    <a:cubicBezTo>
                      <a:pt x="22578" y="8715"/>
                      <a:pt x="27722" y="2838"/>
                      <a:pt x="34548" y="2838"/>
                    </a:cubicBezTo>
                    <a:cubicBezTo>
                      <a:pt x="44629" y="2838"/>
                      <a:pt x="43577" y="12708"/>
                      <a:pt x="50296" y="12708"/>
                    </a:cubicBezTo>
                    <a:cubicBezTo>
                      <a:pt x="53027" y="12708"/>
                      <a:pt x="55126" y="11236"/>
                      <a:pt x="55126" y="8612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" name="lp_outline_1"/>
              <p:cNvSpPr/>
              <p:nvPr/>
            </p:nvSpPr>
            <p:spPr>
              <a:xfrm>
                <a:off x="3131133" y="2935773"/>
                <a:ext cx="94503" cy="43048"/>
              </a:xfrm>
              <a:custGeom>
                <a:avLst/>
                <a:gdLst/>
                <a:ahLst/>
                <a:cxnLst/>
                <a:rect l="0" t="0" r="r" b="b"/>
                <a:pathLst>
                  <a:path w="94504" h="43049">
                    <a:moveTo>
                      <a:pt x="94504" y="21419"/>
                    </a:moveTo>
                    <a:lnTo>
                      <a:pt x="73922" y="0"/>
                    </a:lnTo>
                    <a:lnTo>
                      <a:pt x="70668" y="3465"/>
                    </a:lnTo>
                    <a:lnTo>
                      <a:pt x="83165" y="18586"/>
                    </a:lnTo>
                    <a:lnTo>
                      <a:pt x="0" y="18586"/>
                    </a:lnTo>
                    <a:lnTo>
                      <a:pt x="0" y="24463"/>
                    </a:lnTo>
                    <a:lnTo>
                      <a:pt x="83165" y="24463"/>
                    </a:lnTo>
                    <a:lnTo>
                      <a:pt x="70668" y="39584"/>
                    </a:lnTo>
                    <a:lnTo>
                      <a:pt x="73922" y="43049"/>
                    </a:lnTo>
                    <a:lnTo>
                      <a:pt x="94504" y="21419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" name="lp_outline_2"/>
              <p:cNvSpPr/>
              <p:nvPr/>
            </p:nvSpPr>
            <p:spPr>
              <a:xfrm>
                <a:off x="3263848" y="2913302"/>
                <a:ext cx="47462" cy="72449"/>
              </a:xfrm>
              <a:custGeom>
                <a:avLst/>
                <a:gdLst/>
                <a:ahLst/>
                <a:cxnLst/>
                <a:rect l="0" t="0" r="r" b="b"/>
                <a:pathLst>
                  <a:path w="47462" h="72450">
                    <a:moveTo>
                      <a:pt x="47462" y="36330"/>
                    </a:moveTo>
                    <a:cubicBezTo>
                      <a:pt x="47462" y="14804"/>
                      <a:pt x="37906" y="0"/>
                      <a:pt x="24150" y="0"/>
                    </a:cubicBezTo>
                    <a:cubicBezTo>
                      <a:pt x="18375" y="0"/>
                      <a:pt x="13966" y="1786"/>
                      <a:pt x="10081" y="5461"/>
                    </a:cubicBezTo>
                    <a:cubicBezTo>
                      <a:pt x="3989" y="11339"/>
                      <a:pt x="0" y="23416"/>
                      <a:pt x="0" y="35699"/>
                    </a:cubicBezTo>
                    <a:cubicBezTo>
                      <a:pt x="0" y="47145"/>
                      <a:pt x="3465" y="59432"/>
                      <a:pt x="8402" y="65310"/>
                    </a:cubicBezTo>
                    <a:cubicBezTo>
                      <a:pt x="12283" y="69929"/>
                      <a:pt x="17641" y="72450"/>
                      <a:pt x="23729" y="72450"/>
                    </a:cubicBezTo>
                    <a:cubicBezTo>
                      <a:pt x="29087" y="72450"/>
                      <a:pt x="33599" y="70668"/>
                      <a:pt x="37382" y="66993"/>
                    </a:cubicBezTo>
                    <a:cubicBezTo>
                      <a:pt x="43470" y="61214"/>
                      <a:pt x="47462" y="49034"/>
                      <a:pt x="47462" y="36330"/>
                    </a:cubicBezTo>
                    <a:close/>
                    <a:moveTo>
                      <a:pt x="37382" y="36540"/>
                    </a:moveTo>
                    <a:cubicBezTo>
                      <a:pt x="37382" y="58487"/>
                      <a:pt x="32762" y="69723"/>
                      <a:pt x="23729" y="69723"/>
                    </a:cubicBezTo>
                    <a:cubicBezTo>
                      <a:pt x="14700" y="69723"/>
                      <a:pt x="10081" y="58487"/>
                      <a:pt x="10081" y="36643"/>
                    </a:cubicBezTo>
                    <a:cubicBezTo>
                      <a:pt x="10081" y="14387"/>
                      <a:pt x="14803" y="2730"/>
                      <a:pt x="23836" y="2730"/>
                    </a:cubicBezTo>
                    <a:cubicBezTo>
                      <a:pt x="32655" y="2730"/>
                      <a:pt x="37382" y="14593"/>
                      <a:pt x="37382" y="36540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51" name="active_setting"/>
            <p:cNvGrpSpPr/>
            <p:nvPr/>
          </p:nvGrpSpPr>
          <p:grpSpPr>
            <a:xfrm>
              <a:off x="3775281" y="2902612"/>
              <a:ext cx="954156" cy="94499"/>
              <a:chOff x="3775281" y="2902612"/>
              <a:chExt cx="954156" cy="94499"/>
            </a:xfrm>
          </p:grpSpPr>
          <p:sp>
            <p:nvSpPr>
              <p:cNvPr id="152" name="active_setting_outline_0"/>
              <p:cNvSpPr/>
              <p:nvPr/>
            </p:nvSpPr>
            <p:spPr>
              <a:xfrm>
                <a:off x="3775281" y="2928020"/>
                <a:ext cx="55125" cy="47462"/>
              </a:xfrm>
              <a:custGeom>
                <a:avLst/>
                <a:gdLst/>
                <a:ahLst/>
                <a:cxnLst/>
                <a:rect l="0" t="0" r="r" b="b"/>
                <a:pathLst>
                  <a:path w="55126" h="47462">
                    <a:moveTo>
                      <a:pt x="55126" y="8612"/>
                    </a:moveTo>
                    <a:cubicBezTo>
                      <a:pt x="55126" y="1683"/>
                      <a:pt x="40005" y="0"/>
                      <a:pt x="33917" y="0"/>
                    </a:cubicBezTo>
                    <a:cubicBezTo>
                      <a:pt x="24888" y="0"/>
                      <a:pt x="10815" y="3362"/>
                      <a:pt x="10815" y="13125"/>
                    </a:cubicBezTo>
                    <a:cubicBezTo>
                      <a:pt x="10815" y="17959"/>
                      <a:pt x="15855" y="21003"/>
                      <a:pt x="21630" y="21737"/>
                    </a:cubicBezTo>
                    <a:lnTo>
                      <a:pt x="21630" y="22158"/>
                    </a:lnTo>
                    <a:cubicBezTo>
                      <a:pt x="12498" y="23102"/>
                      <a:pt x="0" y="27619"/>
                      <a:pt x="0" y="35913"/>
                    </a:cubicBezTo>
                    <a:cubicBezTo>
                      <a:pt x="0" y="45573"/>
                      <a:pt x="12811" y="47462"/>
                      <a:pt x="21947" y="47462"/>
                    </a:cubicBezTo>
                    <a:cubicBezTo>
                      <a:pt x="31083" y="47462"/>
                      <a:pt x="41370" y="45049"/>
                      <a:pt x="47252" y="38747"/>
                    </a:cubicBezTo>
                    <a:cubicBezTo>
                      <a:pt x="48407" y="37382"/>
                      <a:pt x="49772" y="35806"/>
                      <a:pt x="49772" y="34020"/>
                    </a:cubicBezTo>
                    <a:cubicBezTo>
                      <a:pt x="49772" y="32762"/>
                      <a:pt x="48510" y="31397"/>
                      <a:pt x="47042" y="31397"/>
                    </a:cubicBezTo>
                    <a:cubicBezTo>
                      <a:pt x="41267" y="31397"/>
                      <a:pt x="40112" y="44629"/>
                      <a:pt x="24150" y="44629"/>
                    </a:cubicBezTo>
                    <a:cubicBezTo>
                      <a:pt x="17955" y="44629"/>
                      <a:pt x="13232" y="42632"/>
                      <a:pt x="13232" y="36751"/>
                    </a:cubicBezTo>
                    <a:cubicBezTo>
                      <a:pt x="13232" y="31083"/>
                      <a:pt x="17328" y="24678"/>
                      <a:pt x="24781" y="24678"/>
                    </a:cubicBezTo>
                    <a:cubicBezTo>
                      <a:pt x="28246" y="24678"/>
                      <a:pt x="31397" y="25833"/>
                      <a:pt x="34861" y="25833"/>
                    </a:cubicBezTo>
                    <a:cubicBezTo>
                      <a:pt x="37695" y="25833"/>
                      <a:pt x="40005" y="25098"/>
                      <a:pt x="40005" y="22368"/>
                    </a:cubicBezTo>
                    <a:cubicBezTo>
                      <a:pt x="40005" y="19951"/>
                      <a:pt x="38326" y="19637"/>
                      <a:pt x="36016" y="19637"/>
                    </a:cubicBezTo>
                    <a:cubicBezTo>
                      <a:pt x="33393" y="19637"/>
                      <a:pt x="31083" y="19951"/>
                      <a:pt x="28563" y="19951"/>
                    </a:cubicBezTo>
                    <a:cubicBezTo>
                      <a:pt x="24360" y="19951"/>
                      <a:pt x="22578" y="18375"/>
                      <a:pt x="22578" y="14597"/>
                    </a:cubicBezTo>
                    <a:cubicBezTo>
                      <a:pt x="22578" y="8715"/>
                      <a:pt x="27722" y="2838"/>
                      <a:pt x="34548" y="2838"/>
                    </a:cubicBezTo>
                    <a:cubicBezTo>
                      <a:pt x="44629" y="2838"/>
                      <a:pt x="43577" y="12708"/>
                      <a:pt x="50296" y="12708"/>
                    </a:cubicBezTo>
                    <a:cubicBezTo>
                      <a:pt x="53027" y="12708"/>
                      <a:pt x="55126" y="11236"/>
                      <a:pt x="55126" y="8612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" name="active_setting_outline_1"/>
              <p:cNvSpPr/>
              <p:nvPr/>
            </p:nvSpPr>
            <p:spPr>
              <a:xfrm>
                <a:off x="3871086" y="2925817"/>
                <a:ext cx="94503" cy="43049"/>
              </a:xfrm>
              <a:custGeom>
                <a:avLst/>
                <a:gdLst/>
                <a:ahLst/>
                <a:cxnLst/>
                <a:rect l="0" t="0" r="r" b="b"/>
                <a:pathLst>
                  <a:path w="94504" h="43049">
                    <a:moveTo>
                      <a:pt x="94504" y="21419"/>
                    </a:moveTo>
                    <a:lnTo>
                      <a:pt x="73922" y="0"/>
                    </a:lnTo>
                    <a:lnTo>
                      <a:pt x="70668" y="3465"/>
                    </a:lnTo>
                    <a:lnTo>
                      <a:pt x="83165" y="18586"/>
                    </a:lnTo>
                    <a:lnTo>
                      <a:pt x="0" y="18586"/>
                    </a:lnTo>
                    <a:lnTo>
                      <a:pt x="0" y="24463"/>
                    </a:lnTo>
                    <a:lnTo>
                      <a:pt x="83165" y="24463"/>
                    </a:lnTo>
                    <a:lnTo>
                      <a:pt x="70668" y="39584"/>
                    </a:lnTo>
                    <a:lnTo>
                      <a:pt x="73922" y="43049"/>
                    </a:lnTo>
                    <a:lnTo>
                      <a:pt x="94504" y="21419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" name="active_setting_outline_2"/>
              <p:cNvSpPr/>
              <p:nvPr/>
            </p:nvSpPr>
            <p:spPr>
              <a:xfrm>
                <a:off x="4006738" y="2928127"/>
                <a:ext cx="78644" cy="39691"/>
              </a:xfrm>
              <a:custGeom>
                <a:avLst/>
                <a:gdLst/>
                <a:ahLst/>
                <a:cxnLst/>
                <a:rect l="0" t="0" r="r" b="b"/>
                <a:pathLst>
                  <a:path w="78645" h="39691">
                    <a:moveTo>
                      <a:pt x="78645" y="17851"/>
                    </a:moveTo>
                    <a:cubicBezTo>
                      <a:pt x="78645" y="8295"/>
                      <a:pt x="73501" y="210"/>
                      <a:pt x="63106" y="210"/>
                    </a:cubicBezTo>
                    <a:cubicBezTo>
                      <a:pt x="54392" y="210"/>
                      <a:pt x="45989" y="8505"/>
                      <a:pt x="40739" y="14803"/>
                    </a:cubicBezTo>
                    <a:cubicBezTo>
                      <a:pt x="36330" y="7560"/>
                      <a:pt x="27824" y="0"/>
                      <a:pt x="19006" y="0"/>
                    </a:cubicBezTo>
                    <a:cubicBezTo>
                      <a:pt x="7452" y="0"/>
                      <a:pt x="0" y="11128"/>
                      <a:pt x="0" y="21840"/>
                    </a:cubicBezTo>
                    <a:cubicBezTo>
                      <a:pt x="0" y="31397"/>
                      <a:pt x="5461" y="39584"/>
                      <a:pt x="15748" y="39584"/>
                    </a:cubicBezTo>
                    <a:cubicBezTo>
                      <a:pt x="24042" y="39584"/>
                      <a:pt x="33388" y="31079"/>
                      <a:pt x="38009" y="24674"/>
                    </a:cubicBezTo>
                    <a:cubicBezTo>
                      <a:pt x="42945" y="31921"/>
                      <a:pt x="50505" y="39691"/>
                      <a:pt x="59849" y="39691"/>
                    </a:cubicBezTo>
                    <a:cubicBezTo>
                      <a:pt x="71401" y="39691"/>
                      <a:pt x="78645" y="28349"/>
                      <a:pt x="78645" y="17851"/>
                    </a:cubicBezTo>
                    <a:close/>
                    <a:moveTo>
                      <a:pt x="72659" y="22681"/>
                    </a:moveTo>
                    <a:cubicBezTo>
                      <a:pt x="72659" y="29611"/>
                      <a:pt x="69195" y="35385"/>
                      <a:pt x="61634" y="35385"/>
                    </a:cubicBezTo>
                    <a:cubicBezTo>
                      <a:pt x="53760" y="35385"/>
                      <a:pt x="46620" y="23626"/>
                      <a:pt x="42525" y="17851"/>
                    </a:cubicBezTo>
                    <a:cubicBezTo>
                      <a:pt x="45676" y="13125"/>
                      <a:pt x="54074" y="5354"/>
                      <a:pt x="59955" y="5354"/>
                    </a:cubicBezTo>
                    <a:cubicBezTo>
                      <a:pt x="68353" y="5354"/>
                      <a:pt x="72659" y="15538"/>
                      <a:pt x="72659" y="22681"/>
                    </a:cubicBezTo>
                    <a:close/>
                    <a:moveTo>
                      <a:pt x="36227" y="21733"/>
                    </a:moveTo>
                    <a:cubicBezTo>
                      <a:pt x="33179" y="26460"/>
                      <a:pt x="24569" y="34020"/>
                      <a:pt x="18796" y="34020"/>
                    </a:cubicBezTo>
                    <a:cubicBezTo>
                      <a:pt x="10394" y="34020"/>
                      <a:pt x="6195" y="23836"/>
                      <a:pt x="6195" y="16696"/>
                    </a:cubicBezTo>
                    <a:cubicBezTo>
                      <a:pt x="6195" y="9660"/>
                      <a:pt x="9762" y="3885"/>
                      <a:pt x="17431" y="3885"/>
                    </a:cubicBezTo>
                    <a:cubicBezTo>
                      <a:pt x="24463" y="3885"/>
                      <a:pt x="33179" y="15855"/>
                      <a:pt x="36227" y="21733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" name="active_setting_outline_3"/>
              <p:cNvSpPr/>
              <p:nvPr/>
            </p:nvSpPr>
            <p:spPr>
              <a:xfrm>
                <a:off x="4099260" y="2963616"/>
                <a:ext cx="16696" cy="25832"/>
              </a:xfrm>
              <a:custGeom>
                <a:avLst/>
                <a:gdLst/>
                <a:ahLst/>
                <a:cxnLst/>
                <a:rect l="0" t="0" r="r" b="b"/>
                <a:pathLst>
                  <a:path w="16697" h="25833">
                    <a:moveTo>
                      <a:pt x="16697" y="10081"/>
                    </a:moveTo>
                    <a:cubicBezTo>
                      <a:pt x="16697" y="1365"/>
                      <a:pt x="9870" y="0"/>
                      <a:pt x="7037" y="0"/>
                    </a:cubicBezTo>
                    <a:cubicBezTo>
                      <a:pt x="3993" y="0"/>
                      <a:pt x="0" y="1893"/>
                      <a:pt x="0" y="6406"/>
                    </a:cubicBezTo>
                    <a:cubicBezTo>
                      <a:pt x="0" y="10608"/>
                      <a:pt x="4096" y="11656"/>
                      <a:pt x="7144" y="11656"/>
                    </a:cubicBezTo>
                    <a:cubicBezTo>
                      <a:pt x="7878" y="11656"/>
                      <a:pt x="8505" y="11553"/>
                      <a:pt x="8823" y="11446"/>
                    </a:cubicBezTo>
                    <a:cubicBezTo>
                      <a:pt x="9243" y="11343"/>
                      <a:pt x="9767" y="11236"/>
                      <a:pt x="9977" y="11236"/>
                    </a:cubicBezTo>
                    <a:cubicBezTo>
                      <a:pt x="10712" y="11236"/>
                      <a:pt x="11553" y="11763"/>
                      <a:pt x="11553" y="12708"/>
                    </a:cubicBezTo>
                    <a:cubicBezTo>
                      <a:pt x="11553" y="14700"/>
                      <a:pt x="9664" y="19217"/>
                      <a:pt x="1996" y="23626"/>
                    </a:cubicBezTo>
                    <a:lnTo>
                      <a:pt x="3048" y="25833"/>
                    </a:lnTo>
                    <a:cubicBezTo>
                      <a:pt x="6723" y="24781"/>
                      <a:pt x="16697" y="17538"/>
                      <a:pt x="16697" y="10081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6" name="active_setting_outline_4"/>
              <p:cNvSpPr/>
              <p:nvPr/>
            </p:nvSpPr>
            <p:spPr>
              <a:xfrm>
                <a:off x="4175354" y="2902612"/>
                <a:ext cx="372801" cy="72767"/>
              </a:xfrm>
              <a:custGeom>
                <a:avLst/>
                <a:gdLst/>
                <a:ahLst/>
                <a:cxnLst/>
                <a:rect l="0" t="0" r="r" b="b"/>
                <a:pathLst>
                  <a:path w="372801" h="72767">
                    <a:moveTo>
                      <a:pt x="31186" y="59325"/>
                    </a:moveTo>
                    <a:cubicBezTo>
                      <a:pt x="31186" y="54074"/>
                      <a:pt x="28773" y="50609"/>
                      <a:pt x="22368" y="46831"/>
                    </a:cubicBezTo>
                    <a:lnTo>
                      <a:pt x="11025" y="40108"/>
                    </a:lnTo>
                    <a:cubicBezTo>
                      <a:pt x="8088" y="38429"/>
                      <a:pt x="6513" y="35806"/>
                      <a:pt x="6513" y="32968"/>
                    </a:cubicBezTo>
                    <a:cubicBezTo>
                      <a:pt x="6513" y="28666"/>
                      <a:pt x="9767" y="25829"/>
                      <a:pt x="14597" y="25829"/>
                    </a:cubicBezTo>
                    <a:cubicBezTo>
                      <a:pt x="20582" y="25829"/>
                      <a:pt x="23733" y="29293"/>
                      <a:pt x="26146" y="38743"/>
                    </a:cubicBezTo>
                    <a:lnTo>
                      <a:pt x="27722" y="38743"/>
                    </a:lnTo>
                    <a:lnTo>
                      <a:pt x="27301" y="24463"/>
                    </a:lnTo>
                    <a:lnTo>
                      <a:pt x="26146" y="24463"/>
                    </a:lnTo>
                    <a:lnTo>
                      <a:pt x="25936" y="24674"/>
                    </a:lnTo>
                    <a:cubicBezTo>
                      <a:pt x="24991" y="25408"/>
                      <a:pt x="24888" y="25515"/>
                      <a:pt x="24467" y="25515"/>
                    </a:cubicBezTo>
                    <a:cubicBezTo>
                      <a:pt x="23836" y="25515"/>
                      <a:pt x="22789" y="25305"/>
                      <a:pt x="21634" y="24781"/>
                    </a:cubicBezTo>
                    <a:cubicBezTo>
                      <a:pt x="19427" y="23939"/>
                      <a:pt x="17010" y="23519"/>
                      <a:pt x="14490" y="23519"/>
                    </a:cubicBezTo>
                    <a:cubicBezTo>
                      <a:pt x="5882" y="23519"/>
                      <a:pt x="0" y="28770"/>
                      <a:pt x="0" y="36433"/>
                    </a:cubicBezTo>
                    <a:cubicBezTo>
                      <a:pt x="0" y="42315"/>
                      <a:pt x="3362" y="46411"/>
                      <a:pt x="12287" y="51554"/>
                    </a:cubicBezTo>
                    <a:lnTo>
                      <a:pt x="18375" y="55019"/>
                    </a:lnTo>
                    <a:cubicBezTo>
                      <a:pt x="22050" y="57118"/>
                      <a:pt x="23836" y="59638"/>
                      <a:pt x="23836" y="62897"/>
                    </a:cubicBezTo>
                    <a:cubicBezTo>
                      <a:pt x="23836" y="67516"/>
                      <a:pt x="20475" y="70457"/>
                      <a:pt x="15121" y="70457"/>
                    </a:cubicBezTo>
                    <a:cubicBezTo>
                      <a:pt x="7878" y="70457"/>
                      <a:pt x="4203" y="66465"/>
                      <a:pt x="1786" y="55753"/>
                    </a:cubicBezTo>
                    <a:lnTo>
                      <a:pt x="107" y="55753"/>
                    </a:lnTo>
                    <a:lnTo>
                      <a:pt x="107" y="72136"/>
                    </a:lnTo>
                    <a:lnTo>
                      <a:pt x="1472" y="72136"/>
                    </a:lnTo>
                    <a:cubicBezTo>
                      <a:pt x="2207" y="71084"/>
                      <a:pt x="2627" y="70874"/>
                      <a:pt x="3885" y="70874"/>
                    </a:cubicBezTo>
                    <a:cubicBezTo>
                      <a:pt x="5040" y="70874"/>
                      <a:pt x="6195" y="71084"/>
                      <a:pt x="8715" y="71715"/>
                    </a:cubicBezTo>
                    <a:cubicBezTo>
                      <a:pt x="11656" y="72346"/>
                      <a:pt x="14283" y="72767"/>
                      <a:pt x="16486" y="72767"/>
                    </a:cubicBezTo>
                    <a:cubicBezTo>
                      <a:pt x="24467" y="72767"/>
                      <a:pt x="31186" y="66675"/>
                      <a:pt x="31186" y="59325"/>
                    </a:cubicBezTo>
                    <a:close/>
                    <a:moveTo>
                      <a:pt x="81908" y="67516"/>
                    </a:moveTo>
                    <a:lnTo>
                      <a:pt x="81908" y="64786"/>
                    </a:lnTo>
                    <a:cubicBezTo>
                      <a:pt x="80122" y="66254"/>
                      <a:pt x="78864" y="66782"/>
                      <a:pt x="77288" y="66782"/>
                    </a:cubicBezTo>
                    <a:cubicBezTo>
                      <a:pt x="74871" y="66782"/>
                      <a:pt x="74137" y="65310"/>
                      <a:pt x="74137" y="60690"/>
                    </a:cubicBezTo>
                    <a:lnTo>
                      <a:pt x="74137" y="40215"/>
                    </a:lnTo>
                    <a:cubicBezTo>
                      <a:pt x="74137" y="34858"/>
                      <a:pt x="73613" y="31921"/>
                      <a:pt x="72145" y="29504"/>
                    </a:cubicBezTo>
                    <a:cubicBezTo>
                      <a:pt x="69938" y="25515"/>
                      <a:pt x="65422" y="23416"/>
                      <a:pt x="59016" y="23416"/>
                    </a:cubicBezTo>
                    <a:cubicBezTo>
                      <a:pt x="53662" y="23416"/>
                      <a:pt x="48622" y="24884"/>
                      <a:pt x="45681" y="27301"/>
                    </a:cubicBezTo>
                    <a:cubicBezTo>
                      <a:pt x="43058" y="29504"/>
                      <a:pt x="41379" y="32548"/>
                      <a:pt x="41379" y="35175"/>
                    </a:cubicBezTo>
                    <a:cubicBezTo>
                      <a:pt x="41379" y="37588"/>
                      <a:pt x="43371" y="39692"/>
                      <a:pt x="45892" y="39692"/>
                    </a:cubicBezTo>
                    <a:cubicBezTo>
                      <a:pt x="48412" y="39692"/>
                      <a:pt x="50618" y="37588"/>
                      <a:pt x="50618" y="35278"/>
                    </a:cubicBezTo>
                    <a:cubicBezTo>
                      <a:pt x="50618" y="34858"/>
                      <a:pt x="50511" y="34334"/>
                      <a:pt x="50408" y="33600"/>
                    </a:cubicBezTo>
                    <a:cubicBezTo>
                      <a:pt x="50198" y="32655"/>
                      <a:pt x="50095" y="31814"/>
                      <a:pt x="50095" y="31079"/>
                    </a:cubicBezTo>
                    <a:cubicBezTo>
                      <a:pt x="50095" y="28246"/>
                      <a:pt x="53452" y="25936"/>
                      <a:pt x="57651" y="25936"/>
                    </a:cubicBezTo>
                    <a:cubicBezTo>
                      <a:pt x="62798" y="25936"/>
                      <a:pt x="65632" y="28980"/>
                      <a:pt x="65632" y="34651"/>
                    </a:cubicBezTo>
                    <a:lnTo>
                      <a:pt x="65632" y="41053"/>
                    </a:lnTo>
                    <a:cubicBezTo>
                      <a:pt x="49463" y="47566"/>
                      <a:pt x="47678" y="48403"/>
                      <a:pt x="43161" y="52396"/>
                    </a:cubicBezTo>
                    <a:cubicBezTo>
                      <a:pt x="40851" y="54495"/>
                      <a:pt x="39383" y="58067"/>
                      <a:pt x="39383" y="61532"/>
                    </a:cubicBezTo>
                    <a:cubicBezTo>
                      <a:pt x="39383" y="68143"/>
                      <a:pt x="43899" y="72767"/>
                      <a:pt x="50408" y="72767"/>
                    </a:cubicBezTo>
                    <a:cubicBezTo>
                      <a:pt x="55028" y="72767"/>
                      <a:pt x="59334" y="70560"/>
                      <a:pt x="65739" y="65099"/>
                    </a:cubicBezTo>
                    <a:cubicBezTo>
                      <a:pt x="66263" y="70664"/>
                      <a:pt x="68152" y="72767"/>
                      <a:pt x="72458" y="72767"/>
                    </a:cubicBezTo>
                    <a:cubicBezTo>
                      <a:pt x="76030" y="72767"/>
                      <a:pt x="78233" y="71505"/>
                      <a:pt x="81908" y="67516"/>
                    </a:cubicBezTo>
                    <a:close/>
                    <a:moveTo>
                      <a:pt x="65632" y="58801"/>
                    </a:moveTo>
                    <a:cubicBezTo>
                      <a:pt x="65632" y="62055"/>
                      <a:pt x="65108" y="63000"/>
                      <a:pt x="62902" y="64365"/>
                    </a:cubicBezTo>
                    <a:cubicBezTo>
                      <a:pt x="60382" y="65834"/>
                      <a:pt x="57445" y="66675"/>
                      <a:pt x="55238" y="66675"/>
                    </a:cubicBezTo>
                    <a:cubicBezTo>
                      <a:pt x="51563" y="66675"/>
                      <a:pt x="48622" y="63107"/>
                      <a:pt x="48622" y="58591"/>
                    </a:cubicBezTo>
                    <a:lnTo>
                      <a:pt x="48622" y="58170"/>
                    </a:lnTo>
                    <a:cubicBezTo>
                      <a:pt x="48622" y="51975"/>
                      <a:pt x="52928" y="48196"/>
                      <a:pt x="65632" y="43573"/>
                    </a:cubicBezTo>
                    <a:lnTo>
                      <a:pt x="65632" y="58801"/>
                    </a:lnTo>
                    <a:close/>
                    <a:moveTo>
                      <a:pt x="111422" y="64786"/>
                    </a:moveTo>
                    <a:lnTo>
                      <a:pt x="110056" y="63631"/>
                    </a:lnTo>
                    <a:cubicBezTo>
                      <a:pt x="107747" y="66362"/>
                      <a:pt x="106064" y="67306"/>
                      <a:pt x="103754" y="67306"/>
                    </a:cubicBezTo>
                    <a:cubicBezTo>
                      <a:pt x="99869" y="67306"/>
                      <a:pt x="98293" y="64576"/>
                      <a:pt x="98293" y="57857"/>
                    </a:cubicBezTo>
                    <a:lnTo>
                      <a:pt x="98293" y="27825"/>
                    </a:lnTo>
                    <a:lnTo>
                      <a:pt x="108902" y="27825"/>
                    </a:lnTo>
                    <a:lnTo>
                      <a:pt x="108902" y="24463"/>
                    </a:lnTo>
                    <a:lnTo>
                      <a:pt x="98293" y="24463"/>
                    </a:lnTo>
                    <a:lnTo>
                      <a:pt x="98293" y="12283"/>
                    </a:lnTo>
                    <a:cubicBezTo>
                      <a:pt x="98293" y="11236"/>
                      <a:pt x="98087" y="10918"/>
                      <a:pt x="97559" y="10918"/>
                    </a:cubicBezTo>
                    <a:cubicBezTo>
                      <a:pt x="96928" y="11970"/>
                      <a:pt x="96194" y="12914"/>
                      <a:pt x="95459" y="13859"/>
                    </a:cubicBezTo>
                    <a:cubicBezTo>
                      <a:pt x="91574" y="19633"/>
                      <a:pt x="88006" y="23519"/>
                      <a:pt x="85276" y="25094"/>
                    </a:cubicBezTo>
                    <a:cubicBezTo>
                      <a:pt x="84121" y="25829"/>
                      <a:pt x="83490" y="26460"/>
                      <a:pt x="83490" y="27091"/>
                    </a:cubicBezTo>
                    <a:cubicBezTo>
                      <a:pt x="83490" y="27404"/>
                      <a:pt x="83593" y="27615"/>
                      <a:pt x="83910" y="27825"/>
                    </a:cubicBezTo>
                    <a:lnTo>
                      <a:pt x="89474" y="27825"/>
                    </a:lnTo>
                    <a:lnTo>
                      <a:pt x="89474" y="59428"/>
                    </a:lnTo>
                    <a:cubicBezTo>
                      <a:pt x="89474" y="68251"/>
                      <a:pt x="92626" y="72767"/>
                      <a:pt x="98714" y="72767"/>
                    </a:cubicBezTo>
                    <a:cubicBezTo>
                      <a:pt x="103964" y="72767"/>
                      <a:pt x="107953" y="70247"/>
                      <a:pt x="111422" y="64786"/>
                    </a:cubicBezTo>
                    <a:close/>
                    <a:moveTo>
                      <a:pt x="161614" y="67937"/>
                    </a:moveTo>
                    <a:lnTo>
                      <a:pt x="161614" y="66465"/>
                    </a:lnTo>
                    <a:lnTo>
                      <a:pt x="161091" y="66465"/>
                    </a:lnTo>
                    <a:cubicBezTo>
                      <a:pt x="156261" y="66465"/>
                      <a:pt x="155105" y="65310"/>
                      <a:pt x="155105" y="60480"/>
                    </a:cubicBezTo>
                    <a:lnTo>
                      <a:pt x="155105" y="24463"/>
                    </a:lnTo>
                    <a:lnTo>
                      <a:pt x="138513" y="24463"/>
                    </a:lnTo>
                    <a:lnTo>
                      <a:pt x="138513" y="26249"/>
                    </a:lnTo>
                    <a:cubicBezTo>
                      <a:pt x="145025" y="26563"/>
                      <a:pt x="146283" y="27615"/>
                      <a:pt x="146283" y="32865"/>
                    </a:cubicBezTo>
                    <a:lnTo>
                      <a:pt x="146283" y="57539"/>
                    </a:lnTo>
                    <a:cubicBezTo>
                      <a:pt x="146283" y="60377"/>
                      <a:pt x="145759" y="61948"/>
                      <a:pt x="144501" y="62897"/>
                    </a:cubicBezTo>
                    <a:cubicBezTo>
                      <a:pt x="141561" y="65417"/>
                      <a:pt x="138306" y="66675"/>
                      <a:pt x="135047" y="66675"/>
                    </a:cubicBezTo>
                    <a:cubicBezTo>
                      <a:pt x="130956" y="66675"/>
                      <a:pt x="127595" y="63107"/>
                      <a:pt x="127595" y="58694"/>
                    </a:cubicBezTo>
                    <a:lnTo>
                      <a:pt x="127595" y="24463"/>
                    </a:lnTo>
                    <a:lnTo>
                      <a:pt x="112263" y="24463"/>
                    </a:lnTo>
                    <a:lnTo>
                      <a:pt x="112263" y="25936"/>
                    </a:lnTo>
                    <a:cubicBezTo>
                      <a:pt x="117303" y="26249"/>
                      <a:pt x="118772" y="27825"/>
                      <a:pt x="118772" y="32655"/>
                    </a:cubicBezTo>
                    <a:lnTo>
                      <a:pt x="118772" y="59115"/>
                    </a:lnTo>
                    <a:cubicBezTo>
                      <a:pt x="118772" y="67409"/>
                      <a:pt x="123813" y="72767"/>
                      <a:pt x="131480" y="72767"/>
                    </a:cubicBezTo>
                    <a:cubicBezTo>
                      <a:pt x="135365" y="72767"/>
                      <a:pt x="139460" y="71084"/>
                      <a:pt x="142295" y="68251"/>
                    </a:cubicBezTo>
                    <a:lnTo>
                      <a:pt x="146811" y="63734"/>
                    </a:lnTo>
                    <a:lnTo>
                      <a:pt x="146811" y="72450"/>
                    </a:lnTo>
                    <a:lnTo>
                      <a:pt x="147228" y="72660"/>
                    </a:lnTo>
                    <a:cubicBezTo>
                      <a:pt x="152478" y="70560"/>
                      <a:pt x="156261" y="69406"/>
                      <a:pt x="161614" y="67937"/>
                    </a:cubicBezTo>
                    <a:close/>
                    <a:moveTo>
                      <a:pt x="199002" y="28980"/>
                    </a:moveTo>
                    <a:cubicBezTo>
                      <a:pt x="199002" y="25515"/>
                      <a:pt x="196798" y="23416"/>
                      <a:pt x="193227" y="23416"/>
                    </a:cubicBezTo>
                    <a:cubicBezTo>
                      <a:pt x="188818" y="23416"/>
                      <a:pt x="185773" y="25829"/>
                      <a:pt x="180626" y="33286"/>
                    </a:cubicBezTo>
                    <a:lnTo>
                      <a:pt x="180626" y="23626"/>
                    </a:lnTo>
                    <a:lnTo>
                      <a:pt x="180102" y="23416"/>
                    </a:lnTo>
                    <a:cubicBezTo>
                      <a:pt x="174538" y="25726"/>
                      <a:pt x="170756" y="27091"/>
                      <a:pt x="164561" y="29083"/>
                    </a:cubicBezTo>
                    <a:lnTo>
                      <a:pt x="164561" y="30766"/>
                    </a:lnTo>
                    <a:cubicBezTo>
                      <a:pt x="166032" y="30448"/>
                      <a:pt x="166977" y="30345"/>
                      <a:pt x="168236" y="30345"/>
                    </a:cubicBezTo>
                    <a:cubicBezTo>
                      <a:pt x="170862" y="30345"/>
                      <a:pt x="171807" y="32024"/>
                      <a:pt x="171807" y="36644"/>
                    </a:cubicBezTo>
                    <a:lnTo>
                      <a:pt x="171807" y="62897"/>
                    </a:lnTo>
                    <a:cubicBezTo>
                      <a:pt x="171807" y="68143"/>
                      <a:pt x="171073" y="68882"/>
                      <a:pt x="164350" y="70140"/>
                    </a:cubicBezTo>
                    <a:lnTo>
                      <a:pt x="164350" y="71715"/>
                    </a:lnTo>
                    <a:lnTo>
                      <a:pt x="189552" y="71715"/>
                    </a:lnTo>
                    <a:lnTo>
                      <a:pt x="189552" y="70140"/>
                    </a:lnTo>
                    <a:cubicBezTo>
                      <a:pt x="182412" y="69826"/>
                      <a:pt x="180626" y="68251"/>
                      <a:pt x="180626" y="62266"/>
                    </a:cubicBezTo>
                    <a:lnTo>
                      <a:pt x="180626" y="38640"/>
                    </a:lnTo>
                    <a:cubicBezTo>
                      <a:pt x="180626" y="35278"/>
                      <a:pt x="185142" y="30028"/>
                      <a:pt x="187976" y="30028"/>
                    </a:cubicBezTo>
                    <a:cubicBezTo>
                      <a:pt x="188607" y="30028"/>
                      <a:pt x="189552" y="30555"/>
                      <a:pt x="190706" y="31603"/>
                    </a:cubicBezTo>
                    <a:cubicBezTo>
                      <a:pt x="192385" y="33076"/>
                      <a:pt x="193541" y="33703"/>
                      <a:pt x="194906" y="33703"/>
                    </a:cubicBezTo>
                    <a:cubicBezTo>
                      <a:pt x="197426" y="33703"/>
                      <a:pt x="199002" y="31921"/>
                      <a:pt x="199002" y="28980"/>
                    </a:cubicBezTo>
                    <a:close/>
                    <a:moveTo>
                      <a:pt x="245207" y="67516"/>
                    </a:moveTo>
                    <a:lnTo>
                      <a:pt x="245207" y="64786"/>
                    </a:lnTo>
                    <a:cubicBezTo>
                      <a:pt x="243420" y="66254"/>
                      <a:pt x="242163" y="66782"/>
                      <a:pt x="240587" y="66782"/>
                    </a:cubicBezTo>
                    <a:cubicBezTo>
                      <a:pt x="238170" y="66782"/>
                      <a:pt x="237436" y="65310"/>
                      <a:pt x="237436" y="60690"/>
                    </a:cubicBezTo>
                    <a:lnTo>
                      <a:pt x="237436" y="40215"/>
                    </a:lnTo>
                    <a:cubicBezTo>
                      <a:pt x="237436" y="34858"/>
                      <a:pt x="236911" y="31921"/>
                      <a:pt x="235443" y="29504"/>
                    </a:cubicBezTo>
                    <a:cubicBezTo>
                      <a:pt x="233237" y="25515"/>
                      <a:pt x="228720" y="23416"/>
                      <a:pt x="222315" y="23416"/>
                    </a:cubicBezTo>
                    <a:cubicBezTo>
                      <a:pt x="216961" y="23416"/>
                      <a:pt x="211920" y="24884"/>
                      <a:pt x="208980" y="27301"/>
                    </a:cubicBezTo>
                    <a:cubicBezTo>
                      <a:pt x="206356" y="29504"/>
                      <a:pt x="204677" y="32548"/>
                      <a:pt x="204677" y="35175"/>
                    </a:cubicBezTo>
                    <a:cubicBezTo>
                      <a:pt x="204677" y="37588"/>
                      <a:pt x="206670" y="39692"/>
                      <a:pt x="209190" y="39692"/>
                    </a:cubicBezTo>
                    <a:cubicBezTo>
                      <a:pt x="211711" y="39692"/>
                      <a:pt x="213917" y="37588"/>
                      <a:pt x="213917" y="35278"/>
                    </a:cubicBezTo>
                    <a:cubicBezTo>
                      <a:pt x="213917" y="34858"/>
                      <a:pt x="213810" y="34334"/>
                      <a:pt x="213706" y="33600"/>
                    </a:cubicBezTo>
                    <a:cubicBezTo>
                      <a:pt x="213496" y="32655"/>
                      <a:pt x="213393" y="31814"/>
                      <a:pt x="213393" y="31079"/>
                    </a:cubicBezTo>
                    <a:cubicBezTo>
                      <a:pt x="213393" y="28246"/>
                      <a:pt x="216750" y="25936"/>
                      <a:pt x="220950" y="25936"/>
                    </a:cubicBezTo>
                    <a:cubicBezTo>
                      <a:pt x="226097" y="25936"/>
                      <a:pt x="228930" y="28980"/>
                      <a:pt x="228930" y="34651"/>
                    </a:cubicBezTo>
                    <a:lnTo>
                      <a:pt x="228930" y="41053"/>
                    </a:lnTo>
                    <a:cubicBezTo>
                      <a:pt x="212762" y="47566"/>
                      <a:pt x="210975" y="48403"/>
                      <a:pt x="206459" y="52396"/>
                    </a:cubicBezTo>
                    <a:cubicBezTo>
                      <a:pt x="204149" y="54495"/>
                      <a:pt x="202681" y="58067"/>
                      <a:pt x="202681" y="61532"/>
                    </a:cubicBezTo>
                    <a:cubicBezTo>
                      <a:pt x="202681" y="68143"/>
                      <a:pt x="207197" y="72767"/>
                      <a:pt x="213706" y="72767"/>
                    </a:cubicBezTo>
                    <a:cubicBezTo>
                      <a:pt x="218326" y="72767"/>
                      <a:pt x="222633" y="70560"/>
                      <a:pt x="229037" y="65099"/>
                    </a:cubicBezTo>
                    <a:cubicBezTo>
                      <a:pt x="229562" y="70664"/>
                      <a:pt x="231450" y="72767"/>
                      <a:pt x="235757" y="72767"/>
                    </a:cubicBezTo>
                    <a:cubicBezTo>
                      <a:pt x="239328" y="72767"/>
                      <a:pt x="241531" y="71505"/>
                      <a:pt x="245207" y="67516"/>
                    </a:cubicBezTo>
                    <a:close/>
                    <a:moveTo>
                      <a:pt x="228930" y="58801"/>
                    </a:moveTo>
                    <a:cubicBezTo>
                      <a:pt x="228930" y="62055"/>
                      <a:pt x="228406" y="63000"/>
                      <a:pt x="226200" y="64365"/>
                    </a:cubicBezTo>
                    <a:cubicBezTo>
                      <a:pt x="223680" y="65834"/>
                      <a:pt x="220743" y="66675"/>
                      <a:pt x="218537" y="66675"/>
                    </a:cubicBezTo>
                    <a:cubicBezTo>
                      <a:pt x="214861" y="66675"/>
                      <a:pt x="211920" y="63107"/>
                      <a:pt x="211920" y="58591"/>
                    </a:cubicBezTo>
                    <a:lnTo>
                      <a:pt x="211920" y="58170"/>
                    </a:lnTo>
                    <a:cubicBezTo>
                      <a:pt x="211920" y="51975"/>
                      <a:pt x="216227" y="48196"/>
                      <a:pt x="228930" y="43573"/>
                    </a:cubicBezTo>
                    <a:lnTo>
                      <a:pt x="228930" y="58801"/>
                    </a:lnTo>
                    <a:close/>
                    <a:moveTo>
                      <a:pt x="274720" y="64786"/>
                    </a:moveTo>
                    <a:lnTo>
                      <a:pt x="273355" y="63631"/>
                    </a:lnTo>
                    <a:cubicBezTo>
                      <a:pt x="271045" y="66362"/>
                      <a:pt x="269362" y="67306"/>
                      <a:pt x="267052" y="67306"/>
                    </a:cubicBezTo>
                    <a:cubicBezTo>
                      <a:pt x="263167" y="67306"/>
                      <a:pt x="261591" y="64576"/>
                      <a:pt x="261591" y="57857"/>
                    </a:cubicBezTo>
                    <a:lnTo>
                      <a:pt x="261591" y="27825"/>
                    </a:lnTo>
                    <a:lnTo>
                      <a:pt x="272199" y="27825"/>
                    </a:lnTo>
                    <a:lnTo>
                      <a:pt x="272199" y="24463"/>
                    </a:lnTo>
                    <a:lnTo>
                      <a:pt x="261591" y="24463"/>
                    </a:lnTo>
                    <a:lnTo>
                      <a:pt x="261591" y="12283"/>
                    </a:lnTo>
                    <a:cubicBezTo>
                      <a:pt x="261591" y="11236"/>
                      <a:pt x="261385" y="10918"/>
                      <a:pt x="260857" y="10918"/>
                    </a:cubicBezTo>
                    <a:cubicBezTo>
                      <a:pt x="260226" y="11970"/>
                      <a:pt x="259492" y="12914"/>
                      <a:pt x="258758" y="13859"/>
                    </a:cubicBezTo>
                    <a:cubicBezTo>
                      <a:pt x="254872" y="19633"/>
                      <a:pt x="251304" y="23519"/>
                      <a:pt x="248574" y="25094"/>
                    </a:cubicBezTo>
                    <a:cubicBezTo>
                      <a:pt x="247419" y="25829"/>
                      <a:pt x="246788" y="26460"/>
                      <a:pt x="246788" y="27091"/>
                    </a:cubicBezTo>
                    <a:cubicBezTo>
                      <a:pt x="246788" y="27404"/>
                      <a:pt x="246891" y="27615"/>
                      <a:pt x="247208" y="27825"/>
                    </a:cubicBezTo>
                    <a:lnTo>
                      <a:pt x="252772" y="27825"/>
                    </a:lnTo>
                    <a:lnTo>
                      <a:pt x="252772" y="59428"/>
                    </a:lnTo>
                    <a:cubicBezTo>
                      <a:pt x="252772" y="68251"/>
                      <a:pt x="255924" y="72767"/>
                      <a:pt x="262011" y="72767"/>
                    </a:cubicBezTo>
                    <a:cubicBezTo>
                      <a:pt x="267263" y="72767"/>
                      <a:pt x="271251" y="70247"/>
                      <a:pt x="274720" y="64786"/>
                    </a:cubicBezTo>
                    <a:close/>
                    <a:moveTo>
                      <a:pt x="319139" y="55229"/>
                    </a:moveTo>
                    <a:lnTo>
                      <a:pt x="317460" y="54495"/>
                    </a:lnTo>
                    <a:cubicBezTo>
                      <a:pt x="312419" y="62476"/>
                      <a:pt x="307903" y="65520"/>
                      <a:pt x="301183" y="65520"/>
                    </a:cubicBezTo>
                    <a:cubicBezTo>
                      <a:pt x="295409" y="65520"/>
                      <a:pt x="290995" y="62790"/>
                      <a:pt x="287951" y="57118"/>
                    </a:cubicBezTo>
                    <a:cubicBezTo>
                      <a:pt x="285852" y="53027"/>
                      <a:pt x="285011" y="49351"/>
                      <a:pt x="284800" y="42628"/>
                    </a:cubicBezTo>
                    <a:lnTo>
                      <a:pt x="317142" y="42628"/>
                    </a:lnTo>
                    <a:cubicBezTo>
                      <a:pt x="316304" y="35806"/>
                      <a:pt x="315252" y="32758"/>
                      <a:pt x="312630" y="29400"/>
                    </a:cubicBezTo>
                    <a:cubicBezTo>
                      <a:pt x="309478" y="25618"/>
                      <a:pt x="304648" y="23416"/>
                      <a:pt x="299187" y="23416"/>
                    </a:cubicBezTo>
                    <a:cubicBezTo>
                      <a:pt x="286166" y="23416"/>
                      <a:pt x="277240" y="33913"/>
                      <a:pt x="277240" y="49244"/>
                    </a:cubicBezTo>
                    <a:cubicBezTo>
                      <a:pt x="277240" y="63734"/>
                      <a:pt x="284800" y="72767"/>
                      <a:pt x="296877" y="72767"/>
                    </a:cubicBezTo>
                    <a:cubicBezTo>
                      <a:pt x="306958" y="72767"/>
                      <a:pt x="314729" y="66572"/>
                      <a:pt x="319139" y="55229"/>
                    </a:cubicBezTo>
                    <a:close/>
                    <a:moveTo>
                      <a:pt x="306434" y="39271"/>
                    </a:moveTo>
                    <a:lnTo>
                      <a:pt x="285011" y="39271"/>
                    </a:lnTo>
                    <a:cubicBezTo>
                      <a:pt x="286166" y="30976"/>
                      <a:pt x="289738" y="27194"/>
                      <a:pt x="296143" y="27194"/>
                    </a:cubicBezTo>
                    <a:cubicBezTo>
                      <a:pt x="302549" y="27194"/>
                      <a:pt x="305068" y="30135"/>
                      <a:pt x="306434" y="39271"/>
                    </a:cubicBezTo>
                    <a:close/>
                    <a:moveTo>
                      <a:pt x="372801" y="67306"/>
                    </a:moveTo>
                    <a:lnTo>
                      <a:pt x="372801" y="65623"/>
                    </a:lnTo>
                    <a:cubicBezTo>
                      <a:pt x="370909" y="65730"/>
                      <a:pt x="370698" y="65730"/>
                      <a:pt x="370384" y="65730"/>
                    </a:cubicBezTo>
                    <a:cubicBezTo>
                      <a:pt x="366606" y="65730"/>
                      <a:pt x="365765" y="64576"/>
                      <a:pt x="365765" y="59746"/>
                    </a:cubicBezTo>
                    <a:lnTo>
                      <a:pt x="365765" y="210"/>
                    </a:lnTo>
                    <a:lnTo>
                      <a:pt x="365241" y="0"/>
                    </a:lnTo>
                    <a:cubicBezTo>
                      <a:pt x="360200" y="1782"/>
                      <a:pt x="356526" y="2834"/>
                      <a:pt x="349803" y="4620"/>
                    </a:cubicBezTo>
                    <a:lnTo>
                      <a:pt x="349803" y="6298"/>
                    </a:lnTo>
                    <a:cubicBezTo>
                      <a:pt x="350643" y="6195"/>
                      <a:pt x="351275" y="6195"/>
                      <a:pt x="352113" y="6195"/>
                    </a:cubicBezTo>
                    <a:cubicBezTo>
                      <a:pt x="355998" y="6195"/>
                      <a:pt x="356943" y="7243"/>
                      <a:pt x="356943" y="11549"/>
                    </a:cubicBezTo>
                    <a:lnTo>
                      <a:pt x="356943" y="27928"/>
                    </a:lnTo>
                    <a:cubicBezTo>
                      <a:pt x="352954" y="24571"/>
                      <a:pt x="350120" y="23416"/>
                      <a:pt x="345918" y="23416"/>
                    </a:cubicBezTo>
                    <a:cubicBezTo>
                      <a:pt x="333844" y="23416"/>
                      <a:pt x="324078" y="35278"/>
                      <a:pt x="324078" y="50189"/>
                    </a:cubicBezTo>
                    <a:cubicBezTo>
                      <a:pt x="324078" y="63631"/>
                      <a:pt x="331955" y="72767"/>
                      <a:pt x="343505" y="72767"/>
                    </a:cubicBezTo>
                    <a:cubicBezTo>
                      <a:pt x="349386" y="72767"/>
                      <a:pt x="353374" y="70664"/>
                      <a:pt x="356943" y="65730"/>
                    </a:cubicBezTo>
                    <a:lnTo>
                      <a:pt x="356943" y="72450"/>
                    </a:lnTo>
                    <a:lnTo>
                      <a:pt x="357363" y="72767"/>
                    </a:lnTo>
                    <a:lnTo>
                      <a:pt x="372801" y="67306"/>
                    </a:lnTo>
                    <a:close/>
                    <a:moveTo>
                      <a:pt x="356943" y="61004"/>
                    </a:moveTo>
                    <a:cubicBezTo>
                      <a:pt x="356943" y="61742"/>
                      <a:pt x="356209" y="63000"/>
                      <a:pt x="355161" y="64155"/>
                    </a:cubicBezTo>
                    <a:cubicBezTo>
                      <a:pt x="353267" y="66254"/>
                      <a:pt x="350643" y="67306"/>
                      <a:pt x="347601" y="67306"/>
                    </a:cubicBezTo>
                    <a:cubicBezTo>
                      <a:pt x="338885" y="67306"/>
                      <a:pt x="333110" y="58904"/>
                      <a:pt x="333110" y="45990"/>
                    </a:cubicBezTo>
                    <a:cubicBezTo>
                      <a:pt x="333110" y="34123"/>
                      <a:pt x="338253" y="26352"/>
                      <a:pt x="346235" y="26352"/>
                    </a:cubicBezTo>
                    <a:cubicBezTo>
                      <a:pt x="351799" y="26352"/>
                      <a:pt x="356943" y="31290"/>
                      <a:pt x="356943" y="36854"/>
                    </a:cubicBezTo>
                    <a:lnTo>
                      <a:pt x="356943" y="61004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7" name="active_setting_outline_5"/>
              <p:cNvSpPr/>
              <p:nvPr/>
            </p:nvSpPr>
            <p:spPr>
              <a:xfrm>
                <a:off x="4577695" y="2902612"/>
                <a:ext cx="151742" cy="94499"/>
              </a:xfrm>
              <a:custGeom>
                <a:avLst/>
                <a:gdLst/>
                <a:ahLst/>
                <a:cxnLst/>
                <a:rect l="0" t="0" r="r" b="b"/>
                <a:pathLst>
                  <a:path w="151742" h="94500">
                    <a:moveTo>
                      <a:pt x="40636" y="56281"/>
                    </a:moveTo>
                    <a:lnTo>
                      <a:pt x="39167" y="55336"/>
                    </a:lnTo>
                    <a:cubicBezTo>
                      <a:pt x="34127" y="62686"/>
                      <a:pt x="30349" y="65207"/>
                      <a:pt x="24364" y="65207"/>
                    </a:cubicBezTo>
                    <a:cubicBezTo>
                      <a:pt x="14700" y="65207"/>
                      <a:pt x="8087" y="56805"/>
                      <a:pt x="8087" y="44728"/>
                    </a:cubicBezTo>
                    <a:cubicBezTo>
                      <a:pt x="8087" y="33810"/>
                      <a:pt x="13862" y="26460"/>
                      <a:pt x="22367" y="26460"/>
                    </a:cubicBezTo>
                    <a:cubicBezTo>
                      <a:pt x="26145" y="26460"/>
                      <a:pt x="27511" y="27615"/>
                      <a:pt x="28562" y="31500"/>
                    </a:cubicBezTo>
                    <a:lnTo>
                      <a:pt x="29193" y="33810"/>
                    </a:lnTo>
                    <a:cubicBezTo>
                      <a:pt x="30032" y="36854"/>
                      <a:pt x="31920" y="38640"/>
                      <a:pt x="34234" y="38640"/>
                    </a:cubicBezTo>
                    <a:cubicBezTo>
                      <a:pt x="36961" y="38640"/>
                      <a:pt x="39167" y="36644"/>
                      <a:pt x="39167" y="34231"/>
                    </a:cubicBezTo>
                    <a:cubicBezTo>
                      <a:pt x="39167" y="28349"/>
                      <a:pt x="31817" y="23416"/>
                      <a:pt x="22998" y="23416"/>
                    </a:cubicBezTo>
                    <a:cubicBezTo>
                      <a:pt x="18062" y="23416"/>
                      <a:pt x="13021" y="25305"/>
                      <a:pt x="8823" y="28770"/>
                    </a:cubicBezTo>
                    <a:cubicBezTo>
                      <a:pt x="3151" y="33496"/>
                      <a:pt x="0" y="40739"/>
                      <a:pt x="0" y="49455"/>
                    </a:cubicBezTo>
                    <a:cubicBezTo>
                      <a:pt x="0" y="63000"/>
                      <a:pt x="8298" y="72767"/>
                      <a:pt x="19950" y="72767"/>
                    </a:cubicBezTo>
                    <a:cubicBezTo>
                      <a:pt x="24467" y="72767"/>
                      <a:pt x="28456" y="71295"/>
                      <a:pt x="32027" y="68354"/>
                    </a:cubicBezTo>
                    <a:cubicBezTo>
                      <a:pt x="35179" y="65834"/>
                      <a:pt x="37278" y="62790"/>
                      <a:pt x="40636" y="56281"/>
                    </a:cubicBezTo>
                    <a:close/>
                    <a:moveTo>
                      <a:pt x="70990" y="71715"/>
                    </a:moveTo>
                    <a:lnTo>
                      <a:pt x="70990" y="70140"/>
                    </a:lnTo>
                    <a:cubicBezTo>
                      <a:pt x="64267" y="69719"/>
                      <a:pt x="63113" y="68671"/>
                      <a:pt x="63113" y="62897"/>
                    </a:cubicBezTo>
                    <a:lnTo>
                      <a:pt x="63113" y="210"/>
                    </a:lnTo>
                    <a:lnTo>
                      <a:pt x="62692" y="0"/>
                    </a:lnTo>
                    <a:cubicBezTo>
                      <a:pt x="57235" y="1782"/>
                      <a:pt x="53242" y="2834"/>
                      <a:pt x="45999" y="4620"/>
                    </a:cubicBezTo>
                    <a:lnTo>
                      <a:pt x="45999" y="6298"/>
                    </a:lnTo>
                    <a:lnTo>
                      <a:pt x="46627" y="6298"/>
                    </a:lnTo>
                    <a:cubicBezTo>
                      <a:pt x="47781" y="6195"/>
                      <a:pt x="49044" y="6088"/>
                      <a:pt x="49884" y="6088"/>
                    </a:cubicBezTo>
                    <a:cubicBezTo>
                      <a:pt x="53242" y="6088"/>
                      <a:pt x="54294" y="7561"/>
                      <a:pt x="54294" y="12494"/>
                    </a:cubicBezTo>
                    <a:lnTo>
                      <a:pt x="54294" y="62579"/>
                    </a:lnTo>
                    <a:cubicBezTo>
                      <a:pt x="54294" y="68251"/>
                      <a:pt x="52822" y="69616"/>
                      <a:pt x="46210" y="70140"/>
                    </a:cubicBezTo>
                    <a:lnTo>
                      <a:pt x="46210" y="71715"/>
                    </a:lnTo>
                    <a:lnTo>
                      <a:pt x="70990" y="71715"/>
                    </a:lnTo>
                    <a:close/>
                    <a:moveTo>
                      <a:pt x="99764" y="71715"/>
                    </a:moveTo>
                    <a:lnTo>
                      <a:pt x="99764" y="70140"/>
                    </a:lnTo>
                    <a:cubicBezTo>
                      <a:pt x="92834" y="69616"/>
                      <a:pt x="91994" y="68564"/>
                      <a:pt x="91994" y="61004"/>
                    </a:cubicBezTo>
                    <a:lnTo>
                      <a:pt x="91994" y="23729"/>
                    </a:lnTo>
                    <a:lnTo>
                      <a:pt x="91572" y="23416"/>
                    </a:lnTo>
                    <a:lnTo>
                      <a:pt x="75297" y="29190"/>
                    </a:lnTo>
                    <a:lnTo>
                      <a:pt x="75297" y="30766"/>
                    </a:lnTo>
                    <a:lnTo>
                      <a:pt x="76138" y="30659"/>
                    </a:lnTo>
                    <a:cubicBezTo>
                      <a:pt x="77396" y="30448"/>
                      <a:pt x="78762" y="30345"/>
                      <a:pt x="79706" y="30345"/>
                    </a:cubicBezTo>
                    <a:cubicBezTo>
                      <a:pt x="82226" y="30345"/>
                      <a:pt x="83171" y="32024"/>
                      <a:pt x="83171" y="36644"/>
                    </a:cubicBezTo>
                    <a:lnTo>
                      <a:pt x="83171" y="61004"/>
                    </a:lnTo>
                    <a:cubicBezTo>
                      <a:pt x="83171" y="68564"/>
                      <a:pt x="82123" y="69719"/>
                      <a:pt x="74875" y="70140"/>
                    </a:cubicBezTo>
                    <a:lnTo>
                      <a:pt x="74875" y="71715"/>
                    </a:lnTo>
                    <a:lnTo>
                      <a:pt x="99764" y="71715"/>
                    </a:lnTo>
                    <a:close/>
                    <a:moveTo>
                      <a:pt x="92937" y="5354"/>
                    </a:moveTo>
                    <a:cubicBezTo>
                      <a:pt x="92937" y="2413"/>
                      <a:pt x="90628" y="0"/>
                      <a:pt x="87584" y="0"/>
                    </a:cubicBezTo>
                    <a:cubicBezTo>
                      <a:pt x="84643" y="0"/>
                      <a:pt x="82226" y="2413"/>
                      <a:pt x="82226" y="5354"/>
                    </a:cubicBezTo>
                    <a:cubicBezTo>
                      <a:pt x="82226" y="8398"/>
                      <a:pt x="84643" y="10708"/>
                      <a:pt x="87584" y="10708"/>
                    </a:cubicBezTo>
                    <a:cubicBezTo>
                      <a:pt x="90628" y="10708"/>
                      <a:pt x="92937" y="8398"/>
                      <a:pt x="92937" y="5354"/>
                    </a:cubicBezTo>
                    <a:close/>
                    <a:moveTo>
                      <a:pt x="151742" y="45780"/>
                    </a:moveTo>
                    <a:cubicBezTo>
                      <a:pt x="151742" y="32758"/>
                      <a:pt x="144393" y="23416"/>
                      <a:pt x="134209" y="23416"/>
                    </a:cubicBezTo>
                    <a:cubicBezTo>
                      <a:pt x="128327" y="23416"/>
                      <a:pt x="123708" y="26039"/>
                      <a:pt x="119088" y="31710"/>
                    </a:cubicBezTo>
                    <a:lnTo>
                      <a:pt x="119088" y="23626"/>
                    </a:lnTo>
                    <a:lnTo>
                      <a:pt x="118457" y="23416"/>
                    </a:lnTo>
                    <a:cubicBezTo>
                      <a:pt x="112785" y="25618"/>
                      <a:pt x="109111" y="26984"/>
                      <a:pt x="103336" y="28770"/>
                    </a:cubicBezTo>
                    <a:lnTo>
                      <a:pt x="103336" y="30448"/>
                    </a:lnTo>
                    <a:cubicBezTo>
                      <a:pt x="104281" y="30345"/>
                      <a:pt x="105015" y="30345"/>
                      <a:pt x="105964" y="30345"/>
                    </a:cubicBezTo>
                    <a:cubicBezTo>
                      <a:pt x="109531" y="30345"/>
                      <a:pt x="110265" y="31393"/>
                      <a:pt x="110265" y="36330"/>
                    </a:cubicBezTo>
                    <a:lnTo>
                      <a:pt x="110265" y="85471"/>
                    </a:lnTo>
                    <a:cubicBezTo>
                      <a:pt x="110265" y="90932"/>
                      <a:pt x="109111" y="92087"/>
                      <a:pt x="102916" y="92714"/>
                    </a:cubicBezTo>
                    <a:lnTo>
                      <a:pt x="102916" y="94500"/>
                    </a:lnTo>
                    <a:lnTo>
                      <a:pt x="128327" y="94500"/>
                    </a:lnTo>
                    <a:lnTo>
                      <a:pt x="128327" y="92611"/>
                    </a:lnTo>
                    <a:cubicBezTo>
                      <a:pt x="120453" y="92508"/>
                      <a:pt x="119088" y="91353"/>
                      <a:pt x="119088" y="84737"/>
                    </a:cubicBezTo>
                    <a:lnTo>
                      <a:pt x="119088" y="68251"/>
                    </a:lnTo>
                    <a:cubicBezTo>
                      <a:pt x="122763" y="71715"/>
                      <a:pt x="125283" y="72767"/>
                      <a:pt x="129692" y="72767"/>
                    </a:cubicBezTo>
                    <a:cubicBezTo>
                      <a:pt x="142083" y="72767"/>
                      <a:pt x="151742" y="61004"/>
                      <a:pt x="151742" y="45780"/>
                    </a:cubicBezTo>
                    <a:close/>
                    <a:moveTo>
                      <a:pt x="142714" y="49875"/>
                    </a:moveTo>
                    <a:cubicBezTo>
                      <a:pt x="142714" y="61532"/>
                      <a:pt x="137566" y="69406"/>
                      <a:pt x="130006" y="69406"/>
                    </a:cubicBezTo>
                    <a:cubicBezTo>
                      <a:pt x="125072" y="69406"/>
                      <a:pt x="119088" y="65623"/>
                      <a:pt x="119088" y="62476"/>
                    </a:cubicBezTo>
                    <a:lnTo>
                      <a:pt x="119088" y="36644"/>
                    </a:lnTo>
                    <a:cubicBezTo>
                      <a:pt x="119088" y="33496"/>
                      <a:pt x="124965" y="29714"/>
                      <a:pt x="129795" y="29714"/>
                    </a:cubicBezTo>
                    <a:cubicBezTo>
                      <a:pt x="137566" y="29714"/>
                      <a:pt x="142714" y="37695"/>
                      <a:pt x="142714" y="49875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1 SafeOT</dc:title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