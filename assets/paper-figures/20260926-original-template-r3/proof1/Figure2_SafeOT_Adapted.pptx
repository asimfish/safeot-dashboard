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5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6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7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8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episode cost</a:t>
              </a:r>
            </a:p>
          </p:txBody>
        </p:sp>
        <p:sp>
          <p:nvSpPr>
            <p:cNvPr id="9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11" name="environmentouter"/>
            <p:cNvSpPr/>
            <p:nvPr/>
          </p:nvSpPr>
          <p:spPr>
            <a:xfrm>
              <a:off x="114300" y="1054100"/>
              <a:ext cx="165100" cy="1651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environmentmeridian"/>
            <p:cNvSpPr/>
            <p:nvPr/>
          </p:nvSpPr>
          <p:spPr>
            <a:xfrm>
              <a:off x="158877" y="1054100"/>
              <a:ext cx="75946" cy="165100"/>
            </a:xfrm>
            <a:prstGeom prst="ellipse">
              <a:avLst/>
            </a:pr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environmentequator"/>
            <p:cNvSpPr/>
            <p:nvPr/>
          </p:nvSpPr>
          <p:spPr>
            <a:xfrm>
              <a:off x="114300" y="113665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genthead"/>
            <p:cNvSpPr/>
            <p:nvPr/>
          </p:nvSpPr>
          <p:spPr>
            <a:xfrm>
              <a:off x="431800" y="1060958"/>
              <a:ext cx="139700" cy="9778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89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agentantenna"/>
            <p:cNvSpPr/>
            <p:nvPr/>
          </p:nvSpPr>
          <p:spPr>
            <a:xfrm>
              <a:off x="501650" y="1030224"/>
              <a:ext cx="127" cy="30734"/>
            </a:xfrm>
            <a:custGeom>
              <a:avLst/>
              <a:gdLst/>
              <a:ahLst/>
              <a:cxnLst/>
              <a:rect l="0" t="0" r="r" b="b"/>
              <a:pathLst>
                <a:path w="1" h="30734" fill="none">
                  <a:moveTo>
                    <a:pt x="0" y="0"/>
                  </a:moveTo>
                  <a:lnTo>
                    <a:pt x="0" y="30734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genteye0"/>
            <p:cNvSpPr/>
            <p:nvPr/>
          </p:nvSpPr>
          <p:spPr>
            <a:xfrm>
              <a:off x="462534" y="1100074"/>
              <a:ext cx="16763" cy="16763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agenteye1"/>
            <p:cNvSpPr/>
            <p:nvPr/>
          </p:nvSpPr>
          <p:spPr>
            <a:xfrm>
              <a:off x="524002" y="1100074"/>
              <a:ext cx="16763" cy="16763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gentmouth"/>
            <p:cNvSpPr/>
            <p:nvPr/>
          </p:nvSpPr>
          <p:spPr>
            <a:xfrm>
              <a:off x="472313" y="1132205"/>
              <a:ext cx="58674" cy="127"/>
            </a:xfrm>
            <a:custGeom>
              <a:avLst/>
              <a:gdLst/>
              <a:ahLst/>
              <a:cxnLst/>
              <a:rect l="0" t="0" r="r" b="b"/>
              <a:pathLst>
                <a:path w="58674" h="1" fill="none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/>
            <a:ln w="635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gentbody"/>
            <p:cNvSpPr/>
            <p:nvPr/>
          </p:nvSpPr>
          <p:spPr>
            <a:xfrm>
              <a:off x="451358" y="1164336"/>
              <a:ext cx="100584" cy="4889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llout_arrow"/>
            <p:cNvSpPr/>
            <p:nvPr/>
          </p:nvSpPr>
          <p:spPr>
            <a:xfrm>
              <a:off x="292100" y="11430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22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25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32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36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8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07891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48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58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3F746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68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70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71" name="input_graph_edge0"/>
            <p:cNvSpPr/>
            <p:nvPr/>
          </p:nvSpPr>
          <p:spPr>
            <a:xfrm>
              <a:off x="840242" y="8784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148016"/>
                  </a:moveTo>
                  <a:lnTo>
                    <a:pt x="146536" y="0"/>
                  </a:lnTo>
                </a:path>
              </a:pathLst>
            </a:custGeom>
            <a:noFill/>
            <a:ln w="1079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_graph_edge1"/>
            <p:cNvSpPr/>
            <p:nvPr/>
          </p:nvSpPr>
          <p:spPr>
            <a:xfrm>
              <a:off x="1022477" y="863600"/>
              <a:ext cx="139445" cy="127"/>
            </a:xfrm>
            <a:custGeom>
              <a:avLst/>
              <a:gdLst/>
              <a:ahLst/>
              <a:cxnLst/>
              <a:rect l="0" t="0" r="r" b="b"/>
              <a:pathLst>
                <a:path w="139445" h="1" fill="none">
                  <a:moveTo>
                    <a:pt x="0" y="0"/>
                  </a:moveTo>
                  <a:lnTo>
                    <a:pt x="139445" y="0"/>
                  </a:lnTo>
                </a:path>
              </a:pathLst>
            </a:custGeom>
            <a:noFill/>
            <a:ln w="1079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_graph_edge2"/>
            <p:cNvSpPr/>
            <p:nvPr/>
          </p:nvSpPr>
          <p:spPr>
            <a:xfrm>
              <a:off x="1197620" y="8784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0"/>
                  </a:moveTo>
                  <a:lnTo>
                    <a:pt x="146536" y="148016"/>
                  </a:lnTo>
                </a:path>
              </a:pathLst>
            </a:custGeom>
            <a:noFill/>
            <a:ln w="1079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_graph_edge3"/>
            <p:cNvSpPr/>
            <p:nvPr/>
          </p:nvSpPr>
          <p:spPr>
            <a:xfrm>
              <a:off x="840242" y="10562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0"/>
                  </a:moveTo>
                  <a:lnTo>
                    <a:pt x="146536" y="148016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_graph_edge4"/>
            <p:cNvSpPr/>
            <p:nvPr/>
          </p:nvSpPr>
          <p:spPr>
            <a:xfrm>
              <a:off x="1022477" y="1219200"/>
              <a:ext cx="139445" cy="127"/>
            </a:xfrm>
            <a:custGeom>
              <a:avLst/>
              <a:gdLst/>
              <a:ahLst/>
              <a:cxnLst/>
              <a:rect l="0" t="0" r="r" b="b"/>
              <a:pathLst>
                <a:path w="139445" h="1" fill="none">
                  <a:moveTo>
                    <a:pt x="0" y="0"/>
                  </a:moveTo>
                  <a:lnTo>
                    <a:pt x="139445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_graph_edge5"/>
            <p:cNvSpPr/>
            <p:nvPr/>
          </p:nvSpPr>
          <p:spPr>
            <a:xfrm>
              <a:off x="1197620" y="10562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148016"/>
                  </a:moveTo>
                  <a:lnTo>
                    <a:pt x="146536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input_graph_node0"/>
            <p:cNvSpPr/>
            <p:nvPr/>
          </p:nvSpPr>
          <p:spPr>
            <a:xfrm>
              <a:off x="804545" y="10204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_graph_node1"/>
            <p:cNvSpPr/>
            <p:nvPr/>
          </p:nvSpPr>
          <p:spPr>
            <a:xfrm>
              <a:off x="980566" y="8426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nput_graph_node2"/>
            <p:cNvSpPr/>
            <p:nvPr/>
          </p:nvSpPr>
          <p:spPr>
            <a:xfrm>
              <a:off x="980566" y="1198245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_graph_node3"/>
            <p:cNvSpPr/>
            <p:nvPr/>
          </p:nvSpPr>
          <p:spPr>
            <a:xfrm>
              <a:off x="1161923" y="8426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_graph_node4"/>
            <p:cNvSpPr/>
            <p:nvPr/>
          </p:nvSpPr>
          <p:spPr>
            <a:xfrm>
              <a:off x="1161923" y="1198245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graph_node5"/>
            <p:cNvSpPr/>
            <p:nvPr/>
          </p:nvSpPr>
          <p:spPr>
            <a:xfrm>
              <a:off x="1337945" y="10204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transition edges</a:t>
              </a:r>
            </a:p>
          </p:txBody>
        </p:sp>
        <p:grpSp>
          <p:nvGrpSpPr>
            <p:cNvPr id="84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5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7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88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0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2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3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95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97" name="soft_label"/>
            <p:cNvSpPr txBox="1"/>
            <p:nvPr/>
          </p:nvSpPr>
          <p:spPr>
            <a:xfrm>
              <a:off x="1562100" y="5588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98" name="budget_words"/>
            <p:cNvSpPr txBox="1"/>
            <p:nvPr/>
          </p:nvSpPr>
          <p:spPr>
            <a:xfrm>
              <a:off x="1549400" y="812800"/>
              <a:ext cx="774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cost budgets</a:t>
              </a:r>
            </a:p>
          </p:txBody>
        </p:sp>
        <p:sp>
          <p:nvSpPr>
            <p:cNvPr id="99" name="budget_track0"/>
            <p:cNvSpPr/>
            <p:nvPr/>
          </p:nvSpPr>
          <p:spPr>
            <a:xfrm>
              <a:off x="1663700" y="1117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udget_fill0"/>
            <p:cNvSpPr/>
            <p:nvPr/>
          </p:nvSpPr>
          <p:spPr>
            <a:xfrm>
              <a:off x="1663700" y="1117600"/>
              <a:ext cx="2540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udget_limit0"/>
            <p:cNvSpPr/>
            <p:nvPr/>
          </p:nvSpPr>
          <p:spPr>
            <a:xfrm>
              <a:off x="2095500" y="1079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budget_track1"/>
            <p:cNvSpPr/>
            <p:nvPr/>
          </p:nvSpPr>
          <p:spPr>
            <a:xfrm>
              <a:off x="1663700" y="13081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udget_fill1"/>
            <p:cNvSpPr/>
            <p:nvPr/>
          </p:nvSpPr>
          <p:spPr>
            <a:xfrm>
              <a:off x="1663700" y="1308100"/>
              <a:ext cx="330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udget_limit1"/>
            <p:cNvSpPr/>
            <p:nvPr/>
          </p:nvSpPr>
          <p:spPr>
            <a:xfrm>
              <a:off x="2095500" y="12700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_track2"/>
            <p:cNvSpPr/>
            <p:nvPr/>
          </p:nvSpPr>
          <p:spPr>
            <a:xfrm>
              <a:off x="1663700" y="1498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udget_fill2"/>
            <p:cNvSpPr/>
            <p:nvPr/>
          </p:nvSpPr>
          <p:spPr>
            <a:xfrm>
              <a:off x="1663700" y="1498600"/>
              <a:ext cx="203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_limit2"/>
            <p:cNvSpPr/>
            <p:nvPr/>
          </p:nvSpPr>
          <p:spPr>
            <a:xfrm>
              <a:off x="2095500" y="1460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hard_label"/>
            <p:cNvSpPr txBox="1"/>
            <p:nvPr/>
          </p:nvSpPr>
          <p:spPr>
            <a:xfrm>
              <a:off x="1549400" y="18161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09" name="hard_edge"/>
            <p:cNvSpPr/>
            <p:nvPr/>
          </p:nvSpPr>
          <p:spPr>
            <a:xfrm>
              <a:off x="1701800" y="220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444500" h="1" fill="none">
                  <a:moveTo>
                    <a:pt x="0" y="0"/>
                  </a:moveTo>
                  <a:lnTo>
                    <a:pt x="444500" y="0"/>
                  </a:lnTo>
                </a:path>
              </a:pathLst>
            </a:custGeom>
            <a:noFill/>
            <a:ln w="1079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hard_node0"/>
            <p:cNvSpPr/>
            <p:nvPr/>
          </p:nvSpPr>
          <p:spPr>
            <a:xfrm>
              <a:off x="1647189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node1"/>
            <p:cNvSpPr/>
            <p:nvPr/>
          </p:nvSpPr>
          <p:spPr>
            <a:xfrm>
              <a:off x="2142490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x0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x1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exclusion_words"/>
            <p:cNvSpPr txBox="1"/>
            <p:nvPr/>
          </p:nvSpPr>
          <p:spPr>
            <a:xfrm>
              <a:off x="1587500" y="2374900"/>
              <a:ext cx="698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remove edges</a:t>
              </a:r>
            </a:p>
          </p:txBody>
        </p:sp>
      </p:grpSp>
      <p:grpSp>
        <p:nvGrpSpPr>
          <p:cNvPr id="115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16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2F6F4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18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20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3F746B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21" name="observed_network_edge0"/>
            <p:cNvSpPr/>
            <p:nvPr/>
          </p:nvSpPr>
          <p:spPr>
            <a:xfrm>
              <a:off x="2784586" y="8777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bserved_network_edge1"/>
            <p:cNvSpPr/>
            <p:nvPr/>
          </p:nvSpPr>
          <p:spPr>
            <a:xfrm>
              <a:off x="2991104" y="8636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bserved_network_edge2"/>
            <p:cNvSpPr/>
            <p:nvPr/>
          </p:nvSpPr>
          <p:spPr>
            <a:xfrm>
              <a:off x="3193018" y="8777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1079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bserved_network_edge3"/>
            <p:cNvSpPr/>
            <p:nvPr/>
          </p:nvSpPr>
          <p:spPr>
            <a:xfrm>
              <a:off x="2784586" y="10555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bserved_network_edge4"/>
            <p:cNvSpPr/>
            <p:nvPr/>
          </p:nvSpPr>
          <p:spPr>
            <a:xfrm>
              <a:off x="2991104" y="12192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bserved_network_edge5"/>
            <p:cNvSpPr/>
            <p:nvPr/>
          </p:nvSpPr>
          <p:spPr>
            <a:xfrm>
              <a:off x="3193018" y="10555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bserved_network_excluded"/>
            <p:cNvSpPr/>
            <p:nvPr/>
          </p:nvSpPr>
          <p:spPr>
            <a:xfrm>
              <a:off x="2969768" y="884936"/>
              <a:ext cx="127" cy="312927"/>
            </a:xfrm>
            <a:custGeom>
              <a:avLst/>
              <a:gdLst/>
              <a:ahLst/>
              <a:cxnLst/>
              <a:rect l="0" t="0" r="r" b="b"/>
              <a:pathLst>
                <a:path w="1" h="312927" fill="none">
                  <a:moveTo>
                    <a:pt x="0" y="0"/>
                  </a:moveTo>
                  <a:lnTo>
                    <a:pt x="0" y="312927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bserved_network_cross0"/>
            <p:cNvSpPr/>
            <p:nvPr/>
          </p:nvSpPr>
          <p:spPr>
            <a:xfrm>
              <a:off x="2949448" y="10210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bserved_network_cross1"/>
            <p:cNvSpPr/>
            <p:nvPr/>
          </p:nvSpPr>
          <p:spPr>
            <a:xfrm>
              <a:off x="2949448" y="10210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bserved_network_node0"/>
            <p:cNvSpPr/>
            <p:nvPr/>
          </p:nvSpPr>
          <p:spPr>
            <a:xfrm>
              <a:off x="2747264" y="10200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bserved_network_node1"/>
            <p:cNvSpPr/>
            <p:nvPr/>
          </p:nvSpPr>
          <p:spPr>
            <a:xfrm>
              <a:off x="2948432" y="8422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bserved_network_node2"/>
            <p:cNvSpPr/>
            <p:nvPr/>
          </p:nvSpPr>
          <p:spPr>
            <a:xfrm>
              <a:off x="2948432" y="11978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bserved_network_node3"/>
            <p:cNvSpPr/>
            <p:nvPr/>
          </p:nvSpPr>
          <p:spPr>
            <a:xfrm>
              <a:off x="3155696" y="8422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bserved_network_node4"/>
            <p:cNvSpPr/>
            <p:nvPr/>
          </p:nvSpPr>
          <p:spPr>
            <a:xfrm>
              <a:off x="3155696" y="11978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bserved_network_node5"/>
            <p:cNvSpPr/>
            <p:nvPr/>
          </p:nvSpPr>
          <p:spPr>
            <a:xfrm>
              <a:off x="3356864" y="10200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arget_network_edge0"/>
            <p:cNvSpPr/>
            <p:nvPr/>
          </p:nvSpPr>
          <p:spPr>
            <a:xfrm>
              <a:off x="2784586" y="15508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5715">
              <a:solidFill>
                <a:srgbClr val="BE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arget_network_edge1"/>
            <p:cNvSpPr/>
            <p:nvPr/>
          </p:nvSpPr>
          <p:spPr>
            <a:xfrm>
              <a:off x="2991104" y="15367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5715">
              <a:solidFill>
                <a:srgbClr val="BE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arget_network_edge2"/>
            <p:cNvSpPr/>
            <p:nvPr/>
          </p:nvSpPr>
          <p:spPr>
            <a:xfrm>
              <a:off x="3193018" y="15508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5715">
              <a:solidFill>
                <a:srgbClr val="BEC8C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target_network_edge3"/>
            <p:cNvSpPr/>
            <p:nvPr/>
          </p:nvSpPr>
          <p:spPr>
            <a:xfrm>
              <a:off x="2784586" y="17286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177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arget_network_edge4"/>
            <p:cNvSpPr/>
            <p:nvPr/>
          </p:nvSpPr>
          <p:spPr>
            <a:xfrm>
              <a:off x="2991104" y="18923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177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arget_network_edge5"/>
            <p:cNvSpPr/>
            <p:nvPr/>
          </p:nvSpPr>
          <p:spPr>
            <a:xfrm>
              <a:off x="3193018" y="17286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1778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arget_network_excluded"/>
            <p:cNvSpPr/>
            <p:nvPr/>
          </p:nvSpPr>
          <p:spPr>
            <a:xfrm>
              <a:off x="2969768" y="1558036"/>
              <a:ext cx="127" cy="312927"/>
            </a:xfrm>
            <a:custGeom>
              <a:avLst/>
              <a:gdLst/>
              <a:ahLst/>
              <a:cxnLst/>
              <a:rect l="0" t="0" r="r" b="b"/>
              <a:pathLst>
                <a:path w="1" h="312927" fill="none">
                  <a:moveTo>
                    <a:pt x="0" y="0"/>
                  </a:moveTo>
                  <a:lnTo>
                    <a:pt x="0" y="312927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arget_network_cross0"/>
            <p:cNvSpPr/>
            <p:nvPr/>
          </p:nvSpPr>
          <p:spPr>
            <a:xfrm>
              <a:off x="2949448" y="16941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arget_network_cross1"/>
            <p:cNvSpPr/>
            <p:nvPr/>
          </p:nvSpPr>
          <p:spPr>
            <a:xfrm>
              <a:off x="2949448" y="16941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target_network_node0"/>
            <p:cNvSpPr/>
            <p:nvPr/>
          </p:nvSpPr>
          <p:spPr>
            <a:xfrm>
              <a:off x="2747264" y="16931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target_network_node1"/>
            <p:cNvSpPr/>
            <p:nvPr/>
          </p:nvSpPr>
          <p:spPr>
            <a:xfrm>
              <a:off x="2948432" y="15153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arget_network_node2"/>
            <p:cNvSpPr/>
            <p:nvPr/>
          </p:nvSpPr>
          <p:spPr>
            <a:xfrm>
              <a:off x="2948432" y="18709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arget_network_node3"/>
            <p:cNvSpPr/>
            <p:nvPr/>
          </p:nvSpPr>
          <p:spPr>
            <a:xfrm>
              <a:off x="3155696" y="15153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target_network_node4"/>
            <p:cNvSpPr/>
            <p:nvPr/>
          </p:nvSpPr>
          <p:spPr>
            <a:xfrm>
              <a:off x="3155696" y="18709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target_network_node5"/>
            <p:cNvSpPr/>
            <p:nvPr/>
          </p:nvSpPr>
          <p:spPr>
            <a:xfrm>
              <a:off x="3356864" y="16931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route_arrow"/>
            <p:cNvSpPr/>
            <p:nvPr/>
          </p:nvSpPr>
          <p:spPr>
            <a:xfrm>
              <a:off x="3060700" y="12954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143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arget_only"/>
            <p:cNvSpPr txBox="1"/>
            <p:nvPr/>
          </p:nvSpPr>
          <p:spPr>
            <a:xfrm>
              <a:off x="2425700" y="2057400"/>
              <a:ext cx="10795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153" name="projection_role"/>
            <p:cNvSpPr txBox="1"/>
            <p:nvPr/>
          </p:nvSpPr>
          <p:spPr>
            <a:xfrm>
              <a:off x="2413000" y="2387600"/>
              <a:ext cx="1104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prices go to the actor</a:t>
              </a:r>
            </a:p>
          </p:txBody>
        </p:sp>
        <p:grpSp>
          <p:nvGrpSpPr>
            <p:cNvPr id="154" name="observed_F"/>
            <p:cNvGrpSpPr/>
            <p:nvPr/>
          </p:nvGrpSpPr>
          <p:grpSpPr>
            <a:xfrm>
              <a:off x="2538179" y="973261"/>
              <a:ext cx="80585" cy="111019"/>
              <a:chOff x="2538179" y="973261"/>
              <a:chExt cx="80585" cy="111019"/>
            </a:xfrm>
          </p:grpSpPr>
          <p:sp>
            <p:nvSpPr>
              <p:cNvPr id="155" name="observed_F_outline_0"/>
              <p:cNvSpPr/>
              <p:nvPr/>
            </p:nvSpPr>
            <p:spPr>
              <a:xfrm>
                <a:off x="2571961" y="9732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observed_F_outline_1"/>
              <p:cNvSpPr/>
              <p:nvPr/>
            </p:nvSpPr>
            <p:spPr>
              <a:xfrm>
                <a:off x="2538179" y="10016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7" name="target_F"/>
            <p:cNvGrpSpPr/>
            <p:nvPr/>
          </p:nvGrpSpPr>
          <p:grpSpPr>
            <a:xfrm>
              <a:off x="2508163" y="1649800"/>
              <a:ext cx="150197" cy="103002"/>
              <a:chOff x="2508163" y="1649800"/>
              <a:chExt cx="150197" cy="103002"/>
            </a:xfrm>
          </p:grpSpPr>
          <p:sp>
            <p:nvSpPr>
              <p:cNvPr id="158" name="target_F_outline_0"/>
              <p:cNvSpPr/>
              <p:nvPr/>
            </p:nvSpPr>
            <p:spPr>
              <a:xfrm>
                <a:off x="2508163" y="16701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target_F_outline_1"/>
              <p:cNvSpPr/>
              <p:nvPr/>
            </p:nvSpPr>
            <p:spPr>
              <a:xfrm>
                <a:off x="2593511" y="16498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60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161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63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64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167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3F746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168" name="filter_label"/>
            <p:cNvSpPr txBox="1"/>
            <p:nvPr/>
          </p:nvSpPr>
          <p:spPr>
            <a:xfrm>
              <a:off x="3670300" y="7874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3F746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69" name="feedback_label"/>
            <p:cNvSpPr txBox="1"/>
            <p:nvPr/>
          </p:nvSpPr>
          <p:spPr>
            <a:xfrm>
              <a:off x="3670300" y="11557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70" name="feedback_error"/>
            <p:cNvSpPr txBox="1"/>
            <p:nvPr/>
          </p:nvSpPr>
          <p:spPr>
            <a:xfrm>
              <a:off x="3695700" y="1409700"/>
              <a:ext cx="12065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A57957"/>
                  </a:solidFill>
                  <a:latin typeface="Liberation Serif"/>
                </a:rPr>
                <a:t>cost − budget</a:t>
              </a:r>
            </a:p>
          </p:txBody>
        </p:sp>
        <p:grpSp>
          <p:nvGrpSpPr>
            <p:cNvPr id="171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172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6" name="price_rule"/>
            <p:cNvGrpSpPr/>
            <p:nvPr/>
          </p:nvGrpSpPr>
          <p:grpSpPr>
            <a:xfrm>
              <a:off x="3946186" y="1775301"/>
              <a:ext cx="694873" cy="158164"/>
              <a:chOff x="3946186" y="1775301"/>
              <a:chExt cx="694873" cy="158164"/>
            </a:xfrm>
          </p:grpSpPr>
          <p:sp>
            <p:nvSpPr>
              <p:cNvPr id="177" name="price_rule_outline_0"/>
              <p:cNvSpPr/>
              <p:nvPr/>
            </p:nvSpPr>
            <p:spPr>
              <a:xfrm>
                <a:off x="3946186" y="17962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price_rule_outline_1"/>
              <p:cNvSpPr/>
              <p:nvPr/>
            </p:nvSpPr>
            <p:spPr>
              <a:xfrm>
                <a:off x="4021335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price_rule_outline_2"/>
              <p:cNvSpPr/>
              <p:nvPr/>
            </p:nvSpPr>
            <p:spPr>
              <a:xfrm>
                <a:off x="4126007" y="18302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rice_rule_outline_3"/>
              <p:cNvSpPr/>
              <p:nvPr/>
            </p:nvSpPr>
            <p:spPr>
              <a:xfrm>
                <a:off x="4256527" y="17753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rice_rule_outline_4"/>
              <p:cNvSpPr/>
              <p:nvPr/>
            </p:nvSpPr>
            <p:spPr>
              <a:xfrm>
                <a:off x="4234159" y="17962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price_rule_outline_5"/>
              <p:cNvSpPr/>
              <p:nvPr/>
            </p:nvSpPr>
            <p:spPr>
              <a:xfrm>
                <a:off x="4303002" y="17761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rice_rule_outline_6"/>
              <p:cNvSpPr/>
              <p:nvPr/>
            </p:nvSpPr>
            <p:spPr>
              <a:xfrm>
                <a:off x="4309320" y="18614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ice_rule_outline_7"/>
              <p:cNvSpPr/>
              <p:nvPr/>
            </p:nvSpPr>
            <p:spPr>
              <a:xfrm>
                <a:off x="4410855" y="18140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ice_rule_outline_8"/>
              <p:cNvSpPr/>
              <p:nvPr/>
            </p:nvSpPr>
            <p:spPr>
              <a:xfrm>
                <a:off x="4506286" y="17962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ice_rule_outline_9"/>
              <p:cNvSpPr/>
              <p:nvPr/>
            </p:nvSpPr>
            <p:spPr>
              <a:xfrm>
                <a:off x="4590422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7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188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08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dual_to_update"/>
          <p:cNvSpPr/>
          <p:nvPr/>
        </p:nvSpPr>
        <p:spPr>
          <a:xfrm>
            <a:off x="3479800" y="876300"/>
            <a:ext cx="114300" cy="127"/>
          </a:xfrm>
          <a:custGeom>
            <a:avLst/>
            <a:gdLst/>
            <a:ahLst/>
            <a:cxnLst/>
            <a:rect l="0" t="0" r="r" b="b"/>
            <a:pathLst>
              <a:path w="114300" h="1" fill="none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3970">
            <a:solidFill>
              <a:srgbClr val="3F746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57957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214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GAE advantages</a:t>
            </a:r>
          </a:p>
        </p:txBody>
      </p:sp>
      <p:sp>
        <p:nvSpPr>
          <p:cNvPr id="217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6985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next rollout</a:t>
            </a:r>
          </a:p>
        </p:txBody>
      </p:sp>
      <p:sp>
        <p:nvSpPr>
          <p:cNvPr id="219" name="observed_feedback"/>
          <p:cNvSpPr/>
          <p:nvPr/>
        </p:nvSpPr>
        <p:spPr>
          <a:xfrm>
            <a:off x="368300" y="1485900"/>
            <a:ext cx="3289300" cy="1231900"/>
          </a:xfrm>
          <a:custGeom>
            <a:avLst/>
            <a:gdLst/>
            <a:ahLst/>
            <a:cxnLst/>
            <a:rect l="0" t="0" r="r" b="b"/>
            <a:pathLst>
              <a:path w="3289300" h="1231900" fill="none">
                <a:moveTo>
                  <a:pt x="0" y="1092200"/>
                </a:moveTo>
                <a:lnTo>
                  <a:pt x="0" y="1231900"/>
                </a:lnTo>
                <a:lnTo>
                  <a:pt x="3200400" y="1231900"/>
                </a:lnTo>
                <a:lnTo>
                  <a:pt x="3200400" y="0"/>
                </a:lnTo>
                <a:lnTo>
                  <a:pt x="3289300" y="0"/>
                </a:lnTo>
              </a:path>
            </a:pathLst>
          </a:custGeom>
          <a:noFill/>
          <a:ln w="8890">
            <a:solidFill>
              <a:srgbClr val="A57957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