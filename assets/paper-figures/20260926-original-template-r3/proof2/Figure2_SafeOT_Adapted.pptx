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stage1"/>
          <p:cNvGrpSpPr/>
          <p:nvPr/>
        </p:nvGrpSpPr>
        <p:grpSpPr>
          <a:xfrm>
            <a:off x="38100" y="76200"/>
            <a:ext cx="635000" cy="2552700"/>
            <a:chOff x="38100" y="76200"/>
            <a:chExt cx="635000" cy="2552700"/>
          </a:xfrm>
        </p:grpSpPr>
        <p:sp>
          <p:nvSpPr>
            <p:cNvPr id="3" name="stage1_border"/>
            <p:cNvSpPr/>
            <p:nvPr/>
          </p:nvSpPr>
          <p:spPr>
            <a:xfrm>
              <a:off x="38100" y="76200"/>
              <a:ext cx="6350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olicy_label"/>
            <p:cNvSpPr txBox="1"/>
            <p:nvPr/>
          </p:nvSpPr>
          <p:spPr>
            <a:xfrm>
              <a:off x="101600" y="558800"/>
              <a:ext cx="5080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policy</a:t>
              </a:r>
            </a:p>
          </p:txBody>
        </p:sp>
        <p:sp>
          <p:nvSpPr>
            <p:cNvPr id="5" name="rollout_text0"/>
            <p:cNvSpPr txBox="1"/>
            <p:nvPr/>
          </p:nvSpPr>
          <p:spPr>
            <a:xfrm>
              <a:off x="88900" y="1485900"/>
              <a:ext cx="533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transitions</a:t>
              </a:r>
            </a:p>
          </p:txBody>
        </p:sp>
        <p:sp>
          <p:nvSpPr>
            <p:cNvPr id="6" name="rollout_text1"/>
            <p:cNvSpPr txBox="1"/>
            <p:nvPr/>
          </p:nvSpPr>
          <p:spPr>
            <a:xfrm>
              <a:off x="88900" y="1778000"/>
              <a:ext cx="533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GAE</a:t>
              </a:r>
            </a:p>
          </p:txBody>
        </p:sp>
        <p:sp>
          <p:nvSpPr>
            <p:cNvPr id="7" name="rollout_text2"/>
            <p:cNvSpPr txBox="1"/>
            <p:nvPr/>
          </p:nvSpPr>
          <p:spPr>
            <a:xfrm>
              <a:off x="76200" y="2235200"/>
              <a:ext cx="558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episode cost</a:t>
              </a:r>
            </a:p>
          </p:txBody>
        </p:sp>
        <p:sp>
          <p:nvSpPr>
            <p:cNvPr id="8" name="badge1"/>
            <p:cNvSpPr/>
            <p:nvPr/>
          </p:nvSpPr>
          <p:spPr>
            <a:xfrm>
              <a:off x="88900" y="177800"/>
              <a:ext cx="146050" cy="146050"/>
            </a:xfrm>
            <a:prstGeom prst="ellipse">
              <a:avLst/>
            </a:prstGeom>
            <a:solidFill>
              <a:srgbClr val="76858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number1"/>
            <p:cNvSpPr txBox="1"/>
            <p:nvPr/>
          </p:nvSpPr>
          <p:spPr>
            <a:xfrm>
              <a:off x="889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10" name="title1"/>
            <p:cNvSpPr txBox="1"/>
            <p:nvPr/>
          </p:nvSpPr>
          <p:spPr>
            <a:xfrm>
              <a:off x="266700" y="114300"/>
              <a:ext cx="3810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Rollout</a:t>
              </a:r>
            </a:p>
          </p:txBody>
        </p:sp>
        <p:sp>
          <p:nvSpPr>
            <p:cNvPr id="11" name="environmentouter"/>
            <p:cNvSpPr/>
            <p:nvPr/>
          </p:nvSpPr>
          <p:spPr>
            <a:xfrm>
              <a:off x="114300" y="1054100"/>
              <a:ext cx="165100" cy="165100"/>
            </a:xfrm>
            <a:prstGeom prst="ellipse">
              <a:avLst/>
            </a:prstGeom>
            <a:solidFill>
              <a:srgbClr val="FFFFFF"/>
            </a:solidFill>
            <a:ln w="889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environmentmeridian"/>
            <p:cNvSpPr/>
            <p:nvPr/>
          </p:nvSpPr>
          <p:spPr>
            <a:xfrm>
              <a:off x="158877" y="1054100"/>
              <a:ext cx="75946" cy="165100"/>
            </a:xfrm>
            <a:prstGeom prst="ellipse">
              <a:avLst/>
            </a:prstGeom>
            <a:noFill/>
            <a:ln w="5715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environmentequator"/>
            <p:cNvSpPr/>
            <p:nvPr/>
          </p:nvSpPr>
          <p:spPr>
            <a:xfrm>
              <a:off x="114300" y="1136650"/>
              <a:ext cx="165100" cy="127"/>
            </a:xfrm>
            <a:custGeom>
              <a:avLst/>
              <a:gdLst/>
              <a:ahLst/>
              <a:cxnLst/>
              <a:rect l="0" t="0" r="r" b="b"/>
              <a:pathLst>
                <a:path w="165100" h="1" fill="none">
                  <a:moveTo>
                    <a:pt x="0" y="0"/>
                  </a:moveTo>
                  <a:lnTo>
                    <a:pt x="165100" y="0"/>
                  </a:lnTo>
                </a:path>
              </a:pathLst>
            </a:custGeom>
            <a:noFill/>
            <a:ln w="5715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agenthead"/>
            <p:cNvSpPr/>
            <p:nvPr/>
          </p:nvSpPr>
          <p:spPr>
            <a:xfrm>
              <a:off x="431800" y="1060958"/>
              <a:ext cx="139700" cy="97789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889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agentantenna"/>
            <p:cNvSpPr/>
            <p:nvPr/>
          </p:nvSpPr>
          <p:spPr>
            <a:xfrm>
              <a:off x="501650" y="1030224"/>
              <a:ext cx="127" cy="30734"/>
            </a:xfrm>
            <a:custGeom>
              <a:avLst/>
              <a:gdLst/>
              <a:ahLst/>
              <a:cxnLst/>
              <a:rect l="0" t="0" r="r" b="b"/>
              <a:pathLst>
                <a:path w="1" h="30734" fill="none">
                  <a:moveTo>
                    <a:pt x="0" y="0"/>
                  </a:moveTo>
                  <a:lnTo>
                    <a:pt x="0" y="30734"/>
                  </a:lnTo>
                </a:path>
              </a:pathLst>
            </a:custGeom>
            <a:noFill/>
            <a:ln w="8255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agenteye0"/>
            <p:cNvSpPr/>
            <p:nvPr/>
          </p:nvSpPr>
          <p:spPr>
            <a:xfrm>
              <a:off x="462534" y="1100074"/>
              <a:ext cx="16763" cy="16763"/>
            </a:xfrm>
            <a:prstGeom prst="ellipse">
              <a:avLst/>
            </a:prstGeom>
            <a:solidFill>
              <a:srgbClr val="6078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agenteye1"/>
            <p:cNvSpPr/>
            <p:nvPr/>
          </p:nvSpPr>
          <p:spPr>
            <a:xfrm>
              <a:off x="524002" y="1100074"/>
              <a:ext cx="16763" cy="16763"/>
            </a:xfrm>
            <a:prstGeom prst="ellipse">
              <a:avLst/>
            </a:prstGeom>
            <a:solidFill>
              <a:srgbClr val="6078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agentmouth"/>
            <p:cNvSpPr/>
            <p:nvPr/>
          </p:nvSpPr>
          <p:spPr>
            <a:xfrm>
              <a:off x="472313" y="1132205"/>
              <a:ext cx="58674" cy="127"/>
            </a:xfrm>
            <a:custGeom>
              <a:avLst/>
              <a:gdLst/>
              <a:ahLst/>
              <a:cxnLst/>
              <a:rect l="0" t="0" r="r" b="b"/>
              <a:pathLst>
                <a:path w="58674" h="1" fill="none">
                  <a:moveTo>
                    <a:pt x="0" y="0"/>
                  </a:moveTo>
                  <a:lnTo>
                    <a:pt x="58674" y="0"/>
                  </a:lnTo>
                </a:path>
              </a:pathLst>
            </a:custGeom>
            <a:noFill/>
            <a:ln w="635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agentbody"/>
            <p:cNvSpPr/>
            <p:nvPr/>
          </p:nvSpPr>
          <p:spPr>
            <a:xfrm>
              <a:off x="451358" y="1164336"/>
              <a:ext cx="100584" cy="48894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8255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llout_arrow"/>
            <p:cNvSpPr/>
            <p:nvPr/>
          </p:nvSpPr>
          <p:spPr>
            <a:xfrm>
              <a:off x="292100" y="1143000"/>
              <a:ext cx="114300" cy="127"/>
            </a:xfrm>
            <a:custGeom>
              <a:avLst/>
              <a:gdLst/>
              <a:ahLst/>
              <a:cxnLst/>
              <a:rect l="0" t="0" r="r" b="b"/>
              <a:pathLst>
                <a:path w="114300" h="1" fill="none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9525">
              <a:solidFill>
                <a:srgbClr val="60789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1" name="pi_t"/>
            <p:cNvGrpSpPr/>
            <p:nvPr/>
          </p:nvGrpSpPr>
          <p:grpSpPr>
            <a:xfrm>
              <a:off x="292233" y="818479"/>
              <a:ext cx="103109" cy="76124"/>
              <a:chOff x="292233" y="818479"/>
              <a:chExt cx="103109" cy="76124"/>
            </a:xfrm>
          </p:grpSpPr>
          <p:sp>
            <p:nvSpPr>
              <p:cNvPr id="22" name="pi_t_outline_0"/>
              <p:cNvSpPr/>
              <p:nvPr/>
            </p:nvSpPr>
            <p:spPr>
              <a:xfrm>
                <a:off x="292233" y="818479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4"/>
                      <a:pt x="2151" y="16319"/>
                    </a:cubicBezTo>
                    <a:lnTo>
                      <a:pt x="3540" y="16319"/>
                    </a:lnTo>
                    <a:cubicBezTo>
                      <a:pt x="4175" y="15434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pi_t_outline_1"/>
              <p:cNvSpPr/>
              <p:nvPr/>
            </p:nvSpPr>
            <p:spPr>
              <a:xfrm>
                <a:off x="365565" y="836600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" name="advantages"/>
            <p:cNvGrpSpPr/>
            <p:nvPr/>
          </p:nvGrpSpPr>
          <p:grpSpPr>
            <a:xfrm>
              <a:off x="139903" y="1991572"/>
              <a:ext cx="416919" cy="132870"/>
              <a:chOff x="139903" y="1991572"/>
              <a:chExt cx="416919" cy="132870"/>
            </a:xfrm>
          </p:grpSpPr>
          <p:sp>
            <p:nvSpPr>
              <p:cNvPr id="25" name="advantages_outline_0"/>
              <p:cNvSpPr/>
              <p:nvPr/>
            </p:nvSpPr>
            <p:spPr>
              <a:xfrm>
                <a:off x="139903" y="1991572"/>
                <a:ext cx="73910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9" y="0"/>
                    </a:lnTo>
                    <a:lnTo>
                      <a:pt x="50355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9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advantages_outline_1"/>
              <p:cNvSpPr/>
              <p:nvPr/>
            </p:nvSpPr>
            <p:spPr>
              <a:xfrm>
                <a:off x="224333" y="2044113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2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advantages_outline_2"/>
              <p:cNvSpPr/>
              <p:nvPr/>
            </p:nvSpPr>
            <p:spPr>
              <a:xfrm>
                <a:off x="288016" y="2059593"/>
                <a:ext cx="16704" cy="29206"/>
              </a:xfrm>
              <a:custGeom>
                <a:avLst/>
                <a:gdLst/>
                <a:ahLst/>
                <a:cxnLst/>
                <a:rect l="0" t="0" r="r" b="b"/>
                <a:pathLst>
                  <a:path w="16704" h="29206">
                    <a:moveTo>
                      <a:pt x="16704" y="11537"/>
                    </a:moveTo>
                    <a:cubicBezTo>
                      <a:pt x="16704" y="1564"/>
                      <a:pt x="9735" y="0"/>
                      <a:pt x="6969" y="0"/>
                    </a:cubicBezTo>
                    <a:cubicBezTo>
                      <a:pt x="3965" y="0"/>
                      <a:pt x="0" y="1802"/>
                      <a:pt x="0" y="6973"/>
                    </a:cubicBezTo>
                    <a:cubicBezTo>
                      <a:pt x="0" y="11779"/>
                      <a:pt x="4326" y="12982"/>
                      <a:pt x="7449" y="12982"/>
                    </a:cubicBezTo>
                    <a:cubicBezTo>
                      <a:pt x="8291" y="12982"/>
                      <a:pt x="8894" y="12859"/>
                      <a:pt x="9251" y="12740"/>
                    </a:cubicBezTo>
                    <a:cubicBezTo>
                      <a:pt x="9735" y="12621"/>
                      <a:pt x="10093" y="12502"/>
                      <a:pt x="10335" y="12502"/>
                    </a:cubicBezTo>
                    <a:cubicBezTo>
                      <a:pt x="11176" y="12502"/>
                      <a:pt x="12017" y="13101"/>
                      <a:pt x="12017" y="14184"/>
                    </a:cubicBezTo>
                    <a:cubicBezTo>
                      <a:pt x="12017" y="16466"/>
                      <a:pt x="10093" y="21876"/>
                      <a:pt x="2163" y="26920"/>
                    </a:cubicBezTo>
                    <a:lnTo>
                      <a:pt x="3242" y="29206"/>
                    </a:lnTo>
                    <a:cubicBezTo>
                      <a:pt x="6850" y="28004"/>
                      <a:pt x="16704" y="20070"/>
                      <a:pt x="16704" y="11537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advantages_outline_3"/>
              <p:cNvSpPr/>
              <p:nvPr/>
            </p:nvSpPr>
            <p:spPr>
              <a:xfrm>
                <a:off x="365631" y="1991572"/>
                <a:ext cx="73910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8" y="0"/>
                    </a:lnTo>
                    <a:lnTo>
                      <a:pt x="50356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8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advantages_outline_4"/>
              <p:cNvSpPr/>
              <p:nvPr/>
            </p:nvSpPr>
            <p:spPr>
              <a:xfrm>
                <a:off x="450867" y="2044113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advantages_outline_5"/>
              <p:cNvSpPr/>
              <p:nvPr/>
            </p:nvSpPr>
            <p:spPr>
              <a:xfrm>
                <a:off x="506185" y="205243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1" name="observed_cost"/>
            <p:cNvGrpSpPr/>
            <p:nvPr/>
          </p:nvGrpSpPr>
          <p:grpSpPr>
            <a:xfrm>
              <a:off x="307089" y="2430577"/>
              <a:ext cx="113900" cy="130326"/>
              <a:chOff x="307089" y="2430577"/>
              <a:chExt cx="113900" cy="130326"/>
            </a:xfrm>
          </p:grpSpPr>
          <p:sp>
            <p:nvSpPr>
              <p:cNvPr id="32" name="observed_cost_outline_0"/>
              <p:cNvSpPr/>
              <p:nvPr/>
            </p:nvSpPr>
            <p:spPr>
              <a:xfrm>
                <a:off x="336126" y="2430577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A5795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observed_cost_outline_1"/>
              <p:cNvSpPr/>
              <p:nvPr/>
            </p:nvSpPr>
            <p:spPr>
              <a:xfrm>
                <a:off x="307089" y="2451763"/>
                <a:ext cx="62872" cy="84887"/>
              </a:xfrm>
              <a:custGeom>
                <a:avLst/>
                <a:gdLst/>
                <a:ahLst/>
                <a:cxnLst/>
                <a:rect l="0" t="0" r="r" b="b"/>
                <a:pathLst>
                  <a:path w="62873" h="84888">
                    <a:moveTo>
                      <a:pt x="62873" y="2024"/>
                    </a:moveTo>
                    <a:lnTo>
                      <a:pt x="62873" y="0"/>
                    </a:lnTo>
                    <a:lnTo>
                      <a:pt x="30742" y="0"/>
                    </a:lnTo>
                    <a:lnTo>
                      <a:pt x="30742" y="2024"/>
                    </a:lnTo>
                    <a:cubicBezTo>
                      <a:pt x="38711" y="2782"/>
                      <a:pt x="40481" y="3794"/>
                      <a:pt x="40481" y="7211"/>
                    </a:cubicBezTo>
                    <a:cubicBezTo>
                      <a:pt x="40481" y="9108"/>
                      <a:pt x="39977" y="11640"/>
                      <a:pt x="38965" y="15307"/>
                    </a:cubicBezTo>
                    <a:lnTo>
                      <a:pt x="22392" y="74132"/>
                    </a:lnTo>
                    <a:cubicBezTo>
                      <a:pt x="20999" y="79065"/>
                      <a:pt x="19229" y="80966"/>
                      <a:pt x="16192" y="80966"/>
                    </a:cubicBezTo>
                    <a:cubicBezTo>
                      <a:pt x="13156" y="80966"/>
                      <a:pt x="11763" y="79446"/>
                      <a:pt x="11763" y="75906"/>
                    </a:cubicBezTo>
                    <a:cubicBezTo>
                      <a:pt x="11763" y="75271"/>
                      <a:pt x="11763" y="74640"/>
                      <a:pt x="11890" y="74005"/>
                    </a:cubicBezTo>
                    <a:lnTo>
                      <a:pt x="11890" y="72870"/>
                    </a:lnTo>
                    <a:cubicBezTo>
                      <a:pt x="11890" y="69707"/>
                      <a:pt x="9108" y="66921"/>
                      <a:pt x="5691" y="66921"/>
                    </a:cubicBezTo>
                    <a:cubicBezTo>
                      <a:pt x="2278" y="66921"/>
                      <a:pt x="0" y="69707"/>
                      <a:pt x="0" y="73755"/>
                    </a:cubicBezTo>
                    <a:cubicBezTo>
                      <a:pt x="0" y="80458"/>
                      <a:pt x="5945" y="84888"/>
                      <a:pt x="14799" y="84888"/>
                    </a:cubicBezTo>
                    <a:cubicBezTo>
                      <a:pt x="21253" y="84888"/>
                      <a:pt x="26944" y="82356"/>
                      <a:pt x="30865" y="77676"/>
                    </a:cubicBezTo>
                    <a:cubicBezTo>
                      <a:pt x="34282" y="73628"/>
                      <a:pt x="36814" y="67933"/>
                      <a:pt x="39469" y="58321"/>
                    </a:cubicBezTo>
                    <a:lnTo>
                      <a:pt x="52499" y="11386"/>
                    </a:lnTo>
                    <a:cubicBezTo>
                      <a:pt x="54777" y="3794"/>
                      <a:pt x="55662" y="3036"/>
                      <a:pt x="62873" y="2024"/>
                    </a:cubicBezTo>
                    <a:close/>
                  </a:path>
                </a:pathLst>
              </a:custGeom>
              <a:solidFill>
                <a:srgbClr val="A5795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observed_cost_outline_2"/>
              <p:cNvSpPr/>
              <p:nvPr/>
            </p:nvSpPr>
            <p:spPr>
              <a:xfrm>
                <a:off x="370352" y="2488891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A5795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35" name="module_stage2"/>
          <p:cNvGrpSpPr/>
          <p:nvPr/>
        </p:nvGrpSpPr>
        <p:grpSpPr>
          <a:xfrm>
            <a:off x="736600" y="76200"/>
            <a:ext cx="736600" cy="2552700"/>
            <a:chOff x="736600" y="76200"/>
            <a:chExt cx="736600" cy="2552700"/>
          </a:xfrm>
        </p:grpSpPr>
        <p:sp>
          <p:nvSpPr>
            <p:cNvPr id="36" name="stage2_border"/>
            <p:cNvSpPr/>
            <p:nvPr/>
          </p:nvSpPr>
          <p:spPr>
            <a:xfrm>
              <a:off x="736600" y="76200"/>
              <a:ext cx="7366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inputmatrix0_0_0"/>
            <p:cNvSpPr/>
            <p:nvPr/>
          </p:nvSpPr>
          <p:spPr>
            <a:xfrm>
              <a:off x="800100" y="1600200"/>
              <a:ext cx="67733" cy="67733"/>
            </a:xfrm>
            <a:prstGeom prst="rect">
              <a:avLst/>
            </a:prstGeom>
            <a:solidFill>
              <a:srgbClr val="60789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inputmatrix0_0_1"/>
            <p:cNvSpPr/>
            <p:nvPr/>
          </p:nvSpPr>
          <p:spPr>
            <a:xfrm>
              <a:off x="867833" y="1600200"/>
              <a:ext cx="67733" cy="67733"/>
            </a:xfrm>
            <a:prstGeom prst="rect">
              <a:avLst/>
            </a:prstGeom>
            <a:solidFill>
              <a:srgbClr val="60789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inputmatrix0_0_2"/>
            <p:cNvSpPr/>
            <p:nvPr/>
          </p:nvSpPr>
          <p:spPr>
            <a:xfrm>
              <a:off x="935566" y="1600200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inputmatrix0_1_0"/>
            <p:cNvSpPr/>
            <p:nvPr/>
          </p:nvSpPr>
          <p:spPr>
            <a:xfrm>
              <a:off x="800100" y="1667933"/>
              <a:ext cx="67733" cy="67733"/>
            </a:xfrm>
            <a:prstGeom prst="rect">
              <a:avLst/>
            </a:prstGeom>
            <a:solidFill>
              <a:srgbClr val="60789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inputmatrix0_1_1"/>
            <p:cNvSpPr/>
            <p:nvPr/>
          </p:nvSpPr>
          <p:spPr>
            <a:xfrm>
              <a:off x="867833" y="1667933"/>
              <a:ext cx="67733" cy="67733"/>
            </a:xfrm>
            <a:prstGeom prst="rect">
              <a:avLst/>
            </a:prstGeom>
            <a:solidFill>
              <a:srgbClr val="60789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inputmatrix0_1_2"/>
            <p:cNvSpPr/>
            <p:nvPr/>
          </p:nvSpPr>
          <p:spPr>
            <a:xfrm>
              <a:off x="935566" y="1667933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inputmatrix0_2_0"/>
            <p:cNvSpPr/>
            <p:nvPr/>
          </p:nvSpPr>
          <p:spPr>
            <a:xfrm>
              <a:off x="800100" y="17356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inputmatrix0_2_1"/>
            <p:cNvSpPr/>
            <p:nvPr/>
          </p:nvSpPr>
          <p:spPr>
            <a:xfrm>
              <a:off x="867833" y="17356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inputmatrix0_2_2"/>
            <p:cNvSpPr/>
            <p:nvPr/>
          </p:nvSpPr>
          <p:spPr>
            <a:xfrm>
              <a:off x="935566" y="1735666"/>
              <a:ext cx="67733" cy="67733"/>
            </a:xfrm>
            <a:prstGeom prst="rect">
              <a:avLst/>
            </a:prstGeom>
            <a:solidFill>
              <a:srgbClr val="607891"/>
            </a:solidFill>
            <a:ln w="508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input_name0"/>
            <p:cNvSpPr txBox="1"/>
            <p:nvPr/>
          </p:nvSpPr>
          <p:spPr>
            <a:xfrm>
              <a:off x="1003300" y="1778000"/>
              <a:ext cx="457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07891"/>
                  </a:solidFill>
                  <a:latin typeface="Liberation Serif"/>
                </a:rPr>
                <a:t>flow</a:t>
              </a:r>
            </a:p>
          </p:txBody>
        </p:sp>
        <p:sp>
          <p:nvSpPr>
            <p:cNvPr id="47" name="inputmatrix1_0_0"/>
            <p:cNvSpPr/>
            <p:nvPr/>
          </p:nvSpPr>
          <p:spPr>
            <a:xfrm>
              <a:off x="800100" y="1930400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inputmatrix1_0_1"/>
            <p:cNvSpPr/>
            <p:nvPr/>
          </p:nvSpPr>
          <p:spPr>
            <a:xfrm>
              <a:off x="867833" y="1930400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inputmatrix1_0_2"/>
            <p:cNvSpPr/>
            <p:nvPr/>
          </p:nvSpPr>
          <p:spPr>
            <a:xfrm>
              <a:off x="935566" y="1930400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inputmatrix1_1_0"/>
            <p:cNvSpPr/>
            <p:nvPr/>
          </p:nvSpPr>
          <p:spPr>
            <a:xfrm>
              <a:off x="800100" y="1998133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inputmatrix1_1_1"/>
            <p:cNvSpPr/>
            <p:nvPr/>
          </p:nvSpPr>
          <p:spPr>
            <a:xfrm>
              <a:off x="867833" y="1998133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inputmatrix1_1_2"/>
            <p:cNvSpPr/>
            <p:nvPr/>
          </p:nvSpPr>
          <p:spPr>
            <a:xfrm>
              <a:off x="935566" y="1998133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inputmatrix1_2_0"/>
            <p:cNvSpPr/>
            <p:nvPr/>
          </p:nvSpPr>
          <p:spPr>
            <a:xfrm>
              <a:off x="800100" y="20658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inputmatrix1_2_1"/>
            <p:cNvSpPr/>
            <p:nvPr/>
          </p:nvSpPr>
          <p:spPr>
            <a:xfrm>
              <a:off x="867833" y="20658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inputmatrix1_2_2"/>
            <p:cNvSpPr/>
            <p:nvPr/>
          </p:nvSpPr>
          <p:spPr>
            <a:xfrm>
              <a:off x="935566" y="2065866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input_name1"/>
            <p:cNvSpPr txBox="1"/>
            <p:nvPr/>
          </p:nvSpPr>
          <p:spPr>
            <a:xfrm>
              <a:off x="1003300" y="2108200"/>
              <a:ext cx="457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advantage</a:t>
              </a:r>
            </a:p>
          </p:txBody>
        </p:sp>
        <p:sp>
          <p:nvSpPr>
            <p:cNvPr id="57" name="inputmatrix2_0_0"/>
            <p:cNvSpPr/>
            <p:nvPr/>
          </p:nvSpPr>
          <p:spPr>
            <a:xfrm>
              <a:off x="800100" y="2260600"/>
              <a:ext cx="67733" cy="67733"/>
            </a:xfrm>
            <a:prstGeom prst="rect">
              <a:avLst/>
            </a:prstGeom>
            <a:solidFill>
              <a:srgbClr val="3F746B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inputmatrix2_0_1"/>
            <p:cNvSpPr/>
            <p:nvPr/>
          </p:nvSpPr>
          <p:spPr>
            <a:xfrm>
              <a:off x="867833" y="2260600"/>
              <a:ext cx="67733" cy="67733"/>
            </a:xfrm>
            <a:prstGeom prst="rect">
              <a:avLst/>
            </a:prstGeom>
            <a:solidFill>
              <a:srgbClr val="3F746B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inputmatrix2_0_2"/>
            <p:cNvSpPr/>
            <p:nvPr/>
          </p:nvSpPr>
          <p:spPr>
            <a:xfrm>
              <a:off x="935566" y="2260600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inputmatrix2_1_0"/>
            <p:cNvSpPr/>
            <p:nvPr/>
          </p:nvSpPr>
          <p:spPr>
            <a:xfrm>
              <a:off x="800100" y="2328333"/>
              <a:ext cx="67733" cy="67733"/>
            </a:xfrm>
            <a:prstGeom prst="rect">
              <a:avLst/>
            </a:prstGeom>
            <a:solidFill>
              <a:srgbClr val="3F746B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inputmatrix2_1_1"/>
            <p:cNvSpPr/>
            <p:nvPr/>
          </p:nvSpPr>
          <p:spPr>
            <a:xfrm>
              <a:off x="867833" y="2328333"/>
              <a:ext cx="67733" cy="67733"/>
            </a:xfrm>
            <a:prstGeom prst="rect">
              <a:avLst/>
            </a:prstGeom>
            <a:solidFill>
              <a:srgbClr val="3F746B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inputmatrix2_1_2"/>
            <p:cNvSpPr/>
            <p:nvPr/>
          </p:nvSpPr>
          <p:spPr>
            <a:xfrm>
              <a:off x="935566" y="2328333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inputmatrix2_2_0"/>
            <p:cNvSpPr/>
            <p:nvPr/>
          </p:nvSpPr>
          <p:spPr>
            <a:xfrm>
              <a:off x="800100" y="23960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inputmatrix2_2_1"/>
            <p:cNvSpPr/>
            <p:nvPr/>
          </p:nvSpPr>
          <p:spPr>
            <a:xfrm>
              <a:off x="867833" y="23960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inputmatrix2_2_2"/>
            <p:cNvSpPr/>
            <p:nvPr/>
          </p:nvSpPr>
          <p:spPr>
            <a:xfrm>
              <a:off x="935566" y="2396066"/>
              <a:ext cx="67733" cy="67733"/>
            </a:xfrm>
            <a:prstGeom prst="rect">
              <a:avLst/>
            </a:prstGeom>
            <a:solidFill>
              <a:srgbClr val="3F746B"/>
            </a:solidFill>
            <a:ln w="50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input_name2"/>
            <p:cNvSpPr txBox="1"/>
            <p:nvPr/>
          </p:nvSpPr>
          <p:spPr>
            <a:xfrm>
              <a:off x="1003300" y="2438400"/>
              <a:ext cx="457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3F746B"/>
                  </a:solidFill>
                  <a:latin typeface="Liberation Serif"/>
                </a:rPr>
                <a:t>costs</a:t>
              </a:r>
            </a:p>
          </p:txBody>
        </p:sp>
        <p:sp>
          <p:nvSpPr>
            <p:cNvPr id="67" name="badge2"/>
            <p:cNvSpPr/>
            <p:nvPr/>
          </p:nvSpPr>
          <p:spPr>
            <a:xfrm>
              <a:off x="787400" y="177800"/>
              <a:ext cx="146050" cy="146050"/>
            </a:xfrm>
            <a:prstGeom prst="ellipse">
              <a:avLst/>
            </a:prstGeom>
            <a:solidFill>
              <a:srgbClr val="6078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number2"/>
            <p:cNvSpPr txBox="1"/>
            <p:nvPr/>
          </p:nvSpPr>
          <p:spPr>
            <a:xfrm>
              <a:off x="7874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69" name="title2"/>
            <p:cNvSpPr txBox="1"/>
            <p:nvPr/>
          </p:nvSpPr>
          <p:spPr>
            <a:xfrm>
              <a:off x="965200" y="114300"/>
              <a:ext cx="4826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Flow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inputs</a:t>
              </a:r>
            </a:p>
          </p:txBody>
        </p:sp>
        <p:sp>
          <p:nvSpPr>
            <p:cNvPr id="70" name="clustered"/>
            <p:cNvSpPr txBox="1"/>
            <p:nvPr/>
          </p:nvSpPr>
          <p:spPr>
            <a:xfrm>
              <a:off x="774700" y="546100"/>
              <a:ext cx="660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state clusters</a:t>
              </a:r>
            </a:p>
          </p:txBody>
        </p:sp>
        <p:sp>
          <p:nvSpPr>
            <p:cNvPr id="71" name="input_graph_edge0"/>
            <p:cNvSpPr/>
            <p:nvPr/>
          </p:nvSpPr>
          <p:spPr>
            <a:xfrm>
              <a:off x="840242" y="878491"/>
              <a:ext cx="146536" cy="148016"/>
            </a:xfrm>
            <a:custGeom>
              <a:avLst/>
              <a:gdLst/>
              <a:ahLst/>
              <a:cxnLst/>
              <a:rect l="0" t="0" r="r" b="b"/>
              <a:pathLst>
                <a:path w="146536" h="148016" fill="none">
                  <a:moveTo>
                    <a:pt x="0" y="148016"/>
                  </a:moveTo>
                  <a:lnTo>
                    <a:pt x="146536" y="0"/>
                  </a:lnTo>
                </a:path>
              </a:pathLst>
            </a:custGeom>
            <a:noFill/>
            <a:ln w="10795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input_graph_edge1"/>
            <p:cNvSpPr/>
            <p:nvPr/>
          </p:nvSpPr>
          <p:spPr>
            <a:xfrm>
              <a:off x="1022477" y="863600"/>
              <a:ext cx="139445" cy="127"/>
            </a:xfrm>
            <a:custGeom>
              <a:avLst/>
              <a:gdLst/>
              <a:ahLst/>
              <a:cxnLst/>
              <a:rect l="0" t="0" r="r" b="b"/>
              <a:pathLst>
                <a:path w="139445" h="1" fill="none">
                  <a:moveTo>
                    <a:pt x="0" y="0"/>
                  </a:moveTo>
                  <a:lnTo>
                    <a:pt x="139445" y="0"/>
                  </a:lnTo>
                </a:path>
              </a:pathLst>
            </a:custGeom>
            <a:noFill/>
            <a:ln w="10795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input_graph_edge2"/>
            <p:cNvSpPr/>
            <p:nvPr/>
          </p:nvSpPr>
          <p:spPr>
            <a:xfrm>
              <a:off x="1197620" y="878491"/>
              <a:ext cx="146536" cy="148016"/>
            </a:xfrm>
            <a:custGeom>
              <a:avLst/>
              <a:gdLst/>
              <a:ahLst/>
              <a:cxnLst/>
              <a:rect l="0" t="0" r="r" b="b"/>
              <a:pathLst>
                <a:path w="146536" h="148016" fill="none">
                  <a:moveTo>
                    <a:pt x="0" y="0"/>
                  </a:moveTo>
                  <a:lnTo>
                    <a:pt x="146536" y="148016"/>
                  </a:lnTo>
                </a:path>
              </a:pathLst>
            </a:custGeom>
            <a:noFill/>
            <a:ln w="10795">
              <a:solidFill>
                <a:srgbClr val="60789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input_graph_edge3"/>
            <p:cNvSpPr/>
            <p:nvPr/>
          </p:nvSpPr>
          <p:spPr>
            <a:xfrm>
              <a:off x="840242" y="1056291"/>
              <a:ext cx="146536" cy="148016"/>
            </a:xfrm>
            <a:custGeom>
              <a:avLst/>
              <a:gdLst/>
              <a:ahLst/>
              <a:cxnLst/>
              <a:rect l="0" t="0" r="r" b="b"/>
              <a:pathLst>
                <a:path w="146536" h="148016" fill="none">
                  <a:moveTo>
                    <a:pt x="0" y="0"/>
                  </a:moveTo>
                  <a:lnTo>
                    <a:pt x="146536" y="148016"/>
                  </a:lnTo>
                </a:path>
              </a:pathLst>
            </a:custGeom>
            <a:noFill/>
            <a:ln w="5715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input_graph_edge4"/>
            <p:cNvSpPr/>
            <p:nvPr/>
          </p:nvSpPr>
          <p:spPr>
            <a:xfrm>
              <a:off x="1022477" y="1219200"/>
              <a:ext cx="139445" cy="127"/>
            </a:xfrm>
            <a:custGeom>
              <a:avLst/>
              <a:gdLst/>
              <a:ahLst/>
              <a:cxnLst/>
              <a:rect l="0" t="0" r="r" b="b"/>
              <a:pathLst>
                <a:path w="139445" h="1" fill="none">
                  <a:moveTo>
                    <a:pt x="0" y="0"/>
                  </a:moveTo>
                  <a:lnTo>
                    <a:pt x="139445" y="0"/>
                  </a:lnTo>
                </a:path>
              </a:pathLst>
            </a:custGeom>
            <a:noFill/>
            <a:ln w="5715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input_graph_edge5"/>
            <p:cNvSpPr/>
            <p:nvPr/>
          </p:nvSpPr>
          <p:spPr>
            <a:xfrm>
              <a:off x="1197620" y="1056291"/>
              <a:ext cx="146536" cy="148016"/>
            </a:xfrm>
            <a:custGeom>
              <a:avLst/>
              <a:gdLst/>
              <a:ahLst/>
              <a:cxnLst/>
              <a:rect l="0" t="0" r="r" b="b"/>
              <a:pathLst>
                <a:path w="146536" h="148016" fill="none">
                  <a:moveTo>
                    <a:pt x="0" y="148016"/>
                  </a:moveTo>
                  <a:lnTo>
                    <a:pt x="146536" y="0"/>
                  </a:lnTo>
                </a:path>
              </a:pathLst>
            </a:custGeom>
            <a:noFill/>
            <a:ln w="5715">
              <a:solidFill>
                <a:srgbClr val="60789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input_graph_node0"/>
            <p:cNvSpPr/>
            <p:nvPr/>
          </p:nvSpPr>
          <p:spPr>
            <a:xfrm>
              <a:off x="804545" y="1020444"/>
              <a:ext cx="41910" cy="41910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input_graph_node1"/>
            <p:cNvSpPr/>
            <p:nvPr/>
          </p:nvSpPr>
          <p:spPr>
            <a:xfrm>
              <a:off x="980566" y="842644"/>
              <a:ext cx="41910" cy="41910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input_graph_node2"/>
            <p:cNvSpPr/>
            <p:nvPr/>
          </p:nvSpPr>
          <p:spPr>
            <a:xfrm>
              <a:off x="980566" y="1198245"/>
              <a:ext cx="41910" cy="41910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input_graph_node3"/>
            <p:cNvSpPr/>
            <p:nvPr/>
          </p:nvSpPr>
          <p:spPr>
            <a:xfrm>
              <a:off x="1161923" y="842644"/>
              <a:ext cx="41910" cy="41910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input_graph_node4"/>
            <p:cNvSpPr/>
            <p:nvPr/>
          </p:nvSpPr>
          <p:spPr>
            <a:xfrm>
              <a:off x="1161923" y="1198245"/>
              <a:ext cx="41910" cy="41910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input_graph_node5"/>
            <p:cNvSpPr/>
            <p:nvPr/>
          </p:nvSpPr>
          <p:spPr>
            <a:xfrm>
              <a:off x="1337945" y="1020444"/>
              <a:ext cx="41910" cy="41910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ransitions"/>
            <p:cNvSpPr txBox="1"/>
            <p:nvPr/>
          </p:nvSpPr>
          <p:spPr>
            <a:xfrm>
              <a:off x="762000" y="1308100"/>
              <a:ext cx="685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transition edges</a:t>
              </a:r>
            </a:p>
          </p:txBody>
        </p:sp>
        <p:grpSp>
          <p:nvGrpSpPr>
            <p:cNvPr id="84" name="input_symbol0"/>
            <p:cNvGrpSpPr/>
            <p:nvPr/>
          </p:nvGrpSpPr>
          <p:grpSpPr>
            <a:xfrm>
              <a:off x="1185629" y="1646361"/>
              <a:ext cx="80585" cy="111019"/>
              <a:chOff x="1185629" y="1646361"/>
              <a:chExt cx="80585" cy="111019"/>
            </a:xfrm>
          </p:grpSpPr>
          <p:sp>
            <p:nvSpPr>
              <p:cNvPr id="85" name="input_symbol0_outline_0"/>
              <p:cNvSpPr/>
              <p:nvPr/>
            </p:nvSpPr>
            <p:spPr>
              <a:xfrm>
                <a:off x="1219411" y="1646361"/>
                <a:ext cx="39342" cy="21125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21126">
                    <a:moveTo>
                      <a:pt x="39342" y="21126"/>
                    </a:moveTo>
                    <a:lnTo>
                      <a:pt x="23531" y="0"/>
                    </a:lnTo>
                    <a:lnTo>
                      <a:pt x="15685" y="0"/>
                    </a:lnTo>
                    <a:lnTo>
                      <a:pt x="0" y="21126"/>
                    </a:lnTo>
                    <a:lnTo>
                      <a:pt x="4298" y="21126"/>
                    </a:lnTo>
                    <a:lnTo>
                      <a:pt x="19606" y="8096"/>
                    </a:lnTo>
                    <a:lnTo>
                      <a:pt x="35040" y="21126"/>
                    </a:lnTo>
                    <a:lnTo>
                      <a:pt x="39342" y="21126"/>
                    </a:lnTo>
                    <a:close/>
                  </a:path>
                </a:pathLst>
              </a:custGeom>
              <a:solidFill>
                <a:srgbClr val="60789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" name="input_symbol0_outline_1"/>
              <p:cNvSpPr/>
              <p:nvPr/>
            </p:nvSpPr>
            <p:spPr>
              <a:xfrm>
                <a:off x="1185629" y="167477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60789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7" name="input_symbol1"/>
            <p:cNvGrpSpPr/>
            <p:nvPr/>
          </p:nvGrpSpPr>
          <p:grpSpPr>
            <a:xfrm>
              <a:off x="1184362" y="1990197"/>
              <a:ext cx="77803" cy="84506"/>
              <a:chOff x="1184362" y="1990197"/>
              <a:chExt cx="77803" cy="84506"/>
            </a:xfrm>
          </p:grpSpPr>
          <p:sp>
            <p:nvSpPr>
              <p:cNvPr id="88" name="input_symbol1_outline_0"/>
              <p:cNvSpPr/>
              <p:nvPr/>
            </p:nvSpPr>
            <p:spPr>
              <a:xfrm>
                <a:off x="1184362" y="1990197"/>
                <a:ext cx="77803" cy="84506"/>
              </a:xfrm>
              <a:custGeom>
                <a:avLst/>
                <a:gdLst/>
                <a:ahLst/>
                <a:cxnLst/>
                <a:rect l="0" t="0" r="r" b="b"/>
                <a:pathLst>
                  <a:path w="77803" h="84507">
                    <a:moveTo>
                      <a:pt x="77803" y="84507"/>
                    </a:moveTo>
                    <a:lnTo>
                      <a:pt x="77803" y="82482"/>
                    </a:lnTo>
                    <a:cubicBezTo>
                      <a:pt x="70592" y="81851"/>
                      <a:pt x="69707" y="80839"/>
                      <a:pt x="68187" y="71604"/>
                    </a:cubicBezTo>
                    <a:lnTo>
                      <a:pt x="56297" y="0"/>
                    </a:lnTo>
                    <a:lnTo>
                      <a:pt x="53007" y="0"/>
                    </a:lnTo>
                    <a:lnTo>
                      <a:pt x="16319" y="63254"/>
                    </a:lnTo>
                    <a:cubicBezTo>
                      <a:pt x="6326" y="80077"/>
                      <a:pt x="5060" y="81470"/>
                      <a:pt x="0" y="82482"/>
                    </a:cubicBezTo>
                    <a:lnTo>
                      <a:pt x="0" y="84507"/>
                    </a:lnTo>
                    <a:lnTo>
                      <a:pt x="23658" y="84507"/>
                    </a:lnTo>
                    <a:lnTo>
                      <a:pt x="23658" y="82482"/>
                    </a:lnTo>
                    <a:cubicBezTo>
                      <a:pt x="17205" y="81851"/>
                      <a:pt x="16193" y="81216"/>
                      <a:pt x="16193" y="78053"/>
                    </a:cubicBezTo>
                    <a:cubicBezTo>
                      <a:pt x="16193" y="75652"/>
                      <a:pt x="16574" y="74513"/>
                      <a:pt x="18725" y="70211"/>
                    </a:cubicBezTo>
                    <a:lnTo>
                      <a:pt x="25936" y="55916"/>
                    </a:lnTo>
                    <a:lnTo>
                      <a:pt x="53769" y="55916"/>
                    </a:lnTo>
                    <a:lnTo>
                      <a:pt x="56297" y="72489"/>
                    </a:lnTo>
                    <a:cubicBezTo>
                      <a:pt x="56424" y="73628"/>
                      <a:pt x="56551" y="74767"/>
                      <a:pt x="56551" y="75779"/>
                    </a:cubicBezTo>
                    <a:cubicBezTo>
                      <a:pt x="56551" y="80585"/>
                      <a:pt x="54781" y="81724"/>
                      <a:pt x="46684" y="82482"/>
                    </a:cubicBezTo>
                    <a:lnTo>
                      <a:pt x="46684" y="84507"/>
                    </a:lnTo>
                    <a:lnTo>
                      <a:pt x="77803" y="84507"/>
                    </a:lnTo>
                    <a:close/>
                    <a:moveTo>
                      <a:pt x="53134" y="51363"/>
                    </a:moveTo>
                    <a:lnTo>
                      <a:pt x="28591" y="51363"/>
                    </a:lnTo>
                    <a:lnTo>
                      <a:pt x="47569" y="18470"/>
                    </a:lnTo>
                    <a:lnTo>
                      <a:pt x="53134" y="51363"/>
                    </a:lnTo>
                    <a:close/>
                  </a:path>
                </a:pathLst>
              </a:custGeom>
              <a:solidFill>
                <a:srgbClr val="76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9" name="input_symbol2"/>
            <p:cNvGrpSpPr/>
            <p:nvPr/>
          </p:nvGrpSpPr>
          <p:grpSpPr>
            <a:xfrm>
              <a:off x="1156690" y="2307563"/>
              <a:ext cx="133011" cy="110782"/>
              <a:chOff x="1156690" y="2307563"/>
              <a:chExt cx="133011" cy="110782"/>
            </a:xfrm>
          </p:grpSpPr>
          <p:sp>
            <p:nvSpPr>
              <p:cNvPr id="90" name="input_symbol2_outline_0"/>
              <p:cNvSpPr/>
              <p:nvPr/>
            </p:nvSpPr>
            <p:spPr>
              <a:xfrm>
                <a:off x="1156690" y="2307563"/>
                <a:ext cx="78811" cy="86530"/>
              </a:xfrm>
              <a:custGeom>
                <a:avLst/>
                <a:gdLst/>
                <a:ahLst/>
                <a:cxnLst/>
                <a:rect l="0" t="0" r="r" b="b"/>
                <a:pathLst>
                  <a:path w="78811" h="86531">
                    <a:moveTo>
                      <a:pt x="67556" y="67679"/>
                    </a:moveTo>
                    <a:lnTo>
                      <a:pt x="65405" y="65909"/>
                    </a:lnTo>
                    <a:cubicBezTo>
                      <a:pt x="54019" y="77168"/>
                      <a:pt x="46680" y="80835"/>
                      <a:pt x="36306" y="80835"/>
                    </a:cubicBezTo>
                    <a:cubicBezTo>
                      <a:pt x="22265" y="80835"/>
                      <a:pt x="14168" y="71350"/>
                      <a:pt x="14168" y="54904"/>
                    </a:cubicBezTo>
                    <a:cubicBezTo>
                      <a:pt x="14168" y="39850"/>
                      <a:pt x="20241" y="24543"/>
                      <a:pt x="30107" y="14295"/>
                    </a:cubicBezTo>
                    <a:cubicBezTo>
                      <a:pt x="36179" y="7969"/>
                      <a:pt x="44148" y="4552"/>
                      <a:pt x="52499" y="4552"/>
                    </a:cubicBezTo>
                    <a:cubicBezTo>
                      <a:pt x="64139" y="4552"/>
                      <a:pt x="70592" y="11382"/>
                      <a:pt x="71854" y="25047"/>
                    </a:cubicBezTo>
                    <a:lnTo>
                      <a:pt x="74132" y="25428"/>
                    </a:lnTo>
                    <a:lnTo>
                      <a:pt x="78811" y="250"/>
                    </a:lnTo>
                    <a:lnTo>
                      <a:pt x="76156" y="250"/>
                    </a:lnTo>
                    <a:cubicBezTo>
                      <a:pt x="75144" y="2274"/>
                      <a:pt x="73878" y="3036"/>
                      <a:pt x="71350" y="3036"/>
                    </a:cubicBezTo>
                    <a:cubicBezTo>
                      <a:pt x="70211" y="3036"/>
                      <a:pt x="68818" y="2782"/>
                      <a:pt x="66163" y="2151"/>
                    </a:cubicBezTo>
                    <a:cubicBezTo>
                      <a:pt x="60595" y="758"/>
                      <a:pt x="55535" y="0"/>
                      <a:pt x="51360" y="0"/>
                    </a:cubicBezTo>
                    <a:cubicBezTo>
                      <a:pt x="24289" y="0"/>
                      <a:pt x="0" y="25301"/>
                      <a:pt x="0" y="53511"/>
                    </a:cubicBezTo>
                    <a:cubicBezTo>
                      <a:pt x="0" y="72866"/>
                      <a:pt x="13660" y="86531"/>
                      <a:pt x="33016" y="86531"/>
                    </a:cubicBezTo>
                    <a:cubicBezTo>
                      <a:pt x="46049" y="86531"/>
                      <a:pt x="56170" y="81089"/>
                      <a:pt x="67556" y="67679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" name="input_symbol2_outline_1"/>
              <p:cNvSpPr/>
              <p:nvPr/>
            </p:nvSpPr>
            <p:spPr>
              <a:xfrm>
                <a:off x="1239064" y="234633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92" name="module_stage3"/>
          <p:cNvGrpSpPr/>
          <p:nvPr/>
        </p:nvGrpSpPr>
        <p:grpSpPr>
          <a:xfrm>
            <a:off x="1536700" y="76200"/>
            <a:ext cx="800100" cy="2552700"/>
            <a:chOff x="1536700" y="76200"/>
            <a:chExt cx="800100" cy="2552700"/>
          </a:xfrm>
        </p:grpSpPr>
        <p:sp>
          <p:nvSpPr>
            <p:cNvPr id="93" name="stage3_border"/>
            <p:cNvSpPr/>
            <p:nvPr/>
          </p:nvSpPr>
          <p:spPr>
            <a:xfrm>
              <a:off x="1536700" y="76200"/>
              <a:ext cx="8001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badge3"/>
            <p:cNvSpPr/>
            <p:nvPr/>
          </p:nvSpPr>
          <p:spPr>
            <a:xfrm>
              <a:off x="1587500" y="177800"/>
              <a:ext cx="146050" cy="146050"/>
            </a:xfrm>
            <a:prstGeom prst="ellipse">
              <a:avLst/>
            </a:prstGeom>
            <a:solidFill>
              <a:srgbClr val="3F74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number3"/>
            <p:cNvSpPr txBox="1"/>
            <p:nvPr/>
          </p:nvSpPr>
          <p:spPr>
            <a:xfrm>
              <a:off x="15875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96" name="title3"/>
            <p:cNvSpPr txBox="1"/>
            <p:nvPr/>
          </p:nvSpPr>
          <p:spPr>
            <a:xfrm>
              <a:off x="1765300" y="114300"/>
              <a:ext cx="5461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Set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constraints</a:t>
              </a:r>
            </a:p>
          </p:txBody>
        </p:sp>
        <p:sp>
          <p:nvSpPr>
            <p:cNvPr id="97" name="soft_label"/>
            <p:cNvSpPr txBox="1"/>
            <p:nvPr/>
          </p:nvSpPr>
          <p:spPr>
            <a:xfrm>
              <a:off x="1562100" y="558800"/>
              <a:ext cx="7493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4333B"/>
                  </a:solidFill>
                  <a:latin typeface="Liberation Serif"/>
                </a:rPr>
                <a:t>Soft constraints</a:t>
              </a:r>
            </a:p>
          </p:txBody>
        </p:sp>
        <p:sp>
          <p:nvSpPr>
            <p:cNvPr id="98" name="budget_words"/>
            <p:cNvSpPr txBox="1"/>
            <p:nvPr/>
          </p:nvSpPr>
          <p:spPr>
            <a:xfrm>
              <a:off x="1549400" y="812800"/>
              <a:ext cx="7747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all cost budgets</a:t>
              </a:r>
            </a:p>
          </p:txBody>
        </p:sp>
        <p:sp>
          <p:nvSpPr>
            <p:cNvPr id="99" name="budget_track0"/>
            <p:cNvSpPr/>
            <p:nvPr/>
          </p:nvSpPr>
          <p:spPr>
            <a:xfrm>
              <a:off x="1663700" y="1117600"/>
              <a:ext cx="520700" cy="63500"/>
            </a:xfrm>
            <a:prstGeom prst="roundRect">
              <a:avLst>
                <a:gd name="adj" fmla="val 2500"/>
              </a:avLst>
            </a:prstGeom>
            <a:solidFill>
              <a:srgbClr val="F0F3F2"/>
            </a:solidFill>
            <a:ln w="5080">
              <a:solidFill>
                <a:srgbClr val="D2DD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budget_fill0"/>
            <p:cNvSpPr/>
            <p:nvPr/>
          </p:nvSpPr>
          <p:spPr>
            <a:xfrm>
              <a:off x="1663700" y="1117600"/>
              <a:ext cx="254000" cy="63500"/>
            </a:xfrm>
            <a:prstGeom prst="roundRect">
              <a:avLst>
                <a:gd name="adj" fmla="val 2500"/>
              </a:avLst>
            </a:prstGeom>
            <a:solidFill>
              <a:srgbClr val="9FB7B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budget_limit0"/>
            <p:cNvSpPr/>
            <p:nvPr/>
          </p:nvSpPr>
          <p:spPr>
            <a:xfrm>
              <a:off x="2095500" y="1079500"/>
              <a:ext cx="127" cy="139700"/>
            </a:xfrm>
            <a:custGeom>
              <a:avLst/>
              <a:gdLst/>
              <a:ahLst/>
              <a:cxnLst/>
              <a:rect l="0" t="0" r="r" b="b"/>
              <a:pathLst>
                <a:path w="1" h="139700" fill="none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952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budget_track1"/>
            <p:cNvSpPr/>
            <p:nvPr/>
          </p:nvSpPr>
          <p:spPr>
            <a:xfrm>
              <a:off x="1663700" y="1308100"/>
              <a:ext cx="520700" cy="63500"/>
            </a:xfrm>
            <a:prstGeom prst="roundRect">
              <a:avLst>
                <a:gd name="adj" fmla="val 2500"/>
              </a:avLst>
            </a:prstGeom>
            <a:solidFill>
              <a:srgbClr val="F0F3F2"/>
            </a:solidFill>
            <a:ln w="5080">
              <a:solidFill>
                <a:srgbClr val="D2DD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budget_fill1"/>
            <p:cNvSpPr/>
            <p:nvPr/>
          </p:nvSpPr>
          <p:spPr>
            <a:xfrm>
              <a:off x="1663700" y="1308100"/>
              <a:ext cx="330200" cy="63500"/>
            </a:xfrm>
            <a:prstGeom prst="roundRect">
              <a:avLst>
                <a:gd name="adj" fmla="val 2500"/>
              </a:avLst>
            </a:prstGeom>
            <a:solidFill>
              <a:srgbClr val="9FB7B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budget_limit1"/>
            <p:cNvSpPr/>
            <p:nvPr/>
          </p:nvSpPr>
          <p:spPr>
            <a:xfrm>
              <a:off x="2095500" y="1270000"/>
              <a:ext cx="127" cy="139700"/>
            </a:xfrm>
            <a:custGeom>
              <a:avLst/>
              <a:gdLst/>
              <a:ahLst/>
              <a:cxnLst/>
              <a:rect l="0" t="0" r="r" b="b"/>
              <a:pathLst>
                <a:path w="1" h="139700" fill="none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952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budget_track2"/>
            <p:cNvSpPr/>
            <p:nvPr/>
          </p:nvSpPr>
          <p:spPr>
            <a:xfrm>
              <a:off x="1663700" y="1498600"/>
              <a:ext cx="520700" cy="63500"/>
            </a:xfrm>
            <a:prstGeom prst="roundRect">
              <a:avLst>
                <a:gd name="adj" fmla="val 2500"/>
              </a:avLst>
            </a:prstGeom>
            <a:solidFill>
              <a:srgbClr val="F0F3F2"/>
            </a:solidFill>
            <a:ln w="5080">
              <a:solidFill>
                <a:srgbClr val="D2DD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budget_fill2"/>
            <p:cNvSpPr/>
            <p:nvPr/>
          </p:nvSpPr>
          <p:spPr>
            <a:xfrm>
              <a:off x="1663700" y="1498600"/>
              <a:ext cx="203200" cy="63500"/>
            </a:xfrm>
            <a:prstGeom prst="roundRect">
              <a:avLst>
                <a:gd name="adj" fmla="val 2500"/>
              </a:avLst>
            </a:prstGeom>
            <a:solidFill>
              <a:srgbClr val="9FB7B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budget_limit2"/>
            <p:cNvSpPr/>
            <p:nvPr/>
          </p:nvSpPr>
          <p:spPr>
            <a:xfrm>
              <a:off x="2095500" y="1460500"/>
              <a:ext cx="127" cy="139700"/>
            </a:xfrm>
            <a:custGeom>
              <a:avLst/>
              <a:gdLst/>
              <a:ahLst/>
              <a:cxnLst/>
              <a:rect l="0" t="0" r="r" b="b"/>
              <a:pathLst>
                <a:path w="1" h="139700" fill="none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952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hard_label"/>
            <p:cNvSpPr txBox="1"/>
            <p:nvPr/>
          </p:nvSpPr>
          <p:spPr>
            <a:xfrm>
              <a:off x="1549400" y="1816100"/>
              <a:ext cx="7747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4333B"/>
                  </a:solidFill>
                  <a:latin typeface="Liberation Serif"/>
                </a:rPr>
                <a:t>Hard constraints</a:t>
              </a:r>
            </a:p>
          </p:txBody>
        </p:sp>
        <p:sp>
          <p:nvSpPr>
            <p:cNvPr id="109" name="hard_edge"/>
            <p:cNvSpPr/>
            <p:nvPr/>
          </p:nvSpPr>
          <p:spPr>
            <a:xfrm>
              <a:off x="1701800" y="2209800"/>
              <a:ext cx="444500" cy="127"/>
            </a:xfrm>
            <a:custGeom>
              <a:avLst/>
              <a:gdLst/>
              <a:ahLst/>
              <a:cxnLst/>
              <a:rect l="0" t="0" r="r" b="b"/>
              <a:pathLst>
                <a:path w="444500" h="1" fill="none">
                  <a:moveTo>
                    <a:pt x="0" y="0"/>
                  </a:moveTo>
                  <a:lnTo>
                    <a:pt x="444500" y="0"/>
                  </a:lnTo>
                </a:path>
              </a:pathLst>
            </a:custGeom>
            <a:noFill/>
            <a:ln w="10795">
              <a:solidFill>
                <a:srgbClr val="A57957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hard_node0"/>
            <p:cNvSpPr/>
            <p:nvPr/>
          </p:nvSpPr>
          <p:spPr>
            <a:xfrm>
              <a:off x="1647189" y="2180590"/>
              <a:ext cx="58419" cy="58419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hard_node1"/>
            <p:cNvSpPr/>
            <p:nvPr/>
          </p:nvSpPr>
          <p:spPr>
            <a:xfrm>
              <a:off x="2142490" y="2180590"/>
              <a:ext cx="58419" cy="58419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hard_x0"/>
            <p:cNvSpPr/>
            <p:nvPr/>
          </p:nvSpPr>
          <p:spPr>
            <a:xfrm>
              <a:off x="1879600" y="2171700"/>
              <a:ext cx="76200" cy="76200"/>
            </a:xfrm>
            <a:custGeom>
              <a:avLst/>
              <a:gdLst/>
              <a:ahLst/>
              <a:cxnLst/>
              <a:rect l="0" t="0" r="r" b="b"/>
              <a:pathLst>
                <a:path w="76200" h="76200" fill="none">
                  <a:moveTo>
                    <a:pt x="0" y="0"/>
                  </a:moveTo>
                  <a:lnTo>
                    <a:pt x="76200" y="76200"/>
                  </a:lnTo>
                </a:path>
              </a:pathLst>
            </a:custGeom>
            <a:noFill/>
            <a:ln w="1016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hard_x1"/>
            <p:cNvSpPr/>
            <p:nvPr/>
          </p:nvSpPr>
          <p:spPr>
            <a:xfrm>
              <a:off x="1879600" y="2171700"/>
              <a:ext cx="76200" cy="76200"/>
            </a:xfrm>
            <a:custGeom>
              <a:avLst/>
              <a:gdLst/>
              <a:ahLst/>
              <a:cxnLst/>
              <a:rect l="0" t="0" r="r" b="b"/>
              <a:pathLst>
                <a:path w="76200" h="76200" fill="none">
                  <a:moveTo>
                    <a:pt x="0" y="76200"/>
                  </a:moveTo>
                  <a:lnTo>
                    <a:pt x="76200" y="0"/>
                  </a:lnTo>
                </a:path>
              </a:pathLst>
            </a:custGeom>
            <a:noFill/>
            <a:ln w="1016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exclusion_words"/>
            <p:cNvSpPr txBox="1"/>
            <p:nvPr/>
          </p:nvSpPr>
          <p:spPr>
            <a:xfrm>
              <a:off x="1587500" y="2374900"/>
              <a:ext cx="6985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A57957"/>
                  </a:solidFill>
                  <a:latin typeface="Liberation Serif"/>
                </a:rPr>
                <a:t>remove edges</a:t>
              </a:r>
            </a:p>
          </p:txBody>
        </p:sp>
      </p:grpSp>
      <p:grpSp>
        <p:nvGrpSpPr>
          <p:cNvPr id="115" name="module_stage4"/>
          <p:cNvGrpSpPr/>
          <p:nvPr/>
        </p:nvGrpSpPr>
        <p:grpSpPr>
          <a:xfrm>
            <a:off x="2400300" y="76200"/>
            <a:ext cx="1130300" cy="2552700"/>
            <a:chOff x="2400300" y="76200"/>
            <a:chExt cx="1130300" cy="2552700"/>
          </a:xfrm>
        </p:grpSpPr>
        <p:sp>
          <p:nvSpPr>
            <p:cNvPr id="116" name="stage4_border"/>
            <p:cNvSpPr/>
            <p:nvPr/>
          </p:nvSpPr>
          <p:spPr>
            <a:xfrm>
              <a:off x="2400300" y="76200"/>
              <a:ext cx="1130300" cy="2552700"/>
            </a:xfrm>
            <a:prstGeom prst="roundRect">
              <a:avLst>
                <a:gd name="adj" fmla="val 2500"/>
              </a:avLst>
            </a:prstGeom>
            <a:solidFill>
              <a:srgbClr val="F2F6F4"/>
            </a:solidFill>
            <a:ln w="7620">
              <a:solidFill>
                <a:srgbClr val="8BA99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badge4"/>
            <p:cNvSpPr/>
            <p:nvPr/>
          </p:nvSpPr>
          <p:spPr>
            <a:xfrm>
              <a:off x="2451100" y="177800"/>
              <a:ext cx="146050" cy="146050"/>
            </a:xfrm>
            <a:prstGeom prst="ellipse">
              <a:avLst/>
            </a:prstGeom>
            <a:solidFill>
              <a:srgbClr val="3F74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number4"/>
            <p:cNvSpPr txBox="1"/>
            <p:nvPr/>
          </p:nvSpPr>
          <p:spPr>
            <a:xfrm>
              <a:off x="24511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119" name="title4"/>
            <p:cNvSpPr txBox="1"/>
            <p:nvPr/>
          </p:nvSpPr>
          <p:spPr>
            <a:xfrm>
              <a:off x="2628900" y="114300"/>
              <a:ext cx="8763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3F746B"/>
                  </a:solidFill>
                  <a:latin typeface="Liberation Serif"/>
                </a:rPr>
                <a:t>Entropic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3F746B"/>
                  </a:solidFill>
                  <a:latin typeface="Liberation Serif"/>
                </a:rPr>
                <a:t>projection</a:t>
              </a:r>
            </a:p>
          </p:txBody>
        </p:sp>
        <p:sp>
          <p:nvSpPr>
            <p:cNvPr id="120" name="one_projection"/>
            <p:cNvSpPr txBox="1"/>
            <p:nvPr/>
          </p:nvSpPr>
          <p:spPr>
            <a:xfrm>
              <a:off x="2438400" y="546100"/>
              <a:ext cx="10541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3F746B"/>
                  </a:solidFill>
                  <a:latin typeface="Liberation Serif"/>
                </a:rPr>
                <a:t>One flow solve</a:t>
              </a:r>
            </a:p>
          </p:txBody>
        </p:sp>
        <p:sp>
          <p:nvSpPr>
            <p:cNvPr id="121" name="observed_network_edge0"/>
            <p:cNvSpPr/>
            <p:nvPr/>
          </p:nvSpPr>
          <p:spPr>
            <a:xfrm>
              <a:off x="2784586" y="877729"/>
              <a:ext cx="169194" cy="149540"/>
            </a:xfrm>
            <a:custGeom>
              <a:avLst/>
              <a:gdLst/>
              <a:ahLst/>
              <a:cxnLst/>
              <a:rect l="0" t="0" r="r" b="b"/>
              <a:pathLst>
                <a:path w="169194" h="149540" fill="none">
                  <a:moveTo>
                    <a:pt x="0" y="149540"/>
                  </a:moveTo>
                  <a:lnTo>
                    <a:pt x="169194" y="0"/>
                  </a:lnTo>
                </a:path>
              </a:pathLst>
            </a:custGeom>
            <a:noFill/>
            <a:ln w="10795">
              <a:solidFill>
                <a:srgbClr val="98A4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bserved_network_edge1"/>
            <p:cNvSpPr/>
            <p:nvPr/>
          </p:nvSpPr>
          <p:spPr>
            <a:xfrm>
              <a:off x="2991104" y="863600"/>
              <a:ext cx="164591" cy="127"/>
            </a:xfrm>
            <a:custGeom>
              <a:avLst/>
              <a:gdLst/>
              <a:ahLst/>
              <a:cxnLst/>
              <a:rect l="0" t="0" r="r" b="b"/>
              <a:pathLst>
                <a:path w="164591" h="1" fill="none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noFill/>
            <a:ln w="10795">
              <a:solidFill>
                <a:srgbClr val="98A4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bserved_network_edge2"/>
            <p:cNvSpPr/>
            <p:nvPr/>
          </p:nvSpPr>
          <p:spPr>
            <a:xfrm>
              <a:off x="3193018" y="877729"/>
              <a:ext cx="169194" cy="149540"/>
            </a:xfrm>
            <a:custGeom>
              <a:avLst/>
              <a:gdLst/>
              <a:ahLst/>
              <a:cxnLst/>
              <a:rect l="0" t="0" r="r" b="b"/>
              <a:pathLst>
                <a:path w="169194" h="149540" fill="none">
                  <a:moveTo>
                    <a:pt x="0" y="0"/>
                  </a:moveTo>
                  <a:lnTo>
                    <a:pt x="169194" y="149540"/>
                  </a:lnTo>
                </a:path>
              </a:pathLst>
            </a:custGeom>
            <a:noFill/>
            <a:ln w="10795">
              <a:solidFill>
                <a:srgbClr val="98A4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observed_network_edge3"/>
            <p:cNvSpPr/>
            <p:nvPr/>
          </p:nvSpPr>
          <p:spPr>
            <a:xfrm>
              <a:off x="2784586" y="1055529"/>
              <a:ext cx="169194" cy="149540"/>
            </a:xfrm>
            <a:custGeom>
              <a:avLst/>
              <a:gdLst/>
              <a:ahLst/>
              <a:cxnLst/>
              <a:rect l="0" t="0" r="r" b="b"/>
              <a:pathLst>
                <a:path w="169194" h="149540" fill="none">
                  <a:moveTo>
                    <a:pt x="0" y="0"/>
                  </a:moveTo>
                  <a:lnTo>
                    <a:pt x="169194" y="149540"/>
                  </a:lnTo>
                </a:path>
              </a:pathLst>
            </a:custGeom>
            <a:noFill/>
            <a:ln w="5715">
              <a:solidFill>
                <a:srgbClr val="98A4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observed_network_edge4"/>
            <p:cNvSpPr/>
            <p:nvPr/>
          </p:nvSpPr>
          <p:spPr>
            <a:xfrm>
              <a:off x="2991104" y="1219200"/>
              <a:ext cx="164591" cy="127"/>
            </a:xfrm>
            <a:custGeom>
              <a:avLst/>
              <a:gdLst/>
              <a:ahLst/>
              <a:cxnLst/>
              <a:rect l="0" t="0" r="r" b="b"/>
              <a:pathLst>
                <a:path w="164591" h="1" fill="none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noFill/>
            <a:ln w="5715">
              <a:solidFill>
                <a:srgbClr val="98A4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observed_network_edge5"/>
            <p:cNvSpPr/>
            <p:nvPr/>
          </p:nvSpPr>
          <p:spPr>
            <a:xfrm>
              <a:off x="3193018" y="1055529"/>
              <a:ext cx="169194" cy="149540"/>
            </a:xfrm>
            <a:custGeom>
              <a:avLst/>
              <a:gdLst/>
              <a:ahLst/>
              <a:cxnLst/>
              <a:rect l="0" t="0" r="r" b="b"/>
              <a:pathLst>
                <a:path w="169194" h="149540" fill="none">
                  <a:moveTo>
                    <a:pt x="0" y="149540"/>
                  </a:moveTo>
                  <a:lnTo>
                    <a:pt x="169194" y="0"/>
                  </a:lnTo>
                </a:path>
              </a:pathLst>
            </a:custGeom>
            <a:noFill/>
            <a:ln w="5715">
              <a:solidFill>
                <a:srgbClr val="98A4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observed_network_excluded"/>
            <p:cNvSpPr/>
            <p:nvPr/>
          </p:nvSpPr>
          <p:spPr>
            <a:xfrm>
              <a:off x="2969768" y="884936"/>
              <a:ext cx="127" cy="312927"/>
            </a:xfrm>
            <a:custGeom>
              <a:avLst/>
              <a:gdLst/>
              <a:ahLst/>
              <a:cxnLst/>
              <a:rect l="0" t="0" r="r" b="b"/>
              <a:pathLst>
                <a:path w="1" h="312927" fill="none">
                  <a:moveTo>
                    <a:pt x="0" y="0"/>
                  </a:moveTo>
                  <a:lnTo>
                    <a:pt x="0" y="312927"/>
                  </a:lnTo>
                </a:path>
              </a:pathLst>
            </a:custGeom>
            <a:noFill/>
            <a:ln w="8255">
              <a:solidFill>
                <a:srgbClr val="A57957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observed_network_cross0"/>
            <p:cNvSpPr/>
            <p:nvPr/>
          </p:nvSpPr>
          <p:spPr>
            <a:xfrm>
              <a:off x="2949448" y="1021080"/>
              <a:ext cx="40639" cy="40639"/>
            </a:xfrm>
            <a:custGeom>
              <a:avLst/>
              <a:gdLst/>
              <a:ahLst/>
              <a:cxnLst/>
              <a:rect l="0" t="0" r="r" b="b"/>
              <a:pathLst>
                <a:path w="40639" h="40639" fill="none">
                  <a:moveTo>
                    <a:pt x="0" y="40639"/>
                  </a:moveTo>
                  <a:lnTo>
                    <a:pt x="40639" y="0"/>
                  </a:lnTo>
                </a:path>
              </a:pathLst>
            </a:custGeom>
            <a:noFill/>
            <a:ln w="1016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observed_network_cross1"/>
            <p:cNvSpPr/>
            <p:nvPr/>
          </p:nvSpPr>
          <p:spPr>
            <a:xfrm>
              <a:off x="2949448" y="1021080"/>
              <a:ext cx="40639" cy="40639"/>
            </a:xfrm>
            <a:custGeom>
              <a:avLst/>
              <a:gdLst/>
              <a:ahLst/>
              <a:cxnLst/>
              <a:rect l="0" t="0" r="r" b="b"/>
              <a:pathLst>
                <a:path w="40639" h="40639" fill="none">
                  <a:moveTo>
                    <a:pt x="0" y="0"/>
                  </a:moveTo>
                  <a:lnTo>
                    <a:pt x="40639" y="40639"/>
                  </a:lnTo>
                </a:path>
              </a:pathLst>
            </a:custGeom>
            <a:noFill/>
            <a:ln w="1016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observed_network_node0"/>
            <p:cNvSpPr/>
            <p:nvPr/>
          </p:nvSpPr>
          <p:spPr>
            <a:xfrm>
              <a:off x="2747264" y="1020063"/>
              <a:ext cx="42672" cy="42672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observed_network_node1"/>
            <p:cNvSpPr/>
            <p:nvPr/>
          </p:nvSpPr>
          <p:spPr>
            <a:xfrm>
              <a:off x="2948432" y="842263"/>
              <a:ext cx="42672" cy="42672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observed_network_node2"/>
            <p:cNvSpPr/>
            <p:nvPr/>
          </p:nvSpPr>
          <p:spPr>
            <a:xfrm>
              <a:off x="2948432" y="1197864"/>
              <a:ext cx="42672" cy="42672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observed_network_node3"/>
            <p:cNvSpPr/>
            <p:nvPr/>
          </p:nvSpPr>
          <p:spPr>
            <a:xfrm>
              <a:off x="3155696" y="842263"/>
              <a:ext cx="42672" cy="42672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observed_network_node4"/>
            <p:cNvSpPr/>
            <p:nvPr/>
          </p:nvSpPr>
          <p:spPr>
            <a:xfrm>
              <a:off x="3155696" y="1197864"/>
              <a:ext cx="42672" cy="42672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observed_network_node5"/>
            <p:cNvSpPr/>
            <p:nvPr/>
          </p:nvSpPr>
          <p:spPr>
            <a:xfrm>
              <a:off x="3356864" y="1020063"/>
              <a:ext cx="42672" cy="42672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target_network_edge0"/>
            <p:cNvSpPr/>
            <p:nvPr/>
          </p:nvSpPr>
          <p:spPr>
            <a:xfrm>
              <a:off x="2784586" y="1550829"/>
              <a:ext cx="169194" cy="149540"/>
            </a:xfrm>
            <a:custGeom>
              <a:avLst/>
              <a:gdLst/>
              <a:ahLst/>
              <a:cxnLst/>
              <a:rect l="0" t="0" r="r" b="b"/>
              <a:pathLst>
                <a:path w="169194" h="149540" fill="none">
                  <a:moveTo>
                    <a:pt x="0" y="149540"/>
                  </a:moveTo>
                  <a:lnTo>
                    <a:pt x="169194" y="0"/>
                  </a:lnTo>
                </a:path>
              </a:pathLst>
            </a:custGeom>
            <a:noFill/>
            <a:ln w="5715">
              <a:solidFill>
                <a:srgbClr val="BEC8C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target_network_edge1"/>
            <p:cNvSpPr/>
            <p:nvPr/>
          </p:nvSpPr>
          <p:spPr>
            <a:xfrm>
              <a:off x="2991104" y="1536700"/>
              <a:ext cx="164591" cy="127"/>
            </a:xfrm>
            <a:custGeom>
              <a:avLst/>
              <a:gdLst/>
              <a:ahLst/>
              <a:cxnLst/>
              <a:rect l="0" t="0" r="r" b="b"/>
              <a:pathLst>
                <a:path w="164591" h="1" fill="none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noFill/>
            <a:ln w="5715">
              <a:solidFill>
                <a:srgbClr val="BEC8C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target_network_edge2"/>
            <p:cNvSpPr/>
            <p:nvPr/>
          </p:nvSpPr>
          <p:spPr>
            <a:xfrm>
              <a:off x="3193018" y="1550829"/>
              <a:ext cx="169194" cy="149540"/>
            </a:xfrm>
            <a:custGeom>
              <a:avLst/>
              <a:gdLst/>
              <a:ahLst/>
              <a:cxnLst/>
              <a:rect l="0" t="0" r="r" b="b"/>
              <a:pathLst>
                <a:path w="169194" h="149540" fill="none">
                  <a:moveTo>
                    <a:pt x="0" y="0"/>
                  </a:moveTo>
                  <a:lnTo>
                    <a:pt x="169194" y="149540"/>
                  </a:lnTo>
                </a:path>
              </a:pathLst>
            </a:custGeom>
            <a:noFill/>
            <a:ln w="5715">
              <a:solidFill>
                <a:srgbClr val="BEC8C8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target_network_edge3"/>
            <p:cNvSpPr/>
            <p:nvPr/>
          </p:nvSpPr>
          <p:spPr>
            <a:xfrm>
              <a:off x="2784586" y="1728629"/>
              <a:ext cx="169194" cy="149540"/>
            </a:xfrm>
            <a:custGeom>
              <a:avLst/>
              <a:gdLst/>
              <a:ahLst/>
              <a:cxnLst/>
              <a:rect l="0" t="0" r="r" b="b"/>
              <a:pathLst>
                <a:path w="169194" h="149540" fill="none">
                  <a:moveTo>
                    <a:pt x="0" y="0"/>
                  </a:moveTo>
                  <a:lnTo>
                    <a:pt x="169194" y="149540"/>
                  </a:lnTo>
                </a:path>
              </a:pathLst>
            </a:custGeom>
            <a:noFill/>
            <a:ln w="177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target_network_edge4"/>
            <p:cNvSpPr/>
            <p:nvPr/>
          </p:nvSpPr>
          <p:spPr>
            <a:xfrm>
              <a:off x="2991104" y="1892300"/>
              <a:ext cx="164591" cy="127"/>
            </a:xfrm>
            <a:custGeom>
              <a:avLst/>
              <a:gdLst/>
              <a:ahLst/>
              <a:cxnLst/>
              <a:rect l="0" t="0" r="r" b="b"/>
              <a:pathLst>
                <a:path w="164591" h="1" fill="none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noFill/>
            <a:ln w="1778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target_network_edge5"/>
            <p:cNvSpPr/>
            <p:nvPr/>
          </p:nvSpPr>
          <p:spPr>
            <a:xfrm>
              <a:off x="3193018" y="1728629"/>
              <a:ext cx="169194" cy="149540"/>
            </a:xfrm>
            <a:custGeom>
              <a:avLst/>
              <a:gdLst/>
              <a:ahLst/>
              <a:cxnLst/>
              <a:rect l="0" t="0" r="r" b="b"/>
              <a:pathLst>
                <a:path w="169194" h="149540" fill="none">
                  <a:moveTo>
                    <a:pt x="0" y="149540"/>
                  </a:moveTo>
                  <a:lnTo>
                    <a:pt x="169194" y="0"/>
                  </a:lnTo>
                </a:path>
              </a:pathLst>
            </a:custGeom>
            <a:noFill/>
            <a:ln w="17780">
              <a:solidFill>
                <a:srgbClr val="3F746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target_network_excluded"/>
            <p:cNvSpPr/>
            <p:nvPr/>
          </p:nvSpPr>
          <p:spPr>
            <a:xfrm>
              <a:off x="2969768" y="1558036"/>
              <a:ext cx="127" cy="312927"/>
            </a:xfrm>
            <a:custGeom>
              <a:avLst/>
              <a:gdLst/>
              <a:ahLst/>
              <a:cxnLst/>
              <a:rect l="0" t="0" r="r" b="b"/>
              <a:pathLst>
                <a:path w="1" h="312927" fill="none">
                  <a:moveTo>
                    <a:pt x="0" y="0"/>
                  </a:moveTo>
                  <a:lnTo>
                    <a:pt x="0" y="312927"/>
                  </a:lnTo>
                </a:path>
              </a:pathLst>
            </a:custGeom>
            <a:noFill/>
            <a:ln w="8255">
              <a:solidFill>
                <a:srgbClr val="A57957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target_network_cross0"/>
            <p:cNvSpPr/>
            <p:nvPr/>
          </p:nvSpPr>
          <p:spPr>
            <a:xfrm>
              <a:off x="2949448" y="1694180"/>
              <a:ext cx="40639" cy="40639"/>
            </a:xfrm>
            <a:custGeom>
              <a:avLst/>
              <a:gdLst/>
              <a:ahLst/>
              <a:cxnLst/>
              <a:rect l="0" t="0" r="r" b="b"/>
              <a:pathLst>
                <a:path w="40639" h="40639" fill="none">
                  <a:moveTo>
                    <a:pt x="0" y="40639"/>
                  </a:moveTo>
                  <a:lnTo>
                    <a:pt x="40639" y="0"/>
                  </a:lnTo>
                </a:path>
              </a:pathLst>
            </a:custGeom>
            <a:noFill/>
            <a:ln w="1016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target_network_cross1"/>
            <p:cNvSpPr/>
            <p:nvPr/>
          </p:nvSpPr>
          <p:spPr>
            <a:xfrm>
              <a:off x="2949448" y="1694180"/>
              <a:ext cx="40639" cy="40639"/>
            </a:xfrm>
            <a:custGeom>
              <a:avLst/>
              <a:gdLst/>
              <a:ahLst/>
              <a:cxnLst/>
              <a:rect l="0" t="0" r="r" b="b"/>
              <a:pathLst>
                <a:path w="40639" h="40639" fill="none">
                  <a:moveTo>
                    <a:pt x="0" y="0"/>
                  </a:moveTo>
                  <a:lnTo>
                    <a:pt x="40639" y="40639"/>
                  </a:lnTo>
                </a:path>
              </a:pathLst>
            </a:custGeom>
            <a:noFill/>
            <a:ln w="1016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target_network_node0"/>
            <p:cNvSpPr/>
            <p:nvPr/>
          </p:nvSpPr>
          <p:spPr>
            <a:xfrm>
              <a:off x="2747264" y="1693164"/>
              <a:ext cx="42672" cy="42672"/>
            </a:xfrm>
            <a:prstGeom prst="ellipse">
              <a:avLst/>
            </a:prstGeom>
            <a:solidFill>
              <a:srgbClr val="E9F1ED"/>
            </a:solidFill>
            <a:ln w="825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target_network_node1"/>
            <p:cNvSpPr/>
            <p:nvPr/>
          </p:nvSpPr>
          <p:spPr>
            <a:xfrm>
              <a:off x="2948432" y="1515364"/>
              <a:ext cx="42672" cy="42672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target_network_node2"/>
            <p:cNvSpPr/>
            <p:nvPr/>
          </p:nvSpPr>
          <p:spPr>
            <a:xfrm>
              <a:off x="2948432" y="1870964"/>
              <a:ext cx="42672" cy="42672"/>
            </a:xfrm>
            <a:prstGeom prst="ellipse">
              <a:avLst/>
            </a:prstGeom>
            <a:solidFill>
              <a:srgbClr val="E9F1ED"/>
            </a:solidFill>
            <a:ln w="825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target_network_node3"/>
            <p:cNvSpPr/>
            <p:nvPr/>
          </p:nvSpPr>
          <p:spPr>
            <a:xfrm>
              <a:off x="3155696" y="1515364"/>
              <a:ext cx="42672" cy="42672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target_network_node4"/>
            <p:cNvSpPr/>
            <p:nvPr/>
          </p:nvSpPr>
          <p:spPr>
            <a:xfrm>
              <a:off x="3155696" y="1870964"/>
              <a:ext cx="42672" cy="42672"/>
            </a:xfrm>
            <a:prstGeom prst="ellipse">
              <a:avLst/>
            </a:prstGeom>
            <a:solidFill>
              <a:srgbClr val="E9F1ED"/>
            </a:solidFill>
            <a:ln w="825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target_network_node5"/>
            <p:cNvSpPr/>
            <p:nvPr/>
          </p:nvSpPr>
          <p:spPr>
            <a:xfrm>
              <a:off x="3356864" y="1693164"/>
              <a:ext cx="42672" cy="42672"/>
            </a:xfrm>
            <a:prstGeom prst="ellipse">
              <a:avLst/>
            </a:prstGeom>
            <a:solidFill>
              <a:srgbClr val="E9F1ED"/>
            </a:solidFill>
            <a:ln w="825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reroute_arrow"/>
            <p:cNvSpPr/>
            <p:nvPr/>
          </p:nvSpPr>
          <p:spPr>
            <a:xfrm>
              <a:off x="3060700" y="1295400"/>
              <a:ext cx="127" cy="152400"/>
            </a:xfrm>
            <a:custGeom>
              <a:avLst/>
              <a:gdLst/>
              <a:ahLst/>
              <a:cxnLst/>
              <a:rect l="0" t="0" r="r" b="b"/>
              <a:pathLst>
                <a:path w="1" h="152400" fill="none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1430">
              <a:solidFill>
                <a:srgbClr val="3F746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target_only"/>
            <p:cNvSpPr txBox="1"/>
            <p:nvPr/>
          </p:nvSpPr>
          <p:spPr>
            <a:xfrm>
              <a:off x="2425700" y="2057400"/>
              <a:ext cx="10795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0" i="0">
                  <a:solidFill>
                    <a:srgbClr val="3F746B"/>
                  </a:solidFill>
                  <a:latin typeface="Liberation Serif"/>
                </a:rPr>
                <a:t>target flow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0" i="0">
                  <a:solidFill>
                    <a:srgbClr val="3F746B"/>
                  </a:solidFill>
                  <a:latin typeface="Liberation Serif"/>
                </a:rPr>
                <a:t>is not executed</a:t>
              </a:r>
            </a:p>
          </p:txBody>
        </p:sp>
        <p:sp>
          <p:nvSpPr>
            <p:cNvPr id="153" name="projection_role"/>
            <p:cNvSpPr txBox="1"/>
            <p:nvPr/>
          </p:nvSpPr>
          <p:spPr>
            <a:xfrm>
              <a:off x="2413000" y="2387600"/>
              <a:ext cx="11049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prices go to the actor</a:t>
              </a:r>
            </a:p>
          </p:txBody>
        </p:sp>
        <p:grpSp>
          <p:nvGrpSpPr>
            <p:cNvPr id="154" name="observed_F"/>
            <p:cNvGrpSpPr/>
            <p:nvPr/>
          </p:nvGrpSpPr>
          <p:grpSpPr>
            <a:xfrm>
              <a:off x="2538179" y="973261"/>
              <a:ext cx="80585" cy="111019"/>
              <a:chOff x="2538179" y="973261"/>
              <a:chExt cx="80585" cy="111019"/>
            </a:xfrm>
          </p:grpSpPr>
          <p:sp>
            <p:nvSpPr>
              <p:cNvPr id="155" name="observed_F_outline_0"/>
              <p:cNvSpPr/>
              <p:nvPr/>
            </p:nvSpPr>
            <p:spPr>
              <a:xfrm>
                <a:off x="2571961" y="973261"/>
                <a:ext cx="39342" cy="21125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21126">
                    <a:moveTo>
                      <a:pt x="39342" y="21126"/>
                    </a:moveTo>
                    <a:lnTo>
                      <a:pt x="23531" y="0"/>
                    </a:lnTo>
                    <a:lnTo>
                      <a:pt x="15685" y="0"/>
                    </a:lnTo>
                    <a:lnTo>
                      <a:pt x="0" y="21126"/>
                    </a:lnTo>
                    <a:lnTo>
                      <a:pt x="4298" y="21126"/>
                    </a:lnTo>
                    <a:lnTo>
                      <a:pt x="19606" y="8096"/>
                    </a:lnTo>
                    <a:lnTo>
                      <a:pt x="35040" y="21126"/>
                    </a:lnTo>
                    <a:lnTo>
                      <a:pt x="39342" y="21126"/>
                    </a:lnTo>
                    <a:close/>
                  </a:path>
                </a:pathLst>
              </a:custGeom>
              <a:solidFill>
                <a:srgbClr val="76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observed_F_outline_1"/>
              <p:cNvSpPr/>
              <p:nvPr/>
            </p:nvSpPr>
            <p:spPr>
              <a:xfrm>
                <a:off x="2538179" y="100167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76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7" name="target_F"/>
            <p:cNvGrpSpPr/>
            <p:nvPr/>
          </p:nvGrpSpPr>
          <p:grpSpPr>
            <a:xfrm>
              <a:off x="2508163" y="1649800"/>
              <a:ext cx="150197" cy="103002"/>
              <a:chOff x="2508163" y="1649800"/>
              <a:chExt cx="150197" cy="103002"/>
            </a:xfrm>
          </p:grpSpPr>
          <p:sp>
            <p:nvSpPr>
              <p:cNvPr id="158" name="target_F_outline_0"/>
              <p:cNvSpPr/>
              <p:nvPr/>
            </p:nvSpPr>
            <p:spPr>
              <a:xfrm>
                <a:off x="2508163" y="1670193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" name="target_F_outline_1"/>
              <p:cNvSpPr/>
              <p:nvPr/>
            </p:nvSpPr>
            <p:spPr>
              <a:xfrm>
                <a:off x="2593511" y="1649800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60" name="module_stage5"/>
          <p:cNvGrpSpPr/>
          <p:nvPr/>
        </p:nvGrpSpPr>
        <p:grpSpPr>
          <a:xfrm>
            <a:off x="3594100" y="76200"/>
            <a:ext cx="1397000" cy="2552700"/>
            <a:chOff x="3594100" y="76200"/>
            <a:chExt cx="1397000" cy="2552700"/>
          </a:xfrm>
        </p:grpSpPr>
        <p:sp>
          <p:nvSpPr>
            <p:cNvPr id="161" name="stage5_border"/>
            <p:cNvSpPr/>
            <p:nvPr/>
          </p:nvSpPr>
          <p:spPr>
            <a:xfrm>
              <a:off x="3594100" y="76200"/>
              <a:ext cx="13970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update_label"/>
            <p:cNvSpPr txBox="1"/>
            <p:nvPr/>
          </p:nvSpPr>
          <p:spPr>
            <a:xfrm>
              <a:off x="3683000" y="2438400"/>
              <a:ext cx="711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PPO/TRPO</a:t>
              </a:r>
            </a:p>
          </p:txBody>
        </p:sp>
        <p:sp>
          <p:nvSpPr>
            <p:cNvPr id="163" name="update_pi"/>
            <p:cNvSpPr/>
            <p:nvPr/>
          </p:nvSpPr>
          <p:spPr>
            <a:xfrm>
              <a:off x="4406900" y="2514600"/>
              <a:ext cx="127000" cy="127"/>
            </a:xfrm>
            <a:custGeom>
              <a:avLst/>
              <a:gdLst/>
              <a:ahLst/>
              <a:cxnLst/>
              <a:rect l="0" t="0" r="r" b="b"/>
              <a:pathLst>
                <a:path w="127000" h="1" fill="none">
                  <a:moveTo>
                    <a:pt x="0" y="0"/>
                  </a:moveTo>
                  <a:lnTo>
                    <a:pt x="127000" y="0"/>
                  </a:lnTo>
                </a:path>
              </a:pathLst>
            </a:custGeom>
            <a:noFill/>
            <a:ln w="8890">
              <a:solidFill>
                <a:srgbClr val="76858D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badge5"/>
            <p:cNvSpPr/>
            <p:nvPr/>
          </p:nvSpPr>
          <p:spPr>
            <a:xfrm>
              <a:off x="3644900" y="177800"/>
              <a:ext cx="146050" cy="146050"/>
            </a:xfrm>
            <a:prstGeom prst="ellipse">
              <a:avLst/>
            </a:prstGeom>
            <a:solidFill>
              <a:srgbClr val="76858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number5"/>
            <p:cNvSpPr txBox="1"/>
            <p:nvPr/>
          </p:nvSpPr>
          <p:spPr>
            <a:xfrm>
              <a:off x="36449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5</a:t>
              </a:r>
            </a:p>
          </p:txBody>
        </p:sp>
        <p:sp>
          <p:nvSpPr>
            <p:cNvPr id="166" name="title5"/>
            <p:cNvSpPr txBox="1"/>
            <p:nvPr/>
          </p:nvSpPr>
          <p:spPr>
            <a:xfrm>
              <a:off x="3822700" y="114300"/>
              <a:ext cx="11430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Priced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policy update</a:t>
              </a:r>
            </a:p>
          </p:txBody>
        </p:sp>
        <p:sp>
          <p:nvSpPr>
            <p:cNvPr id="167" name="dual_label"/>
            <p:cNvSpPr txBox="1"/>
            <p:nvPr/>
          </p:nvSpPr>
          <p:spPr>
            <a:xfrm>
              <a:off x="3657600" y="546100"/>
              <a:ext cx="1270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 i="0">
                  <a:solidFill>
                    <a:srgbClr val="3F746B"/>
                  </a:solidFill>
                  <a:latin typeface="Liberation Serif"/>
                </a:rPr>
                <a:t>Safety prices</a:t>
              </a:r>
            </a:p>
          </p:txBody>
        </p:sp>
        <p:sp>
          <p:nvSpPr>
            <p:cNvPr id="168" name="filter_label"/>
            <p:cNvSpPr txBox="1"/>
            <p:nvPr/>
          </p:nvSpPr>
          <p:spPr>
            <a:xfrm>
              <a:off x="3670300" y="787400"/>
              <a:ext cx="12573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3F746B"/>
                  </a:solidFill>
                  <a:latin typeface="Liberation Serif"/>
                </a:rPr>
                <a:t>clip + EMA</a:t>
              </a:r>
            </a:p>
          </p:txBody>
        </p:sp>
        <p:sp>
          <p:nvSpPr>
            <p:cNvPr id="169" name="feedback_label"/>
            <p:cNvSpPr txBox="1"/>
            <p:nvPr/>
          </p:nvSpPr>
          <p:spPr>
            <a:xfrm>
              <a:off x="3670300" y="1155700"/>
              <a:ext cx="12573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A57957"/>
                  </a:solidFill>
                  <a:latin typeface="Liberation Serif"/>
                </a:rPr>
                <a:t>Observed-cost feedback</a:t>
              </a:r>
            </a:p>
          </p:txBody>
        </p:sp>
        <p:sp>
          <p:nvSpPr>
            <p:cNvPr id="170" name="feedback_error"/>
            <p:cNvSpPr txBox="1"/>
            <p:nvPr/>
          </p:nvSpPr>
          <p:spPr>
            <a:xfrm>
              <a:off x="3695700" y="1409700"/>
              <a:ext cx="12065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A57957"/>
                  </a:solidFill>
                  <a:latin typeface="Liberation Serif"/>
                </a:rPr>
                <a:t>cost − budget</a:t>
              </a:r>
            </a:p>
          </p:txBody>
        </p:sp>
        <p:sp>
          <p:nvSpPr>
            <p:cNvPr id="171" name="error_to_beta"/>
            <p:cNvSpPr/>
            <p:nvPr/>
          </p:nvSpPr>
          <p:spPr>
            <a:xfrm>
              <a:off x="4597400" y="1600200"/>
              <a:ext cx="127" cy="139700"/>
            </a:xfrm>
            <a:custGeom>
              <a:avLst/>
              <a:gdLst/>
              <a:ahLst/>
              <a:cxnLst/>
              <a:rect l="0" t="0" r="r" b="b"/>
              <a:pathLst>
                <a:path w="1" h="139700" fill="none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8255">
              <a:solidFill>
                <a:srgbClr val="A57957"/>
              </a:solidFill>
              <a:prstDash val="dash"/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72" name="next_policy"/>
            <p:cNvGrpSpPr/>
            <p:nvPr/>
          </p:nvGrpSpPr>
          <p:grpSpPr>
            <a:xfrm>
              <a:off x="4621155" y="2478972"/>
              <a:ext cx="217856" cy="82537"/>
              <a:chOff x="4621155" y="2478972"/>
              <a:chExt cx="217856" cy="82537"/>
            </a:xfrm>
          </p:grpSpPr>
          <p:sp>
            <p:nvSpPr>
              <p:cNvPr id="173" name="next_policy_outline_0"/>
              <p:cNvSpPr/>
              <p:nvPr/>
            </p:nvSpPr>
            <p:spPr>
              <a:xfrm>
                <a:off x="4621155" y="2478972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5"/>
                      <a:pt x="2151" y="16320"/>
                    </a:cubicBezTo>
                    <a:lnTo>
                      <a:pt x="3540" y="16320"/>
                    </a:lnTo>
                    <a:cubicBezTo>
                      <a:pt x="4175" y="15435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" name="next_policy_outline_1"/>
              <p:cNvSpPr/>
              <p:nvPr/>
            </p:nvSpPr>
            <p:spPr>
              <a:xfrm>
                <a:off x="4694487" y="2503506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" name="next_policy_outline_2"/>
              <p:cNvSpPr/>
              <p:nvPr/>
            </p:nvSpPr>
            <p:spPr>
              <a:xfrm>
                <a:off x="4738586" y="2506828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" name="next_policy_outline_3"/>
              <p:cNvSpPr/>
              <p:nvPr/>
            </p:nvSpPr>
            <p:spPr>
              <a:xfrm>
                <a:off x="4809647" y="249001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7" name="price_rule"/>
            <p:cNvGrpSpPr/>
            <p:nvPr/>
          </p:nvGrpSpPr>
          <p:grpSpPr>
            <a:xfrm>
              <a:off x="3946186" y="1775301"/>
              <a:ext cx="694873" cy="158164"/>
              <a:chOff x="3946186" y="1775301"/>
              <a:chExt cx="694873" cy="158164"/>
            </a:xfrm>
          </p:grpSpPr>
          <p:sp>
            <p:nvSpPr>
              <p:cNvPr id="178" name="price_rule_outline_0"/>
              <p:cNvSpPr/>
              <p:nvPr/>
            </p:nvSpPr>
            <p:spPr>
              <a:xfrm>
                <a:off x="3946186" y="1796247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price_rule_outline_1"/>
              <p:cNvSpPr/>
              <p:nvPr/>
            </p:nvSpPr>
            <p:spPr>
              <a:xfrm>
                <a:off x="4021335" y="18336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" name="price_rule_outline_2"/>
              <p:cNvSpPr/>
              <p:nvPr/>
            </p:nvSpPr>
            <p:spPr>
              <a:xfrm>
                <a:off x="4126007" y="1830280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price_rule_outline_3"/>
              <p:cNvSpPr/>
              <p:nvPr/>
            </p:nvSpPr>
            <p:spPr>
              <a:xfrm>
                <a:off x="4256527" y="1775301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price_rule_outline_4"/>
              <p:cNvSpPr/>
              <p:nvPr/>
            </p:nvSpPr>
            <p:spPr>
              <a:xfrm>
                <a:off x="4234159" y="1796247"/>
                <a:ext cx="64647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0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" name="price_rule_outline_5"/>
              <p:cNvSpPr/>
              <p:nvPr/>
            </p:nvSpPr>
            <p:spPr>
              <a:xfrm>
                <a:off x="4303002" y="1776108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price_rule_outline_6"/>
              <p:cNvSpPr/>
              <p:nvPr/>
            </p:nvSpPr>
            <p:spPr>
              <a:xfrm>
                <a:off x="4309320" y="186145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price_rule_outline_7"/>
              <p:cNvSpPr/>
              <p:nvPr/>
            </p:nvSpPr>
            <p:spPr>
              <a:xfrm>
                <a:off x="4410855" y="1814087"/>
                <a:ext cx="64773" cy="65023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65024">
                    <a:moveTo>
                      <a:pt x="28214" y="28337"/>
                    </a:moveTo>
                    <a:lnTo>
                      <a:pt x="0" y="28337"/>
                    </a:lnTo>
                    <a:lnTo>
                      <a:pt x="0" y="36687"/>
                    </a:lnTo>
                    <a:lnTo>
                      <a:pt x="28214" y="36687"/>
                    </a:lnTo>
                    <a:lnTo>
                      <a:pt x="28214" y="65024"/>
                    </a:lnTo>
                    <a:lnTo>
                      <a:pt x="36560" y="65024"/>
                    </a:lnTo>
                    <a:lnTo>
                      <a:pt x="36560" y="36687"/>
                    </a:lnTo>
                    <a:lnTo>
                      <a:pt x="64774" y="36687"/>
                    </a:lnTo>
                    <a:lnTo>
                      <a:pt x="64774" y="28337"/>
                    </a:lnTo>
                    <a:lnTo>
                      <a:pt x="36560" y="28337"/>
                    </a:lnTo>
                    <a:lnTo>
                      <a:pt x="36560" y="0"/>
                    </a:lnTo>
                    <a:lnTo>
                      <a:pt x="28214" y="0"/>
                    </a:lnTo>
                    <a:lnTo>
                      <a:pt x="28214" y="28337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price_rule_outline_8"/>
              <p:cNvSpPr/>
              <p:nvPr/>
            </p:nvSpPr>
            <p:spPr>
              <a:xfrm>
                <a:off x="4506286" y="1796247"/>
                <a:ext cx="76156" cy="109049"/>
              </a:xfrm>
              <a:custGeom>
                <a:avLst/>
                <a:gdLst/>
                <a:ahLst/>
                <a:cxnLst/>
                <a:rect l="0" t="0" r="r" b="b"/>
                <a:pathLst>
                  <a:path w="76156" h="109049">
                    <a:moveTo>
                      <a:pt x="76156" y="14550"/>
                    </a:moveTo>
                    <a:cubicBezTo>
                      <a:pt x="76156" y="4556"/>
                      <a:pt x="68060" y="0"/>
                      <a:pt x="57563" y="0"/>
                    </a:cubicBezTo>
                    <a:cubicBezTo>
                      <a:pt x="44152" y="0"/>
                      <a:pt x="31123" y="8981"/>
                      <a:pt x="27579" y="21761"/>
                    </a:cubicBezTo>
                    <a:lnTo>
                      <a:pt x="8223" y="92353"/>
                    </a:lnTo>
                    <a:cubicBezTo>
                      <a:pt x="6072" y="100322"/>
                      <a:pt x="1266" y="107406"/>
                      <a:pt x="0" y="109049"/>
                    </a:cubicBezTo>
                    <a:lnTo>
                      <a:pt x="11259" y="109049"/>
                    </a:lnTo>
                    <a:cubicBezTo>
                      <a:pt x="11386" y="109049"/>
                      <a:pt x="13410" y="108037"/>
                      <a:pt x="17586" y="92226"/>
                    </a:cubicBezTo>
                    <a:lnTo>
                      <a:pt x="21888" y="75906"/>
                    </a:lnTo>
                    <a:lnTo>
                      <a:pt x="22011" y="75906"/>
                    </a:lnTo>
                    <a:cubicBezTo>
                      <a:pt x="22011" y="76033"/>
                      <a:pt x="26186" y="85015"/>
                      <a:pt x="38965" y="85015"/>
                    </a:cubicBezTo>
                    <a:cubicBezTo>
                      <a:pt x="57940" y="85015"/>
                      <a:pt x="70719" y="70846"/>
                      <a:pt x="70719" y="56297"/>
                    </a:cubicBezTo>
                    <a:cubicBezTo>
                      <a:pt x="70719" y="40485"/>
                      <a:pt x="56424" y="38080"/>
                      <a:pt x="56297" y="38080"/>
                    </a:cubicBezTo>
                    <a:lnTo>
                      <a:pt x="56297" y="37572"/>
                    </a:lnTo>
                    <a:cubicBezTo>
                      <a:pt x="56424" y="37572"/>
                      <a:pt x="76156" y="33020"/>
                      <a:pt x="76156" y="14550"/>
                    </a:cubicBezTo>
                    <a:close/>
                    <a:moveTo>
                      <a:pt x="66163" y="14296"/>
                    </a:moveTo>
                    <a:cubicBezTo>
                      <a:pt x="66163" y="20118"/>
                      <a:pt x="62873" y="34413"/>
                      <a:pt x="52753" y="34413"/>
                    </a:cubicBezTo>
                    <a:cubicBezTo>
                      <a:pt x="50097" y="34413"/>
                      <a:pt x="48074" y="33905"/>
                      <a:pt x="46049" y="33905"/>
                    </a:cubicBezTo>
                    <a:cubicBezTo>
                      <a:pt x="42632" y="33905"/>
                      <a:pt x="40231" y="36814"/>
                      <a:pt x="40231" y="39092"/>
                    </a:cubicBezTo>
                    <a:cubicBezTo>
                      <a:pt x="40231" y="40485"/>
                      <a:pt x="41243" y="41620"/>
                      <a:pt x="43517" y="41620"/>
                    </a:cubicBezTo>
                    <a:cubicBezTo>
                      <a:pt x="47061" y="41620"/>
                      <a:pt x="47947" y="40989"/>
                      <a:pt x="50856" y="40989"/>
                    </a:cubicBezTo>
                    <a:cubicBezTo>
                      <a:pt x="57182" y="40989"/>
                      <a:pt x="59964" y="47819"/>
                      <a:pt x="59964" y="54904"/>
                    </a:cubicBezTo>
                    <a:cubicBezTo>
                      <a:pt x="59964" y="67556"/>
                      <a:pt x="52376" y="79196"/>
                      <a:pt x="38838" y="79196"/>
                    </a:cubicBezTo>
                    <a:cubicBezTo>
                      <a:pt x="30234" y="79196"/>
                      <a:pt x="24670" y="74767"/>
                      <a:pt x="24670" y="67429"/>
                    </a:cubicBezTo>
                    <a:cubicBezTo>
                      <a:pt x="24670" y="65913"/>
                      <a:pt x="24924" y="64266"/>
                      <a:pt x="25428" y="62496"/>
                    </a:cubicBezTo>
                    <a:lnTo>
                      <a:pt x="36814" y="21888"/>
                    </a:lnTo>
                    <a:cubicBezTo>
                      <a:pt x="39092" y="13664"/>
                      <a:pt x="44910" y="3544"/>
                      <a:pt x="56297" y="3544"/>
                    </a:cubicBezTo>
                    <a:cubicBezTo>
                      <a:pt x="63508" y="3544"/>
                      <a:pt x="66163" y="8477"/>
                      <a:pt x="66163" y="14296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price_rule_outline_9"/>
              <p:cNvSpPr/>
              <p:nvPr/>
            </p:nvSpPr>
            <p:spPr>
              <a:xfrm>
                <a:off x="4590422" y="18336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8" name="priced_advantage"/>
            <p:cNvGrpSpPr/>
            <p:nvPr/>
          </p:nvGrpSpPr>
          <p:grpSpPr>
            <a:xfrm>
              <a:off x="3805673" y="2103615"/>
              <a:ext cx="974421" cy="250836"/>
              <a:chOff x="3805673" y="2103615"/>
              <a:chExt cx="974421" cy="250836"/>
            </a:xfrm>
          </p:grpSpPr>
          <p:sp>
            <p:nvSpPr>
              <p:cNvPr id="189" name="priced_advantage_outline_0"/>
              <p:cNvSpPr/>
              <p:nvPr/>
            </p:nvSpPr>
            <p:spPr>
              <a:xfrm>
                <a:off x="3822563" y="2148968"/>
                <a:ext cx="76664" cy="13156"/>
              </a:xfrm>
              <a:custGeom>
                <a:avLst/>
                <a:gdLst/>
                <a:ahLst/>
                <a:cxnLst/>
                <a:rect l="0" t="0" r="r" b="b"/>
                <a:pathLst>
                  <a:path w="76664" h="13156">
                    <a:moveTo>
                      <a:pt x="76664" y="0"/>
                    </a:moveTo>
                    <a:lnTo>
                      <a:pt x="72870" y="0"/>
                    </a:lnTo>
                    <a:cubicBezTo>
                      <a:pt x="71858" y="3163"/>
                      <a:pt x="68187" y="5945"/>
                      <a:pt x="55666" y="5945"/>
                    </a:cubicBezTo>
                    <a:cubicBezTo>
                      <a:pt x="43644" y="5945"/>
                      <a:pt x="39596" y="381"/>
                      <a:pt x="27960" y="381"/>
                    </a:cubicBezTo>
                    <a:cubicBezTo>
                      <a:pt x="8731" y="381"/>
                      <a:pt x="3290" y="6072"/>
                      <a:pt x="0" y="13156"/>
                    </a:cubicBezTo>
                    <a:lnTo>
                      <a:pt x="3798" y="13156"/>
                    </a:lnTo>
                    <a:cubicBezTo>
                      <a:pt x="4810" y="9993"/>
                      <a:pt x="9362" y="7338"/>
                      <a:pt x="21888" y="7338"/>
                    </a:cubicBezTo>
                    <a:cubicBezTo>
                      <a:pt x="33778" y="7338"/>
                      <a:pt x="37953" y="12902"/>
                      <a:pt x="49593" y="12902"/>
                    </a:cubicBezTo>
                    <a:cubicBezTo>
                      <a:pt x="68822" y="12902"/>
                      <a:pt x="73374" y="7084"/>
                      <a:pt x="76664" y="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priced_advantage_outline_1"/>
              <p:cNvSpPr/>
              <p:nvPr/>
            </p:nvSpPr>
            <p:spPr>
              <a:xfrm>
                <a:off x="3805673" y="2184640"/>
                <a:ext cx="77803" cy="84506"/>
              </a:xfrm>
              <a:custGeom>
                <a:avLst/>
                <a:gdLst/>
                <a:ahLst/>
                <a:cxnLst/>
                <a:rect l="0" t="0" r="r" b="b"/>
                <a:pathLst>
                  <a:path w="77803" h="84507">
                    <a:moveTo>
                      <a:pt x="77803" y="84507"/>
                    </a:moveTo>
                    <a:lnTo>
                      <a:pt x="77803" y="82482"/>
                    </a:lnTo>
                    <a:cubicBezTo>
                      <a:pt x="70592" y="81851"/>
                      <a:pt x="69707" y="80839"/>
                      <a:pt x="68187" y="71604"/>
                    </a:cubicBezTo>
                    <a:lnTo>
                      <a:pt x="56297" y="0"/>
                    </a:lnTo>
                    <a:lnTo>
                      <a:pt x="53007" y="0"/>
                    </a:lnTo>
                    <a:lnTo>
                      <a:pt x="16319" y="63254"/>
                    </a:lnTo>
                    <a:cubicBezTo>
                      <a:pt x="6326" y="80077"/>
                      <a:pt x="5060" y="81470"/>
                      <a:pt x="0" y="82482"/>
                    </a:cubicBezTo>
                    <a:lnTo>
                      <a:pt x="0" y="84507"/>
                    </a:lnTo>
                    <a:lnTo>
                      <a:pt x="23658" y="84507"/>
                    </a:lnTo>
                    <a:lnTo>
                      <a:pt x="23658" y="82482"/>
                    </a:lnTo>
                    <a:cubicBezTo>
                      <a:pt x="17205" y="81851"/>
                      <a:pt x="16193" y="81216"/>
                      <a:pt x="16193" y="78053"/>
                    </a:cubicBezTo>
                    <a:cubicBezTo>
                      <a:pt x="16193" y="75652"/>
                      <a:pt x="16574" y="74513"/>
                      <a:pt x="18725" y="70211"/>
                    </a:cubicBezTo>
                    <a:lnTo>
                      <a:pt x="25936" y="55916"/>
                    </a:lnTo>
                    <a:lnTo>
                      <a:pt x="53769" y="55916"/>
                    </a:lnTo>
                    <a:lnTo>
                      <a:pt x="56297" y="72489"/>
                    </a:lnTo>
                    <a:cubicBezTo>
                      <a:pt x="56424" y="73628"/>
                      <a:pt x="56551" y="74767"/>
                      <a:pt x="56551" y="75779"/>
                    </a:cubicBezTo>
                    <a:cubicBezTo>
                      <a:pt x="56551" y="80585"/>
                      <a:pt x="54781" y="81724"/>
                      <a:pt x="46684" y="82482"/>
                    </a:cubicBezTo>
                    <a:lnTo>
                      <a:pt x="46684" y="84507"/>
                    </a:lnTo>
                    <a:lnTo>
                      <a:pt x="77803" y="84507"/>
                    </a:lnTo>
                    <a:close/>
                    <a:moveTo>
                      <a:pt x="53134" y="51363"/>
                    </a:moveTo>
                    <a:lnTo>
                      <a:pt x="28591" y="51363"/>
                    </a:lnTo>
                    <a:lnTo>
                      <a:pt x="47569" y="18470"/>
                    </a:lnTo>
                    <a:lnTo>
                      <a:pt x="53134" y="51363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priced_advantage_outline_2"/>
              <p:cNvSpPr/>
              <p:nvPr/>
            </p:nvSpPr>
            <p:spPr>
              <a:xfrm>
                <a:off x="3934066" y="2220315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priced_advantage_outline_3"/>
              <p:cNvSpPr/>
              <p:nvPr/>
            </p:nvSpPr>
            <p:spPr>
              <a:xfrm>
                <a:off x="4060141" y="2106923"/>
                <a:ext cx="71699" cy="69310"/>
              </a:xfrm>
              <a:custGeom>
                <a:avLst/>
                <a:gdLst/>
                <a:ahLst/>
                <a:cxnLst/>
                <a:rect l="0" t="0" r="r" b="b"/>
                <a:pathLst>
                  <a:path w="71699" h="69310">
                    <a:moveTo>
                      <a:pt x="71699" y="69310"/>
                    </a:moveTo>
                    <a:lnTo>
                      <a:pt x="71596" y="67651"/>
                    </a:lnTo>
                    <a:cubicBezTo>
                      <a:pt x="64853" y="67131"/>
                      <a:pt x="63917" y="66302"/>
                      <a:pt x="62258" y="58726"/>
                    </a:cubicBezTo>
                    <a:lnTo>
                      <a:pt x="50221" y="0"/>
                    </a:lnTo>
                    <a:lnTo>
                      <a:pt x="47006" y="0"/>
                    </a:lnTo>
                    <a:lnTo>
                      <a:pt x="14633" y="51880"/>
                    </a:lnTo>
                    <a:cubicBezTo>
                      <a:pt x="5810" y="65679"/>
                      <a:pt x="4774" y="66822"/>
                      <a:pt x="0" y="67651"/>
                    </a:cubicBezTo>
                    <a:lnTo>
                      <a:pt x="103" y="69310"/>
                    </a:lnTo>
                    <a:lnTo>
                      <a:pt x="22205" y="69310"/>
                    </a:lnTo>
                    <a:lnTo>
                      <a:pt x="22102" y="67651"/>
                    </a:lnTo>
                    <a:cubicBezTo>
                      <a:pt x="16085" y="67131"/>
                      <a:pt x="14839" y="66612"/>
                      <a:pt x="14736" y="64020"/>
                    </a:cubicBezTo>
                    <a:cubicBezTo>
                      <a:pt x="14736" y="62047"/>
                      <a:pt x="14839" y="61008"/>
                      <a:pt x="16708" y="57587"/>
                    </a:cubicBezTo>
                    <a:lnTo>
                      <a:pt x="23451" y="45756"/>
                    </a:lnTo>
                    <a:lnTo>
                      <a:pt x="48562" y="45859"/>
                    </a:lnTo>
                    <a:lnTo>
                      <a:pt x="51364" y="59452"/>
                    </a:lnTo>
                    <a:cubicBezTo>
                      <a:pt x="51467" y="60389"/>
                      <a:pt x="51570" y="61321"/>
                      <a:pt x="51673" y="62151"/>
                    </a:cubicBezTo>
                    <a:cubicBezTo>
                      <a:pt x="51776" y="66096"/>
                      <a:pt x="50117" y="67028"/>
                      <a:pt x="42545" y="67651"/>
                    </a:cubicBezTo>
                    <a:lnTo>
                      <a:pt x="42648" y="69310"/>
                    </a:lnTo>
                    <a:lnTo>
                      <a:pt x="71699" y="69310"/>
                    </a:lnTo>
                    <a:close/>
                    <a:moveTo>
                      <a:pt x="47835" y="42124"/>
                    </a:moveTo>
                    <a:lnTo>
                      <a:pt x="25733" y="42124"/>
                    </a:lnTo>
                    <a:lnTo>
                      <a:pt x="42335" y="15149"/>
                    </a:lnTo>
                    <a:lnTo>
                      <a:pt x="47835" y="4212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priced_advantage_outline_4"/>
              <p:cNvSpPr/>
              <p:nvPr/>
            </p:nvSpPr>
            <p:spPr>
              <a:xfrm>
                <a:off x="4141585" y="2146044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3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priced_advantage_outline_5"/>
              <p:cNvSpPr/>
              <p:nvPr/>
            </p:nvSpPr>
            <p:spPr>
              <a:xfrm>
                <a:off x="4209123" y="2146662"/>
                <a:ext cx="53125" cy="5810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810">
                    <a:moveTo>
                      <a:pt x="53126" y="5810"/>
                    </a:moveTo>
                    <a:lnTo>
                      <a:pt x="53126" y="0"/>
                    </a:lnTo>
                    <a:lnTo>
                      <a:pt x="0" y="0"/>
                    </a:lnTo>
                    <a:lnTo>
                      <a:pt x="0" y="5810"/>
                    </a:lnTo>
                    <a:lnTo>
                      <a:pt x="53126" y="5810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priced_advantage_outline_6"/>
              <p:cNvSpPr/>
              <p:nvPr/>
            </p:nvSpPr>
            <p:spPr>
              <a:xfrm>
                <a:off x="4277293" y="2103615"/>
                <a:ext cx="70869" cy="91308"/>
              </a:xfrm>
              <a:custGeom>
                <a:avLst/>
                <a:gdLst/>
                <a:ahLst/>
                <a:cxnLst/>
                <a:rect l="0" t="0" r="r" b="b"/>
                <a:pathLst>
                  <a:path w="70870" h="91309">
                    <a:moveTo>
                      <a:pt x="70870" y="63603"/>
                    </a:moveTo>
                    <a:lnTo>
                      <a:pt x="68691" y="63603"/>
                    </a:lnTo>
                    <a:cubicBezTo>
                      <a:pt x="66615" y="76573"/>
                      <a:pt x="61841" y="82387"/>
                      <a:pt x="54578" y="82387"/>
                    </a:cubicBezTo>
                    <a:lnTo>
                      <a:pt x="13906" y="82387"/>
                    </a:lnTo>
                    <a:lnTo>
                      <a:pt x="43994" y="43787"/>
                    </a:lnTo>
                    <a:lnTo>
                      <a:pt x="17224" y="4048"/>
                    </a:lnTo>
                    <a:lnTo>
                      <a:pt x="50427" y="4048"/>
                    </a:lnTo>
                    <a:cubicBezTo>
                      <a:pt x="58003" y="4048"/>
                      <a:pt x="62778" y="8195"/>
                      <a:pt x="64957" y="21376"/>
                    </a:cubicBezTo>
                    <a:lnTo>
                      <a:pt x="67239" y="21376"/>
                    </a:lnTo>
                    <a:lnTo>
                      <a:pt x="66615" y="0"/>
                    </a:lnTo>
                    <a:lnTo>
                      <a:pt x="4358" y="0"/>
                    </a:lnTo>
                    <a:lnTo>
                      <a:pt x="36108" y="45549"/>
                    </a:lnTo>
                    <a:lnTo>
                      <a:pt x="0" y="91309"/>
                    </a:lnTo>
                    <a:lnTo>
                      <a:pt x="69727" y="91309"/>
                    </a:lnTo>
                    <a:lnTo>
                      <a:pt x="70870" y="63603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priced_advantage_outline_7"/>
              <p:cNvSpPr/>
              <p:nvPr/>
            </p:nvSpPr>
            <p:spPr>
              <a:xfrm>
                <a:off x="4362985" y="2138790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3"/>
                      <a:pt x="41196" y="66616"/>
                      <a:pt x="39430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priced_advantage_outline_8"/>
              <p:cNvSpPr/>
              <p:nvPr/>
            </p:nvSpPr>
            <p:spPr>
              <a:xfrm>
                <a:off x="4443720" y="2108269"/>
                <a:ext cx="59352" cy="69107"/>
              </a:xfrm>
              <a:custGeom>
                <a:avLst/>
                <a:gdLst/>
                <a:ahLst/>
                <a:cxnLst/>
                <a:rect l="0" t="0" r="r" b="b"/>
                <a:pathLst>
                  <a:path w="59353" h="69108">
                    <a:moveTo>
                      <a:pt x="59353" y="60388"/>
                    </a:moveTo>
                    <a:lnTo>
                      <a:pt x="59249" y="60182"/>
                    </a:lnTo>
                    <a:cubicBezTo>
                      <a:pt x="57591" y="60182"/>
                      <a:pt x="55618" y="63710"/>
                      <a:pt x="50637" y="63710"/>
                    </a:cubicBezTo>
                    <a:cubicBezTo>
                      <a:pt x="45240" y="63710"/>
                      <a:pt x="43374" y="59976"/>
                      <a:pt x="43374" y="54372"/>
                    </a:cubicBezTo>
                    <a:cubicBezTo>
                      <a:pt x="43374" y="44410"/>
                      <a:pt x="49391" y="28329"/>
                      <a:pt x="49391" y="16292"/>
                    </a:cubicBezTo>
                    <a:cubicBezTo>
                      <a:pt x="49391" y="6953"/>
                      <a:pt x="45966" y="0"/>
                      <a:pt x="34036" y="0"/>
                    </a:cubicBezTo>
                    <a:lnTo>
                      <a:pt x="32790" y="0"/>
                    </a:lnTo>
                    <a:cubicBezTo>
                      <a:pt x="30611" y="0"/>
                      <a:pt x="25424" y="1560"/>
                      <a:pt x="23761" y="2802"/>
                    </a:cubicBezTo>
                    <a:cubicBezTo>
                      <a:pt x="23658" y="2909"/>
                      <a:pt x="24594" y="3842"/>
                      <a:pt x="24698" y="3842"/>
                    </a:cubicBezTo>
                    <a:cubicBezTo>
                      <a:pt x="25217" y="3425"/>
                      <a:pt x="27809" y="2492"/>
                      <a:pt x="30301" y="2492"/>
                    </a:cubicBezTo>
                    <a:cubicBezTo>
                      <a:pt x="37771" y="2492"/>
                      <a:pt x="39017" y="9446"/>
                      <a:pt x="39017" y="15153"/>
                    </a:cubicBezTo>
                    <a:cubicBezTo>
                      <a:pt x="39017" y="18161"/>
                      <a:pt x="38703" y="20856"/>
                      <a:pt x="38703" y="21792"/>
                    </a:cubicBezTo>
                    <a:cubicBezTo>
                      <a:pt x="38806" y="22102"/>
                      <a:pt x="38703" y="22312"/>
                      <a:pt x="38600" y="22725"/>
                    </a:cubicBezTo>
                    <a:cubicBezTo>
                      <a:pt x="36421" y="32377"/>
                      <a:pt x="2699" y="59559"/>
                      <a:pt x="0" y="67965"/>
                    </a:cubicBezTo>
                    <a:lnTo>
                      <a:pt x="11105" y="67965"/>
                    </a:lnTo>
                    <a:cubicBezTo>
                      <a:pt x="11105" y="66929"/>
                      <a:pt x="11208" y="65889"/>
                      <a:pt x="11414" y="64750"/>
                    </a:cubicBezTo>
                    <a:cubicBezTo>
                      <a:pt x="14736" y="51467"/>
                      <a:pt x="37251" y="31337"/>
                      <a:pt x="37251" y="31234"/>
                    </a:cubicBezTo>
                    <a:lnTo>
                      <a:pt x="37354" y="31234"/>
                    </a:lnTo>
                    <a:cubicBezTo>
                      <a:pt x="36941" y="34139"/>
                      <a:pt x="33207" y="44621"/>
                      <a:pt x="33207" y="53852"/>
                    </a:cubicBezTo>
                    <a:cubicBezTo>
                      <a:pt x="33207" y="61948"/>
                      <a:pt x="35798" y="69108"/>
                      <a:pt x="45240" y="69108"/>
                    </a:cubicBezTo>
                    <a:cubicBezTo>
                      <a:pt x="50534" y="69108"/>
                      <a:pt x="59146" y="61635"/>
                      <a:pt x="59353" y="60388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priced_advantage_outline_9"/>
              <p:cNvSpPr/>
              <p:nvPr/>
            </p:nvSpPr>
            <p:spPr>
              <a:xfrm>
                <a:off x="4509707" y="2138790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3"/>
                      <a:pt x="41196" y="66616"/>
                      <a:pt x="39429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3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priced_advantage_outline_10"/>
              <p:cNvSpPr/>
              <p:nvPr/>
            </p:nvSpPr>
            <p:spPr>
              <a:xfrm>
                <a:off x="4574491" y="2106923"/>
                <a:ext cx="71699" cy="69310"/>
              </a:xfrm>
              <a:custGeom>
                <a:avLst/>
                <a:gdLst/>
                <a:ahLst/>
                <a:cxnLst/>
                <a:rect l="0" t="0" r="r" b="b"/>
                <a:pathLst>
                  <a:path w="71699" h="69310">
                    <a:moveTo>
                      <a:pt x="71699" y="69310"/>
                    </a:moveTo>
                    <a:lnTo>
                      <a:pt x="71596" y="67651"/>
                    </a:lnTo>
                    <a:cubicBezTo>
                      <a:pt x="64853" y="67131"/>
                      <a:pt x="63917" y="66302"/>
                      <a:pt x="62258" y="58726"/>
                    </a:cubicBezTo>
                    <a:lnTo>
                      <a:pt x="50221" y="0"/>
                    </a:lnTo>
                    <a:lnTo>
                      <a:pt x="47006" y="0"/>
                    </a:lnTo>
                    <a:lnTo>
                      <a:pt x="14633" y="51880"/>
                    </a:lnTo>
                    <a:cubicBezTo>
                      <a:pt x="5810" y="65679"/>
                      <a:pt x="4774" y="66822"/>
                      <a:pt x="0" y="67651"/>
                    </a:cubicBezTo>
                    <a:lnTo>
                      <a:pt x="103" y="69310"/>
                    </a:lnTo>
                    <a:lnTo>
                      <a:pt x="22205" y="69310"/>
                    </a:lnTo>
                    <a:lnTo>
                      <a:pt x="22102" y="67651"/>
                    </a:lnTo>
                    <a:cubicBezTo>
                      <a:pt x="16085" y="67131"/>
                      <a:pt x="14839" y="66612"/>
                      <a:pt x="14736" y="64020"/>
                    </a:cubicBezTo>
                    <a:cubicBezTo>
                      <a:pt x="14736" y="62047"/>
                      <a:pt x="14839" y="61008"/>
                      <a:pt x="16708" y="57587"/>
                    </a:cubicBezTo>
                    <a:lnTo>
                      <a:pt x="23451" y="45756"/>
                    </a:lnTo>
                    <a:lnTo>
                      <a:pt x="48562" y="45859"/>
                    </a:lnTo>
                    <a:lnTo>
                      <a:pt x="51364" y="59452"/>
                    </a:lnTo>
                    <a:cubicBezTo>
                      <a:pt x="51467" y="60389"/>
                      <a:pt x="51570" y="61321"/>
                      <a:pt x="51673" y="62151"/>
                    </a:cubicBezTo>
                    <a:cubicBezTo>
                      <a:pt x="51776" y="66096"/>
                      <a:pt x="50117" y="67028"/>
                      <a:pt x="42545" y="67651"/>
                    </a:cubicBezTo>
                    <a:lnTo>
                      <a:pt x="42648" y="69310"/>
                    </a:lnTo>
                    <a:lnTo>
                      <a:pt x="71699" y="69310"/>
                    </a:lnTo>
                    <a:close/>
                    <a:moveTo>
                      <a:pt x="47835" y="42124"/>
                    </a:moveTo>
                    <a:lnTo>
                      <a:pt x="25733" y="42124"/>
                    </a:lnTo>
                    <a:lnTo>
                      <a:pt x="42335" y="15149"/>
                    </a:lnTo>
                    <a:lnTo>
                      <a:pt x="47835" y="4212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" name="priced_advantage_outline_11"/>
              <p:cNvSpPr/>
              <p:nvPr/>
            </p:nvSpPr>
            <p:spPr>
              <a:xfrm>
                <a:off x="4656752" y="2146044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5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priced_advantage_outline_12"/>
              <p:cNvSpPr/>
              <p:nvPr/>
            </p:nvSpPr>
            <p:spPr>
              <a:xfrm>
                <a:off x="4712069" y="215436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priced_advantage_outline_13"/>
              <p:cNvSpPr/>
              <p:nvPr/>
            </p:nvSpPr>
            <p:spPr>
              <a:xfrm>
                <a:off x="4057038" y="2236621"/>
                <a:ext cx="723056" cy="254"/>
              </a:xfrm>
              <a:custGeom>
                <a:avLst/>
                <a:gdLst/>
                <a:ahLst/>
                <a:cxnLst/>
                <a:rect l="0" t="0" r="r" b="b"/>
                <a:pathLst>
                  <a:path w="723056" h="254">
                    <a:moveTo>
                      <a:pt x="0" y="0"/>
                    </a:moveTo>
                    <a:lnTo>
                      <a:pt x="723056" y="0"/>
                    </a:lnTo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priced_advantage_outline_14"/>
              <p:cNvSpPr/>
              <p:nvPr/>
            </p:nvSpPr>
            <p:spPr>
              <a:xfrm>
                <a:off x="4221852" y="2249739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1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priced_advantage_outline_15"/>
              <p:cNvSpPr/>
              <p:nvPr/>
            </p:nvSpPr>
            <p:spPr>
              <a:xfrm>
                <a:off x="4268648" y="2266551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priced_advantage_outline_16"/>
              <p:cNvSpPr/>
              <p:nvPr/>
            </p:nvSpPr>
            <p:spPr>
              <a:xfrm>
                <a:off x="4332665" y="2247265"/>
                <a:ext cx="70869" cy="91308"/>
              </a:xfrm>
              <a:custGeom>
                <a:avLst/>
                <a:gdLst/>
                <a:ahLst/>
                <a:cxnLst/>
                <a:rect l="0" t="0" r="r" b="b"/>
                <a:pathLst>
                  <a:path w="70870" h="91309">
                    <a:moveTo>
                      <a:pt x="70870" y="63603"/>
                    </a:moveTo>
                    <a:lnTo>
                      <a:pt x="68691" y="63603"/>
                    </a:lnTo>
                    <a:cubicBezTo>
                      <a:pt x="66615" y="76573"/>
                      <a:pt x="61841" y="82387"/>
                      <a:pt x="54578" y="82387"/>
                    </a:cubicBezTo>
                    <a:lnTo>
                      <a:pt x="13907" y="82387"/>
                    </a:lnTo>
                    <a:lnTo>
                      <a:pt x="43994" y="43787"/>
                    </a:lnTo>
                    <a:lnTo>
                      <a:pt x="17224" y="4048"/>
                    </a:lnTo>
                    <a:lnTo>
                      <a:pt x="50427" y="4048"/>
                    </a:lnTo>
                    <a:cubicBezTo>
                      <a:pt x="58003" y="4048"/>
                      <a:pt x="62778" y="8195"/>
                      <a:pt x="64957" y="21376"/>
                    </a:cubicBezTo>
                    <a:lnTo>
                      <a:pt x="67239" y="21376"/>
                    </a:lnTo>
                    <a:lnTo>
                      <a:pt x="66615" y="0"/>
                    </a:lnTo>
                    <a:lnTo>
                      <a:pt x="4358" y="0"/>
                    </a:lnTo>
                    <a:lnTo>
                      <a:pt x="36108" y="45549"/>
                    </a:lnTo>
                    <a:lnTo>
                      <a:pt x="0" y="91309"/>
                    </a:lnTo>
                    <a:lnTo>
                      <a:pt x="69727" y="91309"/>
                    </a:lnTo>
                    <a:lnTo>
                      <a:pt x="70870" y="63603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priced_advantage_outline_17"/>
              <p:cNvSpPr/>
              <p:nvPr/>
            </p:nvSpPr>
            <p:spPr>
              <a:xfrm>
                <a:off x="4418357" y="2282439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priced_advantage_outline_18"/>
              <p:cNvSpPr/>
              <p:nvPr/>
            </p:nvSpPr>
            <p:spPr>
              <a:xfrm>
                <a:off x="4499092" y="2251918"/>
                <a:ext cx="59352" cy="69107"/>
              </a:xfrm>
              <a:custGeom>
                <a:avLst/>
                <a:gdLst/>
                <a:ahLst/>
                <a:cxnLst/>
                <a:rect l="0" t="0" r="r" b="b"/>
                <a:pathLst>
                  <a:path w="59353" h="69108">
                    <a:moveTo>
                      <a:pt x="59353" y="60388"/>
                    </a:moveTo>
                    <a:lnTo>
                      <a:pt x="59249" y="60182"/>
                    </a:lnTo>
                    <a:cubicBezTo>
                      <a:pt x="57590" y="60182"/>
                      <a:pt x="55618" y="63710"/>
                      <a:pt x="50637" y="63710"/>
                    </a:cubicBezTo>
                    <a:cubicBezTo>
                      <a:pt x="45240" y="63710"/>
                      <a:pt x="43374" y="59976"/>
                      <a:pt x="43374" y="54372"/>
                    </a:cubicBezTo>
                    <a:cubicBezTo>
                      <a:pt x="43374" y="44410"/>
                      <a:pt x="49391" y="28329"/>
                      <a:pt x="49391" y="16292"/>
                    </a:cubicBezTo>
                    <a:cubicBezTo>
                      <a:pt x="49391" y="6953"/>
                      <a:pt x="45966" y="0"/>
                      <a:pt x="34036" y="0"/>
                    </a:cubicBezTo>
                    <a:lnTo>
                      <a:pt x="32790" y="0"/>
                    </a:lnTo>
                    <a:cubicBezTo>
                      <a:pt x="30611" y="0"/>
                      <a:pt x="25424" y="1560"/>
                      <a:pt x="23761" y="2802"/>
                    </a:cubicBezTo>
                    <a:cubicBezTo>
                      <a:pt x="23658" y="2909"/>
                      <a:pt x="24594" y="3842"/>
                      <a:pt x="24697" y="3842"/>
                    </a:cubicBezTo>
                    <a:cubicBezTo>
                      <a:pt x="25217" y="3425"/>
                      <a:pt x="27809" y="2492"/>
                      <a:pt x="30301" y="2492"/>
                    </a:cubicBezTo>
                    <a:cubicBezTo>
                      <a:pt x="37771" y="2492"/>
                      <a:pt x="39017" y="9446"/>
                      <a:pt x="39017" y="15153"/>
                    </a:cubicBezTo>
                    <a:cubicBezTo>
                      <a:pt x="39017" y="18161"/>
                      <a:pt x="38703" y="20856"/>
                      <a:pt x="38703" y="21792"/>
                    </a:cubicBezTo>
                    <a:cubicBezTo>
                      <a:pt x="38806" y="22102"/>
                      <a:pt x="38703" y="22312"/>
                      <a:pt x="38600" y="22725"/>
                    </a:cubicBezTo>
                    <a:cubicBezTo>
                      <a:pt x="36421" y="32377"/>
                      <a:pt x="2699" y="59559"/>
                      <a:pt x="0" y="67965"/>
                    </a:cubicBezTo>
                    <a:lnTo>
                      <a:pt x="11105" y="67965"/>
                    </a:lnTo>
                    <a:cubicBezTo>
                      <a:pt x="11105" y="66929"/>
                      <a:pt x="11208" y="65889"/>
                      <a:pt x="11414" y="64750"/>
                    </a:cubicBezTo>
                    <a:cubicBezTo>
                      <a:pt x="14736" y="51467"/>
                      <a:pt x="37251" y="31337"/>
                      <a:pt x="37251" y="31234"/>
                    </a:cubicBezTo>
                    <a:lnTo>
                      <a:pt x="37354" y="31234"/>
                    </a:lnTo>
                    <a:cubicBezTo>
                      <a:pt x="36941" y="34139"/>
                      <a:pt x="33206" y="44621"/>
                      <a:pt x="33206" y="53852"/>
                    </a:cubicBezTo>
                    <a:cubicBezTo>
                      <a:pt x="33206" y="61948"/>
                      <a:pt x="35798" y="69108"/>
                      <a:pt x="45240" y="69108"/>
                    </a:cubicBezTo>
                    <a:cubicBezTo>
                      <a:pt x="50534" y="69108"/>
                      <a:pt x="59146" y="61635"/>
                      <a:pt x="59353" y="60388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" name="priced_advantage_outline_19"/>
              <p:cNvSpPr/>
              <p:nvPr/>
            </p:nvSpPr>
            <p:spPr>
              <a:xfrm>
                <a:off x="4565079" y="2282439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209" name="main_arrow0"/>
          <p:cNvSpPr/>
          <p:nvPr/>
        </p:nvSpPr>
        <p:spPr>
          <a:xfrm>
            <a:off x="6731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607891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main_arrow1"/>
          <p:cNvSpPr/>
          <p:nvPr/>
        </p:nvSpPr>
        <p:spPr>
          <a:xfrm>
            <a:off x="14732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607891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main_arrow2"/>
          <p:cNvSpPr/>
          <p:nvPr/>
        </p:nvSpPr>
        <p:spPr>
          <a:xfrm>
            <a:off x="23368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607891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ae_route"/>
          <p:cNvSpPr/>
          <p:nvPr/>
        </p:nvSpPr>
        <p:spPr>
          <a:xfrm>
            <a:off x="635000" y="2070100"/>
            <a:ext cx="2997200" cy="787400"/>
          </a:xfrm>
          <a:custGeom>
            <a:avLst/>
            <a:gdLst/>
            <a:ahLst/>
            <a:cxnLst/>
            <a:rect l="0" t="0" r="r" b="b"/>
            <a:pathLst>
              <a:path w="2997200" h="787400" fill="none">
                <a:moveTo>
                  <a:pt x="0" y="0"/>
                </a:moveTo>
                <a:lnTo>
                  <a:pt x="63500" y="0"/>
                </a:lnTo>
                <a:lnTo>
                  <a:pt x="63500" y="787400"/>
                </a:lnTo>
                <a:lnTo>
                  <a:pt x="2921000" y="787400"/>
                </a:lnTo>
                <a:lnTo>
                  <a:pt x="2921000" y="190500"/>
                </a:lnTo>
                <a:lnTo>
                  <a:pt x="2997200" y="190500"/>
                </a:lnTo>
              </a:path>
            </a:pathLst>
          </a:custGeom>
          <a:noFill/>
          <a:ln w="7620">
            <a:solidFill>
              <a:srgbClr val="76858D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gae_label_bg"/>
          <p:cNvSpPr/>
          <p:nvPr/>
        </p:nvSpPr>
        <p:spPr>
          <a:xfrm>
            <a:off x="876300" y="2794000"/>
            <a:ext cx="1054100" cy="13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ae_route_label"/>
          <p:cNvSpPr txBox="1"/>
          <p:nvPr/>
        </p:nvSpPr>
        <p:spPr>
          <a:xfrm>
            <a:off x="876300" y="2794000"/>
            <a:ext cx="10541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6858D"/>
                </a:solidFill>
                <a:latin typeface="Liberation Serif"/>
              </a:rPr>
              <a:t>GAE advantages</a:t>
            </a:r>
          </a:p>
        </p:txBody>
      </p:sp>
      <p:sp>
        <p:nvSpPr>
          <p:cNvPr id="215" name="loop_label"/>
          <p:cNvSpPr txBox="1"/>
          <p:nvPr/>
        </p:nvSpPr>
        <p:spPr>
          <a:xfrm>
            <a:off x="2235200" y="2857500"/>
            <a:ext cx="8636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6858D"/>
                </a:solidFill>
                <a:latin typeface="Liberation Serif"/>
              </a:rPr>
              <a:t>next rollout</a:t>
            </a:r>
          </a:p>
        </p:txBody>
      </p:sp>
      <p:sp>
        <p:nvSpPr>
          <p:cNvPr id="216" name="dual_to_update"/>
          <p:cNvSpPr/>
          <p:nvPr/>
        </p:nvSpPr>
        <p:spPr>
          <a:xfrm>
            <a:off x="3467100" y="622300"/>
            <a:ext cx="165100" cy="127"/>
          </a:xfrm>
          <a:custGeom>
            <a:avLst/>
            <a:gdLst/>
            <a:ahLst/>
            <a:cxnLst/>
            <a:rect l="0" t="0" r="r" b="b"/>
            <a:pathLst>
              <a:path w="165100" h="1" fill="none">
                <a:moveTo>
                  <a:pt x="0" y="0"/>
                </a:moveTo>
                <a:lnTo>
                  <a:pt x="165100" y="0"/>
                </a:lnTo>
              </a:path>
            </a:pathLst>
          </a:custGeom>
          <a:noFill/>
          <a:ln w="10795">
            <a:solidFill>
              <a:srgbClr val="3F746B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bserved_feedback"/>
          <p:cNvSpPr/>
          <p:nvPr/>
        </p:nvSpPr>
        <p:spPr>
          <a:xfrm>
            <a:off x="368300" y="1485900"/>
            <a:ext cx="3289300" cy="1231900"/>
          </a:xfrm>
          <a:custGeom>
            <a:avLst/>
            <a:gdLst/>
            <a:ahLst/>
            <a:cxnLst/>
            <a:rect l="0" t="0" r="r" b="b"/>
            <a:pathLst>
              <a:path w="3289300" h="1231900" fill="none">
                <a:moveTo>
                  <a:pt x="0" y="1092200"/>
                </a:moveTo>
                <a:lnTo>
                  <a:pt x="0" y="1231900"/>
                </a:lnTo>
                <a:lnTo>
                  <a:pt x="3200400" y="1231900"/>
                </a:lnTo>
                <a:lnTo>
                  <a:pt x="3200400" y="0"/>
                </a:lnTo>
                <a:lnTo>
                  <a:pt x="3289300" y="0"/>
                </a:lnTo>
              </a:path>
            </a:pathLst>
          </a:custGeom>
          <a:noFill/>
          <a:ln w="8890">
            <a:solidFill>
              <a:srgbClr val="A57957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bserved_label_bg"/>
          <p:cNvSpPr/>
          <p:nvPr/>
        </p:nvSpPr>
        <p:spPr>
          <a:xfrm>
            <a:off x="723900" y="2654300"/>
            <a:ext cx="1346200" cy="12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bserved_route"/>
          <p:cNvSpPr txBox="1"/>
          <p:nvPr/>
        </p:nvSpPr>
        <p:spPr>
          <a:xfrm>
            <a:off x="723900" y="2654300"/>
            <a:ext cx="1333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A57957"/>
                </a:solidFill>
                <a:latin typeface="Liberation Serif"/>
              </a:rPr>
              <a:t>observed episode costs</a:t>
            </a:r>
          </a:p>
        </p:txBody>
      </p:sp>
      <p:sp>
        <p:nvSpPr>
          <p:cNvPr id="220" name="next_rollout"/>
          <p:cNvSpPr/>
          <p:nvPr/>
        </p:nvSpPr>
        <p:spPr>
          <a:xfrm>
            <a:off x="12700" y="850900"/>
            <a:ext cx="5003800" cy="2133600"/>
          </a:xfrm>
          <a:custGeom>
            <a:avLst/>
            <a:gdLst/>
            <a:ahLst/>
            <a:cxnLst/>
            <a:rect l="0" t="0" r="r" b="b"/>
            <a:pathLst>
              <a:path w="5003800" h="2133600" fill="none">
                <a:moveTo>
                  <a:pt x="4927600" y="1676400"/>
                </a:moveTo>
                <a:lnTo>
                  <a:pt x="5003800" y="1676400"/>
                </a:lnTo>
                <a:lnTo>
                  <a:pt x="5003800" y="2133600"/>
                </a:lnTo>
                <a:lnTo>
                  <a:pt x="0" y="2133600"/>
                </a:lnTo>
                <a:lnTo>
                  <a:pt x="0" y="0"/>
                </a:lnTo>
                <a:lnTo>
                  <a:pt x="139700" y="0"/>
                </a:lnTo>
              </a:path>
            </a:pathLst>
          </a:custGeom>
          <a:noFill/>
          <a:ln w="5715">
            <a:solidFill>
              <a:srgbClr val="A9B3B8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SafeOT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