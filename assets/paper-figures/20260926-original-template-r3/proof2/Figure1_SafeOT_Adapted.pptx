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095500"/>
            <a:chOff x="25400" y="38100"/>
            <a:chExt cx="1244600" cy="20955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" name="leakage_label"/>
            <p:cNvSpPr txBox="1"/>
            <p:nvPr/>
          </p:nvSpPr>
          <p:spPr>
            <a:xfrm>
              <a:off x="317500" y="889000"/>
              <a:ext cx="850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1" name="left_schematic"/>
            <p:cNvSpPr txBox="1"/>
            <p:nvPr/>
          </p:nvSpPr>
          <p:spPr>
            <a:xfrm>
              <a:off x="114300" y="19939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12" name="left_title"/>
            <p:cNvSpPr txBox="1"/>
            <p:nvPr/>
          </p:nvSpPr>
          <p:spPr>
            <a:xfrm>
              <a:off x="76200" y="1270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607891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13" name="left_sub"/>
            <p:cNvSpPr txBox="1"/>
            <p:nvPr/>
          </p:nvSpPr>
          <p:spPr>
            <a:xfrm>
              <a:off x="762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enter the objective</a:t>
              </a:r>
            </a:p>
          </p:txBody>
        </p:sp>
        <p:sp>
          <p:nvSpPr>
            <p:cNvPr id="14" name="penalty_rule"/>
            <p:cNvSpPr txBox="1"/>
            <p:nvPr/>
          </p:nvSpPr>
          <p:spPr>
            <a:xfrm>
              <a:off x="139700" y="622300"/>
              <a:ext cx="10160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5" name="left_note"/>
            <p:cNvSpPr txBox="1"/>
            <p:nvPr/>
          </p:nvSpPr>
          <p:spPr>
            <a:xfrm>
              <a:off x="101600" y="1714500"/>
              <a:ext cx="1117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prices can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leave budget leakage.</a:t>
              </a:r>
            </a:p>
          </p:txBody>
        </p:sp>
        <p:grpSp>
          <p:nvGrpSpPr>
            <p:cNvPr id="16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17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9" name="module_safeot"/>
          <p:cNvGrpSpPr/>
          <p:nvPr/>
        </p:nvGrpSpPr>
        <p:grpSpPr>
          <a:xfrm>
            <a:off x="1333500" y="38100"/>
            <a:ext cx="2362200" cy="2095500"/>
            <a:chOff x="1333500" y="38100"/>
            <a:chExt cx="2362200" cy="2095500"/>
          </a:xfrm>
        </p:grpSpPr>
        <p:sp>
          <p:nvSpPr>
            <p:cNvPr id="20" name="safeot_border"/>
            <p:cNvSpPr/>
            <p:nvPr/>
          </p:nvSpPr>
          <p:spPr>
            <a:xfrm>
              <a:off x="1333500" y="38100"/>
              <a:ext cx="23622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ostcard0"/>
            <p:cNvSpPr/>
            <p:nvPr/>
          </p:nvSpPr>
          <p:spPr>
            <a:xfrm>
              <a:off x="1447800" y="8255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ostcard1"/>
            <p:cNvSpPr/>
            <p:nvPr/>
          </p:nvSpPr>
          <p:spPr>
            <a:xfrm>
              <a:off x="1447800" y="10668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ostcard2"/>
            <p:cNvSpPr/>
            <p:nvPr/>
          </p:nvSpPr>
          <p:spPr>
            <a:xfrm>
              <a:off x="1447800" y="13081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ostcard3"/>
            <p:cNvSpPr/>
            <p:nvPr/>
          </p:nvSpPr>
          <p:spPr>
            <a:xfrm>
              <a:off x="1447800" y="15494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afeot_title"/>
            <p:cNvSpPr txBox="1"/>
            <p:nvPr/>
          </p:nvSpPr>
          <p:spPr>
            <a:xfrm>
              <a:off x="1714500" y="114300"/>
              <a:ext cx="16129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 i="0">
                  <a:solidFill>
                    <a:srgbClr val="3F746B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26" name="subtitle"/>
            <p:cNvSpPr txBox="1"/>
            <p:nvPr/>
          </p:nvSpPr>
          <p:spPr>
            <a:xfrm>
              <a:off x="1422400" y="3683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i="0">
                  <a:solidFill>
                    <a:srgbClr val="3F746B"/>
                  </a:solidFill>
                  <a:latin typeface="Liberation Serif"/>
                </a:rPr>
                <a:t>One flow, all budgets</a:t>
              </a:r>
            </a:p>
          </p:txBody>
        </p:sp>
        <p:sp>
          <p:nvSpPr>
            <p:cNvPr id="27" name="costs_title"/>
            <p:cNvSpPr txBox="1"/>
            <p:nvPr/>
          </p:nvSpPr>
          <p:spPr>
            <a:xfrm>
              <a:off x="1397000" y="609600"/>
              <a:ext cx="635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Soft costs</a:t>
              </a:r>
            </a:p>
          </p:txBody>
        </p:sp>
        <p:sp>
          <p:nvSpPr>
            <p:cNvPr id="28" name="solve_title"/>
            <p:cNvSpPr txBox="1"/>
            <p:nvPr/>
          </p:nvSpPr>
          <p:spPr>
            <a:xfrm>
              <a:off x="2082800" y="609600"/>
              <a:ext cx="1524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Entropic projection</a:t>
              </a:r>
            </a:p>
          </p:txBody>
        </p:sp>
        <p:sp>
          <p:nvSpPr>
            <p:cNvPr id="29" name="cost_icon0deck"/>
            <p:cNvSpPr/>
            <p:nvPr/>
          </p:nvSpPr>
          <p:spPr>
            <a:xfrm>
              <a:off x="1498600" y="91313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952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ost_icon00"/>
            <p:cNvSpPr/>
            <p:nvPr/>
          </p:nvSpPr>
          <p:spPr>
            <a:xfrm>
              <a:off x="1526540" y="860044"/>
              <a:ext cx="127" cy="103378"/>
            </a:xfrm>
            <a:custGeom>
              <a:avLst/>
              <a:gdLst/>
              <a:ahLst/>
              <a:cxnLst/>
              <a:rect l="0" t="0" r="r" b="b"/>
              <a:pathLst>
                <a:path w="1" h="103378" fill="none">
                  <a:moveTo>
                    <a:pt x="0" y="0"/>
                  </a:moveTo>
                  <a:lnTo>
                    <a:pt x="0" y="103378"/>
                  </a:lnTo>
                </a:path>
              </a:pathLst>
            </a:custGeom>
            <a:noFill/>
            <a:ln w="952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ost_icon01"/>
            <p:cNvSpPr/>
            <p:nvPr/>
          </p:nvSpPr>
          <p:spPr>
            <a:xfrm>
              <a:off x="1610360" y="860044"/>
              <a:ext cx="127" cy="103378"/>
            </a:xfrm>
            <a:custGeom>
              <a:avLst/>
              <a:gdLst/>
              <a:ahLst/>
              <a:cxnLst/>
              <a:rect l="0" t="0" r="r" b="b"/>
              <a:pathLst>
                <a:path w="1" h="103378" fill="none">
                  <a:moveTo>
                    <a:pt x="0" y="0"/>
                  </a:moveTo>
                  <a:lnTo>
                    <a:pt x="0" y="103378"/>
                  </a:lnTo>
                </a:path>
              </a:pathLst>
            </a:custGeom>
            <a:noFill/>
            <a:ln w="952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ost_icon0arch"/>
            <p:cNvSpPr/>
            <p:nvPr/>
          </p:nvSpPr>
          <p:spPr>
            <a:xfrm>
              <a:off x="1526540" y="869823"/>
              <a:ext cx="83819" cy="27241"/>
            </a:xfrm>
            <a:custGeom>
              <a:avLst/>
              <a:gdLst/>
              <a:ahLst/>
              <a:cxnLst/>
              <a:rect l="0" t="0" r="r" b="b"/>
              <a:pathLst>
                <a:path w="83819" h="27241" fill="none">
                  <a:moveTo>
                    <a:pt x="0" y="0"/>
                  </a:moveTo>
                  <a:quadBezTo>
                    <a:pt x="41909" y="54482"/>
                    <a:pt x="83819" y="0"/>
                  </a:quadBezTo>
                </a:path>
              </a:pathLst>
            </a:custGeom>
            <a:noFill/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cost_icon0wave"/>
            <p:cNvSpPr/>
            <p:nvPr/>
          </p:nvSpPr>
          <p:spPr>
            <a:xfrm>
              <a:off x="1498600" y="962025"/>
              <a:ext cx="139700" cy="16764"/>
            </a:xfrm>
            <a:custGeom>
              <a:avLst/>
              <a:gdLst/>
              <a:ahLst/>
              <a:cxnLst/>
              <a:rect l="0" t="0" r="r" b="b"/>
              <a:pathLst>
                <a:path w="139700" h="16764" fill="none">
                  <a:moveTo>
                    <a:pt x="0" y="8382"/>
                  </a:moveTo>
                  <a:quadBezTo>
                    <a:pt x="34925" y="-8381"/>
                    <a:pt x="69850" y="8382"/>
                  </a:quadBezTo>
                  <a:quadBezTo>
                    <a:pt x="104775" y="25146"/>
                    <a:pt x="139700" y="8382"/>
                  </a:quadBezTo>
                </a:path>
              </a:pathLst>
            </a:custGeom>
            <a:noFill/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ost_index0"/>
            <p:cNvSpPr txBox="1"/>
            <p:nvPr/>
          </p:nvSpPr>
          <p:spPr>
            <a:xfrm>
              <a:off x="1701800" y="8382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35" name="cost_icon1drop"/>
            <p:cNvSpPr/>
            <p:nvPr/>
          </p:nvSpPr>
          <p:spPr>
            <a:xfrm>
              <a:off x="1523422" y="1084580"/>
              <a:ext cx="90054" cy="117348"/>
            </a:xfrm>
            <a:custGeom>
              <a:avLst/>
              <a:gdLst/>
              <a:ahLst/>
              <a:cxnLst/>
              <a:rect l="0" t="0" r="r" b="b"/>
              <a:pathLst>
                <a:path w="90054" h="117348" fill="norm">
                  <a:moveTo>
                    <a:pt x="45027" y="0"/>
                  </a:moveTo>
                  <a:cubicBezTo>
                    <a:pt x="33851" y="41909"/>
                    <a:pt x="-3867" y="55880"/>
                    <a:pt x="323" y="88011"/>
                  </a:cubicBezTo>
                  <a:cubicBezTo>
                    <a:pt x="4514" y="127127"/>
                    <a:pt x="85540" y="127127"/>
                    <a:pt x="89731" y="88011"/>
                  </a:cubicBezTo>
                  <a:cubicBezTo>
                    <a:pt x="93922" y="55880"/>
                    <a:pt x="56203" y="41909"/>
                    <a:pt x="45027" y="0"/>
                  </a:cubicBezTo>
                  <a:close/>
                </a:path>
              </a:pathLst>
            </a:custGeom>
            <a:solidFill>
              <a:srgbClr val="EDF2F3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cost_index1"/>
            <p:cNvSpPr txBox="1"/>
            <p:nvPr/>
          </p:nvSpPr>
          <p:spPr>
            <a:xfrm>
              <a:off x="1701800" y="10795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7" name="cost_icon2track"/>
            <p:cNvSpPr/>
            <p:nvPr/>
          </p:nvSpPr>
          <p:spPr>
            <a:xfrm>
              <a:off x="1501394" y="1436243"/>
              <a:ext cx="86614" cy="22352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ost_icon2cab"/>
            <p:cNvSpPr/>
            <p:nvPr/>
          </p:nvSpPr>
          <p:spPr>
            <a:xfrm>
              <a:off x="1515364" y="1395730"/>
              <a:ext cx="48894" cy="39116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ost_icon2arm"/>
            <p:cNvSpPr/>
            <p:nvPr/>
          </p:nvSpPr>
          <p:spPr>
            <a:xfrm>
              <a:off x="1554480" y="1345438"/>
              <a:ext cx="68453" cy="78231"/>
            </a:xfrm>
            <a:custGeom>
              <a:avLst/>
              <a:gdLst/>
              <a:ahLst/>
              <a:cxnLst/>
              <a:rect l="0" t="0" r="r" b="b"/>
              <a:pathLst>
                <a:path w="68453" h="78231" fill="none">
                  <a:moveTo>
                    <a:pt x="0" y="50291"/>
                  </a:moveTo>
                  <a:lnTo>
                    <a:pt x="29336" y="0"/>
                  </a:lnTo>
                  <a:lnTo>
                    <a:pt x="68453" y="23748"/>
                  </a:lnTo>
                  <a:lnTo>
                    <a:pt x="53085" y="78231"/>
                  </a:lnTo>
                </a:path>
              </a:pathLst>
            </a:custGeom>
            <a:noFill/>
            <a:ln w="1143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ost_icon2bucket"/>
            <p:cNvSpPr/>
            <p:nvPr/>
          </p:nvSpPr>
          <p:spPr>
            <a:xfrm>
              <a:off x="1597787" y="1423670"/>
              <a:ext cx="40512" cy="29337"/>
            </a:xfrm>
            <a:custGeom>
              <a:avLst/>
              <a:gdLst/>
              <a:ahLst/>
              <a:cxnLst/>
              <a:rect l="0" t="0" r="r" b="b"/>
              <a:pathLst>
                <a:path w="40512" h="29337" fill="none">
                  <a:moveTo>
                    <a:pt x="9778" y="0"/>
                  </a:moveTo>
                  <a:lnTo>
                    <a:pt x="40512" y="0"/>
                  </a:lnTo>
                  <a:lnTo>
                    <a:pt x="25146" y="29337"/>
                  </a:lnTo>
                  <a:lnTo>
                    <a:pt x="0" y="13969"/>
                  </a:lnTo>
                </a:path>
              </a:pathLst>
            </a:custGeom>
            <a:noFill/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cost_index2"/>
            <p:cNvSpPr txBox="1"/>
            <p:nvPr/>
          </p:nvSpPr>
          <p:spPr>
            <a:xfrm>
              <a:off x="1701800" y="13208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42" name="cost_icon3flame"/>
            <p:cNvSpPr/>
            <p:nvPr/>
          </p:nvSpPr>
          <p:spPr>
            <a:xfrm>
              <a:off x="1515494" y="1567180"/>
              <a:ext cx="102199" cy="137948"/>
            </a:xfrm>
            <a:custGeom>
              <a:avLst/>
              <a:gdLst/>
              <a:ahLst/>
              <a:cxnLst/>
              <a:rect l="0" t="0" r="r" b="b"/>
              <a:pathLst>
                <a:path w="102199" h="137948" fill="norm">
                  <a:moveTo>
                    <a:pt x="55749" y="0"/>
                  </a:moveTo>
                  <a:cubicBezTo>
                    <a:pt x="87880" y="48894"/>
                    <a:pt x="32000" y="50291"/>
                    <a:pt x="89277" y="83819"/>
                  </a:cubicBezTo>
                  <a:cubicBezTo>
                    <a:pt x="133981" y="127126"/>
                    <a:pt x="51558" y="163449"/>
                    <a:pt x="11045" y="114554"/>
                  </a:cubicBezTo>
                  <a:cubicBezTo>
                    <a:pt x="-19688" y="82423"/>
                    <a:pt x="23618" y="65658"/>
                    <a:pt x="22221" y="39115"/>
                  </a:cubicBezTo>
                  <a:cubicBezTo>
                    <a:pt x="52955" y="76835"/>
                    <a:pt x="54352" y="34925"/>
                    <a:pt x="55749" y="0"/>
                  </a:cubicBezTo>
                  <a:close/>
                </a:path>
              </a:pathLst>
            </a:custGeom>
            <a:solidFill>
              <a:srgbClr val="EDF2F3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cost_index3"/>
            <p:cNvSpPr txBox="1"/>
            <p:nvPr/>
          </p:nvSpPr>
          <p:spPr>
            <a:xfrm>
              <a:off x="1701800" y="15621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44" name="to_solve"/>
            <p:cNvSpPr/>
            <p:nvPr/>
          </p:nvSpPr>
          <p:spPr>
            <a:xfrm>
              <a:off x="1981200" y="1200150"/>
              <a:ext cx="152400" cy="127"/>
            </a:xfrm>
            <a:custGeom>
              <a:avLst/>
              <a:gdLst/>
              <a:ahLst/>
              <a:cxnLst/>
              <a:rect l="0" t="0" r="r" b="b"/>
              <a:pathLst>
                <a:path w="152400" h="1" fill="none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889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unified_graph_edge0"/>
            <p:cNvSpPr/>
            <p:nvPr/>
          </p:nvSpPr>
          <p:spPr>
            <a:xfrm>
              <a:off x="2224152" y="944903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237443"/>
                  </a:moveTo>
                  <a:lnTo>
                    <a:pt x="360804" y="0"/>
                  </a:lnTo>
                </a:path>
              </a:pathLst>
            </a:custGeom>
            <a:noFill/>
            <a:ln w="1079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unified_graph_edge1"/>
            <p:cNvSpPr/>
            <p:nvPr/>
          </p:nvSpPr>
          <p:spPr>
            <a:xfrm>
              <a:off x="2644394" y="927100"/>
              <a:ext cx="362711" cy="127"/>
            </a:xfrm>
            <a:custGeom>
              <a:avLst/>
              <a:gdLst/>
              <a:ahLst/>
              <a:cxnLst/>
              <a:rect l="0" t="0" r="r" b="b"/>
              <a:pathLst>
                <a:path w="362711" h="1" fill="none">
                  <a:moveTo>
                    <a:pt x="0" y="0"/>
                  </a:moveTo>
                  <a:lnTo>
                    <a:pt x="362711" y="0"/>
                  </a:lnTo>
                </a:path>
              </a:pathLst>
            </a:custGeom>
            <a:noFill/>
            <a:ln w="1079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unified_graph_edge2"/>
            <p:cNvSpPr/>
            <p:nvPr/>
          </p:nvSpPr>
          <p:spPr>
            <a:xfrm>
              <a:off x="3066543" y="944903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0"/>
                  </a:moveTo>
                  <a:lnTo>
                    <a:pt x="360804" y="237443"/>
                  </a:lnTo>
                </a:path>
              </a:pathLst>
            </a:custGeom>
            <a:noFill/>
            <a:ln w="10795">
              <a:solidFill>
                <a:srgbClr val="98A4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unified_graph_edge3"/>
            <p:cNvSpPr/>
            <p:nvPr/>
          </p:nvSpPr>
          <p:spPr>
            <a:xfrm>
              <a:off x="2224152" y="1217953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0"/>
                  </a:moveTo>
                  <a:lnTo>
                    <a:pt x="360804" y="237443"/>
                  </a:lnTo>
                </a:path>
              </a:pathLst>
            </a:custGeom>
            <a:noFill/>
            <a:ln w="571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unified_graph_target3"/>
            <p:cNvSpPr/>
            <p:nvPr/>
          </p:nvSpPr>
          <p:spPr>
            <a:xfrm>
              <a:off x="2214378" y="1232805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0"/>
                  </a:moveTo>
                  <a:lnTo>
                    <a:pt x="360804" y="237443"/>
                  </a:lnTo>
                </a:path>
              </a:pathLst>
            </a:custGeom>
            <a:noFill/>
            <a:ln w="1905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unified_graph_edge4"/>
            <p:cNvSpPr/>
            <p:nvPr/>
          </p:nvSpPr>
          <p:spPr>
            <a:xfrm>
              <a:off x="2644394" y="1473200"/>
              <a:ext cx="362711" cy="127"/>
            </a:xfrm>
            <a:custGeom>
              <a:avLst/>
              <a:gdLst/>
              <a:ahLst/>
              <a:cxnLst/>
              <a:rect l="0" t="0" r="r" b="b"/>
              <a:pathLst>
                <a:path w="362711" h="1" fill="none">
                  <a:moveTo>
                    <a:pt x="0" y="0"/>
                  </a:moveTo>
                  <a:lnTo>
                    <a:pt x="362711" y="0"/>
                  </a:lnTo>
                </a:path>
              </a:pathLst>
            </a:custGeom>
            <a:noFill/>
            <a:ln w="5715">
              <a:solidFill>
                <a:srgbClr val="98A4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unified_graph_target4"/>
            <p:cNvSpPr/>
            <p:nvPr/>
          </p:nvSpPr>
          <p:spPr>
            <a:xfrm>
              <a:off x="2644394" y="1490980"/>
              <a:ext cx="362711" cy="127"/>
            </a:xfrm>
            <a:custGeom>
              <a:avLst/>
              <a:gdLst/>
              <a:ahLst/>
              <a:cxnLst/>
              <a:rect l="0" t="0" r="r" b="b"/>
              <a:pathLst>
                <a:path w="362711" h="1" fill="none">
                  <a:moveTo>
                    <a:pt x="0" y="0"/>
                  </a:moveTo>
                  <a:lnTo>
                    <a:pt x="362711" y="0"/>
                  </a:lnTo>
                </a:path>
              </a:pathLst>
            </a:custGeom>
            <a:noFill/>
            <a:ln w="1905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unified_graph_edge5"/>
            <p:cNvSpPr/>
            <p:nvPr/>
          </p:nvSpPr>
          <p:spPr>
            <a:xfrm>
              <a:off x="3066543" y="1217953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237443"/>
                  </a:moveTo>
                  <a:lnTo>
                    <a:pt x="360804" y="0"/>
                  </a:lnTo>
                </a:path>
              </a:pathLst>
            </a:custGeom>
            <a:noFill/>
            <a:ln w="5715">
              <a:solidFill>
                <a:srgbClr val="98A4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unified_graph_target5"/>
            <p:cNvSpPr/>
            <p:nvPr/>
          </p:nvSpPr>
          <p:spPr>
            <a:xfrm>
              <a:off x="3076317" y="1232805"/>
              <a:ext cx="360804" cy="237443"/>
            </a:xfrm>
            <a:custGeom>
              <a:avLst/>
              <a:gdLst/>
              <a:ahLst/>
              <a:cxnLst/>
              <a:rect l="0" t="0" r="r" b="b"/>
              <a:pathLst>
                <a:path w="360804" h="237443" fill="none">
                  <a:moveTo>
                    <a:pt x="0" y="237443"/>
                  </a:moveTo>
                  <a:lnTo>
                    <a:pt x="360804" y="0"/>
                  </a:lnTo>
                </a:path>
              </a:pathLst>
            </a:custGeom>
            <a:noFill/>
            <a:ln w="1905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unified_graph_excluded"/>
            <p:cNvSpPr/>
            <p:nvPr/>
          </p:nvSpPr>
          <p:spPr>
            <a:xfrm>
              <a:off x="2612009" y="959485"/>
              <a:ext cx="127" cy="481330"/>
            </a:xfrm>
            <a:custGeom>
              <a:avLst/>
              <a:gdLst/>
              <a:ahLst/>
              <a:cxnLst/>
              <a:rect l="0" t="0" r="r" b="b"/>
              <a:pathLst>
                <a:path w="1" h="481330" fill="none">
                  <a:moveTo>
                    <a:pt x="0" y="0"/>
                  </a:moveTo>
                  <a:lnTo>
                    <a:pt x="0" y="481330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unified_graph_cross0"/>
            <p:cNvSpPr/>
            <p:nvPr/>
          </p:nvSpPr>
          <p:spPr>
            <a:xfrm>
              <a:off x="2591689" y="117983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40639"/>
                  </a:moveTo>
                  <a:lnTo>
                    <a:pt x="40639" y="0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unified_graph_cross1"/>
            <p:cNvSpPr/>
            <p:nvPr/>
          </p:nvSpPr>
          <p:spPr>
            <a:xfrm>
              <a:off x="2591689" y="1179830"/>
              <a:ext cx="40639" cy="40639"/>
            </a:xfrm>
            <a:custGeom>
              <a:avLst/>
              <a:gdLst/>
              <a:ahLst/>
              <a:cxnLst/>
              <a:rect l="0" t="0" r="r" b="b"/>
              <a:pathLst>
                <a:path w="40639" h="40639" fill="none">
                  <a:moveTo>
                    <a:pt x="0" y="0"/>
                  </a:moveTo>
                  <a:lnTo>
                    <a:pt x="40639" y="40639"/>
                  </a:lnTo>
                </a:path>
              </a:pathLst>
            </a:custGeom>
            <a:noFill/>
            <a:ln w="1016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unified_graph_node0"/>
            <p:cNvSpPr/>
            <p:nvPr/>
          </p:nvSpPr>
          <p:spPr>
            <a:xfrm>
              <a:off x="2164715" y="1167765"/>
              <a:ext cx="64769" cy="64769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unified_graph_node1"/>
            <p:cNvSpPr/>
            <p:nvPr/>
          </p:nvSpPr>
          <p:spPr>
            <a:xfrm>
              <a:off x="2579624" y="894715"/>
              <a:ext cx="64769" cy="6476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unified_graph_node2"/>
            <p:cNvSpPr/>
            <p:nvPr/>
          </p:nvSpPr>
          <p:spPr>
            <a:xfrm>
              <a:off x="2579624" y="1440815"/>
              <a:ext cx="64769" cy="64769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unified_graph_node3"/>
            <p:cNvSpPr/>
            <p:nvPr/>
          </p:nvSpPr>
          <p:spPr>
            <a:xfrm>
              <a:off x="3007105" y="894715"/>
              <a:ext cx="64769" cy="6476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unified_graph_node4"/>
            <p:cNvSpPr/>
            <p:nvPr/>
          </p:nvSpPr>
          <p:spPr>
            <a:xfrm>
              <a:off x="3007105" y="1440815"/>
              <a:ext cx="64769" cy="64769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unified_graph_node5"/>
            <p:cNvSpPr/>
            <p:nvPr/>
          </p:nvSpPr>
          <p:spPr>
            <a:xfrm>
              <a:off x="3422015" y="1167765"/>
              <a:ext cx="64769" cy="64769"/>
            </a:xfrm>
            <a:prstGeom prst="ellipse">
              <a:avLst/>
            </a:prstGeom>
            <a:solidFill>
              <a:srgbClr val="E9F1ED"/>
            </a:solidFill>
            <a:ln w="8255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low_key"/>
            <p:cNvSpPr txBox="1"/>
            <p:nvPr/>
          </p:nvSpPr>
          <p:spPr>
            <a:xfrm>
              <a:off x="2057400" y="15494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64" name="hard_key"/>
            <p:cNvSpPr txBox="1"/>
            <p:nvPr/>
          </p:nvSpPr>
          <p:spPr>
            <a:xfrm>
              <a:off x="1384300" y="1790700"/>
              <a:ext cx="2247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× hard constraints remove edges</a:t>
              </a:r>
            </a:p>
          </p:txBody>
        </p:sp>
      </p:grpSp>
      <p:grpSp>
        <p:nvGrpSpPr>
          <p:cNvPr id="65" name="module_budget"/>
          <p:cNvGrpSpPr/>
          <p:nvPr/>
        </p:nvGrpSpPr>
        <p:grpSpPr>
          <a:xfrm>
            <a:off x="3759200" y="38100"/>
            <a:ext cx="1244600" cy="2095500"/>
            <a:chOff x="3759200" y="38100"/>
            <a:chExt cx="1244600" cy="2095500"/>
          </a:xfrm>
        </p:grpSpPr>
        <p:sp>
          <p:nvSpPr>
            <p:cNvPr id="66" name="budget_border"/>
            <p:cNvSpPr/>
            <p:nvPr/>
          </p:nvSpPr>
          <p:spPr>
            <a:xfrm>
              <a:off x="37592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A5795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A5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72" name="right_schematic"/>
            <p:cNvSpPr txBox="1"/>
            <p:nvPr/>
          </p:nvSpPr>
          <p:spPr>
            <a:xfrm>
              <a:off x="3810000" y="19939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73" name="right_title"/>
            <p:cNvSpPr txBox="1"/>
            <p:nvPr/>
          </p:nvSpPr>
          <p:spPr>
            <a:xfrm>
              <a:off x="3784600" y="127000"/>
              <a:ext cx="11938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607891"/>
                  </a:solidFill>
                  <a:latin typeface="Liberation Serif"/>
                </a:rPr>
                <a:t>Constraint view</a:t>
              </a:r>
            </a:p>
          </p:txBody>
        </p:sp>
        <p:sp>
          <p:nvSpPr>
            <p:cNvPr id="74" name="right_sub"/>
            <p:cNvSpPr txBox="1"/>
            <p:nvPr/>
          </p:nvSpPr>
          <p:spPr>
            <a:xfrm>
              <a:off x="38100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bound costs</a:t>
              </a:r>
            </a:p>
          </p:txBody>
        </p:sp>
        <p:sp>
          <p:nvSpPr>
            <p:cNvPr id="75" name="constraint_rule"/>
            <p:cNvSpPr txBox="1"/>
            <p:nvPr/>
          </p:nvSpPr>
          <p:spPr>
            <a:xfrm>
              <a:off x="3822700" y="622300"/>
              <a:ext cx="11176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Lagrangian feedback</a:t>
              </a:r>
            </a:p>
          </p:txBody>
        </p:sp>
        <p:sp>
          <p:nvSpPr>
            <p:cNvPr id="76" name="right_note"/>
            <p:cNvSpPr txBox="1"/>
            <p:nvPr/>
          </p:nvSpPr>
          <p:spPr>
            <a:xfrm>
              <a:off x="3810000" y="1714500"/>
              <a:ext cx="1143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Observed-cost feedback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lag and oscillate.</a:t>
              </a:r>
            </a:p>
          </p:txBody>
        </p:sp>
        <p:grpSp>
          <p:nvGrpSpPr>
            <p:cNvPr id="77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78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5795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0" name="module_price_bridge"/>
          <p:cNvGrpSpPr/>
          <p:nvPr/>
        </p:nvGrpSpPr>
        <p:grpSpPr>
          <a:xfrm>
            <a:off x="50800" y="2197100"/>
            <a:ext cx="4927600" cy="381000"/>
            <a:chOff x="50800" y="2197100"/>
            <a:chExt cx="4927600" cy="381000"/>
          </a:xfrm>
        </p:grpSpPr>
        <p:sp>
          <p:nvSpPr>
            <p:cNvPr id="81" name="price_band"/>
            <p:cNvSpPr/>
            <p:nvPr/>
          </p:nvSpPr>
          <p:spPr>
            <a:xfrm>
              <a:off x="50800" y="2197100"/>
              <a:ext cx="4927600" cy="381000"/>
            </a:xfrm>
            <a:prstGeom prst="roundRect">
              <a:avLst>
                <a:gd name="adj" fmla="val 2500"/>
              </a:avLst>
            </a:prstGeom>
            <a:solidFill>
              <a:srgbClr val="F5F8F6"/>
            </a:solidFill>
            <a:ln w="7620">
              <a:solidFill>
                <a:srgbClr val="D5E0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algorithm"/>
            <p:cNvSpPr txBox="1"/>
            <p:nvPr/>
          </p:nvSpPr>
          <p:spPr>
            <a:xfrm>
              <a:off x="3556000" y="2298700"/>
              <a:ext cx="7239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83" name="actor_next"/>
            <p:cNvSpPr/>
            <p:nvPr/>
          </p:nvSpPr>
          <p:spPr>
            <a:xfrm>
              <a:off x="4318000" y="2387600"/>
              <a:ext cx="254000" cy="127"/>
            </a:xfrm>
            <a:custGeom>
              <a:avLst/>
              <a:gdLst/>
              <a:ahLst/>
              <a:cxnLst/>
              <a:rect l="0" t="0" r="r" b="b"/>
              <a:pathLst>
                <a:path w="254000" h="1" fill="none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8255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olved_price"/>
            <p:cNvSpPr txBox="1"/>
            <p:nvPr/>
          </p:nvSpPr>
          <p:spPr>
            <a:xfrm>
              <a:off x="114300" y="2286000"/>
              <a:ext cx="6477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3F746B"/>
                  </a:solidFill>
                  <a:latin typeface="Liberation Serif"/>
                </a:rPr>
                <a:t>graph prices</a:t>
              </a:r>
            </a:p>
          </p:txBody>
        </p:sp>
        <p:sp>
          <p:nvSpPr>
            <p:cNvPr id="85" name="raw_to_filter"/>
            <p:cNvSpPr/>
            <p:nvPr/>
          </p:nvSpPr>
          <p:spPr>
            <a:xfrm>
              <a:off x="774700" y="23876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8255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ilter"/>
            <p:cNvSpPr txBox="1"/>
            <p:nvPr/>
          </p:nvSpPr>
          <p:spPr>
            <a:xfrm>
              <a:off x="889000" y="2298700"/>
              <a:ext cx="5842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87" name="filter_to_price"/>
            <p:cNvSpPr/>
            <p:nvPr/>
          </p:nvSpPr>
          <p:spPr>
            <a:xfrm>
              <a:off x="1498600" y="238760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8255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eedback_note"/>
            <p:cNvSpPr txBox="1"/>
            <p:nvPr/>
          </p:nvSpPr>
          <p:spPr>
            <a:xfrm>
              <a:off x="1612900" y="2438400"/>
              <a:ext cx="1422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57957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89" name="feedback_to_beta"/>
            <p:cNvSpPr/>
            <p:nvPr/>
          </p:nvSpPr>
          <p:spPr>
            <a:xfrm>
              <a:off x="2768600" y="2336800"/>
              <a:ext cx="355600" cy="165100"/>
            </a:xfrm>
            <a:custGeom>
              <a:avLst/>
              <a:gdLst/>
              <a:ahLst/>
              <a:cxnLst/>
              <a:rect l="0" t="0" r="r" b="b"/>
              <a:pathLst>
                <a:path w="355600" h="165100" fill="none">
                  <a:moveTo>
                    <a:pt x="241300" y="165100"/>
                  </a:moveTo>
                  <a:lnTo>
                    <a:pt x="355600" y="165100"/>
                  </a:lnTo>
                  <a:lnTo>
                    <a:pt x="355600" y="0"/>
                  </a:ln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A57957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price_to_actor"/>
            <p:cNvSpPr/>
            <p:nvPr/>
          </p:nvSpPr>
          <p:spPr>
            <a:xfrm>
              <a:off x="3175000" y="2387600"/>
              <a:ext cx="355600" cy="127"/>
            </a:xfrm>
            <a:custGeom>
              <a:avLst/>
              <a:gdLst/>
              <a:ahLst/>
              <a:cxnLst/>
              <a:rect l="0" t="0" r="r" b="b"/>
              <a:pathLst>
                <a:path w="355600" h="1" fill="none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noFill/>
            <a:ln w="8890">
              <a:solidFill>
                <a:srgbClr val="3F746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actor"/>
            <p:cNvSpPr txBox="1"/>
            <p:nvPr/>
          </p:nvSpPr>
          <p:spPr>
            <a:xfrm>
              <a:off x="3162300" y="2222500"/>
              <a:ext cx="368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actor</a:t>
              </a:r>
            </a:p>
          </p:txBody>
        </p:sp>
        <p:grpSp>
          <p:nvGrpSpPr>
            <p:cNvPr id="92" name="pi_next"/>
            <p:cNvGrpSpPr/>
            <p:nvPr/>
          </p:nvGrpSpPr>
          <p:grpSpPr>
            <a:xfrm>
              <a:off x="4659255" y="2345622"/>
              <a:ext cx="217856" cy="82537"/>
              <a:chOff x="4659255" y="2345622"/>
              <a:chExt cx="217856" cy="82537"/>
            </a:xfrm>
          </p:grpSpPr>
          <p:sp>
            <p:nvSpPr>
              <p:cNvPr id="93" name="pi_next_outline_0"/>
              <p:cNvSpPr/>
              <p:nvPr/>
            </p:nvSpPr>
            <p:spPr>
              <a:xfrm>
                <a:off x="4659255" y="234562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pi_next_outline_1"/>
              <p:cNvSpPr/>
              <p:nvPr/>
            </p:nvSpPr>
            <p:spPr>
              <a:xfrm>
                <a:off x="4732587" y="237015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i_next_outline_2"/>
              <p:cNvSpPr/>
              <p:nvPr/>
            </p:nvSpPr>
            <p:spPr>
              <a:xfrm>
                <a:off x="4776686" y="237347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pi_next_outline_3"/>
              <p:cNvSpPr/>
              <p:nvPr/>
            </p:nvSpPr>
            <p:spPr>
              <a:xfrm>
                <a:off x="4847747" y="235666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7" name="combined"/>
            <p:cNvGrpSpPr/>
            <p:nvPr/>
          </p:nvGrpSpPr>
          <p:grpSpPr>
            <a:xfrm>
              <a:off x="2047536" y="2257901"/>
              <a:ext cx="694873" cy="158164"/>
              <a:chOff x="2047536" y="2257901"/>
              <a:chExt cx="694873" cy="158164"/>
            </a:xfrm>
          </p:grpSpPr>
          <p:sp>
            <p:nvSpPr>
              <p:cNvPr id="98" name="combined_outline_0"/>
              <p:cNvSpPr/>
              <p:nvPr/>
            </p:nvSpPr>
            <p:spPr>
              <a:xfrm>
                <a:off x="2047536" y="22788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combined_outline_1"/>
              <p:cNvSpPr/>
              <p:nvPr/>
            </p:nvSpPr>
            <p:spPr>
              <a:xfrm>
                <a:off x="2122685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combined_outline_2"/>
              <p:cNvSpPr/>
              <p:nvPr/>
            </p:nvSpPr>
            <p:spPr>
              <a:xfrm>
                <a:off x="2227357" y="23128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combined_outline_3"/>
              <p:cNvSpPr/>
              <p:nvPr/>
            </p:nvSpPr>
            <p:spPr>
              <a:xfrm>
                <a:off x="2357877" y="22579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combined_outline_4"/>
              <p:cNvSpPr/>
              <p:nvPr/>
            </p:nvSpPr>
            <p:spPr>
              <a:xfrm>
                <a:off x="2335509" y="22788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combined_outline_5"/>
              <p:cNvSpPr/>
              <p:nvPr/>
            </p:nvSpPr>
            <p:spPr>
              <a:xfrm>
                <a:off x="2404352" y="22587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combined_outline_6"/>
              <p:cNvSpPr/>
              <p:nvPr/>
            </p:nvSpPr>
            <p:spPr>
              <a:xfrm>
                <a:off x="2410670" y="23440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combined_outline_7"/>
              <p:cNvSpPr/>
              <p:nvPr/>
            </p:nvSpPr>
            <p:spPr>
              <a:xfrm>
                <a:off x="2512205" y="22966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combined_outline_8"/>
              <p:cNvSpPr/>
              <p:nvPr/>
            </p:nvSpPr>
            <p:spPr>
              <a:xfrm>
                <a:off x="2607636" y="22788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combined_outline_9"/>
              <p:cNvSpPr/>
              <p:nvPr/>
            </p:nvSpPr>
            <p:spPr>
              <a:xfrm>
                <a:off x="2691772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3F746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08" name="module_spectrum"/>
          <p:cNvGrpSpPr/>
          <p:nvPr/>
        </p:nvGrpSpPr>
        <p:grpSpPr>
          <a:xfrm>
            <a:off x="38100" y="1968500"/>
            <a:ext cx="4914900" cy="1034464"/>
            <a:chOff x="38100" y="1968500"/>
            <a:chExt cx="4914900" cy="1034464"/>
          </a:xfrm>
        </p:grpSpPr>
        <p:sp>
          <p:nvSpPr>
            <p:cNvPr id="109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3F746B"/>
            </a:solidFill>
            <a:ln w="7620">
              <a:solidFill>
                <a:srgbClr val="3F746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11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12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13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14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15" name="exact"/>
            <p:cNvSpPr txBox="1"/>
            <p:nvPr/>
          </p:nvSpPr>
          <p:spPr>
            <a:xfrm>
              <a:off x="1054100" y="25908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16" name="limits"/>
            <p:cNvSpPr txBox="1"/>
            <p:nvPr/>
          </p:nvSpPr>
          <p:spPr>
            <a:xfrm>
              <a:off x="3136900" y="2590800"/>
              <a:ext cx="1790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17" name="advance_price"/>
            <p:cNvSpPr txBox="1"/>
            <p:nvPr/>
          </p:nvSpPr>
          <p:spPr>
            <a:xfrm>
              <a:off x="1473200" y="1968500"/>
              <a:ext cx="2146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3F746B"/>
                  </a:solidFill>
                  <a:latin typeface="Liberation Serif"/>
                </a:rPr>
                <a:t>Safety prices before violations</a:t>
              </a:r>
            </a:p>
          </p:txBody>
        </p:sp>
        <p:sp>
          <p:nvSpPr>
            <p:cNvPr id="118" name="rule_exact"/>
            <p:cNvSpPr/>
            <p:nvPr/>
          </p:nvSpPr>
          <p:spPr>
            <a:xfrm>
              <a:off x="228600" y="2857500"/>
              <a:ext cx="1943100" cy="127"/>
            </a:xfrm>
            <a:custGeom>
              <a:avLst/>
              <a:gdLst/>
              <a:ahLst/>
              <a:cxnLst/>
              <a:rect l="0" t="0" r="r" b="b"/>
              <a:pathLst>
                <a:path w="1943100" h="1" fill="none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rule_limits"/>
            <p:cNvSpPr/>
            <p:nvPr/>
          </p:nvSpPr>
          <p:spPr>
            <a:xfrm>
              <a:off x="2832100" y="2857500"/>
              <a:ext cx="1993900" cy="127"/>
            </a:xfrm>
            <a:custGeom>
              <a:avLst/>
              <a:gdLst/>
              <a:ahLst/>
              <a:cxnLst/>
              <a:rect l="0" t="0" r="r" b="b"/>
              <a:pathLst>
                <a:path w="1993900" h="1" fill="none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w="8255">
              <a:solidFill>
                <a:srgbClr val="6078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ne_rule"/>
            <p:cNvSpPr txBox="1"/>
            <p:nvPr/>
          </p:nvSpPr>
          <p:spPr>
            <a:xfrm>
              <a:off x="50800" y="2590800"/>
              <a:ext cx="927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24333B"/>
                  </a:solidFill>
                  <a:latin typeface="Liberation Serif"/>
                </a:rPr>
                <a:t>One price rule</a:t>
              </a:r>
            </a:p>
          </p:txBody>
        </p:sp>
        <p:grpSp>
          <p:nvGrpSpPr>
            <p:cNvPr id="121" name="fixed"/>
            <p:cNvGrpSpPr/>
            <p:nvPr/>
          </p:nvGrpSpPr>
          <p:grpSpPr>
            <a:xfrm>
              <a:off x="211019" y="2897125"/>
              <a:ext cx="674266" cy="105839"/>
              <a:chOff x="211019" y="2897125"/>
              <a:chExt cx="674266" cy="105839"/>
            </a:xfrm>
          </p:grpSpPr>
          <p:sp>
            <p:nvSpPr>
              <p:cNvPr id="122" name="fixed_outline_0"/>
              <p:cNvSpPr/>
              <p:nvPr/>
            </p:nvSpPr>
            <p:spPr>
              <a:xfrm>
                <a:off x="211019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fixed_outline_1"/>
              <p:cNvSpPr/>
              <p:nvPr/>
            </p:nvSpPr>
            <p:spPr>
              <a:xfrm>
                <a:off x="300526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fixed_outline_2"/>
              <p:cNvSpPr/>
              <p:nvPr/>
            </p:nvSpPr>
            <p:spPr>
              <a:xfrm>
                <a:off x="392499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fixed_outline_3"/>
              <p:cNvSpPr/>
              <p:nvPr/>
            </p:nvSpPr>
            <p:spPr>
              <a:xfrm>
                <a:off x="450887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fixed_outline_4"/>
              <p:cNvSpPr/>
              <p:nvPr/>
            </p:nvSpPr>
            <p:spPr>
              <a:xfrm>
                <a:off x="514931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fixed_outline_5"/>
              <p:cNvSpPr/>
              <p:nvPr/>
            </p:nvSpPr>
            <p:spPr>
              <a:xfrm>
                <a:off x="591498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fixed_outline_6"/>
              <p:cNvSpPr/>
              <p:nvPr/>
            </p:nvSpPr>
            <p:spPr>
              <a:xfrm>
                <a:off x="682678" y="2897125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2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8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6" y="9763"/>
                      <a:pt x="43366" y="7350"/>
                    </a:cubicBezTo>
                    <a:cubicBezTo>
                      <a:pt x="43366" y="2834"/>
                      <a:pt x="38116" y="0"/>
                      <a:pt x="30031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2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4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9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fixed_outline_7"/>
              <p:cNvSpPr/>
              <p:nvPr/>
            </p:nvSpPr>
            <p:spPr>
              <a:xfrm>
                <a:off x="789724" y="2897125"/>
                <a:ext cx="9556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8" y="62476"/>
                      <a:pt x="30662" y="65520"/>
                      <a:pt x="23944" y="65520"/>
                    </a:cubicBezTo>
                    <a:cubicBezTo>
                      <a:pt x="18169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8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7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3" y="27194"/>
                    </a:cubicBezTo>
                    <a:cubicBezTo>
                      <a:pt x="25309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6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5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50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3"/>
                      <a:pt x="68995" y="26353"/>
                    </a:cubicBezTo>
                    <a:cubicBezTo>
                      <a:pt x="74559" y="26353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0" name="lag"/>
            <p:cNvGrpSpPr/>
            <p:nvPr/>
          </p:nvGrpSpPr>
          <p:grpSpPr>
            <a:xfrm>
              <a:off x="1205200" y="2897125"/>
              <a:ext cx="818218" cy="105839"/>
              <a:chOff x="1205200" y="2897125"/>
              <a:chExt cx="818218" cy="105839"/>
            </a:xfrm>
          </p:grpSpPr>
          <p:sp>
            <p:nvSpPr>
              <p:cNvPr id="131" name="lag_outline_0"/>
              <p:cNvSpPr/>
              <p:nvPr/>
            </p:nvSpPr>
            <p:spPr>
              <a:xfrm>
                <a:off x="1205200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lag_outline_1"/>
              <p:cNvSpPr/>
              <p:nvPr/>
            </p:nvSpPr>
            <p:spPr>
              <a:xfrm>
                <a:off x="1294708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lag_outline_2"/>
              <p:cNvSpPr/>
              <p:nvPr/>
            </p:nvSpPr>
            <p:spPr>
              <a:xfrm>
                <a:off x="1386680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lag_outline_3"/>
              <p:cNvSpPr/>
              <p:nvPr/>
            </p:nvSpPr>
            <p:spPr>
              <a:xfrm>
                <a:off x="1445068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lag_outline_4"/>
              <p:cNvSpPr/>
              <p:nvPr/>
            </p:nvSpPr>
            <p:spPr>
              <a:xfrm>
                <a:off x="1509112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lag_outline_5"/>
              <p:cNvSpPr/>
              <p:nvPr/>
            </p:nvSpPr>
            <p:spPr>
              <a:xfrm>
                <a:off x="1585679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lag_outline_6"/>
              <p:cNvSpPr/>
              <p:nvPr/>
            </p:nvSpPr>
            <p:spPr>
              <a:xfrm>
                <a:off x="1677490" y="2897125"/>
                <a:ext cx="302856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1"/>
                      <a:pt x="6509" y="39691"/>
                    </a:cubicBezTo>
                    <a:cubicBezTo>
                      <a:pt x="9029" y="39691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599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5"/>
                      <a:pt x="8295" y="48403"/>
                      <a:pt x="3778" y="52395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7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3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2" y="26353"/>
                      <a:pt x="67733" y="26353"/>
                    </a:cubicBezTo>
                    <a:cubicBezTo>
                      <a:pt x="73297" y="26353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4" y="66254"/>
                      <a:pt x="138615" y="66782"/>
                      <a:pt x="137039" y="66782"/>
                    </a:cubicBezTo>
                    <a:cubicBezTo>
                      <a:pt x="134623" y="66782"/>
                      <a:pt x="133888" y="65310"/>
                      <a:pt x="133888" y="60690"/>
                    </a:cubicBezTo>
                    <a:lnTo>
                      <a:pt x="133888" y="40215"/>
                    </a:lnTo>
                    <a:cubicBezTo>
                      <a:pt x="133888" y="34858"/>
                      <a:pt x="133365" y="31921"/>
                      <a:pt x="131896" y="29504"/>
                    </a:cubicBezTo>
                    <a:cubicBezTo>
                      <a:pt x="129690" y="25515"/>
                      <a:pt x="125174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1"/>
                      <a:pt x="105643" y="39691"/>
                    </a:cubicBezTo>
                    <a:cubicBezTo>
                      <a:pt x="108163" y="39691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599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3" y="28980"/>
                      <a:pt x="125383" y="34651"/>
                    </a:cubicBezTo>
                    <a:lnTo>
                      <a:pt x="125383" y="41053"/>
                    </a:lnTo>
                    <a:cubicBezTo>
                      <a:pt x="109215" y="47565"/>
                      <a:pt x="107429" y="48403"/>
                      <a:pt x="102913" y="52395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1" y="65099"/>
                    </a:cubicBezTo>
                    <a:cubicBezTo>
                      <a:pt x="126014" y="70664"/>
                      <a:pt x="127904" y="72767"/>
                      <a:pt x="132210" y="72767"/>
                    </a:cubicBezTo>
                    <a:cubicBezTo>
                      <a:pt x="135782" y="72767"/>
                      <a:pt x="137984" y="71505"/>
                      <a:pt x="141660" y="67516"/>
                    </a:cubicBezTo>
                    <a:close/>
                    <a:moveTo>
                      <a:pt x="125383" y="58801"/>
                    </a:moveTo>
                    <a:cubicBezTo>
                      <a:pt x="125383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3" y="43573"/>
                    </a:cubicBezTo>
                    <a:lnTo>
                      <a:pt x="125383" y="58801"/>
                    </a:lnTo>
                    <a:close/>
                    <a:moveTo>
                      <a:pt x="191228" y="45780"/>
                    </a:moveTo>
                    <a:cubicBezTo>
                      <a:pt x="191228" y="32758"/>
                      <a:pt x="183877" y="23416"/>
                      <a:pt x="173693" y="23416"/>
                    </a:cubicBezTo>
                    <a:cubicBezTo>
                      <a:pt x="167811" y="23416"/>
                      <a:pt x="163192" y="26039"/>
                      <a:pt x="158572" y="31710"/>
                    </a:cubicBezTo>
                    <a:lnTo>
                      <a:pt x="158572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0" y="28769"/>
                    </a:cubicBezTo>
                    <a:lnTo>
                      <a:pt x="142820" y="30448"/>
                    </a:lnTo>
                    <a:cubicBezTo>
                      <a:pt x="143765" y="30345"/>
                      <a:pt x="144499" y="30345"/>
                      <a:pt x="145448" y="30345"/>
                    </a:cubicBezTo>
                    <a:cubicBezTo>
                      <a:pt x="149015" y="30345"/>
                      <a:pt x="149749" y="31393"/>
                      <a:pt x="149749" y="36330"/>
                    </a:cubicBezTo>
                    <a:lnTo>
                      <a:pt x="149749" y="85471"/>
                    </a:lnTo>
                    <a:cubicBezTo>
                      <a:pt x="149749" y="90932"/>
                      <a:pt x="148595" y="92087"/>
                      <a:pt x="142400" y="92714"/>
                    </a:cubicBezTo>
                    <a:lnTo>
                      <a:pt x="142400" y="94500"/>
                    </a:lnTo>
                    <a:lnTo>
                      <a:pt x="167811" y="94500"/>
                    </a:lnTo>
                    <a:lnTo>
                      <a:pt x="167811" y="92611"/>
                    </a:lnTo>
                    <a:cubicBezTo>
                      <a:pt x="159937" y="92508"/>
                      <a:pt x="158572" y="91353"/>
                      <a:pt x="158572" y="84737"/>
                    </a:cubicBezTo>
                    <a:lnTo>
                      <a:pt x="158572" y="68251"/>
                    </a:lnTo>
                    <a:cubicBezTo>
                      <a:pt x="162248" y="71715"/>
                      <a:pt x="164767" y="72767"/>
                      <a:pt x="169177" y="72767"/>
                    </a:cubicBezTo>
                    <a:cubicBezTo>
                      <a:pt x="181567" y="72767"/>
                      <a:pt x="191228" y="61004"/>
                      <a:pt x="191228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0" y="69406"/>
                    </a:cubicBezTo>
                    <a:cubicBezTo>
                      <a:pt x="164558" y="69406"/>
                      <a:pt x="158572" y="65623"/>
                      <a:pt x="158572" y="62476"/>
                    </a:cubicBezTo>
                    <a:lnTo>
                      <a:pt x="158572" y="36643"/>
                    </a:lnTo>
                    <a:cubicBezTo>
                      <a:pt x="158572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1" y="64786"/>
                    </a:moveTo>
                    <a:lnTo>
                      <a:pt x="222316" y="63631"/>
                    </a:lnTo>
                    <a:cubicBezTo>
                      <a:pt x="220006" y="66361"/>
                      <a:pt x="218323" y="67306"/>
                      <a:pt x="216013" y="67306"/>
                    </a:cubicBezTo>
                    <a:cubicBezTo>
                      <a:pt x="212128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0" y="27825"/>
                    </a:lnTo>
                    <a:lnTo>
                      <a:pt x="221160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6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2" y="19633"/>
                      <a:pt x="200265" y="23519"/>
                      <a:pt x="197535" y="25094"/>
                    </a:cubicBezTo>
                    <a:cubicBezTo>
                      <a:pt x="196380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4"/>
                      <a:pt x="196169" y="27825"/>
                    </a:cubicBezTo>
                    <a:lnTo>
                      <a:pt x="201733" y="27825"/>
                    </a:lnTo>
                    <a:lnTo>
                      <a:pt x="201733" y="59428"/>
                    </a:lnTo>
                    <a:cubicBezTo>
                      <a:pt x="201733" y="68251"/>
                      <a:pt x="204885" y="72767"/>
                      <a:pt x="210972" y="72767"/>
                    </a:cubicBezTo>
                    <a:cubicBezTo>
                      <a:pt x="216224" y="72767"/>
                      <a:pt x="220212" y="70247"/>
                      <a:pt x="223681" y="64786"/>
                    </a:cubicBezTo>
                    <a:close/>
                    <a:moveTo>
                      <a:pt x="250144" y="71715"/>
                    </a:moveTo>
                    <a:lnTo>
                      <a:pt x="250144" y="70140"/>
                    </a:lnTo>
                    <a:cubicBezTo>
                      <a:pt x="243215" y="69616"/>
                      <a:pt x="242373" y="68564"/>
                      <a:pt x="242373" y="61004"/>
                    </a:cubicBezTo>
                    <a:lnTo>
                      <a:pt x="242373" y="23729"/>
                    </a:lnTo>
                    <a:lnTo>
                      <a:pt x="241953" y="23416"/>
                    </a:lnTo>
                    <a:lnTo>
                      <a:pt x="225676" y="29190"/>
                    </a:lnTo>
                    <a:lnTo>
                      <a:pt x="225676" y="30766"/>
                    </a:lnTo>
                    <a:lnTo>
                      <a:pt x="226518" y="30659"/>
                    </a:lnTo>
                    <a:cubicBezTo>
                      <a:pt x="227777" y="30448"/>
                      <a:pt x="229142" y="30345"/>
                      <a:pt x="230086" y="30345"/>
                    </a:cubicBezTo>
                    <a:cubicBezTo>
                      <a:pt x="232607" y="30345"/>
                      <a:pt x="233550" y="32024"/>
                      <a:pt x="233550" y="36643"/>
                    </a:cubicBezTo>
                    <a:lnTo>
                      <a:pt x="233550" y="61004"/>
                    </a:lnTo>
                    <a:cubicBezTo>
                      <a:pt x="233550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4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7" y="2413"/>
                      <a:pt x="232607" y="5354"/>
                    </a:cubicBezTo>
                    <a:cubicBezTo>
                      <a:pt x="232607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5" y="24463"/>
                    </a:lnTo>
                    <a:lnTo>
                      <a:pt x="288265" y="26039"/>
                    </a:lnTo>
                    <a:cubicBezTo>
                      <a:pt x="291621" y="26353"/>
                      <a:pt x="293197" y="27404"/>
                      <a:pt x="293197" y="29400"/>
                    </a:cubicBezTo>
                    <a:cubicBezTo>
                      <a:pt x="293197" y="30448"/>
                      <a:pt x="292986" y="31500"/>
                      <a:pt x="292566" y="32548"/>
                    </a:cubicBezTo>
                    <a:lnTo>
                      <a:pt x="282172" y="59746"/>
                    </a:lnTo>
                    <a:lnTo>
                      <a:pt x="271460" y="32865"/>
                    </a:lnTo>
                    <a:cubicBezTo>
                      <a:pt x="270834" y="31393"/>
                      <a:pt x="270516" y="29924"/>
                      <a:pt x="270516" y="28980"/>
                    </a:cubicBezTo>
                    <a:cubicBezTo>
                      <a:pt x="270516" y="27091"/>
                      <a:pt x="271671" y="26353"/>
                      <a:pt x="275346" y="26039"/>
                    </a:cubicBezTo>
                    <a:lnTo>
                      <a:pt x="275346" y="24463"/>
                    </a:lnTo>
                    <a:lnTo>
                      <a:pt x="254768" y="24463"/>
                    </a:lnTo>
                    <a:lnTo>
                      <a:pt x="254768" y="26039"/>
                    </a:lnTo>
                    <a:cubicBezTo>
                      <a:pt x="258756" y="26249"/>
                      <a:pt x="259490" y="27301"/>
                      <a:pt x="264321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5" y="69616"/>
                      <a:pt x="277763" y="70457"/>
                    </a:cubicBezTo>
                    <a:cubicBezTo>
                      <a:pt x="278394" y="72346"/>
                      <a:pt x="279022" y="73184"/>
                      <a:pt x="279651" y="73184"/>
                    </a:cubicBezTo>
                    <a:cubicBezTo>
                      <a:pt x="280283" y="73184"/>
                      <a:pt x="281017" y="71818"/>
                      <a:pt x="282593" y="67937"/>
                    </a:cubicBezTo>
                    <a:lnTo>
                      <a:pt x="296031" y="34230"/>
                    </a:lnTo>
                    <a:cubicBezTo>
                      <a:pt x="299079" y="27091"/>
                      <a:pt x="299706" y="26353"/>
                      <a:pt x="302857" y="26039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lag_outline_7"/>
              <p:cNvSpPr/>
              <p:nvPr/>
            </p:nvSpPr>
            <p:spPr>
              <a:xfrm>
                <a:off x="1981521" y="2920540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20" y="31079"/>
                    </a:lnTo>
                    <a:cubicBezTo>
                      <a:pt x="35179" y="39060"/>
                      <a:pt x="30663" y="42104"/>
                      <a:pt x="23943" y="42104"/>
                    </a:cubicBezTo>
                    <a:cubicBezTo>
                      <a:pt x="18169" y="42104"/>
                      <a:pt x="13755" y="39374"/>
                      <a:pt x="10711" y="33703"/>
                    </a:cubicBezTo>
                    <a:cubicBezTo>
                      <a:pt x="8612" y="29611"/>
                      <a:pt x="7771" y="25936"/>
                      <a:pt x="7560" y="19213"/>
                    </a:cubicBezTo>
                    <a:lnTo>
                      <a:pt x="39902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9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1" y="15855"/>
                    </a:lnTo>
                    <a:cubicBezTo>
                      <a:pt x="8926" y="7560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9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140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2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143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6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147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