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8100" y="76200"/>
            <a:ext cx="635000" cy="2552700"/>
            <a:chOff x="38100" y="76200"/>
            <a:chExt cx="635000" cy="2552700"/>
          </a:xfrm>
        </p:grpSpPr>
        <p:sp>
          <p:nvSpPr>
            <p:cNvPr id="3" name="stage1_border"/>
            <p:cNvSpPr/>
            <p:nvPr/>
          </p:nvSpPr>
          <p:spPr>
            <a:xfrm>
              <a:off x="38100" y="76200"/>
              <a:ext cx="635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olicy_label"/>
            <p:cNvSpPr txBox="1"/>
            <p:nvPr/>
          </p:nvSpPr>
          <p:spPr>
            <a:xfrm>
              <a:off x="101600" y="558800"/>
              <a:ext cx="508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policy</a:t>
              </a:r>
            </a:p>
          </p:txBody>
        </p:sp>
        <p:sp>
          <p:nvSpPr>
            <p:cNvPr id="5" name="rollout_text0"/>
            <p:cNvSpPr txBox="1"/>
            <p:nvPr/>
          </p:nvSpPr>
          <p:spPr>
            <a:xfrm>
              <a:off x="88900" y="14859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transitions</a:t>
              </a:r>
            </a:p>
          </p:txBody>
        </p:sp>
        <p:sp>
          <p:nvSpPr>
            <p:cNvPr id="6" name="rollout_text1"/>
            <p:cNvSpPr txBox="1"/>
            <p:nvPr/>
          </p:nvSpPr>
          <p:spPr>
            <a:xfrm>
              <a:off x="88900" y="17780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GAE</a:t>
              </a:r>
            </a:p>
          </p:txBody>
        </p:sp>
        <p:sp>
          <p:nvSpPr>
            <p:cNvPr id="7" name="rollout_text2"/>
            <p:cNvSpPr txBox="1"/>
            <p:nvPr/>
          </p:nvSpPr>
          <p:spPr>
            <a:xfrm>
              <a:off x="76200" y="2235200"/>
              <a:ext cx="558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episode cost</a:t>
              </a:r>
            </a:p>
          </p:txBody>
        </p:sp>
        <p:sp>
          <p:nvSpPr>
            <p:cNvPr id="8" name="badge1"/>
            <p:cNvSpPr/>
            <p:nvPr/>
          </p:nvSpPr>
          <p:spPr>
            <a:xfrm>
              <a:off x="88900" y="177800"/>
              <a:ext cx="146050" cy="146050"/>
            </a:xfrm>
            <a:prstGeom prst="ellipse">
              <a:avLst/>
            </a:prstGeom>
            <a:solidFill>
              <a:srgbClr val="7685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number1"/>
            <p:cNvSpPr txBox="1"/>
            <p:nvPr/>
          </p:nvSpPr>
          <p:spPr>
            <a:xfrm>
              <a:off x="88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0" name="title1"/>
            <p:cNvSpPr txBox="1"/>
            <p:nvPr/>
          </p:nvSpPr>
          <p:spPr>
            <a:xfrm>
              <a:off x="266700" y="114300"/>
              <a:ext cx="381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Rollout</a:t>
              </a:r>
            </a:p>
          </p:txBody>
        </p:sp>
        <p:grpSp>
          <p:nvGrpSpPr>
            <p:cNvPr id="11" name="icon_environment"/>
            <p:cNvGrpSpPr/>
            <p:nvPr/>
          </p:nvGrpSpPr>
          <p:grpSpPr>
            <a:xfrm>
              <a:off x="114300" y="1054100"/>
              <a:ext cx="165100" cy="165100"/>
              <a:chOff x="114300" y="1054100"/>
              <a:chExt cx="165100" cy="165100"/>
            </a:xfrm>
          </p:grpSpPr>
          <p:sp>
            <p:nvSpPr>
              <p:cNvPr id="12" name="environmentouter"/>
              <p:cNvSpPr/>
              <p:nvPr/>
            </p:nvSpPr>
            <p:spPr>
              <a:xfrm>
                <a:off x="114300" y="1054100"/>
                <a:ext cx="165100" cy="165100"/>
              </a:xfrm>
              <a:prstGeom prst="ellipse">
                <a:avLst/>
              </a:prstGeom>
              <a:solidFill>
                <a:srgbClr val="FFFFFF"/>
              </a:solidFill>
              <a:ln w="8890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environmentmeridian"/>
              <p:cNvSpPr/>
              <p:nvPr/>
            </p:nvSpPr>
            <p:spPr>
              <a:xfrm>
                <a:off x="158877" y="1054100"/>
                <a:ext cx="75946" cy="165100"/>
              </a:xfrm>
              <a:prstGeom prst="ellipse">
                <a:avLst/>
              </a:prstGeom>
              <a:noFill/>
              <a:ln w="5715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environmentequator"/>
              <p:cNvSpPr/>
              <p:nvPr/>
            </p:nvSpPr>
            <p:spPr>
              <a:xfrm>
                <a:off x="114300" y="1136650"/>
                <a:ext cx="165100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5100" h="1" fill="none">
                    <a:moveTo>
                      <a:pt x="0" y="0"/>
                    </a:moveTo>
                    <a:lnTo>
                      <a:pt x="165100" y="0"/>
                    </a:lnTo>
                  </a:path>
                </a:pathLst>
              </a:custGeom>
              <a:noFill/>
              <a:ln w="5715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" name="icon_agent"/>
            <p:cNvGrpSpPr/>
            <p:nvPr/>
          </p:nvGrpSpPr>
          <p:grpSpPr>
            <a:xfrm>
              <a:off x="431800" y="1030224"/>
              <a:ext cx="139700" cy="183006"/>
              <a:chOff x="431800" y="1030224"/>
              <a:chExt cx="139700" cy="183006"/>
            </a:xfrm>
          </p:grpSpPr>
          <p:sp>
            <p:nvSpPr>
              <p:cNvPr id="16" name="agenthead"/>
              <p:cNvSpPr/>
              <p:nvPr/>
            </p:nvSpPr>
            <p:spPr>
              <a:xfrm>
                <a:off x="431800" y="1060958"/>
                <a:ext cx="139700" cy="97789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8890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agentantenna"/>
              <p:cNvSpPr/>
              <p:nvPr/>
            </p:nvSpPr>
            <p:spPr>
              <a:xfrm>
                <a:off x="501650" y="1030224"/>
                <a:ext cx="127" cy="30734"/>
              </a:xfrm>
              <a:custGeom>
                <a:avLst/>
                <a:gdLst/>
                <a:ahLst/>
                <a:cxnLst/>
                <a:rect l="0" t="0" r="r" b="b"/>
                <a:pathLst>
                  <a:path w="1" h="30734" fill="none">
                    <a:moveTo>
                      <a:pt x="0" y="0"/>
                    </a:moveTo>
                    <a:lnTo>
                      <a:pt x="0" y="30734"/>
                    </a:lnTo>
                  </a:path>
                </a:pathLst>
              </a:custGeom>
              <a:noFill/>
              <a:ln w="8255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agenteye0"/>
              <p:cNvSpPr/>
              <p:nvPr/>
            </p:nvSpPr>
            <p:spPr>
              <a:xfrm>
                <a:off x="462534" y="1100074"/>
                <a:ext cx="16763" cy="16763"/>
              </a:xfrm>
              <a:prstGeom prst="ellipse">
                <a:avLst/>
              </a:prstGeom>
              <a:solidFill>
                <a:srgbClr val="60789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agenteye1"/>
              <p:cNvSpPr/>
              <p:nvPr/>
            </p:nvSpPr>
            <p:spPr>
              <a:xfrm>
                <a:off x="524002" y="1100074"/>
                <a:ext cx="16763" cy="16763"/>
              </a:xfrm>
              <a:prstGeom prst="ellipse">
                <a:avLst/>
              </a:prstGeom>
              <a:solidFill>
                <a:srgbClr val="60789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agentmouth"/>
              <p:cNvSpPr/>
              <p:nvPr/>
            </p:nvSpPr>
            <p:spPr>
              <a:xfrm>
                <a:off x="472313" y="1132205"/>
                <a:ext cx="58674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58674" h="1" fill="none">
                    <a:moveTo>
                      <a:pt x="0" y="0"/>
                    </a:moveTo>
                    <a:lnTo>
                      <a:pt x="58674" y="0"/>
                    </a:lnTo>
                  </a:path>
                </a:pathLst>
              </a:custGeom>
              <a:noFill/>
              <a:ln w="6350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agentbody"/>
              <p:cNvSpPr/>
              <p:nvPr/>
            </p:nvSpPr>
            <p:spPr>
              <a:xfrm>
                <a:off x="451358" y="1164336"/>
                <a:ext cx="100584" cy="48894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8255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2" name="rollout_arrow"/>
            <p:cNvSpPr/>
            <p:nvPr/>
          </p:nvSpPr>
          <p:spPr>
            <a:xfrm>
              <a:off x="292100" y="1143000"/>
              <a:ext cx="114300" cy="127"/>
            </a:xfrm>
            <a:custGeom>
              <a:avLst/>
              <a:gdLst/>
              <a:ahLst/>
              <a:cxnLst/>
              <a:rect l="0" t="0" r="r" b="b"/>
              <a:pathLst>
                <a:path w="114300" h="1" fill="none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rgbClr val="60789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3" name="pi_t"/>
            <p:cNvGrpSpPr/>
            <p:nvPr/>
          </p:nvGrpSpPr>
          <p:grpSpPr>
            <a:xfrm>
              <a:off x="292233" y="818479"/>
              <a:ext cx="103109" cy="76124"/>
              <a:chOff x="292233" y="818479"/>
              <a:chExt cx="103109" cy="76124"/>
            </a:xfrm>
          </p:grpSpPr>
          <p:sp>
            <p:nvSpPr>
              <p:cNvPr id="24" name="pi_t_outline_0"/>
              <p:cNvSpPr/>
              <p:nvPr/>
            </p:nvSpPr>
            <p:spPr>
              <a:xfrm>
                <a:off x="292233" y="818479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19"/>
                    </a:cubicBezTo>
                    <a:lnTo>
                      <a:pt x="3540" y="16319"/>
                    </a:lnTo>
                    <a:cubicBezTo>
                      <a:pt x="4175" y="15434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pi_t_outline_1"/>
              <p:cNvSpPr/>
              <p:nvPr/>
            </p:nvSpPr>
            <p:spPr>
              <a:xfrm>
                <a:off x="365565" y="83660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advantages"/>
            <p:cNvGrpSpPr/>
            <p:nvPr/>
          </p:nvGrpSpPr>
          <p:grpSpPr>
            <a:xfrm>
              <a:off x="139903" y="1991572"/>
              <a:ext cx="416919" cy="132870"/>
              <a:chOff x="139903" y="1991572"/>
              <a:chExt cx="416919" cy="132870"/>
            </a:xfrm>
          </p:grpSpPr>
          <p:sp>
            <p:nvSpPr>
              <p:cNvPr id="27" name="advantages_outline_0"/>
              <p:cNvSpPr/>
              <p:nvPr/>
            </p:nvSpPr>
            <p:spPr>
              <a:xfrm>
                <a:off x="139903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advantages_outline_1"/>
              <p:cNvSpPr/>
              <p:nvPr/>
            </p:nvSpPr>
            <p:spPr>
              <a:xfrm>
                <a:off x="224333" y="2044113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advantages_outline_2"/>
              <p:cNvSpPr/>
              <p:nvPr/>
            </p:nvSpPr>
            <p:spPr>
              <a:xfrm>
                <a:off x="288016" y="2059593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4" h="29206">
                    <a:moveTo>
                      <a:pt x="16704" y="11537"/>
                    </a:moveTo>
                    <a:cubicBezTo>
                      <a:pt x="16704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2" y="29206"/>
                    </a:lnTo>
                    <a:cubicBezTo>
                      <a:pt x="6850" y="28004"/>
                      <a:pt x="16704" y="20070"/>
                      <a:pt x="16704" y="1153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advantages_outline_3"/>
              <p:cNvSpPr/>
              <p:nvPr/>
            </p:nvSpPr>
            <p:spPr>
              <a:xfrm>
                <a:off x="365631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8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8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advantages_outline_4"/>
              <p:cNvSpPr/>
              <p:nvPr/>
            </p:nvSpPr>
            <p:spPr>
              <a:xfrm>
                <a:off x="450867" y="2044113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advantages_outline_5"/>
              <p:cNvSpPr/>
              <p:nvPr/>
            </p:nvSpPr>
            <p:spPr>
              <a:xfrm>
                <a:off x="506185" y="205243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3" name="observed_cost"/>
            <p:cNvGrpSpPr/>
            <p:nvPr/>
          </p:nvGrpSpPr>
          <p:grpSpPr>
            <a:xfrm>
              <a:off x="307089" y="2430577"/>
              <a:ext cx="113900" cy="130326"/>
              <a:chOff x="307089" y="2430577"/>
              <a:chExt cx="113900" cy="130326"/>
            </a:xfrm>
          </p:grpSpPr>
          <p:sp>
            <p:nvSpPr>
              <p:cNvPr id="34" name="observed_cost_outline_0"/>
              <p:cNvSpPr/>
              <p:nvPr/>
            </p:nvSpPr>
            <p:spPr>
              <a:xfrm>
                <a:off x="336126" y="2430577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observed_cost_outline_1"/>
              <p:cNvSpPr/>
              <p:nvPr/>
            </p:nvSpPr>
            <p:spPr>
              <a:xfrm>
                <a:off x="307089" y="2451763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observed_cost_outline_2"/>
              <p:cNvSpPr/>
              <p:nvPr/>
            </p:nvSpPr>
            <p:spPr>
              <a:xfrm>
                <a:off x="370352" y="24888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7" name="module_stage2"/>
          <p:cNvGrpSpPr/>
          <p:nvPr/>
        </p:nvGrpSpPr>
        <p:grpSpPr>
          <a:xfrm>
            <a:off x="736600" y="76200"/>
            <a:ext cx="736600" cy="2552700"/>
            <a:chOff x="736600" y="76200"/>
            <a:chExt cx="736600" cy="2552700"/>
          </a:xfrm>
        </p:grpSpPr>
        <p:sp>
          <p:nvSpPr>
            <p:cNvPr id="38" name="stage2_border"/>
            <p:cNvSpPr/>
            <p:nvPr/>
          </p:nvSpPr>
          <p:spPr>
            <a:xfrm>
              <a:off x="736600" y="76200"/>
              <a:ext cx="7366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inputmatrix0_0_0"/>
            <p:cNvSpPr/>
            <p:nvPr/>
          </p:nvSpPr>
          <p:spPr>
            <a:xfrm>
              <a:off x="800100" y="1600200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inputmatrix0_0_1"/>
            <p:cNvSpPr/>
            <p:nvPr/>
          </p:nvSpPr>
          <p:spPr>
            <a:xfrm>
              <a:off x="867833" y="1600200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inputmatrix0_0_2"/>
            <p:cNvSpPr/>
            <p:nvPr/>
          </p:nvSpPr>
          <p:spPr>
            <a:xfrm>
              <a:off x="935566" y="16002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inputmatrix0_1_0"/>
            <p:cNvSpPr/>
            <p:nvPr/>
          </p:nvSpPr>
          <p:spPr>
            <a:xfrm>
              <a:off x="800100" y="1667933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inputmatrix0_1_1"/>
            <p:cNvSpPr/>
            <p:nvPr/>
          </p:nvSpPr>
          <p:spPr>
            <a:xfrm>
              <a:off x="867833" y="1667933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inputmatrix0_1_2"/>
            <p:cNvSpPr/>
            <p:nvPr/>
          </p:nvSpPr>
          <p:spPr>
            <a:xfrm>
              <a:off x="935566" y="16679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inputmatrix0_2_0"/>
            <p:cNvSpPr/>
            <p:nvPr/>
          </p:nvSpPr>
          <p:spPr>
            <a:xfrm>
              <a:off x="800100" y="17356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nputmatrix0_2_1"/>
            <p:cNvSpPr/>
            <p:nvPr/>
          </p:nvSpPr>
          <p:spPr>
            <a:xfrm>
              <a:off x="867833" y="17356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inputmatrix0_2_2"/>
            <p:cNvSpPr/>
            <p:nvPr/>
          </p:nvSpPr>
          <p:spPr>
            <a:xfrm>
              <a:off x="935566" y="1735666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input_name0"/>
            <p:cNvSpPr txBox="1"/>
            <p:nvPr/>
          </p:nvSpPr>
          <p:spPr>
            <a:xfrm>
              <a:off x="1003300" y="17780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07891"/>
                  </a:solidFill>
                  <a:latin typeface="Liberation Serif"/>
                </a:rPr>
                <a:t>flow</a:t>
              </a:r>
            </a:p>
          </p:txBody>
        </p:sp>
        <p:sp>
          <p:nvSpPr>
            <p:cNvPr id="49" name="inputmatrix1_0_0"/>
            <p:cNvSpPr/>
            <p:nvPr/>
          </p:nvSpPr>
          <p:spPr>
            <a:xfrm>
              <a:off x="800100" y="1930400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inputmatrix1_0_1"/>
            <p:cNvSpPr/>
            <p:nvPr/>
          </p:nvSpPr>
          <p:spPr>
            <a:xfrm>
              <a:off x="867833" y="1930400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inputmatrix1_0_2"/>
            <p:cNvSpPr/>
            <p:nvPr/>
          </p:nvSpPr>
          <p:spPr>
            <a:xfrm>
              <a:off x="935566" y="19304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inputmatrix1_1_0"/>
            <p:cNvSpPr/>
            <p:nvPr/>
          </p:nvSpPr>
          <p:spPr>
            <a:xfrm>
              <a:off x="800100" y="1998133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inputmatrix1_1_1"/>
            <p:cNvSpPr/>
            <p:nvPr/>
          </p:nvSpPr>
          <p:spPr>
            <a:xfrm>
              <a:off x="867833" y="1998133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inputmatrix1_1_2"/>
            <p:cNvSpPr/>
            <p:nvPr/>
          </p:nvSpPr>
          <p:spPr>
            <a:xfrm>
              <a:off x="935566" y="19981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inputmatrix1_2_0"/>
            <p:cNvSpPr/>
            <p:nvPr/>
          </p:nvSpPr>
          <p:spPr>
            <a:xfrm>
              <a:off x="800100" y="20658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inputmatrix1_2_1"/>
            <p:cNvSpPr/>
            <p:nvPr/>
          </p:nvSpPr>
          <p:spPr>
            <a:xfrm>
              <a:off x="867833" y="20658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inputmatrix1_2_2"/>
            <p:cNvSpPr/>
            <p:nvPr/>
          </p:nvSpPr>
          <p:spPr>
            <a:xfrm>
              <a:off x="935566" y="2065866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input_name1"/>
            <p:cNvSpPr txBox="1"/>
            <p:nvPr/>
          </p:nvSpPr>
          <p:spPr>
            <a:xfrm>
              <a:off x="1003300" y="21082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advantage</a:t>
              </a:r>
            </a:p>
          </p:txBody>
        </p:sp>
        <p:sp>
          <p:nvSpPr>
            <p:cNvPr id="59" name="inputmatrix2_0_0"/>
            <p:cNvSpPr/>
            <p:nvPr/>
          </p:nvSpPr>
          <p:spPr>
            <a:xfrm>
              <a:off x="800100" y="2260600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inputmatrix2_0_1"/>
            <p:cNvSpPr/>
            <p:nvPr/>
          </p:nvSpPr>
          <p:spPr>
            <a:xfrm>
              <a:off x="867833" y="2260600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nputmatrix2_0_2"/>
            <p:cNvSpPr/>
            <p:nvPr/>
          </p:nvSpPr>
          <p:spPr>
            <a:xfrm>
              <a:off x="935566" y="22606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nputmatrix2_1_0"/>
            <p:cNvSpPr/>
            <p:nvPr/>
          </p:nvSpPr>
          <p:spPr>
            <a:xfrm>
              <a:off x="800100" y="2328333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nputmatrix2_1_1"/>
            <p:cNvSpPr/>
            <p:nvPr/>
          </p:nvSpPr>
          <p:spPr>
            <a:xfrm>
              <a:off x="867833" y="2328333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inputmatrix2_1_2"/>
            <p:cNvSpPr/>
            <p:nvPr/>
          </p:nvSpPr>
          <p:spPr>
            <a:xfrm>
              <a:off x="935566" y="23283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nputmatrix2_2_0"/>
            <p:cNvSpPr/>
            <p:nvPr/>
          </p:nvSpPr>
          <p:spPr>
            <a:xfrm>
              <a:off x="800100" y="23960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inputmatrix2_2_1"/>
            <p:cNvSpPr/>
            <p:nvPr/>
          </p:nvSpPr>
          <p:spPr>
            <a:xfrm>
              <a:off x="867833" y="23960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inputmatrix2_2_2"/>
            <p:cNvSpPr/>
            <p:nvPr/>
          </p:nvSpPr>
          <p:spPr>
            <a:xfrm>
              <a:off x="935566" y="2396066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input_name2"/>
            <p:cNvSpPr txBox="1"/>
            <p:nvPr/>
          </p:nvSpPr>
          <p:spPr>
            <a:xfrm>
              <a:off x="1003300" y="24384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3F746B"/>
                  </a:solidFill>
                  <a:latin typeface="Liberation Serif"/>
                </a:rPr>
                <a:t>costs</a:t>
              </a:r>
            </a:p>
          </p:txBody>
        </p:sp>
        <p:sp>
          <p:nvSpPr>
            <p:cNvPr id="69" name="badge2"/>
            <p:cNvSpPr/>
            <p:nvPr/>
          </p:nvSpPr>
          <p:spPr>
            <a:xfrm>
              <a:off x="787400" y="177800"/>
              <a:ext cx="146050" cy="146050"/>
            </a:xfrm>
            <a:prstGeom prst="ellipse">
              <a:avLst/>
            </a:prstGeom>
            <a:solidFill>
              <a:srgbClr val="6078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umber2"/>
            <p:cNvSpPr txBox="1"/>
            <p:nvPr/>
          </p:nvSpPr>
          <p:spPr>
            <a:xfrm>
              <a:off x="7874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71" name="title2"/>
            <p:cNvSpPr txBox="1"/>
            <p:nvPr/>
          </p:nvSpPr>
          <p:spPr>
            <a:xfrm>
              <a:off x="965200" y="114300"/>
              <a:ext cx="4826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Flow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inputs</a:t>
              </a:r>
            </a:p>
          </p:txBody>
        </p:sp>
        <p:sp>
          <p:nvSpPr>
            <p:cNvPr id="72" name="clustered"/>
            <p:cNvSpPr txBox="1"/>
            <p:nvPr/>
          </p:nvSpPr>
          <p:spPr>
            <a:xfrm>
              <a:off x="774700" y="546100"/>
              <a:ext cx="660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state clusters</a:t>
              </a:r>
            </a:p>
          </p:txBody>
        </p:sp>
        <p:grpSp>
          <p:nvGrpSpPr>
            <p:cNvPr id="73" name="motif_input_graph"/>
            <p:cNvGrpSpPr/>
            <p:nvPr/>
          </p:nvGrpSpPr>
          <p:grpSpPr>
            <a:xfrm>
              <a:off x="804545" y="842644"/>
              <a:ext cx="575310" cy="397511"/>
              <a:chOff x="804545" y="842644"/>
              <a:chExt cx="575310" cy="397511"/>
            </a:xfrm>
          </p:grpSpPr>
          <p:sp>
            <p:nvSpPr>
              <p:cNvPr id="74" name="input_graph_edge0"/>
              <p:cNvSpPr/>
              <p:nvPr/>
            </p:nvSpPr>
            <p:spPr>
              <a:xfrm>
                <a:off x="840242" y="8784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148016"/>
                    </a:moveTo>
                    <a:lnTo>
                      <a:pt x="146536" y="0"/>
                    </a:lnTo>
                  </a:path>
                </a:pathLst>
              </a:custGeom>
              <a:noFill/>
              <a:ln w="10795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input_graph_edge1"/>
              <p:cNvSpPr/>
              <p:nvPr/>
            </p:nvSpPr>
            <p:spPr>
              <a:xfrm>
                <a:off x="1022477" y="863600"/>
                <a:ext cx="139445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39445" h="1" fill="none">
                    <a:moveTo>
                      <a:pt x="0" y="0"/>
                    </a:moveTo>
                    <a:lnTo>
                      <a:pt x="139445" y="0"/>
                    </a:lnTo>
                  </a:path>
                </a:pathLst>
              </a:custGeom>
              <a:noFill/>
              <a:ln w="10795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input_graph_edge2"/>
              <p:cNvSpPr/>
              <p:nvPr/>
            </p:nvSpPr>
            <p:spPr>
              <a:xfrm>
                <a:off x="1197620" y="8784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0"/>
                    </a:moveTo>
                    <a:lnTo>
                      <a:pt x="146536" y="148016"/>
                    </a:lnTo>
                  </a:path>
                </a:pathLst>
              </a:custGeom>
              <a:noFill/>
              <a:ln w="10795">
                <a:solidFill>
                  <a:srgbClr val="60789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input_graph_edge3"/>
              <p:cNvSpPr/>
              <p:nvPr/>
            </p:nvSpPr>
            <p:spPr>
              <a:xfrm>
                <a:off x="840242" y="10562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0"/>
                    </a:moveTo>
                    <a:lnTo>
                      <a:pt x="146536" y="148016"/>
                    </a:lnTo>
                  </a:path>
                </a:pathLst>
              </a:custGeom>
              <a:noFill/>
              <a:ln w="5715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input_graph_edge4"/>
              <p:cNvSpPr/>
              <p:nvPr/>
            </p:nvSpPr>
            <p:spPr>
              <a:xfrm>
                <a:off x="1022477" y="1219200"/>
                <a:ext cx="139445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39445" h="1" fill="none">
                    <a:moveTo>
                      <a:pt x="0" y="0"/>
                    </a:moveTo>
                    <a:lnTo>
                      <a:pt x="139445" y="0"/>
                    </a:lnTo>
                  </a:path>
                </a:pathLst>
              </a:custGeom>
              <a:noFill/>
              <a:ln w="5715">
                <a:solidFill>
                  <a:srgbClr val="6078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input_graph_edge5"/>
              <p:cNvSpPr/>
              <p:nvPr/>
            </p:nvSpPr>
            <p:spPr>
              <a:xfrm>
                <a:off x="1197620" y="10562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148016"/>
                    </a:moveTo>
                    <a:lnTo>
                      <a:pt x="146536" y="0"/>
                    </a:lnTo>
                  </a:path>
                </a:pathLst>
              </a:custGeom>
              <a:noFill/>
              <a:ln w="5715">
                <a:solidFill>
                  <a:srgbClr val="60789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input_graph_node0"/>
              <p:cNvSpPr/>
              <p:nvPr/>
            </p:nvSpPr>
            <p:spPr>
              <a:xfrm>
                <a:off x="804545" y="10204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input_graph_node1"/>
              <p:cNvSpPr/>
              <p:nvPr/>
            </p:nvSpPr>
            <p:spPr>
              <a:xfrm>
                <a:off x="980566" y="8426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input_graph_node2"/>
              <p:cNvSpPr/>
              <p:nvPr/>
            </p:nvSpPr>
            <p:spPr>
              <a:xfrm>
                <a:off x="980566" y="1198245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input_graph_node3"/>
              <p:cNvSpPr/>
              <p:nvPr/>
            </p:nvSpPr>
            <p:spPr>
              <a:xfrm>
                <a:off x="1161923" y="8426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input_graph_node4"/>
              <p:cNvSpPr/>
              <p:nvPr/>
            </p:nvSpPr>
            <p:spPr>
              <a:xfrm>
                <a:off x="1161923" y="1198245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input_graph_node5"/>
              <p:cNvSpPr/>
              <p:nvPr/>
            </p:nvSpPr>
            <p:spPr>
              <a:xfrm>
                <a:off x="1337945" y="10204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6" name="transitions"/>
            <p:cNvSpPr txBox="1"/>
            <p:nvPr/>
          </p:nvSpPr>
          <p:spPr>
            <a:xfrm>
              <a:off x="762000" y="1308100"/>
              <a:ext cx="685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transition edges</a:t>
              </a:r>
            </a:p>
          </p:txBody>
        </p:sp>
        <p:grpSp>
          <p:nvGrpSpPr>
            <p:cNvPr id="87" name="input_symbol0"/>
            <p:cNvGrpSpPr/>
            <p:nvPr/>
          </p:nvGrpSpPr>
          <p:grpSpPr>
            <a:xfrm>
              <a:off x="1185629" y="1646361"/>
              <a:ext cx="80585" cy="111019"/>
              <a:chOff x="1185629" y="1646361"/>
              <a:chExt cx="80585" cy="111019"/>
            </a:xfrm>
          </p:grpSpPr>
          <p:sp>
            <p:nvSpPr>
              <p:cNvPr id="88" name="input_symbol0_outline_0"/>
              <p:cNvSpPr/>
              <p:nvPr/>
            </p:nvSpPr>
            <p:spPr>
              <a:xfrm>
                <a:off x="1219411" y="16463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60789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input_symbol0_outline_1"/>
              <p:cNvSpPr/>
              <p:nvPr/>
            </p:nvSpPr>
            <p:spPr>
              <a:xfrm>
                <a:off x="1185629" y="16747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60789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0" name="input_symbol1"/>
            <p:cNvGrpSpPr/>
            <p:nvPr/>
          </p:nvGrpSpPr>
          <p:grpSpPr>
            <a:xfrm>
              <a:off x="1184362" y="1990197"/>
              <a:ext cx="77803" cy="84506"/>
              <a:chOff x="1184362" y="1990197"/>
              <a:chExt cx="77803" cy="84506"/>
            </a:xfrm>
          </p:grpSpPr>
          <p:sp>
            <p:nvSpPr>
              <p:cNvPr id="91" name="input_symbol1_outline_0"/>
              <p:cNvSpPr/>
              <p:nvPr/>
            </p:nvSpPr>
            <p:spPr>
              <a:xfrm>
                <a:off x="1184362" y="1990197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" name="input_symbol2"/>
            <p:cNvGrpSpPr/>
            <p:nvPr/>
          </p:nvGrpSpPr>
          <p:grpSpPr>
            <a:xfrm>
              <a:off x="1156690" y="2307563"/>
              <a:ext cx="133011" cy="110782"/>
              <a:chOff x="1156690" y="2307563"/>
              <a:chExt cx="133011" cy="110782"/>
            </a:xfrm>
          </p:grpSpPr>
          <p:sp>
            <p:nvSpPr>
              <p:cNvPr id="93" name="input_symbol2_outline_0"/>
              <p:cNvSpPr/>
              <p:nvPr/>
            </p:nvSpPr>
            <p:spPr>
              <a:xfrm>
                <a:off x="1156690" y="2307563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input_symbol2_outline_1"/>
              <p:cNvSpPr/>
              <p:nvPr/>
            </p:nvSpPr>
            <p:spPr>
              <a:xfrm>
                <a:off x="1239064" y="234633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5" name="module_stage3"/>
          <p:cNvGrpSpPr/>
          <p:nvPr/>
        </p:nvGrpSpPr>
        <p:grpSpPr>
          <a:xfrm>
            <a:off x="1536700" y="76200"/>
            <a:ext cx="800100" cy="2552700"/>
            <a:chOff x="1536700" y="76200"/>
            <a:chExt cx="800100" cy="2552700"/>
          </a:xfrm>
        </p:grpSpPr>
        <p:sp>
          <p:nvSpPr>
            <p:cNvPr id="96" name="stage3_border"/>
            <p:cNvSpPr/>
            <p:nvPr/>
          </p:nvSpPr>
          <p:spPr>
            <a:xfrm>
              <a:off x="1536700" y="76200"/>
              <a:ext cx="8001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badge3"/>
            <p:cNvSpPr/>
            <p:nvPr/>
          </p:nvSpPr>
          <p:spPr>
            <a:xfrm>
              <a:off x="1587500" y="177800"/>
              <a:ext cx="146050" cy="146050"/>
            </a:xfrm>
            <a:prstGeom prst="ellipse">
              <a:avLst/>
            </a:prstGeom>
            <a:solidFill>
              <a:srgbClr val="3F74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number3"/>
            <p:cNvSpPr txBox="1"/>
            <p:nvPr/>
          </p:nvSpPr>
          <p:spPr>
            <a:xfrm>
              <a:off x="15875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99" name="title3"/>
            <p:cNvSpPr txBox="1"/>
            <p:nvPr/>
          </p:nvSpPr>
          <p:spPr>
            <a:xfrm>
              <a:off x="1765300" y="114300"/>
              <a:ext cx="5461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constraints</a:t>
              </a:r>
            </a:p>
          </p:txBody>
        </p:sp>
        <p:sp>
          <p:nvSpPr>
            <p:cNvPr id="100" name="soft_label"/>
            <p:cNvSpPr txBox="1"/>
            <p:nvPr/>
          </p:nvSpPr>
          <p:spPr>
            <a:xfrm>
              <a:off x="1562100" y="558800"/>
              <a:ext cx="749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4333B"/>
                  </a:solidFill>
                  <a:latin typeface="Liberation Serif"/>
                </a:rPr>
                <a:t>Soft constraints</a:t>
              </a:r>
            </a:p>
          </p:txBody>
        </p:sp>
        <p:sp>
          <p:nvSpPr>
            <p:cNvPr id="101" name="budget_words"/>
            <p:cNvSpPr txBox="1"/>
            <p:nvPr/>
          </p:nvSpPr>
          <p:spPr>
            <a:xfrm>
              <a:off x="1549400" y="812800"/>
              <a:ext cx="774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all cost budgets</a:t>
              </a:r>
            </a:p>
          </p:txBody>
        </p:sp>
        <p:sp>
          <p:nvSpPr>
            <p:cNvPr id="102" name="budget_track0"/>
            <p:cNvSpPr/>
            <p:nvPr/>
          </p:nvSpPr>
          <p:spPr>
            <a:xfrm>
              <a:off x="1663700" y="11176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budget_fill0"/>
            <p:cNvSpPr/>
            <p:nvPr/>
          </p:nvSpPr>
          <p:spPr>
            <a:xfrm>
              <a:off x="1663700" y="1117600"/>
              <a:ext cx="2540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budget_limit0"/>
            <p:cNvSpPr/>
            <p:nvPr/>
          </p:nvSpPr>
          <p:spPr>
            <a:xfrm>
              <a:off x="2095500" y="10795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budget_track1"/>
            <p:cNvSpPr/>
            <p:nvPr/>
          </p:nvSpPr>
          <p:spPr>
            <a:xfrm>
              <a:off x="1663700" y="13081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budget_fill1"/>
            <p:cNvSpPr/>
            <p:nvPr/>
          </p:nvSpPr>
          <p:spPr>
            <a:xfrm>
              <a:off x="1663700" y="1308100"/>
              <a:ext cx="3302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budget_limit1"/>
            <p:cNvSpPr/>
            <p:nvPr/>
          </p:nvSpPr>
          <p:spPr>
            <a:xfrm>
              <a:off x="2095500" y="12700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budget_track2"/>
            <p:cNvSpPr/>
            <p:nvPr/>
          </p:nvSpPr>
          <p:spPr>
            <a:xfrm>
              <a:off x="1663700" y="14986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budget_fill2"/>
            <p:cNvSpPr/>
            <p:nvPr/>
          </p:nvSpPr>
          <p:spPr>
            <a:xfrm>
              <a:off x="1663700" y="1498600"/>
              <a:ext cx="2032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budget_limit2"/>
            <p:cNvSpPr/>
            <p:nvPr/>
          </p:nvSpPr>
          <p:spPr>
            <a:xfrm>
              <a:off x="2095500" y="14605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rd_label"/>
            <p:cNvSpPr txBox="1"/>
            <p:nvPr/>
          </p:nvSpPr>
          <p:spPr>
            <a:xfrm>
              <a:off x="1549400" y="1816100"/>
              <a:ext cx="7747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4333B"/>
                  </a:solidFill>
                  <a:latin typeface="Liberation Serif"/>
                </a:rPr>
                <a:t>Hard constraints</a:t>
              </a:r>
            </a:p>
          </p:txBody>
        </p:sp>
        <p:sp>
          <p:nvSpPr>
            <p:cNvPr id="112" name="hard_edge"/>
            <p:cNvSpPr/>
            <p:nvPr/>
          </p:nvSpPr>
          <p:spPr>
            <a:xfrm>
              <a:off x="1701800" y="2209800"/>
              <a:ext cx="444500" cy="127"/>
            </a:xfrm>
            <a:custGeom>
              <a:avLst/>
              <a:gdLst/>
              <a:ahLst/>
              <a:cxnLst/>
              <a:rect l="0" t="0" r="r" b="b"/>
              <a:pathLst>
                <a:path w="444500" h="1" fill="none">
                  <a:moveTo>
                    <a:pt x="0" y="0"/>
                  </a:moveTo>
                  <a:lnTo>
                    <a:pt x="444500" y="0"/>
                  </a:lnTo>
                </a:path>
              </a:pathLst>
            </a:custGeom>
            <a:noFill/>
            <a:ln w="10795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rd_node0"/>
            <p:cNvSpPr/>
            <p:nvPr/>
          </p:nvSpPr>
          <p:spPr>
            <a:xfrm>
              <a:off x="1647189" y="2180590"/>
              <a:ext cx="58419" cy="5841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hard_node1"/>
            <p:cNvSpPr/>
            <p:nvPr/>
          </p:nvSpPr>
          <p:spPr>
            <a:xfrm>
              <a:off x="2142490" y="2180590"/>
              <a:ext cx="58419" cy="5841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hard_x0"/>
            <p:cNvSpPr/>
            <p:nvPr/>
          </p:nvSpPr>
          <p:spPr>
            <a:xfrm>
              <a:off x="1879600" y="21717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76200" h="76200" fill="none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hard_x1"/>
            <p:cNvSpPr/>
            <p:nvPr/>
          </p:nvSpPr>
          <p:spPr>
            <a:xfrm>
              <a:off x="1879600" y="21717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76200" h="76200" fill="none">
                  <a:moveTo>
                    <a:pt x="0" y="76200"/>
                  </a:moveTo>
                  <a:lnTo>
                    <a:pt x="76200" y="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exclusion_words"/>
            <p:cNvSpPr txBox="1"/>
            <p:nvPr/>
          </p:nvSpPr>
          <p:spPr>
            <a:xfrm>
              <a:off x="1587500" y="2374900"/>
              <a:ext cx="698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remove edges</a:t>
              </a:r>
            </a:p>
          </p:txBody>
        </p:sp>
      </p:grpSp>
      <p:grpSp>
        <p:nvGrpSpPr>
          <p:cNvPr id="118" name="module_stage4"/>
          <p:cNvGrpSpPr/>
          <p:nvPr/>
        </p:nvGrpSpPr>
        <p:grpSpPr>
          <a:xfrm>
            <a:off x="2400300" y="76200"/>
            <a:ext cx="1130300" cy="2552700"/>
            <a:chOff x="2400300" y="76200"/>
            <a:chExt cx="1130300" cy="2552700"/>
          </a:xfrm>
        </p:grpSpPr>
        <p:sp>
          <p:nvSpPr>
            <p:cNvPr id="119" name="stage4_border"/>
            <p:cNvSpPr/>
            <p:nvPr/>
          </p:nvSpPr>
          <p:spPr>
            <a:xfrm>
              <a:off x="2400300" y="76200"/>
              <a:ext cx="1130300" cy="2552700"/>
            </a:xfrm>
            <a:prstGeom prst="roundRect">
              <a:avLst>
                <a:gd name="adj" fmla="val 2500"/>
              </a:avLst>
            </a:prstGeom>
            <a:solidFill>
              <a:srgbClr val="F2F6F4"/>
            </a:solidFill>
            <a:ln w="7620">
              <a:solidFill>
                <a:srgbClr val="8BA9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badge4"/>
            <p:cNvSpPr/>
            <p:nvPr/>
          </p:nvSpPr>
          <p:spPr>
            <a:xfrm>
              <a:off x="2451100" y="177800"/>
              <a:ext cx="146050" cy="146050"/>
            </a:xfrm>
            <a:prstGeom prst="ellipse">
              <a:avLst/>
            </a:prstGeom>
            <a:solidFill>
              <a:srgbClr val="3F74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number4"/>
            <p:cNvSpPr txBox="1"/>
            <p:nvPr/>
          </p:nvSpPr>
          <p:spPr>
            <a:xfrm>
              <a:off x="24511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22" name="title4"/>
            <p:cNvSpPr txBox="1"/>
            <p:nvPr/>
          </p:nvSpPr>
          <p:spPr>
            <a:xfrm>
              <a:off x="2628900" y="114300"/>
              <a:ext cx="8763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3F746B"/>
                  </a:solidFill>
                  <a:latin typeface="Liberation Serif"/>
                </a:rPr>
                <a:t>Entropic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3F746B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23" name="one_projection"/>
            <p:cNvSpPr txBox="1"/>
            <p:nvPr/>
          </p:nvSpPr>
          <p:spPr>
            <a:xfrm>
              <a:off x="2438400" y="546100"/>
              <a:ext cx="1054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3F746B"/>
                  </a:solidFill>
                  <a:latin typeface="Liberation Serif"/>
                </a:rPr>
                <a:t>One flow solve</a:t>
              </a:r>
            </a:p>
          </p:txBody>
        </p:sp>
        <p:grpSp>
          <p:nvGrpSpPr>
            <p:cNvPr id="124" name="motif_observed_network"/>
            <p:cNvGrpSpPr/>
            <p:nvPr/>
          </p:nvGrpSpPr>
          <p:grpSpPr>
            <a:xfrm>
              <a:off x="2747264" y="842263"/>
              <a:ext cx="652272" cy="398273"/>
              <a:chOff x="2747264" y="842263"/>
              <a:chExt cx="652272" cy="398273"/>
            </a:xfrm>
          </p:grpSpPr>
          <p:sp>
            <p:nvSpPr>
              <p:cNvPr id="125" name="observed_network_edge0"/>
              <p:cNvSpPr/>
              <p:nvPr/>
            </p:nvSpPr>
            <p:spPr>
              <a:xfrm>
                <a:off x="2784586" y="8777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observed_network_edge1"/>
              <p:cNvSpPr/>
              <p:nvPr/>
            </p:nvSpPr>
            <p:spPr>
              <a:xfrm>
                <a:off x="2991104" y="8636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observed_network_edge2"/>
              <p:cNvSpPr/>
              <p:nvPr/>
            </p:nvSpPr>
            <p:spPr>
              <a:xfrm>
                <a:off x="3193018" y="8777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observed_network_edge3"/>
              <p:cNvSpPr/>
              <p:nvPr/>
            </p:nvSpPr>
            <p:spPr>
              <a:xfrm>
                <a:off x="2784586" y="10555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observed_network_edge4"/>
              <p:cNvSpPr/>
              <p:nvPr/>
            </p:nvSpPr>
            <p:spPr>
              <a:xfrm>
                <a:off x="2991104" y="12192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observed_network_edge5"/>
              <p:cNvSpPr/>
              <p:nvPr/>
            </p:nvSpPr>
            <p:spPr>
              <a:xfrm>
                <a:off x="3193018" y="10555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observed_network_excluded"/>
              <p:cNvSpPr/>
              <p:nvPr/>
            </p:nvSpPr>
            <p:spPr>
              <a:xfrm>
                <a:off x="2969768" y="884936"/>
                <a:ext cx="127" cy="312927"/>
              </a:xfrm>
              <a:custGeom>
                <a:avLst/>
                <a:gdLst/>
                <a:ahLst/>
                <a:cxnLst/>
                <a:rect l="0" t="0" r="r" b="b"/>
                <a:pathLst>
                  <a:path w="1" h="312927" fill="none">
                    <a:moveTo>
                      <a:pt x="0" y="0"/>
                    </a:moveTo>
                    <a:lnTo>
                      <a:pt x="0" y="312927"/>
                    </a:lnTo>
                  </a:path>
                </a:pathLst>
              </a:custGeom>
              <a:noFill/>
              <a:ln w="8255">
                <a:solidFill>
                  <a:srgbClr val="A57957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observed_network_cross0"/>
              <p:cNvSpPr/>
              <p:nvPr/>
            </p:nvSpPr>
            <p:spPr>
              <a:xfrm>
                <a:off x="2949448" y="10210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40639"/>
                    </a:moveTo>
                    <a:lnTo>
                      <a:pt x="40639" y="0"/>
                    </a:lnTo>
                  </a:path>
                </a:pathLst>
              </a:custGeom>
              <a:noFill/>
              <a:ln w="10160">
                <a:solidFill>
                  <a:srgbClr val="A5795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observed_network_cross1"/>
              <p:cNvSpPr/>
              <p:nvPr/>
            </p:nvSpPr>
            <p:spPr>
              <a:xfrm>
                <a:off x="2949448" y="10210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0"/>
                    </a:moveTo>
                    <a:lnTo>
                      <a:pt x="40639" y="40639"/>
                    </a:lnTo>
                  </a:path>
                </a:pathLst>
              </a:custGeom>
              <a:noFill/>
              <a:ln w="10160">
                <a:solidFill>
                  <a:srgbClr val="A5795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observed_network_node0"/>
              <p:cNvSpPr/>
              <p:nvPr/>
            </p:nvSpPr>
            <p:spPr>
              <a:xfrm>
                <a:off x="2747264" y="10200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observed_network_node1"/>
              <p:cNvSpPr/>
              <p:nvPr/>
            </p:nvSpPr>
            <p:spPr>
              <a:xfrm>
                <a:off x="2948432" y="8422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observed_network_node2"/>
              <p:cNvSpPr/>
              <p:nvPr/>
            </p:nvSpPr>
            <p:spPr>
              <a:xfrm>
                <a:off x="2948432" y="11978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observed_network_node3"/>
              <p:cNvSpPr/>
              <p:nvPr/>
            </p:nvSpPr>
            <p:spPr>
              <a:xfrm>
                <a:off x="3155696" y="8422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observed_network_node4"/>
              <p:cNvSpPr/>
              <p:nvPr/>
            </p:nvSpPr>
            <p:spPr>
              <a:xfrm>
                <a:off x="3155696" y="11978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observed_network_node5"/>
              <p:cNvSpPr/>
              <p:nvPr/>
            </p:nvSpPr>
            <p:spPr>
              <a:xfrm>
                <a:off x="3356864" y="10200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0" name="motif_target_network"/>
            <p:cNvGrpSpPr/>
            <p:nvPr/>
          </p:nvGrpSpPr>
          <p:grpSpPr>
            <a:xfrm>
              <a:off x="2747264" y="1515364"/>
              <a:ext cx="652272" cy="398272"/>
              <a:chOff x="2747264" y="1515364"/>
              <a:chExt cx="652272" cy="398272"/>
            </a:xfrm>
          </p:grpSpPr>
          <p:sp>
            <p:nvSpPr>
              <p:cNvPr id="141" name="target_network_edge0"/>
              <p:cNvSpPr/>
              <p:nvPr/>
            </p:nvSpPr>
            <p:spPr>
              <a:xfrm>
                <a:off x="2784586" y="15508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5715">
                <a:solidFill>
                  <a:srgbClr val="BEC8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target_network_edge1"/>
              <p:cNvSpPr/>
              <p:nvPr/>
            </p:nvSpPr>
            <p:spPr>
              <a:xfrm>
                <a:off x="2991104" y="15367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5715">
                <a:solidFill>
                  <a:srgbClr val="BEC8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target_network_edge2"/>
              <p:cNvSpPr/>
              <p:nvPr/>
            </p:nvSpPr>
            <p:spPr>
              <a:xfrm>
                <a:off x="3193018" y="15508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5715">
                <a:solidFill>
                  <a:srgbClr val="BEC8C8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target_network_edge3"/>
              <p:cNvSpPr/>
              <p:nvPr/>
            </p:nvSpPr>
            <p:spPr>
              <a:xfrm>
                <a:off x="2784586" y="17286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17780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target_network_edge4"/>
              <p:cNvSpPr/>
              <p:nvPr/>
            </p:nvSpPr>
            <p:spPr>
              <a:xfrm>
                <a:off x="2991104" y="18923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17780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target_network_edge5"/>
              <p:cNvSpPr/>
              <p:nvPr/>
            </p:nvSpPr>
            <p:spPr>
              <a:xfrm>
                <a:off x="3193018" y="17286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17780">
                <a:solidFill>
                  <a:srgbClr val="3F746B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target_network_excluded"/>
              <p:cNvSpPr/>
              <p:nvPr/>
            </p:nvSpPr>
            <p:spPr>
              <a:xfrm>
                <a:off x="2969768" y="1558036"/>
                <a:ext cx="127" cy="312927"/>
              </a:xfrm>
              <a:custGeom>
                <a:avLst/>
                <a:gdLst/>
                <a:ahLst/>
                <a:cxnLst/>
                <a:rect l="0" t="0" r="r" b="b"/>
                <a:pathLst>
                  <a:path w="1" h="312927" fill="none">
                    <a:moveTo>
                      <a:pt x="0" y="0"/>
                    </a:moveTo>
                    <a:lnTo>
                      <a:pt x="0" y="312927"/>
                    </a:lnTo>
                  </a:path>
                </a:pathLst>
              </a:custGeom>
              <a:noFill/>
              <a:ln w="8255">
                <a:solidFill>
                  <a:srgbClr val="A57957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target_network_cross0"/>
              <p:cNvSpPr/>
              <p:nvPr/>
            </p:nvSpPr>
            <p:spPr>
              <a:xfrm>
                <a:off x="2949448" y="16941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40639"/>
                    </a:moveTo>
                    <a:lnTo>
                      <a:pt x="40639" y="0"/>
                    </a:lnTo>
                  </a:path>
                </a:pathLst>
              </a:custGeom>
              <a:noFill/>
              <a:ln w="10160">
                <a:solidFill>
                  <a:srgbClr val="A5795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target_network_cross1"/>
              <p:cNvSpPr/>
              <p:nvPr/>
            </p:nvSpPr>
            <p:spPr>
              <a:xfrm>
                <a:off x="2949448" y="16941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0"/>
                    </a:moveTo>
                    <a:lnTo>
                      <a:pt x="40639" y="40639"/>
                    </a:lnTo>
                  </a:path>
                </a:pathLst>
              </a:custGeom>
              <a:noFill/>
              <a:ln w="10160">
                <a:solidFill>
                  <a:srgbClr val="A5795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target_network_node0"/>
              <p:cNvSpPr/>
              <p:nvPr/>
            </p:nvSpPr>
            <p:spPr>
              <a:xfrm>
                <a:off x="2747264" y="16931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target_network_node1"/>
              <p:cNvSpPr/>
              <p:nvPr/>
            </p:nvSpPr>
            <p:spPr>
              <a:xfrm>
                <a:off x="2948432" y="15153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target_network_node2"/>
              <p:cNvSpPr/>
              <p:nvPr/>
            </p:nvSpPr>
            <p:spPr>
              <a:xfrm>
                <a:off x="2948432" y="18709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target_network_node3"/>
              <p:cNvSpPr/>
              <p:nvPr/>
            </p:nvSpPr>
            <p:spPr>
              <a:xfrm>
                <a:off x="3155696" y="15153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target_network_node4"/>
              <p:cNvSpPr/>
              <p:nvPr/>
            </p:nvSpPr>
            <p:spPr>
              <a:xfrm>
                <a:off x="3155696" y="18709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target_network_node5"/>
              <p:cNvSpPr/>
              <p:nvPr/>
            </p:nvSpPr>
            <p:spPr>
              <a:xfrm>
                <a:off x="3356864" y="16931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6" name="reroute_arrow"/>
            <p:cNvSpPr/>
            <p:nvPr/>
          </p:nvSpPr>
          <p:spPr>
            <a:xfrm>
              <a:off x="3060700" y="1295400"/>
              <a:ext cx="127" cy="152400"/>
            </a:xfrm>
            <a:custGeom>
              <a:avLst/>
              <a:gdLst/>
              <a:ahLst/>
              <a:cxnLst/>
              <a:rect l="0" t="0" r="r" b="b"/>
              <a:pathLst>
                <a:path w="1" h="152400" fill="none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143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arget_only"/>
            <p:cNvSpPr txBox="1"/>
            <p:nvPr/>
          </p:nvSpPr>
          <p:spPr>
            <a:xfrm>
              <a:off x="2425700" y="2057400"/>
              <a:ext cx="10795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i="0">
                  <a:solidFill>
                    <a:srgbClr val="3F746B"/>
                  </a:solidFill>
                  <a:latin typeface="Liberation Serif"/>
                </a:rPr>
                <a:t>target flow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i="0">
                  <a:solidFill>
                    <a:srgbClr val="3F746B"/>
                  </a:solidFill>
                  <a:latin typeface="Liberation Serif"/>
                </a:rPr>
                <a:t>is not executed</a:t>
              </a:r>
            </a:p>
          </p:txBody>
        </p:sp>
        <p:sp>
          <p:nvSpPr>
            <p:cNvPr id="158" name="projection_role"/>
            <p:cNvSpPr txBox="1"/>
            <p:nvPr/>
          </p:nvSpPr>
          <p:spPr>
            <a:xfrm>
              <a:off x="2413000" y="2387600"/>
              <a:ext cx="1104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prices go to the actor</a:t>
              </a:r>
            </a:p>
          </p:txBody>
        </p:sp>
        <p:grpSp>
          <p:nvGrpSpPr>
            <p:cNvPr id="159" name="observed_F"/>
            <p:cNvGrpSpPr/>
            <p:nvPr/>
          </p:nvGrpSpPr>
          <p:grpSpPr>
            <a:xfrm>
              <a:off x="2538179" y="973261"/>
              <a:ext cx="80585" cy="111019"/>
              <a:chOff x="2538179" y="973261"/>
              <a:chExt cx="80585" cy="111019"/>
            </a:xfrm>
          </p:grpSpPr>
          <p:sp>
            <p:nvSpPr>
              <p:cNvPr id="160" name="observed_F_outline_0"/>
              <p:cNvSpPr/>
              <p:nvPr/>
            </p:nvSpPr>
            <p:spPr>
              <a:xfrm>
                <a:off x="2571961" y="9732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observed_F_outline_1"/>
              <p:cNvSpPr/>
              <p:nvPr/>
            </p:nvSpPr>
            <p:spPr>
              <a:xfrm>
                <a:off x="2538179" y="10016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2" name="target_F"/>
            <p:cNvGrpSpPr/>
            <p:nvPr/>
          </p:nvGrpSpPr>
          <p:grpSpPr>
            <a:xfrm>
              <a:off x="2508163" y="1649800"/>
              <a:ext cx="150197" cy="103002"/>
              <a:chOff x="2508163" y="1649800"/>
              <a:chExt cx="150197" cy="103002"/>
            </a:xfrm>
          </p:grpSpPr>
          <p:sp>
            <p:nvSpPr>
              <p:cNvPr id="163" name="target_F_outline_0"/>
              <p:cNvSpPr/>
              <p:nvPr/>
            </p:nvSpPr>
            <p:spPr>
              <a:xfrm>
                <a:off x="2508163" y="1670193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target_F_outline_1"/>
              <p:cNvSpPr/>
              <p:nvPr/>
            </p:nvSpPr>
            <p:spPr>
              <a:xfrm>
                <a:off x="2593511" y="1649800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65" name="module_stage5"/>
          <p:cNvGrpSpPr/>
          <p:nvPr/>
        </p:nvGrpSpPr>
        <p:grpSpPr>
          <a:xfrm>
            <a:off x="3594100" y="76200"/>
            <a:ext cx="1397000" cy="2552700"/>
            <a:chOff x="3594100" y="76200"/>
            <a:chExt cx="1397000" cy="2552700"/>
          </a:xfrm>
        </p:grpSpPr>
        <p:sp>
          <p:nvSpPr>
            <p:cNvPr id="166" name="stage5_border"/>
            <p:cNvSpPr/>
            <p:nvPr/>
          </p:nvSpPr>
          <p:spPr>
            <a:xfrm>
              <a:off x="3594100" y="76200"/>
              <a:ext cx="1397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update_label"/>
            <p:cNvSpPr txBox="1"/>
            <p:nvPr/>
          </p:nvSpPr>
          <p:spPr>
            <a:xfrm>
              <a:off x="3683000" y="2438400"/>
              <a:ext cx="711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168" name="update_pi"/>
            <p:cNvSpPr/>
            <p:nvPr/>
          </p:nvSpPr>
          <p:spPr>
            <a:xfrm>
              <a:off x="4406900" y="25146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8890">
              <a:solidFill>
                <a:srgbClr val="76858D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badge5"/>
            <p:cNvSpPr/>
            <p:nvPr/>
          </p:nvSpPr>
          <p:spPr>
            <a:xfrm>
              <a:off x="3644900" y="177800"/>
              <a:ext cx="146050" cy="146050"/>
            </a:xfrm>
            <a:prstGeom prst="ellipse">
              <a:avLst/>
            </a:prstGeom>
            <a:solidFill>
              <a:srgbClr val="7685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number5"/>
            <p:cNvSpPr txBox="1"/>
            <p:nvPr/>
          </p:nvSpPr>
          <p:spPr>
            <a:xfrm>
              <a:off x="3644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71" name="title5"/>
            <p:cNvSpPr txBox="1"/>
            <p:nvPr/>
          </p:nvSpPr>
          <p:spPr>
            <a:xfrm>
              <a:off x="3822700" y="114300"/>
              <a:ext cx="1143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Priced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policy update</a:t>
              </a:r>
            </a:p>
          </p:txBody>
        </p:sp>
        <p:sp>
          <p:nvSpPr>
            <p:cNvPr id="172" name="dual_label"/>
            <p:cNvSpPr txBox="1"/>
            <p:nvPr/>
          </p:nvSpPr>
          <p:spPr>
            <a:xfrm>
              <a:off x="3657600" y="546100"/>
              <a:ext cx="1270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3F746B"/>
                  </a:solidFill>
                  <a:latin typeface="Liberation Serif"/>
                </a:rPr>
                <a:t>Safety prices</a:t>
              </a:r>
            </a:p>
          </p:txBody>
        </p:sp>
        <p:sp>
          <p:nvSpPr>
            <p:cNvPr id="173" name="filter_label"/>
            <p:cNvSpPr txBox="1"/>
            <p:nvPr/>
          </p:nvSpPr>
          <p:spPr>
            <a:xfrm>
              <a:off x="3670300" y="787400"/>
              <a:ext cx="1257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3F746B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174" name="feedback_label"/>
            <p:cNvSpPr txBox="1"/>
            <p:nvPr/>
          </p:nvSpPr>
          <p:spPr>
            <a:xfrm>
              <a:off x="3670300" y="1155700"/>
              <a:ext cx="1257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175" name="feedback_error"/>
            <p:cNvSpPr txBox="1"/>
            <p:nvPr/>
          </p:nvSpPr>
          <p:spPr>
            <a:xfrm>
              <a:off x="3695700" y="1409700"/>
              <a:ext cx="12065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A57957"/>
                  </a:solidFill>
                  <a:latin typeface="Liberation Serif"/>
                </a:rPr>
                <a:t>cost − budget</a:t>
              </a:r>
            </a:p>
          </p:txBody>
        </p:sp>
        <p:sp>
          <p:nvSpPr>
            <p:cNvPr id="176" name="error_to_beta"/>
            <p:cNvSpPr/>
            <p:nvPr/>
          </p:nvSpPr>
          <p:spPr>
            <a:xfrm>
              <a:off x="4597400" y="16002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7" name="next_policy"/>
            <p:cNvGrpSpPr/>
            <p:nvPr/>
          </p:nvGrpSpPr>
          <p:grpSpPr>
            <a:xfrm>
              <a:off x="4621155" y="2478972"/>
              <a:ext cx="217856" cy="82537"/>
              <a:chOff x="4621155" y="2478972"/>
              <a:chExt cx="217856" cy="82537"/>
            </a:xfrm>
          </p:grpSpPr>
          <p:sp>
            <p:nvSpPr>
              <p:cNvPr id="178" name="next_policy_outline_0"/>
              <p:cNvSpPr/>
              <p:nvPr/>
            </p:nvSpPr>
            <p:spPr>
              <a:xfrm>
                <a:off x="4621155" y="24789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next_policy_outline_1"/>
              <p:cNvSpPr/>
              <p:nvPr/>
            </p:nvSpPr>
            <p:spPr>
              <a:xfrm>
                <a:off x="4694487" y="25035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next_policy_outline_2"/>
              <p:cNvSpPr/>
              <p:nvPr/>
            </p:nvSpPr>
            <p:spPr>
              <a:xfrm>
                <a:off x="4738586" y="25068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next_policy_outline_3"/>
              <p:cNvSpPr/>
              <p:nvPr/>
            </p:nvSpPr>
            <p:spPr>
              <a:xfrm>
                <a:off x="4809647" y="24900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2" name="price_rule"/>
            <p:cNvGrpSpPr/>
            <p:nvPr/>
          </p:nvGrpSpPr>
          <p:grpSpPr>
            <a:xfrm>
              <a:off x="3946186" y="1775301"/>
              <a:ext cx="694873" cy="158164"/>
              <a:chOff x="3946186" y="1775301"/>
              <a:chExt cx="694873" cy="158164"/>
            </a:xfrm>
          </p:grpSpPr>
          <p:sp>
            <p:nvSpPr>
              <p:cNvPr id="183" name="price_rule_outline_0"/>
              <p:cNvSpPr/>
              <p:nvPr/>
            </p:nvSpPr>
            <p:spPr>
              <a:xfrm>
                <a:off x="3946186" y="17962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price_rule_outline_1"/>
              <p:cNvSpPr/>
              <p:nvPr/>
            </p:nvSpPr>
            <p:spPr>
              <a:xfrm>
                <a:off x="4021335" y="18336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price_rule_outline_2"/>
              <p:cNvSpPr/>
              <p:nvPr/>
            </p:nvSpPr>
            <p:spPr>
              <a:xfrm>
                <a:off x="4126007" y="18302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price_rule_outline_3"/>
              <p:cNvSpPr/>
              <p:nvPr/>
            </p:nvSpPr>
            <p:spPr>
              <a:xfrm>
                <a:off x="4256527" y="17753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price_rule_outline_4"/>
              <p:cNvSpPr/>
              <p:nvPr/>
            </p:nvSpPr>
            <p:spPr>
              <a:xfrm>
                <a:off x="4234159" y="17962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price_rule_outline_5"/>
              <p:cNvSpPr/>
              <p:nvPr/>
            </p:nvSpPr>
            <p:spPr>
              <a:xfrm>
                <a:off x="4303002" y="17761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price_rule_outline_6"/>
              <p:cNvSpPr/>
              <p:nvPr/>
            </p:nvSpPr>
            <p:spPr>
              <a:xfrm>
                <a:off x="4309320" y="18614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price_rule_outline_7"/>
              <p:cNvSpPr/>
              <p:nvPr/>
            </p:nvSpPr>
            <p:spPr>
              <a:xfrm>
                <a:off x="4410855" y="18140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price_rule_outline_8"/>
              <p:cNvSpPr/>
              <p:nvPr/>
            </p:nvSpPr>
            <p:spPr>
              <a:xfrm>
                <a:off x="4506286" y="17962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price_rule_outline_9"/>
              <p:cNvSpPr/>
              <p:nvPr/>
            </p:nvSpPr>
            <p:spPr>
              <a:xfrm>
                <a:off x="4590422" y="18336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3" name="priced_advantage"/>
            <p:cNvGrpSpPr/>
            <p:nvPr/>
          </p:nvGrpSpPr>
          <p:grpSpPr>
            <a:xfrm>
              <a:off x="3805673" y="2103615"/>
              <a:ext cx="974421" cy="250836"/>
              <a:chOff x="3805673" y="2103615"/>
              <a:chExt cx="974421" cy="250836"/>
            </a:xfrm>
          </p:grpSpPr>
          <p:sp>
            <p:nvSpPr>
              <p:cNvPr id="194" name="priced_advantage_outline_0"/>
              <p:cNvSpPr/>
              <p:nvPr/>
            </p:nvSpPr>
            <p:spPr>
              <a:xfrm>
                <a:off x="3822563" y="2148968"/>
                <a:ext cx="76664" cy="13156"/>
              </a:xfrm>
              <a:custGeom>
                <a:avLst/>
                <a:gdLst/>
                <a:ahLst/>
                <a:cxnLst/>
                <a:rect l="0" t="0" r="r" b="b"/>
                <a:pathLst>
                  <a:path w="76664" h="13156">
                    <a:moveTo>
                      <a:pt x="76664" y="0"/>
                    </a:moveTo>
                    <a:lnTo>
                      <a:pt x="72870" y="0"/>
                    </a:lnTo>
                    <a:cubicBezTo>
                      <a:pt x="71858" y="3163"/>
                      <a:pt x="68187" y="5945"/>
                      <a:pt x="55666" y="5945"/>
                    </a:cubicBezTo>
                    <a:cubicBezTo>
                      <a:pt x="43644" y="5945"/>
                      <a:pt x="39596" y="381"/>
                      <a:pt x="27960" y="381"/>
                    </a:cubicBezTo>
                    <a:cubicBezTo>
                      <a:pt x="8731" y="381"/>
                      <a:pt x="3290" y="6072"/>
                      <a:pt x="0" y="13156"/>
                    </a:cubicBezTo>
                    <a:lnTo>
                      <a:pt x="3798" y="13156"/>
                    </a:lnTo>
                    <a:cubicBezTo>
                      <a:pt x="4810" y="9993"/>
                      <a:pt x="9362" y="7338"/>
                      <a:pt x="21888" y="7338"/>
                    </a:cubicBezTo>
                    <a:cubicBezTo>
                      <a:pt x="33778" y="7338"/>
                      <a:pt x="37953" y="12902"/>
                      <a:pt x="49593" y="12902"/>
                    </a:cubicBezTo>
                    <a:cubicBezTo>
                      <a:pt x="68822" y="12902"/>
                      <a:pt x="73374" y="7084"/>
                      <a:pt x="76664" y="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priced_advantage_outline_1"/>
              <p:cNvSpPr/>
              <p:nvPr/>
            </p:nvSpPr>
            <p:spPr>
              <a:xfrm>
                <a:off x="3805673" y="2184640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priced_advantage_outline_2"/>
              <p:cNvSpPr/>
              <p:nvPr/>
            </p:nvSpPr>
            <p:spPr>
              <a:xfrm>
                <a:off x="3934066" y="2220315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priced_advantage_outline_3"/>
              <p:cNvSpPr/>
              <p:nvPr/>
            </p:nvSpPr>
            <p:spPr>
              <a:xfrm>
                <a:off x="406014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priced_advantage_outline_4"/>
              <p:cNvSpPr/>
              <p:nvPr/>
            </p:nvSpPr>
            <p:spPr>
              <a:xfrm>
                <a:off x="4141585" y="214604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priced_advantage_outline_5"/>
              <p:cNvSpPr/>
              <p:nvPr/>
            </p:nvSpPr>
            <p:spPr>
              <a:xfrm>
                <a:off x="4209123" y="2146662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priced_advantage_outline_6"/>
              <p:cNvSpPr/>
              <p:nvPr/>
            </p:nvSpPr>
            <p:spPr>
              <a:xfrm>
                <a:off x="4277293" y="210361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6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priced_advantage_outline_7"/>
              <p:cNvSpPr/>
              <p:nvPr/>
            </p:nvSpPr>
            <p:spPr>
              <a:xfrm>
                <a:off x="4362985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priced_advantage_outline_8"/>
              <p:cNvSpPr/>
              <p:nvPr/>
            </p:nvSpPr>
            <p:spPr>
              <a:xfrm>
                <a:off x="4443720" y="2108269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priced_advantage_outline_9"/>
              <p:cNvSpPr/>
              <p:nvPr/>
            </p:nvSpPr>
            <p:spPr>
              <a:xfrm>
                <a:off x="4509707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29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3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priced_advantage_outline_10"/>
              <p:cNvSpPr/>
              <p:nvPr/>
            </p:nvSpPr>
            <p:spPr>
              <a:xfrm>
                <a:off x="457449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priced_advantage_outline_11"/>
              <p:cNvSpPr/>
              <p:nvPr/>
            </p:nvSpPr>
            <p:spPr>
              <a:xfrm>
                <a:off x="4656752" y="214604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5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priced_advantage_outline_12"/>
              <p:cNvSpPr/>
              <p:nvPr/>
            </p:nvSpPr>
            <p:spPr>
              <a:xfrm>
                <a:off x="4712069" y="215436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priced_advantage_outline_13"/>
              <p:cNvSpPr/>
              <p:nvPr/>
            </p:nvSpPr>
            <p:spPr>
              <a:xfrm>
                <a:off x="4057038" y="2236621"/>
                <a:ext cx="72305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56" h="254">
                    <a:moveTo>
                      <a:pt x="0" y="0"/>
                    </a:moveTo>
                    <a:lnTo>
                      <a:pt x="723056" y="0"/>
                    </a:lnTo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priced_advantage_outline_14"/>
              <p:cNvSpPr/>
              <p:nvPr/>
            </p:nvSpPr>
            <p:spPr>
              <a:xfrm>
                <a:off x="4221852" y="224973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priced_advantage_outline_15"/>
              <p:cNvSpPr/>
              <p:nvPr/>
            </p:nvSpPr>
            <p:spPr>
              <a:xfrm>
                <a:off x="4268648" y="2266551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priced_advantage_outline_16"/>
              <p:cNvSpPr/>
              <p:nvPr/>
            </p:nvSpPr>
            <p:spPr>
              <a:xfrm>
                <a:off x="4332665" y="224726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priced_advantage_outline_17"/>
              <p:cNvSpPr/>
              <p:nvPr/>
            </p:nvSpPr>
            <p:spPr>
              <a:xfrm>
                <a:off x="4418357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priced_advantage_outline_18"/>
              <p:cNvSpPr/>
              <p:nvPr/>
            </p:nvSpPr>
            <p:spPr>
              <a:xfrm>
                <a:off x="4499092" y="2251918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priced_advantage_outline_19"/>
              <p:cNvSpPr/>
              <p:nvPr/>
            </p:nvSpPr>
            <p:spPr>
              <a:xfrm>
                <a:off x="4565079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214" name="main_arrow0"/>
          <p:cNvSpPr/>
          <p:nvPr/>
        </p:nvSpPr>
        <p:spPr>
          <a:xfrm>
            <a:off x="6731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60789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main_arrow1"/>
          <p:cNvSpPr/>
          <p:nvPr/>
        </p:nvSpPr>
        <p:spPr>
          <a:xfrm>
            <a:off x="14732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60789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main_arrow2"/>
          <p:cNvSpPr/>
          <p:nvPr/>
        </p:nvSpPr>
        <p:spPr>
          <a:xfrm>
            <a:off x="23368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60789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ae_route"/>
          <p:cNvSpPr/>
          <p:nvPr/>
        </p:nvSpPr>
        <p:spPr>
          <a:xfrm>
            <a:off x="635000" y="2070100"/>
            <a:ext cx="2997200" cy="787400"/>
          </a:xfrm>
          <a:custGeom>
            <a:avLst/>
            <a:gdLst/>
            <a:ahLst/>
            <a:cxnLst/>
            <a:rect l="0" t="0" r="r" b="b"/>
            <a:pathLst>
              <a:path w="2997200" h="787400" fill="none">
                <a:moveTo>
                  <a:pt x="0" y="0"/>
                </a:moveTo>
                <a:lnTo>
                  <a:pt x="63500" y="0"/>
                </a:lnTo>
                <a:lnTo>
                  <a:pt x="63500" y="787400"/>
                </a:lnTo>
                <a:lnTo>
                  <a:pt x="2921000" y="787400"/>
                </a:lnTo>
                <a:lnTo>
                  <a:pt x="2921000" y="190500"/>
                </a:lnTo>
                <a:lnTo>
                  <a:pt x="2997200" y="190500"/>
                </a:lnTo>
              </a:path>
            </a:pathLst>
          </a:custGeom>
          <a:noFill/>
          <a:ln w="7620">
            <a:solidFill>
              <a:srgbClr val="76858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ae_label_bg"/>
          <p:cNvSpPr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ae_route_label"/>
          <p:cNvSpPr txBox="1"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6858D"/>
                </a:solidFill>
                <a:latin typeface="Liberation Serif"/>
              </a:rPr>
              <a:t>GAE advantages</a:t>
            </a:r>
          </a:p>
        </p:txBody>
      </p:sp>
      <p:sp>
        <p:nvSpPr>
          <p:cNvPr id="220" name="loop_label"/>
          <p:cNvSpPr txBox="1"/>
          <p:nvPr/>
        </p:nvSpPr>
        <p:spPr>
          <a:xfrm>
            <a:off x="2235200" y="2857500"/>
            <a:ext cx="863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6858D"/>
                </a:solidFill>
                <a:latin typeface="Liberation Serif"/>
              </a:rPr>
              <a:t>next rollout</a:t>
            </a:r>
          </a:p>
        </p:txBody>
      </p:sp>
      <p:sp>
        <p:nvSpPr>
          <p:cNvPr id="221" name="dual_to_update"/>
          <p:cNvSpPr/>
          <p:nvPr/>
        </p:nvSpPr>
        <p:spPr>
          <a:xfrm>
            <a:off x="3467100" y="622300"/>
            <a:ext cx="165100" cy="127"/>
          </a:xfrm>
          <a:custGeom>
            <a:avLst/>
            <a:gdLst/>
            <a:ahLst/>
            <a:cxnLst/>
            <a:rect l="0" t="0" r="r" b="b"/>
            <a:pathLst>
              <a:path w="165100" h="1" fill="none">
                <a:moveTo>
                  <a:pt x="0" y="0"/>
                </a:moveTo>
                <a:lnTo>
                  <a:pt x="165100" y="0"/>
                </a:lnTo>
              </a:path>
            </a:pathLst>
          </a:custGeom>
          <a:noFill/>
          <a:ln w="10795">
            <a:solidFill>
              <a:srgbClr val="3F746B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bserved_feedback"/>
          <p:cNvSpPr/>
          <p:nvPr/>
        </p:nvSpPr>
        <p:spPr>
          <a:xfrm>
            <a:off x="368300" y="1485900"/>
            <a:ext cx="3289300" cy="1231900"/>
          </a:xfrm>
          <a:custGeom>
            <a:avLst/>
            <a:gdLst/>
            <a:ahLst/>
            <a:cxnLst/>
            <a:rect l="0" t="0" r="r" b="b"/>
            <a:pathLst>
              <a:path w="3289300" h="1231900" fill="none">
                <a:moveTo>
                  <a:pt x="0" y="1092200"/>
                </a:moveTo>
                <a:lnTo>
                  <a:pt x="0" y="1231900"/>
                </a:lnTo>
                <a:lnTo>
                  <a:pt x="3200400" y="1231900"/>
                </a:lnTo>
                <a:lnTo>
                  <a:pt x="3200400" y="0"/>
                </a:lnTo>
                <a:lnTo>
                  <a:pt x="3289300" y="0"/>
                </a:lnTo>
              </a:path>
            </a:pathLst>
          </a:custGeom>
          <a:noFill/>
          <a:ln w="8890">
            <a:solidFill>
              <a:srgbClr val="A57957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bserved_label_bg"/>
          <p:cNvSpPr/>
          <p:nvPr/>
        </p:nvSpPr>
        <p:spPr>
          <a:xfrm>
            <a:off x="723900" y="2654300"/>
            <a:ext cx="13462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bserved_route"/>
          <p:cNvSpPr txBox="1"/>
          <p:nvPr/>
        </p:nvSpPr>
        <p:spPr>
          <a:xfrm>
            <a:off x="723900" y="2654300"/>
            <a:ext cx="133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57957"/>
                </a:solidFill>
                <a:latin typeface="Liberation Serif"/>
              </a:rPr>
              <a:t>observed episode costs</a:t>
            </a:r>
          </a:p>
        </p:txBody>
      </p:sp>
      <p:sp>
        <p:nvSpPr>
          <p:cNvPr id="225" name="next_rollout"/>
          <p:cNvSpPr/>
          <p:nvPr/>
        </p:nvSpPr>
        <p:spPr>
          <a:xfrm>
            <a:off x="12700" y="850900"/>
            <a:ext cx="5003800" cy="2133600"/>
          </a:xfrm>
          <a:custGeom>
            <a:avLst/>
            <a:gdLst/>
            <a:ahLst/>
            <a:cxnLst/>
            <a:rect l="0" t="0" r="r" b="b"/>
            <a:pathLst>
              <a:path w="5003800" h="2133600" fill="none">
                <a:moveTo>
                  <a:pt x="4927600" y="1676400"/>
                </a:moveTo>
                <a:lnTo>
                  <a:pt x="5003800" y="1676400"/>
                </a:lnTo>
                <a:lnTo>
                  <a:pt x="5003800" y="2133600"/>
                </a:lnTo>
                <a:lnTo>
                  <a:pt x="0" y="2133600"/>
                </a:lnTo>
                <a:lnTo>
                  <a:pt x="0" y="0"/>
                </a:lnTo>
                <a:lnTo>
                  <a:pt x="139700" y="0"/>
                </a:lnTo>
              </a:path>
            </a:pathLst>
          </a:custGeom>
          <a:noFill/>
          <a:ln w="5715">
            <a:solidFill>
              <a:srgbClr val="A9B3B8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