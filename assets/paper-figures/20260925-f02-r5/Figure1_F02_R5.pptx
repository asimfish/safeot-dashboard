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508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0955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1811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6256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constraint: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Prices before violations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3848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Fstar_legend"/>
          <p:cNvGrpSpPr/>
          <p:nvPr/>
        </p:nvGrpSpPr>
        <p:grpSpPr>
          <a:xfrm>
            <a:off x="1818376" y="402914"/>
            <a:ext cx="158655" cy="107587"/>
            <a:chOff x="1894576" y="402914"/>
            <a:chExt cx="158655" cy="107587"/>
          </a:xfrm>
        </p:grpSpPr>
        <p:sp>
          <p:nvSpPr>
            <p:cNvPr id="516" name="Fstar_legend_outline_0"/>
            <p:cNvSpPr/>
            <p:nvPr/>
          </p:nvSpPr>
          <p:spPr>
            <a:xfrm>
              <a:off x="1894576" y="41962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Fstar_legend_outline_1"/>
            <p:cNvSpPr/>
            <p:nvPr/>
          </p:nvSpPr>
          <p:spPr>
            <a:xfrm>
              <a:off x="1988382" y="40291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3" name="raw_dual"/>
          <p:cNvGrpSpPr/>
          <p:nvPr/>
        </p:nvGrpSpPr>
        <p:grpSpPr>
          <a:xfrm>
            <a:off x="2193395" y="1526140"/>
            <a:ext cx="140487" cy="160190"/>
            <a:chOff x="2193395" y="1526140"/>
            <a:chExt cx="140487" cy="160190"/>
          </a:xfrm>
        </p:grpSpPr>
        <p:sp>
          <p:nvSpPr>
            <p:cNvPr id="518" name="raw_dual_outline_0"/>
            <p:cNvSpPr/>
            <p:nvPr/>
          </p:nvSpPr>
          <p:spPr>
            <a:xfrm>
              <a:off x="2193395" y="15425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aw_dual_outline_1"/>
            <p:cNvSpPr/>
            <p:nvPr/>
          </p:nvSpPr>
          <p:spPr>
            <a:xfrm>
              <a:off x="2269033" y="1526140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aw_dual_outline_2"/>
            <p:cNvSpPr/>
            <p:nvPr/>
          </p:nvSpPr>
          <p:spPr>
            <a:xfrm>
              <a:off x="2275429" y="16143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filter_chain"/>
          <p:cNvGrpSpPr/>
          <p:nvPr/>
        </p:nvGrpSpPr>
        <p:grpSpPr>
          <a:xfrm>
            <a:off x="2003006" y="1768951"/>
            <a:ext cx="1006605" cy="158164"/>
            <a:chOff x="2003006" y="1768951"/>
            <a:chExt cx="1006605" cy="158164"/>
          </a:xfrm>
        </p:grpSpPr>
        <p:sp>
          <p:nvSpPr>
            <p:cNvPr id="521" name="filter_chain_outline_0"/>
            <p:cNvSpPr/>
            <p:nvPr/>
          </p:nvSpPr>
          <p:spPr>
            <a:xfrm>
              <a:off x="2003006" y="178635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4"/>
                    <a:pt x="41239" y="46554"/>
                  </a:cubicBezTo>
                  <a:cubicBezTo>
                    <a:pt x="44529" y="46554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6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7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9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10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10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5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8"/>
                  </a:lnTo>
                  <a:cubicBezTo>
                    <a:pt x="145121" y="111451"/>
                    <a:pt x="143474" y="110061"/>
                    <a:pt x="143474" y="102092"/>
                  </a:cubicBezTo>
                  <a:lnTo>
                    <a:pt x="143474" y="82229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ilter_chain_outline_1"/>
            <p:cNvSpPr/>
            <p:nvPr/>
          </p:nvSpPr>
          <p:spPr>
            <a:xfrm>
              <a:off x="2226290" y="1810519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ilter_chain_outline_2"/>
            <p:cNvSpPr/>
            <p:nvPr/>
          </p:nvSpPr>
          <p:spPr>
            <a:xfrm>
              <a:off x="2325720" y="1787496"/>
              <a:ext cx="277580" cy="85264"/>
            </a:xfrm>
            <a:custGeom>
              <a:avLst/>
              <a:gdLst/>
              <a:ahLst/>
              <a:cxnLst/>
              <a:rect l="0" t="0" r="r" b="b"/>
              <a:pathLst>
                <a:path w="277580" h="85265">
                  <a:moveTo>
                    <a:pt x="74005" y="63885"/>
                  </a:moveTo>
                  <a:lnTo>
                    <a:pt x="70461" y="63885"/>
                  </a:lnTo>
                  <a:cubicBezTo>
                    <a:pt x="64139" y="77549"/>
                    <a:pt x="58698" y="80585"/>
                    <a:pt x="40608" y="80585"/>
                  </a:cubicBezTo>
                  <a:lnTo>
                    <a:pt x="37191" y="80585"/>
                  </a:lnTo>
                  <a:cubicBezTo>
                    <a:pt x="31119" y="80585"/>
                    <a:pt x="26059" y="80077"/>
                    <a:pt x="24920" y="79192"/>
                  </a:cubicBezTo>
                  <a:cubicBezTo>
                    <a:pt x="24162" y="78684"/>
                    <a:pt x="23908" y="77549"/>
                    <a:pt x="23908" y="75144"/>
                  </a:cubicBezTo>
                  <a:lnTo>
                    <a:pt x="23908" y="43898"/>
                  </a:lnTo>
                  <a:lnTo>
                    <a:pt x="43391" y="43898"/>
                  </a:lnTo>
                  <a:cubicBezTo>
                    <a:pt x="53764" y="43898"/>
                    <a:pt x="55662" y="45541"/>
                    <a:pt x="57305" y="56043"/>
                  </a:cubicBezTo>
                  <a:lnTo>
                    <a:pt x="60215" y="56043"/>
                  </a:lnTo>
                  <a:lnTo>
                    <a:pt x="60215" y="26690"/>
                  </a:lnTo>
                  <a:lnTo>
                    <a:pt x="57305" y="26690"/>
                  </a:lnTo>
                  <a:cubicBezTo>
                    <a:pt x="55662" y="37064"/>
                    <a:pt x="53637" y="38711"/>
                    <a:pt x="43391" y="38711"/>
                  </a:cubicBezTo>
                  <a:lnTo>
                    <a:pt x="23908" y="38711"/>
                  </a:lnTo>
                  <a:lnTo>
                    <a:pt x="23908" y="10624"/>
                  </a:lnTo>
                  <a:cubicBezTo>
                    <a:pt x="23908" y="7084"/>
                    <a:pt x="24666" y="6322"/>
                    <a:pt x="28084" y="6322"/>
                  </a:cubicBezTo>
                  <a:lnTo>
                    <a:pt x="45160" y="6322"/>
                  </a:lnTo>
                  <a:cubicBezTo>
                    <a:pt x="59456" y="6322"/>
                    <a:pt x="62238" y="8223"/>
                    <a:pt x="64389" y="19606"/>
                  </a:cubicBezTo>
                  <a:lnTo>
                    <a:pt x="67553" y="19606"/>
                  </a:lnTo>
                  <a:lnTo>
                    <a:pt x="67175" y="1516"/>
                  </a:lnTo>
                  <a:lnTo>
                    <a:pt x="0" y="1516"/>
                  </a:lnTo>
                  <a:lnTo>
                    <a:pt x="0" y="3921"/>
                  </a:lnTo>
                  <a:cubicBezTo>
                    <a:pt x="9359" y="4679"/>
                    <a:pt x="11006" y="6322"/>
                    <a:pt x="11006" y="15307"/>
                  </a:cubicBezTo>
                  <a:lnTo>
                    <a:pt x="11006" y="71477"/>
                  </a:lnTo>
                  <a:cubicBezTo>
                    <a:pt x="11006" y="80458"/>
                    <a:pt x="9232" y="82229"/>
                    <a:pt x="0" y="82860"/>
                  </a:cubicBezTo>
                  <a:lnTo>
                    <a:pt x="0" y="85265"/>
                  </a:lnTo>
                  <a:lnTo>
                    <a:pt x="68311" y="85265"/>
                  </a:lnTo>
                  <a:lnTo>
                    <a:pt x="74005" y="63885"/>
                  </a:lnTo>
                  <a:close/>
                  <a:moveTo>
                    <a:pt x="184963" y="85265"/>
                  </a:moveTo>
                  <a:lnTo>
                    <a:pt x="184963" y="82860"/>
                  </a:lnTo>
                  <a:cubicBezTo>
                    <a:pt x="175727" y="82229"/>
                    <a:pt x="173957" y="80458"/>
                    <a:pt x="173957" y="71477"/>
                  </a:cubicBezTo>
                  <a:lnTo>
                    <a:pt x="173957" y="15307"/>
                  </a:lnTo>
                  <a:cubicBezTo>
                    <a:pt x="173957" y="6322"/>
                    <a:pt x="175600" y="4679"/>
                    <a:pt x="184963" y="3921"/>
                  </a:cubicBezTo>
                  <a:lnTo>
                    <a:pt x="184963" y="1516"/>
                  </a:lnTo>
                  <a:lnTo>
                    <a:pt x="159789" y="1516"/>
                  </a:lnTo>
                  <a:lnTo>
                    <a:pt x="131829" y="65401"/>
                  </a:lnTo>
                  <a:lnTo>
                    <a:pt x="102607" y="1516"/>
                  </a:lnTo>
                  <a:lnTo>
                    <a:pt x="77556" y="1516"/>
                  </a:lnTo>
                  <a:lnTo>
                    <a:pt x="77556" y="3921"/>
                  </a:lnTo>
                  <a:cubicBezTo>
                    <a:pt x="87931" y="4552"/>
                    <a:pt x="89574" y="6072"/>
                    <a:pt x="89574" y="15307"/>
                  </a:cubicBezTo>
                  <a:lnTo>
                    <a:pt x="89574" y="66667"/>
                  </a:lnTo>
                  <a:cubicBezTo>
                    <a:pt x="89574" y="79696"/>
                    <a:pt x="87804" y="82102"/>
                    <a:pt x="77306" y="82860"/>
                  </a:cubicBezTo>
                  <a:lnTo>
                    <a:pt x="77306" y="85265"/>
                  </a:lnTo>
                  <a:lnTo>
                    <a:pt x="107032" y="85265"/>
                  </a:lnTo>
                  <a:lnTo>
                    <a:pt x="107032" y="82860"/>
                  </a:lnTo>
                  <a:cubicBezTo>
                    <a:pt x="97293" y="82356"/>
                    <a:pt x="95142" y="79446"/>
                    <a:pt x="95142" y="66667"/>
                  </a:cubicBezTo>
                  <a:lnTo>
                    <a:pt x="95142" y="15684"/>
                  </a:lnTo>
                  <a:lnTo>
                    <a:pt x="126896" y="85265"/>
                  </a:lnTo>
                  <a:lnTo>
                    <a:pt x="128666" y="85265"/>
                  </a:lnTo>
                  <a:lnTo>
                    <a:pt x="161051" y="12775"/>
                  </a:lnTo>
                  <a:lnTo>
                    <a:pt x="161051" y="70084"/>
                  </a:lnTo>
                  <a:cubicBezTo>
                    <a:pt x="161051" y="80585"/>
                    <a:pt x="159535" y="82229"/>
                    <a:pt x="149541" y="82860"/>
                  </a:cubicBezTo>
                  <a:lnTo>
                    <a:pt x="149541" y="85265"/>
                  </a:lnTo>
                  <a:lnTo>
                    <a:pt x="184963" y="85265"/>
                  </a:lnTo>
                  <a:close/>
                  <a:moveTo>
                    <a:pt x="277580" y="85265"/>
                  </a:moveTo>
                  <a:lnTo>
                    <a:pt x="277580" y="82860"/>
                  </a:lnTo>
                  <a:cubicBezTo>
                    <a:pt x="271888" y="82483"/>
                    <a:pt x="270622" y="81216"/>
                    <a:pt x="266197" y="71854"/>
                  </a:cubicBezTo>
                  <a:lnTo>
                    <a:pt x="234693" y="0"/>
                  </a:lnTo>
                  <a:lnTo>
                    <a:pt x="232165" y="0"/>
                  </a:lnTo>
                  <a:lnTo>
                    <a:pt x="205852" y="62115"/>
                  </a:lnTo>
                  <a:cubicBezTo>
                    <a:pt x="197756" y="80585"/>
                    <a:pt x="196237" y="82483"/>
                    <a:pt x="190163" y="82860"/>
                  </a:cubicBezTo>
                  <a:lnTo>
                    <a:pt x="190163" y="85265"/>
                  </a:lnTo>
                  <a:lnTo>
                    <a:pt x="215214" y="85265"/>
                  </a:lnTo>
                  <a:lnTo>
                    <a:pt x="215214" y="82860"/>
                  </a:lnTo>
                  <a:cubicBezTo>
                    <a:pt x="209142" y="82860"/>
                    <a:pt x="206610" y="81216"/>
                    <a:pt x="206610" y="77672"/>
                  </a:cubicBezTo>
                  <a:cubicBezTo>
                    <a:pt x="206610" y="76156"/>
                    <a:pt x="206991" y="74386"/>
                    <a:pt x="207622" y="72739"/>
                  </a:cubicBezTo>
                  <a:lnTo>
                    <a:pt x="213440" y="57940"/>
                  </a:lnTo>
                  <a:lnTo>
                    <a:pt x="246587" y="57940"/>
                  </a:lnTo>
                  <a:lnTo>
                    <a:pt x="251775" y="70084"/>
                  </a:lnTo>
                  <a:cubicBezTo>
                    <a:pt x="253291" y="73624"/>
                    <a:pt x="254175" y="76787"/>
                    <a:pt x="254175" y="78684"/>
                  </a:cubicBezTo>
                  <a:cubicBezTo>
                    <a:pt x="254175" y="79823"/>
                    <a:pt x="253418" y="81216"/>
                    <a:pt x="252406" y="81721"/>
                  </a:cubicBezTo>
                  <a:cubicBezTo>
                    <a:pt x="250890" y="82610"/>
                    <a:pt x="249878" y="82860"/>
                    <a:pt x="245322" y="82860"/>
                  </a:cubicBezTo>
                  <a:lnTo>
                    <a:pt x="245322" y="85265"/>
                  </a:lnTo>
                  <a:lnTo>
                    <a:pt x="277580" y="85265"/>
                  </a:lnTo>
                  <a:close/>
                  <a:moveTo>
                    <a:pt x="244818" y="52753"/>
                  </a:moveTo>
                  <a:lnTo>
                    <a:pt x="215591" y="52753"/>
                  </a:lnTo>
                  <a:lnTo>
                    <a:pt x="230141" y="17962"/>
                  </a:lnTo>
                  <a:lnTo>
                    <a:pt x="244818" y="52753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ilter_chain_outline_3"/>
            <p:cNvSpPr/>
            <p:nvPr/>
          </p:nvSpPr>
          <p:spPr>
            <a:xfrm>
              <a:off x="2683528" y="181431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ilter_chain_outline_4"/>
            <p:cNvSpPr/>
            <p:nvPr/>
          </p:nvSpPr>
          <p:spPr>
            <a:xfrm>
              <a:off x="2898288" y="17689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ilter_chain_outline_5"/>
            <p:cNvSpPr/>
            <p:nvPr/>
          </p:nvSpPr>
          <p:spPr>
            <a:xfrm>
              <a:off x="2875920" y="178989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ilter_chain_outline_6"/>
            <p:cNvSpPr/>
            <p:nvPr/>
          </p:nvSpPr>
          <p:spPr>
            <a:xfrm>
              <a:off x="2944762" y="176975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ilter_chain_outline_7"/>
            <p:cNvSpPr/>
            <p:nvPr/>
          </p:nvSpPr>
          <p:spPr>
            <a:xfrm>
              <a:off x="2951081" y="185510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price_sum"/>
          <p:cNvGrpSpPr/>
          <p:nvPr/>
        </p:nvGrpSpPr>
        <p:grpSpPr>
          <a:xfrm>
            <a:off x="1952845" y="2101190"/>
            <a:ext cx="744593" cy="166787"/>
            <a:chOff x="1952845" y="2101190"/>
            <a:chExt cx="744593" cy="166787"/>
          </a:xfrm>
        </p:grpSpPr>
        <p:sp>
          <p:nvSpPr>
            <p:cNvPr id="529" name="price_sum_outline_0"/>
            <p:cNvSpPr/>
            <p:nvPr/>
          </p:nvSpPr>
          <p:spPr>
            <a:xfrm>
              <a:off x="1952845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price_sum_outline_1"/>
            <p:cNvSpPr/>
            <p:nvPr/>
          </p:nvSpPr>
          <p:spPr>
            <a:xfrm>
              <a:off x="2034878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price_sum_outline_2"/>
            <p:cNvSpPr/>
            <p:nvPr/>
          </p:nvSpPr>
          <p:spPr>
            <a:xfrm>
              <a:off x="2143853" y="2161658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4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4"/>
                  </a:lnTo>
                  <a:lnTo>
                    <a:pt x="71251" y="7794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price_sum_outline_3"/>
            <p:cNvSpPr/>
            <p:nvPr/>
          </p:nvSpPr>
          <p:spPr>
            <a:xfrm>
              <a:off x="2287417" y="2101190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price_sum_outline_4"/>
            <p:cNvSpPr/>
            <p:nvPr/>
          </p:nvSpPr>
          <p:spPr>
            <a:xfrm>
              <a:off x="2262813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2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price_sum_outline_5"/>
            <p:cNvSpPr/>
            <p:nvPr/>
          </p:nvSpPr>
          <p:spPr>
            <a:xfrm>
              <a:off x="2338451" y="2107787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price_sum_outline_6"/>
            <p:cNvSpPr/>
            <p:nvPr/>
          </p:nvSpPr>
          <p:spPr>
            <a:xfrm>
              <a:off x="2344859" y="219596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price_sum_outline_7"/>
            <p:cNvSpPr/>
            <p:nvPr/>
          </p:nvSpPr>
          <p:spPr>
            <a:xfrm>
              <a:off x="2449910" y="2143846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price_sum_outline_8"/>
            <p:cNvSpPr/>
            <p:nvPr/>
          </p:nvSpPr>
          <p:spPr>
            <a:xfrm>
              <a:off x="2554886" y="2124225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6">
                  <a:moveTo>
                    <a:pt x="83776" y="16002"/>
                  </a:moveTo>
                  <a:cubicBezTo>
                    <a:pt x="83776" y="5009"/>
                    <a:pt x="74866" y="0"/>
                    <a:pt x="63317" y="0"/>
                  </a:cubicBezTo>
                  <a:cubicBezTo>
                    <a:pt x="48566" y="0"/>
                    <a:pt x="34234" y="9878"/>
                    <a:pt x="30337" y="23936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6"/>
                  </a:cubicBezTo>
                  <a:lnTo>
                    <a:pt x="12382" y="119956"/>
                  </a:lnTo>
                  <a:cubicBezTo>
                    <a:pt x="12525" y="119956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8"/>
                    <a:pt x="28805" y="93516"/>
                    <a:pt x="42862" y="93516"/>
                  </a:cubicBezTo>
                  <a:cubicBezTo>
                    <a:pt x="63734" y="93516"/>
                    <a:pt x="77791" y="77930"/>
                    <a:pt x="77791" y="61924"/>
                  </a:cubicBezTo>
                  <a:cubicBezTo>
                    <a:pt x="77791" y="44530"/>
                    <a:pt x="62063" y="41886"/>
                    <a:pt x="61924" y="41886"/>
                  </a:cubicBezTo>
                  <a:lnTo>
                    <a:pt x="61924" y="41331"/>
                  </a:lnTo>
                  <a:cubicBezTo>
                    <a:pt x="62063" y="41331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1" y="40497"/>
                    <a:pt x="44251" y="43001"/>
                  </a:cubicBezTo>
                  <a:cubicBezTo>
                    <a:pt x="44251" y="44530"/>
                    <a:pt x="45367" y="45783"/>
                    <a:pt x="47871" y="45783"/>
                  </a:cubicBezTo>
                  <a:cubicBezTo>
                    <a:pt x="51768" y="45783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7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5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price_sum_outline_9"/>
            <p:cNvSpPr/>
            <p:nvPr/>
          </p:nvSpPr>
          <p:spPr>
            <a:xfrm>
              <a:off x="2646801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39" name="upper_cost_label"/>
          <p:cNvSpPr txBox="1"/>
          <p:nvPr/>
        </p:nvSpPr>
        <p:spPr>
          <a:xfrm>
            <a:off x="2247900" y="368300"/>
            <a:ext cx="457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540" name="upper_cost_tick_0"/>
          <p:cNvCxnSpPr/>
          <p:nvPr/>
        </p:nvCxnSpPr>
        <p:spPr>
          <a:xfrm>
            <a:off x="2476500" y="501650"/>
            <a:ext cx="0" cy="7620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