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redraw of selected F02. Original raster preserved separately. Module layout retained; mentor 14:25Z corrections applied. No experiment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enalty" descr="Editable shape; source id penalty"/>
          <p:cNvSpPr/>
          <p:nvPr/>
        </p:nvSpPr>
        <p:spPr>
          <a:xfrm>
            <a:off x="38100" y="38100"/>
            <a:ext cx="1054100" cy="18288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enalty_title" descr="Editable text; source id penalty_title"/>
          <p:cNvSpPr txBox="1"/>
          <p:nvPr/>
        </p:nvSpPr>
        <p:spPr>
          <a:xfrm>
            <a:off x="1016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" name="leak" descr="Editable text; source id leak"/>
          <p:cNvSpPr txBox="1"/>
          <p:nvPr/>
        </p:nvSpPr>
        <p:spPr>
          <a:xfrm>
            <a:off x="114300" y="279400"/>
            <a:ext cx="8890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AD3C3C"/>
                </a:solidFill>
                <a:latin typeface="Liberation Serif"/>
                <a:ea typeface="Liberation Serif"/>
                <a:cs typeface="Liberation Serif"/>
              </a:rPr>
              <a:t>Budget leakage</a:t>
            </a:r>
          </a:p>
        </p:txBody>
      </p:sp>
      <p:sp>
        <p:nvSpPr>
          <p:cNvPr id="5" name="p_x" descr="Editable line; source id p_x"/>
          <p:cNvSpPr/>
          <p:nvPr/>
        </p:nvSpPr>
        <p:spPr>
          <a:xfrm>
            <a:off x="177800" y="1557020"/>
            <a:ext cx="812800" cy="35560"/>
          </a:xfrm>
          <a:custGeom>
            <a:avLst/>
            <a:gdLst/>
            <a:ahLst/>
            <a:cxnLst/>
            <a:rect l="l" t="t" r="r" b="b"/>
            <a:pathLst>
              <a:path w="320000" h="14000">
                <a:moveTo>
                  <a:pt x="0" y="5250"/>
                </a:moveTo>
                <a:lnTo>
                  <a:pt x="302500" y="5250"/>
                </a:lnTo>
                <a:lnTo>
                  <a:pt x="302500" y="0"/>
                </a:lnTo>
                <a:lnTo>
                  <a:pt x="320000" y="7000"/>
                </a:lnTo>
                <a:lnTo>
                  <a:pt x="302500" y="14000"/>
                </a:lnTo>
                <a:lnTo>
                  <a:pt x="30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_y" descr="Editable line; source id p_y"/>
          <p:cNvSpPr/>
          <p:nvPr/>
        </p:nvSpPr>
        <p:spPr>
          <a:xfrm>
            <a:off x="1600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p_B" descr="Editable line; source id p_B"/>
          <p:cNvCxnSpPr/>
          <p:nvPr/>
        </p:nvCxnSpPr>
        <p:spPr>
          <a:xfrm>
            <a:off x="190500" y="1079500"/>
            <a:ext cx="7874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_budget" descr="Editable text; source id p_budget"/>
          <p:cNvSpPr txBox="1"/>
          <p:nvPr/>
        </p:nvSpPr>
        <p:spPr>
          <a:xfrm>
            <a:off x="76200" y="10160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9" name="cost_penalty_0" descr="Editable line; source id cost_penalty_0"/>
          <p:cNvCxnSpPr/>
          <p:nvPr/>
        </p:nvCxnSpPr>
        <p:spPr>
          <a:xfrm>
            <a:off x="203200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st_penalty_1" descr="Editable line; source id cost_penalty_1"/>
          <p:cNvCxnSpPr/>
          <p:nvPr/>
        </p:nvCxnSpPr>
        <p:spPr>
          <a:xfrm>
            <a:off x="209328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st_penalty_2" descr="Editable line; source id cost_penalty_2"/>
          <p:cNvCxnSpPr/>
          <p:nvPr/>
        </p:nvCxnSpPr>
        <p:spPr>
          <a:xfrm>
            <a:off x="215457" y="107634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st_penalty_3" descr="Editable line; source id cost_penalty_3"/>
          <p:cNvCxnSpPr/>
          <p:nvPr/>
        </p:nvCxnSpPr>
        <p:spPr>
          <a:xfrm>
            <a:off x="221586" y="1076345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st_penalty_4" descr="Editable line; source id cost_penalty_4"/>
          <p:cNvCxnSpPr/>
          <p:nvPr/>
        </p:nvCxnSpPr>
        <p:spPr>
          <a:xfrm flipV="1">
            <a:off x="227714" y="107319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st_penalty_5" descr="Editable line; source id cost_penalty_5"/>
          <p:cNvCxnSpPr/>
          <p:nvPr/>
        </p:nvCxnSpPr>
        <p:spPr>
          <a:xfrm>
            <a:off x="233843" y="107319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st_penalty_6" descr="Editable line; source id cost_penalty_6"/>
          <p:cNvCxnSpPr/>
          <p:nvPr/>
        </p:nvCxnSpPr>
        <p:spPr>
          <a:xfrm flipV="1">
            <a:off x="239972" y="107003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st_penalty_7" descr="Editable line; source id cost_penalty_7"/>
          <p:cNvCxnSpPr/>
          <p:nvPr/>
        </p:nvCxnSpPr>
        <p:spPr>
          <a:xfrm flipV="1">
            <a:off x="246100" y="106688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st_penalty_8" descr="Editable line; source id cost_penalty_8"/>
          <p:cNvCxnSpPr/>
          <p:nvPr/>
        </p:nvCxnSpPr>
        <p:spPr>
          <a:xfrm flipV="1">
            <a:off x="252229" y="1063726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st_penalty_9" descr="Editable line; source id cost_penalty_9"/>
          <p:cNvCxnSpPr/>
          <p:nvPr/>
        </p:nvCxnSpPr>
        <p:spPr>
          <a:xfrm flipV="1">
            <a:off x="258358" y="105741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st_penalty_10" descr="Editable line; source id cost_penalty_10"/>
          <p:cNvCxnSpPr/>
          <p:nvPr/>
        </p:nvCxnSpPr>
        <p:spPr>
          <a:xfrm flipV="1">
            <a:off x="264486" y="105426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st_penalty_11" descr="Editable line; source id cost_penalty_11"/>
          <p:cNvCxnSpPr/>
          <p:nvPr/>
        </p:nvCxnSpPr>
        <p:spPr>
          <a:xfrm flipV="1">
            <a:off x="270615" y="105110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st_penalty_12" descr="Editable line; source id cost_penalty_12"/>
          <p:cNvCxnSpPr/>
          <p:nvPr/>
        </p:nvCxnSpPr>
        <p:spPr>
          <a:xfrm flipV="1">
            <a:off x="276744" y="1044797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st_penalty_13" descr="Editable line; source id cost_penalty_13"/>
          <p:cNvCxnSpPr/>
          <p:nvPr/>
        </p:nvCxnSpPr>
        <p:spPr>
          <a:xfrm>
            <a:off x="282872" y="104479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st_penalty_14" descr="Editable line; source id cost_penalty_14"/>
          <p:cNvCxnSpPr/>
          <p:nvPr/>
        </p:nvCxnSpPr>
        <p:spPr>
          <a:xfrm flipV="1">
            <a:off x="289001" y="104164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st_penalty_15" descr="Editable line; source id cost_penalty_15"/>
          <p:cNvCxnSpPr/>
          <p:nvPr/>
        </p:nvCxnSpPr>
        <p:spPr>
          <a:xfrm flipV="1">
            <a:off x="295130" y="1038487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st_penalty_16" descr="Editable line; source id cost_penalty_16"/>
          <p:cNvCxnSpPr/>
          <p:nvPr/>
        </p:nvCxnSpPr>
        <p:spPr>
          <a:xfrm flipV="1">
            <a:off x="301258" y="1035333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st_penalty_17" descr="Editable line; source id cost_penalty_17"/>
          <p:cNvCxnSpPr/>
          <p:nvPr/>
        </p:nvCxnSpPr>
        <p:spPr>
          <a:xfrm flipV="1">
            <a:off x="307387" y="103217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st_penalty_18" descr="Editable line; source id cost_penalty_18"/>
          <p:cNvCxnSpPr/>
          <p:nvPr/>
        </p:nvCxnSpPr>
        <p:spPr>
          <a:xfrm flipV="1">
            <a:off x="313516" y="102586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st_penalty_19" descr="Editable line; source id cost_penalty_19"/>
          <p:cNvCxnSpPr/>
          <p:nvPr/>
        </p:nvCxnSpPr>
        <p:spPr>
          <a:xfrm flipV="1">
            <a:off x="319645" y="1022714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st_penalty_20" descr="Editable line; source id cost_penalty_20"/>
          <p:cNvCxnSpPr/>
          <p:nvPr/>
        </p:nvCxnSpPr>
        <p:spPr>
          <a:xfrm flipV="1">
            <a:off x="325773" y="1016404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st_penalty_21" descr="Editable line; source id cost_penalty_21"/>
          <p:cNvCxnSpPr/>
          <p:nvPr/>
        </p:nvCxnSpPr>
        <p:spPr>
          <a:xfrm flipV="1">
            <a:off x="331902" y="101324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st_penalty_22" descr="Editable line; source id cost_penalty_22"/>
          <p:cNvCxnSpPr/>
          <p:nvPr/>
        </p:nvCxnSpPr>
        <p:spPr>
          <a:xfrm flipV="1">
            <a:off x="338031" y="10100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st_penalty_23" descr="Editable line; source id cost_penalty_23"/>
          <p:cNvCxnSpPr/>
          <p:nvPr/>
        </p:nvCxnSpPr>
        <p:spPr>
          <a:xfrm flipV="1">
            <a:off x="344159" y="1006940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st_penalty_24" descr="Editable line; source id cost_penalty_24"/>
          <p:cNvCxnSpPr/>
          <p:nvPr/>
        </p:nvCxnSpPr>
        <p:spPr>
          <a:xfrm>
            <a:off x="350288" y="1006940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st_penalty_25" descr="Editable line; source id cost_penalty_25"/>
          <p:cNvCxnSpPr/>
          <p:nvPr/>
        </p:nvCxnSpPr>
        <p:spPr>
          <a:xfrm flipV="1">
            <a:off x="356417" y="100378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st_penalty_26" descr="Editable line; source id cost_penalty_26"/>
          <p:cNvCxnSpPr/>
          <p:nvPr/>
        </p:nvCxnSpPr>
        <p:spPr>
          <a:xfrm>
            <a:off x="362545" y="1003785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st_penalty_27" descr="Editable line; source id cost_penalty_27"/>
          <p:cNvCxnSpPr/>
          <p:nvPr/>
        </p:nvCxnSpPr>
        <p:spPr>
          <a:xfrm flipV="1">
            <a:off x="368674" y="100063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st_penalty_28" descr="Editable line; source id cost_penalty_28"/>
          <p:cNvCxnSpPr/>
          <p:nvPr/>
        </p:nvCxnSpPr>
        <p:spPr>
          <a:xfrm flipV="1">
            <a:off x="374803" y="99747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st_penalty_29" descr="Editable line; source id cost_penalty_29"/>
          <p:cNvCxnSpPr/>
          <p:nvPr/>
        </p:nvCxnSpPr>
        <p:spPr>
          <a:xfrm flipV="1">
            <a:off x="380931" y="99432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st_penalty_30" descr="Editable line; source id cost_penalty_30"/>
          <p:cNvCxnSpPr/>
          <p:nvPr/>
        </p:nvCxnSpPr>
        <p:spPr>
          <a:xfrm flipV="1">
            <a:off x="387060" y="98801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st_penalty_31" descr="Editable line; source id cost_penalty_31"/>
          <p:cNvCxnSpPr/>
          <p:nvPr/>
        </p:nvCxnSpPr>
        <p:spPr>
          <a:xfrm flipV="1">
            <a:off x="393189" y="984856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st_penalty_32" descr="Editable line; source id cost_penalty_32"/>
          <p:cNvCxnSpPr/>
          <p:nvPr/>
        </p:nvCxnSpPr>
        <p:spPr>
          <a:xfrm flipV="1">
            <a:off x="399317" y="97854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st_penalty_33" descr="Editable line; source id cost_penalty_33"/>
          <p:cNvCxnSpPr/>
          <p:nvPr/>
        </p:nvCxnSpPr>
        <p:spPr>
          <a:xfrm flipV="1">
            <a:off x="405446" y="975392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st_penalty_34" descr="Editable line; source id cost_penalty_34"/>
          <p:cNvCxnSpPr/>
          <p:nvPr/>
        </p:nvCxnSpPr>
        <p:spPr>
          <a:xfrm flipV="1">
            <a:off x="411575" y="969082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st_penalty_35" descr="Editable line; source id cost_penalty_35"/>
          <p:cNvCxnSpPr/>
          <p:nvPr/>
        </p:nvCxnSpPr>
        <p:spPr>
          <a:xfrm flipV="1">
            <a:off x="417704" y="965928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st_penalty_36" descr="Editable line; source id cost_penalty_36"/>
          <p:cNvCxnSpPr/>
          <p:nvPr/>
        </p:nvCxnSpPr>
        <p:spPr>
          <a:xfrm flipV="1">
            <a:off x="423832" y="96277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st_penalty_37" descr="Editable line; source id cost_penalty_37"/>
          <p:cNvCxnSpPr/>
          <p:nvPr/>
        </p:nvCxnSpPr>
        <p:spPr>
          <a:xfrm flipV="1">
            <a:off x="429961" y="95961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st_penalty_38" descr="Editable line; source id cost_penalty_38"/>
          <p:cNvCxnSpPr/>
          <p:nvPr/>
        </p:nvCxnSpPr>
        <p:spPr>
          <a:xfrm flipV="1">
            <a:off x="436090" y="956463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st_penalty_39" descr="Editable line; source id cost_penalty_39"/>
          <p:cNvCxnSpPr/>
          <p:nvPr/>
        </p:nvCxnSpPr>
        <p:spPr>
          <a:xfrm>
            <a:off x="442218" y="956463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st_penalty_40" descr="Editable line; source id cost_penalty_40"/>
          <p:cNvCxnSpPr/>
          <p:nvPr/>
        </p:nvCxnSpPr>
        <p:spPr>
          <a:xfrm flipV="1">
            <a:off x="448347" y="95330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st_penalty_41" descr="Editable line; source id cost_penalty_41"/>
          <p:cNvCxnSpPr/>
          <p:nvPr/>
        </p:nvCxnSpPr>
        <p:spPr>
          <a:xfrm>
            <a:off x="454476" y="953308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st_penalty_42" descr="Editable line; source id cost_penalty_42"/>
          <p:cNvCxnSpPr/>
          <p:nvPr/>
        </p:nvCxnSpPr>
        <p:spPr>
          <a:xfrm>
            <a:off x="460604" y="95330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st_penalty_43" descr="Editable line; source id cost_penalty_43"/>
          <p:cNvCxnSpPr/>
          <p:nvPr/>
        </p:nvCxnSpPr>
        <p:spPr>
          <a:xfrm flipV="1">
            <a:off x="466733" y="950154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st_penalty_44" descr="Editable line; source id cost_penalty_44"/>
          <p:cNvCxnSpPr/>
          <p:nvPr/>
        </p:nvCxnSpPr>
        <p:spPr>
          <a:xfrm flipV="1">
            <a:off x="472862" y="946999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st_penalty_45" descr="Editable line; source id cost_penalty_45"/>
          <p:cNvCxnSpPr/>
          <p:nvPr/>
        </p:nvCxnSpPr>
        <p:spPr>
          <a:xfrm flipV="1">
            <a:off x="478990" y="94384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st_penalty_46" descr="Editable line; source id cost_penalty_46"/>
          <p:cNvCxnSpPr/>
          <p:nvPr/>
        </p:nvCxnSpPr>
        <p:spPr>
          <a:xfrm flipV="1">
            <a:off x="485119" y="94068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st_penalty_47" descr="Editable line; source id cost_penalty_47"/>
          <p:cNvCxnSpPr/>
          <p:nvPr/>
        </p:nvCxnSpPr>
        <p:spPr>
          <a:xfrm flipV="1">
            <a:off x="491248" y="93438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st_penalty_48" descr="Editable line; source id cost_penalty_48"/>
          <p:cNvCxnSpPr/>
          <p:nvPr/>
        </p:nvCxnSpPr>
        <p:spPr>
          <a:xfrm flipV="1">
            <a:off x="497376" y="92807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st_penalty_49" descr="Editable line; source id cost_penalty_49"/>
          <p:cNvCxnSpPr/>
          <p:nvPr/>
        </p:nvCxnSpPr>
        <p:spPr>
          <a:xfrm flipV="1">
            <a:off x="503505" y="92491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st_penalty_50" descr="Editable line; source id cost_penalty_50"/>
          <p:cNvCxnSpPr/>
          <p:nvPr/>
        </p:nvCxnSpPr>
        <p:spPr>
          <a:xfrm flipV="1">
            <a:off x="509634" y="91860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st_penalty_51" descr="Editable line; source id cost_penalty_51"/>
          <p:cNvCxnSpPr/>
          <p:nvPr/>
        </p:nvCxnSpPr>
        <p:spPr>
          <a:xfrm flipV="1">
            <a:off x="515763" y="91229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st_penalty_52" descr="Editable line; source id cost_penalty_52"/>
          <p:cNvCxnSpPr/>
          <p:nvPr/>
        </p:nvCxnSpPr>
        <p:spPr>
          <a:xfrm flipV="1">
            <a:off x="521891" y="90598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st_penalty_53" descr="Editable line; source id cost_penalty_53"/>
          <p:cNvCxnSpPr/>
          <p:nvPr/>
        </p:nvCxnSpPr>
        <p:spPr>
          <a:xfrm>
            <a:off x="528020" y="905987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st_penalty_54" descr="Editable line; source id cost_penalty_54"/>
          <p:cNvCxnSpPr/>
          <p:nvPr/>
        </p:nvCxnSpPr>
        <p:spPr>
          <a:xfrm flipV="1">
            <a:off x="534149" y="90283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st_penalty_55" descr="Editable line; source id cost_penalty_55"/>
          <p:cNvCxnSpPr/>
          <p:nvPr/>
        </p:nvCxnSpPr>
        <p:spPr>
          <a:xfrm>
            <a:off x="540277" y="90283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st_penalty_56" descr="Editable line; source id cost_penalty_56"/>
          <p:cNvCxnSpPr/>
          <p:nvPr/>
        </p:nvCxnSpPr>
        <p:spPr>
          <a:xfrm flipV="1">
            <a:off x="546406" y="89967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st_penalty_57" descr="Editable line; source id cost_penalty_57"/>
          <p:cNvCxnSpPr/>
          <p:nvPr/>
        </p:nvCxnSpPr>
        <p:spPr>
          <a:xfrm flipV="1">
            <a:off x="552535" y="89652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st_penalty_58" descr="Editable line; source id cost_penalty_58"/>
          <p:cNvCxnSpPr/>
          <p:nvPr/>
        </p:nvCxnSpPr>
        <p:spPr>
          <a:xfrm>
            <a:off x="558663" y="896522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st_penalty_59" descr="Editable line; source id cost_penalty_59"/>
          <p:cNvCxnSpPr/>
          <p:nvPr/>
        </p:nvCxnSpPr>
        <p:spPr>
          <a:xfrm flipV="1">
            <a:off x="564792" y="893368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st_penalty_60" descr="Editable line; source id cost_penalty_60"/>
          <p:cNvCxnSpPr/>
          <p:nvPr/>
        </p:nvCxnSpPr>
        <p:spPr>
          <a:xfrm flipV="1">
            <a:off x="570921" y="88705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st_penalty_61" descr="Editable line; source id cost_penalty_61"/>
          <p:cNvCxnSpPr/>
          <p:nvPr/>
        </p:nvCxnSpPr>
        <p:spPr>
          <a:xfrm>
            <a:off x="577049" y="887058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st_penalty_62" descr="Editable line; source id cost_penalty_62"/>
          <p:cNvCxnSpPr/>
          <p:nvPr/>
        </p:nvCxnSpPr>
        <p:spPr>
          <a:xfrm flipV="1">
            <a:off x="583178" y="88074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st_penalty_63" descr="Editable line; source id cost_penalty_63"/>
          <p:cNvCxnSpPr/>
          <p:nvPr/>
        </p:nvCxnSpPr>
        <p:spPr>
          <a:xfrm flipV="1">
            <a:off x="589307" y="877594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st_penalty_64" descr="Editable line; source id cost_penalty_64"/>
          <p:cNvCxnSpPr/>
          <p:nvPr/>
        </p:nvCxnSpPr>
        <p:spPr>
          <a:xfrm flipV="1">
            <a:off x="595435" y="87443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st_penalty_65" descr="Editable line; source id cost_penalty_65"/>
          <p:cNvCxnSpPr/>
          <p:nvPr/>
        </p:nvCxnSpPr>
        <p:spPr>
          <a:xfrm flipV="1">
            <a:off x="601564" y="87128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st_penalty_66" descr="Editable line; source id cost_penalty_66"/>
          <p:cNvCxnSpPr/>
          <p:nvPr/>
        </p:nvCxnSpPr>
        <p:spPr>
          <a:xfrm flipV="1">
            <a:off x="607693" y="861820"/>
            <a:ext cx="6128" cy="94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st_penalty_67" descr="Editable line; source id cost_penalty_67"/>
          <p:cNvCxnSpPr/>
          <p:nvPr/>
        </p:nvCxnSpPr>
        <p:spPr>
          <a:xfrm flipV="1">
            <a:off x="613821" y="85866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st_penalty_68" descr="Editable line; source id cost_penalty_68"/>
          <p:cNvCxnSpPr/>
          <p:nvPr/>
        </p:nvCxnSpPr>
        <p:spPr>
          <a:xfrm flipV="1">
            <a:off x="619950" y="852356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st_penalty_69" descr="Editable line; source id cost_penalty_69"/>
          <p:cNvCxnSpPr/>
          <p:nvPr/>
        </p:nvCxnSpPr>
        <p:spPr>
          <a:xfrm flipV="1">
            <a:off x="626079" y="84604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st_penalty_70" descr="Editable line; source id cost_penalty_70"/>
          <p:cNvCxnSpPr/>
          <p:nvPr/>
        </p:nvCxnSpPr>
        <p:spPr>
          <a:xfrm flipV="1">
            <a:off x="632208" y="839736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st_penalty_71" descr="Editable line; source id cost_penalty_71"/>
          <p:cNvCxnSpPr/>
          <p:nvPr/>
        </p:nvCxnSpPr>
        <p:spPr>
          <a:xfrm flipV="1">
            <a:off x="638336" y="83342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st_penalty_72" descr="Editable line; source id cost_penalty_72"/>
          <p:cNvCxnSpPr/>
          <p:nvPr/>
        </p:nvCxnSpPr>
        <p:spPr>
          <a:xfrm flipV="1">
            <a:off x="644465" y="82711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st_penalty_73" descr="Editable line; source id cost_penalty_73"/>
          <p:cNvCxnSpPr/>
          <p:nvPr/>
        </p:nvCxnSpPr>
        <p:spPr>
          <a:xfrm flipV="1">
            <a:off x="650594" y="820808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st_penalty_74" descr="Editable line; source id cost_penalty_74"/>
          <p:cNvCxnSpPr/>
          <p:nvPr/>
        </p:nvCxnSpPr>
        <p:spPr>
          <a:xfrm flipV="1">
            <a:off x="656722" y="81449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st_penalty_75" descr="Editable line; source id cost_penalty_75"/>
          <p:cNvCxnSpPr/>
          <p:nvPr/>
        </p:nvCxnSpPr>
        <p:spPr>
          <a:xfrm flipV="1">
            <a:off x="662851" y="808189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st_penalty_76" descr="Editable line; source id cost_penalty_76"/>
          <p:cNvCxnSpPr/>
          <p:nvPr/>
        </p:nvCxnSpPr>
        <p:spPr>
          <a:xfrm flipV="1">
            <a:off x="668980" y="801879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st_penalty_77" descr="Editable line; source id cost_penalty_77"/>
          <p:cNvCxnSpPr/>
          <p:nvPr/>
        </p:nvCxnSpPr>
        <p:spPr>
          <a:xfrm>
            <a:off x="675108" y="801879"/>
            <a:ext cx="6129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st_penalty_78" descr="Editable line; source id cost_penalty_78"/>
          <p:cNvCxnSpPr/>
          <p:nvPr/>
        </p:nvCxnSpPr>
        <p:spPr>
          <a:xfrm flipV="1">
            <a:off x="681237" y="79872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st_penalty_79" descr="Editable line; source id cost_penalty_79"/>
          <p:cNvCxnSpPr/>
          <p:nvPr/>
        </p:nvCxnSpPr>
        <p:spPr>
          <a:xfrm flipV="1">
            <a:off x="687366" y="795570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st_penalty_80" descr="Editable line; source id cost_penalty_80"/>
          <p:cNvCxnSpPr/>
          <p:nvPr/>
        </p:nvCxnSpPr>
        <p:spPr>
          <a:xfrm flipV="1">
            <a:off x="693494" y="78926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st_penalty_81" descr="Editable line; source id cost_penalty_81"/>
          <p:cNvCxnSpPr/>
          <p:nvPr/>
        </p:nvCxnSpPr>
        <p:spPr>
          <a:xfrm flipV="1">
            <a:off x="699623" y="78610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st_penalty_82" descr="Editable line; source id cost_penalty_82"/>
          <p:cNvCxnSpPr/>
          <p:nvPr/>
        </p:nvCxnSpPr>
        <p:spPr>
          <a:xfrm flipV="1">
            <a:off x="705752" y="779796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st_penalty_83" descr="Editable line; source id cost_penalty_83"/>
          <p:cNvCxnSpPr/>
          <p:nvPr/>
        </p:nvCxnSpPr>
        <p:spPr>
          <a:xfrm flipV="1">
            <a:off x="711880" y="773486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st_penalty_84" descr="Editable line; source id cost_penalty_84"/>
          <p:cNvCxnSpPr/>
          <p:nvPr/>
        </p:nvCxnSpPr>
        <p:spPr>
          <a:xfrm flipV="1">
            <a:off x="718009" y="767177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st_penalty_85" descr="Editable line; source id cost_penalty_85"/>
          <p:cNvCxnSpPr/>
          <p:nvPr/>
        </p:nvCxnSpPr>
        <p:spPr>
          <a:xfrm flipV="1">
            <a:off x="724138" y="757712"/>
            <a:ext cx="6129" cy="94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st_penalty_86" descr="Editable line; source id cost_penalty_86"/>
          <p:cNvCxnSpPr/>
          <p:nvPr/>
        </p:nvCxnSpPr>
        <p:spPr>
          <a:xfrm flipV="1">
            <a:off x="730267" y="751403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st_penalty_87" descr="Editable line; source id cost_penalty_87"/>
          <p:cNvCxnSpPr/>
          <p:nvPr/>
        </p:nvCxnSpPr>
        <p:spPr>
          <a:xfrm flipV="1">
            <a:off x="736395" y="748248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st_penalty_88" descr="Editable line; source id cost_penalty_88"/>
          <p:cNvCxnSpPr/>
          <p:nvPr/>
        </p:nvCxnSpPr>
        <p:spPr>
          <a:xfrm flipV="1">
            <a:off x="742524" y="741938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cost_penalty_89" descr="Editable line; source id cost_penalty_89"/>
          <p:cNvCxnSpPr/>
          <p:nvPr/>
        </p:nvCxnSpPr>
        <p:spPr>
          <a:xfrm flipV="1">
            <a:off x="748653" y="735629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st_penalty_90" descr="Editable line; source id cost_penalty_90"/>
          <p:cNvCxnSpPr/>
          <p:nvPr/>
        </p:nvCxnSpPr>
        <p:spPr>
          <a:xfrm flipV="1">
            <a:off x="754781" y="73247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st_penalty_91" descr="Editable line; source id cost_penalty_91"/>
          <p:cNvCxnSpPr/>
          <p:nvPr/>
        </p:nvCxnSpPr>
        <p:spPr>
          <a:xfrm flipV="1">
            <a:off x="760910" y="72931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st_penalty_92" descr="Editable line; source id cost_penalty_92"/>
          <p:cNvCxnSpPr/>
          <p:nvPr/>
        </p:nvCxnSpPr>
        <p:spPr>
          <a:xfrm flipV="1">
            <a:off x="767039" y="723010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st_penalty_93" descr="Editable line; source id cost_penalty_93"/>
          <p:cNvCxnSpPr/>
          <p:nvPr/>
        </p:nvCxnSpPr>
        <p:spPr>
          <a:xfrm flipV="1">
            <a:off x="773167" y="71985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st_penalty_94" descr="Editable line; source id cost_penalty_94"/>
          <p:cNvCxnSpPr/>
          <p:nvPr/>
        </p:nvCxnSpPr>
        <p:spPr>
          <a:xfrm flipV="1">
            <a:off x="779296" y="716700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st_penalty_95" descr="Editable line; source id cost_penalty_95"/>
          <p:cNvCxnSpPr/>
          <p:nvPr/>
        </p:nvCxnSpPr>
        <p:spPr>
          <a:xfrm flipV="1">
            <a:off x="785425" y="713545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st_penalty_96" descr="Editable line; source id cost_penalty_96"/>
          <p:cNvCxnSpPr/>
          <p:nvPr/>
        </p:nvCxnSpPr>
        <p:spPr>
          <a:xfrm flipV="1">
            <a:off x="791553" y="710391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st_penalty_97" descr="Editable line; source id cost_penalty_97"/>
          <p:cNvCxnSpPr/>
          <p:nvPr/>
        </p:nvCxnSpPr>
        <p:spPr>
          <a:xfrm flipV="1">
            <a:off x="797682" y="704081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st_penalty_98" descr="Editable line; source id cost_penalty_98"/>
          <p:cNvCxnSpPr/>
          <p:nvPr/>
        </p:nvCxnSpPr>
        <p:spPr>
          <a:xfrm flipV="1">
            <a:off x="803811" y="697771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st_penalty_99" descr="Editable line; source id cost_penalty_99"/>
          <p:cNvCxnSpPr/>
          <p:nvPr/>
        </p:nvCxnSpPr>
        <p:spPr>
          <a:xfrm flipV="1">
            <a:off x="809939" y="694617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st_penalty_100" descr="Editable line; source id cost_penalty_100"/>
          <p:cNvCxnSpPr/>
          <p:nvPr/>
        </p:nvCxnSpPr>
        <p:spPr>
          <a:xfrm flipV="1">
            <a:off x="816068" y="68830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st_penalty_101" descr="Editable line; source id cost_penalty_101"/>
          <p:cNvCxnSpPr/>
          <p:nvPr/>
        </p:nvCxnSpPr>
        <p:spPr>
          <a:xfrm flipV="1">
            <a:off x="822197" y="681998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st_penalty_102" descr="Editable line; source id cost_penalty_102"/>
          <p:cNvCxnSpPr/>
          <p:nvPr/>
        </p:nvCxnSpPr>
        <p:spPr>
          <a:xfrm flipV="1">
            <a:off x="828326" y="675688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st_penalty_103" descr="Editable line; source id cost_penalty_103"/>
          <p:cNvCxnSpPr/>
          <p:nvPr/>
        </p:nvCxnSpPr>
        <p:spPr>
          <a:xfrm flipV="1">
            <a:off x="834454" y="672533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st_penalty_104" descr="Editable line; source id cost_penalty_104"/>
          <p:cNvCxnSpPr/>
          <p:nvPr/>
        </p:nvCxnSpPr>
        <p:spPr>
          <a:xfrm flipV="1">
            <a:off x="840583" y="666224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st_penalty_105" descr="Editable line; source id cost_penalty_105"/>
          <p:cNvCxnSpPr/>
          <p:nvPr/>
        </p:nvCxnSpPr>
        <p:spPr>
          <a:xfrm flipV="1">
            <a:off x="846712" y="659914"/>
            <a:ext cx="6128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st_penalty_106" descr="Editable line; source id cost_penalty_106"/>
          <p:cNvCxnSpPr/>
          <p:nvPr/>
        </p:nvCxnSpPr>
        <p:spPr>
          <a:xfrm flipV="1">
            <a:off x="852840" y="65675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st_penalty_107" descr="Editable line; source id cost_penalty_107"/>
          <p:cNvCxnSpPr/>
          <p:nvPr/>
        </p:nvCxnSpPr>
        <p:spPr>
          <a:xfrm flipV="1">
            <a:off x="858969" y="650450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st_penalty_108" descr="Editable line; source id cost_penalty_108"/>
          <p:cNvCxnSpPr/>
          <p:nvPr/>
        </p:nvCxnSpPr>
        <p:spPr>
          <a:xfrm>
            <a:off x="865098" y="650450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st_penalty_109" descr="Editable line; source id cost_penalty_109"/>
          <p:cNvCxnSpPr/>
          <p:nvPr/>
        </p:nvCxnSpPr>
        <p:spPr>
          <a:xfrm flipV="1">
            <a:off x="871226" y="644140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st_penalty_110" descr="Editable line; source id cost_penalty_110"/>
          <p:cNvCxnSpPr/>
          <p:nvPr/>
        </p:nvCxnSpPr>
        <p:spPr>
          <a:xfrm flipV="1">
            <a:off x="877355" y="640985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st_penalty_111" descr="Editable line; source id cost_penalty_111"/>
          <p:cNvCxnSpPr/>
          <p:nvPr/>
        </p:nvCxnSpPr>
        <p:spPr>
          <a:xfrm flipV="1">
            <a:off x="883484" y="637831"/>
            <a:ext cx="6128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st_penalty_112" descr="Editable line; source id cost_penalty_112"/>
          <p:cNvCxnSpPr/>
          <p:nvPr/>
        </p:nvCxnSpPr>
        <p:spPr>
          <a:xfrm flipV="1">
            <a:off x="889612" y="634676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st_penalty_113" descr="Editable line; source id cost_penalty_113"/>
          <p:cNvCxnSpPr/>
          <p:nvPr/>
        </p:nvCxnSpPr>
        <p:spPr>
          <a:xfrm flipV="1">
            <a:off x="895741" y="631521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st_penalty_114" descr="Editable line; source id cost_penalty_114"/>
          <p:cNvCxnSpPr/>
          <p:nvPr/>
        </p:nvCxnSpPr>
        <p:spPr>
          <a:xfrm flipV="1">
            <a:off x="901870" y="625212"/>
            <a:ext cx="6128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st_penalty_115" descr="Editable line; source id cost_penalty_115"/>
          <p:cNvCxnSpPr/>
          <p:nvPr/>
        </p:nvCxnSpPr>
        <p:spPr>
          <a:xfrm flipV="1">
            <a:off x="907998" y="622057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st_penalty_116" descr="Editable line; source id cost_penalty_116"/>
          <p:cNvCxnSpPr/>
          <p:nvPr/>
        </p:nvCxnSpPr>
        <p:spPr>
          <a:xfrm flipV="1">
            <a:off x="914127" y="615747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st_penalty_117" descr="Editable line; source id cost_penalty_117"/>
          <p:cNvCxnSpPr/>
          <p:nvPr/>
        </p:nvCxnSpPr>
        <p:spPr>
          <a:xfrm flipV="1">
            <a:off x="920256" y="612592"/>
            <a:ext cx="6128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st_penalty_118" descr="Editable line; source id cost_penalty_118"/>
          <p:cNvCxnSpPr/>
          <p:nvPr/>
        </p:nvCxnSpPr>
        <p:spPr>
          <a:xfrm flipV="1">
            <a:off x="926384" y="606283"/>
            <a:ext cx="6129" cy="630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st_penalty_119" descr="Editable line; source id cost_penalty_119"/>
          <p:cNvCxnSpPr/>
          <p:nvPr/>
        </p:nvCxnSpPr>
        <p:spPr>
          <a:xfrm flipV="1">
            <a:off x="932513" y="599973"/>
            <a:ext cx="6129" cy="631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st_penalty_120" descr="Editable line; source id cost_penalty_120"/>
          <p:cNvCxnSpPr/>
          <p:nvPr/>
        </p:nvCxnSpPr>
        <p:spPr>
          <a:xfrm flipV="1">
            <a:off x="938642" y="596819"/>
            <a:ext cx="6129" cy="315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st_penalty_121" descr="Editable line; source id cost_penalty_121"/>
          <p:cNvCxnSpPr/>
          <p:nvPr/>
        </p:nvCxnSpPr>
        <p:spPr>
          <a:xfrm>
            <a:off x="944771" y="596819"/>
            <a:ext cx="6128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st_penalty_122" descr="Editable line; source id cost_penalty_122"/>
          <p:cNvCxnSpPr/>
          <p:nvPr/>
        </p:nvCxnSpPr>
        <p:spPr>
          <a:xfrm flipV="1">
            <a:off x="950899" y="593664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st_penalty_123" descr="Editable line; source id cost_penalty_123"/>
          <p:cNvCxnSpPr/>
          <p:nvPr/>
        </p:nvCxnSpPr>
        <p:spPr>
          <a:xfrm flipV="1">
            <a:off x="957028" y="590509"/>
            <a:ext cx="6129" cy="315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p_cost" descr="Editable text; source id p_cost"/>
          <p:cNvSpPr txBox="1"/>
          <p:nvPr/>
        </p:nvSpPr>
        <p:spPr>
          <a:xfrm>
            <a:off x="381000" y="685800"/>
            <a:ext cx="3175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cxnSp>
        <p:nvCxnSpPr>
          <p:cNvPr id="134" name="p_price" descr="Editable line; source id p_price"/>
          <p:cNvCxnSpPr/>
          <p:nvPr/>
        </p:nvCxnSpPr>
        <p:spPr>
          <a:xfrm>
            <a:off x="203200" y="1409700"/>
            <a:ext cx="762000" cy="0"/>
          </a:xfrm>
          <a:prstGeom prst="line">
            <a:avLst/>
          </a:prstGeom>
          <a:ln w="11430">
            <a:solidFill>
              <a:srgbClr val="73539B"/>
            </a:solidFill>
            <a:custDash>
              <a:ds d="333333" sp="222222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p_price_label" descr="Editable text; source id p_price_label"/>
          <p:cNvSpPr txBox="1"/>
          <p:nvPr/>
        </p:nvSpPr>
        <p:spPr>
          <a:xfrm>
            <a:off x="419100" y="12573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136" name="p_training" descr="Editable text; source id p_training"/>
          <p:cNvSpPr txBox="1"/>
          <p:nvPr/>
        </p:nvSpPr>
        <p:spPr>
          <a:xfrm>
            <a:off x="317500" y="1651000"/>
            <a:ext cx="635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137" name="safeot" descr="Editable shape; source id safeot"/>
          <p:cNvSpPr/>
          <p:nvPr/>
        </p:nvSpPr>
        <p:spPr>
          <a:xfrm>
            <a:off x="1155700" y="38100"/>
            <a:ext cx="2717800" cy="1828800"/>
          </a:xfrm>
          <a:prstGeom prst="roundRect">
            <a:avLst>
              <a:gd name="adj" fmla="val 2083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afeot_title" descr="Editable text; source id safeot_title"/>
          <p:cNvSpPr txBox="1"/>
          <p:nvPr/>
        </p:nvSpPr>
        <p:spPr>
          <a:xfrm>
            <a:off x="1219200" y="76200"/>
            <a:ext cx="2590800" cy="18288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380"/>
              </a:lnSpc>
              <a:spcBef>
                <a:spcPts val="0"/>
              </a:spcBef>
              <a:spcAft>
                <a:spcPts val="0"/>
              </a:spcAft>
              <a:def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12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139" name="one_flow" descr="Editable text; source id one_flow"/>
          <p:cNvSpPr txBox="1"/>
          <p:nvPr/>
        </p:nvSpPr>
        <p:spPr>
          <a:xfrm>
            <a:off x="1206500" y="241300"/>
            <a:ext cx="26162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flow, all budgets</a:t>
            </a:r>
          </a:p>
        </p:txBody>
      </p:sp>
      <p:sp>
        <p:nvSpPr>
          <p:cNvPr id="140" name="unified_graph_edge_0_-1.4" descr="Editable line; source id unified_graph_edge_0_-1.4"/>
          <p:cNvSpPr/>
          <p:nvPr/>
        </p:nvSpPr>
        <p:spPr>
          <a:xfrm>
            <a:off x="1449768" y="55813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unified_graph_edge_0_1.4" descr="Editable line; source id unified_graph_edge_0_1.4"/>
          <p:cNvSpPr/>
          <p:nvPr/>
        </p:nvSpPr>
        <p:spPr>
          <a:xfrm>
            <a:off x="1461552" y="591533"/>
            <a:ext cx="479196" cy="181425"/>
          </a:xfrm>
          <a:custGeom>
            <a:avLst/>
            <a:gdLst/>
            <a:ahLst/>
            <a:cxnLst/>
            <a:rect l="l" t="t" r="r" b="b"/>
            <a:pathLst>
              <a:path w="188660" h="71427">
                <a:moveTo>
                  <a:pt x="0" y="67201"/>
                </a:moveTo>
                <a:lnTo>
                  <a:pt x="171452" y="4461"/>
                </a:lnTo>
                <a:lnTo>
                  <a:pt x="169820" y="0"/>
                </a:lnTo>
                <a:lnTo>
                  <a:pt x="188660" y="560"/>
                </a:lnTo>
                <a:lnTo>
                  <a:pt x="174631" y="13147"/>
                </a:lnTo>
                <a:lnTo>
                  <a:pt x="172999" y="8686"/>
                </a:lnTo>
                <a:lnTo>
                  <a:pt x="1547" y="71427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unified_graph_edge_1_-1.4" descr="Editable line; source id unified_graph_edge_1_-1.4"/>
          <p:cNvSpPr/>
          <p:nvPr/>
        </p:nvSpPr>
        <p:spPr>
          <a:xfrm>
            <a:off x="2033143" y="5232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unified_graph_edge_1_1.4" descr="Editable line; source id unified_graph_edge_1_1.4"/>
          <p:cNvSpPr/>
          <p:nvPr/>
        </p:nvSpPr>
        <p:spPr>
          <a:xfrm>
            <a:off x="2033143" y="5588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4750"/>
                </a:moveTo>
                <a:lnTo>
                  <a:pt x="326600" y="47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9250"/>
                </a:lnTo>
                <a:lnTo>
                  <a:pt x="0" y="925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unified_graph_edge_2_-1.4" descr="Editable line; source id unified_graph_edge_2_-1.4"/>
          <p:cNvSpPr/>
          <p:nvPr/>
        </p:nvSpPr>
        <p:spPr>
          <a:xfrm>
            <a:off x="3010245" y="55538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unified_graph_edge_2_1.4" descr="Editable line; source id unified_graph_edge_2_1.4"/>
          <p:cNvSpPr/>
          <p:nvPr/>
        </p:nvSpPr>
        <p:spPr>
          <a:xfrm>
            <a:off x="2997589" y="587588"/>
            <a:ext cx="479194" cy="181425"/>
          </a:xfrm>
          <a:custGeom>
            <a:avLst/>
            <a:gdLst/>
            <a:ahLst/>
            <a:cxnLst/>
            <a:rect l="l" t="t" r="r" b="b"/>
            <a:pathLst>
              <a:path w="188659" h="71427">
                <a:moveTo>
                  <a:pt x="1547" y="0"/>
                </a:moveTo>
                <a:lnTo>
                  <a:pt x="172998" y="62740"/>
                </a:lnTo>
                <a:lnTo>
                  <a:pt x="174631" y="58279"/>
                </a:lnTo>
                <a:lnTo>
                  <a:pt x="188659" y="70867"/>
                </a:lnTo>
                <a:lnTo>
                  <a:pt x="169820" y="71427"/>
                </a:lnTo>
                <a:lnTo>
                  <a:pt x="171452" y="66966"/>
                </a:lnTo>
                <a:lnTo>
                  <a:pt x="0" y="4226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unified_graph_edge_3_-1.4" descr="Editable line; source id unified_graph_edge_3_-1.4"/>
          <p:cNvSpPr/>
          <p:nvPr/>
        </p:nvSpPr>
        <p:spPr>
          <a:xfrm>
            <a:off x="1461988" y="764936"/>
            <a:ext cx="478760" cy="180231"/>
          </a:xfrm>
          <a:custGeom>
            <a:avLst/>
            <a:gdLst/>
            <a:ahLst/>
            <a:cxnLst/>
            <a:rect l="l" t="t" r="r" b="b"/>
            <a:pathLst>
              <a:path w="188488" h="70957">
                <a:moveTo>
                  <a:pt x="1203" y="0"/>
                </a:moveTo>
                <a:lnTo>
                  <a:pt x="172655" y="62740"/>
                </a:lnTo>
                <a:lnTo>
                  <a:pt x="174459" y="57810"/>
                </a:lnTo>
                <a:lnTo>
                  <a:pt x="188488" y="70397"/>
                </a:lnTo>
                <a:lnTo>
                  <a:pt x="169648" y="70957"/>
                </a:lnTo>
                <a:lnTo>
                  <a:pt x="171452" y="66027"/>
                </a:lnTo>
                <a:lnTo>
                  <a:pt x="0" y="3287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unified_graph_edge_3_1.4" descr="Editable line; source id unified_graph_edge_3_1.4"/>
          <p:cNvSpPr/>
          <p:nvPr/>
        </p:nvSpPr>
        <p:spPr>
          <a:xfrm>
            <a:off x="1447368" y="791771"/>
            <a:ext cx="481157" cy="186792"/>
          </a:xfrm>
          <a:custGeom>
            <a:avLst/>
            <a:gdLst/>
            <a:ahLst/>
            <a:cxnLst/>
            <a:rect l="l" t="t" r="r" b="b"/>
            <a:pathLst>
              <a:path w="189432" h="73540">
                <a:moveTo>
                  <a:pt x="3093" y="0"/>
                </a:moveTo>
                <a:lnTo>
                  <a:pt x="174545" y="62740"/>
                </a:lnTo>
                <a:lnTo>
                  <a:pt x="175404" y="60392"/>
                </a:lnTo>
                <a:lnTo>
                  <a:pt x="189432" y="72980"/>
                </a:lnTo>
                <a:lnTo>
                  <a:pt x="170593" y="73540"/>
                </a:lnTo>
                <a:lnTo>
                  <a:pt x="171452" y="71192"/>
                </a:lnTo>
                <a:lnTo>
                  <a:pt x="0" y="8452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unified_graph_edge_4_-1.4" descr="Editable line; source id unified_graph_edge_4_-1.4"/>
          <p:cNvSpPr/>
          <p:nvPr/>
        </p:nvSpPr>
        <p:spPr>
          <a:xfrm>
            <a:off x="2033143" y="94234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5250"/>
                </a:moveTo>
                <a:lnTo>
                  <a:pt x="326600" y="525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unified_graph_edge_4_1.4" descr="Editable line; source id unified_graph_edge_4_1.4"/>
          <p:cNvSpPr/>
          <p:nvPr/>
        </p:nvSpPr>
        <p:spPr>
          <a:xfrm>
            <a:off x="2033143" y="977900"/>
            <a:ext cx="874014" cy="35560"/>
          </a:xfrm>
          <a:custGeom>
            <a:avLst/>
            <a:gdLst/>
            <a:ahLst/>
            <a:cxnLst/>
            <a:rect l="l" t="t" r="r" b="b"/>
            <a:pathLst>
              <a:path w="344100" h="14000">
                <a:moveTo>
                  <a:pt x="0" y="2500"/>
                </a:moveTo>
                <a:lnTo>
                  <a:pt x="326600" y="2500"/>
                </a:lnTo>
                <a:lnTo>
                  <a:pt x="326600" y="0"/>
                </a:lnTo>
                <a:lnTo>
                  <a:pt x="344100" y="7000"/>
                </a:lnTo>
                <a:lnTo>
                  <a:pt x="326600" y="14000"/>
                </a:lnTo>
                <a:lnTo>
                  <a:pt x="326600" y="11500"/>
                </a:lnTo>
                <a:lnTo>
                  <a:pt x="0" y="115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unified_graph_edge_5_-1.4" descr="Editable line; source id unified_graph_edge_5_-1.4"/>
          <p:cNvSpPr/>
          <p:nvPr/>
        </p:nvSpPr>
        <p:spPr>
          <a:xfrm>
            <a:off x="2998026" y="767687"/>
            <a:ext cx="478757" cy="180233"/>
          </a:xfrm>
          <a:custGeom>
            <a:avLst/>
            <a:gdLst/>
            <a:ahLst/>
            <a:cxnLst/>
            <a:rect l="l" t="t" r="r" b="b"/>
            <a:pathLst>
              <a:path w="188487" h="70958">
                <a:moveTo>
                  <a:pt x="0" y="67671"/>
                </a:moveTo>
                <a:lnTo>
                  <a:pt x="171452" y="4931"/>
                </a:lnTo>
                <a:lnTo>
                  <a:pt x="169648" y="0"/>
                </a:lnTo>
                <a:lnTo>
                  <a:pt x="188487" y="560"/>
                </a:lnTo>
                <a:lnTo>
                  <a:pt x="174459" y="13148"/>
                </a:lnTo>
                <a:lnTo>
                  <a:pt x="172655" y="8218"/>
                </a:lnTo>
                <a:lnTo>
                  <a:pt x="1203" y="70958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unified_graph_edge_5_1.4" descr="Editable line; source id unified_graph_edge_5_1.4"/>
          <p:cNvSpPr/>
          <p:nvPr/>
        </p:nvSpPr>
        <p:spPr>
          <a:xfrm>
            <a:off x="3007845" y="801083"/>
            <a:ext cx="481160" cy="186792"/>
          </a:xfrm>
          <a:custGeom>
            <a:avLst/>
            <a:gdLst/>
            <a:ahLst/>
            <a:cxnLst/>
            <a:rect l="l" t="t" r="r" b="b"/>
            <a:pathLst>
              <a:path w="189433" h="73540">
                <a:moveTo>
                  <a:pt x="0" y="65088"/>
                </a:moveTo>
                <a:lnTo>
                  <a:pt x="171452" y="2348"/>
                </a:lnTo>
                <a:lnTo>
                  <a:pt x="170593" y="0"/>
                </a:lnTo>
                <a:lnTo>
                  <a:pt x="189433" y="560"/>
                </a:lnTo>
                <a:lnTo>
                  <a:pt x="175404" y="13147"/>
                </a:lnTo>
                <a:lnTo>
                  <a:pt x="174545" y="10799"/>
                </a:lnTo>
                <a:lnTo>
                  <a:pt x="3093" y="7354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unified_graph_hard" descr="Editable line; source id unified_graph_hard"/>
          <p:cNvCxnSpPr/>
          <p:nvPr/>
        </p:nvCxnSpPr>
        <p:spPr>
          <a:xfrm>
            <a:off x="2033143" y="609600"/>
            <a:ext cx="874014" cy="317500"/>
          </a:xfrm>
          <a:prstGeom prst="line">
            <a:avLst/>
          </a:prstGeom>
          <a:ln w="8890">
            <a:solidFill>
              <a:srgbClr val="AD3C3C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unified_graph_x1" descr="Editable line; source id unified_graph_x1"/>
          <p:cNvCxnSpPr/>
          <p:nvPr/>
        </p:nvCxnSpPr>
        <p:spPr>
          <a:xfrm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unified_graph_x2" descr="Editable line; source id unified_graph_x2"/>
          <p:cNvCxnSpPr/>
          <p:nvPr/>
        </p:nvCxnSpPr>
        <p:spPr>
          <a:xfrm flipV="1">
            <a:off x="2432050" y="730250"/>
            <a:ext cx="76200" cy="76200"/>
          </a:xfrm>
          <a:prstGeom prst="line">
            <a:avLst/>
          </a:prstGeom>
          <a:ln w="16510">
            <a:solidFill>
              <a:srgbClr val="AD3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unified_graph_node0" descr="Editable shape; source id unified_graph_node0"/>
          <p:cNvSpPr/>
          <p:nvPr/>
        </p:nvSpPr>
        <p:spPr>
          <a:xfrm>
            <a:off x="13652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unified_graph_node1" descr="Editable shape; source id unified_graph_node1"/>
          <p:cNvSpPr/>
          <p:nvPr/>
        </p:nvSpPr>
        <p:spPr>
          <a:xfrm>
            <a:off x="1937893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unified_graph_node2" descr="Editable shape; source id unified_graph_node2"/>
          <p:cNvSpPr/>
          <p:nvPr/>
        </p:nvSpPr>
        <p:spPr>
          <a:xfrm>
            <a:off x="2913507" y="5143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unified_graph_node3" descr="Editable shape; source id unified_graph_node3"/>
          <p:cNvSpPr/>
          <p:nvPr/>
        </p:nvSpPr>
        <p:spPr>
          <a:xfrm>
            <a:off x="3486150" y="72390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unified_graph_node4" descr="Editable shape; source id unified_graph_node4"/>
          <p:cNvSpPr/>
          <p:nvPr/>
        </p:nvSpPr>
        <p:spPr>
          <a:xfrm>
            <a:off x="2913507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unified_graph_node5" descr="Editable shape; source id unified_graph_node5"/>
          <p:cNvSpPr/>
          <p:nvPr/>
        </p:nvSpPr>
        <p:spPr>
          <a:xfrm>
            <a:off x="1937893" y="933450"/>
            <a:ext cx="88900" cy="88900"/>
          </a:xfrm>
          <a:prstGeom prst="ellipse">
            <a:avLst/>
          </a:prstGeom>
          <a:solidFill>
            <a:srgbClr val="FFFFFF"/>
          </a:solidFill>
          <a:ln w="8890">
            <a:solidFill>
              <a:srgbClr val="6674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leg_observed" descr="Editable line; source id leg_observed"/>
          <p:cNvSpPr/>
          <p:nvPr/>
        </p:nvSpPr>
        <p:spPr>
          <a:xfrm>
            <a:off x="12573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250"/>
                </a:moveTo>
                <a:lnTo>
                  <a:pt x="32500" y="525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A6B1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leg_target" descr="Editable line; source id leg_target"/>
          <p:cNvSpPr/>
          <p:nvPr/>
        </p:nvSpPr>
        <p:spPr>
          <a:xfrm>
            <a:off x="1701800" y="426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3000"/>
                </a:moveTo>
                <a:lnTo>
                  <a:pt x="32500" y="3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11000"/>
                </a:lnTo>
                <a:lnTo>
                  <a:pt x="0" y="1100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graph_legend" descr="Editable text; source id graph_legend"/>
          <p:cNvSpPr txBox="1"/>
          <p:nvPr/>
        </p:nvSpPr>
        <p:spPr>
          <a:xfrm>
            <a:off x="1231900" y="1003300"/>
            <a:ext cx="2565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nodes: clustered states · edges: transition flow</a:t>
            </a:r>
          </a:p>
        </p:txBody>
      </p:sp>
      <p:sp>
        <p:nvSpPr>
          <p:cNvPr id="164" name="projection" descr="Editable shape; source id projection"/>
          <p:cNvSpPr/>
          <p:nvPr/>
        </p:nvSpPr>
        <p:spPr>
          <a:xfrm>
            <a:off x="1828800" y="1168400"/>
            <a:ext cx="1320800" cy="190500"/>
          </a:xfrm>
          <a:prstGeom prst="roundRect">
            <a:avLst>
              <a:gd name="adj" fmla="val 20000"/>
            </a:avLst>
          </a:prstGeom>
          <a:solidFill>
            <a:srgbClr val="087F8C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projection_text" descr="Editable text; source id projection_text"/>
          <p:cNvSpPr txBox="1"/>
          <p:nvPr/>
        </p:nvSpPr>
        <p:spPr>
          <a:xfrm>
            <a:off x="1866900" y="1193800"/>
            <a:ext cx="1244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77"/>
              </a:lnSpc>
              <a:spcBef>
                <a:spcPts val="0"/>
              </a:spcBef>
              <a:spcAft>
                <a:spcPts val="0"/>
              </a:spcAft>
              <a:def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50" b="1" i="0" lang="zh-CN" dirty="0">
                <a:solidFill>
                  <a:srgbClr val="FFFFFF"/>
                </a:solidFill>
                <a:latin typeface="Liberation Serif"/>
                <a:ea typeface="Liberation Serif"/>
                <a:cs typeface="Liberation Serif"/>
              </a:rPr>
              <a:t>Entropic projection</a:t>
            </a:r>
          </a:p>
        </p:txBody>
      </p:sp>
      <p:sp>
        <p:nvSpPr>
          <p:cNvPr id="166" name="duals_down" descr="Editable line; source id duals_down"/>
          <p:cNvSpPr/>
          <p:nvPr/>
        </p:nvSpPr>
        <p:spPr>
          <a:xfrm>
            <a:off x="2446020" y="1371600"/>
            <a:ext cx="35560" cy="165100"/>
          </a:xfrm>
          <a:custGeom>
            <a:avLst/>
            <a:gdLst/>
            <a:ahLst/>
            <a:cxnLst/>
            <a:rect l="l" t="t" r="r" b="b"/>
            <a:pathLst>
              <a:path w="14000" h="65000">
                <a:moveTo>
                  <a:pt x="9000" y="0"/>
                </a:moveTo>
                <a:lnTo>
                  <a:pt x="9000" y="47500"/>
                </a:lnTo>
                <a:lnTo>
                  <a:pt x="14000" y="47500"/>
                </a:lnTo>
                <a:lnTo>
                  <a:pt x="7000" y="65000"/>
                </a:lnTo>
                <a:lnTo>
                  <a:pt x="0" y="47500"/>
                </a:lnTo>
                <a:lnTo>
                  <a:pt x="5000" y="47500"/>
                </a:lnTo>
                <a:lnTo>
                  <a:pt x="5000" y="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pre_violation" descr="Editable text; source id pre_violation"/>
          <p:cNvSpPr txBox="1"/>
          <p:nvPr/>
        </p:nvSpPr>
        <p:spPr>
          <a:xfrm>
            <a:off x="2565400" y="1384300"/>
            <a:ext cx="12446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Can price before violation</a:t>
            </a:r>
          </a:p>
        </p:txBody>
      </p:sp>
      <p:sp>
        <p:nvSpPr>
          <p:cNvPr id="168" name="filter" descr="Editable text; source id filter"/>
          <p:cNvSpPr txBox="1"/>
          <p:nvPr/>
        </p:nvSpPr>
        <p:spPr>
          <a:xfrm>
            <a:off x="2209800" y="1574800"/>
            <a:ext cx="5588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clip + EMA</a:t>
            </a:r>
          </a:p>
        </p:txBody>
      </p:sp>
      <p:sp>
        <p:nvSpPr>
          <p:cNvPr id="169" name="price_rule" descr="Editable shape; source id price_rule"/>
          <p:cNvSpPr/>
          <p:nvPr/>
        </p:nvSpPr>
        <p:spPr>
          <a:xfrm>
            <a:off x="1155700" y="1917700"/>
            <a:ext cx="2717800" cy="317500"/>
          </a:xfrm>
          <a:prstGeom prst="roundRect">
            <a:avLst>
              <a:gd name="adj" fmla="val 12000"/>
            </a:avLst>
          </a:prstGeom>
          <a:solidFill>
            <a:srgbClr val="EAF6F5"/>
          </a:solidFill>
          <a:ln w="7620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feedback_label" descr="Editable text; source id feedback_label"/>
          <p:cNvSpPr txBox="1"/>
          <p:nvPr/>
        </p:nvSpPr>
        <p:spPr>
          <a:xfrm>
            <a:off x="1206500" y="1968500"/>
            <a:ext cx="393700" cy="1143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27"/>
              </a:lnSpc>
              <a:spcBef>
                <a:spcPts val="0"/>
              </a:spcBef>
              <a:spcAft>
                <a:spcPts val="0"/>
              </a:spcAft>
              <a:defRPr sz="720" b="0" i="0" lang="zh-CN" dirty="0">
                <a:solidFill>
                  <a:srgbClr val="BA5B20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20" b="0" i="0" lang="zh-CN" dirty="0">
                <a:solidFill>
                  <a:srgbClr val="BA5B20"/>
                </a:solidFill>
                <a:latin typeface="Liberation Serif"/>
                <a:ea typeface="Liberation Serif"/>
                <a:cs typeface="Liberation Serif"/>
              </a:rPr>
              <a:t>feedback</a:t>
            </a:r>
          </a:p>
        </p:txBody>
      </p:sp>
      <p:sp>
        <p:nvSpPr>
          <p:cNvPr id="171" name="feedback_to_price" descr="Editable line; source id feedback_to_price"/>
          <p:cNvSpPr/>
          <p:nvPr/>
        </p:nvSpPr>
        <p:spPr>
          <a:xfrm>
            <a:off x="1689100" y="2077720"/>
            <a:ext cx="88900" cy="35560"/>
          </a:xfrm>
          <a:custGeom>
            <a:avLst/>
            <a:gdLst/>
            <a:ahLst/>
            <a:cxnLst/>
            <a:rect l="l" t="t" r="r" b="b"/>
            <a:pathLst>
              <a:path w="35000" h="14000">
                <a:moveTo>
                  <a:pt x="0" y="5000"/>
                </a:moveTo>
                <a:lnTo>
                  <a:pt x="17500" y="5000"/>
                </a:lnTo>
                <a:lnTo>
                  <a:pt x="17500" y="0"/>
                </a:lnTo>
                <a:lnTo>
                  <a:pt x="35000" y="7000"/>
                </a:lnTo>
                <a:lnTo>
                  <a:pt x="17500" y="14000"/>
                </a:lnTo>
                <a:lnTo>
                  <a:pt x="17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BA5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price_to_actor" descr="Editable line; source id price_to_actor"/>
          <p:cNvSpPr/>
          <p:nvPr/>
        </p:nvSpPr>
        <p:spPr>
          <a:xfrm>
            <a:off x="2794000" y="2077720"/>
            <a:ext cx="330200" cy="35560"/>
          </a:xfrm>
          <a:custGeom>
            <a:avLst/>
            <a:gdLst/>
            <a:ahLst/>
            <a:cxnLst/>
            <a:rect l="l" t="t" r="r" b="b"/>
            <a:pathLst>
              <a:path w="130000" h="14000">
                <a:moveTo>
                  <a:pt x="0" y="5000"/>
                </a:moveTo>
                <a:lnTo>
                  <a:pt x="112500" y="5000"/>
                </a:lnTo>
                <a:lnTo>
                  <a:pt x="112500" y="0"/>
                </a:lnTo>
                <a:lnTo>
                  <a:pt x="130000" y="7000"/>
                </a:lnTo>
                <a:lnTo>
                  <a:pt x="112500" y="14000"/>
                </a:lnTo>
                <a:lnTo>
                  <a:pt x="11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actor" descr="Editable shape; source id actor"/>
          <p:cNvSpPr/>
          <p:nvPr/>
        </p:nvSpPr>
        <p:spPr>
          <a:xfrm>
            <a:off x="3162300" y="1968500"/>
            <a:ext cx="520700" cy="203200"/>
          </a:xfrm>
          <a:prstGeom prst="roundRect">
            <a:avLst>
              <a:gd name="adj" fmla="val 18750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actor_text" descr="Editable text; source id actor_text"/>
          <p:cNvSpPr txBox="1"/>
          <p:nvPr/>
        </p:nvSpPr>
        <p:spPr>
          <a:xfrm>
            <a:off x="3175000" y="1993900"/>
            <a:ext cx="4953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PPO/TRPO</a:t>
            </a:r>
          </a:p>
        </p:txBody>
      </p:sp>
      <p:sp>
        <p:nvSpPr>
          <p:cNvPr id="175" name="actor_out" descr="Editable line; source id actor_out"/>
          <p:cNvSpPr/>
          <p:nvPr/>
        </p:nvSpPr>
        <p:spPr>
          <a:xfrm>
            <a:off x="3695700" y="2077720"/>
            <a:ext cx="127000" cy="35560"/>
          </a:xfrm>
          <a:custGeom>
            <a:avLst/>
            <a:gdLst/>
            <a:ahLst/>
            <a:cxnLst/>
            <a:rect l="l" t="t" r="r" b="b"/>
            <a:pathLst>
              <a:path w="50000" h="14000">
                <a:moveTo>
                  <a:pt x="0" y="5000"/>
                </a:moveTo>
                <a:lnTo>
                  <a:pt x="32500" y="5000"/>
                </a:lnTo>
                <a:lnTo>
                  <a:pt x="32500" y="0"/>
                </a:lnTo>
                <a:lnTo>
                  <a:pt x="50000" y="7000"/>
                </a:lnTo>
                <a:lnTo>
                  <a:pt x="32500" y="14000"/>
                </a:lnTo>
                <a:lnTo>
                  <a:pt x="32500" y="9000"/>
                </a:lnTo>
                <a:lnTo>
                  <a:pt x="0" y="9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ilter_to_price" descr="Editable line; source id filter_to_price"/>
          <p:cNvSpPr/>
          <p:nvPr/>
        </p:nvSpPr>
        <p:spPr>
          <a:xfrm>
            <a:off x="2458720" y="1752600"/>
            <a:ext cx="35560" cy="165100"/>
          </a:xfrm>
          <a:custGeom>
            <a:avLst/>
            <a:gdLst/>
            <a:ahLst/>
            <a:cxnLst/>
            <a:rect l="l" t="t" r="r" b="b"/>
            <a:pathLst>
              <a:path w="14000" h="65000">
                <a:moveTo>
                  <a:pt x="9000" y="0"/>
                </a:moveTo>
                <a:lnTo>
                  <a:pt x="9000" y="47500"/>
                </a:lnTo>
                <a:lnTo>
                  <a:pt x="14000" y="47500"/>
                </a:lnTo>
                <a:lnTo>
                  <a:pt x="7000" y="65000"/>
                </a:lnTo>
                <a:lnTo>
                  <a:pt x="0" y="47500"/>
                </a:lnTo>
                <a:lnTo>
                  <a:pt x="5000" y="47500"/>
                </a:lnTo>
                <a:lnTo>
                  <a:pt x="5000" y="0"/>
                </a:lnTo>
                <a:close/>
              </a:path>
            </a:pathLst>
          </a:custGeom>
          <a:solidFill>
            <a:srgbClr val="08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lagrangian" descr="Editable shape; source id lagrangian"/>
          <p:cNvSpPr/>
          <p:nvPr/>
        </p:nvSpPr>
        <p:spPr>
          <a:xfrm>
            <a:off x="3937000" y="38100"/>
            <a:ext cx="1054100" cy="1828800"/>
          </a:xfrm>
          <a:prstGeom prst="roundRect">
            <a:avLst>
              <a:gd name="adj" fmla="val 3614"/>
            </a:avLst>
          </a:prstGeom>
          <a:solidFill>
            <a:srgbClr val="F3F5F6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lagrangian_title" descr="Editable text; source id lagrangian_title"/>
          <p:cNvSpPr txBox="1"/>
          <p:nvPr/>
        </p:nvSpPr>
        <p:spPr>
          <a:xfrm>
            <a:off x="4000500" y="762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179" name="late" descr="Editable text; source id late"/>
          <p:cNvSpPr txBox="1"/>
          <p:nvPr/>
        </p:nvSpPr>
        <p:spPr>
          <a:xfrm>
            <a:off x="4000500" y="279400"/>
            <a:ext cx="9271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Late feedback</a:t>
            </a:r>
          </a:p>
        </p:txBody>
      </p:sp>
      <p:sp>
        <p:nvSpPr>
          <p:cNvPr id="180" name="l_x" descr="Editable line; source id l_x"/>
          <p:cNvSpPr/>
          <p:nvPr/>
        </p:nvSpPr>
        <p:spPr>
          <a:xfrm>
            <a:off x="4076700" y="1557020"/>
            <a:ext cx="825500" cy="35560"/>
          </a:xfrm>
          <a:custGeom>
            <a:avLst/>
            <a:gdLst/>
            <a:ahLst/>
            <a:cxnLst/>
            <a:rect l="l" t="t" r="r" b="b"/>
            <a:pathLst>
              <a:path w="325000" h="14000">
                <a:moveTo>
                  <a:pt x="0" y="5250"/>
                </a:moveTo>
                <a:lnTo>
                  <a:pt x="307500" y="5250"/>
                </a:lnTo>
                <a:lnTo>
                  <a:pt x="307500" y="0"/>
                </a:lnTo>
                <a:lnTo>
                  <a:pt x="325000" y="7000"/>
                </a:lnTo>
                <a:lnTo>
                  <a:pt x="307500" y="14000"/>
                </a:lnTo>
                <a:lnTo>
                  <a:pt x="307500" y="8750"/>
                </a:lnTo>
                <a:lnTo>
                  <a:pt x="0" y="875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l_y" descr="Editable line; source id l_y"/>
          <p:cNvSpPr/>
          <p:nvPr/>
        </p:nvSpPr>
        <p:spPr>
          <a:xfrm>
            <a:off x="4058920" y="495300"/>
            <a:ext cx="35560" cy="1079500"/>
          </a:xfrm>
          <a:custGeom>
            <a:avLst/>
            <a:gdLst/>
            <a:ahLst/>
            <a:cxnLst/>
            <a:rect l="l" t="t" r="r" b="b"/>
            <a:pathLst>
              <a:path w="14000" h="425000">
                <a:moveTo>
                  <a:pt x="5250" y="425000"/>
                </a:moveTo>
                <a:lnTo>
                  <a:pt x="5250" y="17500"/>
                </a:lnTo>
                <a:lnTo>
                  <a:pt x="0" y="17500"/>
                </a:lnTo>
                <a:lnTo>
                  <a:pt x="7000" y="0"/>
                </a:lnTo>
                <a:lnTo>
                  <a:pt x="14000" y="17500"/>
                </a:lnTo>
                <a:lnTo>
                  <a:pt x="8750" y="17500"/>
                </a:lnTo>
                <a:lnTo>
                  <a:pt x="8750" y="425000"/>
                </a:lnTo>
                <a:close/>
              </a:path>
            </a:pathLst>
          </a:custGeom>
          <a:solidFill>
            <a:srgbClr val="6674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l_B" descr="Editable line; source id l_B"/>
          <p:cNvCxnSpPr/>
          <p:nvPr/>
        </p:nvCxnSpPr>
        <p:spPr>
          <a:xfrm>
            <a:off x="4089400" y="977900"/>
            <a:ext cx="800100" cy="0"/>
          </a:xfrm>
          <a:prstGeom prst="line">
            <a:avLst/>
          </a:prstGeom>
          <a:ln w="8890">
            <a:solidFill>
              <a:srgbClr val="66747D"/>
            </a:solidFill>
            <a:custDash>
              <a:ds d="285714" sp="285714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3" name="l_budget" descr="Editable text; source id l_budget"/>
          <p:cNvSpPr txBox="1"/>
          <p:nvPr/>
        </p:nvSpPr>
        <p:spPr>
          <a:xfrm>
            <a:off x="3975100" y="914400"/>
            <a:ext cx="889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B</a:t>
            </a:r>
          </a:p>
        </p:txBody>
      </p:sp>
      <p:cxnSp>
        <p:nvCxnSpPr>
          <p:cNvPr id="184" name="lag_cost_0" descr="Editable line; source id lag_cost_0"/>
          <p:cNvCxnSpPr/>
          <p:nvPr/>
        </p:nvCxnSpPr>
        <p:spPr>
          <a:xfrm flipV="1">
            <a:off x="4102100" y="1125070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lag_cost_1" descr="Editable line; source id lag_cost_1"/>
          <p:cNvCxnSpPr/>
          <p:nvPr/>
        </p:nvCxnSpPr>
        <p:spPr>
          <a:xfrm flipV="1">
            <a:off x="4108235" y="1122082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lag_cost_2" descr="Editable line; source id lag_cost_2"/>
          <p:cNvCxnSpPr/>
          <p:nvPr/>
        </p:nvCxnSpPr>
        <p:spPr>
          <a:xfrm flipV="1">
            <a:off x="4114371" y="1116105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lag_cost_3" descr="Editable line; source id lag_cost_3"/>
          <p:cNvCxnSpPr/>
          <p:nvPr/>
        </p:nvCxnSpPr>
        <p:spPr>
          <a:xfrm flipV="1">
            <a:off x="4120506" y="1110129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lag_cost_4" descr="Editable line; source id lag_cost_4"/>
          <p:cNvCxnSpPr/>
          <p:nvPr/>
        </p:nvCxnSpPr>
        <p:spPr>
          <a:xfrm flipV="1">
            <a:off x="4126642" y="1101164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lag_cost_5" descr="Editable line; source id lag_cost_5"/>
          <p:cNvCxnSpPr/>
          <p:nvPr/>
        </p:nvCxnSpPr>
        <p:spPr>
          <a:xfrm flipV="1">
            <a:off x="4132777" y="10922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lag_cost_6" descr="Editable line; source id lag_cost_6"/>
          <p:cNvCxnSpPr/>
          <p:nvPr/>
        </p:nvCxnSpPr>
        <p:spPr>
          <a:xfrm flipV="1">
            <a:off x="4138913" y="1083235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lag_cost_7" descr="Editable line; source id lag_cost_7"/>
          <p:cNvCxnSpPr/>
          <p:nvPr/>
        </p:nvCxnSpPr>
        <p:spPr>
          <a:xfrm flipV="1">
            <a:off x="4145049" y="1071282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lag_cost_8" descr="Editable line; source id lag_cost_8"/>
          <p:cNvCxnSpPr/>
          <p:nvPr/>
        </p:nvCxnSpPr>
        <p:spPr>
          <a:xfrm flipV="1">
            <a:off x="4151184" y="1062317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lag_cost_9" descr="Editable line; source id lag_cost_9"/>
          <p:cNvCxnSpPr/>
          <p:nvPr/>
        </p:nvCxnSpPr>
        <p:spPr>
          <a:xfrm flipV="1">
            <a:off x="4157320" y="1047376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lag_cost_10" descr="Editable line; source id lag_cost_10"/>
          <p:cNvCxnSpPr/>
          <p:nvPr/>
        </p:nvCxnSpPr>
        <p:spPr>
          <a:xfrm flipV="1">
            <a:off x="4163455" y="1032435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lag_cost_11" descr="Editable line; source id lag_cost_11"/>
          <p:cNvCxnSpPr/>
          <p:nvPr/>
        </p:nvCxnSpPr>
        <p:spPr>
          <a:xfrm flipV="1">
            <a:off x="4169591" y="101749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lag_cost_12" descr="Editable line; source id lag_cost_12"/>
          <p:cNvCxnSpPr/>
          <p:nvPr/>
        </p:nvCxnSpPr>
        <p:spPr>
          <a:xfrm flipV="1">
            <a:off x="4175727" y="999564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lag_cost_13" descr="Editable line; source id lag_cost_13"/>
          <p:cNvCxnSpPr/>
          <p:nvPr/>
        </p:nvCxnSpPr>
        <p:spPr>
          <a:xfrm flipV="1">
            <a:off x="4181862" y="990600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lag_cost_14" descr="Editable line; source id lag_cost_14"/>
          <p:cNvCxnSpPr/>
          <p:nvPr/>
        </p:nvCxnSpPr>
        <p:spPr>
          <a:xfrm flipV="1">
            <a:off x="4187998" y="957729"/>
            <a:ext cx="8180" cy="3287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lag_cost_15" descr="Editable line; source id lag_cost_15"/>
          <p:cNvCxnSpPr/>
          <p:nvPr/>
        </p:nvCxnSpPr>
        <p:spPr>
          <a:xfrm flipV="1">
            <a:off x="4196178" y="9427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lag_cost_16" descr="Editable line; source id lag_cost_16"/>
          <p:cNvCxnSpPr/>
          <p:nvPr/>
        </p:nvCxnSpPr>
        <p:spPr>
          <a:xfrm flipV="1">
            <a:off x="4202314" y="92784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lag_cost_17" descr="Editable line; source id lag_cost_17"/>
          <p:cNvCxnSpPr/>
          <p:nvPr/>
        </p:nvCxnSpPr>
        <p:spPr>
          <a:xfrm flipV="1">
            <a:off x="4208450" y="909917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lag_cost_18" descr="Editable line; source id lag_cost_18"/>
          <p:cNvCxnSpPr/>
          <p:nvPr/>
        </p:nvCxnSpPr>
        <p:spPr>
          <a:xfrm flipV="1">
            <a:off x="4214585" y="891988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lag_cost_19" descr="Editable line; source id lag_cost_19"/>
          <p:cNvCxnSpPr/>
          <p:nvPr/>
        </p:nvCxnSpPr>
        <p:spPr>
          <a:xfrm flipV="1">
            <a:off x="4220721" y="8740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lag_cost_20" descr="Editable line; source id lag_cost_20"/>
          <p:cNvCxnSpPr/>
          <p:nvPr/>
        </p:nvCxnSpPr>
        <p:spPr>
          <a:xfrm flipV="1">
            <a:off x="4226856" y="856129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lag_cost_21" descr="Editable line; source id lag_cost_21"/>
          <p:cNvCxnSpPr/>
          <p:nvPr/>
        </p:nvCxnSpPr>
        <p:spPr>
          <a:xfrm flipV="1">
            <a:off x="4232992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lag_cost_22" descr="Editable line; source id lag_cost_22"/>
          <p:cNvCxnSpPr/>
          <p:nvPr/>
        </p:nvCxnSpPr>
        <p:spPr>
          <a:xfrm flipV="1">
            <a:off x="4239128" y="823258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lag_cost_23" descr="Editable line; source id lag_cost_23"/>
          <p:cNvCxnSpPr/>
          <p:nvPr/>
        </p:nvCxnSpPr>
        <p:spPr>
          <a:xfrm flipV="1">
            <a:off x="4245263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lag_cost_24" descr="Editable line; source id lag_cost_24"/>
          <p:cNvCxnSpPr/>
          <p:nvPr/>
        </p:nvCxnSpPr>
        <p:spPr>
          <a:xfrm flipV="1">
            <a:off x="4251399" y="796364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lag_cost_25" descr="Editable line; source id lag_cost_25"/>
          <p:cNvCxnSpPr/>
          <p:nvPr/>
        </p:nvCxnSpPr>
        <p:spPr>
          <a:xfrm flipV="1">
            <a:off x="4257534" y="781423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lag_cost_26" descr="Editable line; source id lag_cost_26"/>
          <p:cNvCxnSpPr/>
          <p:nvPr/>
        </p:nvCxnSpPr>
        <p:spPr>
          <a:xfrm flipV="1">
            <a:off x="4263670" y="769470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lag_cost_27" descr="Editable line; source id lag_cost_27"/>
          <p:cNvCxnSpPr/>
          <p:nvPr/>
        </p:nvCxnSpPr>
        <p:spPr>
          <a:xfrm flipV="1">
            <a:off x="4269805" y="763494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lag_cost_28" descr="Editable line; source id lag_cost_28"/>
          <p:cNvCxnSpPr/>
          <p:nvPr/>
        </p:nvCxnSpPr>
        <p:spPr>
          <a:xfrm flipV="1">
            <a:off x="4275941" y="754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lag_cost_29" descr="Editable line; source id lag_cost_29"/>
          <p:cNvCxnSpPr/>
          <p:nvPr/>
        </p:nvCxnSpPr>
        <p:spPr>
          <a:xfrm flipV="1">
            <a:off x="4282077" y="7485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lag_cost_30" descr="Editable line; source id lag_cost_30"/>
          <p:cNvCxnSpPr/>
          <p:nvPr/>
        </p:nvCxnSpPr>
        <p:spPr>
          <a:xfrm>
            <a:off x="4288212" y="74855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lag_cost_31" descr="Editable line; source id lag_cost_31"/>
          <p:cNvCxnSpPr/>
          <p:nvPr/>
        </p:nvCxnSpPr>
        <p:spPr>
          <a:xfrm>
            <a:off x="4294348" y="74855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lag_cost_32" descr="Editable line; source id lag_cost_32"/>
          <p:cNvCxnSpPr/>
          <p:nvPr/>
        </p:nvCxnSpPr>
        <p:spPr>
          <a:xfrm>
            <a:off x="4300483" y="748552"/>
            <a:ext cx="6136" cy="298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lag_cost_33" descr="Editable line; source id lag_cost_33"/>
          <p:cNvCxnSpPr/>
          <p:nvPr/>
        </p:nvCxnSpPr>
        <p:spPr>
          <a:xfrm>
            <a:off x="4306619" y="7515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lag_cost_34" descr="Editable line; source id lag_cost_34"/>
          <p:cNvCxnSpPr/>
          <p:nvPr/>
        </p:nvCxnSpPr>
        <p:spPr>
          <a:xfrm>
            <a:off x="4312755" y="757517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lag_cost_35" descr="Editable line; source id lag_cost_35"/>
          <p:cNvCxnSpPr/>
          <p:nvPr/>
        </p:nvCxnSpPr>
        <p:spPr>
          <a:xfrm>
            <a:off x="4318890" y="7634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lag_cost_36" descr="Editable line; source id lag_cost_36"/>
          <p:cNvCxnSpPr/>
          <p:nvPr/>
        </p:nvCxnSpPr>
        <p:spPr>
          <a:xfrm>
            <a:off x="4325026" y="7724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lag_cost_37" descr="Editable line; source id lag_cost_37"/>
          <p:cNvCxnSpPr/>
          <p:nvPr/>
        </p:nvCxnSpPr>
        <p:spPr>
          <a:xfrm>
            <a:off x="4331161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lag_cost_38" descr="Editable line; source id lag_cost_38"/>
          <p:cNvCxnSpPr/>
          <p:nvPr/>
        </p:nvCxnSpPr>
        <p:spPr>
          <a:xfrm>
            <a:off x="4337297" y="7993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lag_cost_39" descr="Editable line; source id lag_cost_39"/>
          <p:cNvCxnSpPr/>
          <p:nvPr/>
        </p:nvCxnSpPr>
        <p:spPr>
          <a:xfrm>
            <a:off x="4343432" y="817282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lag_cost_40" descr="Editable line; source id lag_cost_40"/>
          <p:cNvCxnSpPr/>
          <p:nvPr/>
        </p:nvCxnSpPr>
        <p:spPr>
          <a:xfrm>
            <a:off x="4349568" y="832223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lag_cost_41" descr="Editable line; source id lag_cost_41"/>
          <p:cNvCxnSpPr/>
          <p:nvPr/>
        </p:nvCxnSpPr>
        <p:spPr>
          <a:xfrm>
            <a:off x="4355704" y="8531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lag_cost_42" descr="Editable line; source id lag_cost_42"/>
          <p:cNvCxnSpPr/>
          <p:nvPr/>
        </p:nvCxnSpPr>
        <p:spPr>
          <a:xfrm>
            <a:off x="4361839" y="871070"/>
            <a:ext cx="6136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lag_cost_43" descr="Editable line; source id lag_cost_43"/>
          <p:cNvCxnSpPr/>
          <p:nvPr/>
        </p:nvCxnSpPr>
        <p:spPr>
          <a:xfrm>
            <a:off x="4367975" y="891988"/>
            <a:ext cx="6135" cy="2390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lag_cost_44" descr="Editable line; source id lag_cost_44"/>
          <p:cNvCxnSpPr/>
          <p:nvPr/>
        </p:nvCxnSpPr>
        <p:spPr>
          <a:xfrm>
            <a:off x="4374110" y="915894"/>
            <a:ext cx="6136" cy="2091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lag_cost_45" descr="Editable line; source id lag_cost_45"/>
          <p:cNvCxnSpPr/>
          <p:nvPr/>
        </p:nvCxnSpPr>
        <p:spPr>
          <a:xfrm>
            <a:off x="4380246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lag_cost_46" descr="Editable line; source id lag_cost_46"/>
          <p:cNvCxnSpPr/>
          <p:nvPr/>
        </p:nvCxnSpPr>
        <p:spPr>
          <a:xfrm>
            <a:off x="4386382" y="951752"/>
            <a:ext cx="6135" cy="3585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lag_cost_47" descr="Editable line; source id lag_cost_47"/>
          <p:cNvCxnSpPr/>
          <p:nvPr/>
        </p:nvCxnSpPr>
        <p:spPr>
          <a:xfrm>
            <a:off x="4392517" y="9876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lag_cost_48" descr="Editable line; source id lag_cost_48"/>
          <p:cNvCxnSpPr/>
          <p:nvPr/>
        </p:nvCxnSpPr>
        <p:spPr>
          <a:xfrm>
            <a:off x="4398653" y="1002552"/>
            <a:ext cx="6135" cy="2091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lag_cost_49" descr="Editable line; source id lag_cost_49"/>
          <p:cNvCxnSpPr/>
          <p:nvPr/>
        </p:nvCxnSpPr>
        <p:spPr>
          <a:xfrm>
            <a:off x="4404788" y="10234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lag_cost_50" descr="Editable line; source id lag_cost_50"/>
          <p:cNvCxnSpPr/>
          <p:nvPr/>
        </p:nvCxnSpPr>
        <p:spPr>
          <a:xfrm>
            <a:off x="4410924" y="10414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lag_cost_51" descr="Editable line; source id lag_cost_51"/>
          <p:cNvCxnSpPr/>
          <p:nvPr/>
        </p:nvCxnSpPr>
        <p:spPr>
          <a:xfrm>
            <a:off x="4417060" y="1056341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lag_cost_52" descr="Editable line; source id lag_cost_52"/>
          <p:cNvCxnSpPr/>
          <p:nvPr/>
        </p:nvCxnSpPr>
        <p:spPr>
          <a:xfrm>
            <a:off x="4423195" y="1074270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lag_cost_53" descr="Editable line; source id lag_cost_53"/>
          <p:cNvCxnSpPr/>
          <p:nvPr/>
        </p:nvCxnSpPr>
        <p:spPr>
          <a:xfrm>
            <a:off x="4429331" y="1086223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lag_cost_54" descr="Editable line; source id lag_cost_54"/>
          <p:cNvCxnSpPr/>
          <p:nvPr/>
        </p:nvCxnSpPr>
        <p:spPr>
          <a:xfrm>
            <a:off x="4435466" y="1098176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lag_cost_55" descr="Editable line; source id lag_cost_55"/>
          <p:cNvCxnSpPr/>
          <p:nvPr/>
        </p:nvCxnSpPr>
        <p:spPr>
          <a:xfrm>
            <a:off x="4441602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lag_cost_56" descr="Editable line; source id lag_cost_56"/>
          <p:cNvCxnSpPr/>
          <p:nvPr/>
        </p:nvCxnSpPr>
        <p:spPr>
          <a:xfrm>
            <a:off x="4447737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lag_cost_57" descr="Editable line; source id lag_cost_57"/>
          <p:cNvCxnSpPr/>
          <p:nvPr/>
        </p:nvCxnSpPr>
        <p:spPr>
          <a:xfrm>
            <a:off x="4453873" y="1113117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lag_cost_58" descr="Editable line; source id lag_cost_58"/>
          <p:cNvCxnSpPr/>
          <p:nvPr/>
        </p:nvCxnSpPr>
        <p:spPr>
          <a:xfrm>
            <a:off x="4460009" y="1113117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lag_cost_59" descr="Editable line; source id lag_cost_59"/>
          <p:cNvCxnSpPr/>
          <p:nvPr/>
        </p:nvCxnSpPr>
        <p:spPr>
          <a:xfrm flipV="1">
            <a:off x="4466144" y="1107141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lag_cost_60" descr="Editable line; source id lag_cost_60"/>
          <p:cNvCxnSpPr/>
          <p:nvPr/>
        </p:nvCxnSpPr>
        <p:spPr>
          <a:xfrm flipV="1">
            <a:off x="4472280" y="1101164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lag_cost_61" descr="Editable line; source id lag_cost_61"/>
          <p:cNvCxnSpPr/>
          <p:nvPr/>
        </p:nvCxnSpPr>
        <p:spPr>
          <a:xfrm flipV="1">
            <a:off x="4478415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lag_cost_62" descr="Editable line; source id lag_cost_62"/>
          <p:cNvCxnSpPr/>
          <p:nvPr/>
        </p:nvCxnSpPr>
        <p:spPr>
          <a:xfrm flipV="1">
            <a:off x="4484551" y="1080247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lag_cost_63" descr="Editable line; source id lag_cost_63"/>
          <p:cNvCxnSpPr/>
          <p:nvPr/>
        </p:nvCxnSpPr>
        <p:spPr>
          <a:xfrm flipV="1">
            <a:off x="4490687" y="1065305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lag_cost_64" descr="Editable line; source id lag_cost_64"/>
          <p:cNvCxnSpPr/>
          <p:nvPr/>
        </p:nvCxnSpPr>
        <p:spPr>
          <a:xfrm flipV="1">
            <a:off x="4496822" y="1050364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lag_cost_65" descr="Editable line; source id lag_cost_65"/>
          <p:cNvCxnSpPr/>
          <p:nvPr/>
        </p:nvCxnSpPr>
        <p:spPr>
          <a:xfrm flipV="1">
            <a:off x="4502958" y="1032435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lag_cost_66" descr="Editable line; source id lag_cost_66"/>
          <p:cNvCxnSpPr/>
          <p:nvPr/>
        </p:nvCxnSpPr>
        <p:spPr>
          <a:xfrm flipV="1">
            <a:off x="4509093" y="1014505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lag_cost_67" descr="Editable line; source id lag_cost_67"/>
          <p:cNvCxnSpPr/>
          <p:nvPr/>
        </p:nvCxnSpPr>
        <p:spPr>
          <a:xfrm flipV="1">
            <a:off x="4515229" y="99956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lag_cost_68" descr="Editable line; source id lag_cost_68"/>
          <p:cNvCxnSpPr/>
          <p:nvPr/>
        </p:nvCxnSpPr>
        <p:spPr>
          <a:xfrm flipV="1">
            <a:off x="4521364" y="9876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lag_cost_69" descr="Editable line; source id lag_cost_69"/>
          <p:cNvCxnSpPr/>
          <p:nvPr/>
        </p:nvCxnSpPr>
        <p:spPr>
          <a:xfrm flipV="1">
            <a:off x="4527500" y="954741"/>
            <a:ext cx="8181" cy="3287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lag_cost_70" descr="Editable line; source id lag_cost_70"/>
          <p:cNvCxnSpPr/>
          <p:nvPr/>
        </p:nvCxnSpPr>
        <p:spPr>
          <a:xfrm flipV="1">
            <a:off x="4535681" y="939800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lag_cost_71" descr="Editable line; source id lag_cost_71"/>
          <p:cNvCxnSpPr/>
          <p:nvPr/>
        </p:nvCxnSpPr>
        <p:spPr>
          <a:xfrm flipV="1">
            <a:off x="4541816" y="9218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lag_cost_72" descr="Editable line; source id lag_cost_72"/>
          <p:cNvCxnSpPr/>
          <p:nvPr/>
        </p:nvCxnSpPr>
        <p:spPr>
          <a:xfrm flipV="1">
            <a:off x="4547952" y="906929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lag_cost_73" descr="Editable line; source id lag_cost_73"/>
          <p:cNvCxnSpPr/>
          <p:nvPr/>
        </p:nvCxnSpPr>
        <p:spPr>
          <a:xfrm flipV="1">
            <a:off x="4554088" y="889000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lag_cost_74" descr="Editable line; source id lag_cost_74"/>
          <p:cNvCxnSpPr/>
          <p:nvPr/>
        </p:nvCxnSpPr>
        <p:spPr>
          <a:xfrm flipV="1">
            <a:off x="4560223" y="871070"/>
            <a:ext cx="6136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lag_cost_75" descr="Editable line; source id lag_cost_75"/>
          <p:cNvCxnSpPr/>
          <p:nvPr/>
        </p:nvCxnSpPr>
        <p:spPr>
          <a:xfrm flipV="1">
            <a:off x="4566359" y="856129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lag_cost_76" descr="Editable line; source id lag_cost_76"/>
          <p:cNvCxnSpPr/>
          <p:nvPr/>
        </p:nvCxnSpPr>
        <p:spPr>
          <a:xfrm flipV="1">
            <a:off x="4572494" y="841188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lag_cost_77" descr="Editable line; source id lag_cost_77"/>
          <p:cNvCxnSpPr/>
          <p:nvPr/>
        </p:nvCxnSpPr>
        <p:spPr>
          <a:xfrm flipV="1">
            <a:off x="4578630" y="826247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lag_cost_78" descr="Editable line; source id lag_cost_78"/>
          <p:cNvCxnSpPr/>
          <p:nvPr/>
        </p:nvCxnSpPr>
        <p:spPr>
          <a:xfrm flipV="1">
            <a:off x="4584765" y="814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lag_cost_79" descr="Editable line; source id lag_cost_79"/>
          <p:cNvCxnSpPr/>
          <p:nvPr/>
        </p:nvCxnSpPr>
        <p:spPr>
          <a:xfrm flipV="1">
            <a:off x="4590901" y="80234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lag_cost_80" descr="Editable line; source id lag_cost_80"/>
          <p:cNvCxnSpPr/>
          <p:nvPr/>
        </p:nvCxnSpPr>
        <p:spPr>
          <a:xfrm flipV="1">
            <a:off x="4597037" y="793376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lag_cost_81" descr="Editable line; source id lag_cost_81"/>
          <p:cNvCxnSpPr/>
          <p:nvPr/>
        </p:nvCxnSpPr>
        <p:spPr>
          <a:xfrm flipV="1">
            <a:off x="4603172" y="7844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lag_cost_82" descr="Editable line; source id lag_cost_82"/>
          <p:cNvCxnSpPr/>
          <p:nvPr/>
        </p:nvCxnSpPr>
        <p:spPr>
          <a:xfrm flipV="1">
            <a:off x="4609308" y="778435"/>
            <a:ext cx="6135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lag_cost_83" descr="Editable line; source id lag_cost_83"/>
          <p:cNvCxnSpPr/>
          <p:nvPr/>
        </p:nvCxnSpPr>
        <p:spPr>
          <a:xfrm flipV="1">
            <a:off x="4615443" y="772458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lag_cost_84" descr="Editable line; source id lag_cost_84"/>
          <p:cNvCxnSpPr/>
          <p:nvPr/>
        </p:nvCxnSpPr>
        <p:spPr>
          <a:xfrm flipV="1">
            <a:off x="4621579" y="766482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lag_cost_85" descr="Editable line; source id lag_cost_85"/>
          <p:cNvCxnSpPr/>
          <p:nvPr/>
        </p:nvCxnSpPr>
        <p:spPr>
          <a:xfrm>
            <a:off x="4627715" y="766482"/>
            <a:ext cx="6135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lag_cost_86" descr="Editable line; source id lag_cost_86"/>
          <p:cNvCxnSpPr/>
          <p:nvPr/>
        </p:nvCxnSpPr>
        <p:spPr>
          <a:xfrm>
            <a:off x="4633850" y="766482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lag_cost_87" descr="Editable line; source id lag_cost_87"/>
          <p:cNvCxnSpPr/>
          <p:nvPr/>
        </p:nvCxnSpPr>
        <p:spPr>
          <a:xfrm>
            <a:off x="4639986" y="766482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lag_cost_88" descr="Editable line; source id lag_cost_88"/>
          <p:cNvCxnSpPr/>
          <p:nvPr/>
        </p:nvCxnSpPr>
        <p:spPr>
          <a:xfrm>
            <a:off x="4646121" y="769470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lag_cost_89" descr="Editable line; source id lag_cost_89"/>
          <p:cNvCxnSpPr/>
          <p:nvPr/>
        </p:nvCxnSpPr>
        <p:spPr>
          <a:xfrm>
            <a:off x="4652257" y="772458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lag_cost_90" descr="Editable line; source id lag_cost_90"/>
          <p:cNvCxnSpPr/>
          <p:nvPr/>
        </p:nvCxnSpPr>
        <p:spPr>
          <a:xfrm>
            <a:off x="4658392" y="781423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lag_cost_91" descr="Editable line; source id lag_cost_91"/>
          <p:cNvCxnSpPr/>
          <p:nvPr/>
        </p:nvCxnSpPr>
        <p:spPr>
          <a:xfrm>
            <a:off x="4664528" y="7874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lag_cost_92" descr="Editable line; source id lag_cost_92"/>
          <p:cNvCxnSpPr/>
          <p:nvPr/>
        </p:nvCxnSpPr>
        <p:spPr>
          <a:xfrm>
            <a:off x="4670664" y="799352"/>
            <a:ext cx="6135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lag_cost_93" descr="Editable line; source id lag_cost_93"/>
          <p:cNvCxnSpPr/>
          <p:nvPr/>
        </p:nvCxnSpPr>
        <p:spPr>
          <a:xfrm>
            <a:off x="4676799" y="808317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lag_cost_94" descr="Editable line; source id lag_cost_94"/>
          <p:cNvCxnSpPr/>
          <p:nvPr/>
        </p:nvCxnSpPr>
        <p:spPr>
          <a:xfrm>
            <a:off x="4682935" y="823258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lag_cost_95" descr="Editable line; source id lag_cost_95"/>
          <p:cNvCxnSpPr/>
          <p:nvPr/>
        </p:nvCxnSpPr>
        <p:spPr>
          <a:xfrm>
            <a:off x="4689070" y="838200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lag_cost_96" descr="Editable line; source id lag_cost_96"/>
          <p:cNvCxnSpPr/>
          <p:nvPr/>
        </p:nvCxnSpPr>
        <p:spPr>
          <a:xfrm>
            <a:off x="4695206" y="85314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lag_cost_97" descr="Editable line; source id lag_cost_97"/>
          <p:cNvCxnSpPr/>
          <p:nvPr/>
        </p:nvCxnSpPr>
        <p:spPr>
          <a:xfrm>
            <a:off x="4701342" y="868082"/>
            <a:ext cx="6135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lag_cost_98" descr="Editable line; source id lag_cost_98"/>
          <p:cNvCxnSpPr/>
          <p:nvPr/>
        </p:nvCxnSpPr>
        <p:spPr>
          <a:xfrm>
            <a:off x="4707477" y="8860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lag_cost_99" descr="Editable line; source id lag_cost_99"/>
          <p:cNvCxnSpPr/>
          <p:nvPr/>
        </p:nvCxnSpPr>
        <p:spPr>
          <a:xfrm>
            <a:off x="4713613" y="9009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lag_cost_100" descr="Editable line; source id lag_cost_100"/>
          <p:cNvCxnSpPr/>
          <p:nvPr/>
        </p:nvCxnSpPr>
        <p:spPr>
          <a:xfrm>
            <a:off x="4719748" y="9188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lag_cost_101" descr="Editable line; source id lag_cost_101"/>
          <p:cNvCxnSpPr/>
          <p:nvPr/>
        </p:nvCxnSpPr>
        <p:spPr>
          <a:xfrm>
            <a:off x="4725884" y="9368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lag_cost_102" descr="Editable line; source id lag_cost_102"/>
          <p:cNvCxnSpPr/>
          <p:nvPr/>
        </p:nvCxnSpPr>
        <p:spPr>
          <a:xfrm>
            <a:off x="4732020" y="951752"/>
            <a:ext cx="8180" cy="3884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lag_cost_103" descr="Editable line; source id lag_cost_103"/>
          <p:cNvCxnSpPr/>
          <p:nvPr/>
        </p:nvCxnSpPr>
        <p:spPr>
          <a:xfrm>
            <a:off x="4740200" y="990600"/>
            <a:ext cx="6136" cy="1195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lag_cost_104" descr="Editable line; source id lag_cost_104"/>
          <p:cNvCxnSpPr/>
          <p:nvPr/>
        </p:nvCxnSpPr>
        <p:spPr>
          <a:xfrm>
            <a:off x="4746336" y="1002552"/>
            <a:ext cx="6135" cy="1793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lag_cost_105" descr="Editable line; source id lag_cost_105"/>
          <p:cNvCxnSpPr/>
          <p:nvPr/>
        </p:nvCxnSpPr>
        <p:spPr>
          <a:xfrm>
            <a:off x="4752471" y="1020482"/>
            <a:ext cx="6136" cy="17929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lag_cost_106" descr="Editable line; source id lag_cost_106"/>
          <p:cNvCxnSpPr/>
          <p:nvPr/>
        </p:nvCxnSpPr>
        <p:spPr>
          <a:xfrm>
            <a:off x="4758607" y="1038411"/>
            <a:ext cx="6136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lag_cost_107" descr="Editable line; source id lag_cost_107"/>
          <p:cNvCxnSpPr/>
          <p:nvPr/>
        </p:nvCxnSpPr>
        <p:spPr>
          <a:xfrm>
            <a:off x="4764743" y="1053352"/>
            <a:ext cx="6135" cy="14942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lag_cost_108" descr="Editable line; source id lag_cost_108"/>
          <p:cNvCxnSpPr/>
          <p:nvPr/>
        </p:nvCxnSpPr>
        <p:spPr>
          <a:xfrm>
            <a:off x="4770878" y="1068294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lag_cost_109" descr="Editable line; source id lag_cost_109"/>
          <p:cNvCxnSpPr/>
          <p:nvPr/>
        </p:nvCxnSpPr>
        <p:spPr>
          <a:xfrm>
            <a:off x="4777014" y="1080247"/>
            <a:ext cx="6135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lag_cost_110" descr="Editable line; source id lag_cost_110"/>
          <p:cNvCxnSpPr/>
          <p:nvPr/>
        </p:nvCxnSpPr>
        <p:spPr>
          <a:xfrm>
            <a:off x="4783149" y="1089211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lag_cost_111" descr="Editable line; source id lag_cost_111"/>
          <p:cNvCxnSpPr/>
          <p:nvPr/>
        </p:nvCxnSpPr>
        <p:spPr>
          <a:xfrm>
            <a:off x="4789285" y="1101164"/>
            <a:ext cx="6136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lag_cost_112" descr="Editable line; source id lag_cost_112"/>
          <p:cNvCxnSpPr/>
          <p:nvPr/>
        </p:nvCxnSpPr>
        <p:spPr>
          <a:xfrm>
            <a:off x="4795421" y="1107141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lag_cost_113" descr="Editable line; source id lag_cost_113"/>
          <p:cNvCxnSpPr/>
          <p:nvPr/>
        </p:nvCxnSpPr>
        <p:spPr>
          <a:xfrm>
            <a:off x="4801556" y="1110129"/>
            <a:ext cx="6136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lag_cost_114" descr="Editable line; source id lag_cost_114"/>
          <p:cNvCxnSpPr/>
          <p:nvPr/>
        </p:nvCxnSpPr>
        <p:spPr>
          <a:xfrm flipV="1">
            <a:off x="4807692" y="1110129"/>
            <a:ext cx="613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lag_cost_115" descr="Editable line; source id lag_cost_115"/>
          <p:cNvCxnSpPr/>
          <p:nvPr/>
        </p:nvCxnSpPr>
        <p:spPr>
          <a:xfrm>
            <a:off x="4813827" y="1110129"/>
            <a:ext cx="6136" cy="0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lag_cost_116" descr="Editable line; source id lag_cost_116"/>
          <p:cNvCxnSpPr/>
          <p:nvPr/>
        </p:nvCxnSpPr>
        <p:spPr>
          <a:xfrm flipV="1">
            <a:off x="4819963" y="1104152"/>
            <a:ext cx="6135" cy="5977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lag_cost_117" descr="Editable line; source id lag_cost_117"/>
          <p:cNvCxnSpPr/>
          <p:nvPr/>
        </p:nvCxnSpPr>
        <p:spPr>
          <a:xfrm flipV="1">
            <a:off x="4826098" y="1098176"/>
            <a:ext cx="6136" cy="5976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lag_cost_118" descr="Editable line; source id lag_cost_118"/>
          <p:cNvCxnSpPr/>
          <p:nvPr/>
        </p:nvCxnSpPr>
        <p:spPr>
          <a:xfrm flipV="1">
            <a:off x="4832234" y="1089211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lag_cost_119" descr="Editable line; source id lag_cost_119"/>
          <p:cNvCxnSpPr/>
          <p:nvPr/>
        </p:nvCxnSpPr>
        <p:spPr>
          <a:xfrm flipV="1">
            <a:off x="4838370" y="1077258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lag_cost_120" descr="Editable line; source id lag_cost_120"/>
          <p:cNvCxnSpPr/>
          <p:nvPr/>
        </p:nvCxnSpPr>
        <p:spPr>
          <a:xfrm flipV="1">
            <a:off x="4844505" y="1068294"/>
            <a:ext cx="6136" cy="8964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ag_cost_121" descr="Editable line; source id lag_cost_121"/>
          <p:cNvCxnSpPr/>
          <p:nvPr/>
        </p:nvCxnSpPr>
        <p:spPr>
          <a:xfrm flipV="1">
            <a:off x="4850641" y="1056341"/>
            <a:ext cx="6135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ag_cost_122" descr="Editable line; source id lag_cost_122"/>
          <p:cNvCxnSpPr/>
          <p:nvPr/>
        </p:nvCxnSpPr>
        <p:spPr>
          <a:xfrm flipV="1">
            <a:off x="4856776" y="1044388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ag_cost_123" descr="Editable line; source id lag_cost_123"/>
          <p:cNvCxnSpPr/>
          <p:nvPr/>
        </p:nvCxnSpPr>
        <p:spPr>
          <a:xfrm flipV="1">
            <a:off x="4862912" y="1032435"/>
            <a:ext cx="6136" cy="11953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lag_cost_124" descr="Editable line; source id lag_cost_124"/>
          <p:cNvCxnSpPr/>
          <p:nvPr/>
        </p:nvCxnSpPr>
        <p:spPr>
          <a:xfrm flipV="1">
            <a:off x="4869048" y="1017494"/>
            <a:ext cx="6135" cy="14941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lag_cost_125" descr="Editable line; source id lag_cost_125"/>
          <p:cNvCxnSpPr/>
          <p:nvPr/>
        </p:nvCxnSpPr>
        <p:spPr>
          <a:xfrm flipV="1">
            <a:off x="4875183" y="1008529"/>
            <a:ext cx="6136" cy="8965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ag_cost_126" descr="Editable line; source id lag_cost_126"/>
          <p:cNvCxnSpPr/>
          <p:nvPr/>
        </p:nvCxnSpPr>
        <p:spPr>
          <a:xfrm flipV="1">
            <a:off x="4881319" y="1005541"/>
            <a:ext cx="2045" cy="2988"/>
          </a:xfrm>
          <a:prstGeom prst="line">
            <a:avLst/>
          </a:prstGeom>
          <a:ln w="1016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ag_price_0" descr="Editable line; source id lag_price_0"/>
          <p:cNvCxnSpPr/>
          <p:nvPr/>
        </p:nvCxnSpPr>
        <p:spPr>
          <a:xfrm flipV="1">
            <a:off x="4102100" y="1393451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lag_price_1" descr="Editable line; source id lag_price_1"/>
          <p:cNvCxnSpPr/>
          <p:nvPr/>
        </p:nvCxnSpPr>
        <p:spPr>
          <a:xfrm flipV="1">
            <a:off x="4108235" y="138803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lag_price_2" descr="Editable line; source id lag_price_2"/>
          <p:cNvCxnSpPr/>
          <p:nvPr/>
        </p:nvCxnSpPr>
        <p:spPr>
          <a:xfrm flipV="1">
            <a:off x="4114371" y="1385327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lag_price_3" descr="Editable line; source id lag_price_3"/>
          <p:cNvCxnSpPr/>
          <p:nvPr/>
        </p:nvCxnSpPr>
        <p:spPr>
          <a:xfrm flipV="1">
            <a:off x="4120506" y="1374494"/>
            <a:ext cx="18407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lag_price_4" descr="Editable line; source id lag_price_4"/>
          <p:cNvCxnSpPr/>
          <p:nvPr/>
        </p:nvCxnSpPr>
        <p:spPr>
          <a:xfrm>
            <a:off x="4138913" y="137449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ag_price_5" descr="Editable line; source id lag_price_5"/>
          <p:cNvCxnSpPr/>
          <p:nvPr/>
        </p:nvCxnSpPr>
        <p:spPr>
          <a:xfrm flipV="1">
            <a:off x="4145049" y="137178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ag_price_6" descr="Editable line; source id lag_price_6"/>
          <p:cNvCxnSpPr/>
          <p:nvPr/>
        </p:nvCxnSpPr>
        <p:spPr>
          <a:xfrm flipV="1">
            <a:off x="4151184" y="1369078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ag_price_7" descr="Editable line; source id lag_price_7"/>
          <p:cNvCxnSpPr/>
          <p:nvPr/>
        </p:nvCxnSpPr>
        <p:spPr>
          <a:xfrm>
            <a:off x="4157320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lag_price_8" descr="Editable line; source id lag_price_8"/>
          <p:cNvCxnSpPr/>
          <p:nvPr/>
        </p:nvCxnSpPr>
        <p:spPr>
          <a:xfrm flipV="1">
            <a:off x="4163455" y="1360954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lag_price_9" descr="Editable line; source id lag_price_9"/>
          <p:cNvCxnSpPr/>
          <p:nvPr/>
        </p:nvCxnSpPr>
        <p:spPr>
          <a:xfrm>
            <a:off x="418390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lag_price_10" descr="Editable line; source id lag_price_10"/>
          <p:cNvCxnSpPr/>
          <p:nvPr/>
        </p:nvCxnSpPr>
        <p:spPr>
          <a:xfrm flipV="1">
            <a:off x="4190043" y="1358246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lag_price_11" descr="Editable line; source id lag_price_11"/>
          <p:cNvCxnSpPr/>
          <p:nvPr/>
        </p:nvCxnSpPr>
        <p:spPr>
          <a:xfrm>
            <a:off x="4196178" y="1358246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lag_price_12" descr="Editable line; source id lag_price_12"/>
          <p:cNvCxnSpPr/>
          <p:nvPr/>
        </p:nvCxnSpPr>
        <p:spPr>
          <a:xfrm>
            <a:off x="4202314" y="135824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lag_price_13" descr="Editable line; source id lag_price_13"/>
          <p:cNvCxnSpPr/>
          <p:nvPr/>
        </p:nvCxnSpPr>
        <p:spPr>
          <a:xfrm>
            <a:off x="4208450" y="1360954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lag_price_14" descr="Editable line; source id lag_price_14"/>
          <p:cNvCxnSpPr/>
          <p:nvPr/>
        </p:nvCxnSpPr>
        <p:spPr>
          <a:xfrm>
            <a:off x="4228902" y="1360954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lag_price_15" descr="Editable line; source id lag_price_15"/>
          <p:cNvCxnSpPr/>
          <p:nvPr/>
        </p:nvCxnSpPr>
        <p:spPr>
          <a:xfrm>
            <a:off x="4235037" y="1360954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lag_price_16" descr="Editable line; source id lag_price_16"/>
          <p:cNvCxnSpPr/>
          <p:nvPr/>
        </p:nvCxnSpPr>
        <p:spPr>
          <a:xfrm>
            <a:off x="4241173" y="136095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lag_price_17" descr="Editable line; source id lag_price_17"/>
          <p:cNvCxnSpPr/>
          <p:nvPr/>
        </p:nvCxnSpPr>
        <p:spPr>
          <a:xfrm>
            <a:off x="4247308" y="1363662"/>
            <a:ext cx="20452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lag_price_18" descr="Editable line; source id lag_price_18"/>
          <p:cNvCxnSpPr/>
          <p:nvPr/>
        </p:nvCxnSpPr>
        <p:spPr>
          <a:xfrm flipV="1">
            <a:off x="426776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lag_price_19" descr="Editable line; source id lag_price_19"/>
          <p:cNvCxnSpPr/>
          <p:nvPr/>
        </p:nvCxnSpPr>
        <p:spPr>
          <a:xfrm>
            <a:off x="4273896" y="1366370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lag_price_20" descr="Editable line; source id lag_price_20"/>
          <p:cNvCxnSpPr/>
          <p:nvPr/>
        </p:nvCxnSpPr>
        <p:spPr>
          <a:xfrm>
            <a:off x="4280031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lag_price_21" descr="Editable line; source id lag_price_21"/>
          <p:cNvCxnSpPr/>
          <p:nvPr/>
        </p:nvCxnSpPr>
        <p:spPr>
          <a:xfrm>
            <a:off x="4286167" y="136907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lag_price_22" descr="Editable line; source id lag_price_22"/>
          <p:cNvCxnSpPr/>
          <p:nvPr/>
        </p:nvCxnSpPr>
        <p:spPr>
          <a:xfrm>
            <a:off x="4292303" y="1369078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lag_price_23" descr="Editable line; source id lag_price_23"/>
          <p:cNvCxnSpPr/>
          <p:nvPr/>
        </p:nvCxnSpPr>
        <p:spPr>
          <a:xfrm>
            <a:off x="4312755" y="1369078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lag_price_24" descr="Editable line; source id lag_price_24"/>
          <p:cNvCxnSpPr/>
          <p:nvPr/>
        </p:nvCxnSpPr>
        <p:spPr>
          <a:xfrm flipV="1">
            <a:off x="4318890" y="136637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lag_price_25" descr="Editable line; source id lag_price_25"/>
          <p:cNvCxnSpPr/>
          <p:nvPr/>
        </p:nvCxnSpPr>
        <p:spPr>
          <a:xfrm>
            <a:off x="4325026" y="1366370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lag_price_26" descr="Editable line; source id lag_price_26"/>
          <p:cNvCxnSpPr/>
          <p:nvPr/>
        </p:nvCxnSpPr>
        <p:spPr>
          <a:xfrm flipV="1">
            <a:off x="4331161" y="1363662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lag_price_27" descr="Editable line; source id lag_price_27"/>
          <p:cNvCxnSpPr/>
          <p:nvPr/>
        </p:nvCxnSpPr>
        <p:spPr>
          <a:xfrm flipV="1">
            <a:off x="4337297" y="1358246"/>
            <a:ext cx="1840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lag_price_28" descr="Editable line; source id lag_price_28"/>
          <p:cNvCxnSpPr/>
          <p:nvPr/>
        </p:nvCxnSpPr>
        <p:spPr>
          <a:xfrm flipV="1">
            <a:off x="4355704" y="135553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lag_price_29" descr="Editable line; source id lag_price_29"/>
          <p:cNvCxnSpPr/>
          <p:nvPr/>
        </p:nvCxnSpPr>
        <p:spPr>
          <a:xfrm flipV="1">
            <a:off x="4361839" y="1352830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lag_price_30" descr="Editable line; source id lag_price_30"/>
          <p:cNvCxnSpPr/>
          <p:nvPr/>
        </p:nvCxnSpPr>
        <p:spPr>
          <a:xfrm flipV="1">
            <a:off x="4367975" y="1347413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lag_price_31" descr="Editable line; source id lag_price_31"/>
          <p:cNvCxnSpPr/>
          <p:nvPr/>
        </p:nvCxnSpPr>
        <p:spPr>
          <a:xfrm>
            <a:off x="4374110" y="134741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lag_price_32" descr="Editable line; source id lag_price_32"/>
          <p:cNvCxnSpPr/>
          <p:nvPr/>
        </p:nvCxnSpPr>
        <p:spPr>
          <a:xfrm flipV="1">
            <a:off x="4380246" y="1333873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lag_price_33" descr="Editable line; source id lag_price_33"/>
          <p:cNvCxnSpPr/>
          <p:nvPr/>
        </p:nvCxnSpPr>
        <p:spPr>
          <a:xfrm flipV="1">
            <a:off x="4398653" y="1314916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lag_price_34" descr="Editable line; source id lag_price_34"/>
          <p:cNvCxnSpPr/>
          <p:nvPr/>
        </p:nvCxnSpPr>
        <p:spPr>
          <a:xfrm flipV="1">
            <a:off x="4417060" y="1293252"/>
            <a:ext cx="16361" cy="2166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lag_price_35" descr="Editable line; source id lag_price_35"/>
          <p:cNvCxnSpPr/>
          <p:nvPr/>
        </p:nvCxnSpPr>
        <p:spPr>
          <a:xfrm flipV="1">
            <a:off x="4433421" y="128512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lag_price_36" descr="Editable line; source id lag_price_36"/>
          <p:cNvCxnSpPr/>
          <p:nvPr/>
        </p:nvCxnSpPr>
        <p:spPr>
          <a:xfrm flipV="1">
            <a:off x="4439557" y="1274295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lag_price_37" descr="Editable line; source id lag_price_37"/>
          <p:cNvCxnSpPr/>
          <p:nvPr/>
        </p:nvCxnSpPr>
        <p:spPr>
          <a:xfrm flipV="1">
            <a:off x="4445692" y="1268879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lag_price_38" descr="Editable line; source id lag_price_38"/>
          <p:cNvCxnSpPr/>
          <p:nvPr/>
        </p:nvCxnSpPr>
        <p:spPr>
          <a:xfrm flipV="1">
            <a:off x="4451828" y="1241798"/>
            <a:ext cx="12271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lag_price_39" descr="Editable line; source id lag_price_39"/>
          <p:cNvCxnSpPr/>
          <p:nvPr/>
        </p:nvCxnSpPr>
        <p:spPr>
          <a:xfrm flipV="1">
            <a:off x="4464099" y="1230966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lag_price_40" descr="Editable line; source id lag_price_40"/>
          <p:cNvCxnSpPr/>
          <p:nvPr/>
        </p:nvCxnSpPr>
        <p:spPr>
          <a:xfrm flipV="1">
            <a:off x="4470235" y="1220133"/>
            <a:ext cx="6135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lag_price_41" descr="Editable line; source id lag_price_41"/>
          <p:cNvCxnSpPr/>
          <p:nvPr/>
        </p:nvCxnSpPr>
        <p:spPr>
          <a:xfrm flipV="1">
            <a:off x="4476370" y="1193052"/>
            <a:ext cx="14317" cy="27081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lag_price_42" descr="Editable line; source id lag_price_42"/>
          <p:cNvCxnSpPr/>
          <p:nvPr/>
        </p:nvCxnSpPr>
        <p:spPr>
          <a:xfrm flipV="1">
            <a:off x="4490687" y="1182220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lag_price_43" descr="Editable line; source id lag_price_43"/>
          <p:cNvCxnSpPr/>
          <p:nvPr/>
        </p:nvCxnSpPr>
        <p:spPr>
          <a:xfrm flipV="1">
            <a:off x="4496822" y="1171388"/>
            <a:ext cx="6136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lag_price_44" descr="Editable line; source id lag_price_44"/>
          <p:cNvCxnSpPr/>
          <p:nvPr/>
        </p:nvCxnSpPr>
        <p:spPr>
          <a:xfrm flipV="1">
            <a:off x="4502958" y="1147015"/>
            <a:ext cx="10226" cy="2437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lag_price_45" descr="Editable line; source id lag_price_45"/>
          <p:cNvCxnSpPr/>
          <p:nvPr/>
        </p:nvCxnSpPr>
        <p:spPr>
          <a:xfrm flipV="1">
            <a:off x="4513184" y="1138891"/>
            <a:ext cx="6135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lag_price_46" descr="Editable line; source id lag_price_46"/>
          <p:cNvCxnSpPr/>
          <p:nvPr/>
        </p:nvCxnSpPr>
        <p:spPr>
          <a:xfrm flipV="1">
            <a:off x="4519319" y="1128058"/>
            <a:ext cx="6136" cy="10833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lag_price_47" descr="Editable line; source id lag_price_47"/>
          <p:cNvCxnSpPr/>
          <p:nvPr/>
        </p:nvCxnSpPr>
        <p:spPr>
          <a:xfrm flipV="1">
            <a:off x="4525455" y="1103686"/>
            <a:ext cx="12271" cy="2437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lag_price_48" descr="Editable line; source id lag_price_48"/>
          <p:cNvCxnSpPr/>
          <p:nvPr/>
        </p:nvCxnSpPr>
        <p:spPr>
          <a:xfrm flipV="1">
            <a:off x="4537726" y="1098269"/>
            <a:ext cx="6136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0" name="lag_price_49" descr="Editable line; source id lag_price_49"/>
          <p:cNvCxnSpPr/>
          <p:nvPr/>
        </p:nvCxnSpPr>
        <p:spPr>
          <a:xfrm flipV="1">
            <a:off x="4543862" y="1087437"/>
            <a:ext cx="6135" cy="10832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lag_price_50" descr="Editable line; source id lag_price_50"/>
          <p:cNvCxnSpPr/>
          <p:nvPr/>
        </p:nvCxnSpPr>
        <p:spPr>
          <a:xfrm flipV="1">
            <a:off x="4549997" y="108202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lag_price_51" descr="Editable line; source id lag_price_51"/>
          <p:cNvCxnSpPr/>
          <p:nvPr/>
        </p:nvCxnSpPr>
        <p:spPr>
          <a:xfrm flipV="1">
            <a:off x="4556133" y="1063064"/>
            <a:ext cx="18407" cy="1895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lag_price_52" descr="Editable line; source id lag_price_52"/>
          <p:cNvCxnSpPr/>
          <p:nvPr/>
        </p:nvCxnSpPr>
        <p:spPr>
          <a:xfrm flipV="1">
            <a:off x="4574540" y="1057648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lag_price_53" descr="Editable line; source id lag_price_53"/>
          <p:cNvCxnSpPr/>
          <p:nvPr/>
        </p:nvCxnSpPr>
        <p:spPr>
          <a:xfrm flipV="1">
            <a:off x="4580675" y="105223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lag_price_54" descr="Editable line; source id lag_price_54"/>
          <p:cNvCxnSpPr/>
          <p:nvPr/>
        </p:nvCxnSpPr>
        <p:spPr>
          <a:xfrm flipV="1">
            <a:off x="4586811" y="1049524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lag_price_55" descr="Editable line; source id lag_price_55"/>
          <p:cNvCxnSpPr/>
          <p:nvPr/>
        </p:nvCxnSpPr>
        <p:spPr>
          <a:xfrm flipV="1">
            <a:off x="4592946" y="1044108"/>
            <a:ext cx="22497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7" name="lag_price_56" descr="Editable line; source id lag_price_56"/>
          <p:cNvCxnSpPr/>
          <p:nvPr/>
        </p:nvCxnSpPr>
        <p:spPr>
          <a:xfrm>
            <a:off x="4615443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lag_price_57" descr="Editable line; source id lag_price_57"/>
          <p:cNvCxnSpPr/>
          <p:nvPr/>
        </p:nvCxnSpPr>
        <p:spPr>
          <a:xfrm>
            <a:off x="4621579" y="1044108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ag_price_58" descr="Editable line; source id lag_price_58"/>
          <p:cNvCxnSpPr/>
          <p:nvPr/>
        </p:nvCxnSpPr>
        <p:spPr>
          <a:xfrm>
            <a:off x="4627715" y="1044108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ag_price_59" descr="Editable line; source id lag_price_59"/>
          <p:cNvCxnSpPr/>
          <p:nvPr/>
        </p:nvCxnSpPr>
        <p:spPr>
          <a:xfrm>
            <a:off x="4633850" y="1046816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lag_price_60" descr="Editable line; source id lag_price_60"/>
          <p:cNvCxnSpPr/>
          <p:nvPr/>
        </p:nvCxnSpPr>
        <p:spPr>
          <a:xfrm>
            <a:off x="4639986" y="1049524"/>
            <a:ext cx="18406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lag_price_61" descr="Editable line; source id lag_price_61"/>
          <p:cNvCxnSpPr/>
          <p:nvPr/>
        </p:nvCxnSpPr>
        <p:spPr>
          <a:xfrm>
            <a:off x="4658392" y="1063064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lag_price_62" descr="Editable line; source id lag_price_62"/>
          <p:cNvCxnSpPr/>
          <p:nvPr/>
        </p:nvCxnSpPr>
        <p:spPr>
          <a:xfrm>
            <a:off x="4664528" y="1065772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4" name="lag_price_63" descr="Editable line; source id lag_price_63"/>
          <p:cNvCxnSpPr/>
          <p:nvPr/>
        </p:nvCxnSpPr>
        <p:spPr>
          <a:xfrm>
            <a:off x="4670664" y="1071188"/>
            <a:ext cx="6135" cy="5417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5" name="lag_price_64" descr="Editable line; source id lag_price_64"/>
          <p:cNvCxnSpPr/>
          <p:nvPr/>
        </p:nvCxnSpPr>
        <p:spPr>
          <a:xfrm>
            <a:off x="4676799" y="1076605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lag_price_65" descr="Editable line; source id lag_price_65"/>
          <p:cNvCxnSpPr/>
          <p:nvPr/>
        </p:nvCxnSpPr>
        <p:spPr>
          <a:xfrm>
            <a:off x="4682935" y="1076605"/>
            <a:ext cx="16361" cy="1895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lag_price_66" descr="Editable line; source id lag_price_66"/>
          <p:cNvCxnSpPr/>
          <p:nvPr/>
        </p:nvCxnSpPr>
        <p:spPr>
          <a:xfrm>
            <a:off x="4699296" y="1095561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8" name="lag_price_67" descr="Editable line; source id lag_price_67"/>
          <p:cNvCxnSpPr/>
          <p:nvPr/>
        </p:nvCxnSpPr>
        <p:spPr>
          <a:xfrm>
            <a:off x="4705432" y="1100977"/>
            <a:ext cx="6136" cy="8125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ag_price_68" descr="Editable line; source id lag_price_68"/>
          <p:cNvCxnSpPr/>
          <p:nvPr/>
        </p:nvCxnSpPr>
        <p:spPr>
          <a:xfrm>
            <a:off x="4711568" y="1109102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lag_price_69" descr="Editable line; source id lag_price_69"/>
          <p:cNvCxnSpPr/>
          <p:nvPr/>
        </p:nvCxnSpPr>
        <p:spPr>
          <a:xfrm>
            <a:off x="4717703" y="1111810"/>
            <a:ext cx="18407" cy="1354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lag_price_70" descr="Editable line; source id lag_price_70"/>
          <p:cNvCxnSpPr/>
          <p:nvPr/>
        </p:nvCxnSpPr>
        <p:spPr>
          <a:xfrm>
            <a:off x="4736110" y="1125350"/>
            <a:ext cx="6135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lag_price_71" descr="Editable line; source id lag_price_71"/>
          <p:cNvCxnSpPr/>
          <p:nvPr/>
        </p:nvCxnSpPr>
        <p:spPr>
          <a:xfrm>
            <a:off x="4742245" y="1130766"/>
            <a:ext cx="6136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lag_price_72" descr="Editable line; source id lag_price_72"/>
          <p:cNvCxnSpPr/>
          <p:nvPr/>
        </p:nvCxnSpPr>
        <p:spPr>
          <a:xfrm>
            <a:off x="4748381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lag_price_73" descr="Editable line; source id lag_price_73"/>
          <p:cNvCxnSpPr/>
          <p:nvPr/>
        </p:nvCxnSpPr>
        <p:spPr>
          <a:xfrm>
            <a:off x="4754517" y="1138891"/>
            <a:ext cx="22497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lag_price_74" descr="Editable line; source id lag_price_74"/>
          <p:cNvCxnSpPr/>
          <p:nvPr/>
        </p:nvCxnSpPr>
        <p:spPr>
          <a:xfrm>
            <a:off x="4777014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lag_price_75" descr="Editable line; source id lag_price_75"/>
          <p:cNvCxnSpPr/>
          <p:nvPr/>
        </p:nvCxnSpPr>
        <p:spPr>
          <a:xfrm>
            <a:off x="478314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lag_price_76" descr="Editable line; source id lag_price_76"/>
          <p:cNvCxnSpPr/>
          <p:nvPr/>
        </p:nvCxnSpPr>
        <p:spPr>
          <a:xfrm>
            <a:off x="4789285" y="1149723"/>
            <a:ext cx="6136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lag_price_77" descr="Editable line; source id lag_price_77"/>
          <p:cNvCxnSpPr/>
          <p:nvPr/>
        </p:nvCxnSpPr>
        <p:spPr>
          <a:xfrm>
            <a:off x="4795421" y="1152431"/>
            <a:ext cx="613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lag_price_78" descr="Editable line; source id lag_price_78"/>
          <p:cNvCxnSpPr/>
          <p:nvPr/>
        </p:nvCxnSpPr>
        <p:spPr>
          <a:xfrm>
            <a:off x="4801556" y="1152431"/>
            <a:ext cx="20452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lag_price_79" descr="Editable line; source id lag_price_79"/>
          <p:cNvCxnSpPr/>
          <p:nvPr/>
        </p:nvCxnSpPr>
        <p:spPr>
          <a:xfrm>
            <a:off x="4822008" y="115243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lag_price_80" descr="Editable line; source id lag_price_80"/>
          <p:cNvCxnSpPr/>
          <p:nvPr/>
        </p:nvCxnSpPr>
        <p:spPr>
          <a:xfrm flipV="1">
            <a:off x="4828144" y="1149723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lag_price_81" descr="Editable line; source id lag_price_81"/>
          <p:cNvCxnSpPr/>
          <p:nvPr/>
        </p:nvCxnSpPr>
        <p:spPr>
          <a:xfrm>
            <a:off x="4834279" y="1149723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lag_price_82" descr="Editable line; source id lag_price_82"/>
          <p:cNvCxnSpPr/>
          <p:nvPr/>
        </p:nvCxnSpPr>
        <p:spPr>
          <a:xfrm flipV="1">
            <a:off x="4840415" y="1147015"/>
            <a:ext cx="6135" cy="2708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4" name="lag_price_83" descr="Editable line; source id lag_price_83"/>
          <p:cNvCxnSpPr/>
          <p:nvPr/>
        </p:nvCxnSpPr>
        <p:spPr>
          <a:xfrm flipV="1">
            <a:off x="4846550" y="1138891"/>
            <a:ext cx="20452" cy="8124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5" name="lag_price_84" descr="Editable line; source id lag_price_84"/>
          <p:cNvCxnSpPr/>
          <p:nvPr/>
        </p:nvCxnSpPr>
        <p:spPr>
          <a:xfrm>
            <a:off x="4867002" y="1138891"/>
            <a:ext cx="6136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ag_price_85" descr="Editable line; source id lag_price_85"/>
          <p:cNvCxnSpPr/>
          <p:nvPr/>
        </p:nvCxnSpPr>
        <p:spPr>
          <a:xfrm flipV="1">
            <a:off x="4873138" y="1133475"/>
            <a:ext cx="6136" cy="5416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ag_price_86" descr="Editable line; source id lag_price_86"/>
          <p:cNvCxnSpPr/>
          <p:nvPr/>
        </p:nvCxnSpPr>
        <p:spPr>
          <a:xfrm flipV="1">
            <a:off x="4879274" y="1130766"/>
            <a:ext cx="6135" cy="2709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ag_price_87" descr="Editable line; source id lag_price_87"/>
          <p:cNvCxnSpPr/>
          <p:nvPr/>
        </p:nvCxnSpPr>
        <p:spPr>
          <a:xfrm>
            <a:off x="4885409" y="1130766"/>
            <a:ext cx="2045" cy="0"/>
          </a:xfrm>
          <a:prstGeom prst="line">
            <a:avLst/>
          </a:prstGeom>
          <a:ln w="10160">
            <a:solidFill>
              <a:srgbClr val="73539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" name="l_cost" descr="Editable text; source id l_cost"/>
          <p:cNvSpPr txBox="1"/>
          <p:nvPr/>
        </p:nvSpPr>
        <p:spPr>
          <a:xfrm>
            <a:off x="4533900" y="571500"/>
            <a:ext cx="3302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cost</a:t>
            </a:r>
          </a:p>
        </p:txBody>
      </p:sp>
      <p:sp>
        <p:nvSpPr>
          <p:cNvPr id="400" name="l_price" descr="Editable text; source id l_price"/>
          <p:cNvSpPr txBox="1"/>
          <p:nvPr/>
        </p:nvSpPr>
        <p:spPr>
          <a:xfrm>
            <a:off x="4432300" y="1409700"/>
            <a:ext cx="3810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73539B"/>
                </a:solidFill>
                <a:latin typeface="Liberation Serif"/>
                <a:ea typeface="Liberation Serif"/>
                <a:cs typeface="Liberation Serif"/>
              </a:rPr>
              <a:t>price</a:t>
            </a:r>
          </a:p>
        </p:txBody>
      </p:sp>
      <p:sp>
        <p:nvSpPr>
          <p:cNvPr id="401" name="l_training" descr="Editable text; source id l_training"/>
          <p:cNvSpPr txBox="1"/>
          <p:nvPr/>
        </p:nvSpPr>
        <p:spPr>
          <a:xfrm>
            <a:off x="4178300" y="1651000"/>
            <a:ext cx="6604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training</a:t>
            </a:r>
          </a:p>
        </p:txBody>
      </p:sp>
      <p:sp>
        <p:nvSpPr>
          <p:cNvPr id="402" name="unification" descr="Editable shape; source id unification"/>
          <p:cNvSpPr/>
          <p:nvPr/>
        </p:nvSpPr>
        <p:spPr>
          <a:xfrm>
            <a:off x="38100" y="2311400"/>
            <a:ext cx="4953000" cy="406400"/>
          </a:xfrm>
          <a:prstGeom prst="roundRect">
            <a:avLst>
              <a:gd name="adj" fmla="val 9375"/>
            </a:avLst>
          </a:prstGeom>
          <a:solidFill>
            <a:srgbClr val="F6FAFA"/>
          </a:solidFill>
          <a:ln w="7620">
            <a:solidFill>
              <a:srgbClr val="A6B1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ule_title" descr="Editable text; source id rule_title"/>
          <p:cNvSpPr txBox="1"/>
          <p:nvPr/>
        </p:nvSpPr>
        <p:spPr>
          <a:xfrm>
            <a:off x="88900" y="1955800"/>
            <a:ext cx="977900" cy="1651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035"/>
              </a:lnSpc>
              <a:spcBef>
                <a:spcPts val="0"/>
              </a:spcBef>
              <a:spcAft>
                <a:spcPts val="0"/>
              </a:spcAft>
              <a:def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9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One price rule</a:t>
            </a:r>
          </a:p>
        </p:txBody>
      </p:sp>
      <p:sp>
        <p:nvSpPr>
          <p:cNvPr id="404" name="exact_title" descr="Editable text; source id exact_title"/>
          <p:cNvSpPr txBox="1"/>
          <p:nvPr/>
        </p:nvSpPr>
        <p:spPr>
          <a:xfrm>
            <a:off x="88900" y="2159000"/>
            <a:ext cx="990600" cy="1270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Exact settings</a:t>
            </a:r>
          </a:p>
        </p:txBody>
      </p:sp>
      <p:sp>
        <p:nvSpPr>
          <p:cNvPr id="405" name="limits_title" descr="Editable text; source id limits_title"/>
          <p:cNvSpPr txBox="1"/>
          <p:nvPr/>
        </p:nvSpPr>
        <p:spPr>
          <a:xfrm>
            <a:off x="3975100" y="2108200"/>
            <a:ext cx="977900" cy="1524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62"/>
              </a:lnSpc>
              <a:spcBef>
                <a:spcPts val="0"/>
              </a:spcBef>
              <a:spcAft>
                <a:spcPts val="0"/>
              </a:spcAft>
              <a:defRPr sz="75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50" b="1" i="0" lang="zh-CN" dirty="0">
                <a:solidFill>
                  <a:srgbClr val="66747D"/>
                </a:solidFill>
                <a:latin typeface="Liberation Serif"/>
                <a:ea typeface="Liberation Serif"/>
                <a:cs typeface="Liberation Serif"/>
              </a:rPr>
              <a:t>Conditional limits</a:t>
            </a:r>
          </a:p>
        </p:txBody>
      </p:sp>
      <p:cxnSp>
        <p:nvCxnSpPr>
          <p:cNvPr id="406" name="exact_bracket" descr="Editable line; source id exact_bracket"/>
          <p:cNvCxnSpPr/>
          <p:nvPr/>
        </p:nvCxnSpPr>
        <p:spPr>
          <a:xfrm>
            <a:off x="177800" y="2311400"/>
            <a:ext cx="1638300" cy="0"/>
          </a:xfrm>
          <a:prstGeom prst="line">
            <a:avLst/>
          </a:prstGeom>
          <a:ln w="762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limit_bracket" descr="Editable line; source id limit_bracket"/>
          <p:cNvCxnSpPr/>
          <p:nvPr/>
        </p:nvCxnSpPr>
        <p:spPr>
          <a:xfrm>
            <a:off x="3149600" y="2311400"/>
            <a:ext cx="1752600" cy="0"/>
          </a:xfrm>
          <a:prstGeom prst="line">
            <a:avLst/>
          </a:prstGeom>
          <a:ln w="7620">
            <a:solidFill>
              <a:srgbClr val="6674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8" name="u_fixed" descr="Editable text; source id u_fixed"/>
          <p:cNvSpPr txBox="1"/>
          <p:nvPr/>
        </p:nvSpPr>
        <p:spPr>
          <a:xfrm>
            <a:off x="114300" y="2349500"/>
            <a:ext cx="9271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Fixed penalty</a:t>
            </a:r>
          </a:p>
        </p:txBody>
      </p:sp>
      <p:sp>
        <p:nvSpPr>
          <p:cNvPr id="409" name="u_lag" descr="Editable text; source id u_lag"/>
          <p:cNvSpPr txBox="1"/>
          <p:nvPr/>
        </p:nvSpPr>
        <p:spPr>
          <a:xfrm>
            <a:off x="1079500" y="2349500"/>
            <a:ext cx="9271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Lagrangian</a:t>
            </a:r>
          </a:p>
        </p:txBody>
      </p:sp>
      <p:sp>
        <p:nvSpPr>
          <p:cNvPr id="410" name="u_ours" descr="Editable text; source id u_ours"/>
          <p:cNvSpPr txBox="1"/>
          <p:nvPr/>
        </p:nvSpPr>
        <p:spPr>
          <a:xfrm>
            <a:off x="2070100" y="2349500"/>
            <a:ext cx="9271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087F8C"/>
                </a:solidFill>
                <a:latin typeface="Liberation Serif"/>
                <a:ea typeface="Liberation Serif"/>
                <a:cs typeface="Liberation Serif"/>
              </a:rPr>
              <a:t>SafeOT</a:t>
            </a:r>
          </a:p>
        </p:txBody>
      </p:sp>
      <p:sp>
        <p:nvSpPr>
          <p:cNvPr id="411" name="u_lp" descr="Editable text; source id u_lp"/>
          <p:cNvSpPr txBox="1"/>
          <p:nvPr/>
        </p:nvSpPr>
        <p:spPr>
          <a:xfrm>
            <a:off x="3035300" y="2349500"/>
            <a:ext cx="9271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LP</a:t>
            </a:r>
          </a:p>
        </p:txBody>
      </p:sp>
      <p:sp>
        <p:nvSpPr>
          <p:cNvPr id="412" name="u_active" descr="Editable text; source id u_active"/>
          <p:cNvSpPr txBox="1"/>
          <p:nvPr/>
        </p:nvSpPr>
        <p:spPr>
          <a:xfrm>
            <a:off x="3987800" y="2349500"/>
            <a:ext cx="9271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920"/>
              </a:lnSpc>
              <a:spcBef>
                <a:spcPts val="0"/>
              </a:spcBef>
              <a:spcAft>
                <a:spcPts val="0"/>
              </a:spcAft>
              <a:def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800" b="1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Active-set</a:t>
            </a:r>
          </a:p>
        </p:txBody>
      </p:sp>
      <p:sp>
        <p:nvSpPr>
          <p:cNvPr id="413" name="u_active_eq" descr="Editable text; source id u_active_eq"/>
          <p:cNvSpPr txBox="1"/>
          <p:nvPr/>
        </p:nvSpPr>
        <p:spPr>
          <a:xfrm>
            <a:off x="4000500" y="2527300"/>
            <a:ext cx="939800" cy="139700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851"/>
              </a:lnSpc>
              <a:spcBef>
                <a:spcPts val="0"/>
              </a:spcBef>
              <a:spcAft>
                <a:spcPts val="0"/>
              </a:spcAft>
              <a:defRPr sz="74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defRPr>
            </a:pPr>
            <a:r>
              <a:rPr sz="740" b="0" i="0" lang="zh-CN" dirty="0">
                <a:solidFill>
                  <a:srgbClr val="24343D"/>
                </a:solidFill>
                <a:latin typeface="Liberation Serif"/>
                <a:ea typeface="Liberation Serif"/>
                <a:cs typeface="Liberation Serif"/>
              </a:rPr>
              <a:t>saturated clip</a:t>
            </a:r>
          </a:p>
        </p:txBody>
      </p:sp>
      <mc:AlternateContent xmlns:mc="http://schemas.openxmlformats.org/markup-compatibility/2006" xmlns:a16="http://schemas.microsoft.com/office/drawing/2014/main">
        <mc:Choice Requires="a16">
          <p:sp>
            <p:nvSpPr>
              <p:cNvPr id="414" name="Fhat_legend"/>
              <p:cNvSpPr txBox="1"/>
              <p:nvPr/>
            </p:nvSpPr>
            <p:spPr>
              <a:xfrm>
                <a:off x="1422400" y="381000"/>
                <a:ext cx="152400" cy="152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̂"/>
                        </ns1:accPr>
                        <ns1:e>
                          <ns1:r>
                            <ns1:rPr>
                              <ns1:sty ns1:val="i"/>
                            </ns1:rPr>
                            <a:rPr sz="10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</ns1:acc>
                    </ns1:oMath>
                  </ns1:oMathPara>
                </ns0:m>
              </a:p>
            </p:txBody>
          </p:sp>
        </mc:Choice>
        <mc:Fallback>
          <p:grpSp>
            <p:nvGrpSpPr>
              <p:cNvPr id="414" name="Fhat_legend_compat"/>
              <p:cNvGrpSpPr/>
              <p:nvPr/>
            </p:nvGrpSpPr>
            <p:grpSpPr>
              <a:xfrm>
                <a:off x="1453356" y="393700"/>
                <a:ext cx="79375" cy="117871"/>
                <a:chOff x="1453356" y="393700"/>
                <a:chExt cx="79375" cy="117871"/>
              </a:xfrm>
            </p:grpSpPr>
            <p:sp>
              <p:nvSpPr>
                <p:cNvPr id="415" name="Fhat_legend_glyph_0"/>
                <p:cNvSpPr/>
                <p:nvPr/>
              </p:nvSpPr>
              <p:spPr>
                <a:xfrm>
                  <a:off x="1486244" y="393700"/>
                  <a:ext cx="40084" cy="1885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0084" h="18852">
                      <a:moveTo>
                        <a:pt x="0" y="18852"/>
                      </a:moveTo>
                      <a:lnTo>
                        <a:pt x="0" y="16867"/>
                      </a:lnTo>
                      <a:lnTo>
                        <a:pt x="13494" y="0"/>
                      </a:lnTo>
                      <a:lnTo>
                        <a:pt x="26789" y="0"/>
                      </a:lnTo>
                      <a:lnTo>
                        <a:pt x="40084" y="16867"/>
                      </a:lnTo>
                      <a:lnTo>
                        <a:pt x="40084" y="18852"/>
                      </a:lnTo>
                      <a:lnTo>
                        <a:pt x="36711" y="18852"/>
                      </a:lnTo>
                      <a:lnTo>
                        <a:pt x="20042" y="7541"/>
                      </a:lnTo>
                      <a:lnTo>
                        <a:pt x="3373" y="18852"/>
                      </a:lnTo>
                      <a:lnTo>
                        <a:pt x="0" y="1885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6" name="Fhat_legend_glyph_1"/>
                <p:cNvSpPr/>
                <p:nvPr/>
              </p:nvSpPr>
              <p:spPr>
                <a:xfrm>
                  <a:off x="1453356" y="428426"/>
                  <a:ext cx="79375" cy="831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9375" h="83145">
                      <a:moveTo>
                        <a:pt x="28377" y="45839"/>
                      </a:moveTo>
                      <a:lnTo>
                        <a:pt x="22820" y="78184"/>
                      </a:lnTo>
                      <a:lnTo>
                        <a:pt x="36314" y="79772"/>
                      </a:lnTo>
                      <a:lnTo>
                        <a:pt x="35719" y="83145"/>
                      </a:lnTo>
                      <a:lnTo>
                        <a:pt x="0" y="83145"/>
                      </a:lnTo>
                      <a:lnTo>
                        <a:pt x="794" y="79772"/>
                      </a:lnTo>
                      <a:lnTo>
                        <a:pt x="10716" y="78184"/>
                      </a:lnTo>
                      <a:lnTo>
                        <a:pt x="23812" y="4961"/>
                      </a:lnTo>
                      <a:lnTo>
                        <a:pt x="13295" y="3175"/>
                      </a:lnTo>
                      <a:lnTo>
                        <a:pt x="13891" y="0"/>
                      </a:lnTo>
                      <a:lnTo>
                        <a:pt x="79375" y="0"/>
                      </a:lnTo>
                      <a:lnTo>
                        <a:pt x="76002" y="19844"/>
                      </a:lnTo>
                      <a:lnTo>
                        <a:pt x="71834" y="19844"/>
                      </a:lnTo>
                      <a:lnTo>
                        <a:pt x="72231" y="6350"/>
                      </a:lnTo>
                      <a:quadBezTo>
                        <a:pt x="65484" y="5556"/>
                        <a:pt x="52189" y="5556"/>
                      </a:quadBezTo>
                      <a:lnTo>
                        <a:pt x="35520" y="5556"/>
                      </a:lnTo>
                      <a:lnTo>
                        <a:pt x="29369" y="40283"/>
                      </a:lnTo>
                      <a:lnTo>
                        <a:pt x="57150" y="40283"/>
                      </a:lnTo>
                      <a:lnTo>
                        <a:pt x="60722" y="30361"/>
                      </a:lnTo>
                      <a:lnTo>
                        <a:pt x="64492" y="30361"/>
                      </a:lnTo>
                      <a:lnTo>
                        <a:pt x="60127" y="55761"/>
                      </a:lnTo>
                      <a:lnTo>
                        <a:pt x="56158" y="55761"/>
                      </a:lnTo>
                      <a:lnTo>
                        <a:pt x="56158" y="45839"/>
                      </a:lnTo>
                      <a:lnTo>
                        <a:pt x="28377" y="4583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17" name="Fstar_legend"/>
              <p:cNvSpPr txBox="1"/>
              <p:nvPr/>
            </p:nvSpPr>
            <p:spPr>
              <a:xfrm>
                <a:off x="1866900" y="381000"/>
                <a:ext cx="165100" cy="152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p>
                        <ns1:e>
                          <ns1:r>
                            <ns1:rPr>
                              <ns1:sty ns1:val="i"/>
                            </ns1:rPr>
                            <a:rPr sz="10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F</ns1:t>
                          </ns1:r>
                        </ns1:e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0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p>
                    </ns1:oMath>
                  </ns1:oMathPara>
                </ns0:m>
              </a:p>
            </p:txBody>
          </p:sp>
        </mc:Choice>
        <mc:Fallback>
          <p:grpSp>
            <p:nvGrpSpPr>
              <p:cNvPr id="417" name="Fstar_legend_compat"/>
              <p:cNvGrpSpPr/>
              <p:nvPr/>
            </p:nvGrpSpPr>
            <p:grpSpPr>
              <a:xfrm>
                <a:off x="1872456" y="401752"/>
                <a:ext cx="135446" cy="107315"/>
                <a:chOff x="1872456" y="401752"/>
                <a:chExt cx="135446" cy="107315"/>
              </a:xfrm>
            </p:grpSpPr>
            <p:sp>
              <p:nvSpPr>
                <p:cNvPr id="418" name="Fstar_legend_glyph_0"/>
                <p:cNvSpPr/>
                <p:nvPr/>
              </p:nvSpPr>
              <p:spPr>
                <a:xfrm>
                  <a:off x="1872456" y="425922"/>
                  <a:ext cx="79375" cy="831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9375" h="83145">
                      <a:moveTo>
                        <a:pt x="28377" y="45839"/>
                      </a:moveTo>
                      <a:lnTo>
                        <a:pt x="22820" y="78184"/>
                      </a:lnTo>
                      <a:lnTo>
                        <a:pt x="36314" y="79772"/>
                      </a:lnTo>
                      <a:lnTo>
                        <a:pt x="35719" y="83145"/>
                      </a:lnTo>
                      <a:lnTo>
                        <a:pt x="0" y="83145"/>
                      </a:lnTo>
                      <a:lnTo>
                        <a:pt x="794" y="79772"/>
                      </a:lnTo>
                      <a:lnTo>
                        <a:pt x="10716" y="78184"/>
                      </a:lnTo>
                      <a:lnTo>
                        <a:pt x="23812" y="4961"/>
                      </a:lnTo>
                      <a:lnTo>
                        <a:pt x="13295" y="3175"/>
                      </a:lnTo>
                      <a:lnTo>
                        <a:pt x="13891" y="0"/>
                      </a:lnTo>
                      <a:lnTo>
                        <a:pt x="79375" y="0"/>
                      </a:lnTo>
                      <a:lnTo>
                        <a:pt x="76002" y="19844"/>
                      </a:lnTo>
                      <a:lnTo>
                        <a:pt x="71834" y="19844"/>
                      </a:lnTo>
                      <a:lnTo>
                        <a:pt x="72231" y="6350"/>
                      </a:lnTo>
                      <a:quadBezTo>
                        <a:pt x="65484" y="5556"/>
                        <a:pt x="52189" y="5556"/>
                      </a:quadBezTo>
                      <a:lnTo>
                        <a:pt x="35520" y="5556"/>
                      </a:lnTo>
                      <a:lnTo>
                        <a:pt x="29369" y="40283"/>
                      </a:lnTo>
                      <a:lnTo>
                        <a:pt x="57150" y="40283"/>
                      </a:lnTo>
                      <a:lnTo>
                        <a:pt x="60722" y="30361"/>
                      </a:lnTo>
                      <a:lnTo>
                        <a:pt x="64492" y="30361"/>
                      </a:lnTo>
                      <a:lnTo>
                        <a:pt x="60127" y="55761"/>
                      </a:lnTo>
                      <a:lnTo>
                        <a:pt x="56158" y="55761"/>
                      </a:lnTo>
                      <a:lnTo>
                        <a:pt x="56158" y="45839"/>
                      </a:lnTo>
                      <a:lnTo>
                        <a:pt x="28377" y="4583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9" name="Fstar_legend_glyph_1"/>
                <p:cNvSpPr/>
                <p:nvPr/>
              </p:nvSpPr>
              <p:spPr>
                <a:xfrm>
                  <a:off x="1965635" y="401752"/>
                  <a:ext cx="42267" cy="371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2267" h="37108">
                      <a:moveTo>
                        <a:pt x="0" y="13692"/>
                      </a:moveTo>
                      <a:lnTo>
                        <a:pt x="3175" y="6548"/>
                      </a:lnTo>
                      <a:lnTo>
                        <a:pt x="19447" y="16073"/>
                      </a:lnTo>
                      <a:lnTo>
                        <a:pt x="17066" y="0"/>
                      </a:lnTo>
                      <a:lnTo>
                        <a:pt x="25202" y="0"/>
                      </a:lnTo>
                      <a:lnTo>
                        <a:pt x="22820" y="16073"/>
                      </a:lnTo>
                      <a:lnTo>
                        <a:pt x="38894" y="6747"/>
                      </a:lnTo>
                      <a:lnTo>
                        <a:pt x="42267" y="13692"/>
                      </a:lnTo>
                      <a:lnTo>
                        <a:pt x="25202" y="18653"/>
                      </a:lnTo>
                      <a:lnTo>
                        <a:pt x="42267" y="23416"/>
                      </a:lnTo>
                      <a:lnTo>
                        <a:pt x="38894" y="30361"/>
                      </a:lnTo>
                      <a:lnTo>
                        <a:pt x="22820" y="21034"/>
                      </a:lnTo>
                      <a:lnTo>
                        <a:pt x="25202" y="37108"/>
                      </a:lnTo>
                      <a:lnTo>
                        <a:pt x="17066" y="37108"/>
                      </a:lnTo>
                      <a:lnTo>
                        <a:pt x="19447" y="20836"/>
                      </a:lnTo>
                      <a:lnTo>
                        <a:pt x="3175" y="30559"/>
                      </a:lnTo>
                      <a:lnTo>
                        <a:pt x="0" y="23416"/>
                      </a:lnTo>
                      <a:lnTo>
                        <a:pt x="16669" y="18653"/>
                      </a:lnTo>
                      <a:lnTo>
                        <a:pt x="0" y="1369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20" name="budget"/>
              <p:cNvSpPr txBox="1"/>
              <p:nvPr/>
            </p:nvSpPr>
            <p:spPr>
              <a:xfrm>
                <a:off x="2590800" y="368300"/>
                <a:ext cx="1193800" cy="2159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⟨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C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,F⟩≤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b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420" name="budget_compat"/>
              <p:cNvGrpSpPr/>
              <p:nvPr/>
            </p:nvGrpSpPr>
            <p:grpSpPr>
              <a:xfrm>
                <a:off x="2874565" y="406400"/>
                <a:ext cx="627973" cy="129381"/>
                <a:chOff x="2874565" y="406400"/>
                <a:chExt cx="627973" cy="129381"/>
              </a:xfrm>
            </p:grpSpPr>
            <p:sp>
              <p:nvSpPr>
                <p:cNvPr id="421" name="budget_glyph_0"/>
                <p:cNvSpPr/>
                <p:nvPr/>
              </p:nvSpPr>
              <p:spPr>
                <a:xfrm>
                  <a:off x="2874565" y="406400"/>
                  <a:ext cx="36115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6116" h="129381">
                      <a:moveTo>
                        <a:pt x="36116" y="0"/>
                      </a:moveTo>
                      <a:lnTo>
                        <a:pt x="9327" y="64492"/>
                      </a:lnTo>
                      <a:lnTo>
                        <a:pt x="35917" y="129381"/>
                      </a:lnTo>
                      <a:lnTo>
                        <a:pt x="28773" y="129381"/>
                      </a:lnTo>
                      <a:lnTo>
                        <a:pt x="0" y="65881"/>
                      </a:lnTo>
                      <a:lnTo>
                        <a:pt x="0" y="63103"/>
                      </a:lnTo>
                      <a:lnTo>
                        <a:pt x="28773" y="0"/>
                      </a:lnTo>
                      <a:lnTo>
                        <a:pt x="3611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2" name="budget_glyph_1"/>
                <p:cNvSpPr/>
                <p:nvPr/>
              </p:nvSpPr>
              <p:spPr>
                <a:xfrm>
                  <a:off x="2927468" y="413543"/>
                  <a:ext cx="86717" cy="9386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6717" h="93861">
                      <a:moveTo>
                        <a:pt x="39886" y="93861"/>
                      </a:moveTo>
                      <a:quadBezTo>
                        <a:pt x="21233" y="93861"/>
                        <a:pt x="10517" y="84138"/>
                      </a:quadBezTo>
                      <a:quadBezTo>
                        <a:pt x="0" y="74216"/>
                        <a:pt x="0" y="56753"/>
                      </a:quadBezTo>
                      <a:quadBezTo>
                        <a:pt x="0" y="39886"/>
                        <a:pt x="6945" y="26988"/>
                      </a:quadBezTo>
                      <a:quadBezTo>
                        <a:pt x="14089" y="13891"/>
                        <a:pt x="26988" y="6945"/>
                      </a:quadBezTo>
                      <a:quadBezTo>
                        <a:pt x="40084" y="0"/>
                        <a:pt x="56952" y="0"/>
                      </a:quadBezTo>
                      <a:quadBezTo>
                        <a:pt x="71239" y="0"/>
                        <a:pt x="86717" y="3373"/>
                      </a:quadBezTo>
                      <a:lnTo>
                        <a:pt x="83741" y="23416"/>
                      </a:lnTo>
                      <a:lnTo>
                        <a:pt x="79177" y="23416"/>
                      </a:lnTo>
                      <a:lnTo>
                        <a:pt x="79177" y="11509"/>
                      </a:lnTo>
                      <a:quadBezTo>
                        <a:pt x="75009" y="8731"/>
                        <a:pt x="69056" y="7144"/>
                      </a:quadBezTo>
                      <a:quadBezTo>
                        <a:pt x="63103" y="5358"/>
                        <a:pt x="56555" y="5358"/>
                      </a:quadBezTo>
                      <a:quadBezTo>
                        <a:pt x="44053" y="5358"/>
                        <a:pt x="34330" y="12105"/>
                      </a:quadBezTo>
                      <a:quadBezTo>
                        <a:pt x="24606" y="18653"/>
                        <a:pt x="19050" y="30758"/>
                      </a:quadBezTo>
                      <a:quadBezTo>
                        <a:pt x="13692" y="42664"/>
                        <a:pt x="13692" y="58142"/>
                      </a:quadBezTo>
                      <a:quadBezTo>
                        <a:pt x="13692" y="72827"/>
                        <a:pt x="20836" y="80566"/>
                      </a:quadBezTo>
                      <a:quadBezTo>
                        <a:pt x="27980" y="88106"/>
                        <a:pt x="41077" y="88106"/>
                      </a:quadBezTo>
                      <a:quadBezTo>
                        <a:pt x="48816" y="88106"/>
                        <a:pt x="56158" y="85923"/>
                      </a:quadBezTo>
                      <a:quadBezTo>
                        <a:pt x="63698" y="83542"/>
                        <a:pt x="68461" y="79970"/>
                      </a:quadBezTo>
                      <a:lnTo>
                        <a:pt x="73223" y="66278"/>
                      </a:lnTo>
                      <a:lnTo>
                        <a:pt x="77788" y="66278"/>
                      </a:lnTo>
                      <a:lnTo>
                        <a:pt x="73620" y="87709"/>
                      </a:lnTo>
                      <a:quadBezTo>
                        <a:pt x="65683" y="90488"/>
                        <a:pt x="56555" y="92273"/>
                      </a:quadBezTo>
                      <a:quadBezTo>
                        <a:pt x="47625" y="93861"/>
                        <a:pt x="39886" y="938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3" name="budget_glyph_2"/>
                <p:cNvSpPr/>
                <p:nvPr/>
              </p:nvSpPr>
              <p:spPr>
                <a:xfrm>
                  <a:off x="3016282" y="445869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4" name="budget_glyph_3"/>
                <p:cNvSpPr/>
                <p:nvPr/>
              </p:nvSpPr>
              <p:spPr>
                <a:xfrm>
                  <a:off x="3072315" y="491529"/>
                  <a:ext cx="20835" cy="3591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0836" h="35917">
                      <a:moveTo>
                        <a:pt x="20836" y="11112"/>
                      </a:moveTo>
                      <a:quadBezTo>
                        <a:pt x="20836" y="20439"/>
                        <a:pt x="15280" y="26789"/>
                      </a:quadBezTo>
                      <a:quadBezTo>
                        <a:pt x="9922" y="33139"/>
                        <a:pt x="0" y="35917"/>
                      </a:quadBezTo>
                      <a:lnTo>
                        <a:pt x="0" y="30758"/>
                      </a:lnTo>
                      <a:quadBezTo>
                        <a:pt x="11906" y="26988"/>
                        <a:pt x="11906" y="19248"/>
                      </a:quadBezTo>
                      <a:quadBezTo>
                        <a:pt x="11906" y="17859"/>
                        <a:pt x="10914" y="16669"/>
                      </a:quadBezTo>
                      <a:quadBezTo>
                        <a:pt x="9922" y="15677"/>
                        <a:pt x="7342" y="14486"/>
                      </a:quadBezTo>
                      <a:quadBezTo>
                        <a:pt x="2778" y="12105"/>
                        <a:pt x="2778" y="7739"/>
                      </a:quadBezTo>
                      <a:quadBezTo>
                        <a:pt x="2778" y="3969"/>
                        <a:pt x="4961" y="1984"/>
                      </a:quadBezTo>
                      <a:quadBezTo>
                        <a:pt x="7342" y="0"/>
                        <a:pt x="11112" y="0"/>
                      </a:quadBezTo>
                      <a:quadBezTo>
                        <a:pt x="15478" y="0"/>
                        <a:pt x="18058" y="3175"/>
                      </a:quadBezTo>
                      <a:quadBezTo>
                        <a:pt x="20836" y="6350"/>
                        <a:pt x="20836" y="1111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5" name="budget_glyph_4"/>
                <p:cNvSpPr/>
                <p:nvPr/>
              </p:nvSpPr>
              <p:spPr>
                <a:xfrm>
                  <a:off x="3121266" y="414535"/>
                  <a:ext cx="87312" cy="9147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7312" h="91480">
                      <a:moveTo>
                        <a:pt x="31155" y="50403"/>
                      </a:moveTo>
                      <a:lnTo>
                        <a:pt x="25003" y="85923"/>
                      </a:lnTo>
                      <a:lnTo>
                        <a:pt x="39886" y="87908"/>
                      </a:lnTo>
                      <a:lnTo>
                        <a:pt x="39291" y="91480"/>
                      </a:lnTo>
                      <a:lnTo>
                        <a:pt x="0" y="91480"/>
                      </a:lnTo>
                      <a:lnTo>
                        <a:pt x="794" y="87908"/>
                      </a:lnTo>
                      <a:lnTo>
                        <a:pt x="11708" y="85923"/>
                      </a:lnTo>
                      <a:lnTo>
                        <a:pt x="25995" y="5358"/>
                      </a:lnTo>
                      <a:lnTo>
                        <a:pt x="14684" y="3572"/>
                      </a:lnTo>
                      <a:lnTo>
                        <a:pt x="15280" y="0"/>
                      </a:lnTo>
                      <a:lnTo>
                        <a:pt x="87312" y="0"/>
                      </a:lnTo>
                      <a:lnTo>
                        <a:pt x="83344" y="21828"/>
                      </a:lnTo>
                      <a:lnTo>
                        <a:pt x="78978" y="21828"/>
                      </a:lnTo>
                      <a:lnTo>
                        <a:pt x="79375" y="7144"/>
                      </a:lnTo>
                      <a:quadBezTo>
                        <a:pt x="72033" y="6152"/>
                        <a:pt x="57348" y="6152"/>
                      </a:quadBezTo>
                      <a:lnTo>
                        <a:pt x="39092" y="6152"/>
                      </a:lnTo>
                      <a:lnTo>
                        <a:pt x="32345" y="44252"/>
                      </a:lnTo>
                      <a:lnTo>
                        <a:pt x="62706" y="44252"/>
                      </a:lnTo>
                      <a:lnTo>
                        <a:pt x="66675" y="33338"/>
                      </a:lnTo>
                      <a:lnTo>
                        <a:pt x="70842" y="33338"/>
                      </a:lnTo>
                      <a:lnTo>
                        <a:pt x="65881" y="61516"/>
                      </a:lnTo>
                      <a:lnTo>
                        <a:pt x="61714" y="61516"/>
                      </a:lnTo>
                      <a:lnTo>
                        <a:pt x="61516" y="50403"/>
                      </a:lnTo>
                      <a:lnTo>
                        <a:pt x="31155" y="5040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6" name="budget_glyph_5"/>
                <p:cNvSpPr/>
                <p:nvPr/>
              </p:nvSpPr>
              <p:spPr>
                <a:xfrm>
                  <a:off x="3216522" y="406400"/>
                  <a:ext cx="35917" cy="12938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5917" h="129381">
                      <a:moveTo>
                        <a:pt x="35917" y="66080"/>
                      </a:moveTo>
                      <a:lnTo>
                        <a:pt x="7144" y="129381"/>
                      </a:lnTo>
                      <a:lnTo>
                        <a:pt x="0" y="129381"/>
                      </a:lnTo>
                      <a:lnTo>
                        <a:pt x="26789" y="64691"/>
                      </a:lnTo>
                      <a:lnTo>
                        <a:pt x="198" y="0"/>
                      </a:lnTo>
                      <a:lnTo>
                        <a:pt x="7342" y="0"/>
                      </a:lnTo>
                      <a:lnTo>
                        <a:pt x="35917" y="63302"/>
                      </a:lnTo>
                      <a:lnTo>
                        <a:pt x="35917" y="660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7" name="budget_glyph_6"/>
                <p:cNvSpPr/>
                <p:nvPr/>
              </p:nvSpPr>
              <p:spPr>
                <a:xfrm>
                  <a:off x="3289206" y="425846"/>
                  <a:ext cx="65087" cy="801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088" h="80169">
                      <a:moveTo>
                        <a:pt x="0" y="35520"/>
                      </a:moveTo>
                      <a:lnTo>
                        <a:pt x="0" y="32147"/>
                      </a:lnTo>
                      <a:lnTo>
                        <a:pt x="65088" y="0"/>
                      </a:lnTo>
                      <a:lnTo>
                        <a:pt x="65088" y="7144"/>
                      </a:lnTo>
                      <a:lnTo>
                        <a:pt x="9922" y="33734"/>
                      </a:lnTo>
                      <a:lnTo>
                        <a:pt x="65088" y="60523"/>
                      </a:lnTo>
                      <a:lnTo>
                        <a:pt x="65088" y="67469"/>
                      </a:lnTo>
                      <a:lnTo>
                        <a:pt x="0" y="35520"/>
                      </a:lnTo>
                      <a:close/>
                      <a:moveTo>
                        <a:pt x="65088" y="73223"/>
                      </a:moveTo>
                      <a:lnTo>
                        <a:pt x="65088" y="80169"/>
                      </a:lnTo>
                      <a:lnTo>
                        <a:pt x="0" y="80169"/>
                      </a:lnTo>
                      <a:lnTo>
                        <a:pt x="0" y="73223"/>
                      </a:lnTo>
                      <a:lnTo>
                        <a:pt x="65088" y="7322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8" name="budget_glyph_7"/>
                <p:cNvSpPr/>
                <p:nvPr/>
              </p:nvSpPr>
              <p:spPr>
                <a:xfrm>
                  <a:off x="3385460" y="409178"/>
                  <a:ext cx="60523" cy="9822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523" h="98227">
                      <a:moveTo>
                        <a:pt x="15677" y="4564"/>
                      </a:moveTo>
                      <a:lnTo>
                        <a:pt x="6548" y="2977"/>
                      </a:lnTo>
                      <a:lnTo>
                        <a:pt x="7144" y="0"/>
                      </a:lnTo>
                      <a:lnTo>
                        <a:pt x="27583" y="0"/>
                      </a:lnTo>
                      <a:lnTo>
                        <a:pt x="22622" y="29964"/>
                      </a:lnTo>
                      <a:quadBezTo>
                        <a:pt x="21431" y="37703"/>
                        <a:pt x="19844" y="43061"/>
                      </a:quadBezTo>
                      <a:quadBezTo>
                        <a:pt x="25400" y="37505"/>
                        <a:pt x="31155" y="34330"/>
                      </a:quadBezTo>
                      <a:quadBezTo>
                        <a:pt x="36909" y="30956"/>
                        <a:pt x="41672" y="30956"/>
                      </a:quadBezTo>
                      <a:quadBezTo>
                        <a:pt x="50205" y="30956"/>
                        <a:pt x="55364" y="37108"/>
                      </a:quadBezTo>
                      <a:quadBezTo>
                        <a:pt x="60523" y="43259"/>
                        <a:pt x="60523" y="53777"/>
                      </a:quadBezTo>
                      <a:quadBezTo>
                        <a:pt x="60523" y="65484"/>
                        <a:pt x="55364" y="76002"/>
                      </a:quadBezTo>
                      <a:quadBezTo>
                        <a:pt x="50403" y="86320"/>
                        <a:pt x="41275" y="92273"/>
                      </a:quadBezTo>
                      <a:quadBezTo>
                        <a:pt x="32345" y="98227"/>
                        <a:pt x="21828" y="98227"/>
                      </a:quadBezTo>
                      <a:quadBezTo>
                        <a:pt x="15875" y="98227"/>
                        <a:pt x="10120" y="96639"/>
                      </a:quadBezTo>
                      <a:quadBezTo>
                        <a:pt x="4366" y="95052"/>
                        <a:pt x="0" y="92472"/>
                      </a:quadBezTo>
                      <a:lnTo>
                        <a:pt x="15677" y="4564"/>
                      </a:lnTo>
                      <a:close/>
                      <a:moveTo>
                        <a:pt x="11708" y="89495"/>
                      </a:moveTo>
                      <a:quadBezTo>
                        <a:pt x="15677" y="92869"/>
                        <a:pt x="22820" y="92869"/>
                      </a:quadBezTo>
                      <a:quadBezTo>
                        <a:pt x="29766" y="92869"/>
                        <a:pt x="35520" y="87709"/>
                      </a:quadBezTo>
                      <a:quadBezTo>
                        <a:pt x="41473" y="82550"/>
                        <a:pt x="44847" y="73819"/>
                      </a:quadBezTo>
                      <a:quadBezTo>
                        <a:pt x="48220" y="65088"/>
                        <a:pt x="48220" y="55562"/>
                      </a:quadBezTo>
                      <a:quadBezTo>
                        <a:pt x="48220" y="48022"/>
                        <a:pt x="45045" y="43855"/>
                      </a:quadBezTo>
                      <a:quadBezTo>
                        <a:pt x="41870" y="39489"/>
                        <a:pt x="36512" y="39489"/>
                      </a:quadBezTo>
                      <a:quadBezTo>
                        <a:pt x="32544" y="39489"/>
                        <a:pt x="27781" y="42267"/>
                      </a:quadBezTo>
                      <a:quadBezTo>
                        <a:pt x="23217" y="44847"/>
                        <a:pt x="19050" y="49014"/>
                      </a:quadBezTo>
                      <a:lnTo>
                        <a:pt x="11708" y="8949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9" name="budget_glyph_8"/>
                <p:cNvSpPr/>
                <p:nvPr/>
              </p:nvSpPr>
              <p:spPr>
                <a:xfrm>
                  <a:off x="3453524" y="445869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30" name="raw_dual"/>
              <p:cNvSpPr txBox="1"/>
              <p:nvPr/>
            </p:nvSpPr>
            <p:spPr>
              <a:xfrm>
                <a:off x="2184400" y="1384300"/>
                <a:ext cx="2286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Sup>
                        <ns1:e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λ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00" lang="en-US">
                              <a:solidFill>
                                <a:srgbClr val="087F8C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</ns1:oMath>
                  </ns1:oMathPara>
                </ns0:m>
              </a:p>
            </p:txBody>
          </p:sp>
        </mc:Choice>
        <mc:Fallback>
          <p:grpSp>
            <p:nvGrpSpPr>
              <p:cNvPr id="430" name="raw_dual_compat"/>
              <p:cNvGrpSpPr/>
              <p:nvPr/>
            </p:nvGrpSpPr>
            <p:grpSpPr>
              <a:xfrm>
                <a:off x="2225476" y="1371802"/>
                <a:ext cx="127431" cy="171680"/>
                <a:chOff x="2225476" y="1371802"/>
                <a:chExt cx="127431" cy="171680"/>
              </a:xfrm>
            </p:grpSpPr>
            <p:sp>
              <p:nvSpPr>
                <p:cNvPr id="431" name="raw_dual_glyph_0"/>
                <p:cNvSpPr/>
                <p:nvPr/>
              </p:nvSpPr>
              <p:spPr>
                <a:xfrm>
                  <a:off x="2225476" y="1413009"/>
                  <a:ext cx="60325" cy="984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325" h="98425">
                      <a:moveTo>
                        <a:pt x="27186" y="6548"/>
                      </a:moveTo>
                      <a:quadBezTo>
                        <a:pt x="24805" y="6548"/>
                        <a:pt x="22622" y="7342"/>
                      </a:quadBezTo>
                      <a:lnTo>
                        <a:pt x="19447" y="12898"/>
                      </a:lnTo>
                      <a:lnTo>
                        <a:pt x="16073" y="12898"/>
                      </a:lnTo>
                      <a:lnTo>
                        <a:pt x="17462" y="1588"/>
                      </a:lnTo>
                      <a:quadBezTo>
                        <a:pt x="22820" y="0"/>
                        <a:pt x="27781" y="0"/>
                      </a:quadBezTo>
                      <a:quadBezTo>
                        <a:pt x="32345" y="0"/>
                        <a:pt x="35123" y="1786"/>
                      </a:quadBezTo>
                      <a:quadBezTo>
                        <a:pt x="38100" y="3572"/>
                        <a:pt x="39886" y="7541"/>
                      </a:quadBezTo>
                      <a:quadBezTo>
                        <a:pt x="41672" y="11509"/>
                        <a:pt x="43061" y="19844"/>
                      </a:quadBezTo>
                      <a:lnTo>
                        <a:pt x="53777" y="88305"/>
                      </a:lnTo>
                      <a:quadBezTo>
                        <a:pt x="54570" y="93464"/>
                        <a:pt x="60325" y="95448"/>
                      </a:quadBezTo>
                      <a:lnTo>
                        <a:pt x="59928" y="98425"/>
                      </a:lnTo>
                      <a:lnTo>
                        <a:pt x="46434" y="98425"/>
                      </a:lnTo>
                      <a:lnTo>
                        <a:pt x="39886" y="48220"/>
                      </a:lnTo>
                      <a:quadBezTo>
                        <a:pt x="38497" y="51197"/>
                        <a:pt x="35917" y="56158"/>
                      </a:quadBezTo>
                      <a:quadBezTo>
                        <a:pt x="33338" y="60920"/>
                        <a:pt x="31750" y="63698"/>
                      </a:quadBezTo>
                      <a:lnTo>
                        <a:pt x="11708" y="98425"/>
                      </a:lnTo>
                      <a:lnTo>
                        <a:pt x="0" y="98425"/>
                      </a:lnTo>
                      <a:lnTo>
                        <a:pt x="397" y="95448"/>
                      </a:lnTo>
                      <a:lnTo>
                        <a:pt x="38100" y="33536"/>
                      </a:lnTo>
                      <a:lnTo>
                        <a:pt x="36314" y="21828"/>
                      </a:lnTo>
                      <a:quadBezTo>
                        <a:pt x="35322" y="13494"/>
                        <a:pt x="33139" y="10120"/>
                      </a:quadBezTo>
                      <a:quadBezTo>
                        <a:pt x="30956" y="6548"/>
                        <a:pt x="27186" y="6548"/>
                      </a:quadBez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2" name="raw_dual_glyph_1"/>
                <p:cNvSpPr/>
                <p:nvPr/>
              </p:nvSpPr>
              <p:spPr>
                <a:xfrm>
                  <a:off x="2306672" y="1371802"/>
                  <a:ext cx="46235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6236" h="41870">
                      <a:moveTo>
                        <a:pt x="0" y="15280"/>
                      </a:moveTo>
                      <a:lnTo>
                        <a:pt x="3572" y="7342"/>
                      </a:lnTo>
                      <a:lnTo>
                        <a:pt x="21233" y="18256"/>
                      </a:lnTo>
                      <a:lnTo>
                        <a:pt x="18852" y="0"/>
                      </a:lnTo>
                      <a:lnTo>
                        <a:pt x="27583" y="0"/>
                      </a:lnTo>
                      <a:lnTo>
                        <a:pt x="24805" y="18256"/>
                      </a:lnTo>
                      <a:lnTo>
                        <a:pt x="42664" y="7541"/>
                      </a:lnTo>
                      <a:lnTo>
                        <a:pt x="46236" y="15478"/>
                      </a:lnTo>
                      <a:lnTo>
                        <a:pt x="27583" y="21034"/>
                      </a:lnTo>
                      <a:lnTo>
                        <a:pt x="46236" y="26392"/>
                      </a:lnTo>
                      <a:lnTo>
                        <a:pt x="42664" y="34330"/>
                      </a:lnTo>
                      <a:lnTo>
                        <a:pt x="24805" y="23812"/>
                      </a:lnTo>
                      <a:lnTo>
                        <a:pt x="27583" y="41870"/>
                      </a:lnTo>
                      <a:lnTo>
                        <a:pt x="18852" y="41870"/>
                      </a:lnTo>
                      <a:lnTo>
                        <a:pt x="21233" y="23614"/>
                      </a:lnTo>
                      <a:lnTo>
                        <a:pt x="3572" y="34528"/>
                      </a:lnTo>
                      <a:lnTo>
                        <a:pt x="0" y="26392"/>
                      </a:lnTo>
                      <a:lnTo>
                        <a:pt x="18256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3" name="raw_dual_glyph_2"/>
                <p:cNvSpPr/>
                <p:nvPr/>
              </p:nvSpPr>
              <p:spPr>
                <a:xfrm>
                  <a:off x="2292728" y="1464107"/>
                  <a:ext cx="49014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9014" h="79375">
                      <a:moveTo>
                        <a:pt x="13295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3217" y="0"/>
                      </a:lnTo>
                      <a:lnTo>
                        <a:pt x="13692" y="54173"/>
                      </a:lnTo>
                      <a:lnTo>
                        <a:pt x="37505" y="30956"/>
                      </a:lnTo>
                      <a:lnTo>
                        <a:pt x="32345" y="29369"/>
                      </a:lnTo>
                      <a:lnTo>
                        <a:pt x="32742" y="26988"/>
                      </a:lnTo>
                      <a:lnTo>
                        <a:pt x="49014" y="26988"/>
                      </a:lnTo>
                      <a:lnTo>
                        <a:pt x="48617" y="29369"/>
                      </a:lnTo>
                      <a:lnTo>
                        <a:pt x="44053" y="30758"/>
                      </a:lnTo>
                      <a:lnTo>
                        <a:pt x="27583" y="46434"/>
                      </a:lnTo>
                      <a:lnTo>
                        <a:pt x="41275" y="75605"/>
                      </a:lnTo>
                      <a:lnTo>
                        <a:pt x="46633" y="76795"/>
                      </a:lnTo>
                      <a:lnTo>
                        <a:pt x="46236" y="79375"/>
                      </a:lnTo>
                      <a:lnTo>
                        <a:pt x="33139" y="79375"/>
                      </a:lnTo>
                      <a:lnTo>
                        <a:pt x="20836" y="52586"/>
                      </a:lnTo>
                      <a:lnTo>
                        <a:pt x="12700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295" y="3969"/>
                      </a:lnTo>
                      <a:close/>
                    </a:path>
                  </a:pathLst>
                </a:custGeom>
                <a:solidFill>
                  <a:srgbClr val="087F8C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34" name="feedback_cost"/>
              <p:cNvSpPr txBox="1"/>
              <p:nvPr/>
            </p:nvSpPr>
            <p:spPr>
              <a:xfrm>
                <a:off x="1193800" y="2070100"/>
                <a:ext cx="482600" cy="1524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7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acc>
                            <ns1:accPr>
                              <ns1:chr ns1:val="̄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070" lang="en-US">
                                  <a:solidFill>
                                    <a:srgbClr val="BA5B20"/>
                                  </a:solidFill>
                                  <a:latin typeface="Liberation Serif"/>
                                </a:rPr>
                                <ns1:t>J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70" lang="en-US">
                          <a:solidFill>
                            <a:srgbClr val="BA5B20"/>
                          </a:solidFill>
                          <a:latin typeface="Liberation Serif"/>
                        </a:rPr>
                        <ns1:t>−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B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70" lang="en-US">
                              <a:solidFill>
                                <a:srgbClr val="BA5B20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434" name="feedback_cost_compat"/>
              <p:cNvGrpSpPr/>
              <p:nvPr/>
            </p:nvGrpSpPr>
            <p:grpSpPr>
              <a:xfrm>
                <a:off x="1250950" y="2078593"/>
                <a:ext cx="365629" cy="135848"/>
                <a:chOff x="1250950" y="2078593"/>
                <a:chExt cx="365629" cy="135848"/>
              </a:xfrm>
            </p:grpSpPr>
            <p:sp>
              <p:nvSpPr>
                <p:cNvPr id="435" name="feedback_cost_glyph_0"/>
                <p:cNvSpPr/>
                <p:nvPr/>
              </p:nvSpPr>
              <p:spPr>
                <a:xfrm>
                  <a:off x="1252934" y="2103993"/>
                  <a:ext cx="63896" cy="928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897" h="92869">
                      <a:moveTo>
                        <a:pt x="40084" y="5358"/>
                      </a:moveTo>
                      <a:lnTo>
                        <a:pt x="28972" y="3572"/>
                      </a:lnTo>
                      <a:lnTo>
                        <a:pt x="29567" y="0"/>
                      </a:lnTo>
                      <a:lnTo>
                        <a:pt x="63897" y="0"/>
                      </a:lnTo>
                      <a:lnTo>
                        <a:pt x="63302" y="3572"/>
                      </a:lnTo>
                      <a:lnTo>
                        <a:pt x="52983" y="5358"/>
                      </a:lnTo>
                      <a:lnTo>
                        <a:pt x="43061" y="61912"/>
                      </a:lnTo>
                      <a:quadBezTo>
                        <a:pt x="37902" y="92869"/>
                        <a:pt x="15875" y="92869"/>
                      </a:quadBezTo>
                      <a:quadBezTo>
                        <a:pt x="11311" y="92869"/>
                        <a:pt x="6945" y="91877"/>
                      </a:quadBezTo>
                      <a:quadBezTo>
                        <a:pt x="2778" y="91083"/>
                        <a:pt x="0" y="89694"/>
                      </a:quadBezTo>
                      <a:lnTo>
                        <a:pt x="2977" y="73819"/>
                      </a:lnTo>
                      <a:lnTo>
                        <a:pt x="7144" y="73819"/>
                      </a:lnTo>
                      <a:lnTo>
                        <a:pt x="7541" y="83344"/>
                      </a:lnTo>
                      <a:quadBezTo>
                        <a:pt x="8334" y="84931"/>
                        <a:pt x="11112" y="85923"/>
                      </a:quadBezTo>
                      <a:quadBezTo>
                        <a:pt x="13891" y="86916"/>
                        <a:pt x="16669" y="86916"/>
                      </a:quadBezTo>
                      <a:quadBezTo>
                        <a:pt x="25995" y="86916"/>
                        <a:pt x="28377" y="74017"/>
                      </a:quadBezTo>
                      <a:lnTo>
                        <a:pt x="40084" y="5358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6" name="feedback_cost_glyph_1"/>
                <p:cNvSpPr/>
                <p:nvPr/>
              </p:nvSpPr>
              <p:spPr>
                <a:xfrm>
                  <a:off x="1316035" y="21350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7" name="feedback_cost_glyph_2"/>
                <p:cNvSpPr/>
                <p:nvPr/>
              </p:nvSpPr>
              <p:spPr>
                <a:xfrm>
                  <a:off x="1392219" y="2145404"/>
                  <a:ext cx="63500" cy="69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6945">
                      <a:moveTo>
                        <a:pt x="63500" y="0"/>
                      </a:moveTo>
                      <a:lnTo>
                        <a:pt x="63500" y="6945"/>
                      </a:lnTo>
                      <a:lnTo>
                        <a:pt x="0" y="6945"/>
                      </a:lnTo>
                      <a:lnTo>
                        <a:pt x="0" y="0"/>
                      </a:lnTo>
                      <a:lnTo>
                        <a:pt x="63500" y="0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8" name="feedback_cost_glyph_3"/>
                <p:cNvSpPr/>
                <p:nvPr/>
              </p:nvSpPr>
              <p:spPr>
                <a:xfrm>
                  <a:off x="1483377" y="2103732"/>
                  <a:ext cx="79176" cy="9187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9177" h="91877">
                      <a:moveTo>
                        <a:pt x="41473" y="40084"/>
                      </a:moveTo>
                      <a:quadBezTo>
                        <a:pt x="54372" y="40084"/>
                        <a:pt x="59730" y="35719"/>
                      </a:quadBezTo>
                      <a:quadBezTo>
                        <a:pt x="65286" y="31155"/>
                        <a:pt x="65286" y="20042"/>
                      </a:quadBezTo>
                      <a:quadBezTo>
                        <a:pt x="65286" y="12898"/>
                        <a:pt x="60920" y="9525"/>
                      </a:quadBezTo>
                      <a:quadBezTo>
                        <a:pt x="56753" y="6152"/>
                        <a:pt x="46831" y="6152"/>
                      </a:quadBezTo>
                      <a:lnTo>
                        <a:pt x="36314" y="6152"/>
                      </a:lnTo>
                      <a:lnTo>
                        <a:pt x="30361" y="40084"/>
                      </a:lnTo>
                      <a:lnTo>
                        <a:pt x="41473" y="40084"/>
                      </a:lnTo>
                      <a:close/>
                      <a:moveTo>
                        <a:pt x="39886" y="85725"/>
                      </a:moveTo>
                      <a:quadBezTo>
                        <a:pt x="52586" y="85725"/>
                        <a:pt x="58539" y="80764"/>
                      </a:quadBezTo>
                      <a:quadBezTo>
                        <a:pt x="64691" y="75605"/>
                        <a:pt x="64691" y="63698"/>
                      </a:quadBezTo>
                      <a:quadBezTo>
                        <a:pt x="64691" y="54570"/>
                        <a:pt x="58738" y="50403"/>
                      </a:quadBezTo>
                      <a:quadBezTo>
                        <a:pt x="52784" y="46236"/>
                        <a:pt x="41672" y="46236"/>
                      </a:quadBezTo>
                      <a:lnTo>
                        <a:pt x="29369" y="46236"/>
                      </a:lnTo>
                      <a:lnTo>
                        <a:pt x="22622" y="85328"/>
                      </a:lnTo>
                      <a:quadBezTo>
                        <a:pt x="32742" y="85725"/>
                        <a:pt x="39886" y="85725"/>
                      </a:quadBezTo>
                      <a:close/>
                      <a:moveTo>
                        <a:pt x="0" y="91480"/>
                      </a:moveTo>
                      <a:lnTo>
                        <a:pt x="794" y="87908"/>
                      </a:lnTo>
                      <a:lnTo>
                        <a:pt x="9525" y="85923"/>
                      </a:lnTo>
                      <a:lnTo>
                        <a:pt x="23614" y="5358"/>
                      </a:lnTo>
                      <a:lnTo>
                        <a:pt x="12303" y="3572"/>
                      </a:lnTo>
                      <a:lnTo>
                        <a:pt x="13097" y="0"/>
                      </a:lnTo>
                      <a:lnTo>
                        <a:pt x="49808" y="0"/>
                      </a:lnTo>
                      <a:quadBezTo>
                        <a:pt x="79177" y="0"/>
                        <a:pt x="79177" y="19248"/>
                      </a:quadBezTo>
                      <a:quadBezTo>
                        <a:pt x="79177" y="28773"/>
                        <a:pt x="73223" y="35123"/>
                      </a:quadBezTo>
                      <a:quadBezTo>
                        <a:pt x="67469" y="41473"/>
                        <a:pt x="56952" y="42862"/>
                      </a:quadBezTo>
                      <a:quadBezTo>
                        <a:pt x="67270" y="43656"/>
                        <a:pt x="72827" y="49212"/>
                      </a:quadBezTo>
                      <a:quadBezTo>
                        <a:pt x="78581" y="54570"/>
                        <a:pt x="78581" y="63500"/>
                      </a:quadBezTo>
                      <a:quadBezTo>
                        <a:pt x="78581" y="78184"/>
                        <a:pt x="68858" y="85130"/>
                      </a:quadBezTo>
                      <a:quadBezTo>
                        <a:pt x="59134" y="91877"/>
                        <a:pt x="39886" y="91877"/>
                      </a:quadBezTo>
                      <a:lnTo>
                        <a:pt x="14288" y="91480"/>
                      </a:lnTo>
                      <a:lnTo>
                        <a:pt x="0" y="91480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9" name="feedback_cost_glyph_4"/>
                <p:cNvSpPr/>
                <p:nvPr/>
              </p:nvSpPr>
              <p:spPr>
                <a:xfrm>
                  <a:off x="1568756" y="2135066"/>
                  <a:ext cx="47823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823" h="79375">
                      <a:moveTo>
                        <a:pt x="13097" y="3969"/>
                      </a:moveTo>
                      <a:lnTo>
                        <a:pt x="5755" y="2580"/>
                      </a:lnTo>
                      <a:lnTo>
                        <a:pt x="6152" y="0"/>
                      </a:lnTo>
                      <a:lnTo>
                        <a:pt x="22622" y="0"/>
                      </a:lnTo>
                      <a:lnTo>
                        <a:pt x="13295" y="54173"/>
                      </a:lnTo>
                      <a:lnTo>
                        <a:pt x="36512" y="30956"/>
                      </a:lnTo>
                      <a:lnTo>
                        <a:pt x="31552" y="29369"/>
                      </a:lnTo>
                      <a:lnTo>
                        <a:pt x="31948" y="26988"/>
                      </a:lnTo>
                      <a:lnTo>
                        <a:pt x="47823" y="26988"/>
                      </a:lnTo>
                      <a:lnTo>
                        <a:pt x="47427" y="29369"/>
                      </a:lnTo>
                      <a:lnTo>
                        <a:pt x="42862" y="30758"/>
                      </a:lnTo>
                      <a:lnTo>
                        <a:pt x="26988" y="46434"/>
                      </a:lnTo>
                      <a:lnTo>
                        <a:pt x="40283" y="75605"/>
                      </a:lnTo>
                      <a:lnTo>
                        <a:pt x="45442" y="76795"/>
                      </a:lnTo>
                      <a:lnTo>
                        <a:pt x="45045" y="79375"/>
                      </a:lnTo>
                      <a:lnTo>
                        <a:pt x="32345" y="79375"/>
                      </a:lnTo>
                      <a:lnTo>
                        <a:pt x="20439" y="52586"/>
                      </a:lnTo>
                      <a:lnTo>
                        <a:pt x="12502" y="60325"/>
                      </a:lnTo>
                      <a:lnTo>
                        <a:pt x="9128" y="79375"/>
                      </a:lnTo>
                      <a:lnTo>
                        <a:pt x="0" y="79375"/>
                      </a:lnTo>
                      <a:lnTo>
                        <a:pt x="13097" y="3969"/>
                      </a:lnTo>
                      <a:close/>
                    </a:path>
                  </a:pathLst>
                </a:cu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0" name="feedback_cost_rule0"/>
                <p:cNvSpPr/>
                <p:nvPr/>
              </p:nvSpPr>
              <p:spPr>
                <a:xfrm>
                  <a:off x="1250950" y="2078593"/>
                  <a:ext cx="60596" cy="8493"/>
                </a:xfrm>
                <a:prstGeom prst="rect">
                  <a:avLst/>
                </a:prstGeom>
                <a:solidFill>
                  <a:srgbClr val="BA5B20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41" name="price_sum"/>
              <p:cNvSpPr txBox="1"/>
              <p:nvPr/>
            </p:nvSpPr>
            <p:spPr>
              <a:xfrm>
                <a:off x="1816100" y="1955800"/>
                <a:ext cx="939800" cy="2540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5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sSub>
                        <ns1:e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λ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15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=</ns1:t>
                      </ns1:r>
                      <ns1:sSubSup>
                        <ns1:e>
                          <ns1:acc>
                            <ns1:accPr>
                              <ns1:chr ns1:val="̄"/>
                            </ns1:accPr>
                            <ns1:e>
                              <ns1:r>
                                <ns1:rPr>
                                  <ns1:sty ns1:val="i"/>
                                </ns1:rPr>
                                <a:rPr sz="1150" lang="en-US">
                                  <a:solidFill>
                                    <a:srgbClr val="24343D"/>
                                  </a:solidFill>
                                  <a:latin typeface="Liberation Serif"/>
                                </a:rPr>
                                <ns1:t>λ</ns1:t>
                              </ns1:r>
                            </ns1:e>
                          </ns1:acc>
                        </ns1:e>
                        <ns1:sub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  <ns1:sup>
                          <ns1:r>
                            <ns1:rPr>
                              <ns1:nor/>
                              <ns1:sty ns1:val="p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*</ns1:t>
                          </ns1:r>
                        </ns1:sup>
                      </ns1:sSubSup>
                      <ns1:r>
                        <ns1:rPr>
                          <ns1:nor/>
                          <ns1:sty ns1:val="p"/>
                        </ns1:rPr>
                        <a:rPr sz="115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+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β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</ns1:oMath>
                  </ns1:oMathPara>
                </ns0:m>
              </a:p>
            </p:txBody>
          </p:sp>
        </mc:Choice>
        <mc:Fallback>
          <p:grpSp>
            <p:nvGrpSpPr>
              <p:cNvPr id="441" name="price_sum_compat"/>
              <p:cNvGrpSpPr/>
              <p:nvPr/>
            </p:nvGrpSpPr>
            <p:grpSpPr>
              <a:xfrm>
                <a:off x="1964928" y="1994586"/>
                <a:ext cx="627980" cy="179796"/>
                <a:chOff x="1964928" y="1994586"/>
                <a:chExt cx="627980" cy="179796"/>
              </a:xfrm>
            </p:grpSpPr>
            <p:sp>
              <p:nvSpPr>
                <p:cNvPr id="442" name="price_sum_glyph_0"/>
                <p:cNvSpPr/>
                <p:nvPr/>
              </p:nvSpPr>
              <p:spPr>
                <a:xfrm>
                  <a:off x="1964928" y="2032003"/>
                  <a:ext cx="63301" cy="1073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302" h="107355">
                      <a:moveTo>
                        <a:pt x="28377" y="6945"/>
                      </a:moveTo>
                      <a:quadBezTo>
                        <a:pt x="25995" y="6945"/>
                        <a:pt x="23812" y="7938"/>
                      </a:quadBezTo>
                      <a:lnTo>
                        <a:pt x="20439" y="14089"/>
                      </a:lnTo>
                      <a:lnTo>
                        <a:pt x="16867" y="14089"/>
                      </a:lnTo>
                      <a:lnTo>
                        <a:pt x="18256" y="1588"/>
                      </a:lnTo>
                      <a:quadBezTo>
                        <a:pt x="24011" y="0"/>
                        <a:pt x="28972" y="0"/>
                      </a:quadBezTo>
                      <a:quadBezTo>
                        <a:pt x="33933" y="0"/>
                        <a:pt x="36909" y="1984"/>
                      </a:quadBezTo>
                      <a:quadBezTo>
                        <a:pt x="39886" y="3969"/>
                        <a:pt x="41672" y="8334"/>
                      </a:quadBezTo>
                      <a:quadBezTo>
                        <a:pt x="43656" y="12502"/>
                        <a:pt x="45045" y="21630"/>
                      </a:quadBezTo>
                      <a:lnTo>
                        <a:pt x="56158" y="96441"/>
                      </a:lnTo>
                      <a:quadBezTo>
                        <a:pt x="57150" y="101997"/>
                        <a:pt x="63302" y="103981"/>
                      </a:quadBezTo>
                      <a:lnTo>
                        <a:pt x="62706" y="107355"/>
                      </a:lnTo>
                      <a:lnTo>
                        <a:pt x="48617" y="107355"/>
                      </a:lnTo>
                      <a:lnTo>
                        <a:pt x="41672" y="52586"/>
                      </a:lnTo>
                      <a:quadBezTo>
                        <a:pt x="40481" y="55761"/>
                        <a:pt x="37505" y="61119"/>
                      </a:quadBezTo>
                      <a:quadBezTo>
                        <a:pt x="34727" y="66477"/>
                        <a:pt x="33338" y="69453"/>
                      </a:quadBezTo>
                      <a:lnTo>
                        <a:pt x="12303" y="107355"/>
                      </a:lnTo>
                      <a:lnTo>
                        <a:pt x="0" y="107355"/>
                      </a:lnTo>
                      <a:lnTo>
                        <a:pt x="595" y="104180"/>
                      </a:lnTo>
                      <a:lnTo>
                        <a:pt x="39886" y="36512"/>
                      </a:lnTo>
                      <a:lnTo>
                        <a:pt x="38100" y="23614"/>
                      </a:lnTo>
                      <a:quadBezTo>
                        <a:pt x="36909" y="14684"/>
                        <a:pt x="34528" y="10914"/>
                      </a:quadBezTo>
                      <a:quadBezTo>
                        <a:pt x="32345" y="6945"/>
                        <a:pt x="28377" y="6945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3" name="price_sum_glyph_1"/>
                <p:cNvSpPr/>
                <p:nvPr/>
              </p:nvSpPr>
              <p:spPr>
                <a:xfrm>
                  <a:off x="2035128" y="2080998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4" name="price_sum_glyph_2"/>
                <p:cNvSpPr/>
                <p:nvPr/>
              </p:nvSpPr>
              <p:spPr>
                <a:xfrm>
                  <a:off x="2116849" y="2069707"/>
                  <a:ext cx="67865" cy="3810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38100">
                      <a:moveTo>
                        <a:pt x="67866" y="30559"/>
                      </a:moveTo>
                      <a:lnTo>
                        <a:pt x="67866" y="38100"/>
                      </a:lnTo>
                      <a:lnTo>
                        <a:pt x="0" y="38100"/>
                      </a:lnTo>
                      <a:lnTo>
                        <a:pt x="0" y="30559"/>
                      </a:lnTo>
                      <a:lnTo>
                        <a:pt x="67866" y="30559"/>
                      </a:lnTo>
                      <a:close/>
                      <a:moveTo>
                        <a:pt x="67866" y="0"/>
                      </a:moveTo>
                      <a:lnTo>
                        <a:pt x="67866" y="7541"/>
                      </a:lnTo>
                      <a:lnTo>
                        <a:pt x="0" y="7541"/>
                      </a:lnTo>
                      <a:lnTo>
                        <a:pt x="0" y="0"/>
                      </a:lnTo>
                      <a:lnTo>
                        <a:pt x="67866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5" name="price_sum_glyph_3"/>
                <p:cNvSpPr/>
                <p:nvPr/>
              </p:nvSpPr>
              <p:spPr>
                <a:xfrm>
                  <a:off x="2209397" y="2030384"/>
                  <a:ext cx="63301" cy="10735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302" h="107355">
                      <a:moveTo>
                        <a:pt x="28377" y="6945"/>
                      </a:moveTo>
                      <a:quadBezTo>
                        <a:pt x="25995" y="6945"/>
                        <a:pt x="23812" y="7938"/>
                      </a:quadBezTo>
                      <a:lnTo>
                        <a:pt x="20439" y="14089"/>
                      </a:lnTo>
                      <a:lnTo>
                        <a:pt x="16867" y="14089"/>
                      </a:lnTo>
                      <a:lnTo>
                        <a:pt x="18256" y="1588"/>
                      </a:lnTo>
                      <a:quadBezTo>
                        <a:pt x="24011" y="0"/>
                        <a:pt x="28972" y="0"/>
                      </a:quadBezTo>
                      <a:quadBezTo>
                        <a:pt x="33933" y="0"/>
                        <a:pt x="36909" y="1984"/>
                      </a:quadBezTo>
                      <a:quadBezTo>
                        <a:pt x="39886" y="3969"/>
                        <a:pt x="41672" y="8334"/>
                      </a:quadBezTo>
                      <a:quadBezTo>
                        <a:pt x="43656" y="12502"/>
                        <a:pt x="45045" y="21630"/>
                      </a:quadBezTo>
                      <a:lnTo>
                        <a:pt x="56158" y="96441"/>
                      </a:lnTo>
                      <a:quadBezTo>
                        <a:pt x="57150" y="101997"/>
                        <a:pt x="63302" y="103981"/>
                      </a:quadBezTo>
                      <a:lnTo>
                        <a:pt x="62706" y="107355"/>
                      </a:lnTo>
                      <a:lnTo>
                        <a:pt x="48617" y="107355"/>
                      </a:lnTo>
                      <a:lnTo>
                        <a:pt x="41672" y="52586"/>
                      </a:lnTo>
                      <a:quadBezTo>
                        <a:pt x="40481" y="55761"/>
                        <a:pt x="37505" y="61119"/>
                      </a:quadBezTo>
                      <a:quadBezTo>
                        <a:pt x="34727" y="66477"/>
                        <a:pt x="33338" y="69453"/>
                      </a:quadBezTo>
                      <a:lnTo>
                        <a:pt x="12303" y="107355"/>
                      </a:lnTo>
                      <a:lnTo>
                        <a:pt x="0" y="107355"/>
                      </a:lnTo>
                      <a:lnTo>
                        <a:pt x="595" y="104180"/>
                      </a:lnTo>
                      <a:lnTo>
                        <a:pt x="39886" y="36512"/>
                      </a:lnTo>
                      <a:lnTo>
                        <a:pt x="38100" y="23614"/>
                      </a:lnTo>
                      <a:quadBezTo>
                        <a:pt x="36909" y="14684"/>
                        <a:pt x="34528" y="10914"/>
                      </a:quadBezTo>
                      <a:quadBezTo>
                        <a:pt x="32345" y="6945"/>
                        <a:pt x="28377" y="6945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6" name="price_sum_glyph_4"/>
                <p:cNvSpPr/>
                <p:nvPr/>
              </p:nvSpPr>
              <p:spPr>
                <a:xfrm>
                  <a:off x="2283414" y="1994586"/>
                  <a:ext cx="48021" cy="4187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8022" h="41870">
                      <a:moveTo>
                        <a:pt x="0" y="15280"/>
                      </a:moveTo>
                      <a:lnTo>
                        <a:pt x="3770" y="7342"/>
                      </a:lnTo>
                      <a:lnTo>
                        <a:pt x="22027" y="18256"/>
                      </a:lnTo>
                      <a:lnTo>
                        <a:pt x="19645" y="0"/>
                      </a:lnTo>
                      <a:lnTo>
                        <a:pt x="28773" y="0"/>
                      </a:lnTo>
                      <a:lnTo>
                        <a:pt x="25995" y="18256"/>
                      </a:lnTo>
                      <a:lnTo>
                        <a:pt x="44450" y="7541"/>
                      </a:lnTo>
                      <a:lnTo>
                        <a:pt x="48022" y="15478"/>
                      </a:lnTo>
                      <a:lnTo>
                        <a:pt x="28773" y="21034"/>
                      </a:lnTo>
                      <a:lnTo>
                        <a:pt x="48022" y="26392"/>
                      </a:lnTo>
                      <a:lnTo>
                        <a:pt x="44450" y="34330"/>
                      </a:lnTo>
                      <a:lnTo>
                        <a:pt x="25995" y="23812"/>
                      </a:lnTo>
                      <a:lnTo>
                        <a:pt x="28773" y="41870"/>
                      </a:lnTo>
                      <a:lnTo>
                        <a:pt x="19645" y="41870"/>
                      </a:lnTo>
                      <a:lnTo>
                        <a:pt x="22027" y="23614"/>
                      </a:lnTo>
                      <a:lnTo>
                        <a:pt x="3770" y="34528"/>
                      </a:lnTo>
                      <a:lnTo>
                        <a:pt x="0" y="26392"/>
                      </a:lnTo>
                      <a:lnTo>
                        <a:pt x="19050" y="21034"/>
                      </a:lnTo>
                      <a:lnTo>
                        <a:pt x="0" y="1528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7" name="price_sum_glyph_5"/>
                <p:cNvSpPr/>
                <p:nvPr/>
              </p:nvSpPr>
              <p:spPr>
                <a:xfrm>
                  <a:off x="2281033" y="2095007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8" name="price_sum_glyph_6"/>
                <p:cNvSpPr/>
                <p:nvPr/>
              </p:nvSpPr>
              <p:spPr>
                <a:xfrm>
                  <a:off x="2369479" y="2053236"/>
                  <a:ext cx="67865" cy="710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7866" h="71041">
                      <a:moveTo>
                        <a:pt x="37505" y="39291"/>
                      </a:moveTo>
                      <a:lnTo>
                        <a:pt x="37505" y="71041"/>
                      </a:lnTo>
                      <a:lnTo>
                        <a:pt x="30162" y="71041"/>
                      </a:lnTo>
                      <a:lnTo>
                        <a:pt x="30162" y="39291"/>
                      </a:lnTo>
                      <a:lnTo>
                        <a:pt x="0" y="39291"/>
                      </a:lnTo>
                      <a:lnTo>
                        <a:pt x="0" y="31750"/>
                      </a:lnTo>
                      <a:lnTo>
                        <a:pt x="30162" y="31750"/>
                      </a:lnTo>
                      <a:lnTo>
                        <a:pt x="30162" y="0"/>
                      </a:lnTo>
                      <a:lnTo>
                        <a:pt x="37505" y="0"/>
                      </a:lnTo>
                      <a:lnTo>
                        <a:pt x="37505" y="31750"/>
                      </a:lnTo>
                      <a:lnTo>
                        <a:pt x="67866" y="31750"/>
                      </a:lnTo>
                      <a:lnTo>
                        <a:pt x="67866" y="39291"/>
                      </a:lnTo>
                      <a:lnTo>
                        <a:pt x="37505" y="39291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9" name="price_sum_glyph_7"/>
                <p:cNvSpPr/>
                <p:nvPr/>
              </p:nvSpPr>
              <p:spPr>
                <a:xfrm>
                  <a:off x="2463218" y="2032003"/>
                  <a:ext cx="75009" cy="13989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5009" h="139898">
                      <a:moveTo>
                        <a:pt x="52189" y="0"/>
                      </a:moveTo>
                      <a:quadBezTo>
                        <a:pt x="62706" y="0"/>
                        <a:pt x="68858" y="5755"/>
                      </a:quadBezTo>
                      <a:quadBezTo>
                        <a:pt x="75009" y="11509"/>
                        <a:pt x="75009" y="21630"/>
                      </a:quadBezTo>
                      <a:quadBezTo>
                        <a:pt x="75009" y="32941"/>
                        <a:pt x="69056" y="40680"/>
                      </a:quadBezTo>
                      <a:quadBezTo>
                        <a:pt x="63103" y="48220"/>
                        <a:pt x="52983" y="50602"/>
                      </a:quadBezTo>
                      <a:lnTo>
                        <a:pt x="52983" y="51395"/>
                      </a:lnTo>
                      <a:quadBezTo>
                        <a:pt x="60722" y="53181"/>
                        <a:pt x="65088" y="59134"/>
                      </a:quadBezTo>
                      <a:quadBezTo>
                        <a:pt x="69652" y="65088"/>
                        <a:pt x="69652" y="74017"/>
                      </a:quadBezTo>
                      <a:quadBezTo>
                        <a:pt x="69652" y="90091"/>
                        <a:pt x="60523" y="99616"/>
                      </a:quadBezTo>
                      <a:quadBezTo>
                        <a:pt x="51395" y="108942"/>
                        <a:pt x="35917" y="108942"/>
                      </a:quadBezTo>
                      <a:quadBezTo>
                        <a:pt x="30361" y="108942"/>
                        <a:pt x="25400" y="107752"/>
                      </a:quadBezTo>
                      <a:quadBezTo>
                        <a:pt x="20638" y="106561"/>
                        <a:pt x="17661" y="104973"/>
                      </a:quadBezTo>
                      <a:lnTo>
                        <a:pt x="11906" y="139898"/>
                      </a:lnTo>
                      <a:lnTo>
                        <a:pt x="0" y="139898"/>
                      </a:lnTo>
                      <a:lnTo>
                        <a:pt x="17264" y="37306"/>
                      </a:lnTo>
                      <a:quadBezTo>
                        <a:pt x="20439" y="18058"/>
                        <a:pt x="28575" y="9128"/>
                      </a:quadBezTo>
                      <a:quadBezTo>
                        <a:pt x="36909" y="0"/>
                        <a:pt x="52189" y="0"/>
                      </a:quadBezTo>
                      <a:close/>
                      <a:moveTo>
                        <a:pt x="51395" y="5953"/>
                      </a:moveTo>
                      <a:quadBezTo>
                        <a:pt x="44450" y="5953"/>
                        <a:pt x="40481" y="9128"/>
                      </a:quadBezTo>
                      <a:quadBezTo>
                        <a:pt x="36711" y="12105"/>
                        <a:pt x="33933" y="19050"/>
                      </a:quadBezTo>
                      <a:quadBezTo>
                        <a:pt x="31155" y="25797"/>
                        <a:pt x="28972" y="37703"/>
                      </a:quadBezTo>
                      <a:lnTo>
                        <a:pt x="18653" y="98822"/>
                      </a:lnTo>
                      <a:quadBezTo>
                        <a:pt x="21233" y="100211"/>
                        <a:pt x="25400" y="101203"/>
                      </a:quadBezTo>
                      <a:quadBezTo>
                        <a:pt x="29766" y="102195"/>
                        <a:pt x="34330" y="102195"/>
                      </a:quadBezTo>
                      <a:quadBezTo>
                        <a:pt x="44847" y="102195"/>
                        <a:pt x="50998" y="94655"/>
                      </a:quadBezTo>
                      <a:quadBezTo>
                        <a:pt x="57150" y="86916"/>
                        <a:pt x="57150" y="73422"/>
                      </a:quadBezTo>
                      <a:quadBezTo>
                        <a:pt x="57150" y="64095"/>
                        <a:pt x="52189" y="59531"/>
                      </a:quadBezTo>
                      <a:quadBezTo>
                        <a:pt x="47427" y="54769"/>
                        <a:pt x="38894" y="54372"/>
                      </a:quadBezTo>
                      <a:lnTo>
                        <a:pt x="39886" y="48617"/>
                      </a:lnTo>
                      <a:quadBezTo>
                        <a:pt x="51197" y="48419"/>
                        <a:pt x="57150" y="41077"/>
                      </a:quadBezTo>
                      <a:quadBezTo>
                        <a:pt x="63302" y="33536"/>
                        <a:pt x="63302" y="20638"/>
                      </a:quadBezTo>
                      <a:quadBezTo>
                        <a:pt x="63302" y="13891"/>
                        <a:pt x="60127" y="9922"/>
                      </a:quadBezTo>
                      <a:quadBezTo>
                        <a:pt x="57150" y="5953"/>
                        <a:pt x="51395" y="5953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0" name="price_sum_glyph_8"/>
                <p:cNvSpPr/>
                <p:nvPr/>
              </p:nvSpPr>
              <p:spPr>
                <a:xfrm>
                  <a:off x="2541712" y="2080998"/>
                  <a:ext cx="51196" cy="7937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1197" h="79375">
                      <a:moveTo>
                        <a:pt x="14089" y="3969"/>
                      </a:moveTo>
                      <a:lnTo>
                        <a:pt x="6152" y="2580"/>
                      </a:lnTo>
                      <a:lnTo>
                        <a:pt x="6548" y="0"/>
                      </a:lnTo>
                      <a:lnTo>
                        <a:pt x="24408" y="0"/>
                      </a:lnTo>
                      <a:lnTo>
                        <a:pt x="14288" y="54173"/>
                      </a:lnTo>
                      <a:lnTo>
                        <a:pt x="39291" y="30956"/>
                      </a:lnTo>
                      <a:lnTo>
                        <a:pt x="33734" y="29369"/>
                      </a:lnTo>
                      <a:lnTo>
                        <a:pt x="34330" y="26988"/>
                      </a:lnTo>
                      <a:lnTo>
                        <a:pt x="51197" y="26988"/>
                      </a:lnTo>
                      <a:lnTo>
                        <a:pt x="50800" y="29369"/>
                      </a:lnTo>
                      <a:lnTo>
                        <a:pt x="46038" y="30758"/>
                      </a:lnTo>
                      <a:lnTo>
                        <a:pt x="28972" y="46434"/>
                      </a:lnTo>
                      <a:lnTo>
                        <a:pt x="43061" y="75605"/>
                      </a:lnTo>
                      <a:lnTo>
                        <a:pt x="48816" y="76795"/>
                      </a:lnTo>
                      <a:lnTo>
                        <a:pt x="48419" y="79375"/>
                      </a:lnTo>
                      <a:lnTo>
                        <a:pt x="34528" y="79375"/>
                      </a:lnTo>
                      <a:lnTo>
                        <a:pt x="22027" y="52586"/>
                      </a:lnTo>
                      <a:lnTo>
                        <a:pt x="13295" y="60325"/>
                      </a:lnTo>
                      <a:lnTo>
                        <a:pt x="9723" y="79375"/>
                      </a:lnTo>
                      <a:lnTo>
                        <a:pt x="0" y="79375"/>
                      </a:lnTo>
                      <a:lnTo>
                        <a:pt x="14089" y="3969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1" name="price_sum_rule0"/>
                <p:cNvSpPr/>
                <p:nvPr/>
              </p:nvSpPr>
              <p:spPr>
                <a:xfrm>
                  <a:off x="2212969" y="2004984"/>
                  <a:ext cx="63255" cy="9128"/>
                </a:xfrm>
                <a:prstGeom prst="rect">
                  <a:avLst/>
                </a:pr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52" name="priced_label"/>
              <p:cNvSpPr txBox="1"/>
              <p:nvPr/>
            </p:nvSpPr>
            <p:spPr>
              <a:xfrm>
                <a:off x="2857500" y="1917700"/>
                <a:ext cx="2032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15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acc>
                        <ns1:accPr>
                          <ns1:chr ns1:val="̃"/>
                        </ns1:accPr>
                        <ns1:e>
                          <ns1:r>
                            <ns1:rPr>
                              <ns1:sty ns1:val="i"/>
                            </ns1:rPr>
                            <a:rPr sz="115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A</ns1:t>
                          </ns1:r>
                        </ns1:e>
                      </ns1:acc>
                    </ns1:oMath>
                  </ns1:oMathPara>
                </ns0:m>
              </a:p>
            </p:txBody>
          </p:sp>
        </mc:Choice>
        <mc:Fallback>
          <p:grpSp>
            <p:nvGrpSpPr>
              <p:cNvPr id="452" name="priced_label_compat"/>
              <p:cNvGrpSpPr/>
              <p:nvPr/>
            </p:nvGrpSpPr>
            <p:grpSpPr>
              <a:xfrm>
                <a:off x="2900362" y="1930400"/>
                <a:ext cx="106044" cy="132357"/>
                <a:chOff x="2900362" y="1930400"/>
                <a:chExt cx="106044" cy="132357"/>
              </a:xfrm>
            </p:grpSpPr>
            <p:sp>
              <p:nvSpPr>
                <p:cNvPr id="453" name="priced_label_glyph_0"/>
                <p:cNvSpPr/>
                <p:nvPr/>
              </p:nvSpPr>
              <p:spPr>
                <a:xfrm>
                  <a:off x="2917903" y="1930400"/>
                  <a:ext cx="88503" cy="1349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88503" h="13494">
                      <a:moveTo>
                        <a:pt x="86122" y="0"/>
                      </a:moveTo>
                      <a:lnTo>
                        <a:pt x="88503" y="0"/>
                      </a:lnTo>
                      <a:quadBezTo>
                        <a:pt x="86122" y="13494"/>
                        <a:pt x="68064" y="13494"/>
                      </a:quadBezTo>
                      <a:quadBezTo>
                        <a:pt x="63698" y="13494"/>
                        <a:pt x="60325" y="13097"/>
                      </a:quadBezTo>
                      <a:quadBezTo>
                        <a:pt x="56952" y="12700"/>
                        <a:pt x="54967" y="12303"/>
                      </a:quadBezTo>
                      <a:quadBezTo>
                        <a:pt x="52784" y="11906"/>
                        <a:pt x="47030" y="10517"/>
                      </a:quadBezTo>
                      <a:quadBezTo>
                        <a:pt x="41275" y="9128"/>
                        <a:pt x="36116" y="8136"/>
                      </a:quadBezTo>
                      <a:quadBezTo>
                        <a:pt x="23019" y="5358"/>
                        <a:pt x="18058" y="5358"/>
                      </a:quadBezTo>
                      <a:quadBezTo>
                        <a:pt x="4961" y="5358"/>
                        <a:pt x="2183" y="13494"/>
                      </a:quadBezTo>
                      <a:lnTo>
                        <a:pt x="0" y="13494"/>
                      </a:lnTo>
                      <a:quadBezTo>
                        <a:pt x="2381" y="0"/>
                        <a:pt x="19447" y="0"/>
                      </a:quadBezTo>
                      <a:quadBezTo>
                        <a:pt x="27583" y="0"/>
                        <a:pt x="51594" y="5358"/>
                      </a:quadBezTo>
                      <a:quadBezTo>
                        <a:pt x="63897" y="8136"/>
                        <a:pt x="70247" y="8136"/>
                      </a:quadBezTo>
                      <a:quadBezTo>
                        <a:pt x="84138" y="8136"/>
                        <a:pt x="86122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4" name="priced_label_glyph_1"/>
                <p:cNvSpPr/>
                <p:nvPr/>
              </p:nvSpPr>
              <p:spPr>
                <a:xfrm>
                  <a:off x="2900362" y="1962150"/>
                  <a:ext cx="97631" cy="10060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97631" h="100608">
                      <a:moveTo>
                        <a:pt x="26789" y="96639"/>
                      </a:moveTo>
                      <a:lnTo>
                        <a:pt x="25995" y="100608"/>
                      </a:lnTo>
                      <a:lnTo>
                        <a:pt x="0" y="100608"/>
                      </a:lnTo>
                      <a:lnTo>
                        <a:pt x="595" y="96639"/>
                      </a:lnTo>
                      <a:lnTo>
                        <a:pt x="8731" y="94655"/>
                      </a:lnTo>
                      <a:lnTo>
                        <a:pt x="57348" y="0"/>
                      </a:lnTo>
                      <a:lnTo>
                        <a:pt x="70842" y="0"/>
                      </a:lnTo>
                      <a:lnTo>
                        <a:pt x="88702" y="94655"/>
                      </a:lnTo>
                      <a:lnTo>
                        <a:pt x="97631" y="96639"/>
                      </a:lnTo>
                      <a:lnTo>
                        <a:pt x="96838" y="100608"/>
                      </a:lnTo>
                      <a:lnTo>
                        <a:pt x="63103" y="100608"/>
                      </a:lnTo>
                      <a:lnTo>
                        <a:pt x="63698" y="96639"/>
                      </a:lnTo>
                      <a:lnTo>
                        <a:pt x="74017" y="94655"/>
                      </a:lnTo>
                      <a:lnTo>
                        <a:pt x="69453" y="65881"/>
                      </a:lnTo>
                      <a:lnTo>
                        <a:pt x="31750" y="65881"/>
                      </a:lnTo>
                      <a:lnTo>
                        <a:pt x="17066" y="94655"/>
                      </a:lnTo>
                      <a:lnTo>
                        <a:pt x="26789" y="96639"/>
                      </a:lnTo>
                      <a:close/>
                      <a:moveTo>
                        <a:pt x="59531" y="10716"/>
                      </a:moveTo>
                      <a:lnTo>
                        <a:pt x="34925" y="59134"/>
                      </a:lnTo>
                      <a:lnTo>
                        <a:pt x="68262" y="59134"/>
                      </a:lnTo>
                      <a:lnTo>
                        <a:pt x="59531" y="1071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55" name="u_fixed_eq"/>
              <p:cNvSpPr txBox="1"/>
              <p:nvPr/>
            </p:nvSpPr>
            <p:spPr>
              <a:xfrm>
                <a:off x="101600" y="2514600"/>
                <a:ext cx="9779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r>
                        <ns1:rPr>
                          <ns1:nor/>
                          <ns1:sty ns1:val="p"/>
                        </ns1:rPr>
                        <a:rPr sz="10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c=0,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0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β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 fixed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455" name="u_fixed_eq_compat"/>
              <p:cNvGrpSpPr/>
              <p:nvPr/>
            </p:nvGrpSpPr>
            <p:grpSpPr>
              <a:xfrm>
                <a:off x="264318" y="2527300"/>
                <a:ext cx="646052" cy="116482"/>
                <a:chOff x="264318" y="2527300"/>
                <a:chExt cx="646052" cy="116482"/>
              </a:xfrm>
            </p:grpSpPr>
            <p:sp>
              <p:nvSpPr>
                <p:cNvPr id="456" name="u_fixed_eq_glyph_0"/>
                <p:cNvSpPr/>
                <p:nvPr/>
              </p:nvSpPr>
              <p:spPr>
                <a:xfrm>
                  <a:off x="264318" y="2556867"/>
                  <a:ext cx="50998" cy="611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998" h="61119">
                      <a:moveTo>
                        <a:pt x="44053" y="51197"/>
                      </a:moveTo>
                      <a:quadBezTo>
                        <a:pt x="39092" y="55761"/>
                        <a:pt x="32742" y="58539"/>
                      </a:quadBezTo>
                      <a:quadBezTo>
                        <a:pt x="26591" y="61119"/>
                        <a:pt x="20836" y="61119"/>
                      </a:quadBezTo>
                      <a:quadBezTo>
                        <a:pt x="10914" y="61119"/>
                        <a:pt x="5358" y="55364"/>
                      </a:quadBezTo>
                      <a:quadBezTo>
                        <a:pt x="0" y="49609"/>
                        <a:pt x="0" y="39489"/>
                      </a:quadBezTo>
                      <a:quadBezTo>
                        <a:pt x="0" y="28575"/>
                        <a:pt x="4366" y="19844"/>
                      </a:quadBezTo>
                      <a:quadBezTo>
                        <a:pt x="8731" y="10914"/>
                        <a:pt x="16669" y="5556"/>
                      </a:quadBezTo>
                      <a:quadBezTo>
                        <a:pt x="24606" y="0"/>
                        <a:pt x="33536" y="0"/>
                      </a:quadBezTo>
                      <a:quadBezTo>
                        <a:pt x="37902" y="0"/>
                        <a:pt x="42862" y="992"/>
                      </a:quadBezTo>
                      <a:quadBezTo>
                        <a:pt x="47823" y="1984"/>
                        <a:pt x="50998" y="3373"/>
                      </a:quadBezTo>
                      <a:lnTo>
                        <a:pt x="48220" y="19645"/>
                      </a:lnTo>
                      <a:lnTo>
                        <a:pt x="44847" y="19645"/>
                      </a:lnTo>
                      <a:lnTo>
                        <a:pt x="43855" y="8731"/>
                      </a:lnTo>
                      <a:quadBezTo>
                        <a:pt x="39886" y="4762"/>
                        <a:pt x="33536" y="4762"/>
                      </a:quadBezTo>
                      <a:quadBezTo>
                        <a:pt x="27583" y="4762"/>
                        <a:pt x="22225" y="9327"/>
                      </a:quadBezTo>
                      <a:quadBezTo>
                        <a:pt x="17066" y="13692"/>
                        <a:pt x="13891" y="21630"/>
                      </a:quadBezTo>
                      <a:quadBezTo>
                        <a:pt x="10914" y="29369"/>
                        <a:pt x="10914" y="38894"/>
                      </a:quadBezTo>
                      <a:quadBezTo>
                        <a:pt x="10914" y="54769"/>
                        <a:pt x="23614" y="54769"/>
                      </a:quadBezTo>
                      <a:quadBezTo>
                        <a:pt x="32544" y="54769"/>
                        <a:pt x="42267" y="48419"/>
                      </a:quadBezTo>
                      <a:lnTo>
                        <a:pt x="44053" y="51197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7" name="u_fixed_eq_glyph_1"/>
                <p:cNvSpPr/>
                <p:nvPr/>
              </p:nvSpPr>
              <p:spPr>
                <a:xfrm>
                  <a:off x="341411" y="2558653"/>
                  <a:ext cx="59134" cy="317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31750">
                      <a:moveTo>
                        <a:pt x="59134" y="25598"/>
                      </a:moveTo>
                      <a:lnTo>
                        <a:pt x="59134" y="31750"/>
                      </a:lnTo>
                      <a:lnTo>
                        <a:pt x="0" y="31750"/>
                      </a:lnTo>
                      <a:lnTo>
                        <a:pt x="0" y="25598"/>
                      </a:lnTo>
                      <a:lnTo>
                        <a:pt x="59134" y="25598"/>
                      </a:lnTo>
                      <a:close/>
                      <a:moveTo>
                        <a:pt x="59134" y="0"/>
                      </a:moveTo>
                      <a:lnTo>
                        <a:pt x="59134" y="6350"/>
                      </a:lnTo>
                      <a:lnTo>
                        <a:pt x="0" y="6350"/>
                      </a:lnTo>
                      <a:lnTo>
                        <a:pt x="0" y="0"/>
                      </a:lnTo>
                      <a:lnTo>
                        <a:pt x="59134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8" name="u_fixed_eq_glyph_2"/>
                <p:cNvSpPr/>
                <p:nvPr/>
              </p:nvSpPr>
              <p:spPr>
                <a:xfrm>
                  <a:off x="429790" y="2532260"/>
                  <a:ext cx="53975" cy="857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3975" h="85725">
                      <a:moveTo>
                        <a:pt x="53975" y="42664"/>
                      </a:moveTo>
                      <a:quadBezTo>
                        <a:pt x="53975" y="85725"/>
                        <a:pt x="26591" y="85725"/>
                      </a:quadBezTo>
                      <a:quadBezTo>
                        <a:pt x="13494" y="85725"/>
                        <a:pt x="6747" y="74811"/>
                      </a:quadBezTo>
                      <a:quadBezTo>
                        <a:pt x="0" y="63698"/>
                        <a:pt x="0" y="42664"/>
                      </a:quadBezTo>
                      <a:quadBezTo>
                        <a:pt x="0" y="22027"/>
                        <a:pt x="6747" y="11112"/>
                      </a:quadBezTo>
                      <a:quadBezTo>
                        <a:pt x="13494" y="0"/>
                        <a:pt x="27186" y="0"/>
                      </a:quadBezTo>
                      <a:quadBezTo>
                        <a:pt x="40283" y="0"/>
                        <a:pt x="47030" y="10914"/>
                      </a:quadBezTo>
                      <a:quadBezTo>
                        <a:pt x="53975" y="21630"/>
                        <a:pt x="53975" y="42664"/>
                      </a:quadBezTo>
                      <a:close/>
                      <a:moveTo>
                        <a:pt x="42466" y="42664"/>
                      </a:moveTo>
                      <a:quadBezTo>
                        <a:pt x="42466" y="22622"/>
                        <a:pt x="38695" y="13891"/>
                      </a:quadBezTo>
                      <a:quadBezTo>
                        <a:pt x="34925" y="4961"/>
                        <a:pt x="26591" y="4961"/>
                      </a:quadBezTo>
                      <a:quadBezTo>
                        <a:pt x="18653" y="4961"/>
                        <a:pt x="15081" y="13295"/>
                      </a:quadBezTo>
                      <a:quadBezTo>
                        <a:pt x="11509" y="21630"/>
                        <a:pt x="11509" y="42664"/>
                      </a:quadBezTo>
                      <a:quadBezTo>
                        <a:pt x="11509" y="63698"/>
                        <a:pt x="15081" y="72430"/>
                      </a:quadBezTo>
                      <a:quadBezTo>
                        <a:pt x="18653" y="80962"/>
                        <a:pt x="26591" y="80962"/>
                      </a:quadBezTo>
                      <a:quadBezTo>
                        <a:pt x="34727" y="80962"/>
                        <a:pt x="38497" y="72033"/>
                      </a:quadBezTo>
                      <a:quadBezTo>
                        <a:pt x="42466" y="62905"/>
                        <a:pt x="42466" y="42664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9" name="u_fixed_eq_glyph_3"/>
                <p:cNvSpPr/>
                <p:nvPr/>
              </p:nvSpPr>
              <p:spPr>
                <a:xfrm>
                  <a:off x="493290" y="2603698"/>
                  <a:ext cx="19050" cy="3254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050" h="32544">
                      <a:moveTo>
                        <a:pt x="19050" y="10120"/>
                      </a:moveTo>
                      <a:quadBezTo>
                        <a:pt x="19050" y="18653"/>
                        <a:pt x="14089" y="24209"/>
                      </a:quadBezTo>
                      <a:quadBezTo>
                        <a:pt x="9128" y="29964"/>
                        <a:pt x="0" y="32544"/>
                      </a:quadBezTo>
                      <a:lnTo>
                        <a:pt x="0" y="27781"/>
                      </a:lnTo>
                      <a:quadBezTo>
                        <a:pt x="10914" y="24408"/>
                        <a:pt x="10914" y="17462"/>
                      </a:quadBezTo>
                      <a:quadBezTo>
                        <a:pt x="10914" y="16272"/>
                        <a:pt x="9922" y="15280"/>
                      </a:quadBezTo>
                      <a:quadBezTo>
                        <a:pt x="9128" y="14288"/>
                        <a:pt x="6945" y="13097"/>
                      </a:quadBezTo>
                      <a:quadBezTo>
                        <a:pt x="2580" y="10914"/>
                        <a:pt x="2580" y="6945"/>
                      </a:quadBezTo>
                      <a:quadBezTo>
                        <a:pt x="2580" y="3572"/>
                        <a:pt x="4762" y="1786"/>
                      </a:quadBezTo>
                      <a:quadBezTo>
                        <a:pt x="6945" y="0"/>
                        <a:pt x="10120" y="0"/>
                      </a:quadBezTo>
                      <a:quadBezTo>
                        <a:pt x="14089" y="0"/>
                        <a:pt x="16470" y="2977"/>
                      </a:quadBezTo>
                      <a:quadBezTo>
                        <a:pt x="19050" y="5755"/>
                        <a:pt x="19050" y="1012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0" name="u_fixed_eq_glyph_4"/>
                <p:cNvSpPr/>
                <p:nvPr/>
              </p:nvSpPr>
              <p:spPr>
                <a:xfrm>
                  <a:off x="536637" y="2527300"/>
                  <a:ext cx="65087" cy="1164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088" h="116483">
                      <a:moveTo>
                        <a:pt x="45244" y="0"/>
                      </a:moveTo>
                      <a:quadBezTo>
                        <a:pt x="54372" y="0"/>
                        <a:pt x="59730" y="4961"/>
                      </a:quadBezTo>
                      <a:quadBezTo>
                        <a:pt x="65088" y="9723"/>
                        <a:pt x="65088" y="18058"/>
                      </a:quadBezTo>
                      <a:quadBezTo>
                        <a:pt x="65088" y="27583"/>
                        <a:pt x="59928" y="33933"/>
                      </a:quadBezTo>
                      <a:quadBezTo>
                        <a:pt x="54769" y="40283"/>
                        <a:pt x="46038" y="42267"/>
                      </a:quadBezTo>
                      <a:lnTo>
                        <a:pt x="45839" y="42862"/>
                      </a:lnTo>
                      <a:quadBezTo>
                        <a:pt x="52586" y="44252"/>
                        <a:pt x="56555" y="49411"/>
                      </a:quadBezTo>
                      <a:quadBezTo>
                        <a:pt x="60523" y="54372"/>
                        <a:pt x="60523" y="61714"/>
                      </a:quadBezTo>
                      <a:quadBezTo>
                        <a:pt x="60523" y="75009"/>
                        <a:pt x="52586" y="82947"/>
                      </a:quadBezTo>
                      <a:quadBezTo>
                        <a:pt x="44648" y="90686"/>
                        <a:pt x="31155" y="90686"/>
                      </a:quadBezTo>
                      <a:quadBezTo>
                        <a:pt x="26392" y="90686"/>
                        <a:pt x="22027" y="89694"/>
                      </a:quadBezTo>
                      <a:quadBezTo>
                        <a:pt x="17859" y="88900"/>
                        <a:pt x="15280" y="87511"/>
                      </a:quadBezTo>
                      <a:lnTo>
                        <a:pt x="10120" y="116483"/>
                      </a:lnTo>
                      <a:lnTo>
                        <a:pt x="0" y="116483"/>
                      </a:lnTo>
                      <a:lnTo>
                        <a:pt x="14883" y="31155"/>
                      </a:lnTo>
                      <a:quadBezTo>
                        <a:pt x="17661" y="15081"/>
                        <a:pt x="24805" y="7541"/>
                      </a:quadBezTo>
                      <a:quadBezTo>
                        <a:pt x="31948" y="0"/>
                        <a:pt x="45244" y="0"/>
                      </a:quadBezTo>
                      <a:close/>
                      <a:moveTo>
                        <a:pt x="44450" y="4961"/>
                      </a:moveTo>
                      <a:quadBezTo>
                        <a:pt x="38497" y="4961"/>
                        <a:pt x="35123" y="7541"/>
                      </a:quadBezTo>
                      <a:quadBezTo>
                        <a:pt x="31750" y="10120"/>
                        <a:pt x="29369" y="15875"/>
                      </a:quadBezTo>
                      <a:quadBezTo>
                        <a:pt x="26988" y="21431"/>
                        <a:pt x="25202" y="31353"/>
                      </a:quadBezTo>
                      <a:lnTo>
                        <a:pt x="16272" y="82352"/>
                      </a:lnTo>
                      <a:quadBezTo>
                        <a:pt x="18455" y="83542"/>
                        <a:pt x="22027" y="84534"/>
                      </a:quadBezTo>
                      <a:quadBezTo>
                        <a:pt x="25797" y="85328"/>
                        <a:pt x="29766" y="85328"/>
                      </a:quadBezTo>
                      <a:quadBezTo>
                        <a:pt x="38894" y="85328"/>
                        <a:pt x="44252" y="78978"/>
                      </a:quadBezTo>
                      <a:quadBezTo>
                        <a:pt x="49609" y="72430"/>
                        <a:pt x="49609" y="61119"/>
                      </a:quadBezTo>
                      <a:quadBezTo>
                        <a:pt x="49609" y="53380"/>
                        <a:pt x="45244" y="49609"/>
                      </a:quadBezTo>
                      <a:quadBezTo>
                        <a:pt x="41077" y="45641"/>
                        <a:pt x="33734" y="45244"/>
                      </a:quadBezTo>
                      <a:lnTo>
                        <a:pt x="34528" y="40481"/>
                      </a:lnTo>
                      <a:quadBezTo>
                        <a:pt x="44450" y="40283"/>
                        <a:pt x="49609" y="34131"/>
                      </a:quadBezTo>
                      <a:quadBezTo>
                        <a:pt x="54967" y="27980"/>
                        <a:pt x="54967" y="17264"/>
                      </a:quadBezTo>
                      <a:quadBezTo>
                        <a:pt x="54967" y="11509"/>
                        <a:pt x="52189" y="8334"/>
                      </a:quadBezTo>
                      <a:quadBezTo>
                        <a:pt x="49609" y="4961"/>
                        <a:pt x="44450" y="49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1" name="u_fixed_eq_glyph_5"/>
                <p:cNvSpPr/>
                <p:nvPr/>
              </p:nvSpPr>
              <p:spPr>
                <a:xfrm>
                  <a:off x="604849" y="2563852"/>
                  <a:ext cx="45045" cy="704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5045" h="70445">
                      <a:moveTo>
                        <a:pt x="12303" y="3373"/>
                      </a:moveTo>
                      <a:lnTo>
                        <a:pt x="5358" y="2183"/>
                      </a:lnTo>
                      <a:lnTo>
                        <a:pt x="5755" y="0"/>
                      </a:lnTo>
                      <a:lnTo>
                        <a:pt x="21431" y="0"/>
                      </a:lnTo>
                      <a:lnTo>
                        <a:pt x="12700" y="48022"/>
                      </a:lnTo>
                      <a:lnTo>
                        <a:pt x="34528" y="27384"/>
                      </a:lnTo>
                      <a:lnTo>
                        <a:pt x="29766" y="25995"/>
                      </a:lnTo>
                      <a:lnTo>
                        <a:pt x="30162" y="23812"/>
                      </a:lnTo>
                      <a:lnTo>
                        <a:pt x="45045" y="23812"/>
                      </a:lnTo>
                      <a:lnTo>
                        <a:pt x="44648" y="25995"/>
                      </a:lnTo>
                      <a:lnTo>
                        <a:pt x="40481" y="27186"/>
                      </a:lnTo>
                      <a:lnTo>
                        <a:pt x="25400" y="41077"/>
                      </a:lnTo>
                      <a:lnTo>
                        <a:pt x="37902" y="67072"/>
                      </a:lnTo>
                      <a:lnTo>
                        <a:pt x="42862" y="68262"/>
                      </a:lnTo>
                      <a:lnTo>
                        <a:pt x="42466" y="70445"/>
                      </a:lnTo>
                      <a:lnTo>
                        <a:pt x="30361" y="70445"/>
                      </a:lnTo>
                      <a:lnTo>
                        <a:pt x="19248" y="46633"/>
                      </a:lnTo>
                      <a:lnTo>
                        <a:pt x="11708" y="53578"/>
                      </a:lnTo>
                      <a:lnTo>
                        <a:pt x="8533" y="70445"/>
                      </a:lnTo>
                      <a:lnTo>
                        <a:pt x="0" y="70445"/>
                      </a:lnTo>
                      <a:lnTo>
                        <a:pt x="12303" y="337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2" name="u_fixed_eq_glyph_6"/>
                <p:cNvSpPr/>
                <p:nvPr/>
              </p:nvSpPr>
              <p:spPr>
                <a:xfrm>
                  <a:off x="654981" y="2527300"/>
                  <a:ext cx="38298" cy="8949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298" h="89495">
                      <a:moveTo>
                        <a:pt x="9922" y="36314"/>
                      </a:moveTo>
                      <a:lnTo>
                        <a:pt x="0" y="36314"/>
                      </a:lnTo>
                      <a:lnTo>
                        <a:pt x="0" y="33338"/>
                      </a:lnTo>
                      <a:lnTo>
                        <a:pt x="9922" y="30956"/>
                      </a:lnTo>
                      <a:lnTo>
                        <a:pt x="9922" y="26789"/>
                      </a:lnTo>
                      <a:quadBezTo>
                        <a:pt x="9922" y="13891"/>
                        <a:pt x="15081" y="6945"/>
                      </a:quadBezTo>
                      <a:quadBezTo>
                        <a:pt x="20241" y="0"/>
                        <a:pt x="29567" y="0"/>
                      </a:quadBezTo>
                      <a:quadBezTo>
                        <a:pt x="34330" y="0"/>
                        <a:pt x="38298" y="1191"/>
                      </a:quadBezTo>
                      <a:lnTo>
                        <a:pt x="38298" y="13891"/>
                      </a:lnTo>
                      <a:lnTo>
                        <a:pt x="35322" y="13891"/>
                      </a:lnTo>
                      <a:lnTo>
                        <a:pt x="32544" y="6350"/>
                      </a:lnTo>
                      <a:quadBezTo>
                        <a:pt x="30361" y="4961"/>
                        <a:pt x="27384" y="4961"/>
                      </a:quadBezTo>
                      <a:quadBezTo>
                        <a:pt x="23614" y="4961"/>
                        <a:pt x="21828" y="8533"/>
                      </a:quadBezTo>
                      <a:quadBezTo>
                        <a:pt x="20241" y="11906"/>
                        <a:pt x="20241" y="21431"/>
                      </a:quadBezTo>
                      <a:lnTo>
                        <a:pt x="20241" y="31155"/>
                      </a:lnTo>
                      <a:lnTo>
                        <a:pt x="35719" y="31155"/>
                      </a:lnTo>
                      <a:lnTo>
                        <a:pt x="35719" y="36314"/>
                      </a:lnTo>
                      <a:lnTo>
                        <a:pt x="20241" y="36314"/>
                      </a:lnTo>
                      <a:lnTo>
                        <a:pt x="20241" y="84733"/>
                      </a:lnTo>
                      <a:lnTo>
                        <a:pt x="32941" y="86717"/>
                      </a:lnTo>
                      <a:lnTo>
                        <a:pt x="32941" y="89495"/>
                      </a:lnTo>
                      <a:lnTo>
                        <a:pt x="1389" y="89495"/>
                      </a:lnTo>
                      <a:lnTo>
                        <a:pt x="1389" y="86717"/>
                      </a:lnTo>
                      <a:lnTo>
                        <a:pt x="9922" y="84733"/>
                      </a:lnTo>
                      <a:lnTo>
                        <a:pt x="9922" y="36314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3" name="u_fixed_eq_glyph_7"/>
                <p:cNvSpPr/>
                <p:nvPr/>
              </p:nvSpPr>
              <p:spPr>
                <a:xfrm>
                  <a:off x="696082" y="2532657"/>
                  <a:ext cx="30162" cy="841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162" h="84138">
                      <a:moveTo>
                        <a:pt x="20836" y="6747"/>
                      </a:moveTo>
                      <a:quadBezTo>
                        <a:pt x="20836" y="9525"/>
                        <a:pt x="18852" y="11509"/>
                      </a:quadBezTo>
                      <a:quadBezTo>
                        <a:pt x="16867" y="13494"/>
                        <a:pt x="13891" y="13494"/>
                      </a:quadBezTo>
                      <a:quadBezTo>
                        <a:pt x="11311" y="13494"/>
                        <a:pt x="9327" y="11509"/>
                      </a:quadBezTo>
                      <a:quadBezTo>
                        <a:pt x="7342" y="9525"/>
                        <a:pt x="7342" y="6747"/>
                      </a:quadBezTo>
                      <a:quadBezTo>
                        <a:pt x="7342" y="3969"/>
                        <a:pt x="9327" y="1984"/>
                      </a:quadBezTo>
                      <a:quadBezTo>
                        <a:pt x="11311" y="0"/>
                        <a:pt x="13891" y="0"/>
                      </a:quadBezTo>
                      <a:quadBezTo>
                        <a:pt x="16867" y="0"/>
                        <a:pt x="18852" y="1984"/>
                      </a:quadBezTo>
                      <a:quadBezTo>
                        <a:pt x="20836" y="3969"/>
                        <a:pt x="20836" y="6747"/>
                      </a:quadBezTo>
                      <a:close/>
                      <a:moveTo>
                        <a:pt x="20042" y="79772"/>
                      </a:moveTo>
                      <a:lnTo>
                        <a:pt x="30162" y="81359"/>
                      </a:lnTo>
                      <a:lnTo>
                        <a:pt x="30162" y="84138"/>
                      </a:lnTo>
                      <a:lnTo>
                        <a:pt x="0" y="84138"/>
                      </a:lnTo>
                      <a:lnTo>
                        <a:pt x="0" y="81359"/>
                      </a:lnTo>
                      <a:lnTo>
                        <a:pt x="9922" y="79772"/>
                      </a:lnTo>
                      <a:lnTo>
                        <a:pt x="9922" y="30162"/>
                      </a:lnTo>
                      <a:lnTo>
                        <a:pt x="1588" y="28575"/>
                      </a:lnTo>
                      <a:lnTo>
                        <a:pt x="1588" y="25797"/>
                      </a:lnTo>
                      <a:lnTo>
                        <a:pt x="20042" y="25797"/>
                      </a:lnTo>
                      <a:lnTo>
                        <a:pt x="20042" y="7977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4" name="u_fixed_eq_glyph_8"/>
                <p:cNvSpPr/>
                <p:nvPr/>
              </p:nvSpPr>
              <p:spPr>
                <a:xfrm>
                  <a:off x="729779" y="2558454"/>
                  <a:ext cx="60721" cy="5834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0722" h="58341">
                      <a:moveTo>
                        <a:pt x="60722" y="55562"/>
                      </a:moveTo>
                      <a:lnTo>
                        <a:pt x="60722" y="58341"/>
                      </a:lnTo>
                      <a:lnTo>
                        <a:pt x="34330" y="58341"/>
                      </a:lnTo>
                      <a:lnTo>
                        <a:pt x="34330" y="55562"/>
                      </a:lnTo>
                      <a:lnTo>
                        <a:pt x="42069" y="54173"/>
                      </a:lnTo>
                      <a:lnTo>
                        <a:pt x="28575" y="33536"/>
                      </a:lnTo>
                      <a:lnTo>
                        <a:pt x="12898" y="54173"/>
                      </a:lnTo>
                      <a:lnTo>
                        <a:pt x="20836" y="55562"/>
                      </a:lnTo>
                      <a:lnTo>
                        <a:pt x="20836" y="58341"/>
                      </a:lnTo>
                      <a:lnTo>
                        <a:pt x="0" y="58341"/>
                      </a:lnTo>
                      <a:lnTo>
                        <a:pt x="0" y="55562"/>
                      </a:lnTo>
                      <a:lnTo>
                        <a:pt x="6747" y="54570"/>
                      </a:lnTo>
                      <a:lnTo>
                        <a:pt x="25797" y="29170"/>
                      </a:lnTo>
                      <a:lnTo>
                        <a:pt x="8930" y="4366"/>
                      </a:lnTo>
                      <a:lnTo>
                        <a:pt x="2183" y="2778"/>
                      </a:lnTo>
                      <a:lnTo>
                        <a:pt x="2183" y="0"/>
                      </a:lnTo>
                      <a:lnTo>
                        <a:pt x="28575" y="0"/>
                      </a:lnTo>
                      <a:lnTo>
                        <a:pt x="28575" y="2778"/>
                      </a:lnTo>
                      <a:lnTo>
                        <a:pt x="20836" y="4564"/>
                      </a:lnTo>
                      <a:lnTo>
                        <a:pt x="31948" y="21233"/>
                      </a:lnTo>
                      <a:lnTo>
                        <a:pt x="44847" y="4366"/>
                      </a:lnTo>
                      <a:lnTo>
                        <a:pt x="36909" y="2778"/>
                      </a:lnTo>
                      <a:lnTo>
                        <a:pt x="36909" y="0"/>
                      </a:lnTo>
                      <a:lnTo>
                        <a:pt x="57944" y="0"/>
                      </a:lnTo>
                      <a:lnTo>
                        <a:pt x="57944" y="2778"/>
                      </a:lnTo>
                      <a:lnTo>
                        <a:pt x="51197" y="4167"/>
                      </a:lnTo>
                      <a:lnTo>
                        <a:pt x="34727" y="25400"/>
                      </a:lnTo>
                      <a:lnTo>
                        <a:pt x="53975" y="54173"/>
                      </a:lnTo>
                      <a:lnTo>
                        <a:pt x="60722" y="5556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5" name="u_fixed_eq_glyph_9"/>
                <p:cNvSpPr/>
                <p:nvPr/>
              </p:nvSpPr>
              <p:spPr>
                <a:xfrm>
                  <a:off x="797050" y="2556867"/>
                  <a:ext cx="47029" cy="611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030" h="61119">
                      <a:moveTo>
                        <a:pt x="11112" y="30559"/>
                      </a:moveTo>
                      <a:lnTo>
                        <a:pt x="11112" y="31750"/>
                      </a:lnTo>
                      <a:quadBezTo>
                        <a:pt x="11112" y="40283"/>
                        <a:pt x="12898" y="45045"/>
                      </a:quadBezTo>
                      <a:quadBezTo>
                        <a:pt x="14883" y="49808"/>
                        <a:pt x="18852" y="52388"/>
                      </a:quadBezTo>
                      <a:quadBezTo>
                        <a:pt x="22820" y="54769"/>
                        <a:pt x="29170" y="54769"/>
                      </a:quadBezTo>
                      <a:quadBezTo>
                        <a:pt x="32544" y="54769"/>
                        <a:pt x="37108" y="54173"/>
                      </a:quadBezTo>
                      <a:quadBezTo>
                        <a:pt x="41672" y="53578"/>
                        <a:pt x="44648" y="52983"/>
                      </a:quadBezTo>
                      <a:lnTo>
                        <a:pt x="44648" y="56356"/>
                      </a:lnTo>
                      <a:quadBezTo>
                        <a:pt x="41672" y="58341"/>
                        <a:pt x="36513" y="59730"/>
                      </a:quadBezTo>
                      <a:quadBezTo>
                        <a:pt x="31552" y="61119"/>
                        <a:pt x="26194" y="61119"/>
                      </a:quadBezTo>
                      <a:quadBezTo>
                        <a:pt x="12700" y="61119"/>
                        <a:pt x="6350" y="53777"/>
                      </a:quadBezTo>
                      <a:quadBezTo>
                        <a:pt x="0" y="46434"/>
                        <a:pt x="0" y="30361"/>
                      </a:quadBezTo>
                      <a:quadBezTo>
                        <a:pt x="0" y="15081"/>
                        <a:pt x="6350" y="7541"/>
                      </a:quadBezTo>
                      <a:quadBezTo>
                        <a:pt x="12700" y="0"/>
                        <a:pt x="24606" y="0"/>
                      </a:quadBezTo>
                      <a:quadBezTo>
                        <a:pt x="47030" y="0"/>
                        <a:pt x="47030" y="25598"/>
                      </a:quadBezTo>
                      <a:lnTo>
                        <a:pt x="47030" y="30559"/>
                      </a:lnTo>
                      <a:lnTo>
                        <a:pt x="11112" y="30559"/>
                      </a:lnTo>
                      <a:close/>
                      <a:moveTo>
                        <a:pt x="24606" y="4961"/>
                      </a:moveTo>
                      <a:quadBezTo>
                        <a:pt x="18256" y="4961"/>
                        <a:pt x="14684" y="10319"/>
                      </a:quadBezTo>
                      <a:quadBezTo>
                        <a:pt x="11311" y="15478"/>
                        <a:pt x="11311" y="25598"/>
                      </a:quadBezTo>
                      <a:lnTo>
                        <a:pt x="36314" y="25598"/>
                      </a:lnTo>
                      <a:quadBezTo>
                        <a:pt x="36314" y="14486"/>
                        <a:pt x="33338" y="9723"/>
                      </a:quadBezTo>
                      <a:quadBezTo>
                        <a:pt x="30559" y="4961"/>
                        <a:pt x="24606" y="49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6" name="u_fixed_eq_glyph_10"/>
                <p:cNvSpPr/>
                <p:nvPr/>
              </p:nvSpPr>
              <p:spPr>
                <a:xfrm>
                  <a:off x="853022" y="2528689"/>
                  <a:ext cx="57348" cy="892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7348" h="89297">
                      <a:moveTo>
                        <a:pt x="40283" y="83741"/>
                      </a:moveTo>
                      <a:quadBezTo>
                        <a:pt x="33338" y="89297"/>
                        <a:pt x="24011" y="89297"/>
                      </a:quadBezTo>
                      <a:quadBezTo>
                        <a:pt x="0" y="89297"/>
                        <a:pt x="0" y="59531"/>
                      </a:quadBezTo>
                      <a:quadBezTo>
                        <a:pt x="0" y="44252"/>
                        <a:pt x="6747" y="36314"/>
                      </a:quadBezTo>
                      <a:quadBezTo>
                        <a:pt x="13494" y="28178"/>
                        <a:pt x="26789" y="28178"/>
                      </a:quadBezTo>
                      <a:quadBezTo>
                        <a:pt x="33338" y="28178"/>
                        <a:pt x="40283" y="29766"/>
                      </a:quadBezTo>
                      <a:quadBezTo>
                        <a:pt x="39886" y="27583"/>
                        <a:pt x="39886" y="19447"/>
                      </a:quadBezTo>
                      <a:lnTo>
                        <a:pt x="39886" y="4167"/>
                      </a:lnTo>
                      <a:lnTo>
                        <a:pt x="30162" y="2778"/>
                      </a:lnTo>
                      <a:lnTo>
                        <a:pt x="30162" y="0"/>
                      </a:lnTo>
                      <a:lnTo>
                        <a:pt x="50205" y="0"/>
                      </a:lnTo>
                      <a:lnTo>
                        <a:pt x="50205" y="83741"/>
                      </a:lnTo>
                      <a:lnTo>
                        <a:pt x="57348" y="85328"/>
                      </a:lnTo>
                      <a:lnTo>
                        <a:pt x="57348" y="88106"/>
                      </a:lnTo>
                      <a:lnTo>
                        <a:pt x="41077" y="88106"/>
                      </a:lnTo>
                      <a:lnTo>
                        <a:pt x="40283" y="83741"/>
                      </a:lnTo>
                      <a:close/>
                      <a:moveTo>
                        <a:pt x="11112" y="59531"/>
                      </a:moveTo>
                      <a:quadBezTo>
                        <a:pt x="11112" y="71239"/>
                        <a:pt x="15081" y="77192"/>
                      </a:quadBezTo>
                      <a:quadBezTo>
                        <a:pt x="19050" y="82947"/>
                        <a:pt x="27384" y="82947"/>
                      </a:quadBezTo>
                      <a:quadBezTo>
                        <a:pt x="34330" y="82947"/>
                        <a:pt x="39886" y="80566"/>
                      </a:quadBezTo>
                      <a:lnTo>
                        <a:pt x="39886" y="34330"/>
                      </a:lnTo>
                      <a:quadBezTo>
                        <a:pt x="34330" y="33338"/>
                        <a:pt x="27384" y="33338"/>
                      </a:quadBezTo>
                      <a:quadBezTo>
                        <a:pt x="11112" y="33338"/>
                        <a:pt x="11112" y="5953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67" name="u_lag_eq"/>
              <p:cNvSpPr txBox="1"/>
              <p:nvPr/>
            </p:nvSpPr>
            <p:spPr>
              <a:xfrm>
                <a:off x="1054100" y="2514600"/>
                <a:ext cx="10668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r>
                        <ns1:rPr>
                          <ns1:nor/>
                          <ns1:sty ns1:val="p"/>
                        </ns1:rPr>
                        <a:rPr sz="10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c=0,</ns1:t>
                      </ns1:r>
                      <ns1:sSub>
                        <ns1:e>
                          <ns1:r>
                            <ns1:rPr>
                              <ns1:sty ns1:val="i"/>
                            </ns1:rPr>
                            <a:rPr sz="10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β</ns1:t>
                          </ns1:r>
                        </ns1:e>
                        <ns1:sub>
                          <ns1:r>
                            <ns1:rPr>
                              <ns1:sty ns1:val="i"/>
                            </ns1:rPr>
                            <a:rPr sz="1000" lang="en-US">
                              <a:solidFill>
                                <a:srgbClr val="24343D"/>
                              </a:solidFill>
                              <a:latin typeface="Liberation Serif"/>
                            </a:rPr>
                            <ns1:t>k</ns1:t>
                          </ns1:r>
                        </ns1:sub>
                      </ns1:sSub>
                      <ns1:r>
                        <ns1:rPr>
                          <ns1:nor/>
                          <ns1:sty ns1:val="p"/>
                        </ns1:rPr>
                        <a:rPr sz="10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 adaptive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467" name="u_lag_eq_compat"/>
              <p:cNvGrpSpPr/>
              <p:nvPr/>
            </p:nvGrpSpPr>
            <p:grpSpPr>
              <a:xfrm>
                <a:off x="1178718" y="2527300"/>
                <a:ext cx="812491" cy="116482"/>
                <a:chOff x="1178718" y="2527300"/>
                <a:chExt cx="812491" cy="116482"/>
              </a:xfrm>
            </p:grpSpPr>
            <p:sp>
              <p:nvSpPr>
                <p:cNvPr id="468" name="u_lag_eq_glyph_0"/>
                <p:cNvSpPr/>
                <p:nvPr/>
              </p:nvSpPr>
              <p:spPr>
                <a:xfrm>
                  <a:off x="1178718" y="2556867"/>
                  <a:ext cx="50998" cy="611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998" h="61119">
                      <a:moveTo>
                        <a:pt x="44053" y="51197"/>
                      </a:moveTo>
                      <a:quadBezTo>
                        <a:pt x="39092" y="55761"/>
                        <a:pt x="32742" y="58539"/>
                      </a:quadBezTo>
                      <a:quadBezTo>
                        <a:pt x="26591" y="61119"/>
                        <a:pt x="20836" y="61119"/>
                      </a:quadBezTo>
                      <a:quadBezTo>
                        <a:pt x="10914" y="61119"/>
                        <a:pt x="5358" y="55364"/>
                      </a:quadBezTo>
                      <a:quadBezTo>
                        <a:pt x="0" y="49609"/>
                        <a:pt x="0" y="39489"/>
                      </a:quadBezTo>
                      <a:quadBezTo>
                        <a:pt x="0" y="28575"/>
                        <a:pt x="4366" y="19844"/>
                      </a:quadBezTo>
                      <a:quadBezTo>
                        <a:pt x="8731" y="10914"/>
                        <a:pt x="16669" y="5556"/>
                      </a:quadBezTo>
                      <a:quadBezTo>
                        <a:pt x="24606" y="0"/>
                        <a:pt x="33536" y="0"/>
                      </a:quadBezTo>
                      <a:quadBezTo>
                        <a:pt x="37902" y="0"/>
                        <a:pt x="42862" y="992"/>
                      </a:quadBezTo>
                      <a:quadBezTo>
                        <a:pt x="47823" y="1984"/>
                        <a:pt x="50998" y="3373"/>
                      </a:quadBezTo>
                      <a:lnTo>
                        <a:pt x="48220" y="19645"/>
                      </a:lnTo>
                      <a:lnTo>
                        <a:pt x="44847" y="19645"/>
                      </a:lnTo>
                      <a:lnTo>
                        <a:pt x="43855" y="8731"/>
                      </a:lnTo>
                      <a:quadBezTo>
                        <a:pt x="39886" y="4762"/>
                        <a:pt x="33536" y="4762"/>
                      </a:quadBezTo>
                      <a:quadBezTo>
                        <a:pt x="27583" y="4762"/>
                        <a:pt x="22225" y="9327"/>
                      </a:quadBezTo>
                      <a:quadBezTo>
                        <a:pt x="17066" y="13692"/>
                        <a:pt x="13891" y="21630"/>
                      </a:quadBezTo>
                      <a:quadBezTo>
                        <a:pt x="10914" y="29369"/>
                        <a:pt x="10914" y="38894"/>
                      </a:quadBezTo>
                      <a:quadBezTo>
                        <a:pt x="10914" y="54769"/>
                        <a:pt x="23614" y="54769"/>
                      </a:quadBezTo>
                      <a:quadBezTo>
                        <a:pt x="32544" y="54769"/>
                        <a:pt x="42267" y="48419"/>
                      </a:quadBezTo>
                      <a:lnTo>
                        <a:pt x="44053" y="51197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9" name="u_lag_eq_glyph_1"/>
                <p:cNvSpPr/>
                <p:nvPr/>
              </p:nvSpPr>
              <p:spPr>
                <a:xfrm>
                  <a:off x="1255811" y="2558653"/>
                  <a:ext cx="59134" cy="3175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9134" h="31750">
                      <a:moveTo>
                        <a:pt x="59134" y="25598"/>
                      </a:moveTo>
                      <a:lnTo>
                        <a:pt x="59134" y="31750"/>
                      </a:lnTo>
                      <a:lnTo>
                        <a:pt x="0" y="31750"/>
                      </a:lnTo>
                      <a:lnTo>
                        <a:pt x="0" y="25598"/>
                      </a:lnTo>
                      <a:lnTo>
                        <a:pt x="59134" y="25598"/>
                      </a:lnTo>
                      <a:close/>
                      <a:moveTo>
                        <a:pt x="59134" y="0"/>
                      </a:moveTo>
                      <a:lnTo>
                        <a:pt x="59134" y="6350"/>
                      </a:lnTo>
                      <a:lnTo>
                        <a:pt x="0" y="6350"/>
                      </a:lnTo>
                      <a:lnTo>
                        <a:pt x="0" y="0"/>
                      </a:lnTo>
                      <a:lnTo>
                        <a:pt x="59134" y="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0" name="u_lag_eq_glyph_2"/>
                <p:cNvSpPr/>
                <p:nvPr/>
              </p:nvSpPr>
              <p:spPr>
                <a:xfrm>
                  <a:off x="1344190" y="2532260"/>
                  <a:ext cx="53975" cy="857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3975" h="85725">
                      <a:moveTo>
                        <a:pt x="53975" y="42664"/>
                      </a:moveTo>
                      <a:quadBezTo>
                        <a:pt x="53975" y="85725"/>
                        <a:pt x="26591" y="85725"/>
                      </a:quadBezTo>
                      <a:quadBezTo>
                        <a:pt x="13494" y="85725"/>
                        <a:pt x="6747" y="74811"/>
                      </a:quadBezTo>
                      <a:quadBezTo>
                        <a:pt x="0" y="63698"/>
                        <a:pt x="0" y="42664"/>
                      </a:quadBezTo>
                      <a:quadBezTo>
                        <a:pt x="0" y="22027"/>
                        <a:pt x="6747" y="11112"/>
                      </a:quadBezTo>
                      <a:quadBezTo>
                        <a:pt x="13494" y="0"/>
                        <a:pt x="27186" y="0"/>
                      </a:quadBezTo>
                      <a:quadBezTo>
                        <a:pt x="40283" y="0"/>
                        <a:pt x="47030" y="10914"/>
                      </a:quadBezTo>
                      <a:quadBezTo>
                        <a:pt x="53975" y="21630"/>
                        <a:pt x="53975" y="42664"/>
                      </a:quadBezTo>
                      <a:close/>
                      <a:moveTo>
                        <a:pt x="42466" y="42664"/>
                      </a:moveTo>
                      <a:quadBezTo>
                        <a:pt x="42466" y="22622"/>
                        <a:pt x="38695" y="13891"/>
                      </a:quadBezTo>
                      <a:quadBezTo>
                        <a:pt x="34925" y="4961"/>
                        <a:pt x="26591" y="4961"/>
                      </a:quadBezTo>
                      <a:quadBezTo>
                        <a:pt x="18653" y="4961"/>
                        <a:pt x="15081" y="13295"/>
                      </a:quadBezTo>
                      <a:quadBezTo>
                        <a:pt x="11509" y="21630"/>
                        <a:pt x="11509" y="42664"/>
                      </a:quadBezTo>
                      <a:quadBezTo>
                        <a:pt x="11509" y="63698"/>
                        <a:pt x="15081" y="72430"/>
                      </a:quadBezTo>
                      <a:quadBezTo>
                        <a:pt x="18653" y="80962"/>
                        <a:pt x="26591" y="80962"/>
                      </a:quadBezTo>
                      <a:quadBezTo>
                        <a:pt x="34727" y="80962"/>
                        <a:pt x="38497" y="72033"/>
                      </a:quadBezTo>
                      <a:quadBezTo>
                        <a:pt x="42466" y="62905"/>
                        <a:pt x="42466" y="42664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1" name="u_lag_eq_glyph_3"/>
                <p:cNvSpPr/>
                <p:nvPr/>
              </p:nvSpPr>
              <p:spPr>
                <a:xfrm>
                  <a:off x="1407690" y="2603698"/>
                  <a:ext cx="19050" cy="32543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19050" h="32544">
                      <a:moveTo>
                        <a:pt x="19050" y="10120"/>
                      </a:moveTo>
                      <a:quadBezTo>
                        <a:pt x="19050" y="18653"/>
                        <a:pt x="14089" y="24209"/>
                      </a:quadBezTo>
                      <a:quadBezTo>
                        <a:pt x="9128" y="29964"/>
                        <a:pt x="0" y="32544"/>
                      </a:quadBezTo>
                      <a:lnTo>
                        <a:pt x="0" y="27781"/>
                      </a:lnTo>
                      <a:quadBezTo>
                        <a:pt x="10914" y="24408"/>
                        <a:pt x="10914" y="17462"/>
                      </a:quadBezTo>
                      <a:quadBezTo>
                        <a:pt x="10914" y="16272"/>
                        <a:pt x="9922" y="15280"/>
                      </a:quadBezTo>
                      <a:quadBezTo>
                        <a:pt x="9128" y="14288"/>
                        <a:pt x="6945" y="13097"/>
                      </a:quadBezTo>
                      <a:quadBezTo>
                        <a:pt x="2580" y="10914"/>
                        <a:pt x="2580" y="6945"/>
                      </a:quadBezTo>
                      <a:quadBezTo>
                        <a:pt x="2580" y="3572"/>
                        <a:pt x="4762" y="1786"/>
                      </a:quadBezTo>
                      <a:quadBezTo>
                        <a:pt x="6945" y="0"/>
                        <a:pt x="10120" y="0"/>
                      </a:quadBezTo>
                      <a:quadBezTo>
                        <a:pt x="14089" y="0"/>
                        <a:pt x="16470" y="2977"/>
                      </a:quadBezTo>
                      <a:quadBezTo>
                        <a:pt x="19050" y="5755"/>
                        <a:pt x="19050" y="1012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2" name="u_lag_eq_glyph_4"/>
                <p:cNvSpPr/>
                <p:nvPr/>
              </p:nvSpPr>
              <p:spPr>
                <a:xfrm>
                  <a:off x="1451037" y="2527300"/>
                  <a:ext cx="65087" cy="11648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5088" h="116483">
                      <a:moveTo>
                        <a:pt x="45244" y="0"/>
                      </a:moveTo>
                      <a:quadBezTo>
                        <a:pt x="54372" y="0"/>
                        <a:pt x="59730" y="4961"/>
                      </a:quadBezTo>
                      <a:quadBezTo>
                        <a:pt x="65088" y="9723"/>
                        <a:pt x="65088" y="18058"/>
                      </a:quadBezTo>
                      <a:quadBezTo>
                        <a:pt x="65088" y="27583"/>
                        <a:pt x="59928" y="33933"/>
                      </a:quadBezTo>
                      <a:quadBezTo>
                        <a:pt x="54769" y="40283"/>
                        <a:pt x="46038" y="42267"/>
                      </a:quadBezTo>
                      <a:lnTo>
                        <a:pt x="45839" y="42862"/>
                      </a:lnTo>
                      <a:quadBezTo>
                        <a:pt x="52586" y="44252"/>
                        <a:pt x="56555" y="49411"/>
                      </a:quadBezTo>
                      <a:quadBezTo>
                        <a:pt x="60523" y="54372"/>
                        <a:pt x="60523" y="61714"/>
                      </a:quadBezTo>
                      <a:quadBezTo>
                        <a:pt x="60523" y="75009"/>
                        <a:pt x="52586" y="82947"/>
                      </a:quadBezTo>
                      <a:quadBezTo>
                        <a:pt x="44648" y="90686"/>
                        <a:pt x="31155" y="90686"/>
                      </a:quadBezTo>
                      <a:quadBezTo>
                        <a:pt x="26392" y="90686"/>
                        <a:pt x="22027" y="89694"/>
                      </a:quadBezTo>
                      <a:quadBezTo>
                        <a:pt x="17859" y="88900"/>
                        <a:pt x="15280" y="87511"/>
                      </a:quadBezTo>
                      <a:lnTo>
                        <a:pt x="10120" y="116483"/>
                      </a:lnTo>
                      <a:lnTo>
                        <a:pt x="0" y="116483"/>
                      </a:lnTo>
                      <a:lnTo>
                        <a:pt x="14883" y="31155"/>
                      </a:lnTo>
                      <a:quadBezTo>
                        <a:pt x="17661" y="15081"/>
                        <a:pt x="24805" y="7541"/>
                      </a:quadBezTo>
                      <a:quadBezTo>
                        <a:pt x="31948" y="0"/>
                        <a:pt x="45244" y="0"/>
                      </a:quadBezTo>
                      <a:close/>
                      <a:moveTo>
                        <a:pt x="44450" y="4961"/>
                      </a:moveTo>
                      <a:quadBezTo>
                        <a:pt x="38497" y="4961"/>
                        <a:pt x="35123" y="7541"/>
                      </a:quadBezTo>
                      <a:quadBezTo>
                        <a:pt x="31750" y="10120"/>
                        <a:pt x="29369" y="15875"/>
                      </a:quadBezTo>
                      <a:quadBezTo>
                        <a:pt x="26988" y="21431"/>
                        <a:pt x="25202" y="31353"/>
                      </a:quadBezTo>
                      <a:lnTo>
                        <a:pt x="16272" y="82352"/>
                      </a:lnTo>
                      <a:quadBezTo>
                        <a:pt x="18455" y="83542"/>
                        <a:pt x="22027" y="84534"/>
                      </a:quadBezTo>
                      <a:quadBezTo>
                        <a:pt x="25797" y="85328"/>
                        <a:pt x="29766" y="85328"/>
                      </a:quadBezTo>
                      <a:quadBezTo>
                        <a:pt x="38894" y="85328"/>
                        <a:pt x="44252" y="78978"/>
                      </a:quadBezTo>
                      <a:quadBezTo>
                        <a:pt x="49609" y="72430"/>
                        <a:pt x="49609" y="61119"/>
                      </a:quadBezTo>
                      <a:quadBezTo>
                        <a:pt x="49609" y="53380"/>
                        <a:pt x="45244" y="49609"/>
                      </a:quadBezTo>
                      <a:quadBezTo>
                        <a:pt x="41077" y="45641"/>
                        <a:pt x="33734" y="45244"/>
                      </a:quadBezTo>
                      <a:lnTo>
                        <a:pt x="34528" y="40481"/>
                      </a:lnTo>
                      <a:quadBezTo>
                        <a:pt x="44450" y="40283"/>
                        <a:pt x="49609" y="34131"/>
                      </a:quadBezTo>
                      <a:quadBezTo>
                        <a:pt x="54967" y="27980"/>
                        <a:pt x="54967" y="17264"/>
                      </a:quadBezTo>
                      <a:quadBezTo>
                        <a:pt x="54967" y="11509"/>
                        <a:pt x="52189" y="8334"/>
                      </a:quadBezTo>
                      <a:quadBezTo>
                        <a:pt x="49609" y="4961"/>
                        <a:pt x="44450" y="49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3" name="u_lag_eq_glyph_5"/>
                <p:cNvSpPr/>
                <p:nvPr/>
              </p:nvSpPr>
              <p:spPr>
                <a:xfrm>
                  <a:off x="1519249" y="2563852"/>
                  <a:ext cx="45045" cy="7044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5045" h="70445">
                      <a:moveTo>
                        <a:pt x="12303" y="3373"/>
                      </a:moveTo>
                      <a:lnTo>
                        <a:pt x="5358" y="2183"/>
                      </a:lnTo>
                      <a:lnTo>
                        <a:pt x="5755" y="0"/>
                      </a:lnTo>
                      <a:lnTo>
                        <a:pt x="21431" y="0"/>
                      </a:lnTo>
                      <a:lnTo>
                        <a:pt x="12700" y="48022"/>
                      </a:lnTo>
                      <a:lnTo>
                        <a:pt x="34528" y="27384"/>
                      </a:lnTo>
                      <a:lnTo>
                        <a:pt x="29766" y="25995"/>
                      </a:lnTo>
                      <a:lnTo>
                        <a:pt x="30162" y="23812"/>
                      </a:lnTo>
                      <a:lnTo>
                        <a:pt x="45045" y="23812"/>
                      </a:lnTo>
                      <a:lnTo>
                        <a:pt x="44648" y="25995"/>
                      </a:lnTo>
                      <a:lnTo>
                        <a:pt x="40481" y="27186"/>
                      </a:lnTo>
                      <a:lnTo>
                        <a:pt x="25400" y="41077"/>
                      </a:lnTo>
                      <a:lnTo>
                        <a:pt x="37902" y="67072"/>
                      </a:lnTo>
                      <a:lnTo>
                        <a:pt x="42862" y="68262"/>
                      </a:lnTo>
                      <a:lnTo>
                        <a:pt x="42466" y="70445"/>
                      </a:lnTo>
                      <a:lnTo>
                        <a:pt x="30361" y="70445"/>
                      </a:lnTo>
                      <a:lnTo>
                        <a:pt x="19248" y="46633"/>
                      </a:lnTo>
                      <a:lnTo>
                        <a:pt x="11708" y="53578"/>
                      </a:lnTo>
                      <a:lnTo>
                        <a:pt x="8533" y="70445"/>
                      </a:lnTo>
                      <a:lnTo>
                        <a:pt x="0" y="70445"/>
                      </a:lnTo>
                      <a:lnTo>
                        <a:pt x="12303" y="3373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4" name="u_lag_eq_glyph_6"/>
                <p:cNvSpPr/>
                <p:nvPr/>
              </p:nvSpPr>
              <p:spPr>
                <a:xfrm>
                  <a:off x="1569976" y="2557264"/>
                  <a:ext cx="50006" cy="6072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006" h="60722">
                      <a:moveTo>
                        <a:pt x="24209" y="0"/>
                      </a:moveTo>
                      <a:quadBezTo>
                        <a:pt x="33933" y="0"/>
                        <a:pt x="38298" y="3969"/>
                      </a:quadBezTo>
                      <a:quadBezTo>
                        <a:pt x="42862" y="7739"/>
                        <a:pt x="42862" y="15875"/>
                      </a:quadBezTo>
                      <a:lnTo>
                        <a:pt x="42862" y="55166"/>
                      </a:lnTo>
                      <a:lnTo>
                        <a:pt x="50006" y="56753"/>
                      </a:lnTo>
                      <a:lnTo>
                        <a:pt x="50006" y="59531"/>
                      </a:lnTo>
                      <a:lnTo>
                        <a:pt x="34131" y="59531"/>
                      </a:lnTo>
                      <a:lnTo>
                        <a:pt x="32941" y="53777"/>
                      </a:lnTo>
                      <a:quadBezTo>
                        <a:pt x="25797" y="60722"/>
                        <a:pt x="14883" y="60722"/>
                      </a:quadBezTo>
                      <a:quadBezTo>
                        <a:pt x="0" y="60722"/>
                        <a:pt x="0" y="43458"/>
                      </a:quadBezTo>
                      <a:quadBezTo>
                        <a:pt x="0" y="37505"/>
                        <a:pt x="2183" y="33734"/>
                      </a:quadBezTo>
                      <a:quadBezTo>
                        <a:pt x="4366" y="29964"/>
                        <a:pt x="9327" y="27980"/>
                      </a:quadBezTo>
                      <a:quadBezTo>
                        <a:pt x="14288" y="25995"/>
                        <a:pt x="23812" y="25797"/>
                      </a:quadBezTo>
                      <a:lnTo>
                        <a:pt x="32544" y="25400"/>
                      </a:lnTo>
                      <a:lnTo>
                        <a:pt x="32544" y="16272"/>
                      </a:lnTo>
                      <a:quadBezTo>
                        <a:pt x="32544" y="10319"/>
                        <a:pt x="30361" y="7541"/>
                      </a:quadBezTo>
                      <a:quadBezTo>
                        <a:pt x="28178" y="4564"/>
                        <a:pt x="23614" y="4564"/>
                      </a:quadBezTo>
                      <a:quadBezTo>
                        <a:pt x="17264" y="4564"/>
                        <a:pt x="12105" y="7541"/>
                      </a:quadBezTo>
                      <a:lnTo>
                        <a:pt x="10120" y="14883"/>
                      </a:lnTo>
                      <a:lnTo>
                        <a:pt x="6548" y="14883"/>
                      </a:lnTo>
                      <a:lnTo>
                        <a:pt x="6548" y="2183"/>
                      </a:lnTo>
                      <a:quadBezTo>
                        <a:pt x="16669" y="0"/>
                        <a:pt x="24209" y="0"/>
                      </a:quadBezTo>
                      <a:close/>
                      <a:moveTo>
                        <a:pt x="32544" y="29766"/>
                      </a:moveTo>
                      <a:lnTo>
                        <a:pt x="24408" y="30162"/>
                      </a:lnTo>
                      <a:quadBezTo>
                        <a:pt x="16073" y="30361"/>
                        <a:pt x="13097" y="33338"/>
                      </a:quadBezTo>
                      <a:quadBezTo>
                        <a:pt x="10120" y="36116"/>
                        <a:pt x="10120" y="43061"/>
                      </a:quadBezTo>
                      <a:quadBezTo>
                        <a:pt x="10120" y="53975"/>
                        <a:pt x="19050" y="53975"/>
                      </a:quadBezTo>
                      <a:quadBezTo>
                        <a:pt x="23217" y="53975"/>
                        <a:pt x="26194" y="52983"/>
                      </a:quadBezTo>
                      <a:quadBezTo>
                        <a:pt x="29369" y="51991"/>
                        <a:pt x="32544" y="50602"/>
                      </a:quadBezTo>
                      <a:lnTo>
                        <a:pt x="32544" y="2976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5" name="u_lag_eq_glyph_7"/>
                <p:cNvSpPr/>
                <p:nvPr/>
              </p:nvSpPr>
              <p:spPr>
                <a:xfrm>
                  <a:off x="1626345" y="2528689"/>
                  <a:ext cx="57348" cy="89296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7348" h="89297">
                      <a:moveTo>
                        <a:pt x="40283" y="83741"/>
                      </a:moveTo>
                      <a:quadBezTo>
                        <a:pt x="33338" y="89297"/>
                        <a:pt x="24011" y="89297"/>
                      </a:quadBezTo>
                      <a:quadBezTo>
                        <a:pt x="0" y="89297"/>
                        <a:pt x="0" y="59531"/>
                      </a:quadBezTo>
                      <a:quadBezTo>
                        <a:pt x="0" y="44252"/>
                        <a:pt x="6747" y="36314"/>
                      </a:quadBezTo>
                      <a:quadBezTo>
                        <a:pt x="13494" y="28178"/>
                        <a:pt x="26789" y="28178"/>
                      </a:quadBezTo>
                      <a:quadBezTo>
                        <a:pt x="33338" y="28178"/>
                        <a:pt x="40283" y="29766"/>
                      </a:quadBezTo>
                      <a:quadBezTo>
                        <a:pt x="39886" y="27583"/>
                        <a:pt x="39886" y="19447"/>
                      </a:quadBezTo>
                      <a:lnTo>
                        <a:pt x="39886" y="4167"/>
                      </a:lnTo>
                      <a:lnTo>
                        <a:pt x="30162" y="2778"/>
                      </a:lnTo>
                      <a:lnTo>
                        <a:pt x="30162" y="0"/>
                      </a:lnTo>
                      <a:lnTo>
                        <a:pt x="50205" y="0"/>
                      </a:lnTo>
                      <a:lnTo>
                        <a:pt x="50205" y="83741"/>
                      </a:lnTo>
                      <a:lnTo>
                        <a:pt x="57348" y="85328"/>
                      </a:lnTo>
                      <a:lnTo>
                        <a:pt x="57348" y="88106"/>
                      </a:lnTo>
                      <a:lnTo>
                        <a:pt x="41077" y="88106"/>
                      </a:lnTo>
                      <a:lnTo>
                        <a:pt x="40283" y="83741"/>
                      </a:lnTo>
                      <a:close/>
                      <a:moveTo>
                        <a:pt x="11112" y="59531"/>
                      </a:moveTo>
                      <a:quadBezTo>
                        <a:pt x="11112" y="71239"/>
                        <a:pt x="15081" y="77192"/>
                      </a:quadBezTo>
                      <a:quadBezTo>
                        <a:pt x="19050" y="82947"/>
                        <a:pt x="27384" y="82947"/>
                      </a:quadBezTo>
                      <a:quadBezTo>
                        <a:pt x="34330" y="82947"/>
                        <a:pt x="39886" y="80566"/>
                      </a:quadBezTo>
                      <a:lnTo>
                        <a:pt x="39886" y="34330"/>
                      </a:lnTo>
                      <a:quadBezTo>
                        <a:pt x="34330" y="33338"/>
                        <a:pt x="27384" y="33338"/>
                      </a:quadBezTo>
                      <a:quadBezTo>
                        <a:pt x="11112" y="33338"/>
                        <a:pt x="11112" y="5953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6" name="u_lag_eq_glyph_8"/>
                <p:cNvSpPr/>
                <p:nvPr/>
              </p:nvSpPr>
              <p:spPr>
                <a:xfrm>
                  <a:off x="1689845" y="2557264"/>
                  <a:ext cx="50006" cy="6072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0006" h="60722">
                      <a:moveTo>
                        <a:pt x="24209" y="0"/>
                      </a:moveTo>
                      <a:quadBezTo>
                        <a:pt x="33933" y="0"/>
                        <a:pt x="38298" y="3969"/>
                      </a:quadBezTo>
                      <a:quadBezTo>
                        <a:pt x="42862" y="7739"/>
                        <a:pt x="42862" y="15875"/>
                      </a:quadBezTo>
                      <a:lnTo>
                        <a:pt x="42862" y="55166"/>
                      </a:lnTo>
                      <a:lnTo>
                        <a:pt x="50006" y="56753"/>
                      </a:lnTo>
                      <a:lnTo>
                        <a:pt x="50006" y="59531"/>
                      </a:lnTo>
                      <a:lnTo>
                        <a:pt x="34131" y="59531"/>
                      </a:lnTo>
                      <a:lnTo>
                        <a:pt x="32941" y="53777"/>
                      </a:lnTo>
                      <a:quadBezTo>
                        <a:pt x="25797" y="60722"/>
                        <a:pt x="14883" y="60722"/>
                      </a:quadBezTo>
                      <a:quadBezTo>
                        <a:pt x="0" y="60722"/>
                        <a:pt x="0" y="43458"/>
                      </a:quadBezTo>
                      <a:quadBezTo>
                        <a:pt x="0" y="37505"/>
                        <a:pt x="2183" y="33734"/>
                      </a:quadBezTo>
                      <a:quadBezTo>
                        <a:pt x="4366" y="29964"/>
                        <a:pt x="9327" y="27980"/>
                      </a:quadBezTo>
                      <a:quadBezTo>
                        <a:pt x="14288" y="25995"/>
                        <a:pt x="23812" y="25797"/>
                      </a:quadBezTo>
                      <a:lnTo>
                        <a:pt x="32544" y="25400"/>
                      </a:lnTo>
                      <a:lnTo>
                        <a:pt x="32544" y="16272"/>
                      </a:lnTo>
                      <a:quadBezTo>
                        <a:pt x="32544" y="10319"/>
                        <a:pt x="30361" y="7541"/>
                      </a:quadBezTo>
                      <a:quadBezTo>
                        <a:pt x="28178" y="4564"/>
                        <a:pt x="23614" y="4564"/>
                      </a:quadBezTo>
                      <a:quadBezTo>
                        <a:pt x="17264" y="4564"/>
                        <a:pt x="12105" y="7541"/>
                      </a:quadBezTo>
                      <a:lnTo>
                        <a:pt x="10120" y="14883"/>
                      </a:lnTo>
                      <a:lnTo>
                        <a:pt x="6548" y="14883"/>
                      </a:lnTo>
                      <a:lnTo>
                        <a:pt x="6548" y="2183"/>
                      </a:lnTo>
                      <a:quadBezTo>
                        <a:pt x="16669" y="0"/>
                        <a:pt x="24209" y="0"/>
                      </a:quadBezTo>
                      <a:close/>
                      <a:moveTo>
                        <a:pt x="32544" y="29766"/>
                      </a:moveTo>
                      <a:lnTo>
                        <a:pt x="24408" y="30162"/>
                      </a:lnTo>
                      <a:quadBezTo>
                        <a:pt x="16073" y="30361"/>
                        <a:pt x="13097" y="33338"/>
                      </a:quadBezTo>
                      <a:quadBezTo>
                        <a:pt x="10120" y="36116"/>
                        <a:pt x="10120" y="43061"/>
                      </a:quadBezTo>
                      <a:quadBezTo>
                        <a:pt x="10120" y="53975"/>
                        <a:pt x="19050" y="53975"/>
                      </a:quadBezTo>
                      <a:quadBezTo>
                        <a:pt x="23217" y="53975"/>
                        <a:pt x="26194" y="52983"/>
                      </a:quadBezTo>
                      <a:quadBezTo>
                        <a:pt x="29369" y="51991"/>
                        <a:pt x="32544" y="50602"/>
                      </a:quadBezTo>
                      <a:lnTo>
                        <a:pt x="32544" y="29766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7" name="u_lag_eq_glyph_9"/>
                <p:cNvSpPr/>
                <p:nvPr/>
              </p:nvSpPr>
              <p:spPr>
                <a:xfrm>
                  <a:off x="1743634" y="2556867"/>
                  <a:ext cx="56554" cy="8691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6555" h="86916">
                      <a:moveTo>
                        <a:pt x="7541" y="5953"/>
                      </a:moveTo>
                      <a:lnTo>
                        <a:pt x="794" y="4366"/>
                      </a:lnTo>
                      <a:lnTo>
                        <a:pt x="794" y="1588"/>
                      </a:lnTo>
                      <a:lnTo>
                        <a:pt x="17264" y="1588"/>
                      </a:lnTo>
                      <a:lnTo>
                        <a:pt x="17264" y="4961"/>
                      </a:lnTo>
                      <a:quadBezTo>
                        <a:pt x="19844" y="2778"/>
                        <a:pt x="24209" y="1389"/>
                      </a:quadBezTo>
                      <a:quadBezTo>
                        <a:pt x="28575" y="0"/>
                        <a:pt x="33139" y="0"/>
                      </a:quadBezTo>
                      <a:quadBezTo>
                        <a:pt x="44450" y="0"/>
                        <a:pt x="50403" y="7938"/>
                      </a:quadBezTo>
                      <a:quadBezTo>
                        <a:pt x="56555" y="15677"/>
                        <a:pt x="56555" y="30162"/>
                      </a:quadBezTo>
                      <a:quadBezTo>
                        <a:pt x="56555" y="44847"/>
                        <a:pt x="49808" y="52983"/>
                      </a:quadBezTo>
                      <a:quadBezTo>
                        <a:pt x="43259" y="61119"/>
                        <a:pt x="30559" y="61119"/>
                      </a:quadBezTo>
                      <a:quadBezTo>
                        <a:pt x="23614" y="61119"/>
                        <a:pt x="17264" y="59730"/>
                      </a:quadBezTo>
                      <a:quadBezTo>
                        <a:pt x="17661" y="64294"/>
                        <a:pt x="17661" y="66873"/>
                      </a:quadBezTo>
                      <a:lnTo>
                        <a:pt x="17661" y="82550"/>
                      </a:lnTo>
                      <a:lnTo>
                        <a:pt x="27781" y="84138"/>
                      </a:lnTo>
                      <a:lnTo>
                        <a:pt x="27781" y="86916"/>
                      </a:lnTo>
                      <a:lnTo>
                        <a:pt x="0" y="86916"/>
                      </a:lnTo>
                      <a:lnTo>
                        <a:pt x="0" y="84138"/>
                      </a:lnTo>
                      <a:lnTo>
                        <a:pt x="7541" y="82550"/>
                      </a:lnTo>
                      <a:lnTo>
                        <a:pt x="7541" y="5953"/>
                      </a:lnTo>
                      <a:close/>
                      <a:moveTo>
                        <a:pt x="45442" y="30162"/>
                      </a:moveTo>
                      <a:quadBezTo>
                        <a:pt x="45442" y="18256"/>
                        <a:pt x="41473" y="12502"/>
                      </a:quadBezTo>
                      <a:quadBezTo>
                        <a:pt x="37703" y="6548"/>
                        <a:pt x="29766" y="6548"/>
                      </a:quadBezTo>
                      <a:quadBezTo>
                        <a:pt x="22622" y="6548"/>
                        <a:pt x="17661" y="8731"/>
                      </a:quadBezTo>
                      <a:lnTo>
                        <a:pt x="17661" y="55166"/>
                      </a:lnTo>
                      <a:quadBezTo>
                        <a:pt x="23217" y="56356"/>
                        <a:pt x="29766" y="56356"/>
                      </a:quadBezTo>
                      <a:quadBezTo>
                        <a:pt x="45442" y="56356"/>
                        <a:pt x="45442" y="30162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8" name="u_lag_eq_glyph_10"/>
                <p:cNvSpPr/>
                <p:nvPr/>
              </p:nvSpPr>
              <p:spPr>
                <a:xfrm>
                  <a:off x="1806340" y="2545357"/>
                  <a:ext cx="33337" cy="726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3338" h="72628">
                      <a:moveTo>
                        <a:pt x="19447" y="72628"/>
                      </a:moveTo>
                      <a:quadBezTo>
                        <a:pt x="13494" y="72628"/>
                        <a:pt x="10517" y="69255"/>
                      </a:quadBezTo>
                      <a:quadBezTo>
                        <a:pt x="7739" y="65683"/>
                        <a:pt x="7739" y="59134"/>
                      </a:quadBezTo>
                      <a:lnTo>
                        <a:pt x="7739" y="18256"/>
                      </a:lnTo>
                      <a:lnTo>
                        <a:pt x="0" y="18256"/>
                      </a:lnTo>
                      <a:lnTo>
                        <a:pt x="0" y="15478"/>
                      </a:lnTo>
                      <a:lnTo>
                        <a:pt x="7739" y="13097"/>
                      </a:lnTo>
                      <a:lnTo>
                        <a:pt x="14089" y="0"/>
                      </a:lnTo>
                      <a:lnTo>
                        <a:pt x="18058" y="0"/>
                      </a:lnTo>
                      <a:lnTo>
                        <a:pt x="18058" y="13097"/>
                      </a:lnTo>
                      <a:lnTo>
                        <a:pt x="31353" y="13097"/>
                      </a:lnTo>
                      <a:lnTo>
                        <a:pt x="31353" y="18256"/>
                      </a:lnTo>
                      <a:lnTo>
                        <a:pt x="18058" y="18256"/>
                      </a:lnTo>
                      <a:lnTo>
                        <a:pt x="18058" y="58142"/>
                      </a:lnTo>
                      <a:quadBezTo>
                        <a:pt x="18058" y="62111"/>
                        <a:pt x="19844" y="64294"/>
                      </a:quadBezTo>
                      <a:quadBezTo>
                        <a:pt x="21630" y="66278"/>
                        <a:pt x="24606" y="66278"/>
                      </a:quadBezTo>
                      <a:quadBezTo>
                        <a:pt x="28178" y="66278"/>
                        <a:pt x="33338" y="65286"/>
                      </a:quadBezTo>
                      <a:lnTo>
                        <a:pt x="33338" y="69255"/>
                      </a:lnTo>
                      <a:quadBezTo>
                        <a:pt x="31155" y="70842"/>
                        <a:pt x="26988" y="71636"/>
                      </a:quadBezTo>
                      <a:quadBezTo>
                        <a:pt x="23019" y="72628"/>
                        <a:pt x="19447" y="7262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9" name="u_lag_eq_glyph_11"/>
                <p:cNvSpPr/>
                <p:nvPr/>
              </p:nvSpPr>
              <p:spPr>
                <a:xfrm>
                  <a:off x="1843212" y="2532657"/>
                  <a:ext cx="30162" cy="841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162" h="84138">
                      <a:moveTo>
                        <a:pt x="20836" y="6747"/>
                      </a:moveTo>
                      <a:quadBezTo>
                        <a:pt x="20836" y="9525"/>
                        <a:pt x="18852" y="11509"/>
                      </a:quadBezTo>
                      <a:quadBezTo>
                        <a:pt x="16867" y="13494"/>
                        <a:pt x="13891" y="13494"/>
                      </a:quadBezTo>
                      <a:quadBezTo>
                        <a:pt x="11311" y="13494"/>
                        <a:pt x="9327" y="11509"/>
                      </a:quadBezTo>
                      <a:quadBezTo>
                        <a:pt x="7342" y="9525"/>
                        <a:pt x="7342" y="6747"/>
                      </a:quadBezTo>
                      <a:quadBezTo>
                        <a:pt x="7342" y="3969"/>
                        <a:pt x="9327" y="1984"/>
                      </a:quadBezTo>
                      <a:quadBezTo>
                        <a:pt x="11311" y="0"/>
                        <a:pt x="13891" y="0"/>
                      </a:quadBezTo>
                      <a:quadBezTo>
                        <a:pt x="16867" y="0"/>
                        <a:pt x="18852" y="1984"/>
                      </a:quadBezTo>
                      <a:quadBezTo>
                        <a:pt x="20836" y="3969"/>
                        <a:pt x="20836" y="6747"/>
                      </a:quadBezTo>
                      <a:close/>
                      <a:moveTo>
                        <a:pt x="20042" y="79772"/>
                      </a:moveTo>
                      <a:lnTo>
                        <a:pt x="30162" y="81359"/>
                      </a:lnTo>
                      <a:lnTo>
                        <a:pt x="30162" y="84138"/>
                      </a:lnTo>
                      <a:lnTo>
                        <a:pt x="0" y="84138"/>
                      </a:lnTo>
                      <a:lnTo>
                        <a:pt x="0" y="81359"/>
                      </a:lnTo>
                      <a:lnTo>
                        <a:pt x="9922" y="79772"/>
                      </a:lnTo>
                      <a:lnTo>
                        <a:pt x="9922" y="30162"/>
                      </a:lnTo>
                      <a:lnTo>
                        <a:pt x="1588" y="28575"/>
                      </a:lnTo>
                      <a:lnTo>
                        <a:pt x="1588" y="25797"/>
                      </a:lnTo>
                      <a:lnTo>
                        <a:pt x="20042" y="25797"/>
                      </a:lnTo>
                      <a:lnTo>
                        <a:pt x="20042" y="7977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0" name="u_lag_eq_glyph_12"/>
                <p:cNvSpPr/>
                <p:nvPr/>
              </p:nvSpPr>
              <p:spPr>
                <a:xfrm>
                  <a:off x="1875719" y="2558454"/>
                  <a:ext cx="63500" cy="5953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63500" h="59531">
                      <a:moveTo>
                        <a:pt x="34528" y="59531"/>
                      </a:moveTo>
                      <a:lnTo>
                        <a:pt x="29964" y="59531"/>
                      </a:lnTo>
                      <a:lnTo>
                        <a:pt x="5953" y="4366"/>
                      </a:lnTo>
                      <a:lnTo>
                        <a:pt x="0" y="2778"/>
                      </a:lnTo>
                      <a:lnTo>
                        <a:pt x="0" y="0"/>
                      </a:lnTo>
                      <a:lnTo>
                        <a:pt x="27186" y="0"/>
                      </a:lnTo>
                      <a:lnTo>
                        <a:pt x="27186" y="2778"/>
                      </a:lnTo>
                      <a:lnTo>
                        <a:pt x="17859" y="4564"/>
                      </a:lnTo>
                      <a:lnTo>
                        <a:pt x="34925" y="44847"/>
                      </a:lnTo>
                      <a:lnTo>
                        <a:pt x="51197" y="4366"/>
                      </a:lnTo>
                      <a:lnTo>
                        <a:pt x="41870" y="2778"/>
                      </a:lnTo>
                      <a:lnTo>
                        <a:pt x="41870" y="0"/>
                      </a:lnTo>
                      <a:lnTo>
                        <a:pt x="63500" y="0"/>
                      </a:lnTo>
                      <a:lnTo>
                        <a:pt x="63500" y="2778"/>
                      </a:lnTo>
                      <a:lnTo>
                        <a:pt x="57944" y="4167"/>
                      </a:lnTo>
                      <a:lnTo>
                        <a:pt x="34528" y="59531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1" name="u_lag_eq_glyph_13"/>
                <p:cNvSpPr/>
                <p:nvPr/>
              </p:nvSpPr>
              <p:spPr>
                <a:xfrm>
                  <a:off x="1944180" y="2556867"/>
                  <a:ext cx="47029" cy="611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030" h="61119">
                      <a:moveTo>
                        <a:pt x="11112" y="30559"/>
                      </a:moveTo>
                      <a:lnTo>
                        <a:pt x="11112" y="31750"/>
                      </a:lnTo>
                      <a:quadBezTo>
                        <a:pt x="11112" y="40283"/>
                        <a:pt x="12898" y="45045"/>
                      </a:quadBezTo>
                      <a:quadBezTo>
                        <a:pt x="14883" y="49808"/>
                        <a:pt x="18852" y="52388"/>
                      </a:quadBezTo>
                      <a:quadBezTo>
                        <a:pt x="22820" y="54769"/>
                        <a:pt x="29170" y="54769"/>
                      </a:quadBezTo>
                      <a:quadBezTo>
                        <a:pt x="32544" y="54769"/>
                        <a:pt x="37108" y="54173"/>
                      </a:quadBezTo>
                      <a:quadBezTo>
                        <a:pt x="41672" y="53578"/>
                        <a:pt x="44648" y="52983"/>
                      </a:quadBezTo>
                      <a:lnTo>
                        <a:pt x="44648" y="56356"/>
                      </a:lnTo>
                      <a:quadBezTo>
                        <a:pt x="41672" y="58341"/>
                        <a:pt x="36512" y="59730"/>
                      </a:quadBezTo>
                      <a:quadBezTo>
                        <a:pt x="31552" y="61119"/>
                        <a:pt x="26194" y="61119"/>
                      </a:quadBezTo>
                      <a:quadBezTo>
                        <a:pt x="12700" y="61119"/>
                        <a:pt x="6350" y="53777"/>
                      </a:quadBezTo>
                      <a:quadBezTo>
                        <a:pt x="0" y="46434"/>
                        <a:pt x="0" y="30361"/>
                      </a:quadBezTo>
                      <a:quadBezTo>
                        <a:pt x="0" y="15081"/>
                        <a:pt x="6350" y="7541"/>
                      </a:quadBezTo>
                      <a:quadBezTo>
                        <a:pt x="12700" y="0"/>
                        <a:pt x="24606" y="0"/>
                      </a:quadBezTo>
                      <a:quadBezTo>
                        <a:pt x="47030" y="0"/>
                        <a:pt x="47030" y="25598"/>
                      </a:quadBezTo>
                      <a:lnTo>
                        <a:pt x="47030" y="30559"/>
                      </a:lnTo>
                      <a:lnTo>
                        <a:pt x="11112" y="30559"/>
                      </a:lnTo>
                      <a:close/>
                      <a:moveTo>
                        <a:pt x="24606" y="4961"/>
                      </a:moveTo>
                      <a:quadBezTo>
                        <a:pt x="18256" y="4961"/>
                        <a:pt x="14684" y="10319"/>
                      </a:quadBezTo>
                      <a:quadBezTo>
                        <a:pt x="11311" y="15478"/>
                        <a:pt x="11311" y="25598"/>
                      </a:quadBezTo>
                      <a:lnTo>
                        <a:pt x="36314" y="25598"/>
                      </a:lnTo>
                      <a:quadBezTo>
                        <a:pt x="36314" y="14486"/>
                        <a:pt x="33338" y="9723"/>
                      </a:quadBezTo>
                      <a:quadBezTo>
                        <a:pt x="30559" y="4961"/>
                        <a:pt x="24606" y="49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82" name="u_safe_eq"/>
              <p:cNvSpPr txBox="1"/>
              <p:nvPr/>
            </p:nvSpPr>
            <p:spPr>
              <a:xfrm>
                <a:off x="2082800" y="2514600"/>
                <a:ext cx="9144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r>
                        <ns1:rPr>
                          <ns1:nor/>
                          <ns1:sty ns1:val="p"/>
                        </ns1:rPr>
                        <a:rPr sz="10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finite ε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482" name="u_safe_eq_compat"/>
              <p:cNvGrpSpPr/>
              <p:nvPr/>
            </p:nvGrpSpPr>
            <p:grpSpPr>
              <a:xfrm>
                <a:off x="2378868" y="2540000"/>
                <a:ext cx="314052" cy="90685"/>
                <a:chOff x="2378868" y="2540000"/>
                <a:chExt cx="314052" cy="90685"/>
              </a:xfrm>
            </p:grpSpPr>
            <p:sp>
              <p:nvSpPr>
                <p:cNvPr id="483" name="u_safe_eq_glyph_0"/>
                <p:cNvSpPr/>
                <p:nvPr/>
              </p:nvSpPr>
              <p:spPr>
                <a:xfrm>
                  <a:off x="2378868" y="2540000"/>
                  <a:ext cx="38298" cy="8949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8298" h="89495">
                      <a:moveTo>
                        <a:pt x="9922" y="36314"/>
                      </a:moveTo>
                      <a:lnTo>
                        <a:pt x="0" y="36314"/>
                      </a:lnTo>
                      <a:lnTo>
                        <a:pt x="0" y="33338"/>
                      </a:lnTo>
                      <a:lnTo>
                        <a:pt x="9922" y="30956"/>
                      </a:lnTo>
                      <a:lnTo>
                        <a:pt x="9922" y="26789"/>
                      </a:lnTo>
                      <a:quadBezTo>
                        <a:pt x="9922" y="13891"/>
                        <a:pt x="15081" y="6945"/>
                      </a:quadBezTo>
                      <a:quadBezTo>
                        <a:pt x="20241" y="0"/>
                        <a:pt x="29567" y="0"/>
                      </a:quadBezTo>
                      <a:quadBezTo>
                        <a:pt x="34330" y="0"/>
                        <a:pt x="38298" y="1191"/>
                      </a:quadBezTo>
                      <a:lnTo>
                        <a:pt x="38298" y="13891"/>
                      </a:lnTo>
                      <a:lnTo>
                        <a:pt x="35322" y="13891"/>
                      </a:lnTo>
                      <a:lnTo>
                        <a:pt x="32544" y="6350"/>
                      </a:lnTo>
                      <a:quadBezTo>
                        <a:pt x="30361" y="4961"/>
                        <a:pt x="27384" y="4961"/>
                      </a:quadBezTo>
                      <a:quadBezTo>
                        <a:pt x="23614" y="4961"/>
                        <a:pt x="21828" y="8533"/>
                      </a:quadBezTo>
                      <a:quadBezTo>
                        <a:pt x="20241" y="11906"/>
                        <a:pt x="20241" y="21431"/>
                      </a:quadBezTo>
                      <a:lnTo>
                        <a:pt x="20241" y="31155"/>
                      </a:lnTo>
                      <a:lnTo>
                        <a:pt x="35719" y="31155"/>
                      </a:lnTo>
                      <a:lnTo>
                        <a:pt x="35719" y="36314"/>
                      </a:lnTo>
                      <a:lnTo>
                        <a:pt x="20241" y="36314"/>
                      </a:lnTo>
                      <a:lnTo>
                        <a:pt x="20241" y="84733"/>
                      </a:lnTo>
                      <a:lnTo>
                        <a:pt x="32941" y="86717"/>
                      </a:lnTo>
                      <a:lnTo>
                        <a:pt x="32941" y="89495"/>
                      </a:lnTo>
                      <a:lnTo>
                        <a:pt x="1389" y="89495"/>
                      </a:lnTo>
                      <a:lnTo>
                        <a:pt x="1389" y="86717"/>
                      </a:lnTo>
                      <a:lnTo>
                        <a:pt x="9922" y="84733"/>
                      </a:lnTo>
                      <a:lnTo>
                        <a:pt x="9922" y="36314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4" name="u_safe_eq_glyph_1"/>
                <p:cNvSpPr/>
                <p:nvPr/>
              </p:nvSpPr>
              <p:spPr>
                <a:xfrm>
                  <a:off x="2419970" y="2545357"/>
                  <a:ext cx="30162" cy="841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162" h="84138">
                      <a:moveTo>
                        <a:pt x="20836" y="6747"/>
                      </a:moveTo>
                      <a:quadBezTo>
                        <a:pt x="20836" y="9525"/>
                        <a:pt x="18852" y="11509"/>
                      </a:quadBezTo>
                      <a:quadBezTo>
                        <a:pt x="16867" y="13494"/>
                        <a:pt x="13891" y="13494"/>
                      </a:quadBezTo>
                      <a:quadBezTo>
                        <a:pt x="11311" y="13494"/>
                        <a:pt x="9327" y="11509"/>
                      </a:quadBezTo>
                      <a:quadBezTo>
                        <a:pt x="7342" y="9525"/>
                        <a:pt x="7342" y="6747"/>
                      </a:quadBezTo>
                      <a:quadBezTo>
                        <a:pt x="7342" y="3969"/>
                        <a:pt x="9327" y="1984"/>
                      </a:quadBezTo>
                      <a:quadBezTo>
                        <a:pt x="11311" y="0"/>
                        <a:pt x="13891" y="0"/>
                      </a:quadBezTo>
                      <a:quadBezTo>
                        <a:pt x="16867" y="0"/>
                        <a:pt x="18852" y="1984"/>
                      </a:quadBezTo>
                      <a:quadBezTo>
                        <a:pt x="20836" y="3969"/>
                        <a:pt x="20836" y="6747"/>
                      </a:quadBezTo>
                      <a:close/>
                      <a:moveTo>
                        <a:pt x="20042" y="79772"/>
                      </a:moveTo>
                      <a:lnTo>
                        <a:pt x="30162" y="81359"/>
                      </a:lnTo>
                      <a:lnTo>
                        <a:pt x="30162" y="84138"/>
                      </a:lnTo>
                      <a:lnTo>
                        <a:pt x="0" y="84138"/>
                      </a:lnTo>
                      <a:lnTo>
                        <a:pt x="0" y="81359"/>
                      </a:lnTo>
                      <a:lnTo>
                        <a:pt x="9922" y="79772"/>
                      </a:lnTo>
                      <a:lnTo>
                        <a:pt x="9922" y="30162"/>
                      </a:lnTo>
                      <a:lnTo>
                        <a:pt x="1588" y="28575"/>
                      </a:lnTo>
                      <a:lnTo>
                        <a:pt x="1588" y="25797"/>
                      </a:lnTo>
                      <a:lnTo>
                        <a:pt x="20042" y="25797"/>
                      </a:lnTo>
                      <a:lnTo>
                        <a:pt x="20042" y="7977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5" name="u_safe_eq_glyph_2"/>
                <p:cNvSpPr/>
                <p:nvPr/>
              </p:nvSpPr>
              <p:spPr>
                <a:xfrm>
                  <a:off x="2455453" y="2569567"/>
                  <a:ext cx="58539" cy="599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8539" h="59928">
                      <a:moveTo>
                        <a:pt x="17066" y="6350"/>
                      </a:moveTo>
                      <a:quadBezTo>
                        <a:pt x="21828" y="3572"/>
                        <a:pt x="27186" y="1786"/>
                      </a:quadBezTo>
                      <a:quadBezTo>
                        <a:pt x="32742" y="0"/>
                        <a:pt x="36314" y="0"/>
                      </a:quadBezTo>
                      <a:quadBezTo>
                        <a:pt x="43855" y="0"/>
                        <a:pt x="47625" y="4564"/>
                      </a:quadBezTo>
                      <a:quadBezTo>
                        <a:pt x="51594" y="8930"/>
                        <a:pt x="51594" y="17264"/>
                      </a:quadBezTo>
                      <a:lnTo>
                        <a:pt x="51594" y="55562"/>
                      </a:lnTo>
                      <a:lnTo>
                        <a:pt x="58539" y="57150"/>
                      </a:lnTo>
                      <a:lnTo>
                        <a:pt x="58539" y="59928"/>
                      </a:lnTo>
                      <a:lnTo>
                        <a:pt x="33536" y="59928"/>
                      </a:lnTo>
                      <a:lnTo>
                        <a:pt x="33536" y="57150"/>
                      </a:lnTo>
                      <a:lnTo>
                        <a:pt x="41275" y="55562"/>
                      </a:lnTo>
                      <a:lnTo>
                        <a:pt x="41275" y="18455"/>
                      </a:lnTo>
                      <a:quadBezTo>
                        <a:pt x="41275" y="13295"/>
                        <a:pt x="38695" y="10319"/>
                      </a:quadBezTo>
                      <a:quadBezTo>
                        <a:pt x="36314" y="7342"/>
                        <a:pt x="30956" y="7342"/>
                      </a:quadBezTo>
                      <a:quadBezTo>
                        <a:pt x="25400" y="7342"/>
                        <a:pt x="17264" y="9128"/>
                      </a:quadBezTo>
                      <a:lnTo>
                        <a:pt x="17264" y="55562"/>
                      </a:lnTo>
                      <a:lnTo>
                        <a:pt x="25202" y="57150"/>
                      </a:lnTo>
                      <a:lnTo>
                        <a:pt x="25202" y="59928"/>
                      </a:lnTo>
                      <a:lnTo>
                        <a:pt x="0" y="59928"/>
                      </a:lnTo>
                      <a:lnTo>
                        <a:pt x="0" y="57150"/>
                      </a:lnTo>
                      <a:lnTo>
                        <a:pt x="6945" y="55562"/>
                      </a:lnTo>
                      <a:lnTo>
                        <a:pt x="6945" y="5953"/>
                      </a:lnTo>
                      <a:lnTo>
                        <a:pt x="0" y="4366"/>
                      </a:lnTo>
                      <a:lnTo>
                        <a:pt x="0" y="1588"/>
                      </a:lnTo>
                      <a:lnTo>
                        <a:pt x="16669" y="1588"/>
                      </a:lnTo>
                      <a:lnTo>
                        <a:pt x="17066" y="6350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6" name="u_safe_eq_glyph_3"/>
                <p:cNvSpPr/>
                <p:nvPr/>
              </p:nvSpPr>
              <p:spPr>
                <a:xfrm>
                  <a:off x="2518754" y="2545357"/>
                  <a:ext cx="30162" cy="8413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0162" h="84138">
                      <a:moveTo>
                        <a:pt x="20836" y="6747"/>
                      </a:moveTo>
                      <a:quadBezTo>
                        <a:pt x="20836" y="9525"/>
                        <a:pt x="18852" y="11509"/>
                      </a:quadBezTo>
                      <a:quadBezTo>
                        <a:pt x="16867" y="13494"/>
                        <a:pt x="13891" y="13494"/>
                      </a:quadBezTo>
                      <a:quadBezTo>
                        <a:pt x="11311" y="13494"/>
                        <a:pt x="9327" y="11509"/>
                      </a:quadBezTo>
                      <a:quadBezTo>
                        <a:pt x="7342" y="9525"/>
                        <a:pt x="7342" y="6747"/>
                      </a:quadBezTo>
                      <a:quadBezTo>
                        <a:pt x="7342" y="3969"/>
                        <a:pt x="9327" y="1984"/>
                      </a:quadBezTo>
                      <a:quadBezTo>
                        <a:pt x="11311" y="0"/>
                        <a:pt x="13891" y="0"/>
                      </a:quadBezTo>
                      <a:quadBezTo>
                        <a:pt x="16867" y="0"/>
                        <a:pt x="18852" y="1984"/>
                      </a:quadBezTo>
                      <a:quadBezTo>
                        <a:pt x="20836" y="3969"/>
                        <a:pt x="20836" y="6747"/>
                      </a:quadBezTo>
                      <a:close/>
                      <a:moveTo>
                        <a:pt x="20042" y="79772"/>
                      </a:moveTo>
                      <a:lnTo>
                        <a:pt x="30162" y="81359"/>
                      </a:lnTo>
                      <a:lnTo>
                        <a:pt x="30162" y="84138"/>
                      </a:lnTo>
                      <a:lnTo>
                        <a:pt x="0" y="84138"/>
                      </a:lnTo>
                      <a:lnTo>
                        <a:pt x="0" y="81359"/>
                      </a:lnTo>
                      <a:lnTo>
                        <a:pt x="9922" y="79772"/>
                      </a:lnTo>
                      <a:lnTo>
                        <a:pt x="9922" y="30162"/>
                      </a:lnTo>
                      <a:lnTo>
                        <a:pt x="1588" y="28575"/>
                      </a:lnTo>
                      <a:lnTo>
                        <a:pt x="1588" y="25797"/>
                      </a:lnTo>
                      <a:lnTo>
                        <a:pt x="20042" y="25797"/>
                      </a:lnTo>
                      <a:lnTo>
                        <a:pt x="20042" y="79772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7" name="u_safe_eq_glyph_4"/>
                <p:cNvSpPr/>
                <p:nvPr/>
              </p:nvSpPr>
              <p:spPr>
                <a:xfrm>
                  <a:off x="2552451" y="2558057"/>
                  <a:ext cx="33337" cy="7262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33338" h="72628">
                      <a:moveTo>
                        <a:pt x="19447" y="72628"/>
                      </a:moveTo>
                      <a:quadBezTo>
                        <a:pt x="13494" y="72628"/>
                        <a:pt x="10517" y="69255"/>
                      </a:quadBezTo>
                      <a:quadBezTo>
                        <a:pt x="7739" y="65683"/>
                        <a:pt x="7739" y="59134"/>
                      </a:quadBezTo>
                      <a:lnTo>
                        <a:pt x="7739" y="18256"/>
                      </a:lnTo>
                      <a:lnTo>
                        <a:pt x="0" y="18256"/>
                      </a:lnTo>
                      <a:lnTo>
                        <a:pt x="0" y="15478"/>
                      </a:lnTo>
                      <a:lnTo>
                        <a:pt x="7739" y="13097"/>
                      </a:lnTo>
                      <a:lnTo>
                        <a:pt x="14089" y="0"/>
                      </a:lnTo>
                      <a:lnTo>
                        <a:pt x="18058" y="0"/>
                      </a:lnTo>
                      <a:lnTo>
                        <a:pt x="18058" y="13097"/>
                      </a:lnTo>
                      <a:lnTo>
                        <a:pt x="31353" y="13097"/>
                      </a:lnTo>
                      <a:lnTo>
                        <a:pt x="31353" y="18256"/>
                      </a:lnTo>
                      <a:lnTo>
                        <a:pt x="18058" y="18256"/>
                      </a:lnTo>
                      <a:lnTo>
                        <a:pt x="18058" y="58142"/>
                      </a:lnTo>
                      <a:quadBezTo>
                        <a:pt x="18058" y="62111"/>
                        <a:pt x="19844" y="64294"/>
                      </a:quadBezTo>
                      <a:quadBezTo>
                        <a:pt x="21630" y="66278"/>
                        <a:pt x="24606" y="66278"/>
                      </a:quadBezTo>
                      <a:quadBezTo>
                        <a:pt x="28178" y="66278"/>
                        <a:pt x="33338" y="65286"/>
                      </a:quadBezTo>
                      <a:lnTo>
                        <a:pt x="33338" y="69255"/>
                      </a:lnTo>
                      <a:quadBezTo>
                        <a:pt x="31155" y="70842"/>
                        <a:pt x="26988" y="71636"/>
                      </a:quadBezTo>
                      <a:quadBezTo>
                        <a:pt x="23019" y="72628"/>
                        <a:pt x="19447" y="72628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8" name="u_safe_eq_glyph_5"/>
                <p:cNvSpPr/>
                <p:nvPr/>
              </p:nvSpPr>
              <p:spPr>
                <a:xfrm>
                  <a:off x="2591506" y="2569567"/>
                  <a:ext cx="47029" cy="611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030" h="61119">
                      <a:moveTo>
                        <a:pt x="11112" y="30559"/>
                      </a:moveTo>
                      <a:lnTo>
                        <a:pt x="11112" y="31750"/>
                      </a:lnTo>
                      <a:quadBezTo>
                        <a:pt x="11112" y="40283"/>
                        <a:pt x="12898" y="45045"/>
                      </a:quadBezTo>
                      <a:quadBezTo>
                        <a:pt x="14883" y="49808"/>
                        <a:pt x="18852" y="52388"/>
                      </a:quadBezTo>
                      <a:quadBezTo>
                        <a:pt x="22820" y="54769"/>
                        <a:pt x="29170" y="54769"/>
                      </a:quadBezTo>
                      <a:quadBezTo>
                        <a:pt x="32544" y="54769"/>
                        <a:pt x="37108" y="54173"/>
                      </a:quadBezTo>
                      <a:quadBezTo>
                        <a:pt x="41672" y="53578"/>
                        <a:pt x="44648" y="52983"/>
                      </a:quadBezTo>
                      <a:lnTo>
                        <a:pt x="44648" y="56356"/>
                      </a:lnTo>
                      <a:quadBezTo>
                        <a:pt x="41672" y="58341"/>
                        <a:pt x="36512" y="59730"/>
                      </a:quadBezTo>
                      <a:quadBezTo>
                        <a:pt x="31552" y="61119"/>
                        <a:pt x="26194" y="61119"/>
                      </a:quadBezTo>
                      <a:quadBezTo>
                        <a:pt x="12700" y="61119"/>
                        <a:pt x="6350" y="53777"/>
                      </a:quadBezTo>
                      <a:quadBezTo>
                        <a:pt x="0" y="46434"/>
                        <a:pt x="0" y="30361"/>
                      </a:quadBezTo>
                      <a:quadBezTo>
                        <a:pt x="0" y="15081"/>
                        <a:pt x="6350" y="7541"/>
                      </a:quadBezTo>
                      <a:quadBezTo>
                        <a:pt x="12700" y="0"/>
                        <a:pt x="24606" y="0"/>
                      </a:quadBezTo>
                      <a:quadBezTo>
                        <a:pt x="47030" y="0"/>
                        <a:pt x="47030" y="25598"/>
                      </a:quadBezTo>
                      <a:lnTo>
                        <a:pt x="47030" y="30559"/>
                      </a:lnTo>
                      <a:lnTo>
                        <a:pt x="11112" y="30559"/>
                      </a:lnTo>
                      <a:close/>
                      <a:moveTo>
                        <a:pt x="24606" y="4961"/>
                      </a:moveTo>
                      <a:quadBezTo>
                        <a:pt x="18256" y="4961"/>
                        <a:pt x="14684" y="10319"/>
                      </a:quadBezTo>
                      <a:quadBezTo>
                        <a:pt x="11311" y="15478"/>
                        <a:pt x="11311" y="25598"/>
                      </a:quadBezTo>
                      <a:lnTo>
                        <a:pt x="36314" y="25598"/>
                      </a:lnTo>
                      <a:quadBezTo>
                        <a:pt x="36314" y="14486"/>
                        <a:pt x="33338" y="9723"/>
                      </a:quadBezTo>
                      <a:quadBezTo>
                        <a:pt x="30559" y="4961"/>
                        <a:pt x="24606" y="4961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9" name="u_safe_eq_glyph_6"/>
                <p:cNvSpPr/>
                <p:nvPr/>
              </p:nvSpPr>
              <p:spPr>
                <a:xfrm>
                  <a:off x="2645692" y="2569567"/>
                  <a:ext cx="47228" cy="611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228" h="61119">
                      <a:moveTo>
                        <a:pt x="31353" y="0"/>
                      </a:moveTo>
                      <a:quadBezTo>
                        <a:pt x="35322" y="0"/>
                        <a:pt x="39688" y="794"/>
                      </a:quadBezTo>
                      <a:quadBezTo>
                        <a:pt x="44252" y="1389"/>
                        <a:pt x="47228" y="2381"/>
                      </a:quadBezTo>
                      <a:lnTo>
                        <a:pt x="44847" y="14486"/>
                      </a:lnTo>
                      <a:lnTo>
                        <a:pt x="41870" y="14486"/>
                      </a:lnTo>
                      <a:lnTo>
                        <a:pt x="40084" y="7342"/>
                      </a:lnTo>
                      <a:quadBezTo>
                        <a:pt x="38894" y="6350"/>
                        <a:pt x="36314" y="5755"/>
                      </a:quadBezTo>
                      <a:quadBezTo>
                        <a:pt x="33734" y="4961"/>
                        <a:pt x="30956" y="4961"/>
                      </a:quadBezTo>
                      <a:quadBezTo>
                        <a:pt x="25003" y="4961"/>
                        <a:pt x="21431" y="8136"/>
                      </a:quadBezTo>
                      <a:quadBezTo>
                        <a:pt x="17859" y="11311"/>
                        <a:pt x="17859" y="16867"/>
                      </a:quadBezTo>
                      <a:quadBezTo>
                        <a:pt x="17859" y="20042"/>
                        <a:pt x="19447" y="22820"/>
                      </a:quadBezTo>
                      <a:quadBezTo>
                        <a:pt x="21233" y="25598"/>
                        <a:pt x="23416" y="26392"/>
                      </a:quadBezTo>
                      <a:quadBezTo>
                        <a:pt x="30758" y="25202"/>
                        <a:pt x="34330" y="25202"/>
                      </a:quadBezTo>
                      <a:lnTo>
                        <a:pt x="37505" y="25202"/>
                      </a:lnTo>
                      <a:lnTo>
                        <a:pt x="36512" y="31552"/>
                      </a:lnTo>
                      <a:lnTo>
                        <a:pt x="33338" y="31552"/>
                      </a:lnTo>
                      <a:quadBezTo>
                        <a:pt x="31155" y="31552"/>
                        <a:pt x="21034" y="30758"/>
                      </a:quadBezTo>
                      <a:quadBezTo>
                        <a:pt x="16073" y="32345"/>
                        <a:pt x="13494" y="35917"/>
                      </a:quadBezTo>
                      <a:quadBezTo>
                        <a:pt x="10914" y="39291"/>
                        <a:pt x="10914" y="44252"/>
                      </a:quadBezTo>
                      <a:quadBezTo>
                        <a:pt x="10914" y="49411"/>
                        <a:pt x="13891" y="52189"/>
                      </a:quadBezTo>
                      <a:quadBezTo>
                        <a:pt x="16867" y="54769"/>
                        <a:pt x="22423" y="54769"/>
                      </a:quadBezTo>
                      <a:quadBezTo>
                        <a:pt x="31750" y="54769"/>
                        <a:pt x="40283" y="48816"/>
                      </a:quadBezTo>
                      <a:lnTo>
                        <a:pt x="42267" y="51792"/>
                      </a:lnTo>
                      <a:quadBezTo>
                        <a:pt x="31948" y="61119"/>
                        <a:pt x="19050" y="61119"/>
                      </a:quadBezTo>
                      <a:quadBezTo>
                        <a:pt x="9922" y="61119"/>
                        <a:pt x="4961" y="56952"/>
                      </a:quadBezTo>
                      <a:quadBezTo>
                        <a:pt x="0" y="52784"/>
                        <a:pt x="0" y="45045"/>
                      </a:quadBezTo>
                      <a:quadBezTo>
                        <a:pt x="0" y="38695"/>
                        <a:pt x="4366" y="34330"/>
                      </a:quadBezTo>
                      <a:quadBezTo>
                        <a:pt x="8930" y="29766"/>
                        <a:pt x="16272" y="28575"/>
                      </a:quadBezTo>
                      <a:lnTo>
                        <a:pt x="16470" y="28178"/>
                      </a:lnTo>
                      <a:quadBezTo>
                        <a:pt x="12303" y="26392"/>
                        <a:pt x="9922" y="23019"/>
                      </a:quadBezTo>
                      <a:quadBezTo>
                        <a:pt x="7541" y="19645"/>
                        <a:pt x="7541" y="15677"/>
                      </a:quadBezTo>
                      <a:quadBezTo>
                        <a:pt x="7541" y="8334"/>
                        <a:pt x="13891" y="4167"/>
                      </a:quadBezTo>
                      <a:quadBezTo>
                        <a:pt x="20241" y="0"/>
                        <a:pt x="31353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  <mc:AlternateContent xmlns:mc="http://schemas.openxmlformats.org/markup-compatibility/2006" xmlns:a16="http://schemas.microsoft.com/office/drawing/2014/main">
        <mc:Choice Requires="a16">
          <p:sp>
            <p:nvSpPr>
              <p:cNvPr id="490" name="u_lp_eq"/>
              <p:cNvSpPr txBox="1"/>
              <p:nvPr/>
            </p:nvSpPr>
            <p:spPr>
              <a:xfrm>
                <a:off x="3048000" y="2514600"/>
                <a:ext cx="914400" cy="165100"/>
              </a:xfrm>
              <a:prstGeom prst="rect">
                <a:avLst/>
              </a:prstGeom>
              <a:noFill/>
            </p:spPr>
            <p:txBody>
              <a:bodyPr wrap="none" lIns="0" rIns="0" tIns="0" bIns="0">
                <a:spAutoFit/>
              </a:bodyPr>
              <a:lstStyle/>
              <a:p>
                <a:pPr>
                  <a:defRPr sz="1000"/>
                </a:pPr>
                <ns0:m xmlns:ns0="http://schemas.microsoft.com/office/drawing/2010/main">
                  <ns1:oMathPara xmlns:ns1="http://schemas.openxmlformats.org/officeDocument/2006/math">
                    <ns1:oMathParaPr>
                      <ns1:jc ns1:val="left"/>
                    </ns1:oMathParaPr>
                    <ns1:oMath>
                      <ns1:r>
                        <ns1:rPr>
                          <ns1:nor/>
                          <ns1:sty ns1:val="p"/>
                        </ns1:rPr>
                        <a:rPr sz="1000" lang="en-US">
                          <a:solidFill>
                            <a:srgbClr val="24343D"/>
                          </a:solidFill>
                          <a:latin typeface="Liberation Serif"/>
                        </a:rPr>
                        <ns1:t>ε→0</ns1:t>
                      </ns1:r>
                    </ns1:oMath>
                  </ns1:oMathPara>
                </ns0:m>
              </a:p>
            </p:txBody>
          </p:sp>
        </mc:Choice>
        <mc:Fallback>
          <p:grpSp>
            <p:nvGrpSpPr>
              <p:cNvPr id="490" name="u_lp_eq_compat"/>
              <p:cNvGrpSpPr/>
              <p:nvPr/>
            </p:nvGrpSpPr>
            <p:grpSpPr>
              <a:xfrm>
                <a:off x="3368278" y="2546350"/>
                <a:ext cx="269689" cy="85725"/>
                <a:chOff x="3368278" y="2546350"/>
                <a:chExt cx="269689" cy="85725"/>
              </a:xfrm>
            </p:grpSpPr>
            <p:sp>
              <p:nvSpPr>
                <p:cNvPr id="491" name="u_lp_eq_glyph_0"/>
                <p:cNvSpPr/>
                <p:nvPr/>
              </p:nvSpPr>
              <p:spPr>
                <a:xfrm>
                  <a:off x="3368278" y="2570956"/>
                  <a:ext cx="47228" cy="6111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47228" h="61119">
                      <a:moveTo>
                        <a:pt x="31353" y="0"/>
                      </a:moveTo>
                      <a:quadBezTo>
                        <a:pt x="35322" y="0"/>
                        <a:pt x="39688" y="794"/>
                      </a:quadBezTo>
                      <a:quadBezTo>
                        <a:pt x="44252" y="1389"/>
                        <a:pt x="47228" y="2381"/>
                      </a:quadBezTo>
                      <a:lnTo>
                        <a:pt x="44847" y="14486"/>
                      </a:lnTo>
                      <a:lnTo>
                        <a:pt x="41870" y="14486"/>
                      </a:lnTo>
                      <a:lnTo>
                        <a:pt x="40084" y="7342"/>
                      </a:lnTo>
                      <a:quadBezTo>
                        <a:pt x="38894" y="6350"/>
                        <a:pt x="36314" y="5755"/>
                      </a:quadBezTo>
                      <a:quadBezTo>
                        <a:pt x="33734" y="4961"/>
                        <a:pt x="30956" y="4961"/>
                      </a:quadBezTo>
                      <a:quadBezTo>
                        <a:pt x="25003" y="4961"/>
                        <a:pt x="21431" y="8136"/>
                      </a:quadBezTo>
                      <a:quadBezTo>
                        <a:pt x="17859" y="11311"/>
                        <a:pt x="17859" y="16867"/>
                      </a:quadBezTo>
                      <a:quadBezTo>
                        <a:pt x="17859" y="20042"/>
                        <a:pt x="19447" y="22820"/>
                      </a:quadBezTo>
                      <a:quadBezTo>
                        <a:pt x="21233" y="25598"/>
                        <a:pt x="23416" y="26392"/>
                      </a:quadBezTo>
                      <a:quadBezTo>
                        <a:pt x="30758" y="25202"/>
                        <a:pt x="34330" y="25202"/>
                      </a:quadBezTo>
                      <a:lnTo>
                        <a:pt x="37505" y="25202"/>
                      </a:lnTo>
                      <a:lnTo>
                        <a:pt x="36512" y="31552"/>
                      </a:lnTo>
                      <a:lnTo>
                        <a:pt x="33338" y="31552"/>
                      </a:lnTo>
                      <a:quadBezTo>
                        <a:pt x="31155" y="31552"/>
                        <a:pt x="21034" y="30758"/>
                      </a:quadBezTo>
                      <a:quadBezTo>
                        <a:pt x="16073" y="32345"/>
                        <a:pt x="13494" y="35917"/>
                      </a:quadBezTo>
                      <a:quadBezTo>
                        <a:pt x="10914" y="39291"/>
                        <a:pt x="10914" y="44252"/>
                      </a:quadBezTo>
                      <a:quadBezTo>
                        <a:pt x="10914" y="49411"/>
                        <a:pt x="13891" y="52189"/>
                      </a:quadBezTo>
                      <a:quadBezTo>
                        <a:pt x="16867" y="54769"/>
                        <a:pt x="22423" y="54769"/>
                      </a:quadBezTo>
                      <a:quadBezTo>
                        <a:pt x="31750" y="54769"/>
                        <a:pt x="40283" y="48816"/>
                      </a:quadBezTo>
                      <a:lnTo>
                        <a:pt x="42267" y="51792"/>
                      </a:lnTo>
                      <a:quadBezTo>
                        <a:pt x="31948" y="61119"/>
                        <a:pt x="19050" y="61119"/>
                      </a:quadBezTo>
                      <a:quadBezTo>
                        <a:pt x="9922" y="61119"/>
                        <a:pt x="4961" y="56952"/>
                      </a:quadBezTo>
                      <a:quadBezTo>
                        <a:pt x="0" y="52784"/>
                        <a:pt x="0" y="45045"/>
                      </a:quadBezTo>
                      <a:quadBezTo>
                        <a:pt x="0" y="38695"/>
                        <a:pt x="4366" y="34330"/>
                      </a:quadBezTo>
                      <a:quadBezTo>
                        <a:pt x="8930" y="29766"/>
                        <a:pt x="16272" y="28575"/>
                      </a:quadBezTo>
                      <a:lnTo>
                        <a:pt x="16470" y="28178"/>
                      </a:lnTo>
                      <a:quadBezTo>
                        <a:pt x="12303" y="26392"/>
                        <a:pt x="9922" y="23019"/>
                      </a:quadBezTo>
                      <a:quadBezTo>
                        <a:pt x="7541" y="19645"/>
                        <a:pt x="7541" y="15677"/>
                      </a:quadBezTo>
                      <a:quadBezTo>
                        <a:pt x="7541" y="8334"/>
                        <a:pt x="13891" y="4167"/>
                      </a:quadBezTo>
                      <a:quadBezTo>
                        <a:pt x="20241" y="0"/>
                        <a:pt x="31353" y="0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2" name="u_lp_eq_glyph_1"/>
                <p:cNvSpPr/>
                <p:nvPr/>
              </p:nvSpPr>
              <p:spPr>
                <a:xfrm>
                  <a:off x="3459881" y="2594967"/>
                  <a:ext cx="75009" cy="2976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75009" h="29766">
                      <a:moveTo>
                        <a:pt x="61317" y="12105"/>
                      </a:moveTo>
                      <a:quadBezTo>
                        <a:pt x="57745" y="7938"/>
                        <a:pt x="53975" y="0"/>
                      </a:quadBezTo>
                      <a:lnTo>
                        <a:pt x="58341" y="0"/>
                      </a:lnTo>
                      <a:quadBezTo>
                        <a:pt x="66278" y="9128"/>
                        <a:pt x="75009" y="13692"/>
                      </a:quadBezTo>
                      <a:lnTo>
                        <a:pt x="75009" y="15875"/>
                      </a:lnTo>
                      <a:quadBezTo>
                        <a:pt x="66278" y="20439"/>
                        <a:pt x="58341" y="29766"/>
                      </a:quadBezTo>
                      <a:lnTo>
                        <a:pt x="53975" y="29766"/>
                      </a:lnTo>
                      <a:quadBezTo>
                        <a:pt x="57745" y="21630"/>
                        <a:pt x="61317" y="17462"/>
                      </a:quadBezTo>
                      <a:lnTo>
                        <a:pt x="0" y="17462"/>
                      </a:lnTo>
                      <a:lnTo>
                        <a:pt x="0" y="12105"/>
                      </a:lnTo>
                      <a:lnTo>
                        <a:pt x="61317" y="12105"/>
                      </a:ln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3" name="u_lp_eq_glyph_2"/>
                <p:cNvSpPr/>
                <p:nvPr/>
              </p:nvSpPr>
              <p:spPr>
                <a:xfrm>
                  <a:off x="3583992" y="2546350"/>
                  <a:ext cx="53975" cy="85725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53975" h="85725">
                      <a:moveTo>
                        <a:pt x="53975" y="42664"/>
                      </a:moveTo>
                      <a:quadBezTo>
                        <a:pt x="53975" y="85725"/>
                        <a:pt x="26591" y="85725"/>
                      </a:quadBezTo>
                      <a:quadBezTo>
                        <a:pt x="13494" y="85725"/>
                        <a:pt x="6747" y="74811"/>
                      </a:quadBezTo>
                      <a:quadBezTo>
                        <a:pt x="0" y="63698"/>
                        <a:pt x="0" y="42664"/>
                      </a:quadBezTo>
                      <a:quadBezTo>
                        <a:pt x="0" y="22027"/>
                        <a:pt x="6747" y="11112"/>
                      </a:quadBezTo>
                      <a:quadBezTo>
                        <a:pt x="13494" y="0"/>
                        <a:pt x="27186" y="0"/>
                      </a:quadBezTo>
                      <a:quadBezTo>
                        <a:pt x="40283" y="0"/>
                        <a:pt x="47030" y="10914"/>
                      </a:quadBezTo>
                      <a:quadBezTo>
                        <a:pt x="53975" y="21630"/>
                        <a:pt x="53975" y="42664"/>
                      </a:quadBezTo>
                      <a:close/>
                      <a:moveTo>
                        <a:pt x="42466" y="42664"/>
                      </a:moveTo>
                      <a:quadBezTo>
                        <a:pt x="42466" y="22622"/>
                        <a:pt x="38695" y="13891"/>
                      </a:quadBezTo>
                      <a:quadBezTo>
                        <a:pt x="34925" y="4961"/>
                        <a:pt x="26591" y="4961"/>
                      </a:quadBezTo>
                      <a:quadBezTo>
                        <a:pt x="18653" y="4961"/>
                        <a:pt x="15081" y="13295"/>
                      </a:quadBezTo>
                      <a:quadBezTo>
                        <a:pt x="11509" y="21630"/>
                        <a:pt x="11509" y="42664"/>
                      </a:quadBezTo>
                      <a:quadBezTo>
                        <a:pt x="11509" y="63698"/>
                        <a:pt x="15081" y="72430"/>
                      </a:quadBezTo>
                      <a:quadBezTo>
                        <a:pt x="18653" y="80962"/>
                        <a:pt x="26591" y="80962"/>
                      </a:quadBezTo>
                      <a:quadBezTo>
                        <a:pt x="34727" y="80962"/>
                        <a:pt x="38497" y="72033"/>
                      </a:quadBezTo>
                      <a:quadBezTo>
                        <a:pt x="42466" y="62905"/>
                        <a:pt x="42466" y="42664"/>
                      </a:quadBezTo>
                      <a:close/>
                    </a:path>
                  </a:pathLst>
                </a:custGeom>
                <a:solidFill>
                  <a:srgbClr val="24343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SafeOT Figure 1</dc:title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