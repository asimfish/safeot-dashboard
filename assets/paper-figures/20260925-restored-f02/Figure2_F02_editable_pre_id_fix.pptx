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30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redraw of selected F02. Original raster preserved separately. Module layout retained; mentor 14:25Z corrections applied. No experiment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llout" descr="Editable shape; source id rollout"/>
          <p:cNvSpPr/>
          <p:nvPr/>
        </p:nvSpPr>
        <p:spPr>
          <a:xfrm>
            <a:off x="38100" y="38100"/>
            <a:ext cx="977900" cy="15621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llout_title" descr="Editable text; source id rollout_title"/>
          <p:cNvSpPr txBox="1"/>
          <p:nvPr/>
        </p:nvSpPr>
        <p:spPr>
          <a:xfrm>
            <a:off x="1016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1. Rollout</a:t>
            </a:r>
          </a:p>
        </p:txBody>
      </p:sp>
      <p:sp>
        <p:nvSpPr>
          <p:cNvPr id="4" name="rollout_graph_edge_0" descr="Editable line; source id rollout_graph_edge_0"/>
          <p:cNvSpPr/>
          <p:nvPr/>
        </p:nvSpPr>
        <p:spPr>
          <a:xfrm>
            <a:off x="234861" y="6592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llout_graph_edge_1" descr="Editable line; source id rollout_graph_edge_1"/>
          <p:cNvSpPr/>
          <p:nvPr/>
        </p:nvSpPr>
        <p:spPr>
          <a:xfrm>
            <a:off x="422021" y="6045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llout_graph_edge_2" descr="Editable line; source id rollout_graph_edge_2"/>
          <p:cNvSpPr/>
          <p:nvPr/>
        </p:nvSpPr>
        <p:spPr>
          <a:xfrm>
            <a:off x="689140" y="6561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llout_graph_edge_3" descr="Editable line; source id rollout_graph_edge_3"/>
          <p:cNvSpPr/>
          <p:nvPr/>
        </p:nvSpPr>
        <p:spPr>
          <a:xfrm>
            <a:off x="234861" y="833968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2544" y="0"/>
                </a:moveTo>
                <a:lnTo>
                  <a:pt x="29201" y="28209"/>
                </a:lnTo>
                <a:lnTo>
                  <a:pt x="33016" y="24603"/>
                </a:lnTo>
                <a:lnTo>
                  <a:pt x="39948" y="42130"/>
                </a:lnTo>
                <a:lnTo>
                  <a:pt x="22841" y="34218"/>
                </a:lnTo>
                <a:lnTo>
                  <a:pt x="26657" y="30613"/>
                </a:lnTo>
                <a:lnTo>
                  <a:pt x="0" y="2404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llout_graph_edge_4" descr="Editable line; source id rollout_graph_edge_4"/>
          <p:cNvSpPr/>
          <p:nvPr/>
        </p:nvSpPr>
        <p:spPr>
          <a:xfrm>
            <a:off x="422021" y="960120"/>
            <a:ext cx="184658" cy="35560"/>
          </a:xfrm>
          <a:custGeom>
            <a:avLst/>
            <a:gdLst/>
            <a:ahLst/>
            <a:cxnLst/>
            <a:rect l="l" t="t" r="r" b="b"/>
            <a:pathLst>
              <a:path w="72700" h="14000">
                <a:moveTo>
                  <a:pt x="0" y="5250"/>
                </a:moveTo>
                <a:lnTo>
                  <a:pt x="55200" y="5250"/>
                </a:lnTo>
                <a:lnTo>
                  <a:pt x="55200" y="0"/>
                </a:lnTo>
                <a:lnTo>
                  <a:pt x="72700" y="7000"/>
                </a:lnTo>
                <a:lnTo>
                  <a:pt x="55200" y="14000"/>
                </a:lnTo>
                <a:lnTo>
                  <a:pt x="552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llout_graph_edge_5" descr="Editable line; source id rollout_graph_edge_5"/>
          <p:cNvSpPr/>
          <p:nvPr/>
        </p:nvSpPr>
        <p:spPr>
          <a:xfrm>
            <a:off x="689140" y="837021"/>
            <a:ext cx="101468" cy="107010"/>
          </a:xfrm>
          <a:custGeom>
            <a:avLst/>
            <a:gdLst/>
            <a:ahLst/>
            <a:cxnLst/>
            <a:rect l="l" t="t" r="r" b="b"/>
            <a:pathLst>
              <a:path w="39948" h="42130">
                <a:moveTo>
                  <a:pt x="0" y="39726"/>
                </a:moveTo>
                <a:lnTo>
                  <a:pt x="26657" y="11517"/>
                </a:lnTo>
                <a:lnTo>
                  <a:pt x="22841" y="7912"/>
                </a:lnTo>
                <a:lnTo>
                  <a:pt x="39948" y="0"/>
                </a:lnTo>
                <a:lnTo>
                  <a:pt x="33016" y="17527"/>
                </a:lnTo>
                <a:lnTo>
                  <a:pt x="29201" y="13921"/>
                </a:lnTo>
                <a:lnTo>
                  <a:pt x="2544" y="4213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llout_graph_node0" descr="Editable shape; source id rollout_graph_node0"/>
          <p:cNvSpPr/>
          <p:nvPr/>
        </p:nvSpPr>
        <p:spPr>
          <a:xfrm>
            <a:off x="1587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llout_graph_node1" descr="Editable shape; source id rollout_graph_node1"/>
          <p:cNvSpPr/>
          <p:nvPr/>
        </p:nvSpPr>
        <p:spPr>
          <a:xfrm>
            <a:off x="326771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llout_graph_node2" descr="Editable shape; source id rollout_graph_node2"/>
          <p:cNvSpPr/>
          <p:nvPr/>
        </p:nvSpPr>
        <p:spPr>
          <a:xfrm>
            <a:off x="613028" y="5778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llout_graph_node3" descr="Editable shape; source id rollout_graph_node3"/>
          <p:cNvSpPr/>
          <p:nvPr/>
        </p:nvSpPr>
        <p:spPr>
          <a:xfrm>
            <a:off x="781050" y="755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llout_graph_node4" descr="Editable shape; source id rollout_graph_node4"/>
          <p:cNvSpPr/>
          <p:nvPr/>
        </p:nvSpPr>
        <p:spPr>
          <a:xfrm>
            <a:off x="613028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llout_graph_node5" descr="Editable shape; source id rollout_graph_node5"/>
          <p:cNvSpPr/>
          <p:nvPr/>
        </p:nvSpPr>
        <p:spPr>
          <a:xfrm>
            <a:off x="326771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llout_label" descr="Editable text; source id rollout_label"/>
          <p:cNvSpPr txBox="1"/>
          <p:nvPr/>
        </p:nvSpPr>
        <p:spPr>
          <a:xfrm>
            <a:off x="101600" y="10795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Sample transitions</a:t>
            </a:r>
          </a:p>
        </p:txBody>
      </p:sp>
      <p:sp>
        <p:nvSpPr>
          <p:cNvPr id="17" name="GAE_label" descr="Editable text; source id GAE_label"/>
          <p:cNvSpPr txBox="1"/>
          <p:nvPr/>
        </p:nvSpPr>
        <p:spPr>
          <a:xfrm>
            <a:off x="101600" y="1270000"/>
            <a:ext cx="850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Rollout + GAE</a:t>
            </a:r>
          </a:p>
        </p:txBody>
      </p:sp>
      <p:sp>
        <p:nvSpPr>
          <p:cNvPr id="18" name="inputs" descr="Editable shape; source id inputs"/>
          <p:cNvSpPr/>
          <p:nvPr/>
        </p:nvSpPr>
        <p:spPr>
          <a:xfrm>
            <a:off x="1079500" y="38100"/>
            <a:ext cx="977900" cy="1562100"/>
          </a:xfrm>
          <a:prstGeom prst="roundRect">
            <a:avLst>
              <a:gd name="adj" fmla="val 3896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nputs_title" descr="Editable text; source id inputs_title"/>
          <p:cNvSpPr txBox="1"/>
          <p:nvPr/>
        </p:nvSpPr>
        <p:spPr>
          <a:xfrm>
            <a:off x="1143000" y="76200"/>
            <a:ext cx="850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2. Flow inputs</a:t>
            </a:r>
          </a:p>
        </p:txBody>
      </p:sp>
      <p:sp>
        <p:nvSpPr>
          <p:cNvPr id="20" name="inputs_graph_edge_0" descr="Editable line; source id inputs_graph_edge_0"/>
          <p:cNvSpPr/>
          <p:nvPr/>
        </p:nvSpPr>
        <p:spPr>
          <a:xfrm>
            <a:off x="1264420" y="60765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nputs_graph_edge_1" descr="Editable line; source id inputs_graph_edge_1"/>
          <p:cNvSpPr/>
          <p:nvPr/>
        </p:nvSpPr>
        <p:spPr>
          <a:xfrm>
            <a:off x="1464437" y="5537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nputs_graph_edge_2" descr="Editable line; source id inputs_graph_edge_2"/>
          <p:cNvSpPr/>
          <p:nvPr/>
        </p:nvSpPr>
        <p:spPr>
          <a:xfrm>
            <a:off x="1755783" y="60453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nputs_graph_edge_3" descr="Editable line; source id inputs_graph_edge_3"/>
          <p:cNvSpPr/>
          <p:nvPr/>
        </p:nvSpPr>
        <p:spPr>
          <a:xfrm>
            <a:off x="1264420" y="788685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2491" y="0"/>
                </a:moveTo>
                <a:lnTo>
                  <a:pt x="33652" y="31574"/>
                </a:lnTo>
                <a:lnTo>
                  <a:pt x="37388" y="27886"/>
                </a:lnTo>
                <a:lnTo>
                  <a:pt x="44698" y="45259"/>
                </a:lnTo>
                <a:lnTo>
                  <a:pt x="27424" y="37720"/>
                </a:lnTo>
                <a:lnTo>
                  <a:pt x="31160" y="34032"/>
                </a:lnTo>
                <a:lnTo>
                  <a:pt x="0" y="2458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nputs_graph_edge_4" descr="Editable line; source id inputs_graph_edge_4"/>
          <p:cNvSpPr/>
          <p:nvPr/>
        </p:nvSpPr>
        <p:spPr>
          <a:xfrm>
            <a:off x="1464437" y="922020"/>
            <a:ext cx="208026" cy="35560"/>
          </a:xfrm>
          <a:custGeom>
            <a:avLst/>
            <a:gdLst/>
            <a:ahLst/>
            <a:cxnLst/>
            <a:rect l="l" t="t" r="r" b="b"/>
            <a:pathLst>
              <a:path w="81900" h="14000">
                <a:moveTo>
                  <a:pt x="0" y="5250"/>
                </a:moveTo>
                <a:lnTo>
                  <a:pt x="64400" y="5250"/>
                </a:lnTo>
                <a:lnTo>
                  <a:pt x="64400" y="0"/>
                </a:lnTo>
                <a:lnTo>
                  <a:pt x="81900" y="7000"/>
                </a:lnTo>
                <a:lnTo>
                  <a:pt x="64400" y="14000"/>
                </a:lnTo>
                <a:lnTo>
                  <a:pt x="644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nputs_graph_edge_5" descr="Editable line; source id inputs_graph_edge_5"/>
          <p:cNvSpPr/>
          <p:nvPr/>
        </p:nvSpPr>
        <p:spPr>
          <a:xfrm>
            <a:off x="1755783" y="791807"/>
            <a:ext cx="113533" cy="114958"/>
          </a:xfrm>
          <a:custGeom>
            <a:avLst/>
            <a:gdLst/>
            <a:ahLst/>
            <a:cxnLst/>
            <a:rect l="l" t="t" r="r" b="b"/>
            <a:pathLst>
              <a:path w="44698" h="45259">
                <a:moveTo>
                  <a:pt x="0" y="42801"/>
                </a:moveTo>
                <a:lnTo>
                  <a:pt x="31160" y="11227"/>
                </a:lnTo>
                <a:lnTo>
                  <a:pt x="27424" y="7539"/>
                </a:lnTo>
                <a:lnTo>
                  <a:pt x="44698" y="0"/>
                </a:lnTo>
                <a:lnTo>
                  <a:pt x="37388" y="17373"/>
                </a:lnTo>
                <a:lnTo>
                  <a:pt x="33652" y="13685"/>
                </a:lnTo>
                <a:lnTo>
                  <a:pt x="2491" y="45259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nputs_graph_node0" descr="Editable shape; source id inputs_graph_node0"/>
          <p:cNvSpPr/>
          <p:nvPr/>
        </p:nvSpPr>
        <p:spPr>
          <a:xfrm>
            <a:off x="11874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puts_graph_node1" descr="Editable shape; source id inputs_graph_node1"/>
          <p:cNvSpPr/>
          <p:nvPr/>
        </p:nvSpPr>
        <p:spPr>
          <a:xfrm>
            <a:off x="1369187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nputs_graph_node2" descr="Editable shape; source id inputs_graph_node2"/>
          <p:cNvSpPr/>
          <p:nvPr/>
        </p:nvSpPr>
        <p:spPr>
          <a:xfrm>
            <a:off x="1678813" y="5270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puts_graph_node3" descr="Editable shape; source id inputs_graph_node3"/>
          <p:cNvSpPr/>
          <p:nvPr/>
        </p:nvSpPr>
        <p:spPr>
          <a:xfrm>
            <a:off x="1860550" y="7112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nputs_graph_node4" descr="Editable shape; source id inputs_graph_node4"/>
          <p:cNvSpPr/>
          <p:nvPr/>
        </p:nvSpPr>
        <p:spPr>
          <a:xfrm>
            <a:off x="1678813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nputs_graph_node5" descr="Editable shape; source id inputs_graph_node5"/>
          <p:cNvSpPr/>
          <p:nvPr/>
        </p:nvSpPr>
        <p:spPr>
          <a:xfrm>
            <a:off x="1369187" y="895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nput_nodes" descr="Editable text; source id input_nodes"/>
          <p:cNvSpPr txBox="1"/>
          <p:nvPr/>
        </p:nvSpPr>
        <p:spPr>
          <a:xfrm>
            <a:off x="1130300" y="10160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Clustered states</a:t>
            </a:r>
          </a:p>
        </p:txBody>
      </p:sp>
      <p:sp>
        <p:nvSpPr>
          <p:cNvPr id="33" name="input_edges" descr="Editable text; source id input_edges"/>
          <p:cNvSpPr txBox="1"/>
          <p:nvPr/>
        </p:nvSpPr>
        <p:spPr>
          <a:xfrm>
            <a:off x="1130300" y="1155700"/>
            <a:ext cx="876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Transition flow</a:t>
            </a:r>
          </a:p>
        </p:txBody>
      </p:sp>
      <p:sp>
        <p:nvSpPr>
          <p:cNvPr id="34" name="budgets" descr="Editable shape; source id budgets"/>
          <p:cNvSpPr/>
          <p:nvPr/>
        </p:nvSpPr>
        <p:spPr>
          <a:xfrm>
            <a:off x="2120900" y="38100"/>
            <a:ext cx="1054100" cy="15621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udgets_title" descr="Editable text; source id budgets_title"/>
          <p:cNvSpPr txBox="1"/>
          <p:nvPr/>
        </p:nvSpPr>
        <p:spPr>
          <a:xfrm>
            <a:off x="21844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3. Constraints</a:t>
            </a:r>
          </a:p>
        </p:txBody>
      </p:sp>
      <p:sp>
        <p:nvSpPr>
          <p:cNvPr id="36" name="soft_title" descr="Editable text; source id soft_title"/>
          <p:cNvSpPr txBox="1"/>
          <p:nvPr/>
        </p:nvSpPr>
        <p:spPr>
          <a:xfrm>
            <a:off x="2197100" y="304800"/>
            <a:ext cx="9017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Soft budgets</a:t>
            </a:r>
          </a:p>
        </p:txBody>
      </p:sp>
      <p:sp>
        <p:nvSpPr>
          <p:cNvPr id="37" name="excluded_graph_edge_0" descr="Editable line; source id excluded_graph_edge_0"/>
          <p:cNvSpPr/>
          <p:nvPr/>
        </p:nvSpPr>
        <p:spPr>
          <a:xfrm>
            <a:off x="2331585" y="84862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cluded_graph_edge_1" descr="Editable line; source id excluded_graph_edge_1"/>
          <p:cNvSpPr/>
          <p:nvPr/>
        </p:nvSpPr>
        <p:spPr>
          <a:xfrm>
            <a:off x="2534666" y="7950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cluded_graph_edge_2" descr="Editable line; source id excluded_graph_edge_2"/>
          <p:cNvSpPr/>
          <p:nvPr/>
        </p:nvSpPr>
        <p:spPr>
          <a:xfrm>
            <a:off x="2832219" y="84546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cluded_graph_edge_3" descr="Editable line; source id excluded_graph_edge_3"/>
          <p:cNvSpPr/>
          <p:nvPr/>
        </p:nvSpPr>
        <p:spPr>
          <a:xfrm>
            <a:off x="2331585" y="1029619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2468" y="0"/>
                </a:moveTo>
                <a:lnTo>
                  <a:pt x="34598" y="31954"/>
                </a:lnTo>
                <a:lnTo>
                  <a:pt x="38300" y="28231"/>
                </a:lnTo>
                <a:lnTo>
                  <a:pt x="45772" y="45535"/>
                </a:lnTo>
                <a:lnTo>
                  <a:pt x="28428" y="38158"/>
                </a:lnTo>
                <a:lnTo>
                  <a:pt x="32130" y="34435"/>
                </a:lnTo>
                <a:lnTo>
                  <a:pt x="0" y="248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cluded_graph_edge_4" descr="Editable line; source id excluded_graph_edge_4"/>
          <p:cNvSpPr/>
          <p:nvPr/>
        </p:nvSpPr>
        <p:spPr>
          <a:xfrm>
            <a:off x="2534666" y="1163320"/>
            <a:ext cx="213868" cy="35560"/>
          </a:xfrm>
          <a:custGeom>
            <a:avLst/>
            <a:gdLst/>
            <a:ahLst/>
            <a:cxnLst/>
            <a:rect l="l" t="t" r="r" b="b"/>
            <a:pathLst>
              <a:path w="84200" h="14000">
                <a:moveTo>
                  <a:pt x="0" y="5250"/>
                </a:moveTo>
                <a:lnTo>
                  <a:pt x="66700" y="5250"/>
                </a:lnTo>
                <a:lnTo>
                  <a:pt x="66700" y="0"/>
                </a:lnTo>
                <a:lnTo>
                  <a:pt x="84200" y="7000"/>
                </a:lnTo>
                <a:lnTo>
                  <a:pt x="66700" y="14000"/>
                </a:lnTo>
                <a:lnTo>
                  <a:pt x="66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cluded_graph_edge_5" descr="Editable line; source id excluded_graph_edge_5"/>
          <p:cNvSpPr/>
          <p:nvPr/>
        </p:nvSpPr>
        <p:spPr>
          <a:xfrm>
            <a:off x="2832219" y="1032772"/>
            <a:ext cx="116261" cy="115659"/>
          </a:xfrm>
          <a:custGeom>
            <a:avLst/>
            <a:gdLst/>
            <a:ahLst/>
            <a:cxnLst/>
            <a:rect l="l" t="t" r="r" b="b"/>
            <a:pathLst>
              <a:path w="45772" h="45535">
                <a:moveTo>
                  <a:pt x="0" y="43053"/>
                </a:moveTo>
                <a:lnTo>
                  <a:pt x="32130" y="11100"/>
                </a:lnTo>
                <a:lnTo>
                  <a:pt x="28428" y="7377"/>
                </a:lnTo>
                <a:lnTo>
                  <a:pt x="45772" y="0"/>
                </a:lnTo>
                <a:lnTo>
                  <a:pt x="38300" y="17304"/>
                </a:lnTo>
                <a:lnTo>
                  <a:pt x="34598" y="13581"/>
                </a:lnTo>
                <a:lnTo>
                  <a:pt x="2468" y="4553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excluded_graph_hard" descr="Editable line; source id excluded_graph_hard"/>
          <p:cNvCxnSpPr/>
          <p:nvPr/>
        </p:nvCxnSpPr>
        <p:spPr>
          <a:xfrm>
            <a:off x="2534666" y="863600"/>
            <a:ext cx="213868" cy="2667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xcluded_graph_x1" descr="Editable line; source id excluded_graph_x1"/>
          <p:cNvCxnSpPr/>
          <p:nvPr/>
        </p:nvCxnSpPr>
        <p:spPr>
          <a:xfrm>
            <a:off x="2603500" y="9588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xcluded_graph_x2" descr="Editable line; source id excluded_graph_x2"/>
          <p:cNvCxnSpPr/>
          <p:nvPr/>
        </p:nvCxnSpPr>
        <p:spPr>
          <a:xfrm flipV="1">
            <a:off x="2603500" y="9588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xcluded_graph_node0" descr="Editable shape; source id excluded_graph_node0"/>
          <p:cNvSpPr/>
          <p:nvPr/>
        </p:nvSpPr>
        <p:spPr>
          <a:xfrm>
            <a:off x="2254250" y="9525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cluded_graph_node1" descr="Editable shape; source id excluded_graph_node1"/>
          <p:cNvSpPr/>
          <p:nvPr/>
        </p:nvSpPr>
        <p:spPr>
          <a:xfrm>
            <a:off x="2439416" y="768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cluded_graph_node2" descr="Editable shape; source id excluded_graph_node2"/>
          <p:cNvSpPr/>
          <p:nvPr/>
        </p:nvSpPr>
        <p:spPr>
          <a:xfrm>
            <a:off x="2754884" y="768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xcluded_graph_node3" descr="Editable shape; source id excluded_graph_node3"/>
          <p:cNvSpPr/>
          <p:nvPr/>
        </p:nvSpPr>
        <p:spPr>
          <a:xfrm>
            <a:off x="2940050" y="9525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cluded_graph_node4" descr="Editable shape; source id excluded_graph_node4"/>
          <p:cNvSpPr/>
          <p:nvPr/>
        </p:nvSpPr>
        <p:spPr>
          <a:xfrm>
            <a:off x="2754884" y="1136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xcluded_graph_node5" descr="Editable shape; source id excluded_graph_node5"/>
          <p:cNvSpPr/>
          <p:nvPr/>
        </p:nvSpPr>
        <p:spPr>
          <a:xfrm>
            <a:off x="2439416" y="11366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ard_label" descr="Editable text; source id hard_label"/>
          <p:cNvSpPr txBox="1"/>
          <p:nvPr/>
        </p:nvSpPr>
        <p:spPr>
          <a:xfrm>
            <a:off x="2197100" y="1447800"/>
            <a:ext cx="9017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Hard exclusions</a:t>
            </a:r>
          </a:p>
        </p:txBody>
      </p:sp>
      <p:sp>
        <p:nvSpPr>
          <p:cNvPr id="53" name="projection" descr="Editable shape; source id projection"/>
          <p:cNvSpPr/>
          <p:nvPr/>
        </p:nvSpPr>
        <p:spPr>
          <a:xfrm>
            <a:off x="3238500" y="38100"/>
            <a:ext cx="1752600" cy="1562100"/>
          </a:xfrm>
          <a:prstGeom prst="roundRect">
            <a:avLst>
              <a:gd name="adj" fmla="val 2439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projection_title" descr="Editable text; source id projection_title"/>
          <p:cNvSpPr txBox="1"/>
          <p:nvPr/>
        </p:nvSpPr>
        <p:spPr>
          <a:xfrm>
            <a:off x="3302000" y="76200"/>
            <a:ext cx="1625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4. SafeOT projection</a:t>
            </a:r>
          </a:p>
        </p:txBody>
      </p:sp>
      <p:sp>
        <p:nvSpPr>
          <p:cNvPr id="55" name="before_edge_0" descr="Editable line; source id before_edge_0"/>
          <p:cNvSpPr/>
          <p:nvPr/>
        </p:nvSpPr>
        <p:spPr>
          <a:xfrm>
            <a:off x="34361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before_edge_1" descr="Editable line; source id before_edge_1"/>
          <p:cNvSpPr/>
          <p:nvPr/>
        </p:nvSpPr>
        <p:spPr>
          <a:xfrm>
            <a:off x="36052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before_edge_2" descr="Editable line; source id before_edge_2"/>
          <p:cNvSpPr/>
          <p:nvPr/>
        </p:nvSpPr>
        <p:spPr>
          <a:xfrm>
            <a:off x="38441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efore_edge_3" descr="Editable line; source id before_edge_3"/>
          <p:cNvSpPr/>
          <p:nvPr/>
        </p:nvSpPr>
        <p:spPr>
          <a:xfrm>
            <a:off x="3436181" y="9219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efore_edge_4" descr="Editable line; source id before_edge_4"/>
          <p:cNvSpPr/>
          <p:nvPr/>
        </p:nvSpPr>
        <p:spPr>
          <a:xfrm>
            <a:off x="36052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before_edge_5" descr="Editable line; source id before_edge_5"/>
          <p:cNvSpPr/>
          <p:nvPr/>
        </p:nvSpPr>
        <p:spPr>
          <a:xfrm>
            <a:off x="3844105" y="9251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before_node0" descr="Editable shape; source id before_node0"/>
          <p:cNvSpPr/>
          <p:nvPr/>
        </p:nvSpPr>
        <p:spPr>
          <a:xfrm>
            <a:off x="33591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before_node1" descr="Editable shape; source id before_node1"/>
          <p:cNvSpPr/>
          <p:nvPr/>
        </p:nvSpPr>
        <p:spPr>
          <a:xfrm>
            <a:off x="35100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before_node2" descr="Editable shape; source id before_node2"/>
          <p:cNvSpPr/>
          <p:nvPr/>
        </p:nvSpPr>
        <p:spPr>
          <a:xfrm>
            <a:off x="37670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before_node3" descr="Editable shape; source id before_node3"/>
          <p:cNvSpPr/>
          <p:nvPr/>
        </p:nvSpPr>
        <p:spPr>
          <a:xfrm>
            <a:off x="39179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efore_node4" descr="Editable shape; source id before_node4"/>
          <p:cNvSpPr/>
          <p:nvPr/>
        </p:nvSpPr>
        <p:spPr>
          <a:xfrm>
            <a:off x="37670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before_node5" descr="Editable shape; source id before_node5"/>
          <p:cNvSpPr/>
          <p:nvPr/>
        </p:nvSpPr>
        <p:spPr>
          <a:xfrm>
            <a:off x="35100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ter_edge_0" descr="Editable line; source id after_edge_0"/>
          <p:cNvSpPr/>
          <p:nvPr/>
        </p:nvSpPr>
        <p:spPr>
          <a:xfrm>
            <a:off x="4299781" y="772701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0" y="30343"/>
                </a:moveTo>
                <a:lnTo>
                  <a:pt x="18946" y="11205"/>
                </a:lnTo>
                <a:lnTo>
                  <a:pt x="15216" y="7512"/>
                </a:lnTo>
                <a:lnTo>
                  <a:pt x="32502" y="0"/>
                </a:lnTo>
                <a:lnTo>
                  <a:pt x="25165" y="17361"/>
                </a:lnTo>
                <a:lnTo>
                  <a:pt x="21434" y="13668"/>
                </a:lnTo>
                <a:lnTo>
                  <a:pt x="2488" y="32805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ter_edge_1" descr="Editable line; source id after_edge_1"/>
          <p:cNvSpPr/>
          <p:nvPr/>
        </p:nvSpPr>
        <p:spPr>
          <a:xfrm>
            <a:off x="4468876" y="7188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5250"/>
                </a:moveTo>
                <a:lnTo>
                  <a:pt x="43700" y="525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ter_edge_2" descr="Editable line; source id after_edge_2"/>
          <p:cNvSpPr/>
          <p:nvPr/>
        </p:nvSpPr>
        <p:spPr>
          <a:xfrm>
            <a:off x="4707705" y="769574"/>
            <a:ext cx="82555" cy="83325"/>
          </a:xfrm>
          <a:custGeom>
            <a:avLst/>
            <a:gdLst/>
            <a:ahLst/>
            <a:cxnLst/>
            <a:rect l="l" t="t" r="r" b="b"/>
            <a:pathLst>
              <a:path w="32502" h="32805">
                <a:moveTo>
                  <a:pt x="2488" y="0"/>
                </a:moveTo>
                <a:lnTo>
                  <a:pt x="21434" y="19137"/>
                </a:lnTo>
                <a:lnTo>
                  <a:pt x="25165" y="15444"/>
                </a:lnTo>
                <a:lnTo>
                  <a:pt x="32502" y="32805"/>
                </a:lnTo>
                <a:lnTo>
                  <a:pt x="15216" y="25293"/>
                </a:lnTo>
                <a:lnTo>
                  <a:pt x="18946" y="21600"/>
                </a:lnTo>
                <a:lnTo>
                  <a:pt x="0" y="2462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fter_edge_3" descr="Editable line; source id after_edge_3"/>
          <p:cNvSpPr/>
          <p:nvPr/>
        </p:nvSpPr>
        <p:spPr>
          <a:xfrm>
            <a:off x="4294817" y="917059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6396" y="0"/>
                </a:moveTo>
                <a:lnTo>
                  <a:pt x="25342" y="19138"/>
                </a:lnTo>
                <a:lnTo>
                  <a:pt x="27119" y="17379"/>
                </a:lnTo>
                <a:lnTo>
                  <a:pt x="34456" y="34740"/>
                </a:lnTo>
                <a:lnTo>
                  <a:pt x="17170" y="27228"/>
                </a:lnTo>
                <a:lnTo>
                  <a:pt x="18946" y="25470"/>
                </a:lnTo>
                <a:lnTo>
                  <a:pt x="0" y="633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after_edge_4" descr="Editable line; source id after_edge_4"/>
          <p:cNvSpPr/>
          <p:nvPr/>
        </p:nvSpPr>
        <p:spPr>
          <a:xfrm>
            <a:off x="4468876" y="1023620"/>
            <a:ext cx="155448" cy="35560"/>
          </a:xfrm>
          <a:custGeom>
            <a:avLst/>
            <a:gdLst/>
            <a:ahLst/>
            <a:cxnLst/>
            <a:rect l="l" t="t" r="r" b="b"/>
            <a:pathLst>
              <a:path w="61200" h="14000">
                <a:moveTo>
                  <a:pt x="0" y="2500"/>
                </a:moveTo>
                <a:lnTo>
                  <a:pt x="43700" y="2500"/>
                </a:lnTo>
                <a:lnTo>
                  <a:pt x="43700" y="0"/>
                </a:lnTo>
                <a:lnTo>
                  <a:pt x="61200" y="7000"/>
                </a:lnTo>
                <a:lnTo>
                  <a:pt x="43700" y="14000"/>
                </a:lnTo>
                <a:lnTo>
                  <a:pt x="437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after_edge_5" descr="Editable line; source id after_edge_5"/>
          <p:cNvSpPr/>
          <p:nvPr/>
        </p:nvSpPr>
        <p:spPr>
          <a:xfrm>
            <a:off x="4702741" y="925101"/>
            <a:ext cx="87518" cy="88240"/>
          </a:xfrm>
          <a:custGeom>
            <a:avLst/>
            <a:gdLst/>
            <a:ahLst/>
            <a:cxnLst/>
            <a:rect l="l" t="t" r="r" b="b"/>
            <a:pathLst>
              <a:path w="34456" h="34740">
                <a:moveTo>
                  <a:pt x="0" y="28408"/>
                </a:moveTo>
                <a:lnTo>
                  <a:pt x="18946" y="9270"/>
                </a:lnTo>
                <a:lnTo>
                  <a:pt x="17170" y="7512"/>
                </a:lnTo>
                <a:lnTo>
                  <a:pt x="34456" y="0"/>
                </a:lnTo>
                <a:lnTo>
                  <a:pt x="27119" y="17361"/>
                </a:lnTo>
                <a:lnTo>
                  <a:pt x="25342" y="15602"/>
                </a:lnTo>
                <a:lnTo>
                  <a:pt x="6396" y="347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after_hard" descr="Editable line; source id after_hard"/>
          <p:cNvCxnSpPr/>
          <p:nvPr/>
        </p:nvCxnSpPr>
        <p:spPr>
          <a:xfrm>
            <a:off x="4468876" y="787400"/>
            <a:ext cx="155448" cy="2032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after_x1" descr="Editable line; source id after_x1"/>
          <p:cNvCxnSpPr/>
          <p:nvPr/>
        </p:nvCxnSpPr>
        <p:spPr>
          <a:xfrm>
            <a:off x="4508500" y="85090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after_x2" descr="Editable line; source id after_x2"/>
          <p:cNvCxnSpPr/>
          <p:nvPr/>
        </p:nvCxnSpPr>
        <p:spPr>
          <a:xfrm flipV="1">
            <a:off x="4508500" y="85090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after_node0" descr="Editable shape; source id after_node0"/>
          <p:cNvSpPr/>
          <p:nvPr/>
        </p:nvSpPr>
        <p:spPr>
          <a:xfrm>
            <a:off x="42227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after_node1" descr="Editable shape; source id after_node1"/>
          <p:cNvSpPr/>
          <p:nvPr/>
        </p:nvSpPr>
        <p:spPr>
          <a:xfrm>
            <a:off x="4373626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after_node2" descr="Editable shape; source id after_node2"/>
          <p:cNvSpPr/>
          <p:nvPr/>
        </p:nvSpPr>
        <p:spPr>
          <a:xfrm>
            <a:off x="4630674" y="6921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ter_node3" descr="Editable shape; source id after_node3"/>
          <p:cNvSpPr/>
          <p:nvPr/>
        </p:nvSpPr>
        <p:spPr>
          <a:xfrm>
            <a:off x="4781550" y="8445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ter_node4" descr="Editable shape; source id after_node4"/>
          <p:cNvSpPr/>
          <p:nvPr/>
        </p:nvSpPr>
        <p:spPr>
          <a:xfrm>
            <a:off x="4630674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ter_node5" descr="Editable shape; source id after_node5"/>
          <p:cNvSpPr/>
          <p:nvPr/>
        </p:nvSpPr>
        <p:spPr>
          <a:xfrm>
            <a:off x="4373626" y="9969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route" descr="Editable line; source id reroute"/>
          <p:cNvSpPr/>
          <p:nvPr/>
        </p:nvSpPr>
        <p:spPr>
          <a:xfrm>
            <a:off x="3987800" y="871220"/>
            <a:ext cx="203200" cy="35560"/>
          </a:xfrm>
          <a:custGeom>
            <a:avLst/>
            <a:gdLst/>
            <a:ahLst/>
            <a:cxnLst/>
            <a:rect l="l" t="t" r="r" b="b"/>
            <a:pathLst>
              <a:path w="80000" h="14000">
                <a:moveTo>
                  <a:pt x="0" y="4750"/>
                </a:moveTo>
                <a:lnTo>
                  <a:pt x="62500" y="4750"/>
                </a:lnTo>
                <a:lnTo>
                  <a:pt x="62500" y="0"/>
                </a:lnTo>
                <a:lnTo>
                  <a:pt x="80000" y="7000"/>
                </a:lnTo>
                <a:lnTo>
                  <a:pt x="62500" y="14000"/>
                </a:lnTo>
                <a:lnTo>
                  <a:pt x="625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low_balance" descr="Editable text; source id flow_balance"/>
          <p:cNvSpPr txBox="1"/>
          <p:nvPr/>
        </p:nvSpPr>
        <p:spPr>
          <a:xfrm>
            <a:off x="3314700" y="546100"/>
            <a:ext cx="160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s.t. flow balance + constraints</a:t>
            </a:r>
          </a:p>
        </p:txBody>
      </p:sp>
      <p:sp>
        <p:nvSpPr>
          <p:cNvPr id="84" name="target_only" descr="Editable text; source id target_only"/>
          <p:cNvSpPr txBox="1"/>
          <p:nvPr/>
        </p:nvSpPr>
        <p:spPr>
          <a:xfrm>
            <a:off x="3302000" y="1320800"/>
            <a:ext cx="16256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Target flow is not executed</a:t>
            </a:r>
          </a:p>
        </p:txBody>
      </p:sp>
      <p:sp>
        <p:nvSpPr>
          <p:cNvPr id="85" name="top_a" descr="Editable line; source id top_a"/>
          <p:cNvSpPr/>
          <p:nvPr/>
        </p:nvSpPr>
        <p:spPr>
          <a:xfrm>
            <a:off x="1022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op_b" descr="Editable line; source id top_b"/>
          <p:cNvSpPr/>
          <p:nvPr/>
        </p:nvSpPr>
        <p:spPr>
          <a:xfrm>
            <a:off x="20637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op_c" descr="Editable line; source id top_c"/>
          <p:cNvSpPr/>
          <p:nvPr/>
        </p:nvSpPr>
        <p:spPr>
          <a:xfrm>
            <a:off x="3181350" y="795020"/>
            <a:ext cx="50800" cy="35560"/>
          </a:xfrm>
          <a:custGeom>
            <a:avLst/>
            <a:gdLst/>
            <a:ahLst/>
            <a:cxnLst/>
            <a:rect l="l" t="t" r="r" b="b"/>
            <a:pathLst>
              <a:path w="20000" h="14000">
                <a:moveTo>
                  <a:pt x="0" y="5000"/>
                </a:moveTo>
                <a:lnTo>
                  <a:pt x="4000" y="5000"/>
                </a:lnTo>
                <a:lnTo>
                  <a:pt x="4000" y="0"/>
                </a:lnTo>
                <a:lnTo>
                  <a:pt x="20000" y="7000"/>
                </a:lnTo>
                <a:lnTo>
                  <a:pt x="4000" y="14000"/>
                </a:lnTo>
                <a:lnTo>
                  <a:pt x="40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pdate" descr="Editable shape; source id update"/>
          <p:cNvSpPr/>
          <p:nvPr/>
        </p:nvSpPr>
        <p:spPr>
          <a:xfrm>
            <a:off x="38100" y="1778000"/>
            <a:ext cx="4953000" cy="749300"/>
          </a:xfrm>
          <a:prstGeom prst="roundRect">
            <a:avLst>
              <a:gd name="adj" fmla="val 508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update_title" descr="Editable text; source id update_title"/>
          <p:cNvSpPr txBox="1"/>
          <p:nvPr/>
        </p:nvSpPr>
        <p:spPr>
          <a:xfrm>
            <a:off x="101600" y="1828800"/>
            <a:ext cx="11303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5. Priced update</a:t>
            </a:r>
          </a:p>
        </p:txBody>
      </p:sp>
      <p:sp>
        <p:nvSpPr>
          <p:cNvPr id="90" name="observed" descr="Editable text; source id observed"/>
          <p:cNvSpPr txBox="1"/>
          <p:nvPr/>
        </p:nvSpPr>
        <p:spPr>
          <a:xfrm>
            <a:off x="101600" y="2006600"/>
            <a:ext cx="1270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39"/>
              </a:lnSpc>
              <a:spcBef>
                <a:spcPts val="0"/>
              </a:spcBef>
              <a:spcAft>
                <a:spcPts val="0"/>
              </a:spcAft>
              <a:defRPr sz="730" b="0" i="0" lang="zh-CN" dirty="0">
                <a:solidFill>
                  <a:srgbClr val="BA5B20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0" b="0" i="0" lang="zh-CN" dirty="0">
                <a:solidFill>
                  <a:srgbClr val="BA5B20"/>
                </a:solidFill>
                <a:latin typeface="Liberation Serif"/>
                <a:ea typeface="Liberation Serif"/>
                <a:cs typeface="Liberation Serif"/>
              </a:rPr>
              <a:t>Observed episode costs</a:t>
            </a:r>
          </a:p>
        </p:txBody>
      </p:sp>
      <p:sp>
        <p:nvSpPr>
          <p:cNvPr id="91" name="beta_to_sum" descr="Editable line; source id beta_to_sum"/>
          <p:cNvSpPr/>
          <p:nvPr/>
        </p:nvSpPr>
        <p:spPr>
          <a:xfrm>
            <a:off x="1397000" y="2293620"/>
            <a:ext cx="177800" cy="35560"/>
          </a:xfrm>
          <a:custGeom>
            <a:avLst/>
            <a:gdLst/>
            <a:ahLst/>
            <a:cxnLst/>
            <a:rect l="l" t="t" r="r" b="b"/>
            <a:pathLst>
              <a:path w="70000" h="14000">
                <a:moveTo>
                  <a:pt x="0" y="5000"/>
                </a:moveTo>
                <a:lnTo>
                  <a:pt x="52500" y="5000"/>
                </a:lnTo>
                <a:lnTo>
                  <a:pt x="52500" y="0"/>
                </a:lnTo>
                <a:lnTo>
                  <a:pt x="70000" y="7000"/>
                </a:lnTo>
                <a:lnTo>
                  <a:pt x="52500" y="14000"/>
                </a:lnTo>
                <a:lnTo>
                  <a:pt x="5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BA5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um" descr="Editable shape; source id sum"/>
          <p:cNvSpPr/>
          <p:nvPr/>
        </p:nvSpPr>
        <p:spPr>
          <a:xfrm>
            <a:off x="1600200" y="2235200"/>
            <a:ext cx="152400" cy="152400"/>
          </a:xfrm>
          <a:prstGeom prst="ellipse">
            <a:avLst/>
          </a:prstGeom>
          <a:solidFill>
            <a:srgbClr val="FFFFFF"/>
          </a:solidFill>
          <a:ln w="1016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um_sign" descr="Editable text; source id sum_sign"/>
          <p:cNvSpPr txBox="1"/>
          <p:nvPr/>
        </p:nvSpPr>
        <p:spPr>
          <a:xfrm>
            <a:off x="1612900" y="2247900"/>
            <a:ext cx="127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+</a:t>
            </a:r>
          </a:p>
        </p:txBody>
      </p:sp>
      <p:sp>
        <p:nvSpPr>
          <p:cNvPr id="94" name="sum_to_price" descr="Editable line; source id sum_to_price"/>
          <p:cNvSpPr/>
          <p:nvPr/>
        </p:nvSpPr>
        <p:spPr>
          <a:xfrm>
            <a:off x="1778000" y="2293620"/>
            <a:ext cx="76200" cy="35560"/>
          </a:xfrm>
          <a:custGeom>
            <a:avLst/>
            <a:gdLst/>
            <a:ahLst/>
            <a:cxnLst/>
            <a:rect l="l" t="t" r="r" b="b"/>
            <a:pathLst>
              <a:path w="30000" h="14000">
                <a:moveTo>
                  <a:pt x="0" y="5000"/>
                </a:moveTo>
                <a:lnTo>
                  <a:pt x="12500" y="5000"/>
                </a:lnTo>
                <a:lnTo>
                  <a:pt x="12500" y="0"/>
                </a:lnTo>
                <a:lnTo>
                  <a:pt x="30000" y="7000"/>
                </a:lnTo>
                <a:lnTo>
                  <a:pt x="12500" y="14000"/>
                </a:lnTo>
                <a:lnTo>
                  <a:pt x="1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price_to_adv" descr="Editable line; source id price_to_adv"/>
          <p:cNvSpPr/>
          <p:nvPr/>
        </p:nvSpPr>
        <p:spPr>
          <a:xfrm>
            <a:off x="2641600" y="2293620"/>
            <a:ext cx="76200" cy="35560"/>
          </a:xfrm>
          <a:custGeom>
            <a:avLst/>
            <a:gdLst/>
            <a:ahLst/>
            <a:cxnLst/>
            <a:rect l="l" t="t" r="r" b="b"/>
            <a:pathLst>
              <a:path w="55000" h="14000">
                <a:moveTo>
                  <a:pt x="0" y="5000"/>
                </a:moveTo>
                <a:lnTo>
                  <a:pt x="37500" y="5000"/>
                </a:lnTo>
                <a:lnTo>
                  <a:pt x="37500" y="0"/>
                </a:lnTo>
                <a:lnTo>
                  <a:pt x="55000" y="7000"/>
                </a:lnTo>
                <a:lnTo>
                  <a:pt x="37500" y="14000"/>
                </a:lnTo>
                <a:lnTo>
                  <a:pt x="37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adv_to_actor" descr="Editable line; source id adv_to_actor"/>
          <p:cNvSpPr/>
          <p:nvPr/>
        </p:nvSpPr>
        <p:spPr>
          <a:xfrm>
            <a:off x="3924300" y="2293620"/>
            <a:ext cx="152400" cy="35560"/>
          </a:xfrm>
          <a:custGeom>
            <a:avLst/>
            <a:gdLst/>
            <a:ahLst/>
            <a:cxnLst/>
            <a:rect l="l" t="t" r="r" b="b"/>
            <a:pathLst>
              <a:path w="60000" h="14000">
                <a:moveTo>
                  <a:pt x="0" y="5000"/>
                </a:moveTo>
                <a:lnTo>
                  <a:pt x="42500" y="5000"/>
                </a:lnTo>
                <a:lnTo>
                  <a:pt x="42500" y="0"/>
                </a:lnTo>
                <a:lnTo>
                  <a:pt x="60000" y="7000"/>
                </a:lnTo>
                <a:lnTo>
                  <a:pt x="42500" y="14000"/>
                </a:lnTo>
                <a:lnTo>
                  <a:pt x="4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actor_step" descr="Editable shape; source id actor_step"/>
          <p:cNvSpPr/>
          <p:nvPr/>
        </p:nvSpPr>
        <p:spPr>
          <a:xfrm>
            <a:off x="4102100" y="2171700"/>
            <a:ext cx="533400" cy="292100"/>
          </a:xfrm>
          <a:prstGeom prst="roundRect">
            <a:avLst>
              <a:gd name="adj" fmla="val 13043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ctor_step_text" descr="Editable text; source id actor_step_text"/>
          <p:cNvSpPr txBox="1"/>
          <p:nvPr/>
        </p:nvSpPr>
        <p:spPr>
          <a:xfrm>
            <a:off x="4114800" y="2247900"/>
            <a:ext cx="5080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PPO/TRPO</a:t>
            </a:r>
          </a:p>
        </p:txBody>
      </p:sp>
      <p:sp>
        <p:nvSpPr>
          <p:cNvPr id="99" name="actor_to_policy" descr="Editable line; source id actor_to_policy"/>
          <p:cNvSpPr/>
          <p:nvPr/>
        </p:nvSpPr>
        <p:spPr>
          <a:xfrm>
            <a:off x="4648200" y="2293620"/>
            <a:ext cx="88900" cy="35560"/>
          </a:xfrm>
          <a:custGeom>
            <a:avLst/>
            <a:gdLst/>
            <a:ahLst/>
            <a:cxnLst/>
            <a:rect l="l" t="t" r="r" b="b"/>
            <a:pathLst>
              <a:path w="35000" h="14000">
                <a:moveTo>
                  <a:pt x="0" y="5000"/>
                </a:moveTo>
                <a:lnTo>
                  <a:pt x="17500" y="5000"/>
                </a:lnTo>
                <a:lnTo>
                  <a:pt x="17500" y="0"/>
                </a:lnTo>
                <a:lnTo>
                  <a:pt x="35000" y="7000"/>
                </a:lnTo>
                <a:lnTo>
                  <a:pt x="17500" y="14000"/>
                </a:lnTo>
                <a:lnTo>
                  <a:pt x="17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gae_route_0" descr="Editable line; source id gae_route_0"/>
          <p:cNvCxnSpPr/>
          <p:nvPr/>
        </p:nvCxnSpPr>
        <p:spPr>
          <a:xfrm>
            <a:off x="533400" y="1612900"/>
            <a:ext cx="0" cy="1143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ae_route_1" descr="Editable line; source id gae_route_1"/>
          <p:cNvCxnSpPr/>
          <p:nvPr/>
        </p:nvCxnSpPr>
        <p:spPr>
          <a:xfrm>
            <a:off x="533400" y="1727200"/>
            <a:ext cx="1016000" cy="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gae_route_2" descr="Editable line; source id gae_route_2"/>
          <p:cNvCxnSpPr/>
          <p:nvPr/>
        </p:nvCxnSpPr>
        <p:spPr>
          <a:xfrm>
            <a:off x="1549400" y="1727200"/>
            <a:ext cx="0" cy="3429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gae_route_3" descr="Editable line; source id gae_route_3"/>
          <p:cNvCxnSpPr/>
          <p:nvPr/>
        </p:nvCxnSpPr>
        <p:spPr>
          <a:xfrm>
            <a:off x="1549400" y="2070100"/>
            <a:ext cx="2311400" cy="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gae_route_4" descr="Editable line; source id gae_route_4"/>
          <p:cNvSpPr/>
          <p:nvPr/>
        </p:nvSpPr>
        <p:spPr>
          <a:xfrm>
            <a:off x="3843020" y="2070100"/>
            <a:ext cx="35560" cy="38100"/>
          </a:xfrm>
          <a:custGeom>
            <a:avLst/>
            <a:gdLst/>
            <a:ahLst/>
            <a:cxnLst/>
            <a:rect l="l" t="t" r="r" b="b"/>
            <a:pathLst>
              <a:path w="14000" h="15000">
                <a:moveTo>
                  <a:pt x="8750" y="0"/>
                </a:moveTo>
                <a:lnTo>
                  <a:pt x="8750" y="3000"/>
                </a:lnTo>
                <a:lnTo>
                  <a:pt x="14000" y="3000"/>
                </a:lnTo>
                <a:lnTo>
                  <a:pt x="7000" y="15000"/>
                </a:lnTo>
                <a:lnTo>
                  <a:pt x="0" y="3000"/>
                </a:lnTo>
                <a:lnTo>
                  <a:pt x="5250" y="3000"/>
                </a:lnTo>
                <a:lnTo>
                  <a:pt x="5250" y="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gae_arrow_label" descr="Editable text; source id gae_arrow_label"/>
          <p:cNvSpPr txBox="1"/>
          <p:nvPr/>
        </p:nvSpPr>
        <p:spPr>
          <a:xfrm>
            <a:off x="838200" y="1612900"/>
            <a:ext cx="673100" cy="1143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advantages</a:t>
            </a:r>
          </a:p>
        </p:txBody>
      </p:sp>
      <p:cxnSp>
        <p:nvCxnSpPr>
          <p:cNvPr id="106" name="dual_in_0" descr="Editable line; source id dual_in_0"/>
          <p:cNvCxnSpPr/>
          <p:nvPr/>
        </p:nvCxnSpPr>
        <p:spPr>
          <a:xfrm>
            <a:off x="4140200" y="1612900"/>
            <a:ext cx="0" cy="88900"/>
          </a:xfrm>
          <a:prstGeom prst="line">
            <a:avLst/>
          </a:prstGeom>
          <a:ln w="11430">
            <a:solidFill>
              <a:srgbClr val="087F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dual_in_1" descr="Editable line; source id dual_in_1"/>
          <p:cNvSpPr/>
          <p:nvPr/>
        </p:nvSpPr>
        <p:spPr>
          <a:xfrm>
            <a:off x="3657600" y="1684020"/>
            <a:ext cx="482600" cy="35560"/>
          </a:xfrm>
          <a:custGeom>
            <a:avLst/>
            <a:gdLst/>
            <a:ahLst/>
            <a:cxnLst/>
            <a:rect l="l" t="t" r="r" b="b"/>
            <a:pathLst>
              <a:path w="190000" h="14000">
                <a:moveTo>
                  <a:pt x="190000" y="9250"/>
                </a:moveTo>
                <a:lnTo>
                  <a:pt x="17500" y="9250"/>
                </a:lnTo>
                <a:lnTo>
                  <a:pt x="17500" y="14000"/>
                </a:lnTo>
                <a:lnTo>
                  <a:pt x="0" y="7000"/>
                </a:lnTo>
                <a:lnTo>
                  <a:pt x="17500" y="0"/>
                </a:lnTo>
                <a:lnTo>
                  <a:pt x="17500" y="4750"/>
                </a:lnTo>
                <a:lnTo>
                  <a:pt x="190000" y="47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ilter_box" descr="Editable shape; source id filter_box"/>
          <p:cNvSpPr/>
          <p:nvPr/>
        </p:nvSpPr>
        <p:spPr>
          <a:xfrm>
            <a:off x="1917700" y="1612900"/>
            <a:ext cx="1727200" cy="165100"/>
          </a:xfrm>
          <a:prstGeom prst="roundRect">
            <a:avLst>
              <a:gd name="adj" fmla="val 23076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aw_to_clip" descr="Editable line; source id raw_to_clip"/>
          <p:cNvSpPr/>
          <p:nvPr/>
        </p:nvSpPr>
        <p:spPr>
          <a:xfrm>
            <a:off x="3111500" y="1684020"/>
            <a:ext cx="190500" cy="35560"/>
          </a:xfrm>
          <a:custGeom>
            <a:avLst/>
            <a:gdLst/>
            <a:ahLst/>
            <a:cxnLst/>
            <a:rect l="l" t="t" r="r" b="b"/>
            <a:pathLst>
              <a:path w="75000" h="14000">
                <a:moveTo>
                  <a:pt x="75000" y="9000"/>
                </a:moveTo>
                <a:lnTo>
                  <a:pt x="17500" y="9000"/>
                </a:lnTo>
                <a:lnTo>
                  <a:pt x="17500" y="14000"/>
                </a:lnTo>
                <a:lnTo>
                  <a:pt x="0" y="7000"/>
                </a:lnTo>
                <a:lnTo>
                  <a:pt x="17500" y="0"/>
                </a:lnTo>
                <a:lnTo>
                  <a:pt x="17500" y="5000"/>
                </a:lnTo>
                <a:lnTo>
                  <a:pt x="75000" y="5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ilter_text" descr="Editable text; source id filter_text"/>
          <p:cNvSpPr txBox="1"/>
          <p:nvPr/>
        </p:nvSpPr>
        <p:spPr>
          <a:xfrm>
            <a:off x="2476500" y="1638300"/>
            <a:ext cx="609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clip + EMA</a:t>
            </a:r>
          </a:p>
        </p:txBody>
      </p:sp>
      <p:sp>
        <p:nvSpPr>
          <p:cNvPr id="111" name="clip_to_processed" descr="Editable line; source id clip_to_processed"/>
          <p:cNvSpPr/>
          <p:nvPr/>
        </p:nvSpPr>
        <p:spPr>
          <a:xfrm>
            <a:off x="2273300" y="1684020"/>
            <a:ext cx="165100" cy="35560"/>
          </a:xfrm>
          <a:custGeom>
            <a:avLst/>
            <a:gdLst/>
            <a:ahLst/>
            <a:cxnLst/>
            <a:rect l="l" t="t" r="r" b="b"/>
            <a:pathLst>
              <a:path w="65000" h="14000">
                <a:moveTo>
                  <a:pt x="65000" y="9000"/>
                </a:moveTo>
                <a:lnTo>
                  <a:pt x="17500" y="9000"/>
                </a:lnTo>
                <a:lnTo>
                  <a:pt x="17500" y="14000"/>
                </a:lnTo>
                <a:lnTo>
                  <a:pt x="0" y="7000"/>
                </a:lnTo>
                <a:lnTo>
                  <a:pt x="17500" y="0"/>
                </a:lnTo>
                <a:lnTo>
                  <a:pt x="17500" y="5000"/>
                </a:lnTo>
                <a:lnTo>
                  <a:pt x="65000" y="5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processed_to_sum_0" descr="Editable line; source id processed_to_sum_0"/>
          <p:cNvCxnSpPr/>
          <p:nvPr/>
        </p:nvCxnSpPr>
        <p:spPr>
          <a:xfrm flipH="1">
            <a:off x="1676400" y="1701800"/>
            <a:ext cx="228600" cy="0"/>
          </a:xfrm>
          <a:prstGeom prst="line">
            <a:avLst/>
          </a:prstGeom>
          <a:ln w="10160">
            <a:solidFill>
              <a:srgbClr val="087F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processed_to_sum_1" descr="Editable line; source id processed_to_sum_1"/>
          <p:cNvSpPr/>
          <p:nvPr/>
        </p:nvSpPr>
        <p:spPr>
          <a:xfrm>
            <a:off x="1658620" y="1701800"/>
            <a:ext cx="35560" cy="508000"/>
          </a:xfrm>
          <a:custGeom>
            <a:avLst/>
            <a:gdLst/>
            <a:ahLst/>
            <a:cxnLst/>
            <a:rect l="l" t="t" r="r" b="b"/>
            <a:pathLst>
              <a:path w="14000" h="200000">
                <a:moveTo>
                  <a:pt x="9000" y="0"/>
                </a:moveTo>
                <a:lnTo>
                  <a:pt x="9000" y="182500"/>
                </a:lnTo>
                <a:lnTo>
                  <a:pt x="14000" y="182500"/>
                </a:lnTo>
                <a:lnTo>
                  <a:pt x="7000" y="200000"/>
                </a:lnTo>
                <a:lnTo>
                  <a:pt x="0" y="182500"/>
                </a:lnTo>
                <a:lnTo>
                  <a:pt x="5000" y="182500"/>
                </a:lnTo>
                <a:lnTo>
                  <a:pt x="5000" y="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dual_label" descr="Editable text; source id dual_label"/>
          <p:cNvSpPr txBox="1"/>
          <p:nvPr/>
        </p:nvSpPr>
        <p:spPr>
          <a:xfrm>
            <a:off x="4229100" y="1625600"/>
            <a:ext cx="736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budget duals</a:t>
            </a:r>
          </a:p>
        </p:txBody>
      </p:sp>
      <p:cxnSp>
        <p:nvCxnSpPr>
          <p:cNvPr id="115" name="cost_route_0" descr="Editable line; source id cost_route_0"/>
          <p:cNvCxnSpPr/>
          <p:nvPr/>
        </p:nvCxnSpPr>
        <p:spPr>
          <a:xfrm>
            <a:off x="190500" y="1612900"/>
            <a:ext cx="0" cy="76200"/>
          </a:xfrm>
          <a:prstGeom prst="line">
            <a:avLst/>
          </a:prstGeom>
          <a:ln w="8890">
            <a:solidFill>
              <a:srgbClr val="BA5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route_1" descr="Editable line; source id cost_route_1"/>
          <p:cNvCxnSpPr/>
          <p:nvPr/>
        </p:nvCxnSpPr>
        <p:spPr>
          <a:xfrm flipH="1">
            <a:off x="88900" y="1689100"/>
            <a:ext cx="101600" cy="0"/>
          </a:xfrm>
          <a:prstGeom prst="line">
            <a:avLst/>
          </a:prstGeom>
          <a:ln w="8890">
            <a:solidFill>
              <a:srgbClr val="BA5B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ost_route_2" descr="Editable line; source id cost_route_2"/>
          <p:cNvSpPr/>
          <p:nvPr/>
        </p:nvSpPr>
        <p:spPr>
          <a:xfrm>
            <a:off x="71120" y="1689100"/>
            <a:ext cx="35560" cy="533400"/>
          </a:xfrm>
          <a:custGeom>
            <a:avLst/>
            <a:gdLst/>
            <a:ahLst/>
            <a:cxnLst/>
            <a:rect l="l" t="t" r="r" b="b"/>
            <a:pathLst>
              <a:path w="14000" h="210000">
                <a:moveTo>
                  <a:pt x="8750" y="0"/>
                </a:moveTo>
                <a:lnTo>
                  <a:pt x="8750" y="192500"/>
                </a:lnTo>
                <a:lnTo>
                  <a:pt x="14000" y="192500"/>
                </a:lnTo>
                <a:lnTo>
                  <a:pt x="7000" y="210000"/>
                </a:lnTo>
                <a:lnTo>
                  <a:pt x="0" y="192500"/>
                </a:lnTo>
                <a:lnTo>
                  <a:pt x="5250" y="192500"/>
                </a:lnTo>
                <a:lnTo>
                  <a:pt x="5250" y="0"/>
                </a:lnTo>
                <a:close/>
              </a:path>
            </a:pathLst>
          </a:custGeom>
          <a:solidFill>
            <a:srgbClr val="BA5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next_rollout_0" descr="Editable line; source id next_rollout_0"/>
          <p:cNvCxnSpPr/>
          <p:nvPr/>
        </p:nvCxnSpPr>
        <p:spPr>
          <a:xfrm>
            <a:off x="4876800" y="2552700"/>
            <a:ext cx="0" cy="1016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next_rollout_1" descr="Editable line; source id next_rollout_1"/>
          <p:cNvCxnSpPr/>
          <p:nvPr/>
        </p:nvCxnSpPr>
        <p:spPr>
          <a:xfrm flipH="1">
            <a:off x="12700" y="2654300"/>
            <a:ext cx="4864100" cy="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next_rollout_2" descr="Editable line; source id next_rollout_2"/>
          <p:cNvCxnSpPr/>
          <p:nvPr/>
        </p:nvCxnSpPr>
        <p:spPr>
          <a:xfrm flipV="1">
            <a:off x="12700" y="812800"/>
            <a:ext cx="0" cy="1841500"/>
          </a:xfrm>
          <a:prstGeom prst="line">
            <a:avLst/>
          </a:prstGeom>
          <a:ln w="889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next_rollout_3" descr="Editable line; source id next_rollout_3"/>
          <p:cNvSpPr/>
          <p:nvPr/>
        </p:nvSpPr>
        <p:spPr>
          <a:xfrm>
            <a:off x="12700" y="795020"/>
            <a:ext cx="25400" cy="35560"/>
          </a:xfrm>
          <a:custGeom>
            <a:avLst/>
            <a:gdLst/>
            <a:ahLst/>
            <a:cxnLst/>
            <a:rect l="l" t="t" r="r" b="b"/>
            <a:pathLst>
              <a:path w="10000" h="14000">
                <a:moveTo>
                  <a:pt x="0" y="5250"/>
                </a:moveTo>
                <a:lnTo>
                  <a:pt x="2000" y="5250"/>
                </a:lnTo>
                <a:lnTo>
                  <a:pt x="2000" y="0"/>
                </a:lnTo>
                <a:lnTo>
                  <a:pt x="10000" y="7000"/>
                </a:lnTo>
                <a:lnTo>
                  <a:pt x="2000" y="14000"/>
                </a:lnTo>
                <a:lnTo>
                  <a:pt x="20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next_label" descr="Editable text; source id next_label"/>
          <p:cNvSpPr txBox="1"/>
          <p:nvPr/>
        </p:nvSpPr>
        <p:spPr>
          <a:xfrm>
            <a:off x="2184400" y="2540000"/>
            <a:ext cx="685800" cy="1143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next rollout</a:t>
            </a:r>
          </a:p>
        </p:txBody>
      </p:sp>
      <mc:AlternateContent xmlns:mc="http://schemas.openxmlformats.org/markup-compatibility/2006" xmlns:a16="http://schemas.microsoft.com/office/drawing/2014/main">
        <mc:Choice Requires="a16">
          <p:sp>
            <p:nvSpPr>
              <p:cNvPr id="2" name="pi_t"/>
              <p:cNvSpPr txBox="1"/>
              <p:nvPr/>
            </p:nvSpPr>
            <p:spPr>
              <a:xfrm>
                <a:off x="355600" y="279400"/>
                <a:ext cx="292100" cy="2032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π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t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23" name="pi_t_compat"/>
              <p:cNvGrpSpPr/>
              <p:nvPr/>
            </p:nvGrpSpPr>
            <p:grpSpPr>
              <a:xfrm>
                <a:off x="445293" y="330200"/>
                <a:ext cx="103324" cy="84514"/>
                <a:chOff x="445293" y="330200"/>
                <a:chExt cx="103324" cy="84514"/>
              </a:xfrm>
            </p:grpSpPr>
            <p:sp>
              <p:nvSpPr>
                <p:cNvPr id="124" name="pi_t_glyph_0"/>
                <p:cNvSpPr/>
                <p:nvPr/>
              </p:nvSpPr>
              <p:spPr>
                <a:xfrm>
                  <a:off x="445293" y="330200"/>
                  <a:ext cx="72429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2430" h="65484">
                      <a:moveTo>
                        <a:pt x="50800" y="52189"/>
                      </a:moveTo>
                      <a:quadBezTo>
                        <a:pt x="50800" y="55364"/>
                        <a:pt x="51991" y="56952"/>
                      </a:quadBezTo>
                      <a:quadBezTo>
                        <a:pt x="53380" y="58341"/>
                        <a:pt x="55364" y="58341"/>
                      </a:quadBezTo>
                      <a:quadBezTo>
                        <a:pt x="59333" y="58341"/>
                        <a:pt x="63698" y="56356"/>
                      </a:quadBezTo>
                      <a:lnTo>
                        <a:pt x="65088" y="59531"/>
                      </a:lnTo>
                      <a:quadBezTo>
                        <a:pt x="61912" y="61912"/>
                        <a:pt x="58142" y="63698"/>
                      </a:quadBezTo>
                      <a:quadBezTo>
                        <a:pt x="54570" y="65484"/>
                        <a:pt x="49808" y="65484"/>
                      </a:quadBezTo>
                      <a:quadBezTo>
                        <a:pt x="45045" y="65484"/>
                        <a:pt x="42267" y="62309"/>
                      </a:quadBezTo>
                      <a:quadBezTo>
                        <a:pt x="39489" y="58936"/>
                        <a:pt x="39489" y="52983"/>
                      </a:quadBezTo>
                      <a:quadBezTo>
                        <a:pt x="39489" y="49808"/>
                        <a:pt x="40481" y="43656"/>
                      </a:quadBezTo>
                      <a:lnTo>
                        <a:pt x="47228" y="5755"/>
                      </a:lnTo>
                      <a:lnTo>
                        <a:pt x="27781" y="5755"/>
                      </a:lnTo>
                      <a:lnTo>
                        <a:pt x="20241" y="36512"/>
                      </a:lnTo>
                      <a:quadBezTo>
                        <a:pt x="16073" y="53777"/>
                        <a:pt x="12502" y="64095"/>
                      </a:quadBezTo>
                      <a:lnTo>
                        <a:pt x="0" y="64095"/>
                      </a:lnTo>
                      <a:lnTo>
                        <a:pt x="595" y="61119"/>
                      </a:lnTo>
                      <a:quadBezTo>
                        <a:pt x="5755" y="56356"/>
                        <a:pt x="8136" y="51792"/>
                      </a:quadBezTo>
                      <a:quadBezTo>
                        <a:pt x="10716" y="47228"/>
                        <a:pt x="13295" y="37505"/>
                      </a:quadBezTo>
                      <a:lnTo>
                        <a:pt x="21233" y="5755"/>
                      </a:lnTo>
                      <a:lnTo>
                        <a:pt x="12105" y="5755"/>
                      </a:lnTo>
                      <a:lnTo>
                        <a:pt x="7342" y="14486"/>
                      </a:lnTo>
                      <a:lnTo>
                        <a:pt x="3373" y="14486"/>
                      </a:lnTo>
                      <a:lnTo>
                        <a:pt x="7342" y="0"/>
                      </a:lnTo>
                      <a:lnTo>
                        <a:pt x="72430" y="0"/>
                      </a:lnTo>
                      <a:lnTo>
                        <a:pt x="71438" y="5755"/>
                      </a:lnTo>
                      <a:lnTo>
                        <a:pt x="58539" y="5755"/>
                      </a:lnTo>
                      <a:lnTo>
                        <a:pt x="51991" y="43061"/>
                      </a:lnTo>
                      <a:quadBezTo>
                        <a:pt x="50800" y="49014"/>
                        <a:pt x="50800" y="52189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5" name="pi_t_glyph_1"/>
                <p:cNvSpPr/>
                <p:nvPr/>
              </p:nvSpPr>
              <p:spPr>
                <a:xfrm>
                  <a:off x="519447" y="349230"/>
                  <a:ext cx="29170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170" h="65484">
                      <a:moveTo>
                        <a:pt x="9723" y="54570"/>
                      </a:moveTo>
                      <a:quadBezTo>
                        <a:pt x="9723" y="57150"/>
                        <a:pt x="10914" y="58341"/>
                      </a:quadBezTo>
                      <a:quadBezTo>
                        <a:pt x="12303" y="59531"/>
                        <a:pt x="14288" y="59531"/>
                      </a:quadBezTo>
                      <a:quadBezTo>
                        <a:pt x="18256" y="59531"/>
                        <a:pt x="22820" y="57944"/>
                      </a:quadBezTo>
                      <a:lnTo>
                        <a:pt x="23812" y="60523"/>
                      </a:lnTo>
                      <a:quadBezTo>
                        <a:pt x="17066" y="65484"/>
                        <a:pt x="9922" y="65484"/>
                      </a:quadBezTo>
                      <a:quadBezTo>
                        <a:pt x="5556" y="65484"/>
                        <a:pt x="2977" y="62905"/>
                      </a:quadBezTo>
                      <a:quadBezTo>
                        <a:pt x="595" y="60127"/>
                        <a:pt x="595" y="55166"/>
                      </a:quadBezTo>
                      <a:quadBezTo>
                        <a:pt x="595" y="53578"/>
                        <a:pt x="794" y="51395"/>
                      </a:quadBezTo>
                      <a:quadBezTo>
                        <a:pt x="1191" y="49212"/>
                        <a:pt x="6945" y="16470"/>
                      </a:quadBezTo>
                      <a:lnTo>
                        <a:pt x="0" y="16470"/>
                      </a:lnTo>
                      <a:lnTo>
                        <a:pt x="595" y="14089"/>
                      </a:lnTo>
                      <a:lnTo>
                        <a:pt x="7938" y="11906"/>
                      </a:lnTo>
                      <a:lnTo>
                        <a:pt x="15677" y="0"/>
                      </a:lnTo>
                      <a:lnTo>
                        <a:pt x="19248" y="0"/>
                      </a:lnTo>
                      <a:lnTo>
                        <a:pt x="17066" y="11906"/>
                      </a:lnTo>
                      <a:lnTo>
                        <a:pt x="29170" y="11906"/>
                      </a:lnTo>
                      <a:lnTo>
                        <a:pt x="28178" y="16470"/>
                      </a:lnTo>
                      <a:lnTo>
                        <a:pt x="16272" y="16470"/>
                      </a:lnTo>
                      <a:lnTo>
                        <a:pt x="10716" y="47228"/>
                      </a:lnTo>
                      <a:quadBezTo>
                        <a:pt x="9723" y="52388"/>
                        <a:pt x="9723" y="5457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gae"/>
              <p:cNvSpPr txBox="1"/>
              <p:nvPr/>
            </p:nvSpPr>
            <p:spPr>
              <a:xfrm>
                <a:off x="139700" y="1409700"/>
                <a:ext cx="7747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acc>
                            <ns1:accPr>
                              <ns1:chr ns1:val="̂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A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r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, </ns1:t>
                      </ns1:r>
                      <ns1:sSub>
                        <ns1:e>
                          <ns1:acc>
                            <ns1:accPr>
                              <ns1:chr ns1:val="̂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A</ns1:t>
                              </ns1:r>
                            </ns1:e>
                          </ns1:acc>
                        </ns1:e>
                        <ns1:sub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c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26" name="gae_compat"/>
              <p:cNvGrpSpPr/>
              <p:nvPr/>
            </p:nvGrpSpPr>
            <p:grpSpPr>
              <a:xfrm>
                <a:off x="328810" y="1403350"/>
                <a:ext cx="377630" cy="165567"/>
                <a:chOff x="328810" y="1403350"/>
                <a:chExt cx="377630" cy="165567"/>
              </a:xfrm>
            </p:grpSpPr>
            <p:sp>
              <p:nvSpPr>
                <p:cNvPr id="127" name="gae_glyph_0"/>
                <p:cNvSpPr/>
                <p:nvPr/>
              </p:nvSpPr>
              <p:spPr>
                <a:xfrm>
                  <a:off x="370583" y="140335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8" name="gae_glyph_1"/>
                <p:cNvSpPr/>
                <p:nvPr/>
              </p:nvSpPr>
              <p:spPr>
                <a:xfrm>
                  <a:off x="328810" y="1441648"/>
                  <a:ext cx="93662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662" h="92273">
                      <a:moveTo>
                        <a:pt x="25797" y="88702"/>
                      </a:moveTo>
                      <a:lnTo>
                        <a:pt x="25003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533" y="86717"/>
                      </a:lnTo>
                      <a:lnTo>
                        <a:pt x="54967" y="0"/>
                      </a:lnTo>
                      <a:lnTo>
                        <a:pt x="68064" y="0"/>
                      </a:lnTo>
                      <a:lnTo>
                        <a:pt x="85130" y="86717"/>
                      </a:lnTo>
                      <a:lnTo>
                        <a:pt x="93662" y="88702"/>
                      </a:lnTo>
                      <a:lnTo>
                        <a:pt x="92869" y="92273"/>
                      </a:lnTo>
                      <a:lnTo>
                        <a:pt x="60325" y="92273"/>
                      </a:lnTo>
                      <a:lnTo>
                        <a:pt x="61119" y="88702"/>
                      </a:lnTo>
                      <a:lnTo>
                        <a:pt x="70842" y="86717"/>
                      </a:lnTo>
                      <a:lnTo>
                        <a:pt x="66477" y="60325"/>
                      </a:lnTo>
                      <a:lnTo>
                        <a:pt x="30559" y="60325"/>
                      </a:lnTo>
                      <a:lnTo>
                        <a:pt x="16470" y="86717"/>
                      </a:lnTo>
                      <a:lnTo>
                        <a:pt x="25797" y="88702"/>
                      </a:lnTo>
                      <a:close/>
                      <a:moveTo>
                        <a:pt x="57150" y="9922"/>
                      </a:moveTo>
                      <a:lnTo>
                        <a:pt x="33536" y="54372"/>
                      </a:lnTo>
                      <a:lnTo>
                        <a:pt x="65484" y="54372"/>
                      </a:lnTo>
                      <a:lnTo>
                        <a:pt x="57150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29" name="gae_glyph_2"/>
                <p:cNvSpPr/>
                <p:nvPr/>
              </p:nvSpPr>
              <p:spPr>
                <a:xfrm>
                  <a:off x="427762" y="1499373"/>
                  <a:ext cx="40282" cy="537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283" h="53777">
                      <a:moveTo>
                        <a:pt x="35917" y="0"/>
                      </a:moveTo>
                      <a:quadBezTo>
                        <a:pt x="38695" y="0"/>
                        <a:pt x="40283" y="397"/>
                      </a:quadBezTo>
                      <a:lnTo>
                        <a:pt x="37902" y="14089"/>
                      </a:lnTo>
                      <a:lnTo>
                        <a:pt x="35322" y="14089"/>
                      </a:lnTo>
                      <a:lnTo>
                        <a:pt x="33338" y="6945"/>
                      </a:lnTo>
                      <a:quadBezTo>
                        <a:pt x="28773" y="6945"/>
                        <a:pt x="24011" y="10517"/>
                      </a:quadBezTo>
                      <a:quadBezTo>
                        <a:pt x="19248" y="13891"/>
                        <a:pt x="15280" y="19447"/>
                      </a:quadBezTo>
                      <a:lnTo>
                        <a:pt x="9327" y="53777"/>
                      </a:lnTo>
                      <a:lnTo>
                        <a:pt x="0" y="53777"/>
                      </a:lnTo>
                      <a:lnTo>
                        <a:pt x="8533" y="5159"/>
                      </a:lnTo>
                      <a:lnTo>
                        <a:pt x="1984" y="3770"/>
                      </a:lnTo>
                      <a:lnTo>
                        <a:pt x="2580" y="1389"/>
                      </a:lnTo>
                      <a:lnTo>
                        <a:pt x="17859" y="1389"/>
                      </a:lnTo>
                      <a:lnTo>
                        <a:pt x="16272" y="13097"/>
                      </a:lnTo>
                      <a:quadBezTo>
                        <a:pt x="20439" y="6747"/>
                        <a:pt x="25598" y="3373"/>
                      </a:quadBezTo>
                      <a:quadBezTo>
                        <a:pt x="30758" y="0"/>
                        <a:pt x="35917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0" name="gae_glyph_3"/>
                <p:cNvSpPr/>
                <p:nvPr/>
              </p:nvSpPr>
              <p:spPr>
                <a:xfrm>
                  <a:off x="476340" y="1519435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1" name="gae_glyph_4"/>
                <p:cNvSpPr/>
                <p:nvPr/>
              </p:nvSpPr>
              <p:spPr>
                <a:xfrm>
                  <a:off x="560118" y="140335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2" name="gae_glyph_5"/>
                <p:cNvSpPr/>
                <p:nvPr/>
              </p:nvSpPr>
              <p:spPr>
                <a:xfrm>
                  <a:off x="518346" y="1441648"/>
                  <a:ext cx="93662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662" h="92273">
                      <a:moveTo>
                        <a:pt x="25797" y="88702"/>
                      </a:moveTo>
                      <a:lnTo>
                        <a:pt x="25003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533" y="86717"/>
                      </a:lnTo>
                      <a:lnTo>
                        <a:pt x="54967" y="0"/>
                      </a:lnTo>
                      <a:lnTo>
                        <a:pt x="68064" y="0"/>
                      </a:lnTo>
                      <a:lnTo>
                        <a:pt x="85130" y="86717"/>
                      </a:lnTo>
                      <a:lnTo>
                        <a:pt x="93662" y="88702"/>
                      </a:lnTo>
                      <a:lnTo>
                        <a:pt x="92869" y="92273"/>
                      </a:lnTo>
                      <a:lnTo>
                        <a:pt x="60325" y="92273"/>
                      </a:lnTo>
                      <a:lnTo>
                        <a:pt x="61119" y="88702"/>
                      </a:lnTo>
                      <a:lnTo>
                        <a:pt x="70842" y="86717"/>
                      </a:lnTo>
                      <a:lnTo>
                        <a:pt x="66477" y="60325"/>
                      </a:lnTo>
                      <a:lnTo>
                        <a:pt x="30559" y="60325"/>
                      </a:lnTo>
                      <a:lnTo>
                        <a:pt x="16470" y="86717"/>
                      </a:lnTo>
                      <a:lnTo>
                        <a:pt x="25797" y="88702"/>
                      </a:lnTo>
                      <a:close/>
                      <a:moveTo>
                        <a:pt x="57150" y="9922"/>
                      </a:moveTo>
                      <a:lnTo>
                        <a:pt x="33536" y="54372"/>
                      </a:lnTo>
                      <a:lnTo>
                        <a:pt x="65484" y="54372"/>
                      </a:lnTo>
                      <a:lnTo>
                        <a:pt x="57150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3" name="gae_glyph_6"/>
                <p:cNvSpPr/>
                <p:nvPr/>
              </p:nvSpPr>
              <p:spPr>
                <a:xfrm>
                  <a:off x="616305" y="1499373"/>
                  <a:ext cx="46037" cy="549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038" h="54967">
                      <a:moveTo>
                        <a:pt x="39688" y="45839"/>
                      </a:moveTo>
                      <a:quadBezTo>
                        <a:pt x="35123" y="50006"/>
                        <a:pt x="29369" y="52586"/>
                      </a:quadBezTo>
                      <a:quadBezTo>
                        <a:pt x="23812" y="54967"/>
                        <a:pt x="18852" y="54967"/>
                      </a:quadBezTo>
                      <a:quadBezTo>
                        <a:pt x="9723" y="54967"/>
                        <a:pt x="4762" y="49808"/>
                      </a:quadBezTo>
                      <a:quadBezTo>
                        <a:pt x="0" y="44450"/>
                        <a:pt x="0" y="35322"/>
                      </a:quadBezTo>
                      <a:quadBezTo>
                        <a:pt x="0" y="25598"/>
                        <a:pt x="3770" y="17661"/>
                      </a:quadBezTo>
                      <a:quadBezTo>
                        <a:pt x="7739" y="9723"/>
                        <a:pt x="14883" y="4961"/>
                      </a:quadBezTo>
                      <a:quadBezTo>
                        <a:pt x="22225" y="0"/>
                        <a:pt x="30162" y="0"/>
                      </a:quadBezTo>
                      <a:quadBezTo>
                        <a:pt x="34131" y="0"/>
                        <a:pt x="38497" y="794"/>
                      </a:quadBezTo>
                      <a:quadBezTo>
                        <a:pt x="43061" y="1588"/>
                        <a:pt x="46038" y="2778"/>
                      </a:quadBezTo>
                      <a:lnTo>
                        <a:pt x="43458" y="17462"/>
                      </a:lnTo>
                      <a:lnTo>
                        <a:pt x="40283" y="17462"/>
                      </a:lnTo>
                      <a:lnTo>
                        <a:pt x="39489" y="7739"/>
                      </a:lnTo>
                      <a:quadBezTo>
                        <a:pt x="35917" y="4167"/>
                        <a:pt x="30162" y="4167"/>
                      </a:quadBezTo>
                      <a:quadBezTo>
                        <a:pt x="24805" y="4167"/>
                        <a:pt x="20042" y="8136"/>
                      </a:quadBezTo>
                      <a:quadBezTo>
                        <a:pt x="15478" y="12105"/>
                        <a:pt x="12700" y="19248"/>
                      </a:quadBezTo>
                      <a:quadBezTo>
                        <a:pt x="9922" y="26392"/>
                        <a:pt x="9922" y="34727"/>
                      </a:quadBezTo>
                      <a:quadBezTo>
                        <a:pt x="9922" y="49014"/>
                        <a:pt x="21431" y="49014"/>
                      </a:quadBezTo>
                      <a:quadBezTo>
                        <a:pt x="29369" y="49014"/>
                        <a:pt x="37902" y="43458"/>
                      </a:quadBezTo>
                      <a:lnTo>
                        <a:pt x="39688" y="4583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4" name="gae_glyph_7"/>
                <p:cNvSpPr/>
                <p:nvPr/>
              </p:nvSpPr>
              <p:spPr>
                <a:xfrm>
                  <a:off x="666356" y="1507203"/>
                  <a:ext cx="40084" cy="6171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84" h="61714">
                      <a:moveTo>
                        <a:pt x="10914" y="2977"/>
                      </a:moveTo>
                      <a:lnTo>
                        <a:pt x="4762" y="1984"/>
                      </a:lnTo>
                      <a:lnTo>
                        <a:pt x="5159" y="0"/>
                      </a:lnTo>
                      <a:lnTo>
                        <a:pt x="19050" y="0"/>
                      </a:lnTo>
                      <a:lnTo>
                        <a:pt x="11112" y="42069"/>
                      </a:lnTo>
                      <a:lnTo>
                        <a:pt x="30758" y="24011"/>
                      </a:lnTo>
                      <a:lnTo>
                        <a:pt x="26392" y="22820"/>
                      </a:lnTo>
                      <a:lnTo>
                        <a:pt x="26789" y="20836"/>
                      </a:lnTo>
                      <a:lnTo>
                        <a:pt x="40084" y="20836"/>
                      </a:lnTo>
                      <a:lnTo>
                        <a:pt x="39886" y="22820"/>
                      </a:lnTo>
                      <a:lnTo>
                        <a:pt x="36116" y="23812"/>
                      </a:lnTo>
                      <a:lnTo>
                        <a:pt x="22622" y="36116"/>
                      </a:lnTo>
                      <a:lnTo>
                        <a:pt x="33734" y="58738"/>
                      </a:lnTo>
                      <a:lnTo>
                        <a:pt x="38298" y="59730"/>
                      </a:lnTo>
                      <a:lnTo>
                        <a:pt x="37902" y="61714"/>
                      </a:lnTo>
                      <a:lnTo>
                        <a:pt x="27186" y="61714"/>
                      </a:lnTo>
                      <a:lnTo>
                        <a:pt x="17066" y="40878"/>
                      </a:lnTo>
                      <a:lnTo>
                        <a:pt x="10319" y="47030"/>
                      </a:lnTo>
                      <a:lnTo>
                        <a:pt x="7541" y="61714"/>
                      </a:lnTo>
                      <a:lnTo>
                        <a:pt x="0" y="61714"/>
                      </a:lnTo>
                      <a:lnTo>
                        <a:pt x="10914" y="2977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edge_inputs"/>
              <p:cNvSpPr txBox="1"/>
              <p:nvPr/>
            </p:nvSpPr>
            <p:spPr>
              <a:xfrm>
                <a:off x="1231900" y="1371600"/>
                <a:ext cx="647700" cy="2159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̂"/>
                        </ns1:accPr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</ns1:acc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, A, 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C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35" name="edge_inputs_compat"/>
              <p:cNvGrpSpPr/>
              <p:nvPr/>
            </p:nvGrpSpPr>
            <p:grpSpPr>
              <a:xfrm>
                <a:off x="1339056" y="1397000"/>
                <a:ext cx="427233" cy="151209"/>
                <a:chOff x="1339056" y="1397000"/>
                <a:chExt cx="427233" cy="151209"/>
              </a:xfrm>
            </p:grpSpPr>
            <p:sp>
              <p:nvSpPr>
                <p:cNvPr id="136" name="edge_inputs_glyph_0"/>
                <p:cNvSpPr/>
                <p:nvPr/>
              </p:nvSpPr>
              <p:spPr>
                <a:xfrm>
                  <a:off x="1373883" y="139700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7" name="edge_inputs_glyph_1"/>
                <p:cNvSpPr/>
                <p:nvPr/>
              </p:nvSpPr>
              <p:spPr>
                <a:xfrm>
                  <a:off x="1339056" y="1435298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8" name="edge_inputs_glyph_2"/>
                <p:cNvSpPr/>
                <p:nvPr/>
              </p:nvSpPr>
              <p:spPr>
                <a:xfrm>
                  <a:off x="1430542" y="1512292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39" name="edge_inputs_glyph_3"/>
                <p:cNvSpPr/>
                <p:nvPr/>
              </p:nvSpPr>
              <p:spPr>
                <a:xfrm>
                  <a:off x="1472547" y="1434504"/>
                  <a:ext cx="93662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662" h="92273">
                      <a:moveTo>
                        <a:pt x="25797" y="88702"/>
                      </a:moveTo>
                      <a:lnTo>
                        <a:pt x="25003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533" y="86717"/>
                      </a:lnTo>
                      <a:lnTo>
                        <a:pt x="54967" y="0"/>
                      </a:lnTo>
                      <a:lnTo>
                        <a:pt x="68064" y="0"/>
                      </a:lnTo>
                      <a:lnTo>
                        <a:pt x="85130" y="86717"/>
                      </a:lnTo>
                      <a:lnTo>
                        <a:pt x="93662" y="88702"/>
                      </a:lnTo>
                      <a:lnTo>
                        <a:pt x="92869" y="92273"/>
                      </a:lnTo>
                      <a:lnTo>
                        <a:pt x="60325" y="92273"/>
                      </a:lnTo>
                      <a:lnTo>
                        <a:pt x="61119" y="88702"/>
                      </a:lnTo>
                      <a:lnTo>
                        <a:pt x="70842" y="86717"/>
                      </a:lnTo>
                      <a:lnTo>
                        <a:pt x="66477" y="60325"/>
                      </a:lnTo>
                      <a:lnTo>
                        <a:pt x="30559" y="60325"/>
                      </a:lnTo>
                      <a:lnTo>
                        <a:pt x="16470" y="86717"/>
                      </a:lnTo>
                      <a:lnTo>
                        <a:pt x="25797" y="88702"/>
                      </a:lnTo>
                      <a:close/>
                      <a:moveTo>
                        <a:pt x="57150" y="9922"/>
                      </a:moveTo>
                      <a:lnTo>
                        <a:pt x="33536" y="54372"/>
                      </a:lnTo>
                      <a:lnTo>
                        <a:pt x="65484" y="54372"/>
                      </a:lnTo>
                      <a:lnTo>
                        <a:pt x="57150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0" name="edge_inputs_glyph_4"/>
                <p:cNvSpPr/>
                <p:nvPr/>
              </p:nvSpPr>
              <p:spPr>
                <a:xfrm>
                  <a:off x="1570978" y="1512292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1" name="edge_inputs_glyph_5"/>
                <p:cNvSpPr/>
                <p:nvPr/>
              </p:nvSpPr>
              <p:spPr>
                <a:xfrm>
                  <a:off x="1628462" y="1434306"/>
                  <a:ext cx="86717" cy="938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717" h="93861">
                      <a:moveTo>
                        <a:pt x="39886" y="93861"/>
                      </a:moveTo>
                      <a:quadBezTo>
                        <a:pt x="21233" y="93861"/>
                        <a:pt x="10517" y="84138"/>
                      </a:quadBezTo>
                      <a:quadBezTo>
                        <a:pt x="0" y="74216"/>
                        <a:pt x="0" y="56753"/>
                      </a:quadBezTo>
                      <a:quadBezTo>
                        <a:pt x="0" y="39886"/>
                        <a:pt x="6945" y="26988"/>
                      </a:quadBezTo>
                      <a:quadBezTo>
                        <a:pt x="14089" y="13891"/>
                        <a:pt x="26988" y="6945"/>
                      </a:quadBezTo>
                      <a:quadBezTo>
                        <a:pt x="40084" y="0"/>
                        <a:pt x="56952" y="0"/>
                      </a:quadBezTo>
                      <a:quadBezTo>
                        <a:pt x="71239" y="0"/>
                        <a:pt x="86717" y="3373"/>
                      </a:quadBezTo>
                      <a:lnTo>
                        <a:pt x="83741" y="23416"/>
                      </a:lnTo>
                      <a:lnTo>
                        <a:pt x="79177" y="23416"/>
                      </a:lnTo>
                      <a:lnTo>
                        <a:pt x="79177" y="11509"/>
                      </a:lnTo>
                      <a:quadBezTo>
                        <a:pt x="75009" y="8731"/>
                        <a:pt x="69056" y="7144"/>
                      </a:quadBezTo>
                      <a:quadBezTo>
                        <a:pt x="63103" y="5358"/>
                        <a:pt x="56555" y="5358"/>
                      </a:quadBezTo>
                      <a:quadBezTo>
                        <a:pt x="44053" y="5358"/>
                        <a:pt x="34330" y="12105"/>
                      </a:quadBezTo>
                      <a:quadBezTo>
                        <a:pt x="24606" y="18653"/>
                        <a:pt x="19050" y="30758"/>
                      </a:quadBezTo>
                      <a:quadBezTo>
                        <a:pt x="13692" y="42664"/>
                        <a:pt x="13692" y="58142"/>
                      </a:quadBezTo>
                      <a:quadBezTo>
                        <a:pt x="13692" y="72827"/>
                        <a:pt x="20836" y="80566"/>
                      </a:quadBezTo>
                      <a:quadBezTo>
                        <a:pt x="27980" y="88106"/>
                        <a:pt x="41077" y="88106"/>
                      </a:quadBezTo>
                      <a:quadBezTo>
                        <a:pt x="48816" y="88106"/>
                        <a:pt x="56158" y="85923"/>
                      </a:quadBezTo>
                      <a:quadBezTo>
                        <a:pt x="63698" y="83542"/>
                        <a:pt x="68461" y="79970"/>
                      </a:quadBezTo>
                      <a:lnTo>
                        <a:pt x="73223" y="66278"/>
                      </a:lnTo>
                      <a:lnTo>
                        <a:pt x="77788" y="66278"/>
                      </a:lnTo>
                      <a:lnTo>
                        <a:pt x="73620" y="87709"/>
                      </a:lnTo>
                      <a:quadBezTo>
                        <a:pt x="65683" y="90488"/>
                        <a:pt x="56555" y="92273"/>
                      </a:quadBezTo>
                      <a:quadBezTo>
                        <a:pt x="47625" y="93861"/>
                        <a:pt x="39886" y="938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2" name="edge_inputs_glyph_6"/>
                <p:cNvSpPr/>
                <p:nvPr/>
              </p:nvSpPr>
              <p:spPr>
                <a:xfrm>
                  <a:off x="1717275" y="1466631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soft_eq"/>
              <p:cNvSpPr txBox="1"/>
              <p:nvPr/>
            </p:nvSpPr>
            <p:spPr>
              <a:xfrm>
                <a:off x="2184400" y="457200"/>
                <a:ext cx="914400" cy="2413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⟨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C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,F⟩≤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b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43" name="soft_eq_compat"/>
              <p:cNvGrpSpPr/>
              <p:nvPr/>
            </p:nvGrpSpPr>
            <p:grpSpPr>
              <a:xfrm>
                <a:off x="2328465" y="508000"/>
                <a:ext cx="627973" cy="129381"/>
                <a:chOff x="2328465" y="508000"/>
                <a:chExt cx="627973" cy="129381"/>
              </a:xfrm>
            </p:grpSpPr>
            <p:sp>
              <p:nvSpPr>
                <p:cNvPr id="144" name="soft_eq_glyph_0"/>
                <p:cNvSpPr/>
                <p:nvPr/>
              </p:nvSpPr>
              <p:spPr>
                <a:xfrm>
                  <a:off x="2328465" y="508000"/>
                  <a:ext cx="36115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116" h="129381">
                      <a:moveTo>
                        <a:pt x="36116" y="0"/>
                      </a:moveTo>
                      <a:lnTo>
                        <a:pt x="9327" y="64492"/>
                      </a:lnTo>
                      <a:lnTo>
                        <a:pt x="35917" y="129381"/>
                      </a:lnTo>
                      <a:lnTo>
                        <a:pt x="28773" y="129381"/>
                      </a:lnTo>
                      <a:lnTo>
                        <a:pt x="0" y="65881"/>
                      </a:lnTo>
                      <a:lnTo>
                        <a:pt x="0" y="63103"/>
                      </a:lnTo>
                      <a:lnTo>
                        <a:pt x="28773" y="0"/>
                      </a:lnTo>
                      <a:lnTo>
                        <a:pt x="3611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5" name="soft_eq_glyph_1"/>
                <p:cNvSpPr/>
                <p:nvPr/>
              </p:nvSpPr>
              <p:spPr>
                <a:xfrm>
                  <a:off x="2381368" y="515143"/>
                  <a:ext cx="86717" cy="938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717" h="93861">
                      <a:moveTo>
                        <a:pt x="39886" y="93861"/>
                      </a:moveTo>
                      <a:quadBezTo>
                        <a:pt x="21233" y="93861"/>
                        <a:pt x="10517" y="84138"/>
                      </a:quadBezTo>
                      <a:quadBezTo>
                        <a:pt x="0" y="74216"/>
                        <a:pt x="0" y="56753"/>
                      </a:quadBezTo>
                      <a:quadBezTo>
                        <a:pt x="0" y="39886"/>
                        <a:pt x="6945" y="26988"/>
                      </a:quadBezTo>
                      <a:quadBezTo>
                        <a:pt x="14089" y="13891"/>
                        <a:pt x="26988" y="6945"/>
                      </a:quadBezTo>
                      <a:quadBezTo>
                        <a:pt x="40084" y="0"/>
                        <a:pt x="56952" y="0"/>
                      </a:quadBezTo>
                      <a:quadBezTo>
                        <a:pt x="71239" y="0"/>
                        <a:pt x="86717" y="3373"/>
                      </a:quadBezTo>
                      <a:lnTo>
                        <a:pt x="83741" y="23416"/>
                      </a:lnTo>
                      <a:lnTo>
                        <a:pt x="79177" y="23416"/>
                      </a:lnTo>
                      <a:lnTo>
                        <a:pt x="79177" y="11509"/>
                      </a:lnTo>
                      <a:quadBezTo>
                        <a:pt x="75009" y="8731"/>
                        <a:pt x="69056" y="7144"/>
                      </a:quadBezTo>
                      <a:quadBezTo>
                        <a:pt x="63103" y="5358"/>
                        <a:pt x="56555" y="5358"/>
                      </a:quadBezTo>
                      <a:quadBezTo>
                        <a:pt x="44053" y="5358"/>
                        <a:pt x="34330" y="12105"/>
                      </a:quadBezTo>
                      <a:quadBezTo>
                        <a:pt x="24606" y="18653"/>
                        <a:pt x="19050" y="30758"/>
                      </a:quadBezTo>
                      <a:quadBezTo>
                        <a:pt x="13692" y="42664"/>
                        <a:pt x="13692" y="58142"/>
                      </a:quadBezTo>
                      <a:quadBezTo>
                        <a:pt x="13692" y="72827"/>
                        <a:pt x="20836" y="80566"/>
                      </a:quadBezTo>
                      <a:quadBezTo>
                        <a:pt x="27980" y="88106"/>
                        <a:pt x="41077" y="88106"/>
                      </a:quadBezTo>
                      <a:quadBezTo>
                        <a:pt x="48816" y="88106"/>
                        <a:pt x="56158" y="85923"/>
                      </a:quadBezTo>
                      <a:quadBezTo>
                        <a:pt x="63698" y="83542"/>
                        <a:pt x="68461" y="79970"/>
                      </a:quadBezTo>
                      <a:lnTo>
                        <a:pt x="73223" y="66278"/>
                      </a:lnTo>
                      <a:lnTo>
                        <a:pt x="77788" y="66278"/>
                      </a:lnTo>
                      <a:lnTo>
                        <a:pt x="73620" y="87709"/>
                      </a:lnTo>
                      <a:quadBezTo>
                        <a:pt x="65683" y="90488"/>
                        <a:pt x="56555" y="92273"/>
                      </a:quadBezTo>
                      <a:quadBezTo>
                        <a:pt x="47625" y="93861"/>
                        <a:pt x="39886" y="938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6" name="soft_eq_glyph_2"/>
                <p:cNvSpPr/>
                <p:nvPr/>
              </p:nvSpPr>
              <p:spPr>
                <a:xfrm>
                  <a:off x="2470182" y="547469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7" name="soft_eq_glyph_3"/>
                <p:cNvSpPr/>
                <p:nvPr/>
              </p:nvSpPr>
              <p:spPr>
                <a:xfrm>
                  <a:off x="2526215" y="593129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8" name="soft_eq_glyph_4"/>
                <p:cNvSpPr/>
                <p:nvPr/>
              </p:nvSpPr>
              <p:spPr>
                <a:xfrm>
                  <a:off x="2575166" y="516135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49" name="soft_eq_glyph_5"/>
                <p:cNvSpPr/>
                <p:nvPr/>
              </p:nvSpPr>
              <p:spPr>
                <a:xfrm>
                  <a:off x="2670422" y="508000"/>
                  <a:ext cx="35917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917" h="129381">
                      <a:moveTo>
                        <a:pt x="35917" y="66080"/>
                      </a:moveTo>
                      <a:lnTo>
                        <a:pt x="7144" y="129381"/>
                      </a:lnTo>
                      <a:lnTo>
                        <a:pt x="0" y="129381"/>
                      </a:lnTo>
                      <a:lnTo>
                        <a:pt x="26789" y="64691"/>
                      </a:lnTo>
                      <a:lnTo>
                        <a:pt x="198" y="0"/>
                      </a:lnTo>
                      <a:lnTo>
                        <a:pt x="7342" y="0"/>
                      </a:lnTo>
                      <a:lnTo>
                        <a:pt x="35917" y="63302"/>
                      </a:lnTo>
                      <a:lnTo>
                        <a:pt x="35917" y="660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0" name="soft_eq_glyph_6"/>
                <p:cNvSpPr/>
                <p:nvPr/>
              </p:nvSpPr>
              <p:spPr>
                <a:xfrm>
                  <a:off x="2743106" y="527446"/>
                  <a:ext cx="65087" cy="80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088" h="80169">
                      <a:moveTo>
                        <a:pt x="0" y="35520"/>
                      </a:moveTo>
                      <a:lnTo>
                        <a:pt x="0" y="32147"/>
                      </a:lnTo>
                      <a:lnTo>
                        <a:pt x="65088" y="0"/>
                      </a:lnTo>
                      <a:lnTo>
                        <a:pt x="65088" y="7144"/>
                      </a:lnTo>
                      <a:lnTo>
                        <a:pt x="9922" y="33734"/>
                      </a:lnTo>
                      <a:lnTo>
                        <a:pt x="65088" y="60523"/>
                      </a:lnTo>
                      <a:lnTo>
                        <a:pt x="65088" y="67469"/>
                      </a:lnTo>
                      <a:lnTo>
                        <a:pt x="0" y="35520"/>
                      </a:lnTo>
                      <a:close/>
                      <a:moveTo>
                        <a:pt x="65088" y="73223"/>
                      </a:moveTo>
                      <a:lnTo>
                        <a:pt x="65088" y="80169"/>
                      </a:lnTo>
                      <a:lnTo>
                        <a:pt x="0" y="80169"/>
                      </a:lnTo>
                      <a:lnTo>
                        <a:pt x="0" y="73223"/>
                      </a:lnTo>
                      <a:lnTo>
                        <a:pt x="65088" y="7322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1" name="soft_eq_glyph_7"/>
                <p:cNvSpPr/>
                <p:nvPr/>
              </p:nvSpPr>
              <p:spPr>
                <a:xfrm>
                  <a:off x="2839360" y="510778"/>
                  <a:ext cx="60523" cy="9822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523" h="98227">
                      <a:moveTo>
                        <a:pt x="15677" y="4564"/>
                      </a:moveTo>
                      <a:lnTo>
                        <a:pt x="6548" y="2977"/>
                      </a:lnTo>
                      <a:lnTo>
                        <a:pt x="7144" y="0"/>
                      </a:lnTo>
                      <a:lnTo>
                        <a:pt x="27583" y="0"/>
                      </a:lnTo>
                      <a:lnTo>
                        <a:pt x="22622" y="29964"/>
                      </a:lnTo>
                      <a:quadBezTo>
                        <a:pt x="21431" y="37703"/>
                        <a:pt x="19844" y="43061"/>
                      </a:quadBezTo>
                      <a:quadBezTo>
                        <a:pt x="25400" y="37505"/>
                        <a:pt x="31155" y="34330"/>
                      </a:quadBezTo>
                      <a:quadBezTo>
                        <a:pt x="36909" y="30956"/>
                        <a:pt x="41672" y="30956"/>
                      </a:quadBezTo>
                      <a:quadBezTo>
                        <a:pt x="50205" y="30956"/>
                        <a:pt x="55364" y="37108"/>
                      </a:quadBezTo>
                      <a:quadBezTo>
                        <a:pt x="60523" y="43259"/>
                        <a:pt x="60523" y="53777"/>
                      </a:quadBezTo>
                      <a:quadBezTo>
                        <a:pt x="60523" y="65484"/>
                        <a:pt x="55364" y="76002"/>
                      </a:quadBezTo>
                      <a:quadBezTo>
                        <a:pt x="50403" y="86320"/>
                        <a:pt x="41275" y="92273"/>
                      </a:quadBezTo>
                      <a:quadBezTo>
                        <a:pt x="32345" y="98227"/>
                        <a:pt x="21828" y="98227"/>
                      </a:quadBezTo>
                      <a:quadBezTo>
                        <a:pt x="15875" y="98227"/>
                        <a:pt x="10120" y="96639"/>
                      </a:quadBezTo>
                      <a:quadBezTo>
                        <a:pt x="4366" y="95052"/>
                        <a:pt x="0" y="92472"/>
                      </a:quadBezTo>
                      <a:lnTo>
                        <a:pt x="15677" y="4564"/>
                      </a:lnTo>
                      <a:close/>
                      <a:moveTo>
                        <a:pt x="11708" y="89495"/>
                      </a:moveTo>
                      <a:quadBezTo>
                        <a:pt x="15677" y="92869"/>
                        <a:pt x="22820" y="92869"/>
                      </a:quadBezTo>
                      <a:quadBezTo>
                        <a:pt x="29766" y="92869"/>
                        <a:pt x="35520" y="87709"/>
                      </a:quadBezTo>
                      <a:quadBezTo>
                        <a:pt x="41473" y="82550"/>
                        <a:pt x="44847" y="73819"/>
                      </a:quadBezTo>
                      <a:quadBezTo>
                        <a:pt x="48220" y="65088"/>
                        <a:pt x="48220" y="55562"/>
                      </a:quadBezTo>
                      <a:quadBezTo>
                        <a:pt x="48220" y="48022"/>
                        <a:pt x="45045" y="43855"/>
                      </a:quadBezTo>
                      <a:quadBezTo>
                        <a:pt x="41870" y="39489"/>
                        <a:pt x="36512" y="39489"/>
                      </a:quadBezTo>
                      <a:quadBezTo>
                        <a:pt x="32544" y="39489"/>
                        <a:pt x="27781" y="42267"/>
                      </a:quadBezTo>
                      <a:quadBezTo>
                        <a:pt x="23217" y="44847"/>
                        <a:pt x="19050" y="49014"/>
                      </a:quadBezTo>
                      <a:lnTo>
                        <a:pt x="11708" y="8949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2" name="soft_eq_glyph_8"/>
                <p:cNvSpPr/>
                <p:nvPr/>
              </p:nvSpPr>
              <p:spPr>
                <a:xfrm>
                  <a:off x="2907424" y="547469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hard_eq"/>
              <p:cNvSpPr txBox="1"/>
              <p:nvPr/>
            </p:nvSpPr>
            <p:spPr>
              <a:xfrm>
                <a:off x="2298700" y="1282700"/>
                <a:ext cx="635000" cy="1905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H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=0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153" name="hard_eq_compat"/>
              <p:cNvGrpSpPr/>
              <p:nvPr/>
            </p:nvGrpSpPr>
            <p:grpSpPr>
              <a:xfrm>
                <a:off x="2431256" y="1314450"/>
                <a:ext cx="355692" cy="112096"/>
                <a:chOff x="2431256" y="1314450"/>
                <a:chExt cx="355692" cy="112096"/>
              </a:xfrm>
            </p:grpSpPr>
            <p:sp>
              <p:nvSpPr>
                <p:cNvPr id="154" name="hard_eq_glyph_0"/>
                <p:cNvSpPr/>
                <p:nvPr/>
              </p:nvSpPr>
              <p:spPr>
                <a:xfrm>
                  <a:off x="2431256" y="1315839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5" name="hard_eq_glyph_1"/>
                <p:cNvSpPr/>
                <p:nvPr/>
              </p:nvSpPr>
              <p:spPr>
                <a:xfrm>
                  <a:off x="2516193" y="1351736"/>
                  <a:ext cx="88900" cy="748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8900" h="74811">
                      <a:moveTo>
                        <a:pt x="0" y="74811"/>
                      </a:moveTo>
                      <a:lnTo>
                        <a:pt x="397" y="71834"/>
                      </a:lnTo>
                      <a:lnTo>
                        <a:pt x="10319" y="70247"/>
                      </a:lnTo>
                      <a:lnTo>
                        <a:pt x="21828" y="4366"/>
                      </a:lnTo>
                      <a:lnTo>
                        <a:pt x="12502" y="2977"/>
                      </a:lnTo>
                      <a:lnTo>
                        <a:pt x="12898" y="0"/>
                      </a:lnTo>
                      <a:lnTo>
                        <a:pt x="42862" y="0"/>
                      </a:lnTo>
                      <a:lnTo>
                        <a:pt x="42466" y="2977"/>
                      </a:lnTo>
                      <a:lnTo>
                        <a:pt x="32544" y="4366"/>
                      </a:lnTo>
                      <a:lnTo>
                        <a:pt x="27384" y="33734"/>
                      </a:lnTo>
                      <a:lnTo>
                        <a:pt x="62508" y="33734"/>
                      </a:lnTo>
                      <a:lnTo>
                        <a:pt x="67667" y="4366"/>
                      </a:lnTo>
                      <a:lnTo>
                        <a:pt x="58539" y="2977"/>
                      </a:lnTo>
                      <a:lnTo>
                        <a:pt x="58936" y="0"/>
                      </a:lnTo>
                      <a:lnTo>
                        <a:pt x="88900" y="0"/>
                      </a:lnTo>
                      <a:lnTo>
                        <a:pt x="88503" y="2977"/>
                      </a:lnTo>
                      <a:lnTo>
                        <a:pt x="78581" y="4366"/>
                      </a:lnTo>
                      <a:lnTo>
                        <a:pt x="66873" y="70247"/>
                      </a:lnTo>
                      <a:lnTo>
                        <a:pt x="76200" y="71834"/>
                      </a:lnTo>
                      <a:lnTo>
                        <a:pt x="75803" y="74811"/>
                      </a:lnTo>
                      <a:lnTo>
                        <a:pt x="45839" y="74811"/>
                      </a:lnTo>
                      <a:lnTo>
                        <a:pt x="46236" y="71834"/>
                      </a:lnTo>
                      <a:lnTo>
                        <a:pt x="56158" y="70247"/>
                      </a:lnTo>
                      <a:lnTo>
                        <a:pt x="61714" y="38894"/>
                      </a:lnTo>
                      <a:lnTo>
                        <a:pt x="26392" y="38894"/>
                      </a:lnTo>
                      <a:lnTo>
                        <a:pt x="21034" y="70247"/>
                      </a:lnTo>
                      <a:lnTo>
                        <a:pt x="30162" y="71834"/>
                      </a:lnTo>
                      <a:lnTo>
                        <a:pt x="29766" y="74811"/>
                      </a:lnTo>
                      <a:lnTo>
                        <a:pt x="0" y="74811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6" name="hard_eq_glyph_2"/>
                <p:cNvSpPr/>
                <p:nvPr/>
              </p:nvSpPr>
              <p:spPr>
                <a:xfrm>
                  <a:off x="2630439" y="1343421"/>
                  <a:ext cx="65087" cy="349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088" h="34925">
                      <a:moveTo>
                        <a:pt x="65088" y="27980"/>
                      </a:moveTo>
                      <a:lnTo>
                        <a:pt x="65088" y="34925"/>
                      </a:lnTo>
                      <a:lnTo>
                        <a:pt x="0" y="34925"/>
                      </a:lnTo>
                      <a:lnTo>
                        <a:pt x="0" y="27980"/>
                      </a:lnTo>
                      <a:lnTo>
                        <a:pt x="65088" y="27980"/>
                      </a:lnTo>
                      <a:close/>
                      <a:moveTo>
                        <a:pt x="65088" y="0"/>
                      </a:moveTo>
                      <a:lnTo>
                        <a:pt x="65088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5088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57" name="hard_eq_glyph_3"/>
                <p:cNvSpPr/>
                <p:nvPr/>
              </p:nvSpPr>
              <p:spPr>
                <a:xfrm>
                  <a:off x="2727814" y="1314450"/>
                  <a:ext cx="59134" cy="942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94258">
                      <a:moveTo>
                        <a:pt x="59134" y="46831"/>
                      </a:moveTo>
                      <a:quadBezTo>
                        <a:pt x="59134" y="94258"/>
                        <a:pt x="29170" y="94258"/>
                      </a:quadBezTo>
                      <a:quadBezTo>
                        <a:pt x="14684" y="94258"/>
                        <a:pt x="7342" y="82153"/>
                      </a:quadBezTo>
                      <a:quadBezTo>
                        <a:pt x="0" y="69850"/>
                        <a:pt x="0" y="46831"/>
                      </a:quadBezTo>
                      <a:quadBezTo>
                        <a:pt x="0" y="24011"/>
                        <a:pt x="7342" y="12105"/>
                      </a:quadBezTo>
                      <a:quadBezTo>
                        <a:pt x="14684" y="0"/>
                        <a:pt x="29766" y="0"/>
                      </a:quadBezTo>
                      <a:quadBezTo>
                        <a:pt x="44252" y="0"/>
                        <a:pt x="51594" y="11906"/>
                      </a:quadBezTo>
                      <a:quadBezTo>
                        <a:pt x="59134" y="23812"/>
                        <a:pt x="59134" y="46831"/>
                      </a:quadBezTo>
                      <a:close/>
                      <a:moveTo>
                        <a:pt x="46633" y="46831"/>
                      </a:moveTo>
                      <a:quadBezTo>
                        <a:pt x="46633" y="24805"/>
                        <a:pt x="42466" y="15081"/>
                      </a:quadBezTo>
                      <a:quadBezTo>
                        <a:pt x="38298" y="5358"/>
                        <a:pt x="29170" y="5358"/>
                      </a:quadBezTo>
                      <a:quadBezTo>
                        <a:pt x="20241" y="5358"/>
                        <a:pt x="16272" y="14486"/>
                      </a:quadBezTo>
                      <a:quadBezTo>
                        <a:pt x="12502" y="23614"/>
                        <a:pt x="12502" y="46831"/>
                      </a:quadBezTo>
                      <a:quadBezTo>
                        <a:pt x="12502" y="69850"/>
                        <a:pt x="16470" y="79375"/>
                      </a:quadBezTo>
                      <a:quadBezTo>
                        <a:pt x="20439" y="88900"/>
                        <a:pt x="29170" y="88900"/>
                      </a:quadBezTo>
                      <a:quadBezTo>
                        <a:pt x="38100" y="88900"/>
                        <a:pt x="42267" y="78978"/>
                      </a:quadBezTo>
                      <a:quadBezTo>
                        <a:pt x="46633" y="69056"/>
                        <a:pt x="46633" y="4683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objective"/>
              <p:cNvSpPr txBox="1"/>
              <p:nvPr/>
            </p:nvSpPr>
            <p:spPr>
              <a:xfrm>
                <a:off x="3302000" y="304800"/>
                <a:ext cx="1625600" cy="279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7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min</ns1:t>
                          </ns1:r>
                        </ns1:e>
                        <ns1: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F≥0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 −⟨A,F⟩+ε KL(F∥</ns1:t>
                      </ns1:r>
                      <ns1:acc>
                        <ns1:accPr>
                          <ns1:chr ns1:val="̂"/>
                        </ns1:accPr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</ns1:acc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)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158" name="objective_compat"/>
              <p:cNvGrpSpPr/>
              <p:nvPr/>
            </p:nvGrpSpPr>
            <p:grpSpPr>
              <a:xfrm>
                <a:off x="3349426" y="355600"/>
                <a:ext cx="1520653" cy="159067"/>
                <a:chOff x="3349426" y="355600"/>
                <a:chExt cx="1520653" cy="159067"/>
              </a:xfrm>
            </p:grpSpPr>
            <p:sp>
              <p:nvSpPr>
                <p:cNvPr id="159" name="objective_glyph_0"/>
                <p:cNvSpPr/>
                <p:nvPr/>
              </p:nvSpPr>
              <p:spPr>
                <a:xfrm>
                  <a:off x="3349426" y="419020"/>
                  <a:ext cx="101004" cy="658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1005" h="65881">
                      <a:moveTo>
                        <a:pt x="18852" y="6945"/>
                      </a:moveTo>
                      <a:quadBezTo>
                        <a:pt x="23812" y="3969"/>
                        <a:pt x="29369" y="1984"/>
                      </a:quadBezTo>
                      <a:quadBezTo>
                        <a:pt x="34925" y="0"/>
                        <a:pt x="39291" y="0"/>
                      </a:quadBezTo>
                      <a:quadBezTo>
                        <a:pt x="43855" y="0"/>
                        <a:pt x="47625" y="1786"/>
                      </a:quadBezTo>
                      <a:quadBezTo>
                        <a:pt x="51594" y="3572"/>
                        <a:pt x="53578" y="7541"/>
                      </a:quadBezTo>
                      <a:quadBezTo>
                        <a:pt x="58738" y="4564"/>
                        <a:pt x="65484" y="2381"/>
                      </a:quadBezTo>
                      <a:quadBezTo>
                        <a:pt x="72430" y="0"/>
                        <a:pt x="76994" y="0"/>
                      </a:quadBezTo>
                      <a:quadBezTo>
                        <a:pt x="93067" y="0"/>
                        <a:pt x="93067" y="18852"/>
                      </a:quadBezTo>
                      <a:lnTo>
                        <a:pt x="93067" y="61119"/>
                      </a:lnTo>
                      <a:lnTo>
                        <a:pt x="101005" y="62905"/>
                      </a:lnTo>
                      <a:lnTo>
                        <a:pt x="101005" y="65881"/>
                      </a:lnTo>
                      <a:lnTo>
                        <a:pt x="72628" y="65881"/>
                      </a:lnTo>
                      <a:lnTo>
                        <a:pt x="72628" y="62905"/>
                      </a:lnTo>
                      <a:lnTo>
                        <a:pt x="81955" y="61119"/>
                      </a:lnTo>
                      <a:lnTo>
                        <a:pt x="81955" y="20241"/>
                      </a:lnTo>
                      <a:quadBezTo>
                        <a:pt x="81955" y="8533"/>
                        <a:pt x="71239" y="8533"/>
                      </a:quadBezTo>
                      <a:quadBezTo>
                        <a:pt x="69652" y="8533"/>
                        <a:pt x="67270" y="8731"/>
                      </a:quadBezTo>
                      <a:quadBezTo>
                        <a:pt x="64889" y="8930"/>
                        <a:pt x="62508" y="9327"/>
                      </a:quadBezTo>
                      <a:quadBezTo>
                        <a:pt x="60325" y="9723"/>
                        <a:pt x="58142" y="10120"/>
                      </a:quadBezTo>
                      <a:quadBezTo>
                        <a:pt x="56158" y="10517"/>
                        <a:pt x="54769" y="10914"/>
                      </a:quadBezTo>
                      <a:quadBezTo>
                        <a:pt x="55959" y="14486"/>
                        <a:pt x="55959" y="18852"/>
                      </a:quadBezTo>
                      <a:lnTo>
                        <a:pt x="55959" y="61119"/>
                      </a:lnTo>
                      <a:lnTo>
                        <a:pt x="65286" y="62905"/>
                      </a:lnTo>
                      <a:lnTo>
                        <a:pt x="65286" y="65881"/>
                      </a:lnTo>
                      <a:lnTo>
                        <a:pt x="35520" y="65881"/>
                      </a:lnTo>
                      <a:lnTo>
                        <a:pt x="35520" y="62905"/>
                      </a:lnTo>
                      <a:lnTo>
                        <a:pt x="44847" y="61119"/>
                      </a:lnTo>
                      <a:lnTo>
                        <a:pt x="44847" y="20241"/>
                      </a:lnTo>
                      <a:quadBezTo>
                        <a:pt x="44847" y="14486"/>
                        <a:pt x="41870" y="11509"/>
                      </a:quadBezTo>
                      <a:quadBezTo>
                        <a:pt x="39092" y="8533"/>
                        <a:pt x="33536" y="8533"/>
                      </a:quadBezTo>
                      <a:quadBezTo>
                        <a:pt x="27583" y="8533"/>
                        <a:pt x="18852" y="10517"/>
                      </a:quadBezTo>
                      <a:lnTo>
                        <a:pt x="18852" y="61119"/>
                      </a:lnTo>
                      <a:lnTo>
                        <a:pt x="28377" y="62905"/>
                      </a:lnTo>
                      <a:lnTo>
                        <a:pt x="28377" y="65881"/>
                      </a:lnTo>
                      <a:lnTo>
                        <a:pt x="0" y="65881"/>
                      </a:lnTo>
                      <a:lnTo>
                        <a:pt x="0" y="62905"/>
                      </a:lnTo>
                      <a:lnTo>
                        <a:pt x="7739" y="61119"/>
                      </a:lnTo>
                      <a:lnTo>
                        <a:pt x="7739" y="6548"/>
                      </a:lnTo>
                      <a:lnTo>
                        <a:pt x="0" y="4762"/>
                      </a:lnTo>
                      <a:lnTo>
                        <a:pt x="0" y="1786"/>
                      </a:lnTo>
                      <a:lnTo>
                        <a:pt x="18256" y="1786"/>
                      </a:lnTo>
                      <a:lnTo>
                        <a:pt x="18852" y="694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0" name="objective_glyph_1"/>
                <p:cNvSpPr/>
                <p:nvPr/>
              </p:nvSpPr>
              <p:spPr>
                <a:xfrm>
                  <a:off x="3455620" y="392430"/>
                  <a:ext cx="32345" cy="9247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2345" h="92472">
                      <a:moveTo>
                        <a:pt x="22225" y="7342"/>
                      </a:moveTo>
                      <a:quadBezTo>
                        <a:pt x="22225" y="10319"/>
                        <a:pt x="20042" y="12502"/>
                      </a:quadBezTo>
                      <a:quadBezTo>
                        <a:pt x="18058" y="14684"/>
                        <a:pt x="15081" y="14684"/>
                      </a:quadBezTo>
                      <a:quadBezTo>
                        <a:pt x="12105" y="14684"/>
                        <a:pt x="9922" y="12502"/>
                      </a:quadBezTo>
                      <a:quadBezTo>
                        <a:pt x="7739" y="10319"/>
                        <a:pt x="7739" y="7342"/>
                      </a:quadBezTo>
                      <a:quadBezTo>
                        <a:pt x="7739" y="4366"/>
                        <a:pt x="9922" y="2183"/>
                      </a:quadBezTo>
                      <a:quadBezTo>
                        <a:pt x="12105" y="0"/>
                        <a:pt x="15081" y="0"/>
                      </a:quadBezTo>
                      <a:quadBezTo>
                        <a:pt x="18058" y="0"/>
                        <a:pt x="20042" y="2183"/>
                      </a:quadBezTo>
                      <a:quadBezTo>
                        <a:pt x="22225" y="4366"/>
                        <a:pt x="22225" y="7342"/>
                      </a:quadBezTo>
                      <a:close/>
                      <a:moveTo>
                        <a:pt x="21630" y="87709"/>
                      </a:moveTo>
                      <a:lnTo>
                        <a:pt x="32345" y="89495"/>
                      </a:lnTo>
                      <a:lnTo>
                        <a:pt x="32345" y="92472"/>
                      </a:lnTo>
                      <a:lnTo>
                        <a:pt x="0" y="92472"/>
                      </a:lnTo>
                      <a:lnTo>
                        <a:pt x="0" y="89495"/>
                      </a:lnTo>
                      <a:lnTo>
                        <a:pt x="10517" y="87709"/>
                      </a:lnTo>
                      <a:lnTo>
                        <a:pt x="10517" y="33139"/>
                      </a:lnTo>
                      <a:lnTo>
                        <a:pt x="1786" y="31353"/>
                      </a:lnTo>
                      <a:lnTo>
                        <a:pt x="1786" y="28377"/>
                      </a:lnTo>
                      <a:lnTo>
                        <a:pt x="21630" y="28377"/>
                      </a:lnTo>
                      <a:lnTo>
                        <a:pt x="21630" y="8770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1" name="objective_glyph_2"/>
                <p:cNvSpPr/>
                <p:nvPr/>
              </p:nvSpPr>
              <p:spPr>
                <a:xfrm>
                  <a:off x="3493749" y="419020"/>
                  <a:ext cx="63103" cy="658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103" h="65881">
                      <a:moveTo>
                        <a:pt x="18455" y="6945"/>
                      </a:moveTo>
                      <a:quadBezTo>
                        <a:pt x="23614" y="3969"/>
                        <a:pt x="29369" y="1984"/>
                      </a:quadBezTo>
                      <a:quadBezTo>
                        <a:pt x="35123" y="0"/>
                        <a:pt x="39092" y="0"/>
                      </a:quadBezTo>
                      <a:quadBezTo>
                        <a:pt x="47228" y="0"/>
                        <a:pt x="51197" y="4961"/>
                      </a:quadBezTo>
                      <a:quadBezTo>
                        <a:pt x="55364" y="9723"/>
                        <a:pt x="55364" y="18852"/>
                      </a:quadBezTo>
                      <a:lnTo>
                        <a:pt x="55364" y="61119"/>
                      </a:lnTo>
                      <a:lnTo>
                        <a:pt x="63103" y="62905"/>
                      </a:lnTo>
                      <a:lnTo>
                        <a:pt x="63103" y="65881"/>
                      </a:lnTo>
                      <a:lnTo>
                        <a:pt x="36116" y="65881"/>
                      </a:lnTo>
                      <a:lnTo>
                        <a:pt x="36116" y="62905"/>
                      </a:lnTo>
                      <a:lnTo>
                        <a:pt x="44450" y="61119"/>
                      </a:lnTo>
                      <a:lnTo>
                        <a:pt x="44450" y="20241"/>
                      </a:lnTo>
                      <a:quadBezTo>
                        <a:pt x="44450" y="14486"/>
                        <a:pt x="41672" y="11311"/>
                      </a:quadBezTo>
                      <a:quadBezTo>
                        <a:pt x="38894" y="7938"/>
                        <a:pt x="33338" y="7938"/>
                      </a:quadBezTo>
                      <a:quadBezTo>
                        <a:pt x="27384" y="7938"/>
                        <a:pt x="18653" y="9922"/>
                      </a:quadBezTo>
                      <a:lnTo>
                        <a:pt x="18653" y="61119"/>
                      </a:lnTo>
                      <a:lnTo>
                        <a:pt x="26988" y="62905"/>
                      </a:lnTo>
                      <a:lnTo>
                        <a:pt x="26988" y="65881"/>
                      </a:lnTo>
                      <a:lnTo>
                        <a:pt x="0" y="65881"/>
                      </a:lnTo>
                      <a:lnTo>
                        <a:pt x="0" y="62905"/>
                      </a:lnTo>
                      <a:lnTo>
                        <a:pt x="7541" y="61119"/>
                      </a:lnTo>
                      <a:lnTo>
                        <a:pt x="7541" y="6548"/>
                      </a:lnTo>
                      <a:lnTo>
                        <a:pt x="0" y="4762"/>
                      </a:lnTo>
                      <a:lnTo>
                        <a:pt x="0" y="1786"/>
                      </a:lnTo>
                      <a:lnTo>
                        <a:pt x="17859" y="1786"/>
                      </a:lnTo>
                      <a:lnTo>
                        <a:pt x="18455" y="694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2" name="objective_glyph_3"/>
                <p:cNvSpPr/>
                <p:nvPr/>
              </p:nvSpPr>
              <p:spPr>
                <a:xfrm>
                  <a:off x="3559555" y="429319"/>
                  <a:ext cx="69453" cy="748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9453" h="74811">
                      <a:moveTo>
                        <a:pt x="24805" y="41275"/>
                      </a:moveTo>
                      <a:lnTo>
                        <a:pt x="19844" y="70247"/>
                      </a:lnTo>
                      <a:lnTo>
                        <a:pt x="31750" y="71834"/>
                      </a:lnTo>
                      <a:lnTo>
                        <a:pt x="31155" y="74811"/>
                      </a:lnTo>
                      <a:lnTo>
                        <a:pt x="0" y="74811"/>
                      </a:lnTo>
                      <a:lnTo>
                        <a:pt x="595" y="71834"/>
                      </a:lnTo>
                      <a:lnTo>
                        <a:pt x="9327" y="70247"/>
                      </a:lnTo>
                      <a:lnTo>
                        <a:pt x="20638" y="4366"/>
                      </a:lnTo>
                      <a:lnTo>
                        <a:pt x="11509" y="2977"/>
                      </a:lnTo>
                      <a:lnTo>
                        <a:pt x="12105" y="0"/>
                      </a:lnTo>
                      <a:lnTo>
                        <a:pt x="69453" y="0"/>
                      </a:lnTo>
                      <a:lnTo>
                        <a:pt x="66278" y="17859"/>
                      </a:lnTo>
                      <a:lnTo>
                        <a:pt x="62706" y="17859"/>
                      </a:lnTo>
                      <a:lnTo>
                        <a:pt x="63103" y="5755"/>
                      </a:lnTo>
                      <a:quadBezTo>
                        <a:pt x="57150" y="4961"/>
                        <a:pt x="45641" y="4961"/>
                      </a:quadBezTo>
                      <a:lnTo>
                        <a:pt x="30956" y="4961"/>
                      </a:lnTo>
                      <a:lnTo>
                        <a:pt x="25598" y="36116"/>
                      </a:lnTo>
                      <a:lnTo>
                        <a:pt x="49808" y="36116"/>
                      </a:lnTo>
                      <a:lnTo>
                        <a:pt x="52983" y="27186"/>
                      </a:lnTo>
                      <a:lnTo>
                        <a:pt x="56356" y="27186"/>
                      </a:lnTo>
                      <a:lnTo>
                        <a:pt x="52388" y="50205"/>
                      </a:lnTo>
                      <a:lnTo>
                        <a:pt x="49212" y="50205"/>
                      </a:lnTo>
                      <a:lnTo>
                        <a:pt x="49014" y="41275"/>
                      </a:lnTo>
                      <a:lnTo>
                        <a:pt x="24805" y="4127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3" name="objective_glyph_4"/>
                <p:cNvSpPr/>
                <p:nvPr/>
              </p:nvSpPr>
              <p:spPr>
                <a:xfrm>
                  <a:off x="3649268" y="438646"/>
                  <a:ext cx="51792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792" h="65484">
                      <a:moveTo>
                        <a:pt x="198" y="55166"/>
                      </a:moveTo>
                      <a:lnTo>
                        <a:pt x="198" y="49411"/>
                      </a:lnTo>
                      <a:lnTo>
                        <a:pt x="44053" y="27583"/>
                      </a:lnTo>
                      <a:lnTo>
                        <a:pt x="198" y="5755"/>
                      </a:lnTo>
                      <a:lnTo>
                        <a:pt x="198" y="0"/>
                      </a:lnTo>
                      <a:lnTo>
                        <a:pt x="51792" y="26194"/>
                      </a:lnTo>
                      <a:lnTo>
                        <a:pt x="51792" y="28972"/>
                      </a:lnTo>
                      <a:lnTo>
                        <a:pt x="198" y="55166"/>
                      </a:lnTo>
                      <a:close/>
                      <a:moveTo>
                        <a:pt x="51792" y="59730"/>
                      </a:moveTo>
                      <a:lnTo>
                        <a:pt x="51792" y="65484"/>
                      </a:lnTo>
                      <a:lnTo>
                        <a:pt x="0" y="65484"/>
                      </a:lnTo>
                      <a:lnTo>
                        <a:pt x="0" y="59730"/>
                      </a:lnTo>
                      <a:lnTo>
                        <a:pt x="51792" y="5973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4" name="objective_glyph_5"/>
                <p:cNvSpPr/>
                <p:nvPr/>
              </p:nvSpPr>
              <p:spPr>
                <a:xfrm>
                  <a:off x="3726482" y="428128"/>
                  <a:ext cx="47228" cy="7719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228" h="77192">
                      <a:moveTo>
                        <a:pt x="47228" y="38298"/>
                      </a:moveTo>
                      <a:quadBezTo>
                        <a:pt x="47228" y="77192"/>
                        <a:pt x="23217" y="77192"/>
                      </a:quadBezTo>
                      <a:quadBezTo>
                        <a:pt x="11708" y="77192"/>
                        <a:pt x="5755" y="67270"/>
                      </a:quadBezTo>
                      <a:quadBezTo>
                        <a:pt x="0" y="57150"/>
                        <a:pt x="0" y="38298"/>
                      </a:quadBezTo>
                      <a:quadBezTo>
                        <a:pt x="0" y="19645"/>
                        <a:pt x="5755" y="9922"/>
                      </a:quadBezTo>
                      <a:quadBezTo>
                        <a:pt x="11708" y="0"/>
                        <a:pt x="23812" y="0"/>
                      </a:quadBezTo>
                      <a:quadBezTo>
                        <a:pt x="35322" y="0"/>
                        <a:pt x="41275" y="9723"/>
                      </a:quadBezTo>
                      <a:quadBezTo>
                        <a:pt x="47228" y="19447"/>
                        <a:pt x="47228" y="38298"/>
                      </a:quadBezTo>
                      <a:close/>
                      <a:moveTo>
                        <a:pt x="37108" y="38298"/>
                      </a:moveTo>
                      <a:quadBezTo>
                        <a:pt x="37108" y="20241"/>
                        <a:pt x="33734" y="12303"/>
                      </a:quadBezTo>
                      <a:quadBezTo>
                        <a:pt x="30559" y="4366"/>
                        <a:pt x="23217" y="4366"/>
                      </a:quadBezTo>
                      <a:quadBezTo>
                        <a:pt x="16272" y="4366"/>
                        <a:pt x="13097" y="11906"/>
                      </a:quadBezTo>
                      <a:quadBezTo>
                        <a:pt x="10120" y="19447"/>
                        <a:pt x="10120" y="38298"/>
                      </a:quadBezTo>
                      <a:quadBezTo>
                        <a:pt x="10120" y="57150"/>
                        <a:pt x="13097" y="64889"/>
                      </a:quadBezTo>
                      <a:quadBezTo>
                        <a:pt x="16272" y="72628"/>
                        <a:pt x="23217" y="72628"/>
                      </a:quadBezTo>
                      <a:quadBezTo>
                        <a:pt x="30559" y="72628"/>
                        <a:pt x="33734" y="64691"/>
                      </a:quadBezTo>
                      <a:quadBezTo>
                        <a:pt x="37108" y="56555"/>
                        <a:pt x="37108" y="3829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5" name="objective_glyph_6"/>
                <p:cNvSpPr/>
                <p:nvPr/>
              </p:nvSpPr>
              <p:spPr>
                <a:xfrm>
                  <a:off x="3807960" y="435094"/>
                  <a:ext cx="63500" cy="69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945">
                      <a:moveTo>
                        <a:pt x="63500" y="0"/>
                      </a:moveTo>
                      <a:lnTo>
                        <a:pt x="63500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3500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6" name="objective_glyph_7"/>
                <p:cNvSpPr/>
                <p:nvPr/>
              </p:nvSpPr>
              <p:spPr>
                <a:xfrm>
                  <a:off x="3908445" y="385286"/>
                  <a:ext cx="35321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322" h="129381">
                      <a:moveTo>
                        <a:pt x="35322" y="0"/>
                      </a:moveTo>
                      <a:lnTo>
                        <a:pt x="8930" y="64492"/>
                      </a:lnTo>
                      <a:lnTo>
                        <a:pt x="35123" y="129381"/>
                      </a:lnTo>
                      <a:lnTo>
                        <a:pt x="27980" y="129381"/>
                      </a:lnTo>
                      <a:lnTo>
                        <a:pt x="0" y="65881"/>
                      </a:lnTo>
                      <a:lnTo>
                        <a:pt x="0" y="63103"/>
                      </a:lnTo>
                      <a:lnTo>
                        <a:pt x="28178" y="0"/>
                      </a:lnTo>
                      <a:lnTo>
                        <a:pt x="35322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7" name="objective_glyph_8"/>
                <p:cNvSpPr/>
                <p:nvPr/>
              </p:nvSpPr>
              <p:spPr>
                <a:xfrm>
                  <a:off x="3944997" y="392628"/>
                  <a:ext cx="91479" cy="9227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1480" h="92273">
                      <a:moveTo>
                        <a:pt x="25202" y="88702"/>
                      </a:moveTo>
                      <a:lnTo>
                        <a:pt x="24408" y="92273"/>
                      </a:lnTo>
                      <a:lnTo>
                        <a:pt x="0" y="92273"/>
                      </a:lnTo>
                      <a:lnTo>
                        <a:pt x="794" y="88702"/>
                      </a:lnTo>
                      <a:lnTo>
                        <a:pt x="8136" y="86717"/>
                      </a:lnTo>
                      <a:lnTo>
                        <a:pt x="53777" y="0"/>
                      </a:lnTo>
                      <a:lnTo>
                        <a:pt x="66477" y="0"/>
                      </a:lnTo>
                      <a:lnTo>
                        <a:pt x="83145" y="86717"/>
                      </a:lnTo>
                      <a:lnTo>
                        <a:pt x="91480" y="88702"/>
                      </a:lnTo>
                      <a:lnTo>
                        <a:pt x="90686" y="92273"/>
                      </a:lnTo>
                      <a:lnTo>
                        <a:pt x="58936" y="92273"/>
                      </a:lnTo>
                      <a:lnTo>
                        <a:pt x="59730" y="88702"/>
                      </a:lnTo>
                      <a:lnTo>
                        <a:pt x="69255" y="86717"/>
                      </a:lnTo>
                      <a:lnTo>
                        <a:pt x="65088" y="60325"/>
                      </a:lnTo>
                      <a:lnTo>
                        <a:pt x="29766" y="60325"/>
                      </a:lnTo>
                      <a:lnTo>
                        <a:pt x="16073" y="86717"/>
                      </a:lnTo>
                      <a:lnTo>
                        <a:pt x="25202" y="88702"/>
                      </a:lnTo>
                      <a:close/>
                      <a:moveTo>
                        <a:pt x="55761" y="9922"/>
                      </a:moveTo>
                      <a:lnTo>
                        <a:pt x="32742" y="54372"/>
                      </a:lnTo>
                      <a:lnTo>
                        <a:pt x="63897" y="54372"/>
                      </a:lnTo>
                      <a:lnTo>
                        <a:pt x="55761" y="99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8" name="objective_glyph_9"/>
                <p:cNvSpPr/>
                <p:nvPr/>
              </p:nvSpPr>
              <p:spPr>
                <a:xfrm>
                  <a:off x="4041092" y="470415"/>
                  <a:ext cx="20439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439" h="35917">
                      <a:moveTo>
                        <a:pt x="20439" y="11112"/>
                      </a:moveTo>
                      <a:quadBezTo>
                        <a:pt x="20439" y="20439"/>
                        <a:pt x="15081" y="26789"/>
                      </a:quadBezTo>
                      <a:quadBezTo>
                        <a:pt x="9723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708" y="26988"/>
                        <a:pt x="11708" y="19248"/>
                      </a:quadBezTo>
                      <a:quadBezTo>
                        <a:pt x="11708" y="17859"/>
                        <a:pt x="10716" y="16669"/>
                      </a:quadBezTo>
                      <a:quadBezTo>
                        <a:pt x="9723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0914" y="0"/>
                      </a:quadBezTo>
                      <a:quadBezTo>
                        <a:pt x="15081" y="0"/>
                        <a:pt x="17661" y="3175"/>
                      </a:quadBezTo>
                      <a:quadBezTo>
                        <a:pt x="20439" y="6350"/>
                        <a:pt x="20439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69" name="objective_glyph_10"/>
                <p:cNvSpPr/>
                <p:nvPr/>
              </p:nvSpPr>
              <p:spPr>
                <a:xfrm>
                  <a:off x="4088989" y="393422"/>
                  <a:ext cx="85328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5328" h="91480">
                      <a:moveTo>
                        <a:pt x="30559" y="50403"/>
                      </a:moveTo>
                      <a:lnTo>
                        <a:pt x="24408" y="85923"/>
                      </a:lnTo>
                      <a:lnTo>
                        <a:pt x="39092" y="87908"/>
                      </a:lnTo>
                      <a:lnTo>
                        <a:pt x="38298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509" y="85923"/>
                      </a:lnTo>
                      <a:lnTo>
                        <a:pt x="25400" y="5358"/>
                      </a:lnTo>
                      <a:lnTo>
                        <a:pt x="14288" y="3572"/>
                      </a:lnTo>
                      <a:lnTo>
                        <a:pt x="14883" y="0"/>
                      </a:lnTo>
                      <a:lnTo>
                        <a:pt x="85328" y="0"/>
                      </a:lnTo>
                      <a:lnTo>
                        <a:pt x="81558" y="21828"/>
                      </a:lnTo>
                      <a:lnTo>
                        <a:pt x="77192" y="21828"/>
                      </a:lnTo>
                      <a:lnTo>
                        <a:pt x="77589" y="7144"/>
                      </a:lnTo>
                      <a:quadBezTo>
                        <a:pt x="70247" y="6152"/>
                        <a:pt x="56158" y="6152"/>
                      </a:quadBezTo>
                      <a:lnTo>
                        <a:pt x="38298" y="6152"/>
                      </a:lnTo>
                      <a:lnTo>
                        <a:pt x="31552" y="44252"/>
                      </a:lnTo>
                      <a:lnTo>
                        <a:pt x="61317" y="44252"/>
                      </a:lnTo>
                      <a:lnTo>
                        <a:pt x="65286" y="33338"/>
                      </a:lnTo>
                      <a:lnTo>
                        <a:pt x="69255" y="33338"/>
                      </a:lnTo>
                      <a:lnTo>
                        <a:pt x="64492" y="61516"/>
                      </a:lnTo>
                      <a:lnTo>
                        <a:pt x="60325" y="61516"/>
                      </a:lnTo>
                      <a:lnTo>
                        <a:pt x="60127" y="50403"/>
                      </a:lnTo>
                      <a:lnTo>
                        <a:pt x="30559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0" name="objective_glyph_11"/>
                <p:cNvSpPr/>
                <p:nvPr/>
              </p:nvSpPr>
              <p:spPr>
                <a:xfrm>
                  <a:off x="4182107" y="385286"/>
                  <a:ext cx="35123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9381">
                      <a:moveTo>
                        <a:pt x="35123" y="66080"/>
                      </a:moveTo>
                      <a:lnTo>
                        <a:pt x="7144" y="129381"/>
                      </a:lnTo>
                      <a:lnTo>
                        <a:pt x="0" y="129381"/>
                      </a:lnTo>
                      <a:lnTo>
                        <a:pt x="26194" y="64691"/>
                      </a:lnTo>
                      <a:lnTo>
                        <a:pt x="0" y="0"/>
                      </a:lnTo>
                      <a:lnTo>
                        <a:pt x="7144" y="0"/>
                      </a:lnTo>
                      <a:lnTo>
                        <a:pt x="35123" y="63302"/>
                      </a:lnTo>
                      <a:lnTo>
                        <a:pt x="35123" y="660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1" name="objective_glyph_12"/>
                <p:cNvSpPr/>
                <p:nvPr/>
              </p:nvSpPr>
              <p:spPr>
                <a:xfrm>
                  <a:off x="4254253" y="405923"/>
                  <a:ext cx="63500" cy="650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5088">
                      <a:moveTo>
                        <a:pt x="35123" y="36116"/>
                      </a:moveTo>
                      <a:lnTo>
                        <a:pt x="35123" y="65088"/>
                      </a:lnTo>
                      <a:lnTo>
                        <a:pt x="28377" y="65088"/>
                      </a:lnTo>
                      <a:lnTo>
                        <a:pt x="28377" y="36116"/>
                      </a:lnTo>
                      <a:lnTo>
                        <a:pt x="0" y="36116"/>
                      </a:lnTo>
                      <a:lnTo>
                        <a:pt x="0" y="29170"/>
                      </a:lnTo>
                      <a:lnTo>
                        <a:pt x="28377" y="29170"/>
                      </a:lnTo>
                      <a:lnTo>
                        <a:pt x="28377" y="0"/>
                      </a:lnTo>
                      <a:lnTo>
                        <a:pt x="35123" y="0"/>
                      </a:lnTo>
                      <a:lnTo>
                        <a:pt x="35123" y="29170"/>
                      </a:lnTo>
                      <a:lnTo>
                        <a:pt x="63500" y="29170"/>
                      </a:lnTo>
                      <a:lnTo>
                        <a:pt x="63500" y="36116"/>
                      </a:lnTo>
                      <a:lnTo>
                        <a:pt x="35123" y="361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2" name="objective_glyph_13"/>
                <p:cNvSpPr/>
                <p:nvPr/>
              </p:nvSpPr>
              <p:spPr>
                <a:xfrm>
                  <a:off x="4347197" y="419020"/>
                  <a:ext cx="50601" cy="672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602" h="67270">
                      <a:moveTo>
                        <a:pt x="33734" y="0"/>
                      </a:moveTo>
                      <a:quadBezTo>
                        <a:pt x="37902" y="0"/>
                        <a:pt x="42664" y="794"/>
                      </a:quadBezTo>
                      <a:quadBezTo>
                        <a:pt x="47625" y="1389"/>
                        <a:pt x="50602" y="2580"/>
                      </a:quadBezTo>
                      <a:lnTo>
                        <a:pt x="48220" y="15875"/>
                      </a:lnTo>
                      <a:lnTo>
                        <a:pt x="45045" y="15875"/>
                      </a:lnTo>
                      <a:lnTo>
                        <a:pt x="43259" y="7938"/>
                      </a:lnTo>
                      <a:quadBezTo>
                        <a:pt x="41870" y="6945"/>
                        <a:pt x="39092" y="6152"/>
                      </a:quadBezTo>
                      <a:quadBezTo>
                        <a:pt x="36314" y="5358"/>
                        <a:pt x="33338" y="5358"/>
                      </a:quadBezTo>
                      <a:quadBezTo>
                        <a:pt x="26988" y="5358"/>
                        <a:pt x="23019" y="8930"/>
                      </a:quadBezTo>
                      <a:quadBezTo>
                        <a:pt x="19248" y="12303"/>
                        <a:pt x="19248" y="18455"/>
                      </a:quadBezTo>
                      <a:quadBezTo>
                        <a:pt x="19248" y="22027"/>
                        <a:pt x="21034" y="25202"/>
                      </a:quadBezTo>
                      <a:quadBezTo>
                        <a:pt x="22820" y="28178"/>
                        <a:pt x="25202" y="28972"/>
                      </a:quadBezTo>
                      <a:quadBezTo>
                        <a:pt x="33139" y="27781"/>
                        <a:pt x="36909" y="27781"/>
                      </a:quadBezTo>
                      <a:lnTo>
                        <a:pt x="40283" y="27781"/>
                      </a:lnTo>
                      <a:lnTo>
                        <a:pt x="39291" y="34727"/>
                      </a:lnTo>
                      <a:lnTo>
                        <a:pt x="35917" y="34727"/>
                      </a:lnTo>
                      <a:quadBezTo>
                        <a:pt x="33536" y="34727"/>
                        <a:pt x="22622" y="33933"/>
                      </a:quadBezTo>
                      <a:quadBezTo>
                        <a:pt x="17264" y="35520"/>
                        <a:pt x="14486" y="39489"/>
                      </a:quadBezTo>
                      <a:quadBezTo>
                        <a:pt x="11708" y="43259"/>
                        <a:pt x="11708" y="48617"/>
                      </a:quadBezTo>
                      <a:quadBezTo>
                        <a:pt x="11708" y="54372"/>
                        <a:pt x="14883" y="57348"/>
                      </a:quadBezTo>
                      <a:quadBezTo>
                        <a:pt x="18256" y="60127"/>
                        <a:pt x="24011" y="60127"/>
                      </a:quadBezTo>
                      <a:quadBezTo>
                        <a:pt x="34330" y="60127"/>
                        <a:pt x="43458" y="53578"/>
                      </a:quadBezTo>
                      <a:lnTo>
                        <a:pt x="45442" y="56952"/>
                      </a:lnTo>
                      <a:quadBezTo>
                        <a:pt x="34330" y="67270"/>
                        <a:pt x="20638" y="67270"/>
                      </a:quadBezTo>
                      <a:quadBezTo>
                        <a:pt x="10716" y="67270"/>
                        <a:pt x="5358" y="62706"/>
                      </a:quadBezTo>
                      <a:quadBezTo>
                        <a:pt x="0" y="57944"/>
                        <a:pt x="0" y="49609"/>
                      </a:quadBezTo>
                      <a:quadBezTo>
                        <a:pt x="0" y="42466"/>
                        <a:pt x="4762" y="37703"/>
                      </a:quadBezTo>
                      <a:quadBezTo>
                        <a:pt x="9525" y="32742"/>
                        <a:pt x="17462" y="31353"/>
                      </a:quadBezTo>
                      <a:lnTo>
                        <a:pt x="17661" y="30956"/>
                      </a:lnTo>
                      <a:quadBezTo>
                        <a:pt x="13295" y="28972"/>
                        <a:pt x="10517" y="25400"/>
                      </a:quadBezTo>
                      <a:quadBezTo>
                        <a:pt x="7938" y="21630"/>
                        <a:pt x="7938" y="17066"/>
                      </a:quadBezTo>
                      <a:quadBezTo>
                        <a:pt x="7938" y="9128"/>
                        <a:pt x="14883" y="4564"/>
                      </a:quadBezTo>
                      <a:quadBezTo>
                        <a:pt x="21828" y="0"/>
                        <a:pt x="33734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3" name="objective_glyph_14"/>
                <p:cNvSpPr/>
                <p:nvPr/>
              </p:nvSpPr>
              <p:spPr>
                <a:xfrm>
                  <a:off x="4401986" y="393422"/>
                  <a:ext cx="93265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3266" h="91480">
                      <a:moveTo>
                        <a:pt x="86320" y="0"/>
                      </a:moveTo>
                      <a:lnTo>
                        <a:pt x="86320" y="3572"/>
                      </a:lnTo>
                      <a:lnTo>
                        <a:pt x="76002" y="5358"/>
                      </a:lnTo>
                      <a:lnTo>
                        <a:pt x="45442" y="35917"/>
                      </a:lnTo>
                      <a:lnTo>
                        <a:pt x="83542" y="85923"/>
                      </a:lnTo>
                      <a:lnTo>
                        <a:pt x="93266" y="87908"/>
                      </a:lnTo>
                      <a:lnTo>
                        <a:pt x="93266" y="91480"/>
                      </a:lnTo>
                      <a:lnTo>
                        <a:pt x="71438" y="91480"/>
                      </a:lnTo>
                      <a:lnTo>
                        <a:pt x="36314" y="45244"/>
                      </a:lnTo>
                      <a:lnTo>
                        <a:pt x="24408" y="55166"/>
                      </a:lnTo>
                      <a:lnTo>
                        <a:pt x="24408" y="85923"/>
                      </a:lnTo>
                      <a:lnTo>
                        <a:pt x="37108" y="87908"/>
                      </a:lnTo>
                      <a:lnTo>
                        <a:pt x="37108" y="91480"/>
                      </a:lnTo>
                      <a:lnTo>
                        <a:pt x="0" y="91480"/>
                      </a:lnTo>
                      <a:lnTo>
                        <a:pt x="0" y="87908"/>
                      </a:lnTo>
                      <a:lnTo>
                        <a:pt x="11509" y="85923"/>
                      </a:lnTo>
                      <a:lnTo>
                        <a:pt x="11509" y="5358"/>
                      </a:lnTo>
                      <a:lnTo>
                        <a:pt x="0" y="3572"/>
                      </a:lnTo>
                      <a:lnTo>
                        <a:pt x="0" y="0"/>
                      </a:lnTo>
                      <a:lnTo>
                        <a:pt x="35719" y="0"/>
                      </a:lnTo>
                      <a:lnTo>
                        <a:pt x="35719" y="3572"/>
                      </a:lnTo>
                      <a:lnTo>
                        <a:pt x="24408" y="5358"/>
                      </a:lnTo>
                      <a:lnTo>
                        <a:pt x="24408" y="48419"/>
                      </a:lnTo>
                      <a:lnTo>
                        <a:pt x="67072" y="5358"/>
                      </a:lnTo>
                      <a:lnTo>
                        <a:pt x="58142" y="3572"/>
                      </a:lnTo>
                      <a:lnTo>
                        <a:pt x="58142" y="0"/>
                      </a:lnTo>
                      <a:lnTo>
                        <a:pt x="86320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4" name="objective_glyph_15"/>
                <p:cNvSpPr/>
                <p:nvPr/>
              </p:nvSpPr>
              <p:spPr>
                <a:xfrm>
                  <a:off x="4500580" y="393422"/>
                  <a:ext cx="71239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1239" h="91480">
                      <a:moveTo>
                        <a:pt x="38100" y="3572"/>
                      </a:moveTo>
                      <a:lnTo>
                        <a:pt x="24408" y="5358"/>
                      </a:lnTo>
                      <a:lnTo>
                        <a:pt x="24408" y="85527"/>
                      </a:lnTo>
                      <a:lnTo>
                        <a:pt x="41870" y="85527"/>
                      </a:lnTo>
                      <a:quadBezTo>
                        <a:pt x="56158" y="85527"/>
                        <a:pt x="62706" y="84336"/>
                      </a:quadBezTo>
                      <a:lnTo>
                        <a:pt x="66873" y="65286"/>
                      </a:lnTo>
                      <a:lnTo>
                        <a:pt x="71239" y="65286"/>
                      </a:lnTo>
                      <a:lnTo>
                        <a:pt x="70048" y="91480"/>
                      </a:lnTo>
                      <a:lnTo>
                        <a:pt x="0" y="91480"/>
                      </a:lnTo>
                      <a:lnTo>
                        <a:pt x="0" y="87908"/>
                      </a:lnTo>
                      <a:lnTo>
                        <a:pt x="11509" y="85923"/>
                      </a:lnTo>
                      <a:lnTo>
                        <a:pt x="11509" y="5358"/>
                      </a:lnTo>
                      <a:lnTo>
                        <a:pt x="0" y="3572"/>
                      </a:lnTo>
                      <a:lnTo>
                        <a:pt x="0" y="0"/>
                      </a:lnTo>
                      <a:lnTo>
                        <a:pt x="38100" y="0"/>
                      </a:lnTo>
                      <a:lnTo>
                        <a:pt x="38100" y="357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5" name="objective_glyph_16"/>
                <p:cNvSpPr/>
                <p:nvPr/>
              </p:nvSpPr>
              <p:spPr>
                <a:xfrm>
                  <a:off x="4585959" y="38806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12898" y="63103"/>
                      </a:moveTo>
                      <a:quadBezTo>
                        <a:pt x="12898" y="80962"/>
                        <a:pt x="15280" y="91480"/>
                      </a:quadBezTo>
                      <a:quadBezTo>
                        <a:pt x="17661" y="101997"/>
                        <a:pt x="22622" y="109141"/>
                      </a:quadBezTo>
                      <a:quadBezTo>
                        <a:pt x="27583" y="116483"/>
                        <a:pt x="35123" y="120848"/>
                      </a:quadBezTo>
                      <a:lnTo>
                        <a:pt x="35123" y="126603"/>
                      </a:lnTo>
                      <a:quadBezTo>
                        <a:pt x="21828" y="119459"/>
                        <a:pt x="14486" y="110927"/>
                      </a:quadBezTo>
                      <a:quadBezTo>
                        <a:pt x="7144" y="102394"/>
                        <a:pt x="3572" y="90884"/>
                      </a:quadBezTo>
                      <a:quadBezTo>
                        <a:pt x="0" y="79375"/>
                        <a:pt x="0" y="63103"/>
                      </a:quadBezTo>
                      <a:quadBezTo>
                        <a:pt x="0" y="46831"/>
                        <a:pt x="3373" y="35520"/>
                      </a:quadBezTo>
                      <a:quadBezTo>
                        <a:pt x="6945" y="24011"/>
                        <a:pt x="14288" y="15677"/>
                      </a:quadBezTo>
                      <a:quadBezTo>
                        <a:pt x="21828" y="7144"/>
                        <a:pt x="35123" y="0"/>
                      </a:quadBezTo>
                      <a:lnTo>
                        <a:pt x="35123" y="5556"/>
                      </a:lnTo>
                      <a:quadBezTo>
                        <a:pt x="26988" y="10319"/>
                        <a:pt x="22225" y="17859"/>
                      </a:quadBezTo>
                      <a:quadBezTo>
                        <a:pt x="17462" y="25400"/>
                        <a:pt x="15081" y="35322"/>
                      </a:quadBezTo>
                      <a:quadBezTo>
                        <a:pt x="12898" y="45244"/>
                        <a:pt x="12898" y="63103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6" name="objective_glyph_17"/>
                <p:cNvSpPr/>
                <p:nvPr/>
              </p:nvSpPr>
              <p:spPr>
                <a:xfrm>
                  <a:off x="4624676" y="393422"/>
                  <a:ext cx="85328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5328" h="91480">
                      <a:moveTo>
                        <a:pt x="30559" y="50403"/>
                      </a:moveTo>
                      <a:lnTo>
                        <a:pt x="24408" y="85923"/>
                      </a:lnTo>
                      <a:lnTo>
                        <a:pt x="39092" y="87908"/>
                      </a:lnTo>
                      <a:lnTo>
                        <a:pt x="38298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509" y="85923"/>
                      </a:lnTo>
                      <a:lnTo>
                        <a:pt x="25400" y="5358"/>
                      </a:lnTo>
                      <a:lnTo>
                        <a:pt x="14288" y="3572"/>
                      </a:lnTo>
                      <a:lnTo>
                        <a:pt x="14883" y="0"/>
                      </a:lnTo>
                      <a:lnTo>
                        <a:pt x="85328" y="0"/>
                      </a:lnTo>
                      <a:lnTo>
                        <a:pt x="81558" y="21828"/>
                      </a:lnTo>
                      <a:lnTo>
                        <a:pt x="77192" y="21828"/>
                      </a:lnTo>
                      <a:lnTo>
                        <a:pt x="77589" y="7144"/>
                      </a:lnTo>
                      <a:quadBezTo>
                        <a:pt x="70247" y="6152"/>
                        <a:pt x="56158" y="6152"/>
                      </a:quadBezTo>
                      <a:lnTo>
                        <a:pt x="38298" y="6152"/>
                      </a:lnTo>
                      <a:lnTo>
                        <a:pt x="31552" y="44252"/>
                      </a:lnTo>
                      <a:lnTo>
                        <a:pt x="61317" y="44252"/>
                      </a:lnTo>
                      <a:lnTo>
                        <a:pt x="65286" y="33338"/>
                      </a:lnTo>
                      <a:lnTo>
                        <a:pt x="69255" y="33338"/>
                      </a:lnTo>
                      <a:lnTo>
                        <a:pt x="64492" y="61516"/>
                      </a:lnTo>
                      <a:lnTo>
                        <a:pt x="60325" y="61516"/>
                      </a:lnTo>
                      <a:lnTo>
                        <a:pt x="60127" y="50403"/>
                      </a:lnTo>
                      <a:lnTo>
                        <a:pt x="30559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7" name="objective_glyph_18"/>
                <p:cNvSpPr/>
                <p:nvPr/>
              </p:nvSpPr>
              <p:spPr>
                <a:xfrm>
                  <a:off x="4717993" y="388064"/>
                  <a:ext cx="20240" cy="968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241" h="96838">
                      <a:moveTo>
                        <a:pt x="20241" y="96838"/>
                      </a:moveTo>
                      <a:lnTo>
                        <a:pt x="13692" y="96838"/>
                      </a:lnTo>
                      <a:lnTo>
                        <a:pt x="13692" y="0"/>
                      </a:lnTo>
                      <a:lnTo>
                        <a:pt x="20241" y="0"/>
                      </a:lnTo>
                      <a:lnTo>
                        <a:pt x="20241" y="96838"/>
                      </a:lnTo>
                      <a:close/>
                      <a:moveTo>
                        <a:pt x="6548" y="96838"/>
                      </a:moveTo>
                      <a:lnTo>
                        <a:pt x="0" y="96838"/>
                      </a:lnTo>
                      <a:lnTo>
                        <a:pt x="0" y="0"/>
                      </a:lnTo>
                      <a:lnTo>
                        <a:pt x="6548" y="0"/>
                      </a:lnTo>
                      <a:lnTo>
                        <a:pt x="6548" y="96838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8" name="objective_glyph_19"/>
                <p:cNvSpPr/>
                <p:nvPr/>
              </p:nvSpPr>
              <p:spPr>
                <a:xfrm>
                  <a:off x="4780744" y="355600"/>
                  <a:ext cx="43259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3259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486" y="0"/>
                      </a:lnTo>
                      <a:lnTo>
                        <a:pt x="28773" y="0"/>
                      </a:lnTo>
                      <a:lnTo>
                        <a:pt x="43259" y="18653"/>
                      </a:lnTo>
                      <a:lnTo>
                        <a:pt x="43259" y="20836"/>
                      </a:lnTo>
                      <a:lnTo>
                        <a:pt x="39489" y="20836"/>
                      </a:lnTo>
                      <a:lnTo>
                        <a:pt x="21630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79" name="objective_glyph_20"/>
                <p:cNvSpPr/>
                <p:nvPr/>
              </p:nvSpPr>
              <p:spPr>
                <a:xfrm>
                  <a:off x="4746402" y="393422"/>
                  <a:ext cx="85328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5328" h="91480">
                      <a:moveTo>
                        <a:pt x="30559" y="50403"/>
                      </a:moveTo>
                      <a:lnTo>
                        <a:pt x="24408" y="85923"/>
                      </a:lnTo>
                      <a:lnTo>
                        <a:pt x="39092" y="87908"/>
                      </a:lnTo>
                      <a:lnTo>
                        <a:pt x="38298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509" y="85923"/>
                      </a:lnTo>
                      <a:lnTo>
                        <a:pt x="25400" y="5358"/>
                      </a:lnTo>
                      <a:lnTo>
                        <a:pt x="14288" y="3572"/>
                      </a:lnTo>
                      <a:lnTo>
                        <a:pt x="14883" y="0"/>
                      </a:lnTo>
                      <a:lnTo>
                        <a:pt x="85328" y="0"/>
                      </a:lnTo>
                      <a:lnTo>
                        <a:pt x="81558" y="21828"/>
                      </a:lnTo>
                      <a:lnTo>
                        <a:pt x="77192" y="21828"/>
                      </a:lnTo>
                      <a:lnTo>
                        <a:pt x="77589" y="7144"/>
                      </a:lnTo>
                      <a:quadBezTo>
                        <a:pt x="70247" y="6152"/>
                        <a:pt x="56158" y="6152"/>
                      </a:quadBezTo>
                      <a:lnTo>
                        <a:pt x="38298" y="6152"/>
                      </a:lnTo>
                      <a:lnTo>
                        <a:pt x="31552" y="44252"/>
                      </a:lnTo>
                      <a:lnTo>
                        <a:pt x="61317" y="44252"/>
                      </a:lnTo>
                      <a:lnTo>
                        <a:pt x="65286" y="33338"/>
                      </a:lnTo>
                      <a:lnTo>
                        <a:pt x="69255" y="33338"/>
                      </a:lnTo>
                      <a:lnTo>
                        <a:pt x="64492" y="61516"/>
                      </a:lnTo>
                      <a:lnTo>
                        <a:pt x="60325" y="61516"/>
                      </a:lnTo>
                      <a:lnTo>
                        <a:pt x="60127" y="50403"/>
                      </a:lnTo>
                      <a:lnTo>
                        <a:pt x="30559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0" name="objective_glyph_21"/>
                <p:cNvSpPr/>
                <p:nvPr/>
              </p:nvSpPr>
              <p:spPr>
                <a:xfrm>
                  <a:off x="4834956" y="38806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0" y="126603"/>
                      </a:moveTo>
                      <a:lnTo>
                        <a:pt x="0" y="120848"/>
                      </a:lnTo>
                      <a:quadBezTo>
                        <a:pt x="7541" y="116483"/>
                        <a:pt x="12502" y="109141"/>
                      </a:quadBezTo>
                      <a:quadBezTo>
                        <a:pt x="17661" y="101798"/>
                        <a:pt x="19844" y="91281"/>
                      </a:quadBezTo>
                      <a:quadBezTo>
                        <a:pt x="22225" y="80764"/>
                        <a:pt x="22225" y="63103"/>
                      </a:quadBezTo>
                      <a:quadBezTo>
                        <a:pt x="22225" y="45244"/>
                        <a:pt x="20042" y="35322"/>
                      </a:quadBezTo>
                      <a:quadBezTo>
                        <a:pt x="17859" y="25400"/>
                        <a:pt x="12898" y="17859"/>
                      </a:quadBezTo>
                      <a:quadBezTo>
                        <a:pt x="8136" y="10319"/>
                        <a:pt x="0" y="5556"/>
                      </a:quadBezTo>
                      <a:lnTo>
                        <a:pt x="0" y="0"/>
                      </a:lnTo>
                      <a:quadBezTo>
                        <a:pt x="13295" y="7144"/>
                        <a:pt x="20638" y="15677"/>
                      </a:quadBezTo>
                      <a:quadBezTo>
                        <a:pt x="28178" y="24011"/>
                        <a:pt x="31552" y="35520"/>
                      </a:quadBezTo>
                      <a:quadBezTo>
                        <a:pt x="35123" y="46831"/>
                        <a:pt x="35123" y="63103"/>
                      </a:quadBezTo>
                      <a:quadBezTo>
                        <a:pt x="35123" y="79375"/>
                        <a:pt x="31552" y="90884"/>
                      </a:quadBezTo>
                      <a:quadBezTo>
                        <a:pt x="28178" y="102394"/>
                        <a:pt x="20638" y="110728"/>
                      </a:quadBezTo>
                      <a:quadBezTo>
                        <a:pt x="13295" y="119261"/>
                        <a:pt x="0" y="126603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before_F"/>
              <p:cNvSpPr txBox="1"/>
              <p:nvPr/>
            </p:nvSpPr>
            <p:spPr>
              <a:xfrm>
                <a:off x="3479800" y="1092200"/>
                <a:ext cx="2921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̂"/>
                        </ns1:accPr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</ns1:acc>
                    </ns1:oMath>
                  </ns1:oMathPara>
                </ns0:m>
              </a:p>
            </p:txBody>
          </p:sp>
        </mc:Choice>
        <mc:Fallback>
          <p:grpSp>
            <p:nvGrpSpPr>
              <p:cNvPr id="181" name="before_F_compat"/>
              <p:cNvGrpSpPr/>
              <p:nvPr/>
            </p:nvGrpSpPr>
            <p:grpSpPr>
              <a:xfrm>
                <a:off x="3580606" y="1104900"/>
                <a:ext cx="87312" cy="129777"/>
                <a:chOff x="3580606" y="1104900"/>
                <a:chExt cx="87312" cy="129777"/>
              </a:xfrm>
            </p:grpSpPr>
            <p:sp>
              <p:nvSpPr>
                <p:cNvPr id="182" name="before_F_glyph_0"/>
                <p:cNvSpPr/>
                <p:nvPr/>
              </p:nvSpPr>
              <p:spPr>
                <a:xfrm>
                  <a:off x="3615433" y="1104900"/>
                  <a:ext cx="44053" cy="2083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053" h="20836">
                      <a:moveTo>
                        <a:pt x="0" y="20836"/>
                      </a:moveTo>
                      <a:lnTo>
                        <a:pt x="0" y="18653"/>
                      </a:lnTo>
                      <a:lnTo>
                        <a:pt x="14684" y="0"/>
                      </a:lnTo>
                      <a:lnTo>
                        <a:pt x="29369" y="0"/>
                      </a:lnTo>
                      <a:lnTo>
                        <a:pt x="44053" y="18653"/>
                      </a:lnTo>
                      <a:lnTo>
                        <a:pt x="44053" y="20836"/>
                      </a:lnTo>
                      <a:lnTo>
                        <a:pt x="40283" y="20836"/>
                      </a:lnTo>
                      <a:lnTo>
                        <a:pt x="22027" y="8334"/>
                      </a:lnTo>
                      <a:lnTo>
                        <a:pt x="3770" y="20836"/>
                      </a:lnTo>
                      <a:lnTo>
                        <a:pt x="0" y="2083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3" name="before_F_glyph_1"/>
                <p:cNvSpPr/>
                <p:nvPr/>
              </p:nvSpPr>
              <p:spPr>
                <a:xfrm>
                  <a:off x="3580606" y="1143198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after_F"/>
              <p:cNvSpPr txBox="1"/>
              <p:nvPr/>
            </p:nvSpPr>
            <p:spPr>
              <a:xfrm>
                <a:off x="4381500" y="1092200"/>
                <a:ext cx="2921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p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p>
                    </ns1:oMath>
                  </ns1:oMathPara>
                </ns0:m>
              </a:p>
            </p:txBody>
          </p:sp>
        </mc:Choice>
        <mc:Fallback>
          <p:grpSp>
            <p:nvGrpSpPr>
              <p:cNvPr id="184" name="after_F_compat"/>
              <p:cNvGrpSpPr/>
              <p:nvPr/>
            </p:nvGrpSpPr>
            <p:grpSpPr>
              <a:xfrm>
                <a:off x="4444206" y="1111452"/>
                <a:ext cx="148542" cy="119677"/>
                <a:chOff x="4444206" y="1111452"/>
                <a:chExt cx="148542" cy="119677"/>
              </a:xfrm>
            </p:grpSpPr>
            <p:sp>
              <p:nvSpPr>
                <p:cNvPr id="185" name="after_F_glyph_0"/>
                <p:cNvSpPr/>
                <p:nvPr/>
              </p:nvSpPr>
              <p:spPr>
                <a:xfrm>
                  <a:off x="4444206" y="1139650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6" name="after_F_glyph_1"/>
                <p:cNvSpPr/>
                <p:nvPr/>
              </p:nvSpPr>
              <p:spPr>
                <a:xfrm>
                  <a:off x="4546513" y="1111452"/>
                  <a:ext cx="46235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36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1233" y="18256"/>
                      </a:lnTo>
                      <a:lnTo>
                        <a:pt x="18852" y="0"/>
                      </a:lnTo>
                      <a:lnTo>
                        <a:pt x="27583" y="0"/>
                      </a:lnTo>
                      <a:lnTo>
                        <a:pt x="24805" y="18256"/>
                      </a:lnTo>
                      <a:lnTo>
                        <a:pt x="42664" y="7541"/>
                      </a:lnTo>
                      <a:lnTo>
                        <a:pt x="46236" y="15478"/>
                      </a:lnTo>
                      <a:lnTo>
                        <a:pt x="27583" y="21034"/>
                      </a:lnTo>
                      <a:lnTo>
                        <a:pt x="46236" y="26392"/>
                      </a:lnTo>
                      <a:lnTo>
                        <a:pt x="42664" y="34330"/>
                      </a:lnTo>
                      <a:lnTo>
                        <a:pt x="24805" y="23812"/>
                      </a:lnTo>
                      <a:lnTo>
                        <a:pt x="27583" y="41870"/>
                      </a:lnTo>
                      <a:lnTo>
                        <a:pt x="18852" y="41870"/>
                      </a:lnTo>
                      <a:lnTo>
                        <a:pt x="21233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8256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beta_update"/>
              <p:cNvSpPr txBox="1"/>
              <p:nvPr/>
            </p:nvSpPr>
            <p:spPr>
              <a:xfrm>
                <a:off x="101600" y="2197100"/>
                <a:ext cx="1282700" cy="2413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7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β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BA5B20"/>
                          </a:solidFill>
                          <a:latin typeface="Liberation Serif"/>
                        </a:rPr>
                        <ns1:t>←</ns1:t>
                      </ns1:r>
                      <ns1:sSub>
                        <ns1:e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[</ns1:t>
                          </ns1:r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β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+η(</ns1:t>
                          </ns1:r>
                          <ns1:sSub>
                            <ns1:e>
                              <ns1:acc>
                                <ns1:accPr>
                                  <ns1:chr ns1:val="̄"/>
                                </ns1:accPr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070" lang="en-US">
                                      <a:solidFill>
                                        <a:srgbClr val="BA5B20"/>
                                      </a:solidFill>
                                      <a:latin typeface="Liberation Serif"/>
                                    </a:rPr>
                                    <ns1:t>J</ns1:t>
                                  </ns1:r>
                                </ns1:e>
                              </ns1:acc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−</ns1:t>
                          </ns1:r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B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)]</ns1:t>
                          </ns1:r>
                        </ns1:e>
                        <ns1:sub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+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187" name="beta_update_compat"/>
              <p:cNvGrpSpPr/>
              <p:nvPr/>
            </p:nvGrpSpPr>
            <p:grpSpPr>
              <a:xfrm>
                <a:off x="131167" y="2243693"/>
                <a:ext cx="1212130" cy="146384"/>
                <a:chOff x="131167" y="2243693"/>
                <a:chExt cx="1212130" cy="146384"/>
              </a:xfrm>
            </p:grpSpPr>
            <p:sp>
              <p:nvSpPr>
                <p:cNvPr id="188" name="beta_update_glyph_0"/>
                <p:cNvSpPr/>
                <p:nvPr/>
              </p:nvSpPr>
              <p:spPr>
                <a:xfrm>
                  <a:off x="131167" y="2261887"/>
                  <a:ext cx="70048" cy="1281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48" h="128191">
                      <a:moveTo>
                        <a:pt x="48617" y="0"/>
                      </a:moveTo>
                      <a:quadBezTo>
                        <a:pt x="58539" y="0"/>
                        <a:pt x="64294" y="5358"/>
                      </a:quadBezTo>
                      <a:quadBezTo>
                        <a:pt x="70048" y="10716"/>
                        <a:pt x="70048" y="19844"/>
                      </a:quadBezTo>
                      <a:quadBezTo>
                        <a:pt x="70048" y="30361"/>
                        <a:pt x="64492" y="37306"/>
                      </a:quadBezTo>
                      <a:quadBezTo>
                        <a:pt x="58936" y="44252"/>
                        <a:pt x="49411" y="46434"/>
                      </a:quadBezTo>
                      <a:lnTo>
                        <a:pt x="49411" y="47030"/>
                      </a:lnTo>
                      <a:quadBezTo>
                        <a:pt x="56753" y="48617"/>
                        <a:pt x="60920" y="54173"/>
                      </a:quadBezTo>
                      <a:quadBezTo>
                        <a:pt x="65088" y="59730"/>
                        <a:pt x="65088" y="67866"/>
                      </a:quadBezTo>
                      <a:quadBezTo>
                        <a:pt x="65088" y="82550"/>
                        <a:pt x="56555" y="91281"/>
                      </a:quadBezTo>
                      <a:quadBezTo>
                        <a:pt x="48022" y="99814"/>
                        <a:pt x="33536" y="99814"/>
                      </a:quadBezTo>
                      <a:quadBezTo>
                        <a:pt x="28377" y="99814"/>
                        <a:pt x="23812" y="98822"/>
                      </a:quadBezTo>
                      <a:quadBezTo>
                        <a:pt x="19248" y="97830"/>
                        <a:pt x="16470" y="96242"/>
                      </a:quadBezTo>
                      <a:lnTo>
                        <a:pt x="10914" y="128191"/>
                      </a:lnTo>
                      <a:lnTo>
                        <a:pt x="0" y="128191"/>
                      </a:lnTo>
                      <a:lnTo>
                        <a:pt x="16073" y="34330"/>
                      </a:lnTo>
                      <a:quadBezTo>
                        <a:pt x="19050" y="16669"/>
                        <a:pt x="26789" y="8334"/>
                      </a:quadBezTo>
                      <a:quadBezTo>
                        <a:pt x="34528" y="0"/>
                        <a:pt x="48617" y="0"/>
                      </a:quadBezTo>
                      <a:close/>
                      <a:moveTo>
                        <a:pt x="48022" y="5556"/>
                      </a:moveTo>
                      <a:quadBezTo>
                        <a:pt x="41473" y="5556"/>
                        <a:pt x="37703" y="8334"/>
                      </a:quadBezTo>
                      <a:quadBezTo>
                        <a:pt x="34131" y="11112"/>
                        <a:pt x="31552" y="17462"/>
                      </a:quadBezTo>
                      <a:quadBezTo>
                        <a:pt x="28972" y="23614"/>
                        <a:pt x="27186" y="34528"/>
                      </a:quadBezTo>
                      <a:lnTo>
                        <a:pt x="17462" y="90488"/>
                      </a:lnTo>
                      <a:quadBezTo>
                        <a:pt x="19844" y="91877"/>
                        <a:pt x="23812" y="92869"/>
                      </a:quadBezTo>
                      <a:quadBezTo>
                        <a:pt x="27781" y="93861"/>
                        <a:pt x="32147" y="93861"/>
                      </a:quadBezTo>
                      <a:quadBezTo>
                        <a:pt x="41870" y="93861"/>
                        <a:pt x="47625" y="86916"/>
                      </a:quadBezTo>
                      <a:quadBezTo>
                        <a:pt x="53380" y="79772"/>
                        <a:pt x="53380" y="67270"/>
                      </a:quadBezTo>
                      <a:quadBezTo>
                        <a:pt x="53380" y="58738"/>
                        <a:pt x="48816" y="54570"/>
                      </a:quadBezTo>
                      <a:quadBezTo>
                        <a:pt x="44252" y="50205"/>
                        <a:pt x="36314" y="49808"/>
                      </a:quadBezTo>
                      <a:lnTo>
                        <a:pt x="37108" y="44450"/>
                      </a:lnTo>
                      <a:quadBezTo>
                        <a:pt x="47823" y="44450"/>
                        <a:pt x="53380" y="37703"/>
                      </a:quadBezTo>
                      <a:quadBezTo>
                        <a:pt x="59134" y="30758"/>
                        <a:pt x="59134" y="19050"/>
                      </a:quadBezTo>
                      <a:quadBezTo>
                        <a:pt x="59134" y="12700"/>
                        <a:pt x="56158" y="9128"/>
                      </a:quadBezTo>
                      <a:quadBezTo>
                        <a:pt x="53380" y="5556"/>
                        <a:pt x="48022" y="5556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9" name="beta_update_glyph_1"/>
                <p:cNvSpPr/>
                <p:nvPr/>
              </p:nvSpPr>
              <p:spPr>
                <a:xfrm>
                  <a:off x="204520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0" name="beta_update_glyph_2"/>
                <p:cNvSpPr/>
                <p:nvPr/>
              </p:nvSpPr>
              <p:spPr>
                <a:xfrm>
                  <a:off x="301739" y="2320823"/>
                  <a:ext cx="80962" cy="3274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0962" h="32742">
                      <a:moveTo>
                        <a:pt x="14883" y="19248"/>
                      </a:moveTo>
                      <a:quadBezTo>
                        <a:pt x="18852" y="23812"/>
                        <a:pt x="22820" y="32742"/>
                      </a:quadBezTo>
                      <a:lnTo>
                        <a:pt x="18058" y="32742"/>
                      </a:lnTo>
                      <a:quadBezTo>
                        <a:pt x="9723" y="22423"/>
                        <a:pt x="0" y="17462"/>
                      </a:quadBezTo>
                      <a:lnTo>
                        <a:pt x="0" y="15081"/>
                      </a:lnTo>
                      <a:quadBezTo>
                        <a:pt x="9723" y="10120"/>
                        <a:pt x="18058" y="0"/>
                      </a:quadBezTo>
                      <a:lnTo>
                        <a:pt x="22820" y="0"/>
                      </a:lnTo>
                      <a:quadBezTo>
                        <a:pt x="18852" y="8731"/>
                        <a:pt x="14883" y="13295"/>
                      </a:quadBezTo>
                      <a:lnTo>
                        <a:pt x="80962" y="13295"/>
                      </a:lnTo>
                      <a:lnTo>
                        <a:pt x="80962" y="19248"/>
                      </a:lnTo>
                      <a:lnTo>
                        <a:pt x="14883" y="19248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1" name="beta_update_glyph_3"/>
                <p:cNvSpPr/>
                <p:nvPr/>
              </p:nvSpPr>
              <p:spPr>
                <a:xfrm>
                  <a:off x="440322" y="2263474"/>
                  <a:ext cx="30360" cy="1154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361" h="115491">
                      <a:moveTo>
                        <a:pt x="0" y="115491"/>
                      </a:moveTo>
                      <a:lnTo>
                        <a:pt x="0" y="0"/>
                      </a:lnTo>
                      <a:lnTo>
                        <a:pt x="30361" y="0"/>
                      </a:lnTo>
                      <a:lnTo>
                        <a:pt x="30361" y="3175"/>
                      </a:lnTo>
                      <a:lnTo>
                        <a:pt x="10716" y="5953"/>
                      </a:lnTo>
                      <a:lnTo>
                        <a:pt x="10716" y="109538"/>
                      </a:lnTo>
                      <a:lnTo>
                        <a:pt x="30361" y="112316"/>
                      </a:lnTo>
                      <a:lnTo>
                        <a:pt x="30361" y="115491"/>
                      </a:lnTo>
                      <a:lnTo>
                        <a:pt x="0" y="115491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2" name="beta_update_glyph_4"/>
                <p:cNvSpPr/>
                <p:nvPr/>
              </p:nvSpPr>
              <p:spPr>
                <a:xfrm>
                  <a:off x="473483" y="2261887"/>
                  <a:ext cx="70048" cy="1281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48" h="128191">
                      <a:moveTo>
                        <a:pt x="48617" y="0"/>
                      </a:moveTo>
                      <a:quadBezTo>
                        <a:pt x="58539" y="0"/>
                        <a:pt x="64294" y="5358"/>
                      </a:quadBezTo>
                      <a:quadBezTo>
                        <a:pt x="70048" y="10716"/>
                        <a:pt x="70048" y="19844"/>
                      </a:quadBezTo>
                      <a:quadBezTo>
                        <a:pt x="70048" y="30361"/>
                        <a:pt x="64492" y="37306"/>
                      </a:quadBezTo>
                      <a:quadBezTo>
                        <a:pt x="58936" y="44252"/>
                        <a:pt x="49411" y="46434"/>
                      </a:quadBezTo>
                      <a:lnTo>
                        <a:pt x="49411" y="47030"/>
                      </a:lnTo>
                      <a:quadBezTo>
                        <a:pt x="56753" y="48617"/>
                        <a:pt x="60920" y="54173"/>
                      </a:quadBezTo>
                      <a:quadBezTo>
                        <a:pt x="65088" y="59730"/>
                        <a:pt x="65088" y="67866"/>
                      </a:quadBezTo>
                      <a:quadBezTo>
                        <a:pt x="65088" y="82550"/>
                        <a:pt x="56555" y="91281"/>
                      </a:quadBezTo>
                      <a:quadBezTo>
                        <a:pt x="48022" y="99814"/>
                        <a:pt x="33536" y="99814"/>
                      </a:quadBezTo>
                      <a:quadBezTo>
                        <a:pt x="28377" y="99814"/>
                        <a:pt x="23812" y="98822"/>
                      </a:quadBezTo>
                      <a:quadBezTo>
                        <a:pt x="19248" y="97830"/>
                        <a:pt x="16470" y="96242"/>
                      </a:quadBezTo>
                      <a:lnTo>
                        <a:pt x="10914" y="128191"/>
                      </a:lnTo>
                      <a:lnTo>
                        <a:pt x="0" y="128191"/>
                      </a:lnTo>
                      <a:lnTo>
                        <a:pt x="16073" y="34330"/>
                      </a:lnTo>
                      <a:quadBezTo>
                        <a:pt x="19050" y="16669"/>
                        <a:pt x="26789" y="8334"/>
                      </a:quadBezTo>
                      <a:quadBezTo>
                        <a:pt x="34528" y="0"/>
                        <a:pt x="48617" y="0"/>
                      </a:quadBezTo>
                      <a:close/>
                      <a:moveTo>
                        <a:pt x="48022" y="5556"/>
                      </a:moveTo>
                      <a:quadBezTo>
                        <a:pt x="41473" y="5556"/>
                        <a:pt x="37703" y="8334"/>
                      </a:quadBezTo>
                      <a:quadBezTo>
                        <a:pt x="34131" y="11112"/>
                        <a:pt x="31552" y="17462"/>
                      </a:quadBezTo>
                      <a:quadBezTo>
                        <a:pt x="28972" y="23614"/>
                        <a:pt x="27186" y="34528"/>
                      </a:quadBezTo>
                      <a:lnTo>
                        <a:pt x="17462" y="90488"/>
                      </a:lnTo>
                      <a:quadBezTo>
                        <a:pt x="19844" y="91877"/>
                        <a:pt x="23812" y="92869"/>
                      </a:quadBezTo>
                      <a:quadBezTo>
                        <a:pt x="27781" y="93861"/>
                        <a:pt x="32147" y="93861"/>
                      </a:quadBezTo>
                      <a:quadBezTo>
                        <a:pt x="41870" y="93861"/>
                        <a:pt x="47625" y="86916"/>
                      </a:quadBezTo>
                      <a:quadBezTo>
                        <a:pt x="53380" y="79772"/>
                        <a:pt x="53380" y="67270"/>
                      </a:quadBezTo>
                      <a:quadBezTo>
                        <a:pt x="53380" y="58738"/>
                        <a:pt x="48816" y="54570"/>
                      </a:quadBezTo>
                      <a:quadBezTo>
                        <a:pt x="44252" y="50205"/>
                        <a:pt x="36314" y="49808"/>
                      </a:quadBezTo>
                      <a:lnTo>
                        <a:pt x="37108" y="44450"/>
                      </a:lnTo>
                      <a:quadBezTo>
                        <a:pt x="47823" y="44450"/>
                        <a:pt x="53380" y="37703"/>
                      </a:quadBezTo>
                      <a:quadBezTo>
                        <a:pt x="59134" y="30758"/>
                        <a:pt x="59134" y="19050"/>
                      </a:quadBezTo>
                      <a:quadBezTo>
                        <a:pt x="59134" y="12700"/>
                        <a:pt x="56158" y="9128"/>
                      </a:quadBezTo>
                      <a:quadBezTo>
                        <a:pt x="53380" y="5556"/>
                        <a:pt x="48022" y="5556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3" name="beta_update_glyph_5"/>
                <p:cNvSpPr/>
                <p:nvPr/>
              </p:nvSpPr>
              <p:spPr>
                <a:xfrm>
                  <a:off x="546836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4" name="beta_update_glyph_6"/>
                <p:cNvSpPr/>
                <p:nvPr/>
              </p:nvSpPr>
              <p:spPr>
                <a:xfrm>
                  <a:off x="623021" y="2281334"/>
                  <a:ext cx="63500" cy="650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5088">
                      <a:moveTo>
                        <a:pt x="35123" y="36116"/>
                      </a:moveTo>
                      <a:lnTo>
                        <a:pt x="35123" y="65088"/>
                      </a:lnTo>
                      <a:lnTo>
                        <a:pt x="28377" y="65088"/>
                      </a:lnTo>
                      <a:lnTo>
                        <a:pt x="28377" y="36116"/>
                      </a:lnTo>
                      <a:lnTo>
                        <a:pt x="0" y="36116"/>
                      </a:lnTo>
                      <a:lnTo>
                        <a:pt x="0" y="29170"/>
                      </a:lnTo>
                      <a:lnTo>
                        <a:pt x="28377" y="29170"/>
                      </a:lnTo>
                      <a:lnTo>
                        <a:pt x="28377" y="0"/>
                      </a:lnTo>
                      <a:lnTo>
                        <a:pt x="35123" y="0"/>
                      </a:lnTo>
                      <a:lnTo>
                        <a:pt x="35123" y="29170"/>
                      </a:lnTo>
                      <a:lnTo>
                        <a:pt x="63500" y="29170"/>
                      </a:lnTo>
                      <a:lnTo>
                        <a:pt x="63500" y="36116"/>
                      </a:lnTo>
                      <a:lnTo>
                        <a:pt x="35123" y="36116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5" name="beta_update_glyph_7"/>
                <p:cNvSpPr/>
                <p:nvPr/>
              </p:nvSpPr>
              <p:spPr>
                <a:xfrm>
                  <a:off x="717949" y="2294431"/>
                  <a:ext cx="57150" cy="9564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7150" h="95647">
                      <a:moveTo>
                        <a:pt x="46038" y="14883"/>
                      </a:moveTo>
                      <a:quadBezTo>
                        <a:pt x="46038" y="11708"/>
                        <a:pt x="44252" y="9922"/>
                      </a:quadBezTo>
                      <a:quadBezTo>
                        <a:pt x="42466" y="7938"/>
                        <a:pt x="39092" y="7938"/>
                      </a:quadBezTo>
                      <a:quadBezTo>
                        <a:pt x="34131" y="7938"/>
                        <a:pt x="27980" y="12303"/>
                      </a:quadBezTo>
                      <a:quadBezTo>
                        <a:pt x="22027" y="16470"/>
                        <a:pt x="18256" y="22820"/>
                      </a:quadBezTo>
                      <a:lnTo>
                        <a:pt x="10914" y="65881"/>
                      </a:lnTo>
                      <a:lnTo>
                        <a:pt x="0" y="65881"/>
                      </a:lnTo>
                      <a:lnTo>
                        <a:pt x="10120" y="6548"/>
                      </a:lnTo>
                      <a:lnTo>
                        <a:pt x="2183" y="4762"/>
                      </a:lnTo>
                      <a:lnTo>
                        <a:pt x="2778" y="1786"/>
                      </a:lnTo>
                      <a:lnTo>
                        <a:pt x="21233" y="1786"/>
                      </a:lnTo>
                      <a:lnTo>
                        <a:pt x="19447" y="14883"/>
                      </a:lnTo>
                      <a:quadBezTo>
                        <a:pt x="25003" y="7541"/>
                        <a:pt x="31155" y="3770"/>
                      </a:quadBezTo>
                      <a:quadBezTo>
                        <a:pt x="37306" y="0"/>
                        <a:pt x="43259" y="0"/>
                      </a:quadBezTo>
                      <a:quadBezTo>
                        <a:pt x="50006" y="0"/>
                        <a:pt x="53578" y="3770"/>
                      </a:quadBezTo>
                      <a:quadBezTo>
                        <a:pt x="57150" y="7541"/>
                        <a:pt x="57150" y="14486"/>
                      </a:quadBezTo>
                      <a:quadBezTo>
                        <a:pt x="57150" y="16867"/>
                        <a:pt x="55364" y="26392"/>
                      </a:quadBezTo>
                      <a:lnTo>
                        <a:pt x="49609" y="61119"/>
                      </a:lnTo>
                      <a:quadBezTo>
                        <a:pt x="48419" y="67866"/>
                        <a:pt x="47625" y="77192"/>
                      </a:quadBezTo>
                      <a:quadBezTo>
                        <a:pt x="47030" y="86519"/>
                        <a:pt x="47030" y="92670"/>
                      </a:quadBezTo>
                      <a:lnTo>
                        <a:pt x="46434" y="95647"/>
                      </a:lnTo>
                      <a:lnTo>
                        <a:pt x="34727" y="95647"/>
                      </a:lnTo>
                      <a:quadBezTo>
                        <a:pt x="34727" y="88702"/>
                        <a:pt x="35917" y="78780"/>
                      </a:quadBezTo>
                      <a:quadBezTo>
                        <a:pt x="37108" y="69056"/>
                        <a:pt x="38298" y="61912"/>
                      </a:quadBezTo>
                      <a:lnTo>
                        <a:pt x="44450" y="26194"/>
                      </a:lnTo>
                      <a:quadBezTo>
                        <a:pt x="46038" y="17462"/>
                        <a:pt x="46038" y="14883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6" name="beta_update_glyph_8"/>
                <p:cNvSpPr/>
                <p:nvPr/>
              </p:nvSpPr>
              <p:spPr>
                <a:xfrm>
                  <a:off x="786670" y="226347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12898" y="63103"/>
                      </a:moveTo>
                      <a:quadBezTo>
                        <a:pt x="12898" y="80962"/>
                        <a:pt x="15280" y="91480"/>
                      </a:quadBezTo>
                      <a:quadBezTo>
                        <a:pt x="17661" y="101997"/>
                        <a:pt x="22622" y="109141"/>
                      </a:quadBezTo>
                      <a:quadBezTo>
                        <a:pt x="27583" y="116483"/>
                        <a:pt x="35123" y="120848"/>
                      </a:quadBezTo>
                      <a:lnTo>
                        <a:pt x="35123" y="126603"/>
                      </a:lnTo>
                      <a:quadBezTo>
                        <a:pt x="21828" y="119459"/>
                        <a:pt x="14486" y="110927"/>
                      </a:quadBezTo>
                      <a:quadBezTo>
                        <a:pt x="7144" y="102394"/>
                        <a:pt x="3572" y="90884"/>
                      </a:quadBezTo>
                      <a:quadBezTo>
                        <a:pt x="0" y="79375"/>
                        <a:pt x="0" y="63103"/>
                      </a:quadBezTo>
                      <a:quadBezTo>
                        <a:pt x="0" y="46831"/>
                        <a:pt x="3373" y="35520"/>
                      </a:quadBezTo>
                      <a:quadBezTo>
                        <a:pt x="6945" y="24011"/>
                        <a:pt x="14288" y="15677"/>
                      </a:quadBezTo>
                      <a:quadBezTo>
                        <a:pt x="21828" y="7144"/>
                        <a:pt x="35123" y="0"/>
                      </a:quadBezTo>
                      <a:lnTo>
                        <a:pt x="35123" y="5556"/>
                      </a:lnTo>
                      <a:quadBezTo>
                        <a:pt x="26988" y="10319"/>
                        <a:pt x="22225" y="17859"/>
                      </a:quadBezTo>
                      <a:quadBezTo>
                        <a:pt x="17462" y="25400"/>
                        <a:pt x="15081" y="35322"/>
                      </a:quadBezTo>
                      <a:quadBezTo>
                        <a:pt x="12898" y="45244"/>
                        <a:pt x="12898" y="63103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7" name="beta_update_glyph_9"/>
                <p:cNvSpPr/>
                <p:nvPr/>
              </p:nvSpPr>
              <p:spPr>
                <a:xfrm>
                  <a:off x="828166" y="2269093"/>
                  <a:ext cx="63896" cy="928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897" h="92869">
                      <a:moveTo>
                        <a:pt x="40084" y="5358"/>
                      </a:moveTo>
                      <a:lnTo>
                        <a:pt x="28972" y="3572"/>
                      </a:lnTo>
                      <a:lnTo>
                        <a:pt x="29567" y="0"/>
                      </a:lnTo>
                      <a:lnTo>
                        <a:pt x="63897" y="0"/>
                      </a:lnTo>
                      <a:lnTo>
                        <a:pt x="63302" y="3572"/>
                      </a:lnTo>
                      <a:lnTo>
                        <a:pt x="52983" y="5358"/>
                      </a:lnTo>
                      <a:lnTo>
                        <a:pt x="43061" y="61912"/>
                      </a:lnTo>
                      <a:quadBezTo>
                        <a:pt x="37902" y="92869"/>
                        <a:pt x="15875" y="92869"/>
                      </a:quadBezTo>
                      <a:quadBezTo>
                        <a:pt x="11311" y="92869"/>
                        <a:pt x="6945" y="91877"/>
                      </a:quadBezTo>
                      <a:quadBezTo>
                        <a:pt x="2778" y="91083"/>
                        <a:pt x="0" y="89694"/>
                      </a:quadBezTo>
                      <a:lnTo>
                        <a:pt x="2977" y="73819"/>
                      </a:lnTo>
                      <a:lnTo>
                        <a:pt x="7144" y="73819"/>
                      </a:lnTo>
                      <a:lnTo>
                        <a:pt x="7541" y="83344"/>
                      </a:lnTo>
                      <a:quadBezTo>
                        <a:pt x="8334" y="84931"/>
                        <a:pt x="11112" y="85923"/>
                      </a:quadBezTo>
                      <a:quadBezTo>
                        <a:pt x="13891" y="86916"/>
                        <a:pt x="16669" y="86916"/>
                      </a:quadBezTo>
                      <a:quadBezTo>
                        <a:pt x="25995" y="86916"/>
                        <a:pt x="28377" y="74017"/>
                      </a:quadBezTo>
                      <a:lnTo>
                        <a:pt x="40084" y="5358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8" name="beta_update_glyph_10"/>
                <p:cNvSpPr/>
                <p:nvPr/>
              </p:nvSpPr>
              <p:spPr>
                <a:xfrm>
                  <a:off x="891266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99" name="beta_update_glyph_11"/>
                <p:cNvSpPr/>
                <p:nvPr/>
              </p:nvSpPr>
              <p:spPr>
                <a:xfrm>
                  <a:off x="967451" y="2310504"/>
                  <a:ext cx="63500" cy="69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945">
                      <a:moveTo>
                        <a:pt x="63500" y="0"/>
                      </a:moveTo>
                      <a:lnTo>
                        <a:pt x="63500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3500" y="0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0" name="beta_update_glyph_12"/>
                <p:cNvSpPr/>
                <p:nvPr/>
              </p:nvSpPr>
              <p:spPr>
                <a:xfrm>
                  <a:off x="1058609" y="2268832"/>
                  <a:ext cx="79176" cy="918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9177" h="91877">
                      <a:moveTo>
                        <a:pt x="41473" y="40084"/>
                      </a:moveTo>
                      <a:quadBezTo>
                        <a:pt x="54372" y="40084"/>
                        <a:pt x="59730" y="35719"/>
                      </a:quadBezTo>
                      <a:quadBezTo>
                        <a:pt x="65286" y="31155"/>
                        <a:pt x="65286" y="20042"/>
                      </a:quadBezTo>
                      <a:quadBezTo>
                        <a:pt x="65286" y="12898"/>
                        <a:pt x="60920" y="9525"/>
                      </a:quadBezTo>
                      <a:quadBezTo>
                        <a:pt x="56753" y="6152"/>
                        <a:pt x="46831" y="6152"/>
                      </a:quadBezTo>
                      <a:lnTo>
                        <a:pt x="36314" y="6152"/>
                      </a:lnTo>
                      <a:lnTo>
                        <a:pt x="30361" y="40084"/>
                      </a:lnTo>
                      <a:lnTo>
                        <a:pt x="41473" y="40084"/>
                      </a:lnTo>
                      <a:close/>
                      <a:moveTo>
                        <a:pt x="39886" y="85725"/>
                      </a:moveTo>
                      <a:quadBezTo>
                        <a:pt x="52586" y="85725"/>
                        <a:pt x="58539" y="80764"/>
                      </a:quadBezTo>
                      <a:quadBezTo>
                        <a:pt x="64691" y="75605"/>
                        <a:pt x="64691" y="63698"/>
                      </a:quadBezTo>
                      <a:quadBezTo>
                        <a:pt x="64691" y="54570"/>
                        <a:pt x="58738" y="50403"/>
                      </a:quadBezTo>
                      <a:quadBezTo>
                        <a:pt x="52784" y="46236"/>
                        <a:pt x="41672" y="46236"/>
                      </a:quadBezTo>
                      <a:lnTo>
                        <a:pt x="29369" y="46236"/>
                      </a:lnTo>
                      <a:lnTo>
                        <a:pt x="22622" y="85328"/>
                      </a:lnTo>
                      <a:quadBezTo>
                        <a:pt x="32742" y="85725"/>
                        <a:pt x="39886" y="85725"/>
                      </a:quadBezTo>
                      <a:close/>
                      <a:moveTo>
                        <a:pt x="0" y="91480"/>
                      </a:moveTo>
                      <a:lnTo>
                        <a:pt x="794" y="87908"/>
                      </a:lnTo>
                      <a:lnTo>
                        <a:pt x="9525" y="85923"/>
                      </a:lnTo>
                      <a:lnTo>
                        <a:pt x="23614" y="5358"/>
                      </a:lnTo>
                      <a:lnTo>
                        <a:pt x="12303" y="3572"/>
                      </a:lnTo>
                      <a:lnTo>
                        <a:pt x="13097" y="0"/>
                      </a:lnTo>
                      <a:lnTo>
                        <a:pt x="49808" y="0"/>
                      </a:lnTo>
                      <a:quadBezTo>
                        <a:pt x="79177" y="0"/>
                        <a:pt x="79177" y="19248"/>
                      </a:quadBezTo>
                      <a:quadBezTo>
                        <a:pt x="79177" y="28773"/>
                        <a:pt x="73223" y="35123"/>
                      </a:quadBezTo>
                      <a:quadBezTo>
                        <a:pt x="67469" y="41473"/>
                        <a:pt x="56952" y="42862"/>
                      </a:quadBezTo>
                      <a:quadBezTo>
                        <a:pt x="67270" y="43656"/>
                        <a:pt x="72827" y="49212"/>
                      </a:quadBezTo>
                      <a:quadBezTo>
                        <a:pt x="78581" y="54570"/>
                        <a:pt x="78581" y="63500"/>
                      </a:quadBezTo>
                      <a:quadBezTo>
                        <a:pt x="78581" y="78184"/>
                        <a:pt x="68858" y="85130"/>
                      </a:quadBezTo>
                      <a:quadBezTo>
                        <a:pt x="59134" y="91877"/>
                        <a:pt x="39886" y="91877"/>
                      </a:quadBezTo>
                      <a:lnTo>
                        <a:pt x="14288" y="91480"/>
                      </a:lnTo>
                      <a:lnTo>
                        <a:pt x="0" y="91480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1" name="beta_update_glyph_13"/>
                <p:cNvSpPr/>
                <p:nvPr/>
              </p:nvSpPr>
              <p:spPr>
                <a:xfrm>
                  <a:off x="1143988" y="23001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2" name="beta_update_glyph_14"/>
                <p:cNvSpPr/>
                <p:nvPr/>
              </p:nvSpPr>
              <p:spPr>
                <a:xfrm>
                  <a:off x="1198072" y="2263474"/>
                  <a:ext cx="35123" cy="12660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123" h="126603">
                      <a:moveTo>
                        <a:pt x="0" y="126603"/>
                      </a:moveTo>
                      <a:lnTo>
                        <a:pt x="0" y="120848"/>
                      </a:lnTo>
                      <a:quadBezTo>
                        <a:pt x="7541" y="116483"/>
                        <a:pt x="12502" y="109141"/>
                      </a:quadBezTo>
                      <a:quadBezTo>
                        <a:pt x="17661" y="101798"/>
                        <a:pt x="19844" y="91281"/>
                      </a:quadBezTo>
                      <a:quadBezTo>
                        <a:pt x="22225" y="80764"/>
                        <a:pt x="22225" y="63103"/>
                      </a:quadBezTo>
                      <a:quadBezTo>
                        <a:pt x="22225" y="45244"/>
                        <a:pt x="20042" y="35322"/>
                      </a:quadBezTo>
                      <a:quadBezTo>
                        <a:pt x="17859" y="25400"/>
                        <a:pt x="12898" y="17859"/>
                      </a:quadBezTo>
                      <a:quadBezTo>
                        <a:pt x="8136" y="10319"/>
                        <a:pt x="0" y="5556"/>
                      </a:quadBezTo>
                      <a:lnTo>
                        <a:pt x="0" y="0"/>
                      </a:lnTo>
                      <a:quadBezTo>
                        <a:pt x="13295" y="7144"/>
                        <a:pt x="20638" y="15677"/>
                      </a:quadBezTo>
                      <a:quadBezTo>
                        <a:pt x="28178" y="24011"/>
                        <a:pt x="31552" y="35520"/>
                      </a:quadBezTo>
                      <a:quadBezTo>
                        <a:pt x="35123" y="46831"/>
                        <a:pt x="35123" y="63103"/>
                      </a:quadBezTo>
                      <a:quadBezTo>
                        <a:pt x="35123" y="79375"/>
                        <a:pt x="31552" y="90884"/>
                      </a:quadBezTo>
                      <a:quadBezTo>
                        <a:pt x="28178" y="102394"/>
                        <a:pt x="20638" y="110728"/>
                      </a:quadBezTo>
                      <a:quadBezTo>
                        <a:pt x="13295" y="119261"/>
                        <a:pt x="0" y="126603"/>
                      </a:quadBez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3" name="beta_update_glyph_15"/>
                <p:cNvSpPr/>
                <p:nvPr/>
              </p:nvSpPr>
              <p:spPr>
                <a:xfrm>
                  <a:off x="1244131" y="2263474"/>
                  <a:ext cx="30360" cy="1154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361" h="115491">
                      <a:moveTo>
                        <a:pt x="0" y="115491"/>
                      </a:moveTo>
                      <a:lnTo>
                        <a:pt x="0" y="112316"/>
                      </a:lnTo>
                      <a:lnTo>
                        <a:pt x="19844" y="109538"/>
                      </a:lnTo>
                      <a:lnTo>
                        <a:pt x="19844" y="5953"/>
                      </a:lnTo>
                      <a:lnTo>
                        <a:pt x="0" y="3175"/>
                      </a:lnTo>
                      <a:lnTo>
                        <a:pt x="0" y="0"/>
                      </a:lnTo>
                      <a:lnTo>
                        <a:pt x="30361" y="0"/>
                      </a:lnTo>
                      <a:lnTo>
                        <a:pt x="30361" y="115491"/>
                      </a:lnTo>
                      <a:lnTo>
                        <a:pt x="0" y="115491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4" name="beta_update_glyph_16"/>
                <p:cNvSpPr/>
                <p:nvPr/>
              </p:nvSpPr>
              <p:spPr>
                <a:xfrm>
                  <a:off x="1291505" y="2315048"/>
                  <a:ext cx="51792" cy="531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792" h="53181">
                      <a:moveTo>
                        <a:pt x="28575" y="29369"/>
                      </a:moveTo>
                      <a:lnTo>
                        <a:pt x="28575" y="53181"/>
                      </a:lnTo>
                      <a:lnTo>
                        <a:pt x="23019" y="53181"/>
                      </a:lnTo>
                      <a:lnTo>
                        <a:pt x="23019" y="29369"/>
                      </a:lnTo>
                      <a:lnTo>
                        <a:pt x="0" y="29369"/>
                      </a:lnTo>
                      <a:lnTo>
                        <a:pt x="0" y="23614"/>
                      </a:lnTo>
                      <a:lnTo>
                        <a:pt x="23019" y="23614"/>
                      </a:lnTo>
                      <a:lnTo>
                        <a:pt x="23019" y="0"/>
                      </a:lnTo>
                      <a:lnTo>
                        <a:pt x="28575" y="0"/>
                      </a:lnTo>
                      <a:lnTo>
                        <a:pt x="28575" y="23614"/>
                      </a:lnTo>
                      <a:lnTo>
                        <a:pt x="51792" y="23614"/>
                      </a:lnTo>
                      <a:lnTo>
                        <a:pt x="51792" y="29369"/>
                      </a:lnTo>
                      <a:lnTo>
                        <a:pt x="28575" y="293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5" name="beta_update_rule0"/>
                <p:cNvSpPr/>
                <p:nvPr/>
              </p:nvSpPr>
              <p:spPr>
                <a:xfrm>
                  <a:off x="826181" y="2243693"/>
                  <a:ext cx="60596" cy="8493"/>
                </a:xfrm>
                <a:prstGeom prst="rect">
                  <a:avLst/>
                </a:pr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lambda_out"/>
              <p:cNvSpPr txBox="1"/>
              <p:nvPr/>
            </p:nvSpPr>
            <p:spPr>
              <a:xfrm>
                <a:off x="1841500" y="2209800"/>
                <a:ext cx="774700" cy="2159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7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λ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=</ns1:t>
                      </ns1:r>
                      <ns1:sSubSup>
                        <ns1:e>
                          <ns1:acc>
                            <ns1:accPr>
                              <ns1:chr ns1:val="̄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+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β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206" name="lambda_out_compat"/>
              <p:cNvGrpSpPr/>
              <p:nvPr/>
            </p:nvGrpSpPr>
            <p:grpSpPr>
              <a:xfrm>
                <a:off x="1927026" y="2229052"/>
                <a:ext cx="586880" cy="171204"/>
                <a:chOff x="1927026" y="2229052"/>
                <a:chExt cx="586880" cy="171204"/>
              </a:xfrm>
            </p:grpSpPr>
            <p:sp>
              <p:nvSpPr>
                <p:cNvPr id="207" name="lambda_out_glyph_0"/>
                <p:cNvSpPr/>
                <p:nvPr/>
              </p:nvSpPr>
              <p:spPr>
                <a:xfrm>
                  <a:off x="1927026" y="2269783"/>
                  <a:ext cx="59134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98425">
                      <a:moveTo>
                        <a:pt x="26591" y="6548"/>
                      </a:moveTo>
                      <a:quadBezTo>
                        <a:pt x="24408" y="6548"/>
                        <a:pt x="22225" y="7342"/>
                      </a:quadBezTo>
                      <a:lnTo>
                        <a:pt x="19050" y="12898"/>
                      </a:lnTo>
                      <a:lnTo>
                        <a:pt x="15875" y="12898"/>
                      </a:lnTo>
                      <a:lnTo>
                        <a:pt x="17264" y="1588"/>
                      </a:lnTo>
                      <a:quadBezTo>
                        <a:pt x="22423" y="0"/>
                        <a:pt x="27186" y="0"/>
                      </a:quadBezTo>
                      <a:quadBezTo>
                        <a:pt x="31750" y="0"/>
                        <a:pt x="34528" y="1786"/>
                      </a:quadBezTo>
                      <a:quadBezTo>
                        <a:pt x="37306" y="3572"/>
                        <a:pt x="39092" y="7541"/>
                      </a:quadBezTo>
                      <a:quadBezTo>
                        <a:pt x="40878" y="11509"/>
                        <a:pt x="42069" y="19844"/>
                      </a:quadBezTo>
                      <a:lnTo>
                        <a:pt x="52586" y="88305"/>
                      </a:lnTo>
                      <a:quadBezTo>
                        <a:pt x="53380" y="93464"/>
                        <a:pt x="59134" y="95448"/>
                      </a:quadBezTo>
                      <a:lnTo>
                        <a:pt x="58539" y="98425"/>
                      </a:lnTo>
                      <a:lnTo>
                        <a:pt x="45442" y="98425"/>
                      </a:lnTo>
                      <a:lnTo>
                        <a:pt x="39092" y="48220"/>
                      </a:lnTo>
                      <a:quadBezTo>
                        <a:pt x="37703" y="51197"/>
                        <a:pt x="35123" y="56158"/>
                      </a:quadBezTo>
                      <a:quadBezTo>
                        <a:pt x="32544" y="60920"/>
                        <a:pt x="31155" y="63698"/>
                      </a:quadBezTo>
                      <a:lnTo>
                        <a:pt x="11509" y="98425"/>
                      </a:lnTo>
                      <a:lnTo>
                        <a:pt x="0" y="98425"/>
                      </a:lnTo>
                      <a:lnTo>
                        <a:pt x="595" y="95448"/>
                      </a:lnTo>
                      <a:lnTo>
                        <a:pt x="37306" y="33536"/>
                      </a:lnTo>
                      <a:lnTo>
                        <a:pt x="35719" y="21828"/>
                      </a:lnTo>
                      <a:quadBezTo>
                        <a:pt x="34528" y="13494"/>
                        <a:pt x="32345" y="10120"/>
                      </a:quadBezTo>
                      <a:quadBezTo>
                        <a:pt x="30162" y="6548"/>
                        <a:pt x="26591" y="654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8" name="lambda_out_glyph_1"/>
                <p:cNvSpPr/>
                <p:nvPr/>
              </p:nvSpPr>
              <p:spPr>
                <a:xfrm>
                  <a:off x="1992704" y="2308062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9" name="lambda_out_glyph_2"/>
                <p:cNvSpPr/>
                <p:nvPr/>
              </p:nvSpPr>
              <p:spPr>
                <a:xfrm>
                  <a:off x="2068889" y="2304311"/>
                  <a:ext cx="63500" cy="349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34925">
                      <a:moveTo>
                        <a:pt x="63500" y="27980"/>
                      </a:moveTo>
                      <a:lnTo>
                        <a:pt x="63500" y="34925"/>
                      </a:lnTo>
                      <a:lnTo>
                        <a:pt x="0" y="34925"/>
                      </a:lnTo>
                      <a:lnTo>
                        <a:pt x="0" y="27980"/>
                      </a:lnTo>
                      <a:lnTo>
                        <a:pt x="63500" y="27980"/>
                      </a:lnTo>
                      <a:close/>
                      <a:moveTo>
                        <a:pt x="63500" y="0"/>
                      </a:moveTo>
                      <a:lnTo>
                        <a:pt x="63500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3500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0" name="lambda_out_glyph_3"/>
                <p:cNvSpPr/>
                <p:nvPr/>
              </p:nvSpPr>
              <p:spPr>
                <a:xfrm>
                  <a:off x="2155482" y="2270044"/>
                  <a:ext cx="59134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98425">
                      <a:moveTo>
                        <a:pt x="26591" y="6548"/>
                      </a:moveTo>
                      <a:quadBezTo>
                        <a:pt x="24408" y="6548"/>
                        <a:pt x="22225" y="7342"/>
                      </a:quadBezTo>
                      <a:lnTo>
                        <a:pt x="19050" y="12898"/>
                      </a:lnTo>
                      <a:lnTo>
                        <a:pt x="15875" y="12898"/>
                      </a:lnTo>
                      <a:lnTo>
                        <a:pt x="17264" y="1588"/>
                      </a:lnTo>
                      <a:quadBezTo>
                        <a:pt x="22423" y="0"/>
                        <a:pt x="27186" y="0"/>
                      </a:quadBezTo>
                      <a:quadBezTo>
                        <a:pt x="31750" y="0"/>
                        <a:pt x="34528" y="1786"/>
                      </a:quadBezTo>
                      <a:quadBezTo>
                        <a:pt x="37306" y="3572"/>
                        <a:pt x="39092" y="7541"/>
                      </a:quadBezTo>
                      <a:quadBezTo>
                        <a:pt x="40878" y="11509"/>
                        <a:pt x="42069" y="19844"/>
                      </a:quadBezTo>
                      <a:lnTo>
                        <a:pt x="52586" y="88305"/>
                      </a:lnTo>
                      <a:quadBezTo>
                        <a:pt x="53380" y="93464"/>
                        <a:pt x="59134" y="95448"/>
                      </a:quadBezTo>
                      <a:lnTo>
                        <a:pt x="58539" y="98425"/>
                      </a:lnTo>
                      <a:lnTo>
                        <a:pt x="45442" y="98425"/>
                      </a:lnTo>
                      <a:lnTo>
                        <a:pt x="39092" y="48220"/>
                      </a:lnTo>
                      <a:quadBezTo>
                        <a:pt x="37703" y="51197"/>
                        <a:pt x="35123" y="56158"/>
                      </a:quadBezTo>
                      <a:quadBezTo>
                        <a:pt x="32544" y="60920"/>
                        <a:pt x="31155" y="63698"/>
                      </a:quadBezTo>
                      <a:lnTo>
                        <a:pt x="11509" y="98425"/>
                      </a:lnTo>
                      <a:lnTo>
                        <a:pt x="0" y="98425"/>
                      </a:lnTo>
                      <a:lnTo>
                        <a:pt x="595" y="95448"/>
                      </a:lnTo>
                      <a:lnTo>
                        <a:pt x="37306" y="33536"/>
                      </a:lnTo>
                      <a:lnTo>
                        <a:pt x="35719" y="21828"/>
                      </a:lnTo>
                      <a:quadBezTo>
                        <a:pt x="34528" y="13494"/>
                        <a:pt x="32345" y="10120"/>
                      </a:quadBezTo>
                      <a:quadBezTo>
                        <a:pt x="30162" y="6548"/>
                        <a:pt x="26591" y="654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1" name="lambda_out_glyph_4"/>
                <p:cNvSpPr/>
                <p:nvPr/>
              </p:nvSpPr>
              <p:spPr>
                <a:xfrm>
                  <a:off x="2224657" y="2229052"/>
                  <a:ext cx="44846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4847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0638" y="18256"/>
                      </a:lnTo>
                      <a:lnTo>
                        <a:pt x="18256" y="0"/>
                      </a:lnTo>
                      <a:lnTo>
                        <a:pt x="26789" y="0"/>
                      </a:lnTo>
                      <a:lnTo>
                        <a:pt x="24209" y="18256"/>
                      </a:lnTo>
                      <a:lnTo>
                        <a:pt x="41473" y="7541"/>
                      </a:lnTo>
                      <a:lnTo>
                        <a:pt x="44847" y="15478"/>
                      </a:lnTo>
                      <a:lnTo>
                        <a:pt x="26789" y="21034"/>
                      </a:lnTo>
                      <a:lnTo>
                        <a:pt x="44847" y="26392"/>
                      </a:lnTo>
                      <a:lnTo>
                        <a:pt x="41473" y="34330"/>
                      </a:lnTo>
                      <a:lnTo>
                        <a:pt x="24209" y="23812"/>
                      </a:lnTo>
                      <a:lnTo>
                        <a:pt x="26789" y="41870"/>
                      </a:lnTo>
                      <a:lnTo>
                        <a:pt x="18256" y="41870"/>
                      </a:lnTo>
                      <a:lnTo>
                        <a:pt x="20638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7859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2" name="lambda_out_glyph_5"/>
                <p:cNvSpPr/>
                <p:nvPr/>
              </p:nvSpPr>
              <p:spPr>
                <a:xfrm>
                  <a:off x="2222475" y="2320881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3" name="lambda_out_glyph_6"/>
                <p:cNvSpPr/>
                <p:nvPr/>
              </p:nvSpPr>
              <p:spPr>
                <a:xfrm>
                  <a:off x="2304945" y="2289230"/>
                  <a:ext cx="63500" cy="6508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5088">
                      <a:moveTo>
                        <a:pt x="35123" y="36116"/>
                      </a:moveTo>
                      <a:lnTo>
                        <a:pt x="35123" y="65088"/>
                      </a:lnTo>
                      <a:lnTo>
                        <a:pt x="28377" y="65088"/>
                      </a:lnTo>
                      <a:lnTo>
                        <a:pt x="28377" y="36116"/>
                      </a:lnTo>
                      <a:lnTo>
                        <a:pt x="0" y="36116"/>
                      </a:lnTo>
                      <a:lnTo>
                        <a:pt x="0" y="29170"/>
                      </a:lnTo>
                      <a:lnTo>
                        <a:pt x="28377" y="29170"/>
                      </a:lnTo>
                      <a:lnTo>
                        <a:pt x="28377" y="0"/>
                      </a:lnTo>
                      <a:lnTo>
                        <a:pt x="35123" y="0"/>
                      </a:lnTo>
                      <a:lnTo>
                        <a:pt x="35123" y="29170"/>
                      </a:lnTo>
                      <a:lnTo>
                        <a:pt x="63500" y="29170"/>
                      </a:lnTo>
                      <a:lnTo>
                        <a:pt x="63500" y="36116"/>
                      </a:lnTo>
                      <a:lnTo>
                        <a:pt x="35123" y="361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4" name="lambda_out_glyph_7"/>
                <p:cNvSpPr/>
                <p:nvPr/>
              </p:nvSpPr>
              <p:spPr>
                <a:xfrm>
                  <a:off x="2392730" y="2269783"/>
                  <a:ext cx="70048" cy="12819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0048" h="128191">
                      <a:moveTo>
                        <a:pt x="48617" y="0"/>
                      </a:moveTo>
                      <a:quadBezTo>
                        <a:pt x="58539" y="0"/>
                        <a:pt x="64294" y="5358"/>
                      </a:quadBezTo>
                      <a:quadBezTo>
                        <a:pt x="70048" y="10716"/>
                        <a:pt x="70048" y="19844"/>
                      </a:quadBezTo>
                      <a:quadBezTo>
                        <a:pt x="70048" y="30361"/>
                        <a:pt x="64492" y="37306"/>
                      </a:quadBezTo>
                      <a:quadBezTo>
                        <a:pt x="58936" y="44252"/>
                        <a:pt x="49411" y="46434"/>
                      </a:quadBezTo>
                      <a:lnTo>
                        <a:pt x="49411" y="47030"/>
                      </a:lnTo>
                      <a:quadBezTo>
                        <a:pt x="56753" y="48617"/>
                        <a:pt x="60920" y="54173"/>
                      </a:quadBezTo>
                      <a:quadBezTo>
                        <a:pt x="65088" y="59730"/>
                        <a:pt x="65088" y="67866"/>
                      </a:quadBezTo>
                      <a:quadBezTo>
                        <a:pt x="65088" y="82550"/>
                        <a:pt x="56555" y="91281"/>
                      </a:quadBezTo>
                      <a:quadBezTo>
                        <a:pt x="48022" y="99814"/>
                        <a:pt x="33536" y="99814"/>
                      </a:quadBezTo>
                      <a:quadBezTo>
                        <a:pt x="28377" y="99814"/>
                        <a:pt x="23812" y="98822"/>
                      </a:quadBezTo>
                      <a:quadBezTo>
                        <a:pt x="19248" y="97830"/>
                        <a:pt x="16470" y="96242"/>
                      </a:quadBezTo>
                      <a:lnTo>
                        <a:pt x="10914" y="128191"/>
                      </a:lnTo>
                      <a:lnTo>
                        <a:pt x="0" y="128191"/>
                      </a:lnTo>
                      <a:lnTo>
                        <a:pt x="16073" y="34330"/>
                      </a:lnTo>
                      <a:quadBezTo>
                        <a:pt x="19050" y="16669"/>
                        <a:pt x="26789" y="8334"/>
                      </a:quadBezTo>
                      <a:quadBezTo>
                        <a:pt x="34528" y="0"/>
                        <a:pt x="48617" y="0"/>
                      </a:quadBezTo>
                      <a:close/>
                      <a:moveTo>
                        <a:pt x="48022" y="5556"/>
                      </a:moveTo>
                      <a:quadBezTo>
                        <a:pt x="41473" y="5556"/>
                        <a:pt x="37703" y="8334"/>
                      </a:quadBezTo>
                      <a:quadBezTo>
                        <a:pt x="34131" y="11112"/>
                        <a:pt x="31552" y="17462"/>
                      </a:quadBezTo>
                      <a:quadBezTo>
                        <a:pt x="28972" y="23614"/>
                        <a:pt x="27186" y="34528"/>
                      </a:quadBezTo>
                      <a:lnTo>
                        <a:pt x="17462" y="90488"/>
                      </a:lnTo>
                      <a:quadBezTo>
                        <a:pt x="19844" y="91877"/>
                        <a:pt x="23812" y="92869"/>
                      </a:quadBezTo>
                      <a:quadBezTo>
                        <a:pt x="27781" y="93861"/>
                        <a:pt x="32147" y="93861"/>
                      </a:quadBezTo>
                      <a:quadBezTo>
                        <a:pt x="41870" y="93861"/>
                        <a:pt x="47625" y="86916"/>
                      </a:quadBezTo>
                      <a:quadBezTo>
                        <a:pt x="53380" y="79772"/>
                        <a:pt x="53380" y="67270"/>
                      </a:quadBezTo>
                      <a:quadBezTo>
                        <a:pt x="53380" y="58738"/>
                        <a:pt x="48816" y="54570"/>
                      </a:quadBezTo>
                      <a:quadBezTo>
                        <a:pt x="44252" y="50205"/>
                        <a:pt x="36314" y="49808"/>
                      </a:quadBezTo>
                      <a:lnTo>
                        <a:pt x="37108" y="44450"/>
                      </a:lnTo>
                      <a:quadBezTo>
                        <a:pt x="47823" y="44450"/>
                        <a:pt x="53380" y="37703"/>
                      </a:quadBezTo>
                      <a:quadBezTo>
                        <a:pt x="59134" y="30758"/>
                        <a:pt x="59134" y="19050"/>
                      </a:quadBezTo>
                      <a:quadBezTo>
                        <a:pt x="59134" y="12700"/>
                        <a:pt x="56158" y="9128"/>
                      </a:quadBezTo>
                      <a:quadBezTo>
                        <a:pt x="53380" y="5556"/>
                        <a:pt x="48022" y="5556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5" name="lambda_out_glyph_8"/>
                <p:cNvSpPr/>
                <p:nvPr/>
              </p:nvSpPr>
              <p:spPr>
                <a:xfrm>
                  <a:off x="2466083" y="2308062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6" name="lambda_out_rule0"/>
                <p:cNvSpPr/>
                <p:nvPr/>
              </p:nvSpPr>
              <p:spPr>
                <a:xfrm>
                  <a:off x="2158856" y="2244644"/>
                  <a:ext cx="59129" cy="8493"/>
                </a:xfrm>
                <a:prstGeom prst="rect">
                  <a:avLst/>
                </a:pr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advantage"/>
              <p:cNvSpPr txBox="1"/>
              <p:nvPr/>
            </p:nvSpPr>
            <p:spPr>
              <a:xfrm>
                <a:off x="2717800" y="2108200"/>
                <a:ext cx="1193800" cy="3810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5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̃"/>
                        </ns1:accPr>
                        <ns1:e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A</ns1:t>
                          </ns1:r>
                        </ns1:e>
                      </ns1:acc>
                      <ns1:r>
                        <ns1:rPr>
                          <ns1:nor/>
                          <ns1:sty ns1:val="p"/>
                        </ns1:rPr>
                        <a:rPr sz="115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=</ns1:t>
                      </ns1:r>
                      <ns1:f>
                        <ns1:num>
                          <ns1:sSub>
                            <ns1:e>
                              <ns1:acc>
                                <ns1:accPr>
                                  <ns1:chr ns1:val="̂"/>
                                </ns1:accPr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A</ns1:t>
                                  </ns1:r>
                                </ns1:e>
                              </ns1:acc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r</ns1:t>
                              </ns1:r>
                            </ns1:sub>
                          </ns1:sSub>
                          <ns1:r>
                            <ns1:rPr>
                              <ns1:nor/>
                              <ns1:sty ns1:val="p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−</ns1:t>
                          </ns1:r>
                          <ns1:sSub>
                            <ns1:e>
                              <ns1:r>
                                <ns1:rPr>
                                  <ns1:nor/>
                                  <ns1:sty ns1:val="p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∑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sSub>
                            <ns1:e>
                              <ns1:acc>
                                <ns1:accPr>
                                  <ns1:chr ns1:val="̂"/>
                                </ns1:accPr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A</ns1:t>
                                  </ns1:r>
                                </ns1:e>
                              </ns1:acc>
                            </ns1:e>
                            <ns1:sub>
                              <ns1:sSub>
                                <ns1:e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c</ns1:t>
                                  </ns1:r>
                                </ns1:e>
                                <ns1:sub>
                                  <ns1:r>
                                    <ns1:rPr>
                                      <ns1:sty ns1:val="i"/>
                                    </ns1:rPr>
                                    <a:rPr sz="1150" lang="en-US">
                                      <a:solidFill>
                                        <a:srgbClr val="24343D"/>
                                      </a:solidFill>
                                      <a:latin typeface="Liberation Serif"/>
                                    </a:rPr>
                                    <ns1:t>k</ns1:t>
                                  </ns1:r>
                                </ns1:sub>
                              </ns1:sSub>
                            </ns1:sub>
                          </ns1:sSub>
                        </ns1:num>
                        <ns1:den>
                          <ns1:r>
                            <ns1:rPr>
                              <ns1:nor/>
                              <ns1:sty ns1:val="p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1+</ns1:t>
                          </ns1:r>
                          <ns1:sSub>
                            <ns1:e>
                              <ns1:r>
                                <ns1:rPr>
                                  <ns1:nor/>
                                  <ns1:sty ns1:val="p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∑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  <ns1:sSub>
                            <ns1:e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  <ns1:sub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k</ns1:t>
                              </ns1:r>
                            </ns1:sub>
                          </ns1:sSub>
                        </ns1:den>
                      </ns1:f>
                    </ns1:oMath>
                  </ns1:oMathPara>
                </ns0:m>
              </a:p>
            </p:txBody>
          </p:sp>
        </mc:Choice>
        <mc:Fallback>
          <p:grpSp>
            <p:nvGrpSpPr>
              <p:cNvPr id="217" name="advantage_compat"/>
              <p:cNvGrpSpPr/>
              <p:nvPr/>
            </p:nvGrpSpPr>
            <p:grpSpPr>
              <a:xfrm>
                <a:off x="2817812" y="2108200"/>
                <a:ext cx="962912" cy="365270"/>
                <a:chOff x="2817812" y="2108200"/>
                <a:chExt cx="962912" cy="365270"/>
              </a:xfrm>
            </p:grpSpPr>
            <p:sp>
              <p:nvSpPr>
                <p:cNvPr id="218" name="advantage_glyph_0"/>
                <p:cNvSpPr/>
                <p:nvPr/>
              </p:nvSpPr>
              <p:spPr>
                <a:xfrm>
                  <a:off x="2835353" y="2224432"/>
                  <a:ext cx="88503" cy="1349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8503" h="13494">
                      <a:moveTo>
                        <a:pt x="86122" y="0"/>
                      </a:moveTo>
                      <a:lnTo>
                        <a:pt x="88503" y="0"/>
                      </a:lnTo>
                      <a:quadBezTo>
                        <a:pt x="86122" y="13494"/>
                        <a:pt x="68064" y="13494"/>
                      </a:quadBezTo>
                      <a:quadBezTo>
                        <a:pt x="63698" y="13494"/>
                        <a:pt x="60325" y="13097"/>
                      </a:quadBezTo>
                      <a:quadBezTo>
                        <a:pt x="56952" y="12700"/>
                        <a:pt x="54967" y="12303"/>
                      </a:quadBezTo>
                      <a:quadBezTo>
                        <a:pt x="52784" y="11906"/>
                        <a:pt x="47030" y="10517"/>
                      </a:quadBezTo>
                      <a:quadBezTo>
                        <a:pt x="41275" y="9128"/>
                        <a:pt x="36116" y="8136"/>
                      </a:quadBezTo>
                      <a:quadBezTo>
                        <a:pt x="23019" y="5358"/>
                        <a:pt x="18058" y="5358"/>
                      </a:quadBezTo>
                      <a:quadBezTo>
                        <a:pt x="4961" y="5358"/>
                        <a:pt x="2183" y="13494"/>
                      </a:quadBezTo>
                      <a:lnTo>
                        <a:pt x="0" y="13494"/>
                      </a:lnTo>
                      <a:quadBezTo>
                        <a:pt x="2381" y="0"/>
                        <a:pt x="19447" y="0"/>
                      </a:quadBezTo>
                      <a:quadBezTo>
                        <a:pt x="27583" y="0"/>
                        <a:pt x="51594" y="5358"/>
                      </a:quadBezTo>
                      <a:quadBezTo>
                        <a:pt x="63897" y="8136"/>
                        <a:pt x="70247" y="8136"/>
                      </a:quadBezTo>
                      <a:quadBezTo>
                        <a:pt x="84138" y="8136"/>
                        <a:pt x="86122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19" name="advantage_glyph_1"/>
                <p:cNvSpPr/>
                <p:nvPr/>
              </p:nvSpPr>
              <p:spPr>
                <a:xfrm>
                  <a:off x="2817812" y="2256182"/>
                  <a:ext cx="97631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7631" h="100608">
                      <a:moveTo>
                        <a:pt x="26789" y="96639"/>
                      </a:moveTo>
                      <a:lnTo>
                        <a:pt x="25995" y="100608"/>
                      </a:lnTo>
                      <a:lnTo>
                        <a:pt x="0" y="100608"/>
                      </a:lnTo>
                      <a:lnTo>
                        <a:pt x="595" y="96639"/>
                      </a:lnTo>
                      <a:lnTo>
                        <a:pt x="8731" y="94655"/>
                      </a:lnTo>
                      <a:lnTo>
                        <a:pt x="57348" y="0"/>
                      </a:lnTo>
                      <a:lnTo>
                        <a:pt x="70842" y="0"/>
                      </a:lnTo>
                      <a:lnTo>
                        <a:pt x="88702" y="94655"/>
                      </a:lnTo>
                      <a:lnTo>
                        <a:pt x="97631" y="96639"/>
                      </a:lnTo>
                      <a:lnTo>
                        <a:pt x="96838" y="100608"/>
                      </a:lnTo>
                      <a:lnTo>
                        <a:pt x="63103" y="100608"/>
                      </a:lnTo>
                      <a:lnTo>
                        <a:pt x="63698" y="96639"/>
                      </a:lnTo>
                      <a:lnTo>
                        <a:pt x="74017" y="94655"/>
                      </a:lnTo>
                      <a:lnTo>
                        <a:pt x="69453" y="65881"/>
                      </a:lnTo>
                      <a:lnTo>
                        <a:pt x="31750" y="65881"/>
                      </a:lnTo>
                      <a:lnTo>
                        <a:pt x="17066" y="94655"/>
                      </a:lnTo>
                      <a:lnTo>
                        <a:pt x="26789" y="96639"/>
                      </a:lnTo>
                      <a:close/>
                      <a:moveTo>
                        <a:pt x="59531" y="10716"/>
                      </a:moveTo>
                      <a:lnTo>
                        <a:pt x="34925" y="59134"/>
                      </a:lnTo>
                      <a:lnTo>
                        <a:pt x="68262" y="59134"/>
                      </a:lnTo>
                      <a:lnTo>
                        <a:pt x="59531" y="107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0" name="advantage_glyph_2"/>
                <p:cNvSpPr/>
                <p:nvPr/>
              </p:nvSpPr>
              <p:spPr>
                <a:xfrm>
                  <a:off x="2943399" y="2287138"/>
                  <a:ext cx="67865" cy="381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38100">
                      <a:moveTo>
                        <a:pt x="67866" y="30559"/>
                      </a:moveTo>
                      <a:lnTo>
                        <a:pt x="67866" y="38100"/>
                      </a:lnTo>
                      <a:lnTo>
                        <a:pt x="0" y="38100"/>
                      </a:lnTo>
                      <a:lnTo>
                        <a:pt x="0" y="30559"/>
                      </a:lnTo>
                      <a:lnTo>
                        <a:pt x="67866" y="30559"/>
                      </a:lnTo>
                      <a:close/>
                      <a:moveTo>
                        <a:pt x="67866" y="0"/>
                      </a:moveTo>
                      <a:lnTo>
                        <a:pt x="67866" y="7541"/>
                      </a:lnTo>
                      <a:lnTo>
                        <a:pt x="0" y="7541"/>
                      </a:lnTo>
                      <a:lnTo>
                        <a:pt x="0" y="0"/>
                      </a:lnTo>
                      <a:lnTo>
                        <a:pt x="6786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1" name="advantage_glyph_3"/>
                <p:cNvSpPr/>
                <p:nvPr/>
              </p:nvSpPr>
              <p:spPr>
                <a:xfrm>
                  <a:off x="3074522" y="2108200"/>
                  <a:ext cx="46434" cy="2262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434" h="22622">
                      <a:moveTo>
                        <a:pt x="0" y="22622"/>
                      </a:moveTo>
                      <a:lnTo>
                        <a:pt x="0" y="20241"/>
                      </a:lnTo>
                      <a:lnTo>
                        <a:pt x="15677" y="0"/>
                      </a:lnTo>
                      <a:lnTo>
                        <a:pt x="30956" y="0"/>
                      </a:lnTo>
                      <a:lnTo>
                        <a:pt x="46434" y="20241"/>
                      </a:lnTo>
                      <a:lnTo>
                        <a:pt x="46434" y="22622"/>
                      </a:lnTo>
                      <a:lnTo>
                        <a:pt x="42267" y="22622"/>
                      </a:lnTo>
                      <a:lnTo>
                        <a:pt x="23217" y="9128"/>
                      </a:lnTo>
                      <a:lnTo>
                        <a:pt x="4167" y="22622"/>
                      </a:lnTo>
                      <a:lnTo>
                        <a:pt x="0" y="226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2" name="advantage_glyph_4"/>
                <p:cNvSpPr/>
                <p:nvPr/>
              </p:nvSpPr>
              <p:spPr>
                <a:xfrm>
                  <a:off x="3031581" y="2149078"/>
                  <a:ext cx="97631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7631" h="100608">
                      <a:moveTo>
                        <a:pt x="26789" y="96639"/>
                      </a:moveTo>
                      <a:lnTo>
                        <a:pt x="25995" y="100608"/>
                      </a:lnTo>
                      <a:lnTo>
                        <a:pt x="0" y="100608"/>
                      </a:lnTo>
                      <a:lnTo>
                        <a:pt x="595" y="96639"/>
                      </a:lnTo>
                      <a:lnTo>
                        <a:pt x="8731" y="94655"/>
                      </a:lnTo>
                      <a:lnTo>
                        <a:pt x="57348" y="0"/>
                      </a:lnTo>
                      <a:lnTo>
                        <a:pt x="70842" y="0"/>
                      </a:lnTo>
                      <a:lnTo>
                        <a:pt x="88702" y="94655"/>
                      </a:lnTo>
                      <a:lnTo>
                        <a:pt x="97631" y="96639"/>
                      </a:lnTo>
                      <a:lnTo>
                        <a:pt x="96838" y="100608"/>
                      </a:lnTo>
                      <a:lnTo>
                        <a:pt x="63103" y="100608"/>
                      </a:lnTo>
                      <a:lnTo>
                        <a:pt x="63698" y="96639"/>
                      </a:lnTo>
                      <a:lnTo>
                        <a:pt x="74017" y="94655"/>
                      </a:lnTo>
                      <a:lnTo>
                        <a:pt x="69453" y="65881"/>
                      </a:lnTo>
                      <a:lnTo>
                        <a:pt x="31750" y="65881"/>
                      </a:lnTo>
                      <a:lnTo>
                        <a:pt x="17066" y="94655"/>
                      </a:lnTo>
                      <a:lnTo>
                        <a:pt x="26789" y="96639"/>
                      </a:lnTo>
                      <a:close/>
                      <a:moveTo>
                        <a:pt x="59531" y="10716"/>
                      </a:moveTo>
                      <a:lnTo>
                        <a:pt x="34925" y="59134"/>
                      </a:lnTo>
                      <a:lnTo>
                        <a:pt x="68262" y="59134"/>
                      </a:lnTo>
                      <a:lnTo>
                        <a:pt x="59531" y="107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3" name="advantage_glyph_5"/>
                <p:cNvSpPr/>
                <p:nvPr/>
              </p:nvSpPr>
              <p:spPr>
                <a:xfrm>
                  <a:off x="3134930" y="2216923"/>
                  <a:ext cx="41870" cy="537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1870" h="53777">
                      <a:moveTo>
                        <a:pt x="37306" y="0"/>
                      </a:moveTo>
                      <a:quadBezTo>
                        <a:pt x="40283" y="0"/>
                        <a:pt x="41870" y="397"/>
                      </a:quadBezTo>
                      <a:lnTo>
                        <a:pt x="39291" y="14089"/>
                      </a:lnTo>
                      <a:lnTo>
                        <a:pt x="36909" y="14089"/>
                      </a:lnTo>
                      <a:lnTo>
                        <a:pt x="34727" y="6945"/>
                      </a:lnTo>
                      <a:quadBezTo>
                        <a:pt x="29964" y="6945"/>
                        <a:pt x="25003" y="10517"/>
                      </a:quadBezTo>
                      <a:quadBezTo>
                        <a:pt x="20042" y="13891"/>
                        <a:pt x="15875" y="19447"/>
                      </a:quadBezTo>
                      <a:lnTo>
                        <a:pt x="9723" y="53777"/>
                      </a:lnTo>
                      <a:lnTo>
                        <a:pt x="0" y="53777"/>
                      </a:lnTo>
                      <a:lnTo>
                        <a:pt x="8930" y="5159"/>
                      </a:lnTo>
                      <a:lnTo>
                        <a:pt x="2183" y="3770"/>
                      </a:lnTo>
                      <a:lnTo>
                        <a:pt x="2580" y="1389"/>
                      </a:lnTo>
                      <a:lnTo>
                        <a:pt x="18653" y="1389"/>
                      </a:lnTo>
                      <a:lnTo>
                        <a:pt x="16867" y="13097"/>
                      </a:lnTo>
                      <a:quadBezTo>
                        <a:pt x="21233" y="6747"/>
                        <a:pt x="26591" y="3373"/>
                      </a:quadBezTo>
                      <a:quadBezTo>
                        <a:pt x="31948" y="0"/>
                        <a:pt x="37306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4" name="advantage_glyph_6"/>
                <p:cNvSpPr/>
                <p:nvPr/>
              </p:nvSpPr>
              <p:spPr>
                <a:xfrm>
                  <a:off x="3208713" y="2195314"/>
                  <a:ext cx="67865" cy="75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7541">
                      <a:moveTo>
                        <a:pt x="67866" y="0"/>
                      </a:moveTo>
                      <a:lnTo>
                        <a:pt x="67866" y="7541"/>
                      </a:lnTo>
                      <a:lnTo>
                        <a:pt x="0" y="7541"/>
                      </a:lnTo>
                      <a:lnTo>
                        <a:pt x="0" y="0"/>
                      </a:lnTo>
                      <a:lnTo>
                        <a:pt x="6786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5" name="advantage_glyph_7"/>
                <p:cNvSpPr/>
                <p:nvPr/>
              </p:nvSpPr>
              <p:spPr>
                <a:xfrm>
                  <a:off x="3311381" y="2149871"/>
                  <a:ext cx="87312" cy="1323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132358">
                      <a:moveTo>
                        <a:pt x="52784" y="56158"/>
                      </a:moveTo>
                      <a:lnTo>
                        <a:pt x="52784" y="58936"/>
                      </a:lnTo>
                      <a:lnTo>
                        <a:pt x="13097" y="119658"/>
                      </a:lnTo>
                      <a:lnTo>
                        <a:pt x="44648" y="119658"/>
                      </a:lnTo>
                      <a:quadBezTo>
                        <a:pt x="47625" y="119658"/>
                        <a:pt x="50998" y="119459"/>
                      </a:quadBezTo>
                      <a:quadBezTo>
                        <a:pt x="54570" y="119459"/>
                        <a:pt x="58142" y="119459"/>
                      </a:quadBezTo>
                      <a:quadBezTo>
                        <a:pt x="61714" y="119459"/>
                        <a:pt x="65088" y="119261"/>
                      </a:quadBezTo>
                      <a:quadBezTo>
                        <a:pt x="68461" y="119062"/>
                        <a:pt x="71041" y="118864"/>
                      </a:quadBezTo>
                      <a:quadBezTo>
                        <a:pt x="73819" y="118864"/>
                        <a:pt x="75803" y="118666"/>
                      </a:quadBezTo>
                      <a:quadBezTo>
                        <a:pt x="77986" y="118666"/>
                        <a:pt x="78581" y="118467"/>
                      </a:quadBezTo>
                      <a:lnTo>
                        <a:pt x="82748" y="101402"/>
                      </a:lnTo>
                      <a:lnTo>
                        <a:pt x="87312" y="101402"/>
                      </a:lnTo>
                      <a:lnTo>
                        <a:pt x="86122" y="132358"/>
                      </a:lnTo>
                      <a:lnTo>
                        <a:pt x="0" y="132358"/>
                      </a:lnTo>
                      <a:lnTo>
                        <a:pt x="0" y="126802"/>
                      </a:lnTo>
                      <a:lnTo>
                        <a:pt x="41275" y="64095"/>
                      </a:lnTo>
                      <a:lnTo>
                        <a:pt x="3175" y="5953"/>
                      </a:lnTo>
                      <a:lnTo>
                        <a:pt x="3175" y="0"/>
                      </a:lnTo>
                      <a:lnTo>
                        <a:pt x="81955" y="0"/>
                      </a:lnTo>
                      <a:lnTo>
                        <a:pt x="81955" y="26194"/>
                      </a:lnTo>
                      <a:lnTo>
                        <a:pt x="77391" y="26194"/>
                      </a:lnTo>
                      <a:lnTo>
                        <a:pt x="74414" y="7739"/>
                      </a:lnTo>
                      <a:quadBezTo>
                        <a:pt x="67469" y="6945"/>
                        <a:pt x="59134" y="6945"/>
                      </a:quadBezTo>
                      <a:quadBezTo>
                        <a:pt x="50800" y="6945"/>
                        <a:pt x="49212" y="6945"/>
                      </a:quadBezTo>
                      <a:lnTo>
                        <a:pt x="20439" y="6747"/>
                      </a:lnTo>
                      <a:lnTo>
                        <a:pt x="52784" y="56158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6" name="advantage_glyph_8"/>
                <p:cNvSpPr/>
                <p:nvPr/>
              </p:nvSpPr>
              <p:spPr>
                <a:xfrm>
                  <a:off x="3413760" y="2191325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7" name="advantage_glyph_9"/>
                <p:cNvSpPr/>
                <p:nvPr/>
              </p:nvSpPr>
              <p:spPr>
                <a:xfrm>
                  <a:off x="3463473" y="2142331"/>
                  <a:ext cx="63301" cy="1073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302" h="107355">
                      <a:moveTo>
                        <a:pt x="28377" y="6945"/>
                      </a:moveTo>
                      <a:quadBezTo>
                        <a:pt x="25995" y="6945"/>
                        <a:pt x="23812" y="7938"/>
                      </a:quadBezTo>
                      <a:lnTo>
                        <a:pt x="20439" y="14089"/>
                      </a:lnTo>
                      <a:lnTo>
                        <a:pt x="16867" y="14089"/>
                      </a:lnTo>
                      <a:lnTo>
                        <a:pt x="18256" y="1588"/>
                      </a:lnTo>
                      <a:quadBezTo>
                        <a:pt x="24011" y="0"/>
                        <a:pt x="28972" y="0"/>
                      </a:quadBezTo>
                      <a:quadBezTo>
                        <a:pt x="33933" y="0"/>
                        <a:pt x="36909" y="1984"/>
                      </a:quadBezTo>
                      <a:quadBezTo>
                        <a:pt x="39886" y="3969"/>
                        <a:pt x="41672" y="8334"/>
                      </a:quadBezTo>
                      <a:quadBezTo>
                        <a:pt x="43656" y="12502"/>
                        <a:pt x="45045" y="21630"/>
                      </a:quadBezTo>
                      <a:lnTo>
                        <a:pt x="56158" y="96441"/>
                      </a:lnTo>
                      <a:quadBezTo>
                        <a:pt x="57150" y="101997"/>
                        <a:pt x="63302" y="103981"/>
                      </a:quadBezTo>
                      <a:lnTo>
                        <a:pt x="62706" y="107355"/>
                      </a:lnTo>
                      <a:lnTo>
                        <a:pt x="48617" y="107355"/>
                      </a:lnTo>
                      <a:lnTo>
                        <a:pt x="41672" y="52586"/>
                      </a:lnTo>
                      <a:quadBezTo>
                        <a:pt x="40481" y="55761"/>
                        <a:pt x="37505" y="61119"/>
                      </a:quadBezTo>
                      <a:quadBezTo>
                        <a:pt x="34727" y="66477"/>
                        <a:pt x="33338" y="69453"/>
                      </a:quadBezTo>
                      <a:lnTo>
                        <a:pt x="12303" y="107355"/>
                      </a:lnTo>
                      <a:lnTo>
                        <a:pt x="0" y="107355"/>
                      </a:lnTo>
                      <a:lnTo>
                        <a:pt x="595" y="104180"/>
                      </a:lnTo>
                      <a:lnTo>
                        <a:pt x="39886" y="36512"/>
                      </a:lnTo>
                      <a:lnTo>
                        <a:pt x="38100" y="23614"/>
                      </a:lnTo>
                      <a:quadBezTo>
                        <a:pt x="36909" y="14684"/>
                        <a:pt x="34528" y="10914"/>
                      </a:quadBezTo>
                      <a:quadBezTo>
                        <a:pt x="32345" y="6945"/>
                        <a:pt x="28377" y="6945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8" name="advantage_glyph_10"/>
                <p:cNvSpPr/>
                <p:nvPr/>
              </p:nvSpPr>
              <p:spPr>
                <a:xfrm>
                  <a:off x="3533673" y="2191325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9" name="advantage_glyph_11"/>
                <p:cNvSpPr/>
                <p:nvPr/>
              </p:nvSpPr>
              <p:spPr>
                <a:xfrm>
                  <a:off x="3621961" y="2108200"/>
                  <a:ext cx="46434" cy="2262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434" h="22622">
                      <a:moveTo>
                        <a:pt x="0" y="22622"/>
                      </a:moveTo>
                      <a:lnTo>
                        <a:pt x="0" y="20241"/>
                      </a:lnTo>
                      <a:lnTo>
                        <a:pt x="15677" y="0"/>
                      </a:lnTo>
                      <a:lnTo>
                        <a:pt x="30956" y="0"/>
                      </a:lnTo>
                      <a:lnTo>
                        <a:pt x="46434" y="20241"/>
                      </a:lnTo>
                      <a:lnTo>
                        <a:pt x="46434" y="22622"/>
                      </a:lnTo>
                      <a:lnTo>
                        <a:pt x="42267" y="22622"/>
                      </a:lnTo>
                      <a:lnTo>
                        <a:pt x="23217" y="9128"/>
                      </a:lnTo>
                      <a:lnTo>
                        <a:pt x="4167" y="22622"/>
                      </a:lnTo>
                      <a:lnTo>
                        <a:pt x="0" y="2262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0" name="advantage_glyph_12"/>
                <p:cNvSpPr/>
                <p:nvPr/>
              </p:nvSpPr>
              <p:spPr>
                <a:xfrm>
                  <a:off x="3579020" y="2149078"/>
                  <a:ext cx="97631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7631" h="100608">
                      <a:moveTo>
                        <a:pt x="26789" y="96639"/>
                      </a:moveTo>
                      <a:lnTo>
                        <a:pt x="25995" y="100608"/>
                      </a:lnTo>
                      <a:lnTo>
                        <a:pt x="0" y="100608"/>
                      </a:lnTo>
                      <a:lnTo>
                        <a:pt x="595" y="96639"/>
                      </a:lnTo>
                      <a:lnTo>
                        <a:pt x="8731" y="94655"/>
                      </a:lnTo>
                      <a:lnTo>
                        <a:pt x="57348" y="0"/>
                      </a:lnTo>
                      <a:lnTo>
                        <a:pt x="70842" y="0"/>
                      </a:lnTo>
                      <a:lnTo>
                        <a:pt x="88702" y="94655"/>
                      </a:lnTo>
                      <a:lnTo>
                        <a:pt x="97631" y="96639"/>
                      </a:lnTo>
                      <a:lnTo>
                        <a:pt x="96838" y="100608"/>
                      </a:lnTo>
                      <a:lnTo>
                        <a:pt x="63103" y="100608"/>
                      </a:lnTo>
                      <a:lnTo>
                        <a:pt x="63698" y="96639"/>
                      </a:lnTo>
                      <a:lnTo>
                        <a:pt x="74017" y="94655"/>
                      </a:lnTo>
                      <a:lnTo>
                        <a:pt x="69453" y="65881"/>
                      </a:lnTo>
                      <a:lnTo>
                        <a:pt x="31750" y="65881"/>
                      </a:lnTo>
                      <a:lnTo>
                        <a:pt x="17066" y="94655"/>
                      </a:lnTo>
                      <a:lnTo>
                        <a:pt x="26789" y="96639"/>
                      </a:lnTo>
                      <a:close/>
                      <a:moveTo>
                        <a:pt x="59531" y="10716"/>
                      </a:moveTo>
                      <a:lnTo>
                        <a:pt x="34925" y="59134"/>
                      </a:lnTo>
                      <a:lnTo>
                        <a:pt x="68262" y="59134"/>
                      </a:lnTo>
                      <a:lnTo>
                        <a:pt x="59531" y="107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1" name="advantage_glyph_13"/>
                <p:cNvSpPr/>
                <p:nvPr/>
              </p:nvSpPr>
              <p:spPr>
                <a:xfrm>
                  <a:off x="3681377" y="2216923"/>
                  <a:ext cx="47823" cy="5496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54967">
                      <a:moveTo>
                        <a:pt x="41275" y="45839"/>
                      </a:moveTo>
                      <a:quadBezTo>
                        <a:pt x="36512" y="50006"/>
                        <a:pt x="30559" y="52586"/>
                      </a:quadBezTo>
                      <a:quadBezTo>
                        <a:pt x="24805" y="54967"/>
                        <a:pt x="19447" y="54967"/>
                      </a:quadBezTo>
                      <a:quadBezTo>
                        <a:pt x="10120" y="54967"/>
                        <a:pt x="4961" y="49808"/>
                      </a:quadBezTo>
                      <a:quadBezTo>
                        <a:pt x="0" y="44450"/>
                        <a:pt x="0" y="35322"/>
                      </a:quadBezTo>
                      <a:quadBezTo>
                        <a:pt x="0" y="25598"/>
                        <a:pt x="3969" y="17661"/>
                      </a:quadBezTo>
                      <a:quadBezTo>
                        <a:pt x="8136" y="9723"/>
                        <a:pt x="15478" y="4961"/>
                      </a:quadBezTo>
                      <a:quadBezTo>
                        <a:pt x="23019" y="0"/>
                        <a:pt x="31353" y="0"/>
                      </a:quadBezTo>
                      <a:quadBezTo>
                        <a:pt x="35520" y="0"/>
                        <a:pt x="40084" y="794"/>
                      </a:quadBezTo>
                      <a:quadBezTo>
                        <a:pt x="44847" y="1588"/>
                        <a:pt x="47823" y="2778"/>
                      </a:quadBezTo>
                      <a:lnTo>
                        <a:pt x="45244" y="17462"/>
                      </a:lnTo>
                      <a:lnTo>
                        <a:pt x="42069" y="17462"/>
                      </a:lnTo>
                      <a:lnTo>
                        <a:pt x="41077" y="7739"/>
                      </a:lnTo>
                      <a:quadBezTo>
                        <a:pt x="37306" y="4167"/>
                        <a:pt x="31353" y="4167"/>
                      </a:quadBezTo>
                      <a:quadBezTo>
                        <a:pt x="25797" y="4167"/>
                        <a:pt x="20836" y="8136"/>
                      </a:quadBezTo>
                      <a:quadBezTo>
                        <a:pt x="16073" y="12105"/>
                        <a:pt x="13097" y="19248"/>
                      </a:quadBezTo>
                      <a:quadBezTo>
                        <a:pt x="10120" y="26392"/>
                        <a:pt x="10120" y="34727"/>
                      </a:quadBezTo>
                      <a:quadBezTo>
                        <a:pt x="10120" y="49014"/>
                        <a:pt x="22225" y="49014"/>
                      </a:quadBezTo>
                      <a:quadBezTo>
                        <a:pt x="30559" y="49014"/>
                        <a:pt x="39489" y="43458"/>
                      </a:quadBezTo>
                      <a:lnTo>
                        <a:pt x="41275" y="4583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2" name="advantage_glyph_14"/>
                <p:cNvSpPr/>
                <p:nvPr/>
              </p:nvSpPr>
              <p:spPr>
                <a:xfrm>
                  <a:off x="3733540" y="2217487"/>
                  <a:ext cx="42267" cy="704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2267" h="70445">
                      <a:moveTo>
                        <a:pt x="11509" y="3373"/>
                      </a:moveTo>
                      <a:lnTo>
                        <a:pt x="5159" y="2183"/>
                      </a:lnTo>
                      <a:lnTo>
                        <a:pt x="5556" y="0"/>
                      </a:lnTo>
                      <a:lnTo>
                        <a:pt x="20241" y="0"/>
                      </a:lnTo>
                      <a:lnTo>
                        <a:pt x="11906" y="48022"/>
                      </a:lnTo>
                      <a:lnTo>
                        <a:pt x="32544" y="27384"/>
                      </a:lnTo>
                      <a:lnTo>
                        <a:pt x="27980" y="25995"/>
                      </a:lnTo>
                      <a:lnTo>
                        <a:pt x="28377" y="23812"/>
                      </a:lnTo>
                      <a:lnTo>
                        <a:pt x="42267" y="23812"/>
                      </a:lnTo>
                      <a:lnTo>
                        <a:pt x="42069" y="25995"/>
                      </a:lnTo>
                      <a:lnTo>
                        <a:pt x="38100" y="27186"/>
                      </a:lnTo>
                      <a:lnTo>
                        <a:pt x="24011" y="41077"/>
                      </a:lnTo>
                      <a:lnTo>
                        <a:pt x="35719" y="67072"/>
                      </a:lnTo>
                      <a:lnTo>
                        <a:pt x="40283" y="68262"/>
                      </a:lnTo>
                      <a:lnTo>
                        <a:pt x="39886" y="70445"/>
                      </a:lnTo>
                      <a:lnTo>
                        <a:pt x="28575" y="70445"/>
                      </a:lnTo>
                      <a:lnTo>
                        <a:pt x="18058" y="46633"/>
                      </a:lnTo>
                      <a:lnTo>
                        <a:pt x="11112" y="53578"/>
                      </a:lnTo>
                      <a:lnTo>
                        <a:pt x="8136" y="70445"/>
                      </a:lnTo>
                      <a:lnTo>
                        <a:pt x="0" y="70445"/>
                      </a:lnTo>
                      <a:lnTo>
                        <a:pt x="11509" y="337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3" name="advantage_glyph_15"/>
                <p:cNvSpPr/>
                <p:nvPr/>
              </p:nvSpPr>
              <p:spPr>
                <a:xfrm>
                  <a:off x="3179417" y="2340319"/>
                  <a:ext cx="51395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395" h="100608">
                      <a:moveTo>
                        <a:pt x="31750" y="94655"/>
                      </a:moveTo>
                      <a:lnTo>
                        <a:pt x="51395" y="96639"/>
                      </a:lnTo>
                      <a:lnTo>
                        <a:pt x="51395" y="100608"/>
                      </a:lnTo>
                      <a:lnTo>
                        <a:pt x="0" y="100608"/>
                      </a:lnTo>
                      <a:lnTo>
                        <a:pt x="0" y="96639"/>
                      </a:lnTo>
                      <a:lnTo>
                        <a:pt x="19645" y="94655"/>
                      </a:lnTo>
                      <a:lnTo>
                        <a:pt x="19645" y="13295"/>
                      </a:lnTo>
                      <a:lnTo>
                        <a:pt x="198" y="20439"/>
                      </a:lnTo>
                      <a:lnTo>
                        <a:pt x="198" y="16470"/>
                      </a:lnTo>
                      <a:lnTo>
                        <a:pt x="28178" y="0"/>
                      </a:lnTo>
                      <a:lnTo>
                        <a:pt x="31750" y="0"/>
                      </a:lnTo>
                      <a:lnTo>
                        <a:pt x="31750" y="9465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4" name="advantage_glyph_16"/>
                <p:cNvSpPr/>
                <p:nvPr/>
              </p:nvSpPr>
              <p:spPr>
                <a:xfrm>
                  <a:off x="3267980" y="2354805"/>
                  <a:ext cx="67865" cy="71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71041">
                      <a:moveTo>
                        <a:pt x="37505" y="39291"/>
                      </a:moveTo>
                      <a:lnTo>
                        <a:pt x="37505" y="71041"/>
                      </a:lnTo>
                      <a:lnTo>
                        <a:pt x="30162" y="71041"/>
                      </a:lnTo>
                      <a:lnTo>
                        <a:pt x="30162" y="39291"/>
                      </a:lnTo>
                      <a:lnTo>
                        <a:pt x="0" y="39291"/>
                      </a:lnTo>
                      <a:lnTo>
                        <a:pt x="0" y="31750"/>
                      </a:lnTo>
                      <a:lnTo>
                        <a:pt x="30162" y="31750"/>
                      </a:lnTo>
                      <a:lnTo>
                        <a:pt x="30162" y="0"/>
                      </a:lnTo>
                      <a:lnTo>
                        <a:pt x="37505" y="0"/>
                      </a:lnTo>
                      <a:lnTo>
                        <a:pt x="37505" y="31750"/>
                      </a:lnTo>
                      <a:lnTo>
                        <a:pt x="67866" y="31750"/>
                      </a:lnTo>
                      <a:lnTo>
                        <a:pt x="67866" y="39291"/>
                      </a:lnTo>
                      <a:lnTo>
                        <a:pt x="37505" y="39291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5" name="advantage_glyph_17"/>
                <p:cNvSpPr/>
                <p:nvPr/>
              </p:nvSpPr>
              <p:spPr>
                <a:xfrm>
                  <a:off x="3370648" y="2341113"/>
                  <a:ext cx="87312" cy="1323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132358">
                      <a:moveTo>
                        <a:pt x="52784" y="56158"/>
                      </a:moveTo>
                      <a:lnTo>
                        <a:pt x="52784" y="58936"/>
                      </a:lnTo>
                      <a:lnTo>
                        <a:pt x="13097" y="119658"/>
                      </a:lnTo>
                      <a:lnTo>
                        <a:pt x="44648" y="119658"/>
                      </a:lnTo>
                      <a:quadBezTo>
                        <a:pt x="47625" y="119658"/>
                        <a:pt x="50998" y="119459"/>
                      </a:quadBezTo>
                      <a:quadBezTo>
                        <a:pt x="54570" y="119459"/>
                        <a:pt x="58142" y="119459"/>
                      </a:quadBezTo>
                      <a:quadBezTo>
                        <a:pt x="61714" y="119459"/>
                        <a:pt x="65088" y="119261"/>
                      </a:quadBezTo>
                      <a:quadBezTo>
                        <a:pt x="68461" y="119062"/>
                        <a:pt x="71041" y="118864"/>
                      </a:quadBezTo>
                      <a:quadBezTo>
                        <a:pt x="73819" y="118864"/>
                        <a:pt x="75803" y="118666"/>
                      </a:quadBezTo>
                      <a:quadBezTo>
                        <a:pt x="77986" y="118666"/>
                        <a:pt x="78581" y="118467"/>
                      </a:quadBezTo>
                      <a:lnTo>
                        <a:pt x="82748" y="101402"/>
                      </a:lnTo>
                      <a:lnTo>
                        <a:pt x="87312" y="101402"/>
                      </a:lnTo>
                      <a:lnTo>
                        <a:pt x="86122" y="132358"/>
                      </a:lnTo>
                      <a:lnTo>
                        <a:pt x="0" y="132358"/>
                      </a:lnTo>
                      <a:lnTo>
                        <a:pt x="0" y="126802"/>
                      </a:lnTo>
                      <a:lnTo>
                        <a:pt x="41275" y="64095"/>
                      </a:lnTo>
                      <a:lnTo>
                        <a:pt x="3175" y="5953"/>
                      </a:lnTo>
                      <a:lnTo>
                        <a:pt x="3175" y="0"/>
                      </a:lnTo>
                      <a:lnTo>
                        <a:pt x="81955" y="0"/>
                      </a:lnTo>
                      <a:lnTo>
                        <a:pt x="81955" y="26194"/>
                      </a:lnTo>
                      <a:lnTo>
                        <a:pt x="77391" y="26194"/>
                      </a:lnTo>
                      <a:lnTo>
                        <a:pt x="74414" y="7739"/>
                      </a:lnTo>
                      <a:quadBezTo>
                        <a:pt x="67469" y="6945"/>
                        <a:pt x="59134" y="6945"/>
                      </a:quadBezTo>
                      <a:quadBezTo>
                        <a:pt x="50800" y="6945"/>
                        <a:pt x="49212" y="6945"/>
                      </a:quadBezTo>
                      <a:lnTo>
                        <a:pt x="20439" y="6747"/>
                      </a:lnTo>
                      <a:lnTo>
                        <a:pt x="52784" y="56158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6" name="advantage_glyph_18"/>
                <p:cNvSpPr/>
                <p:nvPr/>
              </p:nvSpPr>
              <p:spPr>
                <a:xfrm>
                  <a:off x="3473027" y="2382567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7" name="advantage_glyph_19"/>
                <p:cNvSpPr/>
                <p:nvPr/>
              </p:nvSpPr>
              <p:spPr>
                <a:xfrm>
                  <a:off x="3522740" y="2333573"/>
                  <a:ext cx="63301" cy="1073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302" h="107355">
                      <a:moveTo>
                        <a:pt x="28377" y="6945"/>
                      </a:moveTo>
                      <a:quadBezTo>
                        <a:pt x="25995" y="6945"/>
                        <a:pt x="23812" y="7938"/>
                      </a:quadBezTo>
                      <a:lnTo>
                        <a:pt x="20439" y="14089"/>
                      </a:lnTo>
                      <a:lnTo>
                        <a:pt x="16867" y="14089"/>
                      </a:lnTo>
                      <a:lnTo>
                        <a:pt x="18256" y="1588"/>
                      </a:lnTo>
                      <a:quadBezTo>
                        <a:pt x="24011" y="0"/>
                        <a:pt x="28972" y="0"/>
                      </a:quadBezTo>
                      <a:quadBezTo>
                        <a:pt x="33933" y="0"/>
                        <a:pt x="36909" y="1984"/>
                      </a:quadBezTo>
                      <a:quadBezTo>
                        <a:pt x="39886" y="3969"/>
                        <a:pt x="41672" y="8334"/>
                      </a:quadBezTo>
                      <a:quadBezTo>
                        <a:pt x="43656" y="12502"/>
                        <a:pt x="45045" y="21630"/>
                      </a:quadBezTo>
                      <a:lnTo>
                        <a:pt x="56158" y="96441"/>
                      </a:lnTo>
                      <a:quadBezTo>
                        <a:pt x="57150" y="101997"/>
                        <a:pt x="63302" y="103981"/>
                      </a:quadBezTo>
                      <a:lnTo>
                        <a:pt x="62706" y="107355"/>
                      </a:lnTo>
                      <a:lnTo>
                        <a:pt x="48617" y="107355"/>
                      </a:lnTo>
                      <a:lnTo>
                        <a:pt x="41672" y="52586"/>
                      </a:lnTo>
                      <a:quadBezTo>
                        <a:pt x="40481" y="55761"/>
                        <a:pt x="37505" y="61119"/>
                      </a:quadBezTo>
                      <a:quadBezTo>
                        <a:pt x="34727" y="66477"/>
                        <a:pt x="33338" y="69453"/>
                      </a:quadBezTo>
                      <a:lnTo>
                        <a:pt x="12303" y="107355"/>
                      </a:lnTo>
                      <a:lnTo>
                        <a:pt x="0" y="107355"/>
                      </a:lnTo>
                      <a:lnTo>
                        <a:pt x="595" y="104180"/>
                      </a:lnTo>
                      <a:lnTo>
                        <a:pt x="39886" y="36512"/>
                      </a:lnTo>
                      <a:lnTo>
                        <a:pt x="38100" y="23614"/>
                      </a:lnTo>
                      <a:quadBezTo>
                        <a:pt x="36909" y="14684"/>
                        <a:pt x="34528" y="10914"/>
                      </a:quadBezTo>
                      <a:quadBezTo>
                        <a:pt x="32345" y="6945"/>
                        <a:pt x="28377" y="6945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8" name="advantage_glyph_20"/>
                <p:cNvSpPr/>
                <p:nvPr/>
              </p:nvSpPr>
              <p:spPr>
                <a:xfrm>
                  <a:off x="3592940" y="2382567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39" name="advantage_rule0"/>
                <p:cNvSpPr/>
                <p:nvPr/>
              </p:nvSpPr>
              <p:spPr>
                <a:xfrm>
                  <a:off x="3039519" y="2315316"/>
                  <a:ext cx="741205" cy="9128"/>
                </a:xfrm>
                <a:prstGeom prst="rect">
                  <a:avLst/>
                </a:pr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pi_next"/>
              <p:cNvSpPr txBox="1"/>
              <p:nvPr/>
            </p:nvSpPr>
            <p:spPr>
              <a:xfrm>
                <a:off x="4762500" y="2209800"/>
                <a:ext cx="228600" cy="2032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π</ns1:t>
                          </ns1:r>
                        </ns1:e>
                        <ns1:sub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t+1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240" name="pi_next_compat"/>
              <p:cNvGrpSpPr/>
              <p:nvPr/>
            </p:nvGrpSpPr>
            <p:grpSpPr>
              <a:xfrm>
                <a:off x="4744243" y="2260600"/>
                <a:ext cx="248919" cy="84514"/>
                <a:chOff x="4744243" y="2260600"/>
                <a:chExt cx="248919" cy="84514"/>
              </a:xfrm>
            </p:grpSpPr>
            <p:sp>
              <p:nvSpPr>
                <p:cNvPr id="241" name="pi_next_glyph_0"/>
                <p:cNvSpPr/>
                <p:nvPr/>
              </p:nvSpPr>
              <p:spPr>
                <a:xfrm>
                  <a:off x="4744243" y="2260600"/>
                  <a:ext cx="72429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2430" h="65484">
                      <a:moveTo>
                        <a:pt x="50800" y="52189"/>
                      </a:moveTo>
                      <a:quadBezTo>
                        <a:pt x="50800" y="55364"/>
                        <a:pt x="51991" y="56952"/>
                      </a:quadBezTo>
                      <a:quadBezTo>
                        <a:pt x="53380" y="58341"/>
                        <a:pt x="55364" y="58341"/>
                      </a:quadBezTo>
                      <a:quadBezTo>
                        <a:pt x="59333" y="58341"/>
                        <a:pt x="63698" y="56356"/>
                      </a:quadBezTo>
                      <a:lnTo>
                        <a:pt x="65088" y="59531"/>
                      </a:lnTo>
                      <a:quadBezTo>
                        <a:pt x="61912" y="61912"/>
                        <a:pt x="58142" y="63698"/>
                      </a:quadBezTo>
                      <a:quadBezTo>
                        <a:pt x="54570" y="65484"/>
                        <a:pt x="49808" y="65484"/>
                      </a:quadBezTo>
                      <a:quadBezTo>
                        <a:pt x="45045" y="65484"/>
                        <a:pt x="42267" y="62309"/>
                      </a:quadBezTo>
                      <a:quadBezTo>
                        <a:pt x="39489" y="58936"/>
                        <a:pt x="39489" y="52983"/>
                      </a:quadBezTo>
                      <a:quadBezTo>
                        <a:pt x="39489" y="49808"/>
                        <a:pt x="40481" y="43656"/>
                      </a:quadBezTo>
                      <a:lnTo>
                        <a:pt x="47228" y="5755"/>
                      </a:lnTo>
                      <a:lnTo>
                        <a:pt x="27781" y="5755"/>
                      </a:lnTo>
                      <a:lnTo>
                        <a:pt x="20241" y="36512"/>
                      </a:lnTo>
                      <a:quadBezTo>
                        <a:pt x="16073" y="53777"/>
                        <a:pt x="12502" y="64095"/>
                      </a:quadBezTo>
                      <a:lnTo>
                        <a:pt x="0" y="64095"/>
                      </a:lnTo>
                      <a:lnTo>
                        <a:pt x="595" y="61119"/>
                      </a:lnTo>
                      <a:quadBezTo>
                        <a:pt x="5755" y="56356"/>
                        <a:pt x="8136" y="51792"/>
                      </a:quadBezTo>
                      <a:quadBezTo>
                        <a:pt x="10716" y="47228"/>
                        <a:pt x="13295" y="37505"/>
                      </a:quadBezTo>
                      <a:lnTo>
                        <a:pt x="21233" y="5755"/>
                      </a:lnTo>
                      <a:lnTo>
                        <a:pt x="12105" y="5755"/>
                      </a:lnTo>
                      <a:lnTo>
                        <a:pt x="7342" y="14486"/>
                      </a:lnTo>
                      <a:lnTo>
                        <a:pt x="3373" y="14486"/>
                      </a:lnTo>
                      <a:lnTo>
                        <a:pt x="7342" y="0"/>
                      </a:lnTo>
                      <a:lnTo>
                        <a:pt x="72430" y="0"/>
                      </a:lnTo>
                      <a:lnTo>
                        <a:pt x="71438" y="5755"/>
                      </a:lnTo>
                      <a:lnTo>
                        <a:pt x="58539" y="5755"/>
                      </a:lnTo>
                      <a:lnTo>
                        <a:pt x="51991" y="43061"/>
                      </a:lnTo>
                      <a:quadBezTo>
                        <a:pt x="50800" y="49014"/>
                        <a:pt x="50800" y="52189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2" name="pi_next_glyph_1"/>
                <p:cNvSpPr/>
                <p:nvPr/>
              </p:nvSpPr>
              <p:spPr>
                <a:xfrm>
                  <a:off x="4818397" y="2279630"/>
                  <a:ext cx="29170" cy="654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9170" h="65484">
                      <a:moveTo>
                        <a:pt x="9723" y="54570"/>
                      </a:moveTo>
                      <a:quadBezTo>
                        <a:pt x="9723" y="57150"/>
                        <a:pt x="10914" y="58341"/>
                      </a:quadBezTo>
                      <a:quadBezTo>
                        <a:pt x="12303" y="59531"/>
                        <a:pt x="14288" y="59531"/>
                      </a:quadBezTo>
                      <a:quadBezTo>
                        <a:pt x="18256" y="59531"/>
                        <a:pt x="22820" y="57944"/>
                      </a:quadBezTo>
                      <a:lnTo>
                        <a:pt x="23812" y="60523"/>
                      </a:lnTo>
                      <a:quadBezTo>
                        <a:pt x="17066" y="65484"/>
                        <a:pt x="9922" y="65484"/>
                      </a:quadBezTo>
                      <a:quadBezTo>
                        <a:pt x="5556" y="65484"/>
                        <a:pt x="2977" y="62905"/>
                      </a:quadBezTo>
                      <a:quadBezTo>
                        <a:pt x="595" y="60127"/>
                        <a:pt x="595" y="55166"/>
                      </a:quadBezTo>
                      <a:quadBezTo>
                        <a:pt x="595" y="53578"/>
                        <a:pt x="794" y="51395"/>
                      </a:quadBezTo>
                      <a:quadBezTo>
                        <a:pt x="1191" y="49212"/>
                        <a:pt x="6945" y="16470"/>
                      </a:quadBezTo>
                      <a:lnTo>
                        <a:pt x="0" y="16470"/>
                      </a:lnTo>
                      <a:lnTo>
                        <a:pt x="595" y="14089"/>
                      </a:lnTo>
                      <a:lnTo>
                        <a:pt x="7938" y="11906"/>
                      </a:lnTo>
                      <a:lnTo>
                        <a:pt x="15677" y="0"/>
                      </a:lnTo>
                      <a:lnTo>
                        <a:pt x="19248" y="0"/>
                      </a:lnTo>
                      <a:lnTo>
                        <a:pt x="17066" y="11906"/>
                      </a:lnTo>
                      <a:lnTo>
                        <a:pt x="29170" y="11906"/>
                      </a:lnTo>
                      <a:lnTo>
                        <a:pt x="28178" y="16470"/>
                      </a:lnTo>
                      <a:lnTo>
                        <a:pt x="16272" y="16470"/>
                      </a:lnTo>
                      <a:lnTo>
                        <a:pt x="10716" y="47228"/>
                      </a:lnTo>
                      <a:quadBezTo>
                        <a:pt x="9723" y="52388"/>
                        <a:pt x="9723" y="5457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3" name="pi_next_glyph_2"/>
                <p:cNvSpPr/>
                <p:nvPr/>
              </p:nvSpPr>
              <p:spPr>
                <a:xfrm>
                  <a:off x="4867563" y="2279431"/>
                  <a:ext cx="53181" cy="531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3181" h="53181">
                      <a:moveTo>
                        <a:pt x="29369" y="29369"/>
                      </a:moveTo>
                      <a:lnTo>
                        <a:pt x="29369" y="53181"/>
                      </a:lnTo>
                      <a:lnTo>
                        <a:pt x="23614" y="53181"/>
                      </a:lnTo>
                      <a:lnTo>
                        <a:pt x="23614" y="29369"/>
                      </a:lnTo>
                      <a:lnTo>
                        <a:pt x="0" y="29369"/>
                      </a:lnTo>
                      <a:lnTo>
                        <a:pt x="0" y="23614"/>
                      </a:lnTo>
                      <a:lnTo>
                        <a:pt x="23614" y="23614"/>
                      </a:lnTo>
                      <a:lnTo>
                        <a:pt x="23614" y="0"/>
                      </a:lnTo>
                      <a:lnTo>
                        <a:pt x="29369" y="0"/>
                      </a:lnTo>
                      <a:lnTo>
                        <a:pt x="29369" y="23614"/>
                      </a:lnTo>
                      <a:lnTo>
                        <a:pt x="53181" y="23614"/>
                      </a:lnTo>
                      <a:lnTo>
                        <a:pt x="53181" y="29369"/>
                      </a:lnTo>
                      <a:lnTo>
                        <a:pt x="29369" y="293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4" name="pi_next_glyph_3"/>
                <p:cNvSpPr/>
                <p:nvPr/>
              </p:nvSpPr>
              <p:spPr>
                <a:xfrm>
                  <a:off x="4953078" y="2268517"/>
                  <a:ext cx="40084" cy="7540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84" h="75406">
                      <a:moveTo>
                        <a:pt x="24805" y="70842"/>
                      </a:moveTo>
                      <a:lnTo>
                        <a:pt x="40084" y="72430"/>
                      </a:lnTo>
                      <a:lnTo>
                        <a:pt x="40084" y="75406"/>
                      </a:lnTo>
                      <a:lnTo>
                        <a:pt x="0" y="75406"/>
                      </a:lnTo>
                      <a:lnTo>
                        <a:pt x="0" y="72430"/>
                      </a:lnTo>
                      <a:lnTo>
                        <a:pt x="15280" y="70842"/>
                      </a:lnTo>
                      <a:lnTo>
                        <a:pt x="15280" y="9922"/>
                      </a:lnTo>
                      <a:lnTo>
                        <a:pt x="198" y="15280"/>
                      </a:lnTo>
                      <a:lnTo>
                        <a:pt x="198" y="12303"/>
                      </a:lnTo>
                      <a:lnTo>
                        <a:pt x="22027" y="0"/>
                      </a:lnTo>
                      <a:lnTo>
                        <a:pt x="24805" y="0"/>
                      </a:lnTo>
                      <a:lnTo>
                        <a:pt x="24805" y="7084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filter_raw"/>
              <p:cNvSpPr txBox="1"/>
              <p:nvPr/>
            </p:nvSpPr>
            <p:spPr>
              <a:xfrm>
                <a:off x="3340100" y="1612900"/>
                <a:ext cx="241300" cy="1778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Sup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λ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</ns1:oMath>
                  </ns1:oMathPara>
                </ns0:m>
              </a:p>
            </p:txBody>
          </p:sp>
        </mc:Choice>
        <mc:Fallback>
          <p:grpSp>
            <p:nvGrpSpPr>
              <p:cNvPr id="245" name="filter_raw_compat"/>
              <p:cNvGrpSpPr/>
              <p:nvPr/>
            </p:nvGrpSpPr>
            <p:grpSpPr>
              <a:xfrm>
                <a:off x="3387526" y="1606752"/>
                <a:ext cx="127431" cy="171680"/>
                <a:chOff x="3387526" y="1606752"/>
                <a:chExt cx="127431" cy="171680"/>
              </a:xfrm>
            </p:grpSpPr>
            <p:sp>
              <p:nvSpPr>
                <p:cNvPr id="246" name="filter_raw_glyph_0"/>
                <p:cNvSpPr/>
                <p:nvPr/>
              </p:nvSpPr>
              <p:spPr>
                <a:xfrm>
                  <a:off x="3387526" y="1647959"/>
                  <a:ext cx="60325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325" h="98425">
                      <a:moveTo>
                        <a:pt x="27186" y="6548"/>
                      </a:moveTo>
                      <a:quadBezTo>
                        <a:pt x="24805" y="6548"/>
                        <a:pt x="22622" y="7342"/>
                      </a:quadBezTo>
                      <a:lnTo>
                        <a:pt x="19447" y="12898"/>
                      </a:lnTo>
                      <a:lnTo>
                        <a:pt x="16073" y="12898"/>
                      </a:lnTo>
                      <a:lnTo>
                        <a:pt x="17462" y="1588"/>
                      </a:lnTo>
                      <a:quadBezTo>
                        <a:pt x="22820" y="0"/>
                        <a:pt x="27781" y="0"/>
                      </a:quadBezTo>
                      <a:quadBezTo>
                        <a:pt x="32345" y="0"/>
                        <a:pt x="35123" y="1786"/>
                      </a:quadBezTo>
                      <a:quadBezTo>
                        <a:pt x="38100" y="3572"/>
                        <a:pt x="39886" y="7541"/>
                      </a:quadBezTo>
                      <a:quadBezTo>
                        <a:pt x="41672" y="11509"/>
                        <a:pt x="43061" y="19844"/>
                      </a:quadBezTo>
                      <a:lnTo>
                        <a:pt x="53777" y="88305"/>
                      </a:lnTo>
                      <a:quadBezTo>
                        <a:pt x="54570" y="93464"/>
                        <a:pt x="60325" y="95448"/>
                      </a:quadBezTo>
                      <a:lnTo>
                        <a:pt x="59928" y="98425"/>
                      </a:lnTo>
                      <a:lnTo>
                        <a:pt x="46434" y="98425"/>
                      </a:lnTo>
                      <a:lnTo>
                        <a:pt x="39886" y="48220"/>
                      </a:lnTo>
                      <a:quadBezTo>
                        <a:pt x="38497" y="51197"/>
                        <a:pt x="35917" y="56158"/>
                      </a:quadBezTo>
                      <a:quadBezTo>
                        <a:pt x="33338" y="60920"/>
                        <a:pt x="31750" y="63698"/>
                      </a:quadBezTo>
                      <a:lnTo>
                        <a:pt x="11708" y="98425"/>
                      </a:lnTo>
                      <a:lnTo>
                        <a:pt x="0" y="98425"/>
                      </a:lnTo>
                      <a:lnTo>
                        <a:pt x="397" y="95448"/>
                      </a:lnTo>
                      <a:lnTo>
                        <a:pt x="38100" y="33536"/>
                      </a:lnTo>
                      <a:lnTo>
                        <a:pt x="36314" y="21828"/>
                      </a:lnTo>
                      <a:quadBezTo>
                        <a:pt x="35322" y="13494"/>
                        <a:pt x="33139" y="10120"/>
                      </a:quadBezTo>
                      <a:quadBezTo>
                        <a:pt x="30956" y="6548"/>
                        <a:pt x="27186" y="6548"/>
                      </a:quadBez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7" name="filter_raw_glyph_1"/>
                <p:cNvSpPr/>
                <p:nvPr/>
              </p:nvSpPr>
              <p:spPr>
                <a:xfrm>
                  <a:off x="3468722" y="1606752"/>
                  <a:ext cx="46235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36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1233" y="18256"/>
                      </a:lnTo>
                      <a:lnTo>
                        <a:pt x="18852" y="0"/>
                      </a:lnTo>
                      <a:lnTo>
                        <a:pt x="27583" y="0"/>
                      </a:lnTo>
                      <a:lnTo>
                        <a:pt x="24805" y="18256"/>
                      </a:lnTo>
                      <a:lnTo>
                        <a:pt x="42664" y="7541"/>
                      </a:lnTo>
                      <a:lnTo>
                        <a:pt x="46236" y="15478"/>
                      </a:lnTo>
                      <a:lnTo>
                        <a:pt x="27583" y="21034"/>
                      </a:lnTo>
                      <a:lnTo>
                        <a:pt x="46236" y="26392"/>
                      </a:lnTo>
                      <a:lnTo>
                        <a:pt x="42664" y="34330"/>
                      </a:lnTo>
                      <a:lnTo>
                        <a:pt x="24805" y="23812"/>
                      </a:lnTo>
                      <a:lnTo>
                        <a:pt x="27583" y="41870"/>
                      </a:lnTo>
                      <a:lnTo>
                        <a:pt x="18852" y="41870"/>
                      </a:lnTo>
                      <a:lnTo>
                        <a:pt x="21233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8256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8" name="filter_raw_glyph_2"/>
                <p:cNvSpPr/>
                <p:nvPr/>
              </p:nvSpPr>
              <p:spPr>
                <a:xfrm>
                  <a:off x="3454778" y="1699057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2" name="filter_processed"/>
              <p:cNvSpPr txBox="1"/>
              <p:nvPr/>
            </p:nvSpPr>
            <p:spPr>
              <a:xfrm>
                <a:off x="1955800" y="1612900"/>
                <a:ext cx="292100" cy="1778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Sup>
                        <ns1:e>
                          <ns1:acc>
                            <ns1:accPr>
                              <ns1:chr ns1:val="̄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100" lang="en-US">
                                  <a:solidFill>
                                    <a:srgbClr val="087F8C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</ns1:oMath>
                  </ns1:oMathPara>
                </ns0:m>
              </a:p>
            </p:txBody>
          </p:sp>
        </mc:Choice>
        <mc:Fallback>
          <p:grpSp>
            <p:nvGrpSpPr>
              <p:cNvPr id="249" name="filter_processed_compat"/>
              <p:cNvGrpSpPr/>
              <p:nvPr/>
            </p:nvGrpSpPr>
            <p:grpSpPr>
              <a:xfrm>
                <a:off x="2034976" y="1606752"/>
                <a:ext cx="117580" cy="171680"/>
                <a:chOff x="2034976" y="1606752"/>
                <a:chExt cx="117580" cy="171680"/>
              </a:xfrm>
            </p:grpSpPr>
            <p:sp>
              <p:nvSpPr>
                <p:cNvPr id="250" name="filter_processed_glyph_0"/>
                <p:cNvSpPr/>
                <p:nvPr/>
              </p:nvSpPr>
              <p:spPr>
                <a:xfrm>
                  <a:off x="2034976" y="1647515"/>
                  <a:ext cx="60325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325" h="98425">
                      <a:moveTo>
                        <a:pt x="27186" y="6548"/>
                      </a:moveTo>
                      <a:quadBezTo>
                        <a:pt x="24805" y="6548"/>
                        <a:pt x="22622" y="7342"/>
                      </a:quadBezTo>
                      <a:lnTo>
                        <a:pt x="19447" y="12898"/>
                      </a:lnTo>
                      <a:lnTo>
                        <a:pt x="16073" y="12898"/>
                      </a:lnTo>
                      <a:lnTo>
                        <a:pt x="17462" y="1588"/>
                      </a:lnTo>
                      <a:quadBezTo>
                        <a:pt x="22820" y="0"/>
                        <a:pt x="27781" y="0"/>
                      </a:quadBezTo>
                      <a:quadBezTo>
                        <a:pt x="32345" y="0"/>
                        <a:pt x="35123" y="1786"/>
                      </a:quadBezTo>
                      <a:quadBezTo>
                        <a:pt x="38100" y="3572"/>
                        <a:pt x="39886" y="7541"/>
                      </a:quadBezTo>
                      <a:quadBezTo>
                        <a:pt x="41672" y="11509"/>
                        <a:pt x="43061" y="19844"/>
                      </a:quadBezTo>
                      <a:lnTo>
                        <a:pt x="53777" y="88305"/>
                      </a:lnTo>
                      <a:quadBezTo>
                        <a:pt x="54570" y="93464"/>
                        <a:pt x="60325" y="95448"/>
                      </a:quadBezTo>
                      <a:lnTo>
                        <a:pt x="59928" y="98425"/>
                      </a:lnTo>
                      <a:lnTo>
                        <a:pt x="46434" y="98425"/>
                      </a:lnTo>
                      <a:lnTo>
                        <a:pt x="39886" y="48220"/>
                      </a:lnTo>
                      <a:quadBezTo>
                        <a:pt x="38497" y="51197"/>
                        <a:pt x="35917" y="56158"/>
                      </a:quadBezTo>
                      <a:quadBezTo>
                        <a:pt x="33338" y="60920"/>
                        <a:pt x="31750" y="63698"/>
                      </a:quadBezTo>
                      <a:lnTo>
                        <a:pt x="11708" y="98425"/>
                      </a:lnTo>
                      <a:lnTo>
                        <a:pt x="0" y="98425"/>
                      </a:lnTo>
                      <a:lnTo>
                        <a:pt x="397" y="95448"/>
                      </a:lnTo>
                      <a:lnTo>
                        <a:pt x="38100" y="33536"/>
                      </a:lnTo>
                      <a:lnTo>
                        <a:pt x="36314" y="21828"/>
                      </a:lnTo>
                      <a:quadBezTo>
                        <a:pt x="35322" y="13494"/>
                        <a:pt x="33139" y="10120"/>
                      </a:quadBezTo>
                      <a:quadBezTo>
                        <a:pt x="30956" y="6548"/>
                        <a:pt x="27186" y="6548"/>
                      </a:quadBez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1" name="filter_processed_glyph_1"/>
                <p:cNvSpPr/>
                <p:nvPr/>
              </p:nvSpPr>
              <p:spPr>
                <a:xfrm>
                  <a:off x="2105725" y="1606752"/>
                  <a:ext cx="46235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36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1233" y="18256"/>
                      </a:lnTo>
                      <a:lnTo>
                        <a:pt x="18852" y="0"/>
                      </a:lnTo>
                      <a:lnTo>
                        <a:pt x="27583" y="0"/>
                      </a:lnTo>
                      <a:lnTo>
                        <a:pt x="24805" y="18256"/>
                      </a:lnTo>
                      <a:lnTo>
                        <a:pt x="42664" y="7541"/>
                      </a:lnTo>
                      <a:lnTo>
                        <a:pt x="46236" y="15478"/>
                      </a:lnTo>
                      <a:lnTo>
                        <a:pt x="27583" y="21034"/>
                      </a:lnTo>
                      <a:lnTo>
                        <a:pt x="46236" y="26392"/>
                      </a:lnTo>
                      <a:lnTo>
                        <a:pt x="42664" y="34330"/>
                      </a:lnTo>
                      <a:lnTo>
                        <a:pt x="24805" y="23812"/>
                      </a:lnTo>
                      <a:lnTo>
                        <a:pt x="27583" y="41870"/>
                      </a:lnTo>
                      <a:lnTo>
                        <a:pt x="18852" y="41870"/>
                      </a:lnTo>
                      <a:lnTo>
                        <a:pt x="21233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8256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2" name="filter_processed_glyph_2"/>
                <p:cNvSpPr/>
                <p:nvPr/>
              </p:nvSpPr>
              <p:spPr>
                <a:xfrm>
                  <a:off x="2103542" y="1699057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53" name="filter_processed_rule0"/>
                <p:cNvSpPr/>
                <p:nvPr/>
              </p:nvSpPr>
              <p:spPr>
                <a:xfrm>
                  <a:off x="2038350" y="1622115"/>
                  <a:ext cx="60504" cy="8731"/>
                </a:xfrm>
                <a:prstGeom prst="rect">
                  <a:avLst/>
                </a:pr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