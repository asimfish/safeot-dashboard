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7716500" cy="804862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sv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svg"/><Relationship Id="rId6" Type="http://schemas.openxmlformats.org/officeDocument/2006/relationships/image" Target="../media/image5.svg"/><Relationship Id="rId7" Type="http://schemas.openxmlformats.org/officeDocument/2006/relationships/image" Target="../media/image6.svg"/><Relationship Id="rId8" Type="http://schemas.openxmlformats.org/officeDocument/2006/relationships/image" Target="../media/image7.svg"/><Relationship Id="rId9" Type="http://schemas.openxmlformats.org/officeDocument/2006/relationships/image" Target="../media/image8.svg"/><Relationship Id="rId10" Type="http://schemas.openxmlformats.org/officeDocument/2006/relationships/image" Target="../media/image9.svg"/><Relationship Id="rId11" Type="http://schemas.openxmlformats.org/officeDocument/2006/relationships/image" Target="../media/image10.svg"/><Relationship Id="rId12" Type="http://schemas.openxmlformats.org/officeDocument/2006/relationships/image" Target="../media/image11.svg"/><Relationship Id="rId13" Type="http://schemas.openxmlformats.org/officeDocument/2006/relationships/image" Target="../media/image12.svg"/><Relationship Id="rId14" Type="http://schemas.openxmlformats.org/officeDocument/2006/relationships/image" Target="../media/image13.svg"/><Relationship Id="rId15" Type="http://schemas.openxmlformats.org/officeDocument/2006/relationships/image" Target="../media/image14.svg"/><Relationship Id="rId16" Type="http://schemas.openxmlformats.org/officeDocument/2006/relationships/image" Target="../media/image15.svg"/><Relationship Id="rId17" Type="http://schemas.openxmlformats.org/officeDocument/2006/relationships/image" Target="../media/image16.svg"/><Relationship Id="rId18" Type="http://schemas.openxmlformats.org/officeDocument/2006/relationships/image" Target="../media/image17.svg"/><Relationship Id="rId19" Type="http://schemas.openxmlformats.org/officeDocument/2006/relationships/image" Target="../media/image18.svg"/><Relationship Id="rId20" Type="http://schemas.openxmlformats.org/officeDocument/2006/relationships/image" Target="../media/image19.svg"/><Relationship Id="rId21" Type="http://schemas.openxmlformats.org/officeDocument/2006/relationships/image" Target="../media/image20.svg"/><Relationship Id="rId22" Type="http://schemas.openxmlformats.org/officeDocument/2006/relationships/image" Target="../media/image21.svg"/><Relationship Id="rId23" Type="http://schemas.openxmlformats.org/officeDocument/2006/relationships/image" Target="../media/image22.svg"/><Relationship Id="rId24" Type="http://schemas.openxmlformats.org/officeDocument/2006/relationships/image" Target="../media/image23.svg"/><Relationship Id="rId25" Type="http://schemas.openxmlformats.org/officeDocument/2006/relationships/image" Target="../media/image24.svg"/><Relationship Id="rId26" Type="http://schemas.openxmlformats.org/officeDocument/2006/relationships/image" Target="../media/image25.svg"/><Relationship Id="rId27" Type="http://schemas.openxmlformats.org/officeDocument/2006/relationships/image" Target="../media/image26.svg"/><Relationship Id="rId28" Type="http://schemas.openxmlformats.org/officeDocument/2006/relationships/image" Target="../media/image27.svg"/><Relationship Id="rId29" Type="http://schemas.openxmlformats.org/officeDocument/2006/relationships/image" Target="../media/image28.svg"/><Relationship Id="rId30" Type="http://schemas.openxmlformats.org/officeDocument/2006/relationships/image" Target="../media/image29.svg"/><Relationship Id="rId31" Type="http://schemas.openxmlformats.org/officeDocument/2006/relationships/image" Target="../media/image30.svg"/><Relationship Id="rId32" Type="http://schemas.openxmlformats.org/officeDocument/2006/relationships/image" Target="../media/image31.svg"/><Relationship Id="rId33" Type="http://schemas.openxmlformats.org/officeDocument/2006/relationships/image" Target="../media/image32.svg"/><Relationship Id="rId34" Type="http://schemas.openxmlformats.org/officeDocument/2006/relationships/image" Target="../media/image33.svg"/><Relationship Id="rId35" Type="http://schemas.openxmlformats.org/officeDocument/2006/relationships/image" Target="../media/image34.svg"/><Relationship Id="rId36" Type="http://schemas.openxmlformats.org/officeDocument/2006/relationships/image" Target="../media/image35.svg"/><Relationship Id="rId37" Type="http://schemas.openxmlformats.org/officeDocument/2006/relationships/image" Target="../media/image36.svg"/><Relationship Id="rId38" Type="http://schemas.openxmlformats.org/officeDocument/2006/relationships/image" Target="../media/image37.svg"/><Relationship Id="rId39" Type="http://schemas.openxmlformats.org/officeDocument/2006/relationships/image" Target="../media/image38.svg"/><Relationship Id="rId40" Type="http://schemas.openxmlformats.org/officeDocument/2006/relationships/image" Target="../media/image39.svg"/><Relationship Id="rId41" Type="http://schemas.openxmlformats.org/officeDocument/2006/relationships/image" Target="../media/image40.svg"/><Relationship Id="rId42" Type="http://schemas.openxmlformats.org/officeDocument/2006/relationships/image" Target="../media/image41.svg"/><Relationship Id="rId43" Type="http://schemas.openxmlformats.org/officeDocument/2006/relationships/image" Target="../media/image42.svg"/><Relationship Id="rId44" Type="http://schemas.openxmlformats.org/officeDocument/2006/relationships/image" Target="../media/image4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36736" y="0"/>
            <a:ext cx="17243029" cy="80486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24568" y="1643535"/>
            <a:ext cx="4451632" cy="2582698"/>
          </a:xfrm>
          <a:prstGeom prst="rect">
            <a:avLst/>
          </a:prstGeom>
          <a:solidFill>
            <a:srgbClr val="FFFFFF"/>
          </a:solidFill>
          <a:ln w="1126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6134678" y="2554523"/>
            <a:ext cx="5681935" cy="2610873"/>
          </a:xfrm>
          <a:prstGeom prst="roundRect">
            <a:avLst>
              <a:gd name="adj" fmla="val 1439"/>
            </a:avLst>
          </a:prstGeom>
          <a:solidFill>
            <a:srgbClr val="E9F5F4"/>
          </a:solidFill>
          <a:ln w="19722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12633684" y="1643535"/>
            <a:ext cx="4630072" cy="2488781"/>
          </a:xfrm>
          <a:prstGeom prst="rect">
            <a:avLst/>
          </a:prstGeom>
          <a:solidFill>
            <a:srgbClr val="F6FAFA"/>
          </a:solidFill>
          <a:ln w="1126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9637755" y="5634977"/>
            <a:ext cx="7466344" cy="1690493"/>
          </a:xfrm>
          <a:prstGeom prst="rect">
            <a:avLst/>
          </a:prstGeom>
          <a:solidFill>
            <a:srgbClr val="FFFFFF"/>
          </a:solidFill>
          <a:ln w="12209">
            <a:solidFill>
              <a:srgbClr val="98B3BD"/>
            </a:solidFill>
          </a:ln>
        </p:spPr>
        <p:txBody>
          <a:bodyPr/>
          <a:lstStyle/>
          <a:p/>
        </p:txBody>
      </p:sp>
      <p:sp>
        <p:nvSpPr>
          <p:cNvPr id="7" name="Line 7"/>
          <p:cNvSpPr/>
          <p:nvPr/>
        </p:nvSpPr>
        <p:spPr>
          <a:xfrm>
            <a:off x="4876200" y="1953459"/>
            <a:ext cx="234791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8" name="Line 8"/>
          <p:cNvSpPr/>
          <p:nvPr/>
        </p:nvSpPr>
        <p:spPr>
          <a:xfrm flipV="1">
            <a:off x="5110991" y="319315"/>
            <a:ext cx="0" cy="1634143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9" name="Line 9"/>
          <p:cNvSpPr/>
          <p:nvPr/>
        </p:nvSpPr>
        <p:spPr>
          <a:xfrm>
            <a:off x="5110991" y="319315"/>
            <a:ext cx="9964517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0" name="Line 10"/>
          <p:cNvSpPr/>
          <p:nvPr/>
        </p:nvSpPr>
        <p:spPr>
          <a:xfrm>
            <a:off x="15075508" y="319315"/>
            <a:ext cx="0" cy="1192737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1" name="Line 11"/>
          <p:cNvSpPr/>
          <p:nvPr/>
        </p:nvSpPr>
        <p:spPr>
          <a:xfrm>
            <a:off x="12520985" y="3531252"/>
            <a:ext cx="0" cy="1784409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2" name="Line 12"/>
          <p:cNvSpPr/>
          <p:nvPr/>
        </p:nvSpPr>
        <p:spPr>
          <a:xfrm flipH="1">
            <a:off x="10473610" y="5315661"/>
            <a:ext cx="2047375" cy="0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3" name="Line 13"/>
          <p:cNvSpPr/>
          <p:nvPr/>
        </p:nvSpPr>
        <p:spPr>
          <a:xfrm>
            <a:off x="10473610" y="5315661"/>
            <a:ext cx="0" cy="216007"/>
          </a:xfrm>
          <a:prstGeom prst="line">
            <a:avLst/>
          </a:prstGeom>
          <a:noFill/>
          <a:ln w="12209">
            <a:solidFill>
              <a:srgbClr val="04949E"/>
            </a:solidFill>
            <a:prstDash val="dash"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H="1">
            <a:off x="15488739" y="4348324"/>
            <a:ext cx="1343003" cy="0"/>
          </a:xfrm>
          <a:prstGeom prst="line">
            <a:avLst/>
          </a:prstGeom>
          <a:noFill/>
          <a:ln w="24418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" name="Line 15"/>
          <p:cNvSpPr/>
          <p:nvPr/>
        </p:nvSpPr>
        <p:spPr>
          <a:xfrm>
            <a:off x="15488739" y="4348324"/>
            <a:ext cx="0" cy="1136387"/>
          </a:xfrm>
          <a:prstGeom prst="line">
            <a:avLst/>
          </a:prstGeom>
          <a:noFill/>
          <a:ln w="24418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6" name="Line 16"/>
          <p:cNvSpPr/>
          <p:nvPr/>
        </p:nvSpPr>
        <p:spPr>
          <a:xfrm>
            <a:off x="16831742" y="3164979"/>
            <a:ext cx="0" cy="2300949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7" name="Line 17"/>
          <p:cNvSpPr/>
          <p:nvPr/>
        </p:nvSpPr>
        <p:spPr>
          <a:xfrm>
            <a:off x="16831742" y="5465927"/>
            <a:ext cx="441407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8" name="Line 18"/>
          <p:cNvSpPr/>
          <p:nvPr/>
        </p:nvSpPr>
        <p:spPr>
          <a:xfrm>
            <a:off x="17273148" y="5465927"/>
            <a:ext cx="0" cy="2263382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9" name="Line 19"/>
          <p:cNvSpPr/>
          <p:nvPr/>
        </p:nvSpPr>
        <p:spPr>
          <a:xfrm flipH="1">
            <a:off x="1185290" y="7729310"/>
            <a:ext cx="16087858" cy="0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0" name="Line 20"/>
          <p:cNvSpPr/>
          <p:nvPr/>
        </p:nvSpPr>
        <p:spPr>
          <a:xfrm flipV="1">
            <a:off x="1185290" y="4357715"/>
            <a:ext cx="0" cy="3371594"/>
          </a:xfrm>
          <a:prstGeom prst="line">
            <a:avLst/>
          </a:prstGeom>
          <a:noFill/>
          <a:ln w="28174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1" name="Polygon 21"/>
          <p:cNvSpPr/>
          <p:nvPr/>
        </p:nvSpPr>
        <p:spPr>
          <a:xfrm>
            <a:off x="15011081" y="1512052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olygon 22"/>
          <p:cNvSpPr/>
          <p:nvPr/>
        </p:nvSpPr>
        <p:spPr>
          <a:xfrm>
            <a:off x="10422989" y="5531669"/>
            <a:ext cx="101242" cy="1033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olygon 23"/>
          <p:cNvSpPr/>
          <p:nvPr/>
        </p:nvSpPr>
        <p:spPr>
          <a:xfrm>
            <a:off x="15424313" y="5484711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olygon 24"/>
          <p:cNvSpPr/>
          <p:nvPr/>
        </p:nvSpPr>
        <p:spPr>
          <a:xfrm>
            <a:off x="1120864" y="4226232"/>
            <a:ext cx="128853" cy="13148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Line 25"/>
          <p:cNvSpPr/>
          <p:nvPr/>
        </p:nvSpPr>
        <p:spPr>
          <a:xfrm>
            <a:off x="4876200" y="3512469"/>
            <a:ext cx="1126995" cy="0"/>
          </a:xfrm>
          <a:prstGeom prst="line">
            <a:avLst/>
          </a:prstGeom>
          <a:noFill/>
          <a:ln w="26296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" name="Line 26"/>
          <p:cNvSpPr/>
          <p:nvPr/>
        </p:nvSpPr>
        <p:spPr>
          <a:xfrm>
            <a:off x="10079162" y="2169466"/>
            <a:ext cx="0" cy="262966"/>
          </a:xfrm>
          <a:prstGeom prst="line">
            <a:avLst/>
          </a:prstGeom>
          <a:noFill/>
          <a:ln w="24418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" name="Line 27"/>
          <p:cNvSpPr/>
          <p:nvPr/>
        </p:nvSpPr>
        <p:spPr>
          <a:xfrm flipH="1">
            <a:off x="11530625" y="2225816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28" name="Line 28"/>
          <p:cNvSpPr/>
          <p:nvPr/>
        </p:nvSpPr>
        <p:spPr>
          <a:xfrm flipH="1">
            <a:off x="11493791" y="2291300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29" name="Line 29"/>
          <p:cNvSpPr/>
          <p:nvPr/>
        </p:nvSpPr>
        <p:spPr>
          <a:xfrm flipH="1">
            <a:off x="11456956" y="2356784"/>
            <a:ext cx="23022" cy="40928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 flipH="1">
            <a:off x="11421433" y="2422268"/>
            <a:ext cx="21710" cy="38596"/>
          </a:xfrm>
          <a:prstGeom prst="line">
            <a:avLst/>
          </a:prstGeom>
          <a:noFill/>
          <a:ln w="13148">
            <a:solidFill>
              <a:srgbClr val="526678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816613" y="3531252"/>
            <a:ext cx="685589" cy="0"/>
          </a:xfrm>
          <a:prstGeom prst="line">
            <a:avLst/>
          </a:prstGeom>
          <a:noFill/>
          <a:ln w="28174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2396810" y="2920796"/>
            <a:ext cx="234791" cy="0"/>
          </a:xfrm>
          <a:prstGeom prst="line">
            <a:avLst/>
          </a:prstGeom>
          <a:noFill/>
          <a:ln w="18783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8445018" y="1549619"/>
            <a:ext cx="986121" cy="0"/>
          </a:xfrm>
          <a:prstGeom prst="line">
            <a:avLst/>
          </a:prstGeom>
          <a:noFill/>
          <a:ln w="24418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34" name="Polygon 34"/>
          <p:cNvSpPr/>
          <p:nvPr/>
        </p:nvSpPr>
        <p:spPr>
          <a:xfrm>
            <a:off x="6003195" y="3448042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Polygon 35"/>
          <p:cNvSpPr/>
          <p:nvPr/>
        </p:nvSpPr>
        <p:spPr>
          <a:xfrm>
            <a:off x="10019337" y="2432432"/>
            <a:ext cx="119649" cy="12209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Polygon 36"/>
          <p:cNvSpPr/>
          <p:nvPr/>
        </p:nvSpPr>
        <p:spPr>
          <a:xfrm>
            <a:off x="11384598" y="2442815"/>
            <a:ext cx="68922" cy="835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488" y="0"/>
                </a:lnTo>
                <a:lnTo>
                  <a:pt x="21600" y="9334"/>
                </a:lnTo>
                <a:close/>
              </a:path>
            </a:pathLst>
          </a:custGeom>
          <a:solidFill>
            <a:srgbClr val="52667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Polygon 37"/>
          <p:cNvSpPr/>
          <p:nvPr/>
        </p:nvSpPr>
        <p:spPr>
          <a:xfrm>
            <a:off x="12502202" y="3466825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Polygon 38"/>
          <p:cNvSpPr/>
          <p:nvPr/>
        </p:nvSpPr>
        <p:spPr>
          <a:xfrm>
            <a:off x="2631601" y="2856370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Polygon 39"/>
          <p:cNvSpPr/>
          <p:nvPr/>
        </p:nvSpPr>
        <p:spPr>
          <a:xfrm>
            <a:off x="9431139" y="1489794"/>
            <a:ext cx="122091" cy="11964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Polygon 40"/>
          <p:cNvSpPr/>
          <p:nvPr/>
        </p:nvSpPr>
        <p:spPr>
          <a:xfrm>
            <a:off x="7308631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1" name="Polygon 41"/>
          <p:cNvSpPr/>
          <p:nvPr/>
        </p:nvSpPr>
        <p:spPr>
          <a:xfrm>
            <a:off x="7435418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2" name="Polygon 42"/>
          <p:cNvSpPr/>
          <p:nvPr/>
        </p:nvSpPr>
        <p:spPr>
          <a:xfrm>
            <a:off x="7562205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3" name="Polygon 43"/>
          <p:cNvSpPr/>
          <p:nvPr/>
        </p:nvSpPr>
        <p:spPr>
          <a:xfrm>
            <a:off x="7688992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4" name="Polygon 44"/>
          <p:cNvSpPr/>
          <p:nvPr/>
        </p:nvSpPr>
        <p:spPr>
          <a:xfrm>
            <a:off x="7308631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5" name="Polygon 45"/>
          <p:cNvSpPr/>
          <p:nvPr/>
        </p:nvSpPr>
        <p:spPr>
          <a:xfrm>
            <a:off x="7435418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6" name="Polygon 46"/>
          <p:cNvSpPr/>
          <p:nvPr/>
        </p:nvSpPr>
        <p:spPr>
          <a:xfrm>
            <a:off x="7562205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7" name="Polygon 47"/>
          <p:cNvSpPr/>
          <p:nvPr/>
        </p:nvSpPr>
        <p:spPr>
          <a:xfrm>
            <a:off x="7688992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8" name="Polygon 48"/>
          <p:cNvSpPr/>
          <p:nvPr/>
        </p:nvSpPr>
        <p:spPr>
          <a:xfrm>
            <a:off x="7308631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49" name="Polygon 49"/>
          <p:cNvSpPr/>
          <p:nvPr/>
        </p:nvSpPr>
        <p:spPr>
          <a:xfrm>
            <a:off x="7435418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0" name="Polygon 50"/>
          <p:cNvSpPr/>
          <p:nvPr/>
        </p:nvSpPr>
        <p:spPr>
          <a:xfrm>
            <a:off x="7562205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1" name="Polygon 51"/>
          <p:cNvSpPr/>
          <p:nvPr/>
        </p:nvSpPr>
        <p:spPr>
          <a:xfrm>
            <a:off x="7688992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2" name="Polygon 52"/>
          <p:cNvSpPr/>
          <p:nvPr/>
        </p:nvSpPr>
        <p:spPr>
          <a:xfrm>
            <a:off x="7308631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3" name="Polygon 53"/>
          <p:cNvSpPr/>
          <p:nvPr/>
        </p:nvSpPr>
        <p:spPr>
          <a:xfrm>
            <a:off x="7435418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4" name="Polygon 54"/>
          <p:cNvSpPr/>
          <p:nvPr/>
        </p:nvSpPr>
        <p:spPr>
          <a:xfrm>
            <a:off x="7562205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5" name="Polygon 55"/>
          <p:cNvSpPr/>
          <p:nvPr/>
        </p:nvSpPr>
        <p:spPr>
          <a:xfrm>
            <a:off x="7688992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6" name="Polygon 56"/>
          <p:cNvSpPr/>
          <p:nvPr/>
        </p:nvSpPr>
        <p:spPr>
          <a:xfrm>
            <a:off x="7562205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7" name="Polygon 57"/>
          <p:cNvSpPr/>
          <p:nvPr/>
        </p:nvSpPr>
        <p:spPr>
          <a:xfrm>
            <a:off x="7688992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8" name="Polygon 58"/>
          <p:cNvSpPr/>
          <p:nvPr/>
        </p:nvSpPr>
        <p:spPr>
          <a:xfrm>
            <a:off x="7815779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59" name="Polygon 59"/>
          <p:cNvSpPr/>
          <p:nvPr/>
        </p:nvSpPr>
        <p:spPr>
          <a:xfrm>
            <a:off x="7942566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0" name="Polygon 60"/>
          <p:cNvSpPr/>
          <p:nvPr/>
        </p:nvSpPr>
        <p:spPr>
          <a:xfrm>
            <a:off x="7562205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1" name="Polygon 61"/>
          <p:cNvSpPr/>
          <p:nvPr/>
        </p:nvSpPr>
        <p:spPr>
          <a:xfrm>
            <a:off x="7688992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2" name="Polygon 62"/>
          <p:cNvSpPr/>
          <p:nvPr/>
        </p:nvSpPr>
        <p:spPr>
          <a:xfrm>
            <a:off x="7815779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3" name="Polygon 63"/>
          <p:cNvSpPr/>
          <p:nvPr/>
        </p:nvSpPr>
        <p:spPr>
          <a:xfrm>
            <a:off x="7942566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4" name="Polygon 64"/>
          <p:cNvSpPr/>
          <p:nvPr/>
        </p:nvSpPr>
        <p:spPr>
          <a:xfrm>
            <a:off x="7562205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5" name="Polygon 65"/>
          <p:cNvSpPr/>
          <p:nvPr/>
        </p:nvSpPr>
        <p:spPr>
          <a:xfrm>
            <a:off x="7688992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6" name="Polygon 66"/>
          <p:cNvSpPr/>
          <p:nvPr/>
        </p:nvSpPr>
        <p:spPr>
          <a:xfrm>
            <a:off x="7815779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7" name="Polygon 67"/>
          <p:cNvSpPr/>
          <p:nvPr/>
        </p:nvSpPr>
        <p:spPr>
          <a:xfrm>
            <a:off x="7942566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8" name="Polygon 68"/>
          <p:cNvSpPr/>
          <p:nvPr/>
        </p:nvSpPr>
        <p:spPr>
          <a:xfrm>
            <a:off x="7562205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69" name="Polygon 69"/>
          <p:cNvSpPr/>
          <p:nvPr/>
        </p:nvSpPr>
        <p:spPr>
          <a:xfrm>
            <a:off x="7688992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0" name="Polygon 70"/>
          <p:cNvSpPr/>
          <p:nvPr/>
        </p:nvSpPr>
        <p:spPr>
          <a:xfrm>
            <a:off x="7815779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1" name="Polygon 71"/>
          <p:cNvSpPr/>
          <p:nvPr/>
        </p:nvSpPr>
        <p:spPr>
          <a:xfrm>
            <a:off x="7942566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9665930" y="1042471"/>
            <a:ext cx="211312" cy="211312"/>
          </a:xfrm>
          <a:prstGeom prst="rect">
            <a:avLst/>
          </a:prstGeom>
          <a:solidFill>
            <a:srgbClr val="BDE1E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9877242" y="1042471"/>
            <a:ext cx="211312" cy="211312"/>
          </a:xfrm>
          <a:prstGeom prst="rect">
            <a:avLst/>
          </a:prstGeom>
          <a:solidFill>
            <a:srgbClr val="DBF0EF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0088553" y="1042471"/>
            <a:ext cx="211312" cy="211312"/>
          </a:xfrm>
          <a:prstGeom prst="rect">
            <a:avLst/>
          </a:prstGeom>
          <a:solidFill>
            <a:srgbClr val="C4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0299865" y="1042471"/>
            <a:ext cx="211312" cy="211312"/>
          </a:xfrm>
          <a:prstGeom prst="rect">
            <a:avLst/>
          </a:prstGeom>
          <a:solidFill>
            <a:srgbClr val="AFDA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9665930" y="1253782"/>
            <a:ext cx="211312" cy="211312"/>
          </a:xfrm>
          <a:prstGeom prst="rect">
            <a:avLst/>
          </a:prstGeom>
          <a:solidFill>
            <a:srgbClr val="DE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9877242" y="1253782"/>
            <a:ext cx="211312" cy="211312"/>
          </a:xfrm>
          <a:prstGeom prst="rect">
            <a:avLst/>
          </a:prstGeom>
          <a:solidFill>
            <a:srgbClr val="41A6A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0088553" y="1253782"/>
            <a:ext cx="211312" cy="211312"/>
          </a:xfrm>
          <a:prstGeom prst="rect">
            <a:avLst/>
          </a:prstGeom>
          <a:solidFill>
            <a:srgbClr val="DE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10299865" y="1253782"/>
            <a:ext cx="211312" cy="211312"/>
          </a:xfrm>
          <a:prstGeom prst="rect">
            <a:avLst/>
          </a:prstGeom>
          <a:solidFill>
            <a:srgbClr val="CDEAE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9665930" y="1465094"/>
            <a:ext cx="211312" cy="211312"/>
          </a:xfrm>
          <a:prstGeom prst="rect">
            <a:avLst/>
          </a:prstGeom>
          <a:solidFill>
            <a:srgbClr val="ACD9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9877242" y="1465094"/>
            <a:ext cx="211312" cy="211312"/>
          </a:xfrm>
          <a:prstGeom prst="rect">
            <a:avLst/>
          </a:prstGeom>
          <a:solidFill>
            <a:srgbClr val="DEF1F0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10088553" y="1465094"/>
            <a:ext cx="211312" cy="211312"/>
          </a:xfrm>
          <a:prstGeom prst="rect">
            <a:avLst/>
          </a:prstGeom>
          <a:solidFill>
            <a:srgbClr val="C8E7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10299865" y="1465094"/>
            <a:ext cx="211312" cy="211312"/>
          </a:xfrm>
          <a:prstGeom prst="rect">
            <a:avLst/>
          </a:prstGeom>
          <a:solidFill>
            <a:srgbClr val="D2EAE9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9665930" y="1676406"/>
            <a:ext cx="211312" cy="211312"/>
          </a:xfrm>
          <a:prstGeom prst="rect">
            <a:avLst/>
          </a:prstGeom>
          <a:solidFill>
            <a:srgbClr val="C9E6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9877242" y="1676406"/>
            <a:ext cx="211312" cy="211312"/>
          </a:xfrm>
          <a:prstGeom prst="rect">
            <a:avLst/>
          </a:prstGeom>
          <a:solidFill>
            <a:srgbClr val="E0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10088553" y="1676406"/>
            <a:ext cx="211312" cy="211312"/>
          </a:xfrm>
          <a:prstGeom prst="rect">
            <a:avLst/>
          </a:prstGeom>
          <a:solidFill>
            <a:srgbClr val="C4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10299865" y="1676406"/>
            <a:ext cx="211312" cy="211312"/>
          </a:xfrm>
          <a:prstGeom prst="rect">
            <a:avLst/>
          </a:prstGeom>
          <a:solidFill>
            <a:srgbClr val="A8D8D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6698176" y="3146195"/>
            <a:ext cx="251226" cy="246530"/>
          </a:xfrm>
          <a:prstGeom prst="rect">
            <a:avLst/>
          </a:prstGeom>
          <a:solidFill>
            <a:srgbClr val="C5E5E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6949402" y="3146195"/>
            <a:ext cx="251226" cy="246530"/>
          </a:xfrm>
          <a:prstGeom prst="rect">
            <a:avLst/>
          </a:prstGeom>
          <a:solidFill>
            <a:srgbClr val="E6F5F4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7200628" y="3146195"/>
            <a:ext cx="251226" cy="246530"/>
          </a:xfrm>
          <a:prstGeom prst="rect">
            <a:avLst/>
          </a:prstGeom>
          <a:solidFill>
            <a:srgbClr val="CDE8E7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7451854" y="3146195"/>
            <a:ext cx="251226" cy="246530"/>
          </a:xfrm>
          <a:prstGeom prst="rect">
            <a:avLst/>
          </a:prstGeom>
          <a:solidFill>
            <a:srgbClr val="ABDAD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6698176" y="3392726"/>
            <a:ext cx="251226" cy="246530"/>
          </a:xfrm>
          <a:prstGeom prst="rect">
            <a:avLst/>
          </a:prstGeom>
          <a:solidFill>
            <a:srgbClr val="E4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6949402" y="3392726"/>
            <a:ext cx="251226" cy="246530"/>
          </a:xfrm>
          <a:prstGeom prst="rect">
            <a:avLst/>
          </a:prstGeom>
          <a:solidFill>
            <a:srgbClr val="2E9A9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7200628" y="3392726"/>
            <a:ext cx="251226" cy="246530"/>
          </a:xfrm>
          <a:prstGeom prst="rect">
            <a:avLst/>
          </a:prstGeom>
          <a:solidFill>
            <a:srgbClr val="E3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7451854" y="3392726"/>
            <a:ext cx="251226" cy="246530"/>
          </a:xfrm>
          <a:prstGeom prst="rect">
            <a:avLst/>
          </a:prstGeom>
          <a:solidFill>
            <a:srgbClr val="E2F2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6698176" y="3639256"/>
            <a:ext cx="251226" cy="246530"/>
          </a:xfrm>
          <a:prstGeom prst="rect">
            <a:avLst/>
          </a:prstGeom>
          <a:solidFill>
            <a:srgbClr val="A9D7D7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6949402" y="3639256"/>
            <a:ext cx="251226" cy="246530"/>
          </a:xfrm>
          <a:prstGeom prst="rect">
            <a:avLst/>
          </a:prstGeom>
          <a:solidFill>
            <a:srgbClr val="E2F3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7200628" y="3639256"/>
            <a:ext cx="251226" cy="246530"/>
          </a:xfrm>
          <a:prstGeom prst="rect">
            <a:avLst/>
          </a:prstGeom>
          <a:solidFill>
            <a:srgbClr val="2B9A9F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7451854" y="3639256"/>
            <a:ext cx="251226" cy="246530"/>
          </a:xfrm>
          <a:prstGeom prst="rect">
            <a:avLst/>
          </a:prstGeom>
          <a:solidFill>
            <a:srgbClr val="E0F2F1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6698176" y="3885786"/>
            <a:ext cx="251226" cy="246530"/>
          </a:xfrm>
          <a:prstGeom prst="rect">
            <a:avLst/>
          </a:prstGeom>
          <a:solidFill>
            <a:srgbClr val="CCE8E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6949402" y="3885786"/>
            <a:ext cx="251226" cy="246530"/>
          </a:xfrm>
          <a:prstGeom prst="rect">
            <a:avLst/>
          </a:prstGeom>
          <a:solidFill>
            <a:srgbClr val="E5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7200628" y="3885786"/>
            <a:ext cx="251226" cy="246530"/>
          </a:xfrm>
          <a:prstGeom prst="rect">
            <a:avLst/>
          </a:prstGeom>
          <a:solidFill>
            <a:srgbClr val="E2F3F2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7451854" y="3885786"/>
            <a:ext cx="251226" cy="246530"/>
          </a:xfrm>
          <a:prstGeom prst="rect">
            <a:avLst/>
          </a:prstGeom>
          <a:solidFill>
            <a:srgbClr val="A2D4D4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4" name="Line 104"/>
          <p:cNvSpPr/>
          <p:nvPr/>
        </p:nvSpPr>
        <p:spPr>
          <a:xfrm>
            <a:off x="6538518" y="4517373"/>
            <a:ext cx="4958779" cy="0"/>
          </a:xfrm>
          <a:prstGeom prst="line">
            <a:avLst/>
          </a:prstGeom>
          <a:noFill/>
          <a:ln w="14087">
            <a:solidFill>
              <a:srgbClr val="819BA2"/>
            </a:solidFill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13131441" y="2282166"/>
            <a:ext cx="293488" cy="293488"/>
          </a:xfrm>
          <a:prstGeom prst="rect">
            <a:avLst/>
          </a:prstGeom>
          <a:solidFill>
            <a:srgbClr val="2D9A9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13424929" y="2282166"/>
            <a:ext cx="293488" cy="293488"/>
          </a:xfrm>
          <a:prstGeom prst="rect">
            <a:avLst/>
          </a:prstGeom>
          <a:solidFill>
            <a:srgbClr val="CAE7E6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13718417" y="2282166"/>
            <a:ext cx="293488" cy="293488"/>
          </a:xfrm>
          <a:prstGeom prst="rect">
            <a:avLst/>
          </a:prstGeom>
          <a:solidFill>
            <a:srgbClr val="D0E9E8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14011906" y="2282166"/>
            <a:ext cx="293488" cy="293488"/>
          </a:xfrm>
          <a:prstGeom prst="rect">
            <a:avLst/>
          </a:prstGeom>
          <a:solidFill>
            <a:srgbClr val="E7F5F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13131441" y="2575654"/>
            <a:ext cx="293488" cy="293488"/>
          </a:xfrm>
          <a:prstGeom prst="rect">
            <a:avLst/>
          </a:prstGeom>
          <a:solidFill>
            <a:srgbClr val="D5ECEB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13424929" y="2575654"/>
            <a:ext cx="293488" cy="293488"/>
          </a:xfrm>
          <a:prstGeom prst="rect">
            <a:avLst/>
          </a:prstGeom>
          <a:solidFill>
            <a:srgbClr val="2B999D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13718417" y="2575654"/>
            <a:ext cx="293488" cy="293488"/>
          </a:xfrm>
          <a:prstGeom prst="rect">
            <a:avLst/>
          </a:prstGeom>
          <a:solidFill>
            <a:srgbClr val="B5DDDD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14011906" y="2575654"/>
            <a:ext cx="293488" cy="293488"/>
          </a:xfrm>
          <a:prstGeom prst="rect">
            <a:avLst/>
          </a:prstGeom>
          <a:solidFill>
            <a:srgbClr val="E4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13131441" y="2869142"/>
            <a:ext cx="293488" cy="293488"/>
          </a:xfrm>
          <a:prstGeom prst="rect">
            <a:avLst/>
          </a:prstGeom>
          <a:solidFill>
            <a:srgbClr val="D4EBE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13424929" y="2869142"/>
            <a:ext cx="293488" cy="293488"/>
          </a:xfrm>
          <a:prstGeom prst="rect">
            <a:avLst/>
          </a:prstGeom>
          <a:solidFill>
            <a:srgbClr val="E8F5F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13718417" y="2869142"/>
            <a:ext cx="293488" cy="293488"/>
          </a:xfrm>
          <a:prstGeom prst="rect">
            <a:avLst/>
          </a:prstGeom>
          <a:solidFill>
            <a:srgbClr val="B0DADA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14011906" y="2869142"/>
            <a:ext cx="293488" cy="293488"/>
          </a:xfrm>
          <a:prstGeom prst="rect">
            <a:avLst/>
          </a:prstGeom>
          <a:solidFill>
            <a:srgbClr val="83C4C5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13131441" y="3162631"/>
            <a:ext cx="293488" cy="293488"/>
          </a:xfrm>
          <a:prstGeom prst="rect">
            <a:avLst/>
          </a:prstGeom>
          <a:solidFill>
            <a:srgbClr val="93CFCE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13424929" y="3162631"/>
            <a:ext cx="293488" cy="293488"/>
          </a:xfrm>
          <a:prstGeom prst="rect">
            <a:avLst/>
          </a:prstGeom>
          <a:solidFill>
            <a:srgbClr val="C4E4E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13718417" y="3162631"/>
            <a:ext cx="293488" cy="293488"/>
          </a:xfrm>
          <a:prstGeom prst="rect">
            <a:avLst/>
          </a:prstGeom>
          <a:solidFill>
            <a:srgbClr val="E5F4F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14011906" y="3162631"/>
            <a:ext cx="293488" cy="293488"/>
          </a:xfrm>
          <a:prstGeom prst="rect">
            <a:avLst/>
          </a:prstGeom>
          <a:solidFill>
            <a:srgbClr val="C3E3E3"/>
          </a:solidFill>
          <a:ln w="7513">
            <a:solidFill>
              <a:srgbClr val="5D8A90"/>
            </a:solidFill>
          </a:ln>
        </p:spPr>
        <p:txBody>
          <a:bodyPr/>
          <a:lstStyle/>
          <a:p/>
        </p:txBody>
      </p:sp>
      <p:sp>
        <p:nvSpPr>
          <p:cNvPr id="121" name="Polygon 121"/>
          <p:cNvSpPr/>
          <p:nvPr/>
        </p:nvSpPr>
        <p:spPr>
          <a:xfrm>
            <a:off x="7815779" y="112934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2" name="Polygon 122"/>
          <p:cNvSpPr/>
          <p:nvPr/>
        </p:nvSpPr>
        <p:spPr>
          <a:xfrm>
            <a:off x="7942566" y="108473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3" name="Polygon 123"/>
          <p:cNvSpPr/>
          <p:nvPr/>
        </p:nvSpPr>
        <p:spPr>
          <a:xfrm>
            <a:off x="8069353" y="104012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4" name="Polygon 124"/>
          <p:cNvSpPr/>
          <p:nvPr/>
        </p:nvSpPr>
        <p:spPr>
          <a:xfrm>
            <a:off x="8196140" y="995513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5" name="Polygon 125"/>
          <p:cNvSpPr/>
          <p:nvPr/>
        </p:nvSpPr>
        <p:spPr>
          <a:xfrm>
            <a:off x="7815779" y="1321872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6" name="Polygon 126"/>
          <p:cNvSpPr/>
          <p:nvPr/>
        </p:nvSpPr>
        <p:spPr>
          <a:xfrm>
            <a:off x="7942566" y="127726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7" name="Polygon 127"/>
          <p:cNvSpPr/>
          <p:nvPr/>
        </p:nvSpPr>
        <p:spPr>
          <a:xfrm>
            <a:off x="8069353" y="123265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8" name="Polygon 128"/>
          <p:cNvSpPr/>
          <p:nvPr/>
        </p:nvSpPr>
        <p:spPr>
          <a:xfrm>
            <a:off x="8196140" y="1188041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29" name="Polygon 129"/>
          <p:cNvSpPr/>
          <p:nvPr/>
        </p:nvSpPr>
        <p:spPr>
          <a:xfrm>
            <a:off x="7815779" y="151440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0" name="Polygon 130"/>
          <p:cNvSpPr/>
          <p:nvPr/>
        </p:nvSpPr>
        <p:spPr>
          <a:xfrm>
            <a:off x="7942566" y="146979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1" name="Polygon 131"/>
          <p:cNvSpPr/>
          <p:nvPr/>
        </p:nvSpPr>
        <p:spPr>
          <a:xfrm>
            <a:off x="8069353" y="1425180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2" name="Polygon 132"/>
          <p:cNvSpPr/>
          <p:nvPr/>
        </p:nvSpPr>
        <p:spPr>
          <a:xfrm>
            <a:off x="8196140" y="1380569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3" name="Polygon 133"/>
          <p:cNvSpPr/>
          <p:nvPr/>
        </p:nvSpPr>
        <p:spPr>
          <a:xfrm>
            <a:off x="7815779" y="170692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4" name="Polygon 134"/>
          <p:cNvSpPr/>
          <p:nvPr/>
        </p:nvSpPr>
        <p:spPr>
          <a:xfrm>
            <a:off x="7942566" y="166231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DCEFF0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5" name="Polygon 135"/>
          <p:cNvSpPr/>
          <p:nvPr/>
        </p:nvSpPr>
        <p:spPr>
          <a:xfrm>
            <a:off x="8069353" y="161770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ECF7F7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6" name="Polygon 136"/>
          <p:cNvSpPr/>
          <p:nvPr/>
        </p:nvSpPr>
        <p:spPr>
          <a:xfrm>
            <a:off x="8196140" y="1573098"/>
            <a:ext cx="126787" cy="23713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solidFill>
            <a:srgbClr val="CFE6E8"/>
          </a:solidFill>
          <a:ln w="5165">
            <a:solidFill>
              <a:srgbClr val="94B8BD"/>
            </a:solidFill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9665930" y="1042471"/>
            <a:ext cx="845246" cy="845246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6698176" y="3146195"/>
            <a:ext cx="1004904" cy="986121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13131441" y="2282166"/>
            <a:ext cx="1173953" cy="1173953"/>
          </a:xfrm>
          <a:prstGeom prst="rect">
            <a:avLst/>
          </a:prstGeom>
          <a:noFill/>
          <a:ln w="11739">
            <a:solidFill>
              <a:srgbClr val="223A43"/>
            </a:solidFill>
          </a:ln>
        </p:spPr>
        <p:txBody>
          <a:bodyPr/>
          <a:lstStyle/>
          <a:p/>
        </p:txBody>
      </p:sp>
      <p:sp>
        <p:nvSpPr>
          <p:cNvPr id="140" name="Line 140"/>
          <p:cNvSpPr/>
          <p:nvPr/>
        </p:nvSpPr>
        <p:spPr>
          <a:xfrm>
            <a:off x="753275" y="2545131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1" name="Line 141"/>
          <p:cNvSpPr/>
          <p:nvPr/>
        </p:nvSpPr>
        <p:spPr>
          <a:xfrm>
            <a:off x="1128940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2" name="Line 142"/>
          <p:cNvSpPr/>
          <p:nvPr/>
        </p:nvSpPr>
        <p:spPr>
          <a:xfrm>
            <a:off x="1495214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3" name="Line 143"/>
          <p:cNvSpPr/>
          <p:nvPr/>
        </p:nvSpPr>
        <p:spPr>
          <a:xfrm>
            <a:off x="1861487" y="2545131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4" name="Line 144"/>
          <p:cNvSpPr/>
          <p:nvPr/>
        </p:nvSpPr>
        <p:spPr>
          <a:xfrm>
            <a:off x="753275" y="2911405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5" name="Line 145"/>
          <p:cNvSpPr/>
          <p:nvPr/>
        </p:nvSpPr>
        <p:spPr>
          <a:xfrm>
            <a:off x="1128940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6" name="Line 146"/>
          <p:cNvSpPr/>
          <p:nvPr/>
        </p:nvSpPr>
        <p:spPr>
          <a:xfrm>
            <a:off x="1495214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7" name="Line 147"/>
          <p:cNvSpPr/>
          <p:nvPr/>
        </p:nvSpPr>
        <p:spPr>
          <a:xfrm>
            <a:off x="1861487" y="2911405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8" name="Line 148"/>
          <p:cNvSpPr/>
          <p:nvPr/>
        </p:nvSpPr>
        <p:spPr>
          <a:xfrm>
            <a:off x="753275" y="3287070"/>
            <a:ext cx="131483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49" name="Line 149"/>
          <p:cNvSpPr/>
          <p:nvPr/>
        </p:nvSpPr>
        <p:spPr>
          <a:xfrm>
            <a:off x="1128940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0" name="Line 150"/>
          <p:cNvSpPr/>
          <p:nvPr/>
        </p:nvSpPr>
        <p:spPr>
          <a:xfrm>
            <a:off x="1495214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1" name="Line 151"/>
          <p:cNvSpPr/>
          <p:nvPr/>
        </p:nvSpPr>
        <p:spPr>
          <a:xfrm>
            <a:off x="1861487" y="3287070"/>
            <a:ext cx="122091" cy="0"/>
          </a:xfrm>
          <a:prstGeom prst="line">
            <a:avLst/>
          </a:prstGeom>
          <a:noFill/>
          <a:ln w="1126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152" name="Polygon 152"/>
          <p:cNvSpPr/>
          <p:nvPr/>
        </p:nvSpPr>
        <p:spPr>
          <a:xfrm>
            <a:off x="7308631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53" name="Roundrect 153"/>
          <p:cNvSpPr/>
          <p:nvPr/>
        </p:nvSpPr>
        <p:spPr>
          <a:xfrm>
            <a:off x="14944025" y="2498173"/>
            <a:ext cx="1117604" cy="854638"/>
          </a:xfrm>
          <a:prstGeom prst="roundRect">
            <a:avLst>
              <a:gd name="adj" fmla="val 4396"/>
            </a:avLst>
          </a:prstGeom>
          <a:solidFill>
            <a:srgbClr val="DCE4E8"/>
          </a:solidFill>
          <a:ln w="11269">
            <a:solidFill>
              <a:srgbClr val="718996"/>
            </a:solidFill>
          </a:ln>
        </p:spPr>
        <p:txBody>
          <a:bodyPr/>
          <a:lstStyle/>
          <a:p/>
        </p:txBody>
      </p:sp>
      <p:sp>
        <p:nvSpPr>
          <p:cNvPr id="154" name="Polygon 154"/>
          <p:cNvSpPr/>
          <p:nvPr/>
        </p:nvSpPr>
        <p:spPr>
          <a:xfrm>
            <a:off x="884758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Polygon 155"/>
          <p:cNvSpPr/>
          <p:nvPr/>
        </p:nvSpPr>
        <p:spPr>
          <a:xfrm>
            <a:off x="1251032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Polygon 156"/>
          <p:cNvSpPr/>
          <p:nvPr/>
        </p:nvSpPr>
        <p:spPr>
          <a:xfrm>
            <a:off x="1617305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Polygon 157"/>
          <p:cNvSpPr/>
          <p:nvPr/>
        </p:nvSpPr>
        <p:spPr>
          <a:xfrm>
            <a:off x="1983578" y="2517520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Polygon 158"/>
          <p:cNvSpPr/>
          <p:nvPr/>
        </p:nvSpPr>
        <p:spPr>
          <a:xfrm>
            <a:off x="884758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Polygon 159"/>
          <p:cNvSpPr/>
          <p:nvPr/>
        </p:nvSpPr>
        <p:spPr>
          <a:xfrm>
            <a:off x="1251032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Polygon 160"/>
          <p:cNvSpPr/>
          <p:nvPr/>
        </p:nvSpPr>
        <p:spPr>
          <a:xfrm>
            <a:off x="1617305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Polygon 161"/>
          <p:cNvSpPr/>
          <p:nvPr/>
        </p:nvSpPr>
        <p:spPr>
          <a:xfrm>
            <a:off x="1983578" y="2883793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Polygon 162"/>
          <p:cNvSpPr/>
          <p:nvPr/>
        </p:nvSpPr>
        <p:spPr>
          <a:xfrm>
            <a:off x="884758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Polygon 163"/>
          <p:cNvSpPr/>
          <p:nvPr/>
        </p:nvSpPr>
        <p:spPr>
          <a:xfrm>
            <a:off x="1251032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Polygon 164"/>
          <p:cNvSpPr/>
          <p:nvPr/>
        </p:nvSpPr>
        <p:spPr>
          <a:xfrm>
            <a:off x="1617305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Polygon 165"/>
          <p:cNvSpPr/>
          <p:nvPr/>
        </p:nvSpPr>
        <p:spPr>
          <a:xfrm>
            <a:off x="1983578" y="3259458"/>
            <a:ext cx="56350" cy="5522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Polygon 166"/>
          <p:cNvSpPr/>
          <p:nvPr/>
        </p:nvSpPr>
        <p:spPr>
          <a:xfrm>
            <a:off x="7562205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67" name="Polygon 167"/>
          <p:cNvSpPr/>
          <p:nvPr/>
        </p:nvSpPr>
        <p:spPr>
          <a:xfrm>
            <a:off x="7815779" y="995513"/>
            <a:ext cx="507148" cy="94855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4063"/>
                </a:moveTo>
                <a:lnTo>
                  <a:pt x="21600" y="0"/>
                </a:lnTo>
                <a:lnTo>
                  <a:pt x="21600" y="17537"/>
                </a:lnTo>
                <a:lnTo>
                  <a:pt x="0" y="21600"/>
                </a:lnTo>
                <a:close/>
              </a:path>
            </a:pathLst>
          </a:custGeom>
          <a:noFill/>
          <a:ln w="8452">
            <a:solidFill>
              <a:srgbClr val="76949E"/>
            </a:solidFill>
          </a:ln>
        </p:spPr>
        <p:txBody>
          <a:bodyPr/>
          <a:lstStyle/>
          <a:p/>
        </p:txBody>
      </p:sp>
      <p:sp>
        <p:nvSpPr>
          <p:cNvPr id="168" name="Line 168"/>
          <p:cNvSpPr/>
          <p:nvPr/>
        </p:nvSpPr>
        <p:spPr>
          <a:xfrm>
            <a:off x="14418094" y="2930188"/>
            <a:ext cx="338099" cy="0"/>
          </a:xfrm>
          <a:prstGeom prst="line">
            <a:avLst/>
          </a:prstGeom>
          <a:noFill/>
          <a:ln w="26296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69" name="Line 169"/>
          <p:cNvSpPr/>
          <p:nvPr/>
        </p:nvSpPr>
        <p:spPr>
          <a:xfrm>
            <a:off x="16127370" y="2930188"/>
            <a:ext cx="300532" cy="0"/>
          </a:xfrm>
          <a:prstGeom prst="line">
            <a:avLst/>
          </a:prstGeom>
          <a:noFill/>
          <a:ln w="25357">
            <a:solidFill>
              <a:srgbClr val="688690"/>
            </a:solidFill>
          </a:ln>
        </p:spPr>
        <p:txBody>
          <a:bodyPr/>
          <a:lstStyle/>
          <a:p/>
        </p:txBody>
      </p:sp>
      <p:sp>
        <p:nvSpPr>
          <p:cNvPr id="170" name="Polygon 170"/>
          <p:cNvSpPr/>
          <p:nvPr/>
        </p:nvSpPr>
        <p:spPr>
          <a:xfrm>
            <a:off x="14756192" y="2865761"/>
            <a:ext cx="131483" cy="12885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Polygon 171"/>
          <p:cNvSpPr/>
          <p:nvPr/>
        </p:nvSpPr>
        <p:spPr>
          <a:xfrm>
            <a:off x="16427902" y="2870363"/>
            <a:ext cx="122091" cy="11964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68869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Ellipse 172"/>
          <p:cNvSpPr/>
          <p:nvPr/>
        </p:nvSpPr>
        <p:spPr>
          <a:xfrm>
            <a:off x="565443" y="2451215"/>
            <a:ext cx="187833" cy="187833"/>
          </a:xfrm>
          <a:prstGeom prst="ellipse">
            <a:avLst/>
          </a:prstGeom>
          <a:solidFill>
            <a:srgbClr val="C2DCE1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3" name="Ellipse 173"/>
          <p:cNvSpPr/>
          <p:nvPr/>
        </p:nvSpPr>
        <p:spPr>
          <a:xfrm>
            <a:off x="941108" y="2451215"/>
            <a:ext cx="187833" cy="187833"/>
          </a:xfrm>
          <a:prstGeom prst="ellipse">
            <a:avLst/>
          </a:prstGeom>
          <a:solidFill>
            <a:srgbClr val="BCD7DD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4" name="Ellipse 174"/>
          <p:cNvSpPr/>
          <p:nvPr/>
        </p:nvSpPr>
        <p:spPr>
          <a:xfrm>
            <a:off x="1307381" y="2451215"/>
            <a:ext cx="187833" cy="187833"/>
          </a:xfrm>
          <a:prstGeom prst="ellipse">
            <a:avLst/>
          </a:prstGeom>
          <a:solidFill>
            <a:srgbClr val="BCD7DD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5" name="Ellipse 175"/>
          <p:cNvSpPr/>
          <p:nvPr/>
        </p:nvSpPr>
        <p:spPr>
          <a:xfrm>
            <a:off x="1673655" y="2451215"/>
            <a:ext cx="187833" cy="187833"/>
          </a:xfrm>
          <a:prstGeom prst="ellipse">
            <a:avLst/>
          </a:prstGeom>
          <a:solidFill>
            <a:srgbClr val="B3D2D8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6" name="Ellipse 176"/>
          <p:cNvSpPr/>
          <p:nvPr/>
        </p:nvSpPr>
        <p:spPr>
          <a:xfrm>
            <a:off x="2039928" y="2451215"/>
            <a:ext cx="187833" cy="187833"/>
          </a:xfrm>
          <a:prstGeom prst="ellipse">
            <a:avLst/>
          </a:prstGeom>
          <a:solidFill>
            <a:srgbClr val="2197A1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7" name="Ellipse 177"/>
          <p:cNvSpPr/>
          <p:nvPr/>
        </p:nvSpPr>
        <p:spPr>
          <a:xfrm>
            <a:off x="565443" y="2817488"/>
            <a:ext cx="187833" cy="187833"/>
          </a:xfrm>
          <a:prstGeom prst="ellipse">
            <a:avLst/>
          </a:prstGeom>
          <a:solidFill>
            <a:srgbClr val="BED9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8" name="Ellipse 178"/>
          <p:cNvSpPr/>
          <p:nvPr/>
        </p:nvSpPr>
        <p:spPr>
          <a:xfrm>
            <a:off x="941108" y="2817488"/>
            <a:ext cx="187833" cy="187833"/>
          </a:xfrm>
          <a:prstGeom prst="ellipse">
            <a:avLst/>
          </a:prstGeom>
          <a:solidFill>
            <a:srgbClr val="2799A3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79" name="Ellipse 179"/>
          <p:cNvSpPr/>
          <p:nvPr/>
        </p:nvSpPr>
        <p:spPr>
          <a:xfrm>
            <a:off x="1307381" y="2817488"/>
            <a:ext cx="187833" cy="187833"/>
          </a:xfrm>
          <a:prstGeom prst="ellipse">
            <a:avLst/>
          </a:prstGeom>
          <a:solidFill>
            <a:srgbClr val="2396A0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0" name="Ellipse 180"/>
          <p:cNvSpPr/>
          <p:nvPr/>
        </p:nvSpPr>
        <p:spPr>
          <a:xfrm>
            <a:off x="1673655" y="2817488"/>
            <a:ext cx="187833" cy="187833"/>
          </a:xfrm>
          <a:prstGeom prst="ellipse">
            <a:avLst/>
          </a:prstGeom>
          <a:solidFill>
            <a:srgbClr val="B1D1D7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1" name="Ellipse 181"/>
          <p:cNvSpPr/>
          <p:nvPr/>
        </p:nvSpPr>
        <p:spPr>
          <a:xfrm>
            <a:off x="2039928" y="2817488"/>
            <a:ext cx="187833" cy="187833"/>
          </a:xfrm>
          <a:prstGeom prst="ellipse">
            <a:avLst/>
          </a:prstGeom>
          <a:solidFill>
            <a:srgbClr val="C4DFE2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2" name="Ellipse 182"/>
          <p:cNvSpPr/>
          <p:nvPr/>
        </p:nvSpPr>
        <p:spPr>
          <a:xfrm>
            <a:off x="565443" y="3193153"/>
            <a:ext cx="187833" cy="187833"/>
          </a:xfrm>
          <a:prstGeom prst="ellipse">
            <a:avLst/>
          </a:prstGeom>
          <a:solidFill>
            <a:srgbClr val="86AAB5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3" name="Ellipse 183"/>
          <p:cNvSpPr/>
          <p:nvPr/>
        </p:nvSpPr>
        <p:spPr>
          <a:xfrm>
            <a:off x="941108" y="3193153"/>
            <a:ext cx="187833" cy="187833"/>
          </a:xfrm>
          <a:prstGeom prst="ellipse">
            <a:avLst/>
          </a:prstGeom>
          <a:solidFill>
            <a:srgbClr val="C5DFE3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4" name="Ellipse 184"/>
          <p:cNvSpPr/>
          <p:nvPr/>
        </p:nvSpPr>
        <p:spPr>
          <a:xfrm>
            <a:off x="1307381" y="3193153"/>
            <a:ext cx="187833" cy="187833"/>
          </a:xfrm>
          <a:prstGeom prst="ellipse">
            <a:avLst/>
          </a:prstGeom>
          <a:solidFill>
            <a:srgbClr val="BEDA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5" name="Ellipse 185"/>
          <p:cNvSpPr/>
          <p:nvPr/>
        </p:nvSpPr>
        <p:spPr>
          <a:xfrm>
            <a:off x="1673655" y="3193153"/>
            <a:ext cx="187833" cy="187833"/>
          </a:xfrm>
          <a:prstGeom prst="ellipse">
            <a:avLst/>
          </a:prstGeom>
          <a:solidFill>
            <a:srgbClr val="138D97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6" name="Ellipse 186"/>
          <p:cNvSpPr/>
          <p:nvPr/>
        </p:nvSpPr>
        <p:spPr>
          <a:xfrm>
            <a:off x="2039928" y="3193153"/>
            <a:ext cx="187833" cy="187833"/>
          </a:xfrm>
          <a:prstGeom prst="ellipse">
            <a:avLst/>
          </a:prstGeom>
          <a:solidFill>
            <a:srgbClr val="BEDADE"/>
          </a:solidFill>
          <a:ln w="11269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187" name="Line 187"/>
          <p:cNvSpPr/>
          <p:nvPr/>
        </p:nvSpPr>
        <p:spPr>
          <a:xfrm flipV="1">
            <a:off x="8210228" y="3359120"/>
            <a:ext cx="38656" cy="4064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88" name="Line 188"/>
          <p:cNvSpPr/>
          <p:nvPr/>
        </p:nvSpPr>
        <p:spPr>
          <a:xfrm flipV="1">
            <a:off x="8248884" y="3321679"/>
            <a:ext cx="39444" cy="3744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89" name="Line 189"/>
          <p:cNvSpPr/>
          <p:nvPr/>
        </p:nvSpPr>
        <p:spPr>
          <a:xfrm flipV="1">
            <a:off x="8288328" y="3287421"/>
            <a:ext cx="40158" cy="3425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0" name="Line 190"/>
          <p:cNvSpPr/>
          <p:nvPr/>
        </p:nvSpPr>
        <p:spPr>
          <a:xfrm flipV="1">
            <a:off x="8328486" y="3256321"/>
            <a:ext cx="40797" cy="3110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1" name="Line 191"/>
          <p:cNvSpPr/>
          <p:nvPr/>
        </p:nvSpPr>
        <p:spPr>
          <a:xfrm flipV="1">
            <a:off x="8369283" y="3228352"/>
            <a:ext cx="41362" cy="2796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2" name="Line 192"/>
          <p:cNvSpPr/>
          <p:nvPr/>
        </p:nvSpPr>
        <p:spPr>
          <a:xfrm flipV="1">
            <a:off x="8410645" y="3203490"/>
            <a:ext cx="41852" cy="2486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3" name="Line 193"/>
          <p:cNvSpPr/>
          <p:nvPr/>
        </p:nvSpPr>
        <p:spPr>
          <a:xfrm flipV="1">
            <a:off x="8452497" y="3181707"/>
            <a:ext cx="42268" cy="2178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4" name="Line 194"/>
          <p:cNvSpPr/>
          <p:nvPr/>
        </p:nvSpPr>
        <p:spPr>
          <a:xfrm flipV="1">
            <a:off x="8494765" y="3162980"/>
            <a:ext cx="42609" cy="1872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5" name="Line 195"/>
          <p:cNvSpPr/>
          <p:nvPr/>
        </p:nvSpPr>
        <p:spPr>
          <a:xfrm flipV="1">
            <a:off x="8537374" y="3147281"/>
            <a:ext cx="42876" cy="1569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6" name="Line 196"/>
          <p:cNvSpPr/>
          <p:nvPr/>
        </p:nvSpPr>
        <p:spPr>
          <a:xfrm flipV="1">
            <a:off x="8580250" y="3134586"/>
            <a:ext cx="43069" cy="1269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7" name="Line 197"/>
          <p:cNvSpPr/>
          <p:nvPr/>
        </p:nvSpPr>
        <p:spPr>
          <a:xfrm flipV="1">
            <a:off x="8623319" y="3124868"/>
            <a:ext cx="43187" cy="971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8" name="Line 198"/>
          <p:cNvSpPr/>
          <p:nvPr/>
        </p:nvSpPr>
        <p:spPr>
          <a:xfrm flipV="1">
            <a:off x="8666506" y="3118103"/>
            <a:ext cx="43230" cy="67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199" name="Line 199"/>
          <p:cNvSpPr/>
          <p:nvPr/>
        </p:nvSpPr>
        <p:spPr>
          <a:xfrm flipV="1">
            <a:off x="8709736" y="3114263"/>
            <a:ext cx="43200" cy="383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0" name="Line 200"/>
          <p:cNvSpPr/>
          <p:nvPr/>
        </p:nvSpPr>
        <p:spPr>
          <a:xfrm flipV="1">
            <a:off x="8752936" y="3113325"/>
            <a:ext cx="43094" cy="93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1" name="Line 201"/>
          <p:cNvSpPr/>
          <p:nvPr/>
        </p:nvSpPr>
        <p:spPr>
          <a:xfrm>
            <a:off x="8796030" y="3113325"/>
            <a:ext cx="42915" cy="193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2" name="Line 202"/>
          <p:cNvSpPr/>
          <p:nvPr/>
        </p:nvSpPr>
        <p:spPr>
          <a:xfrm>
            <a:off x="8838945" y="3115261"/>
            <a:ext cx="42661" cy="478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3" name="Line 203"/>
          <p:cNvSpPr/>
          <p:nvPr/>
        </p:nvSpPr>
        <p:spPr>
          <a:xfrm>
            <a:off x="8881606" y="3120047"/>
            <a:ext cx="42332" cy="760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4" name="Line 204"/>
          <p:cNvSpPr/>
          <p:nvPr/>
        </p:nvSpPr>
        <p:spPr>
          <a:xfrm>
            <a:off x="8923938" y="3127656"/>
            <a:ext cx="41929" cy="1040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5" name="Line 205"/>
          <p:cNvSpPr/>
          <p:nvPr/>
        </p:nvSpPr>
        <p:spPr>
          <a:xfrm>
            <a:off x="8965867" y="3138063"/>
            <a:ext cx="41452" cy="1318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6" name="Line 206"/>
          <p:cNvSpPr/>
          <p:nvPr/>
        </p:nvSpPr>
        <p:spPr>
          <a:xfrm>
            <a:off x="9007319" y="3151243"/>
            <a:ext cx="40900" cy="1592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7" name="Line 207"/>
          <p:cNvSpPr/>
          <p:nvPr/>
        </p:nvSpPr>
        <p:spPr>
          <a:xfrm>
            <a:off x="9048218" y="3167169"/>
            <a:ext cx="40273" cy="1864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8" name="Line 208"/>
          <p:cNvSpPr/>
          <p:nvPr/>
        </p:nvSpPr>
        <p:spPr>
          <a:xfrm>
            <a:off x="9088492" y="3185816"/>
            <a:ext cx="39573" cy="213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09" name="Line 209"/>
          <p:cNvSpPr/>
          <p:nvPr/>
        </p:nvSpPr>
        <p:spPr>
          <a:xfrm>
            <a:off x="9128064" y="3207159"/>
            <a:ext cx="38797" cy="2401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0" name="Line 210"/>
          <p:cNvSpPr/>
          <p:nvPr/>
        </p:nvSpPr>
        <p:spPr>
          <a:xfrm>
            <a:off x="9166862" y="3231171"/>
            <a:ext cx="37948" cy="2665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1" name="Line 211"/>
          <p:cNvSpPr/>
          <p:nvPr/>
        </p:nvSpPr>
        <p:spPr>
          <a:xfrm>
            <a:off x="9204809" y="3257827"/>
            <a:ext cx="37024" cy="2927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2" name="Line 212"/>
          <p:cNvSpPr/>
          <p:nvPr/>
        </p:nvSpPr>
        <p:spPr>
          <a:xfrm>
            <a:off x="9241833" y="3287101"/>
            <a:ext cx="36025" cy="3186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3" name="Line 213"/>
          <p:cNvSpPr/>
          <p:nvPr/>
        </p:nvSpPr>
        <p:spPr>
          <a:xfrm flipH="1" flipV="1">
            <a:off x="9274960" y="3315959"/>
            <a:ext cx="2898" cy="301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4" name="Line 214"/>
          <p:cNvSpPr/>
          <p:nvPr/>
        </p:nvSpPr>
        <p:spPr>
          <a:xfrm flipH="1">
            <a:off x="9321091" y="3916309"/>
            <a:ext cx="34915" cy="39748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5" name="Line 215"/>
          <p:cNvSpPr/>
          <p:nvPr/>
        </p:nvSpPr>
        <p:spPr>
          <a:xfrm flipH="1">
            <a:off x="9284833" y="3956056"/>
            <a:ext cx="36258" cy="3673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6" name="Line 216"/>
          <p:cNvSpPr/>
          <p:nvPr/>
        </p:nvSpPr>
        <p:spPr>
          <a:xfrm flipH="1">
            <a:off x="9247328" y="3992790"/>
            <a:ext cx="37505" cy="3372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7" name="Line 217"/>
          <p:cNvSpPr/>
          <p:nvPr/>
        </p:nvSpPr>
        <p:spPr>
          <a:xfrm flipH="1">
            <a:off x="9208670" y="4026516"/>
            <a:ext cx="38658" cy="3072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8" name="Line 218"/>
          <p:cNvSpPr/>
          <p:nvPr/>
        </p:nvSpPr>
        <p:spPr>
          <a:xfrm flipH="1">
            <a:off x="9168954" y="4057238"/>
            <a:ext cx="39715" cy="2772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19" name="Line 219"/>
          <p:cNvSpPr/>
          <p:nvPr/>
        </p:nvSpPr>
        <p:spPr>
          <a:xfrm flipH="1">
            <a:off x="9128276" y="4084962"/>
            <a:ext cx="40678" cy="2473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0" name="Line 220"/>
          <p:cNvSpPr/>
          <p:nvPr/>
        </p:nvSpPr>
        <p:spPr>
          <a:xfrm flipH="1">
            <a:off x="9086731" y="4109693"/>
            <a:ext cx="41546" cy="217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1" name="Line 221"/>
          <p:cNvSpPr/>
          <p:nvPr/>
        </p:nvSpPr>
        <p:spPr>
          <a:xfrm flipH="1">
            <a:off x="9044412" y="4131436"/>
            <a:ext cx="42318" cy="1876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2" name="Line 222"/>
          <p:cNvSpPr/>
          <p:nvPr/>
        </p:nvSpPr>
        <p:spPr>
          <a:xfrm flipH="1">
            <a:off x="9001416" y="4150196"/>
            <a:ext cx="42996" cy="1578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3" name="Line 223"/>
          <p:cNvSpPr/>
          <p:nvPr/>
        </p:nvSpPr>
        <p:spPr>
          <a:xfrm flipH="1">
            <a:off x="8957838" y="4165978"/>
            <a:ext cx="43579" cy="1281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4" name="Line 224"/>
          <p:cNvSpPr/>
          <p:nvPr/>
        </p:nvSpPr>
        <p:spPr>
          <a:xfrm flipH="1">
            <a:off x="8913771" y="4178788"/>
            <a:ext cx="44066" cy="98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5" name="Line 225"/>
          <p:cNvSpPr/>
          <p:nvPr/>
        </p:nvSpPr>
        <p:spPr>
          <a:xfrm flipH="1">
            <a:off x="8869312" y="4188631"/>
            <a:ext cx="44459" cy="688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6" name="Line 226"/>
          <p:cNvSpPr/>
          <p:nvPr/>
        </p:nvSpPr>
        <p:spPr>
          <a:xfrm flipH="1">
            <a:off x="8824555" y="4195511"/>
            <a:ext cx="44757" cy="392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7" name="Line 227"/>
          <p:cNvSpPr/>
          <p:nvPr/>
        </p:nvSpPr>
        <p:spPr>
          <a:xfrm flipH="1">
            <a:off x="8779595" y="4199434"/>
            <a:ext cx="44960" cy="97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8" name="Line 228"/>
          <p:cNvSpPr/>
          <p:nvPr/>
        </p:nvSpPr>
        <p:spPr>
          <a:xfrm flipH="1" flipV="1">
            <a:off x="8734528" y="4198430"/>
            <a:ext cx="45068" cy="197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29" name="Line 229"/>
          <p:cNvSpPr/>
          <p:nvPr/>
        </p:nvSpPr>
        <p:spPr>
          <a:xfrm flipH="1" flipV="1">
            <a:off x="8689447" y="4193512"/>
            <a:ext cx="45080" cy="491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0" name="Line 230"/>
          <p:cNvSpPr/>
          <p:nvPr/>
        </p:nvSpPr>
        <p:spPr>
          <a:xfrm flipH="1" flipV="1">
            <a:off x="8644449" y="4185658"/>
            <a:ext cx="44998" cy="7854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1" name="Line 231"/>
          <p:cNvSpPr/>
          <p:nvPr/>
        </p:nvSpPr>
        <p:spPr>
          <a:xfrm flipH="1" flipV="1">
            <a:off x="8599628" y="4174873"/>
            <a:ext cx="44821" cy="1078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2" name="Line 232"/>
          <p:cNvSpPr/>
          <p:nvPr/>
        </p:nvSpPr>
        <p:spPr>
          <a:xfrm flipH="1" flipV="1">
            <a:off x="8555079" y="4161161"/>
            <a:ext cx="44549" cy="1371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3" name="Line 233"/>
          <p:cNvSpPr/>
          <p:nvPr/>
        </p:nvSpPr>
        <p:spPr>
          <a:xfrm flipH="1" flipV="1">
            <a:off x="8510897" y="4144528"/>
            <a:ext cx="44182" cy="1663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4" name="Line 234"/>
          <p:cNvSpPr/>
          <p:nvPr/>
        </p:nvSpPr>
        <p:spPr>
          <a:xfrm flipH="1" flipV="1">
            <a:off x="8467177" y="4124979"/>
            <a:ext cx="43720" cy="19549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5" name="Line 235"/>
          <p:cNvSpPr/>
          <p:nvPr/>
        </p:nvSpPr>
        <p:spPr>
          <a:xfrm flipH="1" flipV="1">
            <a:off x="8424014" y="4102519"/>
            <a:ext cx="43163" cy="2246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6" name="Line 236"/>
          <p:cNvSpPr/>
          <p:nvPr/>
        </p:nvSpPr>
        <p:spPr>
          <a:xfrm flipH="1" flipV="1">
            <a:off x="8381503" y="4077153"/>
            <a:ext cx="42511" cy="253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7" name="Line 237"/>
          <p:cNvSpPr/>
          <p:nvPr/>
        </p:nvSpPr>
        <p:spPr>
          <a:xfrm flipH="1" flipV="1">
            <a:off x="8339739" y="4048887"/>
            <a:ext cx="41764" cy="282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8" name="Line 238"/>
          <p:cNvSpPr/>
          <p:nvPr/>
        </p:nvSpPr>
        <p:spPr>
          <a:xfrm flipH="1" flipV="1">
            <a:off x="8298817" y="4017725"/>
            <a:ext cx="40922" cy="3116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39" name="Line 239"/>
          <p:cNvSpPr/>
          <p:nvPr/>
        </p:nvSpPr>
        <p:spPr>
          <a:xfrm flipH="1" flipV="1">
            <a:off x="8258832" y="3983672"/>
            <a:ext cx="39985" cy="3405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0" name="Line 240"/>
          <p:cNvSpPr/>
          <p:nvPr/>
        </p:nvSpPr>
        <p:spPr>
          <a:xfrm flipH="1" flipV="1">
            <a:off x="8255114" y="3979955"/>
            <a:ext cx="3718" cy="371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1" name="Line 241"/>
          <p:cNvSpPr/>
          <p:nvPr/>
        </p:nvSpPr>
        <p:spPr>
          <a:xfrm>
            <a:off x="14944025" y="5973075"/>
            <a:ext cx="0" cy="1164562"/>
          </a:xfrm>
          <a:prstGeom prst="line">
            <a:avLst/>
          </a:prstGeom>
          <a:noFill/>
          <a:ln w="13148">
            <a:solidFill>
              <a:srgbClr val="AA420A"/>
            </a:solidFill>
            <a:prstDash val="dash"/>
          </a:ln>
        </p:spPr>
        <p:txBody>
          <a:bodyPr/>
          <a:lstStyle/>
          <a:p/>
        </p:txBody>
      </p:sp>
      <p:sp>
        <p:nvSpPr>
          <p:cNvPr id="242" name="Line 242"/>
          <p:cNvSpPr/>
          <p:nvPr/>
        </p:nvSpPr>
        <p:spPr>
          <a:xfrm>
            <a:off x="3279623" y="2460606"/>
            <a:ext cx="281749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3" name="Line 243"/>
          <p:cNvSpPr/>
          <p:nvPr/>
        </p:nvSpPr>
        <p:spPr>
          <a:xfrm>
            <a:off x="4002778" y="2460606"/>
            <a:ext cx="234791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4" name="Line 244"/>
          <p:cNvSpPr/>
          <p:nvPr/>
        </p:nvSpPr>
        <p:spPr>
          <a:xfrm>
            <a:off x="3101182" y="2639047"/>
            <a:ext cx="0" cy="432015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5" name="Line 245"/>
          <p:cNvSpPr/>
          <p:nvPr/>
        </p:nvSpPr>
        <p:spPr>
          <a:xfrm>
            <a:off x="3824338" y="2639047"/>
            <a:ext cx="0" cy="43201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6" name="Line 246"/>
          <p:cNvSpPr/>
          <p:nvPr/>
        </p:nvSpPr>
        <p:spPr>
          <a:xfrm>
            <a:off x="4500535" y="2639047"/>
            <a:ext cx="0" cy="432015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7" name="Line 247"/>
          <p:cNvSpPr/>
          <p:nvPr/>
        </p:nvSpPr>
        <p:spPr>
          <a:xfrm>
            <a:off x="3279623" y="3334028"/>
            <a:ext cx="281749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48" name="Line 248"/>
          <p:cNvSpPr/>
          <p:nvPr/>
        </p:nvSpPr>
        <p:spPr>
          <a:xfrm>
            <a:off x="4002778" y="3334028"/>
            <a:ext cx="234791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49" name="Line 249"/>
          <p:cNvSpPr/>
          <p:nvPr/>
        </p:nvSpPr>
        <p:spPr>
          <a:xfrm flipH="1" flipV="1">
            <a:off x="3268885" y="2663157"/>
            <a:ext cx="441654" cy="53342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0" name="Line 250"/>
          <p:cNvSpPr/>
          <p:nvPr/>
        </p:nvSpPr>
        <p:spPr>
          <a:xfrm flipV="1">
            <a:off x="3949912" y="2681188"/>
            <a:ext cx="405980" cy="52439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1" name="Line 251"/>
          <p:cNvSpPr/>
          <p:nvPr/>
        </p:nvSpPr>
        <p:spPr>
          <a:xfrm flipH="1">
            <a:off x="3968980" y="2589055"/>
            <a:ext cx="405980" cy="524391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2" name="Polygon 252"/>
          <p:cNvSpPr/>
          <p:nvPr/>
        </p:nvSpPr>
        <p:spPr>
          <a:xfrm>
            <a:off x="9238495" y="3280848"/>
            <a:ext cx="108120" cy="10952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21600"/>
                </a:moveTo>
                <a:lnTo>
                  <a:pt x="0" y="13848"/>
                </a:lnTo>
                <a:lnTo>
                  <a:pt x="1457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Polygon 253"/>
          <p:cNvSpPr/>
          <p:nvPr/>
        </p:nvSpPr>
        <p:spPr>
          <a:xfrm>
            <a:off x="8182053" y="3906917"/>
            <a:ext cx="108850" cy="10883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7390"/>
                </a:lnTo>
                <a:lnTo>
                  <a:pt x="7396" y="2160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Line 254"/>
          <p:cNvSpPr/>
          <p:nvPr/>
        </p:nvSpPr>
        <p:spPr>
          <a:xfrm>
            <a:off x="10144903" y="3174370"/>
            <a:ext cx="23479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5" name="Line 255"/>
          <p:cNvSpPr/>
          <p:nvPr/>
        </p:nvSpPr>
        <p:spPr>
          <a:xfrm>
            <a:off x="10783534" y="3174370"/>
            <a:ext cx="197224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6" name="Line 256"/>
          <p:cNvSpPr/>
          <p:nvPr/>
        </p:nvSpPr>
        <p:spPr>
          <a:xfrm>
            <a:off x="9985245" y="3334028"/>
            <a:ext cx="0" cy="385057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57" name="Line 257"/>
          <p:cNvSpPr/>
          <p:nvPr/>
        </p:nvSpPr>
        <p:spPr>
          <a:xfrm>
            <a:off x="10623876" y="3334028"/>
            <a:ext cx="0" cy="38505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8" name="Line 258"/>
          <p:cNvSpPr/>
          <p:nvPr/>
        </p:nvSpPr>
        <p:spPr>
          <a:xfrm>
            <a:off x="11224940" y="3334028"/>
            <a:ext cx="0" cy="385057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59" name="Line 259"/>
          <p:cNvSpPr/>
          <p:nvPr/>
        </p:nvSpPr>
        <p:spPr>
          <a:xfrm>
            <a:off x="10144903" y="3963267"/>
            <a:ext cx="23479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0" name="Line 260"/>
          <p:cNvSpPr/>
          <p:nvPr/>
        </p:nvSpPr>
        <p:spPr>
          <a:xfrm>
            <a:off x="10783534" y="3963267"/>
            <a:ext cx="197224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1" name="Line 261"/>
          <p:cNvSpPr/>
          <p:nvPr/>
        </p:nvSpPr>
        <p:spPr>
          <a:xfrm flipH="1" flipV="1">
            <a:off x="10138884" y="3364160"/>
            <a:ext cx="384535" cy="475014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2" name="Line 262"/>
          <p:cNvSpPr/>
          <p:nvPr/>
        </p:nvSpPr>
        <p:spPr>
          <a:xfrm flipV="1">
            <a:off x="10737070" y="3381122"/>
            <a:ext cx="356320" cy="46767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3" name="Line 263"/>
          <p:cNvSpPr/>
          <p:nvPr/>
        </p:nvSpPr>
        <p:spPr>
          <a:xfrm flipH="1">
            <a:off x="10755426" y="3288845"/>
            <a:ext cx="356320" cy="46767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4" name="Line 264"/>
          <p:cNvSpPr/>
          <p:nvPr/>
        </p:nvSpPr>
        <p:spPr>
          <a:xfrm>
            <a:off x="10220036" y="6160908"/>
            <a:ext cx="17844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5" name="Line 265"/>
          <p:cNvSpPr/>
          <p:nvPr/>
        </p:nvSpPr>
        <p:spPr>
          <a:xfrm>
            <a:off x="10774142" y="6160908"/>
            <a:ext cx="159658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6" name="Line 266"/>
          <p:cNvSpPr/>
          <p:nvPr/>
        </p:nvSpPr>
        <p:spPr>
          <a:xfrm>
            <a:off x="10069770" y="6311174"/>
            <a:ext cx="0" cy="26296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67" name="Line 267"/>
          <p:cNvSpPr/>
          <p:nvPr/>
        </p:nvSpPr>
        <p:spPr>
          <a:xfrm>
            <a:off x="10623876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8" name="Line 268"/>
          <p:cNvSpPr/>
          <p:nvPr/>
        </p:nvSpPr>
        <p:spPr>
          <a:xfrm>
            <a:off x="11159199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69" name="Line 269"/>
          <p:cNvSpPr/>
          <p:nvPr/>
        </p:nvSpPr>
        <p:spPr>
          <a:xfrm>
            <a:off x="10220036" y="6799539"/>
            <a:ext cx="178441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0" name="Line 270"/>
          <p:cNvSpPr/>
          <p:nvPr/>
        </p:nvSpPr>
        <p:spPr>
          <a:xfrm>
            <a:off x="10774142" y="6799539"/>
            <a:ext cx="159658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1" name="Line 271"/>
          <p:cNvSpPr/>
          <p:nvPr/>
        </p:nvSpPr>
        <p:spPr>
          <a:xfrm flipH="1" flipV="1">
            <a:off x="10217486" y="6331157"/>
            <a:ext cx="307913" cy="354882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2" name="Line 272"/>
          <p:cNvSpPr/>
          <p:nvPr/>
        </p:nvSpPr>
        <p:spPr>
          <a:xfrm flipV="1">
            <a:off x="10736241" y="6346920"/>
            <a:ext cx="293996" cy="35073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3" name="Line 273"/>
          <p:cNvSpPr/>
          <p:nvPr/>
        </p:nvSpPr>
        <p:spPr>
          <a:xfrm flipH="1">
            <a:off x="10752838" y="6262794"/>
            <a:ext cx="293996" cy="350732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4" name="Line 274"/>
          <p:cNvSpPr/>
          <p:nvPr/>
        </p:nvSpPr>
        <p:spPr>
          <a:xfrm>
            <a:off x="13629197" y="6160908"/>
            <a:ext cx="187833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5" name="Line 275"/>
          <p:cNvSpPr/>
          <p:nvPr/>
        </p:nvSpPr>
        <p:spPr>
          <a:xfrm>
            <a:off x="14192695" y="6160908"/>
            <a:ext cx="150266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6" name="Line 276"/>
          <p:cNvSpPr/>
          <p:nvPr/>
        </p:nvSpPr>
        <p:spPr>
          <a:xfrm>
            <a:off x="13478931" y="6311174"/>
            <a:ext cx="0" cy="262966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77" name="Line 277"/>
          <p:cNvSpPr/>
          <p:nvPr/>
        </p:nvSpPr>
        <p:spPr>
          <a:xfrm>
            <a:off x="14042429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8" name="Line 278"/>
          <p:cNvSpPr/>
          <p:nvPr/>
        </p:nvSpPr>
        <p:spPr>
          <a:xfrm>
            <a:off x="14568360" y="6311174"/>
            <a:ext cx="0" cy="262966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79" name="Line 279"/>
          <p:cNvSpPr/>
          <p:nvPr/>
        </p:nvSpPr>
        <p:spPr>
          <a:xfrm>
            <a:off x="13629197" y="6799539"/>
            <a:ext cx="187833" cy="0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0" name="Line 280"/>
          <p:cNvSpPr/>
          <p:nvPr/>
        </p:nvSpPr>
        <p:spPr>
          <a:xfrm>
            <a:off x="14192695" y="6799539"/>
            <a:ext cx="150266" cy="0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81" name="Line 281"/>
          <p:cNvSpPr/>
          <p:nvPr/>
        </p:nvSpPr>
        <p:spPr>
          <a:xfrm flipH="1" flipV="1">
            <a:off x="13628060" y="6329921"/>
            <a:ext cx="314950" cy="356943"/>
          </a:xfrm>
          <a:prstGeom prst="line">
            <a:avLst/>
          </a:prstGeom>
          <a:noFill/>
          <a:ln w="12209">
            <a:solidFill>
              <a:srgbClr val="85919C"/>
            </a:solidFill>
          </a:ln>
        </p:spPr>
        <p:txBody>
          <a:bodyPr/>
          <a:lstStyle/>
          <a:p/>
        </p:txBody>
      </p:sp>
      <p:sp>
        <p:nvSpPr>
          <p:cNvPr id="282" name="Line 282"/>
          <p:cNvSpPr/>
          <p:nvPr/>
        </p:nvSpPr>
        <p:spPr>
          <a:xfrm flipV="1">
            <a:off x="14153903" y="6348035"/>
            <a:ext cx="287118" cy="3486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3" name="Line 283"/>
          <p:cNvSpPr/>
          <p:nvPr/>
        </p:nvSpPr>
        <p:spPr>
          <a:xfrm flipH="1">
            <a:off x="14169767" y="6263768"/>
            <a:ext cx="287118" cy="348643"/>
          </a:xfrm>
          <a:prstGeom prst="line">
            <a:avLst/>
          </a:prstGeom>
          <a:noFill/>
          <a:ln w="18783">
            <a:solidFill>
              <a:srgbClr val="04949E"/>
            </a:solidFill>
          </a:ln>
        </p:spPr>
        <p:txBody>
          <a:bodyPr/>
          <a:lstStyle/>
          <a:p/>
        </p:txBody>
      </p:sp>
      <p:sp>
        <p:nvSpPr>
          <p:cNvPr id="284" name="Polygon 284"/>
          <p:cNvSpPr/>
          <p:nvPr/>
        </p:nvSpPr>
        <p:spPr>
          <a:xfrm>
            <a:off x="3561372" y="2423791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Polygon 285"/>
          <p:cNvSpPr/>
          <p:nvPr/>
        </p:nvSpPr>
        <p:spPr>
          <a:xfrm>
            <a:off x="4237569" y="2423791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Polygon 286"/>
          <p:cNvSpPr/>
          <p:nvPr/>
        </p:nvSpPr>
        <p:spPr>
          <a:xfrm>
            <a:off x="3064367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Polygon 287"/>
          <p:cNvSpPr/>
          <p:nvPr/>
        </p:nvSpPr>
        <p:spPr>
          <a:xfrm>
            <a:off x="3787522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Polygon 288"/>
          <p:cNvSpPr/>
          <p:nvPr/>
        </p:nvSpPr>
        <p:spPr>
          <a:xfrm>
            <a:off x="4463720" y="3071062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Polygon 289"/>
          <p:cNvSpPr/>
          <p:nvPr/>
        </p:nvSpPr>
        <p:spPr>
          <a:xfrm>
            <a:off x="3561372" y="3297213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Polygon 290"/>
          <p:cNvSpPr/>
          <p:nvPr/>
        </p:nvSpPr>
        <p:spPr>
          <a:xfrm>
            <a:off x="4237569" y="3297213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Polygon 291"/>
          <p:cNvSpPr/>
          <p:nvPr/>
        </p:nvSpPr>
        <p:spPr>
          <a:xfrm>
            <a:off x="3220970" y="2605285"/>
            <a:ext cx="76272" cy="8135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9132"/>
                </a:lnTo>
                <a:lnTo>
                  <a:pt x="5539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Polygon 292"/>
          <p:cNvSpPr/>
          <p:nvPr/>
        </p:nvSpPr>
        <p:spPr>
          <a:xfrm>
            <a:off x="4326781" y="2621779"/>
            <a:ext cx="75105" cy="819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744" y="21600"/>
                </a:lnTo>
                <a:lnTo>
                  <a:pt x="0" y="9719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Polygon 293"/>
          <p:cNvSpPr/>
          <p:nvPr/>
        </p:nvSpPr>
        <p:spPr>
          <a:xfrm>
            <a:off x="3922986" y="3090909"/>
            <a:ext cx="75105" cy="819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4856" y="0"/>
                </a:lnTo>
                <a:lnTo>
                  <a:pt x="21600" y="11881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Polygon 294"/>
          <p:cNvSpPr/>
          <p:nvPr/>
        </p:nvSpPr>
        <p:spPr>
          <a:xfrm>
            <a:off x="10379694" y="3137555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Polygon 295"/>
          <p:cNvSpPr/>
          <p:nvPr/>
        </p:nvSpPr>
        <p:spPr>
          <a:xfrm>
            <a:off x="10980758" y="3137555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Polygon 296"/>
          <p:cNvSpPr/>
          <p:nvPr/>
        </p:nvSpPr>
        <p:spPr>
          <a:xfrm>
            <a:off x="9948430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Polygon 297"/>
          <p:cNvSpPr/>
          <p:nvPr/>
        </p:nvSpPr>
        <p:spPr>
          <a:xfrm>
            <a:off x="10587061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Polygon 298"/>
          <p:cNvSpPr/>
          <p:nvPr/>
        </p:nvSpPr>
        <p:spPr>
          <a:xfrm>
            <a:off x="11188125" y="3719085"/>
            <a:ext cx="73630" cy="7513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Polygon 299"/>
          <p:cNvSpPr/>
          <p:nvPr/>
        </p:nvSpPr>
        <p:spPr>
          <a:xfrm>
            <a:off x="10379694" y="3926452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Polygon 300"/>
          <p:cNvSpPr/>
          <p:nvPr/>
        </p:nvSpPr>
        <p:spPr>
          <a:xfrm>
            <a:off x="10980758" y="3926452"/>
            <a:ext cx="75133" cy="7363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Polygon 301"/>
          <p:cNvSpPr/>
          <p:nvPr/>
        </p:nvSpPr>
        <p:spPr>
          <a:xfrm>
            <a:off x="10091611" y="3305763"/>
            <a:ext cx="75888" cy="8156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9331"/>
                </a:lnTo>
                <a:lnTo>
                  <a:pt x="5311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Polygon 302"/>
          <p:cNvSpPr/>
          <p:nvPr/>
        </p:nvSpPr>
        <p:spPr>
          <a:xfrm>
            <a:off x="11064106" y="3321359"/>
            <a:ext cx="74818" cy="820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909" y="21600"/>
                </a:lnTo>
                <a:lnTo>
                  <a:pt x="0" y="9856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Polygon 303"/>
          <p:cNvSpPr/>
          <p:nvPr/>
        </p:nvSpPr>
        <p:spPr>
          <a:xfrm>
            <a:off x="10709892" y="3734203"/>
            <a:ext cx="74818" cy="8207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4691" y="0"/>
                </a:lnTo>
                <a:lnTo>
                  <a:pt x="21600" y="11744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Polygon 304"/>
          <p:cNvSpPr/>
          <p:nvPr/>
        </p:nvSpPr>
        <p:spPr>
          <a:xfrm>
            <a:off x="10398477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Polygon 305"/>
          <p:cNvSpPr/>
          <p:nvPr/>
        </p:nvSpPr>
        <p:spPr>
          <a:xfrm>
            <a:off x="10933800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Polygon 306"/>
          <p:cNvSpPr/>
          <p:nvPr/>
        </p:nvSpPr>
        <p:spPr>
          <a:xfrm>
            <a:off x="10037557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Polygon 307"/>
          <p:cNvSpPr/>
          <p:nvPr/>
        </p:nvSpPr>
        <p:spPr>
          <a:xfrm>
            <a:off x="10591663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Polygon 308"/>
          <p:cNvSpPr/>
          <p:nvPr/>
        </p:nvSpPr>
        <p:spPr>
          <a:xfrm>
            <a:off x="11126986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Polygon 309"/>
          <p:cNvSpPr/>
          <p:nvPr/>
        </p:nvSpPr>
        <p:spPr>
          <a:xfrm>
            <a:off x="10398477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Polygon 310"/>
          <p:cNvSpPr/>
          <p:nvPr/>
        </p:nvSpPr>
        <p:spPr>
          <a:xfrm>
            <a:off x="10933800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Polygon 311"/>
          <p:cNvSpPr/>
          <p:nvPr/>
        </p:nvSpPr>
        <p:spPr>
          <a:xfrm>
            <a:off x="10174402" y="6281501"/>
            <a:ext cx="67415" cy="7076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713"/>
                </a:lnTo>
                <a:lnTo>
                  <a:pt x="6008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Polygon 312"/>
          <p:cNvSpPr/>
          <p:nvPr/>
        </p:nvSpPr>
        <p:spPr>
          <a:xfrm>
            <a:off x="11005550" y="6296538"/>
            <a:ext cx="66920" cy="710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5937" y="21600"/>
                </a:lnTo>
                <a:lnTo>
                  <a:pt x="0" y="9022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Polygon 313"/>
          <p:cNvSpPr/>
          <p:nvPr/>
        </p:nvSpPr>
        <p:spPr>
          <a:xfrm>
            <a:off x="10710605" y="6592833"/>
            <a:ext cx="66920" cy="7107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5663" y="0"/>
                </a:lnTo>
                <a:lnTo>
                  <a:pt x="21600" y="12578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Polygon 314"/>
          <p:cNvSpPr/>
          <p:nvPr/>
        </p:nvSpPr>
        <p:spPr>
          <a:xfrm>
            <a:off x="13817029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Polygon 315"/>
          <p:cNvSpPr/>
          <p:nvPr/>
        </p:nvSpPr>
        <p:spPr>
          <a:xfrm>
            <a:off x="14342961" y="612869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Polygon 316"/>
          <p:cNvSpPr/>
          <p:nvPr/>
        </p:nvSpPr>
        <p:spPr>
          <a:xfrm>
            <a:off x="13446718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Polygon 317"/>
          <p:cNvSpPr/>
          <p:nvPr/>
        </p:nvSpPr>
        <p:spPr>
          <a:xfrm>
            <a:off x="14010215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Polygon 318"/>
          <p:cNvSpPr/>
          <p:nvPr/>
        </p:nvSpPr>
        <p:spPr>
          <a:xfrm>
            <a:off x="14536146" y="6574139"/>
            <a:ext cx="64427" cy="65741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Polygon 319"/>
          <p:cNvSpPr/>
          <p:nvPr/>
        </p:nvSpPr>
        <p:spPr>
          <a:xfrm>
            <a:off x="13817029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Polygon 320"/>
          <p:cNvSpPr/>
          <p:nvPr/>
        </p:nvSpPr>
        <p:spPr>
          <a:xfrm>
            <a:off x="14342961" y="6767325"/>
            <a:ext cx="65741" cy="6442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Polygon 321"/>
          <p:cNvSpPr/>
          <p:nvPr/>
        </p:nvSpPr>
        <p:spPr>
          <a:xfrm>
            <a:off x="13584564" y="6280625"/>
            <a:ext cx="67651" cy="70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8560"/>
                </a:lnTo>
                <a:lnTo>
                  <a:pt x="6175" y="21600"/>
                </a:lnTo>
                <a:close/>
              </a:path>
            </a:pathLst>
          </a:custGeom>
          <a:solidFill>
            <a:srgbClr val="85919C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Polygon 322"/>
          <p:cNvSpPr/>
          <p:nvPr/>
        </p:nvSpPr>
        <p:spPr>
          <a:xfrm>
            <a:off x="14416155" y="6297287"/>
            <a:ext cx="66659" cy="712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0"/>
                </a:moveTo>
                <a:lnTo>
                  <a:pt x="16115" y="21600"/>
                </a:lnTo>
                <a:lnTo>
                  <a:pt x="0" y="918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Polygon 323"/>
          <p:cNvSpPr/>
          <p:nvPr/>
        </p:nvSpPr>
        <p:spPr>
          <a:xfrm>
            <a:off x="14127975" y="6591933"/>
            <a:ext cx="66659" cy="7122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5485" y="0"/>
                </a:lnTo>
                <a:lnTo>
                  <a:pt x="21600" y="12420"/>
                </a:lnTo>
                <a:close/>
              </a:path>
            </a:pathLst>
          </a:custGeom>
          <a:solidFill>
            <a:srgbClr val="04949E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Ellipse 324"/>
          <p:cNvSpPr/>
          <p:nvPr/>
        </p:nvSpPr>
        <p:spPr>
          <a:xfrm>
            <a:off x="2922741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5" name="Ellipse 325"/>
          <p:cNvSpPr/>
          <p:nvPr/>
        </p:nvSpPr>
        <p:spPr>
          <a:xfrm>
            <a:off x="3645897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6" name="Ellipse 326"/>
          <p:cNvSpPr/>
          <p:nvPr/>
        </p:nvSpPr>
        <p:spPr>
          <a:xfrm>
            <a:off x="4322094" y="2282166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7" name="Ellipse 327"/>
          <p:cNvSpPr/>
          <p:nvPr/>
        </p:nvSpPr>
        <p:spPr>
          <a:xfrm>
            <a:off x="2922741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8" name="Ellipse 328"/>
          <p:cNvSpPr/>
          <p:nvPr/>
        </p:nvSpPr>
        <p:spPr>
          <a:xfrm>
            <a:off x="3645897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29" name="Ellipse 329"/>
          <p:cNvSpPr/>
          <p:nvPr/>
        </p:nvSpPr>
        <p:spPr>
          <a:xfrm>
            <a:off x="4322094" y="3155587"/>
            <a:ext cx="356882" cy="35688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0" name="Ellipse 330"/>
          <p:cNvSpPr/>
          <p:nvPr/>
        </p:nvSpPr>
        <p:spPr>
          <a:xfrm>
            <a:off x="9825588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1" name="Ellipse 331"/>
          <p:cNvSpPr/>
          <p:nvPr/>
        </p:nvSpPr>
        <p:spPr>
          <a:xfrm>
            <a:off x="10464218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2" name="Ellipse 332"/>
          <p:cNvSpPr/>
          <p:nvPr/>
        </p:nvSpPr>
        <p:spPr>
          <a:xfrm>
            <a:off x="11065283" y="3014713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3" name="Ellipse 333"/>
          <p:cNvSpPr/>
          <p:nvPr/>
        </p:nvSpPr>
        <p:spPr>
          <a:xfrm>
            <a:off x="9825588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4" name="Ellipse 334"/>
          <p:cNvSpPr/>
          <p:nvPr/>
        </p:nvSpPr>
        <p:spPr>
          <a:xfrm>
            <a:off x="10464218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5" name="Ellipse 335"/>
          <p:cNvSpPr/>
          <p:nvPr/>
        </p:nvSpPr>
        <p:spPr>
          <a:xfrm>
            <a:off x="11065283" y="3803609"/>
            <a:ext cx="319315" cy="319315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6" name="Ellipse 336"/>
          <p:cNvSpPr/>
          <p:nvPr/>
        </p:nvSpPr>
        <p:spPr>
          <a:xfrm>
            <a:off x="9919504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7" name="Ellipse 337"/>
          <p:cNvSpPr/>
          <p:nvPr/>
        </p:nvSpPr>
        <p:spPr>
          <a:xfrm>
            <a:off x="10473610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8" name="Ellipse 338"/>
          <p:cNvSpPr/>
          <p:nvPr/>
        </p:nvSpPr>
        <p:spPr>
          <a:xfrm>
            <a:off x="11008933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39" name="Ellipse 339"/>
          <p:cNvSpPr/>
          <p:nvPr/>
        </p:nvSpPr>
        <p:spPr>
          <a:xfrm>
            <a:off x="9919504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0" name="Ellipse 340"/>
          <p:cNvSpPr/>
          <p:nvPr/>
        </p:nvSpPr>
        <p:spPr>
          <a:xfrm>
            <a:off x="10473610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1" name="Ellipse 341"/>
          <p:cNvSpPr/>
          <p:nvPr/>
        </p:nvSpPr>
        <p:spPr>
          <a:xfrm>
            <a:off x="11008933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2" name="Ellipse 342"/>
          <p:cNvSpPr/>
          <p:nvPr/>
        </p:nvSpPr>
        <p:spPr>
          <a:xfrm>
            <a:off x="13328665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3" name="Ellipse 343"/>
          <p:cNvSpPr/>
          <p:nvPr/>
        </p:nvSpPr>
        <p:spPr>
          <a:xfrm>
            <a:off x="13892162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4" name="Ellipse 344"/>
          <p:cNvSpPr/>
          <p:nvPr/>
        </p:nvSpPr>
        <p:spPr>
          <a:xfrm>
            <a:off x="14418094" y="601064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5" name="Ellipse 345"/>
          <p:cNvSpPr/>
          <p:nvPr/>
        </p:nvSpPr>
        <p:spPr>
          <a:xfrm>
            <a:off x="13328665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6" name="Ellipse 346"/>
          <p:cNvSpPr/>
          <p:nvPr/>
        </p:nvSpPr>
        <p:spPr>
          <a:xfrm>
            <a:off x="13892162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7" name="Ellipse 347"/>
          <p:cNvSpPr/>
          <p:nvPr/>
        </p:nvSpPr>
        <p:spPr>
          <a:xfrm>
            <a:off x="14418094" y="6649272"/>
            <a:ext cx="300532" cy="300532"/>
          </a:xfrm>
          <a:prstGeom prst="ellipse">
            <a:avLst/>
          </a:prstGeom>
          <a:solidFill>
            <a:srgbClr val="FCFEFE"/>
          </a:solidFill>
          <a:ln w="13148">
            <a:solidFill>
              <a:srgbClr val="0A1530"/>
            </a:solidFill>
          </a:ln>
        </p:spPr>
        <p:txBody>
          <a:bodyPr/>
          <a:lstStyle/>
          <a:p/>
        </p:txBody>
      </p:sp>
      <p:sp>
        <p:nvSpPr>
          <p:cNvPr id="348" name="TextBox 348"/>
          <p:cNvSpPr txBox="1"/>
          <p:nvPr/>
        </p:nvSpPr>
        <p:spPr>
          <a:xfrm>
            <a:off x="443352" y="1267870"/>
            <a:ext cx="2648439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Rollout → flow graph</a:t>
            </a:r>
            <a:endParaRPr lang="zh-CN" sz="1700"/>
          </a:p>
        </p:txBody>
      </p:sp>
      <p:sp>
        <p:nvSpPr>
          <p:cNvPr id="349" name="TextBox 349"/>
          <p:cNvSpPr txBox="1"/>
          <p:nvPr/>
        </p:nvSpPr>
        <p:spPr>
          <a:xfrm>
            <a:off x="6782700" y="507148"/>
            <a:ext cx="3615777" cy="3287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Compile budgets into capacities</a:t>
            </a:r>
            <a:endParaRPr lang="zh-CN" sz="1700"/>
          </a:p>
        </p:txBody>
      </p:sp>
      <p:sp>
        <p:nvSpPr>
          <p:cNvPr id="350" name="TextBox 350"/>
          <p:cNvSpPr txBox="1"/>
          <p:nvPr/>
        </p:nvSpPr>
        <p:spPr>
          <a:xfrm>
            <a:off x="12708817" y="1305436"/>
            <a:ext cx="2639047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Flow-weighted PPO</a:t>
            </a:r>
            <a:endParaRPr lang="zh-CN" sz="1700"/>
          </a:p>
        </p:txBody>
      </p:sp>
      <p:sp>
        <p:nvSpPr>
          <p:cNvPr id="351" name="TextBox 351"/>
          <p:cNvSpPr txBox="1"/>
          <p:nvPr/>
        </p:nvSpPr>
        <p:spPr>
          <a:xfrm>
            <a:off x="9919504" y="5691326"/>
            <a:ext cx="4273191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Measure target-to-policy transfer</a:t>
            </a:r>
            <a:endParaRPr lang="zh-CN" sz="1700"/>
          </a:p>
        </p:txBody>
      </p:sp>
      <p:sp>
        <p:nvSpPr>
          <p:cNvPr id="352" name="TextBox 352"/>
          <p:cNvSpPr txBox="1"/>
          <p:nvPr/>
        </p:nvSpPr>
        <p:spPr>
          <a:xfrm>
            <a:off x="10886842" y="56350"/>
            <a:ext cx="713764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samples,</a:t>
            </a:r>
            <a:endParaRPr lang="zh-CN" sz="1257"/>
          </a:p>
        </p:txBody>
      </p:sp>
      <p:sp>
        <p:nvSpPr>
          <p:cNvPr id="353" name="TextBox 353"/>
          <p:cNvSpPr txBox="1"/>
          <p:nvPr/>
        </p:nvSpPr>
        <p:spPr>
          <a:xfrm>
            <a:off x="584226" y="1859542"/>
            <a:ext cx="1925284" cy="272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rollout trajectories</a:t>
            </a:r>
            <a:endParaRPr lang="zh-CN" sz="1257"/>
          </a:p>
        </p:txBody>
      </p:sp>
      <p:sp>
        <p:nvSpPr>
          <p:cNvPr id="354" name="TextBox 354"/>
          <p:cNvSpPr txBox="1"/>
          <p:nvPr/>
        </p:nvSpPr>
        <p:spPr>
          <a:xfrm>
            <a:off x="2866391" y="1850151"/>
            <a:ext cx="1972242" cy="27235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empirical transition graph</a:t>
            </a:r>
            <a:endParaRPr lang="zh-CN" sz="1257"/>
          </a:p>
        </p:txBody>
      </p:sp>
      <p:sp>
        <p:nvSpPr>
          <p:cNvPr id="355" name="TextBox 355"/>
          <p:cNvSpPr txBox="1"/>
          <p:nvPr/>
        </p:nvSpPr>
        <p:spPr>
          <a:xfrm>
            <a:off x="1063199" y="3474902"/>
            <a:ext cx="817072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samples</a:t>
            </a:r>
            <a:endParaRPr lang="zh-CN" sz="1257"/>
          </a:p>
        </p:txBody>
      </p:sp>
      <p:sp>
        <p:nvSpPr>
          <p:cNvPr id="356" name="TextBox 356"/>
          <p:cNvSpPr txBox="1"/>
          <p:nvPr/>
        </p:nvSpPr>
        <p:spPr>
          <a:xfrm>
            <a:off x="5045249" y="3024104"/>
            <a:ext cx="807680" cy="46019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graph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statistics</a:t>
            </a:r>
            <a:endParaRPr lang="zh-CN" sz="1257"/>
          </a:p>
        </p:txBody>
      </p:sp>
      <p:sp>
        <p:nvSpPr>
          <p:cNvPr id="357" name="TextBox 357"/>
          <p:cNvSpPr txBox="1"/>
          <p:nvPr/>
        </p:nvSpPr>
        <p:spPr>
          <a:xfrm>
            <a:off x="6651217" y="1192737"/>
            <a:ext cx="713764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budgets</a:t>
            </a:r>
            <a:endParaRPr lang="zh-CN" sz="1257"/>
          </a:p>
        </p:txBody>
      </p:sp>
      <p:sp>
        <p:nvSpPr>
          <p:cNvPr id="358" name="TextBox 358"/>
          <p:cNvSpPr txBox="1"/>
          <p:nvPr/>
        </p:nvSpPr>
        <p:spPr>
          <a:xfrm>
            <a:off x="8463802" y="1098820"/>
            <a:ext cx="986121" cy="4414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elementwise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min</a:t>
            </a:r>
            <a:endParaRPr lang="zh-CN" sz="1257"/>
          </a:p>
        </p:txBody>
      </p:sp>
      <p:sp>
        <p:nvSpPr>
          <p:cNvPr id="359" name="TextBox 359"/>
          <p:cNvSpPr txBox="1"/>
          <p:nvPr/>
        </p:nvSpPr>
        <p:spPr>
          <a:xfrm>
            <a:off x="11412773" y="1962850"/>
            <a:ext cx="807680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(entropy)</a:t>
            </a:r>
            <a:endParaRPr lang="zh-CN" sz="1109"/>
          </a:p>
        </p:txBody>
      </p:sp>
      <p:sp>
        <p:nvSpPr>
          <p:cNvPr id="360" name="TextBox 360"/>
          <p:cNvSpPr txBox="1"/>
          <p:nvPr/>
        </p:nvSpPr>
        <p:spPr>
          <a:xfrm>
            <a:off x="7023948" y="2657831"/>
            <a:ext cx="2215690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Capacity-constrained</a:t>
            </a:r>
            <a:endParaRPr lang="zh-CN" sz="1700"/>
          </a:p>
        </p:txBody>
      </p:sp>
      <p:sp>
        <p:nvSpPr>
          <p:cNvPr id="361" name="TextBox 361"/>
          <p:cNvSpPr txBox="1"/>
          <p:nvPr/>
        </p:nvSpPr>
        <p:spPr>
          <a:xfrm>
            <a:off x="9418079" y="2657831"/>
            <a:ext cx="1546830" cy="31931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-flow Sinkhorn</a:t>
            </a:r>
            <a:endParaRPr lang="zh-CN" sz="1700"/>
          </a:p>
        </p:txBody>
      </p:sp>
      <p:sp>
        <p:nvSpPr>
          <p:cNvPr id="362" name="TextBox 362"/>
          <p:cNvSpPr txBox="1"/>
          <p:nvPr/>
        </p:nvSpPr>
        <p:spPr>
          <a:xfrm>
            <a:off x="8304144" y="3287070"/>
            <a:ext cx="920380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Sinkhorn</a:t>
            </a:r>
            <a:endParaRPr lang="zh-CN" sz="1257"/>
          </a:p>
        </p:txBody>
      </p:sp>
      <p:sp>
        <p:nvSpPr>
          <p:cNvPr id="363" name="TextBox 363"/>
          <p:cNvSpPr txBox="1"/>
          <p:nvPr/>
        </p:nvSpPr>
        <p:spPr>
          <a:xfrm>
            <a:off x="8313536" y="3493686"/>
            <a:ext cx="920380" cy="216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scaling</a:t>
            </a:r>
            <a:endParaRPr lang="zh-CN" sz="1109"/>
          </a:p>
        </p:txBody>
      </p:sp>
      <p:sp>
        <p:nvSpPr>
          <p:cNvPr id="364" name="TextBox 364"/>
          <p:cNvSpPr txBox="1"/>
          <p:nvPr/>
        </p:nvSpPr>
        <p:spPr>
          <a:xfrm>
            <a:off x="8219619" y="3813001"/>
            <a:ext cx="1117604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upper bound)</a:t>
            </a:r>
            <a:endParaRPr lang="zh-CN" sz="1109"/>
          </a:p>
        </p:txBody>
      </p:sp>
      <p:sp>
        <p:nvSpPr>
          <p:cNvPr id="365" name="TextBox 365"/>
          <p:cNvSpPr txBox="1"/>
          <p:nvPr/>
        </p:nvSpPr>
        <p:spPr>
          <a:xfrm>
            <a:off x="7477681" y="4789730"/>
            <a:ext cx="2047375" cy="30053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discounted flow balance ·</a:t>
            </a:r>
            <a:endParaRPr lang="zh-CN" sz="1257"/>
          </a:p>
        </p:txBody>
      </p:sp>
      <p:sp>
        <p:nvSpPr>
          <p:cNvPr id="366" name="TextBox 366"/>
          <p:cNvSpPr txBox="1"/>
          <p:nvPr/>
        </p:nvSpPr>
        <p:spPr>
          <a:xfrm>
            <a:off x="11872963" y="3596993"/>
            <a:ext cx="582281" cy="403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feasible</a:t>
            </a:r>
            <a:endParaRPr lang="zh-CN" sz="1257"/>
          </a:p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target</a:t>
            </a:r>
            <a:endParaRPr lang="zh-CN" sz="1257"/>
          </a:p>
        </p:txBody>
      </p:sp>
      <p:sp>
        <p:nvSpPr>
          <p:cNvPr id="367" name="TextBox 367"/>
          <p:cNvSpPr txBox="1"/>
          <p:nvPr/>
        </p:nvSpPr>
        <p:spPr>
          <a:xfrm>
            <a:off x="12934216" y="1868934"/>
            <a:ext cx="2610873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clipped flow-ratio weights</a:t>
            </a:r>
            <a:endParaRPr lang="zh-CN" sz="1257"/>
          </a:p>
        </p:txBody>
      </p:sp>
      <p:sp>
        <p:nvSpPr>
          <p:cNvPr id="368" name="TextBox 368"/>
          <p:cNvSpPr txBox="1"/>
          <p:nvPr/>
        </p:nvSpPr>
        <p:spPr>
          <a:xfrm>
            <a:off x="14944025" y="2498173"/>
            <a:ext cx="1117604" cy="85463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 b="1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PPO</a:t>
            </a:r>
            <a:endParaRPr lang="zh-CN" sz="1700"/>
          </a:p>
        </p:txBody>
      </p:sp>
      <p:sp>
        <p:nvSpPr>
          <p:cNvPr id="369" name="TextBox 369"/>
          <p:cNvSpPr txBox="1"/>
          <p:nvPr/>
        </p:nvSpPr>
        <p:spPr>
          <a:xfrm>
            <a:off x="15639005" y="4498590"/>
            <a:ext cx="882813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evaluate</a:t>
            </a:r>
            <a:endParaRPr lang="zh-CN" sz="1257"/>
          </a:p>
        </p:txBody>
      </p:sp>
      <p:sp>
        <p:nvSpPr>
          <p:cNvPr id="370" name="TextBox 370"/>
          <p:cNvSpPr txBox="1"/>
          <p:nvPr/>
        </p:nvSpPr>
        <p:spPr>
          <a:xfrm>
            <a:off x="10445435" y="6987371"/>
            <a:ext cx="741939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(target)</a:t>
            </a:r>
            <a:endParaRPr lang="zh-CN" sz="1257"/>
          </a:p>
        </p:txBody>
      </p:sp>
      <p:sp>
        <p:nvSpPr>
          <p:cNvPr id="371" name="TextBox 371"/>
          <p:cNvSpPr txBox="1"/>
          <p:nvPr/>
        </p:nvSpPr>
        <p:spPr>
          <a:xfrm>
            <a:off x="13854596" y="6987371"/>
            <a:ext cx="788897" cy="3099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(realized)</a:t>
            </a:r>
            <a:endParaRPr lang="zh-CN" sz="1257"/>
          </a:p>
        </p:txBody>
      </p:sp>
      <p:sp>
        <p:nvSpPr>
          <p:cNvPr id="372" name="TextBox 372"/>
          <p:cNvSpPr txBox="1"/>
          <p:nvPr/>
        </p:nvSpPr>
        <p:spPr>
          <a:xfrm>
            <a:off x="11694522" y="6658664"/>
            <a:ext cx="1540227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per-channel costs</a:t>
            </a:r>
            <a:endParaRPr lang="zh-CN" sz="1257"/>
          </a:p>
        </p:txBody>
      </p:sp>
      <p:sp>
        <p:nvSpPr>
          <p:cNvPr id="373" name="TextBox 373"/>
          <p:cNvSpPr txBox="1"/>
          <p:nvPr/>
        </p:nvSpPr>
        <p:spPr>
          <a:xfrm>
            <a:off x="15122466" y="6095166"/>
            <a:ext cx="1906500" cy="28174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AA420A"/>
                </a:solidFill>
                <a:latin typeface="Liberation Sans"/>
                <a:ea typeface="Liberation Sans"/>
                <a:cs typeface="Liberation Sans"/>
              </a:rPr>
              <a:t>persistent gap → recovery</a:t>
            </a:r>
            <a:endParaRPr lang="zh-CN" sz="1109"/>
          </a:p>
        </p:txBody>
      </p:sp>
      <p:sp>
        <p:nvSpPr>
          <p:cNvPr id="374" name="TextBox 374"/>
          <p:cNvSpPr txBox="1"/>
          <p:nvPr/>
        </p:nvSpPr>
        <p:spPr>
          <a:xfrm>
            <a:off x="15310298" y="6339349"/>
            <a:ext cx="1699885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257">
                <a:solidFill>
                  <a:srgbClr val="AA420A"/>
                </a:solidFill>
                <a:latin typeface="Liberation Sans"/>
                <a:ea typeface="Liberation Sans"/>
                <a:cs typeface="Liberation Sans"/>
              </a:rPr>
              <a:t>SafeTransport-Safe</a:t>
            </a:r>
            <a:endParaRPr lang="zh-CN" sz="1257"/>
          </a:p>
        </p:txBody>
      </p:sp>
      <p:sp>
        <p:nvSpPr>
          <p:cNvPr id="375" name="TextBox 375"/>
          <p:cNvSpPr txBox="1"/>
          <p:nvPr/>
        </p:nvSpPr>
        <p:spPr>
          <a:xfrm>
            <a:off x="15056724" y="6574139"/>
            <a:ext cx="1981633" cy="26296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09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per-channel Lagrangian update</a:t>
            </a:r>
            <a:endParaRPr lang="zh-CN" sz="1109"/>
          </a:p>
        </p:txBody>
      </p:sp>
      <p:sp>
        <p:nvSpPr>
          <p:cNvPr id="376" name="TextBox 376"/>
          <p:cNvSpPr txBox="1"/>
          <p:nvPr/>
        </p:nvSpPr>
        <p:spPr>
          <a:xfrm>
            <a:off x="8219619" y="7419386"/>
            <a:ext cx="1305436" cy="2911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257">
                <a:solidFill>
                  <a:srgbClr val="0A1530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  <a:endParaRPr lang="zh-CN" sz="1257"/>
          </a:p>
        </p:txBody>
      </p:sp>
      <p:pic>
        <p:nvPicPr>
          <p:cNvPr id="377" name="LaTeX rendered formula roll_flow"/>
          <p:cNvPicPr/>
          <p:nvPr/>
        </p:nvPicPr>
        <p:blipFill>
          <a:blip r:embed="rId2"/>
          <a:stretch>
            <a:fillRect/>
          </a:stretch>
        </p:blipFill>
        <p:spPr>
          <a:xfrm>
            <a:off x="11572430" y="67490"/>
            <a:ext cx="366273" cy="221902"/>
          </a:xfrm>
          <a:prstGeom prst="rect">
            <a:avLst/>
          </a:prstGeom>
        </p:spPr>
      </p:pic>
      <p:pic>
        <p:nvPicPr>
          <p:cNvPr id="378" name="LaTeX rendered formula node_s1"/>
          <p:cNvPicPr/>
          <p:nvPr/>
        </p:nvPicPr>
        <p:blipFill>
          <a:blip r:embed="rId3"/>
          <a:stretch>
            <a:fillRect/>
          </a:stretch>
        </p:blipFill>
        <p:spPr>
          <a:xfrm>
            <a:off x="3026049" y="2413055"/>
            <a:ext cx="150266" cy="95102"/>
          </a:xfrm>
          <a:prstGeom prst="rect">
            <a:avLst/>
          </a:prstGeom>
        </p:spPr>
      </p:pic>
      <p:pic>
        <p:nvPicPr>
          <p:cNvPr id="379" name="LaTeX rendered formula node_s2"/>
          <p:cNvPicPr/>
          <p:nvPr/>
        </p:nvPicPr>
        <p:blipFill>
          <a:blip r:embed="rId4"/>
          <a:stretch>
            <a:fillRect/>
          </a:stretch>
        </p:blipFill>
        <p:spPr>
          <a:xfrm>
            <a:off x="3749204" y="2413055"/>
            <a:ext cx="150266" cy="95102"/>
          </a:xfrm>
          <a:prstGeom prst="rect">
            <a:avLst/>
          </a:prstGeom>
        </p:spPr>
      </p:pic>
      <p:pic>
        <p:nvPicPr>
          <p:cNvPr id="380" name="LaTeX rendered formula node_s3"/>
          <p:cNvPicPr/>
          <p:nvPr/>
        </p:nvPicPr>
        <p:blipFill>
          <a:blip r:embed="rId5"/>
          <a:stretch>
            <a:fillRect/>
          </a:stretch>
        </p:blipFill>
        <p:spPr>
          <a:xfrm>
            <a:off x="4425402" y="2413055"/>
            <a:ext cx="150266" cy="95102"/>
          </a:xfrm>
          <a:prstGeom prst="rect">
            <a:avLst/>
          </a:prstGeom>
        </p:spPr>
      </p:pic>
      <p:pic>
        <p:nvPicPr>
          <p:cNvPr id="381" name="LaTeX rendered formula node_s4"/>
          <p:cNvPicPr/>
          <p:nvPr/>
        </p:nvPicPr>
        <p:blipFill>
          <a:blip r:embed="rId6"/>
          <a:stretch>
            <a:fillRect/>
          </a:stretch>
        </p:blipFill>
        <p:spPr>
          <a:xfrm>
            <a:off x="3026049" y="3286477"/>
            <a:ext cx="150266" cy="95102"/>
          </a:xfrm>
          <a:prstGeom prst="rect">
            <a:avLst/>
          </a:prstGeom>
        </p:spPr>
      </p:pic>
      <p:pic>
        <p:nvPicPr>
          <p:cNvPr id="382" name="LaTeX rendered formula node_s5"/>
          <p:cNvPicPr/>
          <p:nvPr/>
        </p:nvPicPr>
        <p:blipFill>
          <a:blip r:embed="rId7"/>
          <a:stretch>
            <a:fillRect/>
          </a:stretch>
        </p:blipFill>
        <p:spPr>
          <a:xfrm>
            <a:off x="3749204" y="3286477"/>
            <a:ext cx="150266" cy="95102"/>
          </a:xfrm>
          <a:prstGeom prst="rect">
            <a:avLst/>
          </a:prstGeom>
        </p:spPr>
      </p:pic>
      <p:pic>
        <p:nvPicPr>
          <p:cNvPr id="383" name="LaTeX rendered formula node_s6"/>
          <p:cNvPicPr/>
          <p:nvPr/>
        </p:nvPicPr>
        <p:blipFill>
          <a:blip r:embed="rId8"/>
          <a:stretch>
            <a:fillRect/>
          </a:stretch>
        </p:blipFill>
        <p:spPr>
          <a:xfrm>
            <a:off x="4425402" y="3286477"/>
            <a:ext cx="150266" cy="95102"/>
          </a:xfrm>
          <a:prstGeom prst="rect">
            <a:avLst/>
          </a:prstGeom>
        </p:spPr>
      </p:pic>
      <p:pic>
        <p:nvPicPr>
          <p:cNvPr id="384" name="LaTeX rendered formula empirical_statistics"/>
          <p:cNvPicPr/>
          <p:nvPr/>
        </p:nvPicPr>
        <p:blipFill>
          <a:blip r:embed="rId9"/>
          <a:stretch>
            <a:fillRect/>
          </a:stretch>
        </p:blipFill>
        <p:spPr>
          <a:xfrm>
            <a:off x="3335973" y="3749494"/>
            <a:ext cx="1004904" cy="220929"/>
          </a:xfrm>
          <a:prstGeom prst="rect">
            <a:avLst/>
          </a:prstGeom>
        </p:spPr>
      </p:pic>
      <p:pic>
        <p:nvPicPr>
          <p:cNvPr id="385" name="LaTeX rendered formula statistics_edge"/>
          <p:cNvPicPr/>
          <p:nvPr/>
        </p:nvPicPr>
        <p:blipFill>
          <a:blip r:embed="rId10"/>
          <a:stretch>
            <a:fillRect/>
          </a:stretch>
        </p:blipFill>
        <p:spPr>
          <a:xfrm>
            <a:off x="5204907" y="3645104"/>
            <a:ext cx="488365" cy="166744"/>
          </a:xfrm>
          <a:prstGeom prst="rect">
            <a:avLst/>
          </a:prstGeom>
        </p:spPr>
      </p:pic>
      <p:pic>
        <p:nvPicPr>
          <p:cNvPr id="386" name="LaTeX rendered formula budget_count"/>
          <p:cNvPicPr/>
          <p:nvPr/>
        </p:nvPicPr>
        <p:blipFill>
          <a:blip r:embed="rId11"/>
          <a:stretch>
            <a:fillRect/>
          </a:stretch>
        </p:blipFill>
        <p:spPr>
          <a:xfrm>
            <a:off x="6407035" y="1256947"/>
            <a:ext cx="206616" cy="153329"/>
          </a:xfrm>
          <a:prstGeom prst="rect">
            <a:avLst/>
          </a:prstGeom>
        </p:spPr>
      </p:pic>
      <p:pic>
        <p:nvPicPr>
          <p:cNvPr id="387" name="LaTeX rendered formula capacity_stack_label"/>
          <p:cNvPicPr/>
          <p:nvPr/>
        </p:nvPicPr>
        <p:blipFill>
          <a:blip r:embed="rId12"/>
          <a:stretch>
            <a:fillRect/>
          </a:stretch>
        </p:blipFill>
        <p:spPr>
          <a:xfrm>
            <a:off x="7289848" y="2048270"/>
            <a:ext cx="1089429" cy="195433"/>
          </a:xfrm>
          <a:prstGeom prst="rect">
            <a:avLst/>
          </a:prstGeom>
        </p:spPr>
      </p:pic>
      <p:pic>
        <p:nvPicPr>
          <p:cNvPr id="388" name="LaTeX rendered formula capacity_label"/>
          <p:cNvPicPr/>
          <p:nvPr/>
        </p:nvPicPr>
        <p:blipFill>
          <a:blip r:embed="rId13"/>
          <a:stretch>
            <a:fillRect/>
          </a:stretch>
        </p:blipFill>
        <p:spPr>
          <a:xfrm>
            <a:off x="10004029" y="1980140"/>
            <a:ext cx="159658" cy="162644"/>
          </a:xfrm>
          <a:prstGeom prst="rect">
            <a:avLst/>
          </a:prstGeom>
        </p:spPr>
      </p:pic>
      <p:pic>
        <p:nvPicPr>
          <p:cNvPr id="389" name="LaTeX rendered formula entropy_epsilon"/>
          <p:cNvPicPr/>
          <p:nvPr/>
        </p:nvPicPr>
        <p:blipFill>
          <a:blip r:embed="rId14"/>
          <a:stretch>
            <a:fillRect/>
          </a:stretch>
        </p:blipFill>
        <p:spPr>
          <a:xfrm>
            <a:off x="11300073" y="2060375"/>
            <a:ext cx="93916" cy="86700"/>
          </a:xfrm>
          <a:prstGeom prst="rect">
            <a:avLst/>
          </a:prstGeom>
        </p:spPr>
      </p:pic>
      <p:pic>
        <p:nvPicPr>
          <p:cNvPr id="390" name="LaTeX rendered formula solver_title_gamma"/>
          <p:cNvPicPr/>
          <p:nvPr/>
        </p:nvPicPr>
        <p:blipFill>
          <a:blip r:embed="rId15"/>
          <a:stretch>
            <a:fillRect/>
          </a:stretch>
        </p:blipFill>
        <p:spPr>
          <a:xfrm>
            <a:off x="9258421" y="2716018"/>
            <a:ext cx="159658" cy="155982"/>
          </a:xfrm>
          <a:prstGeom prst="rect">
            <a:avLst/>
          </a:prstGeom>
        </p:spPr>
      </p:pic>
      <p:pic>
        <p:nvPicPr>
          <p:cNvPr id="391" name="LaTeX rendered formula iterative_flow_label"/>
          <p:cNvPicPr/>
          <p:nvPr/>
        </p:nvPicPr>
        <p:blipFill>
          <a:blip r:embed="rId16"/>
          <a:stretch>
            <a:fillRect/>
          </a:stretch>
        </p:blipFill>
        <p:spPr>
          <a:xfrm>
            <a:off x="7064449" y="4225427"/>
            <a:ext cx="338099" cy="170660"/>
          </a:xfrm>
          <a:prstGeom prst="rect">
            <a:avLst/>
          </a:prstGeom>
        </p:spPr>
      </p:pic>
      <p:pic>
        <p:nvPicPr>
          <p:cNvPr id="392" name="LaTeX rendered formula gamma_flow_label"/>
          <p:cNvPicPr/>
          <p:nvPr/>
        </p:nvPicPr>
        <p:blipFill>
          <a:blip r:embed="rId17"/>
          <a:stretch>
            <a:fillRect/>
          </a:stretch>
        </p:blipFill>
        <p:spPr>
          <a:xfrm>
            <a:off x="8538935" y="3708065"/>
            <a:ext cx="478973" cy="144130"/>
          </a:xfrm>
          <a:prstGeom prst="rect">
            <a:avLst/>
          </a:prstGeom>
        </p:spPr>
      </p:pic>
      <p:pic>
        <p:nvPicPr>
          <p:cNvPr id="393" name="LaTeX rendered formula node_s1"/>
          <p:cNvPicPr/>
          <p:nvPr/>
        </p:nvPicPr>
        <p:blipFill>
          <a:blip r:embed="rId18"/>
          <a:stretch>
            <a:fillRect/>
          </a:stretch>
        </p:blipFill>
        <p:spPr>
          <a:xfrm>
            <a:off x="9910112" y="3126819"/>
            <a:ext cx="150266" cy="95102"/>
          </a:xfrm>
          <a:prstGeom prst="rect">
            <a:avLst/>
          </a:prstGeom>
        </p:spPr>
      </p:pic>
      <p:pic>
        <p:nvPicPr>
          <p:cNvPr id="394" name="LaTeX rendered formula node_s2"/>
          <p:cNvPicPr/>
          <p:nvPr/>
        </p:nvPicPr>
        <p:blipFill>
          <a:blip r:embed="rId19"/>
          <a:stretch>
            <a:fillRect/>
          </a:stretch>
        </p:blipFill>
        <p:spPr>
          <a:xfrm>
            <a:off x="10548743" y="3126819"/>
            <a:ext cx="150266" cy="95102"/>
          </a:xfrm>
          <a:prstGeom prst="rect">
            <a:avLst/>
          </a:prstGeom>
        </p:spPr>
      </p:pic>
      <p:pic>
        <p:nvPicPr>
          <p:cNvPr id="395" name="LaTeX rendered formula node_s3"/>
          <p:cNvPicPr/>
          <p:nvPr/>
        </p:nvPicPr>
        <p:blipFill>
          <a:blip r:embed="rId20"/>
          <a:stretch>
            <a:fillRect/>
          </a:stretch>
        </p:blipFill>
        <p:spPr>
          <a:xfrm>
            <a:off x="11149807" y="3126819"/>
            <a:ext cx="150266" cy="95102"/>
          </a:xfrm>
          <a:prstGeom prst="rect">
            <a:avLst/>
          </a:prstGeom>
        </p:spPr>
      </p:pic>
      <p:pic>
        <p:nvPicPr>
          <p:cNvPr id="396" name="LaTeX rendered formula node_s4"/>
          <p:cNvPicPr/>
          <p:nvPr/>
        </p:nvPicPr>
        <p:blipFill>
          <a:blip r:embed="rId21"/>
          <a:stretch>
            <a:fillRect/>
          </a:stretch>
        </p:blipFill>
        <p:spPr>
          <a:xfrm>
            <a:off x="9910112" y="3915716"/>
            <a:ext cx="150266" cy="95102"/>
          </a:xfrm>
          <a:prstGeom prst="rect">
            <a:avLst/>
          </a:prstGeom>
        </p:spPr>
      </p:pic>
      <p:pic>
        <p:nvPicPr>
          <p:cNvPr id="397" name="LaTeX rendered formula node_s5"/>
          <p:cNvPicPr/>
          <p:nvPr/>
        </p:nvPicPr>
        <p:blipFill>
          <a:blip r:embed="rId22"/>
          <a:stretch>
            <a:fillRect/>
          </a:stretch>
        </p:blipFill>
        <p:spPr>
          <a:xfrm>
            <a:off x="10548743" y="3915716"/>
            <a:ext cx="150266" cy="95102"/>
          </a:xfrm>
          <a:prstGeom prst="rect">
            <a:avLst/>
          </a:prstGeom>
        </p:spPr>
      </p:pic>
      <p:pic>
        <p:nvPicPr>
          <p:cNvPr id="398" name="LaTeX rendered formula node_s6"/>
          <p:cNvPicPr/>
          <p:nvPr/>
        </p:nvPicPr>
        <p:blipFill>
          <a:blip r:embed="rId23"/>
          <a:stretch>
            <a:fillRect/>
          </a:stretch>
        </p:blipFill>
        <p:spPr>
          <a:xfrm>
            <a:off x="11149807" y="3915716"/>
            <a:ext cx="150266" cy="95102"/>
          </a:xfrm>
          <a:prstGeom prst="rect">
            <a:avLst/>
          </a:prstGeom>
        </p:spPr>
      </p:pic>
      <p:pic>
        <p:nvPicPr>
          <p:cNvPr id="399" name="LaTeX rendered formula target_flow"/>
          <p:cNvPicPr/>
          <p:nvPr/>
        </p:nvPicPr>
        <p:blipFill>
          <a:blip r:embed="rId24"/>
          <a:stretch>
            <a:fillRect/>
          </a:stretch>
        </p:blipFill>
        <p:spPr>
          <a:xfrm>
            <a:off x="10511176" y="4230541"/>
            <a:ext cx="272357" cy="151040"/>
          </a:xfrm>
          <a:prstGeom prst="rect">
            <a:avLst/>
          </a:prstGeom>
        </p:spPr>
      </p:pic>
      <p:pic>
        <p:nvPicPr>
          <p:cNvPr id="400" name="LaTeX rendered formula solver_objective"/>
          <p:cNvPicPr/>
          <p:nvPr/>
        </p:nvPicPr>
        <p:blipFill>
          <a:blip r:embed="rId25"/>
          <a:stretch>
            <a:fillRect/>
          </a:stretch>
        </p:blipFill>
        <p:spPr>
          <a:xfrm>
            <a:off x="8003612" y="4611406"/>
            <a:ext cx="1577793" cy="178208"/>
          </a:xfrm>
          <a:prstGeom prst="rect">
            <a:avLst/>
          </a:prstGeom>
        </p:spPr>
      </p:pic>
      <p:pic>
        <p:nvPicPr>
          <p:cNvPr id="401" name="LaTeX rendered formula capacity_bound"/>
          <p:cNvPicPr/>
          <p:nvPr/>
        </p:nvPicPr>
        <p:blipFill>
          <a:blip r:embed="rId26"/>
          <a:stretch>
            <a:fillRect/>
          </a:stretch>
        </p:blipFill>
        <p:spPr>
          <a:xfrm>
            <a:off x="9478097" y="4891322"/>
            <a:ext cx="760722" cy="134914"/>
          </a:xfrm>
          <a:prstGeom prst="rect">
            <a:avLst/>
          </a:prstGeom>
        </p:spPr>
      </p:pic>
      <p:pic>
        <p:nvPicPr>
          <p:cNvPr id="402" name="LaTeX rendered formula target_flow"/>
          <p:cNvPicPr/>
          <p:nvPr/>
        </p:nvPicPr>
        <p:blipFill>
          <a:blip r:embed="rId27"/>
          <a:stretch>
            <a:fillRect/>
          </a:stretch>
        </p:blipFill>
        <p:spPr>
          <a:xfrm>
            <a:off x="12042012" y="3290353"/>
            <a:ext cx="309924" cy="171874"/>
          </a:xfrm>
          <a:prstGeom prst="rect">
            <a:avLst/>
          </a:prstGeom>
        </p:spPr>
      </p:pic>
      <p:pic>
        <p:nvPicPr>
          <p:cNvPr id="403" name="LaTeX rendered formula policy_output"/>
          <p:cNvPicPr/>
          <p:nvPr/>
        </p:nvPicPr>
        <p:blipFill>
          <a:blip r:embed="rId28"/>
          <a:stretch>
            <a:fillRect/>
          </a:stretch>
        </p:blipFill>
        <p:spPr>
          <a:xfrm>
            <a:off x="16672084" y="2877850"/>
            <a:ext cx="366273" cy="207984"/>
          </a:xfrm>
          <a:prstGeom prst="rect">
            <a:avLst/>
          </a:prstGeom>
        </p:spPr>
      </p:pic>
      <p:pic>
        <p:nvPicPr>
          <p:cNvPr id="404" name="LaTeX rendered formula realized_flow"/>
          <p:cNvPicPr/>
          <p:nvPr/>
        </p:nvPicPr>
        <p:blipFill>
          <a:blip r:embed="rId29"/>
          <a:stretch>
            <a:fillRect/>
          </a:stretch>
        </p:blipFill>
        <p:spPr>
          <a:xfrm>
            <a:off x="15770488" y="4837589"/>
            <a:ext cx="281749" cy="289339"/>
          </a:xfrm>
          <a:prstGeom prst="rect">
            <a:avLst/>
          </a:prstGeom>
        </p:spPr>
      </p:pic>
      <p:pic>
        <p:nvPicPr>
          <p:cNvPr id="405" name="LaTeX rendered formula node_s1"/>
          <p:cNvPicPr/>
          <p:nvPr/>
        </p:nvPicPr>
        <p:blipFill>
          <a:blip r:embed="rId30"/>
          <a:stretch>
            <a:fillRect/>
          </a:stretch>
        </p:blipFill>
        <p:spPr>
          <a:xfrm>
            <a:off x="9994637" y="6113357"/>
            <a:ext cx="150266" cy="95102"/>
          </a:xfrm>
          <a:prstGeom prst="rect">
            <a:avLst/>
          </a:prstGeom>
        </p:spPr>
      </p:pic>
      <p:pic>
        <p:nvPicPr>
          <p:cNvPr id="406" name="LaTeX rendered formula node_s2"/>
          <p:cNvPicPr/>
          <p:nvPr/>
        </p:nvPicPr>
        <p:blipFill>
          <a:blip r:embed="rId31"/>
          <a:stretch>
            <a:fillRect/>
          </a:stretch>
        </p:blipFill>
        <p:spPr>
          <a:xfrm>
            <a:off x="10548743" y="6113357"/>
            <a:ext cx="150266" cy="95102"/>
          </a:xfrm>
          <a:prstGeom prst="rect">
            <a:avLst/>
          </a:prstGeom>
        </p:spPr>
      </p:pic>
      <p:pic>
        <p:nvPicPr>
          <p:cNvPr id="407" name="LaTeX rendered formula node_s3"/>
          <p:cNvPicPr/>
          <p:nvPr/>
        </p:nvPicPr>
        <p:blipFill>
          <a:blip r:embed="rId32"/>
          <a:stretch>
            <a:fillRect/>
          </a:stretch>
        </p:blipFill>
        <p:spPr>
          <a:xfrm>
            <a:off x="11084066" y="6113357"/>
            <a:ext cx="150266" cy="95102"/>
          </a:xfrm>
          <a:prstGeom prst="rect">
            <a:avLst/>
          </a:prstGeom>
        </p:spPr>
      </p:pic>
      <p:pic>
        <p:nvPicPr>
          <p:cNvPr id="408" name="LaTeX rendered formula node_s4"/>
          <p:cNvPicPr/>
          <p:nvPr/>
        </p:nvPicPr>
        <p:blipFill>
          <a:blip r:embed="rId33"/>
          <a:stretch>
            <a:fillRect/>
          </a:stretch>
        </p:blipFill>
        <p:spPr>
          <a:xfrm>
            <a:off x="9994637" y="6751987"/>
            <a:ext cx="150266" cy="95102"/>
          </a:xfrm>
          <a:prstGeom prst="rect">
            <a:avLst/>
          </a:prstGeom>
        </p:spPr>
      </p:pic>
      <p:pic>
        <p:nvPicPr>
          <p:cNvPr id="409" name="LaTeX rendered formula node_s5"/>
          <p:cNvPicPr/>
          <p:nvPr/>
        </p:nvPicPr>
        <p:blipFill>
          <a:blip r:embed="rId34"/>
          <a:stretch>
            <a:fillRect/>
          </a:stretch>
        </p:blipFill>
        <p:spPr>
          <a:xfrm>
            <a:off x="10548743" y="6751987"/>
            <a:ext cx="150266" cy="95102"/>
          </a:xfrm>
          <a:prstGeom prst="rect">
            <a:avLst/>
          </a:prstGeom>
        </p:spPr>
      </p:pic>
      <p:pic>
        <p:nvPicPr>
          <p:cNvPr id="410" name="LaTeX rendered formula node_s6"/>
          <p:cNvPicPr/>
          <p:nvPr/>
        </p:nvPicPr>
        <p:blipFill>
          <a:blip r:embed="rId35"/>
          <a:stretch>
            <a:fillRect/>
          </a:stretch>
        </p:blipFill>
        <p:spPr>
          <a:xfrm>
            <a:off x="11084066" y="6751987"/>
            <a:ext cx="150266" cy="95102"/>
          </a:xfrm>
          <a:prstGeom prst="rect">
            <a:avLst/>
          </a:prstGeom>
        </p:spPr>
      </p:pic>
      <p:pic>
        <p:nvPicPr>
          <p:cNvPr id="411" name="LaTeX rendered formula node_s1"/>
          <p:cNvPicPr/>
          <p:nvPr/>
        </p:nvPicPr>
        <p:blipFill>
          <a:blip r:embed="rId36"/>
          <a:stretch>
            <a:fillRect/>
          </a:stretch>
        </p:blipFill>
        <p:spPr>
          <a:xfrm>
            <a:off x="13403798" y="6113357"/>
            <a:ext cx="150266" cy="95102"/>
          </a:xfrm>
          <a:prstGeom prst="rect">
            <a:avLst/>
          </a:prstGeom>
        </p:spPr>
      </p:pic>
      <p:pic>
        <p:nvPicPr>
          <p:cNvPr id="412" name="LaTeX rendered formula node_s2"/>
          <p:cNvPicPr/>
          <p:nvPr/>
        </p:nvPicPr>
        <p:blipFill>
          <a:blip r:embed="rId37"/>
          <a:stretch>
            <a:fillRect/>
          </a:stretch>
        </p:blipFill>
        <p:spPr>
          <a:xfrm>
            <a:off x="13967296" y="6113357"/>
            <a:ext cx="150266" cy="95102"/>
          </a:xfrm>
          <a:prstGeom prst="rect">
            <a:avLst/>
          </a:prstGeom>
        </p:spPr>
      </p:pic>
      <p:pic>
        <p:nvPicPr>
          <p:cNvPr id="413" name="LaTeX rendered formula node_s3"/>
          <p:cNvPicPr/>
          <p:nvPr/>
        </p:nvPicPr>
        <p:blipFill>
          <a:blip r:embed="rId38"/>
          <a:stretch>
            <a:fillRect/>
          </a:stretch>
        </p:blipFill>
        <p:spPr>
          <a:xfrm>
            <a:off x="14493227" y="6113357"/>
            <a:ext cx="150266" cy="95102"/>
          </a:xfrm>
          <a:prstGeom prst="rect">
            <a:avLst/>
          </a:prstGeom>
        </p:spPr>
      </p:pic>
      <p:pic>
        <p:nvPicPr>
          <p:cNvPr id="414" name="LaTeX rendered formula node_s4"/>
          <p:cNvPicPr/>
          <p:nvPr/>
        </p:nvPicPr>
        <p:blipFill>
          <a:blip r:embed="rId39"/>
          <a:stretch>
            <a:fillRect/>
          </a:stretch>
        </p:blipFill>
        <p:spPr>
          <a:xfrm>
            <a:off x="13403798" y="6751987"/>
            <a:ext cx="150266" cy="95102"/>
          </a:xfrm>
          <a:prstGeom prst="rect">
            <a:avLst/>
          </a:prstGeom>
        </p:spPr>
      </p:pic>
      <p:pic>
        <p:nvPicPr>
          <p:cNvPr id="415" name="LaTeX rendered formula node_s5"/>
          <p:cNvPicPr/>
          <p:nvPr/>
        </p:nvPicPr>
        <p:blipFill>
          <a:blip r:embed="rId40"/>
          <a:stretch>
            <a:fillRect/>
          </a:stretch>
        </p:blipFill>
        <p:spPr>
          <a:xfrm>
            <a:off x="13967296" y="6751987"/>
            <a:ext cx="150266" cy="95102"/>
          </a:xfrm>
          <a:prstGeom prst="rect">
            <a:avLst/>
          </a:prstGeom>
        </p:spPr>
      </p:pic>
      <p:pic>
        <p:nvPicPr>
          <p:cNvPr id="416" name="LaTeX rendered formula node_s6"/>
          <p:cNvPicPr/>
          <p:nvPr/>
        </p:nvPicPr>
        <p:blipFill>
          <a:blip r:embed="rId41"/>
          <a:stretch>
            <a:fillRect/>
          </a:stretch>
        </p:blipFill>
        <p:spPr>
          <a:xfrm>
            <a:off x="14493227" y="6751987"/>
            <a:ext cx="150266" cy="95102"/>
          </a:xfrm>
          <a:prstGeom prst="rect">
            <a:avLst/>
          </a:prstGeom>
        </p:spPr>
      </p:pic>
      <p:pic>
        <p:nvPicPr>
          <p:cNvPr id="417" name="LaTeX rendered formula target_flow"/>
          <p:cNvPicPr/>
          <p:nvPr/>
        </p:nvPicPr>
        <p:blipFill>
          <a:blip r:embed="rId42"/>
          <a:stretch>
            <a:fillRect/>
          </a:stretch>
        </p:blipFill>
        <p:spPr>
          <a:xfrm>
            <a:off x="10173078" y="7072021"/>
            <a:ext cx="253574" cy="140624"/>
          </a:xfrm>
          <a:prstGeom prst="rect">
            <a:avLst/>
          </a:prstGeom>
        </p:spPr>
      </p:pic>
      <p:pic>
        <p:nvPicPr>
          <p:cNvPr id="418" name="LaTeX rendered formula realized_flow"/>
          <p:cNvPicPr/>
          <p:nvPr/>
        </p:nvPicPr>
        <p:blipFill>
          <a:blip r:embed="rId43"/>
          <a:stretch>
            <a:fillRect/>
          </a:stretch>
        </p:blipFill>
        <p:spPr>
          <a:xfrm>
            <a:off x="13595079" y="7015546"/>
            <a:ext cx="256068" cy="262966"/>
          </a:xfrm>
          <a:prstGeom prst="rect">
            <a:avLst/>
          </a:prstGeom>
        </p:spPr>
      </p:pic>
      <p:pic>
        <p:nvPicPr>
          <p:cNvPr id="419" name="LaTeX rendered formula transfer_gap"/>
          <p:cNvPicPr/>
          <p:nvPr/>
        </p:nvPicPr>
        <p:blipFill>
          <a:blip r:embed="rId44"/>
          <a:stretch>
            <a:fillRect/>
          </a:stretch>
        </p:blipFill>
        <p:spPr>
          <a:xfrm>
            <a:off x="11516081" y="6356240"/>
            <a:ext cx="1549619" cy="238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