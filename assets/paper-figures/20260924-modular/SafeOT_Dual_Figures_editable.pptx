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029200" cy="251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97" name="shared_construction" descr="shared construction"/>
          <p:cNvGrpSpPr/>
          <p:nvPr/>
        </p:nvGrpSpPr>
        <p:grpSpPr>
          <a:xfrm>
            <a:off x="875080" y="60350"/>
            <a:ext cx="3279038" cy="2338577"/>
            <a:chOff x="875080" y="60350"/>
            <a:chExt cx="3279038" cy="2338577"/>
          </a:xfrm>
        </p:grpSpPr>
        <p:sp>
          <p:nvSpPr>
            <p:cNvPr id="2" name="shared_construction_panel" descr="Editable shape; source id shared_construction_panel"/>
            <p:cNvSpPr/>
            <p:nvPr/>
          </p:nvSpPr>
          <p:spPr>
            <a:xfrm>
              <a:off x="875080" y="60350"/>
              <a:ext cx="3279038" cy="2338577"/>
            </a:xfrm>
            <a:prstGeom prst="roundRect">
              <a:avLst>
                <a:gd name="adj" fmla="val 860"/>
              </a:avLst>
            </a:prstGeom>
            <a:solidFill>
              <a:srgbClr val="FFFFFF"/>
            </a:solidFill>
            <a:ln w="6035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method_title" descr="Editable text; source id method_title"/>
            <p:cNvSpPr txBox="1"/>
            <p:nvPr/>
          </p:nvSpPr>
          <p:spPr>
            <a:xfrm>
              <a:off x="2187490" y="112071"/>
              <a:ext cx="662724" cy="141765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5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SafeOT-Dual</a:t>
              </a:r>
            </a:p>
          </p:txBody>
        </p:sp>
        <p:sp>
          <p:nvSpPr>
            <p:cNvPr id="4" name="method_subtitle" descr="Editable text; source id method_subtitle"/>
            <p:cNvSpPr txBox="1"/>
            <p:nvPr/>
          </p:nvSpPr>
          <p:spPr>
            <a:xfrm>
              <a:off x="1955406" y="251131"/>
              <a:ext cx="1126892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One shared price construction</a:t>
              </a:r>
            </a:p>
          </p:txBody>
        </p:sp>
        <p:grpSp>
          <p:nvGrpSpPr>
            <p:cNvPr id="264" name="joint_constraints" descr="joint constraints"/>
            <p:cNvGrpSpPr/>
            <p:nvPr/>
          </p:nvGrpSpPr>
          <p:grpSpPr>
            <a:xfrm>
              <a:off x="940460" y="437540"/>
              <a:ext cx="734263" cy="1352854"/>
              <a:chOff x="940460" y="437540"/>
              <a:chExt cx="734263" cy="1352854"/>
            </a:xfrm>
          </p:grpSpPr>
          <p:sp>
            <p:nvSpPr>
              <p:cNvPr id="5" name="joint_constraints_panel" descr="Editable shape; source id joint_constraints_panel"/>
              <p:cNvSpPr/>
              <p:nvPr/>
            </p:nvSpPr>
            <p:spPr>
              <a:xfrm>
                <a:off x="940460" y="437540"/>
                <a:ext cx="734263" cy="1352854"/>
              </a:xfrm>
              <a:prstGeom prst="roundRect">
                <a:avLst>
                  <a:gd name="adj" fmla="val 2739"/>
                </a:avLst>
              </a:prstGeom>
              <a:solidFill>
                <a:srgbClr val="F6F8F9"/>
              </a:solidFill>
              <a:ln w="3268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joint_title" descr="Editable text; source id joint_title"/>
              <p:cNvSpPr txBox="1"/>
              <p:nvPr/>
            </p:nvSpPr>
            <p:spPr>
              <a:xfrm>
                <a:off x="990111" y="466998"/>
                <a:ext cx="668339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Joint constraints</a:t>
                </a:r>
              </a:p>
            </p:txBody>
          </p:sp>
          <p:cxnSp>
            <p:nvCxnSpPr>
              <p:cNvPr id="7" name="joint_rule" descr="Editable line; source id joint_rule"/>
              <p:cNvCxnSpPr/>
              <p:nvPr/>
            </p:nvCxnSpPr>
            <p:spPr>
              <a:xfrm>
                <a:off x="990752" y="600989"/>
                <a:ext cx="633679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3" name="cost_label0" descr="Editable formula parts and native mathematical delimiters."/>
              <p:cNvGrpSpPr/>
              <p:nvPr/>
            </p:nvGrpSpPr>
            <p:grpSpPr>
              <a:xfrm>
                <a:off x="991496" y="704467"/>
                <a:ext cx="92844" cy="118398"/>
                <a:chOff x="991496" y="704467"/>
                <a:chExt cx="92844" cy="118398"/>
              </a:xfrm>
            </p:grpSpPr>
            <p:sp>
              <p:nvSpPr>
                <p:cNvPr id="8" name="cost_label0_0" descr="Editable text; source id cost_label0_0"/>
                <p:cNvSpPr txBox="1"/>
                <p:nvPr/>
              </p:nvSpPr>
              <p:spPr>
                <a:xfrm>
                  <a:off x="991496" y="704467"/>
                  <a:ext cx="6378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" name="cost_label0_1" descr="Editable text; source id cost_label0_1"/>
                <p:cNvSpPr txBox="1"/>
                <p:nvPr/>
              </p:nvSpPr>
              <p:spPr>
                <a:xfrm>
                  <a:off x="1051030" y="751813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54" name="cost_matrix0" descr="cost matrix0"/>
              <p:cNvGrpSpPr/>
              <p:nvPr/>
            </p:nvGrpSpPr>
            <p:grpSpPr>
              <a:xfrm>
                <a:off x="1141628" y="699058"/>
                <a:ext cx="268559" cy="127741"/>
                <a:chOff x="1141628" y="699058"/>
                <a:chExt cx="268559" cy="127741"/>
              </a:xfrm>
            </p:grpSpPr>
            <p:sp>
              <p:nvSpPr>
                <p:cNvPr id="10" name="cost_matrix0_0_0" descr="Editable shape; source id cost_matrix0_0_0"/>
                <p:cNvSpPr/>
                <p:nvPr/>
              </p:nvSpPr>
              <p:spPr>
                <a:xfrm>
                  <a:off x="1141628" y="69905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" name="cost_matrix0_0_1" descr="Editable shape; source id cost_matrix0_0_1"/>
                <p:cNvSpPr/>
                <p:nvPr/>
              </p:nvSpPr>
              <p:spPr>
                <a:xfrm>
                  <a:off x="1209522" y="699058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" name="cost_matrix0_0_2" descr="Editable shape; source id cost_matrix0_0_2"/>
                <p:cNvSpPr/>
                <p:nvPr/>
              </p:nvSpPr>
              <p:spPr>
                <a:xfrm>
                  <a:off x="1277416" y="69905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" name="cost_matrix0_0_3" descr="Editable shape; source id cost_matrix0_0_3"/>
                <p:cNvSpPr/>
                <p:nvPr/>
              </p:nvSpPr>
              <p:spPr>
                <a:xfrm>
                  <a:off x="1345311" y="69905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" name="cost_matrix0_1_0" descr="Editable shape; source id cost_matrix0_1_0"/>
                <p:cNvSpPr/>
                <p:nvPr/>
              </p:nvSpPr>
              <p:spPr>
                <a:xfrm>
                  <a:off x="1141628" y="74264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" name="cost_matrix0_1_1" descr="Editable shape; source id cost_matrix0_1_1"/>
                <p:cNvSpPr/>
                <p:nvPr/>
              </p:nvSpPr>
              <p:spPr>
                <a:xfrm>
                  <a:off x="1209522" y="74264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" name="cost_matrix0_1_2" descr="Editable shape; source id cost_matrix0_1_2"/>
                <p:cNvSpPr/>
                <p:nvPr/>
              </p:nvSpPr>
              <p:spPr>
                <a:xfrm>
                  <a:off x="1277416" y="742645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" name="cost_matrix0_1_3" descr="Editable shape; source id cost_matrix0_1_3"/>
                <p:cNvSpPr/>
                <p:nvPr/>
              </p:nvSpPr>
              <p:spPr>
                <a:xfrm>
                  <a:off x="1345311" y="74264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" name="cost_matrix0_2_0" descr="Editable shape; source id cost_matrix0_2_0"/>
                <p:cNvSpPr/>
                <p:nvPr/>
              </p:nvSpPr>
              <p:spPr>
                <a:xfrm>
                  <a:off x="1141628" y="786231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" name="cost_matrix0_2_1" descr="Editable shape; source id cost_matrix0_2_1"/>
                <p:cNvSpPr/>
                <p:nvPr/>
              </p:nvSpPr>
              <p:spPr>
                <a:xfrm>
                  <a:off x="1209522" y="78623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" name="cost_matrix0_2_2" descr="Editable shape; source id cost_matrix0_2_2"/>
                <p:cNvSpPr/>
                <p:nvPr/>
              </p:nvSpPr>
              <p:spPr>
                <a:xfrm>
                  <a:off x="1277416" y="78623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" name="cost_matrix0_2_3" descr="Editable shape; source id cost_matrix0_2_3"/>
                <p:cNvSpPr/>
                <p:nvPr/>
              </p:nvSpPr>
              <p:spPr>
                <a:xfrm>
                  <a:off x="1345311" y="78623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5" name="budget_label0" descr="Editable formula parts and native mathematical delimiters."/>
              <p:cNvGrpSpPr/>
              <p:nvPr/>
            </p:nvGrpSpPr>
            <p:grpSpPr>
              <a:xfrm>
                <a:off x="1487091" y="704467"/>
                <a:ext cx="77318" cy="118398"/>
                <a:chOff x="1487091" y="704467"/>
                <a:chExt cx="77318" cy="118398"/>
              </a:xfrm>
            </p:grpSpPr>
            <p:sp>
              <p:nvSpPr>
                <p:cNvPr id="22" name="budget_label0_0" descr="Editable text; source id budget_label0_0"/>
                <p:cNvSpPr txBox="1"/>
                <p:nvPr/>
              </p:nvSpPr>
              <p:spPr>
                <a:xfrm>
                  <a:off x="1487091" y="704467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3" name="budget_label0_1" descr="Editable text; source id budget_label0_1"/>
                <p:cNvSpPr txBox="1"/>
                <p:nvPr/>
              </p:nvSpPr>
              <p:spPr>
                <a:xfrm>
                  <a:off x="1531099" y="751813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56" name="cost_label1" descr="Editable formula parts and native mathematical delimiters."/>
              <p:cNvGrpSpPr/>
              <p:nvPr/>
            </p:nvGrpSpPr>
            <p:grpSpPr>
              <a:xfrm>
                <a:off x="991496" y="923238"/>
                <a:ext cx="92844" cy="118398"/>
                <a:chOff x="991496" y="923238"/>
                <a:chExt cx="92844" cy="118398"/>
              </a:xfrm>
            </p:grpSpPr>
            <p:sp>
              <p:nvSpPr>
                <p:cNvPr id="24" name="cost_label1_0" descr="Editable text; source id cost_label1_0"/>
                <p:cNvSpPr txBox="1"/>
                <p:nvPr/>
              </p:nvSpPr>
              <p:spPr>
                <a:xfrm>
                  <a:off x="991496" y="923238"/>
                  <a:ext cx="6378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5" name="cost_label1_1" descr="Editable text; source id cost_label1_1"/>
                <p:cNvSpPr txBox="1"/>
                <p:nvPr/>
              </p:nvSpPr>
              <p:spPr>
                <a:xfrm>
                  <a:off x="1051030" y="970584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57" name="cost_matrix1" descr="cost matrix1"/>
              <p:cNvGrpSpPr/>
              <p:nvPr/>
            </p:nvGrpSpPr>
            <p:grpSpPr>
              <a:xfrm>
                <a:off x="1141628" y="917828"/>
                <a:ext cx="268559" cy="127741"/>
                <a:chOff x="1141628" y="917828"/>
                <a:chExt cx="268559" cy="127741"/>
              </a:xfrm>
            </p:grpSpPr>
            <p:sp>
              <p:nvSpPr>
                <p:cNvPr id="26" name="cost_matrix1_0_0" descr="Editable shape; source id cost_matrix1_0_0"/>
                <p:cNvSpPr/>
                <p:nvPr/>
              </p:nvSpPr>
              <p:spPr>
                <a:xfrm>
                  <a:off x="1141628" y="91782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7" name="cost_matrix1_0_1" descr="Editable shape; source id cost_matrix1_0_1"/>
                <p:cNvSpPr/>
                <p:nvPr/>
              </p:nvSpPr>
              <p:spPr>
                <a:xfrm>
                  <a:off x="1209522" y="917828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" name="cost_matrix1_0_2" descr="Editable shape; source id cost_matrix1_0_2"/>
                <p:cNvSpPr/>
                <p:nvPr/>
              </p:nvSpPr>
              <p:spPr>
                <a:xfrm>
                  <a:off x="1277416" y="91782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9" name="cost_matrix1_0_3" descr="Editable shape; source id cost_matrix1_0_3"/>
                <p:cNvSpPr/>
                <p:nvPr/>
              </p:nvSpPr>
              <p:spPr>
                <a:xfrm>
                  <a:off x="1345311" y="917828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0" name="cost_matrix1_1_0" descr="Editable shape; source id cost_matrix1_1_0"/>
                <p:cNvSpPr/>
                <p:nvPr/>
              </p:nvSpPr>
              <p:spPr>
                <a:xfrm>
                  <a:off x="1141628" y="96141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1" name="cost_matrix1_1_1" descr="Editable shape; source id cost_matrix1_1_1"/>
                <p:cNvSpPr/>
                <p:nvPr/>
              </p:nvSpPr>
              <p:spPr>
                <a:xfrm>
                  <a:off x="1209522" y="96141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" name="cost_matrix1_1_2" descr="Editable shape; source id cost_matrix1_1_2"/>
                <p:cNvSpPr/>
                <p:nvPr/>
              </p:nvSpPr>
              <p:spPr>
                <a:xfrm>
                  <a:off x="1277416" y="961415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3" name="cost_matrix1_1_3" descr="Editable shape; source id cost_matrix1_1_3"/>
                <p:cNvSpPr/>
                <p:nvPr/>
              </p:nvSpPr>
              <p:spPr>
                <a:xfrm>
                  <a:off x="1345311" y="96141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4" name="cost_matrix1_2_0" descr="Editable shape; source id cost_matrix1_2_0"/>
                <p:cNvSpPr/>
                <p:nvPr/>
              </p:nvSpPr>
              <p:spPr>
                <a:xfrm>
                  <a:off x="1141628" y="1005001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5" name="cost_matrix1_2_1" descr="Editable shape; source id cost_matrix1_2_1"/>
                <p:cNvSpPr/>
                <p:nvPr/>
              </p:nvSpPr>
              <p:spPr>
                <a:xfrm>
                  <a:off x="1209522" y="100500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" name="cost_matrix1_2_2" descr="Editable shape; source id cost_matrix1_2_2"/>
                <p:cNvSpPr/>
                <p:nvPr/>
              </p:nvSpPr>
              <p:spPr>
                <a:xfrm>
                  <a:off x="1277416" y="100500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cost_matrix1_2_3" descr="Editable shape; source id cost_matrix1_2_3"/>
                <p:cNvSpPr/>
                <p:nvPr/>
              </p:nvSpPr>
              <p:spPr>
                <a:xfrm>
                  <a:off x="1345311" y="1005001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8" name="budget_label1" descr="Editable formula parts and native mathematical delimiters."/>
              <p:cNvGrpSpPr/>
              <p:nvPr/>
            </p:nvGrpSpPr>
            <p:grpSpPr>
              <a:xfrm>
                <a:off x="1487091" y="923238"/>
                <a:ext cx="77318" cy="118398"/>
                <a:chOff x="1487091" y="923238"/>
                <a:chExt cx="77318" cy="118398"/>
              </a:xfrm>
            </p:grpSpPr>
            <p:sp>
              <p:nvSpPr>
                <p:cNvPr id="38" name="budget_label1_0" descr="Editable text; source id budget_label1_0"/>
                <p:cNvSpPr txBox="1"/>
                <p:nvPr/>
              </p:nvSpPr>
              <p:spPr>
                <a:xfrm>
                  <a:off x="1487091" y="923238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9" name="budget_label1_1" descr="Editable text; source id budget_label1_1"/>
                <p:cNvSpPr txBox="1"/>
                <p:nvPr/>
              </p:nvSpPr>
              <p:spPr>
                <a:xfrm>
                  <a:off x="1531099" y="970584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59" name="cost_label2" descr="Editable formula parts and native mathematical delimiters."/>
              <p:cNvGrpSpPr/>
              <p:nvPr/>
            </p:nvGrpSpPr>
            <p:grpSpPr>
              <a:xfrm>
                <a:off x="985050" y="1142008"/>
                <a:ext cx="105734" cy="118398"/>
                <a:chOff x="985050" y="1142008"/>
                <a:chExt cx="105734" cy="118398"/>
              </a:xfrm>
            </p:grpSpPr>
            <p:sp>
              <p:nvSpPr>
                <p:cNvPr id="40" name="cost_label2_0" descr="Editable text; source id cost_label2_0"/>
                <p:cNvSpPr txBox="1"/>
                <p:nvPr/>
              </p:nvSpPr>
              <p:spPr>
                <a:xfrm>
                  <a:off x="985050" y="1142008"/>
                  <a:ext cx="6378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1" name="cost_label2_1" descr="Editable text; source id cost_label2_1"/>
                <p:cNvSpPr txBox="1"/>
                <p:nvPr/>
              </p:nvSpPr>
              <p:spPr>
                <a:xfrm>
                  <a:off x="1044584" y="1189354"/>
                  <a:ext cx="4620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60" name="cost_matrix2" descr="cost matrix2"/>
              <p:cNvGrpSpPr/>
              <p:nvPr/>
            </p:nvGrpSpPr>
            <p:grpSpPr>
              <a:xfrm>
                <a:off x="1141628" y="1136599"/>
                <a:ext cx="268559" cy="127741"/>
                <a:chOff x="1141628" y="1136599"/>
                <a:chExt cx="268559" cy="127741"/>
              </a:xfrm>
            </p:grpSpPr>
            <p:sp>
              <p:nvSpPr>
                <p:cNvPr id="42" name="cost_matrix2_0_0" descr="Editable shape; source id cost_matrix2_0_0"/>
                <p:cNvSpPr/>
                <p:nvPr/>
              </p:nvSpPr>
              <p:spPr>
                <a:xfrm>
                  <a:off x="1141628" y="1136599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cost_matrix2_0_1" descr="Editable shape; source id cost_matrix2_0_1"/>
                <p:cNvSpPr/>
                <p:nvPr/>
              </p:nvSpPr>
              <p:spPr>
                <a:xfrm>
                  <a:off x="1209522" y="1136599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" name="cost_matrix2_0_2" descr="Editable shape; source id cost_matrix2_0_2"/>
                <p:cNvSpPr/>
                <p:nvPr/>
              </p:nvSpPr>
              <p:spPr>
                <a:xfrm>
                  <a:off x="1277416" y="1136599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cost_matrix2_0_3" descr="Editable shape; source id cost_matrix2_0_3"/>
                <p:cNvSpPr/>
                <p:nvPr/>
              </p:nvSpPr>
              <p:spPr>
                <a:xfrm>
                  <a:off x="1345311" y="1136599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cost_matrix2_1_0" descr="Editable shape; source id cost_matrix2_1_0"/>
                <p:cNvSpPr/>
                <p:nvPr/>
              </p:nvSpPr>
              <p:spPr>
                <a:xfrm>
                  <a:off x="1141628" y="118018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cost_matrix2_1_1" descr="Editable shape; source id cost_matrix2_1_1"/>
                <p:cNvSpPr/>
                <p:nvPr/>
              </p:nvSpPr>
              <p:spPr>
                <a:xfrm>
                  <a:off x="1209522" y="118018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cost_matrix2_1_2" descr="Editable shape; source id cost_matrix2_1_2"/>
                <p:cNvSpPr/>
                <p:nvPr/>
              </p:nvSpPr>
              <p:spPr>
                <a:xfrm>
                  <a:off x="1277416" y="1180185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cost_matrix2_1_3" descr="Editable shape; source id cost_matrix2_1_3"/>
                <p:cNvSpPr/>
                <p:nvPr/>
              </p:nvSpPr>
              <p:spPr>
                <a:xfrm>
                  <a:off x="1345311" y="1180185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cost_matrix2_2_0" descr="Editable shape; source id cost_matrix2_2_0"/>
                <p:cNvSpPr/>
                <p:nvPr/>
              </p:nvSpPr>
              <p:spPr>
                <a:xfrm>
                  <a:off x="1141628" y="1223772"/>
                  <a:ext cx="64876" cy="40568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cost_matrix2_2_1" descr="Editable shape; source id cost_matrix2_2_1"/>
                <p:cNvSpPr/>
                <p:nvPr/>
              </p:nvSpPr>
              <p:spPr>
                <a:xfrm>
                  <a:off x="1209522" y="1223772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" name="cost_matrix2_2_2" descr="Editable shape; source id cost_matrix2_2_2"/>
                <p:cNvSpPr/>
                <p:nvPr/>
              </p:nvSpPr>
              <p:spPr>
                <a:xfrm>
                  <a:off x="1277416" y="1223772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cost_matrix2_2_3" descr="Editable shape; source id cost_matrix2_2_3"/>
                <p:cNvSpPr/>
                <p:nvPr/>
              </p:nvSpPr>
              <p:spPr>
                <a:xfrm>
                  <a:off x="1345311" y="1223772"/>
                  <a:ext cx="64876" cy="40568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1" name="budget_label2" descr="Editable formula parts and native mathematical delimiters."/>
              <p:cNvGrpSpPr/>
              <p:nvPr/>
            </p:nvGrpSpPr>
            <p:grpSpPr>
              <a:xfrm>
                <a:off x="1480646" y="1142008"/>
                <a:ext cx="90208" cy="118398"/>
                <a:chOff x="1480646" y="1142008"/>
                <a:chExt cx="90208" cy="118398"/>
              </a:xfrm>
            </p:grpSpPr>
            <p:sp>
              <p:nvSpPr>
                <p:cNvPr id="54" name="budget_label2_0" descr="Editable text; source id budget_label2_0"/>
                <p:cNvSpPr txBox="1"/>
                <p:nvPr/>
              </p:nvSpPr>
              <p:spPr>
                <a:xfrm>
                  <a:off x="1480646" y="1142008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55" name="budget_label2_1" descr="Editable text; source id budget_label2_1"/>
                <p:cNvSpPr txBox="1"/>
                <p:nvPr/>
              </p:nvSpPr>
              <p:spPr>
                <a:xfrm>
                  <a:off x="1524654" y="1189354"/>
                  <a:ext cx="4620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cxnSp>
            <p:nvCxnSpPr>
              <p:cNvPr id="56" name="constraint_inner_rule" descr="Editable line; source id constraint_inner_rule"/>
              <p:cNvCxnSpPr/>
              <p:nvPr/>
            </p:nvCxnSpPr>
            <p:spPr>
              <a:xfrm>
                <a:off x="1000810" y="1378000"/>
                <a:ext cx="613563" cy="0"/>
              </a:xfrm>
              <a:prstGeom prst="line">
                <a:avLst/>
              </a:prstGeom>
              <a:ln w="3017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hard_support_label" descr="Editable text; source id hard_support_label"/>
              <p:cNvSpPr txBox="1"/>
              <p:nvPr/>
            </p:nvSpPr>
            <p:spPr>
              <a:xfrm>
                <a:off x="976910" y="1406681"/>
                <a:ext cx="669867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Hard graph support</a:t>
                </a:r>
              </a:p>
            </p:txBody>
          </p:sp>
          <p:grpSp>
            <p:nvGrpSpPr>
              <p:cNvPr id="262" name="hard_support" descr="hard support"/>
              <p:cNvGrpSpPr/>
              <p:nvPr/>
            </p:nvGrpSpPr>
            <p:grpSpPr>
              <a:xfrm>
                <a:off x="1101394" y="1538935"/>
                <a:ext cx="412394" cy="60350"/>
                <a:chOff x="1101394" y="1538935"/>
                <a:chExt cx="412394" cy="60350"/>
              </a:xfrm>
            </p:grpSpPr>
            <p:sp>
              <p:nvSpPr>
                <p:cNvPr id="58" name="hard_support_a" descr="Editable shape; source id hard_support_a"/>
                <p:cNvSpPr/>
                <p:nvPr/>
              </p:nvSpPr>
              <p:spPr>
                <a:xfrm>
                  <a:off x="1101394" y="1538935"/>
                  <a:ext cx="60350" cy="60350"/>
                </a:xfrm>
                <a:prstGeom prst="ellipse">
                  <a:avLst/>
                </a:prstGeom>
                <a:solidFill>
                  <a:srgbClr val="FFFFFF"/>
                </a:solidFill>
                <a:ln w="4526">
                  <a:solidFill>
                    <a:srgbClr val="77858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hard_support_b" descr="Editable shape; source id hard_support_b"/>
                <p:cNvSpPr/>
                <p:nvPr/>
              </p:nvSpPr>
              <p:spPr>
                <a:xfrm>
                  <a:off x="1453438" y="1538935"/>
                  <a:ext cx="60350" cy="60350"/>
                </a:xfrm>
                <a:prstGeom prst="ellipse">
                  <a:avLst/>
                </a:prstGeom>
                <a:solidFill>
                  <a:srgbClr val="FFFFFF"/>
                </a:solidFill>
                <a:ln w="4526">
                  <a:solidFill>
                    <a:srgbClr val="77858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60" name="hard_support_l" descr="Editable line; source id hard_support_l"/>
                <p:cNvCxnSpPr/>
                <p:nvPr/>
              </p:nvCxnSpPr>
              <p:spPr>
                <a:xfrm>
                  <a:off x="1174318" y="1569110"/>
                  <a:ext cx="80467" cy="0"/>
                </a:xfrm>
                <a:prstGeom prst="line">
                  <a:avLst/>
                </a:prstGeom>
                <a:ln w="5029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hard_support_r" descr="Editable line; source id hard_support_r"/>
                <p:cNvCxnSpPr/>
                <p:nvPr/>
              </p:nvCxnSpPr>
              <p:spPr>
                <a:xfrm>
                  <a:off x="1360398" y="1569110"/>
                  <a:ext cx="80467" cy="0"/>
                </a:xfrm>
                <a:prstGeom prst="line">
                  <a:avLst/>
                </a:prstGeom>
                <a:ln w="5029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hard_support_x1" descr="Editable line; source id hard_support_x1"/>
                <p:cNvCxnSpPr/>
                <p:nvPr/>
              </p:nvCxnSpPr>
              <p:spPr>
                <a:xfrm>
                  <a:off x="1282445" y="1543964"/>
                  <a:ext cx="50293" cy="50292"/>
                </a:xfrm>
                <a:prstGeom prst="line">
                  <a:avLst/>
                </a:prstGeom>
                <a:ln w="6537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hard_support_x2" descr="Editable line; source id hard_support_x2"/>
                <p:cNvCxnSpPr/>
                <p:nvPr/>
              </p:nvCxnSpPr>
              <p:spPr>
                <a:xfrm flipV="1">
                  <a:off x="1282445" y="1543964"/>
                  <a:ext cx="50293" cy="50292"/>
                </a:xfrm>
                <a:prstGeom prst="line">
                  <a:avLst/>
                </a:prstGeom>
                <a:ln w="6537" cap="rnd">
                  <a:solidFill>
                    <a:srgbClr val="77858D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hard_zero" descr="Editable formula parts and native mathematical delimiters."/>
              <p:cNvGrpSpPr/>
              <p:nvPr/>
            </p:nvGrpSpPr>
            <p:grpSpPr>
              <a:xfrm>
                <a:off x="1181555" y="1635258"/>
                <a:ext cx="250065" cy="121619"/>
                <a:chOff x="1181555" y="1635258"/>
                <a:chExt cx="250065" cy="121619"/>
              </a:xfrm>
            </p:grpSpPr>
            <p:sp>
              <p:nvSpPr>
                <p:cNvPr id="64" name="hard_zero_0" descr="Editable text; source id hard_zero_0"/>
                <p:cNvSpPr txBox="1"/>
                <p:nvPr/>
              </p:nvSpPr>
              <p:spPr>
                <a:xfrm>
                  <a:off x="1181555" y="1635258"/>
                  <a:ext cx="62368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65" name="hard_zero_1" descr="Editable text; source id hard_zero_1"/>
                <p:cNvSpPr txBox="1"/>
                <p:nvPr/>
              </p:nvSpPr>
              <p:spPr>
                <a:xfrm>
                  <a:off x="1239672" y="1683916"/>
                  <a:ext cx="47485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H</a:t>
                  </a:r>
                </a:p>
              </p:txBody>
            </p:sp>
            <p:sp>
              <p:nvSpPr>
                <p:cNvPr id="66" name="hard_zero_2" descr="Editable text; source id hard_zero_2"/>
                <p:cNvSpPr txBox="1"/>
                <p:nvPr/>
              </p:nvSpPr>
              <p:spPr>
                <a:xfrm>
                  <a:off x="1285621" y="1635258"/>
                  <a:ext cx="145999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= 0</a:t>
                  </a:r>
                </a:p>
              </p:txBody>
            </p:sp>
          </p:grpSp>
        </p:grpSp>
        <p:grpSp>
          <p:nvGrpSpPr>
            <p:cNvPr id="273" name="graph_problem" descr="graph problem"/>
            <p:cNvGrpSpPr/>
            <p:nvPr/>
          </p:nvGrpSpPr>
          <p:grpSpPr>
            <a:xfrm>
              <a:off x="1780336" y="437540"/>
              <a:ext cx="1061161" cy="1352854"/>
              <a:chOff x="1780336" y="437540"/>
              <a:chExt cx="1061161" cy="1352854"/>
            </a:xfrm>
          </p:grpSpPr>
          <p:sp>
            <p:nvSpPr>
              <p:cNvPr id="67" name="graph_problem_panel" descr="Editable shape; source id graph_problem_panel"/>
              <p:cNvSpPr/>
              <p:nvPr/>
            </p:nvSpPr>
            <p:spPr>
              <a:xfrm>
                <a:off x="1780336" y="437540"/>
                <a:ext cx="1061161" cy="1352854"/>
              </a:xfrm>
              <a:prstGeom prst="roundRect">
                <a:avLst>
                  <a:gd name="adj" fmla="val 1895"/>
                </a:avLst>
              </a:prstGeom>
              <a:solidFill>
                <a:srgbClr val="F6F8F9"/>
              </a:solidFill>
              <a:ln w="3268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graph_title" descr="Editable text; source id graph_title"/>
              <p:cNvSpPr txBox="1"/>
              <p:nvPr/>
            </p:nvSpPr>
            <p:spPr>
              <a:xfrm>
                <a:off x="1829988" y="466998"/>
                <a:ext cx="752944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Graph optimization</a:t>
                </a:r>
              </a:p>
            </p:txBody>
          </p:sp>
          <p:cxnSp>
            <p:nvCxnSpPr>
              <p:cNvPr id="69" name="graph_rule" descr="Editable line; source id graph_rule"/>
              <p:cNvCxnSpPr/>
              <p:nvPr/>
            </p:nvCxnSpPr>
            <p:spPr>
              <a:xfrm>
                <a:off x="1830628" y="600989"/>
                <a:ext cx="960578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5" name="joint_graph" descr="joint graph"/>
              <p:cNvGrpSpPr/>
              <p:nvPr/>
            </p:nvGrpSpPr>
            <p:grpSpPr>
              <a:xfrm>
                <a:off x="1875891" y="721690"/>
                <a:ext cx="870051" cy="447598"/>
                <a:chOff x="1875891" y="721690"/>
                <a:chExt cx="870051" cy="447598"/>
              </a:xfrm>
            </p:grpSpPr>
            <p:sp>
              <p:nvSpPr>
                <p:cNvPr id="70" name="joint_graph_edge0" descr="Editable line; source id joint_graph_edge0"/>
                <p:cNvSpPr/>
                <p:nvPr/>
              </p:nvSpPr>
              <p:spPr>
                <a:xfrm>
                  <a:off x="1953583" y="797823"/>
                  <a:ext cx="131428" cy="117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60" h="41373">
                      <a:moveTo>
                        <a:pt x="0" y="39251"/>
                      </a:moveTo>
                      <a:lnTo>
                        <a:pt x="37457" y="6004"/>
                      </a:lnTo>
                      <a:lnTo>
                        <a:pt x="35750" y="4080"/>
                      </a:lnTo>
                      <a:lnTo>
                        <a:pt x="46360" y="0"/>
                      </a:lnTo>
                      <a:lnTo>
                        <a:pt x="41049" y="10051"/>
                      </a:lnTo>
                      <a:lnTo>
                        <a:pt x="39341" y="8127"/>
                      </a:lnTo>
                      <a:lnTo>
                        <a:pt x="1884" y="41373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" name="joint_graph_edge1" descr="Editable line; source id joint_graph_edge1"/>
                <p:cNvSpPr/>
                <p:nvPr/>
              </p:nvSpPr>
              <p:spPr>
                <a:xfrm>
                  <a:off x="2172915" y="753124"/>
                  <a:ext cx="260314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23" h="7983">
                      <a:moveTo>
                        <a:pt x="0" y="2572"/>
                      </a:moveTo>
                      <a:lnTo>
                        <a:pt x="81179" y="2572"/>
                      </a:lnTo>
                      <a:lnTo>
                        <a:pt x="81179" y="0"/>
                      </a:lnTo>
                      <a:lnTo>
                        <a:pt x="91823" y="3991"/>
                      </a:lnTo>
                      <a:lnTo>
                        <a:pt x="81179" y="7983"/>
                      </a:lnTo>
                      <a:lnTo>
                        <a:pt x="81179" y="5410"/>
                      </a:lnTo>
                      <a:lnTo>
                        <a:pt x="0" y="5410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" name="joint_graph_edge2" descr="Editable line; source id joint_graph_edge2"/>
                <p:cNvSpPr/>
                <p:nvPr/>
              </p:nvSpPr>
              <p:spPr>
                <a:xfrm>
                  <a:off x="2519771" y="793321"/>
                  <a:ext cx="144614" cy="120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011" h="42393">
                      <a:moveTo>
                        <a:pt x="1805" y="0"/>
                      </a:moveTo>
                      <a:lnTo>
                        <a:pt x="43700" y="34528"/>
                      </a:lnTo>
                      <a:lnTo>
                        <a:pt x="45336" y="32543"/>
                      </a:lnTo>
                      <a:lnTo>
                        <a:pt x="51011" y="42393"/>
                      </a:lnTo>
                      <a:lnTo>
                        <a:pt x="40259" y="38704"/>
                      </a:lnTo>
                      <a:lnTo>
                        <a:pt x="41895" y="36719"/>
                      </a:lnTo>
                      <a:lnTo>
                        <a:pt x="0" y="2190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joint_graph_edge3" descr="Editable line; source id joint_graph_edge3"/>
                <p:cNvSpPr/>
                <p:nvPr/>
              </p:nvSpPr>
              <p:spPr>
                <a:xfrm>
                  <a:off x="1954335" y="976711"/>
                  <a:ext cx="130677" cy="116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95" h="41075">
                      <a:moveTo>
                        <a:pt x="1354" y="0"/>
                      </a:moveTo>
                      <a:lnTo>
                        <a:pt x="38811" y="33246"/>
                      </a:lnTo>
                      <a:lnTo>
                        <a:pt x="40784" y="31024"/>
                      </a:lnTo>
                      <a:lnTo>
                        <a:pt x="46095" y="41075"/>
                      </a:lnTo>
                      <a:lnTo>
                        <a:pt x="35485" y="36995"/>
                      </a:lnTo>
                      <a:lnTo>
                        <a:pt x="37457" y="34772"/>
                      </a:lnTo>
                      <a:lnTo>
                        <a:pt x="0" y="1526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" name="joint_graph_edge4" descr="Editable line; source id joint_graph_edge4"/>
                <p:cNvSpPr/>
                <p:nvPr/>
              </p:nvSpPr>
              <p:spPr>
                <a:xfrm>
                  <a:off x="2172915" y="1115224"/>
                  <a:ext cx="260314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823" h="7983">
                      <a:moveTo>
                        <a:pt x="0" y="2972"/>
                      </a:moveTo>
                      <a:lnTo>
                        <a:pt x="81179" y="2972"/>
                      </a:lnTo>
                      <a:lnTo>
                        <a:pt x="81179" y="0"/>
                      </a:lnTo>
                      <a:lnTo>
                        <a:pt x="91823" y="3992"/>
                      </a:lnTo>
                      <a:lnTo>
                        <a:pt x="81179" y="7983"/>
                      </a:lnTo>
                      <a:lnTo>
                        <a:pt x="81179" y="5012"/>
                      </a:lnTo>
                      <a:lnTo>
                        <a:pt x="0" y="5012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" name="joint_graph_edge5" descr="Editable line; source id joint_graph_edge5"/>
                <p:cNvSpPr/>
                <p:nvPr/>
              </p:nvSpPr>
              <p:spPr>
                <a:xfrm>
                  <a:off x="2520491" y="977476"/>
                  <a:ext cx="143894" cy="119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57" h="42085">
                      <a:moveTo>
                        <a:pt x="0" y="40511"/>
                      </a:moveTo>
                      <a:lnTo>
                        <a:pt x="41895" y="5982"/>
                      </a:lnTo>
                      <a:lnTo>
                        <a:pt x="40005" y="3689"/>
                      </a:lnTo>
                      <a:lnTo>
                        <a:pt x="50757" y="0"/>
                      </a:lnTo>
                      <a:lnTo>
                        <a:pt x="45082" y="9850"/>
                      </a:lnTo>
                      <a:lnTo>
                        <a:pt x="43192" y="7557"/>
                      </a:lnTo>
                      <a:lnTo>
                        <a:pt x="1297" y="42085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joint_graph_edge6" descr="Editable line; source id joint_graph_edge6"/>
                <p:cNvSpPr/>
                <p:nvPr/>
              </p:nvSpPr>
              <p:spPr>
                <a:xfrm>
                  <a:off x="2111309" y="814730"/>
                  <a:ext cx="22631" cy="261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92248">
                      <a:moveTo>
                        <a:pt x="5011" y="0"/>
                      </a:moveTo>
                      <a:lnTo>
                        <a:pt x="5011" y="81604"/>
                      </a:lnTo>
                      <a:lnTo>
                        <a:pt x="7983" y="81604"/>
                      </a:lnTo>
                      <a:lnTo>
                        <a:pt x="3991" y="92248"/>
                      </a:lnTo>
                      <a:lnTo>
                        <a:pt x="0" y="81604"/>
                      </a:lnTo>
                      <a:lnTo>
                        <a:pt x="2971" y="81604"/>
                      </a:lnTo>
                      <a:lnTo>
                        <a:pt x="2971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" name="joint_graph_edge7" descr="Editable line; source id joint_graph_edge7"/>
                <p:cNvSpPr/>
                <p:nvPr/>
              </p:nvSpPr>
              <p:spPr>
                <a:xfrm>
                  <a:off x="2472203" y="814730"/>
                  <a:ext cx="22631" cy="261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92248">
                      <a:moveTo>
                        <a:pt x="5012" y="0"/>
                      </a:moveTo>
                      <a:lnTo>
                        <a:pt x="5012" y="81604"/>
                      </a:lnTo>
                      <a:lnTo>
                        <a:pt x="7983" y="81604"/>
                      </a:lnTo>
                      <a:lnTo>
                        <a:pt x="3992" y="92248"/>
                      </a:lnTo>
                      <a:lnTo>
                        <a:pt x="0" y="81604"/>
                      </a:lnTo>
                      <a:lnTo>
                        <a:pt x="2972" y="81604"/>
                      </a:lnTo>
                      <a:lnTo>
                        <a:pt x="2972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" name="joint_graph_node1" descr="Editable shape; source id joint_graph_node1"/>
                <p:cNvSpPr/>
                <p:nvPr/>
              </p:nvSpPr>
              <p:spPr>
                <a:xfrm>
                  <a:off x="1875891" y="902741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" name="joint_graph_node2" descr="Editable shape; source id joint_graph_node2"/>
                <p:cNvSpPr/>
                <p:nvPr/>
              </p:nvSpPr>
              <p:spPr>
                <a:xfrm>
                  <a:off x="2079875" y="721690"/>
                  <a:ext cx="85496" cy="85496"/>
                </a:xfrm>
                <a:prstGeom prst="ellipse">
                  <a:avLst/>
                </a:prstGeom>
                <a:solidFill>
                  <a:srgbClr val="ECF5F4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" name="joint_graph_node3" descr="Editable shape; source id joint_graph_node3"/>
                <p:cNvSpPr/>
                <p:nvPr/>
              </p:nvSpPr>
              <p:spPr>
                <a:xfrm>
                  <a:off x="2440771" y="721690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joint_graph_node4" descr="Editable shape; source id joint_graph_node4"/>
                <p:cNvSpPr/>
                <p:nvPr/>
              </p:nvSpPr>
              <p:spPr>
                <a:xfrm>
                  <a:off x="2660446" y="902741"/>
                  <a:ext cx="85496" cy="85496"/>
                </a:xfrm>
                <a:prstGeom prst="ellipse">
                  <a:avLst/>
                </a:prstGeom>
                <a:solidFill>
                  <a:srgbClr val="007F85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joint_graph_node5" descr="Editable shape; source id joint_graph_node5"/>
                <p:cNvSpPr/>
                <p:nvPr/>
              </p:nvSpPr>
              <p:spPr>
                <a:xfrm>
                  <a:off x="2079875" y="1083792"/>
                  <a:ext cx="85496" cy="85496"/>
                </a:xfrm>
                <a:prstGeom prst="ellipse">
                  <a:avLst/>
                </a:prstGeom>
                <a:solidFill>
                  <a:srgbClr val="ECF5F4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joint_graph_node6" descr="Editable shape; source id joint_graph_node6"/>
                <p:cNvSpPr/>
                <p:nvPr/>
              </p:nvSpPr>
              <p:spPr>
                <a:xfrm>
                  <a:off x="2440771" y="1083792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8" name="objective_1" descr="Editable formula parts and native mathematical delimiters."/>
              <p:cNvGrpSpPr/>
              <p:nvPr/>
            </p:nvGrpSpPr>
            <p:grpSpPr>
              <a:xfrm>
                <a:off x="2026902" y="1238019"/>
                <a:ext cx="558967" cy="128769"/>
                <a:chOff x="2026902" y="1238019"/>
                <a:chExt cx="558967" cy="128769"/>
              </a:xfrm>
            </p:grpSpPr>
            <p:sp>
              <p:nvSpPr>
                <p:cNvPr id="84" name="objective_1_0" descr="Editable text; source id objective_1_0"/>
                <p:cNvSpPr txBox="1"/>
                <p:nvPr/>
              </p:nvSpPr>
              <p:spPr>
                <a:xfrm>
                  <a:off x="2026902" y="1238019"/>
                  <a:ext cx="153087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min</a:t>
                  </a:r>
                </a:p>
              </p:txBody>
            </p:sp>
            <p:sp>
              <p:nvSpPr>
                <p:cNvPr id="85" name="objective_1_1" descr="Editable text; source id objective_1_1"/>
                <p:cNvSpPr txBox="1"/>
                <p:nvPr/>
              </p:nvSpPr>
              <p:spPr>
                <a:xfrm>
                  <a:off x="2175737" y="1290010"/>
                  <a:ext cx="105601" cy="7677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7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96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96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F≥0</a:t>
                  </a:r>
                </a:p>
              </p:txBody>
            </p:sp>
            <p:sp>
              <p:nvSpPr>
                <p:cNvPr id="86" name="objective_1_2" descr="Editable text; source id objective_1_2"/>
                <p:cNvSpPr txBox="1"/>
                <p:nvPr/>
              </p:nvSpPr>
              <p:spPr>
                <a:xfrm>
                  <a:off x="2279953" y="1238019"/>
                  <a:ext cx="105911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87" name="objective_1_3" descr="Editable text; source id objective_1_3"/>
                <p:cNvSpPr txBox="1"/>
                <p:nvPr/>
              </p:nvSpPr>
              <p:spPr>
                <a:xfrm>
                  <a:off x="2407476" y="1238019"/>
                  <a:ext cx="157339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708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A,F</a:t>
                  </a:r>
                </a:p>
              </p:txBody>
            </p:sp>
            <p:grpSp>
              <p:nvGrpSpPr>
                <p:cNvPr id="266" name="objective_1_angle_0" descr="One editable routed connector; fixed endpoints."/>
                <p:cNvGrpSpPr/>
                <p:nvPr/>
              </p:nvGrpSpPr>
              <p:grpSpPr>
                <a:xfrm>
                  <a:off x="2391630" y="1256394"/>
                  <a:ext cx="15289" cy="76444"/>
                  <a:chOff x="2391630" y="1256394"/>
                  <a:chExt cx="15289" cy="76444"/>
                </a:xfrm>
              </p:grpSpPr>
              <p:cxnSp>
                <p:nvCxnSpPr>
                  <p:cNvPr id="88" name="objective_1_angle_0_0" descr="Editable line; source id objective_1_angle_0_0"/>
                  <p:cNvCxnSpPr/>
                  <p:nvPr/>
                </p:nvCxnSpPr>
                <p:spPr>
                  <a:xfrm flipH="1">
                    <a:off x="2391630" y="1256394"/>
                    <a:ext cx="15289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objective_1_angle_0_1" descr="Editable line; source id objective_1_angle_0_1"/>
                  <p:cNvCxnSpPr/>
                  <p:nvPr/>
                </p:nvCxnSpPr>
                <p:spPr>
                  <a:xfrm>
                    <a:off x="2391630" y="1294616"/>
                    <a:ext cx="15289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7" name="objective_1_angle_1" descr="One editable routed connector; fixed endpoints."/>
                <p:cNvGrpSpPr/>
                <p:nvPr/>
              </p:nvGrpSpPr>
              <p:grpSpPr>
                <a:xfrm>
                  <a:off x="2570581" y="1256394"/>
                  <a:ext cx="15288" cy="76444"/>
                  <a:chOff x="2570581" y="1256394"/>
                  <a:chExt cx="15288" cy="76444"/>
                </a:xfrm>
              </p:grpSpPr>
              <p:cxnSp>
                <p:nvCxnSpPr>
                  <p:cNvPr id="90" name="objective_1_angle_1_0" descr="Editable line; source id objective_1_angle_1_0"/>
                  <p:cNvCxnSpPr/>
                  <p:nvPr/>
                </p:nvCxnSpPr>
                <p:spPr>
                  <a:xfrm>
                    <a:off x="2570581" y="1256394"/>
                    <a:ext cx="15288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objective_1_angle_1_1" descr="Editable line; source id objective_1_angle_1_1"/>
                  <p:cNvCxnSpPr/>
                  <p:nvPr/>
                </p:nvCxnSpPr>
                <p:spPr>
                  <a:xfrm flipH="1">
                    <a:off x="2570581" y="1294616"/>
                    <a:ext cx="15288" cy="38222"/>
                  </a:xfrm>
                  <a:prstGeom prst="line">
                    <a:avLst/>
                  </a:prstGeom>
                  <a:ln w="3822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9" name="objective_2" descr="Editable formula parts and native mathematical delimiters."/>
              <p:cNvGrpSpPr/>
              <p:nvPr/>
            </p:nvGrpSpPr>
            <p:grpSpPr>
              <a:xfrm>
                <a:off x="2044834" y="1361234"/>
                <a:ext cx="530717" cy="114140"/>
                <a:chOff x="2044834" y="1361234"/>
                <a:chExt cx="530717" cy="114140"/>
              </a:xfrm>
            </p:grpSpPr>
            <p:sp>
              <p:nvSpPr>
                <p:cNvPr id="92" name="objective_2_0" descr="Editable text; source id objective_2_0"/>
                <p:cNvSpPr txBox="1"/>
                <p:nvPr/>
              </p:nvSpPr>
              <p:spPr>
                <a:xfrm>
                  <a:off x="2044834" y="1361234"/>
                  <a:ext cx="385076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+ ε KL(F </a:t>
                  </a:r>
                </a:p>
              </p:txBody>
            </p:sp>
            <p:sp>
              <p:nvSpPr>
                <p:cNvPr id="93" name="objective_2_1" descr="Editable text; source id objective_2_1"/>
                <p:cNvSpPr txBox="1"/>
                <p:nvPr/>
              </p:nvSpPr>
              <p:spPr>
                <a:xfrm>
                  <a:off x="2457192" y="1361234"/>
                  <a:ext cx="118359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F̂)</a:t>
                  </a:r>
                </a:p>
              </p:txBody>
            </p:sp>
            <p:cxnSp>
              <p:nvCxnSpPr>
                <p:cNvPr id="94" name="objective_2_parallel_0_0" descr="Editable line; source id objective_2_parallel_0_0"/>
                <p:cNvCxnSpPr/>
                <p:nvPr/>
              </p:nvCxnSpPr>
              <p:spPr>
                <a:xfrm>
                  <a:off x="2437587" y="1379610"/>
                  <a:ext cx="0" cy="76443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objective_2_parallel_0_1" descr="Editable line; source id objective_2_parallel_0_1"/>
                <p:cNvCxnSpPr/>
                <p:nvPr/>
              </p:nvCxnSpPr>
              <p:spPr>
                <a:xfrm>
                  <a:off x="2450965" y="1379610"/>
                  <a:ext cx="0" cy="76443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6" name="balance" descr="Editable text; source id balance"/>
              <p:cNvSpPr txBox="1"/>
              <p:nvPr/>
            </p:nvSpPr>
            <p:spPr>
              <a:xfrm>
                <a:off x="1902618" y="1507265"/>
                <a:ext cx="825103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discounted flow balance</a:t>
                </a:r>
              </a:p>
            </p:txBody>
          </p:sp>
          <p:grpSp>
            <p:nvGrpSpPr>
              <p:cNvPr id="272" name="budget_constraint" descr="Editable formula parts and native mathematical delimiters."/>
              <p:cNvGrpSpPr/>
              <p:nvPr/>
            </p:nvGrpSpPr>
            <p:grpSpPr>
              <a:xfrm>
                <a:off x="2113197" y="1635258"/>
                <a:ext cx="400990" cy="121619"/>
                <a:chOff x="2113197" y="1635258"/>
                <a:chExt cx="400990" cy="121619"/>
              </a:xfrm>
            </p:grpSpPr>
            <p:sp>
              <p:nvSpPr>
                <p:cNvPr id="97" name="budget_constraint_0" descr="Editable text; source id budget_constraint_0"/>
                <p:cNvSpPr txBox="1"/>
                <p:nvPr/>
              </p:nvSpPr>
              <p:spPr>
                <a:xfrm>
                  <a:off x="2133506" y="1635258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8" name="budget_constraint_1" descr="Editable text; source id budget_constraint_1"/>
                <p:cNvSpPr txBox="1"/>
                <p:nvPr/>
              </p:nvSpPr>
              <p:spPr>
                <a:xfrm>
                  <a:off x="2195166" y="168391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99" name="budget_constraint_2" descr="Editable text; source id budget_constraint_2"/>
                <p:cNvSpPr txBox="1"/>
                <p:nvPr/>
              </p:nvSpPr>
              <p:spPr>
                <a:xfrm>
                  <a:off x="2227759" y="1635258"/>
                  <a:ext cx="83631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,F</a:t>
                  </a:r>
                </a:p>
              </p:txBody>
            </p:sp>
            <p:sp>
              <p:nvSpPr>
                <p:cNvPr id="100" name="budget_constraint_3" descr="Editable text; source id budget_constraint_3"/>
                <p:cNvSpPr txBox="1"/>
                <p:nvPr/>
              </p:nvSpPr>
              <p:spPr>
                <a:xfrm>
                  <a:off x="2337011" y="1635258"/>
                  <a:ext cx="99223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≤ </a:t>
                  </a:r>
                </a:p>
              </p:txBody>
            </p:sp>
            <p:sp>
              <p:nvSpPr>
                <p:cNvPr id="101" name="budget_constraint_4" descr="Editable text; source id budget_constraint_4"/>
                <p:cNvSpPr txBox="1"/>
                <p:nvPr/>
              </p:nvSpPr>
              <p:spPr>
                <a:xfrm>
                  <a:off x="2434698" y="1635258"/>
                  <a:ext cx="49611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02" name="budget_constraint_5" descr="Editable text; source id budget_constraint_5"/>
                <p:cNvSpPr txBox="1"/>
                <p:nvPr/>
              </p:nvSpPr>
              <p:spPr>
                <a:xfrm>
                  <a:off x="2480057" y="168391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grpSp>
              <p:nvGrpSpPr>
                <p:cNvPr id="270" name="budget_constraint_angle_0" descr="One editable routed connector; fixed endpoints."/>
                <p:cNvGrpSpPr/>
                <p:nvPr/>
              </p:nvGrpSpPr>
              <p:grpSpPr>
                <a:xfrm>
                  <a:off x="2113197" y="1652293"/>
                  <a:ext cx="14484" cy="72420"/>
                  <a:chOff x="2113197" y="1652293"/>
                  <a:chExt cx="14484" cy="72420"/>
                </a:xfrm>
              </p:grpSpPr>
              <p:cxnSp>
                <p:nvCxnSpPr>
                  <p:cNvPr id="103" name="budget_constraint_angle_0_0" descr="Editable line; source id budget_constraint_angle_0_0"/>
                  <p:cNvCxnSpPr/>
                  <p:nvPr/>
                </p:nvCxnSpPr>
                <p:spPr>
                  <a:xfrm flipH="1">
                    <a:off x="2113197" y="165229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budget_constraint_angle_0_1" descr="Editable line; source id budget_constraint_angle_0_1"/>
                  <p:cNvCxnSpPr/>
                  <p:nvPr/>
                </p:nvCxnSpPr>
                <p:spPr>
                  <a:xfrm>
                    <a:off x="2113197" y="168850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1" name="budget_constraint_angle_1" descr="One editable routed connector; fixed endpoints."/>
                <p:cNvGrpSpPr/>
                <p:nvPr/>
              </p:nvGrpSpPr>
              <p:grpSpPr>
                <a:xfrm>
                  <a:off x="2316703" y="1652293"/>
                  <a:ext cx="14484" cy="72420"/>
                  <a:chOff x="2316703" y="1652293"/>
                  <a:chExt cx="14484" cy="72420"/>
                </a:xfrm>
              </p:grpSpPr>
              <p:cxnSp>
                <p:nvCxnSpPr>
                  <p:cNvPr id="105" name="budget_constraint_angle_1_0" descr="Editable line; source id budget_constraint_angle_1_0"/>
                  <p:cNvCxnSpPr/>
                  <p:nvPr/>
                </p:nvCxnSpPr>
                <p:spPr>
                  <a:xfrm>
                    <a:off x="2316703" y="165229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budget_constraint_angle_1_1" descr="Editable line; source id budget_constraint_angle_1_1"/>
                  <p:cNvCxnSpPr/>
                  <p:nvPr/>
                </p:nvCxnSpPr>
                <p:spPr>
                  <a:xfrm flipH="1">
                    <a:off x="2316703" y="1688503"/>
                    <a:ext cx="14484" cy="36210"/>
                  </a:xfrm>
                  <a:prstGeom prst="line">
                    <a:avLst/>
                  </a:prstGeom>
                  <a:ln w="3621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90" name="shared_price" descr="shared price"/>
            <p:cNvGrpSpPr/>
            <p:nvPr/>
          </p:nvGrpSpPr>
          <p:grpSpPr>
            <a:xfrm>
              <a:off x="2947111" y="437540"/>
              <a:ext cx="1141628" cy="1352854"/>
              <a:chOff x="2947111" y="437540"/>
              <a:chExt cx="1141628" cy="1352854"/>
            </a:xfrm>
          </p:grpSpPr>
          <p:sp>
            <p:nvSpPr>
              <p:cNvPr id="107" name="shared_price_panel" descr="Editable shape; source id shared_price_panel"/>
              <p:cNvSpPr/>
              <p:nvPr/>
            </p:nvSpPr>
            <p:spPr>
              <a:xfrm>
                <a:off x="2947111" y="437540"/>
                <a:ext cx="1141628" cy="1352854"/>
              </a:xfrm>
              <a:prstGeom prst="roundRect">
                <a:avLst>
                  <a:gd name="adj" fmla="val 1762"/>
                </a:avLst>
              </a:prstGeom>
              <a:solidFill>
                <a:srgbClr val="F6F8F9"/>
              </a:solidFill>
              <a:ln w="3268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price_title" descr="Editable text; source id price_title"/>
              <p:cNvSpPr txBox="1"/>
              <p:nvPr/>
            </p:nvSpPr>
            <p:spPr>
              <a:xfrm>
                <a:off x="2996762" y="466998"/>
                <a:ext cx="762601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Shared safety price</a:t>
                </a:r>
              </a:p>
            </p:txBody>
          </p:sp>
          <p:cxnSp>
            <p:nvCxnSpPr>
              <p:cNvPr id="109" name="price_rule" descr="Editable line; source id price_rule"/>
              <p:cNvCxnSpPr/>
              <p:nvPr/>
            </p:nvCxnSpPr>
            <p:spPr>
              <a:xfrm>
                <a:off x="2997403" y="600989"/>
                <a:ext cx="1041044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4" name="raw_price" descr="Editable formula parts and native mathematical delimiters."/>
              <p:cNvGrpSpPr/>
              <p:nvPr/>
            </p:nvGrpSpPr>
            <p:grpSpPr>
              <a:xfrm>
                <a:off x="3099691" y="652911"/>
                <a:ext cx="82833" cy="130948"/>
                <a:chOff x="3099691" y="652911"/>
                <a:chExt cx="82833" cy="130948"/>
              </a:xfrm>
            </p:grpSpPr>
            <p:sp>
              <p:nvSpPr>
                <p:cNvPr id="110" name="raw_price_0" descr="Editable text; source id raw_price_0"/>
                <p:cNvSpPr txBox="1"/>
                <p:nvPr/>
              </p:nvSpPr>
              <p:spPr>
                <a:xfrm>
                  <a:off x="3099691" y="669719"/>
                  <a:ext cx="51305" cy="11414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8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5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5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11" name="raw_price_1" descr="Editable text; source id raw_price_1"/>
                <p:cNvSpPr txBox="1"/>
                <p:nvPr/>
              </p:nvSpPr>
              <p:spPr>
                <a:xfrm>
                  <a:off x="3146744" y="652911"/>
                  <a:ext cx="35780" cy="7677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7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96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96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</p:grpSp>
          <p:sp>
            <p:nvSpPr>
              <p:cNvPr id="112" name="raw_to_filter" descr="Editable line; source id raw_to_filter"/>
              <p:cNvSpPr/>
              <p:nvPr/>
            </p:nvSpPr>
            <p:spPr>
              <a:xfrm>
                <a:off x="3221203" y="710376"/>
                <a:ext cx="77953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27497" h="7982">
                    <a:moveTo>
                      <a:pt x="0" y="2971"/>
                    </a:moveTo>
                    <a:lnTo>
                      <a:pt x="16853" y="2971"/>
                    </a:lnTo>
                    <a:lnTo>
                      <a:pt x="16853" y="0"/>
                    </a:lnTo>
                    <a:lnTo>
                      <a:pt x="27497" y="3991"/>
                    </a:lnTo>
                    <a:lnTo>
                      <a:pt x="16853" y="7982"/>
                    </a:lnTo>
                    <a:lnTo>
                      <a:pt x="16853" y="5011"/>
                    </a:lnTo>
                    <a:lnTo>
                      <a:pt x="0" y="5011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75" name="clip_filter" descr="clip filter"/>
              <p:cNvGrpSpPr/>
              <p:nvPr/>
            </p:nvGrpSpPr>
            <p:grpSpPr>
              <a:xfrm>
                <a:off x="3311728" y="661339"/>
                <a:ext cx="676427" cy="130759"/>
                <a:chOff x="3311728" y="661339"/>
                <a:chExt cx="676427" cy="130759"/>
              </a:xfrm>
            </p:grpSpPr>
            <p:sp>
              <p:nvSpPr>
                <p:cNvPr id="113" name="clip_filter_panel" descr="Editable shape; source id clip_filter_panel"/>
                <p:cNvSpPr/>
                <p:nvPr/>
              </p:nvSpPr>
              <p:spPr>
                <a:xfrm>
                  <a:off x="3311728" y="661339"/>
                  <a:ext cx="676427" cy="130759"/>
                </a:xfrm>
                <a:prstGeom prst="roundRect">
                  <a:avLst>
                    <a:gd name="adj" fmla="val 15384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" name="clip_filter_label" descr="Editable text; source id clip_filter_label"/>
                <p:cNvSpPr txBox="1"/>
                <p:nvPr/>
              </p:nvSpPr>
              <p:spPr>
                <a:xfrm>
                  <a:off x="3451854" y="673195"/>
                  <a:ext cx="402164" cy="1091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3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Clip + filter</a:t>
                  </a:r>
                </a:p>
              </p:txBody>
            </p:sp>
          </p:grpSp>
          <p:sp>
            <p:nvSpPr>
              <p:cNvPr id="115" name="filter_to_graph_price" descr="Editable line; source id filter_to_graph_price"/>
              <p:cNvSpPr/>
              <p:nvPr/>
            </p:nvSpPr>
            <p:spPr>
              <a:xfrm>
                <a:off x="3637370" y="807187"/>
                <a:ext cx="22631" cy="57836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20401">
                    <a:moveTo>
                      <a:pt x="5011" y="0"/>
                    </a:moveTo>
                    <a:lnTo>
                      <a:pt x="5011" y="9757"/>
                    </a:lnTo>
                    <a:lnTo>
                      <a:pt x="7983" y="9757"/>
                    </a:lnTo>
                    <a:lnTo>
                      <a:pt x="3991" y="20401"/>
                    </a:lnTo>
                    <a:lnTo>
                      <a:pt x="0" y="9757"/>
                    </a:lnTo>
                    <a:lnTo>
                      <a:pt x="2971" y="9757"/>
                    </a:lnTo>
                    <a:lnTo>
                      <a:pt x="2971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76" name="conditioned_price" descr="Editable formula parts and native mathematical delimiters."/>
              <p:cNvGrpSpPr/>
              <p:nvPr/>
            </p:nvGrpSpPr>
            <p:grpSpPr>
              <a:xfrm>
                <a:off x="3217051" y="906337"/>
                <a:ext cx="119311" cy="147898"/>
                <a:chOff x="3217051" y="906337"/>
                <a:chExt cx="119311" cy="147898"/>
              </a:xfrm>
            </p:grpSpPr>
            <p:sp>
              <p:nvSpPr>
                <p:cNvPr id="116" name="conditioned_price_0" descr="Editable text; source id conditioned_price_0"/>
                <p:cNvSpPr txBox="1"/>
                <p:nvPr/>
              </p:nvSpPr>
              <p:spPr>
                <a:xfrm>
                  <a:off x="3217051" y="925636"/>
                  <a:ext cx="83631" cy="12859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97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851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851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17" name="conditioned_price_1" descr="Editable text; source id conditioned_price_1"/>
                <p:cNvSpPr txBox="1"/>
                <p:nvPr/>
              </p:nvSpPr>
              <p:spPr>
                <a:xfrm>
                  <a:off x="3296430" y="906337"/>
                  <a:ext cx="39932" cy="8632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4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61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61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</p:grpSp>
          <p:sp>
            <p:nvSpPr>
              <p:cNvPr id="118" name="conditioned_label" descr="Editable text; source id conditioned_label"/>
              <p:cNvSpPr txBox="1"/>
              <p:nvPr/>
            </p:nvSpPr>
            <p:spPr>
              <a:xfrm>
                <a:off x="3084490" y="1054637"/>
                <a:ext cx="397601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graph price</a:t>
                </a:r>
              </a:p>
            </p:txBody>
          </p:sp>
          <p:sp>
            <p:nvSpPr>
              <p:cNvPr id="119" name="feedback_price_0" descr="Editable text; source id feedback_price_0"/>
              <p:cNvSpPr txBox="1"/>
              <p:nvPr/>
            </p:nvSpPr>
            <p:spPr>
              <a:xfrm>
                <a:off x="3738739" y="925636"/>
                <a:ext cx="62368" cy="128599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979"/>
                  </a:lnSpc>
                  <a:spcBef>
                    <a:spcPts val="0"/>
                  </a:spcBef>
                  <a:spcAft>
                    <a:spcPts val="0"/>
                  </a:spcAft>
                  <a:defRPr sz="851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51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120" name="feedback_label" descr="Editable text; source id feedback_label"/>
              <p:cNvSpPr txBox="1"/>
              <p:nvPr/>
            </p:nvSpPr>
            <p:spPr>
              <a:xfrm>
                <a:off x="3533055" y="1054637"/>
                <a:ext cx="486193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cost feedback</a:t>
                </a:r>
              </a:p>
            </p:txBody>
          </p:sp>
          <p:grpSp>
            <p:nvGrpSpPr>
              <p:cNvPr id="277" name="filtered_route" descr="One editable routed connector; fixed endpoints."/>
              <p:cNvGrpSpPr/>
              <p:nvPr/>
            </p:nvGrpSpPr>
            <p:grpSpPr>
              <a:xfrm>
                <a:off x="3267721" y="872566"/>
                <a:ext cx="380963" cy="35204"/>
                <a:chOff x="3267721" y="872566"/>
                <a:chExt cx="380963" cy="35204"/>
              </a:xfrm>
            </p:grpSpPr>
            <p:cxnSp>
              <p:nvCxnSpPr>
                <p:cNvPr id="121" name="filtered_route_0" descr="Editable line; source id filtered_route_0"/>
                <p:cNvCxnSpPr/>
                <p:nvPr/>
              </p:nvCxnSpPr>
              <p:spPr>
                <a:xfrm flipH="1">
                  <a:off x="3279038" y="872566"/>
                  <a:ext cx="369646" cy="0"/>
                </a:xfrm>
                <a:prstGeom prst="line">
                  <a:avLst/>
                </a:prstGeom>
                <a:ln w="5532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2" name="filtered_route_1" descr="Editable line; source id filtered_route_1"/>
                <p:cNvSpPr/>
                <p:nvPr/>
              </p:nvSpPr>
              <p:spPr>
                <a:xfrm>
                  <a:off x="3267721" y="872566"/>
                  <a:ext cx="22634" cy="35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4" h="12418">
                      <a:moveTo>
                        <a:pt x="4968" y="0"/>
                      </a:moveTo>
                      <a:lnTo>
                        <a:pt x="4968" y="1774"/>
                      </a:lnTo>
                      <a:lnTo>
                        <a:pt x="7984" y="1774"/>
                      </a:lnTo>
                      <a:lnTo>
                        <a:pt x="3992" y="12418"/>
                      </a:lnTo>
                      <a:lnTo>
                        <a:pt x="0" y="1774"/>
                      </a:lnTo>
                      <a:lnTo>
                        <a:pt x="3016" y="1774"/>
                      </a:lnTo>
                      <a:lnTo>
                        <a:pt x="3016" y="0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8" name="graph_to_sum" descr="One editable routed connector; fixed endpoints."/>
              <p:cNvGrpSpPr/>
              <p:nvPr/>
            </p:nvGrpSpPr>
            <p:grpSpPr>
              <a:xfrm>
                <a:off x="3279038" y="1171803"/>
                <a:ext cx="165964" cy="111901"/>
                <a:chOff x="3279038" y="1171803"/>
                <a:chExt cx="165964" cy="111901"/>
              </a:xfrm>
            </p:grpSpPr>
            <p:cxnSp>
              <p:nvCxnSpPr>
                <p:cNvPr id="123" name="graph_to_sum_0" descr="Editable line; source id graph_to_sum_0"/>
                <p:cNvCxnSpPr/>
                <p:nvPr/>
              </p:nvCxnSpPr>
              <p:spPr>
                <a:xfrm>
                  <a:off x="3279038" y="1171803"/>
                  <a:ext cx="0" cy="100584"/>
                </a:xfrm>
                <a:prstGeom prst="line">
                  <a:avLst/>
                </a:prstGeom>
                <a:ln w="5532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graph_to_sum_1" descr="Editable line; source id graph_to_sum_1"/>
                <p:cNvSpPr/>
                <p:nvPr/>
              </p:nvSpPr>
              <p:spPr>
                <a:xfrm>
                  <a:off x="3279038" y="1261070"/>
                  <a:ext cx="165964" cy="2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2" h="7984">
                      <a:moveTo>
                        <a:pt x="0" y="3016"/>
                      </a:moveTo>
                      <a:lnTo>
                        <a:pt x="47898" y="3016"/>
                      </a:lnTo>
                      <a:lnTo>
                        <a:pt x="47898" y="0"/>
                      </a:lnTo>
                      <a:lnTo>
                        <a:pt x="58542" y="3992"/>
                      </a:lnTo>
                      <a:lnTo>
                        <a:pt x="47898" y="7984"/>
                      </a:lnTo>
                      <a:lnTo>
                        <a:pt x="47898" y="4968"/>
                      </a:lnTo>
                      <a:lnTo>
                        <a:pt x="0" y="4968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9" name="feedback_to_sum" descr="One editable routed connector; fixed endpoints."/>
              <p:cNvGrpSpPr/>
              <p:nvPr/>
            </p:nvGrpSpPr>
            <p:grpSpPr>
              <a:xfrm>
                <a:off x="3595878" y="1171803"/>
                <a:ext cx="176022" cy="111901"/>
                <a:chOff x="3595878" y="1171803"/>
                <a:chExt cx="176022" cy="111901"/>
              </a:xfrm>
            </p:grpSpPr>
            <p:cxnSp>
              <p:nvCxnSpPr>
                <p:cNvPr id="125" name="feedback_to_sum_0" descr="Editable line; source id feedback_to_sum_0"/>
                <p:cNvCxnSpPr/>
                <p:nvPr/>
              </p:nvCxnSpPr>
              <p:spPr>
                <a:xfrm>
                  <a:off x="3771900" y="1171803"/>
                  <a:ext cx="0" cy="100584"/>
                </a:xfrm>
                <a:prstGeom prst="line">
                  <a:avLst/>
                </a:prstGeom>
                <a:ln w="5532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6" name="feedback_to_sum_1" descr="Editable line; source id feedback_to_sum_1"/>
                <p:cNvSpPr/>
                <p:nvPr/>
              </p:nvSpPr>
              <p:spPr>
                <a:xfrm>
                  <a:off x="3595878" y="1261070"/>
                  <a:ext cx="176022" cy="2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90" h="7984">
                      <a:moveTo>
                        <a:pt x="62090" y="4968"/>
                      </a:moveTo>
                      <a:lnTo>
                        <a:pt x="10644" y="4968"/>
                      </a:lnTo>
                      <a:lnTo>
                        <a:pt x="10644" y="7984"/>
                      </a:lnTo>
                      <a:lnTo>
                        <a:pt x="0" y="3992"/>
                      </a:lnTo>
                      <a:lnTo>
                        <a:pt x="10644" y="0"/>
                      </a:lnTo>
                      <a:lnTo>
                        <a:pt x="10644" y="3016"/>
                      </a:lnTo>
                      <a:lnTo>
                        <a:pt x="62090" y="3016"/>
                      </a:lnTo>
                      <a:close/>
                    </a:path>
                  </a:pathLst>
                </a:cu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80" name="price_junction" descr="price junction"/>
              <p:cNvGrpSpPr/>
              <p:nvPr/>
            </p:nvGrpSpPr>
            <p:grpSpPr>
              <a:xfrm>
                <a:off x="3457575" y="1209522"/>
                <a:ext cx="125730" cy="128665"/>
                <a:chOff x="3457575" y="1209522"/>
                <a:chExt cx="125730" cy="128665"/>
              </a:xfrm>
            </p:grpSpPr>
            <p:sp>
              <p:nvSpPr>
                <p:cNvPr id="127" name="price_junction_panel" descr="Editable shape; source id price_junction_panel"/>
                <p:cNvSpPr/>
                <p:nvPr/>
              </p:nvSpPr>
              <p:spPr>
                <a:xfrm>
                  <a:off x="3457575" y="1209522"/>
                  <a:ext cx="125730" cy="125730"/>
                </a:xfrm>
                <a:prstGeom prst="roundRect">
                  <a:avLst>
                    <a:gd name="adj" fmla="val 16000"/>
                  </a:avLst>
                </a:prstGeom>
                <a:solidFill>
                  <a:srgbClr val="FFFFFF"/>
                </a:solidFill>
                <a:ln w="4526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8" name="price_plus" descr="Editable text; source id price_plus"/>
                <p:cNvSpPr txBox="1"/>
                <p:nvPr/>
              </p:nvSpPr>
              <p:spPr>
                <a:xfrm>
                  <a:off x="3488192" y="1217193"/>
                  <a:ext cx="72999" cy="12099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712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+</a:t>
                  </a:r>
                </a:p>
              </p:txBody>
            </p:sp>
          </p:grpSp>
          <p:sp>
            <p:nvSpPr>
              <p:cNvPr id="129" name="sum_to_price" descr="Editable line; source id sum_to_price"/>
              <p:cNvSpPr/>
              <p:nvPr/>
            </p:nvSpPr>
            <p:spPr>
              <a:xfrm>
                <a:off x="3509123" y="1347826"/>
                <a:ext cx="22634" cy="55321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19514">
                    <a:moveTo>
                      <a:pt x="5012" y="0"/>
                    </a:moveTo>
                    <a:lnTo>
                      <a:pt x="5012" y="8870"/>
                    </a:lnTo>
                    <a:lnTo>
                      <a:pt x="7984" y="8870"/>
                    </a:lnTo>
                    <a:lnTo>
                      <a:pt x="3992" y="19514"/>
                    </a:lnTo>
                    <a:lnTo>
                      <a:pt x="0" y="8870"/>
                    </a:lnTo>
                    <a:lnTo>
                      <a:pt x="2972" y="8870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81" name="unified_price" descr="Editable formula parts and native mathematical delimiters."/>
              <p:cNvGrpSpPr/>
              <p:nvPr/>
            </p:nvGrpSpPr>
            <p:grpSpPr>
              <a:xfrm>
                <a:off x="3266803" y="1422159"/>
                <a:ext cx="502838" cy="153016"/>
                <a:chOff x="3266803" y="1422159"/>
                <a:chExt cx="502838" cy="153016"/>
              </a:xfrm>
            </p:grpSpPr>
            <p:sp>
              <p:nvSpPr>
                <p:cNvPr id="130" name="unified_price_0" descr="Editable text; source id unified_price_0"/>
                <p:cNvSpPr txBox="1"/>
                <p:nvPr/>
              </p:nvSpPr>
              <p:spPr>
                <a:xfrm>
                  <a:off x="3266803" y="1439964"/>
                  <a:ext cx="53476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31" name="unified_price_1" descr="Editable text; source id unified_price_1"/>
                <p:cNvSpPr txBox="1"/>
                <p:nvPr/>
              </p:nvSpPr>
              <p:spPr>
                <a:xfrm>
                  <a:off x="3316027" y="1494580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2" name="unified_price_2" descr="Editable text; source id unified_price_2"/>
                <p:cNvSpPr txBox="1"/>
                <p:nvPr/>
              </p:nvSpPr>
              <p:spPr>
                <a:xfrm>
                  <a:off x="3352355" y="1439964"/>
                  <a:ext cx="111271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 = </a:t>
                  </a:r>
                </a:p>
              </p:txBody>
            </p:sp>
            <p:sp>
              <p:nvSpPr>
                <p:cNvPr id="133" name="unified_price_3" descr="Editable text; source id unified_price_3"/>
                <p:cNvSpPr txBox="1"/>
                <p:nvPr/>
              </p:nvSpPr>
              <p:spPr>
                <a:xfrm>
                  <a:off x="3459557" y="1439964"/>
                  <a:ext cx="77961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4252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34" name="unified_price_4" descr="Editable text; source id unified_price_4"/>
                <p:cNvSpPr txBox="1"/>
                <p:nvPr/>
              </p:nvSpPr>
              <p:spPr>
                <a:xfrm>
                  <a:off x="3533266" y="1494580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5" name="unified_price_5" descr="Editable text; source id unified_price_5"/>
                <p:cNvSpPr txBox="1"/>
                <p:nvPr/>
              </p:nvSpPr>
              <p:spPr>
                <a:xfrm>
                  <a:off x="3533266" y="1422159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  <p:sp>
              <p:nvSpPr>
                <p:cNvPr id="136" name="unified_price_6" descr="Editable text; source id unified_price_6"/>
                <p:cNvSpPr txBox="1"/>
                <p:nvPr/>
              </p:nvSpPr>
              <p:spPr>
                <a:xfrm>
                  <a:off x="3569594" y="1439964"/>
                  <a:ext cx="111271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 + </a:t>
                  </a:r>
                </a:p>
              </p:txBody>
            </p:sp>
            <p:sp>
              <p:nvSpPr>
                <p:cNvPr id="137" name="unified_price_7" descr="Editable text; source id unified_price_7"/>
                <p:cNvSpPr txBox="1"/>
                <p:nvPr/>
              </p:nvSpPr>
              <p:spPr>
                <a:xfrm>
                  <a:off x="3677505" y="1439964"/>
                  <a:ext cx="58825" cy="11992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38" name="unified_price_8" descr="Editable text; source id unified_price_8"/>
                <p:cNvSpPr txBox="1"/>
                <p:nvPr/>
              </p:nvSpPr>
              <p:spPr>
                <a:xfrm>
                  <a:off x="3732078" y="1494580"/>
                  <a:ext cx="37563" cy="8059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007F85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89" name="shared_vector" descr="shared vector"/>
              <p:cNvGrpSpPr/>
              <p:nvPr/>
            </p:nvGrpSpPr>
            <p:grpSpPr>
              <a:xfrm>
                <a:off x="3198571" y="1609344"/>
                <a:ext cx="638708" cy="138303"/>
                <a:chOff x="3198571" y="1609344"/>
                <a:chExt cx="638708" cy="138303"/>
              </a:xfrm>
            </p:grpSpPr>
            <p:grpSp>
              <p:nvGrpSpPr>
                <p:cNvPr id="283" name="shared_vector_cell0" descr="shared vector cell0"/>
                <p:cNvGrpSpPr/>
                <p:nvPr/>
              </p:nvGrpSpPr>
              <p:grpSpPr>
                <a:xfrm>
                  <a:off x="3198571" y="1609344"/>
                  <a:ext cx="155905" cy="138303"/>
                  <a:chOff x="3198571" y="1609344"/>
                  <a:chExt cx="155905" cy="138303"/>
                </a:xfrm>
              </p:grpSpPr>
              <p:sp>
                <p:nvSpPr>
                  <p:cNvPr id="139" name="shared_vector_cell0_panel" descr="Editable shape; source id shared_vector_cell0_panel"/>
                  <p:cNvSpPr/>
                  <p:nvPr/>
                </p:nvSpPr>
                <p:spPr>
                  <a:xfrm>
                    <a:off x="3198571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grpSp>
                <p:nvGrpSpPr>
                  <p:cNvPr id="282" name="shared_vector_label0" descr="Editable formula parts and native mathematical delimiters."/>
                  <p:cNvGrpSpPr/>
                  <p:nvPr/>
                </p:nvGrpSpPr>
                <p:grpSpPr>
                  <a:xfrm>
                    <a:off x="3232964" y="1615209"/>
                    <a:ext cx="82834" cy="128769"/>
                    <a:chOff x="3232964" y="1615209"/>
                    <a:chExt cx="82834" cy="128769"/>
                  </a:xfrm>
                </p:grpSpPr>
                <p:sp>
                  <p:nvSpPr>
                    <p:cNvPr id="140" name="shared_vector_label0_0" descr="Editable text; source id shared_vector_label0_0"/>
                    <p:cNvSpPr txBox="1"/>
                    <p:nvPr/>
                  </p:nvSpPr>
                  <p:spPr>
                    <a:xfrm>
                      <a:off x="3232964" y="1615209"/>
                      <a:ext cx="51305" cy="114140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4252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8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λ</a:t>
                      </a:r>
                    </a:p>
                  </p:txBody>
                </p:sp>
                <p:sp>
                  <p:nvSpPr>
                    <p:cNvPr id="141" name="shared_vector_label0_1" descr="Editable text; source id shared_vector_label0_1"/>
                    <p:cNvSpPr txBox="1"/>
                    <p:nvPr/>
                  </p:nvSpPr>
                  <p:spPr>
                    <a:xfrm>
                      <a:off x="3280018" y="1667200"/>
                      <a:ext cx="35780" cy="76778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1417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</a:t>
                      </a:r>
                    </a:p>
                  </p:txBody>
                </p:sp>
              </p:grpSp>
            </p:grpSp>
            <p:grpSp>
              <p:nvGrpSpPr>
                <p:cNvPr id="285" name="shared_vector_cell1" descr="shared vector cell1"/>
                <p:cNvGrpSpPr/>
                <p:nvPr/>
              </p:nvGrpSpPr>
              <p:grpSpPr>
                <a:xfrm>
                  <a:off x="3359505" y="1609344"/>
                  <a:ext cx="155905" cy="138303"/>
                  <a:chOff x="3359505" y="1609344"/>
                  <a:chExt cx="155905" cy="138303"/>
                </a:xfrm>
              </p:grpSpPr>
              <p:sp>
                <p:nvSpPr>
                  <p:cNvPr id="142" name="shared_vector_cell1_panel" descr="Editable shape; source id shared_vector_cell1_panel"/>
                  <p:cNvSpPr/>
                  <p:nvPr/>
                </p:nvSpPr>
                <p:spPr>
                  <a:xfrm>
                    <a:off x="3359505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grpSp>
                <p:nvGrpSpPr>
                  <p:cNvPr id="284" name="shared_vector_label1" descr="Editable formula parts and native mathematical delimiters."/>
                  <p:cNvGrpSpPr/>
                  <p:nvPr/>
                </p:nvGrpSpPr>
                <p:grpSpPr>
                  <a:xfrm>
                    <a:off x="3393899" y="1615209"/>
                    <a:ext cx="82833" cy="128769"/>
                    <a:chOff x="3393899" y="1615209"/>
                    <a:chExt cx="82833" cy="128769"/>
                  </a:xfrm>
                </p:grpSpPr>
                <p:sp>
                  <p:nvSpPr>
                    <p:cNvPr id="143" name="shared_vector_label1_0" descr="Editable text; source id shared_vector_label1_0"/>
                    <p:cNvSpPr txBox="1"/>
                    <p:nvPr/>
                  </p:nvSpPr>
                  <p:spPr>
                    <a:xfrm>
                      <a:off x="3393899" y="1615209"/>
                      <a:ext cx="51305" cy="114140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4252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8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λ</a:t>
                      </a:r>
                    </a:p>
                  </p:txBody>
                </p:sp>
                <p:sp>
                  <p:nvSpPr>
                    <p:cNvPr id="144" name="shared_vector_label1_1" descr="Editable text; source id shared_vector_label1_1"/>
                    <p:cNvSpPr txBox="1"/>
                    <p:nvPr/>
                  </p:nvSpPr>
                  <p:spPr>
                    <a:xfrm>
                      <a:off x="3440952" y="1667200"/>
                      <a:ext cx="35780" cy="76778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1417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</a:t>
                      </a:r>
                    </a:p>
                  </p:txBody>
                </p:sp>
              </p:grpSp>
            </p:grpSp>
            <p:grpSp>
              <p:nvGrpSpPr>
                <p:cNvPr id="286" name="shared_vector_cell2" descr="shared vector cell2"/>
                <p:cNvGrpSpPr/>
                <p:nvPr/>
              </p:nvGrpSpPr>
              <p:grpSpPr>
                <a:xfrm>
                  <a:off x="3520439" y="1609344"/>
                  <a:ext cx="155905" cy="138303"/>
                  <a:chOff x="3520439" y="1609344"/>
                  <a:chExt cx="155905" cy="138303"/>
                </a:xfrm>
              </p:grpSpPr>
              <p:sp>
                <p:nvSpPr>
                  <p:cNvPr id="145" name="shared_vector_cell2_panel" descr="Editable shape; source id shared_vector_cell2_panel"/>
                  <p:cNvSpPr/>
                  <p:nvPr/>
                </p:nvSpPr>
                <p:spPr>
                  <a:xfrm>
                    <a:off x="3520439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sp>
                <p:nvSpPr>
                  <p:cNvPr id="146" name="shared_vector_dots" descr="Editable text; source id shared_vector_dots"/>
                  <p:cNvSpPr txBox="1"/>
                  <p:nvPr/>
                </p:nvSpPr>
                <p:spPr>
                  <a:xfrm>
                    <a:off x="3549844" y="1616238"/>
                    <a:ext cx="105601" cy="11506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5669" rIns="0" bIns="0" lIns="56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0" lang="zh-CN" dirty="0">
                        <a:solidFill>
                          <a:srgbClr val="007F85"/>
                        </a:solidFill>
                        <a:latin typeface="Liberation Sans"/>
                        <a:ea typeface="Liberation Sans"/>
                        <a:cs typeface="Liberation Sans"/>
                      </a:defRPr>
                    </a:pPr>
                    <a:r>
                      <a:rPr sz="673" b="0" i="0" lang="zh-CN" dirty="0">
                        <a:solidFill>
                          <a:srgbClr val="007F85"/>
                        </a:solidFill>
                        <a:latin typeface="Liberation Sans"/>
                        <a:ea typeface="Liberation Sans"/>
                        <a:cs typeface="Liberation Sans"/>
                      </a:rPr>
                      <a:t>…</a:t>
                    </a:r>
                  </a:p>
                </p:txBody>
              </p:sp>
            </p:grpSp>
            <p:grpSp>
              <p:nvGrpSpPr>
                <p:cNvPr id="288" name="shared_vector_cell3" descr="shared vector cell3"/>
                <p:cNvGrpSpPr/>
                <p:nvPr/>
              </p:nvGrpSpPr>
              <p:grpSpPr>
                <a:xfrm>
                  <a:off x="3681374" y="1609344"/>
                  <a:ext cx="155905" cy="138303"/>
                  <a:chOff x="3681374" y="1609344"/>
                  <a:chExt cx="155905" cy="138303"/>
                </a:xfrm>
              </p:grpSpPr>
              <p:sp>
                <p:nvSpPr>
                  <p:cNvPr id="147" name="shared_vector_cell3_panel" descr="Editable shape; source id shared_vector_cell3_panel"/>
                  <p:cNvSpPr/>
                  <p:nvPr/>
                </p:nvSpPr>
                <p:spPr>
                  <a:xfrm>
                    <a:off x="3681374" y="1609344"/>
                    <a:ext cx="155905" cy="138303"/>
                  </a:xfrm>
                  <a:prstGeom prst="roundRect">
                    <a:avLst>
                      <a:gd name="adj" fmla="val 14545"/>
                    </a:avLst>
                  </a:prstGeom>
                  <a:solidFill>
                    <a:srgbClr val="ECF5F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grpSp>
                <p:nvGrpSpPr>
                  <p:cNvPr id="287" name="shared_vector_label3" descr="Editable formula parts and native mathematical delimiters."/>
                  <p:cNvGrpSpPr/>
                  <p:nvPr/>
                </p:nvGrpSpPr>
                <p:grpSpPr>
                  <a:xfrm>
                    <a:off x="3708763" y="1615209"/>
                    <a:ext cx="96842" cy="128769"/>
                    <a:chOff x="3708763" y="1615209"/>
                    <a:chExt cx="96842" cy="128769"/>
                  </a:xfrm>
                </p:grpSpPr>
                <p:sp>
                  <p:nvSpPr>
                    <p:cNvPr id="148" name="shared_vector_label3_0" descr="Editable text; source id shared_vector_label3_0"/>
                    <p:cNvSpPr txBox="1"/>
                    <p:nvPr/>
                  </p:nvSpPr>
                  <p:spPr>
                    <a:xfrm>
                      <a:off x="3708763" y="1615209"/>
                      <a:ext cx="51305" cy="114140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4252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8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752" b="0" i="1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λ</a:t>
                      </a:r>
                    </a:p>
                  </p:txBody>
                </p:sp>
                <p:sp>
                  <p:nvSpPr>
                    <p:cNvPr id="149" name="shared_vector_label3_1" descr="Editable text; source id shared_vector_label3_1"/>
                    <p:cNvSpPr txBox="1"/>
                    <p:nvPr/>
                  </p:nvSpPr>
                  <p:spPr>
                    <a:xfrm>
                      <a:off x="3755817" y="1667200"/>
                      <a:ext cx="49788" cy="76778"/>
                    </a:xfrm>
                    <a:prstGeom prst="rect">
                      <a:avLst/>
                    </a:prstGeom>
                    <a:noFill/>
                    <a:effectLst/>
                  </p:spPr>
                  <p:txBody>
                    <a:bodyPr wrap="none" anchor="t" tIns="1417" rIns="0" bIns="0" lIns="1417" anchorCtr="0" vertOverflow="overflow">
                      <a:noAutofit/>
                    </a:bodyPr>
                    <a:lstStyle/>
                    <a:p>
                      <a:pPr algn="l" fontAlgn="base">
                        <a:lnSpc>
                          <a:spcPts val="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defRPr>
                      </a:pPr>
                      <a:r>
                        <a:rPr sz="496" b="0" i="0" lang="zh-CN" dirty="0">
                          <a:solidFill>
                            <a:srgbClr val="007F85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K</a:t>
                      </a:r>
                    </a:p>
                  </p:txBody>
                </p:sp>
              </p:grpSp>
            </p:grpSp>
          </p:grpSp>
        </p:grpSp>
        <p:sp>
          <p:nvSpPr>
            <p:cNvPr id="150" name="constraints_to_graph" descr="Editable line; source id constraints_to_graph"/>
            <p:cNvSpPr/>
            <p:nvPr/>
          </p:nvSpPr>
          <p:spPr>
            <a:xfrm>
              <a:off x="1692326" y="974409"/>
              <a:ext cx="67894" cy="22631"/>
            </a:xfrm>
            <a:custGeom>
              <a:avLst/>
              <a:gdLst/>
              <a:ahLst/>
              <a:cxnLst/>
              <a:rect l="l" t="t" r="r" b="b"/>
              <a:pathLst>
                <a:path w="23949" h="7983">
                  <a:moveTo>
                    <a:pt x="0" y="2927"/>
                  </a:moveTo>
                  <a:lnTo>
                    <a:pt x="13305" y="2927"/>
                  </a:lnTo>
                  <a:lnTo>
                    <a:pt x="13305" y="0"/>
                  </a:lnTo>
                  <a:lnTo>
                    <a:pt x="23949" y="3991"/>
                  </a:lnTo>
                  <a:lnTo>
                    <a:pt x="13305" y="7983"/>
                  </a:lnTo>
                  <a:lnTo>
                    <a:pt x="13305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graph_to_price" descr="Editable line; source id graph_to_price"/>
            <p:cNvSpPr/>
            <p:nvPr/>
          </p:nvSpPr>
          <p:spPr>
            <a:xfrm>
              <a:off x="2859100" y="974409"/>
              <a:ext cx="67894" cy="22631"/>
            </a:xfrm>
            <a:custGeom>
              <a:avLst/>
              <a:gdLst/>
              <a:ahLst/>
              <a:cxnLst/>
              <a:rect l="l" t="t" r="r" b="b"/>
              <a:pathLst>
                <a:path w="23949" h="7983">
                  <a:moveTo>
                    <a:pt x="0" y="2927"/>
                  </a:moveTo>
                  <a:lnTo>
                    <a:pt x="13305" y="2927"/>
                  </a:lnTo>
                  <a:lnTo>
                    <a:pt x="13305" y="0"/>
                  </a:lnTo>
                  <a:lnTo>
                    <a:pt x="23949" y="3991"/>
                  </a:lnTo>
                  <a:lnTo>
                    <a:pt x="13305" y="7983"/>
                  </a:lnTo>
                  <a:lnTo>
                    <a:pt x="13305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5" name="shared_policy_update" descr="shared policy update"/>
            <p:cNvGrpSpPr/>
            <p:nvPr/>
          </p:nvGrpSpPr>
          <p:grpSpPr>
            <a:xfrm>
              <a:off x="940460" y="1933727"/>
              <a:ext cx="3148279" cy="384733"/>
              <a:chOff x="940460" y="1933727"/>
              <a:chExt cx="3148279" cy="384733"/>
            </a:xfrm>
          </p:grpSpPr>
          <p:sp>
            <p:nvSpPr>
              <p:cNvPr id="152" name="shared_policy_update_panel" descr="Editable shape; source id shared_policy_update_panel"/>
              <p:cNvSpPr/>
              <p:nvPr/>
            </p:nvSpPr>
            <p:spPr>
              <a:xfrm>
                <a:off x="940460" y="1933727"/>
                <a:ext cx="3148279" cy="384733"/>
              </a:xfrm>
              <a:prstGeom prst="roundRect">
                <a:avLst>
                  <a:gd name="adj" fmla="val 5228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one_update_label" descr="Editable text; source id one_update_label"/>
              <p:cNvSpPr txBox="1"/>
              <p:nvPr/>
            </p:nvSpPr>
            <p:spPr>
              <a:xfrm>
                <a:off x="1002684" y="1963573"/>
                <a:ext cx="73921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One policy update</a:t>
                </a:r>
              </a:p>
            </p:txBody>
          </p:sp>
          <p:sp>
            <p:nvSpPr>
              <p:cNvPr id="154" name="normalized_label_0" descr="Editable text; source id normalized_label_0"/>
              <p:cNvSpPr txBox="1"/>
              <p:nvPr/>
            </p:nvSpPr>
            <p:spPr>
              <a:xfrm>
                <a:off x="1763515" y="2067837"/>
                <a:ext cx="162311" cy="114140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7087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Ã =</a:t>
                </a:r>
              </a:p>
            </p:txBody>
          </p:sp>
          <p:grpSp>
            <p:nvGrpSpPr>
              <p:cNvPr id="293" name="common_advantage" descr="common advantage"/>
              <p:cNvGrpSpPr/>
              <p:nvPr/>
            </p:nvGrpSpPr>
            <p:grpSpPr>
              <a:xfrm>
                <a:off x="2041855" y="1987690"/>
                <a:ext cx="895197" cy="268172"/>
                <a:chOff x="2041855" y="1987690"/>
                <a:chExt cx="895197" cy="268172"/>
              </a:xfrm>
            </p:grpSpPr>
            <p:grpSp>
              <p:nvGrpSpPr>
                <p:cNvPr id="291" name="common_advantage_num" descr="Editable formula parts and native mathematical delimiters."/>
                <p:cNvGrpSpPr/>
                <p:nvPr/>
              </p:nvGrpSpPr>
              <p:grpSpPr>
                <a:xfrm>
                  <a:off x="2229650" y="1987690"/>
                  <a:ext cx="512563" cy="137211"/>
                  <a:chOff x="2229650" y="1987690"/>
                  <a:chExt cx="512563" cy="137211"/>
                </a:xfrm>
              </p:grpSpPr>
              <p:sp>
                <p:nvSpPr>
                  <p:cNvPr id="155" name="common_advantage_num_0" descr="Editable text; source id common_advantage_num_0"/>
                  <p:cNvSpPr txBox="1"/>
                  <p:nvPr/>
                </p:nvSpPr>
                <p:spPr>
                  <a:xfrm>
                    <a:off x="2229650" y="1987690"/>
                    <a:ext cx="72999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708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156" name="common_advantage_num_1" descr="Editable text; source id common_advantage_num_1"/>
                  <p:cNvSpPr txBox="1"/>
                  <p:nvPr/>
                </p:nvSpPr>
                <p:spPr>
                  <a:xfrm>
                    <a:off x="2298398" y="2037661"/>
                    <a:ext cx="24805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r</a:t>
                    </a:r>
                  </a:p>
                </p:txBody>
              </p:sp>
              <p:sp>
                <p:nvSpPr>
                  <p:cNvPr id="157" name="common_advantage_num_2" descr="Editable text; source id common_advantage_num_2"/>
                  <p:cNvSpPr txBox="1"/>
                  <p:nvPr/>
                </p:nvSpPr>
                <p:spPr>
                  <a:xfrm>
                    <a:off x="2321742" y="1987690"/>
                    <a:ext cx="103475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 − </a:t>
                    </a:r>
                  </a:p>
                </p:txBody>
              </p:sp>
              <p:sp>
                <p:nvSpPr>
                  <p:cNvPr id="158" name="common_advantage_num_3" descr="Editable text; source id common_advantage_num_3"/>
                  <p:cNvSpPr txBox="1"/>
                  <p:nvPr/>
                </p:nvSpPr>
                <p:spPr>
                  <a:xfrm>
                    <a:off x="2423757" y="1987690"/>
                    <a:ext cx="70873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159" name="common_advantage_num_4" descr="Editable text; source id common_advantage_num_4"/>
                  <p:cNvSpPr txBox="1"/>
                  <p:nvPr/>
                </p:nvSpPr>
                <p:spPr>
                  <a:xfrm>
                    <a:off x="2490378" y="2037661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160" name="common_advantage_num_5" descr="Editable text; source id common_advantage_num_5"/>
                  <p:cNvSpPr txBox="1"/>
                  <p:nvPr/>
                </p:nvSpPr>
                <p:spPr>
                  <a:xfrm>
                    <a:off x="2544907" y="1987690"/>
                    <a:ext cx="50320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4252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61" name="common_advantage_num_6" descr="Editable text; source id common_advantage_num_6"/>
                  <p:cNvSpPr txBox="1"/>
                  <p:nvPr/>
                </p:nvSpPr>
                <p:spPr>
                  <a:xfrm>
                    <a:off x="2590975" y="2037661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162" name="common_advantage_num_7" descr="Editable text; source id common_advantage_num_7"/>
                  <p:cNvSpPr txBox="1"/>
                  <p:nvPr/>
                </p:nvSpPr>
                <p:spPr>
                  <a:xfrm>
                    <a:off x="2619281" y="1987690"/>
                    <a:ext cx="72999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708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163" name="common_advantage_num_8" descr="Editable text; source id common_advantage_num_8"/>
                  <p:cNvSpPr txBox="1"/>
                  <p:nvPr/>
                </p:nvSpPr>
                <p:spPr>
                  <a:xfrm>
                    <a:off x="2688028" y="2037661"/>
                    <a:ext cx="31505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164" name="common_advantage_num_9" descr="Editable text; source id common_advantage_num_9"/>
                  <p:cNvSpPr txBox="1"/>
                  <p:nvPr/>
                </p:nvSpPr>
                <p:spPr>
                  <a:xfrm>
                    <a:off x="2715281" y="2069291"/>
                    <a:ext cx="26932" cy="55610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40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351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351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  <p:cxnSp>
              <p:nvCxnSpPr>
                <p:cNvPr id="165" name="common_advantage_bar" descr="Editable line; source id common_advantage_bar"/>
                <p:cNvCxnSpPr/>
                <p:nvPr/>
              </p:nvCxnSpPr>
              <p:spPr>
                <a:xfrm>
                  <a:off x="2041855" y="2114778"/>
                  <a:ext cx="895197" cy="0"/>
                </a:xfrm>
                <a:prstGeom prst="line">
                  <a:avLst/>
                </a:prstGeom>
                <a:ln w="4526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2" name="common_advantage_den" descr="Editable formula parts and native mathematical delimiters."/>
                <p:cNvGrpSpPr/>
                <p:nvPr/>
              </p:nvGrpSpPr>
              <p:grpSpPr>
                <a:xfrm>
                  <a:off x="2313293" y="2131022"/>
                  <a:ext cx="350947" cy="124840"/>
                  <a:chOff x="2313293" y="2131022"/>
                  <a:chExt cx="350947" cy="124840"/>
                </a:xfrm>
              </p:grpSpPr>
              <p:sp>
                <p:nvSpPr>
                  <p:cNvPr id="166" name="common_advantage_den_0" descr="Editable text; source id common_advantage_den_0"/>
                  <p:cNvSpPr txBox="1"/>
                  <p:nvPr/>
                </p:nvSpPr>
                <p:spPr>
                  <a:xfrm>
                    <a:off x="2313293" y="2131022"/>
                    <a:ext cx="149753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 + </a:t>
                    </a:r>
                  </a:p>
                </p:txBody>
              </p:sp>
              <p:sp>
                <p:nvSpPr>
                  <p:cNvPr id="167" name="common_advantage_den_1" descr="Editable text; source id common_advantage_den_1"/>
                  <p:cNvSpPr txBox="1"/>
                  <p:nvPr/>
                </p:nvSpPr>
                <p:spPr>
                  <a:xfrm>
                    <a:off x="2461585" y="2131022"/>
                    <a:ext cx="70873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168" name="common_advantage_den_2" descr="Editable text; source id common_advantage_den_2"/>
                  <p:cNvSpPr txBox="1"/>
                  <p:nvPr/>
                </p:nvSpPr>
                <p:spPr>
                  <a:xfrm>
                    <a:off x="2528207" y="2180993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169" name="common_advantage_den_3" descr="Editable text; source id common_advantage_den_3"/>
                  <p:cNvSpPr txBox="1"/>
                  <p:nvPr/>
                </p:nvSpPr>
                <p:spPr>
                  <a:xfrm>
                    <a:off x="2582736" y="2131022"/>
                    <a:ext cx="50320" cy="111248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4252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4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32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70" name="common_advantage_den_4" descr="Editable text; source id common_advantage_den_4"/>
                  <p:cNvSpPr txBox="1"/>
                  <p:nvPr/>
                </p:nvSpPr>
                <p:spPr>
                  <a:xfrm>
                    <a:off x="2628804" y="2180993"/>
                    <a:ext cx="35436" cy="7486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5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8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</p:grpSp>
          <p:sp>
            <p:nvSpPr>
              <p:cNvPr id="171" name="advantage_to_optimizer" descr="Editable line; source id advantage_to_optimizer"/>
              <p:cNvSpPr/>
              <p:nvPr/>
            </p:nvSpPr>
            <p:spPr>
              <a:xfrm>
                <a:off x="3020035" y="2111008"/>
                <a:ext cx="12321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3463" h="7983">
                    <a:moveTo>
                      <a:pt x="0" y="2882"/>
                    </a:moveTo>
                    <a:lnTo>
                      <a:pt x="32819" y="2882"/>
                    </a:lnTo>
                    <a:lnTo>
                      <a:pt x="32819" y="0"/>
                    </a:lnTo>
                    <a:lnTo>
                      <a:pt x="43463" y="3991"/>
                    </a:lnTo>
                    <a:lnTo>
                      <a:pt x="32819" y="7983"/>
                    </a:lnTo>
                    <a:lnTo>
                      <a:pt x="32819" y="5100"/>
                    </a:lnTo>
                    <a:lnTo>
                      <a:pt x="0" y="510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94" name="optimizer" descr="optimizer"/>
              <p:cNvGrpSpPr/>
              <p:nvPr/>
            </p:nvGrpSpPr>
            <p:grpSpPr>
              <a:xfrm>
                <a:off x="3193541" y="2029282"/>
                <a:ext cx="814730" cy="191109"/>
                <a:chOff x="3193541" y="2029282"/>
                <a:chExt cx="814730" cy="191109"/>
              </a:xfrm>
            </p:grpSpPr>
            <p:sp>
              <p:nvSpPr>
                <p:cNvPr id="172" name="optimizer_panel" descr="Editable shape; source id optimizer_panel"/>
                <p:cNvSpPr/>
                <p:nvPr/>
              </p:nvSpPr>
              <p:spPr>
                <a:xfrm>
                  <a:off x="3193541" y="2029282"/>
                  <a:ext cx="814730" cy="191109"/>
                </a:xfrm>
                <a:prstGeom prst="roundRect">
                  <a:avLst>
                    <a:gd name="adj" fmla="val 10526"/>
                  </a:avLst>
                </a:prstGeom>
                <a:solidFill>
                  <a:srgbClr val="FFFFFF"/>
                </a:solidFill>
                <a:ln w="3771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3" name="optimizer_label" descr="Editable text; source id optimizer_label"/>
                <p:cNvSpPr txBox="1"/>
                <p:nvPr/>
              </p:nvSpPr>
              <p:spPr>
                <a:xfrm>
                  <a:off x="3343281" y="2066740"/>
                  <a:ext cx="523756" cy="11802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1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93" b="1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PPO / TRPO</a:t>
                  </a:r>
                </a:p>
              </p:txBody>
            </p:sp>
          </p:grpSp>
        </p:grpSp>
        <p:grpSp>
          <p:nvGrpSpPr>
            <p:cNvPr id="296" name="shared_price_to_update" descr="One editable routed connector; fixed endpoints."/>
            <p:cNvGrpSpPr/>
            <p:nvPr/>
          </p:nvGrpSpPr>
          <p:grpSpPr>
            <a:xfrm>
              <a:off x="2719541" y="1807997"/>
              <a:ext cx="800898" cy="110643"/>
              <a:chOff x="2719541" y="1807997"/>
              <a:chExt cx="800898" cy="110643"/>
            </a:xfrm>
          </p:grpSpPr>
          <p:cxnSp>
            <p:nvCxnSpPr>
              <p:cNvPr id="174" name="shared_price_to_update_0" descr="Editable line; source id shared_price_to_update_0"/>
              <p:cNvCxnSpPr/>
              <p:nvPr/>
            </p:nvCxnSpPr>
            <p:spPr>
              <a:xfrm>
                <a:off x="3520439" y="1807997"/>
                <a:ext cx="0" cy="60350"/>
              </a:xfrm>
              <a:prstGeom prst="line">
                <a:avLst/>
              </a:prstGeom>
              <a:ln w="6035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hared_price_to_update_1" descr="Editable line; source id shared_price_to_update_1"/>
              <p:cNvCxnSpPr/>
              <p:nvPr/>
            </p:nvCxnSpPr>
            <p:spPr>
              <a:xfrm flipH="1">
                <a:off x="2730855" y="1868347"/>
                <a:ext cx="789584" cy="0"/>
              </a:xfrm>
              <a:prstGeom prst="line">
                <a:avLst/>
              </a:prstGeom>
              <a:ln w="6035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shared_price_to_update_2" descr="Editable line; source id shared_price_to_update_2"/>
              <p:cNvSpPr/>
              <p:nvPr/>
            </p:nvSpPr>
            <p:spPr>
              <a:xfrm>
                <a:off x="2719541" y="1868348"/>
                <a:ext cx="22631" cy="50292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17740">
                    <a:moveTo>
                      <a:pt x="5055" y="0"/>
                    </a:moveTo>
                    <a:lnTo>
                      <a:pt x="5055" y="7096"/>
                    </a:lnTo>
                    <a:lnTo>
                      <a:pt x="7983" y="7096"/>
                    </a:lnTo>
                    <a:lnTo>
                      <a:pt x="3991" y="17740"/>
                    </a:lnTo>
                    <a:lnTo>
                      <a:pt x="0" y="7096"/>
                    </a:lnTo>
                    <a:lnTo>
                      <a:pt x="2927" y="7096"/>
                    </a:lnTo>
                    <a:lnTo>
                      <a:pt x="2927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cxnSp>
        <p:nvCxnSpPr>
          <p:cNvPr id="177" name="penalty_relation" descr="Editable line; source id penalty_relation"/>
          <p:cNvCxnSpPr/>
          <p:nvPr/>
        </p:nvCxnSpPr>
        <p:spPr>
          <a:xfrm>
            <a:off x="799642" y="1101394"/>
            <a:ext cx="57836" cy="0"/>
          </a:xfrm>
          <a:prstGeom prst="line">
            <a:avLst/>
          </a:prstGeom>
          <a:ln w="4023" cap="rnd">
            <a:solidFill>
              <a:srgbClr val="536F8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straint_relation" descr="Editable line; source id constraint_relation"/>
          <p:cNvCxnSpPr/>
          <p:nvPr/>
        </p:nvCxnSpPr>
        <p:spPr>
          <a:xfrm>
            <a:off x="4171721" y="1101394"/>
            <a:ext cx="57836" cy="0"/>
          </a:xfrm>
          <a:prstGeom prst="line">
            <a:avLst/>
          </a:prstGeom>
          <a:ln w="4023" cap="rnd">
            <a:solidFill>
              <a:srgbClr val="B781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penalty_view" descr="penalty view"/>
          <p:cNvGrpSpPr/>
          <p:nvPr/>
        </p:nvGrpSpPr>
        <p:grpSpPr>
          <a:xfrm>
            <a:off x="60350" y="407365"/>
            <a:ext cx="729234" cy="1747647"/>
            <a:chOff x="60350" y="407365"/>
            <a:chExt cx="729234" cy="1747647"/>
          </a:xfrm>
        </p:grpSpPr>
        <p:sp>
          <p:nvSpPr>
            <p:cNvPr id="179" name="penalty_view_panel" descr="Editable shape; source id penalty_view_panel"/>
            <p:cNvSpPr/>
            <p:nvPr/>
          </p:nvSpPr>
          <p:spPr>
            <a:xfrm>
              <a:off x="60350" y="407365"/>
              <a:ext cx="729234" cy="1747647"/>
            </a:xfrm>
            <a:prstGeom prst="roundRect">
              <a:avLst>
                <a:gd name="adj" fmla="val 2758"/>
              </a:avLst>
            </a:prstGeom>
            <a:solidFill>
              <a:srgbClr val="FFFFFF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penalty_title" descr="Editable text; source id penalty_title"/>
            <p:cNvSpPr txBox="1"/>
            <p:nvPr/>
          </p:nvSpPr>
          <p:spPr>
            <a:xfrm>
              <a:off x="110001" y="431861"/>
              <a:ext cx="533679" cy="11506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cxnSp>
          <p:nvCxnSpPr>
            <p:cNvPr id="181" name="penalty_rule" descr="Editable line; source id penalty_rule"/>
            <p:cNvCxnSpPr/>
            <p:nvPr/>
          </p:nvCxnSpPr>
          <p:spPr>
            <a:xfrm>
              <a:off x="110642" y="570814"/>
              <a:ext cx="628650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8" name="penalty_objective" descr="Editable formula parts and native mathematical delimiters."/>
            <p:cNvGrpSpPr/>
            <p:nvPr/>
          </p:nvGrpSpPr>
          <p:grpSpPr>
            <a:xfrm>
              <a:off x="230199" y="634447"/>
              <a:ext cx="388237" cy="121619"/>
              <a:chOff x="230199" y="634447"/>
              <a:chExt cx="388237" cy="121619"/>
            </a:xfrm>
          </p:grpSpPr>
          <p:sp>
            <p:nvSpPr>
              <p:cNvPr id="182" name="penalty_objective_0" descr="Editable text; source id penalty_objective_0"/>
              <p:cNvSpPr txBox="1"/>
              <p:nvPr/>
            </p:nvSpPr>
            <p:spPr>
              <a:xfrm>
                <a:off x="230199" y="634447"/>
                <a:ext cx="16017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183" name="penalty_objective_1" descr="Editable text; source id penalty_objective_1"/>
              <p:cNvSpPr txBox="1"/>
              <p:nvPr/>
            </p:nvSpPr>
            <p:spPr>
              <a:xfrm>
                <a:off x="386121" y="683105"/>
                <a:ext cx="34728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84" name="penalty_objective_2" descr="Editable text; source id penalty_objective_2"/>
              <p:cNvSpPr txBox="1"/>
              <p:nvPr/>
            </p:nvSpPr>
            <p:spPr>
              <a:xfrm>
                <a:off x="441992" y="634447"/>
                <a:ext cx="4819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85" name="penalty_objective_3" descr="Editable text; source id penalty_objective_3"/>
              <p:cNvSpPr txBox="1"/>
              <p:nvPr/>
            </p:nvSpPr>
            <p:spPr>
              <a:xfrm>
                <a:off x="485934" y="683105"/>
                <a:ext cx="24152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86" name="penalty_objective_4" descr="Editable text; source id penalty_objective_4"/>
              <p:cNvSpPr txBox="1"/>
              <p:nvPr/>
            </p:nvSpPr>
            <p:spPr>
              <a:xfrm>
                <a:off x="508549" y="634447"/>
                <a:ext cx="109887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299" name="penalty_cost" descr="Editable formula parts and native mathematical delimiters."/>
            <p:cNvGrpSpPr/>
            <p:nvPr/>
          </p:nvGrpSpPr>
          <p:grpSpPr>
            <a:xfrm>
              <a:off x="253951" y="733598"/>
              <a:ext cx="340733" cy="138140"/>
              <a:chOff x="253951" y="733598"/>
              <a:chExt cx="340733" cy="138140"/>
            </a:xfrm>
          </p:grpSpPr>
          <p:sp>
            <p:nvSpPr>
              <p:cNvPr id="187" name="penalty_cost_0" descr="Editable text; source id penalty_cost_0"/>
              <p:cNvSpPr txBox="1"/>
              <p:nvPr/>
            </p:nvSpPr>
            <p:spPr>
              <a:xfrm>
                <a:off x="253951" y="750119"/>
                <a:ext cx="77961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− </a:t>
                </a:r>
              </a:p>
            </p:txBody>
          </p:sp>
          <p:sp>
            <p:nvSpPr>
              <p:cNvPr id="188" name="penalty_cost_1" descr="Editable text; source id penalty_cost_1"/>
              <p:cNvSpPr txBox="1"/>
              <p:nvPr/>
            </p:nvSpPr>
            <p:spPr>
              <a:xfrm>
                <a:off x="327541" y="750119"/>
                <a:ext cx="4912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4252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89" name="penalty_cost_2" descr="Editable text; source id penalty_cost_2"/>
              <p:cNvSpPr txBox="1"/>
              <p:nvPr/>
            </p:nvSpPr>
            <p:spPr>
              <a:xfrm>
                <a:off x="372413" y="733598"/>
                <a:ext cx="40741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190" name="penalty_cost_3" descr="Editable text; source id penalty_cost_3"/>
              <p:cNvSpPr txBox="1"/>
              <p:nvPr/>
            </p:nvSpPr>
            <p:spPr>
              <a:xfrm>
                <a:off x="411617" y="750119"/>
                <a:ext cx="4819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91" name="penalty_cost_4" descr="Editable text; source id penalty_cost_4"/>
              <p:cNvSpPr txBox="1"/>
              <p:nvPr/>
            </p:nvSpPr>
            <p:spPr>
              <a:xfrm>
                <a:off x="455559" y="798777"/>
                <a:ext cx="30774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92" name="penalty_cost_5" descr="Editable text; source id penalty_cost_5"/>
              <p:cNvSpPr txBox="1"/>
              <p:nvPr/>
            </p:nvSpPr>
            <p:spPr>
              <a:xfrm>
                <a:off x="484797" y="750119"/>
                <a:ext cx="109887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sp>
          <p:nvSpPr>
            <p:cNvPr id="193" name="weighted_costs_label" descr="Editable text; source id weighted_costs_label"/>
            <p:cNvSpPr txBox="1"/>
            <p:nvPr/>
          </p:nvSpPr>
          <p:spPr>
            <a:xfrm>
              <a:off x="162025" y="908791"/>
              <a:ext cx="534387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Weighted costs</a:t>
              </a:r>
            </a:p>
          </p:txBody>
        </p:sp>
        <p:grpSp>
          <p:nvGrpSpPr>
            <p:cNvPr id="301" name="weighted_term0" descr="weighted term0"/>
            <p:cNvGrpSpPr/>
            <p:nvPr/>
          </p:nvGrpSpPr>
          <p:grpSpPr>
            <a:xfrm>
              <a:off x="128244" y="1056132"/>
              <a:ext cx="188595" cy="143332"/>
              <a:chOff x="128244" y="1056132"/>
              <a:chExt cx="188595" cy="143332"/>
            </a:xfrm>
          </p:grpSpPr>
          <p:sp>
            <p:nvSpPr>
              <p:cNvPr id="194" name="weighted_term0_panel" descr="Editable shape; source id weighted_term0_panel"/>
              <p:cNvSpPr/>
              <p:nvPr/>
            </p:nvSpPr>
            <p:spPr>
              <a:xfrm>
                <a:off x="128244" y="1056132"/>
                <a:ext cx="18859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00" name="weighted_term_label0" descr="Editable formula parts and native mathematical delimiters."/>
              <p:cNvGrpSpPr/>
              <p:nvPr/>
            </p:nvGrpSpPr>
            <p:grpSpPr>
              <a:xfrm>
                <a:off x="183962" y="1073725"/>
                <a:ext cx="73885" cy="115887"/>
                <a:chOff x="183962" y="1073725"/>
                <a:chExt cx="73885" cy="115887"/>
              </a:xfrm>
            </p:grpSpPr>
            <p:sp>
              <p:nvSpPr>
                <p:cNvPr id="195" name="weighted_term_label0_0" descr="Editable text; source id weighted_term_label0_0"/>
                <p:cNvSpPr txBox="1"/>
                <p:nvPr/>
              </p:nvSpPr>
              <p:spPr>
                <a:xfrm>
                  <a:off x="183962" y="1073725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96" name="weighted_term_label0_1" descr="Editable text; source id weighted_term_label0_1"/>
                <p:cNvSpPr txBox="1"/>
                <p:nvPr/>
              </p:nvSpPr>
              <p:spPr>
                <a:xfrm>
                  <a:off x="225246" y="1120468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grpSp>
          <p:nvGrpSpPr>
            <p:cNvPr id="303" name="weighted_term1" descr="weighted term1"/>
            <p:cNvGrpSpPr/>
            <p:nvPr/>
          </p:nvGrpSpPr>
          <p:grpSpPr>
            <a:xfrm>
              <a:off x="329412" y="1056132"/>
              <a:ext cx="188595" cy="143332"/>
              <a:chOff x="329412" y="1056132"/>
              <a:chExt cx="188595" cy="143332"/>
            </a:xfrm>
          </p:grpSpPr>
          <p:sp>
            <p:nvSpPr>
              <p:cNvPr id="197" name="weighted_term1_panel" descr="Editable shape; source id weighted_term1_panel"/>
              <p:cNvSpPr/>
              <p:nvPr/>
            </p:nvSpPr>
            <p:spPr>
              <a:xfrm>
                <a:off x="329412" y="1056132"/>
                <a:ext cx="18859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02" name="weighted_term_label1" descr="Editable formula parts and native mathematical delimiters."/>
              <p:cNvGrpSpPr/>
              <p:nvPr/>
            </p:nvGrpSpPr>
            <p:grpSpPr>
              <a:xfrm>
                <a:off x="385130" y="1073725"/>
                <a:ext cx="73885" cy="115887"/>
                <a:chOff x="385130" y="1073725"/>
                <a:chExt cx="73885" cy="115887"/>
              </a:xfrm>
            </p:grpSpPr>
            <p:sp>
              <p:nvSpPr>
                <p:cNvPr id="198" name="weighted_term_label1_0" descr="Editable text; source id weighted_term_label1_0"/>
                <p:cNvSpPr txBox="1"/>
                <p:nvPr/>
              </p:nvSpPr>
              <p:spPr>
                <a:xfrm>
                  <a:off x="385130" y="1073725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99" name="weighted_term_label1_1" descr="Editable text; source id weighted_term_label1_1"/>
                <p:cNvSpPr txBox="1"/>
                <p:nvPr/>
              </p:nvSpPr>
              <p:spPr>
                <a:xfrm>
                  <a:off x="426414" y="1120468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grpSp>
          <p:nvGrpSpPr>
            <p:cNvPr id="305" name="weighted_term2" descr="weighted term2"/>
            <p:cNvGrpSpPr/>
            <p:nvPr/>
          </p:nvGrpSpPr>
          <p:grpSpPr>
            <a:xfrm>
              <a:off x="530580" y="1056132"/>
              <a:ext cx="188595" cy="143332"/>
              <a:chOff x="530580" y="1056132"/>
              <a:chExt cx="188595" cy="143332"/>
            </a:xfrm>
          </p:grpSpPr>
          <p:sp>
            <p:nvSpPr>
              <p:cNvPr id="200" name="weighted_term2_panel" descr="Editable shape; source id weighted_term2_panel"/>
              <p:cNvSpPr/>
              <p:nvPr/>
            </p:nvSpPr>
            <p:spPr>
              <a:xfrm>
                <a:off x="530580" y="1056132"/>
                <a:ext cx="18859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04" name="weighted_term_label2" descr="Editable formula parts and native mathematical delimiters."/>
              <p:cNvGrpSpPr/>
              <p:nvPr/>
            </p:nvGrpSpPr>
            <p:grpSpPr>
              <a:xfrm>
                <a:off x="580102" y="1073725"/>
                <a:ext cx="86277" cy="115887"/>
                <a:chOff x="580102" y="1073725"/>
                <a:chExt cx="86277" cy="115887"/>
              </a:xfrm>
            </p:grpSpPr>
            <p:sp>
              <p:nvSpPr>
                <p:cNvPr id="201" name="weighted_term_label2_0" descr="Editable text; source id weighted_term_label2_0"/>
                <p:cNvSpPr txBox="1"/>
                <p:nvPr/>
              </p:nvSpPr>
              <p:spPr>
                <a:xfrm>
                  <a:off x="580102" y="1073725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202" name="weighted_term_label2_1" descr="Editable text; source id weighted_term_label2_1"/>
                <p:cNvSpPr txBox="1"/>
                <p:nvPr/>
              </p:nvSpPr>
              <p:spPr>
                <a:xfrm>
                  <a:off x="621386" y="1120468"/>
                  <a:ext cx="44993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grpSp>
          <p:nvGrpSpPr>
            <p:cNvPr id="306" name="weighted_sum" descr="Editable formula parts and native mathematical delimiters."/>
            <p:cNvGrpSpPr/>
            <p:nvPr/>
          </p:nvGrpSpPr>
          <p:grpSpPr>
            <a:xfrm>
              <a:off x="235660" y="1257291"/>
              <a:ext cx="377466" cy="127044"/>
              <a:chOff x="235660" y="1257291"/>
              <a:chExt cx="377466" cy="127044"/>
            </a:xfrm>
          </p:grpSpPr>
          <p:sp>
            <p:nvSpPr>
              <p:cNvPr id="203" name="weighted_sum_0" descr="Editable text; source id weighted_sum_0"/>
              <p:cNvSpPr txBox="1"/>
              <p:nvPr/>
            </p:nvSpPr>
            <p:spPr>
              <a:xfrm>
                <a:off x="235660" y="1257291"/>
                <a:ext cx="65203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204" name="weighted_sum_1" descr="Editable text; source id weighted_sum_1"/>
              <p:cNvSpPr txBox="1"/>
              <p:nvPr/>
            </p:nvSpPr>
            <p:spPr>
              <a:xfrm>
                <a:off x="296611" y="1304033"/>
                <a:ext cx="32601" cy="69144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5" name="weighted_sum_2" descr="Editable text; source id weighted_sum_2"/>
              <p:cNvSpPr txBox="1"/>
              <p:nvPr/>
            </p:nvSpPr>
            <p:spPr>
              <a:xfrm>
                <a:off x="346772" y="1257291"/>
                <a:ext cx="45536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06" name="weighted_sum_3" descr="Editable text; source id weighted_sum_3"/>
              <p:cNvSpPr txBox="1"/>
              <p:nvPr/>
            </p:nvSpPr>
            <p:spPr>
              <a:xfrm>
                <a:off x="388056" y="1304033"/>
                <a:ext cx="32601" cy="69144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7" name="weighted_sum_4" descr="Editable text; source id weighted_sum_4"/>
              <p:cNvSpPr txBox="1"/>
              <p:nvPr/>
            </p:nvSpPr>
            <p:spPr>
              <a:xfrm>
                <a:off x="418970" y="1257291"/>
                <a:ext cx="46067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208" name="weighted_sum_5" descr="Editable text; source id weighted_sum_5"/>
              <p:cNvSpPr txBox="1"/>
              <p:nvPr/>
            </p:nvSpPr>
            <p:spPr>
              <a:xfrm>
                <a:off x="460786" y="1304033"/>
                <a:ext cx="29290" cy="69144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09" name="weighted_sum_6" descr="Editable text; source id weighted_sum_6"/>
              <p:cNvSpPr txBox="1"/>
              <p:nvPr/>
            </p:nvSpPr>
            <p:spPr>
              <a:xfrm>
                <a:off x="485824" y="1332889"/>
                <a:ext cx="24805" cy="5144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371"/>
                  </a:lnSpc>
                  <a:spcBef>
                    <a:spcPts val="0"/>
                  </a:spcBef>
                  <a:spcAft>
                    <a:spcPts val="0"/>
                  </a:spcAft>
                  <a:defRPr sz="32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2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10" name="weighted_sum_7" descr="Editable text; source id weighted_sum_7"/>
              <p:cNvSpPr txBox="1"/>
              <p:nvPr/>
            </p:nvSpPr>
            <p:spPr>
              <a:xfrm>
                <a:off x="508942" y="1257291"/>
                <a:ext cx="104184" cy="102573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cxnSp>
          <p:nvCxnSpPr>
            <p:cNvPr id="211" name="exact_rule" descr="Editable line; source id exact_rule"/>
            <p:cNvCxnSpPr/>
            <p:nvPr/>
          </p:nvCxnSpPr>
          <p:spPr>
            <a:xfrm>
              <a:off x="113156" y="1418234"/>
              <a:ext cx="623621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exact_label" descr="Editable text; source id exact_label"/>
            <p:cNvSpPr txBox="1"/>
            <p:nvPr/>
          </p:nvSpPr>
          <p:spPr>
            <a:xfrm>
              <a:off x="154938" y="1447303"/>
              <a:ext cx="548562" cy="106158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Exact settings</a:t>
              </a:r>
            </a:p>
          </p:txBody>
        </p:sp>
        <p:sp>
          <p:nvSpPr>
            <p:cNvPr id="213" name="zero_clip_0" descr="Editable text; source id zero_clip_0"/>
            <p:cNvSpPr txBox="1"/>
            <p:nvPr/>
          </p:nvSpPr>
          <p:spPr>
            <a:xfrm>
              <a:off x="326158" y="1559820"/>
              <a:ext cx="196320" cy="108356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2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c = 0</a:t>
              </a:r>
            </a:p>
          </p:txBody>
        </p:sp>
        <p:sp>
          <p:nvSpPr>
            <p:cNvPr id="214" name="fixed_beta" descr="Editable text; source id fixed_beta"/>
            <p:cNvSpPr txBox="1"/>
            <p:nvPr/>
          </p:nvSpPr>
          <p:spPr>
            <a:xfrm>
              <a:off x="307317" y="1675744"/>
              <a:ext cx="243805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fixed β</a:t>
              </a:r>
            </a:p>
          </p:txBody>
        </p:sp>
        <p:sp>
          <p:nvSpPr>
            <p:cNvPr id="215" name="fixed_family" descr="Editable text; source id fixed_family"/>
            <p:cNvSpPr txBox="1"/>
            <p:nvPr/>
          </p:nvSpPr>
          <p:spPr>
            <a:xfrm>
              <a:off x="207385" y="1763755"/>
              <a:ext cx="443669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fixed penalty</a:t>
              </a:r>
            </a:p>
          </p:txBody>
        </p:sp>
        <p:sp>
          <p:nvSpPr>
            <p:cNvPr id="216" name="adaptive_beta" descr="Editable text; source id adaptive_beta"/>
            <p:cNvSpPr txBox="1"/>
            <p:nvPr/>
          </p:nvSpPr>
          <p:spPr>
            <a:xfrm>
              <a:off x="244505" y="1881941"/>
              <a:ext cx="369429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adaptive β</a:t>
              </a:r>
            </a:p>
          </p:txBody>
        </p:sp>
        <p:sp>
          <p:nvSpPr>
            <p:cNvPr id="217" name="adaptive_family" descr="Editable text; source id adaptive_family"/>
            <p:cNvSpPr txBox="1"/>
            <p:nvPr/>
          </p:nvSpPr>
          <p:spPr>
            <a:xfrm>
              <a:off x="230419" y="1969952"/>
              <a:ext cx="397601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Lagrangian</a:t>
              </a:r>
            </a:p>
          </p:txBody>
        </p:sp>
      </p:grpSp>
      <p:grpSp>
        <p:nvGrpSpPr>
          <p:cNvPr id="313" name="constraint_view" descr="constraint view"/>
          <p:cNvGrpSpPr/>
          <p:nvPr/>
        </p:nvGrpSpPr>
        <p:grpSpPr>
          <a:xfrm>
            <a:off x="4239615" y="407365"/>
            <a:ext cx="729284" cy="1747647"/>
            <a:chOff x="4239615" y="407365"/>
            <a:chExt cx="729284" cy="1747647"/>
          </a:xfrm>
        </p:grpSpPr>
        <p:sp>
          <p:nvSpPr>
            <p:cNvPr id="218" name="constraint_view_panel" descr="Editable shape; source id constraint_view_panel"/>
            <p:cNvSpPr/>
            <p:nvPr/>
          </p:nvSpPr>
          <p:spPr>
            <a:xfrm>
              <a:off x="4239615" y="407365"/>
              <a:ext cx="729234" cy="1747647"/>
            </a:xfrm>
            <a:prstGeom prst="roundRect">
              <a:avLst>
                <a:gd name="adj" fmla="val 2758"/>
              </a:avLst>
            </a:prstGeom>
            <a:solidFill>
              <a:srgbClr val="FFFFFF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onstraint_title" descr="Editable text; source id constraint_title"/>
            <p:cNvSpPr txBox="1"/>
            <p:nvPr/>
          </p:nvSpPr>
          <p:spPr>
            <a:xfrm>
              <a:off x="4289266" y="434696"/>
              <a:ext cx="638572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cxnSp>
          <p:nvCxnSpPr>
            <p:cNvPr id="220" name="constraint_rule" descr="Editable line; source id constraint_rule"/>
            <p:cNvCxnSpPr/>
            <p:nvPr/>
          </p:nvCxnSpPr>
          <p:spPr>
            <a:xfrm>
              <a:off x="4289907" y="570814"/>
              <a:ext cx="628650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8" name="constrained_objective" descr="Editable formula parts and native mathematical delimiters."/>
            <p:cNvGrpSpPr/>
            <p:nvPr/>
          </p:nvGrpSpPr>
          <p:grpSpPr>
            <a:xfrm>
              <a:off x="4409464" y="634447"/>
              <a:ext cx="388238" cy="121619"/>
              <a:chOff x="4409464" y="634447"/>
              <a:chExt cx="388238" cy="121619"/>
            </a:xfrm>
          </p:grpSpPr>
          <p:sp>
            <p:nvSpPr>
              <p:cNvPr id="221" name="constrained_objective_0" descr="Editable text; source id constrained_objective_0"/>
              <p:cNvSpPr txBox="1"/>
              <p:nvPr/>
            </p:nvSpPr>
            <p:spPr>
              <a:xfrm>
                <a:off x="4409464" y="634447"/>
                <a:ext cx="16017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222" name="constrained_objective_1" descr="Editable text; source id constrained_objective_1"/>
              <p:cNvSpPr txBox="1"/>
              <p:nvPr/>
            </p:nvSpPr>
            <p:spPr>
              <a:xfrm>
                <a:off x="4565386" y="683105"/>
                <a:ext cx="34728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223" name="constrained_objective_2" descr="Editable text; source id constrained_objective_2"/>
              <p:cNvSpPr txBox="1"/>
              <p:nvPr/>
            </p:nvSpPr>
            <p:spPr>
              <a:xfrm>
                <a:off x="4621257" y="634447"/>
                <a:ext cx="4819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224" name="constrained_objective_3" descr="Editable text; source id constrained_objective_3"/>
              <p:cNvSpPr txBox="1"/>
              <p:nvPr/>
            </p:nvSpPr>
            <p:spPr>
              <a:xfrm>
                <a:off x="4665199" y="683105"/>
                <a:ext cx="24152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225" name="constrained_objective_4" descr="Editable text; source id constrained_objective_4"/>
              <p:cNvSpPr txBox="1"/>
              <p:nvPr/>
            </p:nvSpPr>
            <p:spPr>
              <a:xfrm>
                <a:off x="4687815" y="634447"/>
                <a:ext cx="109887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309" name="constrained_cost" descr="Editable formula parts and native mathematical delimiters."/>
            <p:cNvGrpSpPr/>
            <p:nvPr/>
          </p:nvGrpSpPr>
          <p:grpSpPr>
            <a:xfrm>
              <a:off x="4377950" y="752245"/>
              <a:ext cx="451342" cy="118398"/>
              <a:chOff x="4377950" y="752245"/>
              <a:chExt cx="451342" cy="118398"/>
            </a:xfrm>
          </p:grpSpPr>
          <p:sp>
            <p:nvSpPr>
              <p:cNvPr id="226" name="constrained_cost_0" descr="Editable text; source id constrained_cost_0"/>
              <p:cNvSpPr txBox="1"/>
              <p:nvPr/>
            </p:nvSpPr>
            <p:spPr>
              <a:xfrm>
                <a:off x="4377950" y="752245"/>
                <a:ext cx="128990" cy="10546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s.t. </a:t>
                </a:r>
              </a:p>
            </p:txBody>
          </p:sp>
          <p:sp>
            <p:nvSpPr>
              <p:cNvPr id="227" name="constrained_cost_1" descr="Editable text; source id constrained_cost_1"/>
              <p:cNvSpPr txBox="1"/>
              <p:nvPr/>
            </p:nvSpPr>
            <p:spPr>
              <a:xfrm>
                <a:off x="4505328" y="752245"/>
                <a:ext cx="46776" cy="10546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228" name="constrained_cost_2" descr="Editable text; source id constrained_cost_2"/>
              <p:cNvSpPr txBox="1"/>
              <p:nvPr/>
            </p:nvSpPr>
            <p:spPr>
              <a:xfrm>
                <a:off x="4547852" y="799591"/>
                <a:ext cx="30032" cy="71052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29" name="constrained_cost_3" descr="Editable text; source id constrained_cost_3"/>
              <p:cNvSpPr txBox="1"/>
              <p:nvPr/>
            </p:nvSpPr>
            <p:spPr>
              <a:xfrm>
                <a:off x="4576273" y="752245"/>
                <a:ext cx="253019" cy="10546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 ≤ B</a:t>
                </a:r>
              </a:p>
            </p:txBody>
          </p:sp>
        </p:grpSp>
        <p:sp>
          <p:nvSpPr>
            <p:cNvPr id="230" name="budget_schematic_label" descr="Editable text; source id budget_schematic_label"/>
            <p:cNvSpPr txBox="1"/>
            <p:nvPr/>
          </p:nvSpPr>
          <p:spPr>
            <a:xfrm>
              <a:off x="4374164" y="903761"/>
              <a:ext cx="468641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Joint budgets</a:t>
              </a:r>
            </a:p>
          </p:txBody>
        </p:sp>
        <p:grpSp>
          <p:nvGrpSpPr>
            <p:cNvPr id="312" name="budget_geometry" descr="budget geometry"/>
            <p:cNvGrpSpPr/>
            <p:nvPr/>
          </p:nvGrpSpPr>
          <p:grpSpPr>
            <a:xfrm>
              <a:off x="4381689" y="1020928"/>
              <a:ext cx="494727" cy="402097"/>
              <a:chOff x="4381689" y="1020928"/>
              <a:chExt cx="494727" cy="402097"/>
            </a:xfrm>
          </p:grpSpPr>
          <p:sp>
            <p:nvSpPr>
              <p:cNvPr id="231" name="budget_region" descr="Editable shape; source id budget_region"/>
              <p:cNvSpPr/>
              <p:nvPr/>
            </p:nvSpPr>
            <p:spPr>
              <a:xfrm>
                <a:off x="4400550" y="1063675"/>
                <a:ext cx="259003" cy="236372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budget_x" descr="Editable line; source id budget_x"/>
              <p:cNvSpPr/>
              <p:nvPr/>
            </p:nvSpPr>
            <p:spPr>
              <a:xfrm>
                <a:off x="4393006" y="1296278"/>
                <a:ext cx="432511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7983">
                    <a:moveTo>
                      <a:pt x="0" y="3237"/>
                    </a:moveTo>
                    <a:lnTo>
                      <a:pt x="141920" y="3237"/>
                    </a:lnTo>
                    <a:lnTo>
                      <a:pt x="141920" y="0"/>
                    </a:lnTo>
                    <a:lnTo>
                      <a:pt x="152564" y="3991"/>
                    </a:lnTo>
                    <a:lnTo>
                      <a:pt x="141920" y="7983"/>
                    </a:lnTo>
                    <a:lnTo>
                      <a:pt x="141920" y="4745"/>
                    </a:lnTo>
                    <a:lnTo>
                      <a:pt x="0" y="4745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budget_y" descr="Editable line; source id budget_y"/>
              <p:cNvSpPr/>
              <p:nvPr/>
            </p:nvSpPr>
            <p:spPr>
              <a:xfrm>
                <a:off x="4381689" y="1020928"/>
                <a:ext cx="22631" cy="286664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101118">
                    <a:moveTo>
                      <a:pt x="3238" y="101118"/>
                    </a:moveTo>
                    <a:lnTo>
                      <a:pt x="3238" y="10644"/>
                    </a:lnTo>
                    <a:lnTo>
                      <a:pt x="0" y="10644"/>
                    </a:lnTo>
                    <a:lnTo>
                      <a:pt x="3992" y="0"/>
                    </a:lnTo>
                    <a:lnTo>
                      <a:pt x="7983" y="10644"/>
                    </a:lnTo>
                    <a:lnTo>
                      <a:pt x="4746" y="10644"/>
                    </a:lnTo>
                    <a:lnTo>
                      <a:pt x="4746" y="101118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34" name="budget_vertical" descr="Editable line; source id budget_vertical"/>
              <p:cNvCxnSpPr/>
              <p:nvPr/>
            </p:nvCxnSpPr>
            <p:spPr>
              <a:xfrm flipV="1">
                <a:off x="4667097" y="1056132"/>
                <a:ext cx="0" cy="241401"/>
              </a:xfrm>
              <a:prstGeom prst="line">
                <a:avLst/>
              </a:prstGeom>
              <a:ln w="4274" cap="rnd">
                <a:solidFill>
                  <a:srgbClr val="B78129"/>
                </a:solidFill>
                <a:custDash>
                  <a:ds d="352941" sp="235294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budget_horizontal" descr="Editable line; source id budget_horizontal"/>
              <p:cNvCxnSpPr/>
              <p:nvPr/>
            </p:nvCxnSpPr>
            <p:spPr>
              <a:xfrm>
                <a:off x="4403064" y="1056132"/>
                <a:ext cx="264033" cy="0"/>
              </a:xfrm>
              <a:prstGeom prst="line">
                <a:avLst/>
              </a:prstGeom>
              <a:ln w="4274" cap="rnd">
                <a:solidFill>
                  <a:srgbClr val="B78129"/>
                </a:solidFill>
                <a:custDash>
                  <a:ds d="352941" sp="235294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budget_axis_x" descr="Editable formula parts and native mathematical delimiters."/>
              <p:cNvGrpSpPr/>
              <p:nvPr/>
            </p:nvGrpSpPr>
            <p:grpSpPr>
              <a:xfrm>
                <a:off x="4519481" y="1323952"/>
                <a:ext cx="178790" cy="99073"/>
                <a:chOff x="4519481" y="1323952"/>
                <a:chExt cx="178790" cy="99073"/>
              </a:xfrm>
            </p:grpSpPr>
            <p:sp>
              <p:nvSpPr>
                <p:cNvPr id="236" name="budget_axis_x_0" descr="Editable text; source id budget_axis_x_0"/>
                <p:cNvSpPr txBox="1"/>
                <p:nvPr/>
              </p:nvSpPr>
              <p:spPr>
                <a:xfrm>
                  <a:off x="4519481" y="1323952"/>
                  <a:ext cx="39689" cy="881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37" name="budget_axis_x_1" descr="Editable text; source id budget_axis_x_1"/>
                <p:cNvSpPr txBox="1"/>
                <p:nvPr/>
              </p:nvSpPr>
              <p:spPr>
                <a:xfrm>
                  <a:off x="4554917" y="1363424"/>
                  <a:ext cx="49678" cy="5960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3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c1</a:t>
                  </a:r>
                </a:p>
              </p:txBody>
            </p:sp>
            <p:sp>
              <p:nvSpPr>
                <p:cNvPr id="238" name="budget_axis_x_2" descr="Editable text; source id budget_axis_x_2"/>
                <p:cNvSpPr txBox="1"/>
                <p:nvPr/>
              </p:nvSpPr>
              <p:spPr>
                <a:xfrm>
                  <a:off x="4602531" y="1323952"/>
                  <a:ext cx="24805" cy="881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39" name="budget_axis_x_3" descr="Editable text; source id budget_axis_x_3"/>
                <p:cNvSpPr txBox="1"/>
                <p:nvPr/>
              </p:nvSpPr>
              <p:spPr>
                <a:xfrm>
                  <a:off x="4625272" y="1323952"/>
                  <a:ext cx="48902" cy="8811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40" name="budget_axis_x_4" descr="Editable text; source id budget_axis_x_4"/>
                <p:cNvSpPr txBox="1"/>
                <p:nvPr/>
              </p:nvSpPr>
              <p:spPr>
                <a:xfrm>
                  <a:off x="4669922" y="1363424"/>
                  <a:ext cx="28349" cy="5960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3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7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311" name="budget_axis_y" descr="Editable formula parts and native mathematical delimiters."/>
              <p:cNvGrpSpPr/>
              <p:nvPr/>
            </p:nvGrpSpPr>
            <p:grpSpPr>
              <a:xfrm>
                <a:off x="4703513" y="1057016"/>
                <a:ext cx="172903" cy="95852"/>
                <a:chOff x="4703513" y="1057016"/>
                <a:chExt cx="172903" cy="95852"/>
              </a:xfrm>
            </p:grpSpPr>
            <p:sp>
              <p:nvSpPr>
                <p:cNvPr id="241" name="budget_axis_y_0" descr="Editable text; source id budget_axis_y_0"/>
                <p:cNvSpPr txBox="1"/>
                <p:nvPr/>
              </p:nvSpPr>
              <p:spPr>
                <a:xfrm>
                  <a:off x="4703513" y="1057016"/>
                  <a:ext cx="38271" cy="8522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3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42" name="budget_axis_y_1" descr="Editable text; source id budget_axis_y_1"/>
                <p:cNvSpPr txBox="1"/>
                <p:nvPr/>
              </p:nvSpPr>
              <p:spPr>
                <a:xfrm>
                  <a:off x="4737532" y="1095176"/>
                  <a:ext cx="48194" cy="5769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2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c2</a:t>
                  </a:r>
                </a:p>
              </p:txBody>
            </p:sp>
            <p:sp>
              <p:nvSpPr>
                <p:cNvPr id="243" name="budget_axis_y_2" descr="Editable text; source id budget_axis_y_2"/>
                <p:cNvSpPr txBox="1"/>
                <p:nvPr/>
              </p:nvSpPr>
              <p:spPr>
                <a:xfrm>
                  <a:off x="4783586" y="1057016"/>
                  <a:ext cx="24097" cy="8522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3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5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5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44" name="budget_axis_y_3" descr="Editable text; source id budget_axis_y_3"/>
                <p:cNvSpPr txBox="1"/>
                <p:nvPr/>
              </p:nvSpPr>
              <p:spPr>
                <a:xfrm>
                  <a:off x="4805543" y="1057016"/>
                  <a:ext cx="47485" cy="8522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37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54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45" name="budget_axis_y_4" descr="Editable text; source id budget_axis_y_4"/>
                <p:cNvSpPr txBox="1"/>
                <p:nvPr/>
              </p:nvSpPr>
              <p:spPr>
                <a:xfrm>
                  <a:off x="4848776" y="1095176"/>
                  <a:ext cx="27640" cy="5769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2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65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cxnSp>
          <p:nvCxnSpPr>
            <p:cNvPr id="246" name="limits_rule" descr="Editable line; source id limits_rule"/>
            <p:cNvCxnSpPr/>
            <p:nvPr/>
          </p:nvCxnSpPr>
          <p:spPr>
            <a:xfrm>
              <a:off x="4292422" y="1453438"/>
              <a:ext cx="623621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limits_title" descr="Editable text; source id limits_title"/>
            <p:cNvSpPr txBox="1"/>
            <p:nvPr/>
          </p:nvSpPr>
          <p:spPr>
            <a:xfrm>
              <a:off x="4275732" y="1474576"/>
              <a:ext cx="665504" cy="103191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Graph-price limits</a:t>
              </a:r>
            </a:p>
          </p:txBody>
        </p:sp>
        <p:sp>
          <p:nvSpPr>
            <p:cNvPr id="248" name="limits_qualification" descr="Editable text; source id limits_qualification"/>
            <p:cNvSpPr txBox="1"/>
            <p:nvPr/>
          </p:nvSpPr>
          <p:spPr>
            <a:xfrm>
              <a:off x="4295810" y="1563616"/>
              <a:ext cx="625349" cy="9874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48"/>
                </a:lnSpc>
                <a:spcBef>
                  <a:spcPts val="0"/>
                </a:spcBef>
                <a:spcAft>
                  <a:spcPts val="0"/>
                </a:spcAft>
                <a:def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under assumptions</a:t>
              </a:r>
            </a:p>
          </p:txBody>
        </p:sp>
        <p:sp>
          <p:nvSpPr>
            <p:cNvPr id="249" name="zero_limit_0" descr="Editable text; source id zero_limit_0"/>
            <p:cNvSpPr txBox="1"/>
            <p:nvPr/>
          </p:nvSpPr>
          <p:spPr>
            <a:xfrm>
              <a:off x="4301063" y="1676064"/>
              <a:ext cx="216873" cy="93897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ε → 0:</a:t>
              </a:r>
            </a:p>
          </p:txBody>
        </p:sp>
        <p:sp>
          <p:nvSpPr>
            <p:cNvPr id="250" name="lp_limit" descr="Editable text; source id lp_limit"/>
            <p:cNvSpPr txBox="1"/>
            <p:nvPr/>
          </p:nvSpPr>
          <p:spPr>
            <a:xfrm>
              <a:off x="4337658" y="1764784"/>
              <a:ext cx="541652" cy="9874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48"/>
                </a:lnSpc>
                <a:spcBef>
                  <a:spcPts val="0"/>
                </a:spcBef>
                <a:spcAft>
                  <a:spcPts val="0"/>
                </a:spcAft>
                <a:defRPr sz="56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64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LP-derived price</a:t>
              </a:r>
            </a:p>
          </p:txBody>
        </p:sp>
        <p:sp>
          <p:nvSpPr>
            <p:cNvPr id="251" name="infty_limit_0" descr="Editable text; source id infty_limit_0"/>
            <p:cNvSpPr txBox="1"/>
            <p:nvPr/>
          </p:nvSpPr>
          <p:spPr>
            <a:xfrm>
              <a:off x="4301063" y="1859630"/>
              <a:ext cx="233429" cy="93897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1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ε → ∞:</a:t>
              </a:r>
            </a:p>
          </p:txBody>
        </p:sp>
        <p:sp>
          <p:nvSpPr>
            <p:cNvPr id="252" name="active_limit" descr="Editable text; source id active_limit"/>
            <p:cNvSpPr txBox="1"/>
            <p:nvPr/>
          </p:nvSpPr>
          <p:spPr>
            <a:xfrm>
              <a:off x="4248069" y="2026302"/>
              <a:ext cx="720830" cy="98740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48"/>
                </a:lnSpc>
                <a:spcBef>
                  <a:spcPts val="0"/>
                </a:spcBef>
                <a:spcAft>
                  <a:spcPts val="0"/>
                </a:spcAft>
                <a:def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6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clipped active-set limit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75" name="rollout_inputs" descr="rollout inputs"/>
          <p:cNvGrpSpPr/>
          <p:nvPr/>
        </p:nvGrpSpPr>
        <p:grpSpPr>
          <a:xfrm>
            <a:off x="55321" y="60350"/>
            <a:ext cx="985723" cy="2139924"/>
            <a:chOff x="55321" y="60350"/>
            <a:chExt cx="985723" cy="2139924"/>
          </a:xfrm>
        </p:grpSpPr>
        <p:sp>
          <p:nvSpPr>
            <p:cNvPr id="2" name="rollout_inputs_panel" descr="Editable shape; source id rollout_inputs_panel"/>
            <p:cNvSpPr/>
            <p:nvPr/>
          </p:nvSpPr>
          <p:spPr>
            <a:xfrm>
              <a:off x="55321" y="60350"/>
              <a:ext cx="985723" cy="2139924"/>
            </a:xfrm>
            <a:prstGeom prst="roundRect">
              <a:avLst>
                <a:gd name="adj" fmla="val 2040"/>
              </a:avLst>
            </a:prstGeom>
            <a:solidFill>
              <a:srgbClr val="FFFFFF"/>
            </a:solidFill>
            <a:ln w="427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inputs_title" descr="Editable text; source id inputs_title"/>
            <p:cNvSpPr txBox="1"/>
            <p:nvPr/>
          </p:nvSpPr>
          <p:spPr>
            <a:xfrm>
              <a:off x="104972" y="87682"/>
              <a:ext cx="789610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(a)  Rollout &amp; graph</a:t>
              </a:r>
            </a:p>
          </p:txBody>
        </p:sp>
        <p:cxnSp>
          <p:nvCxnSpPr>
            <p:cNvPr id="4" name="inputs_rule" descr="Editable line; source id inputs_rule"/>
            <p:cNvCxnSpPr/>
            <p:nvPr/>
          </p:nvCxnSpPr>
          <p:spPr>
            <a:xfrm>
              <a:off x="105613" y="223799"/>
              <a:ext cx="885139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0" name="rollout" descr="rollout"/>
            <p:cNvGrpSpPr/>
            <p:nvPr/>
          </p:nvGrpSpPr>
          <p:grpSpPr>
            <a:xfrm>
              <a:off x="108127" y="299237"/>
              <a:ext cx="880109" cy="721690"/>
              <a:chOff x="108127" y="299237"/>
              <a:chExt cx="880109" cy="721690"/>
            </a:xfrm>
          </p:grpSpPr>
          <p:sp>
            <p:nvSpPr>
              <p:cNvPr id="5" name="rollout_panel" descr="Editable shape; source id rollout_panel"/>
              <p:cNvSpPr/>
              <p:nvPr/>
            </p:nvSpPr>
            <p:spPr>
              <a:xfrm>
                <a:off x="108127" y="299237"/>
                <a:ext cx="880109" cy="721690"/>
              </a:xfrm>
              <a:prstGeom prst="roundRect">
                <a:avLst>
                  <a:gd name="adj" fmla="val 2787"/>
                </a:avLst>
              </a:prstGeom>
              <a:solidFill>
                <a:srgbClr val="F6F8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" name="rollout_title" descr="Editable text; source id rollout_title"/>
              <p:cNvSpPr txBox="1"/>
              <p:nvPr/>
            </p:nvSpPr>
            <p:spPr>
              <a:xfrm>
                <a:off x="152749" y="321151"/>
                <a:ext cx="529504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Policy rollout</a:t>
                </a:r>
              </a:p>
            </p:txBody>
          </p:sp>
          <p:grpSp>
            <p:nvGrpSpPr>
              <p:cNvPr id="264" name="rollout_state0" descr="rollout state0"/>
              <p:cNvGrpSpPr/>
              <p:nvPr/>
            </p:nvGrpSpPr>
            <p:grpSpPr>
              <a:xfrm>
                <a:off x="150875" y="467715"/>
                <a:ext cx="118186" cy="118393"/>
                <a:chOff x="150875" y="467715"/>
                <a:chExt cx="118186" cy="118393"/>
              </a:xfrm>
            </p:grpSpPr>
            <p:sp>
              <p:nvSpPr>
                <p:cNvPr id="7" name="rollout_state0_panel" descr="Editable shape; source id rollout_state0_panel"/>
                <p:cNvSpPr/>
                <p:nvPr/>
              </p:nvSpPr>
              <p:spPr>
                <a:xfrm>
                  <a:off x="150875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63" name="state_label0" descr="Editable formula parts and native mathematical delimiters."/>
                <p:cNvGrpSpPr/>
                <p:nvPr/>
              </p:nvGrpSpPr>
              <p:grpSpPr>
                <a:xfrm>
                  <a:off x="175181" y="470221"/>
                  <a:ext cx="65912" cy="115887"/>
                  <a:chOff x="175181" y="470221"/>
                  <a:chExt cx="65912" cy="115887"/>
                </a:xfrm>
              </p:grpSpPr>
              <p:sp>
                <p:nvSpPr>
                  <p:cNvPr id="8" name="state_label0_0" descr="Editable text; source id state_label0_0"/>
                  <p:cNvSpPr txBox="1"/>
                  <p:nvPr/>
                </p:nvSpPr>
                <p:spPr>
                  <a:xfrm>
                    <a:off x="175181" y="470221"/>
                    <a:ext cx="37563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s</a:t>
                    </a:r>
                  </a:p>
                </p:txBody>
              </p:sp>
              <p:sp>
                <p:nvSpPr>
                  <p:cNvPr id="9" name="state_label0_1" descr="Editable text; source id state_label0_1"/>
                  <p:cNvSpPr txBox="1"/>
                  <p:nvPr/>
                </p:nvSpPr>
                <p:spPr>
                  <a:xfrm>
                    <a:off x="208492" y="516964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0</a:t>
                    </a:r>
                  </a:p>
                </p:txBody>
              </p:sp>
            </p:grpSp>
          </p:grpSp>
          <p:sp>
            <p:nvSpPr>
              <p:cNvPr id="10" name="rollout_arrow0" descr="Editable line; source id rollout_arrow0"/>
              <p:cNvSpPr/>
              <p:nvPr/>
            </p:nvSpPr>
            <p:spPr>
              <a:xfrm>
                <a:off x="279121" y="514237"/>
                <a:ext cx="8801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045" h="7982">
                    <a:moveTo>
                      <a:pt x="0" y="3104"/>
                    </a:moveTo>
                    <a:lnTo>
                      <a:pt x="20401" y="3104"/>
                    </a:lnTo>
                    <a:lnTo>
                      <a:pt x="20401" y="0"/>
                    </a:lnTo>
                    <a:lnTo>
                      <a:pt x="31045" y="3991"/>
                    </a:lnTo>
                    <a:lnTo>
                      <a:pt x="20401" y="7982"/>
                    </a:lnTo>
                    <a:lnTo>
                      <a:pt x="20401" y="4878"/>
                    </a:lnTo>
                    <a:lnTo>
                      <a:pt x="0" y="487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6" name="rollout_state1" descr="rollout state1"/>
              <p:cNvGrpSpPr/>
              <p:nvPr/>
            </p:nvGrpSpPr>
            <p:grpSpPr>
              <a:xfrm>
                <a:off x="377190" y="467715"/>
                <a:ext cx="118186" cy="118393"/>
                <a:chOff x="377190" y="467715"/>
                <a:chExt cx="118186" cy="118393"/>
              </a:xfrm>
            </p:grpSpPr>
            <p:sp>
              <p:nvSpPr>
                <p:cNvPr id="11" name="rollout_state1_panel" descr="Editable shape; source id rollout_state1_panel"/>
                <p:cNvSpPr/>
                <p:nvPr/>
              </p:nvSpPr>
              <p:spPr>
                <a:xfrm>
                  <a:off x="377190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65" name="state_label1" descr="Editable formula parts and native mathematical delimiters."/>
                <p:cNvGrpSpPr/>
                <p:nvPr/>
              </p:nvGrpSpPr>
              <p:grpSpPr>
                <a:xfrm>
                  <a:off x="401495" y="470221"/>
                  <a:ext cx="65912" cy="115887"/>
                  <a:chOff x="401495" y="470221"/>
                  <a:chExt cx="65912" cy="115887"/>
                </a:xfrm>
              </p:grpSpPr>
              <p:sp>
                <p:nvSpPr>
                  <p:cNvPr id="12" name="state_label1_0" descr="Editable text; source id state_label1_0"/>
                  <p:cNvSpPr txBox="1"/>
                  <p:nvPr/>
                </p:nvSpPr>
                <p:spPr>
                  <a:xfrm>
                    <a:off x="401495" y="470221"/>
                    <a:ext cx="37563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s</a:t>
                    </a:r>
                  </a:p>
                </p:txBody>
              </p:sp>
              <p:sp>
                <p:nvSpPr>
                  <p:cNvPr id="13" name="state_label1_1" descr="Editable text; source id state_label1_1"/>
                  <p:cNvSpPr txBox="1"/>
                  <p:nvPr/>
                </p:nvSpPr>
                <p:spPr>
                  <a:xfrm>
                    <a:off x="434806" y="516964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" name="rollout_arrow1" descr="Editable line; source id rollout_arrow1"/>
              <p:cNvSpPr/>
              <p:nvPr/>
            </p:nvSpPr>
            <p:spPr>
              <a:xfrm>
                <a:off x="505435" y="514237"/>
                <a:ext cx="8801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045" h="7982">
                    <a:moveTo>
                      <a:pt x="0" y="3104"/>
                    </a:moveTo>
                    <a:lnTo>
                      <a:pt x="20401" y="3104"/>
                    </a:lnTo>
                    <a:lnTo>
                      <a:pt x="20401" y="0"/>
                    </a:lnTo>
                    <a:lnTo>
                      <a:pt x="31045" y="3991"/>
                    </a:lnTo>
                    <a:lnTo>
                      <a:pt x="20401" y="7982"/>
                    </a:lnTo>
                    <a:lnTo>
                      <a:pt x="20401" y="4878"/>
                    </a:lnTo>
                    <a:lnTo>
                      <a:pt x="0" y="487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7" name="rollout_state2" descr="rollout state2"/>
              <p:cNvGrpSpPr/>
              <p:nvPr/>
            </p:nvGrpSpPr>
            <p:grpSpPr>
              <a:xfrm>
                <a:off x="603503" y="467715"/>
                <a:ext cx="118186" cy="113156"/>
                <a:chOff x="603503" y="467715"/>
                <a:chExt cx="118186" cy="113156"/>
              </a:xfrm>
            </p:grpSpPr>
            <p:sp>
              <p:nvSpPr>
                <p:cNvPr id="15" name="rollout_state2_panel" descr="Editable shape; source id rollout_state2_panel"/>
                <p:cNvSpPr/>
                <p:nvPr/>
              </p:nvSpPr>
              <p:spPr>
                <a:xfrm>
                  <a:off x="603503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" name="state_label2" descr="Editable text; source id state_label2"/>
                <p:cNvSpPr txBox="1"/>
                <p:nvPr/>
              </p:nvSpPr>
              <p:spPr>
                <a:xfrm>
                  <a:off x="617951" y="476279"/>
                  <a:ext cx="95280" cy="10319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68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94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594" b="0" i="0" lang="zh-CN" dirty="0">
                      <a:solidFill>
                        <a:srgbClr val="536F8E"/>
                      </a:solidFill>
                      <a:latin typeface="Liberation Sans"/>
                      <a:ea typeface="Liberation Sans"/>
                      <a:cs typeface="Liberation Sans"/>
                    </a:rPr>
                    <a:t>…</a:t>
                  </a:r>
                </a:p>
              </p:txBody>
            </p:sp>
          </p:grpSp>
          <p:sp>
            <p:nvSpPr>
              <p:cNvPr id="17" name="rollout_arrow2" descr="Editable line; source id rollout_arrow2"/>
              <p:cNvSpPr/>
              <p:nvPr/>
            </p:nvSpPr>
            <p:spPr>
              <a:xfrm>
                <a:off x="731749" y="514237"/>
                <a:ext cx="8801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1045" h="7982">
                    <a:moveTo>
                      <a:pt x="0" y="3104"/>
                    </a:moveTo>
                    <a:lnTo>
                      <a:pt x="20401" y="3104"/>
                    </a:lnTo>
                    <a:lnTo>
                      <a:pt x="20401" y="0"/>
                    </a:lnTo>
                    <a:lnTo>
                      <a:pt x="31045" y="3991"/>
                    </a:lnTo>
                    <a:lnTo>
                      <a:pt x="20401" y="7982"/>
                    </a:lnTo>
                    <a:lnTo>
                      <a:pt x="20401" y="4878"/>
                    </a:lnTo>
                    <a:lnTo>
                      <a:pt x="0" y="487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9" name="rollout_state3" descr="rollout state3"/>
              <p:cNvGrpSpPr/>
              <p:nvPr/>
            </p:nvGrpSpPr>
            <p:grpSpPr>
              <a:xfrm>
                <a:off x="829817" y="467715"/>
                <a:ext cx="118186" cy="118393"/>
                <a:chOff x="829817" y="467715"/>
                <a:chExt cx="118186" cy="118393"/>
              </a:xfrm>
            </p:grpSpPr>
            <p:sp>
              <p:nvSpPr>
                <p:cNvPr id="18" name="rollout_state3_panel" descr="Editable shape; source id rollout_state3_panel"/>
                <p:cNvSpPr/>
                <p:nvPr/>
              </p:nvSpPr>
              <p:spPr>
                <a:xfrm>
                  <a:off x="829817" y="467715"/>
                  <a:ext cx="118186" cy="113156"/>
                </a:xfrm>
                <a:prstGeom prst="roundRect">
                  <a:avLst>
                    <a:gd name="adj" fmla="val 17777"/>
                  </a:avLst>
                </a:prstGeom>
                <a:solidFill>
                  <a:srgbClr val="EDF1F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68" name="state_label3" descr="Editable formula parts and native mathematical delimiters."/>
                <p:cNvGrpSpPr/>
                <p:nvPr/>
              </p:nvGrpSpPr>
              <p:grpSpPr>
                <a:xfrm>
                  <a:off x="850934" y="470221"/>
                  <a:ext cx="72291" cy="115887"/>
                  <a:chOff x="850934" y="470221"/>
                  <a:chExt cx="72291" cy="115887"/>
                </a:xfrm>
              </p:grpSpPr>
              <p:sp>
                <p:nvSpPr>
                  <p:cNvPr id="19" name="state_label3_0" descr="Editable text; source id state_label3_0"/>
                  <p:cNvSpPr txBox="1"/>
                  <p:nvPr/>
                </p:nvSpPr>
                <p:spPr>
                  <a:xfrm>
                    <a:off x="850934" y="470221"/>
                    <a:ext cx="37563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s</a:t>
                    </a:r>
                  </a:p>
                </p:txBody>
              </p:sp>
              <p:sp>
                <p:nvSpPr>
                  <p:cNvPr id="20" name="state_label3_1" descr="Editable text; source id state_label3_1"/>
                  <p:cNvSpPr txBox="1"/>
                  <p:nvPr/>
                </p:nvSpPr>
                <p:spPr>
                  <a:xfrm>
                    <a:off x="884245" y="516964"/>
                    <a:ext cx="38980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536F8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T</a:t>
                    </a:r>
                  </a:p>
                </p:txBody>
              </p:sp>
            </p:grpSp>
          </p:grpSp>
          <p:sp>
            <p:nvSpPr>
              <p:cNvPr id="21" name="sample_label0" descr="Editable text; source id sample_label0"/>
              <p:cNvSpPr txBox="1"/>
              <p:nvPr/>
            </p:nvSpPr>
            <p:spPr>
              <a:xfrm>
                <a:off x="152749" y="667389"/>
                <a:ext cx="288456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rewards</a:t>
                </a:r>
              </a:p>
            </p:txBody>
          </p:sp>
          <p:sp>
            <p:nvSpPr>
              <p:cNvPr id="22" name="sample_0_0" descr="Editable shape; source id sample_0_0"/>
              <p:cNvSpPr/>
              <p:nvPr/>
            </p:nvSpPr>
            <p:spPr>
              <a:xfrm>
                <a:off x="535609" y="686485"/>
                <a:ext cx="60350" cy="60350"/>
              </a:xfrm>
              <a:prstGeom prst="rect">
                <a:avLst/>
              </a:prstGeom>
              <a:solidFill>
                <a:srgbClr val="EDF1F6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_0_1" descr="Editable shape; source id sample_0_1"/>
              <p:cNvSpPr/>
              <p:nvPr/>
            </p:nvSpPr>
            <p:spPr>
              <a:xfrm>
                <a:off x="648766" y="686485"/>
                <a:ext cx="60350" cy="60350"/>
              </a:xfrm>
              <a:prstGeom prst="rect">
                <a:avLst/>
              </a:prstGeom>
              <a:solidFill>
                <a:srgbClr val="536F8E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_0_2" descr="Editable shape; source id sample_0_2"/>
              <p:cNvSpPr/>
              <p:nvPr/>
            </p:nvSpPr>
            <p:spPr>
              <a:xfrm>
                <a:off x="761923" y="686485"/>
                <a:ext cx="60350" cy="60350"/>
              </a:xfrm>
              <a:prstGeom prst="rect">
                <a:avLst/>
              </a:prstGeom>
              <a:solidFill>
                <a:srgbClr val="EDF1F6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_0_3" descr="Editable shape; source id sample_0_3"/>
              <p:cNvSpPr/>
              <p:nvPr/>
            </p:nvSpPr>
            <p:spPr>
              <a:xfrm>
                <a:off x="875080" y="686485"/>
                <a:ext cx="60350" cy="60350"/>
              </a:xfrm>
              <a:prstGeom prst="rect">
                <a:avLst/>
              </a:prstGeom>
              <a:solidFill>
                <a:srgbClr val="EDF1F6"/>
              </a:solidFill>
              <a:ln w="2514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sample_label1" descr="Editable text; source id sample_label1"/>
              <p:cNvSpPr txBox="1"/>
              <p:nvPr/>
            </p:nvSpPr>
            <p:spPr>
              <a:xfrm>
                <a:off x="152749" y="820780"/>
                <a:ext cx="267205" cy="103191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K costs</a:t>
                </a:r>
              </a:p>
            </p:txBody>
          </p:sp>
          <p:sp>
            <p:nvSpPr>
              <p:cNvPr id="27" name="sample_1_0" descr="Editable shape; source id sample_1_0"/>
              <p:cNvSpPr/>
              <p:nvPr/>
            </p:nvSpPr>
            <p:spPr>
              <a:xfrm>
                <a:off x="535609" y="839876"/>
                <a:ext cx="60350" cy="60350"/>
              </a:xfrm>
              <a:prstGeom prst="rect">
                <a:avLst/>
              </a:prstGeom>
              <a:solidFill>
                <a:srgbClr val="F8F1E4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sample_1_1" descr="Editable shape; source id sample_1_1"/>
              <p:cNvSpPr/>
              <p:nvPr/>
            </p:nvSpPr>
            <p:spPr>
              <a:xfrm>
                <a:off x="648766" y="839876"/>
                <a:ext cx="60350" cy="60350"/>
              </a:xfrm>
              <a:prstGeom prst="rect">
                <a:avLst/>
              </a:prstGeom>
              <a:solidFill>
                <a:srgbClr val="B78129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sample_1_2" descr="Editable shape; source id sample_1_2"/>
              <p:cNvSpPr/>
              <p:nvPr/>
            </p:nvSpPr>
            <p:spPr>
              <a:xfrm>
                <a:off x="761923" y="839876"/>
                <a:ext cx="60350" cy="60350"/>
              </a:xfrm>
              <a:prstGeom prst="rect">
                <a:avLst/>
              </a:prstGeom>
              <a:solidFill>
                <a:srgbClr val="F8F1E4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ample_1_3" descr="Editable shape; source id sample_1_3"/>
              <p:cNvSpPr/>
              <p:nvPr/>
            </p:nvSpPr>
            <p:spPr>
              <a:xfrm>
                <a:off x="875080" y="839876"/>
                <a:ext cx="60350" cy="60350"/>
              </a:xfrm>
              <a:prstGeom prst="rect">
                <a:avLst/>
              </a:prstGeom>
              <a:solidFill>
                <a:srgbClr val="F8F1E4"/>
              </a:solidFill>
              <a:ln w="2514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" name="rollout_to_graph" descr="Editable line; source id rollout_to_graph"/>
            <p:cNvSpPr/>
            <p:nvPr/>
          </p:nvSpPr>
          <p:spPr>
            <a:xfrm>
              <a:off x="531836" y="1038530"/>
              <a:ext cx="22634" cy="82982"/>
            </a:xfrm>
            <a:custGeom>
              <a:avLst/>
              <a:gdLst/>
              <a:ahLst/>
              <a:cxnLst/>
              <a:rect l="l" t="t" r="r" b="b"/>
              <a:pathLst>
                <a:path w="7984" h="29271">
                  <a:moveTo>
                    <a:pt x="4923" y="0"/>
                  </a:moveTo>
                  <a:lnTo>
                    <a:pt x="4923" y="18627"/>
                  </a:lnTo>
                  <a:lnTo>
                    <a:pt x="7984" y="18627"/>
                  </a:lnTo>
                  <a:lnTo>
                    <a:pt x="3992" y="29271"/>
                  </a:lnTo>
                  <a:lnTo>
                    <a:pt x="0" y="18627"/>
                  </a:lnTo>
                  <a:lnTo>
                    <a:pt x="3061" y="18627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graph_construction_label" descr="Editable text; source id graph_construction_label"/>
            <p:cNvSpPr txBox="1"/>
            <p:nvPr/>
          </p:nvSpPr>
          <p:spPr>
            <a:xfrm>
              <a:off x="610407" y="1024394"/>
              <a:ext cx="368543" cy="9725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37"/>
                </a:lnSpc>
                <a:spcBef>
                  <a:spcPts val="0"/>
                </a:spcBef>
                <a:spcAft>
                  <a:spcPts val="0"/>
                </a:spcAft>
                <a:defRPr sz="55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5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build graph</a:t>
              </a:r>
            </a:p>
          </p:txBody>
        </p:sp>
        <p:grpSp>
          <p:nvGrpSpPr>
            <p:cNvPr id="273" name="empirical_graph" descr="empirical graph"/>
            <p:cNvGrpSpPr/>
            <p:nvPr/>
          </p:nvGrpSpPr>
          <p:grpSpPr>
            <a:xfrm>
              <a:off x="108127" y="1141628"/>
              <a:ext cx="880109" cy="663854"/>
              <a:chOff x="108127" y="1141628"/>
              <a:chExt cx="880109" cy="663854"/>
            </a:xfrm>
          </p:grpSpPr>
          <p:sp>
            <p:nvSpPr>
              <p:cNvPr id="33" name="empirical_graph_panel" descr="Editable shape; source id empirical_graph_panel"/>
              <p:cNvSpPr/>
              <p:nvPr/>
            </p:nvSpPr>
            <p:spPr>
              <a:xfrm>
                <a:off x="108127" y="1141628"/>
                <a:ext cx="880109" cy="663854"/>
              </a:xfrm>
              <a:prstGeom prst="roundRect">
                <a:avLst>
                  <a:gd name="adj" fmla="val 3030"/>
                </a:avLst>
              </a:prstGeom>
              <a:solidFill>
                <a:srgbClr val="F6F8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empirical_title" descr="Editable text; source id empirical_title"/>
              <p:cNvSpPr txBox="1"/>
              <p:nvPr/>
            </p:nvSpPr>
            <p:spPr>
              <a:xfrm>
                <a:off x="152749" y="1166057"/>
                <a:ext cx="627963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Empirical graph</a:t>
                </a:r>
              </a:p>
            </p:txBody>
          </p:sp>
          <p:grpSp>
            <p:nvGrpSpPr>
              <p:cNvPr id="271" name="empirical_network" descr="empirical network"/>
              <p:cNvGrpSpPr/>
              <p:nvPr/>
            </p:nvGrpSpPr>
            <p:grpSpPr>
              <a:xfrm>
                <a:off x="168478" y="1289989"/>
                <a:ext cx="754379" cy="311810"/>
                <a:chOff x="168478" y="1289989"/>
                <a:chExt cx="754379" cy="311810"/>
              </a:xfrm>
            </p:grpSpPr>
            <p:sp>
              <p:nvSpPr>
                <p:cNvPr id="35" name="empirical_network_edge0" descr="Editable line; source id empirical_network_edge0"/>
                <p:cNvSpPr/>
                <p:nvPr/>
              </p:nvSpPr>
              <p:spPr>
                <a:xfrm>
                  <a:off x="251185" y="1360166"/>
                  <a:ext cx="91796" cy="61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0" h="21755">
                      <a:moveTo>
                        <a:pt x="0" y="19375"/>
                      </a:moveTo>
                      <a:lnTo>
                        <a:pt x="22685" y="4616"/>
                      </a:lnTo>
                      <a:lnTo>
                        <a:pt x="21282" y="2459"/>
                      </a:lnTo>
                      <a:lnTo>
                        <a:pt x="32380" y="0"/>
                      </a:lnTo>
                      <a:lnTo>
                        <a:pt x="25636" y="9151"/>
                      </a:lnTo>
                      <a:lnTo>
                        <a:pt x="24233" y="6995"/>
                      </a:lnTo>
                      <a:lnTo>
                        <a:pt x="1548" y="21755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" name="empirical_network_edge1" descr="Editable line; source id empirical_network_edge1"/>
                <p:cNvSpPr/>
                <p:nvPr/>
              </p:nvSpPr>
              <p:spPr>
                <a:xfrm>
                  <a:off x="435428" y="1321424"/>
                  <a:ext cx="207102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53" h="7983">
                      <a:moveTo>
                        <a:pt x="0" y="2572"/>
                      </a:moveTo>
                      <a:lnTo>
                        <a:pt x="62409" y="2572"/>
                      </a:lnTo>
                      <a:lnTo>
                        <a:pt x="62409" y="0"/>
                      </a:lnTo>
                      <a:lnTo>
                        <a:pt x="73053" y="3991"/>
                      </a:lnTo>
                      <a:lnTo>
                        <a:pt x="62409" y="7983"/>
                      </a:lnTo>
                      <a:lnTo>
                        <a:pt x="62409" y="5410"/>
                      </a:lnTo>
                      <a:lnTo>
                        <a:pt x="0" y="541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empirical_network_edge2" descr="Editable line; source id empirical_network_edge2"/>
                <p:cNvSpPr/>
                <p:nvPr/>
              </p:nvSpPr>
              <p:spPr>
                <a:xfrm>
                  <a:off x="733787" y="1355301"/>
                  <a:ext cx="103277" cy="64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30" h="22782">
                      <a:moveTo>
                        <a:pt x="1468" y="0"/>
                      </a:moveTo>
                      <a:lnTo>
                        <a:pt x="28054" y="16063"/>
                      </a:lnTo>
                      <a:lnTo>
                        <a:pt x="29384" y="13861"/>
                      </a:lnTo>
                      <a:lnTo>
                        <a:pt x="36430" y="22782"/>
                      </a:lnTo>
                      <a:lnTo>
                        <a:pt x="25256" y="20694"/>
                      </a:lnTo>
                      <a:lnTo>
                        <a:pt x="26586" y="18492"/>
                      </a:lnTo>
                      <a:lnTo>
                        <a:pt x="0" y="243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empirical_network_edge3" descr="Editable line; source id empirical_network_edge3"/>
                <p:cNvSpPr/>
                <p:nvPr/>
              </p:nvSpPr>
              <p:spPr>
                <a:xfrm>
                  <a:off x="251803" y="1470899"/>
                  <a:ext cx="91178" cy="6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2" h="21420">
                      <a:moveTo>
                        <a:pt x="1113" y="0"/>
                      </a:moveTo>
                      <a:lnTo>
                        <a:pt x="23797" y="14760"/>
                      </a:lnTo>
                      <a:lnTo>
                        <a:pt x="25418" y="12269"/>
                      </a:lnTo>
                      <a:lnTo>
                        <a:pt x="32162" y="21420"/>
                      </a:lnTo>
                      <a:lnTo>
                        <a:pt x="21064" y="18961"/>
                      </a:lnTo>
                      <a:lnTo>
                        <a:pt x="22684" y="16470"/>
                      </a:lnTo>
                      <a:lnTo>
                        <a:pt x="0" y="171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empirical_network_edge4" descr="Editable line; source id empirical_network_edge4"/>
                <p:cNvSpPr/>
                <p:nvPr/>
              </p:nvSpPr>
              <p:spPr>
                <a:xfrm>
                  <a:off x="435428" y="1547738"/>
                  <a:ext cx="207102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53" h="7983">
                      <a:moveTo>
                        <a:pt x="0" y="2971"/>
                      </a:moveTo>
                      <a:lnTo>
                        <a:pt x="62409" y="2971"/>
                      </a:lnTo>
                      <a:lnTo>
                        <a:pt x="62409" y="0"/>
                      </a:lnTo>
                      <a:lnTo>
                        <a:pt x="73053" y="3991"/>
                      </a:lnTo>
                      <a:lnTo>
                        <a:pt x="62409" y="7983"/>
                      </a:lnTo>
                      <a:lnTo>
                        <a:pt x="62409" y="5011"/>
                      </a:lnTo>
                      <a:lnTo>
                        <a:pt x="0" y="5011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empirical_network_edge5" descr="Editable line; source id empirical_network_edge5"/>
                <p:cNvSpPr/>
                <p:nvPr/>
              </p:nvSpPr>
              <p:spPr>
                <a:xfrm>
                  <a:off x="734374" y="1471903"/>
                  <a:ext cx="102690" cy="63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23" h="22440">
                      <a:moveTo>
                        <a:pt x="0" y="20694"/>
                      </a:moveTo>
                      <a:lnTo>
                        <a:pt x="26585" y="4631"/>
                      </a:lnTo>
                      <a:lnTo>
                        <a:pt x="25049" y="2088"/>
                      </a:lnTo>
                      <a:lnTo>
                        <a:pt x="36223" y="0"/>
                      </a:lnTo>
                      <a:lnTo>
                        <a:pt x="29177" y="8921"/>
                      </a:lnTo>
                      <a:lnTo>
                        <a:pt x="27640" y="6377"/>
                      </a:lnTo>
                      <a:lnTo>
                        <a:pt x="1055" y="22440"/>
                      </a:lnTo>
                      <a:close/>
                    </a:path>
                  </a:pathLst>
                </a:custGeom>
                <a:solidFill>
                  <a:srgbClr val="536F8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empirical_network_edge6" descr="Editable line; source id empirical_network_edge6"/>
                <p:cNvSpPr/>
                <p:nvPr/>
              </p:nvSpPr>
              <p:spPr>
                <a:xfrm>
                  <a:off x="373819" y="1383030"/>
                  <a:ext cx="22631" cy="125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44350">
                      <a:moveTo>
                        <a:pt x="5012" y="0"/>
                      </a:moveTo>
                      <a:lnTo>
                        <a:pt x="5012" y="33706"/>
                      </a:lnTo>
                      <a:lnTo>
                        <a:pt x="7983" y="33706"/>
                      </a:lnTo>
                      <a:lnTo>
                        <a:pt x="3992" y="44350"/>
                      </a:lnTo>
                      <a:lnTo>
                        <a:pt x="0" y="33706"/>
                      </a:lnTo>
                      <a:lnTo>
                        <a:pt x="2972" y="33706"/>
                      </a:lnTo>
                      <a:lnTo>
                        <a:pt x="2972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" name="empirical_network_edge7" descr="Editable line; source id empirical_network_edge7"/>
                <p:cNvSpPr/>
                <p:nvPr/>
              </p:nvSpPr>
              <p:spPr>
                <a:xfrm>
                  <a:off x="681508" y="1383030"/>
                  <a:ext cx="22631" cy="125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44350">
                      <a:moveTo>
                        <a:pt x="5011" y="0"/>
                      </a:moveTo>
                      <a:lnTo>
                        <a:pt x="5011" y="33706"/>
                      </a:lnTo>
                      <a:lnTo>
                        <a:pt x="7983" y="33706"/>
                      </a:lnTo>
                      <a:lnTo>
                        <a:pt x="3991" y="44350"/>
                      </a:lnTo>
                      <a:lnTo>
                        <a:pt x="0" y="33706"/>
                      </a:lnTo>
                      <a:lnTo>
                        <a:pt x="2971" y="33706"/>
                      </a:lnTo>
                      <a:lnTo>
                        <a:pt x="2971" y="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empirical_network_node1" descr="Editable shape; source id empirical_network_node1"/>
                <p:cNvSpPr/>
                <p:nvPr/>
              </p:nvSpPr>
              <p:spPr>
                <a:xfrm>
                  <a:off x="168478" y="1403146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" name="empirical_network_node2" descr="Editable shape; source id empirical_network_node2"/>
                <p:cNvSpPr/>
                <p:nvPr/>
              </p:nvSpPr>
              <p:spPr>
                <a:xfrm>
                  <a:off x="342387" y="1289989"/>
                  <a:ext cx="85496" cy="85496"/>
                </a:xfrm>
                <a:prstGeom prst="ellipse">
                  <a:avLst/>
                </a:prstGeom>
                <a:solidFill>
                  <a:srgbClr val="EDF1F6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empirical_network_node3" descr="Editable shape; source id empirical_network_node3"/>
                <p:cNvSpPr/>
                <p:nvPr/>
              </p:nvSpPr>
              <p:spPr>
                <a:xfrm>
                  <a:off x="650074" y="1289989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empirical_network_node4" descr="Editable shape; source id empirical_network_node4"/>
                <p:cNvSpPr/>
                <p:nvPr/>
              </p:nvSpPr>
              <p:spPr>
                <a:xfrm>
                  <a:off x="837361" y="1403146"/>
                  <a:ext cx="85496" cy="85496"/>
                </a:xfrm>
                <a:prstGeom prst="ellipse">
                  <a:avLst/>
                </a:prstGeom>
                <a:solidFill>
                  <a:srgbClr val="EDF1F6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empirical_network_node5" descr="Editable shape; source id empirical_network_node5"/>
                <p:cNvSpPr/>
                <p:nvPr/>
              </p:nvSpPr>
              <p:spPr>
                <a:xfrm>
                  <a:off x="342387" y="1516303"/>
                  <a:ext cx="85496" cy="85496"/>
                </a:xfrm>
                <a:prstGeom prst="ellipse">
                  <a:avLst/>
                </a:prstGeom>
                <a:solidFill>
                  <a:srgbClr val="EDF1F6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empirical_network_node6" descr="Editable shape; source id empirical_network_node6"/>
                <p:cNvSpPr/>
                <p:nvPr/>
              </p:nvSpPr>
              <p:spPr>
                <a:xfrm>
                  <a:off x="650074" y="1516303"/>
                  <a:ext cx="85496" cy="85496"/>
                </a:xfrm>
                <a:prstGeom prst="ellipse">
                  <a:avLst/>
                </a:prstGeom>
                <a:solidFill>
                  <a:srgbClr val="FFFFFF"/>
                </a:solidFill>
                <a:ln w="5029">
                  <a:solidFill>
                    <a:srgbClr val="536F8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2" name="graph_statistics" descr="Editable formula parts and native mathematical delimiters."/>
              <p:cNvGrpSpPr/>
              <p:nvPr/>
            </p:nvGrpSpPr>
            <p:grpSpPr>
              <a:xfrm>
                <a:off x="339902" y="1667948"/>
                <a:ext cx="414553" cy="121619"/>
                <a:chOff x="339902" y="1667948"/>
                <a:chExt cx="414553" cy="121619"/>
              </a:xfrm>
            </p:grpSpPr>
            <p:sp>
              <p:nvSpPr>
                <p:cNvPr id="49" name="graph_statistics_0" descr="Editable text; source id graph_statistics_0"/>
                <p:cNvSpPr txBox="1"/>
                <p:nvPr/>
              </p:nvSpPr>
              <p:spPr>
                <a:xfrm>
                  <a:off x="339902" y="1667948"/>
                  <a:ext cx="193485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F̂, A, </a:t>
                  </a:r>
                </a:p>
              </p:txBody>
            </p:sp>
            <p:sp>
              <p:nvSpPr>
                <p:cNvPr id="50" name="graph_statistics_1" descr="Editable text; source id graph_statistics_1"/>
                <p:cNvSpPr txBox="1"/>
                <p:nvPr/>
              </p:nvSpPr>
              <p:spPr>
                <a:xfrm>
                  <a:off x="531851" y="1667948"/>
                  <a:ext cx="65912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51" name="graph_statistics_2" descr="Editable text; source id graph_statistics_2"/>
                <p:cNvSpPr txBox="1"/>
                <p:nvPr/>
              </p:nvSpPr>
              <p:spPr>
                <a:xfrm>
                  <a:off x="593511" y="171660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52" name="graph_statistics_3" descr="Editable text; source id graph_statistics_3"/>
                <p:cNvSpPr txBox="1"/>
                <p:nvPr/>
              </p:nvSpPr>
              <p:spPr>
                <a:xfrm>
                  <a:off x="626105" y="1667948"/>
                  <a:ext cx="49611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53" name="graph_statistics_4" descr="Editable text; source id graph_statistics_4"/>
                <p:cNvSpPr txBox="1"/>
                <p:nvPr/>
              </p:nvSpPr>
              <p:spPr>
                <a:xfrm>
                  <a:off x="673471" y="1667948"/>
                  <a:ext cx="51106" cy="10835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μ</a:t>
                  </a:r>
                </a:p>
              </p:txBody>
            </p:sp>
            <p:sp>
              <p:nvSpPr>
                <p:cNvPr id="54" name="graph_statistics_5" descr="Editable text; source id graph_statistics_5"/>
                <p:cNvSpPr txBox="1"/>
                <p:nvPr/>
              </p:nvSpPr>
              <p:spPr>
                <a:xfrm>
                  <a:off x="720325" y="1716606"/>
                  <a:ext cx="34130" cy="7296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0</a:t>
                  </a:r>
                </a:p>
              </p:txBody>
            </p:sp>
          </p:grpSp>
        </p:grpSp>
        <p:grpSp>
          <p:nvGrpSpPr>
            <p:cNvPr id="274" name="episode_cost_output" descr="Editable formula parts and native mathematical delimiters."/>
            <p:cNvGrpSpPr/>
            <p:nvPr/>
          </p:nvGrpSpPr>
          <p:grpSpPr>
            <a:xfrm>
              <a:off x="240227" y="1865436"/>
              <a:ext cx="614838" cy="112665"/>
              <a:chOff x="240227" y="1865436"/>
              <a:chExt cx="614838" cy="112665"/>
            </a:xfrm>
          </p:grpSpPr>
          <p:sp>
            <p:nvSpPr>
              <p:cNvPr id="55" name="episode_cost_output_0" descr="Editable text; source id episode_cost_output_0"/>
              <p:cNvSpPr txBox="1"/>
              <p:nvPr/>
            </p:nvSpPr>
            <p:spPr>
              <a:xfrm>
                <a:off x="240227" y="1865436"/>
                <a:ext cx="47485" cy="9968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J̄</a:t>
                </a:r>
              </a:p>
            </p:txBody>
          </p:sp>
          <p:sp>
            <p:nvSpPr>
              <p:cNvPr id="56" name="episode_cost_output_1" descr="Editable text; source id episode_cost_output_1"/>
              <p:cNvSpPr txBox="1"/>
              <p:nvPr/>
            </p:nvSpPr>
            <p:spPr>
              <a:xfrm>
                <a:off x="283460" y="1910866"/>
                <a:ext cx="31893" cy="6723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495"/>
                  </a:lnSpc>
                  <a:spcBef>
                    <a:spcPts val="0"/>
                  </a:spcBef>
                  <a:spcAft>
                    <a:spcPts val="0"/>
                  </a:spcAft>
                  <a:defRPr sz="431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31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57" name="episode_cost_output_2" descr="Editable text; source id episode_cost_output_2"/>
              <p:cNvSpPr txBox="1"/>
              <p:nvPr/>
            </p:nvSpPr>
            <p:spPr>
              <a:xfrm>
                <a:off x="313590" y="1865436"/>
                <a:ext cx="541475" cy="9968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  (episode costs)</a:t>
                </a:r>
              </a:p>
            </p:txBody>
          </p:sp>
        </p:grpSp>
        <p:sp>
          <p:nvSpPr>
            <p:cNvPr id="58" name="advantages_label" descr="Editable text; source id advantages_label"/>
            <p:cNvSpPr txBox="1"/>
            <p:nvPr/>
          </p:nvSpPr>
          <p:spPr>
            <a:xfrm>
              <a:off x="232755" y="2040749"/>
              <a:ext cx="639358" cy="106158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GAE advantages</a:t>
              </a:r>
            </a:p>
          </p:txBody>
        </p:sp>
      </p:grpSp>
      <p:grpSp>
        <p:nvGrpSpPr>
          <p:cNvPr id="307" name="unified_price_construction" descr="unified price construction"/>
          <p:cNvGrpSpPr/>
          <p:nvPr/>
        </p:nvGrpSpPr>
        <p:grpSpPr>
          <a:xfrm>
            <a:off x="1176832" y="60350"/>
            <a:ext cx="2730855" cy="1984019"/>
            <a:chOff x="1176832" y="60350"/>
            <a:chExt cx="2730855" cy="1984019"/>
          </a:xfrm>
        </p:grpSpPr>
        <p:sp>
          <p:nvSpPr>
            <p:cNvPr id="59" name="unified_price_construction_panel" descr="Editable shape; source id unified_price_construction_panel"/>
            <p:cNvSpPr/>
            <p:nvPr/>
          </p:nvSpPr>
          <p:spPr>
            <a:xfrm>
              <a:off x="1176832" y="60350"/>
              <a:ext cx="2730855" cy="1984019"/>
            </a:xfrm>
            <a:prstGeom prst="roundRect">
              <a:avLst>
                <a:gd name="adj" fmla="val 1013"/>
              </a:avLst>
            </a:prstGeom>
            <a:solidFill>
              <a:srgbClr val="FFFFFF"/>
            </a:solidFill>
            <a:ln w="6035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unified_title" descr="Editable text; source id unified_title"/>
            <p:cNvSpPr txBox="1"/>
            <p:nvPr/>
          </p:nvSpPr>
          <p:spPr>
            <a:xfrm>
              <a:off x="1226484" y="80594"/>
              <a:ext cx="1307620" cy="12099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(b)  Unified price construction</a:t>
              </a:r>
            </a:p>
          </p:txBody>
        </p:sp>
        <p:cxnSp>
          <p:nvCxnSpPr>
            <p:cNvPr id="61" name="unified_rule" descr="Editable line; source id unified_rule"/>
            <p:cNvCxnSpPr/>
            <p:nvPr/>
          </p:nvCxnSpPr>
          <p:spPr>
            <a:xfrm>
              <a:off x="1227124" y="223799"/>
              <a:ext cx="2630272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3" name="joint_solver" descr="joint solver"/>
            <p:cNvGrpSpPr/>
            <p:nvPr/>
          </p:nvGrpSpPr>
          <p:grpSpPr>
            <a:xfrm>
              <a:off x="1227124" y="299237"/>
              <a:ext cx="1679752" cy="1189405"/>
              <a:chOff x="1227124" y="299237"/>
              <a:chExt cx="1679752" cy="1189405"/>
            </a:xfrm>
          </p:grpSpPr>
          <p:sp>
            <p:nvSpPr>
              <p:cNvPr id="62" name="joint_solver_panel" descr="Editable shape; source id joint_solver_panel"/>
              <p:cNvSpPr/>
              <p:nvPr/>
            </p:nvSpPr>
            <p:spPr>
              <a:xfrm>
                <a:off x="1227124" y="299237"/>
                <a:ext cx="1679752" cy="1189405"/>
              </a:xfrm>
              <a:prstGeom prst="roundRect">
                <a:avLst>
                  <a:gd name="adj" fmla="val 1691"/>
                </a:avLst>
              </a:prstGeom>
              <a:solidFill>
                <a:srgbClr val="F6F8F9"/>
              </a:solidFill>
              <a:ln w="3017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solve_title" descr="Editable text; source id solve_title"/>
              <p:cNvSpPr txBox="1"/>
              <p:nvPr/>
            </p:nvSpPr>
            <p:spPr>
              <a:xfrm>
                <a:off x="1276776" y="328695"/>
                <a:ext cx="686057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Joint graph solve</a:t>
                </a:r>
              </a:p>
            </p:txBody>
          </p:sp>
          <p:cxnSp>
            <p:nvCxnSpPr>
              <p:cNvPr id="64" name="solve_rule" descr="Editable line; source id solve_rule"/>
              <p:cNvCxnSpPr/>
              <p:nvPr/>
            </p:nvCxnSpPr>
            <p:spPr>
              <a:xfrm>
                <a:off x="1277416" y="462686"/>
                <a:ext cx="1579169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6" name="graph_cost0" descr="graph cost0"/>
              <p:cNvGrpSpPr/>
              <p:nvPr/>
            </p:nvGrpSpPr>
            <p:grpSpPr>
              <a:xfrm>
                <a:off x="1292504" y="580872"/>
                <a:ext cx="188091" cy="110139"/>
                <a:chOff x="1292504" y="580872"/>
                <a:chExt cx="188091" cy="110139"/>
              </a:xfrm>
            </p:grpSpPr>
            <p:sp>
              <p:nvSpPr>
                <p:cNvPr id="65" name="graph_cost0_0_0" descr="Editable shape; source id graph_cost0_0_0"/>
                <p:cNvSpPr/>
                <p:nvPr/>
              </p:nvSpPr>
              <p:spPr>
                <a:xfrm>
                  <a:off x="1292504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graph_cost0_0_1" descr="Editable shape; source id graph_cost0_0_1"/>
                <p:cNvSpPr/>
                <p:nvPr/>
              </p:nvSpPr>
              <p:spPr>
                <a:xfrm>
                  <a:off x="1340281" y="580872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" name="graph_cost0_0_2" descr="Editable shape; source id graph_cost0_0_2"/>
                <p:cNvSpPr/>
                <p:nvPr/>
              </p:nvSpPr>
              <p:spPr>
                <a:xfrm>
                  <a:off x="1388059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" name="graph_cost0_0_3" descr="Editable shape; source id graph_cost0_0_3"/>
                <p:cNvSpPr/>
                <p:nvPr/>
              </p:nvSpPr>
              <p:spPr>
                <a:xfrm>
                  <a:off x="1435836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" name="graph_cost0_1_0" descr="Editable shape; source id graph_cost0_1_0"/>
                <p:cNvSpPr/>
                <p:nvPr/>
              </p:nvSpPr>
              <p:spPr>
                <a:xfrm>
                  <a:off x="1292504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" name="graph_cost0_1_1" descr="Editable shape; source id graph_cost0_1_1"/>
                <p:cNvSpPr/>
                <p:nvPr/>
              </p:nvSpPr>
              <p:spPr>
                <a:xfrm>
                  <a:off x="1340281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" name="graph_cost0_1_2" descr="Editable shape; source id graph_cost0_1_2"/>
                <p:cNvSpPr/>
                <p:nvPr/>
              </p:nvSpPr>
              <p:spPr>
                <a:xfrm>
                  <a:off x="1388059" y="618591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" name="graph_cost0_1_3" descr="Editable shape; source id graph_cost0_1_3"/>
                <p:cNvSpPr/>
                <p:nvPr/>
              </p:nvSpPr>
              <p:spPr>
                <a:xfrm>
                  <a:off x="1435836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graph_cost0_2_0" descr="Editable shape; source id graph_cost0_2_0"/>
                <p:cNvSpPr/>
                <p:nvPr/>
              </p:nvSpPr>
              <p:spPr>
                <a:xfrm>
                  <a:off x="1292504" y="656310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" name="graph_cost0_2_1" descr="Editable shape; source id graph_cost0_2_1"/>
                <p:cNvSpPr/>
                <p:nvPr/>
              </p:nvSpPr>
              <p:spPr>
                <a:xfrm>
                  <a:off x="1340281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" name="graph_cost0_2_2" descr="Editable shape; source id graph_cost0_2_2"/>
                <p:cNvSpPr/>
                <p:nvPr/>
              </p:nvSpPr>
              <p:spPr>
                <a:xfrm>
                  <a:off x="1388059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graph_cost0_2_3" descr="Editable shape; source id graph_cost0_2_3"/>
                <p:cNvSpPr/>
                <p:nvPr/>
              </p:nvSpPr>
              <p:spPr>
                <a:xfrm>
                  <a:off x="1435836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7" name="graph_cost_name0" descr="Editable formula parts and native mathematical delimiters."/>
              <p:cNvGrpSpPr/>
              <p:nvPr/>
            </p:nvGrpSpPr>
            <p:grpSpPr>
              <a:xfrm>
                <a:off x="1346032" y="474085"/>
                <a:ext cx="83132" cy="106224"/>
                <a:chOff x="1346032" y="474085"/>
                <a:chExt cx="83132" cy="106224"/>
              </a:xfrm>
            </p:grpSpPr>
            <p:sp>
              <p:nvSpPr>
                <p:cNvPr id="77" name="graph_cost_name0_0" descr="Editable text; source id graph_cost_name0_0"/>
                <p:cNvSpPr txBox="1"/>
                <p:nvPr/>
              </p:nvSpPr>
              <p:spPr>
                <a:xfrm>
                  <a:off x="1346032" y="474085"/>
                  <a:ext cx="57407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78" name="graph_cost_name0_1" descr="Editable text; source id graph_cost_name0_1"/>
                <p:cNvSpPr txBox="1"/>
                <p:nvPr/>
              </p:nvSpPr>
              <p:spPr>
                <a:xfrm>
                  <a:off x="1399187" y="516891"/>
                  <a:ext cx="29977" cy="6341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78" name="graph_cost1" descr="graph cost1"/>
              <p:cNvGrpSpPr/>
              <p:nvPr/>
            </p:nvGrpSpPr>
            <p:grpSpPr>
              <a:xfrm>
                <a:off x="1556537" y="580872"/>
                <a:ext cx="188091" cy="110139"/>
                <a:chOff x="1556537" y="580872"/>
                <a:chExt cx="188091" cy="110139"/>
              </a:xfrm>
            </p:grpSpPr>
            <p:sp>
              <p:nvSpPr>
                <p:cNvPr id="79" name="graph_cost1_0_0" descr="Editable shape; source id graph_cost1_0_0"/>
                <p:cNvSpPr/>
                <p:nvPr/>
              </p:nvSpPr>
              <p:spPr>
                <a:xfrm>
                  <a:off x="1556537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" name="graph_cost1_0_1" descr="Editable shape; source id graph_cost1_0_1"/>
                <p:cNvSpPr/>
                <p:nvPr/>
              </p:nvSpPr>
              <p:spPr>
                <a:xfrm>
                  <a:off x="1604314" y="580872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graph_cost1_0_2" descr="Editable shape; source id graph_cost1_0_2"/>
                <p:cNvSpPr/>
                <p:nvPr/>
              </p:nvSpPr>
              <p:spPr>
                <a:xfrm>
                  <a:off x="1652092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graph_cost1_0_3" descr="Editable shape; source id graph_cost1_0_3"/>
                <p:cNvSpPr/>
                <p:nvPr/>
              </p:nvSpPr>
              <p:spPr>
                <a:xfrm>
                  <a:off x="1699869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graph_cost1_1_0" descr="Editable shape; source id graph_cost1_1_0"/>
                <p:cNvSpPr/>
                <p:nvPr/>
              </p:nvSpPr>
              <p:spPr>
                <a:xfrm>
                  <a:off x="1556537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4" name="graph_cost1_1_1" descr="Editable shape; source id graph_cost1_1_1"/>
                <p:cNvSpPr/>
                <p:nvPr/>
              </p:nvSpPr>
              <p:spPr>
                <a:xfrm>
                  <a:off x="1604314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5" name="graph_cost1_1_2" descr="Editable shape; source id graph_cost1_1_2"/>
                <p:cNvSpPr/>
                <p:nvPr/>
              </p:nvSpPr>
              <p:spPr>
                <a:xfrm>
                  <a:off x="1652092" y="618591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6" name="graph_cost1_1_3" descr="Editable shape; source id graph_cost1_1_3"/>
                <p:cNvSpPr/>
                <p:nvPr/>
              </p:nvSpPr>
              <p:spPr>
                <a:xfrm>
                  <a:off x="1699869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" name="graph_cost1_2_0" descr="Editable shape; source id graph_cost1_2_0"/>
                <p:cNvSpPr/>
                <p:nvPr/>
              </p:nvSpPr>
              <p:spPr>
                <a:xfrm>
                  <a:off x="1556537" y="656310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" name="graph_cost1_2_1" descr="Editable shape; source id graph_cost1_2_1"/>
                <p:cNvSpPr/>
                <p:nvPr/>
              </p:nvSpPr>
              <p:spPr>
                <a:xfrm>
                  <a:off x="1604314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" name="graph_cost1_2_2" descr="Editable shape; source id graph_cost1_2_2"/>
                <p:cNvSpPr/>
                <p:nvPr/>
              </p:nvSpPr>
              <p:spPr>
                <a:xfrm>
                  <a:off x="1652092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" name="graph_cost1_2_3" descr="Editable shape; source id graph_cost1_2_3"/>
                <p:cNvSpPr/>
                <p:nvPr/>
              </p:nvSpPr>
              <p:spPr>
                <a:xfrm>
                  <a:off x="1699869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79" name="graph_cost_name1" descr="Editable formula parts and native mathematical delimiters."/>
              <p:cNvGrpSpPr/>
              <p:nvPr/>
            </p:nvGrpSpPr>
            <p:grpSpPr>
              <a:xfrm>
                <a:off x="1610065" y="474085"/>
                <a:ext cx="83132" cy="106224"/>
                <a:chOff x="1610065" y="474085"/>
                <a:chExt cx="83132" cy="106224"/>
              </a:xfrm>
            </p:grpSpPr>
            <p:sp>
              <p:nvSpPr>
                <p:cNvPr id="91" name="graph_cost_name1_0" descr="Editable text; source id graph_cost_name1_0"/>
                <p:cNvSpPr txBox="1"/>
                <p:nvPr/>
              </p:nvSpPr>
              <p:spPr>
                <a:xfrm>
                  <a:off x="1610065" y="474085"/>
                  <a:ext cx="57407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92" name="graph_cost_name1_1" descr="Editable text; source id graph_cost_name1_1"/>
                <p:cNvSpPr txBox="1"/>
                <p:nvPr/>
              </p:nvSpPr>
              <p:spPr>
                <a:xfrm>
                  <a:off x="1663220" y="516891"/>
                  <a:ext cx="29977" cy="6341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80" name="graph_cost2" descr="graph cost2"/>
              <p:cNvGrpSpPr/>
              <p:nvPr/>
            </p:nvGrpSpPr>
            <p:grpSpPr>
              <a:xfrm>
                <a:off x="1820570" y="580872"/>
                <a:ext cx="188091" cy="110139"/>
                <a:chOff x="1820570" y="580872"/>
                <a:chExt cx="188091" cy="110139"/>
              </a:xfrm>
            </p:grpSpPr>
            <p:sp>
              <p:nvSpPr>
                <p:cNvPr id="93" name="graph_cost2_0_0" descr="Editable shape; source id graph_cost2_0_0"/>
                <p:cNvSpPr/>
                <p:nvPr/>
              </p:nvSpPr>
              <p:spPr>
                <a:xfrm>
                  <a:off x="1820570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" name="graph_cost2_0_1" descr="Editable shape; source id graph_cost2_0_1"/>
                <p:cNvSpPr/>
                <p:nvPr/>
              </p:nvSpPr>
              <p:spPr>
                <a:xfrm>
                  <a:off x="1868347" y="580872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" name="graph_cost2_0_2" descr="Editable shape; source id graph_cost2_0_2"/>
                <p:cNvSpPr/>
                <p:nvPr/>
              </p:nvSpPr>
              <p:spPr>
                <a:xfrm>
                  <a:off x="1916125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" name="graph_cost2_0_3" descr="Editable shape; source id graph_cost2_0_3"/>
                <p:cNvSpPr/>
                <p:nvPr/>
              </p:nvSpPr>
              <p:spPr>
                <a:xfrm>
                  <a:off x="1963902" y="580872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" name="graph_cost2_1_0" descr="Editable shape; source id graph_cost2_1_0"/>
                <p:cNvSpPr/>
                <p:nvPr/>
              </p:nvSpPr>
              <p:spPr>
                <a:xfrm>
                  <a:off x="1820570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" name="graph_cost2_1_1" descr="Editable shape; source id graph_cost2_1_1"/>
                <p:cNvSpPr/>
                <p:nvPr/>
              </p:nvSpPr>
              <p:spPr>
                <a:xfrm>
                  <a:off x="1868347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" name="graph_cost2_1_2" descr="Editable shape; source id graph_cost2_1_2"/>
                <p:cNvSpPr/>
                <p:nvPr/>
              </p:nvSpPr>
              <p:spPr>
                <a:xfrm>
                  <a:off x="1916125" y="618591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" name="graph_cost2_1_3" descr="Editable shape; source id graph_cost2_1_3"/>
                <p:cNvSpPr/>
                <p:nvPr/>
              </p:nvSpPr>
              <p:spPr>
                <a:xfrm>
                  <a:off x="1963902" y="618591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" name="graph_cost2_2_0" descr="Editable shape; source id graph_cost2_2_0"/>
                <p:cNvSpPr/>
                <p:nvPr/>
              </p:nvSpPr>
              <p:spPr>
                <a:xfrm>
                  <a:off x="1820570" y="656310"/>
                  <a:ext cx="44759" cy="34701"/>
                </a:xfrm>
                <a:prstGeom prst="rect">
                  <a:avLst/>
                </a:pr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" name="graph_cost2_2_1" descr="Editable shape; source id graph_cost2_2_1"/>
                <p:cNvSpPr/>
                <p:nvPr/>
              </p:nvSpPr>
              <p:spPr>
                <a:xfrm>
                  <a:off x="1868347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" name="graph_cost2_2_2" descr="Editable shape; source id graph_cost2_2_2"/>
                <p:cNvSpPr/>
                <p:nvPr/>
              </p:nvSpPr>
              <p:spPr>
                <a:xfrm>
                  <a:off x="1916125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" name="graph_cost2_2_3" descr="Editable shape; source id graph_cost2_2_3"/>
                <p:cNvSpPr/>
                <p:nvPr/>
              </p:nvSpPr>
              <p:spPr>
                <a:xfrm>
                  <a:off x="1963902" y="656310"/>
                  <a:ext cx="44759" cy="34701"/>
                </a:xfrm>
                <a:prstGeom prst="rect">
                  <a:avLst/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81" name="graph_cost_name2" descr="Editable formula parts and native mathematical delimiters."/>
              <p:cNvGrpSpPr/>
              <p:nvPr/>
            </p:nvGrpSpPr>
            <p:grpSpPr>
              <a:xfrm>
                <a:off x="1868389" y="474085"/>
                <a:ext cx="94549" cy="106224"/>
                <a:chOff x="1868389" y="474085"/>
                <a:chExt cx="94549" cy="106224"/>
              </a:xfrm>
            </p:grpSpPr>
            <p:sp>
              <p:nvSpPr>
                <p:cNvPr id="105" name="graph_cost_name2_0" descr="Editable text; source id graph_cost_name2_0"/>
                <p:cNvSpPr txBox="1"/>
                <p:nvPr/>
              </p:nvSpPr>
              <p:spPr>
                <a:xfrm>
                  <a:off x="1868389" y="474085"/>
                  <a:ext cx="57407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06" name="graph_cost_name2_1" descr="Editable text; source id graph_cost_name2_1"/>
                <p:cNvSpPr txBox="1"/>
                <p:nvPr/>
              </p:nvSpPr>
              <p:spPr>
                <a:xfrm>
                  <a:off x="1921544" y="516891"/>
                  <a:ext cx="41394" cy="63418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grpSp>
            <p:nvGrpSpPr>
              <p:cNvPr id="282" name="rate_budget" descr="Editable formula parts and native mathematical delimiters."/>
              <p:cNvGrpSpPr/>
              <p:nvPr/>
            </p:nvGrpSpPr>
            <p:grpSpPr>
              <a:xfrm>
                <a:off x="2273697" y="498270"/>
                <a:ext cx="339764" cy="118398"/>
                <a:chOff x="2273697" y="498270"/>
                <a:chExt cx="339764" cy="118398"/>
              </a:xfrm>
            </p:grpSpPr>
            <p:sp>
              <p:nvSpPr>
                <p:cNvPr id="107" name="rate_budget_0" descr="Editable text; source id rate_budget_0"/>
                <p:cNvSpPr txBox="1"/>
                <p:nvPr/>
              </p:nvSpPr>
              <p:spPr>
                <a:xfrm>
                  <a:off x="2273697" y="498270"/>
                  <a:ext cx="482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08" name="rate_budget_1" descr="Editable text; source id rate_budget_1"/>
                <p:cNvSpPr txBox="1"/>
                <p:nvPr/>
              </p:nvSpPr>
              <p:spPr>
                <a:xfrm>
                  <a:off x="2317705" y="545616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09" name="rate_budget_2" descr="Editable text; source id rate_budget_2"/>
                <p:cNvSpPr txBox="1"/>
                <p:nvPr/>
              </p:nvSpPr>
              <p:spPr>
                <a:xfrm>
                  <a:off x="2349403" y="498270"/>
                  <a:ext cx="9789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 = </a:t>
                  </a:r>
                </a:p>
              </p:txBody>
            </p:sp>
            <p:sp>
              <p:nvSpPr>
                <p:cNvPr id="110" name="rate_budget_3" descr="Editable text; source id rate_budget_3"/>
                <p:cNvSpPr txBox="1"/>
                <p:nvPr/>
              </p:nvSpPr>
              <p:spPr>
                <a:xfrm>
                  <a:off x="2445686" y="498270"/>
                  <a:ext cx="5811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11" name="rate_budget_4" descr="Editable text; source id rate_budget_4"/>
                <p:cNvSpPr txBox="1"/>
                <p:nvPr/>
              </p:nvSpPr>
              <p:spPr>
                <a:xfrm>
                  <a:off x="2499550" y="545616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12" name="rate_budget_5" descr="Editable text; source id rate_budget_5"/>
                <p:cNvSpPr txBox="1"/>
                <p:nvPr/>
              </p:nvSpPr>
              <p:spPr>
                <a:xfrm>
                  <a:off x="2526996" y="498270"/>
                  <a:ext cx="86465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/L</a:t>
                  </a:r>
                </a:p>
              </p:txBody>
            </p:sp>
          </p:grpSp>
          <p:grpSp>
            <p:nvGrpSpPr>
              <p:cNvPr id="283" name="zero_support" descr="Editable formula parts and native mathematical delimiters."/>
              <p:cNvGrpSpPr/>
              <p:nvPr/>
            </p:nvGrpSpPr>
            <p:grpSpPr>
              <a:xfrm>
                <a:off x="2325221" y="616068"/>
                <a:ext cx="236082" cy="115886"/>
                <a:chOff x="2325221" y="616068"/>
                <a:chExt cx="236082" cy="115886"/>
              </a:xfrm>
            </p:grpSpPr>
            <p:sp>
              <p:nvSpPr>
                <p:cNvPr id="113" name="zero_support_0" descr="Editable text; source id zero_support_0"/>
                <p:cNvSpPr txBox="1"/>
                <p:nvPr/>
              </p:nvSpPr>
              <p:spPr>
                <a:xfrm>
                  <a:off x="2325221" y="616068"/>
                  <a:ext cx="58825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14" name="zero_support_1" descr="Editable text; source id zero_support_1"/>
                <p:cNvSpPr txBox="1"/>
                <p:nvPr/>
              </p:nvSpPr>
              <p:spPr>
                <a:xfrm>
                  <a:off x="2379794" y="662810"/>
                  <a:ext cx="44993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H</a:t>
                  </a:r>
                </a:p>
              </p:txBody>
            </p:sp>
            <p:sp>
              <p:nvSpPr>
                <p:cNvPr id="115" name="zero_support_2" descr="Editable text; source id zero_support_2"/>
                <p:cNvSpPr txBox="1"/>
                <p:nvPr/>
              </p:nvSpPr>
              <p:spPr>
                <a:xfrm>
                  <a:off x="2423100" y="616068"/>
                  <a:ext cx="138203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= 0</a:t>
                  </a:r>
                </a:p>
              </p:txBody>
            </p:sp>
          </p:grpSp>
          <p:cxnSp>
            <p:nvCxnSpPr>
              <p:cNvPr id="116" name="graph_definition_rule" descr="Editable line; source id graph_definition_rule"/>
              <p:cNvCxnSpPr/>
              <p:nvPr/>
            </p:nvCxnSpPr>
            <p:spPr>
              <a:xfrm>
                <a:off x="1277416" y="754380"/>
                <a:ext cx="1579169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6" name="flow_objective" descr="Editable formula parts and native mathematical delimiters."/>
              <p:cNvGrpSpPr/>
              <p:nvPr/>
            </p:nvGrpSpPr>
            <p:grpSpPr>
              <a:xfrm>
                <a:off x="1550714" y="817624"/>
                <a:ext cx="1031350" cy="118398"/>
                <a:chOff x="1550714" y="817624"/>
                <a:chExt cx="1031350" cy="118398"/>
              </a:xfrm>
            </p:grpSpPr>
            <p:sp>
              <p:nvSpPr>
                <p:cNvPr id="117" name="flow_objective_0" descr="Editable text; source id flow_objective_0"/>
                <p:cNvSpPr txBox="1"/>
                <p:nvPr/>
              </p:nvSpPr>
              <p:spPr>
                <a:xfrm>
                  <a:off x="1550714" y="817624"/>
                  <a:ext cx="14116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min</a:t>
                  </a:r>
                </a:p>
              </p:txBody>
            </p:sp>
            <p:sp>
              <p:nvSpPr>
                <p:cNvPr id="118" name="flow_objective_1" descr="Editable text; source id flow_objective_1"/>
                <p:cNvSpPr txBox="1"/>
                <p:nvPr/>
              </p:nvSpPr>
              <p:spPr>
                <a:xfrm>
                  <a:off x="1687622" y="864970"/>
                  <a:ext cx="97805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F≥0</a:t>
                  </a:r>
                </a:p>
              </p:txBody>
            </p:sp>
            <p:sp>
              <p:nvSpPr>
                <p:cNvPr id="119" name="flow_objective_2" descr="Editable text; source id flow_objective_2"/>
                <p:cNvSpPr txBox="1"/>
                <p:nvPr/>
              </p:nvSpPr>
              <p:spPr>
                <a:xfrm>
                  <a:off x="1783816" y="817624"/>
                  <a:ext cx="9789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120" name="flow_objective_3" descr="Editable text; source id flow_objective_3"/>
                <p:cNvSpPr txBox="1"/>
                <p:nvPr/>
              </p:nvSpPr>
              <p:spPr>
                <a:xfrm>
                  <a:off x="1901540" y="817624"/>
                  <a:ext cx="144582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6378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A,F</a:t>
                  </a:r>
                </a:p>
              </p:txBody>
            </p:sp>
            <p:sp>
              <p:nvSpPr>
                <p:cNvPr id="121" name="flow_objective_4" descr="Editable text; source id flow_objective_4"/>
                <p:cNvSpPr txBox="1"/>
                <p:nvPr/>
              </p:nvSpPr>
              <p:spPr>
                <a:xfrm>
                  <a:off x="2070914" y="817624"/>
                  <a:ext cx="377048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+ ε KL(F </a:t>
                  </a:r>
                </a:p>
              </p:txBody>
            </p:sp>
            <p:sp>
              <p:nvSpPr>
                <p:cNvPr id="122" name="flow_objective_5" descr="Editable text; source id flow_objective_5"/>
                <p:cNvSpPr txBox="1"/>
                <p:nvPr/>
              </p:nvSpPr>
              <p:spPr>
                <a:xfrm>
                  <a:off x="2472753" y="817624"/>
                  <a:ext cx="109311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F̂)</a:t>
                  </a:r>
                </a:p>
              </p:txBody>
            </p:sp>
            <p:grpSp>
              <p:nvGrpSpPr>
                <p:cNvPr id="284" name="flow_objective_angle_0" descr="One editable routed connector; fixed endpoints."/>
                <p:cNvGrpSpPr/>
                <p:nvPr/>
              </p:nvGrpSpPr>
              <p:grpSpPr>
                <a:xfrm>
                  <a:off x="1886796" y="834344"/>
                  <a:ext cx="14082" cy="70409"/>
                  <a:chOff x="1886796" y="834344"/>
                  <a:chExt cx="14082" cy="70409"/>
                </a:xfrm>
              </p:grpSpPr>
              <p:cxnSp>
                <p:nvCxnSpPr>
                  <p:cNvPr id="123" name="flow_objective_angle_0_0" descr="Editable line; source id flow_objective_angle_0_0"/>
                  <p:cNvCxnSpPr/>
                  <p:nvPr/>
                </p:nvCxnSpPr>
                <p:spPr>
                  <a:xfrm flipH="1">
                    <a:off x="1886796" y="834344"/>
                    <a:ext cx="14082" cy="35204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flow_objective_angle_0_1" descr="Editable line; source id flow_objective_angle_0_1"/>
                  <p:cNvCxnSpPr/>
                  <p:nvPr/>
                </p:nvCxnSpPr>
                <p:spPr>
                  <a:xfrm>
                    <a:off x="1886796" y="869548"/>
                    <a:ext cx="14082" cy="35205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5" name="flow_objective_angle_1" descr="One editable routed connector; fixed endpoints."/>
                <p:cNvGrpSpPr/>
                <p:nvPr/>
              </p:nvGrpSpPr>
              <p:grpSpPr>
                <a:xfrm>
                  <a:off x="2051208" y="834344"/>
                  <a:ext cx="14082" cy="70409"/>
                  <a:chOff x="2051208" y="834344"/>
                  <a:chExt cx="14082" cy="70409"/>
                </a:xfrm>
              </p:grpSpPr>
              <p:cxnSp>
                <p:nvCxnSpPr>
                  <p:cNvPr id="125" name="flow_objective_angle_1_0" descr="Editable line; source id flow_objective_angle_1_0"/>
                  <p:cNvCxnSpPr/>
                  <p:nvPr/>
                </p:nvCxnSpPr>
                <p:spPr>
                  <a:xfrm>
                    <a:off x="2051208" y="834344"/>
                    <a:ext cx="14082" cy="35204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flow_objective_angle_1_1" descr="Editable line; source id flow_objective_angle_1_1"/>
                  <p:cNvCxnSpPr/>
                  <p:nvPr/>
                </p:nvCxnSpPr>
                <p:spPr>
                  <a:xfrm flipH="1">
                    <a:off x="2051208" y="869548"/>
                    <a:ext cx="14082" cy="35205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7" name="flow_objective_parallel_2_0" descr="Editable line; source id flow_objective_parallel_2_0"/>
                <p:cNvCxnSpPr/>
                <p:nvPr/>
              </p:nvCxnSpPr>
              <p:spPr>
                <a:xfrm>
                  <a:off x="2454808" y="834344"/>
                  <a:ext cx="0" cy="70409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flow_objective_parallel_2_1" descr="Editable line; source id flow_objective_parallel_2_1"/>
                <p:cNvCxnSpPr/>
                <p:nvPr/>
              </p:nvCxnSpPr>
              <p:spPr>
                <a:xfrm>
                  <a:off x="2467130" y="834344"/>
                  <a:ext cx="0" cy="70409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flow_balance" descr="Editable formula parts and native mathematical delimiters."/>
              <p:cNvGrpSpPr/>
              <p:nvPr/>
            </p:nvGrpSpPr>
            <p:grpSpPr>
              <a:xfrm>
                <a:off x="1706872" y="945863"/>
                <a:ext cx="718476" cy="126982"/>
                <a:chOff x="1706872" y="945863"/>
                <a:chExt cx="718476" cy="126982"/>
              </a:xfrm>
            </p:grpSpPr>
            <p:sp>
              <p:nvSpPr>
                <p:cNvPr id="129" name="flow_balance_0" descr="Editable text; source id flow_balance_0"/>
                <p:cNvSpPr txBox="1"/>
                <p:nvPr/>
              </p:nvSpPr>
              <p:spPr>
                <a:xfrm>
                  <a:off x="1706872" y="960180"/>
                  <a:ext cx="230339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F1 − γ</a:t>
                  </a:r>
                </a:p>
              </p:txBody>
            </p:sp>
            <p:sp>
              <p:nvSpPr>
                <p:cNvPr id="130" name="flow_balance_1" descr="Editable text; source id flow_balance_1"/>
                <p:cNvSpPr txBox="1"/>
                <p:nvPr/>
              </p:nvSpPr>
              <p:spPr>
                <a:xfrm>
                  <a:off x="1934740" y="960180"/>
                  <a:ext cx="57407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F</a:t>
                  </a:r>
                </a:p>
              </p:txBody>
            </p:sp>
            <p:sp>
              <p:nvSpPr>
                <p:cNvPr id="131" name="flow_balance_2" descr="Editable text; source id flow_balance_2"/>
                <p:cNvSpPr txBox="1"/>
                <p:nvPr/>
              </p:nvSpPr>
              <p:spPr>
                <a:xfrm>
                  <a:off x="1987896" y="945863"/>
                  <a:ext cx="37707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T</a:t>
                  </a:r>
                </a:p>
              </p:txBody>
            </p:sp>
            <p:sp>
              <p:nvSpPr>
                <p:cNvPr id="132" name="flow_balance_3" descr="Editable text; source id flow_balance_3"/>
                <p:cNvSpPr txBox="1"/>
                <p:nvPr/>
              </p:nvSpPr>
              <p:spPr>
                <a:xfrm>
                  <a:off x="2023840" y="960180"/>
                  <a:ext cx="328854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1 = (1−γ)</a:t>
                  </a:r>
                </a:p>
              </p:txBody>
            </p:sp>
            <p:sp>
              <p:nvSpPr>
                <p:cNvPr id="133" name="flow_balance_4" descr="Editable text; source id flow_balance_4"/>
                <p:cNvSpPr txBox="1"/>
                <p:nvPr/>
              </p:nvSpPr>
              <p:spPr>
                <a:xfrm>
                  <a:off x="2350222" y="960180"/>
                  <a:ext cx="47485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μ</a:t>
                  </a:r>
                </a:p>
              </p:txBody>
            </p:sp>
            <p:sp>
              <p:nvSpPr>
                <p:cNvPr id="134" name="flow_balance_5" descr="Editable text; source id flow_balance_5"/>
                <p:cNvSpPr txBox="1"/>
                <p:nvPr/>
              </p:nvSpPr>
              <p:spPr>
                <a:xfrm>
                  <a:off x="2393455" y="1005610"/>
                  <a:ext cx="31893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0</a:t>
                  </a:r>
                </a:p>
              </p:txBody>
            </p:sp>
          </p:grpSp>
          <p:grpSp>
            <p:nvGrpSpPr>
              <p:cNvPr id="290" name="soft_budgets" descr="Editable formula parts and native mathematical delimiters."/>
              <p:cNvGrpSpPr/>
              <p:nvPr/>
            </p:nvGrpSpPr>
            <p:grpSpPr>
              <a:xfrm>
                <a:off x="1607673" y="1080881"/>
                <a:ext cx="923979" cy="112665"/>
                <a:chOff x="1607673" y="1080881"/>
                <a:chExt cx="923979" cy="112665"/>
              </a:xfrm>
            </p:grpSpPr>
            <p:sp>
              <p:nvSpPr>
                <p:cNvPr id="135" name="soft_budgets_0" descr="Editable text; source id soft_budgets_0"/>
                <p:cNvSpPr txBox="1"/>
                <p:nvPr/>
              </p:nvSpPr>
              <p:spPr>
                <a:xfrm>
                  <a:off x="1626172" y="1080881"/>
                  <a:ext cx="60951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36" name="soft_budgets_1" descr="Editable text; source id soft_budgets_1"/>
                <p:cNvSpPr txBox="1"/>
                <p:nvPr/>
              </p:nvSpPr>
              <p:spPr>
                <a:xfrm>
                  <a:off x="1682871" y="1126311"/>
                  <a:ext cx="31893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7" name="soft_budgets_2" descr="Editable text; source id soft_budgets_2"/>
                <p:cNvSpPr txBox="1"/>
                <p:nvPr/>
              </p:nvSpPr>
              <p:spPr>
                <a:xfrm>
                  <a:off x="1713001" y="1080881"/>
                  <a:ext cx="76543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,F</a:t>
                  </a:r>
                </a:p>
              </p:txBody>
            </p:sp>
            <p:sp>
              <p:nvSpPr>
                <p:cNvPr id="138" name="soft_budgets_3" descr="Editable text; source id soft_budgets_3"/>
                <p:cNvSpPr txBox="1"/>
                <p:nvPr/>
              </p:nvSpPr>
              <p:spPr>
                <a:xfrm>
                  <a:off x="1812676" y="1080881"/>
                  <a:ext cx="91427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≤ </a:t>
                  </a:r>
                </a:p>
              </p:txBody>
            </p:sp>
            <p:sp>
              <p:nvSpPr>
                <p:cNvPr id="139" name="soft_budgets_4" descr="Editable text; source id soft_budgets_4"/>
                <p:cNvSpPr txBox="1"/>
                <p:nvPr/>
              </p:nvSpPr>
              <p:spPr>
                <a:xfrm>
                  <a:off x="1902340" y="1080881"/>
                  <a:ext cx="46067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40" name="soft_budgets_5" descr="Editable text; source id soft_budgets_5"/>
                <p:cNvSpPr txBox="1"/>
                <p:nvPr/>
              </p:nvSpPr>
              <p:spPr>
                <a:xfrm>
                  <a:off x="1944156" y="1126311"/>
                  <a:ext cx="31893" cy="6723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49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31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41" name="soft_budgets_6" descr="Editable text; source id soft_budgets_6"/>
                <p:cNvSpPr txBox="1"/>
                <p:nvPr/>
              </p:nvSpPr>
              <p:spPr>
                <a:xfrm>
                  <a:off x="1974286" y="1080881"/>
                  <a:ext cx="557366" cy="996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5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  (soft channels)</a:t>
                  </a:r>
                </a:p>
              </p:txBody>
            </p:sp>
            <p:grpSp>
              <p:nvGrpSpPr>
                <p:cNvPr id="288" name="soft_budgets_angle_0" descr="One editable routed connector; fixed endpoints."/>
                <p:cNvGrpSpPr/>
                <p:nvPr/>
              </p:nvGrpSpPr>
              <p:grpSpPr>
                <a:xfrm>
                  <a:off x="1607673" y="1096969"/>
                  <a:ext cx="13278" cy="66385"/>
                  <a:chOff x="1607673" y="1096969"/>
                  <a:chExt cx="13278" cy="66385"/>
                </a:xfrm>
              </p:grpSpPr>
              <p:cxnSp>
                <p:nvCxnSpPr>
                  <p:cNvPr id="142" name="soft_budgets_angle_0_0" descr="Editable line; source id soft_budgets_angle_0_0"/>
                  <p:cNvCxnSpPr/>
                  <p:nvPr/>
                </p:nvCxnSpPr>
                <p:spPr>
                  <a:xfrm flipH="1">
                    <a:off x="1607673" y="1096969"/>
                    <a:ext cx="13278" cy="33192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soft_budgets_angle_0_1" descr="Editable line; source id soft_budgets_angle_0_1"/>
                  <p:cNvCxnSpPr/>
                  <p:nvPr/>
                </p:nvCxnSpPr>
                <p:spPr>
                  <a:xfrm>
                    <a:off x="1607673" y="1130161"/>
                    <a:ext cx="13278" cy="33193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9" name="soft_budgets_angle_1" descr="One editable routed connector; fixed endpoints."/>
                <p:cNvGrpSpPr/>
                <p:nvPr/>
              </p:nvGrpSpPr>
              <p:grpSpPr>
                <a:xfrm>
                  <a:off x="1794178" y="1096969"/>
                  <a:ext cx="13277" cy="66385"/>
                  <a:chOff x="1794178" y="1096969"/>
                  <a:chExt cx="13277" cy="66385"/>
                </a:xfrm>
              </p:grpSpPr>
              <p:cxnSp>
                <p:nvCxnSpPr>
                  <p:cNvPr id="144" name="soft_budgets_angle_1_0" descr="Editable line; source id soft_budgets_angle_1_0"/>
                  <p:cNvCxnSpPr/>
                  <p:nvPr/>
                </p:nvCxnSpPr>
                <p:spPr>
                  <a:xfrm>
                    <a:off x="1794178" y="1096969"/>
                    <a:ext cx="13277" cy="33192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oft_budgets_angle_1_1" descr="Editable line; source id soft_budgets_angle_1_1"/>
                  <p:cNvCxnSpPr/>
                  <p:nvPr/>
                </p:nvCxnSpPr>
                <p:spPr>
                  <a:xfrm flipH="1">
                    <a:off x="1794178" y="1130161"/>
                    <a:ext cx="13277" cy="33193"/>
                  </a:xfrm>
                  <a:prstGeom prst="line">
                    <a:avLst/>
                  </a:prstGeom>
                  <a:ln w="3520" cap="rnd">
                    <a:solidFill>
                      <a:srgbClr val="29343E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91" name="newton" descr="newton"/>
              <p:cNvGrpSpPr/>
              <p:nvPr/>
            </p:nvGrpSpPr>
            <p:grpSpPr>
              <a:xfrm>
                <a:off x="1370457" y="1269873"/>
                <a:ext cx="538124" cy="153390"/>
                <a:chOff x="1370457" y="1269873"/>
                <a:chExt cx="538124" cy="153390"/>
              </a:xfrm>
            </p:grpSpPr>
            <p:sp>
              <p:nvSpPr>
                <p:cNvPr id="146" name="newton_panel" descr="Editable shape; source id newton_panel"/>
                <p:cNvSpPr/>
                <p:nvPr/>
              </p:nvSpPr>
              <p:spPr>
                <a:xfrm>
                  <a:off x="1370457" y="1269873"/>
                  <a:ext cx="538124" cy="153390"/>
                </a:xfrm>
                <a:prstGeom prst="roundRect">
                  <a:avLst>
                    <a:gd name="adj" fmla="val 13114"/>
                  </a:avLst>
                </a:prstGeom>
                <a:solidFill>
                  <a:srgbClr val="FFFFFF"/>
                </a:solidFill>
                <a:ln w="3017">
                  <a:solidFill>
                    <a:srgbClr val="CDD7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7" name="newton_label_0" descr="Editable text; source id newton_label_0"/>
                <p:cNvSpPr txBox="1"/>
                <p:nvPr/>
              </p:nvSpPr>
              <p:spPr>
                <a:xfrm>
                  <a:off x="1441283" y="1301777"/>
                  <a:ext cx="394766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126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Newton in u</a:t>
                  </a:r>
                </a:p>
              </p:txBody>
            </p:sp>
          </p:grpSp>
          <p:grpSp>
            <p:nvGrpSpPr>
              <p:cNvPr id="292" name="bisection" descr="bisection"/>
              <p:cNvGrpSpPr/>
              <p:nvPr/>
            </p:nvGrpSpPr>
            <p:grpSpPr>
              <a:xfrm>
                <a:off x="2212848" y="1269873"/>
                <a:ext cx="621106" cy="153390"/>
                <a:chOff x="2212848" y="1269873"/>
                <a:chExt cx="621106" cy="153390"/>
              </a:xfrm>
            </p:grpSpPr>
            <p:sp>
              <p:nvSpPr>
                <p:cNvPr id="148" name="bisection_panel" descr="Editable shape; source id bisection_panel"/>
                <p:cNvSpPr/>
                <p:nvPr/>
              </p:nvSpPr>
              <p:spPr>
                <a:xfrm>
                  <a:off x="2212848" y="1269873"/>
                  <a:ext cx="621106" cy="153390"/>
                </a:xfrm>
                <a:prstGeom prst="roundRect">
                  <a:avLst>
                    <a:gd name="adj" fmla="val 13114"/>
                  </a:avLst>
                </a:prstGeom>
                <a:solidFill>
                  <a:srgbClr val="FFFFFF"/>
                </a:solidFill>
                <a:ln w="3017">
                  <a:solidFill>
                    <a:srgbClr val="CDD7DC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9" name="bisection_label_0" descr="Editable text; source id bisection_label_0"/>
                <p:cNvSpPr txBox="1"/>
                <p:nvPr/>
              </p:nvSpPr>
              <p:spPr>
                <a:xfrm>
                  <a:off x="2300873" y="1301777"/>
                  <a:ext cx="441543" cy="9678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Bisection in λ</a:t>
                  </a:r>
                </a:p>
              </p:txBody>
            </p:sp>
          </p:grpSp>
          <p:sp>
            <p:nvSpPr>
              <p:cNvPr id="150" name="newton_to_bisection" descr="Editable line; source id newton_to_bisection"/>
              <p:cNvSpPr/>
              <p:nvPr/>
            </p:nvSpPr>
            <p:spPr>
              <a:xfrm>
                <a:off x="1931213" y="1306336"/>
                <a:ext cx="261518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92248" h="7983">
                    <a:moveTo>
                      <a:pt x="0" y="3148"/>
                    </a:moveTo>
                    <a:lnTo>
                      <a:pt x="81604" y="3148"/>
                    </a:lnTo>
                    <a:lnTo>
                      <a:pt x="81604" y="0"/>
                    </a:lnTo>
                    <a:lnTo>
                      <a:pt x="92248" y="3991"/>
                    </a:lnTo>
                    <a:lnTo>
                      <a:pt x="81604" y="7983"/>
                    </a:lnTo>
                    <a:lnTo>
                      <a:pt x="81604" y="4834"/>
                    </a:lnTo>
                    <a:lnTo>
                      <a:pt x="0" y="4834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bisection_to_newton" descr="Editable line; source id bisection_to_newton"/>
              <p:cNvSpPr/>
              <p:nvPr/>
            </p:nvSpPr>
            <p:spPr>
              <a:xfrm>
                <a:off x="1931213" y="1371716"/>
                <a:ext cx="261518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92248" h="7983">
                    <a:moveTo>
                      <a:pt x="92248" y="4834"/>
                    </a:moveTo>
                    <a:lnTo>
                      <a:pt x="10644" y="4834"/>
                    </a:lnTo>
                    <a:lnTo>
                      <a:pt x="10644" y="7983"/>
                    </a:lnTo>
                    <a:lnTo>
                      <a:pt x="0" y="3991"/>
                    </a:lnTo>
                    <a:lnTo>
                      <a:pt x="10644" y="0"/>
                    </a:lnTo>
                    <a:lnTo>
                      <a:pt x="10644" y="3148"/>
                    </a:lnTo>
                    <a:lnTo>
                      <a:pt x="92248" y="3148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99" name="conditioning" descr="conditioning"/>
            <p:cNvGrpSpPr/>
            <p:nvPr/>
          </p:nvGrpSpPr>
          <p:grpSpPr>
            <a:xfrm>
              <a:off x="3042665" y="299237"/>
              <a:ext cx="812215" cy="1189405"/>
              <a:chOff x="3042665" y="299237"/>
              <a:chExt cx="812215" cy="1189405"/>
            </a:xfrm>
          </p:grpSpPr>
          <p:sp>
            <p:nvSpPr>
              <p:cNvPr id="152" name="conditioning_panel" descr="Editable shape; source id conditioning_panel"/>
              <p:cNvSpPr/>
              <p:nvPr/>
            </p:nvSpPr>
            <p:spPr>
              <a:xfrm>
                <a:off x="3042665" y="299237"/>
                <a:ext cx="812215" cy="1189405"/>
              </a:xfrm>
              <a:prstGeom prst="roundRect">
                <a:avLst>
                  <a:gd name="adj" fmla="val 2476"/>
                </a:avLst>
              </a:prstGeom>
              <a:solidFill>
                <a:srgbClr val="F6F8F9"/>
              </a:solidFill>
              <a:ln w="3017">
                <a:solidFill>
                  <a:srgbClr val="CDD7D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condition_title" descr="Editable text; source id condition_title"/>
              <p:cNvSpPr txBox="1"/>
              <p:nvPr/>
            </p:nvSpPr>
            <p:spPr>
              <a:xfrm>
                <a:off x="3092317" y="328695"/>
                <a:ext cx="437999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Clip + filter</a:t>
                </a:r>
              </a:p>
            </p:txBody>
          </p:sp>
          <p:cxnSp>
            <p:nvCxnSpPr>
              <p:cNvPr id="154" name="condition_rule" descr="Editable line; source id condition_rule"/>
              <p:cNvCxnSpPr/>
              <p:nvPr/>
            </p:nvCxnSpPr>
            <p:spPr>
              <a:xfrm>
                <a:off x="3092958" y="462686"/>
                <a:ext cx="711631" cy="0"/>
              </a:xfrm>
              <a:prstGeom prst="line">
                <a:avLst/>
              </a:prstGeom>
              <a:ln w="3268" cap="rnd">
                <a:solidFill>
                  <a:srgbClr val="CDD7D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filter_first" descr="Editable formula parts and native mathematical delimiters."/>
              <p:cNvGrpSpPr/>
              <p:nvPr/>
            </p:nvGrpSpPr>
            <p:grpSpPr>
              <a:xfrm>
                <a:off x="3186292" y="535873"/>
                <a:ext cx="519174" cy="117388"/>
                <a:chOff x="3186292" y="535873"/>
                <a:chExt cx="519174" cy="117388"/>
              </a:xfrm>
            </p:grpSpPr>
            <p:sp>
              <p:nvSpPr>
                <p:cNvPr id="155" name="filter_first_0" descr="Editable text; source id filter_first_0"/>
                <p:cNvSpPr txBox="1"/>
                <p:nvPr/>
              </p:nvSpPr>
              <p:spPr>
                <a:xfrm>
                  <a:off x="3186292" y="550688"/>
                  <a:ext cx="66621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56" name="filter_first_1" descr="Editable text; source id filter_first_1"/>
                <p:cNvSpPr txBox="1"/>
                <p:nvPr/>
              </p:nvSpPr>
              <p:spPr>
                <a:xfrm>
                  <a:off x="3248661" y="535873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  <p:sp>
              <p:nvSpPr>
                <p:cNvPr id="157" name="filter_first_2" descr="Editable text; source id filter_first_2"/>
                <p:cNvSpPr txBox="1"/>
                <p:nvPr/>
              </p:nvSpPr>
              <p:spPr>
                <a:xfrm>
                  <a:off x="3279575" y="550688"/>
                  <a:ext cx="334734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← (1−α)</a:t>
                  </a:r>
                </a:p>
              </p:txBody>
            </p:sp>
            <p:sp>
              <p:nvSpPr>
                <p:cNvPr id="158" name="filter_first_3" descr="Editable text; source id filter_first_3"/>
                <p:cNvSpPr txBox="1"/>
                <p:nvPr/>
              </p:nvSpPr>
              <p:spPr>
                <a:xfrm>
                  <a:off x="3610496" y="550688"/>
                  <a:ext cx="66621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λ̄</a:t>
                  </a:r>
                </a:p>
              </p:txBody>
            </p:sp>
            <p:sp>
              <p:nvSpPr>
                <p:cNvPr id="159" name="filter_first_4" descr="Editable text; source id filter_first_4"/>
                <p:cNvSpPr txBox="1"/>
                <p:nvPr/>
              </p:nvSpPr>
              <p:spPr>
                <a:xfrm>
                  <a:off x="3672865" y="535873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</p:grpSp>
          <p:grpSp>
            <p:nvGrpSpPr>
              <p:cNvPr id="295" name="filter_second" descr="Editable formula parts and native mathematical delimiters."/>
              <p:cNvGrpSpPr/>
              <p:nvPr/>
            </p:nvGrpSpPr>
            <p:grpSpPr>
              <a:xfrm>
                <a:off x="3211114" y="664118"/>
                <a:ext cx="471656" cy="117388"/>
                <a:chOff x="3211114" y="664118"/>
                <a:chExt cx="471656" cy="117388"/>
              </a:xfrm>
            </p:grpSpPr>
            <p:sp>
              <p:nvSpPr>
                <p:cNvPr id="160" name="filter_second_0" descr="Editable text; source id filter_second_0"/>
                <p:cNvSpPr txBox="1"/>
                <p:nvPr/>
              </p:nvSpPr>
              <p:spPr>
                <a:xfrm>
                  <a:off x="3211114" y="678933"/>
                  <a:ext cx="311135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+ α min(</a:t>
                  </a:r>
                </a:p>
              </p:txBody>
            </p:sp>
            <p:sp>
              <p:nvSpPr>
                <p:cNvPr id="161" name="filter_second_1" descr="Editable text; source id filter_second_1"/>
                <p:cNvSpPr txBox="1"/>
                <p:nvPr/>
              </p:nvSpPr>
              <p:spPr>
                <a:xfrm>
                  <a:off x="3518436" y="678933"/>
                  <a:ext cx="45536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3543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62" name="filter_second_2" descr="Editable text; source id filter_second_2"/>
                <p:cNvSpPr txBox="1"/>
                <p:nvPr/>
              </p:nvSpPr>
              <p:spPr>
                <a:xfrm>
                  <a:off x="3559720" y="664118"/>
                  <a:ext cx="32601" cy="6914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44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*</a:t>
                  </a:r>
                </a:p>
              </p:txBody>
            </p:sp>
            <p:sp>
              <p:nvSpPr>
                <p:cNvPr id="163" name="filter_second_3" descr="Editable text; source id filter_second_3"/>
                <p:cNvSpPr txBox="1"/>
                <p:nvPr/>
              </p:nvSpPr>
              <p:spPr>
                <a:xfrm>
                  <a:off x="3590635" y="678933"/>
                  <a:ext cx="92135" cy="10257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7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,c)</a:t>
                  </a:r>
                </a:p>
              </p:txBody>
            </p:sp>
          </p:grpSp>
          <p:grpSp>
            <p:nvGrpSpPr>
              <p:cNvPr id="298" name="clip" descr="clip"/>
              <p:cNvGrpSpPr/>
              <p:nvPr/>
            </p:nvGrpSpPr>
            <p:grpSpPr>
              <a:xfrm>
                <a:off x="3095638" y="942975"/>
                <a:ext cx="676965" cy="480737"/>
                <a:chOff x="3095638" y="942975"/>
                <a:chExt cx="676965" cy="480737"/>
              </a:xfrm>
            </p:grpSpPr>
            <p:sp>
              <p:nvSpPr>
                <p:cNvPr id="164" name="clip_x" descr="Editable line; source id clip_x"/>
                <p:cNvSpPr/>
                <p:nvPr/>
              </p:nvSpPr>
              <p:spPr>
                <a:xfrm>
                  <a:off x="3168396" y="1281190"/>
                  <a:ext cx="583387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784" h="7983">
                      <a:moveTo>
                        <a:pt x="0" y="3326"/>
                      </a:moveTo>
                      <a:lnTo>
                        <a:pt x="195140" y="3326"/>
                      </a:lnTo>
                      <a:lnTo>
                        <a:pt x="195140" y="0"/>
                      </a:lnTo>
                      <a:lnTo>
                        <a:pt x="205784" y="3991"/>
                      </a:lnTo>
                      <a:lnTo>
                        <a:pt x="195140" y="7983"/>
                      </a:lnTo>
                      <a:lnTo>
                        <a:pt x="195140" y="4656"/>
                      </a:lnTo>
                      <a:lnTo>
                        <a:pt x="0" y="4656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5" name="clip_y" descr="Editable line; source id clip_y"/>
                <p:cNvSpPr/>
                <p:nvPr/>
              </p:nvSpPr>
              <p:spPr>
                <a:xfrm>
                  <a:off x="3157079" y="942975"/>
                  <a:ext cx="22634" cy="349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4" h="123293">
                      <a:moveTo>
                        <a:pt x="3327" y="123293"/>
                      </a:moveTo>
                      <a:lnTo>
                        <a:pt x="3327" y="10644"/>
                      </a:lnTo>
                      <a:lnTo>
                        <a:pt x="0" y="10644"/>
                      </a:lnTo>
                      <a:lnTo>
                        <a:pt x="3992" y="0"/>
                      </a:lnTo>
                      <a:lnTo>
                        <a:pt x="7984" y="10644"/>
                      </a:lnTo>
                      <a:lnTo>
                        <a:pt x="4657" y="10644"/>
                      </a:lnTo>
                      <a:lnTo>
                        <a:pt x="4657" y="123293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6" name="clip_curve" descr="One editable routed connector; fixed endpoints."/>
                <p:cNvGrpSpPr/>
                <p:nvPr/>
              </p:nvGrpSpPr>
              <p:grpSpPr>
                <a:xfrm>
                  <a:off x="3185998" y="1030357"/>
                  <a:ext cx="513280" cy="249574"/>
                  <a:chOff x="3185998" y="1030357"/>
                  <a:chExt cx="513280" cy="249574"/>
                </a:xfrm>
              </p:grpSpPr>
              <p:cxnSp>
                <p:nvCxnSpPr>
                  <p:cNvPr id="166" name="clip_curve_0" descr="Editable line; source id clip_curve_0"/>
                  <p:cNvCxnSpPr/>
                  <p:nvPr/>
                </p:nvCxnSpPr>
                <p:spPr>
                  <a:xfrm flipV="1">
                    <a:off x="3185998" y="1030357"/>
                    <a:ext cx="332430" cy="249574"/>
                  </a:xfrm>
                  <a:prstGeom prst="line">
                    <a:avLst/>
                  </a:prstGeom>
                  <a:ln w="7543" cap="rnd">
                    <a:solidFill>
                      <a:srgbClr val="007F85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clip_curve_1" descr="Editable line; source id clip_curve_1"/>
                  <p:cNvCxnSpPr/>
                  <p:nvPr/>
                </p:nvCxnSpPr>
                <p:spPr>
                  <a:xfrm>
                    <a:off x="3518428" y="1030357"/>
                    <a:ext cx="180850" cy="0"/>
                  </a:xfrm>
                  <a:prstGeom prst="line">
                    <a:avLst/>
                  </a:prstGeom>
                  <a:ln w="7543" cap="rnd">
                    <a:solidFill>
                      <a:srgbClr val="007F85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8" name="clip_capline" descr="Editable line; source id clip_capline"/>
                <p:cNvCxnSpPr/>
                <p:nvPr/>
              </p:nvCxnSpPr>
              <p:spPr>
                <a:xfrm>
                  <a:off x="3180969" y="1030357"/>
                  <a:ext cx="296622" cy="0"/>
                </a:xfrm>
                <a:prstGeom prst="line">
                  <a:avLst/>
                </a:prstGeom>
                <a:ln w="4023" cap="rnd">
                  <a:solidFill>
                    <a:srgbClr val="B78129"/>
                  </a:solidFill>
                  <a:custDash>
                    <a:ds d="375000" sp="312500"/>
                  </a:custDash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clip_cap_0" descr="Editable text; source id clip_cap_0"/>
                <p:cNvSpPr txBox="1"/>
                <p:nvPr/>
              </p:nvSpPr>
              <p:spPr>
                <a:xfrm>
                  <a:off x="3095638" y="978891"/>
                  <a:ext cx="38980" cy="9389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grpSp>
              <p:nvGrpSpPr>
                <p:cNvPr id="297" name="clip_raw" descr="Editable formula parts and native mathematical delimiters."/>
                <p:cNvGrpSpPr/>
                <p:nvPr/>
              </p:nvGrpSpPr>
              <p:grpSpPr>
                <a:xfrm>
                  <a:off x="3702693" y="1313105"/>
                  <a:ext cx="69910" cy="110607"/>
                  <a:chOff x="3702693" y="1313105"/>
                  <a:chExt cx="69910" cy="110607"/>
                </a:xfrm>
              </p:grpSpPr>
              <p:sp>
                <p:nvSpPr>
                  <p:cNvPr id="170" name="clip_raw_0" descr="Editable text; source id clip_raw_0"/>
                  <p:cNvSpPr txBox="1"/>
                  <p:nvPr/>
                </p:nvSpPr>
                <p:spPr>
                  <a:xfrm>
                    <a:off x="3702693" y="1326923"/>
                    <a:ext cx="43354" cy="96789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3543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28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33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33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71" name="clip_raw_1" descr="Editable text; source id clip_raw_1"/>
                  <p:cNvSpPr txBox="1"/>
                  <p:nvPr/>
                </p:nvSpPr>
                <p:spPr>
                  <a:xfrm>
                    <a:off x="3741796" y="1313105"/>
                    <a:ext cx="30807" cy="65327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48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18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18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*</a:t>
                    </a:r>
                  </a:p>
                </p:txBody>
              </p:sp>
            </p:grpSp>
          </p:grpSp>
        </p:grpSp>
        <p:sp>
          <p:nvSpPr>
            <p:cNvPr id="172" name="solve_to_condition" descr="Editable line; source id solve_to_condition"/>
            <p:cNvSpPr/>
            <p:nvPr/>
          </p:nvSpPr>
          <p:spPr>
            <a:xfrm>
              <a:off x="2924480" y="954292"/>
              <a:ext cx="98069" cy="22631"/>
            </a:xfrm>
            <a:custGeom>
              <a:avLst/>
              <a:gdLst/>
              <a:ahLst/>
              <a:cxnLst/>
              <a:rect l="l" t="t" r="r" b="b"/>
              <a:pathLst>
                <a:path w="34593" h="7983">
                  <a:moveTo>
                    <a:pt x="0" y="2882"/>
                  </a:moveTo>
                  <a:lnTo>
                    <a:pt x="23949" y="2882"/>
                  </a:lnTo>
                  <a:lnTo>
                    <a:pt x="23949" y="0"/>
                  </a:lnTo>
                  <a:lnTo>
                    <a:pt x="34593" y="3991"/>
                  </a:lnTo>
                  <a:lnTo>
                    <a:pt x="23949" y="7983"/>
                  </a:lnTo>
                  <a:lnTo>
                    <a:pt x="23949" y="5100"/>
                  </a:lnTo>
                  <a:lnTo>
                    <a:pt x="0" y="510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00" name="raw_price_label" descr="Editable formula parts and native mathematical delimiters."/>
            <p:cNvGrpSpPr/>
            <p:nvPr/>
          </p:nvGrpSpPr>
          <p:grpSpPr>
            <a:xfrm>
              <a:off x="2935740" y="810185"/>
              <a:ext cx="69910" cy="110607"/>
              <a:chOff x="2935740" y="810185"/>
              <a:chExt cx="69910" cy="110607"/>
            </a:xfrm>
          </p:grpSpPr>
          <p:sp>
            <p:nvSpPr>
              <p:cNvPr id="173" name="raw_price_label_0" descr="Editable text; source id raw_price_label_0"/>
              <p:cNvSpPr txBox="1"/>
              <p:nvPr/>
            </p:nvSpPr>
            <p:spPr>
              <a:xfrm>
                <a:off x="2935740" y="824003"/>
                <a:ext cx="43354" cy="96789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4" name="raw_price_label_1" descr="Editable text; source id raw_price_label_1"/>
              <p:cNvSpPr txBox="1"/>
              <p:nvPr/>
            </p:nvSpPr>
            <p:spPr>
              <a:xfrm>
                <a:off x="2974843" y="810185"/>
                <a:ext cx="30807" cy="65327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grpSp>
          <p:nvGrpSpPr>
            <p:cNvPr id="302" name="cost_feedback" descr="cost feedback"/>
            <p:cNvGrpSpPr/>
            <p:nvPr/>
          </p:nvGrpSpPr>
          <p:grpSpPr>
            <a:xfrm>
              <a:off x="1227124" y="1601800"/>
              <a:ext cx="1704898" cy="372160"/>
              <a:chOff x="1227124" y="1601800"/>
              <a:chExt cx="1704898" cy="372160"/>
            </a:xfrm>
          </p:grpSpPr>
          <p:sp>
            <p:nvSpPr>
              <p:cNvPr id="175" name="cost_feedback_panel" descr="Editable shape; source id cost_feedback_panel"/>
              <p:cNvSpPr/>
              <p:nvPr/>
            </p:nvSpPr>
            <p:spPr>
              <a:xfrm>
                <a:off x="1227124" y="1601800"/>
                <a:ext cx="1704898" cy="372160"/>
              </a:xfrm>
              <a:prstGeom prst="roundRect">
                <a:avLst>
                  <a:gd name="adj" fmla="val 5405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feedback_title" descr="Editable text; source id feedback_title"/>
              <p:cNvSpPr txBox="1"/>
              <p:nvPr/>
            </p:nvSpPr>
            <p:spPr>
              <a:xfrm>
                <a:off x="1276776" y="1623714"/>
                <a:ext cx="896552" cy="109126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3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Episode-cost feedback</a:t>
                </a:r>
              </a:p>
            </p:txBody>
          </p:sp>
          <p:grpSp>
            <p:nvGrpSpPr>
              <p:cNvPr id="301" name="feedback_equation" descr="Editable formula parts and native mathematical delimiters."/>
              <p:cNvGrpSpPr/>
              <p:nvPr/>
            </p:nvGrpSpPr>
            <p:grpSpPr>
              <a:xfrm>
                <a:off x="1647754" y="1785745"/>
                <a:ext cx="860998" cy="118398"/>
                <a:chOff x="1647754" y="1785745"/>
                <a:chExt cx="860998" cy="118398"/>
              </a:xfrm>
            </p:grpSpPr>
            <p:sp>
              <p:nvSpPr>
                <p:cNvPr id="177" name="feedback_equation_0" descr="Editable text; source id feedback_equation_0"/>
                <p:cNvSpPr txBox="1"/>
                <p:nvPr/>
              </p:nvSpPr>
              <p:spPr>
                <a:xfrm>
                  <a:off x="1647754" y="1785745"/>
                  <a:ext cx="51029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834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78" name="feedback_equation_1" descr="Editable text; source id feedback_equation_1"/>
                <p:cNvSpPr txBox="1"/>
                <p:nvPr/>
              </p:nvSpPr>
              <p:spPr>
                <a:xfrm>
                  <a:off x="1694531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79" name="feedback_equation_2" descr="Editable text; source id feedback_equation_2"/>
                <p:cNvSpPr txBox="1"/>
                <p:nvPr/>
              </p:nvSpPr>
              <p:spPr>
                <a:xfrm>
                  <a:off x="1726230" y="1785745"/>
                  <a:ext cx="16584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← [</a:t>
                  </a:r>
                </a:p>
              </p:txBody>
            </p:sp>
            <p:sp>
              <p:nvSpPr>
                <p:cNvPr id="180" name="feedback_equation_3" descr="Editable text; source id feedback_equation_3"/>
                <p:cNvSpPr txBox="1"/>
                <p:nvPr/>
              </p:nvSpPr>
              <p:spPr>
                <a:xfrm>
                  <a:off x="1889044" y="1785745"/>
                  <a:ext cx="51029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2834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β</a:t>
                  </a:r>
                </a:p>
              </p:txBody>
            </p:sp>
            <p:sp>
              <p:nvSpPr>
                <p:cNvPr id="181" name="feedback_equation_4" descr="Editable text; source id feedback_equation_4"/>
                <p:cNvSpPr txBox="1"/>
                <p:nvPr/>
              </p:nvSpPr>
              <p:spPr>
                <a:xfrm>
                  <a:off x="1935821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2" name="feedback_equation_5" descr="Editable text; source id feedback_equation_5"/>
                <p:cNvSpPr txBox="1"/>
                <p:nvPr/>
              </p:nvSpPr>
              <p:spPr>
                <a:xfrm>
                  <a:off x="1967520" y="1785745"/>
                  <a:ext cx="18498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+ η(</a:t>
                  </a:r>
                </a:p>
              </p:txBody>
            </p:sp>
            <p:sp>
              <p:nvSpPr>
                <p:cNvPr id="183" name="feedback_equation_6" descr="Editable text; source id feedback_equation_6"/>
                <p:cNvSpPr txBox="1"/>
                <p:nvPr/>
              </p:nvSpPr>
              <p:spPr>
                <a:xfrm>
                  <a:off x="2150888" y="1785745"/>
                  <a:ext cx="50320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J̄</a:t>
                  </a:r>
                </a:p>
              </p:txBody>
            </p:sp>
            <p:sp>
              <p:nvSpPr>
                <p:cNvPr id="184" name="feedback_equation_7" descr="Editable text; source id feedback_equation_7"/>
                <p:cNvSpPr txBox="1"/>
                <p:nvPr/>
              </p:nvSpPr>
              <p:spPr>
                <a:xfrm>
                  <a:off x="2196956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5" name="feedback_equation_8" descr="Editable text; source id feedback_equation_8"/>
                <p:cNvSpPr txBox="1"/>
                <p:nvPr/>
              </p:nvSpPr>
              <p:spPr>
                <a:xfrm>
                  <a:off x="2228655" y="1785745"/>
                  <a:ext cx="9789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186" name="feedback_equation_9" descr="Editable text; source id feedback_equation_9"/>
                <p:cNvSpPr txBox="1"/>
                <p:nvPr/>
              </p:nvSpPr>
              <p:spPr>
                <a:xfrm>
                  <a:off x="2324937" y="1785745"/>
                  <a:ext cx="58116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187" name="feedback_equation_10" descr="Editable text; source id feedback_equation_10"/>
                <p:cNvSpPr txBox="1"/>
                <p:nvPr/>
              </p:nvSpPr>
              <p:spPr>
                <a:xfrm>
                  <a:off x="2378801" y="1833091"/>
                  <a:ext cx="33310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88" name="feedback_equation_11" descr="Editable text; source id feedback_equation_11"/>
                <p:cNvSpPr txBox="1"/>
                <p:nvPr/>
              </p:nvSpPr>
              <p:spPr>
                <a:xfrm>
                  <a:off x="2410499" y="1785745"/>
                  <a:ext cx="3355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)</a:t>
                  </a:r>
                </a:p>
              </p:txBody>
            </p:sp>
            <p:sp>
              <p:nvSpPr>
                <p:cNvPr id="189" name="feedback_equation_12" descr="Editable text; source id feedback_equation_12"/>
                <p:cNvSpPr txBox="1"/>
                <p:nvPr/>
              </p:nvSpPr>
              <p:spPr>
                <a:xfrm>
                  <a:off x="2442442" y="1785745"/>
                  <a:ext cx="33554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]</a:t>
                  </a:r>
                </a:p>
              </p:txBody>
            </p:sp>
            <p:sp>
              <p:nvSpPr>
                <p:cNvPr id="190" name="feedback_equation_13" descr="Editable text; source id feedback_equation_13"/>
                <p:cNvSpPr txBox="1"/>
                <p:nvPr/>
              </p:nvSpPr>
              <p:spPr>
                <a:xfrm>
                  <a:off x="2471743" y="1833091"/>
                  <a:ext cx="37009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+</a:t>
                  </a:r>
                </a:p>
              </p:txBody>
            </p:sp>
          </p:grpSp>
        </p:grpSp>
        <p:grpSp>
          <p:nvGrpSpPr>
            <p:cNvPr id="303" name="filtered_to_fusion" descr="One editable routed connector; fixed endpoints."/>
            <p:cNvGrpSpPr/>
            <p:nvPr/>
          </p:nvGrpSpPr>
          <p:grpSpPr>
            <a:xfrm>
              <a:off x="3116845" y="1506245"/>
              <a:ext cx="330671" cy="201168"/>
              <a:chOff x="3116845" y="1506245"/>
              <a:chExt cx="330671" cy="201168"/>
            </a:xfrm>
          </p:grpSpPr>
          <p:cxnSp>
            <p:nvCxnSpPr>
              <p:cNvPr id="191" name="filtered_to_fusion_0" descr="Editable line; source id filtered_to_fusion_0"/>
              <p:cNvCxnSpPr/>
              <p:nvPr/>
            </p:nvCxnSpPr>
            <p:spPr>
              <a:xfrm>
                <a:off x="3447516" y="1506245"/>
                <a:ext cx="0" cy="57836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filtered_to_fusion_1" descr="Editable line; source id filtered_to_fusion_1"/>
              <p:cNvCxnSpPr/>
              <p:nvPr/>
            </p:nvCxnSpPr>
            <p:spPr>
              <a:xfrm flipH="1">
                <a:off x="3128162" y="1564081"/>
                <a:ext cx="319354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filtered_to_fusion_2" descr="Editable line; source id filtered_to_fusion_2"/>
              <p:cNvSpPr/>
              <p:nvPr/>
            </p:nvSpPr>
            <p:spPr>
              <a:xfrm>
                <a:off x="3116845" y="1564081"/>
                <a:ext cx="22634" cy="143332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50559">
                    <a:moveTo>
                      <a:pt x="5012" y="0"/>
                    </a:moveTo>
                    <a:lnTo>
                      <a:pt x="5012" y="39915"/>
                    </a:lnTo>
                    <a:lnTo>
                      <a:pt x="7984" y="39915"/>
                    </a:lnTo>
                    <a:lnTo>
                      <a:pt x="3992" y="50559"/>
                    </a:lnTo>
                    <a:lnTo>
                      <a:pt x="0" y="39915"/>
                    </a:lnTo>
                    <a:lnTo>
                      <a:pt x="2972" y="39915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4" name="filtered_price_label" descr="Editable formula parts and native mathematical delimiters."/>
            <p:cNvGrpSpPr/>
            <p:nvPr/>
          </p:nvGrpSpPr>
          <p:grpSpPr>
            <a:xfrm>
              <a:off x="3195812" y="1582057"/>
              <a:ext cx="92845" cy="113998"/>
              <a:chOff x="3195812" y="1582057"/>
              <a:chExt cx="92845" cy="113998"/>
            </a:xfrm>
          </p:grpSpPr>
          <p:sp>
            <p:nvSpPr>
              <p:cNvPr id="194" name="filtered_price_label_0" descr="Editable text; source id filtered_price_label_0"/>
              <p:cNvSpPr txBox="1"/>
              <p:nvPr/>
            </p:nvSpPr>
            <p:spPr>
              <a:xfrm>
                <a:off x="3195812" y="1596374"/>
                <a:ext cx="65203" cy="9968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95" name="filtered_price_label_1" descr="Editable text; source id filtered_price_label_1"/>
              <p:cNvSpPr txBox="1"/>
              <p:nvPr/>
            </p:nvSpPr>
            <p:spPr>
              <a:xfrm>
                <a:off x="3256764" y="1582057"/>
                <a:ext cx="31893" cy="67235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495"/>
                  </a:lnSpc>
                  <a:spcBef>
                    <a:spcPts val="0"/>
                  </a:spcBef>
                  <a:spcAft>
                    <a:spcPts val="0"/>
                  </a:spcAft>
                  <a:def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96" name="beta_to_fusion" descr="Editable line; source id beta_to_fusion"/>
            <p:cNvSpPr/>
            <p:nvPr/>
          </p:nvSpPr>
          <p:spPr>
            <a:xfrm>
              <a:off x="2949626" y="1776566"/>
              <a:ext cx="98069" cy="22629"/>
            </a:xfrm>
            <a:custGeom>
              <a:avLst/>
              <a:gdLst/>
              <a:ahLst/>
              <a:cxnLst/>
              <a:rect l="l" t="t" r="r" b="b"/>
              <a:pathLst>
                <a:path w="34593" h="7982">
                  <a:moveTo>
                    <a:pt x="0" y="2971"/>
                  </a:moveTo>
                  <a:lnTo>
                    <a:pt x="23949" y="2971"/>
                  </a:lnTo>
                  <a:lnTo>
                    <a:pt x="23949" y="0"/>
                  </a:lnTo>
                  <a:lnTo>
                    <a:pt x="34593" y="3991"/>
                  </a:lnTo>
                  <a:lnTo>
                    <a:pt x="23949" y="7982"/>
                  </a:lnTo>
                  <a:lnTo>
                    <a:pt x="23949" y="5011"/>
                  </a:lnTo>
                  <a:lnTo>
                    <a:pt x="0" y="5011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beta_label_0" descr="Editable text; source id beta_label_0"/>
            <p:cNvSpPr txBox="1"/>
            <p:nvPr/>
          </p:nvSpPr>
          <p:spPr>
            <a:xfrm>
              <a:off x="2968170" y="1653433"/>
              <a:ext cx="46067" cy="93897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2834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1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</a:p>
          </p:txBody>
        </p:sp>
        <p:grpSp>
          <p:nvGrpSpPr>
            <p:cNvPr id="305" name="fusion" descr="fusion"/>
            <p:cNvGrpSpPr/>
            <p:nvPr/>
          </p:nvGrpSpPr>
          <p:grpSpPr>
            <a:xfrm>
              <a:off x="3065297" y="1725015"/>
              <a:ext cx="125730" cy="128665"/>
              <a:chOff x="3065297" y="1725015"/>
              <a:chExt cx="125730" cy="128665"/>
            </a:xfrm>
          </p:grpSpPr>
          <p:sp>
            <p:nvSpPr>
              <p:cNvPr id="198" name="fusion_panel" descr="Editable shape; source id fusion_panel"/>
              <p:cNvSpPr/>
              <p:nvPr/>
            </p:nvSpPr>
            <p:spPr>
              <a:xfrm>
                <a:off x="3065297" y="1725015"/>
                <a:ext cx="125730" cy="125730"/>
              </a:xfrm>
              <a:prstGeom prst="roundRect">
                <a:avLst>
                  <a:gd name="adj" fmla="val 16000"/>
                </a:avLst>
              </a:prstGeom>
              <a:solidFill>
                <a:srgbClr val="FFFFFF"/>
              </a:solidFill>
              <a:ln w="4526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fusion_plus" descr="Editable text; source id fusion_plus"/>
              <p:cNvSpPr txBox="1"/>
              <p:nvPr/>
            </p:nvSpPr>
            <p:spPr>
              <a:xfrm>
                <a:off x="3095914" y="1732686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</p:grpSp>
        <p:sp>
          <p:nvSpPr>
            <p:cNvPr id="200" name="fusion_to_price" descr="Editable line; source id fusion_to_price"/>
            <p:cNvSpPr/>
            <p:nvPr/>
          </p:nvSpPr>
          <p:spPr>
            <a:xfrm>
              <a:off x="3208630" y="1776566"/>
              <a:ext cx="60350" cy="22629"/>
            </a:xfrm>
            <a:custGeom>
              <a:avLst/>
              <a:gdLst/>
              <a:ahLst/>
              <a:cxnLst/>
              <a:rect l="l" t="t" r="r" b="b"/>
              <a:pathLst>
                <a:path w="21288" h="7982">
                  <a:moveTo>
                    <a:pt x="0" y="2927"/>
                  </a:moveTo>
                  <a:lnTo>
                    <a:pt x="10644" y="2927"/>
                  </a:lnTo>
                  <a:lnTo>
                    <a:pt x="10644" y="0"/>
                  </a:lnTo>
                  <a:lnTo>
                    <a:pt x="21288" y="3991"/>
                  </a:lnTo>
                  <a:lnTo>
                    <a:pt x="10644" y="7982"/>
                  </a:lnTo>
                  <a:lnTo>
                    <a:pt x="10644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06" name="unified_price" descr="Editable formula parts and native mathematical delimiters."/>
            <p:cNvGrpSpPr/>
            <p:nvPr/>
          </p:nvGrpSpPr>
          <p:grpSpPr>
            <a:xfrm>
              <a:off x="3311301" y="1724351"/>
              <a:ext cx="454377" cy="138139"/>
              <a:chOff x="3311301" y="1724351"/>
              <a:chExt cx="454377" cy="138139"/>
            </a:xfrm>
          </p:grpSpPr>
          <p:sp>
            <p:nvSpPr>
              <p:cNvPr id="201" name="unified_price_0" descr="Editable text; source id unified_price_0"/>
              <p:cNvSpPr txBox="1"/>
              <p:nvPr/>
            </p:nvSpPr>
            <p:spPr>
              <a:xfrm>
                <a:off x="3311301" y="1740871"/>
                <a:ext cx="4912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4252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02" name="unified_price_1" descr="Editable text; source id unified_price_1"/>
              <p:cNvSpPr txBox="1"/>
              <p:nvPr/>
            </p:nvSpPr>
            <p:spPr>
              <a:xfrm>
                <a:off x="3356173" y="1789529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3" name="unified_price_2" descr="Editable text; source id unified_price_2"/>
              <p:cNvSpPr txBox="1"/>
              <p:nvPr/>
            </p:nvSpPr>
            <p:spPr>
              <a:xfrm>
                <a:off x="3388766" y="1740871"/>
                <a:ext cx="100640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204" name="unified_price_3" descr="Editable text; source id unified_price_3"/>
              <p:cNvSpPr txBox="1"/>
              <p:nvPr/>
            </p:nvSpPr>
            <p:spPr>
              <a:xfrm>
                <a:off x="3485035" y="1740871"/>
                <a:ext cx="71582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4252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205" name="unified_price_4" descr="Editable text; source id unified_price_4"/>
              <p:cNvSpPr txBox="1"/>
              <p:nvPr/>
            </p:nvSpPr>
            <p:spPr>
              <a:xfrm>
                <a:off x="3552365" y="1789529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06" name="unified_price_5" descr="Editable text; source id unified_price_5"/>
              <p:cNvSpPr txBox="1"/>
              <p:nvPr/>
            </p:nvSpPr>
            <p:spPr>
              <a:xfrm>
                <a:off x="3552365" y="1724351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207" name="unified_price_6" descr="Editable text; source id unified_price_6"/>
              <p:cNvSpPr txBox="1"/>
              <p:nvPr/>
            </p:nvSpPr>
            <p:spPr>
              <a:xfrm>
                <a:off x="3584959" y="1740871"/>
                <a:ext cx="100640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+ </a:t>
                </a:r>
              </a:p>
            </p:txBody>
          </p:sp>
          <p:sp>
            <p:nvSpPr>
              <p:cNvPr id="208" name="unified_price_7" descr="Editable text; source id unified_price_7"/>
              <p:cNvSpPr txBox="1"/>
              <p:nvPr/>
            </p:nvSpPr>
            <p:spPr>
              <a:xfrm>
                <a:off x="3681937" y="1740871"/>
                <a:ext cx="53864" cy="108356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3543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12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209" name="unified_price_8" descr="Editable text; source id unified_price_8"/>
              <p:cNvSpPr txBox="1"/>
              <p:nvPr/>
            </p:nvSpPr>
            <p:spPr>
              <a:xfrm>
                <a:off x="3731548" y="1789529"/>
                <a:ext cx="34130" cy="72961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1417" anchorCtr="0" vertOverflow="overflow">
                <a:noAutofit/>
              </a:bodyPr>
              <a:lstStyle/>
              <a:p>
                <a:pPr algn="l" fontAlgn="base">
                  <a:lnSpc>
                    <a:spcPts val="541"/>
                  </a:lnSpc>
                  <a:spcBef>
                    <a:spcPts val="0"/>
                  </a:spcBef>
                  <a:spcAft>
                    <a:spcPts val="0"/>
                  </a:spcAft>
                  <a:def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70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210" name="price_output_label" descr="Editable text; source id price_output_label"/>
            <p:cNvSpPr txBox="1"/>
            <p:nvPr/>
          </p:nvSpPr>
          <p:spPr>
            <a:xfrm>
              <a:off x="3275466" y="1871494"/>
              <a:ext cx="538684" cy="100224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660"/>
                </a:lnSpc>
                <a:spcBef>
                  <a:spcPts val="0"/>
                </a:spcBef>
                <a:spcAft>
                  <a:spcPts val="0"/>
                </a:spcAft>
                <a:defRPr sz="574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74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one price vector</a:t>
              </a:r>
            </a:p>
          </p:txBody>
        </p:sp>
      </p:grpSp>
      <p:grpSp>
        <p:nvGrpSpPr>
          <p:cNvPr id="315" name="policy_update" descr="policy update"/>
          <p:cNvGrpSpPr/>
          <p:nvPr/>
        </p:nvGrpSpPr>
        <p:grpSpPr>
          <a:xfrm>
            <a:off x="4048505" y="60350"/>
            <a:ext cx="922858" cy="2139924"/>
            <a:chOff x="4048505" y="60350"/>
            <a:chExt cx="922858" cy="2139924"/>
          </a:xfrm>
        </p:grpSpPr>
        <p:sp>
          <p:nvSpPr>
            <p:cNvPr id="211" name="policy_update_panel" descr="Editable shape; source id policy_update_panel"/>
            <p:cNvSpPr/>
            <p:nvPr/>
          </p:nvSpPr>
          <p:spPr>
            <a:xfrm>
              <a:off x="4048505" y="60350"/>
              <a:ext cx="922858" cy="2139924"/>
            </a:xfrm>
            <a:prstGeom prst="roundRect">
              <a:avLst>
                <a:gd name="adj" fmla="val 2179"/>
              </a:avLst>
            </a:prstGeom>
            <a:solidFill>
              <a:srgbClr val="FFFFFF"/>
            </a:solidFill>
            <a:ln w="427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update_title" descr="Editable text; source id update_title"/>
            <p:cNvSpPr txBox="1"/>
            <p:nvPr/>
          </p:nvSpPr>
          <p:spPr>
            <a:xfrm>
              <a:off x="4098157" y="87682"/>
              <a:ext cx="706832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(c)  Policy update</a:t>
              </a:r>
            </a:p>
          </p:txBody>
        </p:sp>
        <p:cxnSp>
          <p:nvCxnSpPr>
            <p:cNvPr id="213" name="update_rule" descr="Editable line; source id update_rule"/>
            <p:cNvCxnSpPr/>
            <p:nvPr/>
          </p:nvCxnSpPr>
          <p:spPr>
            <a:xfrm>
              <a:off x="4098798" y="223799"/>
              <a:ext cx="822274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1" name="priced_advantage" descr="priced advantage"/>
            <p:cNvGrpSpPr/>
            <p:nvPr/>
          </p:nvGrpSpPr>
          <p:grpSpPr>
            <a:xfrm>
              <a:off x="4098798" y="299237"/>
              <a:ext cx="822274" cy="784555"/>
              <a:chOff x="4098798" y="299237"/>
              <a:chExt cx="822274" cy="784555"/>
            </a:xfrm>
          </p:grpSpPr>
          <p:sp>
            <p:nvSpPr>
              <p:cNvPr id="214" name="priced_advantage_panel" descr="Editable shape; source id priced_advantage_panel"/>
              <p:cNvSpPr/>
              <p:nvPr/>
            </p:nvSpPr>
            <p:spPr>
              <a:xfrm>
                <a:off x="4098798" y="299237"/>
                <a:ext cx="822274" cy="784555"/>
              </a:xfrm>
              <a:prstGeom prst="roundRect">
                <a:avLst>
                  <a:gd name="adj" fmla="val 2564"/>
                </a:avLst>
              </a:prstGeom>
              <a:solidFill>
                <a:srgbClr val="F6F8F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advantage_title" descr="Editable text; source id advantage_title"/>
              <p:cNvSpPr txBox="1"/>
              <p:nvPr/>
            </p:nvSpPr>
            <p:spPr>
              <a:xfrm>
                <a:off x="4180178" y="325792"/>
                <a:ext cx="665504" cy="106158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Priced advantage</a:t>
                </a:r>
              </a:p>
            </p:txBody>
          </p:sp>
          <p:sp>
            <p:nvSpPr>
              <p:cNvPr id="216" name="advantage_symbol_0" descr="Editable text; source id advantage_symbol_0"/>
              <p:cNvSpPr txBox="1"/>
              <p:nvPr/>
            </p:nvSpPr>
            <p:spPr>
              <a:xfrm>
                <a:off x="4421992" y="519232"/>
                <a:ext cx="166176" cy="117032"/>
              </a:xfrm>
              <a:prstGeom prst="rect">
                <a:avLst/>
              </a:prstGeom>
              <a:noFill/>
              <a:effectLst/>
            </p:spPr>
            <p:txBody>
              <a:bodyPr wrap="none" anchor="t" tIns="1417" rIns="0" bIns="0" lIns="7087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Ã =</a:t>
                </a:r>
              </a:p>
            </p:txBody>
          </p:sp>
          <p:grpSp>
            <p:nvGrpSpPr>
              <p:cNvPr id="310" name="advantage" descr="advantage"/>
              <p:cNvGrpSpPr/>
              <p:nvPr/>
            </p:nvGrpSpPr>
            <p:grpSpPr>
              <a:xfrm>
                <a:off x="4141546" y="699438"/>
                <a:ext cx="734263" cy="261730"/>
                <a:chOff x="4141546" y="699438"/>
                <a:chExt cx="734263" cy="261730"/>
              </a:xfrm>
            </p:grpSpPr>
            <p:grpSp>
              <p:nvGrpSpPr>
                <p:cNvPr id="308" name="advantage_num" descr="Editable formula parts and native mathematical delimiters."/>
                <p:cNvGrpSpPr/>
                <p:nvPr/>
              </p:nvGrpSpPr>
              <p:grpSpPr>
                <a:xfrm>
                  <a:off x="4263996" y="699438"/>
                  <a:ext cx="483178" cy="130197"/>
                  <a:chOff x="4263996" y="699438"/>
                  <a:chExt cx="483178" cy="130197"/>
                </a:xfrm>
              </p:grpSpPr>
              <p:sp>
                <p:nvSpPr>
                  <p:cNvPr id="217" name="advantage_num_0" descr="Editable text; source id advantage_num_0"/>
                  <p:cNvSpPr txBox="1"/>
                  <p:nvPr/>
                </p:nvSpPr>
                <p:spPr>
                  <a:xfrm>
                    <a:off x="4263996" y="699438"/>
                    <a:ext cx="68747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637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218" name="advantage_num_1" descr="Editable text; source id advantage_num_1"/>
                  <p:cNvSpPr txBox="1"/>
                  <p:nvPr/>
                </p:nvSpPr>
                <p:spPr>
                  <a:xfrm>
                    <a:off x="4328491" y="746784"/>
                    <a:ext cx="23598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r</a:t>
                    </a:r>
                  </a:p>
                </p:txBody>
              </p:sp>
              <p:sp>
                <p:nvSpPr>
                  <p:cNvPr id="219" name="advantage_num_2" descr="Editable text; source id advantage_num_2"/>
                  <p:cNvSpPr txBox="1"/>
                  <p:nvPr/>
                </p:nvSpPr>
                <p:spPr>
                  <a:xfrm>
                    <a:off x="4350478" y="699438"/>
                    <a:ext cx="97894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 − </a:t>
                    </a:r>
                  </a:p>
                </p:txBody>
              </p:sp>
              <p:sp>
                <p:nvSpPr>
                  <p:cNvPr id="220" name="advantage_num_3" descr="Editable text; source id advantage_num_3"/>
                  <p:cNvSpPr txBox="1"/>
                  <p:nvPr/>
                </p:nvSpPr>
                <p:spPr>
                  <a:xfrm>
                    <a:off x="4446760" y="699438"/>
                    <a:ext cx="67330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221" name="advantage_num_4" descr="Editable text; source id advantage_num_4"/>
                  <p:cNvSpPr txBox="1"/>
                  <p:nvPr/>
                </p:nvSpPr>
                <p:spPr>
                  <a:xfrm>
                    <a:off x="4509838" y="746784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222" name="advantage_num_5" descr="Editable text; source id advantage_num_5"/>
                  <p:cNvSpPr txBox="1"/>
                  <p:nvPr/>
                </p:nvSpPr>
                <p:spPr>
                  <a:xfrm>
                    <a:off x="4561414" y="699438"/>
                    <a:ext cx="47485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3543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223" name="advantage_num_6" descr="Editable text; source id advantage_num_6"/>
                  <p:cNvSpPr txBox="1"/>
                  <p:nvPr/>
                </p:nvSpPr>
                <p:spPr>
                  <a:xfrm>
                    <a:off x="4604647" y="746784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224" name="advantage_num_7" descr="Editable text; source id advantage_num_7"/>
                  <p:cNvSpPr txBox="1"/>
                  <p:nvPr/>
                </p:nvSpPr>
                <p:spPr>
                  <a:xfrm>
                    <a:off x="4631385" y="699438"/>
                    <a:ext cx="68747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637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A</a:t>
                    </a:r>
                  </a:p>
                </p:txBody>
              </p:sp>
              <p:sp>
                <p:nvSpPr>
                  <p:cNvPr id="225" name="advantage_num_8" descr="Editable text; source id advantage_num_8"/>
                  <p:cNvSpPr txBox="1"/>
                  <p:nvPr/>
                </p:nvSpPr>
                <p:spPr>
                  <a:xfrm>
                    <a:off x="4695880" y="746784"/>
                    <a:ext cx="30032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226" name="advantage_num_9" descr="Editable text; source id advantage_num_9"/>
                  <p:cNvSpPr txBox="1"/>
                  <p:nvPr/>
                </p:nvSpPr>
                <p:spPr>
                  <a:xfrm>
                    <a:off x="4721660" y="776801"/>
                    <a:ext cx="25514" cy="528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382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3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332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  <p:cxnSp>
              <p:nvCxnSpPr>
                <p:cNvPr id="227" name="advantage_bar" descr="Editable line; source id advantage_bar"/>
                <p:cNvCxnSpPr/>
                <p:nvPr/>
              </p:nvCxnSpPr>
              <p:spPr>
                <a:xfrm>
                  <a:off x="4141546" y="822274"/>
                  <a:ext cx="734263" cy="0"/>
                </a:xfrm>
                <a:prstGeom prst="line">
                  <a:avLst/>
                </a:prstGeom>
                <a:ln w="4526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09" name="advantage_den" descr="Editable formula parts and native mathematical delimiters."/>
                <p:cNvGrpSpPr/>
                <p:nvPr/>
              </p:nvGrpSpPr>
              <p:grpSpPr>
                <a:xfrm>
                  <a:off x="4342322" y="842770"/>
                  <a:ext cx="331487" cy="118398"/>
                  <a:chOff x="4342322" y="842770"/>
                  <a:chExt cx="331487" cy="118398"/>
                </a:xfrm>
              </p:grpSpPr>
              <p:sp>
                <p:nvSpPr>
                  <p:cNvPr id="228" name="advantage_den_0" descr="Editable text; source id advantage_den_0"/>
                  <p:cNvSpPr txBox="1"/>
                  <p:nvPr/>
                </p:nvSpPr>
                <p:spPr>
                  <a:xfrm>
                    <a:off x="4342322" y="842770"/>
                    <a:ext cx="141902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 + </a:t>
                    </a:r>
                  </a:p>
                </p:txBody>
              </p:sp>
              <p:sp>
                <p:nvSpPr>
                  <p:cNvPr id="229" name="advantage_den_1" descr="Editable text; source id advantage_den_1"/>
                  <p:cNvSpPr txBox="1"/>
                  <p:nvPr/>
                </p:nvSpPr>
                <p:spPr>
                  <a:xfrm>
                    <a:off x="4482612" y="842770"/>
                    <a:ext cx="67330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∑</a:t>
                    </a:r>
                  </a:p>
                </p:txBody>
              </p:sp>
              <p:sp>
                <p:nvSpPr>
                  <p:cNvPr id="230" name="advantage_den_2" descr="Editable text; source id advantage_den_2"/>
                  <p:cNvSpPr txBox="1"/>
                  <p:nvPr/>
                </p:nvSpPr>
                <p:spPr>
                  <a:xfrm>
                    <a:off x="4545690" y="890116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  <p:sp>
                <p:nvSpPr>
                  <p:cNvPr id="231" name="advantage_den_3" descr="Editable text; source id advantage_den_3"/>
                  <p:cNvSpPr txBox="1"/>
                  <p:nvPr/>
                </p:nvSpPr>
                <p:spPr>
                  <a:xfrm>
                    <a:off x="4597266" y="842770"/>
                    <a:ext cx="47485" cy="105465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3543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96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93" b="0" i="1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232" name="advantage_den_4" descr="Editable text; source id advantage_den_4"/>
                  <p:cNvSpPr txBox="1"/>
                  <p:nvPr/>
                </p:nvSpPr>
                <p:spPr>
                  <a:xfrm>
                    <a:off x="4640499" y="890116"/>
                    <a:ext cx="33310" cy="71052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2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57" b="0" i="0" lang="zh-CN" dirty="0">
                        <a:solidFill>
                          <a:srgbClr val="29343E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</p:grpSp>
        </p:grpSp>
        <p:sp>
          <p:nvSpPr>
            <p:cNvPr id="233" name="advantage_to_ppo" descr="Editable line; source id advantage_to_ppo"/>
            <p:cNvSpPr/>
            <p:nvPr/>
          </p:nvSpPr>
          <p:spPr>
            <a:xfrm>
              <a:off x="4497364" y="1101395"/>
              <a:ext cx="22631" cy="201168"/>
            </a:xfrm>
            <a:custGeom>
              <a:avLst/>
              <a:gdLst/>
              <a:ahLst/>
              <a:cxnLst/>
              <a:rect l="l" t="t" r="r" b="b"/>
              <a:pathLst>
                <a:path w="7983" h="70960">
                  <a:moveTo>
                    <a:pt x="5011" y="0"/>
                  </a:moveTo>
                  <a:lnTo>
                    <a:pt x="5011" y="60316"/>
                  </a:lnTo>
                  <a:lnTo>
                    <a:pt x="7983" y="60316"/>
                  </a:lnTo>
                  <a:lnTo>
                    <a:pt x="3991" y="70960"/>
                  </a:lnTo>
                  <a:lnTo>
                    <a:pt x="0" y="60316"/>
                  </a:lnTo>
                  <a:lnTo>
                    <a:pt x="2971" y="60316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12" name="optimizer" descr="optimizer"/>
            <p:cNvGrpSpPr/>
            <p:nvPr/>
          </p:nvGrpSpPr>
          <p:grpSpPr>
            <a:xfrm>
              <a:off x="4123944" y="1320164"/>
              <a:ext cx="771982" cy="334441"/>
              <a:chOff x="4123944" y="1320164"/>
              <a:chExt cx="771982" cy="334441"/>
            </a:xfrm>
          </p:grpSpPr>
          <p:sp>
            <p:nvSpPr>
              <p:cNvPr id="234" name="optimizer_panel" descr="Editable shape; source id optimizer_panel"/>
              <p:cNvSpPr/>
              <p:nvPr/>
            </p:nvSpPr>
            <p:spPr>
              <a:xfrm>
                <a:off x="4123944" y="1320164"/>
                <a:ext cx="771982" cy="334441"/>
              </a:xfrm>
              <a:prstGeom prst="roundRect">
                <a:avLst>
                  <a:gd name="adj" fmla="val 6015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optimizer_name" descr="Editable text; source id optimizer_name"/>
              <p:cNvSpPr txBox="1"/>
              <p:nvPr/>
            </p:nvSpPr>
            <p:spPr>
              <a:xfrm>
                <a:off x="4251051" y="1365166"/>
                <a:ext cx="523756" cy="118027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93" b="1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PPO / TRPO</a:t>
                </a:r>
              </a:p>
            </p:txBody>
          </p:sp>
          <p:sp>
            <p:nvSpPr>
              <p:cNvPr id="236" name="optimizer_operation" descr="Editable text; source id optimizer_operation"/>
              <p:cNvSpPr txBox="1"/>
              <p:nvPr/>
            </p:nvSpPr>
            <p:spPr>
              <a:xfrm>
                <a:off x="4318736" y="1495081"/>
                <a:ext cx="388388" cy="106158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policy step</a:t>
                </a:r>
              </a:p>
            </p:txBody>
          </p:sp>
        </p:grpSp>
        <p:sp>
          <p:nvSpPr>
            <p:cNvPr id="237" name="ppo_to_policy" descr="Editable line; source id ppo_to_policy"/>
            <p:cNvSpPr/>
            <p:nvPr/>
          </p:nvSpPr>
          <p:spPr>
            <a:xfrm>
              <a:off x="4497364" y="1672209"/>
              <a:ext cx="22631" cy="128245"/>
            </a:xfrm>
            <a:custGeom>
              <a:avLst/>
              <a:gdLst/>
              <a:ahLst/>
              <a:cxnLst/>
              <a:rect l="l" t="t" r="r" b="b"/>
              <a:pathLst>
                <a:path w="7983" h="45237">
                  <a:moveTo>
                    <a:pt x="5011" y="0"/>
                  </a:moveTo>
                  <a:lnTo>
                    <a:pt x="5011" y="34593"/>
                  </a:lnTo>
                  <a:lnTo>
                    <a:pt x="7983" y="34593"/>
                  </a:lnTo>
                  <a:lnTo>
                    <a:pt x="3991" y="45237"/>
                  </a:lnTo>
                  <a:lnTo>
                    <a:pt x="0" y="34593"/>
                  </a:lnTo>
                  <a:lnTo>
                    <a:pt x="2971" y="34593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14" name="updated_policy" descr="updated policy"/>
            <p:cNvGrpSpPr/>
            <p:nvPr/>
          </p:nvGrpSpPr>
          <p:grpSpPr>
            <a:xfrm>
              <a:off x="4292422" y="1818055"/>
              <a:ext cx="435025" cy="213741"/>
              <a:chOff x="4292422" y="1818055"/>
              <a:chExt cx="435025" cy="213741"/>
            </a:xfrm>
          </p:grpSpPr>
          <p:sp>
            <p:nvSpPr>
              <p:cNvPr id="238" name="updated_policy_panel" descr="Editable shape; source id updated_policy_panel"/>
              <p:cNvSpPr/>
              <p:nvPr/>
            </p:nvSpPr>
            <p:spPr>
              <a:xfrm>
                <a:off x="4292422" y="1818055"/>
                <a:ext cx="435025" cy="213741"/>
              </a:xfrm>
              <a:prstGeom prst="roundRect">
                <a:avLst>
                  <a:gd name="adj" fmla="val 9411"/>
                </a:avLst>
              </a:prstGeom>
              <a:solidFill>
                <a:srgbClr val="FFFFFF"/>
              </a:solidFill>
              <a:ln w="3771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313" name="new_policy" descr="Editable formula parts and native mathematical delimiters."/>
              <p:cNvGrpSpPr/>
              <p:nvPr/>
            </p:nvGrpSpPr>
            <p:grpSpPr>
              <a:xfrm>
                <a:off x="4427550" y="1863261"/>
                <a:ext cx="160352" cy="148804"/>
                <a:chOff x="4427550" y="1863261"/>
                <a:chExt cx="160352" cy="148804"/>
              </a:xfrm>
            </p:grpSpPr>
            <p:sp>
              <p:nvSpPr>
                <p:cNvPr id="239" name="new_policy_0" descr="Editable text; source id new_policy_0"/>
                <p:cNvSpPr txBox="1"/>
                <p:nvPr/>
              </p:nvSpPr>
              <p:spPr>
                <a:xfrm>
                  <a:off x="4427550" y="1863261"/>
                  <a:ext cx="62368" cy="13149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10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871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871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π</a:t>
                  </a:r>
                </a:p>
              </p:txBody>
            </p:sp>
            <p:sp>
              <p:nvSpPr>
                <p:cNvPr id="240" name="new_policy_1" descr="Editable text; source id new_policy_1"/>
                <p:cNvSpPr txBox="1"/>
                <p:nvPr/>
              </p:nvSpPr>
              <p:spPr>
                <a:xfrm>
                  <a:off x="4485667" y="1923835"/>
                  <a:ext cx="102235" cy="8823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66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7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74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t+1</a:t>
                  </a:r>
                </a:p>
              </p:txBody>
            </p:sp>
          </p:grpSp>
        </p:grpSp>
      </p:grpSp>
      <p:sp>
        <p:nvSpPr>
          <p:cNvPr id="241" name="graph_input" descr="Editable line; source id graph_input"/>
          <p:cNvSpPr/>
          <p:nvPr/>
        </p:nvSpPr>
        <p:spPr>
          <a:xfrm>
            <a:off x="1056132" y="1203238"/>
            <a:ext cx="103099" cy="22629"/>
          </a:xfrm>
          <a:custGeom>
            <a:avLst/>
            <a:gdLst/>
            <a:ahLst/>
            <a:cxnLst/>
            <a:rect l="l" t="t" r="r" b="b"/>
            <a:pathLst>
              <a:path w="36367" h="7982">
                <a:moveTo>
                  <a:pt x="0" y="3015"/>
                </a:moveTo>
                <a:lnTo>
                  <a:pt x="25723" y="3015"/>
                </a:lnTo>
                <a:lnTo>
                  <a:pt x="25723" y="0"/>
                </a:lnTo>
                <a:lnTo>
                  <a:pt x="36367" y="3991"/>
                </a:lnTo>
                <a:lnTo>
                  <a:pt x="25723" y="7982"/>
                </a:lnTo>
                <a:lnTo>
                  <a:pt x="25723" y="4967"/>
                </a:lnTo>
                <a:lnTo>
                  <a:pt x="0" y="4967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6" name="episode_input" descr="One editable routed connector; fixed endpoints."/>
          <p:cNvGrpSpPr/>
          <p:nvPr/>
        </p:nvGrpSpPr>
        <p:grpSpPr>
          <a:xfrm>
            <a:off x="1056132" y="1776566"/>
            <a:ext cx="103099" cy="114413"/>
            <a:chOff x="1056132" y="1776566"/>
            <a:chExt cx="103099" cy="114413"/>
          </a:xfrm>
        </p:grpSpPr>
        <p:cxnSp>
          <p:nvCxnSpPr>
            <p:cNvPr id="242" name="episode_input_0" descr="Editable line; source id episode_input_0"/>
            <p:cNvCxnSpPr/>
            <p:nvPr/>
          </p:nvCxnSpPr>
          <p:spPr>
            <a:xfrm>
              <a:off x="1056132" y="1890979"/>
              <a:ext cx="57835" cy="0"/>
            </a:xfrm>
            <a:prstGeom prst="line">
              <a:avLst/>
            </a:prstGeom>
            <a:ln w="5532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episode_input_1" descr="Editable line; source id episode_input_1"/>
            <p:cNvCxnSpPr/>
            <p:nvPr/>
          </p:nvCxnSpPr>
          <p:spPr>
            <a:xfrm flipV="1">
              <a:off x="1113967" y="1787880"/>
              <a:ext cx="0" cy="103099"/>
            </a:xfrm>
            <a:prstGeom prst="line">
              <a:avLst/>
            </a:prstGeom>
            <a:ln w="5532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episode_input_2" descr="Editable line; source id episode_input_2"/>
            <p:cNvSpPr/>
            <p:nvPr/>
          </p:nvSpPr>
          <p:spPr>
            <a:xfrm>
              <a:off x="1113968" y="1776566"/>
              <a:ext cx="45263" cy="22629"/>
            </a:xfrm>
            <a:custGeom>
              <a:avLst/>
              <a:gdLst/>
              <a:ahLst/>
              <a:cxnLst/>
              <a:rect l="l" t="t" r="r" b="b"/>
              <a:pathLst>
                <a:path w="15966" h="7982">
                  <a:moveTo>
                    <a:pt x="0" y="3015"/>
                  </a:moveTo>
                  <a:lnTo>
                    <a:pt x="5322" y="3015"/>
                  </a:lnTo>
                  <a:lnTo>
                    <a:pt x="5322" y="0"/>
                  </a:lnTo>
                  <a:lnTo>
                    <a:pt x="15966" y="3991"/>
                  </a:lnTo>
                  <a:lnTo>
                    <a:pt x="5322" y="7982"/>
                  </a:lnTo>
                  <a:lnTo>
                    <a:pt x="5322" y="4967"/>
                  </a:lnTo>
                  <a:lnTo>
                    <a:pt x="0" y="4967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7" name="price_to_update" descr="One editable routed connector; fixed endpoints."/>
          <p:cNvGrpSpPr/>
          <p:nvPr/>
        </p:nvGrpSpPr>
        <p:grpSpPr>
          <a:xfrm>
            <a:off x="3925290" y="763183"/>
            <a:ext cx="105613" cy="1024697"/>
            <a:chOff x="3925290" y="763183"/>
            <a:chExt cx="105613" cy="1024697"/>
          </a:xfrm>
        </p:grpSpPr>
        <p:cxnSp>
          <p:nvCxnSpPr>
            <p:cNvPr id="245" name="price_to_update_0" descr="Editable line; source id price_to_update_0"/>
            <p:cNvCxnSpPr/>
            <p:nvPr/>
          </p:nvCxnSpPr>
          <p:spPr>
            <a:xfrm>
              <a:off x="3925290" y="1787880"/>
              <a:ext cx="32690" cy="0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price_to_update_1" descr="Editable line; source id price_to_update_1"/>
            <p:cNvCxnSpPr/>
            <p:nvPr/>
          </p:nvCxnSpPr>
          <p:spPr>
            <a:xfrm flipV="1">
              <a:off x="3957980" y="774496"/>
              <a:ext cx="0" cy="1013384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price_to_update_2" descr="Editable line; source id price_to_update_2"/>
            <p:cNvSpPr/>
            <p:nvPr/>
          </p:nvSpPr>
          <p:spPr>
            <a:xfrm>
              <a:off x="3957980" y="763183"/>
              <a:ext cx="72923" cy="22631"/>
            </a:xfrm>
            <a:custGeom>
              <a:avLst/>
              <a:gdLst/>
              <a:ahLst/>
              <a:cxnLst/>
              <a:rect l="l" t="t" r="r" b="b"/>
              <a:pathLst>
                <a:path w="25723" h="7983">
                  <a:moveTo>
                    <a:pt x="0" y="2882"/>
                  </a:moveTo>
                  <a:lnTo>
                    <a:pt x="15079" y="2882"/>
                  </a:lnTo>
                  <a:lnTo>
                    <a:pt x="15079" y="0"/>
                  </a:lnTo>
                  <a:lnTo>
                    <a:pt x="25723" y="3991"/>
                  </a:lnTo>
                  <a:lnTo>
                    <a:pt x="15079" y="7983"/>
                  </a:lnTo>
                  <a:lnTo>
                    <a:pt x="15079" y="5100"/>
                  </a:lnTo>
                  <a:lnTo>
                    <a:pt x="0" y="510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8" name="price_port_0" descr="Editable text; source id price_port_0"/>
          <p:cNvSpPr txBox="1"/>
          <p:nvPr/>
        </p:nvSpPr>
        <p:spPr>
          <a:xfrm>
            <a:off x="3952679" y="613942"/>
            <a:ext cx="47485" cy="105465"/>
          </a:xfrm>
          <a:prstGeom prst="rect">
            <a:avLst/>
          </a:prstGeom>
          <a:noFill/>
          <a:effectLst/>
        </p:spPr>
        <p:txBody>
          <a:bodyPr wrap="none" anchor="t" tIns="1417" rIns="0" bIns="0" lIns="3543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rPr>
              <a:t>λ</a:t>
            </a:r>
          </a:p>
        </p:txBody>
      </p:sp>
      <p:grpSp>
        <p:nvGrpSpPr>
          <p:cNvPr id="318" name="gae_bypass" descr="One editable routed connector; fixed endpoints."/>
          <p:cNvGrpSpPr/>
          <p:nvPr/>
        </p:nvGrpSpPr>
        <p:grpSpPr>
          <a:xfrm>
            <a:off x="1058646" y="976924"/>
            <a:ext cx="2972258" cy="1137854"/>
            <a:chOff x="1058646" y="976924"/>
            <a:chExt cx="2972258" cy="1137854"/>
          </a:xfrm>
        </p:grpSpPr>
        <p:cxnSp>
          <p:nvCxnSpPr>
            <p:cNvPr id="249" name="gae_bypass_0" descr="Editable line; source id gae_bypass_0"/>
            <p:cNvCxnSpPr/>
            <p:nvPr/>
          </p:nvCxnSpPr>
          <p:spPr>
            <a:xfrm>
              <a:off x="1058646" y="2114778"/>
              <a:ext cx="2926994" cy="0"/>
            </a:xfrm>
            <a:prstGeom prst="line">
              <a:avLst/>
            </a:prstGeom>
            <a:ln w="5280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gae_bypass_1" descr="Editable line; source id gae_bypass_1"/>
            <p:cNvCxnSpPr/>
            <p:nvPr/>
          </p:nvCxnSpPr>
          <p:spPr>
            <a:xfrm flipV="1">
              <a:off x="3985640" y="988237"/>
              <a:ext cx="0" cy="1126541"/>
            </a:xfrm>
            <a:prstGeom prst="line">
              <a:avLst/>
            </a:prstGeom>
            <a:ln w="5280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gae_bypass_2" descr="Editable line; source id gae_bypass_2"/>
            <p:cNvSpPr/>
            <p:nvPr/>
          </p:nvSpPr>
          <p:spPr>
            <a:xfrm>
              <a:off x="3985641" y="976924"/>
              <a:ext cx="45263" cy="22629"/>
            </a:xfrm>
            <a:custGeom>
              <a:avLst/>
              <a:gdLst/>
              <a:ahLst/>
              <a:cxnLst/>
              <a:rect l="l" t="t" r="r" b="b"/>
              <a:pathLst>
                <a:path w="15966" h="7982">
                  <a:moveTo>
                    <a:pt x="0" y="3060"/>
                  </a:moveTo>
                  <a:lnTo>
                    <a:pt x="5322" y="3060"/>
                  </a:lnTo>
                  <a:lnTo>
                    <a:pt x="5322" y="0"/>
                  </a:lnTo>
                  <a:lnTo>
                    <a:pt x="15966" y="3991"/>
                  </a:lnTo>
                  <a:lnTo>
                    <a:pt x="5322" y="7982"/>
                  </a:lnTo>
                  <a:lnTo>
                    <a:pt x="5322" y="4922"/>
                  </a:lnTo>
                  <a:lnTo>
                    <a:pt x="0" y="4922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9" name="gae_label" descr="Editable formula parts and native mathematical delimiters."/>
          <p:cNvGrpSpPr/>
          <p:nvPr/>
        </p:nvGrpSpPr>
        <p:grpSpPr>
          <a:xfrm>
            <a:off x="2068775" y="2147071"/>
            <a:ext cx="437948" cy="123182"/>
            <a:chOff x="2068775" y="2147071"/>
            <a:chExt cx="437948" cy="123182"/>
          </a:xfrm>
        </p:grpSpPr>
        <p:sp>
          <p:nvSpPr>
            <p:cNvPr id="252" name="gae_label_0" descr="Editable text; source id gae_label_0"/>
            <p:cNvSpPr txBox="1"/>
            <p:nvPr/>
          </p:nvSpPr>
          <p:spPr>
            <a:xfrm>
              <a:off x="2068775" y="2147071"/>
              <a:ext cx="214038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GAE: </a:t>
              </a:r>
            </a:p>
          </p:txBody>
        </p:sp>
        <p:sp>
          <p:nvSpPr>
            <p:cNvPr id="253" name="gae_label_1" descr="Editable text; source id gae_label_1"/>
            <p:cNvSpPr txBox="1"/>
            <p:nvPr/>
          </p:nvSpPr>
          <p:spPr>
            <a:xfrm>
              <a:off x="2276090" y="2147071"/>
              <a:ext cx="65203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637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54" name="gae_label_2" descr="Editable text; source id gae_label_2"/>
            <p:cNvSpPr txBox="1"/>
            <p:nvPr/>
          </p:nvSpPr>
          <p:spPr>
            <a:xfrm>
              <a:off x="2337041" y="2192501"/>
              <a:ext cx="22679" cy="67235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495"/>
                </a:lnSpc>
                <a:spcBef>
                  <a:spcPts val="0"/>
                </a:spcBef>
                <a:spcAft>
                  <a:spcPts val="0"/>
                </a:spcAft>
                <a:def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255" name="gae_label_3" descr="Editable text; source id gae_label_3"/>
            <p:cNvSpPr txBox="1"/>
            <p:nvPr/>
          </p:nvSpPr>
          <p:spPr>
            <a:xfrm>
              <a:off x="2357958" y="2147071"/>
              <a:ext cx="46067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, </a:t>
              </a:r>
            </a:p>
          </p:txBody>
        </p:sp>
        <p:sp>
          <p:nvSpPr>
            <p:cNvPr id="256" name="gae_label_4" descr="Editable text; source id gae_label_4"/>
            <p:cNvSpPr txBox="1"/>
            <p:nvPr/>
          </p:nvSpPr>
          <p:spPr>
            <a:xfrm>
              <a:off x="2397301" y="2147071"/>
              <a:ext cx="65203" cy="99681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637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57" name="gae_label_5" descr="Editable text; source id gae_label_5"/>
            <p:cNvSpPr txBox="1"/>
            <p:nvPr/>
          </p:nvSpPr>
          <p:spPr>
            <a:xfrm>
              <a:off x="2458253" y="2192501"/>
              <a:ext cx="28559" cy="67235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495"/>
                </a:lnSpc>
                <a:spcBef>
                  <a:spcPts val="0"/>
                </a:spcBef>
                <a:spcAft>
                  <a:spcPts val="0"/>
                </a:spcAft>
                <a:def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31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sp>
          <p:nvSpPr>
            <p:cNvPr id="258" name="gae_label_6" descr="Editable text; source id gae_label_6"/>
            <p:cNvSpPr txBox="1"/>
            <p:nvPr/>
          </p:nvSpPr>
          <p:spPr>
            <a:xfrm>
              <a:off x="2482560" y="2220195"/>
              <a:ext cx="24163" cy="50058"/>
            </a:xfrm>
            <a:prstGeom prst="rect">
              <a:avLst/>
            </a:prstGeom>
            <a:noFill/>
            <a:effectLst/>
          </p:spPr>
          <p:txBody>
            <a:bodyPr wrap="none" anchor="t" tIns="1417" rIns="0" bIns="0" lIns="1417" anchorCtr="0" vertOverflow="overflow">
              <a:noAutofit/>
            </a:bodyPr>
            <a:lstStyle/>
            <a:p>
              <a:pPr algn="l" fontAlgn="base">
                <a:lnSpc>
                  <a:spcPts val="360"/>
                </a:lnSpc>
                <a:spcBef>
                  <a:spcPts val="0"/>
                </a:spcBef>
                <a:spcAft>
                  <a:spcPts val="0"/>
                </a:spcAft>
                <a:defRPr sz="31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31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</p:grpSp>
      <p:grpSp>
        <p:nvGrpSpPr>
          <p:cNvPr id="320" name="next_rollout" descr="One editable routed connector; fixed endpoints."/>
          <p:cNvGrpSpPr/>
          <p:nvPr/>
        </p:nvGrpSpPr>
        <p:grpSpPr>
          <a:xfrm>
            <a:off x="531836" y="2217877"/>
            <a:ext cx="3976841" cy="143333"/>
            <a:chOff x="531836" y="2217877"/>
            <a:chExt cx="3976841" cy="143333"/>
          </a:xfrm>
        </p:grpSpPr>
        <p:cxnSp>
          <p:nvCxnSpPr>
            <p:cNvPr id="259" name="next_rollout_0" descr="Editable line; source id next_rollout_0"/>
            <p:cNvCxnSpPr/>
            <p:nvPr/>
          </p:nvCxnSpPr>
          <p:spPr>
            <a:xfrm>
              <a:off x="4508677" y="2217877"/>
              <a:ext cx="0" cy="143332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next_rollout_1" descr="Editable line; source id next_rollout_1"/>
            <p:cNvCxnSpPr/>
            <p:nvPr/>
          </p:nvCxnSpPr>
          <p:spPr>
            <a:xfrm flipH="1">
              <a:off x="543153" y="2361209"/>
              <a:ext cx="3965524" cy="0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next_rollout_2" descr="Editable line; source id next_rollout_2"/>
            <p:cNvSpPr/>
            <p:nvPr/>
          </p:nvSpPr>
          <p:spPr>
            <a:xfrm>
              <a:off x="531836" y="2220392"/>
              <a:ext cx="22634" cy="140818"/>
            </a:xfrm>
            <a:custGeom>
              <a:avLst/>
              <a:gdLst/>
              <a:ahLst/>
              <a:cxnLst/>
              <a:rect l="l" t="t" r="r" b="b"/>
              <a:pathLst>
                <a:path w="7984" h="49672">
                  <a:moveTo>
                    <a:pt x="3149" y="49672"/>
                  </a:moveTo>
                  <a:lnTo>
                    <a:pt x="3149" y="10644"/>
                  </a:lnTo>
                  <a:lnTo>
                    <a:pt x="0" y="10644"/>
                  </a:lnTo>
                  <a:lnTo>
                    <a:pt x="3992" y="0"/>
                  </a:lnTo>
                  <a:lnTo>
                    <a:pt x="7984" y="10644"/>
                  </a:lnTo>
                  <a:lnTo>
                    <a:pt x="4835" y="10644"/>
                  </a:lnTo>
                  <a:lnTo>
                    <a:pt x="4835" y="49672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2" name="next_rollout_label" descr="Editable text; source id next_rollout_label"/>
          <p:cNvSpPr txBox="1"/>
          <p:nvPr/>
        </p:nvSpPr>
        <p:spPr>
          <a:xfrm>
            <a:off x="2324304" y="2387375"/>
            <a:ext cx="389096" cy="103191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683"/>
              </a:lnSpc>
              <a:spcBef>
                <a:spcPts val="0"/>
              </a:spcBef>
              <a:spcAft>
                <a:spcPts val="0"/>
              </a:spcAft>
              <a:defRPr sz="594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94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