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2514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V10 modular semantic redraw of generated reference, corrected against frozen R2. All miniatures schematic; math is native grouped text/lines, not OMML.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97" name="shared_construction" descr="shared construction"/>
          <p:cNvGrpSpPr/>
          <p:nvPr/>
        </p:nvGrpSpPr>
        <p:grpSpPr>
          <a:xfrm>
            <a:off x="875080" y="60350"/>
            <a:ext cx="3279038" cy="2338577"/>
            <a:chOff x="875080" y="60350"/>
            <a:chExt cx="3279038" cy="2338577"/>
          </a:xfrm>
        </p:grpSpPr>
        <p:sp>
          <p:nvSpPr>
            <p:cNvPr id="2" name="shared_construction_panel" descr="Editable shape; source id shared_construction_panel"/>
            <p:cNvSpPr/>
            <p:nvPr/>
          </p:nvSpPr>
          <p:spPr>
            <a:xfrm>
              <a:off x="875080" y="60350"/>
              <a:ext cx="3279038" cy="2338577"/>
            </a:xfrm>
            <a:prstGeom prst="roundRect">
              <a:avLst>
                <a:gd name="adj" fmla="val 860"/>
              </a:avLst>
            </a:prstGeom>
            <a:solidFill>
              <a:srgbClr val="FFFFFF"/>
            </a:solidFill>
            <a:ln w="6035">
              <a:solidFill>
                <a:srgbClr val="007F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method_title" descr="Editable text; source id method_title"/>
            <p:cNvSpPr txBox="1"/>
            <p:nvPr/>
          </p:nvSpPr>
          <p:spPr>
            <a:xfrm>
              <a:off x="2187490" y="112071"/>
              <a:ext cx="662724" cy="141765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  <a:defRPr sz="851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51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rPr>
                <a:t>SafeOT-Dual</a:t>
              </a:r>
            </a:p>
          </p:txBody>
        </p:sp>
        <p:sp>
          <p:nvSpPr>
            <p:cNvPr id="4" name="method_subtitle" descr="Editable text; source id method_subtitle"/>
            <p:cNvSpPr txBox="1"/>
            <p:nvPr/>
          </p:nvSpPr>
          <p:spPr>
            <a:xfrm>
              <a:off x="1955406" y="251131"/>
              <a:ext cx="1126892" cy="112093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51"/>
                </a:lnSpc>
                <a:spcBef>
                  <a:spcPts val="0"/>
                </a:spcBef>
                <a:spcAft>
                  <a:spcPts val="0"/>
                </a:spcAft>
                <a:defRPr sz="653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53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rPr>
                <a:t>One shared price construction</a:t>
              </a:r>
            </a:p>
          </p:txBody>
        </p:sp>
        <p:grpSp>
          <p:nvGrpSpPr>
            <p:cNvPr id="264" name="joint_constraints" descr="joint constraints"/>
            <p:cNvGrpSpPr/>
            <p:nvPr/>
          </p:nvGrpSpPr>
          <p:grpSpPr>
            <a:xfrm>
              <a:off x="940460" y="437540"/>
              <a:ext cx="734263" cy="1352854"/>
              <a:chOff x="940460" y="437540"/>
              <a:chExt cx="734263" cy="1352854"/>
            </a:xfrm>
          </p:grpSpPr>
          <p:sp>
            <p:nvSpPr>
              <p:cNvPr id="5" name="joint_constraints_panel" descr="Editable shape; source id joint_constraints_panel"/>
              <p:cNvSpPr/>
              <p:nvPr/>
            </p:nvSpPr>
            <p:spPr>
              <a:xfrm>
                <a:off x="940460" y="437540"/>
                <a:ext cx="734263" cy="1352854"/>
              </a:xfrm>
              <a:prstGeom prst="roundRect">
                <a:avLst>
                  <a:gd name="adj" fmla="val 2739"/>
                </a:avLst>
              </a:prstGeom>
              <a:solidFill>
                <a:srgbClr val="F6F8F9"/>
              </a:solidFill>
              <a:ln w="3268">
                <a:solidFill>
                  <a:srgbClr val="CDD7D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" name="joint_title" descr="Editable text; source id joint_title"/>
              <p:cNvSpPr txBox="1"/>
              <p:nvPr/>
            </p:nvSpPr>
            <p:spPr>
              <a:xfrm>
                <a:off x="990111" y="466998"/>
                <a:ext cx="668339" cy="109126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28"/>
                  </a:lnSpc>
                  <a:spcBef>
                    <a:spcPts val="0"/>
                  </a:spcBef>
                  <a:spcAft>
                    <a:spcPts val="0"/>
                  </a:spcAft>
                  <a:defRPr sz="633" b="1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33" b="1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rPr>
                  <a:t>Joint constraints</a:t>
                </a:r>
              </a:p>
            </p:txBody>
          </p:sp>
          <p:cxnSp>
            <p:nvCxnSpPr>
              <p:cNvPr id="7" name="joint_rule" descr="Editable line; source id joint_rule"/>
              <p:cNvCxnSpPr/>
              <p:nvPr/>
            </p:nvCxnSpPr>
            <p:spPr>
              <a:xfrm>
                <a:off x="990752" y="600989"/>
                <a:ext cx="633679" cy="0"/>
              </a:xfrm>
              <a:prstGeom prst="line">
                <a:avLst/>
              </a:prstGeom>
              <a:ln w="3268" cap="rnd">
                <a:solidFill>
                  <a:srgbClr val="CDD7DC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3" name="cost_label0" descr="Editable formula parts and native mathematical delimiters."/>
              <p:cNvGrpSpPr/>
              <p:nvPr/>
            </p:nvGrpSpPr>
            <p:grpSpPr>
              <a:xfrm>
                <a:off x="991496" y="704467"/>
                <a:ext cx="92844" cy="118398"/>
                <a:chOff x="991496" y="704467"/>
                <a:chExt cx="92844" cy="118398"/>
              </a:xfrm>
            </p:grpSpPr>
            <p:sp>
              <p:nvSpPr>
                <p:cNvPr id="8" name="cost_label0_0" descr="Editable text; source id cost_label0_0"/>
                <p:cNvSpPr txBox="1"/>
                <p:nvPr/>
              </p:nvSpPr>
              <p:spPr>
                <a:xfrm>
                  <a:off x="991496" y="704467"/>
                  <a:ext cx="63786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9" name="cost_label0_1" descr="Editable text; source id cost_label0_1"/>
                <p:cNvSpPr txBox="1"/>
                <p:nvPr/>
              </p:nvSpPr>
              <p:spPr>
                <a:xfrm>
                  <a:off x="1051030" y="751813"/>
                  <a:ext cx="33310" cy="710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2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7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7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1</a:t>
                  </a:r>
                </a:p>
              </p:txBody>
            </p:sp>
          </p:grpSp>
          <p:grpSp>
            <p:nvGrpSpPr>
              <p:cNvPr id="254" name="cost_matrix0" descr="cost matrix0"/>
              <p:cNvGrpSpPr/>
              <p:nvPr/>
            </p:nvGrpSpPr>
            <p:grpSpPr>
              <a:xfrm>
                <a:off x="1141628" y="699058"/>
                <a:ext cx="268559" cy="127741"/>
                <a:chOff x="1141628" y="699058"/>
                <a:chExt cx="268559" cy="127741"/>
              </a:xfrm>
            </p:grpSpPr>
            <p:sp>
              <p:nvSpPr>
                <p:cNvPr id="10" name="cost_matrix0_0_0" descr="Editable shape; source id cost_matrix0_0_0"/>
                <p:cNvSpPr/>
                <p:nvPr/>
              </p:nvSpPr>
              <p:spPr>
                <a:xfrm>
                  <a:off x="1141628" y="699058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" name="cost_matrix0_0_1" descr="Editable shape; source id cost_matrix0_0_1"/>
                <p:cNvSpPr/>
                <p:nvPr/>
              </p:nvSpPr>
              <p:spPr>
                <a:xfrm>
                  <a:off x="1209522" y="699058"/>
                  <a:ext cx="64876" cy="40568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2" name="cost_matrix0_0_2" descr="Editable shape; source id cost_matrix0_0_2"/>
                <p:cNvSpPr/>
                <p:nvPr/>
              </p:nvSpPr>
              <p:spPr>
                <a:xfrm>
                  <a:off x="1277416" y="699058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3" name="cost_matrix0_0_3" descr="Editable shape; source id cost_matrix0_0_3"/>
                <p:cNvSpPr/>
                <p:nvPr/>
              </p:nvSpPr>
              <p:spPr>
                <a:xfrm>
                  <a:off x="1345311" y="699058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4" name="cost_matrix0_1_0" descr="Editable shape; source id cost_matrix0_1_0"/>
                <p:cNvSpPr/>
                <p:nvPr/>
              </p:nvSpPr>
              <p:spPr>
                <a:xfrm>
                  <a:off x="1141628" y="742645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5" name="cost_matrix0_1_1" descr="Editable shape; source id cost_matrix0_1_1"/>
                <p:cNvSpPr/>
                <p:nvPr/>
              </p:nvSpPr>
              <p:spPr>
                <a:xfrm>
                  <a:off x="1209522" y="742645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6" name="cost_matrix0_1_2" descr="Editable shape; source id cost_matrix0_1_2"/>
                <p:cNvSpPr/>
                <p:nvPr/>
              </p:nvSpPr>
              <p:spPr>
                <a:xfrm>
                  <a:off x="1277416" y="742645"/>
                  <a:ext cx="64876" cy="40568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7" name="cost_matrix0_1_3" descr="Editable shape; source id cost_matrix0_1_3"/>
                <p:cNvSpPr/>
                <p:nvPr/>
              </p:nvSpPr>
              <p:spPr>
                <a:xfrm>
                  <a:off x="1345311" y="742645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8" name="cost_matrix0_2_0" descr="Editable shape; source id cost_matrix0_2_0"/>
                <p:cNvSpPr/>
                <p:nvPr/>
              </p:nvSpPr>
              <p:spPr>
                <a:xfrm>
                  <a:off x="1141628" y="786231"/>
                  <a:ext cx="64876" cy="40568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9" name="cost_matrix0_2_1" descr="Editable shape; source id cost_matrix0_2_1"/>
                <p:cNvSpPr/>
                <p:nvPr/>
              </p:nvSpPr>
              <p:spPr>
                <a:xfrm>
                  <a:off x="1209522" y="786231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0" name="cost_matrix0_2_2" descr="Editable shape; source id cost_matrix0_2_2"/>
                <p:cNvSpPr/>
                <p:nvPr/>
              </p:nvSpPr>
              <p:spPr>
                <a:xfrm>
                  <a:off x="1277416" y="786231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1" name="cost_matrix0_2_3" descr="Editable shape; source id cost_matrix0_2_3"/>
                <p:cNvSpPr/>
                <p:nvPr/>
              </p:nvSpPr>
              <p:spPr>
                <a:xfrm>
                  <a:off x="1345311" y="786231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55" name="budget_label0" descr="Editable formula parts and native mathematical delimiters."/>
              <p:cNvGrpSpPr/>
              <p:nvPr/>
            </p:nvGrpSpPr>
            <p:grpSpPr>
              <a:xfrm>
                <a:off x="1487091" y="704467"/>
                <a:ext cx="77318" cy="118398"/>
                <a:chOff x="1487091" y="704467"/>
                <a:chExt cx="77318" cy="118398"/>
              </a:xfrm>
            </p:grpSpPr>
            <p:sp>
              <p:nvSpPr>
                <p:cNvPr id="22" name="budget_label0_0" descr="Editable text; source id budget_label0_0"/>
                <p:cNvSpPr txBox="1"/>
                <p:nvPr/>
              </p:nvSpPr>
              <p:spPr>
                <a:xfrm>
                  <a:off x="1487091" y="704467"/>
                  <a:ext cx="48260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b</a:t>
                  </a:r>
                </a:p>
              </p:txBody>
            </p:sp>
            <p:sp>
              <p:nvSpPr>
                <p:cNvPr id="23" name="budget_label0_1" descr="Editable text; source id budget_label0_1"/>
                <p:cNvSpPr txBox="1"/>
                <p:nvPr/>
              </p:nvSpPr>
              <p:spPr>
                <a:xfrm>
                  <a:off x="1531099" y="751813"/>
                  <a:ext cx="33310" cy="710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2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7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7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1</a:t>
                  </a:r>
                </a:p>
              </p:txBody>
            </p:sp>
          </p:grpSp>
          <p:grpSp>
            <p:nvGrpSpPr>
              <p:cNvPr id="256" name="cost_label1" descr="Editable formula parts and native mathematical delimiters."/>
              <p:cNvGrpSpPr/>
              <p:nvPr/>
            </p:nvGrpSpPr>
            <p:grpSpPr>
              <a:xfrm>
                <a:off x="991496" y="923238"/>
                <a:ext cx="92844" cy="118398"/>
                <a:chOff x="991496" y="923238"/>
                <a:chExt cx="92844" cy="118398"/>
              </a:xfrm>
            </p:grpSpPr>
            <p:sp>
              <p:nvSpPr>
                <p:cNvPr id="24" name="cost_label1_0" descr="Editable text; source id cost_label1_0"/>
                <p:cNvSpPr txBox="1"/>
                <p:nvPr/>
              </p:nvSpPr>
              <p:spPr>
                <a:xfrm>
                  <a:off x="991496" y="923238"/>
                  <a:ext cx="63786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25" name="cost_label1_1" descr="Editable text; source id cost_label1_1"/>
                <p:cNvSpPr txBox="1"/>
                <p:nvPr/>
              </p:nvSpPr>
              <p:spPr>
                <a:xfrm>
                  <a:off x="1051030" y="970584"/>
                  <a:ext cx="33310" cy="710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2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7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7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2</a:t>
                  </a:r>
                </a:p>
              </p:txBody>
            </p:sp>
          </p:grpSp>
          <p:grpSp>
            <p:nvGrpSpPr>
              <p:cNvPr id="257" name="cost_matrix1" descr="cost matrix1"/>
              <p:cNvGrpSpPr/>
              <p:nvPr/>
            </p:nvGrpSpPr>
            <p:grpSpPr>
              <a:xfrm>
                <a:off x="1141628" y="917828"/>
                <a:ext cx="268559" cy="127741"/>
                <a:chOff x="1141628" y="917828"/>
                <a:chExt cx="268559" cy="127741"/>
              </a:xfrm>
            </p:grpSpPr>
            <p:sp>
              <p:nvSpPr>
                <p:cNvPr id="26" name="cost_matrix1_0_0" descr="Editable shape; source id cost_matrix1_0_0"/>
                <p:cNvSpPr/>
                <p:nvPr/>
              </p:nvSpPr>
              <p:spPr>
                <a:xfrm>
                  <a:off x="1141628" y="917828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7" name="cost_matrix1_0_1" descr="Editable shape; source id cost_matrix1_0_1"/>
                <p:cNvSpPr/>
                <p:nvPr/>
              </p:nvSpPr>
              <p:spPr>
                <a:xfrm>
                  <a:off x="1209522" y="917828"/>
                  <a:ext cx="64876" cy="40568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8" name="cost_matrix1_0_2" descr="Editable shape; source id cost_matrix1_0_2"/>
                <p:cNvSpPr/>
                <p:nvPr/>
              </p:nvSpPr>
              <p:spPr>
                <a:xfrm>
                  <a:off x="1277416" y="917828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9" name="cost_matrix1_0_3" descr="Editable shape; source id cost_matrix1_0_3"/>
                <p:cNvSpPr/>
                <p:nvPr/>
              </p:nvSpPr>
              <p:spPr>
                <a:xfrm>
                  <a:off x="1345311" y="917828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0" name="cost_matrix1_1_0" descr="Editable shape; source id cost_matrix1_1_0"/>
                <p:cNvSpPr/>
                <p:nvPr/>
              </p:nvSpPr>
              <p:spPr>
                <a:xfrm>
                  <a:off x="1141628" y="961415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1" name="cost_matrix1_1_1" descr="Editable shape; source id cost_matrix1_1_1"/>
                <p:cNvSpPr/>
                <p:nvPr/>
              </p:nvSpPr>
              <p:spPr>
                <a:xfrm>
                  <a:off x="1209522" y="961415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2" name="cost_matrix1_1_2" descr="Editable shape; source id cost_matrix1_1_2"/>
                <p:cNvSpPr/>
                <p:nvPr/>
              </p:nvSpPr>
              <p:spPr>
                <a:xfrm>
                  <a:off x="1277416" y="961415"/>
                  <a:ext cx="64876" cy="40568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3" name="cost_matrix1_1_3" descr="Editable shape; source id cost_matrix1_1_3"/>
                <p:cNvSpPr/>
                <p:nvPr/>
              </p:nvSpPr>
              <p:spPr>
                <a:xfrm>
                  <a:off x="1345311" y="961415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4" name="cost_matrix1_2_0" descr="Editable shape; source id cost_matrix1_2_0"/>
                <p:cNvSpPr/>
                <p:nvPr/>
              </p:nvSpPr>
              <p:spPr>
                <a:xfrm>
                  <a:off x="1141628" y="1005001"/>
                  <a:ext cx="64876" cy="40568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5" name="cost_matrix1_2_1" descr="Editable shape; source id cost_matrix1_2_1"/>
                <p:cNvSpPr/>
                <p:nvPr/>
              </p:nvSpPr>
              <p:spPr>
                <a:xfrm>
                  <a:off x="1209522" y="1005001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6" name="cost_matrix1_2_2" descr="Editable shape; source id cost_matrix1_2_2"/>
                <p:cNvSpPr/>
                <p:nvPr/>
              </p:nvSpPr>
              <p:spPr>
                <a:xfrm>
                  <a:off x="1277416" y="1005001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7" name="cost_matrix1_2_3" descr="Editable shape; source id cost_matrix1_2_3"/>
                <p:cNvSpPr/>
                <p:nvPr/>
              </p:nvSpPr>
              <p:spPr>
                <a:xfrm>
                  <a:off x="1345311" y="1005001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58" name="budget_label1" descr="Editable formula parts and native mathematical delimiters."/>
              <p:cNvGrpSpPr/>
              <p:nvPr/>
            </p:nvGrpSpPr>
            <p:grpSpPr>
              <a:xfrm>
                <a:off x="1487091" y="923238"/>
                <a:ext cx="77318" cy="118398"/>
                <a:chOff x="1487091" y="923238"/>
                <a:chExt cx="77318" cy="118398"/>
              </a:xfrm>
            </p:grpSpPr>
            <p:sp>
              <p:nvSpPr>
                <p:cNvPr id="38" name="budget_label1_0" descr="Editable text; source id budget_label1_0"/>
                <p:cNvSpPr txBox="1"/>
                <p:nvPr/>
              </p:nvSpPr>
              <p:spPr>
                <a:xfrm>
                  <a:off x="1487091" y="923238"/>
                  <a:ext cx="48260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b</a:t>
                  </a:r>
                </a:p>
              </p:txBody>
            </p:sp>
            <p:sp>
              <p:nvSpPr>
                <p:cNvPr id="39" name="budget_label1_1" descr="Editable text; source id budget_label1_1"/>
                <p:cNvSpPr txBox="1"/>
                <p:nvPr/>
              </p:nvSpPr>
              <p:spPr>
                <a:xfrm>
                  <a:off x="1531099" y="970584"/>
                  <a:ext cx="33310" cy="710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2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7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7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2</a:t>
                  </a:r>
                </a:p>
              </p:txBody>
            </p:sp>
          </p:grpSp>
          <p:grpSp>
            <p:nvGrpSpPr>
              <p:cNvPr id="259" name="cost_label2" descr="Editable formula parts and native mathematical delimiters."/>
              <p:cNvGrpSpPr/>
              <p:nvPr/>
            </p:nvGrpSpPr>
            <p:grpSpPr>
              <a:xfrm>
                <a:off x="985050" y="1142008"/>
                <a:ext cx="105734" cy="118398"/>
                <a:chOff x="985050" y="1142008"/>
                <a:chExt cx="105734" cy="118398"/>
              </a:xfrm>
            </p:grpSpPr>
            <p:sp>
              <p:nvSpPr>
                <p:cNvPr id="40" name="cost_label2_0" descr="Editable text; source id cost_label2_0"/>
                <p:cNvSpPr txBox="1"/>
                <p:nvPr/>
              </p:nvSpPr>
              <p:spPr>
                <a:xfrm>
                  <a:off x="985050" y="1142008"/>
                  <a:ext cx="63786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41" name="cost_label2_1" descr="Editable text; source id cost_label2_1"/>
                <p:cNvSpPr txBox="1"/>
                <p:nvPr/>
              </p:nvSpPr>
              <p:spPr>
                <a:xfrm>
                  <a:off x="1044584" y="1189354"/>
                  <a:ext cx="46200" cy="710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2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7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7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</p:grpSp>
          <p:grpSp>
            <p:nvGrpSpPr>
              <p:cNvPr id="260" name="cost_matrix2" descr="cost matrix2"/>
              <p:cNvGrpSpPr/>
              <p:nvPr/>
            </p:nvGrpSpPr>
            <p:grpSpPr>
              <a:xfrm>
                <a:off x="1141628" y="1136599"/>
                <a:ext cx="268559" cy="127741"/>
                <a:chOff x="1141628" y="1136599"/>
                <a:chExt cx="268559" cy="127741"/>
              </a:xfrm>
            </p:grpSpPr>
            <p:sp>
              <p:nvSpPr>
                <p:cNvPr id="42" name="cost_matrix2_0_0" descr="Editable shape; source id cost_matrix2_0_0"/>
                <p:cNvSpPr/>
                <p:nvPr/>
              </p:nvSpPr>
              <p:spPr>
                <a:xfrm>
                  <a:off x="1141628" y="1136599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3" name="cost_matrix2_0_1" descr="Editable shape; source id cost_matrix2_0_1"/>
                <p:cNvSpPr/>
                <p:nvPr/>
              </p:nvSpPr>
              <p:spPr>
                <a:xfrm>
                  <a:off x="1209522" y="1136599"/>
                  <a:ext cx="64876" cy="40568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4" name="cost_matrix2_0_2" descr="Editable shape; source id cost_matrix2_0_2"/>
                <p:cNvSpPr/>
                <p:nvPr/>
              </p:nvSpPr>
              <p:spPr>
                <a:xfrm>
                  <a:off x="1277416" y="1136599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5" name="cost_matrix2_0_3" descr="Editable shape; source id cost_matrix2_0_3"/>
                <p:cNvSpPr/>
                <p:nvPr/>
              </p:nvSpPr>
              <p:spPr>
                <a:xfrm>
                  <a:off x="1345311" y="1136599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6" name="cost_matrix2_1_0" descr="Editable shape; source id cost_matrix2_1_0"/>
                <p:cNvSpPr/>
                <p:nvPr/>
              </p:nvSpPr>
              <p:spPr>
                <a:xfrm>
                  <a:off x="1141628" y="1180185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7" name="cost_matrix2_1_1" descr="Editable shape; source id cost_matrix2_1_1"/>
                <p:cNvSpPr/>
                <p:nvPr/>
              </p:nvSpPr>
              <p:spPr>
                <a:xfrm>
                  <a:off x="1209522" y="1180185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8" name="cost_matrix2_1_2" descr="Editable shape; source id cost_matrix2_1_2"/>
                <p:cNvSpPr/>
                <p:nvPr/>
              </p:nvSpPr>
              <p:spPr>
                <a:xfrm>
                  <a:off x="1277416" y="1180185"/>
                  <a:ext cx="64876" cy="40568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9" name="cost_matrix2_1_3" descr="Editable shape; source id cost_matrix2_1_3"/>
                <p:cNvSpPr/>
                <p:nvPr/>
              </p:nvSpPr>
              <p:spPr>
                <a:xfrm>
                  <a:off x="1345311" y="1180185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0" name="cost_matrix2_2_0" descr="Editable shape; source id cost_matrix2_2_0"/>
                <p:cNvSpPr/>
                <p:nvPr/>
              </p:nvSpPr>
              <p:spPr>
                <a:xfrm>
                  <a:off x="1141628" y="1223772"/>
                  <a:ext cx="64876" cy="40568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1" name="cost_matrix2_2_1" descr="Editable shape; source id cost_matrix2_2_1"/>
                <p:cNvSpPr/>
                <p:nvPr/>
              </p:nvSpPr>
              <p:spPr>
                <a:xfrm>
                  <a:off x="1209522" y="1223772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2" name="cost_matrix2_2_2" descr="Editable shape; source id cost_matrix2_2_2"/>
                <p:cNvSpPr/>
                <p:nvPr/>
              </p:nvSpPr>
              <p:spPr>
                <a:xfrm>
                  <a:off x="1277416" y="1223772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3" name="cost_matrix2_2_3" descr="Editable shape; source id cost_matrix2_2_3"/>
                <p:cNvSpPr/>
                <p:nvPr/>
              </p:nvSpPr>
              <p:spPr>
                <a:xfrm>
                  <a:off x="1345311" y="1223772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61" name="budget_label2" descr="Editable formula parts and native mathematical delimiters."/>
              <p:cNvGrpSpPr/>
              <p:nvPr/>
            </p:nvGrpSpPr>
            <p:grpSpPr>
              <a:xfrm>
                <a:off x="1480646" y="1142008"/>
                <a:ext cx="90208" cy="118398"/>
                <a:chOff x="1480646" y="1142008"/>
                <a:chExt cx="90208" cy="118398"/>
              </a:xfrm>
            </p:grpSpPr>
            <p:sp>
              <p:nvSpPr>
                <p:cNvPr id="54" name="budget_label2_0" descr="Editable text; source id budget_label2_0"/>
                <p:cNvSpPr txBox="1"/>
                <p:nvPr/>
              </p:nvSpPr>
              <p:spPr>
                <a:xfrm>
                  <a:off x="1480646" y="1142008"/>
                  <a:ext cx="48260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b</a:t>
                  </a:r>
                </a:p>
              </p:txBody>
            </p:sp>
            <p:sp>
              <p:nvSpPr>
                <p:cNvPr id="55" name="budget_label2_1" descr="Editable text; source id budget_label2_1"/>
                <p:cNvSpPr txBox="1"/>
                <p:nvPr/>
              </p:nvSpPr>
              <p:spPr>
                <a:xfrm>
                  <a:off x="1524654" y="1189354"/>
                  <a:ext cx="46200" cy="710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2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7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7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</p:grpSp>
          <p:cxnSp>
            <p:nvCxnSpPr>
              <p:cNvPr id="56" name="constraint_inner_rule" descr="Editable line; source id constraint_inner_rule"/>
              <p:cNvCxnSpPr/>
              <p:nvPr/>
            </p:nvCxnSpPr>
            <p:spPr>
              <a:xfrm>
                <a:off x="1000810" y="1378000"/>
                <a:ext cx="613563" cy="0"/>
              </a:xfrm>
              <a:prstGeom prst="line">
                <a:avLst/>
              </a:prstGeom>
              <a:ln w="3017" cap="rnd">
                <a:solidFill>
                  <a:srgbClr val="CDD7DC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hard_support_label" descr="Editable text; source id hard_support_label"/>
              <p:cNvSpPr txBox="1"/>
              <p:nvPr/>
            </p:nvSpPr>
            <p:spPr>
              <a:xfrm>
                <a:off x="976910" y="1406681"/>
                <a:ext cx="669867" cy="103191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683"/>
                  </a:lnSpc>
                  <a:spcBef>
                    <a:spcPts val="0"/>
                  </a:spcBef>
                  <a:spcAft>
                    <a:spcPts val="0"/>
                  </a:spcAft>
                  <a:defRPr sz="594" b="0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594" b="0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rPr>
                  <a:t>Hard graph support</a:t>
                </a:r>
              </a:p>
            </p:txBody>
          </p:sp>
          <p:grpSp>
            <p:nvGrpSpPr>
              <p:cNvPr id="262" name="hard_support" descr="hard support"/>
              <p:cNvGrpSpPr/>
              <p:nvPr/>
            </p:nvGrpSpPr>
            <p:grpSpPr>
              <a:xfrm>
                <a:off x="1101394" y="1538935"/>
                <a:ext cx="412394" cy="60350"/>
                <a:chOff x="1101394" y="1538935"/>
                <a:chExt cx="412394" cy="60350"/>
              </a:xfrm>
            </p:grpSpPr>
            <p:sp>
              <p:nvSpPr>
                <p:cNvPr id="58" name="hard_support_a" descr="Editable shape; source id hard_support_a"/>
                <p:cNvSpPr/>
                <p:nvPr/>
              </p:nvSpPr>
              <p:spPr>
                <a:xfrm>
                  <a:off x="1101394" y="1538935"/>
                  <a:ext cx="60350" cy="60350"/>
                </a:xfrm>
                <a:prstGeom prst="ellipse">
                  <a:avLst/>
                </a:prstGeom>
                <a:solidFill>
                  <a:srgbClr val="FFFFFF"/>
                </a:solidFill>
                <a:ln w="4526">
                  <a:solidFill>
                    <a:srgbClr val="77858D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9" name="hard_support_b" descr="Editable shape; source id hard_support_b"/>
                <p:cNvSpPr/>
                <p:nvPr/>
              </p:nvSpPr>
              <p:spPr>
                <a:xfrm>
                  <a:off x="1453438" y="1538935"/>
                  <a:ext cx="60350" cy="60350"/>
                </a:xfrm>
                <a:prstGeom prst="ellipse">
                  <a:avLst/>
                </a:prstGeom>
                <a:solidFill>
                  <a:srgbClr val="FFFFFF"/>
                </a:solidFill>
                <a:ln w="4526">
                  <a:solidFill>
                    <a:srgbClr val="77858D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cxnSp>
              <p:nvCxnSpPr>
                <p:cNvPr id="60" name="hard_support_l" descr="Editable line; source id hard_support_l"/>
                <p:cNvCxnSpPr/>
                <p:nvPr/>
              </p:nvCxnSpPr>
              <p:spPr>
                <a:xfrm>
                  <a:off x="1174318" y="1569110"/>
                  <a:ext cx="80467" cy="0"/>
                </a:xfrm>
                <a:prstGeom prst="line">
                  <a:avLst/>
                </a:prstGeom>
                <a:ln w="5029" cap="rnd">
                  <a:solidFill>
                    <a:srgbClr val="77858D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hard_support_r" descr="Editable line; source id hard_support_r"/>
                <p:cNvCxnSpPr/>
                <p:nvPr/>
              </p:nvCxnSpPr>
              <p:spPr>
                <a:xfrm>
                  <a:off x="1360398" y="1569110"/>
                  <a:ext cx="80467" cy="0"/>
                </a:xfrm>
                <a:prstGeom prst="line">
                  <a:avLst/>
                </a:prstGeom>
                <a:ln w="5029" cap="rnd">
                  <a:solidFill>
                    <a:srgbClr val="77858D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hard_support_x1" descr="Editable line; source id hard_support_x1"/>
                <p:cNvCxnSpPr/>
                <p:nvPr/>
              </p:nvCxnSpPr>
              <p:spPr>
                <a:xfrm>
                  <a:off x="1282445" y="1543964"/>
                  <a:ext cx="50293" cy="50292"/>
                </a:xfrm>
                <a:prstGeom prst="line">
                  <a:avLst/>
                </a:prstGeom>
                <a:ln w="6537" cap="rnd">
                  <a:solidFill>
                    <a:srgbClr val="77858D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hard_support_x2" descr="Editable line; source id hard_support_x2"/>
                <p:cNvCxnSpPr/>
                <p:nvPr/>
              </p:nvCxnSpPr>
              <p:spPr>
                <a:xfrm flipV="1">
                  <a:off x="1282445" y="1543964"/>
                  <a:ext cx="50293" cy="50292"/>
                </a:xfrm>
                <a:prstGeom prst="line">
                  <a:avLst/>
                </a:prstGeom>
                <a:ln w="6537" cap="rnd">
                  <a:solidFill>
                    <a:srgbClr val="77858D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3" name="hard_zero" descr="Editable formula parts and native mathematical delimiters."/>
              <p:cNvGrpSpPr/>
              <p:nvPr/>
            </p:nvGrpSpPr>
            <p:grpSpPr>
              <a:xfrm>
                <a:off x="1181555" y="1635258"/>
                <a:ext cx="250065" cy="121619"/>
                <a:chOff x="1181555" y="1635258"/>
                <a:chExt cx="250065" cy="121619"/>
              </a:xfrm>
            </p:grpSpPr>
            <p:sp>
              <p:nvSpPr>
                <p:cNvPr id="64" name="hard_zero_0" descr="Editable text; source id hard_zero_0"/>
                <p:cNvSpPr txBox="1"/>
                <p:nvPr/>
              </p:nvSpPr>
              <p:spPr>
                <a:xfrm>
                  <a:off x="1181555" y="1635258"/>
                  <a:ext cx="62368" cy="108356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2126" anchorCtr="0" vertOverflow="overflow">
                  <a:noAutofit/>
                </a:bodyPr>
                <a:lstStyle/>
                <a:p>
                  <a:pPr algn="l" fontAlgn="base">
                    <a:lnSpc>
                      <a:spcPts val="81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2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2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F</a:t>
                  </a:r>
                </a:p>
              </p:txBody>
            </p:sp>
            <p:sp>
              <p:nvSpPr>
                <p:cNvPr id="65" name="hard_zero_1" descr="Editable text; source id hard_zero_1"/>
                <p:cNvSpPr txBox="1"/>
                <p:nvPr/>
              </p:nvSpPr>
              <p:spPr>
                <a:xfrm>
                  <a:off x="1239672" y="1683916"/>
                  <a:ext cx="47485" cy="7296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4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70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70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H</a:t>
                  </a:r>
                </a:p>
              </p:txBody>
            </p:sp>
            <p:sp>
              <p:nvSpPr>
                <p:cNvPr id="66" name="hard_zero_2" descr="Editable text; source id hard_zero_2"/>
                <p:cNvSpPr txBox="1"/>
                <p:nvPr/>
              </p:nvSpPr>
              <p:spPr>
                <a:xfrm>
                  <a:off x="1285621" y="1635258"/>
                  <a:ext cx="145999" cy="108356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81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2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2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 = 0</a:t>
                  </a:r>
                </a:p>
              </p:txBody>
            </p:sp>
          </p:grpSp>
        </p:grpSp>
        <p:grpSp>
          <p:nvGrpSpPr>
            <p:cNvPr id="273" name="graph_problem" descr="graph problem"/>
            <p:cNvGrpSpPr/>
            <p:nvPr/>
          </p:nvGrpSpPr>
          <p:grpSpPr>
            <a:xfrm>
              <a:off x="1780336" y="437540"/>
              <a:ext cx="1061161" cy="1352854"/>
              <a:chOff x="1780336" y="437540"/>
              <a:chExt cx="1061161" cy="1352854"/>
            </a:xfrm>
          </p:grpSpPr>
          <p:sp>
            <p:nvSpPr>
              <p:cNvPr id="67" name="graph_problem_panel" descr="Editable shape; source id graph_problem_panel"/>
              <p:cNvSpPr/>
              <p:nvPr/>
            </p:nvSpPr>
            <p:spPr>
              <a:xfrm>
                <a:off x="1780336" y="437540"/>
                <a:ext cx="1061161" cy="1352854"/>
              </a:xfrm>
              <a:prstGeom prst="roundRect">
                <a:avLst>
                  <a:gd name="adj" fmla="val 1895"/>
                </a:avLst>
              </a:prstGeom>
              <a:solidFill>
                <a:srgbClr val="F6F8F9"/>
              </a:solidFill>
              <a:ln w="3268">
                <a:solidFill>
                  <a:srgbClr val="CDD7D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" name="graph_title" descr="Editable text; source id graph_title"/>
              <p:cNvSpPr txBox="1"/>
              <p:nvPr/>
            </p:nvSpPr>
            <p:spPr>
              <a:xfrm>
                <a:off x="1829988" y="466998"/>
                <a:ext cx="752944" cy="109126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28"/>
                  </a:lnSpc>
                  <a:spcBef>
                    <a:spcPts val="0"/>
                  </a:spcBef>
                  <a:spcAft>
                    <a:spcPts val="0"/>
                  </a:spcAft>
                  <a:defRPr sz="633" b="1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33" b="1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rPr>
                  <a:t>Graph optimization</a:t>
                </a:r>
              </a:p>
            </p:txBody>
          </p:sp>
          <p:cxnSp>
            <p:nvCxnSpPr>
              <p:cNvPr id="69" name="graph_rule" descr="Editable line; source id graph_rule"/>
              <p:cNvCxnSpPr/>
              <p:nvPr/>
            </p:nvCxnSpPr>
            <p:spPr>
              <a:xfrm>
                <a:off x="1830628" y="600989"/>
                <a:ext cx="960578" cy="0"/>
              </a:xfrm>
              <a:prstGeom prst="line">
                <a:avLst/>
              </a:prstGeom>
              <a:ln w="3268" cap="rnd">
                <a:solidFill>
                  <a:srgbClr val="CDD7DC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5" name="joint_graph" descr="joint graph"/>
              <p:cNvGrpSpPr/>
              <p:nvPr/>
            </p:nvGrpSpPr>
            <p:grpSpPr>
              <a:xfrm>
                <a:off x="1875891" y="721690"/>
                <a:ext cx="870051" cy="447598"/>
                <a:chOff x="1875891" y="721690"/>
                <a:chExt cx="870051" cy="447598"/>
              </a:xfrm>
            </p:grpSpPr>
            <p:sp>
              <p:nvSpPr>
                <p:cNvPr id="70" name="joint_graph_edge0" descr="Editable line; source id joint_graph_edge0"/>
                <p:cNvSpPr/>
                <p:nvPr/>
              </p:nvSpPr>
              <p:spPr>
                <a:xfrm>
                  <a:off x="1953583" y="797823"/>
                  <a:ext cx="131428" cy="1172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360" h="41373">
                      <a:moveTo>
                        <a:pt x="0" y="39251"/>
                      </a:moveTo>
                      <a:lnTo>
                        <a:pt x="37457" y="6004"/>
                      </a:lnTo>
                      <a:lnTo>
                        <a:pt x="35750" y="4080"/>
                      </a:lnTo>
                      <a:lnTo>
                        <a:pt x="46360" y="0"/>
                      </a:lnTo>
                      <a:lnTo>
                        <a:pt x="41049" y="10051"/>
                      </a:lnTo>
                      <a:lnTo>
                        <a:pt x="39341" y="8127"/>
                      </a:lnTo>
                      <a:lnTo>
                        <a:pt x="1884" y="41373"/>
                      </a:lnTo>
                      <a:close/>
                    </a:path>
                  </a:pathLst>
                </a:custGeom>
                <a:solidFill>
                  <a:srgbClr val="007F85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1" name="joint_graph_edge1" descr="Editable line; source id joint_graph_edge1"/>
                <p:cNvSpPr/>
                <p:nvPr/>
              </p:nvSpPr>
              <p:spPr>
                <a:xfrm>
                  <a:off x="2172915" y="753124"/>
                  <a:ext cx="260314" cy="226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823" h="7983">
                      <a:moveTo>
                        <a:pt x="0" y="2572"/>
                      </a:moveTo>
                      <a:lnTo>
                        <a:pt x="81179" y="2572"/>
                      </a:lnTo>
                      <a:lnTo>
                        <a:pt x="81179" y="0"/>
                      </a:lnTo>
                      <a:lnTo>
                        <a:pt x="91823" y="3991"/>
                      </a:lnTo>
                      <a:lnTo>
                        <a:pt x="81179" y="7983"/>
                      </a:lnTo>
                      <a:lnTo>
                        <a:pt x="81179" y="5410"/>
                      </a:lnTo>
                      <a:lnTo>
                        <a:pt x="0" y="5410"/>
                      </a:lnTo>
                      <a:close/>
                    </a:path>
                  </a:pathLst>
                </a:custGeom>
                <a:solidFill>
                  <a:srgbClr val="007F85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2" name="joint_graph_edge2" descr="Editable line; source id joint_graph_edge2"/>
                <p:cNvSpPr/>
                <p:nvPr/>
              </p:nvSpPr>
              <p:spPr>
                <a:xfrm>
                  <a:off x="2519771" y="793321"/>
                  <a:ext cx="144614" cy="1201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011" h="42393">
                      <a:moveTo>
                        <a:pt x="1805" y="0"/>
                      </a:moveTo>
                      <a:lnTo>
                        <a:pt x="43700" y="34528"/>
                      </a:lnTo>
                      <a:lnTo>
                        <a:pt x="45336" y="32543"/>
                      </a:lnTo>
                      <a:lnTo>
                        <a:pt x="51011" y="42393"/>
                      </a:lnTo>
                      <a:lnTo>
                        <a:pt x="40259" y="38704"/>
                      </a:lnTo>
                      <a:lnTo>
                        <a:pt x="41895" y="36719"/>
                      </a:lnTo>
                      <a:lnTo>
                        <a:pt x="0" y="2190"/>
                      </a:lnTo>
                      <a:close/>
                    </a:path>
                  </a:pathLst>
                </a:custGeom>
                <a:solidFill>
                  <a:srgbClr val="007F85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3" name="joint_graph_edge3" descr="Editable line; source id joint_graph_edge3"/>
                <p:cNvSpPr/>
                <p:nvPr/>
              </p:nvSpPr>
              <p:spPr>
                <a:xfrm>
                  <a:off x="1954335" y="976711"/>
                  <a:ext cx="130677" cy="1164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095" h="41075">
                      <a:moveTo>
                        <a:pt x="1354" y="0"/>
                      </a:moveTo>
                      <a:lnTo>
                        <a:pt x="38811" y="33246"/>
                      </a:lnTo>
                      <a:lnTo>
                        <a:pt x="40784" y="31024"/>
                      </a:lnTo>
                      <a:lnTo>
                        <a:pt x="46095" y="41075"/>
                      </a:lnTo>
                      <a:lnTo>
                        <a:pt x="35485" y="36995"/>
                      </a:lnTo>
                      <a:lnTo>
                        <a:pt x="37457" y="34772"/>
                      </a:lnTo>
                      <a:lnTo>
                        <a:pt x="0" y="1526"/>
                      </a:lnTo>
                      <a:close/>
                    </a:path>
                  </a:pathLst>
                </a:custGeom>
                <a:solidFill>
                  <a:srgbClr val="007F85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4" name="joint_graph_edge4" descr="Editable line; source id joint_graph_edge4"/>
                <p:cNvSpPr/>
                <p:nvPr/>
              </p:nvSpPr>
              <p:spPr>
                <a:xfrm>
                  <a:off x="2172915" y="1115224"/>
                  <a:ext cx="260314" cy="226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823" h="7983">
                      <a:moveTo>
                        <a:pt x="0" y="2972"/>
                      </a:moveTo>
                      <a:lnTo>
                        <a:pt x="81179" y="2972"/>
                      </a:lnTo>
                      <a:lnTo>
                        <a:pt x="81179" y="0"/>
                      </a:lnTo>
                      <a:lnTo>
                        <a:pt x="91823" y="3992"/>
                      </a:lnTo>
                      <a:lnTo>
                        <a:pt x="81179" y="7983"/>
                      </a:lnTo>
                      <a:lnTo>
                        <a:pt x="81179" y="5012"/>
                      </a:lnTo>
                      <a:lnTo>
                        <a:pt x="0" y="5012"/>
                      </a:lnTo>
                      <a:close/>
                    </a:path>
                  </a:pathLst>
                </a:custGeom>
                <a:solidFill>
                  <a:srgbClr val="007F85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5" name="joint_graph_edge5" descr="Editable line; source id joint_graph_edge5"/>
                <p:cNvSpPr/>
                <p:nvPr/>
              </p:nvSpPr>
              <p:spPr>
                <a:xfrm>
                  <a:off x="2520491" y="977476"/>
                  <a:ext cx="143894" cy="119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757" h="42085">
                      <a:moveTo>
                        <a:pt x="0" y="40511"/>
                      </a:moveTo>
                      <a:lnTo>
                        <a:pt x="41895" y="5982"/>
                      </a:lnTo>
                      <a:lnTo>
                        <a:pt x="40005" y="3689"/>
                      </a:lnTo>
                      <a:lnTo>
                        <a:pt x="50757" y="0"/>
                      </a:lnTo>
                      <a:lnTo>
                        <a:pt x="45082" y="9850"/>
                      </a:lnTo>
                      <a:lnTo>
                        <a:pt x="43192" y="7557"/>
                      </a:lnTo>
                      <a:lnTo>
                        <a:pt x="1297" y="42085"/>
                      </a:lnTo>
                      <a:close/>
                    </a:path>
                  </a:pathLst>
                </a:custGeom>
                <a:solidFill>
                  <a:srgbClr val="007F85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6" name="joint_graph_edge6" descr="Editable line; source id joint_graph_edge6"/>
                <p:cNvSpPr/>
                <p:nvPr/>
              </p:nvSpPr>
              <p:spPr>
                <a:xfrm>
                  <a:off x="2111309" y="814730"/>
                  <a:ext cx="22631" cy="2615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3" h="92248">
                      <a:moveTo>
                        <a:pt x="5011" y="0"/>
                      </a:moveTo>
                      <a:lnTo>
                        <a:pt x="5011" y="81604"/>
                      </a:lnTo>
                      <a:lnTo>
                        <a:pt x="7983" y="81604"/>
                      </a:lnTo>
                      <a:lnTo>
                        <a:pt x="3991" y="92248"/>
                      </a:lnTo>
                      <a:lnTo>
                        <a:pt x="0" y="81604"/>
                      </a:lnTo>
                      <a:lnTo>
                        <a:pt x="2971" y="81604"/>
                      </a:lnTo>
                      <a:lnTo>
                        <a:pt x="2971" y="0"/>
                      </a:lnTo>
                      <a:close/>
                    </a:path>
                  </a:pathLst>
                </a:custGeom>
                <a:solidFill>
                  <a:srgbClr val="77858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7" name="joint_graph_edge7" descr="Editable line; source id joint_graph_edge7"/>
                <p:cNvSpPr/>
                <p:nvPr/>
              </p:nvSpPr>
              <p:spPr>
                <a:xfrm>
                  <a:off x="2472203" y="814730"/>
                  <a:ext cx="22631" cy="2615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3" h="92248">
                      <a:moveTo>
                        <a:pt x="5012" y="0"/>
                      </a:moveTo>
                      <a:lnTo>
                        <a:pt x="5012" y="81604"/>
                      </a:lnTo>
                      <a:lnTo>
                        <a:pt x="7983" y="81604"/>
                      </a:lnTo>
                      <a:lnTo>
                        <a:pt x="3992" y="92248"/>
                      </a:lnTo>
                      <a:lnTo>
                        <a:pt x="0" y="81604"/>
                      </a:lnTo>
                      <a:lnTo>
                        <a:pt x="2972" y="81604"/>
                      </a:lnTo>
                      <a:lnTo>
                        <a:pt x="2972" y="0"/>
                      </a:lnTo>
                      <a:close/>
                    </a:path>
                  </a:pathLst>
                </a:custGeom>
                <a:solidFill>
                  <a:srgbClr val="77858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8" name="joint_graph_node1" descr="Editable shape; source id joint_graph_node1"/>
                <p:cNvSpPr/>
                <p:nvPr/>
              </p:nvSpPr>
              <p:spPr>
                <a:xfrm>
                  <a:off x="1875891" y="902741"/>
                  <a:ext cx="85496" cy="85496"/>
                </a:xfrm>
                <a:prstGeom prst="ellipse">
                  <a:avLst/>
                </a:prstGeom>
                <a:solidFill>
                  <a:srgbClr val="FFFFFF"/>
                </a:solidFill>
                <a:ln w="5029">
                  <a:solidFill>
                    <a:srgbClr val="007F85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9" name="joint_graph_node2" descr="Editable shape; source id joint_graph_node2"/>
                <p:cNvSpPr/>
                <p:nvPr/>
              </p:nvSpPr>
              <p:spPr>
                <a:xfrm>
                  <a:off x="2079875" y="721690"/>
                  <a:ext cx="85496" cy="85496"/>
                </a:xfrm>
                <a:prstGeom prst="ellipse">
                  <a:avLst/>
                </a:prstGeom>
                <a:solidFill>
                  <a:srgbClr val="ECF5F4"/>
                </a:solidFill>
                <a:ln w="5029">
                  <a:solidFill>
                    <a:srgbClr val="007F85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0" name="joint_graph_node3" descr="Editable shape; source id joint_graph_node3"/>
                <p:cNvSpPr/>
                <p:nvPr/>
              </p:nvSpPr>
              <p:spPr>
                <a:xfrm>
                  <a:off x="2440771" y="721690"/>
                  <a:ext cx="85496" cy="85496"/>
                </a:xfrm>
                <a:prstGeom prst="ellipse">
                  <a:avLst/>
                </a:prstGeom>
                <a:solidFill>
                  <a:srgbClr val="FFFFFF"/>
                </a:solidFill>
                <a:ln w="5029">
                  <a:solidFill>
                    <a:srgbClr val="007F85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1" name="joint_graph_node4" descr="Editable shape; source id joint_graph_node4"/>
                <p:cNvSpPr/>
                <p:nvPr/>
              </p:nvSpPr>
              <p:spPr>
                <a:xfrm>
                  <a:off x="2660446" y="902741"/>
                  <a:ext cx="85496" cy="85496"/>
                </a:xfrm>
                <a:prstGeom prst="ellipse">
                  <a:avLst/>
                </a:prstGeom>
                <a:solidFill>
                  <a:srgbClr val="007F85"/>
                </a:solidFill>
                <a:ln w="5029">
                  <a:solidFill>
                    <a:srgbClr val="007F85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2" name="joint_graph_node5" descr="Editable shape; source id joint_graph_node5"/>
                <p:cNvSpPr/>
                <p:nvPr/>
              </p:nvSpPr>
              <p:spPr>
                <a:xfrm>
                  <a:off x="2079875" y="1083792"/>
                  <a:ext cx="85496" cy="85496"/>
                </a:xfrm>
                <a:prstGeom prst="ellipse">
                  <a:avLst/>
                </a:prstGeom>
                <a:solidFill>
                  <a:srgbClr val="ECF5F4"/>
                </a:solidFill>
                <a:ln w="5029">
                  <a:solidFill>
                    <a:srgbClr val="007F85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3" name="joint_graph_node6" descr="Editable shape; source id joint_graph_node6"/>
                <p:cNvSpPr/>
                <p:nvPr/>
              </p:nvSpPr>
              <p:spPr>
                <a:xfrm>
                  <a:off x="2440771" y="1083792"/>
                  <a:ext cx="85496" cy="85496"/>
                </a:xfrm>
                <a:prstGeom prst="ellipse">
                  <a:avLst/>
                </a:prstGeom>
                <a:solidFill>
                  <a:srgbClr val="FFFFFF"/>
                </a:solidFill>
                <a:ln w="5029">
                  <a:solidFill>
                    <a:srgbClr val="007F85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68" name="objective_1" descr="Editable formula parts and native mathematical delimiters."/>
              <p:cNvGrpSpPr/>
              <p:nvPr/>
            </p:nvGrpSpPr>
            <p:grpSpPr>
              <a:xfrm>
                <a:off x="2026902" y="1238019"/>
                <a:ext cx="558967" cy="128769"/>
                <a:chOff x="2026902" y="1238019"/>
                <a:chExt cx="558967" cy="128769"/>
              </a:xfrm>
            </p:grpSpPr>
            <p:sp>
              <p:nvSpPr>
                <p:cNvPr id="84" name="objective_1_0" descr="Editable text; source id objective_1_0"/>
                <p:cNvSpPr txBox="1"/>
                <p:nvPr/>
              </p:nvSpPr>
              <p:spPr>
                <a:xfrm>
                  <a:off x="2026902" y="1238019"/>
                  <a:ext cx="153087" cy="114140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86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2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2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min</a:t>
                  </a:r>
                </a:p>
              </p:txBody>
            </p:sp>
            <p:sp>
              <p:nvSpPr>
                <p:cNvPr id="85" name="objective_1_1" descr="Editable text; source id objective_1_1"/>
                <p:cNvSpPr txBox="1"/>
                <p:nvPr/>
              </p:nvSpPr>
              <p:spPr>
                <a:xfrm>
                  <a:off x="2175737" y="1290010"/>
                  <a:ext cx="105601" cy="76778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7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96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96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F≥0</a:t>
                  </a:r>
                </a:p>
              </p:txBody>
            </p:sp>
            <p:sp>
              <p:nvSpPr>
                <p:cNvPr id="86" name="objective_1_2" descr="Editable text; source id objective_1_2"/>
                <p:cNvSpPr txBox="1"/>
                <p:nvPr/>
              </p:nvSpPr>
              <p:spPr>
                <a:xfrm>
                  <a:off x="2279953" y="1238019"/>
                  <a:ext cx="105911" cy="114140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86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2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2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 − </a:t>
                  </a:r>
                </a:p>
              </p:txBody>
            </p:sp>
            <p:sp>
              <p:nvSpPr>
                <p:cNvPr id="87" name="objective_1_3" descr="Editable text; source id objective_1_3"/>
                <p:cNvSpPr txBox="1"/>
                <p:nvPr/>
              </p:nvSpPr>
              <p:spPr>
                <a:xfrm>
                  <a:off x="2407476" y="1238019"/>
                  <a:ext cx="157339" cy="114140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7087" anchorCtr="0" vertOverflow="overflow">
                  <a:noAutofit/>
                </a:bodyPr>
                <a:lstStyle/>
                <a:p>
                  <a:pPr algn="l" fontAlgn="base">
                    <a:lnSpc>
                      <a:spcPts val="86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2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2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A,F</a:t>
                  </a:r>
                </a:p>
              </p:txBody>
            </p:sp>
            <p:grpSp>
              <p:nvGrpSpPr>
                <p:cNvPr id="266" name="objective_1_angle_0" descr="One editable routed connector; fixed endpoints."/>
                <p:cNvGrpSpPr/>
                <p:nvPr/>
              </p:nvGrpSpPr>
              <p:grpSpPr>
                <a:xfrm>
                  <a:off x="2391630" y="1256394"/>
                  <a:ext cx="15289" cy="76444"/>
                  <a:chOff x="2391630" y="1256394"/>
                  <a:chExt cx="15289" cy="76444"/>
                </a:xfrm>
              </p:grpSpPr>
              <p:cxnSp>
                <p:nvCxnSpPr>
                  <p:cNvPr id="88" name="objective_1_angle_0_0" descr="Editable line; source id objective_1_angle_0_0"/>
                  <p:cNvCxnSpPr/>
                  <p:nvPr/>
                </p:nvCxnSpPr>
                <p:spPr>
                  <a:xfrm flipH="1">
                    <a:off x="2391630" y="1256394"/>
                    <a:ext cx="15289" cy="38222"/>
                  </a:xfrm>
                  <a:prstGeom prst="line">
                    <a:avLst/>
                  </a:prstGeom>
                  <a:ln w="3822" cap="rnd">
                    <a:solidFill>
                      <a:srgbClr val="29343E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" name="objective_1_angle_0_1" descr="Editable line; source id objective_1_angle_0_1"/>
                  <p:cNvCxnSpPr/>
                  <p:nvPr/>
                </p:nvCxnSpPr>
                <p:spPr>
                  <a:xfrm>
                    <a:off x="2391630" y="1294616"/>
                    <a:ext cx="15289" cy="38222"/>
                  </a:xfrm>
                  <a:prstGeom prst="line">
                    <a:avLst/>
                  </a:prstGeom>
                  <a:ln w="3822" cap="rnd">
                    <a:solidFill>
                      <a:srgbClr val="29343E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67" name="objective_1_angle_1" descr="One editable routed connector; fixed endpoints."/>
                <p:cNvGrpSpPr/>
                <p:nvPr/>
              </p:nvGrpSpPr>
              <p:grpSpPr>
                <a:xfrm>
                  <a:off x="2570581" y="1256394"/>
                  <a:ext cx="15288" cy="76444"/>
                  <a:chOff x="2570581" y="1256394"/>
                  <a:chExt cx="15288" cy="76444"/>
                </a:xfrm>
              </p:grpSpPr>
              <p:cxnSp>
                <p:nvCxnSpPr>
                  <p:cNvPr id="90" name="objective_1_angle_1_0" descr="Editable line; source id objective_1_angle_1_0"/>
                  <p:cNvCxnSpPr/>
                  <p:nvPr/>
                </p:nvCxnSpPr>
                <p:spPr>
                  <a:xfrm>
                    <a:off x="2570581" y="1256394"/>
                    <a:ext cx="15288" cy="38222"/>
                  </a:xfrm>
                  <a:prstGeom prst="line">
                    <a:avLst/>
                  </a:prstGeom>
                  <a:ln w="3822" cap="rnd">
                    <a:solidFill>
                      <a:srgbClr val="29343E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1" name="objective_1_angle_1_1" descr="Editable line; source id objective_1_angle_1_1"/>
                  <p:cNvCxnSpPr/>
                  <p:nvPr/>
                </p:nvCxnSpPr>
                <p:spPr>
                  <a:xfrm flipH="1">
                    <a:off x="2570581" y="1294616"/>
                    <a:ext cx="15288" cy="38222"/>
                  </a:xfrm>
                  <a:prstGeom prst="line">
                    <a:avLst/>
                  </a:prstGeom>
                  <a:ln w="3822" cap="rnd">
                    <a:solidFill>
                      <a:srgbClr val="29343E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69" name="objective_2" descr="Editable formula parts and native mathematical delimiters."/>
              <p:cNvGrpSpPr/>
              <p:nvPr/>
            </p:nvGrpSpPr>
            <p:grpSpPr>
              <a:xfrm>
                <a:off x="2044834" y="1361234"/>
                <a:ext cx="530717" cy="114140"/>
                <a:chOff x="2044834" y="1361234"/>
                <a:chExt cx="530717" cy="114140"/>
              </a:xfrm>
            </p:grpSpPr>
            <p:sp>
              <p:nvSpPr>
                <p:cNvPr id="92" name="objective_2_0" descr="Editable text; source id objective_2_0"/>
                <p:cNvSpPr txBox="1"/>
                <p:nvPr/>
              </p:nvSpPr>
              <p:spPr>
                <a:xfrm>
                  <a:off x="2044834" y="1361234"/>
                  <a:ext cx="385076" cy="114140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86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2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2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+ ε KL(F </a:t>
                  </a:r>
                </a:p>
              </p:txBody>
            </p:sp>
            <p:sp>
              <p:nvSpPr>
                <p:cNvPr id="93" name="objective_2_1" descr="Editable text; source id objective_2_1"/>
                <p:cNvSpPr txBox="1"/>
                <p:nvPr/>
              </p:nvSpPr>
              <p:spPr>
                <a:xfrm>
                  <a:off x="2457192" y="1361234"/>
                  <a:ext cx="118359" cy="114140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86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2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2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 F̂)</a:t>
                  </a:r>
                </a:p>
              </p:txBody>
            </p:sp>
            <p:cxnSp>
              <p:nvCxnSpPr>
                <p:cNvPr id="94" name="objective_2_parallel_0_0" descr="Editable line; source id objective_2_parallel_0_0"/>
                <p:cNvCxnSpPr/>
                <p:nvPr/>
              </p:nvCxnSpPr>
              <p:spPr>
                <a:xfrm>
                  <a:off x="2437587" y="1379610"/>
                  <a:ext cx="0" cy="76443"/>
                </a:xfrm>
                <a:prstGeom prst="line">
                  <a:avLst/>
                </a:prstGeom>
                <a:ln w="3822" cap="rnd">
                  <a:solidFill>
                    <a:srgbClr val="29343E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objective_2_parallel_0_1" descr="Editable line; source id objective_2_parallel_0_1"/>
                <p:cNvCxnSpPr/>
                <p:nvPr/>
              </p:nvCxnSpPr>
              <p:spPr>
                <a:xfrm>
                  <a:off x="2450965" y="1379610"/>
                  <a:ext cx="0" cy="76443"/>
                </a:xfrm>
                <a:prstGeom prst="line">
                  <a:avLst/>
                </a:prstGeom>
                <a:ln w="3822" cap="rnd">
                  <a:solidFill>
                    <a:srgbClr val="29343E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6" name="balance" descr="Editable text; source id balance"/>
              <p:cNvSpPr txBox="1"/>
              <p:nvPr/>
            </p:nvSpPr>
            <p:spPr>
              <a:xfrm>
                <a:off x="1902618" y="1507265"/>
                <a:ext cx="825103" cy="103191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683"/>
                  </a:lnSpc>
                  <a:spcBef>
                    <a:spcPts val="0"/>
                  </a:spcBef>
                  <a:spcAft>
                    <a:spcPts val="0"/>
                  </a:spcAft>
                  <a:defRPr sz="594" b="0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594" b="0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rPr>
                  <a:t>discounted flow balance</a:t>
                </a:r>
              </a:p>
            </p:txBody>
          </p:sp>
          <p:grpSp>
            <p:nvGrpSpPr>
              <p:cNvPr id="272" name="budget_constraint" descr="Editable formula parts and native mathematical delimiters."/>
              <p:cNvGrpSpPr/>
              <p:nvPr/>
            </p:nvGrpSpPr>
            <p:grpSpPr>
              <a:xfrm>
                <a:off x="2113197" y="1635258"/>
                <a:ext cx="400990" cy="121619"/>
                <a:chOff x="2113197" y="1635258"/>
                <a:chExt cx="400990" cy="121619"/>
              </a:xfrm>
            </p:grpSpPr>
            <p:sp>
              <p:nvSpPr>
                <p:cNvPr id="97" name="budget_constraint_0" descr="Editable text; source id budget_constraint_0"/>
                <p:cNvSpPr txBox="1"/>
                <p:nvPr/>
              </p:nvSpPr>
              <p:spPr>
                <a:xfrm>
                  <a:off x="2133506" y="1635258"/>
                  <a:ext cx="65912" cy="108356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81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2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2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98" name="budget_constraint_1" descr="Editable text; source id budget_constraint_1"/>
                <p:cNvSpPr txBox="1"/>
                <p:nvPr/>
              </p:nvSpPr>
              <p:spPr>
                <a:xfrm>
                  <a:off x="2195166" y="1683916"/>
                  <a:ext cx="34130" cy="7296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4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70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70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  <p:sp>
              <p:nvSpPr>
                <p:cNvPr id="99" name="budget_constraint_2" descr="Editable text; source id budget_constraint_2"/>
                <p:cNvSpPr txBox="1"/>
                <p:nvPr/>
              </p:nvSpPr>
              <p:spPr>
                <a:xfrm>
                  <a:off x="2227759" y="1635258"/>
                  <a:ext cx="83631" cy="108356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81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2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2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,F</a:t>
                  </a:r>
                </a:p>
              </p:txBody>
            </p:sp>
            <p:sp>
              <p:nvSpPr>
                <p:cNvPr id="100" name="budget_constraint_3" descr="Editable text; source id budget_constraint_3"/>
                <p:cNvSpPr txBox="1"/>
                <p:nvPr/>
              </p:nvSpPr>
              <p:spPr>
                <a:xfrm>
                  <a:off x="2337011" y="1635258"/>
                  <a:ext cx="99223" cy="108356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81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2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2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 ≤ </a:t>
                  </a:r>
                </a:p>
              </p:txBody>
            </p:sp>
            <p:sp>
              <p:nvSpPr>
                <p:cNvPr id="101" name="budget_constraint_4" descr="Editable text; source id budget_constraint_4"/>
                <p:cNvSpPr txBox="1"/>
                <p:nvPr/>
              </p:nvSpPr>
              <p:spPr>
                <a:xfrm>
                  <a:off x="2434698" y="1635258"/>
                  <a:ext cx="49611" cy="108356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81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2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2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b</a:t>
                  </a:r>
                </a:p>
              </p:txBody>
            </p:sp>
            <p:sp>
              <p:nvSpPr>
                <p:cNvPr id="102" name="budget_constraint_5" descr="Editable text; source id budget_constraint_5"/>
                <p:cNvSpPr txBox="1"/>
                <p:nvPr/>
              </p:nvSpPr>
              <p:spPr>
                <a:xfrm>
                  <a:off x="2480057" y="1683916"/>
                  <a:ext cx="34130" cy="7296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4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70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70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  <p:grpSp>
              <p:nvGrpSpPr>
                <p:cNvPr id="270" name="budget_constraint_angle_0" descr="One editable routed connector; fixed endpoints."/>
                <p:cNvGrpSpPr/>
                <p:nvPr/>
              </p:nvGrpSpPr>
              <p:grpSpPr>
                <a:xfrm>
                  <a:off x="2113197" y="1652293"/>
                  <a:ext cx="14484" cy="72420"/>
                  <a:chOff x="2113197" y="1652293"/>
                  <a:chExt cx="14484" cy="72420"/>
                </a:xfrm>
              </p:grpSpPr>
              <p:cxnSp>
                <p:nvCxnSpPr>
                  <p:cNvPr id="103" name="budget_constraint_angle_0_0" descr="Editable line; source id budget_constraint_angle_0_0"/>
                  <p:cNvCxnSpPr/>
                  <p:nvPr/>
                </p:nvCxnSpPr>
                <p:spPr>
                  <a:xfrm flipH="1">
                    <a:off x="2113197" y="1652293"/>
                    <a:ext cx="14484" cy="36210"/>
                  </a:xfrm>
                  <a:prstGeom prst="line">
                    <a:avLst/>
                  </a:prstGeom>
                  <a:ln w="3621" cap="rnd">
                    <a:solidFill>
                      <a:srgbClr val="29343E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" name="budget_constraint_angle_0_1" descr="Editable line; source id budget_constraint_angle_0_1"/>
                  <p:cNvCxnSpPr/>
                  <p:nvPr/>
                </p:nvCxnSpPr>
                <p:spPr>
                  <a:xfrm>
                    <a:off x="2113197" y="1688503"/>
                    <a:ext cx="14484" cy="36210"/>
                  </a:xfrm>
                  <a:prstGeom prst="line">
                    <a:avLst/>
                  </a:prstGeom>
                  <a:ln w="3621" cap="rnd">
                    <a:solidFill>
                      <a:srgbClr val="29343E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71" name="budget_constraint_angle_1" descr="One editable routed connector; fixed endpoints."/>
                <p:cNvGrpSpPr/>
                <p:nvPr/>
              </p:nvGrpSpPr>
              <p:grpSpPr>
                <a:xfrm>
                  <a:off x="2316703" y="1652293"/>
                  <a:ext cx="14484" cy="72420"/>
                  <a:chOff x="2316703" y="1652293"/>
                  <a:chExt cx="14484" cy="72420"/>
                </a:xfrm>
              </p:grpSpPr>
              <p:cxnSp>
                <p:nvCxnSpPr>
                  <p:cNvPr id="105" name="budget_constraint_angle_1_0" descr="Editable line; source id budget_constraint_angle_1_0"/>
                  <p:cNvCxnSpPr/>
                  <p:nvPr/>
                </p:nvCxnSpPr>
                <p:spPr>
                  <a:xfrm>
                    <a:off x="2316703" y="1652293"/>
                    <a:ext cx="14484" cy="36210"/>
                  </a:xfrm>
                  <a:prstGeom prst="line">
                    <a:avLst/>
                  </a:prstGeom>
                  <a:ln w="3621" cap="rnd">
                    <a:solidFill>
                      <a:srgbClr val="29343E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" name="budget_constraint_angle_1_1" descr="Editable line; source id budget_constraint_angle_1_1"/>
                  <p:cNvCxnSpPr/>
                  <p:nvPr/>
                </p:nvCxnSpPr>
                <p:spPr>
                  <a:xfrm flipH="1">
                    <a:off x="2316703" y="1688503"/>
                    <a:ext cx="14484" cy="36210"/>
                  </a:xfrm>
                  <a:prstGeom prst="line">
                    <a:avLst/>
                  </a:prstGeom>
                  <a:ln w="3621" cap="rnd">
                    <a:solidFill>
                      <a:srgbClr val="29343E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290" name="shared_price" descr="shared price"/>
            <p:cNvGrpSpPr/>
            <p:nvPr/>
          </p:nvGrpSpPr>
          <p:grpSpPr>
            <a:xfrm>
              <a:off x="2947111" y="437540"/>
              <a:ext cx="1141628" cy="1352854"/>
              <a:chOff x="2947111" y="437540"/>
              <a:chExt cx="1141628" cy="1352854"/>
            </a:xfrm>
          </p:grpSpPr>
          <p:sp>
            <p:nvSpPr>
              <p:cNvPr id="107" name="shared_price_panel" descr="Editable shape; source id shared_price_panel"/>
              <p:cNvSpPr/>
              <p:nvPr/>
            </p:nvSpPr>
            <p:spPr>
              <a:xfrm>
                <a:off x="2947111" y="437540"/>
                <a:ext cx="1141628" cy="1352854"/>
              </a:xfrm>
              <a:prstGeom prst="roundRect">
                <a:avLst>
                  <a:gd name="adj" fmla="val 1762"/>
                </a:avLst>
              </a:prstGeom>
              <a:solidFill>
                <a:srgbClr val="F6F8F9"/>
              </a:solidFill>
              <a:ln w="3268">
                <a:solidFill>
                  <a:srgbClr val="CDD7D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" name="price_title" descr="Editable text; source id price_title"/>
              <p:cNvSpPr txBox="1"/>
              <p:nvPr/>
            </p:nvSpPr>
            <p:spPr>
              <a:xfrm>
                <a:off x="2996762" y="466998"/>
                <a:ext cx="762601" cy="109126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28"/>
                  </a:lnSpc>
                  <a:spcBef>
                    <a:spcPts val="0"/>
                  </a:spcBef>
                  <a:spcAft>
                    <a:spcPts val="0"/>
                  </a:spcAft>
                  <a:defRPr sz="633" b="1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33" b="1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rPr>
                  <a:t>Shared safety price</a:t>
                </a:r>
              </a:p>
            </p:txBody>
          </p:sp>
          <p:cxnSp>
            <p:nvCxnSpPr>
              <p:cNvPr id="109" name="price_rule" descr="Editable line; source id price_rule"/>
              <p:cNvCxnSpPr/>
              <p:nvPr/>
            </p:nvCxnSpPr>
            <p:spPr>
              <a:xfrm>
                <a:off x="2997403" y="600989"/>
                <a:ext cx="1041044" cy="0"/>
              </a:xfrm>
              <a:prstGeom prst="line">
                <a:avLst/>
              </a:prstGeom>
              <a:ln w="3268" cap="rnd">
                <a:solidFill>
                  <a:srgbClr val="CDD7DC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4" name="raw_price" descr="Editable formula parts and native mathematical delimiters."/>
              <p:cNvGrpSpPr/>
              <p:nvPr/>
            </p:nvGrpSpPr>
            <p:grpSpPr>
              <a:xfrm>
                <a:off x="3099691" y="652911"/>
                <a:ext cx="82833" cy="130948"/>
                <a:chOff x="3099691" y="652911"/>
                <a:chExt cx="82833" cy="130948"/>
              </a:xfrm>
            </p:grpSpPr>
            <p:sp>
              <p:nvSpPr>
                <p:cNvPr id="110" name="raw_price_0" descr="Editable text; source id raw_price_0"/>
                <p:cNvSpPr txBox="1"/>
                <p:nvPr/>
              </p:nvSpPr>
              <p:spPr>
                <a:xfrm>
                  <a:off x="3099691" y="669719"/>
                  <a:ext cx="51305" cy="114140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4252" anchorCtr="0" vertOverflow="overflow">
                  <a:noAutofit/>
                </a:bodyPr>
                <a:lstStyle/>
                <a:p>
                  <a:pPr algn="l" fontAlgn="base">
                    <a:lnSpc>
                      <a:spcPts val="86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2" b="0" i="1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2" b="0" i="1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rPr>
                    <a:t>λ</a:t>
                  </a:r>
                </a:p>
              </p:txBody>
            </p:sp>
            <p:sp>
              <p:nvSpPr>
                <p:cNvPr id="111" name="raw_price_1" descr="Editable text; source id raw_price_1"/>
                <p:cNvSpPr txBox="1"/>
                <p:nvPr/>
              </p:nvSpPr>
              <p:spPr>
                <a:xfrm>
                  <a:off x="3146744" y="652911"/>
                  <a:ext cx="35780" cy="76778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7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96" b="0" i="0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96" b="0" i="0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rPr>
                    <a:t>*</a:t>
                  </a:r>
                </a:p>
              </p:txBody>
            </p:sp>
          </p:grpSp>
          <p:sp>
            <p:nvSpPr>
              <p:cNvPr id="112" name="raw_to_filter" descr="Editable line; source id raw_to_filter"/>
              <p:cNvSpPr/>
              <p:nvPr/>
            </p:nvSpPr>
            <p:spPr>
              <a:xfrm>
                <a:off x="3221203" y="710376"/>
                <a:ext cx="77953" cy="22629"/>
              </a:xfrm>
              <a:custGeom>
                <a:avLst/>
                <a:gdLst/>
                <a:ahLst/>
                <a:cxnLst/>
                <a:rect l="l" t="t" r="r" b="b"/>
                <a:pathLst>
                  <a:path w="27497" h="7982">
                    <a:moveTo>
                      <a:pt x="0" y="2971"/>
                    </a:moveTo>
                    <a:lnTo>
                      <a:pt x="16853" y="2971"/>
                    </a:lnTo>
                    <a:lnTo>
                      <a:pt x="16853" y="0"/>
                    </a:lnTo>
                    <a:lnTo>
                      <a:pt x="27497" y="3991"/>
                    </a:lnTo>
                    <a:lnTo>
                      <a:pt x="16853" y="7982"/>
                    </a:lnTo>
                    <a:lnTo>
                      <a:pt x="16853" y="5011"/>
                    </a:lnTo>
                    <a:lnTo>
                      <a:pt x="0" y="5011"/>
                    </a:lnTo>
                    <a:close/>
                  </a:path>
                </a:pathLst>
              </a:custGeom>
              <a:solidFill>
                <a:srgbClr val="007F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275" name="clip_filter" descr="clip filter"/>
              <p:cNvGrpSpPr/>
              <p:nvPr/>
            </p:nvGrpSpPr>
            <p:grpSpPr>
              <a:xfrm>
                <a:off x="3311728" y="661339"/>
                <a:ext cx="676427" cy="130759"/>
                <a:chOff x="3311728" y="661339"/>
                <a:chExt cx="676427" cy="130759"/>
              </a:xfrm>
            </p:grpSpPr>
            <p:sp>
              <p:nvSpPr>
                <p:cNvPr id="113" name="clip_filter_panel" descr="Editable shape; source id clip_filter_panel"/>
                <p:cNvSpPr/>
                <p:nvPr/>
              </p:nvSpPr>
              <p:spPr>
                <a:xfrm>
                  <a:off x="3311728" y="661339"/>
                  <a:ext cx="676427" cy="130759"/>
                </a:xfrm>
                <a:prstGeom prst="roundRect">
                  <a:avLst>
                    <a:gd name="adj" fmla="val 15384"/>
                  </a:avLst>
                </a:prstGeom>
                <a:solidFill>
                  <a:srgbClr val="ECF5F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4" name="clip_filter_label" descr="Editable text; source id clip_filter_label"/>
                <p:cNvSpPr txBox="1"/>
                <p:nvPr/>
              </p:nvSpPr>
              <p:spPr>
                <a:xfrm>
                  <a:off x="3451854" y="673195"/>
                  <a:ext cx="402164" cy="109126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5669" rIns="0" bIns="0" lIns="5669" anchorCtr="0" vertOverflow="overflow">
                  <a:noAutofit/>
                </a:bodyPr>
                <a:lstStyle/>
                <a:p>
                  <a:pPr algn="l" fontAlgn="base">
                    <a:lnSpc>
                      <a:spcPts val="72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33" b="0" i="0" lang="zh-CN" dirty="0">
                      <a:solidFill>
                        <a:srgbClr val="007F85"/>
                      </a:solidFill>
                      <a:latin typeface="Liberation Sans"/>
                      <a:ea typeface="Liberation Sans"/>
                      <a:cs typeface="Liberation Sans"/>
                    </a:defRPr>
                  </a:pPr>
                  <a:r>
                    <a:rPr sz="633" b="0" i="0" lang="zh-CN" dirty="0">
                      <a:solidFill>
                        <a:srgbClr val="007F85"/>
                      </a:solidFill>
                      <a:latin typeface="Liberation Sans"/>
                      <a:ea typeface="Liberation Sans"/>
                      <a:cs typeface="Liberation Sans"/>
                    </a:rPr>
                    <a:t>Clip + filter</a:t>
                  </a:r>
                </a:p>
              </p:txBody>
            </p:sp>
          </p:grpSp>
          <p:sp>
            <p:nvSpPr>
              <p:cNvPr id="115" name="filter_to_graph_price" descr="Editable line; source id filter_to_graph_price"/>
              <p:cNvSpPr/>
              <p:nvPr/>
            </p:nvSpPr>
            <p:spPr>
              <a:xfrm>
                <a:off x="3637370" y="807187"/>
                <a:ext cx="22631" cy="57836"/>
              </a:xfrm>
              <a:custGeom>
                <a:avLst/>
                <a:gdLst/>
                <a:ahLst/>
                <a:cxnLst/>
                <a:rect l="l" t="t" r="r" b="b"/>
                <a:pathLst>
                  <a:path w="7983" h="20401">
                    <a:moveTo>
                      <a:pt x="5011" y="0"/>
                    </a:moveTo>
                    <a:lnTo>
                      <a:pt x="5011" y="9757"/>
                    </a:lnTo>
                    <a:lnTo>
                      <a:pt x="7983" y="9757"/>
                    </a:lnTo>
                    <a:lnTo>
                      <a:pt x="3991" y="20401"/>
                    </a:lnTo>
                    <a:lnTo>
                      <a:pt x="0" y="9757"/>
                    </a:lnTo>
                    <a:lnTo>
                      <a:pt x="2971" y="9757"/>
                    </a:lnTo>
                    <a:lnTo>
                      <a:pt x="2971" y="0"/>
                    </a:lnTo>
                    <a:close/>
                  </a:path>
                </a:pathLst>
              </a:custGeom>
              <a:solidFill>
                <a:srgbClr val="007F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276" name="conditioned_price" descr="Editable formula parts and native mathematical delimiters."/>
              <p:cNvGrpSpPr/>
              <p:nvPr/>
            </p:nvGrpSpPr>
            <p:grpSpPr>
              <a:xfrm>
                <a:off x="3217051" y="906337"/>
                <a:ext cx="119311" cy="147898"/>
                <a:chOff x="3217051" y="906337"/>
                <a:chExt cx="119311" cy="147898"/>
              </a:xfrm>
            </p:grpSpPr>
            <p:sp>
              <p:nvSpPr>
                <p:cNvPr id="116" name="conditioned_price_0" descr="Editable text; source id conditioned_price_0"/>
                <p:cNvSpPr txBox="1"/>
                <p:nvPr/>
              </p:nvSpPr>
              <p:spPr>
                <a:xfrm>
                  <a:off x="3217051" y="925636"/>
                  <a:ext cx="83631" cy="12859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4252" anchorCtr="0" vertOverflow="overflow">
                  <a:noAutofit/>
                </a:bodyPr>
                <a:lstStyle/>
                <a:p>
                  <a:pPr algn="l" fontAlgn="base">
                    <a:lnSpc>
                      <a:spcPts val="97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851" b="0" i="1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851" b="0" i="1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rPr>
                    <a:t>λ̄</a:t>
                  </a:r>
                </a:p>
              </p:txBody>
            </p:sp>
            <p:sp>
              <p:nvSpPr>
                <p:cNvPr id="117" name="conditioned_price_1" descr="Editable text; source id conditioned_price_1"/>
                <p:cNvSpPr txBox="1"/>
                <p:nvPr/>
              </p:nvSpPr>
              <p:spPr>
                <a:xfrm>
                  <a:off x="3296430" y="906337"/>
                  <a:ext cx="39932" cy="8632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64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561" b="0" i="0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561" b="0" i="0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rPr>
                    <a:t>*</a:t>
                  </a:r>
                </a:p>
              </p:txBody>
            </p:sp>
          </p:grpSp>
          <p:sp>
            <p:nvSpPr>
              <p:cNvPr id="118" name="conditioned_label" descr="Editable text; source id conditioned_label"/>
              <p:cNvSpPr txBox="1"/>
              <p:nvPr/>
            </p:nvSpPr>
            <p:spPr>
              <a:xfrm>
                <a:off x="3084490" y="1054637"/>
                <a:ext cx="397601" cy="103191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683"/>
                  </a:lnSpc>
                  <a:spcBef>
                    <a:spcPts val="0"/>
                  </a:spcBef>
                  <a:spcAft>
                    <a:spcPts val="0"/>
                  </a:spcAft>
                  <a:defRPr sz="594" b="0" i="0" lang="zh-CN" dirty="0">
                    <a:solidFill>
                      <a:srgbClr val="007F85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594" b="0" i="0" lang="zh-CN" dirty="0">
                    <a:solidFill>
                      <a:srgbClr val="007F85"/>
                    </a:solidFill>
                    <a:latin typeface="Liberation Sans"/>
                    <a:ea typeface="Liberation Sans"/>
                    <a:cs typeface="Liberation Sans"/>
                  </a:rPr>
                  <a:t>graph price</a:t>
                </a:r>
              </a:p>
            </p:txBody>
          </p:sp>
          <p:sp>
            <p:nvSpPr>
              <p:cNvPr id="119" name="feedback_price_0" descr="Editable text; source id feedback_price_0"/>
              <p:cNvSpPr txBox="1"/>
              <p:nvPr/>
            </p:nvSpPr>
            <p:spPr>
              <a:xfrm>
                <a:off x="3738739" y="925636"/>
                <a:ext cx="62368" cy="128599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3543" anchorCtr="0" vertOverflow="overflow">
                <a:noAutofit/>
              </a:bodyPr>
              <a:lstStyle/>
              <a:p>
                <a:pPr algn="l" fontAlgn="base">
                  <a:lnSpc>
                    <a:spcPts val="979"/>
                  </a:lnSpc>
                  <a:spcBef>
                    <a:spcPts val="0"/>
                  </a:spcBef>
                  <a:spcAft>
                    <a:spcPts val="0"/>
                  </a:spcAft>
                  <a:defRPr sz="851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851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β</a:t>
                </a:r>
              </a:p>
            </p:txBody>
          </p:sp>
          <p:sp>
            <p:nvSpPr>
              <p:cNvPr id="120" name="feedback_label" descr="Editable text; source id feedback_label"/>
              <p:cNvSpPr txBox="1"/>
              <p:nvPr/>
            </p:nvSpPr>
            <p:spPr>
              <a:xfrm>
                <a:off x="3533055" y="1054637"/>
                <a:ext cx="486193" cy="103191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683"/>
                  </a:lnSpc>
                  <a:spcBef>
                    <a:spcPts val="0"/>
                  </a:spcBef>
                  <a:spcAft>
                    <a:spcPts val="0"/>
                  </a:spcAft>
                  <a:defRPr sz="594" b="0" i="0" lang="zh-CN" dirty="0">
                    <a:solidFill>
                      <a:srgbClr val="B78129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594" b="0" i="0" lang="zh-CN" dirty="0">
                    <a:solidFill>
                      <a:srgbClr val="B78129"/>
                    </a:solidFill>
                    <a:latin typeface="Liberation Sans"/>
                    <a:ea typeface="Liberation Sans"/>
                    <a:cs typeface="Liberation Sans"/>
                  </a:rPr>
                  <a:t>cost feedback</a:t>
                </a:r>
              </a:p>
            </p:txBody>
          </p:sp>
          <p:grpSp>
            <p:nvGrpSpPr>
              <p:cNvPr id="277" name="filtered_route" descr="One editable routed connector; fixed endpoints."/>
              <p:cNvGrpSpPr/>
              <p:nvPr/>
            </p:nvGrpSpPr>
            <p:grpSpPr>
              <a:xfrm>
                <a:off x="3267721" y="872566"/>
                <a:ext cx="380963" cy="35204"/>
                <a:chOff x="3267721" y="872566"/>
                <a:chExt cx="380963" cy="35204"/>
              </a:xfrm>
            </p:grpSpPr>
            <p:cxnSp>
              <p:nvCxnSpPr>
                <p:cNvPr id="121" name="filtered_route_0" descr="Editable line; source id filtered_route_0"/>
                <p:cNvCxnSpPr/>
                <p:nvPr/>
              </p:nvCxnSpPr>
              <p:spPr>
                <a:xfrm flipH="1">
                  <a:off x="3279038" y="872566"/>
                  <a:ext cx="369646" cy="0"/>
                </a:xfrm>
                <a:prstGeom prst="line">
                  <a:avLst/>
                </a:prstGeom>
                <a:ln w="5532" cap="rnd">
                  <a:solidFill>
                    <a:srgbClr val="007F85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2" name="filtered_route_1" descr="Editable line; source id filtered_route_1"/>
                <p:cNvSpPr/>
                <p:nvPr/>
              </p:nvSpPr>
              <p:spPr>
                <a:xfrm>
                  <a:off x="3267721" y="872566"/>
                  <a:ext cx="22634" cy="352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4" h="12418">
                      <a:moveTo>
                        <a:pt x="4968" y="0"/>
                      </a:moveTo>
                      <a:lnTo>
                        <a:pt x="4968" y="1774"/>
                      </a:lnTo>
                      <a:lnTo>
                        <a:pt x="7984" y="1774"/>
                      </a:lnTo>
                      <a:lnTo>
                        <a:pt x="3992" y="12418"/>
                      </a:lnTo>
                      <a:lnTo>
                        <a:pt x="0" y="1774"/>
                      </a:lnTo>
                      <a:lnTo>
                        <a:pt x="3016" y="1774"/>
                      </a:lnTo>
                      <a:lnTo>
                        <a:pt x="3016" y="0"/>
                      </a:lnTo>
                      <a:close/>
                    </a:path>
                  </a:pathLst>
                </a:custGeom>
                <a:solidFill>
                  <a:srgbClr val="007F85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78" name="graph_to_sum" descr="One editable routed connector; fixed endpoints."/>
              <p:cNvGrpSpPr/>
              <p:nvPr/>
            </p:nvGrpSpPr>
            <p:grpSpPr>
              <a:xfrm>
                <a:off x="3279038" y="1171803"/>
                <a:ext cx="165964" cy="111901"/>
                <a:chOff x="3279038" y="1171803"/>
                <a:chExt cx="165964" cy="111901"/>
              </a:xfrm>
            </p:grpSpPr>
            <p:cxnSp>
              <p:nvCxnSpPr>
                <p:cNvPr id="123" name="graph_to_sum_0" descr="Editable line; source id graph_to_sum_0"/>
                <p:cNvCxnSpPr/>
                <p:nvPr/>
              </p:nvCxnSpPr>
              <p:spPr>
                <a:xfrm>
                  <a:off x="3279038" y="1171803"/>
                  <a:ext cx="0" cy="100584"/>
                </a:xfrm>
                <a:prstGeom prst="line">
                  <a:avLst/>
                </a:prstGeom>
                <a:ln w="5532" cap="rnd">
                  <a:solidFill>
                    <a:srgbClr val="007F85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4" name="graph_to_sum_1" descr="Editable line; source id graph_to_sum_1"/>
                <p:cNvSpPr/>
                <p:nvPr/>
              </p:nvSpPr>
              <p:spPr>
                <a:xfrm>
                  <a:off x="3279038" y="1261070"/>
                  <a:ext cx="165964" cy="226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42" h="7984">
                      <a:moveTo>
                        <a:pt x="0" y="3016"/>
                      </a:moveTo>
                      <a:lnTo>
                        <a:pt x="47898" y="3016"/>
                      </a:lnTo>
                      <a:lnTo>
                        <a:pt x="47898" y="0"/>
                      </a:lnTo>
                      <a:lnTo>
                        <a:pt x="58542" y="3992"/>
                      </a:lnTo>
                      <a:lnTo>
                        <a:pt x="47898" y="7984"/>
                      </a:lnTo>
                      <a:lnTo>
                        <a:pt x="47898" y="4968"/>
                      </a:lnTo>
                      <a:lnTo>
                        <a:pt x="0" y="4968"/>
                      </a:lnTo>
                      <a:close/>
                    </a:path>
                  </a:pathLst>
                </a:custGeom>
                <a:solidFill>
                  <a:srgbClr val="007F85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79" name="feedback_to_sum" descr="One editable routed connector; fixed endpoints."/>
              <p:cNvGrpSpPr/>
              <p:nvPr/>
            </p:nvGrpSpPr>
            <p:grpSpPr>
              <a:xfrm>
                <a:off x="3595878" y="1171803"/>
                <a:ext cx="176022" cy="111901"/>
                <a:chOff x="3595878" y="1171803"/>
                <a:chExt cx="176022" cy="111901"/>
              </a:xfrm>
            </p:grpSpPr>
            <p:cxnSp>
              <p:nvCxnSpPr>
                <p:cNvPr id="125" name="feedback_to_sum_0" descr="Editable line; source id feedback_to_sum_0"/>
                <p:cNvCxnSpPr/>
                <p:nvPr/>
              </p:nvCxnSpPr>
              <p:spPr>
                <a:xfrm>
                  <a:off x="3771900" y="1171803"/>
                  <a:ext cx="0" cy="100584"/>
                </a:xfrm>
                <a:prstGeom prst="line">
                  <a:avLst/>
                </a:prstGeom>
                <a:ln w="5532" cap="rnd">
                  <a:solidFill>
                    <a:srgbClr val="B78129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6" name="feedback_to_sum_1" descr="Editable line; source id feedback_to_sum_1"/>
                <p:cNvSpPr/>
                <p:nvPr/>
              </p:nvSpPr>
              <p:spPr>
                <a:xfrm>
                  <a:off x="3595878" y="1261070"/>
                  <a:ext cx="176022" cy="226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090" h="7984">
                      <a:moveTo>
                        <a:pt x="62090" y="4968"/>
                      </a:moveTo>
                      <a:lnTo>
                        <a:pt x="10644" y="4968"/>
                      </a:lnTo>
                      <a:lnTo>
                        <a:pt x="10644" y="7984"/>
                      </a:lnTo>
                      <a:lnTo>
                        <a:pt x="0" y="3992"/>
                      </a:lnTo>
                      <a:lnTo>
                        <a:pt x="10644" y="0"/>
                      </a:lnTo>
                      <a:lnTo>
                        <a:pt x="10644" y="3016"/>
                      </a:lnTo>
                      <a:lnTo>
                        <a:pt x="62090" y="3016"/>
                      </a:lnTo>
                      <a:close/>
                    </a:path>
                  </a:pathLst>
                </a:cu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80" name="price_junction" descr="price junction"/>
              <p:cNvGrpSpPr/>
              <p:nvPr/>
            </p:nvGrpSpPr>
            <p:grpSpPr>
              <a:xfrm>
                <a:off x="3457575" y="1209522"/>
                <a:ext cx="125730" cy="128665"/>
                <a:chOff x="3457575" y="1209522"/>
                <a:chExt cx="125730" cy="128665"/>
              </a:xfrm>
            </p:grpSpPr>
            <p:sp>
              <p:nvSpPr>
                <p:cNvPr id="127" name="price_junction_panel" descr="Editable shape; source id price_junction_panel"/>
                <p:cNvSpPr/>
                <p:nvPr/>
              </p:nvSpPr>
              <p:spPr>
                <a:xfrm>
                  <a:off x="3457575" y="1209522"/>
                  <a:ext cx="125730" cy="125730"/>
                </a:xfrm>
                <a:prstGeom prst="roundRect">
                  <a:avLst>
                    <a:gd name="adj" fmla="val 16000"/>
                  </a:avLst>
                </a:prstGeom>
                <a:solidFill>
                  <a:srgbClr val="FFFFFF"/>
                </a:solidFill>
                <a:ln w="4526">
                  <a:solidFill>
                    <a:srgbClr val="007F85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28" name="price_plus" descr="Editable text; source id price_plus"/>
                <p:cNvSpPr txBox="1"/>
                <p:nvPr/>
              </p:nvSpPr>
              <p:spPr>
                <a:xfrm>
                  <a:off x="3488192" y="1217193"/>
                  <a:ext cx="72999" cy="12099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5669" rIns="0" bIns="0" lIns="5669" anchorCtr="0" vertOverflow="overflow">
                  <a:noAutofit/>
                </a:bodyPr>
                <a:lstStyle/>
                <a:p>
                  <a:pPr algn="l" fontAlgn="base">
                    <a:lnSpc>
                      <a:spcPts val="81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2" b="0" i="0" lang="zh-CN" dirty="0">
                      <a:solidFill>
                        <a:srgbClr val="007F85"/>
                      </a:solidFill>
                      <a:latin typeface="Liberation Sans"/>
                      <a:ea typeface="Liberation Sans"/>
                      <a:cs typeface="Liberation Sans"/>
                    </a:defRPr>
                  </a:pPr>
                  <a:r>
                    <a:rPr sz="712" b="0" i="0" lang="zh-CN" dirty="0">
                      <a:solidFill>
                        <a:srgbClr val="007F85"/>
                      </a:solidFill>
                      <a:latin typeface="Liberation Sans"/>
                      <a:ea typeface="Liberation Sans"/>
                      <a:cs typeface="Liberation Sans"/>
                    </a:rPr>
                    <a:t>+</a:t>
                  </a:r>
                </a:p>
              </p:txBody>
            </p:sp>
          </p:grpSp>
          <p:sp>
            <p:nvSpPr>
              <p:cNvPr id="129" name="sum_to_price" descr="Editable line; source id sum_to_price"/>
              <p:cNvSpPr/>
              <p:nvPr/>
            </p:nvSpPr>
            <p:spPr>
              <a:xfrm>
                <a:off x="3509123" y="1347826"/>
                <a:ext cx="22634" cy="55321"/>
              </a:xfrm>
              <a:custGeom>
                <a:avLst/>
                <a:gdLst/>
                <a:ahLst/>
                <a:cxnLst/>
                <a:rect l="l" t="t" r="r" b="b"/>
                <a:pathLst>
                  <a:path w="7984" h="19514">
                    <a:moveTo>
                      <a:pt x="5012" y="0"/>
                    </a:moveTo>
                    <a:lnTo>
                      <a:pt x="5012" y="8870"/>
                    </a:lnTo>
                    <a:lnTo>
                      <a:pt x="7984" y="8870"/>
                    </a:lnTo>
                    <a:lnTo>
                      <a:pt x="3992" y="19514"/>
                    </a:lnTo>
                    <a:lnTo>
                      <a:pt x="0" y="8870"/>
                    </a:lnTo>
                    <a:lnTo>
                      <a:pt x="2972" y="8870"/>
                    </a:lnTo>
                    <a:lnTo>
                      <a:pt x="2972" y="0"/>
                    </a:lnTo>
                    <a:close/>
                  </a:path>
                </a:pathLst>
              </a:custGeom>
              <a:solidFill>
                <a:srgbClr val="007F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281" name="unified_price" descr="Editable formula parts and native mathematical delimiters."/>
              <p:cNvGrpSpPr/>
              <p:nvPr/>
            </p:nvGrpSpPr>
            <p:grpSpPr>
              <a:xfrm>
                <a:off x="3266803" y="1422159"/>
                <a:ext cx="502838" cy="153016"/>
                <a:chOff x="3266803" y="1422159"/>
                <a:chExt cx="502838" cy="153016"/>
              </a:xfrm>
            </p:grpSpPr>
            <p:sp>
              <p:nvSpPr>
                <p:cNvPr id="130" name="unified_price_0" descr="Editable text; source id unified_price_0"/>
                <p:cNvSpPr txBox="1"/>
                <p:nvPr/>
              </p:nvSpPr>
              <p:spPr>
                <a:xfrm>
                  <a:off x="3266803" y="1439964"/>
                  <a:ext cx="53476" cy="11992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4252" anchorCtr="0" vertOverflow="overflow">
                  <a:noAutofit/>
                </a:bodyPr>
                <a:lstStyle/>
                <a:p>
                  <a:pPr algn="l" fontAlgn="base">
                    <a:lnSpc>
                      <a:spcPts val="91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92" b="0" i="1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92" b="0" i="1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rPr>
                    <a:t>λ</a:t>
                  </a:r>
                </a:p>
              </p:txBody>
            </p:sp>
            <p:sp>
              <p:nvSpPr>
                <p:cNvPr id="131" name="unified_price_1" descr="Editable text; source id unified_price_1"/>
                <p:cNvSpPr txBox="1"/>
                <p:nvPr/>
              </p:nvSpPr>
              <p:spPr>
                <a:xfrm>
                  <a:off x="3316027" y="1494580"/>
                  <a:ext cx="37563" cy="8059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60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522" b="0" i="0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522" b="0" i="0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  <p:sp>
              <p:nvSpPr>
                <p:cNvPr id="132" name="unified_price_2" descr="Editable text; source id unified_price_2"/>
                <p:cNvSpPr txBox="1"/>
                <p:nvPr/>
              </p:nvSpPr>
              <p:spPr>
                <a:xfrm>
                  <a:off x="3352355" y="1439964"/>
                  <a:ext cx="111271" cy="11992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91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92" b="0" i="0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92" b="0" i="0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rPr>
                    <a:t> = </a:t>
                  </a:r>
                </a:p>
              </p:txBody>
            </p:sp>
            <p:sp>
              <p:nvSpPr>
                <p:cNvPr id="133" name="unified_price_3" descr="Editable text; source id unified_price_3"/>
                <p:cNvSpPr txBox="1"/>
                <p:nvPr/>
              </p:nvSpPr>
              <p:spPr>
                <a:xfrm>
                  <a:off x="3459557" y="1439964"/>
                  <a:ext cx="77961" cy="11992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4252" anchorCtr="0" vertOverflow="overflow">
                  <a:noAutofit/>
                </a:bodyPr>
                <a:lstStyle/>
                <a:p>
                  <a:pPr algn="l" fontAlgn="base">
                    <a:lnSpc>
                      <a:spcPts val="91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92" b="0" i="1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92" b="0" i="1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rPr>
                    <a:t>λ̄</a:t>
                  </a:r>
                </a:p>
              </p:txBody>
            </p:sp>
            <p:sp>
              <p:nvSpPr>
                <p:cNvPr id="134" name="unified_price_4" descr="Editable text; source id unified_price_4"/>
                <p:cNvSpPr txBox="1"/>
                <p:nvPr/>
              </p:nvSpPr>
              <p:spPr>
                <a:xfrm>
                  <a:off x="3533266" y="1494580"/>
                  <a:ext cx="37563" cy="8059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60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522" b="0" i="0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522" b="0" i="0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  <p:sp>
              <p:nvSpPr>
                <p:cNvPr id="135" name="unified_price_5" descr="Editable text; source id unified_price_5"/>
                <p:cNvSpPr txBox="1"/>
                <p:nvPr/>
              </p:nvSpPr>
              <p:spPr>
                <a:xfrm>
                  <a:off x="3533266" y="1422159"/>
                  <a:ext cx="37563" cy="8059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60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522" b="0" i="0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522" b="0" i="0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rPr>
                    <a:t>*</a:t>
                  </a:r>
                </a:p>
              </p:txBody>
            </p:sp>
            <p:sp>
              <p:nvSpPr>
                <p:cNvPr id="136" name="unified_price_6" descr="Editable text; source id unified_price_6"/>
                <p:cNvSpPr txBox="1"/>
                <p:nvPr/>
              </p:nvSpPr>
              <p:spPr>
                <a:xfrm>
                  <a:off x="3569594" y="1439964"/>
                  <a:ext cx="111271" cy="11992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91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92" b="0" i="0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92" b="0" i="0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rPr>
                    <a:t> + </a:t>
                  </a:r>
                </a:p>
              </p:txBody>
            </p:sp>
            <p:sp>
              <p:nvSpPr>
                <p:cNvPr id="137" name="unified_price_7" descr="Editable text; source id unified_price_7"/>
                <p:cNvSpPr txBox="1"/>
                <p:nvPr/>
              </p:nvSpPr>
              <p:spPr>
                <a:xfrm>
                  <a:off x="3677505" y="1439964"/>
                  <a:ext cx="58825" cy="11992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3543" anchorCtr="0" vertOverflow="overflow">
                  <a:noAutofit/>
                </a:bodyPr>
                <a:lstStyle/>
                <a:p>
                  <a:pPr algn="l" fontAlgn="base">
                    <a:lnSpc>
                      <a:spcPts val="91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92" b="0" i="1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92" b="0" i="1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rPr>
                    <a:t>β</a:t>
                  </a:r>
                </a:p>
              </p:txBody>
            </p:sp>
            <p:sp>
              <p:nvSpPr>
                <p:cNvPr id="138" name="unified_price_8" descr="Editable text; source id unified_price_8"/>
                <p:cNvSpPr txBox="1"/>
                <p:nvPr/>
              </p:nvSpPr>
              <p:spPr>
                <a:xfrm>
                  <a:off x="3732078" y="1494580"/>
                  <a:ext cx="37563" cy="8059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60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522" b="0" i="0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522" b="0" i="0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</p:grpSp>
          <p:grpSp>
            <p:nvGrpSpPr>
              <p:cNvPr id="289" name="shared_vector" descr="shared vector"/>
              <p:cNvGrpSpPr/>
              <p:nvPr/>
            </p:nvGrpSpPr>
            <p:grpSpPr>
              <a:xfrm>
                <a:off x="3198571" y="1609344"/>
                <a:ext cx="638708" cy="138303"/>
                <a:chOff x="3198571" y="1609344"/>
                <a:chExt cx="638708" cy="138303"/>
              </a:xfrm>
            </p:grpSpPr>
            <p:grpSp>
              <p:nvGrpSpPr>
                <p:cNvPr id="283" name="shared_vector_cell0" descr="shared vector cell0"/>
                <p:cNvGrpSpPr/>
                <p:nvPr/>
              </p:nvGrpSpPr>
              <p:grpSpPr>
                <a:xfrm>
                  <a:off x="3198571" y="1609344"/>
                  <a:ext cx="155905" cy="138303"/>
                  <a:chOff x="3198571" y="1609344"/>
                  <a:chExt cx="155905" cy="138303"/>
                </a:xfrm>
              </p:grpSpPr>
              <p:sp>
                <p:nvSpPr>
                  <p:cNvPr id="139" name="shared_vector_cell0_panel" descr="Editable shape; source id shared_vector_cell0_panel"/>
                  <p:cNvSpPr/>
                  <p:nvPr/>
                </p:nvSpPr>
                <p:spPr>
                  <a:xfrm>
                    <a:off x="3198571" y="1609344"/>
                    <a:ext cx="155905" cy="138303"/>
                  </a:xfrm>
                  <a:prstGeom prst="roundRect">
                    <a:avLst>
                      <a:gd name="adj" fmla="val 14545"/>
                    </a:avLst>
                  </a:prstGeom>
                  <a:solidFill>
                    <a:srgbClr val="ECF5F4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</a:p>
                </p:txBody>
              </p:sp>
              <p:grpSp>
                <p:nvGrpSpPr>
                  <p:cNvPr id="282" name="shared_vector_label0" descr="Editable formula parts and native mathematical delimiters."/>
                  <p:cNvGrpSpPr/>
                  <p:nvPr/>
                </p:nvGrpSpPr>
                <p:grpSpPr>
                  <a:xfrm>
                    <a:off x="3232964" y="1615209"/>
                    <a:ext cx="82834" cy="128769"/>
                    <a:chOff x="3232964" y="1615209"/>
                    <a:chExt cx="82834" cy="128769"/>
                  </a:xfrm>
                </p:grpSpPr>
                <p:sp>
                  <p:nvSpPr>
                    <p:cNvPr id="140" name="shared_vector_label0_0" descr="Editable text; source id shared_vector_label0_0"/>
                    <p:cNvSpPr txBox="1"/>
                    <p:nvPr/>
                  </p:nvSpPr>
                  <p:spPr>
                    <a:xfrm>
                      <a:off x="3232964" y="1615209"/>
                      <a:ext cx="51305" cy="114140"/>
                    </a:xfrm>
                    <a:prstGeom prst="rect">
                      <a:avLst/>
                    </a:prstGeom>
                    <a:noFill/>
                    <a:effectLst/>
                  </p:spPr>
                  <p:txBody>
                    <a:bodyPr wrap="none" anchor="t" tIns="1417" rIns="0" bIns="0" lIns="4252" anchorCtr="0" vertOverflow="overflow">
                      <a:noAutofit/>
                    </a:bodyPr>
                    <a:lstStyle/>
                    <a:p>
                      <a:pPr algn="l" fontAlgn="base">
                        <a:lnSpc>
                          <a:spcPts val="8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52" b="0" i="1" lang="zh-CN" dirty="0">
                          <a:solidFill>
                            <a:srgbClr val="007F85"/>
                          </a:solidFill>
                          <a:latin typeface="Liberation Serif"/>
                          <a:ea typeface="Liberation Serif"/>
                          <a:cs typeface="Liberation Serif"/>
                        </a:defRPr>
                      </a:pPr>
                      <a:r>
                        <a:rPr sz="752" b="0" i="1" lang="zh-CN" dirty="0">
                          <a:solidFill>
                            <a:srgbClr val="007F85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λ</a:t>
                      </a:r>
                    </a:p>
                  </p:txBody>
                </p:sp>
                <p:sp>
                  <p:nvSpPr>
                    <p:cNvPr id="141" name="shared_vector_label0_1" descr="Editable text; source id shared_vector_label0_1"/>
                    <p:cNvSpPr txBox="1"/>
                    <p:nvPr/>
                  </p:nvSpPr>
                  <p:spPr>
                    <a:xfrm>
                      <a:off x="3280018" y="1667200"/>
                      <a:ext cx="35780" cy="76778"/>
                    </a:xfrm>
                    <a:prstGeom prst="rect">
                      <a:avLst/>
                    </a:prstGeom>
                    <a:noFill/>
                    <a:effectLst/>
                  </p:spPr>
                  <p:txBody>
                    <a:bodyPr wrap="none" anchor="t" tIns="1417" rIns="0" bIns="0" lIns="1417" anchorCtr="0" vertOverflow="overflow">
                      <a:noAutofit/>
                    </a:bodyPr>
                    <a:lstStyle/>
                    <a:p>
                      <a:pPr algn="l" fontAlgn="base">
                        <a:lnSpc>
                          <a:spcPts val="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496" b="0" i="0" lang="zh-CN" dirty="0">
                          <a:solidFill>
                            <a:srgbClr val="007F85"/>
                          </a:solidFill>
                          <a:latin typeface="Liberation Serif"/>
                          <a:ea typeface="Liberation Serif"/>
                          <a:cs typeface="Liberation Serif"/>
                        </a:defRPr>
                      </a:pPr>
                      <a:r>
                        <a:rPr sz="496" b="0" i="0" lang="zh-CN" dirty="0">
                          <a:solidFill>
                            <a:srgbClr val="007F85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1</a:t>
                      </a:r>
                    </a:p>
                  </p:txBody>
                </p:sp>
              </p:grpSp>
            </p:grpSp>
            <p:grpSp>
              <p:nvGrpSpPr>
                <p:cNvPr id="285" name="shared_vector_cell1" descr="shared vector cell1"/>
                <p:cNvGrpSpPr/>
                <p:nvPr/>
              </p:nvGrpSpPr>
              <p:grpSpPr>
                <a:xfrm>
                  <a:off x="3359505" y="1609344"/>
                  <a:ext cx="155905" cy="138303"/>
                  <a:chOff x="3359505" y="1609344"/>
                  <a:chExt cx="155905" cy="138303"/>
                </a:xfrm>
              </p:grpSpPr>
              <p:sp>
                <p:nvSpPr>
                  <p:cNvPr id="142" name="shared_vector_cell1_panel" descr="Editable shape; source id shared_vector_cell1_panel"/>
                  <p:cNvSpPr/>
                  <p:nvPr/>
                </p:nvSpPr>
                <p:spPr>
                  <a:xfrm>
                    <a:off x="3359505" y="1609344"/>
                    <a:ext cx="155905" cy="138303"/>
                  </a:xfrm>
                  <a:prstGeom prst="roundRect">
                    <a:avLst>
                      <a:gd name="adj" fmla="val 14545"/>
                    </a:avLst>
                  </a:prstGeom>
                  <a:solidFill>
                    <a:srgbClr val="ECF5F4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</a:p>
                </p:txBody>
              </p:sp>
              <p:grpSp>
                <p:nvGrpSpPr>
                  <p:cNvPr id="284" name="shared_vector_label1" descr="Editable formula parts and native mathematical delimiters."/>
                  <p:cNvGrpSpPr/>
                  <p:nvPr/>
                </p:nvGrpSpPr>
                <p:grpSpPr>
                  <a:xfrm>
                    <a:off x="3393899" y="1615209"/>
                    <a:ext cx="82833" cy="128769"/>
                    <a:chOff x="3393899" y="1615209"/>
                    <a:chExt cx="82833" cy="128769"/>
                  </a:xfrm>
                </p:grpSpPr>
                <p:sp>
                  <p:nvSpPr>
                    <p:cNvPr id="143" name="shared_vector_label1_0" descr="Editable text; source id shared_vector_label1_0"/>
                    <p:cNvSpPr txBox="1"/>
                    <p:nvPr/>
                  </p:nvSpPr>
                  <p:spPr>
                    <a:xfrm>
                      <a:off x="3393899" y="1615209"/>
                      <a:ext cx="51305" cy="114140"/>
                    </a:xfrm>
                    <a:prstGeom prst="rect">
                      <a:avLst/>
                    </a:prstGeom>
                    <a:noFill/>
                    <a:effectLst/>
                  </p:spPr>
                  <p:txBody>
                    <a:bodyPr wrap="none" anchor="t" tIns="1417" rIns="0" bIns="0" lIns="4252" anchorCtr="0" vertOverflow="overflow">
                      <a:noAutofit/>
                    </a:bodyPr>
                    <a:lstStyle/>
                    <a:p>
                      <a:pPr algn="l" fontAlgn="base">
                        <a:lnSpc>
                          <a:spcPts val="8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52" b="0" i="1" lang="zh-CN" dirty="0">
                          <a:solidFill>
                            <a:srgbClr val="007F85"/>
                          </a:solidFill>
                          <a:latin typeface="Liberation Serif"/>
                          <a:ea typeface="Liberation Serif"/>
                          <a:cs typeface="Liberation Serif"/>
                        </a:defRPr>
                      </a:pPr>
                      <a:r>
                        <a:rPr sz="752" b="0" i="1" lang="zh-CN" dirty="0">
                          <a:solidFill>
                            <a:srgbClr val="007F85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λ</a:t>
                      </a:r>
                    </a:p>
                  </p:txBody>
                </p:sp>
                <p:sp>
                  <p:nvSpPr>
                    <p:cNvPr id="144" name="shared_vector_label1_1" descr="Editable text; source id shared_vector_label1_1"/>
                    <p:cNvSpPr txBox="1"/>
                    <p:nvPr/>
                  </p:nvSpPr>
                  <p:spPr>
                    <a:xfrm>
                      <a:off x="3440952" y="1667200"/>
                      <a:ext cx="35780" cy="76778"/>
                    </a:xfrm>
                    <a:prstGeom prst="rect">
                      <a:avLst/>
                    </a:prstGeom>
                    <a:noFill/>
                    <a:effectLst/>
                  </p:spPr>
                  <p:txBody>
                    <a:bodyPr wrap="none" anchor="t" tIns="1417" rIns="0" bIns="0" lIns="1417" anchorCtr="0" vertOverflow="overflow">
                      <a:noAutofit/>
                    </a:bodyPr>
                    <a:lstStyle/>
                    <a:p>
                      <a:pPr algn="l" fontAlgn="base">
                        <a:lnSpc>
                          <a:spcPts val="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496" b="0" i="0" lang="zh-CN" dirty="0">
                          <a:solidFill>
                            <a:srgbClr val="007F85"/>
                          </a:solidFill>
                          <a:latin typeface="Liberation Serif"/>
                          <a:ea typeface="Liberation Serif"/>
                          <a:cs typeface="Liberation Serif"/>
                        </a:defRPr>
                      </a:pPr>
                      <a:r>
                        <a:rPr sz="496" b="0" i="0" lang="zh-CN" dirty="0">
                          <a:solidFill>
                            <a:srgbClr val="007F85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2</a:t>
                      </a:r>
                    </a:p>
                  </p:txBody>
                </p:sp>
              </p:grpSp>
            </p:grpSp>
            <p:grpSp>
              <p:nvGrpSpPr>
                <p:cNvPr id="286" name="shared_vector_cell2" descr="shared vector cell2"/>
                <p:cNvGrpSpPr/>
                <p:nvPr/>
              </p:nvGrpSpPr>
              <p:grpSpPr>
                <a:xfrm>
                  <a:off x="3520439" y="1609344"/>
                  <a:ext cx="155905" cy="138303"/>
                  <a:chOff x="3520439" y="1609344"/>
                  <a:chExt cx="155905" cy="138303"/>
                </a:xfrm>
              </p:grpSpPr>
              <p:sp>
                <p:nvSpPr>
                  <p:cNvPr id="145" name="shared_vector_cell2_panel" descr="Editable shape; source id shared_vector_cell2_panel"/>
                  <p:cNvSpPr/>
                  <p:nvPr/>
                </p:nvSpPr>
                <p:spPr>
                  <a:xfrm>
                    <a:off x="3520439" y="1609344"/>
                    <a:ext cx="155905" cy="138303"/>
                  </a:xfrm>
                  <a:prstGeom prst="roundRect">
                    <a:avLst>
                      <a:gd name="adj" fmla="val 14545"/>
                    </a:avLst>
                  </a:prstGeom>
                  <a:solidFill>
                    <a:srgbClr val="ECF5F4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</a:p>
                </p:txBody>
              </p:sp>
              <p:sp>
                <p:nvSpPr>
                  <p:cNvPr id="146" name="shared_vector_dots" descr="Editable text; source id shared_vector_dots"/>
                  <p:cNvSpPr txBox="1"/>
                  <p:nvPr/>
                </p:nvSpPr>
                <p:spPr>
                  <a:xfrm>
                    <a:off x="3549844" y="1616238"/>
                    <a:ext cx="105601" cy="115060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5669" rIns="0" bIns="0" lIns="5669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774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673" b="0" i="0" lang="zh-CN" dirty="0">
                        <a:solidFill>
                          <a:srgbClr val="007F85"/>
                        </a:solidFill>
                        <a:latin typeface="Liberation Sans"/>
                        <a:ea typeface="Liberation Sans"/>
                        <a:cs typeface="Liberation Sans"/>
                      </a:defRPr>
                    </a:pPr>
                    <a:r>
                      <a:rPr sz="673" b="0" i="0" lang="zh-CN" dirty="0">
                        <a:solidFill>
                          <a:srgbClr val="007F85"/>
                        </a:solidFill>
                        <a:latin typeface="Liberation Sans"/>
                        <a:ea typeface="Liberation Sans"/>
                        <a:cs typeface="Liberation Sans"/>
                      </a:rPr>
                      <a:t>…</a:t>
                    </a:r>
                  </a:p>
                </p:txBody>
              </p:sp>
            </p:grpSp>
            <p:grpSp>
              <p:nvGrpSpPr>
                <p:cNvPr id="288" name="shared_vector_cell3" descr="shared vector cell3"/>
                <p:cNvGrpSpPr/>
                <p:nvPr/>
              </p:nvGrpSpPr>
              <p:grpSpPr>
                <a:xfrm>
                  <a:off x="3681374" y="1609344"/>
                  <a:ext cx="155905" cy="138303"/>
                  <a:chOff x="3681374" y="1609344"/>
                  <a:chExt cx="155905" cy="138303"/>
                </a:xfrm>
              </p:grpSpPr>
              <p:sp>
                <p:nvSpPr>
                  <p:cNvPr id="147" name="shared_vector_cell3_panel" descr="Editable shape; source id shared_vector_cell3_panel"/>
                  <p:cNvSpPr/>
                  <p:nvPr/>
                </p:nvSpPr>
                <p:spPr>
                  <a:xfrm>
                    <a:off x="3681374" y="1609344"/>
                    <a:ext cx="155905" cy="138303"/>
                  </a:xfrm>
                  <a:prstGeom prst="roundRect">
                    <a:avLst>
                      <a:gd name="adj" fmla="val 14545"/>
                    </a:avLst>
                  </a:prstGeom>
                  <a:solidFill>
                    <a:srgbClr val="ECF5F4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</a:p>
                </p:txBody>
              </p:sp>
              <p:grpSp>
                <p:nvGrpSpPr>
                  <p:cNvPr id="287" name="shared_vector_label3" descr="Editable formula parts and native mathematical delimiters."/>
                  <p:cNvGrpSpPr/>
                  <p:nvPr/>
                </p:nvGrpSpPr>
                <p:grpSpPr>
                  <a:xfrm>
                    <a:off x="3708763" y="1615209"/>
                    <a:ext cx="96842" cy="128769"/>
                    <a:chOff x="3708763" y="1615209"/>
                    <a:chExt cx="96842" cy="128769"/>
                  </a:xfrm>
                </p:grpSpPr>
                <p:sp>
                  <p:nvSpPr>
                    <p:cNvPr id="148" name="shared_vector_label3_0" descr="Editable text; source id shared_vector_label3_0"/>
                    <p:cNvSpPr txBox="1"/>
                    <p:nvPr/>
                  </p:nvSpPr>
                  <p:spPr>
                    <a:xfrm>
                      <a:off x="3708763" y="1615209"/>
                      <a:ext cx="51305" cy="114140"/>
                    </a:xfrm>
                    <a:prstGeom prst="rect">
                      <a:avLst/>
                    </a:prstGeom>
                    <a:noFill/>
                    <a:effectLst/>
                  </p:spPr>
                  <p:txBody>
                    <a:bodyPr wrap="none" anchor="t" tIns="1417" rIns="0" bIns="0" lIns="4252" anchorCtr="0" vertOverflow="overflow">
                      <a:noAutofit/>
                    </a:bodyPr>
                    <a:lstStyle/>
                    <a:p>
                      <a:pPr algn="l" fontAlgn="base">
                        <a:lnSpc>
                          <a:spcPts val="8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52" b="0" i="1" lang="zh-CN" dirty="0">
                          <a:solidFill>
                            <a:srgbClr val="007F85"/>
                          </a:solidFill>
                          <a:latin typeface="Liberation Serif"/>
                          <a:ea typeface="Liberation Serif"/>
                          <a:cs typeface="Liberation Serif"/>
                        </a:defRPr>
                      </a:pPr>
                      <a:r>
                        <a:rPr sz="752" b="0" i="1" lang="zh-CN" dirty="0">
                          <a:solidFill>
                            <a:srgbClr val="007F85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λ</a:t>
                      </a:r>
                    </a:p>
                  </p:txBody>
                </p:sp>
                <p:sp>
                  <p:nvSpPr>
                    <p:cNvPr id="149" name="shared_vector_label3_1" descr="Editable text; source id shared_vector_label3_1"/>
                    <p:cNvSpPr txBox="1"/>
                    <p:nvPr/>
                  </p:nvSpPr>
                  <p:spPr>
                    <a:xfrm>
                      <a:off x="3755817" y="1667200"/>
                      <a:ext cx="49788" cy="76778"/>
                    </a:xfrm>
                    <a:prstGeom prst="rect">
                      <a:avLst/>
                    </a:prstGeom>
                    <a:noFill/>
                    <a:effectLst/>
                  </p:spPr>
                  <p:txBody>
                    <a:bodyPr wrap="none" anchor="t" tIns="1417" rIns="0" bIns="0" lIns="1417" anchorCtr="0" vertOverflow="overflow">
                      <a:noAutofit/>
                    </a:bodyPr>
                    <a:lstStyle/>
                    <a:p>
                      <a:pPr algn="l" fontAlgn="base">
                        <a:lnSpc>
                          <a:spcPts val="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496" b="0" i="0" lang="zh-CN" dirty="0">
                          <a:solidFill>
                            <a:srgbClr val="007F85"/>
                          </a:solidFill>
                          <a:latin typeface="Liberation Serif"/>
                          <a:ea typeface="Liberation Serif"/>
                          <a:cs typeface="Liberation Serif"/>
                        </a:defRPr>
                      </a:pPr>
                      <a:r>
                        <a:rPr sz="496" b="0" i="0" lang="zh-CN" dirty="0">
                          <a:solidFill>
                            <a:srgbClr val="007F85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K</a:t>
                      </a:r>
                    </a:p>
                  </p:txBody>
                </p:sp>
              </p:grpSp>
            </p:grpSp>
          </p:grpSp>
        </p:grpSp>
        <p:sp>
          <p:nvSpPr>
            <p:cNvPr id="150" name="constraints_to_graph" descr="Editable line; source id constraints_to_graph"/>
            <p:cNvSpPr/>
            <p:nvPr/>
          </p:nvSpPr>
          <p:spPr>
            <a:xfrm>
              <a:off x="1692326" y="974409"/>
              <a:ext cx="67894" cy="22631"/>
            </a:xfrm>
            <a:custGeom>
              <a:avLst/>
              <a:gdLst/>
              <a:ahLst/>
              <a:cxnLst/>
              <a:rect l="l" t="t" r="r" b="b"/>
              <a:pathLst>
                <a:path w="23949" h="7983">
                  <a:moveTo>
                    <a:pt x="0" y="2927"/>
                  </a:moveTo>
                  <a:lnTo>
                    <a:pt x="13305" y="2927"/>
                  </a:lnTo>
                  <a:lnTo>
                    <a:pt x="13305" y="0"/>
                  </a:lnTo>
                  <a:lnTo>
                    <a:pt x="23949" y="3991"/>
                  </a:lnTo>
                  <a:lnTo>
                    <a:pt x="13305" y="7983"/>
                  </a:lnTo>
                  <a:lnTo>
                    <a:pt x="13305" y="5055"/>
                  </a:lnTo>
                  <a:lnTo>
                    <a:pt x="0" y="5055"/>
                  </a:lnTo>
                  <a:close/>
                </a:path>
              </a:pathLst>
            </a:custGeom>
            <a:solidFill>
              <a:srgbClr val="007F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graph_to_price" descr="Editable line; source id graph_to_price"/>
            <p:cNvSpPr/>
            <p:nvPr/>
          </p:nvSpPr>
          <p:spPr>
            <a:xfrm>
              <a:off x="2859100" y="974409"/>
              <a:ext cx="67894" cy="22631"/>
            </a:xfrm>
            <a:custGeom>
              <a:avLst/>
              <a:gdLst/>
              <a:ahLst/>
              <a:cxnLst/>
              <a:rect l="l" t="t" r="r" b="b"/>
              <a:pathLst>
                <a:path w="23949" h="7983">
                  <a:moveTo>
                    <a:pt x="0" y="2927"/>
                  </a:moveTo>
                  <a:lnTo>
                    <a:pt x="13305" y="2927"/>
                  </a:lnTo>
                  <a:lnTo>
                    <a:pt x="13305" y="0"/>
                  </a:lnTo>
                  <a:lnTo>
                    <a:pt x="23949" y="3991"/>
                  </a:lnTo>
                  <a:lnTo>
                    <a:pt x="13305" y="7983"/>
                  </a:lnTo>
                  <a:lnTo>
                    <a:pt x="13305" y="5055"/>
                  </a:lnTo>
                  <a:lnTo>
                    <a:pt x="0" y="5055"/>
                  </a:lnTo>
                  <a:close/>
                </a:path>
              </a:pathLst>
            </a:custGeom>
            <a:solidFill>
              <a:srgbClr val="007F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95" name="shared_policy_update" descr="shared policy update"/>
            <p:cNvGrpSpPr/>
            <p:nvPr/>
          </p:nvGrpSpPr>
          <p:grpSpPr>
            <a:xfrm>
              <a:off x="940460" y="1933727"/>
              <a:ext cx="3148279" cy="384733"/>
              <a:chOff x="940460" y="1933727"/>
              <a:chExt cx="3148279" cy="384733"/>
            </a:xfrm>
          </p:grpSpPr>
          <p:sp>
            <p:nvSpPr>
              <p:cNvPr id="152" name="shared_policy_update_panel" descr="Editable shape; source id shared_policy_update_panel"/>
              <p:cNvSpPr/>
              <p:nvPr/>
            </p:nvSpPr>
            <p:spPr>
              <a:xfrm>
                <a:off x="940460" y="1933727"/>
                <a:ext cx="3148279" cy="384733"/>
              </a:xfrm>
              <a:prstGeom prst="roundRect">
                <a:avLst>
                  <a:gd name="adj" fmla="val 5228"/>
                </a:avLst>
              </a:prstGeom>
              <a:solidFill>
                <a:srgbClr val="ECF5F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" name="one_update_label" descr="Editable text; source id one_update_label"/>
              <p:cNvSpPr txBox="1"/>
              <p:nvPr/>
            </p:nvSpPr>
            <p:spPr>
              <a:xfrm>
                <a:off x="1002684" y="1963573"/>
                <a:ext cx="739213" cy="112093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51"/>
                  </a:lnSpc>
                  <a:spcBef>
                    <a:spcPts val="0"/>
                  </a:spcBef>
                  <a:spcAft>
                    <a:spcPts val="0"/>
                  </a:spcAft>
                  <a:defRPr sz="653" b="1" i="0" lang="zh-CN" dirty="0">
                    <a:solidFill>
                      <a:srgbClr val="007F85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53" b="1" i="0" lang="zh-CN" dirty="0">
                    <a:solidFill>
                      <a:srgbClr val="007F85"/>
                    </a:solidFill>
                    <a:latin typeface="Liberation Sans"/>
                    <a:ea typeface="Liberation Sans"/>
                    <a:cs typeface="Liberation Sans"/>
                  </a:rPr>
                  <a:t>One policy update</a:t>
                </a:r>
              </a:p>
            </p:txBody>
          </p:sp>
          <p:sp>
            <p:nvSpPr>
              <p:cNvPr id="154" name="normalized_label_0" descr="Editable text; source id normalized_label_0"/>
              <p:cNvSpPr txBox="1"/>
              <p:nvPr/>
            </p:nvSpPr>
            <p:spPr>
              <a:xfrm>
                <a:off x="1763515" y="2067837"/>
                <a:ext cx="162311" cy="114140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7087" anchorCtr="0" vertOverflow="overflow">
                <a:noAutofit/>
              </a:bodyPr>
              <a:lstStyle/>
              <a:p>
                <a:pPr algn="l" fontAlgn="base">
                  <a:lnSpc>
                    <a:spcPts val="865"/>
                  </a:lnSpc>
                  <a:spcBef>
                    <a:spcPts val="0"/>
                  </a:spcBef>
                  <a:spcAft>
                    <a:spcPts val="0"/>
                  </a:spcAft>
                  <a:def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Ã =</a:t>
                </a:r>
              </a:p>
            </p:txBody>
          </p:sp>
          <p:grpSp>
            <p:nvGrpSpPr>
              <p:cNvPr id="293" name="common_advantage" descr="common advantage"/>
              <p:cNvGrpSpPr/>
              <p:nvPr/>
            </p:nvGrpSpPr>
            <p:grpSpPr>
              <a:xfrm>
                <a:off x="2041855" y="1987690"/>
                <a:ext cx="895197" cy="268172"/>
                <a:chOff x="2041855" y="1987690"/>
                <a:chExt cx="895197" cy="268172"/>
              </a:xfrm>
            </p:grpSpPr>
            <p:grpSp>
              <p:nvGrpSpPr>
                <p:cNvPr id="291" name="common_advantage_num" descr="Editable formula parts and native mathematical delimiters."/>
                <p:cNvGrpSpPr/>
                <p:nvPr/>
              </p:nvGrpSpPr>
              <p:grpSpPr>
                <a:xfrm>
                  <a:off x="2229650" y="1987690"/>
                  <a:ext cx="512563" cy="137211"/>
                  <a:chOff x="2229650" y="1987690"/>
                  <a:chExt cx="512563" cy="137211"/>
                </a:xfrm>
              </p:grpSpPr>
              <p:sp>
                <p:nvSpPr>
                  <p:cNvPr id="155" name="common_advantage_num_0" descr="Editable text; source id common_advantage_num_0"/>
                  <p:cNvSpPr txBox="1"/>
                  <p:nvPr/>
                </p:nvSpPr>
                <p:spPr>
                  <a:xfrm>
                    <a:off x="2229650" y="1987690"/>
                    <a:ext cx="72999" cy="111248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708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842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732" b="0" i="1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732" b="0" i="1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A</a:t>
                    </a:r>
                  </a:p>
                </p:txBody>
              </p:sp>
              <p:sp>
                <p:nvSpPr>
                  <p:cNvPr id="156" name="common_advantage_num_1" descr="Editable text; source id common_advantage_num_1"/>
                  <p:cNvSpPr txBox="1"/>
                  <p:nvPr/>
                </p:nvSpPr>
                <p:spPr>
                  <a:xfrm>
                    <a:off x="2298398" y="2037661"/>
                    <a:ext cx="24805" cy="74869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556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483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483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r</a:t>
                    </a:r>
                  </a:p>
                </p:txBody>
              </p:sp>
              <p:sp>
                <p:nvSpPr>
                  <p:cNvPr id="157" name="common_advantage_num_2" descr="Editable text; source id common_advantage_num_2"/>
                  <p:cNvSpPr txBox="1"/>
                  <p:nvPr/>
                </p:nvSpPr>
                <p:spPr>
                  <a:xfrm>
                    <a:off x="2321742" y="1987690"/>
                    <a:ext cx="103475" cy="111248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842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732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732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 − </a:t>
                    </a:r>
                  </a:p>
                </p:txBody>
              </p:sp>
              <p:sp>
                <p:nvSpPr>
                  <p:cNvPr id="158" name="common_advantage_num_3" descr="Editable text; source id common_advantage_num_3"/>
                  <p:cNvSpPr txBox="1"/>
                  <p:nvPr/>
                </p:nvSpPr>
                <p:spPr>
                  <a:xfrm>
                    <a:off x="2423757" y="1987690"/>
                    <a:ext cx="70873" cy="111248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842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732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732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∑</a:t>
                    </a:r>
                  </a:p>
                </p:txBody>
              </p:sp>
              <p:sp>
                <p:nvSpPr>
                  <p:cNvPr id="159" name="common_advantage_num_4" descr="Editable text; source id common_advantage_num_4"/>
                  <p:cNvSpPr txBox="1"/>
                  <p:nvPr/>
                </p:nvSpPr>
                <p:spPr>
                  <a:xfrm>
                    <a:off x="2490378" y="2037661"/>
                    <a:ext cx="35436" cy="74869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556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483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483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k</a:t>
                    </a:r>
                  </a:p>
                </p:txBody>
              </p:sp>
              <p:sp>
                <p:nvSpPr>
                  <p:cNvPr id="160" name="common_advantage_num_5" descr="Editable text; source id common_advantage_num_5"/>
                  <p:cNvSpPr txBox="1"/>
                  <p:nvPr/>
                </p:nvSpPr>
                <p:spPr>
                  <a:xfrm>
                    <a:off x="2544907" y="1987690"/>
                    <a:ext cx="50320" cy="111248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4252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842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732" b="0" i="1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732" b="0" i="1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λ</a:t>
                    </a:r>
                  </a:p>
                </p:txBody>
              </p:sp>
              <p:sp>
                <p:nvSpPr>
                  <p:cNvPr id="161" name="common_advantage_num_6" descr="Editable text; source id common_advantage_num_6"/>
                  <p:cNvSpPr txBox="1"/>
                  <p:nvPr/>
                </p:nvSpPr>
                <p:spPr>
                  <a:xfrm>
                    <a:off x="2590975" y="2037661"/>
                    <a:ext cx="35436" cy="74869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556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483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483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k</a:t>
                    </a:r>
                  </a:p>
                </p:txBody>
              </p:sp>
              <p:sp>
                <p:nvSpPr>
                  <p:cNvPr id="162" name="common_advantage_num_7" descr="Editable text; source id common_advantage_num_7"/>
                  <p:cNvSpPr txBox="1"/>
                  <p:nvPr/>
                </p:nvSpPr>
                <p:spPr>
                  <a:xfrm>
                    <a:off x="2619281" y="1987690"/>
                    <a:ext cx="72999" cy="111248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708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842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732" b="0" i="1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732" b="0" i="1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A</a:t>
                    </a:r>
                  </a:p>
                </p:txBody>
              </p:sp>
              <p:sp>
                <p:nvSpPr>
                  <p:cNvPr id="163" name="common_advantage_num_8" descr="Editable text; source id common_advantage_num_8"/>
                  <p:cNvSpPr txBox="1"/>
                  <p:nvPr/>
                </p:nvSpPr>
                <p:spPr>
                  <a:xfrm>
                    <a:off x="2688028" y="2037661"/>
                    <a:ext cx="31505" cy="74869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556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483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483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c</a:t>
                    </a:r>
                  </a:p>
                </p:txBody>
              </p:sp>
              <p:sp>
                <p:nvSpPr>
                  <p:cNvPr id="164" name="common_advantage_num_9" descr="Editable text; source id common_advantage_num_9"/>
                  <p:cNvSpPr txBox="1"/>
                  <p:nvPr/>
                </p:nvSpPr>
                <p:spPr>
                  <a:xfrm>
                    <a:off x="2715281" y="2069291"/>
                    <a:ext cx="26932" cy="55610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404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351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351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k</a:t>
                    </a:r>
                  </a:p>
                </p:txBody>
              </p:sp>
            </p:grpSp>
            <p:cxnSp>
              <p:nvCxnSpPr>
                <p:cNvPr id="165" name="common_advantage_bar" descr="Editable line; source id common_advantage_bar"/>
                <p:cNvCxnSpPr/>
                <p:nvPr/>
              </p:nvCxnSpPr>
              <p:spPr>
                <a:xfrm>
                  <a:off x="2041855" y="2114778"/>
                  <a:ext cx="895197" cy="0"/>
                </a:xfrm>
                <a:prstGeom prst="line">
                  <a:avLst/>
                </a:prstGeom>
                <a:ln w="4526" cap="rnd">
                  <a:solidFill>
                    <a:srgbClr val="29343E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92" name="common_advantage_den" descr="Editable formula parts and native mathematical delimiters."/>
                <p:cNvGrpSpPr/>
                <p:nvPr/>
              </p:nvGrpSpPr>
              <p:grpSpPr>
                <a:xfrm>
                  <a:off x="2313293" y="2131022"/>
                  <a:ext cx="350947" cy="124840"/>
                  <a:chOff x="2313293" y="2131022"/>
                  <a:chExt cx="350947" cy="124840"/>
                </a:xfrm>
              </p:grpSpPr>
              <p:sp>
                <p:nvSpPr>
                  <p:cNvPr id="166" name="common_advantage_den_0" descr="Editable text; source id common_advantage_den_0"/>
                  <p:cNvSpPr txBox="1"/>
                  <p:nvPr/>
                </p:nvSpPr>
                <p:spPr>
                  <a:xfrm>
                    <a:off x="2313293" y="2131022"/>
                    <a:ext cx="149753" cy="111248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842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732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732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1 + </a:t>
                    </a:r>
                  </a:p>
                </p:txBody>
              </p:sp>
              <p:sp>
                <p:nvSpPr>
                  <p:cNvPr id="167" name="common_advantage_den_1" descr="Editable text; source id common_advantage_den_1"/>
                  <p:cNvSpPr txBox="1"/>
                  <p:nvPr/>
                </p:nvSpPr>
                <p:spPr>
                  <a:xfrm>
                    <a:off x="2461585" y="2131022"/>
                    <a:ext cx="70873" cy="111248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842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732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732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∑</a:t>
                    </a:r>
                  </a:p>
                </p:txBody>
              </p:sp>
              <p:sp>
                <p:nvSpPr>
                  <p:cNvPr id="168" name="common_advantage_den_2" descr="Editable text; source id common_advantage_den_2"/>
                  <p:cNvSpPr txBox="1"/>
                  <p:nvPr/>
                </p:nvSpPr>
                <p:spPr>
                  <a:xfrm>
                    <a:off x="2528207" y="2180993"/>
                    <a:ext cx="35436" cy="74869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556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483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483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k</a:t>
                    </a:r>
                  </a:p>
                </p:txBody>
              </p:sp>
              <p:sp>
                <p:nvSpPr>
                  <p:cNvPr id="169" name="common_advantage_den_3" descr="Editable text; source id common_advantage_den_3"/>
                  <p:cNvSpPr txBox="1"/>
                  <p:nvPr/>
                </p:nvSpPr>
                <p:spPr>
                  <a:xfrm>
                    <a:off x="2582736" y="2131022"/>
                    <a:ext cx="50320" cy="111248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4252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842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732" b="0" i="1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732" b="0" i="1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λ</a:t>
                    </a:r>
                  </a:p>
                </p:txBody>
              </p:sp>
              <p:sp>
                <p:nvSpPr>
                  <p:cNvPr id="170" name="common_advantage_den_4" descr="Editable text; source id common_advantage_den_4"/>
                  <p:cNvSpPr txBox="1"/>
                  <p:nvPr/>
                </p:nvSpPr>
                <p:spPr>
                  <a:xfrm>
                    <a:off x="2628804" y="2180993"/>
                    <a:ext cx="35436" cy="74869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556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483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483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k</a:t>
                    </a:r>
                  </a:p>
                </p:txBody>
              </p:sp>
            </p:grpSp>
          </p:grpSp>
          <p:sp>
            <p:nvSpPr>
              <p:cNvPr id="171" name="advantage_to_optimizer" descr="Editable line; source id advantage_to_optimizer"/>
              <p:cNvSpPr/>
              <p:nvPr/>
            </p:nvSpPr>
            <p:spPr>
              <a:xfrm>
                <a:off x="3020035" y="2111008"/>
                <a:ext cx="123215" cy="22631"/>
              </a:xfrm>
              <a:custGeom>
                <a:avLst/>
                <a:gdLst/>
                <a:ahLst/>
                <a:cxnLst/>
                <a:rect l="l" t="t" r="r" b="b"/>
                <a:pathLst>
                  <a:path w="43463" h="7983">
                    <a:moveTo>
                      <a:pt x="0" y="2882"/>
                    </a:moveTo>
                    <a:lnTo>
                      <a:pt x="32819" y="2882"/>
                    </a:lnTo>
                    <a:lnTo>
                      <a:pt x="32819" y="0"/>
                    </a:lnTo>
                    <a:lnTo>
                      <a:pt x="43463" y="3991"/>
                    </a:lnTo>
                    <a:lnTo>
                      <a:pt x="32819" y="7983"/>
                    </a:lnTo>
                    <a:lnTo>
                      <a:pt x="32819" y="5100"/>
                    </a:lnTo>
                    <a:lnTo>
                      <a:pt x="0" y="5100"/>
                    </a:lnTo>
                    <a:close/>
                  </a:path>
                </a:pathLst>
              </a:custGeom>
              <a:solidFill>
                <a:srgbClr val="007F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294" name="optimizer" descr="optimizer"/>
              <p:cNvGrpSpPr/>
              <p:nvPr/>
            </p:nvGrpSpPr>
            <p:grpSpPr>
              <a:xfrm>
                <a:off x="3193541" y="2029282"/>
                <a:ext cx="814730" cy="191109"/>
                <a:chOff x="3193541" y="2029282"/>
                <a:chExt cx="814730" cy="191109"/>
              </a:xfrm>
            </p:grpSpPr>
            <p:sp>
              <p:nvSpPr>
                <p:cNvPr id="172" name="optimizer_panel" descr="Editable shape; source id optimizer_panel"/>
                <p:cNvSpPr/>
                <p:nvPr/>
              </p:nvSpPr>
              <p:spPr>
                <a:xfrm>
                  <a:off x="3193541" y="2029282"/>
                  <a:ext cx="814730" cy="191109"/>
                </a:xfrm>
                <a:prstGeom prst="roundRect">
                  <a:avLst>
                    <a:gd name="adj" fmla="val 10526"/>
                  </a:avLst>
                </a:prstGeom>
                <a:solidFill>
                  <a:srgbClr val="FFFFFF"/>
                </a:solidFill>
                <a:ln w="3771">
                  <a:solidFill>
                    <a:srgbClr val="007F85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73" name="optimizer_label" descr="Editable text; source id optimizer_label"/>
                <p:cNvSpPr txBox="1"/>
                <p:nvPr/>
              </p:nvSpPr>
              <p:spPr>
                <a:xfrm>
                  <a:off x="3343281" y="2066740"/>
                  <a:ext cx="523756" cy="118027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5669" rIns="0" bIns="0" lIns="5669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1" i="0" lang="zh-CN" dirty="0">
                      <a:solidFill>
                        <a:srgbClr val="007F85"/>
                      </a:solidFill>
                      <a:latin typeface="Liberation Sans"/>
                      <a:ea typeface="Liberation Sans"/>
                      <a:cs typeface="Liberation Sans"/>
                    </a:defRPr>
                  </a:pPr>
                  <a:r>
                    <a:rPr sz="693" b="1" i="0" lang="zh-CN" dirty="0">
                      <a:solidFill>
                        <a:srgbClr val="007F85"/>
                      </a:solidFill>
                      <a:latin typeface="Liberation Sans"/>
                      <a:ea typeface="Liberation Sans"/>
                      <a:cs typeface="Liberation Sans"/>
                    </a:rPr>
                    <a:t>PPO / TRPO</a:t>
                  </a:r>
                </a:p>
              </p:txBody>
            </p:sp>
          </p:grpSp>
        </p:grpSp>
        <p:grpSp>
          <p:nvGrpSpPr>
            <p:cNvPr id="296" name="shared_price_to_update" descr="One editable routed connector; fixed endpoints."/>
            <p:cNvGrpSpPr/>
            <p:nvPr/>
          </p:nvGrpSpPr>
          <p:grpSpPr>
            <a:xfrm>
              <a:off x="2719541" y="1807997"/>
              <a:ext cx="800898" cy="110643"/>
              <a:chOff x="2719541" y="1807997"/>
              <a:chExt cx="800898" cy="110643"/>
            </a:xfrm>
          </p:grpSpPr>
          <p:cxnSp>
            <p:nvCxnSpPr>
              <p:cNvPr id="174" name="shared_price_to_update_0" descr="Editable line; source id shared_price_to_update_0"/>
              <p:cNvCxnSpPr/>
              <p:nvPr/>
            </p:nvCxnSpPr>
            <p:spPr>
              <a:xfrm>
                <a:off x="3520439" y="1807997"/>
                <a:ext cx="0" cy="60350"/>
              </a:xfrm>
              <a:prstGeom prst="line">
                <a:avLst/>
              </a:prstGeom>
              <a:ln w="6035" cap="rnd">
                <a:solidFill>
                  <a:srgbClr val="007F85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hared_price_to_update_1" descr="Editable line; source id shared_price_to_update_1"/>
              <p:cNvCxnSpPr/>
              <p:nvPr/>
            </p:nvCxnSpPr>
            <p:spPr>
              <a:xfrm flipH="1">
                <a:off x="2730855" y="1868347"/>
                <a:ext cx="789584" cy="0"/>
              </a:xfrm>
              <a:prstGeom prst="line">
                <a:avLst/>
              </a:prstGeom>
              <a:ln w="6035" cap="rnd">
                <a:solidFill>
                  <a:srgbClr val="007F85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6" name="shared_price_to_update_2" descr="Editable line; source id shared_price_to_update_2"/>
              <p:cNvSpPr/>
              <p:nvPr/>
            </p:nvSpPr>
            <p:spPr>
              <a:xfrm>
                <a:off x="2719541" y="1868348"/>
                <a:ext cx="22631" cy="50292"/>
              </a:xfrm>
              <a:custGeom>
                <a:avLst/>
                <a:gdLst/>
                <a:ahLst/>
                <a:cxnLst/>
                <a:rect l="l" t="t" r="r" b="b"/>
                <a:pathLst>
                  <a:path w="7983" h="17740">
                    <a:moveTo>
                      <a:pt x="5055" y="0"/>
                    </a:moveTo>
                    <a:lnTo>
                      <a:pt x="5055" y="7096"/>
                    </a:lnTo>
                    <a:lnTo>
                      <a:pt x="7983" y="7096"/>
                    </a:lnTo>
                    <a:lnTo>
                      <a:pt x="3991" y="17740"/>
                    </a:lnTo>
                    <a:lnTo>
                      <a:pt x="0" y="7096"/>
                    </a:lnTo>
                    <a:lnTo>
                      <a:pt x="2927" y="7096"/>
                    </a:lnTo>
                    <a:lnTo>
                      <a:pt x="2927" y="0"/>
                    </a:lnTo>
                    <a:close/>
                  </a:path>
                </a:pathLst>
              </a:custGeom>
              <a:solidFill>
                <a:srgbClr val="007F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cxnSp>
        <p:nvCxnSpPr>
          <p:cNvPr id="177" name="penalty_relation" descr="Editable line; source id penalty_relation"/>
          <p:cNvCxnSpPr/>
          <p:nvPr/>
        </p:nvCxnSpPr>
        <p:spPr>
          <a:xfrm>
            <a:off x="799642" y="1101394"/>
            <a:ext cx="57836" cy="0"/>
          </a:xfrm>
          <a:prstGeom prst="line">
            <a:avLst/>
          </a:prstGeom>
          <a:ln w="4023" cap="rnd">
            <a:solidFill>
              <a:srgbClr val="536F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constraint_relation" descr="Editable line; source id constraint_relation"/>
          <p:cNvCxnSpPr/>
          <p:nvPr/>
        </p:nvCxnSpPr>
        <p:spPr>
          <a:xfrm>
            <a:off x="4171721" y="1101394"/>
            <a:ext cx="57836" cy="0"/>
          </a:xfrm>
          <a:prstGeom prst="line">
            <a:avLst/>
          </a:prstGeom>
          <a:ln w="4023" cap="rnd">
            <a:solidFill>
              <a:srgbClr val="B781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7" name="penalty_view" descr="penalty view"/>
          <p:cNvGrpSpPr/>
          <p:nvPr/>
        </p:nvGrpSpPr>
        <p:grpSpPr>
          <a:xfrm>
            <a:off x="60350" y="407365"/>
            <a:ext cx="729234" cy="1747647"/>
            <a:chOff x="60350" y="407365"/>
            <a:chExt cx="729234" cy="1747647"/>
          </a:xfrm>
        </p:grpSpPr>
        <p:sp>
          <p:nvSpPr>
            <p:cNvPr id="179" name="penalty_view_panel" descr="Editable shape; source id penalty_view_panel"/>
            <p:cNvSpPr/>
            <p:nvPr/>
          </p:nvSpPr>
          <p:spPr>
            <a:xfrm>
              <a:off x="60350" y="407365"/>
              <a:ext cx="729234" cy="1747647"/>
            </a:xfrm>
            <a:prstGeom prst="roundRect">
              <a:avLst>
                <a:gd name="adj" fmla="val 2758"/>
              </a:avLst>
            </a:prstGeom>
            <a:solidFill>
              <a:srgbClr val="FFFFFF"/>
            </a:solidFill>
            <a:ln w="3520">
              <a:solidFill>
                <a:srgbClr val="CDD7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0" name="penalty_title" descr="Editable text; source id penalty_title"/>
            <p:cNvSpPr txBox="1"/>
            <p:nvPr/>
          </p:nvSpPr>
          <p:spPr>
            <a:xfrm>
              <a:off x="110001" y="431861"/>
              <a:ext cx="533679" cy="115060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74"/>
                </a:lnSpc>
                <a:spcBef>
                  <a:spcPts val="0"/>
                </a:spcBef>
                <a:spcAft>
                  <a:spcPts val="0"/>
                </a:spcAft>
                <a:defRPr sz="673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73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rPr>
                <a:t>Penalty view</a:t>
              </a:r>
            </a:p>
          </p:txBody>
        </p:sp>
        <p:cxnSp>
          <p:nvCxnSpPr>
            <p:cNvPr id="181" name="penalty_rule" descr="Editable line; source id penalty_rule"/>
            <p:cNvCxnSpPr/>
            <p:nvPr/>
          </p:nvCxnSpPr>
          <p:spPr>
            <a:xfrm>
              <a:off x="110642" y="570814"/>
              <a:ext cx="628650" cy="0"/>
            </a:xfrm>
            <a:prstGeom prst="line">
              <a:avLst/>
            </a:prstGeom>
            <a:ln w="3268" cap="rnd">
              <a:solidFill>
                <a:srgbClr val="CDD7D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8" name="penalty_objective" descr="Editable formula parts and native mathematical delimiters."/>
            <p:cNvGrpSpPr/>
            <p:nvPr/>
          </p:nvGrpSpPr>
          <p:grpSpPr>
            <a:xfrm>
              <a:off x="230199" y="634447"/>
              <a:ext cx="388237" cy="121619"/>
              <a:chOff x="230199" y="634447"/>
              <a:chExt cx="388237" cy="121619"/>
            </a:xfrm>
          </p:grpSpPr>
          <p:sp>
            <p:nvSpPr>
              <p:cNvPr id="182" name="penalty_objective_0" descr="Editable text; source id penalty_objective_0"/>
              <p:cNvSpPr txBox="1"/>
              <p:nvPr/>
            </p:nvSpPr>
            <p:spPr>
              <a:xfrm>
                <a:off x="230199" y="634447"/>
                <a:ext cx="160174" cy="108356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819"/>
                  </a:lnSpc>
                  <a:spcBef>
                    <a:spcPts val="0"/>
                  </a:spcBef>
                  <a:spcAft>
                    <a:spcPts val="0"/>
                  </a:spcAft>
                  <a:defRPr sz="71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1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max</a:t>
                </a:r>
              </a:p>
            </p:txBody>
          </p:sp>
          <p:sp>
            <p:nvSpPr>
              <p:cNvPr id="183" name="penalty_objective_1" descr="Editable text; source id penalty_objective_1"/>
              <p:cNvSpPr txBox="1"/>
              <p:nvPr/>
            </p:nvSpPr>
            <p:spPr>
              <a:xfrm>
                <a:off x="386121" y="683105"/>
                <a:ext cx="34728" cy="72961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541"/>
                  </a:lnSpc>
                  <a:spcBef>
                    <a:spcPts val="0"/>
                  </a:spcBef>
                  <a:spcAft>
                    <a:spcPts val="0"/>
                  </a:spcAft>
                  <a:defRPr sz="470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70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π</a:t>
                </a:r>
              </a:p>
            </p:txBody>
          </p:sp>
          <p:sp>
            <p:nvSpPr>
              <p:cNvPr id="184" name="penalty_objective_2" descr="Editable text; source id penalty_objective_2"/>
              <p:cNvSpPr txBox="1"/>
              <p:nvPr/>
            </p:nvSpPr>
            <p:spPr>
              <a:xfrm>
                <a:off x="441992" y="634447"/>
                <a:ext cx="48194" cy="108356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819"/>
                  </a:lnSpc>
                  <a:spcBef>
                    <a:spcPts val="0"/>
                  </a:spcBef>
                  <a:spcAft>
                    <a:spcPts val="0"/>
                  </a:spcAft>
                  <a:defRPr sz="71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1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J</a:t>
                </a:r>
              </a:p>
            </p:txBody>
          </p:sp>
          <p:sp>
            <p:nvSpPr>
              <p:cNvPr id="185" name="penalty_objective_3" descr="Editable text; source id penalty_objective_3"/>
              <p:cNvSpPr txBox="1"/>
              <p:nvPr/>
            </p:nvSpPr>
            <p:spPr>
              <a:xfrm>
                <a:off x="485934" y="683105"/>
                <a:ext cx="24152" cy="72961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541"/>
                  </a:lnSpc>
                  <a:spcBef>
                    <a:spcPts val="0"/>
                  </a:spcBef>
                  <a:spcAft>
                    <a:spcPts val="0"/>
                  </a:spcAft>
                  <a:defRPr sz="470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70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r</a:t>
                </a:r>
              </a:p>
            </p:txBody>
          </p:sp>
          <p:sp>
            <p:nvSpPr>
              <p:cNvPr id="186" name="penalty_objective_4" descr="Editable text; source id penalty_objective_4"/>
              <p:cNvSpPr txBox="1"/>
              <p:nvPr/>
            </p:nvSpPr>
            <p:spPr>
              <a:xfrm>
                <a:off x="508549" y="634447"/>
                <a:ext cx="109887" cy="108356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819"/>
                  </a:lnSpc>
                  <a:spcBef>
                    <a:spcPts val="0"/>
                  </a:spcBef>
                  <a:spcAft>
                    <a:spcPts val="0"/>
                  </a:spcAft>
                  <a:defRPr sz="71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1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(π)</a:t>
                </a:r>
              </a:p>
            </p:txBody>
          </p:sp>
        </p:grpSp>
        <p:grpSp>
          <p:nvGrpSpPr>
            <p:cNvPr id="299" name="penalty_cost" descr="Editable formula parts and native mathematical delimiters."/>
            <p:cNvGrpSpPr/>
            <p:nvPr/>
          </p:nvGrpSpPr>
          <p:grpSpPr>
            <a:xfrm>
              <a:off x="253951" y="733598"/>
              <a:ext cx="340733" cy="138140"/>
              <a:chOff x="253951" y="733598"/>
              <a:chExt cx="340733" cy="138140"/>
            </a:xfrm>
          </p:grpSpPr>
          <p:sp>
            <p:nvSpPr>
              <p:cNvPr id="187" name="penalty_cost_0" descr="Editable text; source id penalty_cost_0"/>
              <p:cNvSpPr txBox="1"/>
              <p:nvPr/>
            </p:nvSpPr>
            <p:spPr>
              <a:xfrm>
                <a:off x="253951" y="750119"/>
                <a:ext cx="77961" cy="108356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819"/>
                  </a:lnSpc>
                  <a:spcBef>
                    <a:spcPts val="0"/>
                  </a:spcBef>
                  <a:spcAft>
                    <a:spcPts val="0"/>
                  </a:spcAft>
                  <a:defRPr sz="71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1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− </a:t>
                </a:r>
              </a:p>
            </p:txBody>
          </p:sp>
          <p:sp>
            <p:nvSpPr>
              <p:cNvPr id="188" name="penalty_cost_1" descr="Editable text; source id penalty_cost_1"/>
              <p:cNvSpPr txBox="1"/>
              <p:nvPr/>
            </p:nvSpPr>
            <p:spPr>
              <a:xfrm>
                <a:off x="327541" y="750119"/>
                <a:ext cx="49124" cy="108356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4252" anchorCtr="0" vertOverflow="overflow">
                <a:noAutofit/>
              </a:bodyPr>
              <a:lstStyle/>
              <a:p>
                <a:pPr algn="l" fontAlgn="base">
                  <a:lnSpc>
                    <a:spcPts val="819"/>
                  </a:lnSpc>
                  <a:spcBef>
                    <a:spcPts val="0"/>
                  </a:spcBef>
                  <a:spcAft>
                    <a:spcPts val="0"/>
                  </a:spcAft>
                  <a:defRPr sz="71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1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189" name="penalty_cost_2" descr="Editable text; source id penalty_cost_2"/>
              <p:cNvSpPr txBox="1"/>
              <p:nvPr/>
            </p:nvSpPr>
            <p:spPr>
              <a:xfrm>
                <a:off x="372413" y="733598"/>
                <a:ext cx="40741" cy="72961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541"/>
                  </a:lnSpc>
                  <a:spcBef>
                    <a:spcPts val="0"/>
                  </a:spcBef>
                  <a:spcAft>
                    <a:spcPts val="0"/>
                  </a:spcAft>
                  <a:defRPr sz="470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70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T</a:t>
                </a:r>
              </a:p>
            </p:txBody>
          </p:sp>
          <p:sp>
            <p:nvSpPr>
              <p:cNvPr id="190" name="penalty_cost_3" descr="Editable text; source id penalty_cost_3"/>
              <p:cNvSpPr txBox="1"/>
              <p:nvPr/>
            </p:nvSpPr>
            <p:spPr>
              <a:xfrm>
                <a:off x="411617" y="750119"/>
                <a:ext cx="48194" cy="108356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819"/>
                  </a:lnSpc>
                  <a:spcBef>
                    <a:spcPts val="0"/>
                  </a:spcBef>
                  <a:spcAft>
                    <a:spcPts val="0"/>
                  </a:spcAft>
                  <a:defRPr sz="71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1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J</a:t>
                </a:r>
              </a:p>
            </p:txBody>
          </p:sp>
          <p:sp>
            <p:nvSpPr>
              <p:cNvPr id="191" name="penalty_cost_4" descr="Editable text; source id penalty_cost_4"/>
              <p:cNvSpPr txBox="1"/>
              <p:nvPr/>
            </p:nvSpPr>
            <p:spPr>
              <a:xfrm>
                <a:off x="455559" y="798777"/>
                <a:ext cx="30774" cy="72961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541"/>
                  </a:lnSpc>
                  <a:spcBef>
                    <a:spcPts val="0"/>
                  </a:spcBef>
                  <a:spcAft>
                    <a:spcPts val="0"/>
                  </a:spcAft>
                  <a:defRPr sz="470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70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  <p:sp>
            <p:nvSpPr>
              <p:cNvPr id="192" name="penalty_cost_5" descr="Editable text; source id penalty_cost_5"/>
              <p:cNvSpPr txBox="1"/>
              <p:nvPr/>
            </p:nvSpPr>
            <p:spPr>
              <a:xfrm>
                <a:off x="484797" y="750119"/>
                <a:ext cx="109887" cy="108356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819"/>
                  </a:lnSpc>
                  <a:spcBef>
                    <a:spcPts val="0"/>
                  </a:spcBef>
                  <a:spcAft>
                    <a:spcPts val="0"/>
                  </a:spcAft>
                  <a:defRPr sz="71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1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(π)</a:t>
                </a:r>
              </a:p>
            </p:txBody>
          </p:sp>
        </p:grpSp>
        <p:sp>
          <p:nvSpPr>
            <p:cNvPr id="193" name="weighted_costs_label" descr="Editable text; source id weighted_costs_label"/>
            <p:cNvSpPr txBox="1"/>
            <p:nvPr/>
          </p:nvSpPr>
          <p:spPr>
            <a:xfrm>
              <a:off x="162025" y="908791"/>
              <a:ext cx="534387" cy="103191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683"/>
                </a:lnSpc>
                <a:spcBef>
                  <a:spcPts val="0"/>
                </a:spcBef>
                <a:spcAft>
                  <a:spcPts val="0"/>
                </a:spcAft>
                <a:defRPr sz="594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594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rPr>
                <a:t>Weighted costs</a:t>
              </a:r>
            </a:p>
          </p:txBody>
        </p:sp>
        <p:grpSp>
          <p:nvGrpSpPr>
            <p:cNvPr id="301" name="weighted_term0" descr="weighted term0"/>
            <p:cNvGrpSpPr/>
            <p:nvPr/>
          </p:nvGrpSpPr>
          <p:grpSpPr>
            <a:xfrm>
              <a:off x="128244" y="1056132"/>
              <a:ext cx="188595" cy="143332"/>
              <a:chOff x="128244" y="1056132"/>
              <a:chExt cx="188595" cy="143332"/>
            </a:xfrm>
          </p:grpSpPr>
          <p:sp>
            <p:nvSpPr>
              <p:cNvPr id="194" name="weighted_term0_panel" descr="Editable shape; source id weighted_term0_panel"/>
              <p:cNvSpPr/>
              <p:nvPr/>
            </p:nvSpPr>
            <p:spPr>
              <a:xfrm>
                <a:off x="128244" y="1056132"/>
                <a:ext cx="188595" cy="143332"/>
              </a:xfrm>
              <a:prstGeom prst="roundRect">
                <a:avLst>
                  <a:gd name="adj" fmla="val 14035"/>
                </a:avLst>
              </a:prstGeom>
              <a:solidFill>
                <a:srgbClr val="EDF1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300" name="weighted_term_label0" descr="Editable formula parts and native mathematical delimiters."/>
              <p:cNvGrpSpPr/>
              <p:nvPr/>
            </p:nvGrpSpPr>
            <p:grpSpPr>
              <a:xfrm>
                <a:off x="183962" y="1073725"/>
                <a:ext cx="73885" cy="115887"/>
                <a:chOff x="183962" y="1073725"/>
                <a:chExt cx="73885" cy="115887"/>
              </a:xfrm>
            </p:grpSpPr>
            <p:sp>
              <p:nvSpPr>
                <p:cNvPr id="195" name="weighted_term_label0_0" descr="Editable text; source id weighted_term_label0_0"/>
                <p:cNvSpPr txBox="1"/>
                <p:nvPr/>
              </p:nvSpPr>
              <p:spPr>
                <a:xfrm>
                  <a:off x="183962" y="1073725"/>
                  <a:ext cx="45536" cy="102573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3543" anchorCtr="0" vertOverflow="overflow">
                  <a:noAutofit/>
                </a:bodyPr>
                <a:lstStyle/>
                <a:p>
                  <a:pPr algn="l" fontAlgn="base">
                    <a:lnSpc>
                      <a:spcPts val="774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73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73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λ</a:t>
                  </a:r>
                </a:p>
              </p:txBody>
            </p:sp>
            <p:sp>
              <p:nvSpPr>
                <p:cNvPr id="196" name="weighted_term_label0_1" descr="Editable text; source id weighted_term_label0_1"/>
                <p:cNvSpPr txBox="1"/>
                <p:nvPr/>
              </p:nvSpPr>
              <p:spPr>
                <a:xfrm>
                  <a:off x="225246" y="1120468"/>
                  <a:ext cx="32601" cy="6914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1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44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44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1</a:t>
                  </a:r>
                </a:p>
              </p:txBody>
            </p:sp>
          </p:grpSp>
        </p:grpSp>
        <p:grpSp>
          <p:nvGrpSpPr>
            <p:cNvPr id="303" name="weighted_term1" descr="weighted term1"/>
            <p:cNvGrpSpPr/>
            <p:nvPr/>
          </p:nvGrpSpPr>
          <p:grpSpPr>
            <a:xfrm>
              <a:off x="329412" y="1056132"/>
              <a:ext cx="188595" cy="143332"/>
              <a:chOff x="329412" y="1056132"/>
              <a:chExt cx="188595" cy="143332"/>
            </a:xfrm>
          </p:grpSpPr>
          <p:sp>
            <p:nvSpPr>
              <p:cNvPr id="197" name="weighted_term1_panel" descr="Editable shape; source id weighted_term1_panel"/>
              <p:cNvSpPr/>
              <p:nvPr/>
            </p:nvSpPr>
            <p:spPr>
              <a:xfrm>
                <a:off x="329412" y="1056132"/>
                <a:ext cx="188595" cy="143332"/>
              </a:xfrm>
              <a:prstGeom prst="roundRect">
                <a:avLst>
                  <a:gd name="adj" fmla="val 14035"/>
                </a:avLst>
              </a:prstGeom>
              <a:solidFill>
                <a:srgbClr val="EDF1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302" name="weighted_term_label1" descr="Editable formula parts and native mathematical delimiters."/>
              <p:cNvGrpSpPr/>
              <p:nvPr/>
            </p:nvGrpSpPr>
            <p:grpSpPr>
              <a:xfrm>
                <a:off x="385130" y="1073725"/>
                <a:ext cx="73885" cy="115887"/>
                <a:chOff x="385130" y="1073725"/>
                <a:chExt cx="73885" cy="115887"/>
              </a:xfrm>
            </p:grpSpPr>
            <p:sp>
              <p:nvSpPr>
                <p:cNvPr id="198" name="weighted_term_label1_0" descr="Editable text; source id weighted_term_label1_0"/>
                <p:cNvSpPr txBox="1"/>
                <p:nvPr/>
              </p:nvSpPr>
              <p:spPr>
                <a:xfrm>
                  <a:off x="385130" y="1073725"/>
                  <a:ext cx="45536" cy="102573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3543" anchorCtr="0" vertOverflow="overflow">
                  <a:noAutofit/>
                </a:bodyPr>
                <a:lstStyle/>
                <a:p>
                  <a:pPr algn="l" fontAlgn="base">
                    <a:lnSpc>
                      <a:spcPts val="774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73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73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λ</a:t>
                  </a:r>
                </a:p>
              </p:txBody>
            </p:sp>
            <p:sp>
              <p:nvSpPr>
                <p:cNvPr id="199" name="weighted_term_label1_1" descr="Editable text; source id weighted_term_label1_1"/>
                <p:cNvSpPr txBox="1"/>
                <p:nvPr/>
              </p:nvSpPr>
              <p:spPr>
                <a:xfrm>
                  <a:off x="426414" y="1120468"/>
                  <a:ext cx="32601" cy="6914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1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44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44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2</a:t>
                  </a:r>
                </a:p>
              </p:txBody>
            </p:sp>
          </p:grpSp>
        </p:grpSp>
        <p:grpSp>
          <p:nvGrpSpPr>
            <p:cNvPr id="305" name="weighted_term2" descr="weighted term2"/>
            <p:cNvGrpSpPr/>
            <p:nvPr/>
          </p:nvGrpSpPr>
          <p:grpSpPr>
            <a:xfrm>
              <a:off x="530580" y="1056132"/>
              <a:ext cx="188595" cy="143332"/>
              <a:chOff x="530580" y="1056132"/>
              <a:chExt cx="188595" cy="143332"/>
            </a:xfrm>
          </p:grpSpPr>
          <p:sp>
            <p:nvSpPr>
              <p:cNvPr id="200" name="weighted_term2_panel" descr="Editable shape; source id weighted_term2_panel"/>
              <p:cNvSpPr/>
              <p:nvPr/>
            </p:nvSpPr>
            <p:spPr>
              <a:xfrm>
                <a:off x="530580" y="1056132"/>
                <a:ext cx="188595" cy="143332"/>
              </a:xfrm>
              <a:prstGeom prst="roundRect">
                <a:avLst>
                  <a:gd name="adj" fmla="val 14035"/>
                </a:avLst>
              </a:prstGeom>
              <a:solidFill>
                <a:srgbClr val="EDF1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304" name="weighted_term_label2" descr="Editable formula parts and native mathematical delimiters."/>
              <p:cNvGrpSpPr/>
              <p:nvPr/>
            </p:nvGrpSpPr>
            <p:grpSpPr>
              <a:xfrm>
                <a:off x="580102" y="1073725"/>
                <a:ext cx="86277" cy="115887"/>
                <a:chOff x="580102" y="1073725"/>
                <a:chExt cx="86277" cy="115887"/>
              </a:xfrm>
            </p:grpSpPr>
            <p:sp>
              <p:nvSpPr>
                <p:cNvPr id="201" name="weighted_term_label2_0" descr="Editable text; source id weighted_term_label2_0"/>
                <p:cNvSpPr txBox="1"/>
                <p:nvPr/>
              </p:nvSpPr>
              <p:spPr>
                <a:xfrm>
                  <a:off x="580102" y="1073725"/>
                  <a:ext cx="45536" cy="102573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3543" anchorCtr="0" vertOverflow="overflow">
                  <a:noAutofit/>
                </a:bodyPr>
                <a:lstStyle/>
                <a:p>
                  <a:pPr algn="l" fontAlgn="base">
                    <a:lnSpc>
                      <a:spcPts val="774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73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73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λ</a:t>
                  </a:r>
                </a:p>
              </p:txBody>
            </p:sp>
            <p:sp>
              <p:nvSpPr>
                <p:cNvPr id="202" name="weighted_term_label2_1" descr="Editable text; source id weighted_term_label2_1"/>
                <p:cNvSpPr txBox="1"/>
                <p:nvPr/>
              </p:nvSpPr>
              <p:spPr>
                <a:xfrm>
                  <a:off x="621386" y="1120468"/>
                  <a:ext cx="44993" cy="6914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1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44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44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</p:grpSp>
        </p:grpSp>
        <p:grpSp>
          <p:nvGrpSpPr>
            <p:cNvPr id="306" name="weighted_sum" descr="Editable formula parts and native mathematical delimiters."/>
            <p:cNvGrpSpPr/>
            <p:nvPr/>
          </p:nvGrpSpPr>
          <p:grpSpPr>
            <a:xfrm>
              <a:off x="235660" y="1257291"/>
              <a:ext cx="377466" cy="127044"/>
              <a:chOff x="235660" y="1257291"/>
              <a:chExt cx="377466" cy="127044"/>
            </a:xfrm>
          </p:grpSpPr>
          <p:sp>
            <p:nvSpPr>
              <p:cNvPr id="203" name="weighted_sum_0" descr="Editable text; source id weighted_sum_0"/>
              <p:cNvSpPr txBox="1"/>
              <p:nvPr/>
            </p:nvSpPr>
            <p:spPr>
              <a:xfrm>
                <a:off x="235660" y="1257291"/>
                <a:ext cx="65203" cy="102573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774"/>
                  </a:lnSpc>
                  <a:spcBef>
                    <a:spcPts val="0"/>
                  </a:spcBef>
                  <a:spcAft>
                    <a:spcPts val="0"/>
                  </a:spcAft>
                  <a:defRPr sz="673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73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∑</a:t>
                </a:r>
              </a:p>
            </p:txBody>
          </p:sp>
          <p:sp>
            <p:nvSpPr>
              <p:cNvPr id="204" name="weighted_sum_1" descr="Editable text; source id weighted_sum_1"/>
              <p:cNvSpPr txBox="1"/>
              <p:nvPr/>
            </p:nvSpPr>
            <p:spPr>
              <a:xfrm>
                <a:off x="296611" y="1304033"/>
                <a:ext cx="32601" cy="69144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510"/>
                  </a:lnSpc>
                  <a:spcBef>
                    <a:spcPts val="0"/>
                  </a:spcBef>
                  <a:spcAft>
                    <a:spcPts val="0"/>
                  </a:spcAft>
                  <a:defRPr sz="444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44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205" name="weighted_sum_2" descr="Editable text; source id weighted_sum_2"/>
              <p:cNvSpPr txBox="1"/>
              <p:nvPr/>
            </p:nvSpPr>
            <p:spPr>
              <a:xfrm>
                <a:off x="346772" y="1257291"/>
                <a:ext cx="45536" cy="102573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3543" anchorCtr="0" vertOverflow="overflow">
                <a:noAutofit/>
              </a:bodyPr>
              <a:lstStyle/>
              <a:p>
                <a:pPr algn="l" fontAlgn="base">
                  <a:lnSpc>
                    <a:spcPts val="774"/>
                  </a:lnSpc>
                  <a:spcBef>
                    <a:spcPts val="0"/>
                  </a:spcBef>
                  <a:spcAft>
                    <a:spcPts val="0"/>
                  </a:spcAft>
                  <a:defRPr sz="67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7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206" name="weighted_sum_3" descr="Editable text; source id weighted_sum_3"/>
              <p:cNvSpPr txBox="1"/>
              <p:nvPr/>
            </p:nvSpPr>
            <p:spPr>
              <a:xfrm>
                <a:off x="388056" y="1304033"/>
                <a:ext cx="32601" cy="69144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510"/>
                  </a:lnSpc>
                  <a:spcBef>
                    <a:spcPts val="0"/>
                  </a:spcBef>
                  <a:spcAft>
                    <a:spcPts val="0"/>
                  </a:spcAft>
                  <a:defRPr sz="444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44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207" name="weighted_sum_4" descr="Editable text; source id weighted_sum_4"/>
              <p:cNvSpPr txBox="1"/>
              <p:nvPr/>
            </p:nvSpPr>
            <p:spPr>
              <a:xfrm>
                <a:off x="418970" y="1257291"/>
                <a:ext cx="46067" cy="102573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774"/>
                  </a:lnSpc>
                  <a:spcBef>
                    <a:spcPts val="0"/>
                  </a:spcBef>
                  <a:spcAft>
                    <a:spcPts val="0"/>
                  </a:spcAft>
                  <a:defRPr sz="67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7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J</a:t>
                </a:r>
              </a:p>
            </p:txBody>
          </p:sp>
          <p:sp>
            <p:nvSpPr>
              <p:cNvPr id="208" name="weighted_sum_5" descr="Editable text; source id weighted_sum_5"/>
              <p:cNvSpPr txBox="1"/>
              <p:nvPr/>
            </p:nvSpPr>
            <p:spPr>
              <a:xfrm>
                <a:off x="460786" y="1304033"/>
                <a:ext cx="29290" cy="69144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510"/>
                  </a:lnSpc>
                  <a:spcBef>
                    <a:spcPts val="0"/>
                  </a:spcBef>
                  <a:spcAft>
                    <a:spcPts val="0"/>
                  </a:spcAft>
                  <a:defRPr sz="444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44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  <p:sp>
            <p:nvSpPr>
              <p:cNvPr id="209" name="weighted_sum_6" descr="Editable text; source id weighted_sum_6"/>
              <p:cNvSpPr txBox="1"/>
              <p:nvPr/>
            </p:nvSpPr>
            <p:spPr>
              <a:xfrm>
                <a:off x="485824" y="1332889"/>
                <a:ext cx="24805" cy="51446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371"/>
                  </a:lnSpc>
                  <a:spcBef>
                    <a:spcPts val="0"/>
                  </a:spcBef>
                  <a:spcAft>
                    <a:spcPts val="0"/>
                  </a:spcAft>
                  <a:defRPr sz="323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323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210" name="weighted_sum_7" descr="Editable text; source id weighted_sum_7"/>
              <p:cNvSpPr txBox="1"/>
              <p:nvPr/>
            </p:nvSpPr>
            <p:spPr>
              <a:xfrm>
                <a:off x="508942" y="1257291"/>
                <a:ext cx="104184" cy="102573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774"/>
                  </a:lnSpc>
                  <a:spcBef>
                    <a:spcPts val="0"/>
                  </a:spcBef>
                  <a:spcAft>
                    <a:spcPts val="0"/>
                  </a:spcAft>
                  <a:defRPr sz="67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7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(π)</a:t>
                </a:r>
              </a:p>
            </p:txBody>
          </p:sp>
        </p:grpSp>
        <p:cxnSp>
          <p:nvCxnSpPr>
            <p:cNvPr id="211" name="exact_rule" descr="Editable line; source id exact_rule"/>
            <p:cNvCxnSpPr/>
            <p:nvPr/>
          </p:nvCxnSpPr>
          <p:spPr>
            <a:xfrm>
              <a:off x="113156" y="1418234"/>
              <a:ext cx="623621" cy="0"/>
            </a:xfrm>
            <a:prstGeom prst="line">
              <a:avLst/>
            </a:prstGeom>
            <a:ln w="3268" cap="rnd">
              <a:solidFill>
                <a:srgbClr val="CDD7D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" name="exact_label" descr="Editable text; source id exact_label"/>
            <p:cNvSpPr txBox="1"/>
            <p:nvPr/>
          </p:nvSpPr>
          <p:spPr>
            <a:xfrm>
              <a:off x="154938" y="1447303"/>
              <a:ext cx="548562" cy="106158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05"/>
                </a:lnSpc>
                <a:spcBef>
                  <a:spcPts val="0"/>
                </a:spcBef>
                <a:spcAft>
                  <a:spcPts val="0"/>
                </a:spcAft>
                <a:defRPr sz="613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13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rPr>
                <a:t>Exact settings</a:t>
              </a:r>
            </a:p>
          </p:txBody>
        </p:sp>
        <p:sp>
          <p:nvSpPr>
            <p:cNvPr id="213" name="zero_clip_0" descr="Editable text; source id zero_clip_0"/>
            <p:cNvSpPr txBox="1"/>
            <p:nvPr/>
          </p:nvSpPr>
          <p:spPr>
            <a:xfrm>
              <a:off x="326158" y="1559820"/>
              <a:ext cx="196320" cy="108356"/>
            </a:xfrm>
            <a:prstGeom prst="rect">
              <a:avLst/>
            </a:prstGeom>
            <a:noFill/>
            <a:effectLst/>
          </p:spPr>
          <p:txBody>
            <a:bodyPr wrap="none" anchor="t" tIns="1417" rIns="0" bIns="0" lIns="1417" anchorCtr="0" vertOverflow="overflow">
              <a:noAutofit/>
            </a:bodyPr>
            <a:lstStyle/>
            <a:p>
              <a:pPr algn="l" fontAlgn="base">
                <a:lnSpc>
                  <a:spcPts val="819"/>
                </a:lnSpc>
                <a:spcBef>
                  <a:spcPts val="0"/>
                </a:spcBef>
                <a:spcAft>
                  <a:spcPts val="0"/>
                </a:spcAft>
                <a:defRPr sz="712" b="0" i="1" lang="zh-CN" dirty="0">
                  <a:solidFill>
                    <a:srgbClr val="29343E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12" b="0" i="1" lang="zh-CN" dirty="0">
                  <a:solidFill>
                    <a:srgbClr val="29343E"/>
                  </a:solidFill>
                  <a:latin typeface="Liberation Serif"/>
                  <a:ea typeface="Liberation Serif"/>
                  <a:cs typeface="Liberation Serif"/>
                </a:rPr>
                <a:t>c = 0</a:t>
              </a:r>
            </a:p>
          </p:txBody>
        </p:sp>
        <p:sp>
          <p:nvSpPr>
            <p:cNvPr id="214" name="fixed_beta" descr="Editable text; source id fixed_beta"/>
            <p:cNvSpPr txBox="1"/>
            <p:nvPr/>
          </p:nvSpPr>
          <p:spPr>
            <a:xfrm>
              <a:off x="307317" y="1675744"/>
              <a:ext cx="243805" cy="103191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683"/>
                </a:lnSpc>
                <a:spcBef>
                  <a:spcPts val="0"/>
                </a:spcBef>
                <a:spcAft>
                  <a:spcPts val="0"/>
                </a:spcAft>
                <a:defRPr sz="594" b="0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594" b="0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rPr>
                <a:t>fixed β</a:t>
              </a:r>
            </a:p>
          </p:txBody>
        </p:sp>
        <p:sp>
          <p:nvSpPr>
            <p:cNvPr id="215" name="fixed_family" descr="Editable text; source id fixed_family"/>
            <p:cNvSpPr txBox="1"/>
            <p:nvPr/>
          </p:nvSpPr>
          <p:spPr>
            <a:xfrm>
              <a:off x="207385" y="1763755"/>
              <a:ext cx="443669" cy="103191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683"/>
                </a:lnSpc>
                <a:spcBef>
                  <a:spcPts val="0"/>
                </a:spcBef>
                <a:spcAft>
                  <a:spcPts val="0"/>
                </a:spcAft>
                <a:defRPr sz="594" b="0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594" b="0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rPr>
                <a:t>fixed penalty</a:t>
              </a:r>
            </a:p>
          </p:txBody>
        </p:sp>
        <p:sp>
          <p:nvSpPr>
            <p:cNvPr id="216" name="adaptive_beta" descr="Editable text; source id adaptive_beta"/>
            <p:cNvSpPr txBox="1"/>
            <p:nvPr/>
          </p:nvSpPr>
          <p:spPr>
            <a:xfrm>
              <a:off x="244505" y="1881941"/>
              <a:ext cx="369429" cy="103191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683"/>
                </a:lnSpc>
                <a:spcBef>
                  <a:spcPts val="0"/>
                </a:spcBef>
                <a:spcAft>
                  <a:spcPts val="0"/>
                </a:spcAft>
                <a:defRPr sz="594" b="0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594" b="0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rPr>
                <a:t>adaptive β</a:t>
              </a:r>
            </a:p>
          </p:txBody>
        </p:sp>
        <p:sp>
          <p:nvSpPr>
            <p:cNvPr id="217" name="adaptive_family" descr="Editable text; source id adaptive_family"/>
            <p:cNvSpPr txBox="1"/>
            <p:nvPr/>
          </p:nvSpPr>
          <p:spPr>
            <a:xfrm>
              <a:off x="230419" y="1969952"/>
              <a:ext cx="397601" cy="103191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683"/>
                </a:lnSpc>
                <a:spcBef>
                  <a:spcPts val="0"/>
                </a:spcBef>
                <a:spcAft>
                  <a:spcPts val="0"/>
                </a:spcAft>
                <a:defRPr sz="594" b="0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594" b="0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rPr>
                <a:t>Lagrangian</a:t>
              </a:r>
            </a:p>
          </p:txBody>
        </p:sp>
      </p:grpSp>
      <p:grpSp>
        <p:nvGrpSpPr>
          <p:cNvPr id="313" name="constraint_view" descr="constraint view"/>
          <p:cNvGrpSpPr/>
          <p:nvPr/>
        </p:nvGrpSpPr>
        <p:grpSpPr>
          <a:xfrm>
            <a:off x="4239615" y="407365"/>
            <a:ext cx="729284" cy="1747647"/>
            <a:chOff x="4239615" y="407365"/>
            <a:chExt cx="729284" cy="1747647"/>
          </a:xfrm>
        </p:grpSpPr>
        <p:sp>
          <p:nvSpPr>
            <p:cNvPr id="218" name="constraint_view_panel" descr="Editable shape; source id constraint_view_panel"/>
            <p:cNvSpPr/>
            <p:nvPr/>
          </p:nvSpPr>
          <p:spPr>
            <a:xfrm>
              <a:off x="4239615" y="407365"/>
              <a:ext cx="729234" cy="1747647"/>
            </a:xfrm>
            <a:prstGeom prst="roundRect">
              <a:avLst>
                <a:gd name="adj" fmla="val 2758"/>
              </a:avLst>
            </a:prstGeom>
            <a:solidFill>
              <a:srgbClr val="FFFFFF"/>
            </a:solidFill>
            <a:ln w="3520">
              <a:solidFill>
                <a:srgbClr val="CDD7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9" name="constraint_title" descr="Editable text; source id constraint_title"/>
            <p:cNvSpPr txBox="1"/>
            <p:nvPr/>
          </p:nvSpPr>
          <p:spPr>
            <a:xfrm>
              <a:off x="4289266" y="434696"/>
              <a:ext cx="638572" cy="112093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51"/>
                </a:lnSpc>
                <a:spcBef>
                  <a:spcPts val="0"/>
                </a:spcBef>
                <a:spcAft>
                  <a:spcPts val="0"/>
                </a:spcAft>
                <a:defRPr sz="653" b="1" i="0" lang="zh-CN" dirty="0">
                  <a:solidFill>
                    <a:srgbClr val="B78129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53" b="1" i="0" lang="zh-CN" dirty="0">
                  <a:solidFill>
                    <a:srgbClr val="B78129"/>
                  </a:solidFill>
                  <a:latin typeface="Liberation Sans"/>
                  <a:ea typeface="Liberation Sans"/>
                  <a:cs typeface="Liberation Sans"/>
                </a:rPr>
                <a:t>Constraint view</a:t>
              </a:r>
            </a:p>
          </p:txBody>
        </p:sp>
        <p:cxnSp>
          <p:nvCxnSpPr>
            <p:cNvPr id="220" name="constraint_rule" descr="Editable line; source id constraint_rule"/>
            <p:cNvCxnSpPr/>
            <p:nvPr/>
          </p:nvCxnSpPr>
          <p:spPr>
            <a:xfrm>
              <a:off x="4289907" y="570814"/>
              <a:ext cx="628650" cy="0"/>
            </a:xfrm>
            <a:prstGeom prst="line">
              <a:avLst/>
            </a:prstGeom>
            <a:ln w="3268" cap="rnd">
              <a:solidFill>
                <a:srgbClr val="CDD7D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8" name="constrained_objective" descr="Editable formula parts and native mathematical delimiters."/>
            <p:cNvGrpSpPr/>
            <p:nvPr/>
          </p:nvGrpSpPr>
          <p:grpSpPr>
            <a:xfrm>
              <a:off x="4409464" y="634447"/>
              <a:ext cx="388238" cy="121619"/>
              <a:chOff x="4409464" y="634447"/>
              <a:chExt cx="388238" cy="121619"/>
            </a:xfrm>
          </p:grpSpPr>
          <p:sp>
            <p:nvSpPr>
              <p:cNvPr id="221" name="constrained_objective_0" descr="Editable text; source id constrained_objective_0"/>
              <p:cNvSpPr txBox="1"/>
              <p:nvPr/>
            </p:nvSpPr>
            <p:spPr>
              <a:xfrm>
                <a:off x="4409464" y="634447"/>
                <a:ext cx="160174" cy="108356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819"/>
                  </a:lnSpc>
                  <a:spcBef>
                    <a:spcPts val="0"/>
                  </a:spcBef>
                  <a:spcAft>
                    <a:spcPts val="0"/>
                  </a:spcAft>
                  <a:defRPr sz="71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1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max</a:t>
                </a:r>
              </a:p>
            </p:txBody>
          </p:sp>
          <p:sp>
            <p:nvSpPr>
              <p:cNvPr id="222" name="constrained_objective_1" descr="Editable text; source id constrained_objective_1"/>
              <p:cNvSpPr txBox="1"/>
              <p:nvPr/>
            </p:nvSpPr>
            <p:spPr>
              <a:xfrm>
                <a:off x="4565386" y="683105"/>
                <a:ext cx="34728" cy="72961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541"/>
                  </a:lnSpc>
                  <a:spcBef>
                    <a:spcPts val="0"/>
                  </a:spcBef>
                  <a:spcAft>
                    <a:spcPts val="0"/>
                  </a:spcAft>
                  <a:defRPr sz="470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70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π</a:t>
                </a:r>
              </a:p>
            </p:txBody>
          </p:sp>
          <p:sp>
            <p:nvSpPr>
              <p:cNvPr id="223" name="constrained_objective_2" descr="Editable text; source id constrained_objective_2"/>
              <p:cNvSpPr txBox="1"/>
              <p:nvPr/>
            </p:nvSpPr>
            <p:spPr>
              <a:xfrm>
                <a:off x="4621257" y="634447"/>
                <a:ext cx="48194" cy="108356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819"/>
                  </a:lnSpc>
                  <a:spcBef>
                    <a:spcPts val="0"/>
                  </a:spcBef>
                  <a:spcAft>
                    <a:spcPts val="0"/>
                  </a:spcAft>
                  <a:defRPr sz="71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1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J</a:t>
                </a:r>
              </a:p>
            </p:txBody>
          </p:sp>
          <p:sp>
            <p:nvSpPr>
              <p:cNvPr id="224" name="constrained_objective_3" descr="Editable text; source id constrained_objective_3"/>
              <p:cNvSpPr txBox="1"/>
              <p:nvPr/>
            </p:nvSpPr>
            <p:spPr>
              <a:xfrm>
                <a:off x="4665199" y="683105"/>
                <a:ext cx="24152" cy="72961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541"/>
                  </a:lnSpc>
                  <a:spcBef>
                    <a:spcPts val="0"/>
                  </a:spcBef>
                  <a:spcAft>
                    <a:spcPts val="0"/>
                  </a:spcAft>
                  <a:defRPr sz="470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70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r</a:t>
                </a:r>
              </a:p>
            </p:txBody>
          </p:sp>
          <p:sp>
            <p:nvSpPr>
              <p:cNvPr id="225" name="constrained_objective_4" descr="Editable text; source id constrained_objective_4"/>
              <p:cNvSpPr txBox="1"/>
              <p:nvPr/>
            </p:nvSpPr>
            <p:spPr>
              <a:xfrm>
                <a:off x="4687815" y="634447"/>
                <a:ext cx="109887" cy="108356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819"/>
                  </a:lnSpc>
                  <a:spcBef>
                    <a:spcPts val="0"/>
                  </a:spcBef>
                  <a:spcAft>
                    <a:spcPts val="0"/>
                  </a:spcAft>
                  <a:defRPr sz="71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1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(π)</a:t>
                </a:r>
              </a:p>
            </p:txBody>
          </p:sp>
        </p:grpSp>
        <p:grpSp>
          <p:nvGrpSpPr>
            <p:cNvPr id="309" name="constrained_cost" descr="Editable formula parts and native mathematical delimiters."/>
            <p:cNvGrpSpPr/>
            <p:nvPr/>
          </p:nvGrpSpPr>
          <p:grpSpPr>
            <a:xfrm>
              <a:off x="4377950" y="752245"/>
              <a:ext cx="451342" cy="118398"/>
              <a:chOff x="4377950" y="752245"/>
              <a:chExt cx="451342" cy="118398"/>
            </a:xfrm>
          </p:grpSpPr>
          <p:sp>
            <p:nvSpPr>
              <p:cNvPr id="226" name="constrained_cost_0" descr="Editable text; source id constrained_cost_0"/>
              <p:cNvSpPr txBox="1"/>
              <p:nvPr/>
            </p:nvSpPr>
            <p:spPr>
              <a:xfrm>
                <a:off x="4377950" y="752245"/>
                <a:ext cx="128990" cy="105465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796"/>
                  </a:lnSpc>
                  <a:spcBef>
                    <a:spcPts val="0"/>
                  </a:spcBef>
                  <a:spcAft>
                    <a:spcPts val="0"/>
                  </a:spcAft>
                  <a:defRPr sz="69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9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s.t. </a:t>
                </a:r>
              </a:p>
            </p:txBody>
          </p:sp>
          <p:sp>
            <p:nvSpPr>
              <p:cNvPr id="227" name="constrained_cost_1" descr="Editable text; source id constrained_cost_1"/>
              <p:cNvSpPr txBox="1"/>
              <p:nvPr/>
            </p:nvSpPr>
            <p:spPr>
              <a:xfrm>
                <a:off x="4505328" y="752245"/>
                <a:ext cx="46776" cy="105465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796"/>
                  </a:lnSpc>
                  <a:spcBef>
                    <a:spcPts val="0"/>
                  </a:spcBef>
                  <a:spcAft>
                    <a:spcPts val="0"/>
                  </a:spcAft>
                  <a:defRPr sz="69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9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J</a:t>
                </a:r>
              </a:p>
            </p:txBody>
          </p:sp>
          <p:sp>
            <p:nvSpPr>
              <p:cNvPr id="228" name="constrained_cost_2" descr="Editable text; source id constrained_cost_2"/>
              <p:cNvSpPr txBox="1"/>
              <p:nvPr/>
            </p:nvSpPr>
            <p:spPr>
              <a:xfrm>
                <a:off x="4547852" y="799591"/>
                <a:ext cx="30032" cy="71052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525"/>
                  </a:lnSpc>
                  <a:spcBef>
                    <a:spcPts val="0"/>
                  </a:spcBef>
                  <a:spcAft>
                    <a:spcPts val="0"/>
                  </a:spcAft>
                  <a:defRPr sz="457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57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  <p:sp>
            <p:nvSpPr>
              <p:cNvPr id="229" name="constrained_cost_3" descr="Editable text; source id constrained_cost_3"/>
              <p:cNvSpPr txBox="1"/>
              <p:nvPr/>
            </p:nvSpPr>
            <p:spPr>
              <a:xfrm>
                <a:off x="4576273" y="752245"/>
                <a:ext cx="253019" cy="105465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796"/>
                  </a:lnSpc>
                  <a:spcBef>
                    <a:spcPts val="0"/>
                  </a:spcBef>
                  <a:spcAft>
                    <a:spcPts val="0"/>
                  </a:spcAft>
                  <a:defRPr sz="69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9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(π) ≤ B</a:t>
                </a:r>
              </a:p>
            </p:txBody>
          </p:sp>
        </p:grpSp>
        <p:sp>
          <p:nvSpPr>
            <p:cNvPr id="230" name="budget_schematic_label" descr="Editable text; source id budget_schematic_label"/>
            <p:cNvSpPr txBox="1"/>
            <p:nvPr/>
          </p:nvSpPr>
          <p:spPr>
            <a:xfrm>
              <a:off x="4374164" y="903761"/>
              <a:ext cx="468641" cy="103191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683"/>
                </a:lnSpc>
                <a:spcBef>
                  <a:spcPts val="0"/>
                </a:spcBef>
                <a:spcAft>
                  <a:spcPts val="0"/>
                </a:spcAft>
                <a:defRPr sz="594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594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rPr>
                <a:t>Joint budgets</a:t>
              </a:r>
            </a:p>
          </p:txBody>
        </p:sp>
        <p:grpSp>
          <p:nvGrpSpPr>
            <p:cNvPr id="312" name="budget_geometry" descr="budget geometry"/>
            <p:cNvGrpSpPr/>
            <p:nvPr/>
          </p:nvGrpSpPr>
          <p:grpSpPr>
            <a:xfrm>
              <a:off x="4381689" y="1020928"/>
              <a:ext cx="494727" cy="402097"/>
              <a:chOff x="4381689" y="1020928"/>
              <a:chExt cx="494727" cy="402097"/>
            </a:xfrm>
          </p:grpSpPr>
          <p:sp>
            <p:nvSpPr>
              <p:cNvPr id="231" name="budget_region" descr="Editable shape; source id budget_region"/>
              <p:cNvSpPr/>
              <p:nvPr/>
            </p:nvSpPr>
            <p:spPr>
              <a:xfrm>
                <a:off x="4400550" y="1063675"/>
                <a:ext cx="259003" cy="236372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2" name="budget_x" descr="Editable line; source id budget_x"/>
              <p:cNvSpPr/>
              <p:nvPr/>
            </p:nvSpPr>
            <p:spPr>
              <a:xfrm>
                <a:off x="4393006" y="1296278"/>
                <a:ext cx="432511" cy="22631"/>
              </a:xfrm>
              <a:custGeom>
                <a:avLst/>
                <a:gdLst/>
                <a:ahLst/>
                <a:cxnLst/>
                <a:rect l="l" t="t" r="r" b="b"/>
                <a:pathLst>
                  <a:path w="152564" h="7983">
                    <a:moveTo>
                      <a:pt x="0" y="3237"/>
                    </a:moveTo>
                    <a:lnTo>
                      <a:pt x="141920" y="3237"/>
                    </a:lnTo>
                    <a:lnTo>
                      <a:pt x="141920" y="0"/>
                    </a:lnTo>
                    <a:lnTo>
                      <a:pt x="152564" y="3991"/>
                    </a:lnTo>
                    <a:lnTo>
                      <a:pt x="141920" y="7983"/>
                    </a:lnTo>
                    <a:lnTo>
                      <a:pt x="141920" y="4745"/>
                    </a:lnTo>
                    <a:lnTo>
                      <a:pt x="0" y="4745"/>
                    </a:lnTo>
                    <a:close/>
                  </a:path>
                </a:pathLst>
              </a:custGeom>
              <a:solidFill>
                <a:srgbClr val="77858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3" name="budget_y" descr="Editable line; source id budget_y"/>
              <p:cNvSpPr/>
              <p:nvPr/>
            </p:nvSpPr>
            <p:spPr>
              <a:xfrm>
                <a:off x="4381689" y="1020928"/>
                <a:ext cx="22631" cy="286664"/>
              </a:xfrm>
              <a:custGeom>
                <a:avLst/>
                <a:gdLst/>
                <a:ahLst/>
                <a:cxnLst/>
                <a:rect l="l" t="t" r="r" b="b"/>
                <a:pathLst>
                  <a:path w="7983" h="101118">
                    <a:moveTo>
                      <a:pt x="3238" y="101118"/>
                    </a:moveTo>
                    <a:lnTo>
                      <a:pt x="3238" y="10644"/>
                    </a:lnTo>
                    <a:lnTo>
                      <a:pt x="0" y="10644"/>
                    </a:lnTo>
                    <a:lnTo>
                      <a:pt x="3992" y="0"/>
                    </a:lnTo>
                    <a:lnTo>
                      <a:pt x="7983" y="10644"/>
                    </a:lnTo>
                    <a:lnTo>
                      <a:pt x="4746" y="10644"/>
                    </a:lnTo>
                    <a:lnTo>
                      <a:pt x="4746" y="101118"/>
                    </a:lnTo>
                    <a:close/>
                  </a:path>
                </a:pathLst>
              </a:custGeom>
              <a:solidFill>
                <a:srgbClr val="77858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234" name="budget_vertical" descr="Editable line; source id budget_vertical"/>
              <p:cNvCxnSpPr/>
              <p:nvPr/>
            </p:nvCxnSpPr>
            <p:spPr>
              <a:xfrm flipV="1">
                <a:off x="4667097" y="1056132"/>
                <a:ext cx="0" cy="241401"/>
              </a:xfrm>
              <a:prstGeom prst="line">
                <a:avLst/>
              </a:prstGeom>
              <a:ln w="4274" cap="rnd">
                <a:solidFill>
                  <a:srgbClr val="B78129"/>
                </a:solidFill>
                <a:custDash>
                  <a:ds d="352941" sp="235294"/>
                </a:custDash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" name="budget_horizontal" descr="Editable line; source id budget_horizontal"/>
              <p:cNvCxnSpPr/>
              <p:nvPr/>
            </p:nvCxnSpPr>
            <p:spPr>
              <a:xfrm>
                <a:off x="4403064" y="1056132"/>
                <a:ext cx="264033" cy="0"/>
              </a:xfrm>
              <a:prstGeom prst="line">
                <a:avLst/>
              </a:prstGeom>
              <a:ln w="4274" cap="rnd">
                <a:solidFill>
                  <a:srgbClr val="B78129"/>
                </a:solidFill>
                <a:custDash>
                  <a:ds d="352941" sp="235294"/>
                </a:custDash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0" name="budget_axis_x" descr="Editable formula parts and native mathematical delimiters."/>
              <p:cNvGrpSpPr/>
              <p:nvPr/>
            </p:nvGrpSpPr>
            <p:grpSpPr>
              <a:xfrm>
                <a:off x="4519481" y="1323952"/>
                <a:ext cx="178790" cy="99073"/>
                <a:chOff x="4519481" y="1323952"/>
                <a:chExt cx="178790" cy="99073"/>
              </a:xfrm>
            </p:grpSpPr>
            <p:sp>
              <p:nvSpPr>
                <p:cNvPr id="236" name="budget_axis_x_0" descr="Editable text; source id budget_axis_x_0"/>
                <p:cNvSpPr txBox="1"/>
                <p:nvPr/>
              </p:nvSpPr>
              <p:spPr>
                <a:xfrm>
                  <a:off x="4519481" y="1323952"/>
                  <a:ext cx="39689" cy="8811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66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574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574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J</a:t>
                  </a:r>
                </a:p>
              </p:txBody>
            </p:sp>
            <p:sp>
              <p:nvSpPr>
                <p:cNvPr id="237" name="budget_axis_x_1" descr="Editable text; source id budget_axis_x_1"/>
                <p:cNvSpPr txBox="1"/>
                <p:nvPr/>
              </p:nvSpPr>
              <p:spPr>
                <a:xfrm>
                  <a:off x="4554917" y="1363424"/>
                  <a:ext cx="49678" cy="5960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43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378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378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c1</a:t>
                  </a:r>
                </a:p>
              </p:txBody>
            </p:sp>
            <p:sp>
              <p:nvSpPr>
                <p:cNvPr id="238" name="budget_axis_x_2" descr="Editable text; source id budget_axis_x_2"/>
                <p:cNvSpPr txBox="1"/>
                <p:nvPr/>
              </p:nvSpPr>
              <p:spPr>
                <a:xfrm>
                  <a:off x="4602531" y="1323952"/>
                  <a:ext cx="24805" cy="8811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66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574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574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/</a:t>
                  </a:r>
                </a:p>
              </p:txBody>
            </p:sp>
            <p:sp>
              <p:nvSpPr>
                <p:cNvPr id="239" name="budget_axis_x_3" descr="Editable text; source id budget_axis_x_3"/>
                <p:cNvSpPr txBox="1"/>
                <p:nvPr/>
              </p:nvSpPr>
              <p:spPr>
                <a:xfrm>
                  <a:off x="4625272" y="1323952"/>
                  <a:ext cx="48902" cy="8811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66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574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574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B</a:t>
                  </a:r>
                </a:p>
              </p:txBody>
            </p:sp>
            <p:sp>
              <p:nvSpPr>
                <p:cNvPr id="240" name="budget_axis_x_4" descr="Editable text; source id budget_axis_x_4"/>
                <p:cNvSpPr txBox="1"/>
                <p:nvPr/>
              </p:nvSpPr>
              <p:spPr>
                <a:xfrm>
                  <a:off x="4669922" y="1363424"/>
                  <a:ext cx="28349" cy="5960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43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378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378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1</a:t>
                  </a:r>
                </a:p>
              </p:txBody>
            </p:sp>
          </p:grpSp>
          <p:grpSp>
            <p:nvGrpSpPr>
              <p:cNvPr id="311" name="budget_axis_y" descr="Editable formula parts and native mathematical delimiters."/>
              <p:cNvGrpSpPr/>
              <p:nvPr/>
            </p:nvGrpSpPr>
            <p:grpSpPr>
              <a:xfrm>
                <a:off x="4703513" y="1057016"/>
                <a:ext cx="172903" cy="95852"/>
                <a:chOff x="4703513" y="1057016"/>
                <a:chExt cx="172903" cy="95852"/>
              </a:xfrm>
            </p:grpSpPr>
            <p:sp>
              <p:nvSpPr>
                <p:cNvPr id="241" name="budget_axis_y_0" descr="Editable text; source id budget_axis_y_0"/>
                <p:cNvSpPr txBox="1"/>
                <p:nvPr/>
              </p:nvSpPr>
              <p:spPr>
                <a:xfrm>
                  <a:off x="4703513" y="1057016"/>
                  <a:ext cx="38271" cy="8522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637"/>
                    </a:lnSpc>
                    <a:spcBef>
                      <a:spcPts val="0"/>
                    </a:spcBef>
                    <a:spcAft>
                      <a:spcPts val="0"/>
                    </a:spcAft>
                    <a:defRPr sz="554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554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J</a:t>
                  </a:r>
                </a:p>
              </p:txBody>
            </p:sp>
            <p:sp>
              <p:nvSpPr>
                <p:cNvPr id="242" name="budget_axis_y_1" descr="Editable text; source id budget_axis_y_1"/>
                <p:cNvSpPr txBox="1"/>
                <p:nvPr/>
              </p:nvSpPr>
              <p:spPr>
                <a:xfrm>
                  <a:off x="4737532" y="1095176"/>
                  <a:ext cx="48194" cy="5769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42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365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365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c2</a:t>
                  </a:r>
                </a:p>
              </p:txBody>
            </p:sp>
            <p:sp>
              <p:nvSpPr>
                <p:cNvPr id="243" name="budget_axis_y_2" descr="Editable text; source id budget_axis_y_2"/>
                <p:cNvSpPr txBox="1"/>
                <p:nvPr/>
              </p:nvSpPr>
              <p:spPr>
                <a:xfrm>
                  <a:off x="4783586" y="1057016"/>
                  <a:ext cx="24097" cy="8522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637"/>
                    </a:lnSpc>
                    <a:spcBef>
                      <a:spcPts val="0"/>
                    </a:spcBef>
                    <a:spcAft>
                      <a:spcPts val="0"/>
                    </a:spcAft>
                    <a:defRPr sz="554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554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/</a:t>
                  </a:r>
                </a:p>
              </p:txBody>
            </p:sp>
            <p:sp>
              <p:nvSpPr>
                <p:cNvPr id="244" name="budget_axis_y_3" descr="Editable text; source id budget_axis_y_3"/>
                <p:cNvSpPr txBox="1"/>
                <p:nvPr/>
              </p:nvSpPr>
              <p:spPr>
                <a:xfrm>
                  <a:off x="4805543" y="1057016"/>
                  <a:ext cx="47485" cy="8522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637"/>
                    </a:lnSpc>
                    <a:spcBef>
                      <a:spcPts val="0"/>
                    </a:spcBef>
                    <a:spcAft>
                      <a:spcPts val="0"/>
                    </a:spcAft>
                    <a:defRPr sz="554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554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B</a:t>
                  </a:r>
                </a:p>
              </p:txBody>
            </p:sp>
            <p:sp>
              <p:nvSpPr>
                <p:cNvPr id="245" name="budget_axis_y_4" descr="Editable text; source id budget_axis_y_4"/>
                <p:cNvSpPr txBox="1"/>
                <p:nvPr/>
              </p:nvSpPr>
              <p:spPr>
                <a:xfrm>
                  <a:off x="4848776" y="1095176"/>
                  <a:ext cx="27640" cy="5769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42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365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365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2</a:t>
                  </a:r>
                </a:p>
              </p:txBody>
            </p:sp>
          </p:grpSp>
        </p:grpSp>
        <p:cxnSp>
          <p:nvCxnSpPr>
            <p:cNvPr id="246" name="limits_rule" descr="Editable line; source id limits_rule"/>
            <p:cNvCxnSpPr/>
            <p:nvPr/>
          </p:nvCxnSpPr>
          <p:spPr>
            <a:xfrm>
              <a:off x="4292422" y="1453438"/>
              <a:ext cx="623621" cy="0"/>
            </a:xfrm>
            <a:prstGeom prst="line">
              <a:avLst/>
            </a:prstGeom>
            <a:ln w="3268" cap="rnd">
              <a:solidFill>
                <a:srgbClr val="CDD7D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7" name="limits_title" descr="Editable text; source id limits_title"/>
            <p:cNvSpPr txBox="1"/>
            <p:nvPr/>
          </p:nvSpPr>
          <p:spPr>
            <a:xfrm>
              <a:off x="4275732" y="1474576"/>
              <a:ext cx="665504" cy="103191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683"/>
                </a:lnSpc>
                <a:spcBef>
                  <a:spcPts val="0"/>
                </a:spcBef>
                <a:spcAft>
                  <a:spcPts val="0"/>
                </a:spcAft>
                <a:defRPr sz="594" b="1" i="0" lang="zh-CN" dirty="0">
                  <a:solidFill>
                    <a:srgbClr val="B78129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594" b="1" i="0" lang="zh-CN" dirty="0">
                  <a:solidFill>
                    <a:srgbClr val="B78129"/>
                  </a:solidFill>
                  <a:latin typeface="Liberation Sans"/>
                  <a:ea typeface="Liberation Sans"/>
                  <a:cs typeface="Liberation Sans"/>
                </a:rPr>
                <a:t>Graph-price limits</a:t>
              </a:r>
            </a:p>
          </p:txBody>
        </p:sp>
        <p:sp>
          <p:nvSpPr>
            <p:cNvPr id="248" name="limits_qualification" descr="Editable text; source id limits_qualification"/>
            <p:cNvSpPr txBox="1"/>
            <p:nvPr/>
          </p:nvSpPr>
          <p:spPr>
            <a:xfrm>
              <a:off x="4295810" y="1563616"/>
              <a:ext cx="625349" cy="98740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648"/>
                </a:lnSpc>
                <a:spcBef>
                  <a:spcPts val="0"/>
                </a:spcBef>
                <a:spcAft>
                  <a:spcPts val="0"/>
                </a:spcAft>
                <a:defRPr sz="564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564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rPr>
                <a:t>under assumptions</a:t>
              </a:r>
            </a:p>
          </p:txBody>
        </p:sp>
        <p:sp>
          <p:nvSpPr>
            <p:cNvPr id="249" name="zero_limit_0" descr="Editable text; source id zero_limit_0"/>
            <p:cNvSpPr txBox="1"/>
            <p:nvPr/>
          </p:nvSpPr>
          <p:spPr>
            <a:xfrm>
              <a:off x="4301063" y="1676064"/>
              <a:ext cx="216873" cy="93897"/>
            </a:xfrm>
            <a:prstGeom prst="rect">
              <a:avLst/>
            </a:prstGeom>
            <a:noFill/>
            <a:effectLst/>
          </p:spPr>
          <p:txBody>
            <a:bodyPr wrap="none" anchor="t" tIns="1417" rIns="0" bIns="0" lIns="1417" anchorCtr="0" vertOverflow="overflow">
              <a:noAutofit/>
            </a:bodyPr>
            <a:lstStyle/>
            <a:p>
              <a:pPr algn="l" fontAlgn="base">
                <a:lnSpc>
                  <a:spcPts val="705"/>
                </a:lnSpc>
                <a:spcBef>
                  <a:spcPts val="0"/>
                </a:spcBef>
                <a:spcAft>
                  <a:spcPts val="0"/>
                </a:spcAft>
                <a:defRPr sz="613" b="0" i="1" lang="zh-CN" dirty="0">
                  <a:solidFill>
                    <a:srgbClr val="29343E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613" b="0" i="1" lang="zh-CN" dirty="0">
                  <a:solidFill>
                    <a:srgbClr val="29343E"/>
                  </a:solidFill>
                  <a:latin typeface="Liberation Serif"/>
                  <a:ea typeface="Liberation Serif"/>
                  <a:cs typeface="Liberation Serif"/>
                </a:rPr>
                <a:t>ε → 0:</a:t>
              </a:r>
            </a:p>
          </p:txBody>
        </p:sp>
        <p:sp>
          <p:nvSpPr>
            <p:cNvPr id="250" name="lp_limit" descr="Editable text; source id lp_limit"/>
            <p:cNvSpPr txBox="1"/>
            <p:nvPr/>
          </p:nvSpPr>
          <p:spPr>
            <a:xfrm>
              <a:off x="4337658" y="1764784"/>
              <a:ext cx="541652" cy="98740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648"/>
                </a:lnSpc>
                <a:spcBef>
                  <a:spcPts val="0"/>
                </a:spcBef>
                <a:spcAft>
                  <a:spcPts val="0"/>
                </a:spcAft>
                <a:defRPr sz="564" b="0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564" b="0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rPr>
                <a:t>LP-derived price</a:t>
              </a:r>
            </a:p>
          </p:txBody>
        </p:sp>
        <p:sp>
          <p:nvSpPr>
            <p:cNvPr id="251" name="infty_limit_0" descr="Editable text; source id infty_limit_0"/>
            <p:cNvSpPr txBox="1"/>
            <p:nvPr/>
          </p:nvSpPr>
          <p:spPr>
            <a:xfrm>
              <a:off x="4301063" y="1859630"/>
              <a:ext cx="233429" cy="93897"/>
            </a:xfrm>
            <a:prstGeom prst="rect">
              <a:avLst/>
            </a:prstGeom>
            <a:noFill/>
            <a:effectLst/>
          </p:spPr>
          <p:txBody>
            <a:bodyPr wrap="none" anchor="t" tIns="1417" rIns="0" bIns="0" lIns="1417" anchorCtr="0" vertOverflow="overflow">
              <a:noAutofit/>
            </a:bodyPr>
            <a:lstStyle/>
            <a:p>
              <a:pPr algn="l" fontAlgn="base">
                <a:lnSpc>
                  <a:spcPts val="705"/>
                </a:lnSpc>
                <a:spcBef>
                  <a:spcPts val="0"/>
                </a:spcBef>
                <a:spcAft>
                  <a:spcPts val="0"/>
                </a:spcAft>
                <a:defRPr sz="613" b="0" i="1" lang="zh-CN" dirty="0">
                  <a:solidFill>
                    <a:srgbClr val="29343E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613" b="0" i="1" lang="zh-CN" dirty="0">
                  <a:solidFill>
                    <a:srgbClr val="29343E"/>
                  </a:solidFill>
                  <a:latin typeface="Liberation Serif"/>
                  <a:ea typeface="Liberation Serif"/>
                  <a:cs typeface="Liberation Serif"/>
                </a:rPr>
                <a:t>ε → ∞:</a:t>
              </a:r>
            </a:p>
          </p:txBody>
        </p:sp>
        <p:sp>
          <p:nvSpPr>
            <p:cNvPr id="252" name="active_limit" descr="Editable text; source id active_limit"/>
            <p:cNvSpPr txBox="1"/>
            <p:nvPr/>
          </p:nvSpPr>
          <p:spPr>
            <a:xfrm>
              <a:off x="4248069" y="2026302"/>
              <a:ext cx="720830" cy="98740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648"/>
                </a:lnSpc>
                <a:spcBef>
                  <a:spcPts val="0"/>
                </a:spcBef>
                <a:spcAft>
                  <a:spcPts val="0"/>
                </a:spcAft>
                <a:defRPr sz="564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564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rPr>
                <a:t>clipped active-set limit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