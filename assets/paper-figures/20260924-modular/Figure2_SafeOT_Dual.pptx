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2514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V10 modular semantic redraw of generated reference, corrected against frozen R2. All miniatures schematic; math is native grouped text/lines, not OMML.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75" name="rollout_inputs" descr="rollout inputs"/>
          <p:cNvGrpSpPr/>
          <p:nvPr/>
        </p:nvGrpSpPr>
        <p:grpSpPr>
          <a:xfrm>
            <a:off x="55321" y="60350"/>
            <a:ext cx="985723" cy="2139924"/>
            <a:chOff x="55321" y="60350"/>
            <a:chExt cx="985723" cy="2139924"/>
          </a:xfrm>
        </p:grpSpPr>
        <p:sp>
          <p:nvSpPr>
            <p:cNvPr id="2" name="rollout_inputs_panel" descr="Editable shape; source id rollout_inputs_panel"/>
            <p:cNvSpPr/>
            <p:nvPr/>
          </p:nvSpPr>
          <p:spPr>
            <a:xfrm>
              <a:off x="55321" y="60350"/>
              <a:ext cx="985723" cy="2139924"/>
            </a:xfrm>
            <a:prstGeom prst="roundRect">
              <a:avLst>
                <a:gd name="adj" fmla="val 2040"/>
              </a:avLst>
            </a:prstGeom>
            <a:solidFill>
              <a:srgbClr val="FFFFFF"/>
            </a:solidFill>
            <a:ln w="4274">
              <a:solidFill>
                <a:srgbClr val="536F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inputs_title" descr="Editable text; source id inputs_title"/>
            <p:cNvSpPr txBox="1"/>
            <p:nvPr/>
          </p:nvSpPr>
          <p:spPr>
            <a:xfrm>
              <a:off x="104972" y="87682"/>
              <a:ext cx="789610" cy="112093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51"/>
                </a:lnSpc>
                <a:spcBef>
                  <a:spcPts val="0"/>
                </a:spcBef>
                <a:spcAft>
                  <a:spcPts val="0"/>
                </a:spcAft>
                <a:defRPr sz="653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53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rPr>
                <a:t>(a)  Rollout &amp; graph</a:t>
              </a:r>
            </a:p>
          </p:txBody>
        </p:sp>
        <p:cxnSp>
          <p:nvCxnSpPr>
            <p:cNvPr id="4" name="inputs_rule" descr="Editable line; source id inputs_rule"/>
            <p:cNvCxnSpPr/>
            <p:nvPr/>
          </p:nvCxnSpPr>
          <p:spPr>
            <a:xfrm>
              <a:off x="105613" y="223799"/>
              <a:ext cx="885139" cy="0"/>
            </a:xfrm>
            <a:prstGeom prst="line">
              <a:avLst/>
            </a:prstGeom>
            <a:ln w="3268" cap="rnd">
              <a:solidFill>
                <a:srgbClr val="CDD7D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0" name="rollout" descr="rollout"/>
            <p:cNvGrpSpPr/>
            <p:nvPr/>
          </p:nvGrpSpPr>
          <p:grpSpPr>
            <a:xfrm>
              <a:off x="108127" y="299237"/>
              <a:ext cx="880109" cy="721690"/>
              <a:chOff x="108127" y="299237"/>
              <a:chExt cx="880109" cy="721690"/>
            </a:xfrm>
          </p:grpSpPr>
          <p:sp>
            <p:nvSpPr>
              <p:cNvPr id="5" name="rollout_panel" descr="Editable shape; source id rollout_panel"/>
              <p:cNvSpPr/>
              <p:nvPr/>
            </p:nvSpPr>
            <p:spPr>
              <a:xfrm>
                <a:off x="108127" y="299237"/>
                <a:ext cx="880109" cy="721690"/>
              </a:xfrm>
              <a:prstGeom prst="roundRect">
                <a:avLst>
                  <a:gd name="adj" fmla="val 2787"/>
                </a:avLst>
              </a:prstGeom>
              <a:solidFill>
                <a:srgbClr val="F6F8F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" name="rollout_title" descr="Editable text; source id rollout_title"/>
              <p:cNvSpPr txBox="1"/>
              <p:nvPr/>
            </p:nvSpPr>
            <p:spPr>
              <a:xfrm>
                <a:off x="152749" y="321151"/>
                <a:ext cx="529504" cy="109126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28"/>
                  </a:lnSpc>
                  <a:spcBef>
                    <a:spcPts val="0"/>
                  </a:spcBef>
                  <a:spcAft>
                    <a:spcPts val="0"/>
                  </a:spcAft>
                  <a:defRPr sz="633" b="1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33" b="1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rPr>
                  <a:t>Policy rollout</a:t>
                </a:r>
              </a:p>
            </p:txBody>
          </p:sp>
          <p:grpSp>
            <p:nvGrpSpPr>
              <p:cNvPr id="264" name="rollout_state0" descr="rollout state0"/>
              <p:cNvGrpSpPr/>
              <p:nvPr/>
            </p:nvGrpSpPr>
            <p:grpSpPr>
              <a:xfrm>
                <a:off x="150875" y="467715"/>
                <a:ext cx="118186" cy="118393"/>
                <a:chOff x="150875" y="467715"/>
                <a:chExt cx="118186" cy="118393"/>
              </a:xfrm>
            </p:grpSpPr>
            <p:sp>
              <p:nvSpPr>
                <p:cNvPr id="7" name="rollout_state0_panel" descr="Editable shape; source id rollout_state0_panel"/>
                <p:cNvSpPr/>
                <p:nvPr/>
              </p:nvSpPr>
              <p:spPr>
                <a:xfrm>
                  <a:off x="150875" y="467715"/>
                  <a:ext cx="118186" cy="113156"/>
                </a:xfrm>
                <a:prstGeom prst="roundRect">
                  <a:avLst>
                    <a:gd name="adj" fmla="val 17777"/>
                  </a:avLst>
                </a:prstGeom>
                <a:solidFill>
                  <a:srgbClr val="EDF1F6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grpSp>
              <p:nvGrpSpPr>
                <p:cNvPr id="263" name="state_label0" descr="Editable formula parts and native mathematical delimiters."/>
                <p:cNvGrpSpPr/>
                <p:nvPr/>
              </p:nvGrpSpPr>
              <p:grpSpPr>
                <a:xfrm>
                  <a:off x="175181" y="470221"/>
                  <a:ext cx="65912" cy="115887"/>
                  <a:chOff x="175181" y="470221"/>
                  <a:chExt cx="65912" cy="115887"/>
                </a:xfrm>
              </p:grpSpPr>
              <p:sp>
                <p:nvSpPr>
                  <p:cNvPr id="8" name="state_label0_0" descr="Editable text; source id state_label0_0"/>
                  <p:cNvSpPr txBox="1"/>
                  <p:nvPr/>
                </p:nvSpPr>
                <p:spPr>
                  <a:xfrm>
                    <a:off x="175181" y="470221"/>
                    <a:ext cx="37563" cy="102573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774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673" b="0" i="1" lang="zh-CN" dirty="0">
                        <a:solidFill>
                          <a:srgbClr val="536F8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673" b="0" i="1" lang="zh-CN" dirty="0">
                        <a:solidFill>
                          <a:srgbClr val="536F8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s</a:t>
                    </a:r>
                  </a:p>
                </p:txBody>
              </p:sp>
              <p:sp>
                <p:nvSpPr>
                  <p:cNvPr id="9" name="state_label0_1" descr="Editable text; source id state_label0_1"/>
                  <p:cNvSpPr txBox="1"/>
                  <p:nvPr/>
                </p:nvSpPr>
                <p:spPr>
                  <a:xfrm>
                    <a:off x="208492" y="516964"/>
                    <a:ext cx="32601" cy="69144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51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444" b="0" i="0" lang="zh-CN" dirty="0">
                        <a:solidFill>
                          <a:srgbClr val="536F8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444" b="0" i="0" lang="zh-CN" dirty="0">
                        <a:solidFill>
                          <a:srgbClr val="536F8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0</a:t>
                    </a:r>
                  </a:p>
                </p:txBody>
              </p:sp>
            </p:grpSp>
          </p:grpSp>
          <p:sp>
            <p:nvSpPr>
              <p:cNvPr id="10" name="rollout_arrow0" descr="Editable line; source id rollout_arrow0"/>
              <p:cNvSpPr/>
              <p:nvPr/>
            </p:nvSpPr>
            <p:spPr>
              <a:xfrm>
                <a:off x="279121" y="514237"/>
                <a:ext cx="88011" cy="22629"/>
              </a:xfrm>
              <a:custGeom>
                <a:avLst/>
                <a:gdLst/>
                <a:ahLst/>
                <a:cxnLst/>
                <a:rect l="l" t="t" r="r" b="b"/>
                <a:pathLst>
                  <a:path w="31045" h="7982">
                    <a:moveTo>
                      <a:pt x="0" y="3104"/>
                    </a:moveTo>
                    <a:lnTo>
                      <a:pt x="20401" y="3104"/>
                    </a:lnTo>
                    <a:lnTo>
                      <a:pt x="20401" y="0"/>
                    </a:lnTo>
                    <a:lnTo>
                      <a:pt x="31045" y="3991"/>
                    </a:lnTo>
                    <a:lnTo>
                      <a:pt x="20401" y="7982"/>
                    </a:lnTo>
                    <a:lnTo>
                      <a:pt x="20401" y="4878"/>
                    </a:lnTo>
                    <a:lnTo>
                      <a:pt x="0" y="4878"/>
                    </a:lnTo>
                    <a:close/>
                  </a:path>
                </a:pathLst>
              </a:custGeom>
              <a:solidFill>
                <a:srgbClr val="536F8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266" name="rollout_state1" descr="rollout state1"/>
              <p:cNvGrpSpPr/>
              <p:nvPr/>
            </p:nvGrpSpPr>
            <p:grpSpPr>
              <a:xfrm>
                <a:off x="377190" y="467715"/>
                <a:ext cx="118186" cy="118393"/>
                <a:chOff x="377190" y="467715"/>
                <a:chExt cx="118186" cy="118393"/>
              </a:xfrm>
            </p:grpSpPr>
            <p:sp>
              <p:nvSpPr>
                <p:cNvPr id="11" name="rollout_state1_panel" descr="Editable shape; source id rollout_state1_panel"/>
                <p:cNvSpPr/>
                <p:nvPr/>
              </p:nvSpPr>
              <p:spPr>
                <a:xfrm>
                  <a:off x="377190" y="467715"/>
                  <a:ext cx="118186" cy="113156"/>
                </a:xfrm>
                <a:prstGeom prst="roundRect">
                  <a:avLst>
                    <a:gd name="adj" fmla="val 17777"/>
                  </a:avLst>
                </a:prstGeom>
                <a:solidFill>
                  <a:srgbClr val="EDF1F6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grpSp>
              <p:nvGrpSpPr>
                <p:cNvPr id="265" name="state_label1" descr="Editable formula parts and native mathematical delimiters."/>
                <p:cNvGrpSpPr/>
                <p:nvPr/>
              </p:nvGrpSpPr>
              <p:grpSpPr>
                <a:xfrm>
                  <a:off x="401495" y="470221"/>
                  <a:ext cx="65912" cy="115887"/>
                  <a:chOff x="401495" y="470221"/>
                  <a:chExt cx="65912" cy="115887"/>
                </a:xfrm>
              </p:grpSpPr>
              <p:sp>
                <p:nvSpPr>
                  <p:cNvPr id="12" name="state_label1_0" descr="Editable text; source id state_label1_0"/>
                  <p:cNvSpPr txBox="1"/>
                  <p:nvPr/>
                </p:nvSpPr>
                <p:spPr>
                  <a:xfrm>
                    <a:off x="401495" y="470221"/>
                    <a:ext cx="37563" cy="102573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774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673" b="0" i="1" lang="zh-CN" dirty="0">
                        <a:solidFill>
                          <a:srgbClr val="536F8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673" b="0" i="1" lang="zh-CN" dirty="0">
                        <a:solidFill>
                          <a:srgbClr val="536F8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s</a:t>
                    </a:r>
                  </a:p>
                </p:txBody>
              </p:sp>
              <p:sp>
                <p:nvSpPr>
                  <p:cNvPr id="13" name="state_label1_1" descr="Editable text; source id state_label1_1"/>
                  <p:cNvSpPr txBox="1"/>
                  <p:nvPr/>
                </p:nvSpPr>
                <p:spPr>
                  <a:xfrm>
                    <a:off x="434806" y="516964"/>
                    <a:ext cx="32601" cy="69144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51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444" b="0" i="0" lang="zh-CN" dirty="0">
                        <a:solidFill>
                          <a:srgbClr val="536F8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444" b="0" i="0" lang="zh-CN" dirty="0">
                        <a:solidFill>
                          <a:srgbClr val="536F8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14" name="rollout_arrow1" descr="Editable line; source id rollout_arrow1"/>
              <p:cNvSpPr/>
              <p:nvPr/>
            </p:nvSpPr>
            <p:spPr>
              <a:xfrm>
                <a:off x="505435" y="514237"/>
                <a:ext cx="88011" cy="22629"/>
              </a:xfrm>
              <a:custGeom>
                <a:avLst/>
                <a:gdLst/>
                <a:ahLst/>
                <a:cxnLst/>
                <a:rect l="l" t="t" r="r" b="b"/>
                <a:pathLst>
                  <a:path w="31045" h="7982">
                    <a:moveTo>
                      <a:pt x="0" y="3104"/>
                    </a:moveTo>
                    <a:lnTo>
                      <a:pt x="20401" y="3104"/>
                    </a:lnTo>
                    <a:lnTo>
                      <a:pt x="20401" y="0"/>
                    </a:lnTo>
                    <a:lnTo>
                      <a:pt x="31045" y="3991"/>
                    </a:lnTo>
                    <a:lnTo>
                      <a:pt x="20401" y="7982"/>
                    </a:lnTo>
                    <a:lnTo>
                      <a:pt x="20401" y="4878"/>
                    </a:lnTo>
                    <a:lnTo>
                      <a:pt x="0" y="4878"/>
                    </a:lnTo>
                    <a:close/>
                  </a:path>
                </a:pathLst>
              </a:custGeom>
              <a:solidFill>
                <a:srgbClr val="536F8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267" name="rollout_state2" descr="rollout state2"/>
              <p:cNvGrpSpPr/>
              <p:nvPr/>
            </p:nvGrpSpPr>
            <p:grpSpPr>
              <a:xfrm>
                <a:off x="603503" y="467715"/>
                <a:ext cx="118186" cy="113156"/>
                <a:chOff x="603503" y="467715"/>
                <a:chExt cx="118186" cy="113156"/>
              </a:xfrm>
            </p:grpSpPr>
            <p:sp>
              <p:nvSpPr>
                <p:cNvPr id="15" name="rollout_state2_panel" descr="Editable shape; source id rollout_state2_panel"/>
                <p:cNvSpPr/>
                <p:nvPr/>
              </p:nvSpPr>
              <p:spPr>
                <a:xfrm>
                  <a:off x="603503" y="467715"/>
                  <a:ext cx="118186" cy="113156"/>
                </a:xfrm>
                <a:prstGeom prst="roundRect">
                  <a:avLst>
                    <a:gd name="adj" fmla="val 17777"/>
                  </a:avLst>
                </a:prstGeom>
                <a:solidFill>
                  <a:srgbClr val="EDF1F6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6" name="state_label2" descr="Editable text; source id state_label2"/>
                <p:cNvSpPr txBox="1"/>
                <p:nvPr/>
              </p:nvSpPr>
              <p:spPr>
                <a:xfrm>
                  <a:off x="617951" y="476279"/>
                  <a:ext cx="95280" cy="10319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5669" rIns="0" bIns="0" lIns="5669" anchorCtr="0" vertOverflow="overflow">
                  <a:noAutofit/>
                </a:bodyPr>
                <a:lstStyle/>
                <a:p>
                  <a:pPr algn="l" fontAlgn="base">
                    <a:lnSpc>
                      <a:spcPts val="683"/>
                    </a:lnSpc>
                    <a:spcBef>
                      <a:spcPts val="0"/>
                    </a:spcBef>
                    <a:spcAft>
                      <a:spcPts val="0"/>
                    </a:spcAft>
                    <a:defRPr sz="594" b="0" i="0" lang="zh-CN" dirty="0">
                      <a:solidFill>
                        <a:srgbClr val="536F8E"/>
                      </a:solidFill>
                      <a:latin typeface="Liberation Sans"/>
                      <a:ea typeface="Liberation Sans"/>
                      <a:cs typeface="Liberation Sans"/>
                    </a:defRPr>
                  </a:pPr>
                  <a:r>
                    <a:rPr sz="594" b="0" i="0" lang="zh-CN" dirty="0">
                      <a:solidFill>
                        <a:srgbClr val="536F8E"/>
                      </a:solidFill>
                      <a:latin typeface="Liberation Sans"/>
                      <a:ea typeface="Liberation Sans"/>
                      <a:cs typeface="Liberation Sans"/>
                    </a:rPr>
                    <a:t>…</a:t>
                  </a:r>
                </a:p>
              </p:txBody>
            </p:sp>
          </p:grpSp>
          <p:sp>
            <p:nvSpPr>
              <p:cNvPr id="17" name="rollout_arrow2" descr="Editable line; source id rollout_arrow2"/>
              <p:cNvSpPr/>
              <p:nvPr/>
            </p:nvSpPr>
            <p:spPr>
              <a:xfrm>
                <a:off x="731749" y="514237"/>
                <a:ext cx="88011" cy="22629"/>
              </a:xfrm>
              <a:custGeom>
                <a:avLst/>
                <a:gdLst/>
                <a:ahLst/>
                <a:cxnLst/>
                <a:rect l="l" t="t" r="r" b="b"/>
                <a:pathLst>
                  <a:path w="31045" h="7982">
                    <a:moveTo>
                      <a:pt x="0" y="3104"/>
                    </a:moveTo>
                    <a:lnTo>
                      <a:pt x="20401" y="3104"/>
                    </a:lnTo>
                    <a:lnTo>
                      <a:pt x="20401" y="0"/>
                    </a:lnTo>
                    <a:lnTo>
                      <a:pt x="31045" y="3991"/>
                    </a:lnTo>
                    <a:lnTo>
                      <a:pt x="20401" y="7982"/>
                    </a:lnTo>
                    <a:lnTo>
                      <a:pt x="20401" y="4878"/>
                    </a:lnTo>
                    <a:lnTo>
                      <a:pt x="0" y="4878"/>
                    </a:lnTo>
                    <a:close/>
                  </a:path>
                </a:pathLst>
              </a:custGeom>
              <a:solidFill>
                <a:srgbClr val="536F8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269" name="rollout_state3" descr="rollout state3"/>
              <p:cNvGrpSpPr/>
              <p:nvPr/>
            </p:nvGrpSpPr>
            <p:grpSpPr>
              <a:xfrm>
                <a:off x="829817" y="467715"/>
                <a:ext cx="118186" cy="118393"/>
                <a:chOff x="829817" y="467715"/>
                <a:chExt cx="118186" cy="118393"/>
              </a:xfrm>
            </p:grpSpPr>
            <p:sp>
              <p:nvSpPr>
                <p:cNvPr id="18" name="rollout_state3_panel" descr="Editable shape; source id rollout_state3_panel"/>
                <p:cNvSpPr/>
                <p:nvPr/>
              </p:nvSpPr>
              <p:spPr>
                <a:xfrm>
                  <a:off x="829817" y="467715"/>
                  <a:ext cx="118186" cy="113156"/>
                </a:xfrm>
                <a:prstGeom prst="roundRect">
                  <a:avLst>
                    <a:gd name="adj" fmla="val 17777"/>
                  </a:avLst>
                </a:prstGeom>
                <a:solidFill>
                  <a:srgbClr val="EDF1F6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grpSp>
              <p:nvGrpSpPr>
                <p:cNvPr id="268" name="state_label3" descr="Editable formula parts and native mathematical delimiters."/>
                <p:cNvGrpSpPr/>
                <p:nvPr/>
              </p:nvGrpSpPr>
              <p:grpSpPr>
                <a:xfrm>
                  <a:off x="850934" y="470221"/>
                  <a:ext cx="72291" cy="115887"/>
                  <a:chOff x="850934" y="470221"/>
                  <a:chExt cx="72291" cy="115887"/>
                </a:xfrm>
              </p:grpSpPr>
              <p:sp>
                <p:nvSpPr>
                  <p:cNvPr id="19" name="state_label3_0" descr="Editable text; source id state_label3_0"/>
                  <p:cNvSpPr txBox="1"/>
                  <p:nvPr/>
                </p:nvSpPr>
                <p:spPr>
                  <a:xfrm>
                    <a:off x="850934" y="470221"/>
                    <a:ext cx="37563" cy="102573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774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673" b="0" i="1" lang="zh-CN" dirty="0">
                        <a:solidFill>
                          <a:srgbClr val="536F8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673" b="0" i="1" lang="zh-CN" dirty="0">
                        <a:solidFill>
                          <a:srgbClr val="536F8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s</a:t>
                    </a:r>
                  </a:p>
                </p:txBody>
              </p:sp>
              <p:sp>
                <p:nvSpPr>
                  <p:cNvPr id="20" name="state_label3_1" descr="Editable text; source id state_label3_1"/>
                  <p:cNvSpPr txBox="1"/>
                  <p:nvPr/>
                </p:nvSpPr>
                <p:spPr>
                  <a:xfrm>
                    <a:off x="884245" y="516964"/>
                    <a:ext cx="38980" cy="69144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51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444" b="0" i="0" lang="zh-CN" dirty="0">
                        <a:solidFill>
                          <a:srgbClr val="536F8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444" b="0" i="0" lang="zh-CN" dirty="0">
                        <a:solidFill>
                          <a:srgbClr val="536F8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T</a:t>
                    </a:r>
                  </a:p>
                </p:txBody>
              </p:sp>
            </p:grpSp>
          </p:grpSp>
          <p:sp>
            <p:nvSpPr>
              <p:cNvPr id="21" name="sample_label0" descr="Editable text; source id sample_label0"/>
              <p:cNvSpPr txBox="1"/>
              <p:nvPr/>
            </p:nvSpPr>
            <p:spPr>
              <a:xfrm>
                <a:off x="152749" y="667389"/>
                <a:ext cx="288456" cy="103191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683"/>
                  </a:lnSpc>
                  <a:spcBef>
                    <a:spcPts val="0"/>
                  </a:spcBef>
                  <a:spcAft>
                    <a:spcPts val="0"/>
                  </a:spcAft>
                  <a:defRPr sz="594" b="0" i="0" lang="zh-CN" dirty="0">
                    <a:solidFill>
                      <a:srgbClr val="536F8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594" b="0" i="0" lang="zh-CN" dirty="0">
                    <a:solidFill>
                      <a:srgbClr val="536F8E"/>
                    </a:solidFill>
                    <a:latin typeface="Liberation Sans"/>
                    <a:ea typeface="Liberation Sans"/>
                    <a:cs typeface="Liberation Sans"/>
                  </a:rPr>
                  <a:t>rewards</a:t>
                </a:r>
              </a:p>
            </p:txBody>
          </p:sp>
          <p:sp>
            <p:nvSpPr>
              <p:cNvPr id="22" name="sample_0_0" descr="Editable shape; source id sample_0_0"/>
              <p:cNvSpPr/>
              <p:nvPr/>
            </p:nvSpPr>
            <p:spPr>
              <a:xfrm>
                <a:off x="535609" y="686485"/>
                <a:ext cx="60350" cy="60350"/>
              </a:xfrm>
              <a:prstGeom prst="rect">
                <a:avLst/>
              </a:prstGeom>
              <a:solidFill>
                <a:srgbClr val="EDF1F6"/>
              </a:solidFill>
              <a:ln w="2514">
                <a:solidFill>
                  <a:srgbClr val="536F8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sample_0_1" descr="Editable shape; source id sample_0_1"/>
              <p:cNvSpPr/>
              <p:nvPr/>
            </p:nvSpPr>
            <p:spPr>
              <a:xfrm>
                <a:off x="648766" y="686485"/>
                <a:ext cx="60350" cy="60350"/>
              </a:xfrm>
              <a:prstGeom prst="rect">
                <a:avLst/>
              </a:prstGeom>
              <a:solidFill>
                <a:srgbClr val="536F8E"/>
              </a:solidFill>
              <a:ln w="2514">
                <a:solidFill>
                  <a:srgbClr val="536F8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sample_0_2" descr="Editable shape; source id sample_0_2"/>
              <p:cNvSpPr/>
              <p:nvPr/>
            </p:nvSpPr>
            <p:spPr>
              <a:xfrm>
                <a:off x="761923" y="686485"/>
                <a:ext cx="60350" cy="60350"/>
              </a:xfrm>
              <a:prstGeom prst="rect">
                <a:avLst/>
              </a:prstGeom>
              <a:solidFill>
                <a:srgbClr val="EDF1F6"/>
              </a:solidFill>
              <a:ln w="2514">
                <a:solidFill>
                  <a:srgbClr val="536F8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sample_0_3" descr="Editable shape; source id sample_0_3"/>
              <p:cNvSpPr/>
              <p:nvPr/>
            </p:nvSpPr>
            <p:spPr>
              <a:xfrm>
                <a:off x="875080" y="686485"/>
                <a:ext cx="60350" cy="60350"/>
              </a:xfrm>
              <a:prstGeom prst="rect">
                <a:avLst/>
              </a:prstGeom>
              <a:solidFill>
                <a:srgbClr val="EDF1F6"/>
              </a:solidFill>
              <a:ln w="2514">
                <a:solidFill>
                  <a:srgbClr val="536F8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sample_label1" descr="Editable text; source id sample_label1"/>
              <p:cNvSpPr txBox="1"/>
              <p:nvPr/>
            </p:nvSpPr>
            <p:spPr>
              <a:xfrm>
                <a:off x="152749" y="820780"/>
                <a:ext cx="267205" cy="103191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683"/>
                  </a:lnSpc>
                  <a:spcBef>
                    <a:spcPts val="0"/>
                  </a:spcBef>
                  <a:spcAft>
                    <a:spcPts val="0"/>
                  </a:spcAft>
                  <a:defRPr sz="594" b="0" i="0" lang="zh-CN" dirty="0">
                    <a:solidFill>
                      <a:srgbClr val="B78129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594" b="0" i="0" lang="zh-CN" dirty="0">
                    <a:solidFill>
                      <a:srgbClr val="B78129"/>
                    </a:solidFill>
                    <a:latin typeface="Liberation Sans"/>
                    <a:ea typeface="Liberation Sans"/>
                    <a:cs typeface="Liberation Sans"/>
                  </a:rPr>
                  <a:t>K costs</a:t>
                </a:r>
              </a:p>
            </p:txBody>
          </p:sp>
          <p:sp>
            <p:nvSpPr>
              <p:cNvPr id="27" name="sample_1_0" descr="Editable shape; source id sample_1_0"/>
              <p:cNvSpPr/>
              <p:nvPr/>
            </p:nvSpPr>
            <p:spPr>
              <a:xfrm>
                <a:off x="535609" y="839876"/>
                <a:ext cx="60350" cy="60350"/>
              </a:xfrm>
              <a:prstGeom prst="rect">
                <a:avLst/>
              </a:prstGeom>
              <a:solidFill>
                <a:srgbClr val="F8F1E4"/>
              </a:solidFill>
              <a:ln w="2514">
                <a:solidFill>
                  <a:srgbClr val="B7812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sample_1_1" descr="Editable shape; source id sample_1_1"/>
              <p:cNvSpPr/>
              <p:nvPr/>
            </p:nvSpPr>
            <p:spPr>
              <a:xfrm>
                <a:off x="648766" y="839876"/>
                <a:ext cx="60350" cy="60350"/>
              </a:xfrm>
              <a:prstGeom prst="rect">
                <a:avLst/>
              </a:prstGeom>
              <a:solidFill>
                <a:srgbClr val="B78129"/>
              </a:solidFill>
              <a:ln w="2514">
                <a:solidFill>
                  <a:srgbClr val="B7812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sample_1_2" descr="Editable shape; source id sample_1_2"/>
              <p:cNvSpPr/>
              <p:nvPr/>
            </p:nvSpPr>
            <p:spPr>
              <a:xfrm>
                <a:off x="761923" y="839876"/>
                <a:ext cx="60350" cy="60350"/>
              </a:xfrm>
              <a:prstGeom prst="rect">
                <a:avLst/>
              </a:prstGeom>
              <a:solidFill>
                <a:srgbClr val="F8F1E4"/>
              </a:solidFill>
              <a:ln w="2514">
                <a:solidFill>
                  <a:srgbClr val="B7812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sample_1_3" descr="Editable shape; source id sample_1_3"/>
              <p:cNvSpPr/>
              <p:nvPr/>
            </p:nvSpPr>
            <p:spPr>
              <a:xfrm>
                <a:off x="875080" y="839876"/>
                <a:ext cx="60350" cy="60350"/>
              </a:xfrm>
              <a:prstGeom prst="rect">
                <a:avLst/>
              </a:prstGeom>
              <a:solidFill>
                <a:srgbClr val="F8F1E4"/>
              </a:solidFill>
              <a:ln w="2514">
                <a:solidFill>
                  <a:srgbClr val="B7812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1" name="rollout_to_graph" descr="Editable line; source id rollout_to_graph"/>
            <p:cNvSpPr/>
            <p:nvPr/>
          </p:nvSpPr>
          <p:spPr>
            <a:xfrm>
              <a:off x="531836" y="1038530"/>
              <a:ext cx="22634" cy="82982"/>
            </a:xfrm>
            <a:custGeom>
              <a:avLst/>
              <a:gdLst/>
              <a:ahLst/>
              <a:cxnLst/>
              <a:rect l="l" t="t" r="r" b="b"/>
              <a:pathLst>
                <a:path w="7984" h="29271">
                  <a:moveTo>
                    <a:pt x="4923" y="0"/>
                  </a:moveTo>
                  <a:lnTo>
                    <a:pt x="4923" y="18627"/>
                  </a:lnTo>
                  <a:lnTo>
                    <a:pt x="7984" y="18627"/>
                  </a:lnTo>
                  <a:lnTo>
                    <a:pt x="3992" y="29271"/>
                  </a:lnTo>
                  <a:lnTo>
                    <a:pt x="0" y="18627"/>
                  </a:lnTo>
                  <a:lnTo>
                    <a:pt x="3061" y="18627"/>
                  </a:lnTo>
                  <a:lnTo>
                    <a:pt x="3061" y="0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graph_construction_label" descr="Editable text; source id graph_construction_label"/>
            <p:cNvSpPr txBox="1"/>
            <p:nvPr/>
          </p:nvSpPr>
          <p:spPr>
            <a:xfrm>
              <a:off x="610407" y="1024394"/>
              <a:ext cx="368543" cy="97257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637"/>
                </a:lnSpc>
                <a:spcBef>
                  <a:spcPts val="0"/>
                </a:spcBef>
                <a:spcAft>
                  <a:spcPts val="0"/>
                </a:spcAft>
                <a:defRPr sz="554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554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rPr>
                <a:t>build graph</a:t>
              </a:r>
            </a:p>
          </p:txBody>
        </p:sp>
        <p:grpSp>
          <p:nvGrpSpPr>
            <p:cNvPr id="273" name="empirical_graph" descr="empirical graph"/>
            <p:cNvGrpSpPr/>
            <p:nvPr/>
          </p:nvGrpSpPr>
          <p:grpSpPr>
            <a:xfrm>
              <a:off x="108127" y="1141628"/>
              <a:ext cx="880109" cy="663854"/>
              <a:chOff x="108127" y="1141628"/>
              <a:chExt cx="880109" cy="663854"/>
            </a:xfrm>
          </p:grpSpPr>
          <p:sp>
            <p:nvSpPr>
              <p:cNvPr id="33" name="empirical_graph_panel" descr="Editable shape; source id empirical_graph_panel"/>
              <p:cNvSpPr/>
              <p:nvPr/>
            </p:nvSpPr>
            <p:spPr>
              <a:xfrm>
                <a:off x="108127" y="1141628"/>
                <a:ext cx="880109" cy="663854"/>
              </a:xfrm>
              <a:prstGeom prst="roundRect">
                <a:avLst>
                  <a:gd name="adj" fmla="val 3030"/>
                </a:avLst>
              </a:prstGeom>
              <a:solidFill>
                <a:srgbClr val="F6F8F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empirical_title" descr="Editable text; source id empirical_title"/>
              <p:cNvSpPr txBox="1"/>
              <p:nvPr/>
            </p:nvSpPr>
            <p:spPr>
              <a:xfrm>
                <a:off x="152749" y="1166057"/>
                <a:ext cx="627963" cy="109126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28"/>
                  </a:lnSpc>
                  <a:spcBef>
                    <a:spcPts val="0"/>
                  </a:spcBef>
                  <a:spcAft>
                    <a:spcPts val="0"/>
                  </a:spcAft>
                  <a:defRPr sz="633" b="1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33" b="1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rPr>
                  <a:t>Empirical graph</a:t>
                </a:r>
              </a:p>
            </p:txBody>
          </p:sp>
          <p:grpSp>
            <p:nvGrpSpPr>
              <p:cNvPr id="271" name="empirical_network" descr="empirical network"/>
              <p:cNvGrpSpPr/>
              <p:nvPr/>
            </p:nvGrpSpPr>
            <p:grpSpPr>
              <a:xfrm>
                <a:off x="168478" y="1289989"/>
                <a:ext cx="754379" cy="311810"/>
                <a:chOff x="168478" y="1289989"/>
                <a:chExt cx="754379" cy="311810"/>
              </a:xfrm>
            </p:grpSpPr>
            <p:sp>
              <p:nvSpPr>
                <p:cNvPr id="35" name="empirical_network_edge0" descr="Editable line; source id empirical_network_edge0"/>
                <p:cNvSpPr/>
                <p:nvPr/>
              </p:nvSpPr>
              <p:spPr>
                <a:xfrm>
                  <a:off x="251185" y="1360166"/>
                  <a:ext cx="91796" cy="61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80" h="21755">
                      <a:moveTo>
                        <a:pt x="0" y="19375"/>
                      </a:moveTo>
                      <a:lnTo>
                        <a:pt x="22685" y="4616"/>
                      </a:lnTo>
                      <a:lnTo>
                        <a:pt x="21282" y="2459"/>
                      </a:lnTo>
                      <a:lnTo>
                        <a:pt x="32380" y="0"/>
                      </a:lnTo>
                      <a:lnTo>
                        <a:pt x="25636" y="9151"/>
                      </a:lnTo>
                      <a:lnTo>
                        <a:pt x="24233" y="6995"/>
                      </a:lnTo>
                      <a:lnTo>
                        <a:pt x="1548" y="21755"/>
                      </a:lnTo>
                      <a:close/>
                    </a:path>
                  </a:pathLst>
                </a:custGeom>
                <a:solidFill>
                  <a:srgbClr val="536F8E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6" name="empirical_network_edge1" descr="Editable line; source id empirical_network_edge1"/>
                <p:cNvSpPr/>
                <p:nvPr/>
              </p:nvSpPr>
              <p:spPr>
                <a:xfrm>
                  <a:off x="435428" y="1321424"/>
                  <a:ext cx="207102" cy="226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53" h="7983">
                      <a:moveTo>
                        <a:pt x="0" y="2572"/>
                      </a:moveTo>
                      <a:lnTo>
                        <a:pt x="62409" y="2572"/>
                      </a:lnTo>
                      <a:lnTo>
                        <a:pt x="62409" y="0"/>
                      </a:lnTo>
                      <a:lnTo>
                        <a:pt x="73053" y="3991"/>
                      </a:lnTo>
                      <a:lnTo>
                        <a:pt x="62409" y="7983"/>
                      </a:lnTo>
                      <a:lnTo>
                        <a:pt x="62409" y="5410"/>
                      </a:lnTo>
                      <a:lnTo>
                        <a:pt x="0" y="5410"/>
                      </a:lnTo>
                      <a:close/>
                    </a:path>
                  </a:pathLst>
                </a:custGeom>
                <a:solidFill>
                  <a:srgbClr val="536F8E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7" name="empirical_network_edge2" descr="Editable line; source id empirical_network_edge2"/>
                <p:cNvSpPr/>
                <p:nvPr/>
              </p:nvSpPr>
              <p:spPr>
                <a:xfrm>
                  <a:off x="733787" y="1355301"/>
                  <a:ext cx="103277" cy="645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430" h="22782">
                      <a:moveTo>
                        <a:pt x="1468" y="0"/>
                      </a:moveTo>
                      <a:lnTo>
                        <a:pt x="28054" y="16063"/>
                      </a:lnTo>
                      <a:lnTo>
                        <a:pt x="29384" y="13861"/>
                      </a:lnTo>
                      <a:lnTo>
                        <a:pt x="36430" y="22782"/>
                      </a:lnTo>
                      <a:lnTo>
                        <a:pt x="25256" y="20694"/>
                      </a:lnTo>
                      <a:lnTo>
                        <a:pt x="26586" y="18492"/>
                      </a:lnTo>
                      <a:lnTo>
                        <a:pt x="0" y="2430"/>
                      </a:lnTo>
                      <a:close/>
                    </a:path>
                  </a:pathLst>
                </a:custGeom>
                <a:solidFill>
                  <a:srgbClr val="536F8E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8" name="empirical_network_edge3" descr="Editable line; source id empirical_network_edge3"/>
                <p:cNvSpPr/>
                <p:nvPr/>
              </p:nvSpPr>
              <p:spPr>
                <a:xfrm>
                  <a:off x="251803" y="1470899"/>
                  <a:ext cx="91178" cy="60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62" h="21420">
                      <a:moveTo>
                        <a:pt x="1113" y="0"/>
                      </a:moveTo>
                      <a:lnTo>
                        <a:pt x="23797" y="14760"/>
                      </a:lnTo>
                      <a:lnTo>
                        <a:pt x="25418" y="12269"/>
                      </a:lnTo>
                      <a:lnTo>
                        <a:pt x="32162" y="21420"/>
                      </a:lnTo>
                      <a:lnTo>
                        <a:pt x="21064" y="18961"/>
                      </a:lnTo>
                      <a:lnTo>
                        <a:pt x="22684" y="16470"/>
                      </a:lnTo>
                      <a:lnTo>
                        <a:pt x="0" y="1710"/>
                      </a:lnTo>
                      <a:close/>
                    </a:path>
                  </a:pathLst>
                </a:custGeom>
                <a:solidFill>
                  <a:srgbClr val="536F8E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9" name="empirical_network_edge4" descr="Editable line; source id empirical_network_edge4"/>
                <p:cNvSpPr/>
                <p:nvPr/>
              </p:nvSpPr>
              <p:spPr>
                <a:xfrm>
                  <a:off x="435428" y="1547738"/>
                  <a:ext cx="207102" cy="226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53" h="7983">
                      <a:moveTo>
                        <a:pt x="0" y="2971"/>
                      </a:moveTo>
                      <a:lnTo>
                        <a:pt x="62409" y="2971"/>
                      </a:lnTo>
                      <a:lnTo>
                        <a:pt x="62409" y="0"/>
                      </a:lnTo>
                      <a:lnTo>
                        <a:pt x="73053" y="3991"/>
                      </a:lnTo>
                      <a:lnTo>
                        <a:pt x="62409" y="7983"/>
                      </a:lnTo>
                      <a:lnTo>
                        <a:pt x="62409" y="5011"/>
                      </a:lnTo>
                      <a:lnTo>
                        <a:pt x="0" y="5011"/>
                      </a:lnTo>
                      <a:close/>
                    </a:path>
                  </a:pathLst>
                </a:custGeom>
                <a:solidFill>
                  <a:srgbClr val="536F8E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0" name="empirical_network_edge5" descr="Editable line; source id empirical_network_edge5"/>
                <p:cNvSpPr/>
                <p:nvPr/>
              </p:nvSpPr>
              <p:spPr>
                <a:xfrm>
                  <a:off x="734374" y="1471903"/>
                  <a:ext cx="102690" cy="636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23" h="22440">
                      <a:moveTo>
                        <a:pt x="0" y="20694"/>
                      </a:moveTo>
                      <a:lnTo>
                        <a:pt x="26585" y="4631"/>
                      </a:lnTo>
                      <a:lnTo>
                        <a:pt x="25049" y="2088"/>
                      </a:lnTo>
                      <a:lnTo>
                        <a:pt x="36223" y="0"/>
                      </a:lnTo>
                      <a:lnTo>
                        <a:pt x="29177" y="8921"/>
                      </a:lnTo>
                      <a:lnTo>
                        <a:pt x="27640" y="6377"/>
                      </a:lnTo>
                      <a:lnTo>
                        <a:pt x="1055" y="22440"/>
                      </a:lnTo>
                      <a:close/>
                    </a:path>
                  </a:pathLst>
                </a:custGeom>
                <a:solidFill>
                  <a:srgbClr val="536F8E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1" name="empirical_network_edge6" descr="Editable line; source id empirical_network_edge6"/>
                <p:cNvSpPr/>
                <p:nvPr/>
              </p:nvSpPr>
              <p:spPr>
                <a:xfrm>
                  <a:off x="373819" y="1383030"/>
                  <a:ext cx="22631" cy="1257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3" h="44350">
                      <a:moveTo>
                        <a:pt x="5012" y="0"/>
                      </a:moveTo>
                      <a:lnTo>
                        <a:pt x="5012" y="33706"/>
                      </a:lnTo>
                      <a:lnTo>
                        <a:pt x="7983" y="33706"/>
                      </a:lnTo>
                      <a:lnTo>
                        <a:pt x="3992" y="44350"/>
                      </a:lnTo>
                      <a:lnTo>
                        <a:pt x="0" y="33706"/>
                      </a:lnTo>
                      <a:lnTo>
                        <a:pt x="2972" y="33706"/>
                      </a:lnTo>
                      <a:lnTo>
                        <a:pt x="2972" y="0"/>
                      </a:lnTo>
                      <a:close/>
                    </a:path>
                  </a:pathLst>
                </a:custGeom>
                <a:solidFill>
                  <a:srgbClr val="77858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2" name="empirical_network_edge7" descr="Editable line; source id empirical_network_edge7"/>
                <p:cNvSpPr/>
                <p:nvPr/>
              </p:nvSpPr>
              <p:spPr>
                <a:xfrm>
                  <a:off x="681508" y="1383030"/>
                  <a:ext cx="22631" cy="1257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3" h="44350">
                      <a:moveTo>
                        <a:pt x="5011" y="0"/>
                      </a:moveTo>
                      <a:lnTo>
                        <a:pt x="5011" y="33706"/>
                      </a:lnTo>
                      <a:lnTo>
                        <a:pt x="7983" y="33706"/>
                      </a:lnTo>
                      <a:lnTo>
                        <a:pt x="3991" y="44350"/>
                      </a:lnTo>
                      <a:lnTo>
                        <a:pt x="0" y="33706"/>
                      </a:lnTo>
                      <a:lnTo>
                        <a:pt x="2971" y="33706"/>
                      </a:lnTo>
                      <a:lnTo>
                        <a:pt x="2971" y="0"/>
                      </a:lnTo>
                      <a:close/>
                    </a:path>
                  </a:pathLst>
                </a:custGeom>
                <a:solidFill>
                  <a:srgbClr val="77858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3" name="empirical_network_node1" descr="Editable shape; source id empirical_network_node1"/>
                <p:cNvSpPr/>
                <p:nvPr/>
              </p:nvSpPr>
              <p:spPr>
                <a:xfrm>
                  <a:off x="168478" y="1403146"/>
                  <a:ext cx="85496" cy="85496"/>
                </a:xfrm>
                <a:prstGeom prst="ellipse">
                  <a:avLst/>
                </a:prstGeom>
                <a:solidFill>
                  <a:srgbClr val="FFFFFF"/>
                </a:solidFill>
                <a:ln w="5029">
                  <a:solidFill>
                    <a:srgbClr val="536F8E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4" name="empirical_network_node2" descr="Editable shape; source id empirical_network_node2"/>
                <p:cNvSpPr/>
                <p:nvPr/>
              </p:nvSpPr>
              <p:spPr>
                <a:xfrm>
                  <a:off x="342387" y="1289989"/>
                  <a:ext cx="85496" cy="85496"/>
                </a:xfrm>
                <a:prstGeom prst="ellipse">
                  <a:avLst/>
                </a:prstGeom>
                <a:solidFill>
                  <a:srgbClr val="EDF1F6"/>
                </a:solidFill>
                <a:ln w="5029">
                  <a:solidFill>
                    <a:srgbClr val="536F8E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5" name="empirical_network_node3" descr="Editable shape; source id empirical_network_node3"/>
                <p:cNvSpPr/>
                <p:nvPr/>
              </p:nvSpPr>
              <p:spPr>
                <a:xfrm>
                  <a:off x="650074" y="1289989"/>
                  <a:ext cx="85496" cy="85496"/>
                </a:xfrm>
                <a:prstGeom prst="ellipse">
                  <a:avLst/>
                </a:prstGeom>
                <a:solidFill>
                  <a:srgbClr val="FFFFFF"/>
                </a:solidFill>
                <a:ln w="5029">
                  <a:solidFill>
                    <a:srgbClr val="536F8E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6" name="empirical_network_node4" descr="Editable shape; source id empirical_network_node4"/>
                <p:cNvSpPr/>
                <p:nvPr/>
              </p:nvSpPr>
              <p:spPr>
                <a:xfrm>
                  <a:off x="837361" y="1403146"/>
                  <a:ext cx="85496" cy="85496"/>
                </a:xfrm>
                <a:prstGeom prst="ellipse">
                  <a:avLst/>
                </a:prstGeom>
                <a:solidFill>
                  <a:srgbClr val="EDF1F6"/>
                </a:solidFill>
                <a:ln w="5029">
                  <a:solidFill>
                    <a:srgbClr val="536F8E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7" name="empirical_network_node5" descr="Editable shape; source id empirical_network_node5"/>
                <p:cNvSpPr/>
                <p:nvPr/>
              </p:nvSpPr>
              <p:spPr>
                <a:xfrm>
                  <a:off x="342387" y="1516303"/>
                  <a:ext cx="85496" cy="85496"/>
                </a:xfrm>
                <a:prstGeom prst="ellipse">
                  <a:avLst/>
                </a:prstGeom>
                <a:solidFill>
                  <a:srgbClr val="EDF1F6"/>
                </a:solidFill>
                <a:ln w="5029">
                  <a:solidFill>
                    <a:srgbClr val="536F8E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8" name="empirical_network_node6" descr="Editable shape; source id empirical_network_node6"/>
                <p:cNvSpPr/>
                <p:nvPr/>
              </p:nvSpPr>
              <p:spPr>
                <a:xfrm>
                  <a:off x="650074" y="1516303"/>
                  <a:ext cx="85496" cy="85496"/>
                </a:xfrm>
                <a:prstGeom prst="ellipse">
                  <a:avLst/>
                </a:prstGeom>
                <a:solidFill>
                  <a:srgbClr val="FFFFFF"/>
                </a:solidFill>
                <a:ln w="5029">
                  <a:solidFill>
                    <a:srgbClr val="536F8E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72" name="graph_statistics" descr="Editable formula parts and native mathematical delimiters."/>
              <p:cNvGrpSpPr/>
              <p:nvPr/>
            </p:nvGrpSpPr>
            <p:grpSpPr>
              <a:xfrm>
                <a:off x="339902" y="1667948"/>
                <a:ext cx="414553" cy="121619"/>
                <a:chOff x="339902" y="1667948"/>
                <a:chExt cx="414553" cy="121619"/>
              </a:xfrm>
            </p:grpSpPr>
            <p:sp>
              <p:nvSpPr>
                <p:cNvPr id="49" name="graph_statistics_0" descr="Editable text; source id graph_statistics_0"/>
                <p:cNvSpPr txBox="1"/>
                <p:nvPr/>
              </p:nvSpPr>
              <p:spPr>
                <a:xfrm>
                  <a:off x="339902" y="1667948"/>
                  <a:ext cx="193485" cy="10835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2126" anchorCtr="0" vertOverflow="overflow">
                  <a:noAutofit/>
                </a:bodyPr>
                <a:lstStyle/>
                <a:p>
                  <a:pPr algn="l" fontAlgn="base">
                    <a:lnSpc>
                      <a:spcPts val="81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2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2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F̂, A, </a:t>
                  </a:r>
                </a:p>
              </p:txBody>
            </p:sp>
            <p:sp>
              <p:nvSpPr>
                <p:cNvPr id="50" name="graph_statistics_1" descr="Editable text; source id graph_statistics_1"/>
                <p:cNvSpPr txBox="1"/>
                <p:nvPr/>
              </p:nvSpPr>
              <p:spPr>
                <a:xfrm>
                  <a:off x="531851" y="1667948"/>
                  <a:ext cx="65912" cy="10835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81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2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2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51" name="graph_statistics_2" descr="Editable text; source id graph_statistics_2"/>
                <p:cNvSpPr txBox="1"/>
                <p:nvPr/>
              </p:nvSpPr>
              <p:spPr>
                <a:xfrm>
                  <a:off x="593511" y="1716606"/>
                  <a:ext cx="34130" cy="7296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4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70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70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sp>
              <p:nvSpPr>
                <p:cNvPr id="52" name="graph_statistics_3" descr="Editable text; source id graph_statistics_3"/>
                <p:cNvSpPr txBox="1"/>
                <p:nvPr/>
              </p:nvSpPr>
              <p:spPr>
                <a:xfrm>
                  <a:off x="626105" y="1667948"/>
                  <a:ext cx="49611" cy="10835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81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2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2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, </a:t>
                  </a:r>
                </a:p>
              </p:txBody>
            </p:sp>
            <p:sp>
              <p:nvSpPr>
                <p:cNvPr id="53" name="graph_statistics_4" descr="Editable text; source id graph_statistics_4"/>
                <p:cNvSpPr txBox="1"/>
                <p:nvPr/>
              </p:nvSpPr>
              <p:spPr>
                <a:xfrm>
                  <a:off x="673471" y="1667948"/>
                  <a:ext cx="51106" cy="10835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2126" anchorCtr="0" vertOverflow="overflow">
                  <a:noAutofit/>
                </a:bodyPr>
                <a:lstStyle/>
                <a:p>
                  <a:pPr algn="l" fontAlgn="base">
                    <a:lnSpc>
                      <a:spcPts val="81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2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2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μ</a:t>
                  </a:r>
                </a:p>
              </p:txBody>
            </p:sp>
            <p:sp>
              <p:nvSpPr>
                <p:cNvPr id="54" name="graph_statistics_5" descr="Editable text; source id graph_statistics_5"/>
                <p:cNvSpPr txBox="1"/>
                <p:nvPr/>
              </p:nvSpPr>
              <p:spPr>
                <a:xfrm>
                  <a:off x="720325" y="1716606"/>
                  <a:ext cx="34130" cy="7296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4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70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70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0</a:t>
                  </a:r>
                </a:p>
              </p:txBody>
            </p:sp>
          </p:grpSp>
        </p:grpSp>
        <p:grpSp>
          <p:nvGrpSpPr>
            <p:cNvPr id="274" name="episode_cost_output" descr="Editable formula parts and native mathematical delimiters."/>
            <p:cNvGrpSpPr/>
            <p:nvPr/>
          </p:nvGrpSpPr>
          <p:grpSpPr>
            <a:xfrm>
              <a:off x="240227" y="1865436"/>
              <a:ext cx="614838" cy="112665"/>
              <a:chOff x="240227" y="1865436"/>
              <a:chExt cx="614838" cy="112665"/>
            </a:xfrm>
          </p:grpSpPr>
          <p:sp>
            <p:nvSpPr>
              <p:cNvPr id="55" name="episode_cost_output_0" descr="Editable text; source id episode_cost_output_0"/>
              <p:cNvSpPr txBox="1"/>
              <p:nvPr/>
            </p:nvSpPr>
            <p:spPr>
              <a:xfrm>
                <a:off x="240227" y="1865436"/>
                <a:ext cx="47485" cy="99681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751"/>
                  </a:lnSpc>
                  <a:spcBef>
                    <a:spcPts val="0"/>
                  </a:spcBef>
                  <a:spcAft>
                    <a:spcPts val="0"/>
                  </a:spcAft>
                  <a:defRPr sz="653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53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J̄</a:t>
                </a:r>
              </a:p>
            </p:txBody>
          </p:sp>
          <p:sp>
            <p:nvSpPr>
              <p:cNvPr id="56" name="episode_cost_output_1" descr="Editable text; source id episode_cost_output_1"/>
              <p:cNvSpPr txBox="1"/>
              <p:nvPr/>
            </p:nvSpPr>
            <p:spPr>
              <a:xfrm>
                <a:off x="283460" y="1910866"/>
                <a:ext cx="31893" cy="67235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495"/>
                  </a:lnSpc>
                  <a:spcBef>
                    <a:spcPts val="0"/>
                  </a:spcBef>
                  <a:spcAft>
                    <a:spcPts val="0"/>
                  </a:spcAft>
                  <a:defRPr sz="431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31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57" name="episode_cost_output_2" descr="Editable text; source id episode_cost_output_2"/>
              <p:cNvSpPr txBox="1"/>
              <p:nvPr/>
            </p:nvSpPr>
            <p:spPr>
              <a:xfrm>
                <a:off x="313590" y="1865436"/>
                <a:ext cx="541475" cy="99681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751"/>
                  </a:lnSpc>
                  <a:spcBef>
                    <a:spcPts val="0"/>
                  </a:spcBef>
                  <a:spcAft>
                    <a:spcPts val="0"/>
                  </a:spcAft>
                  <a:defRPr sz="653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53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  (episode costs)</a:t>
                </a:r>
              </a:p>
            </p:txBody>
          </p:sp>
        </p:grpSp>
        <p:sp>
          <p:nvSpPr>
            <p:cNvPr id="58" name="advantages_label" descr="Editable text; source id advantages_label"/>
            <p:cNvSpPr txBox="1"/>
            <p:nvPr/>
          </p:nvSpPr>
          <p:spPr>
            <a:xfrm>
              <a:off x="232755" y="2040749"/>
              <a:ext cx="639358" cy="106158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05"/>
                </a:lnSpc>
                <a:spcBef>
                  <a:spcPts val="0"/>
                </a:spcBef>
                <a:spcAft>
                  <a:spcPts val="0"/>
                </a:spcAft>
                <a:defRPr sz="613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13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rPr>
                <a:t>GAE advantages</a:t>
              </a:r>
            </a:p>
          </p:txBody>
        </p:sp>
      </p:grpSp>
      <p:grpSp>
        <p:nvGrpSpPr>
          <p:cNvPr id="307" name="unified_price_construction" descr="unified price construction"/>
          <p:cNvGrpSpPr/>
          <p:nvPr/>
        </p:nvGrpSpPr>
        <p:grpSpPr>
          <a:xfrm>
            <a:off x="1176832" y="60350"/>
            <a:ext cx="2730855" cy="1984019"/>
            <a:chOff x="1176832" y="60350"/>
            <a:chExt cx="2730855" cy="1984019"/>
          </a:xfrm>
        </p:grpSpPr>
        <p:sp>
          <p:nvSpPr>
            <p:cNvPr id="59" name="unified_price_construction_panel" descr="Editable shape; source id unified_price_construction_panel"/>
            <p:cNvSpPr/>
            <p:nvPr/>
          </p:nvSpPr>
          <p:spPr>
            <a:xfrm>
              <a:off x="1176832" y="60350"/>
              <a:ext cx="2730855" cy="1984019"/>
            </a:xfrm>
            <a:prstGeom prst="roundRect">
              <a:avLst>
                <a:gd name="adj" fmla="val 1013"/>
              </a:avLst>
            </a:prstGeom>
            <a:solidFill>
              <a:srgbClr val="FFFFFF"/>
            </a:solidFill>
            <a:ln w="6035">
              <a:solidFill>
                <a:srgbClr val="007F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unified_title" descr="Editable text; source id unified_title"/>
            <p:cNvSpPr txBox="1"/>
            <p:nvPr/>
          </p:nvSpPr>
          <p:spPr>
            <a:xfrm>
              <a:off x="1226484" y="80594"/>
              <a:ext cx="1307620" cy="120994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819"/>
                </a:lnSpc>
                <a:spcBef>
                  <a:spcPts val="0"/>
                </a:spcBef>
                <a:spcAft>
                  <a:spcPts val="0"/>
                </a:spcAft>
                <a:defRPr sz="712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712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rPr>
                <a:t>(b)  Unified price construction</a:t>
              </a:r>
            </a:p>
          </p:txBody>
        </p:sp>
        <p:cxnSp>
          <p:nvCxnSpPr>
            <p:cNvPr id="61" name="unified_rule" descr="Editable line; source id unified_rule"/>
            <p:cNvCxnSpPr/>
            <p:nvPr/>
          </p:nvCxnSpPr>
          <p:spPr>
            <a:xfrm>
              <a:off x="1227124" y="223799"/>
              <a:ext cx="2630272" cy="0"/>
            </a:xfrm>
            <a:prstGeom prst="line">
              <a:avLst/>
            </a:prstGeom>
            <a:ln w="3268" cap="rnd">
              <a:solidFill>
                <a:srgbClr val="CDD7D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3" name="joint_solver" descr="joint solver"/>
            <p:cNvGrpSpPr/>
            <p:nvPr/>
          </p:nvGrpSpPr>
          <p:grpSpPr>
            <a:xfrm>
              <a:off x="1227124" y="299237"/>
              <a:ext cx="1679752" cy="1189405"/>
              <a:chOff x="1227124" y="299237"/>
              <a:chExt cx="1679752" cy="1189405"/>
            </a:xfrm>
          </p:grpSpPr>
          <p:sp>
            <p:nvSpPr>
              <p:cNvPr id="62" name="joint_solver_panel" descr="Editable shape; source id joint_solver_panel"/>
              <p:cNvSpPr/>
              <p:nvPr/>
            </p:nvSpPr>
            <p:spPr>
              <a:xfrm>
                <a:off x="1227124" y="299237"/>
                <a:ext cx="1679752" cy="1189405"/>
              </a:xfrm>
              <a:prstGeom prst="roundRect">
                <a:avLst>
                  <a:gd name="adj" fmla="val 1691"/>
                </a:avLst>
              </a:prstGeom>
              <a:solidFill>
                <a:srgbClr val="F6F8F9"/>
              </a:solidFill>
              <a:ln w="3017">
                <a:solidFill>
                  <a:srgbClr val="CDD7D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" name="solve_title" descr="Editable text; source id solve_title"/>
              <p:cNvSpPr txBox="1"/>
              <p:nvPr/>
            </p:nvSpPr>
            <p:spPr>
              <a:xfrm>
                <a:off x="1276776" y="328695"/>
                <a:ext cx="686057" cy="109126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28"/>
                  </a:lnSpc>
                  <a:spcBef>
                    <a:spcPts val="0"/>
                  </a:spcBef>
                  <a:spcAft>
                    <a:spcPts val="0"/>
                  </a:spcAft>
                  <a:defRPr sz="633" b="1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33" b="1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rPr>
                  <a:t>Joint graph solve</a:t>
                </a:r>
              </a:p>
            </p:txBody>
          </p:sp>
          <p:cxnSp>
            <p:nvCxnSpPr>
              <p:cNvPr id="64" name="solve_rule" descr="Editable line; source id solve_rule"/>
              <p:cNvCxnSpPr/>
              <p:nvPr/>
            </p:nvCxnSpPr>
            <p:spPr>
              <a:xfrm>
                <a:off x="1277416" y="462686"/>
                <a:ext cx="1579169" cy="0"/>
              </a:xfrm>
              <a:prstGeom prst="line">
                <a:avLst/>
              </a:prstGeom>
              <a:ln w="3268" cap="rnd">
                <a:solidFill>
                  <a:srgbClr val="CDD7DC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6" name="graph_cost0" descr="graph cost0"/>
              <p:cNvGrpSpPr/>
              <p:nvPr/>
            </p:nvGrpSpPr>
            <p:grpSpPr>
              <a:xfrm>
                <a:off x="1292504" y="580872"/>
                <a:ext cx="188091" cy="110139"/>
                <a:chOff x="1292504" y="580872"/>
                <a:chExt cx="188091" cy="110139"/>
              </a:xfrm>
            </p:grpSpPr>
            <p:sp>
              <p:nvSpPr>
                <p:cNvPr id="65" name="graph_cost0_0_0" descr="Editable shape; source id graph_cost0_0_0"/>
                <p:cNvSpPr/>
                <p:nvPr/>
              </p:nvSpPr>
              <p:spPr>
                <a:xfrm>
                  <a:off x="1292504" y="580872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6" name="graph_cost0_0_1" descr="Editable shape; source id graph_cost0_0_1"/>
                <p:cNvSpPr/>
                <p:nvPr/>
              </p:nvSpPr>
              <p:spPr>
                <a:xfrm>
                  <a:off x="1340281" y="580872"/>
                  <a:ext cx="44759" cy="34701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7" name="graph_cost0_0_2" descr="Editable shape; source id graph_cost0_0_2"/>
                <p:cNvSpPr/>
                <p:nvPr/>
              </p:nvSpPr>
              <p:spPr>
                <a:xfrm>
                  <a:off x="1388059" y="580872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8" name="graph_cost0_0_3" descr="Editable shape; source id graph_cost0_0_3"/>
                <p:cNvSpPr/>
                <p:nvPr/>
              </p:nvSpPr>
              <p:spPr>
                <a:xfrm>
                  <a:off x="1435836" y="580872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9" name="graph_cost0_1_0" descr="Editable shape; source id graph_cost0_1_0"/>
                <p:cNvSpPr/>
                <p:nvPr/>
              </p:nvSpPr>
              <p:spPr>
                <a:xfrm>
                  <a:off x="1292504" y="618591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0" name="graph_cost0_1_1" descr="Editable shape; source id graph_cost0_1_1"/>
                <p:cNvSpPr/>
                <p:nvPr/>
              </p:nvSpPr>
              <p:spPr>
                <a:xfrm>
                  <a:off x="1340281" y="618591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1" name="graph_cost0_1_2" descr="Editable shape; source id graph_cost0_1_2"/>
                <p:cNvSpPr/>
                <p:nvPr/>
              </p:nvSpPr>
              <p:spPr>
                <a:xfrm>
                  <a:off x="1388059" y="618591"/>
                  <a:ext cx="44759" cy="34701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2" name="graph_cost0_1_3" descr="Editable shape; source id graph_cost0_1_3"/>
                <p:cNvSpPr/>
                <p:nvPr/>
              </p:nvSpPr>
              <p:spPr>
                <a:xfrm>
                  <a:off x="1435836" y="618591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3" name="graph_cost0_2_0" descr="Editable shape; source id graph_cost0_2_0"/>
                <p:cNvSpPr/>
                <p:nvPr/>
              </p:nvSpPr>
              <p:spPr>
                <a:xfrm>
                  <a:off x="1292504" y="656310"/>
                  <a:ext cx="44759" cy="34701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4" name="graph_cost0_2_1" descr="Editable shape; source id graph_cost0_2_1"/>
                <p:cNvSpPr/>
                <p:nvPr/>
              </p:nvSpPr>
              <p:spPr>
                <a:xfrm>
                  <a:off x="1340281" y="656310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5" name="graph_cost0_2_2" descr="Editable shape; source id graph_cost0_2_2"/>
                <p:cNvSpPr/>
                <p:nvPr/>
              </p:nvSpPr>
              <p:spPr>
                <a:xfrm>
                  <a:off x="1388059" y="656310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6" name="graph_cost0_2_3" descr="Editable shape; source id graph_cost0_2_3"/>
                <p:cNvSpPr/>
                <p:nvPr/>
              </p:nvSpPr>
              <p:spPr>
                <a:xfrm>
                  <a:off x="1435836" y="656310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77" name="graph_cost_name0" descr="Editable formula parts and native mathematical delimiters."/>
              <p:cNvGrpSpPr/>
              <p:nvPr/>
            </p:nvGrpSpPr>
            <p:grpSpPr>
              <a:xfrm>
                <a:off x="1346032" y="474085"/>
                <a:ext cx="83132" cy="106224"/>
                <a:chOff x="1346032" y="474085"/>
                <a:chExt cx="83132" cy="106224"/>
              </a:xfrm>
            </p:grpSpPr>
            <p:sp>
              <p:nvSpPr>
                <p:cNvPr id="77" name="graph_cost_name0_0" descr="Editable text; source id graph_cost_name0_0"/>
                <p:cNvSpPr txBox="1"/>
                <p:nvPr/>
              </p:nvSpPr>
              <p:spPr>
                <a:xfrm>
                  <a:off x="1346032" y="474085"/>
                  <a:ext cx="57407" cy="93897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0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1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1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78" name="graph_cost_name0_1" descr="Editable text; source id graph_cost_name0_1"/>
                <p:cNvSpPr txBox="1"/>
                <p:nvPr/>
              </p:nvSpPr>
              <p:spPr>
                <a:xfrm>
                  <a:off x="1399187" y="516891"/>
                  <a:ext cx="29977" cy="63418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46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05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05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1</a:t>
                  </a:r>
                </a:p>
              </p:txBody>
            </p:sp>
          </p:grpSp>
          <p:grpSp>
            <p:nvGrpSpPr>
              <p:cNvPr id="278" name="graph_cost1" descr="graph cost1"/>
              <p:cNvGrpSpPr/>
              <p:nvPr/>
            </p:nvGrpSpPr>
            <p:grpSpPr>
              <a:xfrm>
                <a:off x="1556537" y="580872"/>
                <a:ext cx="188091" cy="110139"/>
                <a:chOff x="1556537" y="580872"/>
                <a:chExt cx="188091" cy="110139"/>
              </a:xfrm>
            </p:grpSpPr>
            <p:sp>
              <p:nvSpPr>
                <p:cNvPr id="79" name="graph_cost1_0_0" descr="Editable shape; source id graph_cost1_0_0"/>
                <p:cNvSpPr/>
                <p:nvPr/>
              </p:nvSpPr>
              <p:spPr>
                <a:xfrm>
                  <a:off x="1556537" y="580872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0" name="graph_cost1_0_1" descr="Editable shape; source id graph_cost1_0_1"/>
                <p:cNvSpPr/>
                <p:nvPr/>
              </p:nvSpPr>
              <p:spPr>
                <a:xfrm>
                  <a:off x="1604314" y="580872"/>
                  <a:ext cx="44759" cy="34701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1" name="graph_cost1_0_2" descr="Editable shape; source id graph_cost1_0_2"/>
                <p:cNvSpPr/>
                <p:nvPr/>
              </p:nvSpPr>
              <p:spPr>
                <a:xfrm>
                  <a:off x="1652092" y="580872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2" name="graph_cost1_0_3" descr="Editable shape; source id graph_cost1_0_3"/>
                <p:cNvSpPr/>
                <p:nvPr/>
              </p:nvSpPr>
              <p:spPr>
                <a:xfrm>
                  <a:off x="1699869" y="580872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3" name="graph_cost1_1_0" descr="Editable shape; source id graph_cost1_1_0"/>
                <p:cNvSpPr/>
                <p:nvPr/>
              </p:nvSpPr>
              <p:spPr>
                <a:xfrm>
                  <a:off x="1556537" y="618591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4" name="graph_cost1_1_1" descr="Editable shape; source id graph_cost1_1_1"/>
                <p:cNvSpPr/>
                <p:nvPr/>
              </p:nvSpPr>
              <p:spPr>
                <a:xfrm>
                  <a:off x="1604314" y="618591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5" name="graph_cost1_1_2" descr="Editable shape; source id graph_cost1_1_2"/>
                <p:cNvSpPr/>
                <p:nvPr/>
              </p:nvSpPr>
              <p:spPr>
                <a:xfrm>
                  <a:off x="1652092" y="618591"/>
                  <a:ext cx="44759" cy="34701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6" name="graph_cost1_1_3" descr="Editable shape; source id graph_cost1_1_3"/>
                <p:cNvSpPr/>
                <p:nvPr/>
              </p:nvSpPr>
              <p:spPr>
                <a:xfrm>
                  <a:off x="1699869" y="618591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7" name="graph_cost1_2_0" descr="Editable shape; source id graph_cost1_2_0"/>
                <p:cNvSpPr/>
                <p:nvPr/>
              </p:nvSpPr>
              <p:spPr>
                <a:xfrm>
                  <a:off x="1556537" y="656310"/>
                  <a:ext cx="44759" cy="34701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8" name="graph_cost1_2_1" descr="Editable shape; source id graph_cost1_2_1"/>
                <p:cNvSpPr/>
                <p:nvPr/>
              </p:nvSpPr>
              <p:spPr>
                <a:xfrm>
                  <a:off x="1604314" y="656310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9" name="graph_cost1_2_2" descr="Editable shape; source id graph_cost1_2_2"/>
                <p:cNvSpPr/>
                <p:nvPr/>
              </p:nvSpPr>
              <p:spPr>
                <a:xfrm>
                  <a:off x="1652092" y="656310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0" name="graph_cost1_2_3" descr="Editable shape; source id graph_cost1_2_3"/>
                <p:cNvSpPr/>
                <p:nvPr/>
              </p:nvSpPr>
              <p:spPr>
                <a:xfrm>
                  <a:off x="1699869" y="656310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79" name="graph_cost_name1" descr="Editable formula parts and native mathematical delimiters."/>
              <p:cNvGrpSpPr/>
              <p:nvPr/>
            </p:nvGrpSpPr>
            <p:grpSpPr>
              <a:xfrm>
                <a:off x="1610065" y="474085"/>
                <a:ext cx="83132" cy="106224"/>
                <a:chOff x="1610065" y="474085"/>
                <a:chExt cx="83132" cy="106224"/>
              </a:xfrm>
            </p:grpSpPr>
            <p:sp>
              <p:nvSpPr>
                <p:cNvPr id="91" name="graph_cost_name1_0" descr="Editable text; source id graph_cost_name1_0"/>
                <p:cNvSpPr txBox="1"/>
                <p:nvPr/>
              </p:nvSpPr>
              <p:spPr>
                <a:xfrm>
                  <a:off x="1610065" y="474085"/>
                  <a:ext cx="57407" cy="93897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0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1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1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92" name="graph_cost_name1_1" descr="Editable text; source id graph_cost_name1_1"/>
                <p:cNvSpPr txBox="1"/>
                <p:nvPr/>
              </p:nvSpPr>
              <p:spPr>
                <a:xfrm>
                  <a:off x="1663220" y="516891"/>
                  <a:ext cx="29977" cy="63418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46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05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05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2</a:t>
                  </a:r>
                </a:p>
              </p:txBody>
            </p:sp>
          </p:grpSp>
          <p:grpSp>
            <p:nvGrpSpPr>
              <p:cNvPr id="280" name="graph_cost2" descr="graph cost2"/>
              <p:cNvGrpSpPr/>
              <p:nvPr/>
            </p:nvGrpSpPr>
            <p:grpSpPr>
              <a:xfrm>
                <a:off x="1820570" y="580872"/>
                <a:ext cx="188091" cy="110139"/>
                <a:chOff x="1820570" y="580872"/>
                <a:chExt cx="188091" cy="110139"/>
              </a:xfrm>
            </p:grpSpPr>
            <p:sp>
              <p:nvSpPr>
                <p:cNvPr id="93" name="graph_cost2_0_0" descr="Editable shape; source id graph_cost2_0_0"/>
                <p:cNvSpPr/>
                <p:nvPr/>
              </p:nvSpPr>
              <p:spPr>
                <a:xfrm>
                  <a:off x="1820570" y="580872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4" name="graph_cost2_0_1" descr="Editable shape; source id graph_cost2_0_1"/>
                <p:cNvSpPr/>
                <p:nvPr/>
              </p:nvSpPr>
              <p:spPr>
                <a:xfrm>
                  <a:off x="1868347" y="580872"/>
                  <a:ext cx="44759" cy="34701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5" name="graph_cost2_0_2" descr="Editable shape; source id graph_cost2_0_2"/>
                <p:cNvSpPr/>
                <p:nvPr/>
              </p:nvSpPr>
              <p:spPr>
                <a:xfrm>
                  <a:off x="1916125" y="580872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6" name="graph_cost2_0_3" descr="Editable shape; source id graph_cost2_0_3"/>
                <p:cNvSpPr/>
                <p:nvPr/>
              </p:nvSpPr>
              <p:spPr>
                <a:xfrm>
                  <a:off x="1963902" y="580872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7" name="graph_cost2_1_0" descr="Editable shape; source id graph_cost2_1_0"/>
                <p:cNvSpPr/>
                <p:nvPr/>
              </p:nvSpPr>
              <p:spPr>
                <a:xfrm>
                  <a:off x="1820570" y="618591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8" name="graph_cost2_1_1" descr="Editable shape; source id graph_cost2_1_1"/>
                <p:cNvSpPr/>
                <p:nvPr/>
              </p:nvSpPr>
              <p:spPr>
                <a:xfrm>
                  <a:off x="1868347" y="618591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9" name="graph_cost2_1_2" descr="Editable shape; source id graph_cost2_1_2"/>
                <p:cNvSpPr/>
                <p:nvPr/>
              </p:nvSpPr>
              <p:spPr>
                <a:xfrm>
                  <a:off x="1916125" y="618591"/>
                  <a:ext cx="44759" cy="34701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0" name="graph_cost2_1_3" descr="Editable shape; source id graph_cost2_1_3"/>
                <p:cNvSpPr/>
                <p:nvPr/>
              </p:nvSpPr>
              <p:spPr>
                <a:xfrm>
                  <a:off x="1963902" y="618591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1" name="graph_cost2_2_0" descr="Editable shape; source id graph_cost2_2_0"/>
                <p:cNvSpPr/>
                <p:nvPr/>
              </p:nvSpPr>
              <p:spPr>
                <a:xfrm>
                  <a:off x="1820570" y="656310"/>
                  <a:ext cx="44759" cy="34701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2" name="graph_cost2_2_1" descr="Editable shape; source id graph_cost2_2_1"/>
                <p:cNvSpPr/>
                <p:nvPr/>
              </p:nvSpPr>
              <p:spPr>
                <a:xfrm>
                  <a:off x="1868347" y="656310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3" name="graph_cost2_2_2" descr="Editable shape; source id graph_cost2_2_2"/>
                <p:cNvSpPr/>
                <p:nvPr/>
              </p:nvSpPr>
              <p:spPr>
                <a:xfrm>
                  <a:off x="1916125" y="656310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4" name="graph_cost2_2_3" descr="Editable shape; source id graph_cost2_2_3"/>
                <p:cNvSpPr/>
                <p:nvPr/>
              </p:nvSpPr>
              <p:spPr>
                <a:xfrm>
                  <a:off x="1963902" y="656310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81" name="graph_cost_name2" descr="Editable formula parts and native mathematical delimiters."/>
              <p:cNvGrpSpPr/>
              <p:nvPr/>
            </p:nvGrpSpPr>
            <p:grpSpPr>
              <a:xfrm>
                <a:off x="1868389" y="474085"/>
                <a:ext cx="94549" cy="106224"/>
                <a:chOff x="1868389" y="474085"/>
                <a:chExt cx="94549" cy="106224"/>
              </a:xfrm>
            </p:grpSpPr>
            <p:sp>
              <p:nvSpPr>
                <p:cNvPr id="105" name="graph_cost_name2_0" descr="Editable text; source id graph_cost_name2_0"/>
                <p:cNvSpPr txBox="1"/>
                <p:nvPr/>
              </p:nvSpPr>
              <p:spPr>
                <a:xfrm>
                  <a:off x="1868389" y="474085"/>
                  <a:ext cx="57407" cy="93897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0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1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1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106" name="graph_cost_name2_1" descr="Editable text; source id graph_cost_name2_1"/>
                <p:cNvSpPr txBox="1"/>
                <p:nvPr/>
              </p:nvSpPr>
              <p:spPr>
                <a:xfrm>
                  <a:off x="1921544" y="516891"/>
                  <a:ext cx="41394" cy="63418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46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05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05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</p:grpSp>
          <p:grpSp>
            <p:nvGrpSpPr>
              <p:cNvPr id="282" name="rate_budget" descr="Editable formula parts and native mathematical delimiters."/>
              <p:cNvGrpSpPr/>
              <p:nvPr/>
            </p:nvGrpSpPr>
            <p:grpSpPr>
              <a:xfrm>
                <a:off x="2273697" y="498270"/>
                <a:ext cx="339764" cy="118398"/>
                <a:chOff x="2273697" y="498270"/>
                <a:chExt cx="339764" cy="118398"/>
              </a:xfrm>
            </p:grpSpPr>
            <p:sp>
              <p:nvSpPr>
                <p:cNvPr id="107" name="rate_budget_0" descr="Editable text; source id rate_budget_0"/>
                <p:cNvSpPr txBox="1"/>
                <p:nvPr/>
              </p:nvSpPr>
              <p:spPr>
                <a:xfrm>
                  <a:off x="2273697" y="498270"/>
                  <a:ext cx="48260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b</a:t>
                  </a:r>
                </a:p>
              </p:txBody>
            </p:sp>
            <p:sp>
              <p:nvSpPr>
                <p:cNvPr id="108" name="rate_budget_1" descr="Editable text; source id rate_budget_1"/>
                <p:cNvSpPr txBox="1"/>
                <p:nvPr/>
              </p:nvSpPr>
              <p:spPr>
                <a:xfrm>
                  <a:off x="2317705" y="545616"/>
                  <a:ext cx="33310" cy="710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2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7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7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sp>
              <p:nvSpPr>
                <p:cNvPr id="109" name="rate_budget_2" descr="Editable text; source id rate_budget_2"/>
                <p:cNvSpPr txBox="1"/>
                <p:nvPr/>
              </p:nvSpPr>
              <p:spPr>
                <a:xfrm>
                  <a:off x="2349403" y="498270"/>
                  <a:ext cx="97894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 = </a:t>
                  </a:r>
                </a:p>
              </p:txBody>
            </p:sp>
            <p:sp>
              <p:nvSpPr>
                <p:cNvPr id="110" name="rate_budget_3" descr="Editable text; source id rate_budget_3"/>
                <p:cNvSpPr txBox="1"/>
                <p:nvPr/>
              </p:nvSpPr>
              <p:spPr>
                <a:xfrm>
                  <a:off x="2445686" y="498270"/>
                  <a:ext cx="58116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B</a:t>
                  </a:r>
                </a:p>
              </p:txBody>
            </p:sp>
            <p:sp>
              <p:nvSpPr>
                <p:cNvPr id="111" name="rate_budget_4" descr="Editable text; source id rate_budget_4"/>
                <p:cNvSpPr txBox="1"/>
                <p:nvPr/>
              </p:nvSpPr>
              <p:spPr>
                <a:xfrm>
                  <a:off x="2499550" y="545616"/>
                  <a:ext cx="33310" cy="710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2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7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7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sp>
              <p:nvSpPr>
                <p:cNvPr id="112" name="rate_budget_5" descr="Editable text; source id rate_budget_5"/>
                <p:cNvSpPr txBox="1"/>
                <p:nvPr/>
              </p:nvSpPr>
              <p:spPr>
                <a:xfrm>
                  <a:off x="2526996" y="498270"/>
                  <a:ext cx="86465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5669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/L</a:t>
                  </a:r>
                </a:p>
              </p:txBody>
            </p:sp>
          </p:grpSp>
          <p:grpSp>
            <p:nvGrpSpPr>
              <p:cNvPr id="283" name="zero_support" descr="Editable formula parts and native mathematical delimiters."/>
              <p:cNvGrpSpPr/>
              <p:nvPr/>
            </p:nvGrpSpPr>
            <p:grpSpPr>
              <a:xfrm>
                <a:off x="2325221" y="616068"/>
                <a:ext cx="236082" cy="115886"/>
                <a:chOff x="2325221" y="616068"/>
                <a:chExt cx="236082" cy="115886"/>
              </a:xfrm>
            </p:grpSpPr>
            <p:sp>
              <p:nvSpPr>
                <p:cNvPr id="113" name="zero_support_0" descr="Editable text; source id zero_support_0"/>
                <p:cNvSpPr txBox="1"/>
                <p:nvPr/>
              </p:nvSpPr>
              <p:spPr>
                <a:xfrm>
                  <a:off x="2325221" y="616068"/>
                  <a:ext cx="58825" cy="102573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2126" anchorCtr="0" vertOverflow="overflow">
                  <a:noAutofit/>
                </a:bodyPr>
                <a:lstStyle/>
                <a:p>
                  <a:pPr algn="l" fontAlgn="base">
                    <a:lnSpc>
                      <a:spcPts val="774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7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7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F</a:t>
                  </a:r>
                </a:p>
              </p:txBody>
            </p:sp>
            <p:sp>
              <p:nvSpPr>
                <p:cNvPr id="114" name="zero_support_1" descr="Editable text; source id zero_support_1"/>
                <p:cNvSpPr txBox="1"/>
                <p:nvPr/>
              </p:nvSpPr>
              <p:spPr>
                <a:xfrm>
                  <a:off x="2379794" y="662810"/>
                  <a:ext cx="44993" cy="6914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44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44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H</a:t>
                  </a:r>
                </a:p>
              </p:txBody>
            </p:sp>
            <p:sp>
              <p:nvSpPr>
                <p:cNvPr id="115" name="zero_support_2" descr="Editable text; source id zero_support_2"/>
                <p:cNvSpPr txBox="1"/>
                <p:nvPr/>
              </p:nvSpPr>
              <p:spPr>
                <a:xfrm>
                  <a:off x="2423100" y="616068"/>
                  <a:ext cx="138203" cy="102573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74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73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73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 = 0</a:t>
                  </a:r>
                </a:p>
              </p:txBody>
            </p:sp>
          </p:grpSp>
          <p:cxnSp>
            <p:nvCxnSpPr>
              <p:cNvPr id="116" name="graph_definition_rule" descr="Editable line; source id graph_definition_rule"/>
              <p:cNvCxnSpPr/>
              <p:nvPr/>
            </p:nvCxnSpPr>
            <p:spPr>
              <a:xfrm>
                <a:off x="1277416" y="754380"/>
                <a:ext cx="1579169" cy="0"/>
              </a:xfrm>
              <a:prstGeom prst="line">
                <a:avLst/>
              </a:prstGeom>
              <a:ln w="3268" cap="rnd">
                <a:solidFill>
                  <a:srgbClr val="CDD7DC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86" name="flow_objective" descr="Editable formula parts and native mathematical delimiters."/>
              <p:cNvGrpSpPr/>
              <p:nvPr/>
            </p:nvGrpSpPr>
            <p:grpSpPr>
              <a:xfrm>
                <a:off x="1550714" y="817624"/>
                <a:ext cx="1031350" cy="118398"/>
                <a:chOff x="1550714" y="817624"/>
                <a:chExt cx="1031350" cy="118398"/>
              </a:xfrm>
            </p:grpSpPr>
            <p:sp>
              <p:nvSpPr>
                <p:cNvPr id="117" name="flow_objective_0" descr="Editable text; source id flow_objective_0"/>
                <p:cNvSpPr txBox="1"/>
                <p:nvPr/>
              </p:nvSpPr>
              <p:spPr>
                <a:xfrm>
                  <a:off x="1550714" y="817624"/>
                  <a:ext cx="141160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min</a:t>
                  </a:r>
                </a:p>
              </p:txBody>
            </p:sp>
            <p:sp>
              <p:nvSpPr>
                <p:cNvPr id="118" name="flow_objective_1" descr="Editable text; source id flow_objective_1"/>
                <p:cNvSpPr txBox="1"/>
                <p:nvPr/>
              </p:nvSpPr>
              <p:spPr>
                <a:xfrm>
                  <a:off x="1687622" y="864970"/>
                  <a:ext cx="97805" cy="710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2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7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7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F≥0</a:t>
                  </a:r>
                </a:p>
              </p:txBody>
            </p:sp>
            <p:sp>
              <p:nvSpPr>
                <p:cNvPr id="119" name="flow_objective_2" descr="Editable text; source id flow_objective_2"/>
                <p:cNvSpPr txBox="1"/>
                <p:nvPr/>
              </p:nvSpPr>
              <p:spPr>
                <a:xfrm>
                  <a:off x="1783816" y="817624"/>
                  <a:ext cx="97894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 − </a:t>
                  </a:r>
                </a:p>
              </p:txBody>
            </p:sp>
            <p:sp>
              <p:nvSpPr>
                <p:cNvPr id="120" name="flow_objective_3" descr="Editable text; source id flow_objective_3"/>
                <p:cNvSpPr txBox="1"/>
                <p:nvPr/>
              </p:nvSpPr>
              <p:spPr>
                <a:xfrm>
                  <a:off x="1901540" y="817624"/>
                  <a:ext cx="144582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6378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A,F</a:t>
                  </a:r>
                </a:p>
              </p:txBody>
            </p:sp>
            <p:sp>
              <p:nvSpPr>
                <p:cNvPr id="121" name="flow_objective_4" descr="Editable text; source id flow_objective_4"/>
                <p:cNvSpPr txBox="1"/>
                <p:nvPr/>
              </p:nvSpPr>
              <p:spPr>
                <a:xfrm>
                  <a:off x="2070914" y="817624"/>
                  <a:ext cx="377048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 + ε KL(F </a:t>
                  </a:r>
                </a:p>
              </p:txBody>
            </p:sp>
            <p:sp>
              <p:nvSpPr>
                <p:cNvPr id="122" name="flow_objective_5" descr="Editable text; source id flow_objective_5"/>
                <p:cNvSpPr txBox="1"/>
                <p:nvPr/>
              </p:nvSpPr>
              <p:spPr>
                <a:xfrm>
                  <a:off x="2472753" y="817624"/>
                  <a:ext cx="109311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 F̂)</a:t>
                  </a:r>
                </a:p>
              </p:txBody>
            </p:sp>
            <p:grpSp>
              <p:nvGrpSpPr>
                <p:cNvPr id="284" name="flow_objective_angle_0" descr="One editable routed connector; fixed endpoints."/>
                <p:cNvGrpSpPr/>
                <p:nvPr/>
              </p:nvGrpSpPr>
              <p:grpSpPr>
                <a:xfrm>
                  <a:off x="1886796" y="834344"/>
                  <a:ext cx="14082" cy="70409"/>
                  <a:chOff x="1886796" y="834344"/>
                  <a:chExt cx="14082" cy="70409"/>
                </a:xfrm>
              </p:grpSpPr>
              <p:cxnSp>
                <p:nvCxnSpPr>
                  <p:cNvPr id="123" name="flow_objective_angle_0_0" descr="Editable line; source id flow_objective_angle_0_0"/>
                  <p:cNvCxnSpPr/>
                  <p:nvPr/>
                </p:nvCxnSpPr>
                <p:spPr>
                  <a:xfrm flipH="1">
                    <a:off x="1886796" y="834344"/>
                    <a:ext cx="14082" cy="35204"/>
                  </a:xfrm>
                  <a:prstGeom prst="line">
                    <a:avLst/>
                  </a:prstGeom>
                  <a:ln w="3520" cap="rnd">
                    <a:solidFill>
                      <a:srgbClr val="29343E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4" name="flow_objective_angle_0_1" descr="Editable line; source id flow_objective_angle_0_1"/>
                  <p:cNvCxnSpPr/>
                  <p:nvPr/>
                </p:nvCxnSpPr>
                <p:spPr>
                  <a:xfrm>
                    <a:off x="1886796" y="869548"/>
                    <a:ext cx="14082" cy="35205"/>
                  </a:xfrm>
                  <a:prstGeom prst="line">
                    <a:avLst/>
                  </a:prstGeom>
                  <a:ln w="3520" cap="rnd">
                    <a:solidFill>
                      <a:srgbClr val="29343E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85" name="flow_objective_angle_1" descr="One editable routed connector; fixed endpoints."/>
                <p:cNvGrpSpPr/>
                <p:nvPr/>
              </p:nvGrpSpPr>
              <p:grpSpPr>
                <a:xfrm>
                  <a:off x="2051208" y="834344"/>
                  <a:ext cx="14082" cy="70409"/>
                  <a:chOff x="2051208" y="834344"/>
                  <a:chExt cx="14082" cy="70409"/>
                </a:xfrm>
              </p:grpSpPr>
              <p:cxnSp>
                <p:nvCxnSpPr>
                  <p:cNvPr id="125" name="flow_objective_angle_1_0" descr="Editable line; source id flow_objective_angle_1_0"/>
                  <p:cNvCxnSpPr/>
                  <p:nvPr/>
                </p:nvCxnSpPr>
                <p:spPr>
                  <a:xfrm>
                    <a:off x="2051208" y="834344"/>
                    <a:ext cx="14082" cy="35204"/>
                  </a:xfrm>
                  <a:prstGeom prst="line">
                    <a:avLst/>
                  </a:prstGeom>
                  <a:ln w="3520" cap="rnd">
                    <a:solidFill>
                      <a:srgbClr val="29343E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" name="flow_objective_angle_1_1" descr="Editable line; source id flow_objective_angle_1_1"/>
                  <p:cNvCxnSpPr/>
                  <p:nvPr/>
                </p:nvCxnSpPr>
                <p:spPr>
                  <a:xfrm flipH="1">
                    <a:off x="2051208" y="869548"/>
                    <a:ext cx="14082" cy="35205"/>
                  </a:xfrm>
                  <a:prstGeom prst="line">
                    <a:avLst/>
                  </a:prstGeom>
                  <a:ln w="3520" cap="rnd">
                    <a:solidFill>
                      <a:srgbClr val="29343E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27" name="flow_objective_parallel_2_0" descr="Editable line; source id flow_objective_parallel_2_0"/>
                <p:cNvCxnSpPr/>
                <p:nvPr/>
              </p:nvCxnSpPr>
              <p:spPr>
                <a:xfrm>
                  <a:off x="2454808" y="834344"/>
                  <a:ext cx="0" cy="70409"/>
                </a:xfrm>
                <a:prstGeom prst="line">
                  <a:avLst/>
                </a:prstGeom>
                <a:ln w="3520" cap="rnd">
                  <a:solidFill>
                    <a:srgbClr val="29343E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flow_objective_parallel_2_1" descr="Editable line; source id flow_objective_parallel_2_1"/>
                <p:cNvCxnSpPr/>
                <p:nvPr/>
              </p:nvCxnSpPr>
              <p:spPr>
                <a:xfrm>
                  <a:off x="2467130" y="834344"/>
                  <a:ext cx="0" cy="70409"/>
                </a:xfrm>
                <a:prstGeom prst="line">
                  <a:avLst/>
                </a:prstGeom>
                <a:ln w="3520" cap="rnd">
                  <a:solidFill>
                    <a:srgbClr val="29343E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7" name="flow_balance" descr="Editable formula parts and native mathematical delimiters."/>
              <p:cNvGrpSpPr/>
              <p:nvPr/>
            </p:nvGrpSpPr>
            <p:grpSpPr>
              <a:xfrm>
                <a:off x="1706872" y="945863"/>
                <a:ext cx="718476" cy="126982"/>
                <a:chOff x="1706872" y="945863"/>
                <a:chExt cx="718476" cy="126982"/>
              </a:xfrm>
            </p:grpSpPr>
            <p:sp>
              <p:nvSpPr>
                <p:cNvPr id="129" name="flow_balance_0" descr="Editable text; source id flow_balance_0"/>
                <p:cNvSpPr txBox="1"/>
                <p:nvPr/>
              </p:nvSpPr>
              <p:spPr>
                <a:xfrm>
                  <a:off x="1706872" y="960180"/>
                  <a:ext cx="230339" cy="9968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2126" anchorCtr="0" vertOverflow="overflow">
                  <a:noAutofit/>
                </a:bodyPr>
                <a:lstStyle/>
                <a:p>
                  <a:pPr algn="l" fontAlgn="base">
                    <a:lnSpc>
                      <a:spcPts val="75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5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5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F1 − γ</a:t>
                  </a:r>
                </a:p>
              </p:txBody>
            </p:sp>
            <p:sp>
              <p:nvSpPr>
                <p:cNvPr id="130" name="flow_balance_1" descr="Editable text; source id flow_balance_1"/>
                <p:cNvSpPr txBox="1"/>
                <p:nvPr/>
              </p:nvSpPr>
              <p:spPr>
                <a:xfrm>
                  <a:off x="1934740" y="960180"/>
                  <a:ext cx="57407" cy="9968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2126" anchorCtr="0" vertOverflow="overflow">
                  <a:noAutofit/>
                </a:bodyPr>
                <a:lstStyle/>
                <a:p>
                  <a:pPr algn="l" fontAlgn="base">
                    <a:lnSpc>
                      <a:spcPts val="75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5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5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F</a:t>
                  </a:r>
                </a:p>
              </p:txBody>
            </p:sp>
            <p:sp>
              <p:nvSpPr>
                <p:cNvPr id="131" name="flow_balance_2" descr="Editable text; source id flow_balance_2"/>
                <p:cNvSpPr txBox="1"/>
                <p:nvPr/>
              </p:nvSpPr>
              <p:spPr>
                <a:xfrm>
                  <a:off x="1987896" y="945863"/>
                  <a:ext cx="37707" cy="6723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49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31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31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T</a:t>
                  </a:r>
                </a:p>
              </p:txBody>
            </p:sp>
            <p:sp>
              <p:nvSpPr>
                <p:cNvPr id="132" name="flow_balance_3" descr="Editable text; source id flow_balance_3"/>
                <p:cNvSpPr txBox="1"/>
                <p:nvPr/>
              </p:nvSpPr>
              <p:spPr>
                <a:xfrm>
                  <a:off x="2023840" y="960180"/>
                  <a:ext cx="328854" cy="9968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5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5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5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1 = (1−γ)</a:t>
                  </a:r>
                </a:p>
              </p:txBody>
            </p:sp>
            <p:sp>
              <p:nvSpPr>
                <p:cNvPr id="133" name="flow_balance_4" descr="Editable text; source id flow_balance_4"/>
                <p:cNvSpPr txBox="1"/>
                <p:nvPr/>
              </p:nvSpPr>
              <p:spPr>
                <a:xfrm>
                  <a:off x="2350222" y="960180"/>
                  <a:ext cx="47485" cy="9968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2126" anchorCtr="0" vertOverflow="overflow">
                  <a:noAutofit/>
                </a:bodyPr>
                <a:lstStyle/>
                <a:p>
                  <a:pPr algn="l" fontAlgn="base">
                    <a:lnSpc>
                      <a:spcPts val="75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5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5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μ</a:t>
                  </a:r>
                </a:p>
              </p:txBody>
            </p:sp>
            <p:sp>
              <p:nvSpPr>
                <p:cNvPr id="134" name="flow_balance_5" descr="Editable text; source id flow_balance_5"/>
                <p:cNvSpPr txBox="1"/>
                <p:nvPr/>
              </p:nvSpPr>
              <p:spPr>
                <a:xfrm>
                  <a:off x="2393455" y="1005610"/>
                  <a:ext cx="31893" cy="6723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49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31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31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0</a:t>
                  </a:r>
                </a:p>
              </p:txBody>
            </p:sp>
          </p:grpSp>
          <p:grpSp>
            <p:nvGrpSpPr>
              <p:cNvPr id="290" name="soft_budgets" descr="Editable formula parts and native mathematical delimiters."/>
              <p:cNvGrpSpPr/>
              <p:nvPr/>
            </p:nvGrpSpPr>
            <p:grpSpPr>
              <a:xfrm>
                <a:off x="1607673" y="1080881"/>
                <a:ext cx="923979" cy="112665"/>
                <a:chOff x="1607673" y="1080881"/>
                <a:chExt cx="923979" cy="112665"/>
              </a:xfrm>
            </p:grpSpPr>
            <p:sp>
              <p:nvSpPr>
                <p:cNvPr id="135" name="soft_budgets_0" descr="Editable text; source id soft_budgets_0"/>
                <p:cNvSpPr txBox="1"/>
                <p:nvPr/>
              </p:nvSpPr>
              <p:spPr>
                <a:xfrm>
                  <a:off x="1626172" y="1080881"/>
                  <a:ext cx="60951" cy="9968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5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5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5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136" name="soft_budgets_1" descr="Editable text; source id soft_budgets_1"/>
                <p:cNvSpPr txBox="1"/>
                <p:nvPr/>
              </p:nvSpPr>
              <p:spPr>
                <a:xfrm>
                  <a:off x="1682871" y="1126311"/>
                  <a:ext cx="31893" cy="6723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49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31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31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sp>
              <p:nvSpPr>
                <p:cNvPr id="137" name="soft_budgets_2" descr="Editable text; source id soft_budgets_2"/>
                <p:cNvSpPr txBox="1"/>
                <p:nvPr/>
              </p:nvSpPr>
              <p:spPr>
                <a:xfrm>
                  <a:off x="1713001" y="1080881"/>
                  <a:ext cx="76543" cy="9968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5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5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5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,F</a:t>
                  </a:r>
                </a:p>
              </p:txBody>
            </p:sp>
            <p:sp>
              <p:nvSpPr>
                <p:cNvPr id="138" name="soft_budgets_3" descr="Editable text; source id soft_budgets_3"/>
                <p:cNvSpPr txBox="1"/>
                <p:nvPr/>
              </p:nvSpPr>
              <p:spPr>
                <a:xfrm>
                  <a:off x="1812676" y="1080881"/>
                  <a:ext cx="91427" cy="9968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5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53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53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 ≤ </a:t>
                  </a:r>
                </a:p>
              </p:txBody>
            </p:sp>
            <p:sp>
              <p:nvSpPr>
                <p:cNvPr id="139" name="soft_budgets_4" descr="Editable text; source id soft_budgets_4"/>
                <p:cNvSpPr txBox="1"/>
                <p:nvPr/>
              </p:nvSpPr>
              <p:spPr>
                <a:xfrm>
                  <a:off x="1902340" y="1080881"/>
                  <a:ext cx="46067" cy="9968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5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5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5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b</a:t>
                  </a:r>
                </a:p>
              </p:txBody>
            </p:sp>
            <p:sp>
              <p:nvSpPr>
                <p:cNvPr id="140" name="soft_budgets_5" descr="Editable text; source id soft_budgets_5"/>
                <p:cNvSpPr txBox="1"/>
                <p:nvPr/>
              </p:nvSpPr>
              <p:spPr>
                <a:xfrm>
                  <a:off x="1944156" y="1126311"/>
                  <a:ext cx="31893" cy="6723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49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31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31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sp>
              <p:nvSpPr>
                <p:cNvPr id="141" name="soft_budgets_6" descr="Editable text; source id soft_budgets_6"/>
                <p:cNvSpPr txBox="1"/>
                <p:nvPr/>
              </p:nvSpPr>
              <p:spPr>
                <a:xfrm>
                  <a:off x="1974286" y="1080881"/>
                  <a:ext cx="557366" cy="9968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5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5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5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   (soft channels)</a:t>
                  </a:r>
                </a:p>
              </p:txBody>
            </p:sp>
            <p:grpSp>
              <p:nvGrpSpPr>
                <p:cNvPr id="288" name="soft_budgets_angle_0" descr="One editable routed connector; fixed endpoints."/>
                <p:cNvGrpSpPr/>
                <p:nvPr/>
              </p:nvGrpSpPr>
              <p:grpSpPr>
                <a:xfrm>
                  <a:off x="1607673" y="1096969"/>
                  <a:ext cx="13278" cy="66385"/>
                  <a:chOff x="1607673" y="1096969"/>
                  <a:chExt cx="13278" cy="66385"/>
                </a:xfrm>
              </p:grpSpPr>
              <p:cxnSp>
                <p:nvCxnSpPr>
                  <p:cNvPr id="142" name="soft_budgets_angle_0_0" descr="Editable line; source id soft_budgets_angle_0_0"/>
                  <p:cNvCxnSpPr/>
                  <p:nvPr/>
                </p:nvCxnSpPr>
                <p:spPr>
                  <a:xfrm flipH="1">
                    <a:off x="1607673" y="1096969"/>
                    <a:ext cx="13278" cy="33192"/>
                  </a:xfrm>
                  <a:prstGeom prst="line">
                    <a:avLst/>
                  </a:prstGeom>
                  <a:ln w="3520" cap="rnd">
                    <a:solidFill>
                      <a:srgbClr val="29343E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3" name="soft_budgets_angle_0_1" descr="Editable line; source id soft_budgets_angle_0_1"/>
                  <p:cNvCxnSpPr/>
                  <p:nvPr/>
                </p:nvCxnSpPr>
                <p:spPr>
                  <a:xfrm>
                    <a:off x="1607673" y="1130161"/>
                    <a:ext cx="13278" cy="33193"/>
                  </a:xfrm>
                  <a:prstGeom prst="line">
                    <a:avLst/>
                  </a:prstGeom>
                  <a:ln w="3520" cap="rnd">
                    <a:solidFill>
                      <a:srgbClr val="29343E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89" name="soft_budgets_angle_1" descr="One editable routed connector; fixed endpoints."/>
                <p:cNvGrpSpPr/>
                <p:nvPr/>
              </p:nvGrpSpPr>
              <p:grpSpPr>
                <a:xfrm>
                  <a:off x="1794178" y="1096969"/>
                  <a:ext cx="13277" cy="66385"/>
                  <a:chOff x="1794178" y="1096969"/>
                  <a:chExt cx="13277" cy="66385"/>
                </a:xfrm>
              </p:grpSpPr>
              <p:cxnSp>
                <p:nvCxnSpPr>
                  <p:cNvPr id="144" name="soft_budgets_angle_1_0" descr="Editable line; source id soft_budgets_angle_1_0"/>
                  <p:cNvCxnSpPr/>
                  <p:nvPr/>
                </p:nvCxnSpPr>
                <p:spPr>
                  <a:xfrm>
                    <a:off x="1794178" y="1096969"/>
                    <a:ext cx="13277" cy="33192"/>
                  </a:xfrm>
                  <a:prstGeom prst="line">
                    <a:avLst/>
                  </a:prstGeom>
                  <a:ln w="3520" cap="rnd">
                    <a:solidFill>
                      <a:srgbClr val="29343E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5" name="soft_budgets_angle_1_1" descr="Editable line; source id soft_budgets_angle_1_1"/>
                  <p:cNvCxnSpPr/>
                  <p:nvPr/>
                </p:nvCxnSpPr>
                <p:spPr>
                  <a:xfrm flipH="1">
                    <a:off x="1794178" y="1130161"/>
                    <a:ext cx="13277" cy="33193"/>
                  </a:xfrm>
                  <a:prstGeom prst="line">
                    <a:avLst/>
                  </a:prstGeom>
                  <a:ln w="3520" cap="rnd">
                    <a:solidFill>
                      <a:srgbClr val="29343E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91" name="newton" descr="newton"/>
              <p:cNvGrpSpPr/>
              <p:nvPr/>
            </p:nvGrpSpPr>
            <p:grpSpPr>
              <a:xfrm>
                <a:off x="1370457" y="1269873"/>
                <a:ext cx="538124" cy="153390"/>
                <a:chOff x="1370457" y="1269873"/>
                <a:chExt cx="538124" cy="153390"/>
              </a:xfrm>
            </p:grpSpPr>
            <p:sp>
              <p:nvSpPr>
                <p:cNvPr id="146" name="newton_panel" descr="Editable shape; source id newton_panel"/>
                <p:cNvSpPr/>
                <p:nvPr/>
              </p:nvSpPr>
              <p:spPr>
                <a:xfrm>
                  <a:off x="1370457" y="1269873"/>
                  <a:ext cx="538124" cy="153390"/>
                </a:xfrm>
                <a:prstGeom prst="roundRect">
                  <a:avLst>
                    <a:gd name="adj" fmla="val 13114"/>
                  </a:avLst>
                </a:prstGeom>
                <a:solidFill>
                  <a:srgbClr val="FFFFFF"/>
                </a:solidFill>
                <a:ln w="3017">
                  <a:solidFill>
                    <a:srgbClr val="CDD7D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47" name="newton_label_0" descr="Editable text; source id newton_label_0"/>
                <p:cNvSpPr txBox="1"/>
                <p:nvPr/>
              </p:nvSpPr>
              <p:spPr>
                <a:xfrm>
                  <a:off x="1441283" y="1301777"/>
                  <a:ext cx="394766" cy="9678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2126" anchorCtr="0" vertOverflow="overflow">
                  <a:noAutofit/>
                </a:bodyPr>
                <a:lstStyle/>
                <a:p>
                  <a:pPr algn="l" fontAlgn="base">
                    <a:lnSpc>
                      <a:spcPts val="72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3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3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Newton in u</a:t>
                  </a:r>
                </a:p>
              </p:txBody>
            </p:sp>
          </p:grpSp>
          <p:grpSp>
            <p:nvGrpSpPr>
              <p:cNvPr id="292" name="bisection" descr="bisection"/>
              <p:cNvGrpSpPr/>
              <p:nvPr/>
            </p:nvGrpSpPr>
            <p:grpSpPr>
              <a:xfrm>
                <a:off x="2212848" y="1269873"/>
                <a:ext cx="621106" cy="153390"/>
                <a:chOff x="2212848" y="1269873"/>
                <a:chExt cx="621106" cy="153390"/>
              </a:xfrm>
            </p:grpSpPr>
            <p:sp>
              <p:nvSpPr>
                <p:cNvPr id="148" name="bisection_panel" descr="Editable shape; source id bisection_panel"/>
                <p:cNvSpPr/>
                <p:nvPr/>
              </p:nvSpPr>
              <p:spPr>
                <a:xfrm>
                  <a:off x="2212848" y="1269873"/>
                  <a:ext cx="621106" cy="153390"/>
                </a:xfrm>
                <a:prstGeom prst="roundRect">
                  <a:avLst>
                    <a:gd name="adj" fmla="val 13114"/>
                  </a:avLst>
                </a:prstGeom>
                <a:solidFill>
                  <a:srgbClr val="FFFFFF"/>
                </a:solidFill>
                <a:ln w="3017">
                  <a:solidFill>
                    <a:srgbClr val="CDD7D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49" name="bisection_label_0" descr="Editable text; source id bisection_label_0"/>
                <p:cNvSpPr txBox="1"/>
                <p:nvPr/>
              </p:nvSpPr>
              <p:spPr>
                <a:xfrm>
                  <a:off x="2300873" y="1301777"/>
                  <a:ext cx="441543" cy="9678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2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3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3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Bisection in λ</a:t>
                  </a:r>
                </a:p>
              </p:txBody>
            </p:sp>
          </p:grpSp>
          <p:sp>
            <p:nvSpPr>
              <p:cNvPr id="150" name="newton_to_bisection" descr="Editable line; source id newton_to_bisection"/>
              <p:cNvSpPr/>
              <p:nvPr/>
            </p:nvSpPr>
            <p:spPr>
              <a:xfrm>
                <a:off x="1931213" y="1306336"/>
                <a:ext cx="261518" cy="22631"/>
              </a:xfrm>
              <a:custGeom>
                <a:avLst/>
                <a:gdLst/>
                <a:ahLst/>
                <a:cxnLst/>
                <a:rect l="l" t="t" r="r" b="b"/>
                <a:pathLst>
                  <a:path w="92248" h="7983">
                    <a:moveTo>
                      <a:pt x="0" y="3148"/>
                    </a:moveTo>
                    <a:lnTo>
                      <a:pt x="81604" y="3148"/>
                    </a:lnTo>
                    <a:lnTo>
                      <a:pt x="81604" y="0"/>
                    </a:lnTo>
                    <a:lnTo>
                      <a:pt x="92248" y="3991"/>
                    </a:lnTo>
                    <a:lnTo>
                      <a:pt x="81604" y="7983"/>
                    </a:lnTo>
                    <a:lnTo>
                      <a:pt x="81604" y="4834"/>
                    </a:lnTo>
                    <a:lnTo>
                      <a:pt x="0" y="4834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" name="bisection_to_newton" descr="Editable line; source id bisection_to_newton"/>
              <p:cNvSpPr/>
              <p:nvPr/>
            </p:nvSpPr>
            <p:spPr>
              <a:xfrm>
                <a:off x="1931213" y="1371716"/>
                <a:ext cx="261518" cy="22631"/>
              </a:xfrm>
              <a:custGeom>
                <a:avLst/>
                <a:gdLst/>
                <a:ahLst/>
                <a:cxnLst/>
                <a:rect l="l" t="t" r="r" b="b"/>
                <a:pathLst>
                  <a:path w="92248" h="7983">
                    <a:moveTo>
                      <a:pt x="92248" y="4834"/>
                    </a:moveTo>
                    <a:lnTo>
                      <a:pt x="10644" y="4834"/>
                    </a:lnTo>
                    <a:lnTo>
                      <a:pt x="10644" y="7983"/>
                    </a:lnTo>
                    <a:lnTo>
                      <a:pt x="0" y="3991"/>
                    </a:lnTo>
                    <a:lnTo>
                      <a:pt x="10644" y="0"/>
                    </a:lnTo>
                    <a:lnTo>
                      <a:pt x="10644" y="3148"/>
                    </a:lnTo>
                    <a:lnTo>
                      <a:pt x="92248" y="3148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99" name="conditioning" descr="conditioning"/>
            <p:cNvGrpSpPr/>
            <p:nvPr/>
          </p:nvGrpSpPr>
          <p:grpSpPr>
            <a:xfrm>
              <a:off x="3042665" y="299237"/>
              <a:ext cx="812215" cy="1189405"/>
              <a:chOff x="3042665" y="299237"/>
              <a:chExt cx="812215" cy="1189405"/>
            </a:xfrm>
          </p:grpSpPr>
          <p:sp>
            <p:nvSpPr>
              <p:cNvPr id="152" name="conditioning_panel" descr="Editable shape; source id conditioning_panel"/>
              <p:cNvSpPr/>
              <p:nvPr/>
            </p:nvSpPr>
            <p:spPr>
              <a:xfrm>
                <a:off x="3042665" y="299237"/>
                <a:ext cx="812215" cy="1189405"/>
              </a:xfrm>
              <a:prstGeom prst="roundRect">
                <a:avLst>
                  <a:gd name="adj" fmla="val 2476"/>
                </a:avLst>
              </a:prstGeom>
              <a:solidFill>
                <a:srgbClr val="F6F8F9"/>
              </a:solidFill>
              <a:ln w="3017">
                <a:solidFill>
                  <a:srgbClr val="CDD7D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" name="condition_title" descr="Editable text; source id condition_title"/>
              <p:cNvSpPr txBox="1"/>
              <p:nvPr/>
            </p:nvSpPr>
            <p:spPr>
              <a:xfrm>
                <a:off x="3092317" y="328695"/>
                <a:ext cx="437999" cy="109126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28"/>
                  </a:lnSpc>
                  <a:spcBef>
                    <a:spcPts val="0"/>
                  </a:spcBef>
                  <a:spcAft>
                    <a:spcPts val="0"/>
                  </a:spcAft>
                  <a:defRPr sz="633" b="1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33" b="1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rPr>
                  <a:t>Clip + filter</a:t>
                </a:r>
              </a:p>
            </p:txBody>
          </p:sp>
          <p:cxnSp>
            <p:nvCxnSpPr>
              <p:cNvPr id="154" name="condition_rule" descr="Editable line; source id condition_rule"/>
              <p:cNvCxnSpPr/>
              <p:nvPr/>
            </p:nvCxnSpPr>
            <p:spPr>
              <a:xfrm>
                <a:off x="3092958" y="462686"/>
                <a:ext cx="711631" cy="0"/>
              </a:xfrm>
              <a:prstGeom prst="line">
                <a:avLst/>
              </a:prstGeom>
              <a:ln w="3268" cap="rnd">
                <a:solidFill>
                  <a:srgbClr val="CDD7DC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4" name="filter_first" descr="Editable formula parts and native mathematical delimiters."/>
              <p:cNvGrpSpPr/>
              <p:nvPr/>
            </p:nvGrpSpPr>
            <p:grpSpPr>
              <a:xfrm>
                <a:off x="3186292" y="535873"/>
                <a:ext cx="519174" cy="117388"/>
                <a:chOff x="3186292" y="535873"/>
                <a:chExt cx="519174" cy="117388"/>
              </a:xfrm>
            </p:grpSpPr>
            <p:sp>
              <p:nvSpPr>
                <p:cNvPr id="155" name="filter_first_0" descr="Editable text; source id filter_first_0"/>
                <p:cNvSpPr txBox="1"/>
                <p:nvPr/>
              </p:nvSpPr>
              <p:spPr>
                <a:xfrm>
                  <a:off x="3186292" y="550688"/>
                  <a:ext cx="66621" cy="102573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3543" anchorCtr="0" vertOverflow="overflow">
                  <a:noAutofit/>
                </a:bodyPr>
                <a:lstStyle/>
                <a:p>
                  <a:pPr algn="l" fontAlgn="base">
                    <a:lnSpc>
                      <a:spcPts val="774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7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7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λ̄</a:t>
                  </a:r>
                </a:p>
              </p:txBody>
            </p:sp>
            <p:sp>
              <p:nvSpPr>
                <p:cNvPr id="156" name="filter_first_1" descr="Editable text; source id filter_first_1"/>
                <p:cNvSpPr txBox="1"/>
                <p:nvPr/>
              </p:nvSpPr>
              <p:spPr>
                <a:xfrm>
                  <a:off x="3248661" y="535873"/>
                  <a:ext cx="32601" cy="6914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44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44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*</a:t>
                  </a:r>
                </a:p>
              </p:txBody>
            </p:sp>
            <p:sp>
              <p:nvSpPr>
                <p:cNvPr id="157" name="filter_first_2" descr="Editable text; source id filter_first_2"/>
                <p:cNvSpPr txBox="1"/>
                <p:nvPr/>
              </p:nvSpPr>
              <p:spPr>
                <a:xfrm>
                  <a:off x="3279575" y="550688"/>
                  <a:ext cx="334734" cy="102573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74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7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7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 ← (1−α)</a:t>
                  </a:r>
                </a:p>
              </p:txBody>
            </p:sp>
            <p:sp>
              <p:nvSpPr>
                <p:cNvPr id="158" name="filter_first_3" descr="Editable text; source id filter_first_3"/>
                <p:cNvSpPr txBox="1"/>
                <p:nvPr/>
              </p:nvSpPr>
              <p:spPr>
                <a:xfrm>
                  <a:off x="3610496" y="550688"/>
                  <a:ext cx="66621" cy="102573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3543" anchorCtr="0" vertOverflow="overflow">
                  <a:noAutofit/>
                </a:bodyPr>
                <a:lstStyle/>
                <a:p>
                  <a:pPr algn="l" fontAlgn="base">
                    <a:lnSpc>
                      <a:spcPts val="774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7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7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λ̄</a:t>
                  </a:r>
                </a:p>
              </p:txBody>
            </p:sp>
            <p:sp>
              <p:nvSpPr>
                <p:cNvPr id="159" name="filter_first_4" descr="Editable text; source id filter_first_4"/>
                <p:cNvSpPr txBox="1"/>
                <p:nvPr/>
              </p:nvSpPr>
              <p:spPr>
                <a:xfrm>
                  <a:off x="3672865" y="535873"/>
                  <a:ext cx="32601" cy="6914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44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44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*</a:t>
                  </a:r>
                </a:p>
              </p:txBody>
            </p:sp>
          </p:grpSp>
          <p:grpSp>
            <p:nvGrpSpPr>
              <p:cNvPr id="295" name="filter_second" descr="Editable formula parts and native mathematical delimiters."/>
              <p:cNvGrpSpPr/>
              <p:nvPr/>
            </p:nvGrpSpPr>
            <p:grpSpPr>
              <a:xfrm>
                <a:off x="3211114" y="664118"/>
                <a:ext cx="471656" cy="117388"/>
                <a:chOff x="3211114" y="664118"/>
                <a:chExt cx="471656" cy="117388"/>
              </a:xfrm>
            </p:grpSpPr>
            <p:sp>
              <p:nvSpPr>
                <p:cNvPr id="160" name="filter_second_0" descr="Editable text; source id filter_second_0"/>
                <p:cNvSpPr txBox="1"/>
                <p:nvPr/>
              </p:nvSpPr>
              <p:spPr>
                <a:xfrm>
                  <a:off x="3211114" y="678933"/>
                  <a:ext cx="311135" cy="102573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74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7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7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+ α min(</a:t>
                  </a:r>
                </a:p>
              </p:txBody>
            </p:sp>
            <p:sp>
              <p:nvSpPr>
                <p:cNvPr id="161" name="filter_second_1" descr="Editable text; source id filter_second_1"/>
                <p:cNvSpPr txBox="1"/>
                <p:nvPr/>
              </p:nvSpPr>
              <p:spPr>
                <a:xfrm>
                  <a:off x="3518436" y="678933"/>
                  <a:ext cx="45536" cy="102573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3543" anchorCtr="0" vertOverflow="overflow">
                  <a:noAutofit/>
                </a:bodyPr>
                <a:lstStyle/>
                <a:p>
                  <a:pPr algn="l" fontAlgn="base">
                    <a:lnSpc>
                      <a:spcPts val="774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7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7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λ</a:t>
                  </a:r>
                </a:p>
              </p:txBody>
            </p:sp>
            <p:sp>
              <p:nvSpPr>
                <p:cNvPr id="162" name="filter_second_2" descr="Editable text; source id filter_second_2"/>
                <p:cNvSpPr txBox="1"/>
                <p:nvPr/>
              </p:nvSpPr>
              <p:spPr>
                <a:xfrm>
                  <a:off x="3559720" y="664118"/>
                  <a:ext cx="32601" cy="6914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44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44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*</a:t>
                  </a:r>
                </a:p>
              </p:txBody>
            </p:sp>
            <p:sp>
              <p:nvSpPr>
                <p:cNvPr id="163" name="filter_second_3" descr="Editable text; source id filter_second_3"/>
                <p:cNvSpPr txBox="1"/>
                <p:nvPr/>
              </p:nvSpPr>
              <p:spPr>
                <a:xfrm>
                  <a:off x="3590635" y="678933"/>
                  <a:ext cx="92135" cy="102573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74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7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7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,c)</a:t>
                  </a:r>
                </a:p>
              </p:txBody>
            </p:sp>
          </p:grpSp>
          <p:grpSp>
            <p:nvGrpSpPr>
              <p:cNvPr id="298" name="clip" descr="clip"/>
              <p:cNvGrpSpPr/>
              <p:nvPr/>
            </p:nvGrpSpPr>
            <p:grpSpPr>
              <a:xfrm>
                <a:off x="3095638" y="942975"/>
                <a:ext cx="676965" cy="480737"/>
                <a:chOff x="3095638" y="942975"/>
                <a:chExt cx="676965" cy="480737"/>
              </a:xfrm>
            </p:grpSpPr>
            <p:sp>
              <p:nvSpPr>
                <p:cNvPr id="164" name="clip_x" descr="Editable line; source id clip_x"/>
                <p:cNvSpPr/>
                <p:nvPr/>
              </p:nvSpPr>
              <p:spPr>
                <a:xfrm>
                  <a:off x="3168396" y="1281190"/>
                  <a:ext cx="583387" cy="226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784" h="7983">
                      <a:moveTo>
                        <a:pt x="0" y="3326"/>
                      </a:moveTo>
                      <a:lnTo>
                        <a:pt x="195140" y="3326"/>
                      </a:lnTo>
                      <a:lnTo>
                        <a:pt x="195140" y="0"/>
                      </a:lnTo>
                      <a:lnTo>
                        <a:pt x="205784" y="3991"/>
                      </a:lnTo>
                      <a:lnTo>
                        <a:pt x="195140" y="7983"/>
                      </a:lnTo>
                      <a:lnTo>
                        <a:pt x="195140" y="4656"/>
                      </a:lnTo>
                      <a:lnTo>
                        <a:pt x="0" y="4656"/>
                      </a:lnTo>
                      <a:close/>
                    </a:path>
                  </a:pathLst>
                </a:custGeom>
                <a:solidFill>
                  <a:srgbClr val="77858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65" name="clip_y" descr="Editable line; source id clip_y"/>
                <p:cNvSpPr/>
                <p:nvPr/>
              </p:nvSpPr>
              <p:spPr>
                <a:xfrm>
                  <a:off x="3157079" y="942975"/>
                  <a:ext cx="22634" cy="349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4" h="123293">
                      <a:moveTo>
                        <a:pt x="3327" y="123293"/>
                      </a:moveTo>
                      <a:lnTo>
                        <a:pt x="3327" y="10644"/>
                      </a:lnTo>
                      <a:lnTo>
                        <a:pt x="0" y="10644"/>
                      </a:lnTo>
                      <a:lnTo>
                        <a:pt x="3992" y="0"/>
                      </a:lnTo>
                      <a:lnTo>
                        <a:pt x="7984" y="10644"/>
                      </a:lnTo>
                      <a:lnTo>
                        <a:pt x="4657" y="10644"/>
                      </a:lnTo>
                      <a:lnTo>
                        <a:pt x="4657" y="123293"/>
                      </a:lnTo>
                      <a:close/>
                    </a:path>
                  </a:pathLst>
                </a:custGeom>
                <a:solidFill>
                  <a:srgbClr val="77858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grpSp>
              <p:nvGrpSpPr>
                <p:cNvPr id="296" name="clip_curve" descr="One editable routed connector; fixed endpoints."/>
                <p:cNvGrpSpPr/>
                <p:nvPr/>
              </p:nvGrpSpPr>
              <p:grpSpPr>
                <a:xfrm>
                  <a:off x="3185998" y="1030357"/>
                  <a:ext cx="513280" cy="249574"/>
                  <a:chOff x="3185998" y="1030357"/>
                  <a:chExt cx="513280" cy="249574"/>
                </a:xfrm>
              </p:grpSpPr>
              <p:cxnSp>
                <p:nvCxnSpPr>
                  <p:cNvPr id="166" name="clip_curve_0" descr="Editable line; source id clip_curve_0"/>
                  <p:cNvCxnSpPr/>
                  <p:nvPr/>
                </p:nvCxnSpPr>
                <p:spPr>
                  <a:xfrm flipV="1">
                    <a:off x="3185998" y="1030357"/>
                    <a:ext cx="332430" cy="249574"/>
                  </a:xfrm>
                  <a:prstGeom prst="line">
                    <a:avLst/>
                  </a:prstGeom>
                  <a:ln w="7543" cap="rnd">
                    <a:solidFill>
                      <a:srgbClr val="007F85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7" name="clip_curve_1" descr="Editable line; source id clip_curve_1"/>
                  <p:cNvCxnSpPr/>
                  <p:nvPr/>
                </p:nvCxnSpPr>
                <p:spPr>
                  <a:xfrm>
                    <a:off x="3518428" y="1030357"/>
                    <a:ext cx="180850" cy="0"/>
                  </a:xfrm>
                  <a:prstGeom prst="line">
                    <a:avLst/>
                  </a:prstGeom>
                  <a:ln w="7543" cap="rnd">
                    <a:solidFill>
                      <a:srgbClr val="007F85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68" name="clip_capline" descr="Editable line; source id clip_capline"/>
                <p:cNvCxnSpPr/>
                <p:nvPr/>
              </p:nvCxnSpPr>
              <p:spPr>
                <a:xfrm>
                  <a:off x="3180969" y="1030357"/>
                  <a:ext cx="296622" cy="0"/>
                </a:xfrm>
                <a:prstGeom prst="line">
                  <a:avLst/>
                </a:prstGeom>
                <a:ln w="4023" cap="rnd">
                  <a:solidFill>
                    <a:srgbClr val="B78129"/>
                  </a:solidFill>
                  <a:custDash>
                    <a:ds d="375000" sp="312500"/>
                  </a:custDash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9" name="clip_cap_0" descr="Editable text; source id clip_cap_0"/>
                <p:cNvSpPr txBox="1"/>
                <p:nvPr/>
              </p:nvSpPr>
              <p:spPr>
                <a:xfrm>
                  <a:off x="3095638" y="978891"/>
                  <a:ext cx="38980" cy="93897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0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1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1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grpSp>
              <p:nvGrpSpPr>
                <p:cNvPr id="297" name="clip_raw" descr="Editable formula parts and native mathematical delimiters."/>
                <p:cNvGrpSpPr/>
                <p:nvPr/>
              </p:nvGrpSpPr>
              <p:grpSpPr>
                <a:xfrm>
                  <a:off x="3702693" y="1313105"/>
                  <a:ext cx="69910" cy="110607"/>
                  <a:chOff x="3702693" y="1313105"/>
                  <a:chExt cx="69910" cy="110607"/>
                </a:xfrm>
              </p:grpSpPr>
              <p:sp>
                <p:nvSpPr>
                  <p:cNvPr id="170" name="clip_raw_0" descr="Editable text; source id clip_raw_0"/>
                  <p:cNvSpPr txBox="1"/>
                  <p:nvPr/>
                </p:nvSpPr>
                <p:spPr>
                  <a:xfrm>
                    <a:off x="3702693" y="1326923"/>
                    <a:ext cx="43354" cy="96789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3543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728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633" b="0" i="1" lang="zh-CN" dirty="0">
                        <a:solidFill>
                          <a:srgbClr val="007F85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633" b="0" i="1" lang="zh-CN" dirty="0">
                        <a:solidFill>
                          <a:srgbClr val="007F85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λ</a:t>
                    </a:r>
                  </a:p>
                </p:txBody>
              </p:sp>
              <p:sp>
                <p:nvSpPr>
                  <p:cNvPr id="171" name="clip_raw_1" descr="Editable text; source id clip_raw_1"/>
                  <p:cNvSpPr txBox="1"/>
                  <p:nvPr/>
                </p:nvSpPr>
                <p:spPr>
                  <a:xfrm>
                    <a:off x="3741796" y="1313105"/>
                    <a:ext cx="30807" cy="65327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48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418" b="0" i="0" lang="zh-CN" dirty="0">
                        <a:solidFill>
                          <a:srgbClr val="007F85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418" b="0" i="0" lang="zh-CN" dirty="0">
                        <a:solidFill>
                          <a:srgbClr val="007F85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*</a:t>
                    </a:r>
                  </a:p>
                </p:txBody>
              </p:sp>
            </p:grpSp>
          </p:grpSp>
        </p:grpSp>
        <p:sp>
          <p:nvSpPr>
            <p:cNvPr id="172" name="solve_to_condition" descr="Editable line; source id solve_to_condition"/>
            <p:cNvSpPr/>
            <p:nvPr/>
          </p:nvSpPr>
          <p:spPr>
            <a:xfrm>
              <a:off x="2924480" y="954292"/>
              <a:ext cx="98069" cy="22631"/>
            </a:xfrm>
            <a:custGeom>
              <a:avLst/>
              <a:gdLst/>
              <a:ahLst/>
              <a:cxnLst/>
              <a:rect l="l" t="t" r="r" b="b"/>
              <a:pathLst>
                <a:path w="34593" h="7983">
                  <a:moveTo>
                    <a:pt x="0" y="2882"/>
                  </a:moveTo>
                  <a:lnTo>
                    <a:pt x="23949" y="2882"/>
                  </a:lnTo>
                  <a:lnTo>
                    <a:pt x="23949" y="0"/>
                  </a:lnTo>
                  <a:lnTo>
                    <a:pt x="34593" y="3991"/>
                  </a:lnTo>
                  <a:lnTo>
                    <a:pt x="23949" y="7983"/>
                  </a:lnTo>
                  <a:lnTo>
                    <a:pt x="23949" y="5100"/>
                  </a:lnTo>
                  <a:lnTo>
                    <a:pt x="0" y="5100"/>
                  </a:lnTo>
                  <a:close/>
                </a:path>
              </a:pathLst>
            </a:custGeom>
            <a:solidFill>
              <a:srgbClr val="007F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300" name="raw_price_label" descr="Editable formula parts and native mathematical delimiters."/>
            <p:cNvGrpSpPr/>
            <p:nvPr/>
          </p:nvGrpSpPr>
          <p:grpSpPr>
            <a:xfrm>
              <a:off x="2935740" y="810185"/>
              <a:ext cx="69910" cy="110607"/>
              <a:chOff x="2935740" y="810185"/>
              <a:chExt cx="69910" cy="110607"/>
            </a:xfrm>
          </p:grpSpPr>
          <p:sp>
            <p:nvSpPr>
              <p:cNvPr id="173" name="raw_price_label_0" descr="Editable text; source id raw_price_label_0"/>
              <p:cNvSpPr txBox="1"/>
              <p:nvPr/>
            </p:nvSpPr>
            <p:spPr>
              <a:xfrm>
                <a:off x="2935740" y="824003"/>
                <a:ext cx="43354" cy="96789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3543" anchorCtr="0" vertOverflow="overflow">
                <a:noAutofit/>
              </a:bodyPr>
              <a:lstStyle/>
              <a:p>
                <a:pPr algn="l" fontAlgn="base">
                  <a:lnSpc>
                    <a:spcPts val="728"/>
                  </a:lnSpc>
                  <a:spcBef>
                    <a:spcPts val="0"/>
                  </a:spcBef>
                  <a:spcAft>
                    <a:spcPts val="0"/>
                  </a:spcAft>
                  <a:defRPr sz="633" b="0" i="1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33" b="0" i="1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174" name="raw_price_label_1" descr="Editable text; source id raw_price_label_1"/>
              <p:cNvSpPr txBox="1"/>
              <p:nvPr/>
            </p:nvSpPr>
            <p:spPr>
              <a:xfrm>
                <a:off x="2974843" y="810185"/>
                <a:ext cx="30807" cy="65327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480"/>
                  </a:lnSpc>
                  <a:spcBef>
                    <a:spcPts val="0"/>
                  </a:spcBef>
                  <a:spcAft>
                    <a:spcPts val="0"/>
                  </a:spcAft>
                  <a:defRPr sz="418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18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*</a:t>
                </a:r>
              </a:p>
            </p:txBody>
          </p:sp>
        </p:grpSp>
        <p:grpSp>
          <p:nvGrpSpPr>
            <p:cNvPr id="302" name="cost_feedback" descr="cost feedback"/>
            <p:cNvGrpSpPr/>
            <p:nvPr/>
          </p:nvGrpSpPr>
          <p:grpSpPr>
            <a:xfrm>
              <a:off x="1227124" y="1601800"/>
              <a:ext cx="1704898" cy="372160"/>
              <a:chOff x="1227124" y="1601800"/>
              <a:chExt cx="1704898" cy="372160"/>
            </a:xfrm>
          </p:grpSpPr>
          <p:sp>
            <p:nvSpPr>
              <p:cNvPr id="175" name="cost_feedback_panel" descr="Editable shape; source id cost_feedback_panel"/>
              <p:cNvSpPr/>
              <p:nvPr/>
            </p:nvSpPr>
            <p:spPr>
              <a:xfrm>
                <a:off x="1227124" y="1601800"/>
                <a:ext cx="1704898" cy="372160"/>
              </a:xfrm>
              <a:prstGeom prst="roundRect">
                <a:avLst>
                  <a:gd name="adj" fmla="val 5405"/>
                </a:avLst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" name="feedback_title" descr="Editable text; source id feedback_title"/>
              <p:cNvSpPr txBox="1"/>
              <p:nvPr/>
            </p:nvSpPr>
            <p:spPr>
              <a:xfrm>
                <a:off x="1276776" y="1623714"/>
                <a:ext cx="896552" cy="109126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28"/>
                  </a:lnSpc>
                  <a:spcBef>
                    <a:spcPts val="0"/>
                  </a:spcBef>
                  <a:spcAft>
                    <a:spcPts val="0"/>
                  </a:spcAft>
                  <a:defRPr sz="633" b="1" i="0" lang="zh-CN" dirty="0">
                    <a:solidFill>
                      <a:srgbClr val="B78129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33" b="1" i="0" lang="zh-CN" dirty="0">
                    <a:solidFill>
                      <a:srgbClr val="B78129"/>
                    </a:solidFill>
                    <a:latin typeface="Liberation Sans"/>
                    <a:ea typeface="Liberation Sans"/>
                    <a:cs typeface="Liberation Sans"/>
                  </a:rPr>
                  <a:t>Episode-cost feedback</a:t>
                </a:r>
              </a:p>
            </p:txBody>
          </p:sp>
          <p:grpSp>
            <p:nvGrpSpPr>
              <p:cNvPr id="301" name="feedback_equation" descr="Editable formula parts and native mathematical delimiters."/>
              <p:cNvGrpSpPr/>
              <p:nvPr/>
            </p:nvGrpSpPr>
            <p:grpSpPr>
              <a:xfrm>
                <a:off x="1647754" y="1785745"/>
                <a:ext cx="860998" cy="118398"/>
                <a:chOff x="1647754" y="1785745"/>
                <a:chExt cx="860998" cy="118398"/>
              </a:xfrm>
            </p:grpSpPr>
            <p:sp>
              <p:nvSpPr>
                <p:cNvPr id="177" name="feedback_equation_0" descr="Editable text; source id feedback_equation_0"/>
                <p:cNvSpPr txBox="1"/>
                <p:nvPr/>
              </p:nvSpPr>
              <p:spPr>
                <a:xfrm>
                  <a:off x="1647754" y="1785745"/>
                  <a:ext cx="51029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2834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β</a:t>
                  </a:r>
                </a:p>
              </p:txBody>
            </p:sp>
            <p:sp>
              <p:nvSpPr>
                <p:cNvPr id="178" name="feedback_equation_1" descr="Editable text; source id feedback_equation_1"/>
                <p:cNvSpPr txBox="1"/>
                <p:nvPr/>
              </p:nvSpPr>
              <p:spPr>
                <a:xfrm>
                  <a:off x="1694531" y="1833091"/>
                  <a:ext cx="33310" cy="710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2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7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7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sp>
              <p:nvSpPr>
                <p:cNvPr id="179" name="feedback_equation_2" descr="Editable text; source id feedback_equation_2"/>
                <p:cNvSpPr txBox="1"/>
                <p:nvPr/>
              </p:nvSpPr>
              <p:spPr>
                <a:xfrm>
                  <a:off x="1726230" y="1785745"/>
                  <a:ext cx="165844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 ← [</a:t>
                  </a:r>
                </a:p>
              </p:txBody>
            </p:sp>
            <p:sp>
              <p:nvSpPr>
                <p:cNvPr id="180" name="feedback_equation_3" descr="Editable text; source id feedback_equation_3"/>
                <p:cNvSpPr txBox="1"/>
                <p:nvPr/>
              </p:nvSpPr>
              <p:spPr>
                <a:xfrm>
                  <a:off x="1889044" y="1785745"/>
                  <a:ext cx="51029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2834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β</a:t>
                  </a:r>
                </a:p>
              </p:txBody>
            </p:sp>
            <p:sp>
              <p:nvSpPr>
                <p:cNvPr id="181" name="feedback_equation_4" descr="Editable text; source id feedback_equation_4"/>
                <p:cNvSpPr txBox="1"/>
                <p:nvPr/>
              </p:nvSpPr>
              <p:spPr>
                <a:xfrm>
                  <a:off x="1935821" y="1833091"/>
                  <a:ext cx="33310" cy="710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2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7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7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sp>
              <p:nvSpPr>
                <p:cNvPr id="182" name="feedback_equation_5" descr="Editable text; source id feedback_equation_5"/>
                <p:cNvSpPr txBox="1"/>
                <p:nvPr/>
              </p:nvSpPr>
              <p:spPr>
                <a:xfrm>
                  <a:off x="1967520" y="1785745"/>
                  <a:ext cx="184980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 + η(</a:t>
                  </a:r>
                </a:p>
              </p:txBody>
            </p:sp>
            <p:sp>
              <p:nvSpPr>
                <p:cNvPr id="183" name="feedback_equation_6" descr="Editable text; source id feedback_equation_6"/>
                <p:cNvSpPr txBox="1"/>
                <p:nvPr/>
              </p:nvSpPr>
              <p:spPr>
                <a:xfrm>
                  <a:off x="2150888" y="1785745"/>
                  <a:ext cx="50320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J̄</a:t>
                  </a:r>
                </a:p>
              </p:txBody>
            </p:sp>
            <p:sp>
              <p:nvSpPr>
                <p:cNvPr id="184" name="feedback_equation_7" descr="Editable text; source id feedback_equation_7"/>
                <p:cNvSpPr txBox="1"/>
                <p:nvPr/>
              </p:nvSpPr>
              <p:spPr>
                <a:xfrm>
                  <a:off x="2196956" y="1833091"/>
                  <a:ext cx="33310" cy="710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2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7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7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sp>
              <p:nvSpPr>
                <p:cNvPr id="185" name="feedback_equation_8" descr="Editable text; source id feedback_equation_8"/>
                <p:cNvSpPr txBox="1"/>
                <p:nvPr/>
              </p:nvSpPr>
              <p:spPr>
                <a:xfrm>
                  <a:off x="2228655" y="1785745"/>
                  <a:ext cx="97894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 − </a:t>
                  </a:r>
                </a:p>
              </p:txBody>
            </p:sp>
            <p:sp>
              <p:nvSpPr>
                <p:cNvPr id="186" name="feedback_equation_9" descr="Editable text; source id feedback_equation_9"/>
                <p:cNvSpPr txBox="1"/>
                <p:nvPr/>
              </p:nvSpPr>
              <p:spPr>
                <a:xfrm>
                  <a:off x="2324937" y="1785745"/>
                  <a:ext cx="58116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B</a:t>
                  </a:r>
                </a:p>
              </p:txBody>
            </p:sp>
            <p:sp>
              <p:nvSpPr>
                <p:cNvPr id="187" name="feedback_equation_10" descr="Editable text; source id feedback_equation_10"/>
                <p:cNvSpPr txBox="1"/>
                <p:nvPr/>
              </p:nvSpPr>
              <p:spPr>
                <a:xfrm>
                  <a:off x="2378801" y="1833091"/>
                  <a:ext cx="33310" cy="710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2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7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7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sp>
              <p:nvSpPr>
                <p:cNvPr id="188" name="feedback_equation_11" descr="Editable text; source id feedback_equation_11"/>
                <p:cNvSpPr txBox="1"/>
                <p:nvPr/>
              </p:nvSpPr>
              <p:spPr>
                <a:xfrm>
                  <a:off x="2410499" y="1785745"/>
                  <a:ext cx="33554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)</a:t>
                  </a:r>
                </a:p>
              </p:txBody>
            </p:sp>
            <p:sp>
              <p:nvSpPr>
                <p:cNvPr id="189" name="feedback_equation_12" descr="Editable text; source id feedback_equation_12"/>
                <p:cNvSpPr txBox="1"/>
                <p:nvPr/>
              </p:nvSpPr>
              <p:spPr>
                <a:xfrm>
                  <a:off x="2442442" y="1785745"/>
                  <a:ext cx="33554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]</a:t>
                  </a:r>
                </a:p>
              </p:txBody>
            </p:sp>
            <p:sp>
              <p:nvSpPr>
                <p:cNvPr id="190" name="feedback_equation_13" descr="Editable text; source id feedback_equation_13"/>
                <p:cNvSpPr txBox="1"/>
                <p:nvPr/>
              </p:nvSpPr>
              <p:spPr>
                <a:xfrm>
                  <a:off x="2471743" y="1833091"/>
                  <a:ext cx="37009" cy="710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2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7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7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+</a:t>
                  </a:r>
                </a:p>
              </p:txBody>
            </p:sp>
          </p:grpSp>
        </p:grpSp>
        <p:grpSp>
          <p:nvGrpSpPr>
            <p:cNvPr id="303" name="filtered_to_fusion" descr="One editable routed connector; fixed endpoints."/>
            <p:cNvGrpSpPr/>
            <p:nvPr/>
          </p:nvGrpSpPr>
          <p:grpSpPr>
            <a:xfrm>
              <a:off x="3116845" y="1506245"/>
              <a:ext cx="330671" cy="201168"/>
              <a:chOff x="3116845" y="1506245"/>
              <a:chExt cx="330671" cy="201168"/>
            </a:xfrm>
          </p:grpSpPr>
          <p:cxnSp>
            <p:nvCxnSpPr>
              <p:cNvPr id="191" name="filtered_to_fusion_0" descr="Editable line; source id filtered_to_fusion_0"/>
              <p:cNvCxnSpPr/>
              <p:nvPr/>
            </p:nvCxnSpPr>
            <p:spPr>
              <a:xfrm>
                <a:off x="3447516" y="1506245"/>
                <a:ext cx="0" cy="57836"/>
              </a:xfrm>
              <a:prstGeom prst="line">
                <a:avLst/>
              </a:prstGeom>
              <a:ln w="5783" cap="rnd">
                <a:solidFill>
                  <a:srgbClr val="007F85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filtered_to_fusion_1" descr="Editable line; source id filtered_to_fusion_1"/>
              <p:cNvCxnSpPr/>
              <p:nvPr/>
            </p:nvCxnSpPr>
            <p:spPr>
              <a:xfrm flipH="1">
                <a:off x="3128162" y="1564081"/>
                <a:ext cx="319354" cy="0"/>
              </a:xfrm>
              <a:prstGeom prst="line">
                <a:avLst/>
              </a:prstGeom>
              <a:ln w="5783" cap="rnd">
                <a:solidFill>
                  <a:srgbClr val="007F85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3" name="filtered_to_fusion_2" descr="Editable line; source id filtered_to_fusion_2"/>
              <p:cNvSpPr/>
              <p:nvPr/>
            </p:nvSpPr>
            <p:spPr>
              <a:xfrm>
                <a:off x="3116845" y="1564081"/>
                <a:ext cx="22634" cy="143332"/>
              </a:xfrm>
              <a:custGeom>
                <a:avLst/>
                <a:gdLst/>
                <a:ahLst/>
                <a:cxnLst/>
                <a:rect l="l" t="t" r="r" b="b"/>
                <a:pathLst>
                  <a:path w="7984" h="50559">
                    <a:moveTo>
                      <a:pt x="5012" y="0"/>
                    </a:moveTo>
                    <a:lnTo>
                      <a:pt x="5012" y="39915"/>
                    </a:lnTo>
                    <a:lnTo>
                      <a:pt x="7984" y="39915"/>
                    </a:lnTo>
                    <a:lnTo>
                      <a:pt x="3992" y="50559"/>
                    </a:lnTo>
                    <a:lnTo>
                      <a:pt x="0" y="39915"/>
                    </a:lnTo>
                    <a:lnTo>
                      <a:pt x="2972" y="39915"/>
                    </a:lnTo>
                    <a:lnTo>
                      <a:pt x="2972" y="0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04" name="filtered_price_label" descr="Editable formula parts and native mathematical delimiters."/>
            <p:cNvGrpSpPr/>
            <p:nvPr/>
          </p:nvGrpSpPr>
          <p:grpSpPr>
            <a:xfrm>
              <a:off x="3195812" y="1582057"/>
              <a:ext cx="92845" cy="113998"/>
              <a:chOff x="3195812" y="1582057"/>
              <a:chExt cx="92845" cy="113998"/>
            </a:xfrm>
          </p:grpSpPr>
          <p:sp>
            <p:nvSpPr>
              <p:cNvPr id="194" name="filtered_price_label_0" descr="Editable text; source id filtered_price_label_0"/>
              <p:cNvSpPr txBox="1"/>
              <p:nvPr/>
            </p:nvSpPr>
            <p:spPr>
              <a:xfrm>
                <a:off x="3195812" y="1596374"/>
                <a:ext cx="65203" cy="99681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3543" anchorCtr="0" vertOverflow="overflow">
                <a:noAutofit/>
              </a:bodyPr>
              <a:lstStyle/>
              <a:p>
                <a:pPr algn="l" fontAlgn="base">
                  <a:lnSpc>
                    <a:spcPts val="751"/>
                  </a:lnSpc>
                  <a:spcBef>
                    <a:spcPts val="0"/>
                  </a:spcBef>
                  <a:spcAft>
                    <a:spcPts val="0"/>
                  </a:spcAft>
                  <a:defRPr sz="653" b="0" i="1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53" b="0" i="1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λ̄</a:t>
                </a:r>
              </a:p>
            </p:txBody>
          </p:sp>
          <p:sp>
            <p:nvSpPr>
              <p:cNvPr id="195" name="filtered_price_label_1" descr="Editable text; source id filtered_price_label_1"/>
              <p:cNvSpPr txBox="1"/>
              <p:nvPr/>
            </p:nvSpPr>
            <p:spPr>
              <a:xfrm>
                <a:off x="3256764" y="1582057"/>
                <a:ext cx="31893" cy="67235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495"/>
                  </a:lnSpc>
                  <a:spcBef>
                    <a:spcPts val="0"/>
                  </a:spcBef>
                  <a:spcAft>
                    <a:spcPts val="0"/>
                  </a:spcAft>
                  <a:defRPr sz="431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31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*</a:t>
                </a:r>
              </a:p>
            </p:txBody>
          </p:sp>
        </p:grpSp>
        <p:sp>
          <p:nvSpPr>
            <p:cNvPr id="196" name="beta_to_fusion" descr="Editable line; source id beta_to_fusion"/>
            <p:cNvSpPr/>
            <p:nvPr/>
          </p:nvSpPr>
          <p:spPr>
            <a:xfrm>
              <a:off x="2949626" y="1776566"/>
              <a:ext cx="98069" cy="22629"/>
            </a:xfrm>
            <a:custGeom>
              <a:avLst/>
              <a:gdLst/>
              <a:ahLst/>
              <a:cxnLst/>
              <a:rect l="l" t="t" r="r" b="b"/>
              <a:pathLst>
                <a:path w="34593" h="7982">
                  <a:moveTo>
                    <a:pt x="0" y="2971"/>
                  </a:moveTo>
                  <a:lnTo>
                    <a:pt x="23949" y="2971"/>
                  </a:lnTo>
                  <a:lnTo>
                    <a:pt x="23949" y="0"/>
                  </a:lnTo>
                  <a:lnTo>
                    <a:pt x="34593" y="3991"/>
                  </a:lnTo>
                  <a:lnTo>
                    <a:pt x="23949" y="7982"/>
                  </a:lnTo>
                  <a:lnTo>
                    <a:pt x="23949" y="5011"/>
                  </a:lnTo>
                  <a:lnTo>
                    <a:pt x="0" y="5011"/>
                  </a:lnTo>
                  <a:close/>
                </a:path>
              </a:pathLst>
            </a:custGeom>
            <a:solidFill>
              <a:srgbClr val="B7812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beta_label_0" descr="Editable text; source id beta_label_0"/>
            <p:cNvSpPr txBox="1"/>
            <p:nvPr/>
          </p:nvSpPr>
          <p:spPr>
            <a:xfrm>
              <a:off x="2968170" y="1653433"/>
              <a:ext cx="46067" cy="93897"/>
            </a:xfrm>
            <a:prstGeom prst="rect">
              <a:avLst/>
            </a:prstGeom>
            <a:noFill/>
            <a:effectLst/>
          </p:spPr>
          <p:txBody>
            <a:bodyPr wrap="none" anchor="t" tIns="1417" rIns="0" bIns="0" lIns="2834" anchorCtr="0" vertOverflow="overflow">
              <a:noAutofit/>
            </a:bodyPr>
            <a:lstStyle/>
            <a:p>
              <a:pPr algn="l" fontAlgn="base">
                <a:lnSpc>
                  <a:spcPts val="705"/>
                </a:lnSpc>
                <a:spcBef>
                  <a:spcPts val="0"/>
                </a:spcBef>
                <a:spcAft>
                  <a:spcPts val="0"/>
                </a:spcAft>
                <a:defRPr sz="613" b="0" i="1" lang="zh-CN" dirty="0">
                  <a:solidFill>
                    <a:srgbClr val="B78129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613" b="0" i="1" lang="zh-CN" dirty="0">
                  <a:solidFill>
                    <a:srgbClr val="B78129"/>
                  </a:solidFill>
                  <a:latin typeface="Liberation Serif"/>
                  <a:ea typeface="Liberation Serif"/>
                  <a:cs typeface="Liberation Serif"/>
                </a:rPr>
                <a:t>β</a:t>
              </a:r>
            </a:p>
          </p:txBody>
        </p:sp>
        <p:grpSp>
          <p:nvGrpSpPr>
            <p:cNvPr id="305" name="fusion" descr="fusion"/>
            <p:cNvGrpSpPr/>
            <p:nvPr/>
          </p:nvGrpSpPr>
          <p:grpSpPr>
            <a:xfrm>
              <a:off x="3065297" y="1725015"/>
              <a:ext cx="125730" cy="128665"/>
              <a:chOff x="3065297" y="1725015"/>
              <a:chExt cx="125730" cy="128665"/>
            </a:xfrm>
          </p:grpSpPr>
          <p:sp>
            <p:nvSpPr>
              <p:cNvPr id="198" name="fusion_panel" descr="Editable shape; source id fusion_panel"/>
              <p:cNvSpPr/>
              <p:nvPr/>
            </p:nvSpPr>
            <p:spPr>
              <a:xfrm>
                <a:off x="3065297" y="1725015"/>
                <a:ext cx="125730" cy="125730"/>
              </a:xfrm>
              <a:prstGeom prst="roundRect">
                <a:avLst>
                  <a:gd name="adj" fmla="val 16000"/>
                </a:avLst>
              </a:prstGeom>
              <a:solidFill>
                <a:srgbClr val="FFFFFF"/>
              </a:solidFill>
              <a:ln w="4526">
                <a:solidFill>
                  <a:srgbClr val="007F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" name="fusion_plus" descr="Editable text; source id fusion_plus"/>
              <p:cNvSpPr txBox="1"/>
              <p:nvPr/>
            </p:nvSpPr>
            <p:spPr>
              <a:xfrm>
                <a:off x="3095914" y="1732686"/>
                <a:ext cx="72999" cy="120994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0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712" b="0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rPr>
                  <a:t>+</a:t>
                </a:r>
              </a:p>
            </p:txBody>
          </p:sp>
        </p:grpSp>
        <p:sp>
          <p:nvSpPr>
            <p:cNvPr id="200" name="fusion_to_price" descr="Editable line; source id fusion_to_price"/>
            <p:cNvSpPr/>
            <p:nvPr/>
          </p:nvSpPr>
          <p:spPr>
            <a:xfrm>
              <a:off x="3208630" y="1776566"/>
              <a:ext cx="60350" cy="22629"/>
            </a:xfrm>
            <a:custGeom>
              <a:avLst/>
              <a:gdLst/>
              <a:ahLst/>
              <a:cxnLst/>
              <a:rect l="l" t="t" r="r" b="b"/>
              <a:pathLst>
                <a:path w="21288" h="7982">
                  <a:moveTo>
                    <a:pt x="0" y="2927"/>
                  </a:moveTo>
                  <a:lnTo>
                    <a:pt x="10644" y="2927"/>
                  </a:lnTo>
                  <a:lnTo>
                    <a:pt x="10644" y="0"/>
                  </a:lnTo>
                  <a:lnTo>
                    <a:pt x="21288" y="3991"/>
                  </a:lnTo>
                  <a:lnTo>
                    <a:pt x="10644" y="7982"/>
                  </a:lnTo>
                  <a:lnTo>
                    <a:pt x="10644" y="5055"/>
                  </a:lnTo>
                  <a:lnTo>
                    <a:pt x="0" y="5055"/>
                  </a:lnTo>
                  <a:close/>
                </a:path>
              </a:pathLst>
            </a:custGeom>
            <a:solidFill>
              <a:srgbClr val="007F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306" name="unified_price" descr="Editable formula parts and native mathematical delimiters."/>
            <p:cNvGrpSpPr/>
            <p:nvPr/>
          </p:nvGrpSpPr>
          <p:grpSpPr>
            <a:xfrm>
              <a:off x="3311301" y="1724351"/>
              <a:ext cx="454377" cy="138139"/>
              <a:chOff x="3311301" y="1724351"/>
              <a:chExt cx="454377" cy="138139"/>
            </a:xfrm>
          </p:grpSpPr>
          <p:sp>
            <p:nvSpPr>
              <p:cNvPr id="201" name="unified_price_0" descr="Editable text; source id unified_price_0"/>
              <p:cNvSpPr txBox="1"/>
              <p:nvPr/>
            </p:nvSpPr>
            <p:spPr>
              <a:xfrm>
                <a:off x="3311301" y="1740871"/>
                <a:ext cx="49124" cy="108356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4252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0" i="1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12" b="0" i="1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202" name="unified_price_1" descr="Editable text; source id unified_price_1"/>
              <p:cNvSpPr txBox="1"/>
              <p:nvPr/>
            </p:nvSpPr>
            <p:spPr>
              <a:xfrm>
                <a:off x="3356173" y="1789529"/>
                <a:ext cx="34130" cy="72961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541"/>
                  </a:lnSpc>
                  <a:spcBef>
                    <a:spcPts val="0"/>
                  </a:spcBef>
                  <a:spcAft>
                    <a:spcPts val="0"/>
                  </a:spcAft>
                  <a:defRPr sz="470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70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203" name="unified_price_2" descr="Editable text; source id unified_price_2"/>
              <p:cNvSpPr txBox="1"/>
              <p:nvPr/>
            </p:nvSpPr>
            <p:spPr>
              <a:xfrm>
                <a:off x="3388766" y="1740871"/>
                <a:ext cx="100640" cy="108356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12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 = </a:t>
                </a:r>
              </a:p>
            </p:txBody>
          </p:sp>
          <p:sp>
            <p:nvSpPr>
              <p:cNvPr id="204" name="unified_price_3" descr="Editable text; source id unified_price_3"/>
              <p:cNvSpPr txBox="1"/>
              <p:nvPr/>
            </p:nvSpPr>
            <p:spPr>
              <a:xfrm>
                <a:off x="3485035" y="1740871"/>
                <a:ext cx="71582" cy="108356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4252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0" i="1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12" b="0" i="1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λ̄</a:t>
                </a:r>
              </a:p>
            </p:txBody>
          </p:sp>
          <p:sp>
            <p:nvSpPr>
              <p:cNvPr id="205" name="unified_price_4" descr="Editable text; source id unified_price_4"/>
              <p:cNvSpPr txBox="1"/>
              <p:nvPr/>
            </p:nvSpPr>
            <p:spPr>
              <a:xfrm>
                <a:off x="3552365" y="1789529"/>
                <a:ext cx="34130" cy="72961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541"/>
                  </a:lnSpc>
                  <a:spcBef>
                    <a:spcPts val="0"/>
                  </a:spcBef>
                  <a:spcAft>
                    <a:spcPts val="0"/>
                  </a:spcAft>
                  <a:defRPr sz="470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70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206" name="unified_price_5" descr="Editable text; source id unified_price_5"/>
              <p:cNvSpPr txBox="1"/>
              <p:nvPr/>
            </p:nvSpPr>
            <p:spPr>
              <a:xfrm>
                <a:off x="3552365" y="1724351"/>
                <a:ext cx="34130" cy="72961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541"/>
                  </a:lnSpc>
                  <a:spcBef>
                    <a:spcPts val="0"/>
                  </a:spcBef>
                  <a:spcAft>
                    <a:spcPts val="0"/>
                  </a:spcAft>
                  <a:defRPr sz="470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70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*</a:t>
                </a:r>
              </a:p>
            </p:txBody>
          </p:sp>
          <p:sp>
            <p:nvSpPr>
              <p:cNvPr id="207" name="unified_price_6" descr="Editable text; source id unified_price_6"/>
              <p:cNvSpPr txBox="1"/>
              <p:nvPr/>
            </p:nvSpPr>
            <p:spPr>
              <a:xfrm>
                <a:off x="3584959" y="1740871"/>
                <a:ext cx="100640" cy="108356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12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 + </a:t>
                </a:r>
              </a:p>
            </p:txBody>
          </p:sp>
          <p:sp>
            <p:nvSpPr>
              <p:cNvPr id="208" name="unified_price_7" descr="Editable text; source id unified_price_7"/>
              <p:cNvSpPr txBox="1"/>
              <p:nvPr/>
            </p:nvSpPr>
            <p:spPr>
              <a:xfrm>
                <a:off x="3681937" y="1740871"/>
                <a:ext cx="53864" cy="108356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3543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0" i="1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12" b="0" i="1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β</a:t>
                </a:r>
              </a:p>
            </p:txBody>
          </p:sp>
          <p:sp>
            <p:nvSpPr>
              <p:cNvPr id="209" name="unified_price_8" descr="Editable text; source id unified_price_8"/>
              <p:cNvSpPr txBox="1"/>
              <p:nvPr/>
            </p:nvSpPr>
            <p:spPr>
              <a:xfrm>
                <a:off x="3731548" y="1789529"/>
                <a:ext cx="34130" cy="72961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541"/>
                  </a:lnSpc>
                  <a:spcBef>
                    <a:spcPts val="0"/>
                  </a:spcBef>
                  <a:spcAft>
                    <a:spcPts val="0"/>
                  </a:spcAft>
                  <a:defRPr sz="470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70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</p:grpSp>
        <p:sp>
          <p:nvSpPr>
            <p:cNvPr id="210" name="price_output_label" descr="Editable text; source id price_output_label"/>
            <p:cNvSpPr txBox="1"/>
            <p:nvPr/>
          </p:nvSpPr>
          <p:spPr>
            <a:xfrm>
              <a:off x="3275466" y="1871494"/>
              <a:ext cx="538684" cy="100224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660"/>
                </a:lnSpc>
                <a:spcBef>
                  <a:spcPts val="0"/>
                </a:spcBef>
                <a:spcAft>
                  <a:spcPts val="0"/>
                </a:spcAft>
                <a:defRPr sz="574" b="0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574" b="0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rPr>
                <a:t>one price vector</a:t>
              </a:r>
            </a:p>
          </p:txBody>
        </p:sp>
      </p:grpSp>
      <p:grpSp>
        <p:nvGrpSpPr>
          <p:cNvPr id="315" name="policy_update" descr="policy update"/>
          <p:cNvGrpSpPr/>
          <p:nvPr/>
        </p:nvGrpSpPr>
        <p:grpSpPr>
          <a:xfrm>
            <a:off x="4048505" y="60350"/>
            <a:ext cx="922858" cy="2139924"/>
            <a:chOff x="4048505" y="60350"/>
            <a:chExt cx="922858" cy="2139924"/>
          </a:xfrm>
        </p:grpSpPr>
        <p:sp>
          <p:nvSpPr>
            <p:cNvPr id="211" name="policy_update_panel" descr="Editable shape; source id policy_update_panel"/>
            <p:cNvSpPr/>
            <p:nvPr/>
          </p:nvSpPr>
          <p:spPr>
            <a:xfrm>
              <a:off x="4048505" y="60350"/>
              <a:ext cx="922858" cy="2139924"/>
            </a:xfrm>
            <a:prstGeom prst="roundRect">
              <a:avLst>
                <a:gd name="adj" fmla="val 2179"/>
              </a:avLst>
            </a:prstGeom>
            <a:solidFill>
              <a:srgbClr val="FFFFFF"/>
            </a:solidFill>
            <a:ln w="4274">
              <a:solidFill>
                <a:srgbClr val="536F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2" name="update_title" descr="Editable text; source id update_title"/>
            <p:cNvSpPr txBox="1"/>
            <p:nvPr/>
          </p:nvSpPr>
          <p:spPr>
            <a:xfrm>
              <a:off x="4098157" y="87682"/>
              <a:ext cx="706832" cy="112093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51"/>
                </a:lnSpc>
                <a:spcBef>
                  <a:spcPts val="0"/>
                </a:spcBef>
                <a:spcAft>
                  <a:spcPts val="0"/>
                </a:spcAft>
                <a:defRPr sz="653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53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rPr>
                <a:t>(c)  Policy update</a:t>
              </a:r>
            </a:p>
          </p:txBody>
        </p:sp>
        <p:cxnSp>
          <p:nvCxnSpPr>
            <p:cNvPr id="213" name="update_rule" descr="Editable line; source id update_rule"/>
            <p:cNvCxnSpPr/>
            <p:nvPr/>
          </p:nvCxnSpPr>
          <p:spPr>
            <a:xfrm>
              <a:off x="4098798" y="223799"/>
              <a:ext cx="822274" cy="0"/>
            </a:xfrm>
            <a:prstGeom prst="line">
              <a:avLst/>
            </a:prstGeom>
            <a:ln w="3268" cap="rnd">
              <a:solidFill>
                <a:srgbClr val="CDD7D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1" name="priced_advantage" descr="priced advantage"/>
            <p:cNvGrpSpPr/>
            <p:nvPr/>
          </p:nvGrpSpPr>
          <p:grpSpPr>
            <a:xfrm>
              <a:off x="4098798" y="299237"/>
              <a:ext cx="822274" cy="784555"/>
              <a:chOff x="4098798" y="299237"/>
              <a:chExt cx="822274" cy="784555"/>
            </a:xfrm>
          </p:grpSpPr>
          <p:sp>
            <p:nvSpPr>
              <p:cNvPr id="214" name="priced_advantage_panel" descr="Editable shape; source id priced_advantage_panel"/>
              <p:cNvSpPr/>
              <p:nvPr/>
            </p:nvSpPr>
            <p:spPr>
              <a:xfrm>
                <a:off x="4098798" y="299237"/>
                <a:ext cx="822274" cy="784555"/>
              </a:xfrm>
              <a:prstGeom prst="roundRect">
                <a:avLst>
                  <a:gd name="adj" fmla="val 2564"/>
                </a:avLst>
              </a:prstGeom>
              <a:solidFill>
                <a:srgbClr val="F6F8F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5" name="advantage_title" descr="Editable text; source id advantage_title"/>
              <p:cNvSpPr txBox="1"/>
              <p:nvPr/>
            </p:nvSpPr>
            <p:spPr>
              <a:xfrm>
                <a:off x="4180178" y="325792"/>
                <a:ext cx="665504" cy="106158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05"/>
                  </a:lnSpc>
                  <a:spcBef>
                    <a:spcPts val="0"/>
                  </a:spcBef>
                  <a:spcAft>
                    <a:spcPts val="0"/>
                  </a:spcAft>
                  <a:defRPr sz="613" b="1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13" b="1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rPr>
                  <a:t>Priced advantage</a:t>
                </a:r>
              </a:p>
            </p:txBody>
          </p:sp>
          <p:sp>
            <p:nvSpPr>
              <p:cNvPr id="216" name="advantage_symbol_0" descr="Editable text; source id advantage_symbol_0"/>
              <p:cNvSpPr txBox="1"/>
              <p:nvPr/>
            </p:nvSpPr>
            <p:spPr>
              <a:xfrm>
                <a:off x="4421992" y="519232"/>
                <a:ext cx="166176" cy="117032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7087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Ã =</a:t>
                </a:r>
              </a:p>
            </p:txBody>
          </p:sp>
          <p:grpSp>
            <p:nvGrpSpPr>
              <p:cNvPr id="310" name="advantage" descr="advantage"/>
              <p:cNvGrpSpPr/>
              <p:nvPr/>
            </p:nvGrpSpPr>
            <p:grpSpPr>
              <a:xfrm>
                <a:off x="4141546" y="699438"/>
                <a:ext cx="734263" cy="261730"/>
                <a:chOff x="4141546" y="699438"/>
                <a:chExt cx="734263" cy="261730"/>
              </a:xfrm>
            </p:grpSpPr>
            <p:grpSp>
              <p:nvGrpSpPr>
                <p:cNvPr id="308" name="advantage_num" descr="Editable formula parts and native mathematical delimiters."/>
                <p:cNvGrpSpPr/>
                <p:nvPr/>
              </p:nvGrpSpPr>
              <p:grpSpPr>
                <a:xfrm>
                  <a:off x="4263996" y="699438"/>
                  <a:ext cx="483178" cy="130197"/>
                  <a:chOff x="4263996" y="699438"/>
                  <a:chExt cx="483178" cy="130197"/>
                </a:xfrm>
              </p:grpSpPr>
              <p:sp>
                <p:nvSpPr>
                  <p:cNvPr id="217" name="advantage_num_0" descr="Editable text; source id advantage_num_0"/>
                  <p:cNvSpPr txBox="1"/>
                  <p:nvPr/>
                </p:nvSpPr>
                <p:spPr>
                  <a:xfrm>
                    <a:off x="4263996" y="699438"/>
                    <a:ext cx="68747" cy="105465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6378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796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693" b="0" i="1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693" b="0" i="1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A</a:t>
                    </a:r>
                  </a:p>
                </p:txBody>
              </p:sp>
              <p:sp>
                <p:nvSpPr>
                  <p:cNvPr id="218" name="advantage_num_1" descr="Editable text; source id advantage_num_1"/>
                  <p:cNvSpPr txBox="1"/>
                  <p:nvPr/>
                </p:nvSpPr>
                <p:spPr>
                  <a:xfrm>
                    <a:off x="4328491" y="746784"/>
                    <a:ext cx="23598" cy="71052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525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457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457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r</a:t>
                    </a:r>
                  </a:p>
                </p:txBody>
              </p:sp>
              <p:sp>
                <p:nvSpPr>
                  <p:cNvPr id="219" name="advantage_num_2" descr="Editable text; source id advantage_num_2"/>
                  <p:cNvSpPr txBox="1"/>
                  <p:nvPr/>
                </p:nvSpPr>
                <p:spPr>
                  <a:xfrm>
                    <a:off x="4350478" y="699438"/>
                    <a:ext cx="97894" cy="105465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796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693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693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 − </a:t>
                    </a:r>
                  </a:p>
                </p:txBody>
              </p:sp>
              <p:sp>
                <p:nvSpPr>
                  <p:cNvPr id="220" name="advantage_num_3" descr="Editable text; source id advantage_num_3"/>
                  <p:cNvSpPr txBox="1"/>
                  <p:nvPr/>
                </p:nvSpPr>
                <p:spPr>
                  <a:xfrm>
                    <a:off x="4446760" y="699438"/>
                    <a:ext cx="67330" cy="105465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796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693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693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∑</a:t>
                    </a:r>
                  </a:p>
                </p:txBody>
              </p:sp>
              <p:sp>
                <p:nvSpPr>
                  <p:cNvPr id="221" name="advantage_num_4" descr="Editable text; source id advantage_num_4"/>
                  <p:cNvSpPr txBox="1"/>
                  <p:nvPr/>
                </p:nvSpPr>
                <p:spPr>
                  <a:xfrm>
                    <a:off x="4509838" y="746784"/>
                    <a:ext cx="33310" cy="71052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525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457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457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k</a:t>
                    </a:r>
                  </a:p>
                </p:txBody>
              </p:sp>
              <p:sp>
                <p:nvSpPr>
                  <p:cNvPr id="222" name="advantage_num_5" descr="Editable text; source id advantage_num_5"/>
                  <p:cNvSpPr txBox="1"/>
                  <p:nvPr/>
                </p:nvSpPr>
                <p:spPr>
                  <a:xfrm>
                    <a:off x="4561414" y="699438"/>
                    <a:ext cx="47485" cy="105465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3543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796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693" b="0" i="1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693" b="0" i="1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λ</a:t>
                    </a:r>
                  </a:p>
                </p:txBody>
              </p:sp>
              <p:sp>
                <p:nvSpPr>
                  <p:cNvPr id="223" name="advantage_num_6" descr="Editable text; source id advantage_num_6"/>
                  <p:cNvSpPr txBox="1"/>
                  <p:nvPr/>
                </p:nvSpPr>
                <p:spPr>
                  <a:xfrm>
                    <a:off x="4604647" y="746784"/>
                    <a:ext cx="33310" cy="71052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525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457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457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k</a:t>
                    </a:r>
                  </a:p>
                </p:txBody>
              </p:sp>
              <p:sp>
                <p:nvSpPr>
                  <p:cNvPr id="224" name="advantage_num_7" descr="Editable text; source id advantage_num_7"/>
                  <p:cNvSpPr txBox="1"/>
                  <p:nvPr/>
                </p:nvSpPr>
                <p:spPr>
                  <a:xfrm>
                    <a:off x="4631385" y="699438"/>
                    <a:ext cx="68747" cy="105465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6378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796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693" b="0" i="1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693" b="0" i="1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A</a:t>
                    </a:r>
                  </a:p>
                </p:txBody>
              </p:sp>
              <p:sp>
                <p:nvSpPr>
                  <p:cNvPr id="225" name="advantage_num_8" descr="Editable text; source id advantage_num_8"/>
                  <p:cNvSpPr txBox="1"/>
                  <p:nvPr/>
                </p:nvSpPr>
                <p:spPr>
                  <a:xfrm>
                    <a:off x="4695880" y="746784"/>
                    <a:ext cx="30032" cy="71052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525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457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457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c</a:t>
                    </a:r>
                  </a:p>
                </p:txBody>
              </p:sp>
              <p:sp>
                <p:nvSpPr>
                  <p:cNvPr id="226" name="advantage_num_9" descr="Editable text; source id advantage_num_9"/>
                  <p:cNvSpPr txBox="1"/>
                  <p:nvPr/>
                </p:nvSpPr>
                <p:spPr>
                  <a:xfrm>
                    <a:off x="4721660" y="776801"/>
                    <a:ext cx="25514" cy="52834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382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332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332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k</a:t>
                    </a:r>
                  </a:p>
                </p:txBody>
              </p:sp>
            </p:grpSp>
            <p:cxnSp>
              <p:nvCxnSpPr>
                <p:cNvPr id="227" name="advantage_bar" descr="Editable line; source id advantage_bar"/>
                <p:cNvCxnSpPr/>
                <p:nvPr/>
              </p:nvCxnSpPr>
              <p:spPr>
                <a:xfrm>
                  <a:off x="4141546" y="822274"/>
                  <a:ext cx="734263" cy="0"/>
                </a:xfrm>
                <a:prstGeom prst="line">
                  <a:avLst/>
                </a:prstGeom>
                <a:ln w="4526" cap="rnd">
                  <a:solidFill>
                    <a:srgbClr val="29343E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09" name="advantage_den" descr="Editable formula parts and native mathematical delimiters."/>
                <p:cNvGrpSpPr/>
                <p:nvPr/>
              </p:nvGrpSpPr>
              <p:grpSpPr>
                <a:xfrm>
                  <a:off x="4342322" y="842770"/>
                  <a:ext cx="331487" cy="118398"/>
                  <a:chOff x="4342322" y="842770"/>
                  <a:chExt cx="331487" cy="118398"/>
                </a:xfrm>
              </p:grpSpPr>
              <p:sp>
                <p:nvSpPr>
                  <p:cNvPr id="228" name="advantage_den_0" descr="Editable text; source id advantage_den_0"/>
                  <p:cNvSpPr txBox="1"/>
                  <p:nvPr/>
                </p:nvSpPr>
                <p:spPr>
                  <a:xfrm>
                    <a:off x="4342322" y="842770"/>
                    <a:ext cx="141902" cy="105465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796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693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693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1 + </a:t>
                    </a:r>
                  </a:p>
                </p:txBody>
              </p:sp>
              <p:sp>
                <p:nvSpPr>
                  <p:cNvPr id="229" name="advantage_den_1" descr="Editable text; source id advantage_den_1"/>
                  <p:cNvSpPr txBox="1"/>
                  <p:nvPr/>
                </p:nvSpPr>
                <p:spPr>
                  <a:xfrm>
                    <a:off x="4482612" y="842770"/>
                    <a:ext cx="67330" cy="105465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796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693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693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∑</a:t>
                    </a:r>
                  </a:p>
                </p:txBody>
              </p:sp>
              <p:sp>
                <p:nvSpPr>
                  <p:cNvPr id="230" name="advantage_den_2" descr="Editable text; source id advantage_den_2"/>
                  <p:cNvSpPr txBox="1"/>
                  <p:nvPr/>
                </p:nvSpPr>
                <p:spPr>
                  <a:xfrm>
                    <a:off x="4545690" y="890116"/>
                    <a:ext cx="33310" cy="71052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525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457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457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k</a:t>
                    </a:r>
                  </a:p>
                </p:txBody>
              </p:sp>
              <p:sp>
                <p:nvSpPr>
                  <p:cNvPr id="231" name="advantage_den_3" descr="Editable text; source id advantage_den_3"/>
                  <p:cNvSpPr txBox="1"/>
                  <p:nvPr/>
                </p:nvSpPr>
                <p:spPr>
                  <a:xfrm>
                    <a:off x="4597266" y="842770"/>
                    <a:ext cx="47485" cy="105465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3543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796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693" b="0" i="1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693" b="0" i="1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λ</a:t>
                    </a:r>
                  </a:p>
                </p:txBody>
              </p:sp>
              <p:sp>
                <p:nvSpPr>
                  <p:cNvPr id="232" name="advantage_den_4" descr="Editable text; source id advantage_den_4"/>
                  <p:cNvSpPr txBox="1"/>
                  <p:nvPr/>
                </p:nvSpPr>
                <p:spPr>
                  <a:xfrm>
                    <a:off x="4640499" y="890116"/>
                    <a:ext cx="33310" cy="71052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525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457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457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k</a:t>
                    </a:r>
                  </a:p>
                </p:txBody>
              </p:sp>
            </p:grpSp>
          </p:grpSp>
        </p:grpSp>
        <p:sp>
          <p:nvSpPr>
            <p:cNvPr id="233" name="advantage_to_ppo" descr="Editable line; source id advantage_to_ppo"/>
            <p:cNvSpPr/>
            <p:nvPr/>
          </p:nvSpPr>
          <p:spPr>
            <a:xfrm>
              <a:off x="4497364" y="1101395"/>
              <a:ext cx="22631" cy="201168"/>
            </a:xfrm>
            <a:custGeom>
              <a:avLst/>
              <a:gdLst/>
              <a:ahLst/>
              <a:cxnLst/>
              <a:rect l="l" t="t" r="r" b="b"/>
              <a:pathLst>
                <a:path w="7983" h="70960">
                  <a:moveTo>
                    <a:pt x="5011" y="0"/>
                  </a:moveTo>
                  <a:lnTo>
                    <a:pt x="5011" y="60316"/>
                  </a:lnTo>
                  <a:lnTo>
                    <a:pt x="7983" y="60316"/>
                  </a:lnTo>
                  <a:lnTo>
                    <a:pt x="3991" y="70960"/>
                  </a:lnTo>
                  <a:lnTo>
                    <a:pt x="0" y="60316"/>
                  </a:lnTo>
                  <a:lnTo>
                    <a:pt x="2971" y="60316"/>
                  </a:lnTo>
                  <a:lnTo>
                    <a:pt x="2971" y="0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312" name="optimizer" descr="optimizer"/>
            <p:cNvGrpSpPr/>
            <p:nvPr/>
          </p:nvGrpSpPr>
          <p:grpSpPr>
            <a:xfrm>
              <a:off x="4123944" y="1320164"/>
              <a:ext cx="771982" cy="334441"/>
              <a:chOff x="4123944" y="1320164"/>
              <a:chExt cx="771982" cy="334441"/>
            </a:xfrm>
          </p:grpSpPr>
          <p:sp>
            <p:nvSpPr>
              <p:cNvPr id="234" name="optimizer_panel" descr="Editable shape; source id optimizer_panel"/>
              <p:cNvSpPr/>
              <p:nvPr/>
            </p:nvSpPr>
            <p:spPr>
              <a:xfrm>
                <a:off x="4123944" y="1320164"/>
                <a:ext cx="771982" cy="334441"/>
              </a:xfrm>
              <a:prstGeom prst="roundRect">
                <a:avLst>
                  <a:gd name="adj" fmla="val 6015"/>
                </a:avLst>
              </a:prstGeom>
              <a:solidFill>
                <a:srgbClr val="EDF1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" name="optimizer_name" descr="Editable text; source id optimizer_name"/>
              <p:cNvSpPr txBox="1"/>
              <p:nvPr/>
            </p:nvSpPr>
            <p:spPr>
              <a:xfrm>
                <a:off x="4251051" y="1365166"/>
                <a:ext cx="523756" cy="118027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1" i="0" lang="zh-CN" dirty="0">
                    <a:solidFill>
                      <a:srgbClr val="536F8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93" b="1" i="0" lang="zh-CN" dirty="0">
                    <a:solidFill>
                      <a:srgbClr val="536F8E"/>
                    </a:solidFill>
                    <a:latin typeface="Liberation Sans"/>
                    <a:ea typeface="Liberation Sans"/>
                    <a:cs typeface="Liberation Sans"/>
                  </a:rPr>
                  <a:t>PPO / TRPO</a:t>
                </a:r>
              </a:p>
            </p:txBody>
          </p:sp>
          <p:sp>
            <p:nvSpPr>
              <p:cNvPr id="236" name="optimizer_operation" descr="Editable text; source id optimizer_operation"/>
              <p:cNvSpPr txBox="1"/>
              <p:nvPr/>
            </p:nvSpPr>
            <p:spPr>
              <a:xfrm>
                <a:off x="4318736" y="1495081"/>
                <a:ext cx="388388" cy="106158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05"/>
                  </a:lnSpc>
                  <a:spcBef>
                    <a:spcPts val="0"/>
                  </a:spcBef>
                  <a:spcAft>
                    <a:spcPts val="0"/>
                  </a:spcAft>
                  <a:defRPr sz="613" b="0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13" b="0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rPr>
                  <a:t>policy step</a:t>
                </a:r>
              </a:p>
            </p:txBody>
          </p:sp>
        </p:grpSp>
        <p:sp>
          <p:nvSpPr>
            <p:cNvPr id="237" name="ppo_to_policy" descr="Editable line; source id ppo_to_policy"/>
            <p:cNvSpPr/>
            <p:nvPr/>
          </p:nvSpPr>
          <p:spPr>
            <a:xfrm>
              <a:off x="4497364" y="1672209"/>
              <a:ext cx="22631" cy="128245"/>
            </a:xfrm>
            <a:custGeom>
              <a:avLst/>
              <a:gdLst/>
              <a:ahLst/>
              <a:cxnLst/>
              <a:rect l="l" t="t" r="r" b="b"/>
              <a:pathLst>
                <a:path w="7983" h="45237">
                  <a:moveTo>
                    <a:pt x="5011" y="0"/>
                  </a:moveTo>
                  <a:lnTo>
                    <a:pt x="5011" y="34593"/>
                  </a:lnTo>
                  <a:lnTo>
                    <a:pt x="7983" y="34593"/>
                  </a:lnTo>
                  <a:lnTo>
                    <a:pt x="3991" y="45237"/>
                  </a:lnTo>
                  <a:lnTo>
                    <a:pt x="0" y="34593"/>
                  </a:lnTo>
                  <a:lnTo>
                    <a:pt x="2971" y="34593"/>
                  </a:lnTo>
                  <a:lnTo>
                    <a:pt x="2971" y="0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314" name="updated_policy" descr="updated policy"/>
            <p:cNvGrpSpPr/>
            <p:nvPr/>
          </p:nvGrpSpPr>
          <p:grpSpPr>
            <a:xfrm>
              <a:off x="4292422" y="1818055"/>
              <a:ext cx="435025" cy="213741"/>
              <a:chOff x="4292422" y="1818055"/>
              <a:chExt cx="435025" cy="213741"/>
            </a:xfrm>
          </p:grpSpPr>
          <p:sp>
            <p:nvSpPr>
              <p:cNvPr id="238" name="updated_policy_panel" descr="Editable shape; source id updated_policy_panel"/>
              <p:cNvSpPr/>
              <p:nvPr/>
            </p:nvSpPr>
            <p:spPr>
              <a:xfrm>
                <a:off x="4292422" y="1818055"/>
                <a:ext cx="435025" cy="213741"/>
              </a:xfrm>
              <a:prstGeom prst="roundRect">
                <a:avLst>
                  <a:gd name="adj" fmla="val 9411"/>
                </a:avLst>
              </a:prstGeom>
              <a:solidFill>
                <a:srgbClr val="FFFFFF"/>
              </a:solidFill>
              <a:ln w="3771">
                <a:solidFill>
                  <a:srgbClr val="536F8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313" name="new_policy" descr="Editable formula parts and native mathematical delimiters."/>
              <p:cNvGrpSpPr/>
              <p:nvPr/>
            </p:nvGrpSpPr>
            <p:grpSpPr>
              <a:xfrm>
                <a:off x="4427550" y="1863261"/>
                <a:ext cx="160352" cy="148804"/>
                <a:chOff x="4427550" y="1863261"/>
                <a:chExt cx="160352" cy="148804"/>
              </a:xfrm>
            </p:grpSpPr>
            <p:sp>
              <p:nvSpPr>
                <p:cNvPr id="239" name="new_policy_0" descr="Editable text; source id new_policy_0"/>
                <p:cNvSpPr txBox="1"/>
                <p:nvPr/>
              </p:nvSpPr>
              <p:spPr>
                <a:xfrm>
                  <a:off x="4427550" y="1863261"/>
                  <a:ext cx="62368" cy="13149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100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871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871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π</a:t>
                  </a:r>
                </a:p>
              </p:txBody>
            </p:sp>
            <p:sp>
              <p:nvSpPr>
                <p:cNvPr id="240" name="new_policy_1" descr="Editable text; source id new_policy_1"/>
                <p:cNvSpPr txBox="1"/>
                <p:nvPr/>
              </p:nvSpPr>
              <p:spPr>
                <a:xfrm>
                  <a:off x="4485667" y="1923835"/>
                  <a:ext cx="102235" cy="88230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66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574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574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t+1</a:t>
                  </a:r>
                </a:p>
              </p:txBody>
            </p:sp>
          </p:grpSp>
        </p:grpSp>
      </p:grpSp>
      <p:sp>
        <p:nvSpPr>
          <p:cNvPr id="241" name="graph_input" descr="Editable line; source id graph_input"/>
          <p:cNvSpPr/>
          <p:nvPr/>
        </p:nvSpPr>
        <p:spPr>
          <a:xfrm>
            <a:off x="1056132" y="1203238"/>
            <a:ext cx="103099" cy="22629"/>
          </a:xfrm>
          <a:custGeom>
            <a:avLst/>
            <a:gdLst/>
            <a:ahLst/>
            <a:cxnLst/>
            <a:rect l="l" t="t" r="r" b="b"/>
            <a:pathLst>
              <a:path w="36367" h="7982">
                <a:moveTo>
                  <a:pt x="0" y="3015"/>
                </a:moveTo>
                <a:lnTo>
                  <a:pt x="25723" y="3015"/>
                </a:lnTo>
                <a:lnTo>
                  <a:pt x="25723" y="0"/>
                </a:lnTo>
                <a:lnTo>
                  <a:pt x="36367" y="3991"/>
                </a:lnTo>
                <a:lnTo>
                  <a:pt x="25723" y="7982"/>
                </a:lnTo>
                <a:lnTo>
                  <a:pt x="25723" y="4967"/>
                </a:lnTo>
                <a:lnTo>
                  <a:pt x="0" y="4967"/>
                </a:lnTo>
                <a:close/>
              </a:path>
            </a:pathLst>
          </a:custGeom>
          <a:solidFill>
            <a:srgbClr val="536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16" name="episode_input" descr="One editable routed connector; fixed endpoints."/>
          <p:cNvGrpSpPr/>
          <p:nvPr/>
        </p:nvGrpSpPr>
        <p:grpSpPr>
          <a:xfrm>
            <a:off x="1056132" y="1776566"/>
            <a:ext cx="103099" cy="114413"/>
            <a:chOff x="1056132" y="1776566"/>
            <a:chExt cx="103099" cy="114413"/>
          </a:xfrm>
        </p:grpSpPr>
        <p:cxnSp>
          <p:nvCxnSpPr>
            <p:cNvPr id="242" name="episode_input_0" descr="Editable line; source id episode_input_0"/>
            <p:cNvCxnSpPr/>
            <p:nvPr/>
          </p:nvCxnSpPr>
          <p:spPr>
            <a:xfrm>
              <a:off x="1056132" y="1890979"/>
              <a:ext cx="57835" cy="0"/>
            </a:xfrm>
            <a:prstGeom prst="line">
              <a:avLst/>
            </a:prstGeom>
            <a:ln w="5532" cap="rnd">
              <a:solidFill>
                <a:srgbClr val="B7812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episode_input_1" descr="Editable line; source id episode_input_1"/>
            <p:cNvCxnSpPr/>
            <p:nvPr/>
          </p:nvCxnSpPr>
          <p:spPr>
            <a:xfrm flipV="1">
              <a:off x="1113967" y="1787880"/>
              <a:ext cx="0" cy="103099"/>
            </a:xfrm>
            <a:prstGeom prst="line">
              <a:avLst/>
            </a:prstGeom>
            <a:ln w="5532" cap="rnd">
              <a:solidFill>
                <a:srgbClr val="B7812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4" name="episode_input_2" descr="Editable line; source id episode_input_2"/>
            <p:cNvSpPr/>
            <p:nvPr/>
          </p:nvSpPr>
          <p:spPr>
            <a:xfrm>
              <a:off x="1113968" y="1776566"/>
              <a:ext cx="45263" cy="22629"/>
            </a:xfrm>
            <a:custGeom>
              <a:avLst/>
              <a:gdLst/>
              <a:ahLst/>
              <a:cxnLst/>
              <a:rect l="l" t="t" r="r" b="b"/>
              <a:pathLst>
                <a:path w="15966" h="7982">
                  <a:moveTo>
                    <a:pt x="0" y="3015"/>
                  </a:moveTo>
                  <a:lnTo>
                    <a:pt x="5322" y="3015"/>
                  </a:lnTo>
                  <a:lnTo>
                    <a:pt x="5322" y="0"/>
                  </a:lnTo>
                  <a:lnTo>
                    <a:pt x="15966" y="3991"/>
                  </a:lnTo>
                  <a:lnTo>
                    <a:pt x="5322" y="7982"/>
                  </a:lnTo>
                  <a:lnTo>
                    <a:pt x="5322" y="4967"/>
                  </a:lnTo>
                  <a:lnTo>
                    <a:pt x="0" y="4967"/>
                  </a:lnTo>
                  <a:close/>
                </a:path>
              </a:pathLst>
            </a:custGeom>
            <a:solidFill>
              <a:srgbClr val="B7812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17" name="price_to_update" descr="One editable routed connector; fixed endpoints."/>
          <p:cNvGrpSpPr/>
          <p:nvPr/>
        </p:nvGrpSpPr>
        <p:grpSpPr>
          <a:xfrm>
            <a:off x="3925290" y="763183"/>
            <a:ext cx="105613" cy="1024697"/>
            <a:chOff x="3925290" y="763183"/>
            <a:chExt cx="105613" cy="1024697"/>
          </a:xfrm>
        </p:grpSpPr>
        <p:cxnSp>
          <p:nvCxnSpPr>
            <p:cNvPr id="245" name="price_to_update_0" descr="Editable line; source id price_to_update_0"/>
            <p:cNvCxnSpPr/>
            <p:nvPr/>
          </p:nvCxnSpPr>
          <p:spPr>
            <a:xfrm>
              <a:off x="3925290" y="1787880"/>
              <a:ext cx="32690" cy="0"/>
            </a:xfrm>
            <a:prstGeom prst="line">
              <a:avLst/>
            </a:prstGeom>
            <a:ln w="6286" cap="rnd">
              <a:solidFill>
                <a:srgbClr val="007F8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price_to_update_1" descr="Editable line; source id price_to_update_1"/>
            <p:cNvCxnSpPr/>
            <p:nvPr/>
          </p:nvCxnSpPr>
          <p:spPr>
            <a:xfrm flipV="1">
              <a:off x="3957980" y="774496"/>
              <a:ext cx="0" cy="1013384"/>
            </a:xfrm>
            <a:prstGeom prst="line">
              <a:avLst/>
            </a:prstGeom>
            <a:ln w="6286" cap="rnd">
              <a:solidFill>
                <a:srgbClr val="007F8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7" name="price_to_update_2" descr="Editable line; source id price_to_update_2"/>
            <p:cNvSpPr/>
            <p:nvPr/>
          </p:nvSpPr>
          <p:spPr>
            <a:xfrm>
              <a:off x="3957980" y="763183"/>
              <a:ext cx="72923" cy="22631"/>
            </a:xfrm>
            <a:custGeom>
              <a:avLst/>
              <a:gdLst/>
              <a:ahLst/>
              <a:cxnLst/>
              <a:rect l="l" t="t" r="r" b="b"/>
              <a:pathLst>
                <a:path w="25723" h="7983">
                  <a:moveTo>
                    <a:pt x="0" y="2882"/>
                  </a:moveTo>
                  <a:lnTo>
                    <a:pt x="15079" y="2882"/>
                  </a:lnTo>
                  <a:lnTo>
                    <a:pt x="15079" y="0"/>
                  </a:lnTo>
                  <a:lnTo>
                    <a:pt x="25723" y="3991"/>
                  </a:lnTo>
                  <a:lnTo>
                    <a:pt x="15079" y="7983"/>
                  </a:lnTo>
                  <a:lnTo>
                    <a:pt x="15079" y="5100"/>
                  </a:lnTo>
                  <a:lnTo>
                    <a:pt x="0" y="5100"/>
                  </a:lnTo>
                  <a:close/>
                </a:path>
              </a:pathLst>
            </a:custGeom>
            <a:solidFill>
              <a:srgbClr val="007F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48" name="price_port_0" descr="Editable text; source id price_port_0"/>
          <p:cNvSpPr txBox="1"/>
          <p:nvPr/>
        </p:nvSpPr>
        <p:spPr>
          <a:xfrm>
            <a:off x="3952679" y="613942"/>
            <a:ext cx="47485" cy="105465"/>
          </a:xfrm>
          <a:prstGeom prst="rect">
            <a:avLst/>
          </a:prstGeom>
          <a:noFill/>
          <a:effectLst/>
        </p:spPr>
        <p:txBody>
          <a:bodyPr wrap="none" anchor="t" tIns="1417" rIns="0" bIns="0" lIns="3543" anchorCtr="0" vertOverflow="overflow">
            <a:noAutofit/>
          </a:bodyPr>
          <a:lstStyle/>
          <a:p>
            <a:pPr algn="l" fontAlgn="base">
              <a:lnSpc>
                <a:spcPts val="796"/>
              </a:lnSpc>
              <a:spcBef>
                <a:spcPts val="0"/>
              </a:spcBef>
              <a:spcAft>
                <a:spcPts val="0"/>
              </a:spcAft>
              <a:defRPr sz="693" b="0" i="1" lang="zh-CN" dirty="0">
                <a:solidFill>
                  <a:srgbClr val="007F85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693" b="0" i="1" lang="zh-CN" dirty="0">
                <a:solidFill>
                  <a:srgbClr val="007F85"/>
                </a:solidFill>
                <a:latin typeface="Liberation Serif"/>
                <a:ea typeface="Liberation Serif"/>
                <a:cs typeface="Liberation Serif"/>
              </a:rPr>
              <a:t>λ</a:t>
            </a:r>
          </a:p>
        </p:txBody>
      </p:sp>
      <p:grpSp>
        <p:nvGrpSpPr>
          <p:cNvPr id="318" name="gae_bypass" descr="One editable routed connector; fixed endpoints."/>
          <p:cNvGrpSpPr/>
          <p:nvPr/>
        </p:nvGrpSpPr>
        <p:grpSpPr>
          <a:xfrm>
            <a:off x="1058646" y="976924"/>
            <a:ext cx="2972258" cy="1137854"/>
            <a:chOff x="1058646" y="976924"/>
            <a:chExt cx="2972258" cy="1137854"/>
          </a:xfrm>
        </p:grpSpPr>
        <p:cxnSp>
          <p:nvCxnSpPr>
            <p:cNvPr id="249" name="gae_bypass_0" descr="Editable line; source id gae_bypass_0"/>
            <p:cNvCxnSpPr/>
            <p:nvPr/>
          </p:nvCxnSpPr>
          <p:spPr>
            <a:xfrm>
              <a:off x="1058646" y="2114778"/>
              <a:ext cx="2926994" cy="0"/>
            </a:xfrm>
            <a:prstGeom prst="line">
              <a:avLst/>
            </a:prstGeom>
            <a:ln w="5280" cap="rnd">
              <a:solidFill>
                <a:srgbClr val="536F8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gae_bypass_1" descr="Editable line; source id gae_bypass_1"/>
            <p:cNvCxnSpPr/>
            <p:nvPr/>
          </p:nvCxnSpPr>
          <p:spPr>
            <a:xfrm flipV="1">
              <a:off x="3985640" y="988237"/>
              <a:ext cx="0" cy="1126541"/>
            </a:xfrm>
            <a:prstGeom prst="line">
              <a:avLst/>
            </a:prstGeom>
            <a:ln w="5280" cap="rnd">
              <a:solidFill>
                <a:srgbClr val="536F8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1" name="gae_bypass_2" descr="Editable line; source id gae_bypass_2"/>
            <p:cNvSpPr/>
            <p:nvPr/>
          </p:nvSpPr>
          <p:spPr>
            <a:xfrm>
              <a:off x="3985641" y="976924"/>
              <a:ext cx="45263" cy="22629"/>
            </a:xfrm>
            <a:custGeom>
              <a:avLst/>
              <a:gdLst/>
              <a:ahLst/>
              <a:cxnLst/>
              <a:rect l="l" t="t" r="r" b="b"/>
              <a:pathLst>
                <a:path w="15966" h="7982">
                  <a:moveTo>
                    <a:pt x="0" y="3060"/>
                  </a:moveTo>
                  <a:lnTo>
                    <a:pt x="5322" y="3060"/>
                  </a:lnTo>
                  <a:lnTo>
                    <a:pt x="5322" y="0"/>
                  </a:lnTo>
                  <a:lnTo>
                    <a:pt x="15966" y="3991"/>
                  </a:lnTo>
                  <a:lnTo>
                    <a:pt x="5322" y="7982"/>
                  </a:lnTo>
                  <a:lnTo>
                    <a:pt x="5322" y="4922"/>
                  </a:lnTo>
                  <a:lnTo>
                    <a:pt x="0" y="4922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19" name="gae_label" descr="Editable formula parts and native mathematical delimiters."/>
          <p:cNvGrpSpPr/>
          <p:nvPr/>
        </p:nvGrpSpPr>
        <p:grpSpPr>
          <a:xfrm>
            <a:off x="2068775" y="2147071"/>
            <a:ext cx="437948" cy="123182"/>
            <a:chOff x="2068775" y="2147071"/>
            <a:chExt cx="437948" cy="123182"/>
          </a:xfrm>
        </p:grpSpPr>
        <p:sp>
          <p:nvSpPr>
            <p:cNvPr id="252" name="gae_label_0" descr="Editable text; source id gae_label_0"/>
            <p:cNvSpPr txBox="1"/>
            <p:nvPr/>
          </p:nvSpPr>
          <p:spPr>
            <a:xfrm>
              <a:off x="2068775" y="2147071"/>
              <a:ext cx="214038" cy="99681"/>
            </a:xfrm>
            <a:prstGeom prst="rect">
              <a:avLst/>
            </a:prstGeom>
            <a:noFill/>
            <a:effectLst/>
          </p:spPr>
          <p:txBody>
            <a:bodyPr wrap="none" anchor="t" tIns="1417" rIns="0" bIns="0" lIns="1417" anchorCtr="0" vertOverflow="overflow">
              <a:noAutofit/>
            </a:bodyPr>
            <a:lstStyle/>
            <a:p>
              <a:pPr algn="l" fontAlgn="base">
                <a:lnSpc>
                  <a:spcPts val="751"/>
                </a:lnSpc>
                <a:spcBef>
                  <a:spcPts val="0"/>
                </a:spcBef>
                <a:spcAft>
                  <a:spcPts val="0"/>
                </a:spcAft>
                <a:defRPr sz="653" b="0" i="1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653" b="0" i="1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rPr>
                <a:t>GAE: </a:t>
              </a:r>
            </a:p>
          </p:txBody>
        </p:sp>
        <p:sp>
          <p:nvSpPr>
            <p:cNvPr id="253" name="gae_label_1" descr="Editable text; source id gae_label_1"/>
            <p:cNvSpPr txBox="1"/>
            <p:nvPr/>
          </p:nvSpPr>
          <p:spPr>
            <a:xfrm>
              <a:off x="2276090" y="2147071"/>
              <a:ext cx="65203" cy="99681"/>
            </a:xfrm>
            <a:prstGeom prst="rect">
              <a:avLst/>
            </a:prstGeom>
            <a:noFill/>
            <a:effectLst/>
          </p:spPr>
          <p:txBody>
            <a:bodyPr wrap="none" anchor="t" tIns="1417" rIns="0" bIns="0" lIns="6378" anchorCtr="0" vertOverflow="overflow">
              <a:noAutofit/>
            </a:bodyPr>
            <a:lstStyle/>
            <a:p>
              <a:pPr algn="l" fontAlgn="base">
                <a:lnSpc>
                  <a:spcPts val="751"/>
                </a:lnSpc>
                <a:spcBef>
                  <a:spcPts val="0"/>
                </a:spcBef>
                <a:spcAft>
                  <a:spcPts val="0"/>
                </a:spcAft>
                <a:defRPr sz="653" b="0" i="1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653" b="0" i="1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rPr>
                <a:t>A</a:t>
              </a:r>
            </a:p>
          </p:txBody>
        </p:sp>
        <p:sp>
          <p:nvSpPr>
            <p:cNvPr id="254" name="gae_label_2" descr="Editable text; source id gae_label_2"/>
            <p:cNvSpPr txBox="1"/>
            <p:nvPr/>
          </p:nvSpPr>
          <p:spPr>
            <a:xfrm>
              <a:off x="2337041" y="2192501"/>
              <a:ext cx="22679" cy="67235"/>
            </a:xfrm>
            <a:prstGeom prst="rect">
              <a:avLst/>
            </a:prstGeom>
            <a:noFill/>
            <a:effectLst/>
          </p:spPr>
          <p:txBody>
            <a:bodyPr wrap="none" anchor="t" tIns="1417" rIns="0" bIns="0" lIns="1417" anchorCtr="0" vertOverflow="overflow">
              <a:noAutofit/>
            </a:bodyPr>
            <a:lstStyle/>
            <a:p>
              <a:pPr algn="l" fontAlgn="base">
                <a:lnSpc>
                  <a:spcPts val="495"/>
                </a:lnSpc>
                <a:spcBef>
                  <a:spcPts val="0"/>
                </a:spcBef>
                <a:spcAft>
                  <a:spcPts val="0"/>
                </a:spcAft>
                <a:defRPr sz="431" b="0" i="0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431" b="0" i="0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rPr>
                <a:t>r</a:t>
              </a:r>
            </a:p>
          </p:txBody>
        </p:sp>
        <p:sp>
          <p:nvSpPr>
            <p:cNvPr id="255" name="gae_label_3" descr="Editable text; source id gae_label_3"/>
            <p:cNvSpPr txBox="1"/>
            <p:nvPr/>
          </p:nvSpPr>
          <p:spPr>
            <a:xfrm>
              <a:off x="2357958" y="2147071"/>
              <a:ext cx="46067" cy="99681"/>
            </a:xfrm>
            <a:prstGeom prst="rect">
              <a:avLst/>
            </a:prstGeom>
            <a:noFill/>
            <a:effectLst/>
          </p:spPr>
          <p:txBody>
            <a:bodyPr wrap="none" anchor="t" tIns="1417" rIns="0" bIns="0" lIns="1417" anchorCtr="0" vertOverflow="overflow">
              <a:noAutofit/>
            </a:bodyPr>
            <a:lstStyle/>
            <a:p>
              <a:pPr algn="l" fontAlgn="base">
                <a:lnSpc>
                  <a:spcPts val="751"/>
                </a:lnSpc>
                <a:spcBef>
                  <a:spcPts val="0"/>
                </a:spcBef>
                <a:spcAft>
                  <a:spcPts val="0"/>
                </a:spcAft>
                <a:defRPr sz="653" b="0" i="0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653" b="0" i="0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rPr>
                <a:t>, </a:t>
              </a:r>
            </a:p>
          </p:txBody>
        </p:sp>
        <p:sp>
          <p:nvSpPr>
            <p:cNvPr id="256" name="gae_label_4" descr="Editable text; source id gae_label_4"/>
            <p:cNvSpPr txBox="1"/>
            <p:nvPr/>
          </p:nvSpPr>
          <p:spPr>
            <a:xfrm>
              <a:off x="2397301" y="2147071"/>
              <a:ext cx="65203" cy="99681"/>
            </a:xfrm>
            <a:prstGeom prst="rect">
              <a:avLst/>
            </a:prstGeom>
            <a:noFill/>
            <a:effectLst/>
          </p:spPr>
          <p:txBody>
            <a:bodyPr wrap="none" anchor="t" tIns="1417" rIns="0" bIns="0" lIns="6378" anchorCtr="0" vertOverflow="overflow">
              <a:noAutofit/>
            </a:bodyPr>
            <a:lstStyle/>
            <a:p>
              <a:pPr algn="l" fontAlgn="base">
                <a:lnSpc>
                  <a:spcPts val="751"/>
                </a:lnSpc>
                <a:spcBef>
                  <a:spcPts val="0"/>
                </a:spcBef>
                <a:spcAft>
                  <a:spcPts val="0"/>
                </a:spcAft>
                <a:defRPr sz="653" b="0" i="1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653" b="0" i="1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rPr>
                <a:t>A</a:t>
              </a:r>
            </a:p>
          </p:txBody>
        </p:sp>
        <p:sp>
          <p:nvSpPr>
            <p:cNvPr id="257" name="gae_label_5" descr="Editable text; source id gae_label_5"/>
            <p:cNvSpPr txBox="1"/>
            <p:nvPr/>
          </p:nvSpPr>
          <p:spPr>
            <a:xfrm>
              <a:off x="2458253" y="2192501"/>
              <a:ext cx="28559" cy="67235"/>
            </a:xfrm>
            <a:prstGeom prst="rect">
              <a:avLst/>
            </a:prstGeom>
            <a:noFill/>
            <a:effectLst/>
          </p:spPr>
          <p:txBody>
            <a:bodyPr wrap="none" anchor="t" tIns="1417" rIns="0" bIns="0" lIns="1417" anchorCtr="0" vertOverflow="overflow">
              <a:noAutofit/>
            </a:bodyPr>
            <a:lstStyle/>
            <a:p>
              <a:pPr algn="l" fontAlgn="base">
                <a:lnSpc>
                  <a:spcPts val="495"/>
                </a:lnSpc>
                <a:spcBef>
                  <a:spcPts val="0"/>
                </a:spcBef>
                <a:spcAft>
                  <a:spcPts val="0"/>
                </a:spcAft>
                <a:defRPr sz="431" b="0" i="0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431" b="0" i="0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rPr>
                <a:t>c</a:t>
              </a:r>
            </a:p>
          </p:txBody>
        </p:sp>
        <p:sp>
          <p:nvSpPr>
            <p:cNvPr id="258" name="gae_label_6" descr="Editable text; source id gae_label_6"/>
            <p:cNvSpPr txBox="1"/>
            <p:nvPr/>
          </p:nvSpPr>
          <p:spPr>
            <a:xfrm>
              <a:off x="2482560" y="2220195"/>
              <a:ext cx="24163" cy="50058"/>
            </a:xfrm>
            <a:prstGeom prst="rect">
              <a:avLst/>
            </a:prstGeom>
            <a:noFill/>
            <a:effectLst/>
          </p:spPr>
          <p:txBody>
            <a:bodyPr wrap="none" anchor="t" tIns="1417" rIns="0" bIns="0" lIns="1417" anchorCtr="0" vertOverflow="overflow">
              <a:noAutofit/>
            </a:bodyPr>
            <a:lstStyle/>
            <a:p>
              <a:pPr algn="l" fontAlgn="base">
                <a:lnSpc>
                  <a:spcPts val="360"/>
                </a:lnSpc>
                <a:spcBef>
                  <a:spcPts val="0"/>
                </a:spcBef>
                <a:spcAft>
                  <a:spcPts val="0"/>
                </a:spcAft>
                <a:defRPr sz="313" b="0" i="0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313" b="0" i="0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rPr>
                <a:t>k</a:t>
              </a:r>
            </a:p>
          </p:txBody>
        </p:sp>
      </p:grpSp>
      <p:grpSp>
        <p:nvGrpSpPr>
          <p:cNvPr id="320" name="next_rollout" descr="One editable routed connector; fixed endpoints."/>
          <p:cNvGrpSpPr/>
          <p:nvPr/>
        </p:nvGrpSpPr>
        <p:grpSpPr>
          <a:xfrm>
            <a:off x="531836" y="2217877"/>
            <a:ext cx="3976841" cy="143333"/>
            <a:chOff x="531836" y="2217877"/>
            <a:chExt cx="3976841" cy="143333"/>
          </a:xfrm>
        </p:grpSpPr>
        <p:cxnSp>
          <p:nvCxnSpPr>
            <p:cNvPr id="259" name="next_rollout_0" descr="Editable line; source id next_rollout_0"/>
            <p:cNvCxnSpPr/>
            <p:nvPr/>
          </p:nvCxnSpPr>
          <p:spPr>
            <a:xfrm>
              <a:off x="4508677" y="2217877"/>
              <a:ext cx="0" cy="143332"/>
            </a:xfrm>
            <a:prstGeom prst="line">
              <a:avLst/>
            </a:prstGeom>
            <a:ln w="4777" cap="rnd">
              <a:solidFill>
                <a:srgbClr val="536F8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next_rollout_1" descr="Editable line; source id next_rollout_1"/>
            <p:cNvCxnSpPr/>
            <p:nvPr/>
          </p:nvCxnSpPr>
          <p:spPr>
            <a:xfrm flipH="1">
              <a:off x="543153" y="2361209"/>
              <a:ext cx="3965524" cy="0"/>
            </a:xfrm>
            <a:prstGeom prst="line">
              <a:avLst/>
            </a:prstGeom>
            <a:ln w="4777" cap="rnd">
              <a:solidFill>
                <a:srgbClr val="536F8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1" name="next_rollout_2" descr="Editable line; source id next_rollout_2"/>
            <p:cNvSpPr/>
            <p:nvPr/>
          </p:nvSpPr>
          <p:spPr>
            <a:xfrm>
              <a:off x="531836" y="2220392"/>
              <a:ext cx="22634" cy="140818"/>
            </a:xfrm>
            <a:custGeom>
              <a:avLst/>
              <a:gdLst/>
              <a:ahLst/>
              <a:cxnLst/>
              <a:rect l="l" t="t" r="r" b="b"/>
              <a:pathLst>
                <a:path w="7984" h="49672">
                  <a:moveTo>
                    <a:pt x="3149" y="49672"/>
                  </a:moveTo>
                  <a:lnTo>
                    <a:pt x="3149" y="10644"/>
                  </a:lnTo>
                  <a:lnTo>
                    <a:pt x="0" y="10644"/>
                  </a:lnTo>
                  <a:lnTo>
                    <a:pt x="3992" y="0"/>
                  </a:lnTo>
                  <a:lnTo>
                    <a:pt x="7984" y="10644"/>
                  </a:lnTo>
                  <a:lnTo>
                    <a:pt x="4835" y="10644"/>
                  </a:lnTo>
                  <a:lnTo>
                    <a:pt x="4835" y="49672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62" name="next_rollout_label" descr="Editable text; source id next_rollout_label"/>
          <p:cNvSpPr txBox="1"/>
          <p:nvPr/>
        </p:nvSpPr>
        <p:spPr>
          <a:xfrm>
            <a:off x="2324304" y="2387375"/>
            <a:ext cx="389096" cy="103191"/>
          </a:xfrm>
          <a:prstGeom prst="rect">
            <a:avLst/>
          </a:prstGeom>
          <a:noFill/>
          <a:effectLst/>
        </p:spPr>
        <p:txBody>
          <a:bodyPr wrap="none" anchor="t" tIns="5669" rIns="0" bIns="0" lIns="5669" anchorCtr="0" vertOverflow="overflow">
            <a:noAutofit/>
          </a:bodyPr>
          <a:lstStyle/>
          <a:p>
            <a:pPr algn="l" fontAlgn="base">
              <a:lnSpc>
                <a:spcPts val="683"/>
              </a:lnSpc>
              <a:spcBef>
                <a:spcPts val="0"/>
              </a:spcBef>
              <a:spcAft>
                <a:spcPts val="0"/>
              </a:spcAft>
              <a:defRPr sz="594" b="0" i="0" lang="zh-CN" dirty="0">
                <a:solidFill>
                  <a:srgbClr val="536F8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594" b="0" i="0" lang="zh-CN" dirty="0">
                <a:solidFill>
                  <a:srgbClr val="536F8E"/>
                </a:solidFill>
                <a:latin typeface="Liberation Sans"/>
                <a:ea typeface="Liberation Sans"/>
                <a:cs typeface="Liberation Sans"/>
              </a:rPr>
              <a:t>next rollout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