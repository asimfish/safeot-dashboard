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5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6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7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episode cost</a:t>
              </a:r>
            </a:p>
          </p:txBody>
        </p:sp>
        <p:sp>
          <p:nvSpPr>
            <p:cNvPr id="8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22" name="rollout_arrow"/>
            <p:cNvSpPr/>
            <p:nvPr/>
          </p:nvSpPr>
          <p:spPr>
            <a:xfrm>
              <a:off x="292100" y="11430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24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27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34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7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38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49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59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69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285A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71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72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state clusters</a:t>
              </a:r>
            </a:p>
          </p:txBody>
        </p:sp>
        <p:grpSp>
          <p:nvGrpSpPr>
            <p:cNvPr id="73" name="motif_input_graph"/>
            <p:cNvGrpSpPr/>
            <p:nvPr/>
          </p:nvGrpSpPr>
          <p:grpSpPr>
            <a:xfrm>
              <a:off x="804545" y="842644"/>
              <a:ext cx="575310" cy="397511"/>
              <a:chOff x="804545" y="842644"/>
              <a:chExt cx="575310" cy="397511"/>
            </a:xfrm>
          </p:grpSpPr>
          <p:sp>
            <p:nvSpPr>
              <p:cNvPr id="74" name="input_graph_edge0"/>
              <p:cNvSpPr/>
              <p:nvPr/>
            </p:nvSpPr>
            <p:spPr>
              <a:xfrm>
                <a:off x="840242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input_graph_edge1"/>
              <p:cNvSpPr/>
              <p:nvPr/>
            </p:nvSpPr>
            <p:spPr>
              <a:xfrm>
                <a:off x="1022477" y="8636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input_graph_edge2"/>
              <p:cNvSpPr/>
              <p:nvPr/>
            </p:nvSpPr>
            <p:spPr>
              <a:xfrm>
                <a:off x="1197620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input_graph_edge3"/>
              <p:cNvSpPr/>
              <p:nvPr/>
            </p:nvSpPr>
            <p:spPr>
              <a:xfrm>
                <a:off x="840242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input_graph_edge4"/>
              <p:cNvSpPr/>
              <p:nvPr/>
            </p:nvSpPr>
            <p:spPr>
              <a:xfrm>
                <a:off x="1022477" y="12192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input_graph_edge5"/>
              <p:cNvSpPr/>
              <p:nvPr/>
            </p:nvSpPr>
            <p:spPr>
              <a:xfrm>
                <a:off x="1197620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input_graph_node0"/>
              <p:cNvSpPr/>
              <p:nvPr/>
            </p:nvSpPr>
            <p:spPr>
              <a:xfrm>
                <a:off x="8045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input_graph_node1"/>
              <p:cNvSpPr/>
              <p:nvPr/>
            </p:nvSpPr>
            <p:spPr>
              <a:xfrm>
                <a:off x="980566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input_graph_node2"/>
              <p:cNvSpPr/>
              <p:nvPr/>
            </p:nvSpPr>
            <p:spPr>
              <a:xfrm>
                <a:off x="980566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input_graph_node3"/>
              <p:cNvSpPr/>
              <p:nvPr/>
            </p:nvSpPr>
            <p:spPr>
              <a:xfrm>
                <a:off x="1161923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input_graph_node4"/>
              <p:cNvSpPr/>
              <p:nvPr/>
            </p:nvSpPr>
            <p:spPr>
              <a:xfrm>
                <a:off x="1161923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input_graph_node5"/>
              <p:cNvSpPr/>
              <p:nvPr/>
            </p:nvSpPr>
            <p:spPr>
              <a:xfrm>
                <a:off x="13379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transition edges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99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0" name="soft_label"/>
            <p:cNvSpPr txBox="1"/>
            <p:nvPr/>
          </p:nvSpPr>
          <p:spPr>
            <a:xfrm>
              <a:off x="1562100" y="5588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1" name="budget_words"/>
            <p:cNvSpPr txBox="1"/>
            <p:nvPr/>
          </p:nvSpPr>
          <p:spPr>
            <a:xfrm>
              <a:off x="1549400" y="812800"/>
              <a:ext cx="774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cost budgets</a:t>
              </a:r>
            </a:p>
          </p:txBody>
        </p:sp>
        <p:sp>
          <p:nvSpPr>
            <p:cNvPr id="102" name="budget_track0"/>
            <p:cNvSpPr/>
            <p:nvPr/>
          </p:nvSpPr>
          <p:spPr>
            <a:xfrm>
              <a:off x="1663700" y="1117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udget_fill0"/>
            <p:cNvSpPr/>
            <p:nvPr/>
          </p:nvSpPr>
          <p:spPr>
            <a:xfrm>
              <a:off x="1663700" y="1117600"/>
              <a:ext cx="2540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udget_limit0"/>
            <p:cNvSpPr/>
            <p:nvPr/>
          </p:nvSpPr>
          <p:spPr>
            <a:xfrm>
              <a:off x="2095500" y="1079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_track1"/>
            <p:cNvSpPr/>
            <p:nvPr/>
          </p:nvSpPr>
          <p:spPr>
            <a:xfrm>
              <a:off x="1663700" y="13081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udget_fill1"/>
            <p:cNvSpPr/>
            <p:nvPr/>
          </p:nvSpPr>
          <p:spPr>
            <a:xfrm>
              <a:off x="1663700" y="1308100"/>
              <a:ext cx="330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_limit1"/>
            <p:cNvSpPr/>
            <p:nvPr/>
          </p:nvSpPr>
          <p:spPr>
            <a:xfrm>
              <a:off x="2095500" y="12700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udget_track2"/>
            <p:cNvSpPr/>
            <p:nvPr/>
          </p:nvSpPr>
          <p:spPr>
            <a:xfrm>
              <a:off x="1663700" y="1498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udget_fill2"/>
            <p:cNvSpPr/>
            <p:nvPr/>
          </p:nvSpPr>
          <p:spPr>
            <a:xfrm>
              <a:off x="1663700" y="1498600"/>
              <a:ext cx="203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udget_limit2"/>
            <p:cNvSpPr/>
            <p:nvPr/>
          </p:nvSpPr>
          <p:spPr>
            <a:xfrm>
              <a:off x="2095500" y="1460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label"/>
            <p:cNvSpPr txBox="1"/>
            <p:nvPr/>
          </p:nvSpPr>
          <p:spPr>
            <a:xfrm>
              <a:off x="1549400" y="18161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12" name="hard_edge"/>
            <p:cNvSpPr/>
            <p:nvPr/>
          </p:nvSpPr>
          <p:spPr>
            <a:xfrm>
              <a:off x="1701800" y="220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444500" h="1" fill="none">
                  <a:moveTo>
                    <a:pt x="0" y="0"/>
                  </a:moveTo>
                  <a:lnTo>
                    <a:pt x="444500" y="0"/>
                  </a:lnTo>
                </a:path>
              </a:pathLst>
            </a:custGeom>
            <a:noFill/>
            <a:ln w="10795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node0"/>
            <p:cNvSpPr/>
            <p:nvPr/>
          </p:nvSpPr>
          <p:spPr>
            <a:xfrm>
              <a:off x="1647189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node1"/>
            <p:cNvSpPr/>
            <p:nvPr/>
          </p:nvSpPr>
          <p:spPr>
            <a:xfrm>
              <a:off x="2142490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x0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x1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xclusion_words"/>
            <p:cNvSpPr txBox="1"/>
            <p:nvPr/>
          </p:nvSpPr>
          <p:spPr>
            <a:xfrm>
              <a:off x="1587500" y="2374900"/>
              <a:ext cx="698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remove edges</a:t>
              </a:r>
            </a:p>
          </p:txBody>
        </p:sp>
      </p:grpSp>
      <p:grpSp>
        <p:nvGrpSpPr>
          <p:cNvPr id="118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19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2F6F4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22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 test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23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flow solve</a:t>
              </a:r>
            </a:p>
          </p:txBody>
        </p:sp>
        <p:grpSp>
          <p:nvGrpSpPr>
            <p:cNvPr id="124" name="motif_observed_network"/>
            <p:cNvGrpSpPr/>
            <p:nvPr/>
          </p:nvGrpSpPr>
          <p:grpSpPr>
            <a:xfrm>
              <a:off x="2747264" y="842263"/>
              <a:ext cx="652272" cy="398273"/>
              <a:chOff x="2747264" y="842263"/>
              <a:chExt cx="652272" cy="398273"/>
            </a:xfrm>
          </p:grpSpPr>
          <p:sp>
            <p:nvSpPr>
              <p:cNvPr id="125" name="observed_network_edge0"/>
              <p:cNvSpPr/>
              <p:nvPr/>
            </p:nvSpPr>
            <p:spPr>
              <a:xfrm>
                <a:off x="2784586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observed_network_edge1"/>
              <p:cNvSpPr/>
              <p:nvPr/>
            </p:nvSpPr>
            <p:spPr>
              <a:xfrm>
                <a:off x="2991104" y="8636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observed_network_edge2"/>
              <p:cNvSpPr/>
              <p:nvPr/>
            </p:nvSpPr>
            <p:spPr>
              <a:xfrm>
                <a:off x="3193018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observed_network_edge3"/>
              <p:cNvSpPr/>
              <p:nvPr/>
            </p:nvSpPr>
            <p:spPr>
              <a:xfrm>
                <a:off x="2784586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observed_network_edge4"/>
              <p:cNvSpPr/>
              <p:nvPr/>
            </p:nvSpPr>
            <p:spPr>
              <a:xfrm>
                <a:off x="2991104" y="12192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observed_network_edge5"/>
              <p:cNvSpPr/>
              <p:nvPr/>
            </p:nvSpPr>
            <p:spPr>
              <a:xfrm>
                <a:off x="3193018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observed_network_excluded"/>
              <p:cNvSpPr/>
              <p:nvPr/>
            </p:nvSpPr>
            <p:spPr>
              <a:xfrm>
                <a:off x="2969768" y="8849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bserved_network_cross0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bserved_network_cross1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observed_network_node0"/>
              <p:cNvSpPr/>
              <p:nvPr/>
            </p:nvSpPr>
            <p:spPr>
              <a:xfrm>
                <a:off x="27472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observed_network_node1"/>
              <p:cNvSpPr/>
              <p:nvPr/>
            </p:nvSpPr>
            <p:spPr>
              <a:xfrm>
                <a:off x="2948432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observed_network_node2"/>
              <p:cNvSpPr/>
              <p:nvPr/>
            </p:nvSpPr>
            <p:spPr>
              <a:xfrm>
                <a:off x="2948432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observed_network_node3"/>
              <p:cNvSpPr/>
              <p:nvPr/>
            </p:nvSpPr>
            <p:spPr>
              <a:xfrm>
                <a:off x="3155696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bserved_network_node4"/>
              <p:cNvSpPr/>
              <p:nvPr/>
            </p:nvSpPr>
            <p:spPr>
              <a:xfrm>
                <a:off x="3155696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observed_network_node5"/>
              <p:cNvSpPr/>
              <p:nvPr/>
            </p:nvSpPr>
            <p:spPr>
              <a:xfrm>
                <a:off x="33568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motif_target_network"/>
            <p:cNvGrpSpPr/>
            <p:nvPr/>
          </p:nvGrpSpPr>
          <p:grpSpPr>
            <a:xfrm>
              <a:off x="2747264" y="1515364"/>
              <a:ext cx="652272" cy="398272"/>
              <a:chOff x="2747264" y="1515364"/>
              <a:chExt cx="652272" cy="398272"/>
            </a:xfrm>
          </p:grpSpPr>
          <p:sp>
            <p:nvSpPr>
              <p:cNvPr id="141" name="target_network_edge0"/>
              <p:cNvSpPr/>
              <p:nvPr/>
            </p:nvSpPr>
            <p:spPr>
              <a:xfrm>
                <a:off x="2784586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target_network_edge1"/>
              <p:cNvSpPr/>
              <p:nvPr/>
            </p:nvSpPr>
            <p:spPr>
              <a:xfrm>
                <a:off x="2991104" y="15367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target_network_edge2"/>
              <p:cNvSpPr/>
              <p:nvPr/>
            </p:nvSpPr>
            <p:spPr>
              <a:xfrm>
                <a:off x="3193018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target_network_edge3"/>
              <p:cNvSpPr/>
              <p:nvPr/>
            </p:nvSpPr>
            <p:spPr>
              <a:xfrm>
                <a:off x="2784586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target_network_edge4"/>
              <p:cNvSpPr/>
              <p:nvPr/>
            </p:nvSpPr>
            <p:spPr>
              <a:xfrm>
                <a:off x="2991104" y="18923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target_network_edge5"/>
              <p:cNvSpPr/>
              <p:nvPr/>
            </p:nvSpPr>
            <p:spPr>
              <a:xfrm>
                <a:off x="3193018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target_network_excluded"/>
              <p:cNvSpPr/>
              <p:nvPr/>
            </p:nvSpPr>
            <p:spPr>
              <a:xfrm>
                <a:off x="2969768" y="15580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target_network_cross0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target_network_cross1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target_network_node0"/>
              <p:cNvSpPr/>
              <p:nvPr/>
            </p:nvSpPr>
            <p:spPr>
              <a:xfrm>
                <a:off x="27472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target_network_node1"/>
              <p:cNvSpPr/>
              <p:nvPr/>
            </p:nvSpPr>
            <p:spPr>
              <a:xfrm>
                <a:off x="2948432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target_network_node2"/>
              <p:cNvSpPr/>
              <p:nvPr/>
            </p:nvSpPr>
            <p:spPr>
              <a:xfrm>
                <a:off x="2948432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target_network_node3"/>
              <p:cNvSpPr/>
              <p:nvPr/>
            </p:nvSpPr>
            <p:spPr>
              <a:xfrm>
                <a:off x="3155696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target_network_node4"/>
              <p:cNvSpPr/>
              <p:nvPr/>
            </p:nvSpPr>
            <p:spPr>
              <a:xfrm>
                <a:off x="3155696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target_network_node5"/>
              <p:cNvSpPr/>
              <p:nvPr/>
            </p:nvSpPr>
            <p:spPr>
              <a:xfrm>
                <a:off x="33568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6" name="reroute_arrow"/>
            <p:cNvSpPr/>
            <p:nvPr/>
          </p:nvSpPr>
          <p:spPr>
            <a:xfrm>
              <a:off x="3060700" y="12954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143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arget_only"/>
            <p:cNvSpPr txBox="1"/>
            <p:nvPr/>
          </p:nvSpPr>
          <p:spPr>
            <a:xfrm>
              <a:off x="2425700" y="2057400"/>
              <a:ext cx="10795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18785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18785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158" name="projection_role"/>
            <p:cNvSpPr txBox="1"/>
            <p:nvPr/>
          </p:nvSpPr>
          <p:spPr>
            <a:xfrm>
              <a:off x="2413000" y="2387600"/>
              <a:ext cx="1104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prices go to the actor</a:t>
              </a:r>
            </a:p>
          </p:txBody>
        </p:sp>
        <p:grpSp>
          <p:nvGrpSpPr>
            <p:cNvPr id="159" name="observed_F"/>
            <p:cNvGrpSpPr/>
            <p:nvPr/>
          </p:nvGrpSpPr>
          <p:grpSpPr>
            <a:xfrm>
              <a:off x="2538179" y="973261"/>
              <a:ext cx="80585" cy="111019"/>
              <a:chOff x="2538179" y="973261"/>
              <a:chExt cx="80585" cy="111019"/>
            </a:xfrm>
          </p:grpSpPr>
          <p:sp>
            <p:nvSpPr>
              <p:cNvPr id="160" name="observed_F_outline_0"/>
              <p:cNvSpPr/>
              <p:nvPr/>
            </p:nvSpPr>
            <p:spPr>
              <a:xfrm>
                <a:off x="2571961" y="9732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observed_F_outline_1"/>
              <p:cNvSpPr/>
              <p:nvPr/>
            </p:nvSpPr>
            <p:spPr>
              <a:xfrm>
                <a:off x="2538179" y="10016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2" name="target_F"/>
            <p:cNvGrpSpPr/>
            <p:nvPr/>
          </p:nvGrpSpPr>
          <p:grpSpPr>
            <a:xfrm>
              <a:off x="2508163" y="1649800"/>
              <a:ext cx="150197" cy="103002"/>
              <a:chOff x="2508163" y="1649800"/>
              <a:chExt cx="150197" cy="103002"/>
            </a:xfrm>
          </p:grpSpPr>
          <p:sp>
            <p:nvSpPr>
              <p:cNvPr id="163" name="target_F_outline_0"/>
              <p:cNvSpPr/>
              <p:nvPr/>
            </p:nvSpPr>
            <p:spPr>
              <a:xfrm>
                <a:off x="2508163" y="16701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target_F_outline_1"/>
              <p:cNvSpPr/>
              <p:nvPr/>
            </p:nvSpPr>
            <p:spPr>
              <a:xfrm>
                <a:off x="2593511" y="16498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65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166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68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71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172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173" name="filter_label"/>
            <p:cNvSpPr txBox="1"/>
            <p:nvPr/>
          </p:nvSpPr>
          <p:spPr>
            <a:xfrm>
              <a:off x="3670300" y="7874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18785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74" name="feedback_label"/>
            <p:cNvSpPr txBox="1"/>
            <p:nvPr/>
          </p:nvSpPr>
          <p:spPr>
            <a:xfrm>
              <a:off x="3670300" y="11557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75" name="feedback_error"/>
            <p:cNvSpPr txBox="1"/>
            <p:nvPr/>
          </p:nvSpPr>
          <p:spPr>
            <a:xfrm>
              <a:off x="3695700" y="1409700"/>
              <a:ext cx="12065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BA651F"/>
                  </a:solidFill>
                  <a:latin typeface="Liberation Serif"/>
                </a:rPr>
                <a:t>cost − budget</a:t>
              </a:r>
            </a:p>
          </p:txBody>
        </p:sp>
        <p:sp>
          <p:nvSpPr>
            <p:cNvPr id="176" name="error_to_beta"/>
            <p:cNvSpPr/>
            <p:nvPr/>
          </p:nvSpPr>
          <p:spPr>
            <a:xfrm>
              <a:off x="4597400" y="16002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7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178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2" name="price_rule"/>
            <p:cNvGrpSpPr/>
            <p:nvPr/>
          </p:nvGrpSpPr>
          <p:grpSpPr>
            <a:xfrm>
              <a:off x="3946186" y="1775301"/>
              <a:ext cx="694873" cy="158164"/>
              <a:chOff x="3946186" y="1775301"/>
              <a:chExt cx="694873" cy="158164"/>
            </a:xfrm>
          </p:grpSpPr>
          <p:sp>
            <p:nvSpPr>
              <p:cNvPr id="183" name="price_rule_outline_0"/>
              <p:cNvSpPr/>
              <p:nvPr/>
            </p:nvSpPr>
            <p:spPr>
              <a:xfrm>
                <a:off x="3946186" y="17962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ice_rule_outline_1"/>
              <p:cNvSpPr/>
              <p:nvPr/>
            </p:nvSpPr>
            <p:spPr>
              <a:xfrm>
                <a:off x="4021335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ice_rule_outline_2"/>
              <p:cNvSpPr/>
              <p:nvPr/>
            </p:nvSpPr>
            <p:spPr>
              <a:xfrm>
                <a:off x="4126007" y="18302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ice_rule_outline_3"/>
              <p:cNvSpPr/>
              <p:nvPr/>
            </p:nvSpPr>
            <p:spPr>
              <a:xfrm>
                <a:off x="4256527" y="17753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rice_rule_outline_4"/>
              <p:cNvSpPr/>
              <p:nvPr/>
            </p:nvSpPr>
            <p:spPr>
              <a:xfrm>
                <a:off x="4234159" y="17962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rice_rule_outline_5"/>
              <p:cNvSpPr/>
              <p:nvPr/>
            </p:nvSpPr>
            <p:spPr>
              <a:xfrm>
                <a:off x="4303002" y="17761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rice_rule_outline_6"/>
              <p:cNvSpPr/>
              <p:nvPr/>
            </p:nvSpPr>
            <p:spPr>
              <a:xfrm>
                <a:off x="4309320" y="18614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ice_rule_outline_7"/>
              <p:cNvSpPr/>
              <p:nvPr/>
            </p:nvSpPr>
            <p:spPr>
              <a:xfrm>
                <a:off x="4410855" y="18140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rice_rule_outline_8"/>
              <p:cNvSpPr/>
              <p:nvPr/>
            </p:nvSpPr>
            <p:spPr>
              <a:xfrm>
                <a:off x="4506286" y="17962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rice_rule_outline_9"/>
              <p:cNvSpPr/>
              <p:nvPr/>
            </p:nvSpPr>
            <p:spPr>
              <a:xfrm>
                <a:off x="4590422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3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194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14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GAE advantages</a:t>
            </a:r>
          </a:p>
        </p:txBody>
      </p:sp>
      <p:sp>
        <p:nvSpPr>
          <p:cNvPr id="220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next rollout</a:t>
            </a:r>
          </a:p>
        </p:txBody>
      </p:sp>
      <p:sp>
        <p:nvSpPr>
          <p:cNvPr id="221" name="dual_to_update"/>
          <p:cNvSpPr/>
          <p:nvPr/>
        </p:nvSpPr>
        <p:spPr>
          <a:xfrm>
            <a:off x="3467100" y="622300"/>
            <a:ext cx="165100" cy="127"/>
          </a:xfrm>
          <a:custGeom>
            <a:avLst/>
            <a:gdLst/>
            <a:ahLst/>
            <a:cxnLst/>
            <a:rect l="0" t="0" r="r" b="b"/>
            <a:pathLst>
              <a:path w="165100" h="1" fill="none">
                <a:moveTo>
                  <a:pt x="0" y="0"/>
                </a:moveTo>
                <a:lnTo>
                  <a:pt x="165100" y="0"/>
                </a:lnTo>
              </a:path>
            </a:pathLst>
          </a:custGeom>
          <a:noFill/>
          <a:ln w="10795">
            <a:solidFill>
              <a:srgbClr val="18785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bserved_feedback"/>
          <p:cNvSpPr/>
          <p:nvPr/>
        </p:nvSpPr>
        <p:spPr>
          <a:xfrm>
            <a:off x="368300" y="1485900"/>
            <a:ext cx="3289300" cy="1231900"/>
          </a:xfrm>
          <a:custGeom>
            <a:avLst/>
            <a:gdLst/>
            <a:ahLst/>
            <a:cxnLst/>
            <a:rect l="0" t="0" r="r" b="b"/>
            <a:pathLst>
              <a:path w="3289300" h="1231900" fill="none">
                <a:moveTo>
                  <a:pt x="0" y="1092200"/>
                </a:moveTo>
                <a:lnTo>
                  <a:pt x="0" y="1231900"/>
                </a:lnTo>
                <a:lnTo>
                  <a:pt x="3200400" y="1231900"/>
                </a:lnTo>
                <a:lnTo>
                  <a:pt x="3200400" y="0"/>
                </a:lnTo>
                <a:lnTo>
                  <a:pt x="3289300" y="0"/>
                </a:lnTo>
              </a:path>
            </a:pathLst>
          </a:custGeom>
          <a:noFill/>
          <a:ln w="8890">
            <a:solidFill>
              <a:srgbClr val="BA651F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BA651F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225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5715">
            <a:solidFill>
              <a:srgbClr val="A9B3B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6" name="gen_icon_rollout" descr="trajectory_130x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054100"/>
            <a:ext cx="165100" cy="165100"/>
          </a:xfrm>
          <a:prstGeom prst="rect">
            <a:avLst/>
          </a:prstGeom>
        </p:spPr>
      </p:pic>
      <p:pic>
        <p:nvPicPr>
          <p:cNvPr id="227" name="gen_icon_policy" descr="policy_110x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030224"/>
            <a:ext cx="139700" cy="183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