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stage1"/>
          <p:cNvGrpSpPr/>
          <p:nvPr/>
        </p:nvGrpSpPr>
        <p:grpSpPr>
          <a:xfrm>
            <a:off x="38100" y="76200"/>
            <a:ext cx="635000" cy="2552700"/>
            <a:chOff x="38100" y="76200"/>
            <a:chExt cx="635000" cy="2552700"/>
          </a:xfrm>
        </p:grpSpPr>
        <p:sp>
          <p:nvSpPr>
            <p:cNvPr id="3" name="stage1_border"/>
            <p:cNvSpPr/>
            <p:nvPr/>
          </p:nvSpPr>
          <p:spPr>
            <a:xfrm>
              <a:off x="38100" y="76200"/>
              <a:ext cx="6350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" name="world" descr="worl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300" y="1079500"/>
              <a:ext cx="165100" cy="190500"/>
            </a:xfrm>
            <a:prstGeom prst="rect">
              <a:avLst/>
            </a:prstGeom>
          </p:spPr>
        </p:pic>
        <p:pic>
          <p:nvPicPr>
            <p:cNvPr id="5" name="robot" descr="robo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4500" y="1016000"/>
              <a:ext cx="139700" cy="292100"/>
            </a:xfrm>
            <a:prstGeom prst="rect">
              <a:avLst/>
            </a:prstGeom>
          </p:spPr>
        </p:pic>
        <p:sp>
          <p:nvSpPr>
            <p:cNvPr id="6" name="badge1"/>
            <p:cNvSpPr/>
            <p:nvPr/>
          </p:nvSpPr>
          <p:spPr>
            <a:xfrm>
              <a:off x="88900" y="177800"/>
              <a:ext cx="146050" cy="146050"/>
            </a:xfrm>
            <a:prstGeom prst="ellipse">
              <a:avLst/>
            </a:prstGeom>
            <a:solidFill>
              <a:srgbClr val="6976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number1"/>
            <p:cNvSpPr txBox="1"/>
            <p:nvPr/>
          </p:nvSpPr>
          <p:spPr>
            <a:xfrm>
              <a:off x="889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8" name="title1"/>
            <p:cNvSpPr txBox="1"/>
            <p:nvPr/>
          </p:nvSpPr>
          <p:spPr>
            <a:xfrm>
              <a:off x="266700" y="114300"/>
              <a:ext cx="3810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697681"/>
                  </a:solidFill>
                  <a:latin typeface="Liberation Serif"/>
                </a:rPr>
                <a:t>Rollout</a:t>
              </a:r>
            </a:p>
          </p:txBody>
        </p:sp>
        <p:sp>
          <p:nvSpPr>
            <p:cNvPr id="9" name="policy_label"/>
            <p:cNvSpPr txBox="1"/>
            <p:nvPr/>
          </p:nvSpPr>
          <p:spPr>
            <a:xfrm>
              <a:off x="101600" y="558800"/>
              <a:ext cx="5080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681"/>
                  </a:solidFill>
                  <a:latin typeface="Liberation Serif"/>
                </a:rPr>
                <a:t>policy</a:t>
              </a:r>
            </a:p>
          </p:txBody>
        </p:sp>
        <p:sp>
          <p:nvSpPr>
            <p:cNvPr id="10" name="rollout_arrow"/>
            <p:cNvSpPr/>
            <p:nvPr/>
          </p:nvSpPr>
          <p:spPr>
            <a:xfrm>
              <a:off x="292100" y="1168400"/>
              <a:ext cx="127000" cy="127"/>
            </a:xfrm>
            <a:custGeom>
              <a:avLst/>
              <a:gdLst/>
              <a:ahLst/>
              <a:cxnLst/>
              <a:rect l="0" t="0" r="r" b="b"/>
              <a:pathLst>
                <a:path w="127000" h="1" fill="none">
                  <a:moveTo>
                    <a:pt x="0" y="0"/>
                  </a:moveTo>
                  <a:lnTo>
                    <a:pt x="127000" y="0"/>
                  </a:lnTo>
                </a:path>
              </a:pathLst>
            </a:custGeom>
            <a:noFill/>
            <a:ln w="1079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llout_text0"/>
            <p:cNvSpPr txBox="1"/>
            <p:nvPr/>
          </p:nvSpPr>
          <p:spPr>
            <a:xfrm>
              <a:off x="88900" y="1485900"/>
              <a:ext cx="533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transitions</a:t>
              </a:r>
            </a:p>
          </p:txBody>
        </p:sp>
        <p:sp>
          <p:nvSpPr>
            <p:cNvPr id="12" name="rollout_text1"/>
            <p:cNvSpPr txBox="1"/>
            <p:nvPr/>
          </p:nvSpPr>
          <p:spPr>
            <a:xfrm>
              <a:off x="88900" y="1778000"/>
              <a:ext cx="533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GAE</a:t>
              </a:r>
            </a:p>
          </p:txBody>
        </p:sp>
        <p:sp>
          <p:nvSpPr>
            <p:cNvPr id="13" name="rollout_text2"/>
            <p:cNvSpPr txBox="1"/>
            <p:nvPr/>
          </p:nvSpPr>
          <p:spPr>
            <a:xfrm>
              <a:off x="76200" y="2235200"/>
              <a:ext cx="558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episode cost</a:t>
              </a:r>
            </a:p>
          </p:txBody>
        </p:sp>
        <p:grpSp>
          <p:nvGrpSpPr>
            <p:cNvPr id="14" name="pi_t"/>
            <p:cNvGrpSpPr/>
            <p:nvPr/>
          </p:nvGrpSpPr>
          <p:grpSpPr>
            <a:xfrm>
              <a:off x="292233" y="818479"/>
              <a:ext cx="103109" cy="76124"/>
              <a:chOff x="292233" y="818479"/>
              <a:chExt cx="103109" cy="76124"/>
            </a:xfrm>
          </p:grpSpPr>
          <p:sp>
            <p:nvSpPr>
              <p:cNvPr id="15" name="pi_t_outline_0"/>
              <p:cNvSpPr/>
              <p:nvPr/>
            </p:nvSpPr>
            <p:spPr>
              <a:xfrm>
                <a:off x="292233" y="818479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4"/>
                      <a:pt x="2151" y="16319"/>
                    </a:cubicBezTo>
                    <a:lnTo>
                      <a:pt x="3540" y="16319"/>
                    </a:lnTo>
                    <a:cubicBezTo>
                      <a:pt x="4175" y="15434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pi_t_outline_1"/>
              <p:cNvSpPr/>
              <p:nvPr/>
            </p:nvSpPr>
            <p:spPr>
              <a:xfrm>
                <a:off x="365565" y="836600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" name="advantages"/>
            <p:cNvGrpSpPr/>
            <p:nvPr/>
          </p:nvGrpSpPr>
          <p:grpSpPr>
            <a:xfrm>
              <a:off x="139903" y="1991572"/>
              <a:ext cx="416919" cy="132870"/>
              <a:chOff x="139903" y="1991572"/>
              <a:chExt cx="416919" cy="132870"/>
            </a:xfrm>
          </p:grpSpPr>
          <p:sp>
            <p:nvSpPr>
              <p:cNvPr id="18" name="advantages_outline_0"/>
              <p:cNvSpPr/>
              <p:nvPr/>
            </p:nvSpPr>
            <p:spPr>
              <a:xfrm>
                <a:off x="139903" y="1991572"/>
                <a:ext cx="73910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9" y="0"/>
                    </a:lnTo>
                    <a:lnTo>
                      <a:pt x="50355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7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9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advantages_outline_1"/>
              <p:cNvSpPr/>
              <p:nvPr/>
            </p:nvSpPr>
            <p:spPr>
              <a:xfrm>
                <a:off x="224333" y="2044113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2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advantages_outline_2"/>
              <p:cNvSpPr/>
              <p:nvPr/>
            </p:nvSpPr>
            <p:spPr>
              <a:xfrm>
                <a:off x="288016" y="2059593"/>
                <a:ext cx="16704" cy="29206"/>
              </a:xfrm>
              <a:custGeom>
                <a:avLst/>
                <a:gdLst/>
                <a:ahLst/>
                <a:cxnLst/>
                <a:rect l="0" t="0" r="r" b="b"/>
                <a:pathLst>
                  <a:path w="16704" h="29206">
                    <a:moveTo>
                      <a:pt x="16704" y="11537"/>
                    </a:moveTo>
                    <a:cubicBezTo>
                      <a:pt x="16704" y="1564"/>
                      <a:pt x="9735" y="0"/>
                      <a:pt x="6969" y="0"/>
                    </a:cubicBezTo>
                    <a:cubicBezTo>
                      <a:pt x="3965" y="0"/>
                      <a:pt x="0" y="1802"/>
                      <a:pt x="0" y="6973"/>
                    </a:cubicBezTo>
                    <a:cubicBezTo>
                      <a:pt x="0" y="11779"/>
                      <a:pt x="4326" y="12982"/>
                      <a:pt x="7449" y="12982"/>
                    </a:cubicBezTo>
                    <a:cubicBezTo>
                      <a:pt x="8291" y="12982"/>
                      <a:pt x="8894" y="12859"/>
                      <a:pt x="9251" y="12740"/>
                    </a:cubicBezTo>
                    <a:cubicBezTo>
                      <a:pt x="9735" y="12621"/>
                      <a:pt x="10093" y="12502"/>
                      <a:pt x="10335" y="12502"/>
                    </a:cubicBezTo>
                    <a:cubicBezTo>
                      <a:pt x="11176" y="12502"/>
                      <a:pt x="12017" y="13101"/>
                      <a:pt x="12017" y="14184"/>
                    </a:cubicBezTo>
                    <a:cubicBezTo>
                      <a:pt x="12017" y="16466"/>
                      <a:pt x="10093" y="21876"/>
                      <a:pt x="2163" y="26920"/>
                    </a:cubicBezTo>
                    <a:lnTo>
                      <a:pt x="3242" y="29206"/>
                    </a:lnTo>
                    <a:cubicBezTo>
                      <a:pt x="6850" y="28004"/>
                      <a:pt x="16704" y="20070"/>
                      <a:pt x="16704" y="1153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advantages_outline_3"/>
              <p:cNvSpPr/>
              <p:nvPr/>
            </p:nvSpPr>
            <p:spPr>
              <a:xfrm>
                <a:off x="365631" y="1991572"/>
                <a:ext cx="73910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8" y="0"/>
                    </a:lnTo>
                    <a:lnTo>
                      <a:pt x="50356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7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8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advantages_outline_4"/>
              <p:cNvSpPr/>
              <p:nvPr/>
            </p:nvSpPr>
            <p:spPr>
              <a:xfrm>
                <a:off x="450867" y="2044113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4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advantages_outline_5"/>
              <p:cNvSpPr/>
              <p:nvPr/>
            </p:nvSpPr>
            <p:spPr>
              <a:xfrm>
                <a:off x="506185" y="205243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" name="observed_cost"/>
            <p:cNvGrpSpPr/>
            <p:nvPr/>
          </p:nvGrpSpPr>
          <p:grpSpPr>
            <a:xfrm>
              <a:off x="307089" y="2430577"/>
              <a:ext cx="113900" cy="130326"/>
              <a:chOff x="307089" y="2430577"/>
              <a:chExt cx="113900" cy="130326"/>
            </a:xfrm>
          </p:grpSpPr>
          <p:sp>
            <p:nvSpPr>
              <p:cNvPr id="25" name="observed_cost_outline_0"/>
              <p:cNvSpPr/>
              <p:nvPr/>
            </p:nvSpPr>
            <p:spPr>
              <a:xfrm>
                <a:off x="336126" y="2430577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observed_cost_outline_1"/>
              <p:cNvSpPr/>
              <p:nvPr/>
            </p:nvSpPr>
            <p:spPr>
              <a:xfrm>
                <a:off x="307089" y="2451763"/>
                <a:ext cx="62872" cy="84887"/>
              </a:xfrm>
              <a:custGeom>
                <a:avLst/>
                <a:gdLst/>
                <a:ahLst/>
                <a:cxnLst/>
                <a:rect l="0" t="0" r="r" b="b"/>
                <a:pathLst>
                  <a:path w="62873" h="84888">
                    <a:moveTo>
                      <a:pt x="62873" y="2024"/>
                    </a:moveTo>
                    <a:lnTo>
                      <a:pt x="62873" y="0"/>
                    </a:lnTo>
                    <a:lnTo>
                      <a:pt x="30742" y="0"/>
                    </a:lnTo>
                    <a:lnTo>
                      <a:pt x="30742" y="2024"/>
                    </a:lnTo>
                    <a:cubicBezTo>
                      <a:pt x="38711" y="2782"/>
                      <a:pt x="40481" y="3794"/>
                      <a:pt x="40481" y="7211"/>
                    </a:cubicBezTo>
                    <a:cubicBezTo>
                      <a:pt x="40481" y="9108"/>
                      <a:pt x="39977" y="11640"/>
                      <a:pt x="38965" y="15307"/>
                    </a:cubicBezTo>
                    <a:lnTo>
                      <a:pt x="22392" y="74132"/>
                    </a:lnTo>
                    <a:cubicBezTo>
                      <a:pt x="20999" y="79065"/>
                      <a:pt x="19229" y="80966"/>
                      <a:pt x="16192" y="80966"/>
                    </a:cubicBezTo>
                    <a:cubicBezTo>
                      <a:pt x="13156" y="80966"/>
                      <a:pt x="11763" y="79446"/>
                      <a:pt x="11763" y="75906"/>
                    </a:cubicBezTo>
                    <a:cubicBezTo>
                      <a:pt x="11763" y="75271"/>
                      <a:pt x="11763" y="74640"/>
                      <a:pt x="11890" y="74005"/>
                    </a:cubicBezTo>
                    <a:lnTo>
                      <a:pt x="11890" y="72870"/>
                    </a:lnTo>
                    <a:cubicBezTo>
                      <a:pt x="11890" y="69707"/>
                      <a:pt x="9108" y="66921"/>
                      <a:pt x="5691" y="66921"/>
                    </a:cubicBezTo>
                    <a:cubicBezTo>
                      <a:pt x="2278" y="66921"/>
                      <a:pt x="0" y="69707"/>
                      <a:pt x="0" y="73755"/>
                    </a:cubicBezTo>
                    <a:cubicBezTo>
                      <a:pt x="0" y="80458"/>
                      <a:pt x="5945" y="84888"/>
                      <a:pt x="14799" y="84888"/>
                    </a:cubicBezTo>
                    <a:cubicBezTo>
                      <a:pt x="21253" y="84888"/>
                      <a:pt x="26944" y="82356"/>
                      <a:pt x="30865" y="77676"/>
                    </a:cubicBezTo>
                    <a:cubicBezTo>
                      <a:pt x="34282" y="73628"/>
                      <a:pt x="36814" y="67933"/>
                      <a:pt x="39469" y="58321"/>
                    </a:cubicBezTo>
                    <a:lnTo>
                      <a:pt x="52499" y="11386"/>
                    </a:lnTo>
                    <a:cubicBezTo>
                      <a:pt x="54777" y="3794"/>
                      <a:pt x="55662" y="3036"/>
                      <a:pt x="62873" y="2024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observed_cost_outline_2"/>
              <p:cNvSpPr/>
              <p:nvPr/>
            </p:nvSpPr>
            <p:spPr>
              <a:xfrm>
                <a:off x="370352" y="2488891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8" name="module_stage2"/>
          <p:cNvGrpSpPr/>
          <p:nvPr/>
        </p:nvGrpSpPr>
        <p:grpSpPr>
          <a:xfrm>
            <a:off x="736600" y="76200"/>
            <a:ext cx="736600" cy="2552700"/>
            <a:chOff x="736600" y="76200"/>
            <a:chExt cx="736600" cy="2552700"/>
          </a:xfrm>
        </p:grpSpPr>
        <p:sp>
          <p:nvSpPr>
            <p:cNvPr id="29" name="stage2_border"/>
            <p:cNvSpPr/>
            <p:nvPr/>
          </p:nvSpPr>
          <p:spPr>
            <a:xfrm>
              <a:off x="736600" y="76200"/>
              <a:ext cx="7366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badge2"/>
            <p:cNvSpPr/>
            <p:nvPr/>
          </p:nvSpPr>
          <p:spPr>
            <a:xfrm>
              <a:off x="787400" y="177800"/>
              <a:ext cx="146050" cy="146050"/>
            </a:xfrm>
            <a:prstGeom prst="ellipse">
              <a:avLst/>
            </a:prstGeom>
            <a:solidFill>
              <a:srgbClr val="285AA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umber2"/>
            <p:cNvSpPr txBox="1"/>
            <p:nvPr/>
          </p:nvSpPr>
          <p:spPr>
            <a:xfrm>
              <a:off x="7874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32" name="title2"/>
            <p:cNvSpPr txBox="1"/>
            <p:nvPr/>
          </p:nvSpPr>
          <p:spPr>
            <a:xfrm>
              <a:off x="965200" y="114300"/>
              <a:ext cx="4826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85AA0"/>
                  </a:solidFill>
                  <a:latin typeface="Liberation Serif"/>
                </a:rPr>
                <a:t>Flow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85AA0"/>
                  </a:solidFill>
                  <a:latin typeface="Liberation Serif"/>
                </a:rPr>
                <a:t>inputs</a:t>
              </a:r>
            </a:p>
          </p:txBody>
        </p:sp>
        <p:sp>
          <p:nvSpPr>
            <p:cNvPr id="33" name="clustered"/>
            <p:cNvSpPr txBox="1"/>
            <p:nvPr/>
          </p:nvSpPr>
          <p:spPr>
            <a:xfrm>
              <a:off x="774700" y="546100"/>
              <a:ext cx="660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85AA0"/>
                  </a:solidFill>
                  <a:latin typeface="Liberation Serif"/>
                </a:rPr>
                <a:t>state clusters</a:t>
              </a:r>
            </a:p>
          </p:txBody>
        </p:sp>
        <p:sp>
          <p:nvSpPr>
            <p:cNvPr id="34" name="rollout_graph_e0"/>
            <p:cNvSpPr/>
            <p:nvPr/>
          </p:nvSpPr>
          <p:spPr>
            <a:xfrm>
              <a:off x="837946" y="850900"/>
              <a:ext cx="139700" cy="127"/>
            </a:xfrm>
            <a:custGeom>
              <a:avLst/>
              <a:gdLst/>
              <a:ahLst/>
              <a:cxnLst/>
              <a:rect l="0" t="0" r="r" b="b"/>
              <a:pathLst>
                <a:path w="139700" h="1" fill="none">
                  <a:moveTo>
                    <a:pt x="0" y="0"/>
                  </a:moveTo>
                  <a:lnTo>
                    <a:pt x="139700" y="0"/>
                  </a:lnTo>
                </a:path>
              </a:pathLst>
            </a:custGeom>
            <a:noFill/>
            <a:ln w="1333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llout_graph_e1"/>
            <p:cNvSpPr/>
            <p:nvPr/>
          </p:nvSpPr>
          <p:spPr>
            <a:xfrm>
              <a:off x="1027938" y="850900"/>
              <a:ext cx="139699" cy="127"/>
            </a:xfrm>
            <a:custGeom>
              <a:avLst/>
              <a:gdLst/>
              <a:ahLst/>
              <a:cxnLst/>
              <a:rect l="0" t="0" r="r" b="b"/>
              <a:pathLst>
                <a:path w="139699" h="1" fill="none">
                  <a:moveTo>
                    <a:pt x="0" y="0"/>
                  </a:moveTo>
                  <a:lnTo>
                    <a:pt x="139699" y="0"/>
                  </a:lnTo>
                </a:path>
              </a:pathLst>
            </a:custGeom>
            <a:noFill/>
            <a:ln w="1079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llout_graph_e2"/>
            <p:cNvSpPr/>
            <p:nvPr/>
          </p:nvSpPr>
          <p:spPr>
            <a:xfrm>
              <a:off x="812800" y="876046"/>
              <a:ext cx="127" cy="140207"/>
            </a:xfrm>
            <a:custGeom>
              <a:avLst/>
              <a:gdLst/>
              <a:ahLst/>
              <a:cxnLst/>
              <a:rect l="0" t="0" r="r" b="b"/>
              <a:pathLst>
                <a:path w="1" h="140207" fill="none">
                  <a:moveTo>
                    <a:pt x="0" y="0"/>
                  </a:moveTo>
                  <a:lnTo>
                    <a:pt x="0" y="140207"/>
                  </a:lnTo>
                </a:path>
              </a:pathLst>
            </a:custGeom>
            <a:noFill/>
            <a:ln w="6350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llout_graph_e3"/>
            <p:cNvSpPr/>
            <p:nvPr/>
          </p:nvSpPr>
          <p:spPr>
            <a:xfrm>
              <a:off x="1002792" y="876046"/>
              <a:ext cx="127" cy="140207"/>
            </a:xfrm>
            <a:custGeom>
              <a:avLst/>
              <a:gdLst/>
              <a:ahLst/>
              <a:cxnLst/>
              <a:rect l="0" t="0" r="r" b="b"/>
              <a:pathLst>
                <a:path w="1" h="140207" fill="none">
                  <a:moveTo>
                    <a:pt x="0" y="0"/>
                  </a:moveTo>
                  <a:lnTo>
                    <a:pt x="0" y="140207"/>
                  </a:lnTo>
                </a:path>
              </a:pathLst>
            </a:custGeom>
            <a:noFill/>
            <a:ln w="698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ollout_graph_e4"/>
            <p:cNvSpPr/>
            <p:nvPr/>
          </p:nvSpPr>
          <p:spPr>
            <a:xfrm>
              <a:off x="1192784" y="876046"/>
              <a:ext cx="127" cy="140207"/>
            </a:xfrm>
            <a:custGeom>
              <a:avLst/>
              <a:gdLst/>
              <a:ahLst/>
              <a:cxnLst/>
              <a:rect l="0" t="0" r="r" b="b"/>
              <a:pathLst>
                <a:path w="1" h="140207" fill="none">
                  <a:moveTo>
                    <a:pt x="0" y="0"/>
                  </a:moveTo>
                  <a:lnTo>
                    <a:pt x="0" y="140207"/>
                  </a:lnTo>
                </a:path>
              </a:pathLst>
            </a:custGeom>
            <a:noFill/>
            <a:ln w="825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llout_graph_e5"/>
            <p:cNvSpPr/>
            <p:nvPr/>
          </p:nvSpPr>
          <p:spPr>
            <a:xfrm>
              <a:off x="837946" y="1041400"/>
              <a:ext cx="139700" cy="127"/>
            </a:xfrm>
            <a:custGeom>
              <a:avLst/>
              <a:gdLst/>
              <a:ahLst/>
              <a:cxnLst/>
              <a:rect l="0" t="0" r="r" b="b"/>
              <a:pathLst>
                <a:path w="139700" h="1" fill="none">
                  <a:moveTo>
                    <a:pt x="0" y="0"/>
                  </a:moveTo>
                  <a:lnTo>
                    <a:pt x="139700" y="0"/>
                  </a:lnTo>
                </a:path>
              </a:pathLst>
            </a:custGeom>
            <a:noFill/>
            <a:ln w="952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ollout_graph_e6"/>
            <p:cNvSpPr/>
            <p:nvPr/>
          </p:nvSpPr>
          <p:spPr>
            <a:xfrm>
              <a:off x="1027938" y="1041400"/>
              <a:ext cx="139699" cy="127"/>
            </a:xfrm>
            <a:custGeom>
              <a:avLst/>
              <a:gdLst/>
              <a:ahLst/>
              <a:cxnLst/>
              <a:rect l="0" t="0" r="r" b="b"/>
              <a:pathLst>
                <a:path w="139699" h="1" fill="none">
                  <a:moveTo>
                    <a:pt x="0" y="0"/>
                  </a:moveTo>
                  <a:lnTo>
                    <a:pt x="139699" y="0"/>
                  </a:lnTo>
                </a:path>
              </a:pathLst>
            </a:custGeom>
            <a:noFill/>
            <a:ln w="10160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ollout_graph_e7"/>
            <p:cNvSpPr/>
            <p:nvPr/>
          </p:nvSpPr>
          <p:spPr>
            <a:xfrm>
              <a:off x="1217930" y="1041400"/>
              <a:ext cx="128523" cy="127"/>
            </a:xfrm>
            <a:custGeom>
              <a:avLst/>
              <a:gdLst/>
              <a:ahLst/>
              <a:cxnLst/>
              <a:rect l="0" t="0" r="r" b="b"/>
              <a:pathLst>
                <a:path w="128523" h="1" fill="none">
                  <a:moveTo>
                    <a:pt x="0" y="0"/>
                  </a:moveTo>
                  <a:lnTo>
                    <a:pt x="128523" y="0"/>
                  </a:lnTo>
                </a:path>
              </a:pathLst>
            </a:custGeom>
            <a:noFill/>
            <a:ln w="12700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ollout_graph_e8"/>
            <p:cNvSpPr/>
            <p:nvPr/>
          </p:nvSpPr>
          <p:spPr>
            <a:xfrm>
              <a:off x="812800" y="1066546"/>
              <a:ext cx="127" cy="140207"/>
            </a:xfrm>
            <a:custGeom>
              <a:avLst/>
              <a:gdLst/>
              <a:ahLst/>
              <a:cxnLst/>
              <a:rect l="0" t="0" r="r" b="b"/>
              <a:pathLst>
                <a:path w="1" h="140207" fill="none">
                  <a:moveTo>
                    <a:pt x="0" y="0"/>
                  </a:moveTo>
                  <a:lnTo>
                    <a:pt x="0" y="140207"/>
                  </a:lnTo>
                </a:path>
              </a:pathLst>
            </a:custGeom>
            <a:noFill/>
            <a:ln w="571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llout_graph_e9"/>
            <p:cNvSpPr/>
            <p:nvPr/>
          </p:nvSpPr>
          <p:spPr>
            <a:xfrm>
              <a:off x="1002792" y="1066546"/>
              <a:ext cx="127" cy="140207"/>
            </a:xfrm>
            <a:custGeom>
              <a:avLst/>
              <a:gdLst/>
              <a:ahLst/>
              <a:cxnLst/>
              <a:rect l="0" t="0" r="r" b="b"/>
              <a:pathLst>
                <a:path w="1" h="140207" fill="none">
                  <a:moveTo>
                    <a:pt x="0" y="0"/>
                  </a:moveTo>
                  <a:lnTo>
                    <a:pt x="0" y="140207"/>
                  </a:lnTo>
                </a:path>
              </a:pathLst>
            </a:custGeom>
            <a:noFill/>
            <a:ln w="571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ollout_graph_e10"/>
            <p:cNvSpPr/>
            <p:nvPr/>
          </p:nvSpPr>
          <p:spPr>
            <a:xfrm>
              <a:off x="1192784" y="1066546"/>
              <a:ext cx="127" cy="140207"/>
            </a:xfrm>
            <a:custGeom>
              <a:avLst/>
              <a:gdLst/>
              <a:ahLst/>
              <a:cxnLst/>
              <a:rect l="0" t="0" r="r" b="b"/>
              <a:pathLst>
                <a:path w="1" h="140207" fill="none">
                  <a:moveTo>
                    <a:pt x="0" y="0"/>
                  </a:moveTo>
                  <a:lnTo>
                    <a:pt x="0" y="140207"/>
                  </a:lnTo>
                </a:path>
              </a:pathLst>
            </a:custGeom>
            <a:noFill/>
            <a:ln w="6350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llout_graph_e11"/>
            <p:cNvSpPr/>
            <p:nvPr/>
          </p:nvSpPr>
          <p:spPr>
            <a:xfrm>
              <a:off x="1020549" y="1059204"/>
              <a:ext cx="154477" cy="154890"/>
            </a:xfrm>
            <a:custGeom>
              <a:avLst/>
              <a:gdLst/>
              <a:ahLst/>
              <a:cxnLst/>
              <a:rect l="0" t="0" r="r" b="b"/>
              <a:pathLst>
                <a:path w="154477" h="154890" fill="none">
                  <a:moveTo>
                    <a:pt x="0" y="154890"/>
                  </a:moveTo>
                  <a:lnTo>
                    <a:pt x="154477" y="0"/>
                  </a:lnTo>
                </a:path>
              </a:pathLst>
            </a:custGeom>
            <a:noFill/>
            <a:ln w="825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ollout_graph_n0"/>
            <p:cNvSpPr/>
            <p:nvPr/>
          </p:nvSpPr>
          <p:spPr>
            <a:xfrm>
              <a:off x="787654" y="8257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ollout_graph_n1"/>
            <p:cNvSpPr/>
            <p:nvPr/>
          </p:nvSpPr>
          <p:spPr>
            <a:xfrm>
              <a:off x="977646" y="8257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ollout_graph_n2"/>
            <p:cNvSpPr/>
            <p:nvPr/>
          </p:nvSpPr>
          <p:spPr>
            <a:xfrm>
              <a:off x="1167638" y="8257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llout_graph_n3"/>
            <p:cNvSpPr/>
            <p:nvPr/>
          </p:nvSpPr>
          <p:spPr>
            <a:xfrm>
              <a:off x="787654" y="10162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ollout_graph_n4"/>
            <p:cNvSpPr/>
            <p:nvPr/>
          </p:nvSpPr>
          <p:spPr>
            <a:xfrm>
              <a:off x="977646" y="10162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ollout_graph_n5"/>
            <p:cNvSpPr/>
            <p:nvPr/>
          </p:nvSpPr>
          <p:spPr>
            <a:xfrm>
              <a:off x="1167638" y="10162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ollout_graph_n6"/>
            <p:cNvSpPr/>
            <p:nvPr/>
          </p:nvSpPr>
          <p:spPr>
            <a:xfrm>
              <a:off x="1346454" y="10162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llout_graph_n7"/>
            <p:cNvSpPr/>
            <p:nvPr/>
          </p:nvSpPr>
          <p:spPr>
            <a:xfrm>
              <a:off x="787654" y="12067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ollout_graph_n8"/>
            <p:cNvSpPr/>
            <p:nvPr/>
          </p:nvSpPr>
          <p:spPr>
            <a:xfrm>
              <a:off x="977646" y="12067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ollout_graph_n9"/>
            <p:cNvSpPr/>
            <p:nvPr/>
          </p:nvSpPr>
          <p:spPr>
            <a:xfrm>
              <a:off x="1167638" y="12067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ransitions"/>
            <p:cNvSpPr txBox="1"/>
            <p:nvPr/>
          </p:nvSpPr>
          <p:spPr>
            <a:xfrm>
              <a:off x="762000" y="1308100"/>
              <a:ext cx="685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85AA0"/>
                  </a:solidFill>
                  <a:latin typeface="Liberation Serif"/>
                </a:rPr>
                <a:t>transition edges</a:t>
              </a:r>
            </a:p>
          </p:txBody>
        </p:sp>
        <p:sp>
          <p:nvSpPr>
            <p:cNvPr id="57" name="inputmatrix0_0_0"/>
            <p:cNvSpPr/>
            <p:nvPr/>
          </p:nvSpPr>
          <p:spPr>
            <a:xfrm>
              <a:off x="800100" y="1600200"/>
              <a:ext cx="67733" cy="67733"/>
            </a:xfrm>
            <a:prstGeom prst="rect">
              <a:avLst/>
            </a:prstGeom>
            <a:solidFill>
              <a:srgbClr val="285AA0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inputmatrix0_0_1"/>
            <p:cNvSpPr/>
            <p:nvPr/>
          </p:nvSpPr>
          <p:spPr>
            <a:xfrm>
              <a:off x="867833" y="1600200"/>
              <a:ext cx="67733" cy="67733"/>
            </a:xfrm>
            <a:prstGeom prst="rect">
              <a:avLst/>
            </a:prstGeom>
            <a:solidFill>
              <a:srgbClr val="285AA0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inputmatrix0_0_2"/>
            <p:cNvSpPr/>
            <p:nvPr/>
          </p:nvSpPr>
          <p:spPr>
            <a:xfrm>
              <a:off x="935566" y="1600200"/>
              <a:ext cx="67733" cy="67733"/>
            </a:xfrm>
            <a:prstGeom prst="rect">
              <a:avLst/>
            </a:prstGeom>
            <a:solidFill>
              <a:srgbClr val="EEF1FA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inputmatrix0_1_0"/>
            <p:cNvSpPr/>
            <p:nvPr/>
          </p:nvSpPr>
          <p:spPr>
            <a:xfrm>
              <a:off x="800100" y="1667933"/>
              <a:ext cx="67733" cy="67733"/>
            </a:xfrm>
            <a:prstGeom prst="rect">
              <a:avLst/>
            </a:prstGeom>
            <a:solidFill>
              <a:srgbClr val="285AA0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inputmatrix0_1_1"/>
            <p:cNvSpPr/>
            <p:nvPr/>
          </p:nvSpPr>
          <p:spPr>
            <a:xfrm>
              <a:off x="867833" y="1667933"/>
              <a:ext cx="67733" cy="67733"/>
            </a:xfrm>
            <a:prstGeom prst="rect">
              <a:avLst/>
            </a:prstGeom>
            <a:solidFill>
              <a:srgbClr val="285AA0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inputmatrix0_1_2"/>
            <p:cNvSpPr/>
            <p:nvPr/>
          </p:nvSpPr>
          <p:spPr>
            <a:xfrm>
              <a:off x="935566" y="1667933"/>
              <a:ext cx="67733" cy="67733"/>
            </a:xfrm>
            <a:prstGeom prst="rect">
              <a:avLst/>
            </a:prstGeom>
            <a:solidFill>
              <a:srgbClr val="EEF1FA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inputmatrix0_2_0"/>
            <p:cNvSpPr/>
            <p:nvPr/>
          </p:nvSpPr>
          <p:spPr>
            <a:xfrm>
              <a:off x="800100" y="1735666"/>
              <a:ext cx="67733" cy="67733"/>
            </a:xfrm>
            <a:prstGeom prst="rect">
              <a:avLst/>
            </a:prstGeom>
            <a:solidFill>
              <a:srgbClr val="EEF1FA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inputmatrix0_2_1"/>
            <p:cNvSpPr/>
            <p:nvPr/>
          </p:nvSpPr>
          <p:spPr>
            <a:xfrm>
              <a:off x="867833" y="1735666"/>
              <a:ext cx="67733" cy="67733"/>
            </a:xfrm>
            <a:prstGeom prst="rect">
              <a:avLst/>
            </a:prstGeom>
            <a:solidFill>
              <a:srgbClr val="EEF1FA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inputmatrix0_2_2"/>
            <p:cNvSpPr/>
            <p:nvPr/>
          </p:nvSpPr>
          <p:spPr>
            <a:xfrm>
              <a:off x="935566" y="1735666"/>
              <a:ext cx="67733" cy="67733"/>
            </a:xfrm>
            <a:prstGeom prst="rect">
              <a:avLst/>
            </a:prstGeom>
            <a:solidFill>
              <a:srgbClr val="285AA0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input_name0"/>
            <p:cNvSpPr txBox="1"/>
            <p:nvPr/>
          </p:nvSpPr>
          <p:spPr>
            <a:xfrm>
              <a:off x="1003300" y="1778000"/>
              <a:ext cx="457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85AA0"/>
                  </a:solidFill>
                  <a:latin typeface="Liberation Serif"/>
                </a:rPr>
                <a:t>flow</a:t>
              </a:r>
            </a:p>
          </p:txBody>
        </p:sp>
        <p:sp>
          <p:nvSpPr>
            <p:cNvPr id="67" name="inputmatrix1_0_0"/>
            <p:cNvSpPr/>
            <p:nvPr/>
          </p:nvSpPr>
          <p:spPr>
            <a:xfrm>
              <a:off x="800100" y="1930400"/>
              <a:ext cx="67733" cy="67733"/>
            </a:xfrm>
            <a:prstGeom prst="rect">
              <a:avLst/>
            </a:prstGeom>
            <a:solidFill>
              <a:srgbClr val="697681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inputmatrix1_0_1"/>
            <p:cNvSpPr/>
            <p:nvPr/>
          </p:nvSpPr>
          <p:spPr>
            <a:xfrm>
              <a:off x="867833" y="1930400"/>
              <a:ext cx="67733" cy="67733"/>
            </a:xfrm>
            <a:prstGeom prst="rect">
              <a:avLst/>
            </a:prstGeom>
            <a:solidFill>
              <a:srgbClr val="697681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inputmatrix1_0_2"/>
            <p:cNvSpPr/>
            <p:nvPr/>
          </p:nvSpPr>
          <p:spPr>
            <a:xfrm>
              <a:off x="935566" y="1930400"/>
              <a:ext cx="67733" cy="67733"/>
            </a:xfrm>
            <a:prstGeom prst="rect">
              <a:avLst/>
            </a:prstGeom>
            <a:solidFill>
              <a:srgbClr val="F3EDF8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inputmatrix1_1_0"/>
            <p:cNvSpPr/>
            <p:nvPr/>
          </p:nvSpPr>
          <p:spPr>
            <a:xfrm>
              <a:off x="800100" y="1998133"/>
              <a:ext cx="67733" cy="67733"/>
            </a:xfrm>
            <a:prstGeom prst="rect">
              <a:avLst/>
            </a:prstGeom>
            <a:solidFill>
              <a:srgbClr val="697681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inputmatrix1_1_1"/>
            <p:cNvSpPr/>
            <p:nvPr/>
          </p:nvSpPr>
          <p:spPr>
            <a:xfrm>
              <a:off x="867833" y="1998133"/>
              <a:ext cx="67733" cy="67733"/>
            </a:xfrm>
            <a:prstGeom prst="rect">
              <a:avLst/>
            </a:prstGeom>
            <a:solidFill>
              <a:srgbClr val="697681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inputmatrix1_1_2"/>
            <p:cNvSpPr/>
            <p:nvPr/>
          </p:nvSpPr>
          <p:spPr>
            <a:xfrm>
              <a:off x="935566" y="1998133"/>
              <a:ext cx="67733" cy="67733"/>
            </a:xfrm>
            <a:prstGeom prst="rect">
              <a:avLst/>
            </a:prstGeom>
            <a:solidFill>
              <a:srgbClr val="F3EDF8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inputmatrix1_2_0"/>
            <p:cNvSpPr/>
            <p:nvPr/>
          </p:nvSpPr>
          <p:spPr>
            <a:xfrm>
              <a:off x="800100" y="2065866"/>
              <a:ext cx="67733" cy="67733"/>
            </a:xfrm>
            <a:prstGeom prst="rect">
              <a:avLst/>
            </a:prstGeom>
            <a:solidFill>
              <a:srgbClr val="F3EDF8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inputmatrix1_2_1"/>
            <p:cNvSpPr/>
            <p:nvPr/>
          </p:nvSpPr>
          <p:spPr>
            <a:xfrm>
              <a:off x="867833" y="2065866"/>
              <a:ext cx="67733" cy="67733"/>
            </a:xfrm>
            <a:prstGeom prst="rect">
              <a:avLst/>
            </a:prstGeom>
            <a:solidFill>
              <a:srgbClr val="F3EDF8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inputmatrix1_2_2"/>
            <p:cNvSpPr/>
            <p:nvPr/>
          </p:nvSpPr>
          <p:spPr>
            <a:xfrm>
              <a:off x="935566" y="2065866"/>
              <a:ext cx="67733" cy="67733"/>
            </a:xfrm>
            <a:prstGeom prst="rect">
              <a:avLst/>
            </a:prstGeom>
            <a:solidFill>
              <a:srgbClr val="697681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input_name1"/>
            <p:cNvSpPr txBox="1"/>
            <p:nvPr/>
          </p:nvSpPr>
          <p:spPr>
            <a:xfrm>
              <a:off x="1003300" y="2108200"/>
              <a:ext cx="457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681"/>
                  </a:solidFill>
                  <a:latin typeface="Liberation Serif"/>
                </a:rPr>
                <a:t>advantage</a:t>
              </a:r>
            </a:p>
          </p:txBody>
        </p:sp>
        <p:sp>
          <p:nvSpPr>
            <p:cNvPr id="77" name="inputmatrix2_0_0"/>
            <p:cNvSpPr/>
            <p:nvPr/>
          </p:nvSpPr>
          <p:spPr>
            <a:xfrm>
              <a:off x="800100" y="2260600"/>
              <a:ext cx="67733" cy="67733"/>
            </a:xfrm>
            <a:prstGeom prst="rect">
              <a:avLst/>
            </a:prstGeom>
            <a:solidFill>
              <a:srgbClr val="18785B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inputmatrix2_0_1"/>
            <p:cNvSpPr/>
            <p:nvPr/>
          </p:nvSpPr>
          <p:spPr>
            <a:xfrm>
              <a:off x="867833" y="2260600"/>
              <a:ext cx="67733" cy="67733"/>
            </a:xfrm>
            <a:prstGeom prst="rect">
              <a:avLst/>
            </a:prstGeom>
            <a:solidFill>
              <a:srgbClr val="18785B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inputmatrix2_0_2"/>
            <p:cNvSpPr/>
            <p:nvPr/>
          </p:nvSpPr>
          <p:spPr>
            <a:xfrm>
              <a:off x="935566" y="2260600"/>
              <a:ext cx="67733" cy="67733"/>
            </a:xfrm>
            <a:prstGeom prst="rect">
              <a:avLst/>
            </a:prstGeom>
            <a:solidFill>
              <a:srgbClr val="F1F7F1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inputmatrix2_1_0"/>
            <p:cNvSpPr/>
            <p:nvPr/>
          </p:nvSpPr>
          <p:spPr>
            <a:xfrm>
              <a:off x="800100" y="2328333"/>
              <a:ext cx="67733" cy="67733"/>
            </a:xfrm>
            <a:prstGeom prst="rect">
              <a:avLst/>
            </a:prstGeom>
            <a:solidFill>
              <a:srgbClr val="18785B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inputmatrix2_1_1"/>
            <p:cNvSpPr/>
            <p:nvPr/>
          </p:nvSpPr>
          <p:spPr>
            <a:xfrm>
              <a:off x="867833" y="2328333"/>
              <a:ext cx="67733" cy="67733"/>
            </a:xfrm>
            <a:prstGeom prst="rect">
              <a:avLst/>
            </a:prstGeom>
            <a:solidFill>
              <a:srgbClr val="18785B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inputmatrix2_1_2"/>
            <p:cNvSpPr/>
            <p:nvPr/>
          </p:nvSpPr>
          <p:spPr>
            <a:xfrm>
              <a:off x="935566" y="2328333"/>
              <a:ext cx="67733" cy="67733"/>
            </a:xfrm>
            <a:prstGeom prst="rect">
              <a:avLst/>
            </a:prstGeom>
            <a:solidFill>
              <a:srgbClr val="F1F7F1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inputmatrix2_2_0"/>
            <p:cNvSpPr/>
            <p:nvPr/>
          </p:nvSpPr>
          <p:spPr>
            <a:xfrm>
              <a:off x="800100" y="2396066"/>
              <a:ext cx="67733" cy="67733"/>
            </a:xfrm>
            <a:prstGeom prst="rect">
              <a:avLst/>
            </a:prstGeom>
            <a:solidFill>
              <a:srgbClr val="F1F7F1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inputmatrix2_2_1"/>
            <p:cNvSpPr/>
            <p:nvPr/>
          </p:nvSpPr>
          <p:spPr>
            <a:xfrm>
              <a:off x="867833" y="2396066"/>
              <a:ext cx="67733" cy="67733"/>
            </a:xfrm>
            <a:prstGeom prst="rect">
              <a:avLst/>
            </a:prstGeom>
            <a:solidFill>
              <a:srgbClr val="F1F7F1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inputmatrix2_2_2"/>
            <p:cNvSpPr/>
            <p:nvPr/>
          </p:nvSpPr>
          <p:spPr>
            <a:xfrm>
              <a:off x="935566" y="2396066"/>
              <a:ext cx="67733" cy="67733"/>
            </a:xfrm>
            <a:prstGeom prst="rect">
              <a:avLst/>
            </a:prstGeom>
            <a:solidFill>
              <a:srgbClr val="18785B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input_name2"/>
            <p:cNvSpPr txBox="1"/>
            <p:nvPr/>
          </p:nvSpPr>
          <p:spPr>
            <a:xfrm>
              <a:off x="1003300" y="2438400"/>
              <a:ext cx="457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costs</a:t>
              </a:r>
            </a:p>
          </p:txBody>
        </p:sp>
        <p:grpSp>
          <p:nvGrpSpPr>
            <p:cNvPr id="87" name="input_symbol0"/>
            <p:cNvGrpSpPr/>
            <p:nvPr/>
          </p:nvGrpSpPr>
          <p:grpSpPr>
            <a:xfrm>
              <a:off x="1185629" y="1646361"/>
              <a:ext cx="80585" cy="111019"/>
              <a:chOff x="1185629" y="1646361"/>
              <a:chExt cx="80585" cy="111019"/>
            </a:xfrm>
          </p:grpSpPr>
          <p:sp>
            <p:nvSpPr>
              <p:cNvPr id="88" name="input_symbol0_outline_0"/>
              <p:cNvSpPr/>
              <p:nvPr/>
            </p:nvSpPr>
            <p:spPr>
              <a:xfrm>
                <a:off x="1219411" y="1646361"/>
                <a:ext cx="39342" cy="21125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21126">
                    <a:moveTo>
                      <a:pt x="39342" y="21126"/>
                    </a:moveTo>
                    <a:lnTo>
                      <a:pt x="23531" y="0"/>
                    </a:lnTo>
                    <a:lnTo>
                      <a:pt x="15685" y="0"/>
                    </a:lnTo>
                    <a:lnTo>
                      <a:pt x="0" y="21126"/>
                    </a:lnTo>
                    <a:lnTo>
                      <a:pt x="4298" y="21126"/>
                    </a:lnTo>
                    <a:lnTo>
                      <a:pt x="19606" y="8096"/>
                    </a:lnTo>
                    <a:lnTo>
                      <a:pt x="35040" y="21126"/>
                    </a:lnTo>
                    <a:lnTo>
                      <a:pt x="39342" y="21126"/>
                    </a:lnTo>
                    <a:close/>
                  </a:path>
                </a:pathLst>
              </a:custGeom>
              <a:solidFill>
                <a:srgbClr val="285A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" name="input_symbol0_outline_1"/>
              <p:cNvSpPr/>
              <p:nvPr/>
            </p:nvSpPr>
            <p:spPr>
              <a:xfrm>
                <a:off x="1185629" y="167477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285A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0" name="input_symbol1"/>
            <p:cNvGrpSpPr/>
            <p:nvPr/>
          </p:nvGrpSpPr>
          <p:grpSpPr>
            <a:xfrm>
              <a:off x="1184362" y="1990197"/>
              <a:ext cx="77803" cy="84506"/>
              <a:chOff x="1184362" y="1990197"/>
              <a:chExt cx="77803" cy="84506"/>
            </a:xfrm>
          </p:grpSpPr>
          <p:sp>
            <p:nvSpPr>
              <p:cNvPr id="91" name="input_symbol1_outline_0"/>
              <p:cNvSpPr/>
              <p:nvPr/>
            </p:nvSpPr>
            <p:spPr>
              <a:xfrm>
                <a:off x="1184362" y="1990197"/>
                <a:ext cx="77803" cy="84506"/>
              </a:xfrm>
              <a:custGeom>
                <a:avLst/>
                <a:gdLst/>
                <a:ahLst/>
                <a:cxnLst/>
                <a:rect l="0" t="0" r="r" b="b"/>
                <a:pathLst>
                  <a:path w="77803" h="84507">
                    <a:moveTo>
                      <a:pt x="77803" y="84507"/>
                    </a:moveTo>
                    <a:lnTo>
                      <a:pt x="77803" y="82482"/>
                    </a:lnTo>
                    <a:cubicBezTo>
                      <a:pt x="70592" y="81851"/>
                      <a:pt x="69707" y="80839"/>
                      <a:pt x="68187" y="71604"/>
                    </a:cubicBezTo>
                    <a:lnTo>
                      <a:pt x="56297" y="0"/>
                    </a:lnTo>
                    <a:lnTo>
                      <a:pt x="53007" y="0"/>
                    </a:lnTo>
                    <a:lnTo>
                      <a:pt x="16319" y="63254"/>
                    </a:lnTo>
                    <a:cubicBezTo>
                      <a:pt x="6326" y="80077"/>
                      <a:pt x="5060" y="81470"/>
                      <a:pt x="0" y="82482"/>
                    </a:cubicBezTo>
                    <a:lnTo>
                      <a:pt x="0" y="84507"/>
                    </a:lnTo>
                    <a:lnTo>
                      <a:pt x="23658" y="84507"/>
                    </a:lnTo>
                    <a:lnTo>
                      <a:pt x="23658" y="82482"/>
                    </a:lnTo>
                    <a:cubicBezTo>
                      <a:pt x="17205" y="81851"/>
                      <a:pt x="16193" y="81216"/>
                      <a:pt x="16193" y="78053"/>
                    </a:cubicBezTo>
                    <a:cubicBezTo>
                      <a:pt x="16193" y="75652"/>
                      <a:pt x="16574" y="74513"/>
                      <a:pt x="18725" y="70211"/>
                    </a:cubicBezTo>
                    <a:lnTo>
                      <a:pt x="25936" y="55916"/>
                    </a:lnTo>
                    <a:lnTo>
                      <a:pt x="53769" y="55916"/>
                    </a:lnTo>
                    <a:lnTo>
                      <a:pt x="56297" y="72489"/>
                    </a:lnTo>
                    <a:cubicBezTo>
                      <a:pt x="56424" y="73628"/>
                      <a:pt x="56551" y="74767"/>
                      <a:pt x="56551" y="75779"/>
                    </a:cubicBezTo>
                    <a:cubicBezTo>
                      <a:pt x="56551" y="80585"/>
                      <a:pt x="54781" y="81724"/>
                      <a:pt x="46684" y="82482"/>
                    </a:cubicBezTo>
                    <a:lnTo>
                      <a:pt x="46684" y="84507"/>
                    </a:lnTo>
                    <a:lnTo>
                      <a:pt x="77803" y="84507"/>
                    </a:lnTo>
                    <a:close/>
                    <a:moveTo>
                      <a:pt x="53134" y="51363"/>
                    </a:moveTo>
                    <a:lnTo>
                      <a:pt x="28591" y="51363"/>
                    </a:lnTo>
                    <a:lnTo>
                      <a:pt x="47569" y="18470"/>
                    </a:lnTo>
                    <a:lnTo>
                      <a:pt x="53134" y="51363"/>
                    </a:lnTo>
                    <a:close/>
                  </a:path>
                </a:pathLst>
              </a:custGeom>
              <a:solidFill>
                <a:srgbClr val="69768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2" name="input_symbol2"/>
            <p:cNvGrpSpPr/>
            <p:nvPr/>
          </p:nvGrpSpPr>
          <p:grpSpPr>
            <a:xfrm>
              <a:off x="1156690" y="2307563"/>
              <a:ext cx="133011" cy="110782"/>
              <a:chOff x="1156690" y="2307563"/>
              <a:chExt cx="133011" cy="110782"/>
            </a:xfrm>
          </p:grpSpPr>
          <p:sp>
            <p:nvSpPr>
              <p:cNvPr id="93" name="input_symbol2_outline_0"/>
              <p:cNvSpPr/>
              <p:nvPr/>
            </p:nvSpPr>
            <p:spPr>
              <a:xfrm>
                <a:off x="1156690" y="2307563"/>
                <a:ext cx="78811" cy="86530"/>
              </a:xfrm>
              <a:custGeom>
                <a:avLst/>
                <a:gdLst/>
                <a:ahLst/>
                <a:cxnLst/>
                <a:rect l="0" t="0" r="r" b="b"/>
                <a:pathLst>
                  <a:path w="78811" h="86531">
                    <a:moveTo>
                      <a:pt x="67556" y="67679"/>
                    </a:moveTo>
                    <a:lnTo>
                      <a:pt x="65405" y="65909"/>
                    </a:lnTo>
                    <a:cubicBezTo>
                      <a:pt x="54019" y="77168"/>
                      <a:pt x="46680" y="80835"/>
                      <a:pt x="36306" y="80835"/>
                    </a:cubicBezTo>
                    <a:cubicBezTo>
                      <a:pt x="22265" y="80835"/>
                      <a:pt x="14168" y="71350"/>
                      <a:pt x="14168" y="54904"/>
                    </a:cubicBezTo>
                    <a:cubicBezTo>
                      <a:pt x="14168" y="39850"/>
                      <a:pt x="20241" y="24543"/>
                      <a:pt x="30107" y="14295"/>
                    </a:cubicBezTo>
                    <a:cubicBezTo>
                      <a:pt x="36179" y="7969"/>
                      <a:pt x="44148" y="4552"/>
                      <a:pt x="52499" y="4552"/>
                    </a:cubicBezTo>
                    <a:cubicBezTo>
                      <a:pt x="64139" y="4552"/>
                      <a:pt x="70592" y="11382"/>
                      <a:pt x="71854" y="25047"/>
                    </a:cubicBezTo>
                    <a:lnTo>
                      <a:pt x="74132" y="25428"/>
                    </a:lnTo>
                    <a:lnTo>
                      <a:pt x="78811" y="250"/>
                    </a:lnTo>
                    <a:lnTo>
                      <a:pt x="76156" y="250"/>
                    </a:lnTo>
                    <a:cubicBezTo>
                      <a:pt x="75144" y="2274"/>
                      <a:pt x="73878" y="3036"/>
                      <a:pt x="71350" y="3036"/>
                    </a:cubicBezTo>
                    <a:cubicBezTo>
                      <a:pt x="70211" y="3036"/>
                      <a:pt x="68818" y="2782"/>
                      <a:pt x="66163" y="2151"/>
                    </a:cubicBezTo>
                    <a:cubicBezTo>
                      <a:pt x="60595" y="758"/>
                      <a:pt x="55535" y="0"/>
                      <a:pt x="51360" y="0"/>
                    </a:cubicBezTo>
                    <a:cubicBezTo>
                      <a:pt x="24289" y="0"/>
                      <a:pt x="0" y="25301"/>
                      <a:pt x="0" y="53511"/>
                    </a:cubicBezTo>
                    <a:cubicBezTo>
                      <a:pt x="0" y="72866"/>
                      <a:pt x="13660" y="86531"/>
                      <a:pt x="33016" y="86531"/>
                    </a:cubicBezTo>
                    <a:cubicBezTo>
                      <a:pt x="46049" y="86531"/>
                      <a:pt x="56170" y="81089"/>
                      <a:pt x="67556" y="67679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input_symbol2_outline_1"/>
              <p:cNvSpPr/>
              <p:nvPr/>
            </p:nvSpPr>
            <p:spPr>
              <a:xfrm>
                <a:off x="1239064" y="234633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95" name="module_stage3"/>
          <p:cNvGrpSpPr/>
          <p:nvPr/>
        </p:nvGrpSpPr>
        <p:grpSpPr>
          <a:xfrm>
            <a:off x="1536700" y="76200"/>
            <a:ext cx="800100" cy="2552700"/>
            <a:chOff x="1536700" y="76200"/>
            <a:chExt cx="800100" cy="2552700"/>
          </a:xfrm>
        </p:grpSpPr>
        <p:sp>
          <p:nvSpPr>
            <p:cNvPr id="96" name="stage3_border"/>
            <p:cNvSpPr/>
            <p:nvPr/>
          </p:nvSpPr>
          <p:spPr>
            <a:xfrm>
              <a:off x="1536700" y="76200"/>
              <a:ext cx="8001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budgetcard0"/>
            <p:cNvSpPr/>
            <p:nvPr/>
          </p:nvSpPr>
          <p:spPr>
            <a:xfrm>
              <a:off x="1625600" y="1447800"/>
              <a:ext cx="177800" cy="152400"/>
            </a:xfrm>
            <a:prstGeom prst="roundRect">
              <a:avLst>
                <a:gd name="adj" fmla="val 2500"/>
              </a:avLst>
            </a:prstGeom>
            <a:solidFill>
              <a:srgbClr val="F1F7F1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budgetcard1"/>
            <p:cNvSpPr/>
            <p:nvPr/>
          </p:nvSpPr>
          <p:spPr>
            <a:xfrm>
              <a:off x="1828800" y="1447800"/>
              <a:ext cx="177800" cy="152400"/>
            </a:xfrm>
            <a:prstGeom prst="roundRect">
              <a:avLst>
                <a:gd name="adj" fmla="val 2500"/>
              </a:avLst>
            </a:prstGeom>
            <a:solidFill>
              <a:srgbClr val="F1F7F1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budgetcard2"/>
            <p:cNvSpPr/>
            <p:nvPr/>
          </p:nvSpPr>
          <p:spPr>
            <a:xfrm>
              <a:off x="2032000" y="1447800"/>
              <a:ext cx="177800" cy="152400"/>
            </a:xfrm>
            <a:prstGeom prst="roundRect">
              <a:avLst>
                <a:gd name="adj" fmla="val 2500"/>
              </a:avLst>
            </a:prstGeom>
            <a:solidFill>
              <a:srgbClr val="F1F7F1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badge3"/>
            <p:cNvSpPr/>
            <p:nvPr/>
          </p:nvSpPr>
          <p:spPr>
            <a:xfrm>
              <a:off x="1587500" y="177800"/>
              <a:ext cx="146050" cy="146050"/>
            </a:xfrm>
            <a:prstGeom prst="ellipse">
              <a:avLst/>
            </a:prstGeom>
            <a:solidFill>
              <a:srgbClr val="1878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number3"/>
            <p:cNvSpPr txBox="1"/>
            <p:nvPr/>
          </p:nvSpPr>
          <p:spPr>
            <a:xfrm>
              <a:off x="15875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102" name="title3"/>
            <p:cNvSpPr txBox="1"/>
            <p:nvPr/>
          </p:nvSpPr>
          <p:spPr>
            <a:xfrm>
              <a:off x="1765300" y="114300"/>
              <a:ext cx="5461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18785B"/>
                  </a:solidFill>
                  <a:latin typeface="Liberation Serif"/>
                </a:rPr>
                <a:t>Set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18785B"/>
                  </a:solidFill>
                  <a:latin typeface="Liberation Serif"/>
                </a:rPr>
                <a:t>constraints</a:t>
              </a:r>
            </a:p>
          </p:txBody>
        </p:sp>
        <p:sp>
          <p:nvSpPr>
            <p:cNvPr id="103" name="soft_label"/>
            <p:cNvSpPr txBox="1"/>
            <p:nvPr/>
          </p:nvSpPr>
          <p:spPr>
            <a:xfrm>
              <a:off x="1562100" y="546100"/>
              <a:ext cx="7493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18785B"/>
                  </a:solidFill>
                  <a:latin typeface="Liberation Serif"/>
                </a:rPr>
                <a:t>Soft constraints</a:t>
              </a:r>
            </a:p>
          </p:txBody>
        </p:sp>
        <p:sp>
          <p:nvSpPr>
            <p:cNvPr id="104" name="budgetidx0"/>
            <p:cNvSpPr txBox="1"/>
            <p:nvPr/>
          </p:nvSpPr>
          <p:spPr>
            <a:xfrm>
              <a:off x="1625600" y="1447800"/>
              <a:ext cx="177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105" name="budgetidx1"/>
            <p:cNvSpPr txBox="1"/>
            <p:nvPr/>
          </p:nvSpPr>
          <p:spPr>
            <a:xfrm>
              <a:off x="1828800" y="1447800"/>
              <a:ext cx="177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106" name="budgetidx2"/>
            <p:cNvSpPr txBox="1"/>
            <p:nvPr/>
          </p:nvSpPr>
          <p:spPr>
            <a:xfrm>
              <a:off x="2032000" y="1447800"/>
              <a:ext cx="177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K</a:t>
              </a:r>
            </a:p>
          </p:txBody>
        </p:sp>
        <p:sp>
          <p:nvSpPr>
            <p:cNvPr id="107" name="hard_label"/>
            <p:cNvSpPr txBox="1"/>
            <p:nvPr/>
          </p:nvSpPr>
          <p:spPr>
            <a:xfrm>
              <a:off x="1549400" y="1778000"/>
              <a:ext cx="7747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AD4D46"/>
                  </a:solidFill>
                  <a:latin typeface="Liberation Serif"/>
                </a:rPr>
                <a:t>Hard constraints</a:t>
              </a:r>
            </a:p>
          </p:txBody>
        </p:sp>
        <p:sp>
          <p:nvSpPr>
            <p:cNvPr id="108" name="hard_graph_e0"/>
            <p:cNvSpPr/>
            <p:nvPr/>
          </p:nvSpPr>
          <p:spPr>
            <a:xfrm>
              <a:off x="1675002" y="2095500"/>
              <a:ext cx="133350" cy="127"/>
            </a:xfrm>
            <a:custGeom>
              <a:avLst/>
              <a:gdLst/>
              <a:ahLst/>
              <a:cxnLst/>
              <a:rect l="0" t="0" r="r" b="b"/>
              <a:pathLst>
                <a:path w="133350" h="1" fill="none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hard_graph_e1"/>
            <p:cNvSpPr/>
            <p:nvPr/>
          </p:nvSpPr>
          <p:spPr>
            <a:xfrm>
              <a:off x="1856358" y="2095500"/>
              <a:ext cx="133350" cy="127"/>
            </a:xfrm>
            <a:custGeom>
              <a:avLst/>
              <a:gdLst/>
              <a:ahLst/>
              <a:cxnLst/>
              <a:rect l="0" t="0" r="r" b="b"/>
              <a:pathLst>
                <a:path w="133350" h="1" fill="none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6604">
              <a:solidFill>
                <a:srgbClr val="AD4D4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hard_graph_x0"/>
            <p:cNvSpPr/>
            <p:nvPr/>
          </p:nvSpPr>
          <p:spPr>
            <a:xfrm>
              <a:off x="1908632" y="2081098"/>
              <a:ext cx="28803" cy="28803"/>
            </a:xfrm>
            <a:custGeom>
              <a:avLst/>
              <a:gdLst/>
              <a:ahLst/>
              <a:cxnLst/>
              <a:rect l="0" t="0" r="r" b="b"/>
              <a:pathLst>
                <a:path w="28803" h="28803" fill="none">
                  <a:moveTo>
                    <a:pt x="0" y="28803"/>
                  </a:moveTo>
                  <a:lnTo>
                    <a:pt x="28803" y="0"/>
                  </a:lnTo>
                </a:path>
              </a:pathLst>
            </a:custGeom>
            <a:noFill/>
            <a:ln w="889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hard_graph_x1"/>
            <p:cNvSpPr/>
            <p:nvPr/>
          </p:nvSpPr>
          <p:spPr>
            <a:xfrm>
              <a:off x="1908632" y="2081098"/>
              <a:ext cx="28803" cy="28803"/>
            </a:xfrm>
            <a:custGeom>
              <a:avLst/>
              <a:gdLst/>
              <a:ahLst/>
              <a:cxnLst/>
              <a:rect l="0" t="0" r="r" b="b"/>
              <a:pathLst>
                <a:path w="28803" h="28803" fill="none">
                  <a:moveTo>
                    <a:pt x="0" y="0"/>
                  </a:moveTo>
                  <a:lnTo>
                    <a:pt x="28803" y="28803"/>
                  </a:lnTo>
                </a:path>
              </a:pathLst>
            </a:custGeom>
            <a:noFill/>
            <a:ln w="889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hard_graph_e2"/>
            <p:cNvSpPr/>
            <p:nvPr/>
          </p:nvSpPr>
          <p:spPr>
            <a:xfrm>
              <a:off x="1651000" y="2119503"/>
              <a:ext cx="127" cy="78994"/>
            </a:xfrm>
            <a:custGeom>
              <a:avLst/>
              <a:gdLst/>
              <a:ahLst/>
              <a:cxnLst/>
              <a:rect l="0" t="0" r="r" b="b"/>
              <a:pathLst>
                <a:path w="1" h="78994" fill="none">
                  <a:moveTo>
                    <a:pt x="0" y="0"/>
                  </a:moveTo>
                  <a:lnTo>
                    <a:pt x="0" y="78994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hard_graph_e3"/>
            <p:cNvSpPr/>
            <p:nvPr/>
          </p:nvSpPr>
          <p:spPr>
            <a:xfrm>
              <a:off x="1832356" y="2119503"/>
              <a:ext cx="127" cy="78994"/>
            </a:xfrm>
            <a:custGeom>
              <a:avLst/>
              <a:gdLst/>
              <a:ahLst/>
              <a:cxnLst/>
              <a:rect l="0" t="0" r="r" b="b"/>
              <a:pathLst>
                <a:path w="1" h="78994" fill="none">
                  <a:moveTo>
                    <a:pt x="0" y="0"/>
                  </a:moveTo>
                  <a:lnTo>
                    <a:pt x="0" y="78994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hard_graph_e4"/>
            <p:cNvSpPr/>
            <p:nvPr/>
          </p:nvSpPr>
          <p:spPr>
            <a:xfrm>
              <a:off x="2013712" y="2119503"/>
              <a:ext cx="127" cy="78994"/>
            </a:xfrm>
            <a:custGeom>
              <a:avLst/>
              <a:gdLst/>
              <a:ahLst/>
              <a:cxnLst/>
              <a:rect l="0" t="0" r="r" b="b"/>
              <a:pathLst>
                <a:path w="1" h="78994" fill="none">
                  <a:moveTo>
                    <a:pt x="0" y="0"/>
                  </a:moveTo>
                  <a:lnTo>
                    <a:pt x="0" y="78994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hard_graph_e5"/>
            <p:cNvSpPr/>
            <p:nvPr/>
          </p:nvSpPr>
          <p:spPr>
            <a:xfrm>
              <a:off x="1675002" y="2222500"/>
              <a:ext cx="133350" cy="127"/>
            </a:xfrm>
            <a:custGeom>
              <a:avLst/>
              <a:gdLst/>
              <a:ahLst/>
              <a:cxnLst/>
              <a:rect l="0" t="0" r="r" b="b"/>
              <a:pathLst>
                <a:path w="133350" h="1" fill="none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hard_graph_e6"/>
            <p:cNvSpPr/>
            <p:nvPr/>
          </p:nvSpPr>
          <p:spPr>
            <a:xfrm>
              <a:off x="1856358" y="2222500"/>
              <a:ext cx="133350" cy="127"/>
            </a:xfrm>
            <a:custGeom>
              <a:avLst/>
              <a:gdLst/>
              <a:ahLst/>
              <a:cxnLst/>
              <a:rect l="0" t="0" r="r" b="b"/>
              <a:pathLst>
                <a:path w="133350" h="1" fill="none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hard_graph_e7"/>
            <p:cNvSpPr/>
            <p:nvPr/>
          </p:nvSpPr>
          <p:spPr>
            <a:xfrm>
              <a:off x="2037714" y="2222500"/>
              <a:ext cx="122682" cy="127"/>
            </a:xfrm>
            <a:custGeom>
              <a:avLst/>
              <a:gdLst/>
              <a:ahLst/>
              <a:cxnLst/>
              <a:rect l="0" t="0" r="r" b="b"/>
              <a:pathLst>
                <a:path w="122682" h="1" fill="none">
                  <a:moveTo>
                    <a:pt x="0" y="0"/>
                  </a:moveTo>
                  <a:lnTo>
                    <a:pt x="122682" y="0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hard_graph_e8"/>
            <p:cNvSpPr/>
            <p:nvPr/>
          </p:nvSpPr>
          <p:spPr>
            <a:xfrm>
              <a:off x="1651000" y="2246503"/>
              <a:ext cx="127" cy="78994"/>
            </a:xfrm>
            <a:custGeom>
              <a:avLst/>
              <a:gdLst/>
              <a:ahLst/>
              <a:cxnLst/>
              <a:rect l="0" t="0" r="r" b="b"/>
              <a:pathLst>
                <a:path w="1" h="78994" fill="none">
                  <a:moveTo>
                    <a:pt x="0" y="0"/>
                  </a:moveTo>
                  <a:lnTo>
                    <a:pt x="0" y="78994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hard_graph_e9"/>
            <p:cNvSpPr/>
            <p:nvPr/>
          </p:nvSpPr>
          <p:spPr>
            <a:xfrm>
              <a:off x="1832356" y="2246503"/>
              <a:ext cx="127" cy="78994"/>
            </a:xfrm>
            <a:custGeom>
              <a:avLst/>
              <a:gdLst/>
              <a:ahLst/>
              <a:cxnLst/>
              <a:rect l="0" t="0" r="r" b="b"/>
              <a:pathLst>
                <a:path w="1" h="78994" fill="none">
                  <a:moveTo>
                    <a:pt x="0" y="0"/>
                  </a:moveTo>
                  <a:lnTo>
                    <a:pt x="0" y="78994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hard_graph_e10"/>
            <p:cNvSpPr/>
            <p:nvPr/>
          </p:nvSpPr>
          <p:spPr>
            <a:xfrm>
              <a:off x="2013712" y="2246503"/>
              <a:ext cx="127" cy="78994"/>
            </a:xfrm>
            <a:custGeom>
              <a:avLst/>
              <a:gdLst/>
              <a:ahLst/>
              <a:cxnLst/>
              <a:rect l="0" t="0" r="r" b="b"/>
              <a:pathLst>
                <a:path w="1" h="78994" fill="none">
                  <a:moveTo>
                    <a:pt x="0" y="0"/>
                  </a:moveTo>
                  <a:lnTo>
                    <a:pt x="0" y="78994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hard_graph_e11"/>
            <p:cNvSpPr/>
            <p:nvPr/>
          </p:nvSpPr>
          <p:spPr>
            <a:xfrm>
              <a:off x="1852017" y="2236268"/>
              <a:ext cx="142033" cy="99462"/>
            </a:xfrm>
            <a:custGeom>
              <a:avLst/>
              <a:gdLst/>
              <a:ahLst/>
              <a:cxnLst/>
              <a:rect l="0" t="0" r="r" b="b"/>
              <a:pathLst>
                <a:path w="142033" h="99462" fill="none">
                  <a:moveTo>
                    <a:pt x="0" y="99462"/>
                  </a:moveTo>
                  <a:lnTo>
                    <a:pt x="142033" y="0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hard_graph_n0"/>
            <p:cNvSpPr/>
            <p:nvPr/>
          </p:nvSpPr>
          <p:spPr>
            <a:xfrm>
              <a:off x="1626997" y="2071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hard_graph_n1"/>
            <p:cNvSpPr/>
            <p:nvPr/>
          </p:nvSpPr>
          <p:spPr>
            <a:xfrm>
              <a:off x="1808353" y="2071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hard_graph_n2"/>
            <p:cNvSpPr/>
            <p:nvPr/>
          </p:nvSpPr>
          <p:spPr>
            <a:xfrm>
              <a:off x="1989709" y="2071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hard_graph_n3"/>
            <p:cNvSpPr/>
            <p:nvPr/>
          </p:nvSpPr>
          <p:spPr>
            <a:xfrm>
              <a:off x="1626997" y="2198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hard_graph_n4"/>
            <p:cNvSpPr/>
            <p:nvPr/>
          </p:nvSpPr>
          <p:spPr>
            <a:xfrm>
              <a:off x="1808353" y="2198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hard_graph_n5"/>
            <p:cNvSpPr/>
            <p:nvPr/>
          </p:nvSpPr>
          <p:spPr>
            <a:xfrm>
              <a:off x="1989709" y="2198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hard_graph_n6"/>
            <p:cNvSpPr/>
            <p:nvPr/>
          </p:nvSpPr>
          <p:spPr>
            <a:xfrm>
              <a:off x="2160397" y="2198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hard_graph_n7"/>
            <p:cNvSpPr/>
            <p:nvPr/>
          </p:nvSpPr>
          <p:spPr>
            <a:xfrm>
              <a:off x="1626997" y="2325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hard_graph_n8"/>
            <p:cNvSpPr/>
            <p:nvPr/>
          </p:nvSpPr>
          <p:spPr>
            <a:xfrm>
              <a:off x="1808353" y="2325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hard_graph_n9"/>
            <p:cNvSpPr/>
            <p:nvPr/>
          </p:nvSpPr>
          <p:spPr>
            <a:xfrm>
              <a:off x="1989709" y="2325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32" name="budget_conversion"/>
            <p:cNvGrpSpPr/>
            <p:nvPr/>
          </p:nvGrpSpPr>
          <p:grpSpPr>
            <a:xfrm>
              <a:off x="1662258" y="838697"/>
              <a:ext cx="548959" cy="113732"/>
              <a:chOff x="1662258" y="838697"/>
              <a:chExt cx="548959" cy="113732"/>
            </a:xfrm>
          </p:grpSpPr>
          <p:sp>
            <p:nvSpPr>
              <p:cNvPr id="133" name="budget_conversion_outline_0"/>
              <p:cNvSpPr/>
              <p:nvPr/>
            </p:nvSpPr>
            <p:spPr>
              <a:xfrm>
                <a:off x="1662258" y="841582"/>
                <a:ext cx="54082" cy="83403"/>
              </a:xfrm>
              <a:custGeom>
                <a:avLst/>
                <a:gdLst/>
                <a:ahLst/>
                <a:cxnLst/>
                <a:rect l="0" t="0" r="r" b="b"/>
                <a:pathLst>
                  <a:path w="54082" h="83403">
                    <a:moveTo>
                      <a:pt x="54082" y="43505"/>
                    </a:moveTo>
                    <a:cubicBezTo>
                      <a:pt x="54082" y="35092"/>
                      <a:pt x="48193" y="29083"/>
                      <a:pt x="40144" y="29083"/>
                    </a:cubicBezTo>
                    <a:cubicBezTo>
                      <a:pt x="31730" y="29083"/>
                      <a:pt x="25479" y="34008"/>
                      <a:pt x="16947" y="47228"/>
                    </a:cubicBezTo>
                    <a:lnTo>
                      <a:pt x="29444" y="599"/>
                    </a:lnTo>
                    <a:lnTo>
                      <a:pt x="28845" y="0"/>
                    </a:lnTo>
                    <a:cubicBezTo>
                      <a:pt x="22836" y="1079"/>
                      <a:pt x="18510" y="1802"/>
                      <a:pt x="10458" y="2762"/>
                    </a:cubicBezTo>
                    <a:lnTo>
                      <a:pt x="10458" y="4806"/>
                    </a:lnTo>
                    <a:cubicBezTo>
                      <a:pt x="17550" y="5044"/>
                      <a:pt x="18268" y="5405"/>
                      <a:pt x="18268" y="8053"/>
                    </a:cubicBezTo>
                    <a:cubicBezTo>
                      <a:pt x="18268" y="9132"/>
                      <a:pt x="18030" y="10454"/>
                      <a:pt x="17189" y="13220"/>
                    </a:cubicBezTo>
                    <a:lnTo>
                      <a:pt x="16585" y="15502"/>
                    </a:lnTo>
                    <a:lnTo>
                      <a:pt x="16347" y="16343"/>
                    </a:lnTo>
                    <a:lnTo>
                      <a:pt x="0" y="76553"/>
                    </a:lnTo>
                    <a:lnTo>
                      <a:pt x="0" y="77033"/>
                    </a:lnTo>
                    <a:cubicBezTo>
                      <a:pt x="0" y="79800"/>
                      <a:pt x="9136" y="83403"/>
                      <a:pt x="15986" y="83403"/>
                    </a:cubicBezTo>
                    <a:cubicBezTo>
                      <a:pt x="34131" y="83403"/>
                      <a:pt x="54082" y="62492"/>
                      <a:pt x="54082" y="43505"/>
                    </a:cubicBezTo>
                    <a:close/>
                    <a:moveTo>
                      <a:pt x="43867" y="45307"/>
                    </a:moveTo>
                    <a:cubicBezTo>
                      <a:pt x="43867" y="53237"/>
                      <a:pt x="37858" y="66099"/>
                      <a:pt x="30647" y="73549"/>
                    </a:cubicBezTo>
                    <a:cubicBezTo>
                      <a:pt x="26202" y="78117"/>
                      <a:pt x="21034" y="80641"/>
                      <a:pt x="15867" y="80641"/>
                    </a:cubicBezTo>
                    <a:cubicBezTo>
                      <a:pt x="12140" y="80641"/>
                      <a:pt x="10339" y="79319"/>
                      <a:pt x="10339" y="76553"/>
                    </a:cubicBezTo>
                    <a:cubicBezTo>
                      <a:pt x="10339" y="69342"/>
                      <a:pt x="13942" y="57805"/>
                      <a:pt x="18991" y="48792"/>
                    </a:cubicBezTo>
                    <a:cubicBezTo>
                      <a:pt x="24277" y="39537"/>
                      <a:pt x="29686" y="34973"/>
                      <a:pt x="35457" y="34973"/>
                    </a:cubicBezTo>
                    <a:cubicBezTo>
                      <a:pt x="40743" y="34973"/>
                      <a:pt x="43867" y="38937"/>
                      <a:pt x="43867" y="4530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budget_conversion_outline_1"/>
              <p:cNvSpPr/>
              <p:nvPr/>
            </p:nvSpPr>
            <p:spPr>
              <a:xfrm>
                <a:off x="1730369" y="880417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budget_conversion_outline_2"/>
              <p:cNvSpPr/>
              <p:nvPr/>
            </p:nvSpPr>
            <p:spPr>
              <a:xfrm>
                <a:off x="1832896" y="877273"/>
                <a:ext cx="61535" cy="31126"/>
              </a:xfrm>
              <a:custGeom>
                <a:avLst/>
                <a:gdLst/>
                <a:ahLst/>
                <a:cxnLst/>
                <a:rect l="0" t="0" r="r" b="b"/>
                <a:pathLst>
                  <a:path w="61536" h="31127">
                    <a:moveTo>
                      <a:pt x="61536" y="6731"/>
                    </a:moveTo>
                    <a:lnTo>
                      <a:pt x="61536" y="0"/>
                    </a:lnTo>
                    <a:lnTo>
                      <a:pt x="0" y="0"/>
                    </a:lnTo>
                    <a:lnTo>
                      <a:pt x="0" y="6731"/>
                    </a:lnTo>
                    <a:lnTo>
                      <a:pt x="61536" y="6731"/>
                    </a:lnTo>
                    <a:close/>
                    <a:moveTo>
                      <a:pt x="61536" y="31127"/>
                    </a:moveTo>
                    <a:lnTo>
                      <a:pt x="61536" y="24396"/>
                    </a:lnTo>
                    <a:lnTo>
                      <a:pt x="0" y="24396"/>
                    </a:lnTo>
                    <a:lnTo>
                      <a:pt x="0" y="31127"/>
                    </a:lnTo>
                    <a:lnTo>
                      <a:pt x="61536" y="31127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budget_conversion_outline_3"/>
              <p:cNvSpPr/>
              <p:nvPr/>
            </p:nvSpPr>
            <p:spPr>
              <a:xfrm>
                <a:off x="1939003" y="845186"/>
                <a:ext cx="71628" cy="78478"/>
              </a:xfrm>
              <a:custGeom>
                <a:avLst/>
                <a:gdLst/>
                <a:ahLst/>
                <a:cxnLst/>
                <a:rect l="0" t="0" r="r" b="b"/>
                <a:pathLst>
                  <a:path w="71628" h="78478">
                    <a:moveTo>
                      <a:pt x="65738" y="54443"/>
                    </a:moveTo>
                    <a:cubicBezTo>
                      <a:pt x="65738" y="45668"/>
                      <a:pt x="62012" y="41223"/>
                      <a:pt x="50594" y="36294"/>
                    </a:cubicBezTo>
                    <a:cubicBezTo>
                      <a:pt x="59126" y="34250"/>
                      <a:pt x="62611" y="32810"/>
                      <a:pt x="66457" y="29444"/>
                    </a:cubicBezTo>
                    <a:cubicBezTo>
                      <a:pt x="69822" y="26559"/>
                      <a:pt x="71628" y="22594"/>
                      <a:pt x="71628" y="17669"/>
                    </a:cubicBezTo>
                    <a:cubicBezTo>
                      <a:pt x="71628" y="6251"/>
                      <a:pt x="63095" y="0"/>
                      <a:pt x="47589" y="0"/>
                    </a:cubicBezTo>
                    <a:lnTo>
                      <a:pt x="16585" y="0"/>
                    </a:lnTo>
                    <a:lnTo>
                      <a:pt x="16585" y="1925"/>
                    </a:lnTo>
                    <a:cubicBezTo>
                      <a:pt x="24154" y="2524"/>
                      <a:pt x="25837" y="3366"/>
                      <a:pt x="25837" y="6850"/>
                    </a:cubicBezTo>
                    <a:cubicBezTo>
                      <a:pt x="25837" y="8652"/>
                      <a:pt x="25356" y="11537"/>
                      <a:pt x="24515" y="14541"/>
                    </a:cubicBezTo>
                    <a:lnTo>
                      <a:pt x="9735" y="67663"/>
                    </a:lnTo>
                    <a:cubicBezTo>
                      <a:pt x="7568" y="74632"/>
                      <a:pt x="6731" y="75355"/>
                      <a:pt x="0" y="76553"/>
                    </a:cubicBezTo>
                    <a:lnTo>
                      <a:pt x="0" y="78478"/>
                    </a:lnTo>
                    <a:lnTo>
                      <a:pt x="33889" y="78478"/>
                    </a:lnTo>
                    <a:cubicBezTo>
                      <a:pt x="52757" y="78478"/>
                      <a:pt x="65738" y="68743"/>
                      <a:pt x="65738" y="54443"/>
                    </a:cubicBezTo>
                    <a:close/>
                    <a:moveTo>
                      <a:pt x="52757" y="53963"/>
                    </a:moveTo>
                    <a:cubicBezTo>
                      <a:pt x="52757" y="66941"/>
                      <a:pt x="43867" y="74874"/>
                      <a:pt x="29202" y="74874"/>
                    </a:cubicBezTo>
                    <a:cubicBezTo>
                      <a:pt x="24154" y="74874"/>
                      <a:pt x="21511" y="73192"/>
                      <a:pt x="21511" y="69826"/>
                    </a:cubicBezTo>
                    <a:cubicBezTo>
                      <a:pt x="21511" y="68262"/>
                      <a:pt x="22955" y="62615"/>
                      <a:pt x="25718" y="52999"/>
                    </a:cubicBezTo>
                    <a:lnTo>
                      <a:pt x="29563" y="38699"/>
                    </a:lnTo>
                    <a:cubicBezTo>
                      <a:pt x="37136" y="38699"/>
                      <a:pt x="42303" y="39180"/>
                      <a:pt x="44708" y="40140"/>
                    </a:cubicBezTo>
                    <a:cubicBezTo>
                      <a:pt x="49752" y="42065"/>
                      <a:pt x="52757" y="47351"/>
                      <a:pt x="52757" y="53963"/>
                    </a:cubicBezTo>
                    <a:close/>
                    <a:moveTo>
                      <a:pt x="59488" y="16585"/>
                    </a:moveTo>
                    <a:cubicBezTo>
                      <a:pt x="59488" y="28964"/>
                      <a:pt x="51435" y="34853"/>
                      <a:pt x="34850" y="34853"/>
                    </a:cubicBezTo>
                    <a:lnTo>
                      <a:pt x="30766" y="34853"/>
                    </a:lnTo>
                    <a:lnTo>
                      <a:pt x="38576" y="6969"/>
                    </a:lnTo>
                    <a:cubicBezTo>
                      <a:pt x="39299" y="4326"/>
                      <a:pt x="40739" y="3608"/>
                      <a:pt x="45426" y="3608"/>
                    </a:cubicBezTo>
                    <a:cubicBezTo>
                      <a:pt x="55162" y="3608"/>
                      <a:pt x="59488" y="7691"/>
                      <a:pt x="59488" y="1658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budget_conversion_outline_4"/>
              <p:cNvSpPr/>
              <p:nvPr/>
            </p:nvSpPr>
            <p:spPr>
              <a:xfrm>
                <a:off x="2021543" y="880417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budget_conversion_outline_5"/>
              <p:cNvSpPr/>
              <p:nvPr/>
            </p:nvSpPr>
            <p:spPr>
              <a:xfrm>
                <a:off x="2090668" y="838697"/>
                <a:ext cx="40382" cy="108160"/>
              </a:xfrm>
              <a:custGeom>
                <a:avLst/>
                <a:gdLst/>
                <a:ahLst/>
                <a:cxnLst/>
                <a:rect l="0" t="0" r="r" b="b"/>
                <a:pathLst>
                  <a:path w="40382" h="108160">
                    <a:moveTo>
                      <a:pt x="0" y="108160"/>
                    </a:moveTo>
                    <a:lnTo>
                      <a:pt x="6251" y="108160"/>
                    </a:lnTo>
                    <a:lnTo>
                      <a:pt x="40382" y="0"/>
                    </a:lnTo>
                    <a:lnTo>
                      <a:pt x="34131" y="0"/>
                    </a:lnTo>
                    <a:lnTo>
                      <a:pt x="0" y="10816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budget_conversion_outline_6"/>
              <p:cNvSpPr/>
              <p:nvPr/>
            </p:nvSpPr>
            <p:spPr>
              <a:xfrm>
                <a:off x="2143078" y="845186"/>
                <a:ext cx="68139" cy="78478"/>
              </a:xfrm>
              <a:custGeom>
                <a:avLst/>
                <a:gdLst/>
                <a:ahLst/>
                <a:cxnLst/>
                <a:rect l="0" t="0" r="r" b="b"/>
                <a:pathLst>
                  <a:path w="68140" h="78478">
                    <a:moveTo>
                      <a:pt x="68140" y="56967"/>
                    </a:moveTo>
                    <a:lnTo>
                      <a:pt x="65738" y="56245"/>
                    </a:lnTo>
                    <a:cubicBezTo>
                      <a:pt x="61531" y="64897"/>
                      <a:pt x="58408" y="68624"/>
                      <a:pt x="53118" y="71267"/>
                    </a:cubicBezTo>
                    <a:cubicBezTo>
                      <a:pt x="48911" y="73430"/>
                      <a:pt x="43986" y="74152"/>
                      <a:pt x="33290" y="74152"/>
                    </a:cubicBezTo>
                    <a:cubicBezTo>
                      <a:pt x="24277" y="74152"/>
                      <a:pt x="21272" y="73192"/>
                      <a:pt x="21272" y="70064"/>
                    </a:cubicBezTo>
                    <a:cubicBezTo>
                      <a:pt x="21272" y="69104"/>
                      <a:pt x="21753" y="66580"/>
                      <a:pt x="22471" y="64056"/>
                    </a:cubicBezTo>
                    <a:lnTo>
                      <a:pt x="37255" y="10815"/>
                    </a:lnTo>
                    <a:cubicBezTo>
                      <a:pt x="39057" y="4687"/>
                      <a:pt x="42184" y="2405"/>
                      <a:pt x="49391" y="1925"/>
                    </a:cubicBezTo>
                    <a:lnTo>
                      <a:pt x="49391" y="0"/>
                    </a:lnTo>
                    <a:lnTo>
                      <a:pt x="16585" y="0"/>
                    </a:lnTo>
                    <a:lnTo>
                      <a:pt x="16585" y="1925"/>
                    </a:lnTo>
                    <a:cubicBezTo>
                      <a:pt x="24154" y="2643"/>
                      <a:pt x="25837" y="3608"/>
                      <a:pt x="25837" y="7092"/>
                    </a:cubicBezTo>
                    <a:cubicBezTo>
                      <a:pt x="25837" y="8894"/>
                      <a:pt x="25475" y="11299"/>
                      <a:pt x="24515" y="14541"/>
                    </a:cubicBezTo>
                    <a:lnTo>
                      <a:pt x="9735" y="67663"/>
                    </a:lnTo>
                    <a:cubicBezTo>
                      <a:pt x="7568" y="74632"/>
                      <a:pt x="6731" y="75355"/>
                      <a:pt x="0" y="76553"/>
                    </a:cubicBezTo>
                    <a:lnTo>
                      <a:pt x="0" y="78478"/>
                    </a:lnTo>
                    <a:lnTo>
                      <a:pt x="61170" y="78478"/>
                    </a:lnTo>
                    <a:lnTo>
                      <a:pt x="68140" y="56967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0" name="soft_constraints"/>
            <p:cNvGrpSpPr/>
            <p:nvPr/>
          </p:nvGrpSpPr>
          <p:grpSpPr>
            <a:xfrm>
              <a:off x="1617941" y="1177493"/>
              <a:ext cx="637341" cy="109244"/>
              <a:chOff x="1617941" y="1177493"/>
              <a:chExt cx="637341" cy="109244"/>
            </a:xfrm>
          </p:grpSpPr>
          <p:sp>
            <p:nvSpPr>
              <p:cNvPr id="141" name="soft_constraints_outline_0"/>
              <p:cNvSpPr/>
              <p:nvPr/>
            </p:nvSpPr>
            <p:spPr>
              <a:xfrm>
                <a:off x="1617941" y="1177493"/>
                <a:ext cx="28277" cy="96773"/>
              </a:xfrm>
              <a:custGeom>
                <a:avLst/>
                <a:gdLst/>
                <a:ahLst/>
                <a:cxnLst/>
                <a:rect l="0" t="0" r="r" b="b"/>
                <a:pathLst>
                  <a:path w="28277" h="96774">
                    <a:moveTo>
                      <a:pt x="28277" y="96774"/>
                    </a:moveTo>
                    <a:lnTo>
                      <a:pt x="7418" y="48387"/>
                    </a:lnTo>
                    <a:lnTo>
                      <a:pt x="28277" y="0"/>
                    </a:lnTo>
                    <a:lnTo>
                      <a:pt x="23118" y="0"/>
                    </a:lnTo>
                    <a:lnTo>
                      <a:pt x="0" y="48387"/>
                    </a:lnTo>
                    <a:lnTo>
                      <a:pt x="23118" y="96774"/>
                    </a:lnTo>
                    <a:lnTo>
                      <a:pt x="28277" y="9677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soft_constraints_outline_1"/>
              <p:cNvSpPr/>
              <p:nvPr/>
            </p:nvSpPr>
            <p:spPr>
              <a:xfrm>
                <a:off x="1663183" y="1181902"/>
                <a:ext cx="75508" cy="73763"/>
              </a:xfrm>
              <a:custGeom>
                <a:avLst/>
                <a:gdLst/>
                <a:ahLst/>
                <a:cxnLst/>
                <a:rect l="0" t="0" r="r" b="b"/>
                <a:pathLst>
                  <a:path w="75509" h="73763">
                    <a:moveTo>
                      <a:pt x="66369" y="57527"/>
                    </a:moveTo>
                    <a:lnTo>
                      <a:pt x="64218" y="56023"/>
                    </a:lnTo>
                    <a:cubicBezTo>
                      <a:pt x="53466" y="65592"/>
                      <a:pt x="46477" y="68707"/>
                      <a:pt x="36369" y="68707"/>
                    </a:cubicBezTo>
                    <a:cubicBezTo>
                      <a:pt x="22713" y="68707"/>
                      <a:pt x="14648" y="60646"/>
                      <a:pt x="14112" y="46665"/>
                    </a:cubicBezTo>
                    <a:cubicBezTo>
                      <a:pt x="13680" y="33869"/>
                      <a:pt x="19057" y="21074"/>
                      <a:pt x="28305" y="12367"/>
                    </a:cubicBezTo>
                    <a:cubicBezTo>
                      <a:pt x="34004" y="6989"/>
                      <a:pt x="41854" y="4088"/>
                      <a:pt x="50025" y="4088"/>
                    </a:cubicBezTo>
                    <a:cubicBezTo>
                      <a:pt x="61313" y="4088"/>
                      <a:pt x="67659" y="9894"/>
                      <a:pt x="69377" y="21507"/>
                    </a:cubicBezTo>
                    <a:lnTo>
                      <a:pt x="71635" y="21828"/>
                    </a:lnTo>
                    <a:lnTo>
                      <a:pt x="75509" y="214"/>
                    </a:lnTo>
                    <a:lnTo>
                      <a:pt x="72818" y="214"/>
                    </a:lnTo>
                    <a:cubicBezTo>
                      <a:pt x="71850" y="1937"/>
                      <a:pt x="70667" y="2794"/>
                      <a:pt x="68194" y="2794"/>
                    </a:cubicBezTo>
                    <a:cubicBezTo>
                      <a:pt x="67012" y="2794"/>
                      <a:pt x="65829" y="2365"/>
                      <a:pt x="63142" y="1830"/>
                    </a:cubicBezTo>
                    <a:cubicBezTo>
                      <a:pt x="57657" y="647"/>
                      <a:pt x="52712" y="0"/>
                      <a:pt x="48625" y="0"/>
                    </a:cubicBezTo>
                    <a:cubicBezTo>
                      <a:pt x="22173" y="0"/>
                      <a:pt x="-834" y="21721"/>
                      <a:pt x="23" y="45700"/>
                    </a:cubicBezTo>
                    <a:cubicBezTo>
                      <a:pt x="563" y="62151"/>
                      <a:pt x="14219" y="73763"/>
                      <a:pt x="33142" y="73763"/>
                    </a:cubicBezTo>
                    <a:cubicBezTo>
                      <a:pt x="45831" y="73763"/>
                      <a:pt x="55506" y="69140"/>
                      <a:pt x="66369" y="5752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soft_constraints_outline_2"/>
              <p:cNvSpPr/>
              <p:nvPr/>
            </p:nvSpPr>
            <p:spPr>
              <a:xfrm>
                <a:off x="1743635" y="121472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soft_constraints_outline_3"/>
              <p:cNvSpPr/>
              <p:nvPr/>
            </p:nvSpPr>
            <p:spPr>
              <a:xfrm>
                <a:off x="1813923" y="1242549"/>
                <a:ext cx="17093" cy="26447"/>
              </a:xfrm>
              <a:custGeom>
                <a:avLst/>
                <a:gdLst/>
                <a:ahLst/>
                <a:cxnLst/>
                <a:rect l="0" t="0" r="r" b="b"/>
                <a:pathLst>
                  <a:path w="17093" h="26448">
                    <a:moveTo>
                      <a:pt x="17093" y="10319"/>
                    </a:moveTo>
                    <a:cubicBezTo>
                      <a:pt x="17093" y="1397"/>
                      <a:pt x="10104" y="0"/>
                      <a:pt x="7203" y="0"/>
                    </a:cubicBezTo>
                    <a:cubicBezTo>
                      <a:pt x="4084" y="0"/>
                      <a:pt x="0" y="1933"/>
                      <a:pt x="0" y="6556"/>
                    </a:cubicBezTo>
                    <a:cubicBezTo>
                      <a:pt x="0" y="10858"/>
                      <a:pt x="4191" y="11934"/>
                      <a:pt x="7310" y="11934"/>
                    </a:cubicBezTo>
                    <a:cubicBezTo>
                      <a:pt x="8065" y="11934"/>
                      <a:pt x="8707" y="11827"/>
                      <a:pt x="9029" y="11720"/>
                    </a:cubicBezTo>
                    <a:cubicBezTo>
                      <a:pt x="9462" y="11613"/>
                      <a:pt x="9997" y="11501"/>
                      <a:pt x="10212" y="11501"/>
                    </a:cubicBezTo>
                    <a:cubicBezTo>
                      <a:pt x="10966" y="11501"/>
                      <a:pt x="11827" y="12041"/>
                      <a:pt x="11827" y="13010"/>
                    </a:cubicBezTo>
                    <a:cubicBezTo>
                      <a:pt x="11827" y="15053"/>
                      <a:pt x="9890" y="19677"/>
                      <a:pt x="2040" y="24190"/>
                    </a:cubicBezTo>
                    <a:lnTo>
                      <a:pt x="3115" y="26448"/>
                    </a:lnTo>
                    <a:cubicBezTo>
                      <a:pt x="6882" y="25372"/>
                      <a:pt x="17093" y="17955"/>
                      <a:pt x="17093" y="1031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soft_constraints_outline_4"/>
              <p:cNvSpPr/>
              <p:nvPr/>
            </p:nvSpPr>
            <p:spPr>
              <a:xfrm>
                <a:off x="1863155" y="1183299"/>
                <a:ext cx="74945" cy="70215"/>
              </a:xfrm>
              <a:custGeom>
                <a:avLst/>
                <a:gdLst/>
                <a:ahLst/>
                <a:cxnLst/>
                <a:rect l="0" t="0" r="r" b="b"/>
                <a:pathLst>
                  <a:path w="74946" h="70215">
                    <a:moveTo>
                      <a:pt x="71612" y="16450"/>
                    </a:moveTo>
                    <a:lnTo>
                      <a:pt x="74946" y="0"/>
                    </a:lnTo>
                    <a:lnTo>
                      <a:pt x="14621" y="0"/>
                    </a:lnTo>
                    <a:lnTo>
                      <a:pt x="14621" y="1723"/>
                    </a:lnTo>
                    <a:cubicBezTo>
                      <a:pt x="22797" y="2365"/>
                      <a:pt x="24301" y="3012"/>
                      <a:pt x="24408" y="6021"/>
                    </a:cubicBezTo>
                    <a:cubicBezTo>
                      <a:pt x="24408" y="7743"/>
                      <a:pt x="23868" y="10323"/>
                      <a:pt x="23225" y="13010"/>
                    </a:cubicBezTo>
                    <a:lnTo>
                      <a:pt x="9783" y="60539"/>
                    </a:lnTo>
                    <a:cubicBezTo>
                      <a:pt x="7850" y="66989"/>
                      <a:pt x="6989" y="67635"/>
                      <a:pt x="0" y="68497"/>
                    </a:cubicBezTo>
                    <a:lnTo>
                      <a:pt x="107" y="70215"/>
                    </a:lnTo>
                    <a:lnTo>
                      <a:pt x="31182" y="70215"/>
                    </a:lnTo>
                    <a:lnTo>
                      <a:pt x="31075" y="68497"/>
                    </a:lnTo>
                    <a:cubicBezTo>
                      <a:pt x="23979" y="68171"/>
                      <a:pt x="21828" y="66989"/>
                      <a:pt x="21721" y="63762"/>
                    </a:cubicBezTo>
                    <a:cubicBezTo>
                      <a:pt x="21721" y="62798"/>
                      <a:pt x="21828" y="61504"/>
                      <a:pt x="22471" y="58924"/>
                    </a:cubicBezTo>
                    <a:lnTo>
                      <a:pt x="29246" y="35163"/>
                    </a:lnTo>
                    <a:cubicBezTo>
                      <a:pt x="33548" y="35378"/>
                      <a:pt x="36128" y="35485"/>
                      <a:pt x="38707" y="35485"/>
                    </a:cubicBezTo>
                    <a:cubicBezTo>
                      <a:pt x="43224" y="35485"/>
                      <a:pt x="44085" y="35592"/>
                      <a:pt x="45160" y="36020"/>
                    </a:cubicBezTo>
                    <a:cubicBezTo>
                      <a:pt x="46879" y="36775"/>
                      <a:pt x="47847" y="38279"/>
                      <a:pt x="47954" y="40430"/>
                    </a:cubicBezTo>
                    <a:cubicBezTo>
                      <a:pt x="47954" y="42152"/>
                      <a:pt x="47847" y="43335"/>
                      <a:pt x="47740" y="46669"/>
                    </a:cubicBezTo>
                    <a:lnTo>
                      <a:pt x="49784" y="47204"/>
                    </a:lnTo>
                    <a:lnTo>
                      <a:pt x="58277" y="21935"/>
                    </a:lnTo>
                    <a:lnTo>
                      <a:pt x="56773" y="21400"/>
                    </a:lnTo>
                    <a:cubicBezTo>
                      <a:pt x="51614" y="31075"/>
                      <a:pt x="51181" y="31182"/>
                      <a:pt x="30428" y="31397"/>
                    </a:cubicBezTo>
                    <a:lnTo>
                      <a:pt x="37525" y="6346"/>
                    </a:lnTo>
                    <a:cubicBezTo>
                      <a:pt x="38064" y="4195"/>
                      <a:pt x="39783" y="3548"/>
                      <a:pt x="44621" y="3548"/>
                    </a:cubicBezTo>
                    <a:cubicBezTo>
                      <a:pt x="64730" y="3548"/>
                      <a:pt x="68814" y="4949"/>
                      <a:pt x="69032" y="11720"/>
                    </a:cubicBezTo>
                    <a:cubicBezTo>
                      <a:pt x="69140" y="12474"/>
                      <a:pt x="69140" y="12902"/>
                      <a:pt x="69032" y="14196"/>
                    </a:cubicBezTo>
                    <a:cubicBezTo>
                      <a:pt x="68921" y="14946"/>
                      <a:pt x="69032" y="15379"/>
                      <a:pt x="68921" y="16236"/>
                    </a:cubicBezTo>
                    <a:lnTo>
                      <a:pt x="71612" y="1645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soft_constraints_outline_5"/>
              <p:cNvSpPr/>
              <p:nvPr/>
            </p:nvSpPr>
            <p:spPr>
              <a:xfrm>
                <a:off x="1954236" y="1177493"/>
                <a:ext cx="28277" cy="96773"/>
              </a:xfrm>
              <a:custGeom>
                <a:avLst/>
                <a:gdLst/>
                <a:ahLst/>
                <a:cxnLst/>
                <a:rect l="0" t="0" r="r" b="b"/>
                <a:pathLst>
                  <a:path w="28277" h="96774">
                    <a:moveTo>
                      <a:pt x="28277" y="48387"/>
                    </a:moveTo>
                    <a:lnTo>
                      <a:pt x="5159" y="0"/>
                    </a:lnTo>
                    <a:lnTo>
                      <a:pt x="0" y="0"/>
                    </a:lnTo>
                    <a:lnTo>
                      <a:pt x="20860" y="48387"/>
                    </a:lnTo>
                    <a:lnTo>
                      <a:pt x="0" y="96774"/>
                    </a:lnTo>
                    <a:lnTo>
                      <a:pt x="5159" y="96774"/>
                    </a:lnTo>
                    <a:lnTo>
                      <a:pt x="28277" y="48387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soft_constraints_outline_6"/>
              <p:cNvSpPr/>
              <p:nvPr/>
            </p:nvSpPr>
            <p:spPr>
              <a:xfrm>
                <a:off x="2036247" y="1191796"/>
                <a:ext cx="55050" cy="67952"/>
              </a:xfrm>
              <a:custGeom>
                <a:avLst/>
                <a:gdLst/>
                <a:ahLst/>
                <a:cxnLst/>
                <a:rect l="0" t="0" r="r" b="b"/>
                <a:pathLst>
                  <a:path w="55051" h="67953">
                    <a:moveTo>
                      <a:pt x="55051" y="53975"/>
                    </a:moveTo>
                    <a:lnTo>
                      <a:pt x="55051" y="47954"/>
                    </a:lnTo>
                    <a:lnTo>
                      <a:pt x="10323" y="26988"/>
                    </a:lnTo>
                    <a:lnTo>
                      <a:pt x="55051" y="6021"/>
                    </a:lnTo>
                    <a:lnTo>
                      <a:pt x="55051" y="0"/>
                    </a:lnTo>
                    <a:lnTo>
                      <a:pt x="0" y="26019"/>
                    </a:lnTo>
                    <a:lnTo>
                      <a:pt x="0" y="28170"/>
                    </a:lnTo>
                    <a:lnTo>
                      <a:pt x="55051" y="53975"/>
                    </a:lnTo>
                    <a:close/>
                    <a:moveTo>
                      <a:pt x="55051" y="67953"/>
                    </a:moveTo>
                    <a:lnTo>
                      <a:pt x="55051" y="62254"/>
                    </a:lnTo>
                    <a:lnTo>
                      <a:pt x="0" y="62254"/>
                    </a:lnTo>
                    <a:lnTo>
                      <a:pt x="0" y="67953"/>
                    </a:lnTo>
                    <a:lnTo>
                      <a:pt x="55051" y="6795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soft_constraints_outline_7"/>
              <p:cNvSpPr/>
              <p:nvPr/>
            </p:nvSpPr>
            <p:spPr>
              <a:xfrm>
                <a:off x="2139163" y="1180073"/>
                <a:ext cx="54850" cy="74624"/>
              </a:xfrm>
              <a:custGeom>
                <a:avLst/>
                <a:gdLst/>
                <a:ahLst/>
                <a:cxnLst/>
                <a:rect l="0" t="0" r="r" b="b"/>
                <a:pathLst>
                  <a:path w="54851" h="74624">
                    <a:moveTo>
                      <a:pt x="54840" y="38925"/>
                    </a:moveTo>
                    <a:cubicBezTo>
                      <a:pt x="54626" y="31401"/>
                      <a:pt x="48280" y="26023"/>
                      <a:pt x="40001" y="26023"/>
                    </a:cubicBezTo>
                    <a:cubicBezTo>
                      <a:pt x="31397" y="26023"/>
                      <a:pt x="24948" y="30432"/>
                      <a:pt x="16669" y="42259"/>
                    </a:cubicBezTo>
                    <a:lnTo>
                      <a:pt x="28281" y="540"/>
                    </a:lnTo>
                    <a:lnTo>
                      <a:pt x="27420" y="0"/>
                    </a:lnTo>
                    <a:cubicBezTo>
                      <a:pt x="21185" y="968"/>
                      <a:pt x="16883" y="1615"/>
                      <a:pt x="8604" y="2477"/>
                    </a:cubicBezTo>
                    <a:lnTo>
                      <a:pt x="8711" y="4302"/>
                    </a:lnTo>
                    <a:cubicBezTo>
                      <a:pt x="15915" y="4516"/>
                      <a:pt x="16669" y="4842"/>
                      <a:pt x="16776" y="7207"/>
                    </a:cubicBezTo>
                    <a:cubicBezTo>
                      <a:pt x="16776" y="8176"/>
                      <a:pt x="16454" y="9358"/>
                      <a:pt x="15700" y="11831"/>
                    </a:cubicBezTo>
                    <a:lnTo>
                      <a:pt x="15161" y="13871"/>
                    </a:lnTo>
                    <a:lnTo>
                      <a:pt x="14946" y="14625"/>
                    </a:lnTo>
                    <a:lnTo>
                      <a:pt x="0" y="68497"/>
                    </a:lnTo>
                    <a:lnTo>
                      <a:pt x="107" y="68925"/>
                    </a:lnTo>
                    <a:cubicBezTo>
                      <a:pt x="107" y="71398"/>
                      <a:pt x="9680" y="74624"/>
                      <a:pt x="16669" y="74624"/>
                    </a:cubicBezTo>
                    <a:cubicBezTo>
                      <a:pt x="35377" y="74624"/>
                      <a:pt x="55376" y="55916"/>
                      <a:pt x="54840" y="38925"/>
                    </a:cubicBezTo>
                    <a:close/>
                    <a:moveTo>
                      <a:pt x="44303" y="40541"/>
                    </a:moveTo>
                    <a:cubicBezTo>
                      <a:pt x="44517" y="47637"/>
                      <a:pt x="38497" y="59142"/>
                      <a:pt x="31508" y="65806"/>
                    </a:cubicBezTo>
                    <a:cubicBezTo>
                      <a:pt x="26991" y="69894"/>
                      <a:pt x="21828" y="72152"/>
                      <a:pt x="16562" y="72152"/>
                    </a:cubicBezTo>
                    <a:cubicBezTo>
                      <a:pt x="12795" y="72152"/>
                      <a:pt x="10862" y="70969"/>
                      <a:pt x="10755" y="68497"/>
                    </a:cubicBezTo>
                    <a:cubicBezTo>
                      <a:pt x="10537" y="62043"/>
                      <a:pt x="13871" y="51721"/>
                      <a:pt x="18820" y="43656"/>
                    </a:cubicBezTo>
                    <a:cubicBezTo>
                      <a:pt x="23872" y="35377"/>
                      <a:pt x="29357" y="31294"/>
                      <a:pt x="35270" y="31294"/>
                    </a:cubicBezTo>
                    <a:cubicBezTo>
                      <a:pt x="40644" y="31294"/>
                      <a:pt x="44085" y="34842"/>
                      <a:pt x="44303" y="4054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soft_constraints_outline_8"/>
              <p:cNvSpPr/>
              <p:nvPr/>
            </p:nvSpPr>
            <p:spPr>
              <a:xfrm>
                <a:off x="2204645" y="121472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0" name="hard_support"/>
            <p:cNvGrpSpPr/>
            <p:nvPr/>
          </p:nvGrpSpPr>
          <p:grpSpPr>
            <a:xfrm>
              <a:off x="1745668" y="2434802"/>
              <a:ext cx="383792" cy="108683"/>
              <a:chOff x="1745668" y="2434802"/>
              <a:chExt cx="383792" cy="108683"/>
            </a:xfrm>
          </p:grpSpPr>
          <p:sp>
            <p:nvSpPr>
              <p:cNvPr id="151" name="hard_support_outline_0"/>
              <p:cNvSpPr/>
              <p:nvPr/>
            </p:nvSpPr>
            <p:spPr>
              <a:xfrm>
                <a:off x="1745668" y="243771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09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09"/>
                    </a:lnTo>
                    <a:lnTo>
                      <a:pt x="31881" y="82609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5"/>
                    </a:cubicBezTo>
                    <a:cubicBezTo>
                      <a:pt x="51237" y="49340"/>
                      <a:pt x="50983" y="50855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6"/>
                      <a:pt x="74259" y="15180"/>
                      <a:pt x="74132" y="16700"/>
                    </a:cubicBezTo>
                    <a:cubicBezTo>
                      <a:pt x="74005" y="17585"/>
                      <a:pt x="74005" y="18089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AD4D4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hard_support_outline_1"/>
              <p:cNvSpPr/>
              <p:nvPr/>
            </p:nvSpPr>
            <p:spPr>
              <a:xfrm>
                <a:off x="1819928" y="2475731"/>
                <a:ext cx="87991" cy="67754"/>
              </a:xfrm>
              <a:custGeom>
                <a:avLst/>
                <a:gdLst/>
                <a:ahLst/>
                <a:cxnLst/>
                <a:rect l="0" t="0" r="r" b="b"/>
                <a:pathLst>
                  <a:path w="87991" h="67754">
                    <a:moveTo>
                      <a:pt x="74192" y="67754"/>
                    </a:moveTo>
                    <a:lnTo>
                      <a:pt x="74085" y="66096"/>
                    </a:lnTo>
                    <a:cubicBezTo>
                      <a:pt x="66306" y="65369"/>
                      <a:pt x="64956" y="64643"/>
                      <a:pt x="64853" y="61738"/>
                    </a:cubicBezTo>
                    <a:cubicBezTo>
                      <a:pt x="64853" y="60904"/>
                      <a:pt x="64853" y="60075"/>
                      <a:pt x="65060" y="59245"/>
                    </a:cubicBezTo>
                    <a:lnTo>
                      <a:pt x="78550" y="9338"/>
                    </a:lnTo>
                    <a:cubicBezTo>
                      <a:pt x="80312" y="3318"/>
                      <a:pt x="81351" y="2699"/>
                      <a:pt x="87991" y="1659"/>
                    </a:cubicBezTo>
                    <a:lnTo>
                      <a:pt x="87991" y="0"/>
                    </a:lnTo>
                    <a:lnTo>
                      <a:pt x="58210" y="0"/>
                    </a:lnTo>
                    <a:lnTo>
                      <a:pt x="58210" y="1659"/>
                    </a:lnTo>
                    <a:cubicBezTo>
                      <a:pt x="65060" y="2385"/>
                      <a:pt x="66719" y="3215"/>
                      <a:pt x="66822" y="6120"/>
                    </a:cubicBezTo>
                    <a:cubicBezTo>
                      <a:pt x="66822" y="7675"/>
                      <a:pt x="66306" y="9751"/>
                      <a:pt x="65683" y="12553"/>
                    </a:cubicBezTo>
                    <a:lnTo>
                      <a:pt x="61012" y="29571"/>
                    </a:lnTo>
                    <a:lnTo>
                      <a:pt x="29055" y="29571"/>
                    </a:lnTo>
                    <a:lnTo>
                      <a:pt x="34449" y="9338"/>
                    </a:lnTo>
                    <a:cubicBezTo>
                      <a:pt x="36005" y="4044"/>
                      <a:pt x="39120" y="2076"/>
                      <a:pt x="46176" y="1659"/>
                    </a:cubicBezTo>
                    <a:lnTo>
                      <a:pt x="46176" y="0"/>
                    </a:lnTo>
                    <a:lnTo>
                      <a:pt x="13283" y="0"/>
                    </a:lnTo>
                    <a:lnTo>
                      <a:pt x="13283" y="1659"/>
                    </a:lnTo>
                    <a:cubicBezTo>
                      <a:pt x="20753" y="2282"/>
                      <a:pt x="22622" y="3112"/>
                      <a:pt x="22725" y="6120"/>
                    </a:cubicBezTo>
                    <a:cubicBezTo>
                      <a:pt x="22725" y="7675"/>
                      <a:pt x="22519" y="9751"/>
                      <a:pt x="21582" y="12553"/>
                    </a:cubicBezTo>
                    <a:lnTo>
                      <a:pt x="9446" y="58416"/>
                    </a:lnTo>
                    <a:cubicBezTo>
                      <a:pt x="7576" y="64433"/>
                      <a:pt x="6644" y="65056"/>
                      <a:pt x="0" y="66096"/>
                    </a:cubicBezTo>
                    <a:lnTo>
                      <a:pt x="107" y="67754"/>
                    </a:lnTo>
                    <a:lnTo>
                      <a:pt x="29575" y="67754"/>
                    </a:lnTo>
                    <a:lnTo>
                      <a:pt x="29468" y="66096"/>
                    </a:lnTo>
                    <a:cubicBezTo>
                      <a:pt x="22416" y="65266"/>
                      <a:pt x="21066" y="64540"/>
                      <a:pt x="20963" y="61528"/>
                    </a:cubicBezTo>
                    <a:cubicBezTo>
                      <a:pt x="20963" y="60801"/>
                      <a:pt x="21066" y="59972"/>
                      <a:pt x="21273" y="59245"/>
                    </a:cubicBezTo>
                    <a:lnTo>
                      <a:pt x="27912" y="34135"/>
                    </a:lnTo>
                    <a:lnTo>
                      <a:pt x="59873" y="34135"/>
                    </a:lnTo>
                    <a:lnTo>
                      <a:pt x="53336" y="58416"/>
                    </a:lnTo>
                    <a:cubicBezTo>
                      <a:pt x="51673" y="63814"/>
                      <a:pt x="49288" y="65369"/>
                      <a:pt x="41505" y="66096"/>
                    </a:cubicBezTo>
                    <a:lnTo>
                      <a:pt x="41608" y="67754"/>
                    </a:lnTo>
                    <a:lnTo>
                      <a:pt x="74192" y="67754"/>
                    </a:lnTo>
                    <a:close/>
                  </a:path>
                </a:pathLst>
              </a:custGeom>
              <a:solidFill>
                <a:srgbClr val="AD4D4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hard_support_outline_2"/>
              <p:cNvSpPr/>
              <p:nvPr/>
            </p:nvSpPr>
            <p:spPr>
              <a:xfrm>
                <a:off x="1961476" y="2471489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AD4D4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hard_support_outline_3"/>
              <p:cNvSpPr/>
              <p:nvPr/>
            </p:nvSpPr>
            <p:spPr>
              <a:xfrm>
                <a:off x="2072279" y="2434802"/>
                <a:ext cx="57181" cy="87288"/>
              </a:xfrm>
              <a:custGeom>
                <a:avLst/>
                <a:gdLst/>
                <a:ahLst/>
                <a:cxnLst/>
                <a:rect l="0" t="0" r="r" b="b"/>
                <a:pathLst>
                  <a:path w="57182" h="87289">
                    <a:moveTo>
                      <a:pt x="57182" y="43771"/>
                    </a:moveTo>
                    <a:cubicBezTo>
                      <a:pt x="57182" y="17836"/>
                      <a:pt x="45668" y="0"/>
                      <a:pt x="29095" y="0"/>
                    </a:cubicBezTo>
                    <a:cubicBezTo>
                      <a:pt x="22138" y="0"/>
                      <a:pt x="16828" y="2151"/>
                      <a:pt x="12144" y="6576"/>
                    </a:cubicBezTo>
                    <a:cubicBezTo>
                      <a:pt x="4806" y="13661"/>
                      <a:pt x="0" y="28210"/>
                      <a:pt x="0" y="43013"/>
                    </a:cubicBezTo>
                    <a:cubicBezTo>
                      <a:pt x="0" y="56801"/>
                      <a:pt x="4175" y="71604"/>
                      <a:pt x="10120" y="78688"/>
                    </a:cubicBezTo>
                    <a:cubicBezTo>
                      <a:pt x="14803" y="84253"/>
                      <a:pt x="21253" y="87289"/>
                      <a:pt x="28591" y="87289"/>
                    </a:cubicBezTo>
                    <a:cubicBezTo>
                      <a:pt x="35044" y="87289"/>
                      <a:pt x="40481" y="85138"/>
                      <a:pt x="45037" y="80713"/>
                    </a:cubicBezTo>
                    <a:cubicBezTo>
                      <a:pt x="52376" y="73755"/>
                      <a:pt x="57182" y="59079"/>
                      <a:pt x="57182" y="43771"/>
                    </a:cubicBezTo>
                    <a:close/>
                    <a:moveTo>
                      <a:pt x="45037" y="44025"/>
                    </a:moveTo>
                    <a:cubicBezTo>
                      <a:pt x="45037" y="70465"/>
                      <a:pt x="39469" y="83999"/>
                      <a:pt x="28591" y="83999"/>
                    </a:cubicBezTo>
                    <a:cubicBezTo>
                      <a:pt x="17712" y="83999"/>
                      <a:pt x="12144" y="70465"/>
                      <a:pt x="12144" y="44152"/>
                    </a:cubicBezTo>
                    <a:cubicBezTo>
                      <a:pt x="12144" y="17332"/>
                      <a:pt x="17839" y="3290"/>
                      <a:pt x="28718" y="3290"/>
                    </a:cubicBezTo>
                    <a:cubicBezTo>
                      <a:pt x="39342" y="3290"/>
                      <a:pt x="45037" y="17586"/>
                      <a:pt x="45037" y="44025"/>
                    </a:cubicBezTo>
                    <a:close/>
                  </a:path>
                </a:pathLst>
              </a:custGeom>
              <a:solidFill>
                <a:srgbClr val="AD4D4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55" name="module_stage4"/>
          <p:cNvGrpSpPr/>
          <p:nvPr/>
        </p:nvGrpSpPr>
        <p:grpSpPr>
          <a:xfrm>
            <a:off x="2400300" y="76200"/>
            <a:ext cx="1130300" cy="2552700"/>
            <a:chOff x="2400300" y="76200"/>
            <a:chExt cx="1130300" cy="2552700"/>
          </a:xfrm>
        </p:grpSpPr>
        <p:sp>
          <p:nvSpPr>
            <p:cNvPr id="156" name="stage4_border"/>
            <p:cNvSpPr/>
            <p:nvPr/>
          </p:nvSpPr>
          <p:spPr>
            <a:xfrm>
              <a:off x="2400300" y="76200"/>
              <a:ext cx="1130300" cy="2552700"/>
            </a:xfrm>
            <a:prstGeom prst="roundRect">
              <a:avLst>
                <a:gd name="adj" fmla="val 2500"/>
              </a:avLst>
            </a:prstGeom>
            <a:solidFill>
              <a:srgbClr val="F5F9F5"/>
            </a:solidFill>
            <a:ln w="762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badge4"/>
            <p:cNvSpPr/>
            <p:nvPr/>
          </p:nvSpPr>
          <p:spPr>
            <a:xfrm>
              <a:off x="2451100" y="177800"/>
              <a:ext cx="146050" cy="146050"/>
            </a:xfrm>
            <a:prstGeom prst="ellipse">
              <a:avLst/>
            </a:prstGeom>
            <a:solidFill>
              <a:srgbClr val="1878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number4"/>
            <p:cNvSpPr txBox="1"/>
            <p:nvPr/>
          </p:nvSpPr>
          <p:spPr>
            <a:xfrm>
              <a:off x="24511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159" name="title4"/>
            <p:cNvSpPr txBox="1"/>
            <p:nvPr/>
          </p:nvSpPr>
          <p:spPr>
            <a:xfrm>
              <a:off x="2628900" y="114300"/>
              <a:ext cx="8763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18785B"/>
                  </a:solidFill>
                  <a:latin typeface="Liberation Serif"/>
                </a:rPr>
                <a:t>Entropic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18785B"/>
                  </a:solidFill>
                  <a:latin typeface="Liberation Serif"/>
                </a:rPr>
                <a:t>projection</a:t>
              </a:r>
            </a:p>
          </p:txBody>
        </p:sp>
        <p:sp>
          <p:nvSpPr>
            <p:cNvPr id="160" name="one_projection"/>
            <p:cNvSpPr txBox="1"/>
            <p:nvPr/>
          </p:nvSpPr>
          <p:spPr>
            <a:xfrm>
              <a:off x="2438400" y="546100"/>
              <a:ext cx="10541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18785B"/>
                  </a:solidFill>
                  <a:latin typeface="Liberation Serif"/>
                </a:rPr>
                <a:t>One flow solve</a:t>
              </a:r>
            </a:p>
          </p:txBody>
        </p:sp>
        <p:sp>
          <p:nvSpPr>
            <p:cNvPr id="161" name="observed_graph_e0"/>
            <p:cNvSpPr/>
            <p:nvPr/>
          </p:nvSpPr>
          <p:spPr>
            <a:xfrm>
              <a:off x="2783903" y="838200"/>
              <a:ext cx="155574" cy="127"/>
            </a:xfrm>
            <a:custGeom>
              <a:avLst/>
              <a:gdLst/>
              <a:ahLst/>
              <a:cxnLst/>
              <a:rect l="0" t="0" r="r" b="b"/>
              <a:pathLst>
                <a:path w="155574" h="1" fill="none">
                  <a:moveTo>
                    <a:pt x="0" y="0"/>
                  </a:moveTo>
                  <a:lnTo>
                    <a:pt x="155574" y="0"/>
                  </a:lnTo>
                </a:path>
              </a:pathLst>
            </a:custGeom>
            <a:noFill/>
            <a:ln w="1333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observed_graph_e1"/>
            <p:cNvSpPr/>
            <p:nvPr/>
          </p:nvSpPr>
          <p:spPr>
            <a:xfrm>
              <a:off x="2995485" y="838200"/>
              <a:ext cx="155574" cy="127"/>
            </a:xfrm>
            <a:custGeom>
              <a:avLst/>
              <a:gdLst/>
              <a:ahLst/>
              <a:cxnLst/>
              <a:rect l="0" t="0" r="r" b="b"/>
              <a:pathLst>
                <a:path w="155574" h="1" fill="none">
                  <a:moveTo>
                    <a:pt x="0" y="0"/>
                  </a:moveTo>
                  <a:lnTo>
                    <a:pt x="155574" y="0"/>
                  </a:lnTo>
                </a:path>
              </a:pathLst>
            </a:custGeom>
            <a:noFill/>
            <a:ln w="6604">
              <a:solidFill>
                <a:srgbClr val="AD4D4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observed_graph_x0"/>
            <p:cNvSpPr/>
            <p:nvPr/>
          </p:nvSpPr>
          <p:spPr>
            <a:xfrm>
              <a:off x="3056470" y="821397"/>
              <a:ext cx="33604" cy="33604"/>
            </a:xfrm>
            <a:custGeom>
              <a:avLst/>
              <a:gdLst/>
              <a:ahLst/>
              <a:cxnLst/>
              <a:rect l="0" t="0" r="r" b="b"/>
              <a:pathLst>
                <a:path w="33604" h="33604" fill="none">
                  <a:moveTo>
                    <a:pt x="0" y="33604"/>
                  </a:moveTo>
                  <a:lnTo>
                    <a:pt x="33604" y="0"/>
                  </a:lnTo>
                </a:path>
              </a:pathLst>
            </a:custGeom>
            <a:noFill/>
            <a:ln w="889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observed_graph_x1"/>
            <p:cNvSpPr/>
            <p:nvPr/>
          </p:nvSpPr>
          <p:spPr>
            <a:xfrm>
              <a:off x="3056470" y="821397"/>
              <a:ext cx="33604" cy="33604"/>
            </a:xfrm>
            <a:custGeom>
              <a:avLst/>
              <a:gdLst/>
              <a:ahLst/>
              <a:cxnLst/>
              <a:rect l="0" t="0" r="r" b="b"/>
              <a:pathLst>
                <a:path w="33604" h="33604" fill="none">
                  <a:moveTo>
                    <a:pt x="0" y="0"/>
                  </a:moveTo>
                  <a:lnTo>
                    <a:pt x="33604" y="33604"/>
                  </a:lnTo>
                </a:path>
              </a:pathLst>
            </a:custGeom>
            <a:noFill/>
            <a:ln w="889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observed_graph_e2"/>
            <p:cNvSpPr/>
            <p:nvPr/>
          </p:nvSpPr>
          <p:spPr>
            <a:xfrm>
              <a:off x="2755900" y="8662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635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observed_graph_e3"/>
            <p:cNvSpPr/>
            <p:nvPr/>
          </p:nvSpPr>
          <p:spPr>
            <a:xfrm>
              <a:off x="2967482" y="8662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698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observed_graph_e4"/>
            <p:cNvSpPr/>
            <p:nvPr/>
          </p:nvSpPr>
          <p:spPr>
            <a:xfrm>
              <a:off x="3179064" y="8662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825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observed_graph_e5"/>
            <p:cNvSpPr/>
            <p:nvPr/>
          </p:nvSpPr>
          <p:spPr>
            <a:xfrm>
              <a:off x="2783903" y="990600"/>
              <a:ext cx="155574" cy="127"/>
            </a:xfrm>
            <a:custGeom>
              <a:avLst/>
              <a:gdLst/>
              <a:ahLst/>
              <a:cxnLst/>
              <a:rect l="0" t="0" r="r" b="b"/>
              <a:pathLst>
                <a:path w="155574" h="1" fill="none">
                  <a:moveTo>
                    <a:pt x="0" y="0"/>
                  </a:moveTo>
                  <a:lnTo>
                    <a:pt x="155574" y="0"/>
                  </a:lnTo>
                </a:path>
              </a:pathLst>
            </a:custGeom>
            <a:noFill/>
            <a:ln w="952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observed_graph_e6"/>
            <p:cNvSpPr/>
            <p:nvPr/>
          </p:nvSpPr>
          <p:spPr>
            <a:xfrm>
              <a:off x="2995485" y="990600"/>
              <a:ext cx="155574" cy="127"/>
            </a:xfrm>
            <a:custGeom>
              <a:avLst/>
              <a:gdLst/>
              <a:ahLst/>
              <a:cxnLst/>
              <a:rect l="0" t="0" r="r" b="b"/>
              <a:pathLst>
                <a:path w="155574" h="1" fill="none">
                  <a:moveTo>
                    <a:pt x="0" y="0"/>
                  </a:moveTo>
                  <a:lnTo>
                    <a:pt x="155574" y="0"/>
                  </a:lnTo>
                </a:path>
              </a:pathLst>
            </a:custGeom>
            <a:noFill/>
            <a:ln w="1016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observed_graph_e7"/>
            <p:cNvSpPr/>
            <p:nvPr/>
          </p:nvSpPr>
          <p:spPr>
            <a:xfrm>
              <a:off x="3207067" y="990600"/>
              <a:ext cx="143129" cy="127"/>
            </a:xfrm>
            <a:custGeom>
              <a:avLst/>
              <a:gdLst/>
              <a:ahLst/>
              <a:cxnLst/>
              <a:rect l="0" t="0" r="r" b="b"/>
              <a:pathLst>
                <a:path w="143129" h="1" fill="none">
                  <a:moveTo>
                    <a:pt x="0" y="0"/>
                  </a:moveTo>
                  <a:lnTo>
                    <a:pt x="143129" y="0"/>
                  </a:lnTo>
                </a:path>
              </a:pathLst>
            </a:custGeom>
            <a:noFill/>
            <a:ln w="1270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observed_graph_e8"/>
            <p:cNvSpPr/>
            <p:nvPr/>
          </p:nvSpPr>
          <p:spPr>
            <a:xfrm>
              <a:off x="2755900" y="10186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571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observed_graph_e9"/>
            <p:cNvSpPr/>
            <p:nvPr/>
          </p:nvSpPr>
          <p:spPr>
            <a:xfrm>
              <a:off x="2967482" y="10186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571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observed_graph_e10"/>
            <p:cNvSpPr/>
            <p:nvPr/>
          </p:nvSpPr>
          <p:spPr>
            <a:xfrm>
              <a:off x="3179064" y="10186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635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observed_graph_e11"/>
            <p:cNvSpPr/>
            <p:nvPr/>
          </p:nvSpPr>
          <p:spPr>
            <a:xfrm>
              <a:off x="2990204" y="1006966"/>
              <a:ext cx="166136" cy="119666"/>
            </a:xfrm>
            <a:custGeom>
              <a:avLst/>
              <a:gdLst/>
              <a:ahLst/>
              <a:cxnLst/>
              <a:rect l="0" t="0" r="r" b="b"/>
              <a:pathLst>
                <a:path w="166136" h="119666" fill="none">
                  <a:moveTo>
                    <a:pt x="0" y="119666"/>
                  </a:moveTo>
                  <a:lnTo>
                    <a:pt x="166136" y="0"/>
                  </a:lnTo>
                </a:path>
              </a:pathLst>
            </a:custGeom>
            <a:noFill/>
            <a:ln w="825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observed_graph_n0"/>
            <p:cNvSpPr/>
            <p:nvPr/>
          </p:nvSpPr>
          <p:spPr>
            <a:xfrm>
              <a:off x="2727896" y="8101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observed_graph_n1"/>
            <p:cNvSpPr/>
            <p:nvPr/>
          </p:nvSpPr>
          <p:spPr>
            <a:xfrm>
              <a:off x="2939478" y="8101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observed_graph_n2"/>
            <p:cNvSpPr/>
            <p:nvPr/>
          </p:nvSpPr>
          <p:spPr>
            <a:xfrm>
              <a:off x="3151060" y="8101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observed_graph_n3"/>
            <p:cNvSpPr/>
            <p:nvPr/>
          </p:nvSpPr>
          <p:spPr>
            <a:xfrm>
              <a:off x="2727896" y="9625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observed_graph_n4"/>
            <p:cNvSpPr/>
            <p:nvPr/>
          </p:nvSpPr>
          <p:spPr>
            <a:xfrm>
              <a:off x="2939478" y="9625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observed_graph_n5"/>
            <p:cNvSpPr/>
            <p:nvPr/>
          </p:nvSpPr>
          <p:spPr>
            <a:xfrm>
              <a:off x="3151060" y="9625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observed_graph_n6"/>
            <p:cNvSpPr/>
            <p:nvPr/>
          </p:nvSpPr>
          <p:spPr>
            <a:xfrm>
              <a:off x="3350196" y="9625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observed_graph_n7"/>
            <p:cNvSpPr/>
            <p:nvPr/>
          </p:nvSpPr>
          <p:spPr>
            <a:xfrm>
              <a:off x="2727896" y="11149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observed_graph_n8"/>
            <p:cNvSpPr/>
            <p:nvPr/>
          </p:nvSpPr>
          <p:spPr>
            <a:xfrm>
              <a:off x="2939478" y="11149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observed_graph_n9"/>
            <p:cNvSpPr/>
            <p:nvPr/>
          </p:nvSpPr>
          <p:spPr>
            <a:xfrm>
              <a:off x="3151060" y="11149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reroute_arrow"/>
            <p:cNvSpPr/>
            <p:nvPr/>
          </p:nvSpPr>
          <p:spPr>
            <a:xfrm>
              <a:off x="3048000" y="1193800"/>
              <a:ext cx="127" cy="139700"/>
            </a:xfrm>
            <a:custGeom>
              <a:avLst/>
              <a:gdLst/>
              <a:ahLst/>
              <a:cxnLst/>
              <a:rect l="0" t="0" r="r" b="b"/>
              <a:pathLst>
                <a:path w="1" h="139700" fill="none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noFill/>
            <a:ln w="12700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target_graph_e0"/>
            <p:cNvSpPr/>
            <p:nvPr/>
          </p:nvSpPr>
          <p:spPr>
            <a:xfrm>
              <a:off x="2783903" y="1422400"/>
              <a:ext cx="155574" cy="127"/>
            </a:xfrm>
            <a:custGeom>
              <a:avLst/>
              <a:gdLst/>
              <a:ahLst/>
              <a:cxnLst/>
              <a:rect l="0" t="0" r="r" b="b"/>
              <a:pathLst>
                <a:path w="155574" h="1" fill="none">
                  <a:moveTo>
                    <a:pt x="0" y="0"/>
                  </a:moveTo>
                  <a:lnTo>
                    <a:pt x="155574" y="0"/>
                  </a:lnTo>
                </a:path>
              </a:pathLst>
            </a:custGeom>
            <a:noFill/>
            <a:ln w="6350">
              <a:solidFill>
                <a:srgbClr val="BBC8C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target_graph_e1"/>
            <p:cNvSpPr/>
            <p:nvPr/>
          </p:nvSpPr>
          <p:spPr>
            <a:xfrm>
              <a:off x="2995485" y="1422400"/>
              <a:ext cx="155574" cy="127"/>
            </a:xfrm>
            <a:custGeom>
              <a:avLst/>
              <a:gdLst/>
              <a:ahLst/>
              <a:cxnLst/>
              <a:rect l="0" t="0" r="r" b="b"/>
              <a:pathLst>
                <a:path w="155574" h="1" fill="none">
                  <a:moveTo>
                    <a:pt x="0" y="0"/>
                  </a:moveTo>
                  <a:lnTo>
                    <a:pt x="155574" y="0"/>
                  </a:lnTo>
                </a:path>
              </a:pathLst>
            </a:custGeom>
            <a:noFill/>
            <a:ln w="6350">
              <a:solidFill>
                <a:srgbClr val="AD4D4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target_graph_x0"/>
            <p:cNvSpPr/>
            <p:nvPr/>
          </p:nvSpPr>
          <p:spPr>
            <a:xfrm>
              <a:off x="3056470" y="1405597"/>
              <a:ext cx="33604" cy="33604"/>
            </a:xfrm>
            <a:custGeom>
              <a:avLst/>
              <a:gdLst/>
              <a:ahLst/>
              <a:cxnLst/>
              <a:rect l="0" t="0" r="r" b="b"/>
              <a:pathLst>
                <a:path w="33604" h="33604" fill="none">
                  <a:moveTo>
                    <a:pt x="0" y="33604"/>
                  </a:moveTo>
                  <a:lnTo>
                    <a:pt x="33604" y="0"/>
                  </a:lnTo>
                </a:path>
              </a:pathLst>
            </a:custGeom>
            <a:noFill/>
            <a:ln w="889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target_graph_x1"/>
            <p:cNvSpPr/>
            <p:nvPr/>
          </p:nvSpPr>
          <p:spPr>
            <a:xfrm>
              <a:off x="3056470" y="1405597"/>
              <a:ext cx="33604" cy="33604"/>
            </a:xfrm>
            <a:custGeom>
              <a:avLst/>
              <a:gdLst/>
              <a:ahLst/>
              <a:cxnLst/>
              <a:rect l="0" t="0" r="r" b="b"/>
              <a:pathLst>
                <a:path w="33604" h="33604" fill="none">
                  <a:moveTo>
                    <a:pt x="0" y="0"/>
                  </a:moveTo>
                  <a:lnTo>
                    <a:pt x="33604" y="33604"/>
                  </a:lnTo>
                </a:path>
              </a:pathLst>
            </a:custGeom>
            <a:noFill/>
            <a:ln w="889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target_graph_e2"/>
            <p:cNvSpPr/>
            <p:nvPr/>
          </p:nvSpPr>
          <p:spPr>
            <a:xfrm>
              <a:off x="2755900" y="14504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1841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target_graph_e3"/>
            <p:cNvSpPr/>
            <p:nvPr/>
          </p:nvSpPr>
          <p:spPr>
            <a:xfrm>
              <a:off x="2967482" y="14504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6350">
              <a:solidFill>
                <a:srgbClr val="BBC8C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target_graph_e4"/>
            <p:cNvSpPr/>
            <p:nvPr/>
          </p:nvSpPr>
          <p:spPr>
            <a:xfrm>
              <a:off x="3179064" y="14504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6350">
              <a:solidFill>
                <a:srgbClr val="BBC8C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target_graph_e5"/>
            <p:cNvSpPr/>
            <p:nvPr/>
          </p:nvSpPr>
          <p:spPr>
            <a:xfrm>
              <a:off x="2783903" y="1574800"/>
              <a:ext cx="155574" cy="127"/>
            </a:xfrm>
            <a:custGeom>
              <a:avLst/>
              <a:gdLst/>
              <a:ahLst/>
              <a:cxnLst/>
              <a:rect l="0" t="0" r="r" b="b"/>
              <a:pathLst>
                <a:path w="155574" h="1" fill="none">
                  <a:moveTo>
                    <a:pt x="0" y="0"/>
                  </a:moveTo>
                  <a:lnTo>
                    <a:pt x="155574" y="0"/>
                  </a:lnTo>
                </a:path>
              </a:pathLst>
            </a:custGeom>
            <a:noFill/>
            <a:ln w="1841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target_graph_e6"/>
            <p:cNvSpPr/>
            <p:nvPr/>
          </p:nvSpPr>
          <p:spPr>
            <a:xfrm>
              <a:off x="2995485" y="1574800"/>
              <a:ext cx="155574" cy="127"/>
            </a:xfrm>
            <a:custGeom>
              <a:avLst/>
              <a:gdLst/>
              <a:ahLst/>
              <a:cxnLst/>
              <a:rect l="0" t="0" r="r" b="b"/>
              <a:pathLst>
                <a:path w="155574" h="1" fill="none">
                  <a:moveTo>
                    <a:pt x="0" y="0"/>
                  </a:moveTo>
                  <a:lnTo>
                    <a:pt x="155574" y="0"/>
                  </a:lnTo>
                </a:path>
              </a:pathLst>
            </a:custGeom>
            <a:noFill/>
            <a:ln w="1841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target_graph_e7"/>
            <p:cNvSpPr/>
            <p:nvPr/>
          </p:nvSpPr>
          <p:spPr>
            <a:xfrm>
              <a:off x="3207067" y="1574800"/>
              <a:ext cx="143129" cy="127"/>
            </a:xfrm>
            <a:custGeom>
              <a:avLst/>
              <a:gdLst/>
              <a:ahLst/>
              <a:cxnLst/>
              <a:rect l="0" t="0" r="r" b="b"/>
              <a:pathLst>
                <a:path w="143129" h="1" fill="none">
                  <a:moveTo>
                    <a:pt x="0" y="0"/>
                  </a:moveTo>
                  <a:lnTo>
                    <a:pt x="143129" y="0"/>
                  </a:lnTo>
                </a:path>
              </a:pathLst>
            </a:custGeom>
            <a:noFill/>
            <a:ln w="1841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target_graph_e8"/>
            <p:cNvSpPr/>
            <p:nvPr/>
          </p:nvSpPr>
          <p:spPr>
            <a:xfrm>
              <a:off x="2755900" y="1602803"/>
              <a:ext cx="127" cy="96392"/>
            </a:xfrm>
            <a:custGeom>
              <a:avLst/>
              <a:gdLst/>
              <a:ahLst/>
              <a:cxnLst/>
              <a:rect l="0" t="0" r="r" b="b"/>
              <a:pathLst>
                <a:path w="1" h="96392" fill="none">
                  <a:moveTo>
                    <a:pt x="0" y="0"/>
                  </a:moveTo>
                  <a:lnTo>
                    <a:pt x="0" y="96392"/>
                  </a:lnTo>
                </a:path>
              </a:pathLst>
            </a:custGeom>
            <a:noFill/>
            <a:ln w="6350">
              <a:solidFill>
                <a:srgbClr val="BBC8C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target_graph_e9"/>
            <p:cNvSpPr/>
            <p:nvPr/>
          </p:nvSpPr>
          <p:spPr>
            <a:xfrm>
              <a:off x="2967482" y="1602803"/>
              <a:ext cx="127" cy="96392"/>
            </a:xfrm>
            <a:custGeom>
              <a:avLst/>
              <a:gdLst/>
              <a:ahLst/>
              <a:cxnLst/>
              <a:rect l="0" t="0" r="r" b="b"/>
              <a:pathLst>
                <a:path w="1" h="96392" fill="none">
                  <a:moveTo>
                    <a:pt x="0" y="0"/>
                  </a:moveTo>
                  <a:lnTo>
                    <a:pt x="0" y="96392"/>
                  </a:lnTo>
                </a:path>
              </a:pathLst>
            </a:custGeom>
            <a:noFill/>
            <a:ln w="6350">
              <a:solidFill>
                <a:srgbClr val="BBC8C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target_graph_e10"/>
            <p:cNvSpPr/>
            <p:nvPr/>
          </p:nvSpPr>
          <p:spPr>
            <a:xfrm>
              <a:off x="3179064" y="1602803"/>
              <a:ext cx="127" cy="96392"/>
            </a:xfrm>
            <a:custGeom>
              <a:avLst/>
              <a:gdLst/>
              <a:ahLst/>
              <a:cxnLst/>
              <a:rect l="0" t="0" r="r" b="b"/>
              <a:pathLst>
                <a:path w="1" h="96392" fill="none">
                  <a:moveTo>
                    <a:pt x="0" y="0"/>
                  </a:moveTo>
                  <a:lnTo>
                    <a:pt x="0" y="96392"/>
                  </a:lnTo>
                </a:path>
              </a:pathLst>
            </a:custGeom>
            <a:noFill/>
            <a:ln w="6350">
              <a:solidFill>
                <a:srgbClr val="BBC8C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target_graph_e11"/>
            <p:cNvSpPr/>
            <p:nvPr/>
          </p:nvSpPr>
          <p:spPr>
            <a:xfrm>
              <a:off x="2990204" y="1591166"/>
              <a:ext cx="166136" cy="119666"/>
            </a:xfrm>
            <a:custGeom>
              <a:avLst/>
              <a:gdLst/>
              <a:ahLst/>
              <a:cxnLst/>
              <a:rect l="0" t="0" r="r" b="b"/>
              <a:pathLst>
                <a:path w="166136" h="119666" fill="none">
                  <a:moveTo>
                    <a:pt x="0" y="119666"/>
                  </a:moveTo>
                  <a:lnTo>
                    <a:pt x="166136" y="0"/>
                  </a:lnTo>
                </a:path>
              </a:pathLst>
            </a:custGeom>
            <a:noFill/>
            <a:ln w="6350">
              <a:solidFill>
                <a:srgbClr val="BBC8C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target_graph_n0"/>
            <p:cNvSpPr/>
            <p:nvPr/>
          </p:nvSpPr>
          <p:spPr>
            <a:xfrm>
              <a:off x="2727896" y="13943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target_graph_n1"/>
            <p:cNvSpPr/>
            <p:nvPr/>
          </p:nvSpPr>
          <p:spPr>
            <a:xfrm>
              <a:off x="2939478" y="13943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target_graph_n2"/>
            <p:cNvSpPr/>
            <p:nvPr/>
          </p:nvSpPr>
          <p:spPr>
            <a:xfrm>
              <a:off x="3151060" y="13943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target_graph_n3"/>
            <p:cNvSpPr/>
            <p:nvPr/>
          </p:nvSpPr>
          <p:spPr>
            <a:xfrm>
              <a:off x="2727896" y="15467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target_graph_n4"/>
            <p:cNvSpPr/>
            <p:nvPr/>
          </p:nvSpPr>
          <p:spPr>
            <a:xfrm>
              <a:off x="2939478" y="15467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target_graph_n5"/>
            <p:cNvSpPr/>
            <p:nvPr/>
          </p:nvSpPr>
          <p:spPr>
            <a:xfrm>
              <a:off x="3151060" y="15467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target_graph_n6"/>
            <p:cNvSpPr/>
            <p:nvPr/>
          </p:nvSpPr>
          <p:spPr>
            <a:xfrm>
              <a:off x="3350196" y="15467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target_graph_n7"/>
            <p:cNvSpPr/>
            <p:nvPr/>
          </p:nvSpPr>
          <p:spPr>
            <a:xfrm>
              <a:off x="2727896" y="16991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target_graph_n8"/>
            <p:cNvSpPr/>
            <p:nvPr/>
          </p:nvSpPr>
          <p:spPr>
            <a:xfrm>
              <a:off x="2939478" y="16991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target_graph_n9"/>
            <p:cNvSpPr/>
            <p:nvPr/>
          </p:nvSpPr>
          <p:spPr>
            <a:xfrm>
              <a:off x="3151060" y="16991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target_only"/>
            <p:cNvSpPr txBox="1"/>
            <p:nvPr/>
          </p:nvSpPr>
          <p:spPr>
            <a:xfrm>
              <a:off x="2425700" y="1778000"/>
              <a:ext cx="1079500" cy="254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target flow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is not executed</a:t>
              </a:r>
            </a:p>
          </p:txBody>
        </p:sp>
        <p:sp>
          <p:nvSpPr>
            <p:cNvPr id="211" name="projection_caption"/>
            <p:cNvSpPr txBox="1"/>
            <p:nvPr/>
          </p:nvSpPr>
          <p:spPr>
            <a:xfrm>
              <a:off x="2425700" y="2476500"/>
              <a:ext cx="10922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s.t. flow conservation</a:t>
              </a:r>
            </a:p>
          </p:txBody>
        </p:sp>
        <p:grpSp>
          <p:nvGrpSpPr>
            <p:cNvPr id="212" name="observed_F"/>
            <p:cNvGrpSpPr/>
            <p:nvPr/>
          </p:nvGrpSpPr>
          <p:grpSpPr>
            <a:xfrm>
              <a:off x="2506429" y="878011"/>
              <a:ext cx="80585" cy="111019"/>
              <a:chOff x="2506429" y="878011"/>
              <a:chExt cx="80585" cy="111019"/>
            </a:xfrm>
          </p:grpSpPr>
          <p:sp>
            <p:nvSpPr>
              <p:cNvPr id="213" name="observed_F_outline_0"/>
              <p:cNvSpPr/>
              <p:nvPr/>
            </p:nvSpPr>
            <p:spPr>
              <a:xfrm>
                <a:off x="2540211" y="878011"/>
                <a:ext cx="39342" cy="21125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21126">
                    <a:moveTo>
                      <a:pt x="39342" y="21126"/>
                    </a:moveTo>
                    <a:lnTo>
                      <a:pt x="23531" y="0"/>
                    </a:lnTo>
                    <a:lnTo>
                      <a:pt x="15685" y="0"/>
                    </a:lnTo>
                    <a:lnTo>
                      <a:pt x="0" y="21126"/>
                    </a:lnTo>
                    <a:lnTo>
                      <a:pt x="4298" y="21126"/>
                    </a:lnTo>
                    <a:lnTo>
                      <a:pt x="19606" y="8096"/>
                    </a:lnTo>
                    <a:lnTo>
                      <a:pt x="35040" y="21126"/>
                    </a:lnTo>
                    <a:lnTo>
                      <a:pt x="39342" y="21126"/>
                    </a:lnTo>
                    <a:close/>
                  </a:path>
                </a:pathLst>
              </a:custGeom>
              <a:solidFill>
                <a:srgbClr val="69768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" name="observed_F_outline_1"/>
              <p:cNvSpPr/>
              <p:nvPr/>
            </p:nvSpPr>
            <p:spPr>
              <a:xfrm>
                <a:off x="2506429" y="90642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69768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15" name="target_F"/>
            <p:cNvGrpSpPr/>
            <p:nvPr/>
          </p:nvGrpSpPr>
          <p:grpSpPr>
            <a:xfrm>
              <a:off x="2482763" y="1484700"/>
              <a:ext cx="150197" cy="103002"/>
              <a:chOff x="2482763" y="1484700"/>
              <a:chExt cx="150197" cy="103002"/>
            </a:xfrm>
          </p:grpSpPr>
          <p:sp>
            <p:nvSpPr>
              <p:cNvPr id="216" name="target_F_outline_0"/>
              <p:cNvSpPr/>
              <p:nvPr/>
            </p:nvSpPr>
            <p:spPr>
              <a:xfrm>
                <a:off x="2482763" y="1505093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" name="target_F_outline_1"/>
              <p:cNvSpPr/>
              <p:nvPr/>
            </p:nvSpPr>
            <p:spPr>
              <a:xfrm>
                <a:off x="2568111" y="1484700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18" name="objective_line1"/>
            <p:cNvGrpSpPr/>
            <p:nvPr/>
          </p:nvGrpSpPr>
          <p:grpSpPr>
            <a:xfrm>
              <a:off x="2558263" y="2093171"/>
              <a:ext cx="805476" cy="118606"/>
              <a:chOff x="2558263" y="2093171"/>
              <a:chExt cx="805476" cy="118606"/>
            </a:xfrm>
          </p:grpSpPr>
          <p:sp>
            <p:nvSpPr>
              <p:cNvPr id="219" name="objective_line1_outline_0"/>
              <p:cNvSpPr/>
              <p:nvPr/>
            </p:nvSpPr>
            <p:spPr>
              <a:xfrm>
                <a:off x="2558263" y="2096056"/>
                <a:ext cx="183293" cy="82081"/>
              </a:xfrm>
              <a:custGeom>
                <a:avLst/>
                <a:gdLst/>
                <a:ahLst/>
                <a:cxnLst/>
                <a:rect l="0" t="0" r="r" b="b"/>
                <a:pathLst>
                  <a:path w="183293" h="82082">
                    <a:moveTo>
                      <a:pt x="91214" y="82082"/>
                    </a:moveTo>
                    <a:lnTo>
                      <a:pt x="91214" y="80280"/>
                    </a:lnTo>
                    <a:lnTo>
                      <a:pt x="88090" y="80038"/>
                    </a:lnTo>
                    <a:cubicBezTo>
                      <a:pt x="84483" y="79800"/>
                      <a:pt x="82923" y="77637"/>
                      <a:pt x="82923" y="72950"/>
                    </a:cubicBezTo>
                    <a:lnTo>
                      <a:pt x="82923" y="48193"/>
                    </a:lnTo>
                    <a:cubicBezTo>
                      <a:pt x="82923" y="34008"/>
                      <a:pt x="78236" y="26797"/>
                      <a:pt x="68981" y="26797"/>
                    </a:cubicBezTo>
                    <a:cubicBezTo>
                      <a:pt x="62012" y="26797"/>
                      <a:pt x="55880" y="29924"/>
                      <a:pt x="49391" y="36893"/>
                    </a:cubicBezTo>
                    <a:cubicBezTo>
                      <a:pt x="47228" y="30044"/>
                      <a:pt x="43144" y="26797"/>
                      <a:pt x="36651" y="26797"/>
                    </a:cubicBezTo>
                    <a:cubicBezTo>
                      <a:pt x="31365" y="26797"/>
                      <a:pt x="28000" y="28480"/>
                      <a:pt x="18026" y="36052"/>
                    </a:cubicBezTo>
                    <a:lnTo>
                      <a:pt x="18026" y="27039"/>
                    </a:lnTo>
                    <a:lnTo>
                      <a:pt x="17185" y="26797"/>
                    </a:lnTo>
                    <a:cubicBezTo>
                      <a:pt x="11053" y="29083"/>
                      <a:pt x="6969" y="30405"/>
                      <a:pt x="357" y="32206"/>
                    </a:cubicBezTo>
                    <a:lnTo>
                      <a:pt x="357" y="34250"/>
                    </a:lnTo>
                    <a:cubicBezTo>
                      <a:pt x="1921" y="33889"/>
                      <a:pt x="2881" y="33770"/>
                      <a:pt x="4203" y="33770"/>
                    </a:cubicBezTo>
                    <a:cubicBezTo>
                      <a:pt x="7330" y="33770"/>
                      <a:pt x="8410" y="35691"/>
                      <a:pt x="8410" y="41462"/>
                    </a:cubicBezTo>
                    <a:lnTo>
                      <a:pt x="8410" y="71866"/>
                    </a:lnTo>
                    <a:cubicBezTo>
                      <a:pt x="8410" y="78355"/>
                      <a:pt x="6727" y="80157"/>
                      <a:pt x="0" y="80280"/>
                    </a:cubicBezTo>
                    <a:lnTo>
                      <a:pt x="0" y="82082"/>
                    </a:lnTo>
                    <a:lnTo>
                      <a:pt x="26678" y="82082"/>
                    </a:lnTo>
                    <a:lnTo>
                      <a:pt x="26678" y="80280"/>
                    </a:lnTo>
                    <a:cubicBezTo>
                      <a:pt x="20308" y="80038"/>
                      <a:pt x="18506" y="78716"/>
                      <a:pt x="18506" y="74029"/>
                    </a:cubicBezTo>
                    <a:lnTo>
                      <a:pt x="18506" y="40140"/>
                    </a:lnTo>
                    <a:cubicBezTo>
                      <a:pt x="18506" y="40140"/>
                      <a:pt x="19467" y="38695"/>
                      <a:pt x="20308" y="37854"/>
                    </a:cubicBezTo>
                    <a:cubicBezTo>
                      <a:pt x="23312" y="35092"/>
                      <a:pt x="28480" y="33048"/>
                      <a:pt x="32687" y="33048"/>
                    </a:cubicBezTo>
                    <a:cubicBezTo>
                      <a:pt x="37973" y="33048"/>
                      <a:pt x="40620" y="37255"/>
                      <a:pt x="40620" y="45668"/>
                    </a:cubicBezTo>
                    <a:lnTo>
                      <a:pt x="40620" y="71747"/>
                    </a:lnTo>
                    <a:cubicBezTo>
                      <a:pt x="40620" y="78478"/>
                      <a:pt x="39299" y="79800"/>
                      <a:pt x="32448" y="80280"/>
                    </a:cubicBezTo>
                    <a:lnTo>
                      <a:pt x="32448" y="82082"/>
                    </a:lnTo>
                    <a:lnTo>
                      <a:pt x="59369" y="82082"/>
                    </a:lnTo>
                    <a:lnTo>
                      <a:pt x="59369" y="80280"/>
                    </a:lnTo>
                    <a:cubicBezTo>
                      <a:pt x="52519" y="80157"/>
                      <a:pt x="50713" y="78117"/>
                      <a:pt x="50713" y="70664"/>
                    </a:cubicBezTo>
                    <a:lnTo>
                      <a:pt x="50713" y="40378"/>
                    </a:lnTo>
                    <a:cubicBezTo>
                      <a:pt x="54320" y="35211"/>
                      <a:pt x="58285" y="33048"/>
                      <a:pt x="63814" y="33048"/>
                    </a:cubicBezTo>
                    <a:cubicBezTo>
                      <a:pt x="70664" y="33048"/>
                      <a:pt x="72827" y="36294"/>
                      <a:pt x="72827" y="46268"/>
                    </a:cubicBezTo>
                    <a:lnTo>
                      <a:pt x="72827" y="71624"/>
                    </a:lnTo>
                    <a:cubicBezTo>
                      <a:pt x="72827" y="78478"/>
                      <a:pt x="71866" y="79439"/>
                      <a:pt x="64897" y="80280"/>
                    </a:cubicBezTo>
                    <a:lnTo>
                      <a:pt x="64897" y="82082"/>
                    </a:lnTo>
                    <a:lnTo>
                      <a:pt x="91214" y="82082"/>
                    </a:lnTo>
                    <a:close/>
                    <a:moveTo>
                      <a:pt x="121994" y="82082"/>
                    </a:moveTo>
                    <a:lnTo>
                      <a:pt x="121994" y="80280"/>
                    </a:lnTo>
                    <a:cubicBezTo>
                      <a:pt x="114065" y="79677"/>
                      <a:pt x="113100" y="78478"/>
                      <a:pt x="113100" y="69822"/>
                    </a:cubicBezTo>
                    <a:lnTo>
                      <a:pt x="113100" y="27158"/>
                    </a:lnTo>
                    <a:lnTo>
                      <a:pt x="112620" y="26797"/>
                    </a:lnTo>
                    <a:lnTo>
                      <a:pt x="93995" y="33409"/>
                    </a:lnTo>
                    <a:lnTo>
                      <a:pt x="93995" y="35211"/>
                    </a:lnTo>
                    <a:lnTo>
                      <a:pt x="94955" y="35092"/>
                    </a:lnTo>
                    <a:cubicBezTo>
                      <a:pt x="96396" y="34850"/>
                      <a:pt x="97960" y="34731"/>
                      <a:pt x="99039" y="34731"/>
                    </a:cubicBezTo>
                    <a:cubicBezTo>
                      <a:pt x="101924" y="34731"/>
                      <a:pt x="103008" y="36655"/>
                      <a:pt x="103008" y="41942"/>
                    </a:cubicBezTo>
                    <a:lnTo>
                      <a:pt x="103008" y="69822"/>
                    </a:lnTo>
                    <a:cubicBezTo>
                      <a:pt x="103008" y="78478"/>
                      <a:pt x="101805" y="79800"/>
                      <a:pt x="93515" y="80280"/>
                    </a:cubicBezTo>
                    <a:lnTo>
                      <a:pt x="93515" y="82082"/>
                    </a:lnTo>
                    <a:lnTo>
                      <a:pt x="121994" y="82082"/>
                    </a:lnTo>
                    <a:close/>
                    <a:moveTo>
                      <a:pt x="114184" y="6128"/>
                    </a:moveTo>
                    <a:cubicBezTo>
                      <a:pt x="114184" y="2762"/>
                      <a:pt x="111541" y="0"/>
                      <a:pt x="108056" y="0"/>
                    </a:cubicBezTo>
                    <a:cubicBezTo>
                      <a:pt x="104691" y="0"/>
                      <a:pt x="101924" y="2762"/>
                      <a:pt x="101924" y="6128"/>
                    </a:cubicBezTo>
                    <a:cubicBezTo>
                      <a:pt x="101924" y="9612"/>
                      <a:pt x="104691" y="12255"/>
                      <a:pt x="108056" y="12255"/>
                    </a:cubicBezTo>
                    <a:cubicBezTo>
                      <a:pt x="111541" y="12255"/>
                      <a:pt x="114184" y="9612"/>
                      <a:pt x="114184" y="6128"/>
                    </a:cubicBezTo>
                    <a:close/>
                    <a:moveTo>
                      <a:pt x="183293" y="82082"/>
                    </a:moveTo>
                    <a:lnTo>
                      <a:pt x="183293" y="80280"/>
                    </a:lnTo>
                    <a:cubicBezTo>
                      <a:pt x="177404" y="79677"/>
                      <a:pt x="175959" y="78236"/>
                      <a:pt x="175959" y="72346"/>
                    </a:cubicBezTo>
                    <a:lnTo>
                      <a:pt x="175959" y="44827"/>
                    </a:lnTo>
                    <a:cubicBezTo>
                      <a:pt x="175959" y="33528"/>
                      <a:pt x="170673" y="26797"/>
                      <a:pt x="161779" y="26797"/>
                    </a:cubicBezTo>
                    <a:cubicBezTo>
                      <a:pt x="156251" y="26797"/>
                      <a:pt x="152524" y="28841"/>
                      <a:pt x="144352" y="36532"/>
                    </a:cubicBezTo>
                    <a:lnTo>
                      <a:pt x="144352" y="27039"/>
                    </a:lnTo>
                    <a:lnTo>
                      <a:pt x="143510" y="26797"/>
                    </a:lnTo>
                    <a:cubicBezTo>
                      <a:pt x="137625" y="28964"/>
                      <a:pt x="133537" y="30286"/>
                      <a:pt x="126929" y="32206"/>
                    </a:cubicBezTo>
                    <a:lnTo>
                      <a:pt x="126929" y="34250"/>
                    </a:lnTo>
                    <a:cubicBezTo>
                      <a:pt x="127648" y="33889"/>
                      <a:pt x="128851" y="33770"/>
                      <a:pt x="130172" y="33770"/>
                    </a:cubicBezTo>
                    <a:cubicBezTo>
                      <a:pt x="133537" y="33770"/>
                      <a:pt x="134620" y="35572"/>
                      <a:pt x="134620" y="41462"/>
                    </a:cubicBezTo>
                    <a:lnTo>
                      <a:pt x="134620" y="71267"/>
                    </a:lnTo>
                    <a:cubicBezTo>
                      <a:pt x="134620" y="78117"/>
                      <a:pt x="133296" y="79800"/>
                      <a:pt x="127168" y="80280"/>
                    </a:cubicBezTo>
                    <a:lnTo>
                      <a:pt x="127168" y="82082"/>
                    </a:lnTo>
                    <a:lnTo>
                      <a:pt x="152647" y="82082"/>
                    </a:lnTo>
                    <a:lnTo>
                      <a:pt x="152647" y="80280"/>
                    </a:lnTo>
                    <a:cubicBezTo>
                      <a:pt x="146515" y="79800"/>
                      <a:pt x="144713" y="78355"/>
                      <a:pt x="144713" y="74029"/>
                    </a:cubicBezTo>
                    <a:lnTo>
                      <a:pt x="144713" y="40259"/>
                    </a:lnTo>
                    <a:cubicBezTo>
                      <a:pt x="150484" y="34850"/>
                      <a:pt x="153127" y="33409"/>
                      <a:pt x="157092" y="33409"/>
                    </a:cubicBezTo>
                    <a:cubicBezTo>
                      <a:pt x="162982" y="33409"/>
                      <a:pt x="165868" y="37136"/>
                      <a:pt x="165868" y="45065"/>
                    </a:cubicBezTo>
                    <a:lnTo>
                      <a:pt x="165868" y="70183"/>
                    </a:lnTo>
                    <a:cubicBezTo>
                      <a:pt x="165868" y="77756"/>
                      <a:pt x="164303" y="79800"/>
                      <a:pt x="158295" y="80280"/>
                    </a:cubicBezTo>
                    <a:lnTo>
                      <a:pt x="158295" y="82082"/>
                    </a:lnTo>
                    <a:lnTo>
                      <a:pt x="183293" y="82082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" name="objective_line1_outline_1"/>
              <p:cNvSpPr/>
              <p:nvPr/>
            </p:nvSpPr>
            <p:spPr>
              <a:xfrm>
                <a:off x="2746894" y="2138006"/>
                <a:ext cx="72322" cy="67754"/>
              </a:xfrm>
              <a:custGeom>
                <a:avLst/>
                <a:gdLst/>
                <a:ahLst/>
                <a:cxnLst/>
                <a:rect l="0" t="0" r="r" b="b"/>
                <a:pathLst>
                  <a:path w="72323" h="67755">
                    <a:moveTo>
                      <a:pt x="69104" y="15875"/>
                    </a:moveTo>
                    <a:lnTo>
                      <a:pt x="72323" y="0"/>
                    </a:lnTo>
                    <a:lnTo>
                      <a:pt x="14113" y="0"/>
                    </a:lnTo>
                    <a:lnTo>
                      <a:pt x="14113" y="1659"/>
                    </a:lnTo>
                    <a:cubicBezTo>
                      <a:pt x="21999" y="2282"/>
                      <a:pt x="23451" y="2905"/>
                      <a:pt x="23555" y="5810"/>
                    </a:cubicBezTo>
                    <a:cubicBezTo>
                      <a:pt x="23555" y="7469"/>
                      <a:pt x="23035" y="9962"/>
                      <a:pt x="22412" y="12553"/>
                    </a:cubicBezTo>
                    <a:lnTo>
                      <a:pt x="9442" y="58416"/>
                    </a:lnTo>
                    <a:cubicBezTo>
                      <a:pt x="7576" y="64643"/>
                      <a:pt x="6747" y="65266"/>
                      <a:pt x="0" y="66096"/>
                    </a:cubicBezTo>
                    <a:lnTo>
                      <a:pt x="103" y="67755"/>
                    </a:lnTo>
                    <a:lnTo>
                      <a:pt x="30091" y="67755"/>
                    </a:lnTo>
                    <a:lnTo>
                      <a:pt x="29988" y="66096"/>
                    </a:lnTo>
                    <a:cubicBezTo>
                      <a:pt x="23138" y="65782"/>
                      <a:pt x="21066" y="64643"/>
                      <a:pt x="20959" y="61528"/>
                    </a:cubicBezTo>
                    <a:cubicBezTo>
                      <a:pt x="20959" y="60595"/>
                      <a:pt x="21066" y="59349"/>
                      <a:pt x="21685" y="56860"/>
                    </a:cubicBezTo>
                    <a:lnTo>
                      <a:pt x="28226" y="33929"/>
                    </a:lnTo>
                    <a:cubicBezTo>
                      <a:pt x="32373" y="34135"/>
                      <a:pt x="34866" y="34238"/>
                      <a:pt x="37354" y="34238"/>
                    </a:cubicBezTo>
                    <a:cubicBezTo>
                      <a:pt x="41712" y="34238"/>
                      <a:pt x="42541" y="34346"/>
                      <a:pt x="43581" y="34758"/>
                    </a:cubicBezTo>
                    <a:cubicBezTo>
                      <a:pt x="45240" y="35485"/>
                      <a:pt x="46176" y="36937"/>
                      <a:pt x="46280" y="39013"/>
                    </a:cubicBezTo>
                    <a:cubicBezTo>
                      <a:pt x="46280" y="40672"/>
                      <a:pt x="46176" y="41815"/>
                      <a:pt x="46069" y="45030"/>
                    </a:cubicBezTo>
                    <a:lnTo>
                      <a:pt x="48042" y="45549"/>
                    </a:lnTo>
                    <a:lnTo>
                      <a:pt x="56241" y="21165"/>
                    </a:lnTo>
                    <a:lnTo>
                      <a:pt x="54785" y="20646"/>
                    </a:lnTo>
                    <a:cubicBezTo>
                      <a:pt x="49808" y="29984"/>
                      <a:pt x="49391" y="30091"/>
                      <a:pt x="29365" y="30298"/>
                    </a:cubicBezTo>
                    <a:lnTo>
                      <a:pt x="36215" y="6120"/>
                    </a:lnTo>
                    <a:cubicBezTo>
                      <a:pt x="36731" y="4044"/>
                      <a:pt x="38394" y="3425"/>
                      <a:pt x="43061" y="3425"/>
                    </a:cubicBezTo>
                    <a:cubicBezTo>
                      <a:pt x="62464" y="3425"/>
                      <a:pt x="66409" y="4771"/>
                      <a:pt x="66616" y="11307"/>
                    </a:cubicBezTo>
                    <a:cubicBezTo>
                      <a:pt x="66719" y="12037"/>
                      <a:pt x="66719" y="12450"/>
                      <a:pt x="66616" y="13696"/>
                    </a:cubicBezTo>
                    <a:cubicBezTo>
                      <a:pt x="66512" y="14423"/>
                      <a:pt x="66616" y="14835"/>
                      <a:pt x="66512" y="15669"/>
                    </a:cubicBezTo>
                    <a:lnTo>
                      <a:pt x="69104" y="1587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" name="objective_line1_outline_2"/>
              <p:cNvSpPr/>
              <p:nvPr/>
            </p:nvSpPr>
            <p:spPr>
              <a:xfrm>
                <a:off x="2837053" y="2146202"/>
                <a:ext cx="53125" cy="65575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65576">
                    <a:moveTo>
                      <a:pt x="53126" y="27083"/>
                    </a:moveTo>
                    <a:lnTo>
                      <a:pt x="53126" y="25007"/>
                    </a:lnTo>
                    <a:lnTo>
                      <a:pt x="0" y="0"/>
                    </a:lnTo>
                    <a:lnTo>
                      <a:pt x="0" y="5914"/>
                    </a:lnTo>
                    <a:lnTo>
                      <a:pt x="43164" y="26150"/>
                    </a:lnTo>
                    <a:lnTo>
                      <a:pt x="0" y="46383"/>
                    </a:lnTo>
                    <a:lnTo>
                      <a:pt x="0" y="52193"/>
                    </a:lnTo>
                    <a:lnTo>
                      <a:pt x="53126" y="27083"/>
                    </a:lnTo>
                    <a:close/>
                    <a:moveTo>
                      <a:pt x="53126" y="65576"/>
                    </a:moveTo>
                    <a:lnTo>
                      <a:pt x="53126" y="60079"/>
                    </a:lnTo>
                    <a:lnTo>
                      <a:pt x="0" y="60079"/>
                    </a:lnTo>
                    <a:lnTo>
                      <a:pt x="0" y="65576"/>
                    </a:lnTo>
                    <a:lnTo>
                      <a:pt x="53126" y="65576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" name="objective_line1_outline_3"/>
              <p:cNvSpPr/>
              <p:nvPr/>
            </p:nvSpPr>
            <p:spPr>
              <a:xfrm>
                <a:off x="2905320" y="2135617"/>
                <a:ext cx="46902" cy="71596"/>
              </a:xfrm>
              <a:custGeom>
                <a:avLst/>
                <a:gdLst/>
                <a:ahLst/>
                <a:cxnLst/>
                <a:rect l="0" t="0" r="r" b="b"/>
                <a:pathLst>
                  <a:path w="46903" h="71596">
                    <a:moveTo>
                      <a:pt x="46903" y="35901"/>
                    </a:moveTo>
                    <a:cubicBezTo>
                      <a:pt x="46903" y="14633"/>
                      <a:pt x="37461" y="0"/>
                      <a:pt x="23868" y="0"/>
                    </a:cubicBezTo>
                    <a:cubicBezTo>
                      <a:pt x="18161" y="0"/>
                      <a:pt x="13803" y="1766"/>
                      <a:pt x="9962" y="5397"/>
                    </a:cubicBezTo>
                    <a:cubicBezTo>
                      <a:pt x="3945" y="11208"/>
                      <a:pt x="0" y="23142"/>
                      <a:pt x="0" y="35282"/>
                    </a:cubicBezTo>
                    <a:cubicBezTo>
                      <a:pt x="0" y="46589"/>
                      <a:pt x="3425" y="58730"/>
                      <a:pt x="8303" y="64540"/>
                    </a:cubicBezTo>
                    <a:cubicBezTo>
                      <a:pt x="12140" y="69108"/>
                      <a:pt x="17435" y="71596"/>
                      <a:pt x="23451" y="71596"/>
                    </a:cubicBezTo>
                    <a:cubicBezTo>
                      <a:pt x="28742" y="71596"/>
                      <a:pt x="33207" y="69834"/>
                      <a:pt x="36941" y="66203"/>
                    </a:cubicBezTo>
                    <a:cubicBezTo>
                      <a:pt x="42958" y="60496"/>
                      <a:pt x="46903" y="48458"/>
                      <a:pt x="46903" y="35901"/>
                    </a:cubicBezTo>
                    <a:close/>
                    <a:moveTo>
                      <a:pt x="36941" y="36112"/>
                    </a:moveTo>
                    <a:cubicBezTo>
                      <a:pt x="36941" y="57797"/>
                      <a:pt x="32373" y="68897"/>
                      <a:pt x="23451" y="68897"/>
                    </a:cubicBezTo>
                    <a:cubicBezTo>
                      <a:pt x="14530" y="68897"/>
                      <a:pt x="9962" y="57797"/>
                      <a:pt x="9962" y="36215"/>
                    </a:cubicBezTo>
                    <a:cubicBezTo>
                      <a:pt x="9962" y="14216"/>
                      <a:pt x="14633" y="2699"/>
                      <a:pt x="23555" y="2699"/>
                    </a:cubicBezTo>
                    <a:cubicBezTo>
                      <a:pt x="32270" y="2699"/>
                      <a:pt x="36941" y="14426"/>
                      <a:pt x="36941" y="3611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" name="objective_line1_outline_4"/>
              <p:cNvSpPr/>
              <p:nvPr/>
            </p:nvSpPr>
            <p:spPr>
              <a:xfrm>
                <a:off x="2988513" y="2143888"/>
                <a:ext cx="61535" cy="6731"/>
              </a:xfrm>
              <a:custGeom>
                <a:avLst/>
                <a:gdLst/>
                <a:ahLst/>
                <a:cxnLst/>
                <a:rect l="0" t="0" r="r" b="b"/>
                <a:pathLst>
                  <a:path w="61536" h="6731">
                    <a:moveTo>
                      <a:pt x="61536" y="6731"/>
                    </a:moveTo>
                    <a:lnTo>
                      <a:pt x="61536" y="0"/>
                    </a:lnTo>
                    <a:lnTo>
                      <a:pt x="0" y="0"/>
                    </a:lnTo>
                    <a:lnTo>
                      <a:pt x="0" y="6731"/>
                    </a:lnTo>
                    <a:lnTo>
                      <a:pt x="61536" y="6731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objective_line1_outline_5"/>
              <p:cNvSpPr/>
              <p:nvPr/>
            </p:nvSpPr>
            <p:spPr>
              <a:xfrm>
                <a:off x="3068279" y="2093171"/>
                <a:ext cx="31607" cy="108160"/>
              </a:xfrm>
              <a:custGeom>
                <a:avLst/>
                <a:gdLst/>
                <a:ahLst/>
                <a:cxnLst/>
                <a:rect l="0" t="0" r="r" b="b"/>
                <a:pathLst>
                  <a:path w="31607" h="108160">
                    <a:moveTo>
                      <a:pt x="31607" y="108160"/>
                    </a:moveTo>
                    <a:lnTo>
                      <a:pt x="8295" y="54082"/>
                    </a:lnTo>
                    <a:lnTo>
                      <a:pt x="31607" y="0"/>
                    </a:lnTo>
                    <a:lnTo>
                      <a:pt x="25841" y="0"/>
                    </a:lnTo>
                    <a:lnTo>
                      <a:pt x="0" y="54082"/>
                    </a:lnTo>
                    <a:lnTo>
                      <a:pt x="25841" y="108160"/>
                    </a:lnTo>
                    <a:lnTo>
                      <a:pt x="31607" y="10816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objective_line1_outline_6"/>
              <p:cNvSpPr/>
              <p:nvPr/>
            </p:nvSpPr>
            <p:spPr>
              <a:xfrm>
                <a:off x="3108846" y="2097858"/>
                <a:ext cx="73909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9" y="0"/>
                    </a:lnTo>
                    <a:lnTo>
                      <a:pt x="50356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6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9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objective_line1_outline_7"/>
              <p:cNvSpPr/>
              <p:nvPr/>
            </p:nvSpPr>
            <p:spPr>
              <a:xfrm>
                <a:off x="3196689" y="2165879"/>
                <a:ext cx="16704" cy="29206"/>
              </a:xfrm>
              <a:custGeom>
                <a:avLst/>
                <a:gdLst/>
                <a:ahLst/>
                <a:cxnLst/>
                <a:rect l="0" t="0" r="r" b="b"/>
                <a:pathLst>
                  <a:path w="16705" h="29206">
                    <a:moveTo>
                      <a:pt x="16705" y="11537"/>
                    </a:moveTo>
                    <a:cubicBezTo>
                      <a:pt x="16705" y="1564"/>
                      <a:pt x="9735" y="0"/>
                      <a:pt x="6969" y="0"/>
                    </a:cubicBezTo>
                    <a:cubicBezTo>
                      <a:pt x="3965" y="0"/>
                      <a:pt x="0" y="1802"/>
                      <a:pt x="0" y="6973"/>
                    </a:cubicBezTo>
                    <a:cubicBezTo>
                      <a:pt x="0" y="11779"/>
                      <a:pt x="4326" y="12982"/>
                      <a:pt x="7449" y="12982"/>
                    </a:cubicBezTo>
                    <a:cubicBezTo>
                      <a:pt x="8291" y="12982"/>
                      <a:pt x="8894" y="12859"/>
                      <a:pt x="9251" y="12740"/>
                    </a:cubicBezTo>
                    <a:cubicBezTo>
                      <a:pt x="9735" y="12621"/>
                      <a:pt x="10093" y="12502"/>
                      <a:pt x="10335" y="12502"/>
                    </a:cubicBezTo>
                    <a:cubicBezTo>
                      <a:pt x="11176" y="12502"/>
                      <a:pt x="12017" y="13101"/>
                      <a:pt x="12017" y="14184"/>
                    </a:cubicBezTo>
                    <a:cubicBezTo>
                      <a:pt x="12017" y="16466"/>
                      <a:pt x="10093" y="21876"/>
                      <a:pt x="2163" y="26920"/>
                    </a:cubicBezTo>
                    <a:lnTo>
                      <a:pt x="3243" y="29206"/>
                    </a:lnTo>
                    <a:cubicBezTo>
                      <a:pt x="6850" y="28003"/>
                      <a:pt x="16705" y="20070"/>
                      <a:pt x="16705" y="11537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objective_line1_outline_8"/>
              <p:cNvSpPr/>
              <p:nvPr/>
            </p:nvSpPr>
            <p:spPr>
              <a:xfrm>
                <a:off x="3245813" y="2099660"/>
                <a:ext cx="76556" cy="78478"/>
              </a:xfrm>
              <a:custGeom>
                <a:avLst/>
                <a:gdLst/>
                <a:ahLst/>
                <a:cxnLst/>
                <a:rect l="0" t="0" r="r" b="b"/>
                <a:pathLst>
                  <a:path w="76557" h="78478">
                    <a:moveTo>
                      <a:pt x="72711" y="18387"/>
                    </a:moveTo>
                    <a:lnTo>
                      <a:pt x="76557" y="0"/>
                    </a:lnTo>
                    <a:lnTo>
                      <a:pt x="16704" y="0"/>
                    </a:lnTo>
                    <a:lnTo>
                      <a:pt x="16704" y="1925"/>
                    </a:lnTo>
                    <a:cubicBezTo>
                      <a:pt x="24638" y="2643"/>
                      <a:pt x="25959" y="3366"/>
                      <a:pt x="25959" y="6731"/>
                    </a:cubicBezTo>
                    <a:cubicBezTo>
                      <a:pt x="25959" y="8652"/>
                      <a:pt x="25479" y="11537"/>
                      <a:pt x="24638" y="14541"/>
                    </a:cubicBezTo>
                    <a:lnTo>
                      <a:pt x="9854" y="67663"/>
                    </a:lnTo>
                    <a:cubicBezTo>
                      <a:pt x="7691" y="74874"/>
                      <a:pt x="6849" y="75593"/>
                      <a:pt x="0" y="76553"/>
                    </a:cubicBezTo>
                    <a:lnTo>
                      <a:pt x="0" y="78478"/>
                    </a:lnTo>
                    <a:lnTo>
                      <a:pt x="30286" y="78478"/>
                    </a:lnTo>
                    <a:lnTo>
                      <a:pt x="30286" y="76553"/>
                    </a:lnTo>
                    <a:cubicBezTo>
                      <a:pt x="23316" y="76196"/>
                      <a:pt x="21153" y="74874"/>
                      <a:pt x="21153" y="71267"/>
                    </a:cubicBezTo>
                    <a:cubicBezTo>
                      <a:pt x="21153" y="70187"/>
                      <a:pt x="21391" y="68743"/>
                      <a:pt x="22233" y="65857"/>
                    </a:cubicBezTo>
                    <a:lnTo>
                      <a:pt x="29686" y="39061"/>
                    </a:lnTo>
                    <a:cubicBezTo>
                      <a:pt x="34131" y="39299"/>
                      <a:pt x="36774" y="39418"/>
                      <a:pt x="39421" y="39418"/>
                    </a:cubicBezTo>
                    <a:cubicBezTo>
                      <a:pt x="44108" y="39418"/>
                      <a:pt x="44827" y="39541"/>
                      <a:pt x="46029" y="40021"/>
                    </a:cubicBezTo>
                    <a:cubicBezTo>
                      <a:pt x="47711" y="40862"/>
                      <a:pt x="48673" y="42545"/>
                      <a:pt x="48673" y="44946"/>
                    </a:cubicBezTo>
                    <a:cubicBezTo>
                      <a:pt x="48673" y="46871"/>
                      <a:pt x="48434" y="48312"/>
                      <a:pt x="47711" y="52038"/>
                    </a:cubicBezTo>
                    <a:lnTo>
                      <a:pt x="49756" y="52638"/>
                    </a:lnTo>
                    <a:lnTo>
                      <a:pt x="58887" y="24519"/>
                    </a:lnTo>
                    <a:lnTo>
                      <a:pt x="56725" y="23916"/>
                    </a:lnTo>
                    <a:cubicBezTo>
                      <a:pt x="51319" y="34731"/>
                      <a:pt x="50959" y="34854"/>
                      <a:pt x="30766" y="35092"/>
                    </a:cubicBezTo>
                    <a:lnTo>
                      <a:pt x="38699" y="7092"/>
                    </a:lnTo>
                    <a:cubicBezTo>
                      <a:pt x="39421" y="4687"/>
                      <a:pt x="41104" y="3965"/>
                      <a:pt x="46029" y="3965"/>
                    </a:cubicBezTo>
                    <a:cubicBezTo>
                      <a:pt x="66341" y="3965"/>
                      <a:pt x="70548" y="5528"/>
                      <a:pt x="70548" y="13101"/>
                    </a:cubicBezTo>
                    <a:cubicBezTo>
                      <a:pt x="70548" y="13942"/>
                      <a:pt x="70548" y="14423"/>
                      <a:pt x="70425" y="15863"/>
                    </a:cubicBezTo>
                    <a:cubicBezTo>
                      <a:pt x="70306" y="16704"/>
                      <a:pt x="70306" y="17185"/>
                      <a:pt x="70187" y="18149"/>
                    </a:cubicBezTo>
                    <a:lnTo>
                      <a:pt x="72711" y="18387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" name="objective_line1_outline_9"/>
              <p:cNvSpPr/>
              <p:nvPr/>
            </p:nvSpPr>
            <p:spPr>
              <a:xfrm>
                <a:off x="3332132" y="2093171"/>
                <a:ext cx="31607" cy="108160"/>
              </a:xfrm>
              <a:custGeom>
                <a:avLst/>
                <a:gdLst/>
                <a:ahLst/>
                <a:cxnLst/>
                <a:rect l="0" t="0" r="r" b="b"/>
                <a:pathLst>
                  <a:path w="31607" h="108160">
                    <a:moveTo>
                      <a:pt x="31607" y="54082"/>
                    </a:moveTo>
                    <a:lnTo>
                      <a:pt x="5771" y="0"/>
                    </a:lnTo>
                    <a:lnTo>
                      <a:pt x="0" y="0"/>
                    </a:lnTo>
                    <a:lnTo>
                      <a:pt x="23316" y="54082"/>
                    </a:lnTo>
                    <a:lnTo>
                      <a:pt x="0" y="108160"/>
                    </a:lnTo>
                    <a:lnTo>
                      <a:pt x="5771" y="108160"/>
                    </a:lnTo>
                    <a:lnTo>
                      <a:pt x="31607" y="54082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29" name="objective_line2"/>
            <p:cNvGrpSpPr/>
            <p:nvPr/>
          </p:nvGrpSpPr>
          <p:grpSpPr>
            <a:xfrm>
              <a:off x="2649760" y="2310427"/>
              <a:ext cx="627040" cy="129738"/>
              <a:chOff x="2649760" y="2310427"/>
              <a:chExt cx="627040" cy="129738"/>
            </a:xfrm>
          </p:grpSpPr>
          <p:sp>
            <p:nvSpPr>
              <p:cNvPr id="230" name="objective_line2_outline_0"/>
              <p:cNvSpPr/>
              <p:nvPr/>
            </p:nvSpPr>
            <p:spPr>
              <a:xfrm>
                <a:off x="2649760" y="2354115"/>
                <a:ext cx="61535" cy="61773"/>
              </a:xfrm>
              <a:custGeom>
                <a:avLst/>
                <a:gdLst/>
                <a:ahLst/>
                <a:cxnLst/>
                <a:rect l="0" t="0" r="r" b="b"/>
                <a:pathLst>
                  <a:path w="61536" h="61774">
                    <a:moveTo>
                      <a:pt x="26801" y="26920"/>
                    </a:moveTo>
                    <a:lnTo>
                      <a:pt x="0" y="26920"/>
                    </a:lnTo>
                    <a:lnTo>
                      <a:pt x="0" y="34853"/>
                    </a:lnTo>
                    <a:lnTo>
                      <a:pt x="26801" y="34853"/>
                    </a:lnTo>
                    <a:lnTo>
                      <a:pt x="26801" y="61774"/>
                    </a:lnTo>
                    <a:lnTo>
                      <a:pt x="34734" y="61774"/>
                    </a:lnTo>
                    <a:lnTo>
                      <a:pt x="34734" y="34853"/>
                    </a:lnTo>
                    <a:lnTo>
                      <a:pt x="61536" y="34853"/>
                    </a:lnTo>
                    <a:lnTo>
                      <a:pt x="61536" y="26920"/>
                    </a:lnTo>
                    <a:lnTo>
                      <a:pt x="34734" y="26920"/>
                    </a:lnTo>
                    <a:lnTo>
                      <a:pt x="34734" y="0"/>
                    </a:lnTo>
                    <a:lnTo>
                      <a:pt x="26801" y="0"/>
                    </a:lnTo>
                    <a:lnTo>
                      <a:pt x="26801" y="2692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" name="objective_line2_outline_1"/>
              <p:cNvSpPr/>
              <p:nvPr/>
            </p:nvSpPr>
            <p:spPr>
              <a:xfrm>
                <a:off x="2721888" y="2362890"/>
                <a:ext cx="55403" cy="54320"/>
              </a:xfrm>
              <a:custGeom>
                <a:avLst/>
                <a:gdLst/>
                <a:ahLst/>
                <a:cxnLst/>
                <a:rect l="0" t="0" r="r" b="b"/>
                <a:pathLst>
                  <a:path w="55404" h="54320">
                    <a:moveTo>
                      <a:pt x="55404" y="9854"/>
                    </a:moveTo>
                    <a:cubicBezTo>
                      <a:pt x="55404" y="1921"/>
                      <a:pt x="39779" y="0"/>
                      <a:pt x="33528" y="0"/>
                    </a:cubicBezTo>
                    <a:cubicBezTo>
                      <a:pt x="24277" y="0"/>
                      <a:pt x="9854" y="3846"/>
                      <a:pt x="9854" y="15022"/>
                    </a:cubicBezTo>
                    <a:cubicBezTo>
                      <a:pt x="9854" y="20550"/>
                      <a:pt x="14422" y="24035"/>
                      <a:pt x="19709" y="24876"/>
                    </a:cubicBezTo>
                    <a:lnTo>
                      <a:pt x="19709" y="25356"/>
                    </a:lnTo>
                    <a:cubicBezTo>
                      <a:pt x="11418" y="26440"/>
                      <a:pt x="0" y="31607"/>
                      <a:pt x="0" y="41100"/>
                    </a:cubicBezTo>
                    <a:cubicBezTo>
                      <a:pt x="0" y="52157"/>
                      <a:pt x="12859" y="54320"/>
                      <a:pt x="21872" y="54320"/>
                    </a:cubicBezTo>
                    <a:cubicBezTo>
                      <a:pt x="30885" y="54320"/>
                      <a:pt x="41462" y="51558"/>
                      <a:pt x="47228" y="44347"/>
                    </a:cubicBezTo>
                    <a:cubicBezTo>
                      <a:pt x="48431" y="42783"/>
                      <a:pt x="49633" y="40981"/>
                      <a:pt x="49633" y="38937"/>
                    </a:cubicBezTo>
                    <a:cubicBezTo>
                      <a:pt x="49633" y="37497"/>
                      <a:pt x="48312" y="35933"/>
                      <a:pt x="46748" y="35933"/>
                    </a:cubicBezTo>
                    <a:cubicBezTo>
                      <a:pt x="40862" y="35933"/>
                      <a:pt x="39537" y="51074"/>
                      <a:pt x="23193" y="51074"/>
                    </a:cubicBezTo>
                    <a:cubicBezTo>
                      <a:pt x="16824" y="51074"/>
                      <a:pt x="12017" y="48792"/>
                      <a:pt x="12017" y="42061"/>
                    </a:cubicBezTo>
                    <a:cubicBezTo>
                      <a:pt x="12017" y="35572"/>
                      <a:pt x="16224" y="28242"/>
                      <a:pt x="23674" y="28242"/>
                    </a:cubicBezTo>
                    <a:cubicBezTo>
                      <a:pt x="27158" y="28242"/>
                      <a:pt x="30405" y="29563"/>
                      <a:pt x="33889" y="29563"/>
                    </a:cubicBezTo>
                    <a:cubicBezTo>
                      <a:pt x="36655" y="29563"/>
                      <a:pt x="39180" y="28722"/>
                      <a:pt x="39180" y="25598"/>
                    </a:cubicBezTo>
                    <a:cubicBezTo>
                      <a:pt x="39180" y="22832"/>
                      <a:pt x="37497" y="22471"/>
                      <a:pt x="34973" y="22471"/>
                    </a:cubicBezTo>
                    <a:cubicBezTo>
                      <a:pt x="32206" y="22471"/>
                      <a:pt x="29563" y="22832"/>
                      <a:pt x="26920" y="22832"/>
                    </a:cubicBezTo>
                    <a:cubicBezTo>
                      <a:pt x="22471" y="22832"/>
                      <a:pt x="20550" y="21030"/>
                      <a:pt x="20550" y="16704"/>
                    </a:cubicBezTo>
                    <a:cubicBezTo>
                      <a:pt x="20550" y="9973"/>
                      <a:pt x="25960" y="3242"/>
                      <a:pt x="33290" y="3242"/>
                    </a:cubicBezTo>
                    <a:cubicBezTo>
                      <a:pt x="44105" y="3242"/>
                      <a:pt x="43025" y="14542"/>
                      <a:pt x="50236" y="14542"/>
                    </a:cubicBezTo>
                    <a:cubicBezTo>
                      <a:pt x="53118" y="14542"/>
                      <a:pt x="55404" y="12859"/>
                      <a:pt x="55404" y="9854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objective_line2_outline_2"/>
              <p:cNvSpPr/>
              <p:nvPr/>
            </p:nvSpPr>
            <p:spPr>
              <a:xfrm>
                <a:off x="2805987" y="2336331"/>
                <a:ext cx="154561" cy="79557"/>
              </a:xfrm>
              <a:custGeom>
                <a:avLst/>
                <a:gdLst/>
                <a:ahLst/>
                <a:cxnLst/>
                <a:rect l="0" t="0" r="r" b="b"/>
                <a:pathLst>
                  <a:path w="154562" h="79558">
                    <a:moveTo>
                      <a:pt x="82804" y="79558"/>
                    </a:moveTo>
                    <a:lnTo>
                      <a:pt x="82804" y="77275"/>
                    </a:lnTo>
                    <a:cubicBezTo>
                      <a:pt x="76553" y="77152"/>
                      <a:pt x="74871" y="75954"/>
                      <a:pt x="63933" y="64294"/>
                    </a:cubicBezTo>
                    <a:lnTo>
                      <a:pt x="35933" y="34250"/>
                    </a:lnTo>
                    <a:lnTo>
                      <a:pt x="58765" y="11656"/>
                    </a:lnTo>
                    <a:cubicBezTo>
                      <a:pt x="66937" y="3846"/>
                      <a:pt x="68862" y="2881"/>
                      <a:pt x="77033" y="2282"/>
                    </a:cubicBezTo>
                    <a:lnTo>
                      <a:pt x="77033" y="0"/>
                    </a:lnTo>
                    <a:lnTo>
                      <a:pt x="45545" y="0"/>
                    </a:lnTo>
                    <a:lnTo>
                      <a:pt x="45545" y="2282"/>
                    </a:lnTo>
                    <a:cubicBezTo>
                      <a:pt x="46990" y="2401"/>
                      <a:pt x="48192" y="2401"/>
                      <a:pt x="48673" y="2401"/>
                    </a:cubicBezTo>
                    <a:cubicBezTo>
                      <a:pt x="52276" y="2643"/>
                      <a:pt x="53717" y="3604"/>
                      <a:pt x="53717" y="6009"/>
                    </a:cubicBezTo>
                    <a:cubicBezTo>
                      <a:pt x="53717" y="8652"/>
                      <a:pt x="50955" y="12255"/>
                      <a:pt x="44343" y="18387"/>
                    </a:cubicBezTo>
                    <a:lnTo>
                      <a:pt x="23074" y="37735"/>
                    </a:lnTo>
                    <a:lnTo>
                      <a:pt x="23074" y="13097"/>
                    </a:lnTo>
                    <a:cubicBezTo>
                      <a:pt x="23074" y="4326"/>
                      <a:pt x="24396" y="3004"/>
                      <a:pt x="34131" y="2282"/>
                    </a:cubicBezTo>
                    <a:lnTo>
                      <a:pt x="34131" y="0"/>
                    </a:lnTo>
                    <a:lnTo>
                      <a:pt x="0" y="0"/>
                    </a:lnTo>
                    <a:lnTo>
                      <a:pt x="0" y="2282"/>
                    </a:lnTo>
                    <a:cubicBezTo>
                      <a:pt x="9374" y="3004"/>
                      <a:pt x="10815" y="4564"/>
                      <a:pt x="10815" y="13097"/>
                    </a:cubicBezTo>
                    <a:lnTo>
                      <a:pt x="10815" y="65135"/>
                    </a:lnTo>
                    <a:cubicBezTo>
                      <a:pt x="10815" y="75113"/>
                      <a:pt x="9493" y="76672"/>
                      <a:pt x="0" y="77275"/>
                    </a:cubicBezTo>
                    <a:lnTo>
                      <a:pt x="0" y="79558"/>
                    </a:lnTo>
                    <a:lnTo>
                      <a:pt x="33889" y="79558"/>
                    </a:lnTo>
                    <a:lnTo>
                      <a:pt x="33889" y="77275"/>
                    </a:lnTo>
                    <a:cubicBezTo>
                      <a:pt x="24515" y="76672"/>
                      <a:pt x="23074" y="75232"/>
                      <a:pt x="23074" y="66457"/>
                    </a:cubicBezTo>
                    <a:lnTo>
                      <a:pt x="23074" y="43986"/>
                    </a:lnTo>
                    <a:lnTo>
                      <a:pt x="26198" y="41461"/>
                    </a:lnTo>
                    <a:lnTo>
                      <a:pt x="38937" y="54078"/>
                    </a:lnTo>
                    <a:cubicBezTo>
                      <a:pt x="48069" y="63091"/>
                      <a:pt x="54558" y="71624"/>
                      <a:pt x="54558" y="74509"/>
                    </a:cubicBezTo>
                    <a:cubicBezTo>
                      <a:pt x="54558" y="76192"/>
                      <a:pt x="52876" y="77033"/>
                      <a:pt x="49514" y="77152"/>
                    </a:cubicBezTo>
                    <a:cubicBezTo>
                      <a:pt x="48911" y="77152"/>
                      <a:pt x="47589" y="77152"/>
                      <a:pt x="46149" y="77275"/>
                    </a:cubicBezTo>
                    <a:lnTo>
                      <a:pt x="46149" y="79558"/>
                    </a:lnTo>
                    <a:lnTo>
                      <a:pt x="82804" y="79558"/>
                    </a:lnTo>
                    <a:close/>
                    <a:moveTo>
                      <a:pt x="154562" y="58646"/>
                    </a:moveTo>
                    <a:lnTo>
                      <a:pt x="151558" y="58646"/>
                    </a:lnTo>
                    <a:cubicBezTo>
                      <a:pt x="149637" y="62853"/>
                      <a:pt x="148073" y="65615"/>
                      <a:pt x="146391" y="67540"/>
                    </a:cubicBezTo>
                    <a:cubicBezTo>
                      <a:pt x="142183" y="72588"/>
                      <a:pt x="135575" y="74870"/>
                      <a:pt x="125241" y="74870"/>
                    </a:cubicBezTo>
                    <a:lnTo>
                      <a:pt x="117188" y="74870"/>
                    </a:lnTo>
                    <a:cubicBezTo>
                      <a:pt x="108413" y="74870"/>
                      <a:pt x="106854" y="74148"/>
                      <a:pt x="106854" y="69941"/>
                    </a:cubicBezTo>
                    <a:lnTo>
                      <a:pt x="106854" y="13097"/>
                    </a:lnTo>
                    <a:cubicBezTo>
                      <a:pt x="106854" y="4564"/>
                      <a:pt x="108536" y="2881"/>
                      <a:pt x="118030" y="2282"/>
                    </a:cubicBezTo>
                    <a:lnTo>
                      <a:pt x="118030" y="0"/>
                    </a:lnTo>
                    <a:lnTo>
                      <a:pt x="84137" y="0"/>
                    </a:lnTo>
                    <a:lnTo>
                      <a:pt x="84137" y="2282"/>
                    </a:lnTo>
                    <a:cubicBezTo>
                      <a:pt x="93030" y="3004"/>
                      <a:pt x="94594" y="4564"/>
                      <a:pt x="94594" y="13097"/>
                    </a:cubicBezTo>
                    <a:lnTo>
                      <a:pt x="94594" y="66457"/>
                    </a:lnTo>
                    <a:cubicBezTo>
                      <a:pt x="94594" y="74989"/>
                      <a:pt x="92911" y="76672"/>
                      <a:pt x="84137" y="77275"/>
                    </a:cubicBezTo>
                    <a:lnTo>
                      <a:pt x="84137" y="79558"/>
                    </a:lnTo>
                    <a:lnTo>
                      <a:pt x="148796" y="79558"/>
                    </a:lnTo>
                    <a:lnTo>
                      <a:pt x="154562" y="58646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" name="objective_line2_outline_3"/>
              <p:cNvSpPr/>
              <p:nvPr/>
            </p:nvSpPr>
            <p:spPr>
              <a:xfrm>
                <a:off x="2973900" y="2329719"/>
                <a:ext cx="30765" cy="110446"/>
              </a:xfrm>
              <a:custGeom>
                <a:avLst/>
                <a:gdLst/>
                <a:ahLst/>
                <a:cxnLst/>
                <a:rect l="0" t="0" r="r" b="b"/>
                <a:pathLst>
                  <a:path w="30766" h="110446">
                    <a:moveTo>
                      <a:pt x="29682" y="0"/>
                    </a:moveTo>
                    <a:cubicBezTo>
                      <a:pt x="12255" y="11299"/>
                      <a:pt x="0" y="30766"/>
                      <a:pt x="0" y="55285"/>
                    </a:cubicBezTo>
                    <a:cubicBezTo>
                      <a:pt x="0" y="77637"/>
                      <a:pt x="12736" y="100231"/>
                      <a:pt x="29321" y="110446"/>
                    </a:cubicBezTo>
                    <a:lnTo>
                      <a:pt x="30766" y="108522"/>
                    </a:lnTo>
                    <a:cubicBezTo>
                      <a:pt x="14899" y="96024"/>
                      <a:pt x="10335" y="81482"/>
                      <a:pt x="10335" y="54924"/>
                    </a:cubicBezTo>
                    <a:cubicBezTo>
                      <a:pt x="10335" y="28242"/>
                      <a:pt x="15260" y="14423"/>
                      <a:pt x="30766" y="1925"/>
                    </a:cubicBezTo>
                    <a:lnTo>
                      <a:pt x="29682" y="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" name="objective_line2_outline_4"/>
              <p:cNvSpPr/>
              <p:nvPr/>
            </p:nvSpPr>
            <p:spPr>
              <a:xfrm>
                <a:off x="3017413" y="2337411"/>
                <a:ext cx="76557" cy="78478"/>
              </a:xfrm>
              <a:custGeom>
                <a:avLst/>
                <a:gdLst/>
                <a:ahLst/>
                <a:cxnLst/>
                <a:rect l="0" t="0" r="r" b="b"/>
                <a:pathLst>
                  <a:path w="76557" h="78478">
                    <a:moveTo>
                      <a:pt x="72711" y="18387"/>
                    </a:moveTo>
                    <a:lnTo>
                      <a:pt x="76557" y="0"/>
                    </a:lnTo>
                    <a:lnTo>
                      <a:pt x="16704" y="0"/>
                    </a:lnTo>
                    <a:lnTo>
                      <a:pt x="16704" y="1925"/>
                    </a:lnTo>
                    <a:cubicBezTo>
                      <a:pt x="24638" y="2643"/>
                      <a:pt x="25960" y="3366"/>
                      <a:pt x="25960" y="6731"/>
                    </a:cubicBezTo>
                    <a:cubicBezTo>
                      <a:pt x="25960" y="8652"/>
                      <a:pt x="25479" y="11537"/>
                      <a:pt x="24638" y="14542"/>
                    </a:cubicBezTo>
                    <a:lnTo>
                      <a:pt x="9854" y="67663"/>
                    </a:lnTo>
                    <a:cubicBezTo>
                      <a:pt x="7691" y="74874"/>
                      <a:pt x="6850" y="75593"/>
                      <a:pt x="0" y="76553"/>
                    </a:cubicBezTo>
                    <a:lnTo>
                      <a:pt x="0" y="78478"/>
                    </a:lnTo>
                    <a:lnTo>
                      <a:pt x="30285" y="78478"/>
                    </a:lnTo>
                    <a:lnTo>
                      <a:pt x="30285" y="76553"/>
                    </a:lnTo>
                    <a:cubicBezTo>
                      <a:pt x="23316" y="76196"/>
                      <a:pt x="21153" y="74874"/>
                      <a:pt x="21153" y="71267"/>
                    </a:cubicBezTo>
                    <a:cubicBezTo>
                      <a:pt x="21153" y="70187"/>
                      <a:pt x="21392" y="68743"/>
                      <a:pt x="22233" y="65857"/>
                    </a:cubicBezTo>
                    <a:lnTo>
                      <a:pt x="29686" y="39060"/>
                    </a:lnTo>
                    <a:cubicBezTo>
                      <a:pt x="34131" y="39298"/>
                      <a:pt x="36774" y="39418"/>
                      <a:pt x="39422" y="39418"/>
                    </a:cubicBezTo>
                    <a:cubicBezTo>
                      <a:pt x="44109" y="39418"/>
                      <a:pt x="44827" y="39541"/>
                      <a:pt x="46030" y="40021"/>
                    </a:cubicBezTo>
                    <a:cubicBezTo>
                      <a:pt x="47712" y="40862"/>
                      <a:pt x="48673" y="42545"/>
                      <a:pt x="48673" y="44946"/>
                    </a:cubicBezTo>
                    <a:cubicBezTo>
                      <a:pt x="48673" y="46871"/>
                      <a:pt x="48435" y="48312"/>
                      <a:pt x="47712" y="52038"/>
                    </a:cubicBezTo>
                    <a:lnTo>
                      <a:pt x="49756" y="52637"/>
                    </a:lnTo>
                    <a:lnTo>
                      <a:pt x="58888" y="24519"/>
                    </a:lnTo>
                    <a:lnTo>
                      <a:pt x="56725" y="23916"/>
                    </a:lnTo>
                    <a:cubicBezTo>
                      <a:pt x="51320" y="34730"/>
                      <a:pt x="50959" y="34853"/>
                      <a:pt x="30766" y="35092"/>
                    </a:cubicBezTo>
                    <a:lnTo>
                      <a:pt x="38699" y="7092"/>
                    </a:lnTo>
                    <a:cubicBezTo>
                      <a:pt x="39422" y="4687"/>
                      <a:pt x="41104" y="3965"/>
                      <a:pt x="46030" y="3965"/>
                    </a:cubicBezTo>
                    <a:cubicBezTo>
                      <a:pt x="66342" y="3965"/>
                      <a:pt x="70549" y="5528"/>
                      <a:pt x="70549" y="13101"/>
                    </a:cubicBezTo>
                    <a:cubicBezTo>
                      <a:pt x="70549" y="13942"/>
                      <a:pt x="70549" y="14422"/>
                      <a:pt x="70425" y="15863"/>
                    </a:cubicBezTo>
                    <a:cubicBezTo>
                      <a:pt x="70306" y="16704"/>
                      <a:pt x="70306" y="17185"/>
                      <a:pt x="70187" y="18149"/>
                    </a:cubicBezTo>
                    <a:lnTo>
                      <a:pt x="72711" y="18387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objective_line2_outline_5"/>
              <p:cNvSpPr/>
              <p:nvPr/>
            </p:nvSpPr>
            <p:spPr>
              <a:xfrm>
                <a:off x="3112367" y="2330922"/>
                <a:ext cx="30765" cy="108160"/>
              </a:xfrm>
              <a:custGeom>
                <a:avLst/>
                <a:gdLst/>
                <a:ahLst/>
                <a:cxnLst/>
                <a:rect l="0" t="0" r="r" b="b"/>
                <a:pathLst>
                  <a:path w="30766" h="108160">
                    <a:moveTo>
                      <a:pt x="30766" y="108160"/>
                    </a:moveTo>
                    <a:lnTo>
                      <a:pt x="30766" y="0"/>
                    </a:lnTo>
                    <a:lnTo>
                      <a:pt x="24039" y="0"/>
                    </a:lnTo>
                    <a:lnTo>
                      <a:pt x="24039" y="108160"/>
                    </a:lnTo>
                    <a:lnTo>
                      <a:pt x="30766" y="108160"/>
                    </a:lnTo>
                    <a:close/>
                    <a:moveTo>
                      <a:pt x="6731" y="108160"/>
                    </a:moveTo>
                    <a:lnTo>
                      <a:pt x="6731" y="0"/>
                    </a:lnTo>
                    <a:lnTo>
                      <a:pt x="0" y="0"/>
                    </a:lnTo>
                    <a:lnTo>
                      <a:pt x="0" y="108160"/>
                    </a:lnTo>
                    <a:lnTo>
                      <a:pt x="6731" y="10816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objective_line2_outline_6"/>
              <p:cNvSpPr/>
              <p:nvPr/>
            </p:nvSpPr>
            <p:spPr>
              <a:xfrm>
                <a:off x="3194342" y="2310427"/>
                <a:ext cx="37377" cy="20069"/>
              </a:xfrm>
              <a:custGeom>
                <a:avLst/>
                <a:gdLst/>
                <a:ahLst/>
                <a:cxnLst/>
                <a:rect l="0" t="0" r="r" b="b"/>
                <a:pathLst>
                  <a:path w="37378" h="20070">
                    <a:moveTo>
                      <a:pt x="37378" y="20070"/>
                    </a:moveTo>
                    <a:lnTo>
                      <a:pt x="22352" y="0"/>
                    </a:lnTo>
                    <a:lnTo>
                      <a:pt x="14903" y="0"/>
                    </a:lnTo>
                    <a:lnTo>
                      <a:pt x="0" y="20070"/>
                    </a:lnTo>
                    <a:lnTo>
                      <a:pt x="4088" y="20070"/>
                    </a:lnTo>
                    <a:lnTo>
                      <a:pt x="18629" y="7692"/>
                    </a:lnTo>
                    <a:lnTo>
                      <a:pt x="33290" y="20070"/>
                    </a:lnTo>
                    <a:lnTo>
                      <a:pt x="37378" y="2007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objective_line2_outline_7"/>
              <p:cNvSpPr/>
              <p:nvPr/>
            </p:nvSpPr>
            <p:spPr>
              <a:xfrm>
                <a:off x="3162256" y="2337411"/>
                <a:ext cx="76557" cy="78478"/>
              </a:xfrm>
              <a:custGeom>
                <a:avLst/>
                <a:gdLst/>
                <a:ahLst/>
                <a:cxnLst/>
                <a:rect l="0" t="0" r="r" b="b"/>
                <a:pathLst>
                  <a:path w="76557" h="78478">
                    <a:moveTo>
                      <a:pt x="72712" y="18387"/>
                    </a:moveTo>
                    <a:lnTo>
                      <a:pt x="76557" y="0"/>
                    </a:lnTo>
                    <a:lnTo>
                      <a:pt x="16705" y="0"/>
                    </a:lnTo>
                    <a:lnTo>
                      <a:pt x="16705" y="1925"/>
                    </a:lnTo>
                    <a:cubicBezTo>
                      <a:pt x="24638" y="2643"/>
                      <a:pt x="25960" y="3366"/>
                      <a:pt x="25960" y="6731"/>
                    </a:cubicBezTo>
                    <a:cubicBezTo>
                      <a:pt x="25960" y="8652"/>
                      <a:pt x="25479" y="11537"/>
                      <a:pt x="24638" y="14542"/>
                    </a:cubicBezTo>
                    <a:lnTo>
                      <a:pt x="9854" y="67663"/>
                    </a:lnTo>
                    <a:cubicBezTo>
                      <a:pt x="7691" y="74874"/>
                      <a:pt x="6850" y="75593"/>
                      <a:pt x="0" y="76553"/>
                    </a:cubicBezTo>
                    <a:lnTo>
                      <a:pt x="0" y="78478"/>
                    </a:lnTo>
                    <a:lnTo>
                      <a:pt x="30286" y="78478"/>
                    </a:lnTo>
                    <a:lnTo>
                      <a:pt x="30286" y="76553"/>
                    </a:lnTo>
                    <a:cubicBezTo>
                      <a:pt x="23316" y="76196"/>
                      <a:pt x="21153" y="74874"/>
                      <a:pt x="21153" y="71267"/>
                    </a:cubicBezTo>
                    <a:cubicBezTo>
                      <a:pt x="21153" y="70187"/>
                      <a:pt x="21392" y="68743"/>
                      <a:pt x="22233" y="65857"/>
                    </a:cubicBezTo>
                    <a:lnTo>
                      <a:pt x="29686" y="39060"/>
                    </a:lnTo>
                    <a:cubicBezTo>
                      <a:pt x="34131" y="39298"/>
                      <a:pt x="36774" y="39418"/>
                      <a:pt x="39422" y="39418"/>
                    </a:cubicBezTo>
                    <a:cubicBezTo>
                      <a:pt x="44109" y="39418"/>
                      <a:pt x="44827" y="39541"/>
                      <a:pt x="46030" y="40021"/>
                    </a:cubicBezTo>
                    <a:cubicBezTo>
                      <a:pt x="47712" y="40862"/>
                      <a:pt x="48673" y="42545"/>
                      <a:pt x="48673" y="44946"/>
                    </a:cubicBezTo>
                    <a:cubicBezTo>
                      <a:pt x="48673" y="46871"/>
                      <a:pt x="48435" y="48312"/>
                      <a:pt x="47712" y="52038"/>
                    </a:cubicBezTo>
                    <a:lnTo>
                      <a:pt x="49756" y="52637"/>
                    </a:lnTo>
                    <a:lnTo>
                      <a:pt x="58888" y="24519"/>
                    </a:lnTo>
                    <a:lnTo>
                      <a:pt x="56725" y="23916"/>
                    </a:lnTo>
                    <a:cubicBezTo>
                      <a:pt x="51320" y="34730"/>
                      <a:pt x="50959" y="34853"/>
                      <a:pt x="30766" y="35092"/>
                    </a:cubicBezTo>
                    <a:lnTo>
                      <a:pt x="38699" y="7092"/>
                    </a:lnTo>
                    <a:cubicBezTo>
                      <a:pt x="39422" y="4687"/>
                      <a:pt x="41104" y="3965"/>
                      <a:pt x="46030" y="3965"/>
                    </a:cubicBezTo>
                    <a:cubicBezTo>
                      <a:pt x="66342" y="3965"/>
                      <a:pt x="70548" y="5528"/>
                      <a:pt x="70548" y="13101"/>
                    </a:cubicBezTo>
                    <a:cubicBezTo>
                      <a:pt x="70548" y="13942"/>
                      <a:pt x="70548" y="14422"/>
                      <a:pt x="70425" y="15863"/>
                    </a:cubicBezTo>
                    <a:cubicBezTo>
                      <a:pt x="70306" y="16704"/>
                      <a:pt x="70306" y="17185"/>
                      <a:pt x="70187" y="18149"/>
                    </a:cubicBezTo>
                    <a:lnTo>
                      <a:pt x="72712" y="18387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objective_line2_outline_8"/>
              <p:cNvSpPr/>
              <p:nvPr/>
            </p:nvSpPr>
            <p:spPr>
              <a:xfrm>
                <a:off x="3246035" y="2329719"/>
                <a:ext cx="30765" cy="110446"/>
              </a:xfrm>
              <a:custGeom>
                <a:avLst/>
                <a:gdLst/>
                <a:ahLst/>
                <a:cxnLst/>
                <a:rect l="0" t="0" r="r" b="b"/>
                <a:pathLst>
                  <a:path w="30766" h="110446">
                    <a:moveTo>
                      <a:pt x="1083" y="0"/>
                    </a:moveTo>
                    <a:lnTo>
                      <a:pt x="0" y="1925"/>
                    </a:lnTo>
                    <a:cubicBezTo>
                      <a:pt x="15502" y="14423"/>
                      <a:pt x="20431" y="28242"/>
                      <a:pt x="20431" y="54924"/>
                    </a:cubicBezTo>
                    <a:cubicBezTo>
                      <a:pt x="20431" y="81482"/>
                      <a:pt x="15863" y="96024"/>
                      <a:pt x="0" y="108522"/>
                    </a:cubicBezTo>
                    <a:lnTo>
                      <a:pt x="1445" y="110446"/>
                    </a:lnTo>
                    <a:cubicBezTo>
                      <a:pt x="18026" y="100231"/>
                      <a:pt x="30766" y="77637"/>
                      <a:pt x="30766" y="55285"/>
                    </a:cubicBezTo>
                    <a:cubicBezTo>
                      <a:pt x="30766" y="30766"/>
                      <a:pt x="18510" y="11299"/>
                      <a:pt x="1083" y="0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39" name="module_stage5"/>
          <p:cNvGrpSpPr/>
          <p:nvPr/>
        </p:nvGrpSpPr>
        <p:grpSpPr>
          <a:xfrm>
            <a:off x="3594100" y="76200"/>
            <a:ext cx="1397000" cy="2552700"/>
            <a:chOff x="3594100" y="76200"/>
            <a:chExt cx="1397000" cy="2552700"/>
          </a:xfrm>
        </p:grpSpPr>
        <p:sp>
          <p:nvSpPr>
            <p:cNvPr id="240" name="stage5_border"/>
            <p:cNvSpPr/>
            <p:nvPr/>
          </p:nvSpPr>
          <p:spPr>
            <a:xfrm>
              <a:off x="3594100" y="76200"/>
              <a:ext cx="13970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badge5"/>
            <p:cNvSpPr/>
            <p:nvPr/>
          </p:nvSpPr>
          <p:spPr>
            <a:xfrm>
              <a:off x="3644900" y="177800"/>
              <a:ext cx="146050" cy="146050"/>
            </a:xfrm>
            <a:prstGeom prst="ellipse">
              <a:avLst/>
            </a:prstGeom>
            <a:solidFill>
              <a:srgbClr val="6976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number5"/>
            <p:cNvSpPr txBox="1"/>
            <p:nvPr/>
          </p:nvSpPr>
          <p:spPr>
            <a:xfrm>
              <a:off x="36449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5</a:t>
              </a:r>
            </a:p>
          </p:txBody>
        </p:sp>
        <p:sp>
          <p:nvSpPr>
            <p:cNvPr id="243" name="title5"/>
            <p:cNvSpPr txBox="1"/>
            <p:nvPr/>
          </p:nvSpPr>
          <p:spPr>
            <a:xfrm>
              <a:off x="3822700" y="114300"/>
              <a:ext cx="11430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697681"/>
                  </a:solidFill>
                  <a:latin typeface="Liberation Serif"/>
                </a:rPr>
                <a:t>Priced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697681"/>
                  </a:solidFill>
                  <a:latin typeface="Liberation Serif"/>
                </a:rPr>
                <a:t>policy update</a:t>
              </a:r>
            </a:p>
          </p:txBody>
        </p:sp>
        <p:sp>
          <p:nvSpPr>
            <p:cNvPr id="244" name="dual_label"/>
            <p:cNvSpPr txBox="1"/>
            <p:nvPr/>
          </p:nvSpPr>
          <p:spPr>
            <a:xfrm>
              <a:off x="3657600" y="546100"/>
              <a:ext cx="1270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 i="0">
                  <a:solidFill>
                    <a:srgbClr val="18785B"/>
                  </a:solidFill>
                  <a:latin typeface="Liberation Serif"/>
                </a:rPr>
                <a:t>Safety prices</a:t>
              </a:r>
            </a:p>
          </p:txBody>
        </p:sp>
        <p:sp>
          <p:nvSpPr>
            <p:cNvPr id="245" name="filter_label"/>
            <p:cNvSpPr txBox="1"/>
            <p:nvPr/>
          </p:nvSpPr>
          <p:spPr>
            <a:xfrm>
              <a:off x="3670300" y="1003300"/>
              <a:ext cx="12573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clip at c + EMA</a:t>
              </a:r>
            </a:p>
          </p:txBody>
        </p:sp>
        <p:sp>
          <p:nvSpPr>
            <p:cNvPr id="246" name="feedback_label"/>
            <p:cNvSpPr txBox="1"/>
            <p:nvPr/>
          </p:nvSpPr>
          <p:spPr>
            <a:xfrm>
              <a:off x="3670300" y="1257300"/>
              <a:ext cx="12573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BA651F"/>
                  </a:solidFill>
                  <a:latin typeface="Liberation Serif"/>
                </a:rPr>
                <a:t>observed-cost feedback</a:t>
              </a:r>
            </a:p>
          </p:txBody>
        </p:sp>
        <p:sp>
          <p:nvSpPr>
            <p:cNvPr id="247" name="update_label"/>
            <p:cNvSpPr txBox="1"/>
            <p:nvPr/>
          </p:nvSpPr>
          <p:spPr>
            <a:xfrm>
              <a:off x="3683000" y="2438400"/>
              <a:ext cx="711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101010"/>
                  </a:solidFill>
                  <a:latin typeface="Liberation Serif"/>
                </a:rPr>
                <a:t>PPO/TRPO</a:t>
              </a:r>
            </a:p>
          </p:txBody>
        </p:sp>
        <p:sp>
          <p:nvSpPr>
            <p:cNvPr id="248" name="update_pi"/>
            <p:cNvSpPr/>
            <p:nvPr/>
          </p:nvSpPr>
          <p:spPr>
            <a:xfrm>
              <a:off x="4406900" y="2514600"/>
              <a:ext cx="127000" cy="127"/>
            </a:xfrm>
            <a:custGeom>
              <a:avLst/>
              <a:gdLst/>
              <a:ahLst/>
              <a:cxnLst/>
              <a:rect l="0" t="0" r="r" b="b"/>
              <a:pathLst>
                <a:path w="127000" h="1" fill="none">
                  <a:moveTo>
                    <a:pt x="0" y="0"/>
                  </a:moveTo>
                  <a:lnTo>
                    <a:pt x="127000" y="0"/>
                  </a:lnTo>
                </a:path>
              </a:pathLst>
            </a:custGeom>
            <a:noFill/>
            <a:ln w="889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49" name="dual_filter"/>
            <p:cNvGrpSpPr/>
            <p:nvPr/>
          </p:nvGrpSpPr>
          <p:grpSpPr>
            <a:xfrm>
              <a:off x="4013960" y="791051"/>
              <a:ext cx="537907" cy="158164"/>
              <a:chOff x="4013960" y="791051"/>
              <a:chExt cx="537907" cy="158164"/>
            </a:xfrm>
          </p:grpSpPr>
          <p:sp>
            <p:nvSpPr>
              <p:cNvPr id="250" name="dual_filter_outline_0"/>
              <p:cNvSpPr/>
              <p:nvPr/>
            </p:nvSpPr>
            <p:spPr>
              <a:xfrm>
                <a:off x="4013960" y="811997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" name="dual_filter_outline_1"/>
              <p:cNvSpPr/>
              <p:nvPr/>
            </p:nvSpPr>
            <p:spPr>
              <a:xfrm>
                <a:off x="4082790" y="791858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" name="dual_filter_outline_2"/>
              <p:cNvSpPr/>
              <p:nvPr/>
            </p:nvSpPr>
            <p:spPr>
              <a:xfrm>
                <a:off x="4089109" y="87720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dual_filter_outline_3"/>
              <p:cNvSpPr/>
              <p:nvPr/>
            </p:nvSpPr>
            <p:spPr>
              <a:xfrm>
                <a:off x="4229316" y="836413"/>
                <a:ext cx="113859" cy="51867"/>
              </a:xfrm>
              <a:custGeom>
                <a:avLst/>
                <a:gdLst/>
                <a:ahLst/>
                <a:cxnLst/>
                <a:rect l="0" t="0" r="r" b="b"/>
                <a:pathLst>
                  <a:path w="113860" h="51868">
                    <a:moveTo>
                      <a:pt x="113860" y="25809"/>
                    </a:moveTo>
                    <a:lnTo>
                      <a:pt x="89063" y="0"/>
                    </a:lnTo>
                    <a:lnTo>
                      <a:pt x="85142" y="4175"/>
                    </a:lnTo>
                    <a:lnTo>
                      <a:pt x="100195" y="22392"/>
                    </a:lnTo>
                    <a:lnTo>
                      <a:pt x="0" y="22392"/>
                    </a:lnTo>
                    <a:lnTo>
                      <a:pt x="0" y="29476"/>
                    </a:lnTo>
                    <a:lnTo>
                      <a:pt x="100195" y="29476"/>
                    </a:lnTo>
                    <a:lnTo>
                      <a:pt x="85142" y="47696"/>
                    </a:lnTo>
                    <a:lnTo>
                      <a:pt x="89063" y="51868"/>
                    </a:lnTo>
                    <a:lnTo>
                      <a:pt x="113860" y="25809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dual_filter_outline_4"/>
              <p:cNvSpPr/>
              <p:nvPr/>
            </p:nvSpPr>
            <p:spPr>
              <a:xfrm>
                <a:off x="4440545" y="791051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dual_filter_outline_5"/>
              <p:cNvSpPr/>
              <p:nvPr/>
            </p:nvSpPr>
            <p:spPr>
              <a:xfrm>
                <a:off x="4418188" y="811997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0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dual_filter_outline_6"/>
              <p:cNvSpPr/>
              <p:nvPr/>
            </p:nvSpPr>
            <p:spPr>
              <a:xfrm>
                <a:off x="4487018" y="791858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80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dual_filter_outline_7"/>
              <p:cNvSpPr/>
              <p:nvPr/>
            </p:nvSpPr>
            <p:spPr>
              <a:xfrm>
                <a:off x="4493337" y="87720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58" name="feedback"/>
            <p:cNvGrpSpPr/>
            <p:nvPr/>
          </p:nvGrpSpPr>
          <p:grpSpPr>
            <a:xfrm>
              <a:off x="3634217" y="1520605"/>
              <a:ext cx="1297131" cy="121459"/>
              <a:chOff x="3634217" y="1520605"/>
              <a:chExt cx="1297131" cy="121459"/>
            </a:xfrm>
          </p:grpSpPr>
          <p:sp>
            <p:nvSpPr>
              <p:cNvPr id="259" name="feedback_outline_0"/>
              <p:cNvSpPr/>
              <p:nvPr/>
            </p:nvSpPr>
            <p:spPr>
              <a:xfrm>
                <a:off x="3634217" y="1538412"/>
                <a:ext cx="72902" cy="92686"/>
              </a:xfrm>
              <a:custGeom>
                <a:avLst/>
                <a:gdLst/>
                <a:ahLst/>
                <a:cxnLst/>
                <a:rect l="0" t="0" r="r" b="b"/>
                <a:pathLst>
                  <a:path w="72902" h="92686">
                    <a:moveTo>
                      <a:pt x="72902" y="12367"/>
                    </a:moveTo>
                    <a:cubicBezTo>
                      <a:pt x="72902" y="3869"/>
                      <a:pt x="64838" y="0"/>
                      <a:pt x="54300" y="0"/>
                    </a:cubicBezTo>
                    <a:cubicBezTo>
                      <a:pt x="40862" y="0"/>
                      <a:pt x="27849" y="7636"/>
                      <a:pt x="24301" y="18494"/>
                    </a:cubicBezTo>
                    <a:lnTo>
                      <a:pt x="7529" y="78494"/>
                    </a:lnTo>
                    <a:cubicBezTo>
                      <a:pt x="5592" y="85269"/>
                      <a:pt x="1183" y="91289"/>
                      <a:pt x="0" y="92686"/>
                    </a:cubicBezTo>
                    <a:lnTo>
                      <a:pt x="11184" y="92686"/>
                    </a:lnTo>
                    <a:cubicBezTo>
                      <a:pt x="11291" y="92686"/>
                      <a:pt x="13228" y="91829"/>
                      <a:pt x="17312" y="78387"/>
                    </a:cubicBezTo>
                    <a:lnTo>
                      <a:pt x="21185" y="64516"/>
                    </a:lnTo>
                    <a:lnTo>
                      <a:pt x="21292" y="64516"/>
                    </a:lnTo>
                    <a:cubicBezTo>
                      <a:pt x="21292" y="64623"/>
                      <a:pt x="25269" y="72259"/>
                      <a:pt x="37207" y="72259"/>
                    </a:cubicBezTo>
                    <a:cubicBezTo>
                      <a:pt x="54947" y="72259"/>
                      <a:pt x="67096" y="60214"/>
                      <a:pt x="67096" y="47847"/>
                    </a:cubicBezTo>
                    <a:cubicBezTo>
                      <a:pt x="67096" y="34409"/>
                      <a:pt x="51614" y="32365"/>
                      <a:pt x="51506" y="32365"/>
                    </a:cubicBezTo>
                    <a:lnTo>
                      <a:pt x="51506" y="31936"/>
                    </a:lnTo>
                    <a:cubicBezTo>
                      <a:pt x="51614" y="31936"/>
                      <a:pt x="72902" y="28063"/>
                      <a:pt x="72902" y="12367"/>
                    </a:cubicBezTo>
                    <a:close/>
                    <a:moveTo>
                      <a:pt x="62258" y="12152"/>
                    </a:moveTo>
                    <a:cubicBezTo>
                      <a:pt x="62258" y="17097"/>
                      <a:pt x="59031" y="29246"/>
                      <a:pt x="49248" y="29246"/>
                    </a:cubicBezTo>
                    <a:cubicBezTo>
                      <a:pt x="46669" y="29246"/>
                      <a:pt x="44518" y="28817"/>
                      <a:pt x="42581" y="28817"/>
                    </a:cubicBezTo>
                    <a:cubicBezTo>
                      <a:pt x="39247" y="28817"/>
                      <a:pt x="36989" y="31290"/>
                      <a:pt x="36989" y="33226"/>
                    </a:cubicBezTo>
                    <a:cubicBezTo>
                      <a:pt x="36989" y="34409"/>
                      <a:pt x="37957" y="35377"/>
                      <a:pt x="40108" y="35377"/>
                    </a:cubicBezTo>
                    <a:cubicBezTo>
                      <a:pt x="43442" y="35377"/>
                      <a:pt x="44303" y="34838"/>
                      <a:pt x="46990" y="34838"/>
                    </a:cubicBezTo>
                    <a:cubicBezTo>
                      <a:pt x="52903" y="34838"/>
                      <a:pt x="55590" y="40644"/>
                      <a:pt x="55590" y="46664"/>
                    </a:cubicBezTo>
                    <a:cubicBezTo>
                      <a:pt x="55590" y="57420"/>
                      <a:pt x="48709" y="67310"/>
                      <a:pt x="36453" y="67310"/>
                    </a:cubicBezTo>
                    <a:cubicBezTo>
                      <a:pt x="28710" y="67310"/>
                      <a:pt x="23765" y="63548"/>
                      <a:pt x="23765" y="57313"/>
                    </a:cubicBezTo>
                    <a:cubicBezTo>
                      <a:pt x="23765" y="56023"/>
                      <a:pt x="23979" y="54622"/>
                      <a:pt x="24408" y="53118"/>
                    </a:cubicBezTo>
                    <a:lnTo>
                      <a:pt x="33980" y="18601"/>
                    </a:lnTo>
                    <a:cubicBezTo>
                      <a:pt x="36131" y="11612"/>
                      <a:pt x="41831" y="3012"/>
                      <a:pt x="52796" y="3012"/>
                    </a:cubicBezTo>
                    <a:cubicBezTo>
                      <a:pt x="59678" y="3012"/>
                      <a:pt x="62258" y="7203"/>
                      <a:pt x="62258" y="1215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feedback_outline_1"/>
              <p:cNvSpPr/>
              <p:nvPr/>
            </p:nvSpPr>
            <p:spPr>
              <a:xfrm>
                <a:off x="3712491" y="15700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feedback_outline_2"/>
              <p:cNvSpPr/>
              <p:nvPr/>
            </p:nvSpPr>
            <p:spPr>
              <a:xfrm>
                <a:off x="3810717" y="1559165"/>
                <a:ext cx="96773" cy="44084"/>
              </a:xfrm>
              <a:custGeom>
                <a:avLst/>
                <a:gdLst/>
                <a:ahLst/>
                <a:cxnLst/>
                <a:rect l="0" t="0" r="r" b="b"/>
                <a:pathLst>
                  <a:path w="96774" h="44085">
                    <a:moveTo>
                      <a:pt x="96774" y="25055"/>
                    </a:moveTo>
                    <a:lnTo>
                      <a:pt x="96774" y="19030"/>
                    </a:lnTo>
                    <a:lnTo>
                      <a:pt x="11613" y="19030"/>
                    </a:lnTo>
                    <a:lnTo>
                      <a:pt x="24408" y="3548"/>
                    </a:lnTo>
                    <a:lnTo>
                      <a:pt x="21074" y="0"/>
                    </a:lnTo>
                    <a:lnTo>
                      <a:pt x="0" y="22150"/>
                    </a:lnTo>
                    <a:lnTo>
                      <a:pt x="21074" y="44085"/>
                    </a:lnTo>
                    <a:lnTo>
                      <a:pt x="24408" y="40537"/>
                    </a:lnTo>
                    <a:lnTo>
                      <a:pt x="11613" y="25055"/>
                    </a:lnTo>
                    <a:lnTo>
                      <a:pt x="96774" y="25055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feedback_outline_3"/>
              <p:cNvSpPr/>
              <p:nvPr/>
            </p:nvSpPr>
            <p:spPr>
              <a:xfrm>
                <a:off x="3959946" y="1532820"/>
                <a:ext cx="22688" cy="96773"/>
              </a:xfrm>
              <a:custGeom>
                <a:avLst/>
                <a:gdLst/>
                <a:ahLst/>
                <a:cxnLst/>
                <a:rect l="0" t="0" r="r" b="b"/>
                <a:pathLst>
                  <a:path w="22689" h="96774">
                    <a:moveTo>
                      <a:pt x="22689" y="94087"/>
                    </a:moveTo>
                    <a:lnTo>
                      <a:pt x="13442" y="94087"/>
                    </a:lnTo>
                    <a:cubicBezTo>
                      <a:pt x="9893" y="94087"/>
                      <a:pt x="8171" y="92258"/>
                      <a:pt x="8171" y="88495"/>
                    </a:cubicBezTo>
                    <a:lnTo>
                      <a:pt x="8171" y="7422"/>
                    </a:lnTo>
                    <a:cubicBezTo>
                      <a:pt x="8171" y="4088"/>
                      <a:pt x="9568" y="2691"/>
                      <a:pt x="13009" y="2691"/>
                    </a:cubicBezTo>
                    <a:lnTo>
                      <a:pt x="22689" y="2691"/>
                    </a:lnTo>
                    <a:lnTo>
                      <a:pt x="22689" y="0"/>
                    </a:lnTo>
                    <a:lnTo>
                      <a:pt x="0" y="0"/>
                    </a:lnTo>
                    <a:lnTo>
                      <a:pt x="0" y="96774"/>
                    </a:lnTo>
                    <a:lnTo>
                      <a:pt x="22689" y="96774"/>
                    </a:lnTo>
                    <a:lnTo>
                      <a:pt x="22689" y="94087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feedback_outline_4"/>
              <p:cNvSpPr/>
              <p:nvPr/>
            </p:nvSpPr>
            <p:spPr>
              <a:xfrm>
                <a:off x="3985880" y="1538412"/>
                <a:ext cx="72902" cy="92686"/>
              </a:xfrm>
              <a:custGeom>
                <a:avLst/>
                <a:gdLst/>
                <a:ahLst/>
                <a:cxnLst/>
                <a:rect l="0" t="0" r="r" b="b"/>
                <a:pathLst>
                  <a:path w="72902" h="92686">
                    <a:moveTo>
                      <a:pt x="72902" y="12367"/>
                    </a:moveTo>
                    <a:cubicBezTo>
                      <a:pt x="72902" y="3869"/>
                      <a:pt x="64838" y="0"/>
                      <a:pt x="54300" y="0"/>
                    </a:cubicBezTo>
                    <a:cubicBezTo>
                      <a:pt x="40862" y="0"/>
                      <a:pt x="27849" y="7636"/>
                      <a:pt x="24301" y="18494"/>
                    </a:cubicBezTo>
                    <a:lnTo>
                      <a:pt x="7529" y="78494"/>
                    </a:lnTo>
                    <a:cubicBezTo>
                      <a:pt x="5592" y="85269"/>
                      <a:pt x="1183" y="91289"/>
                      <a:pt x="0" y="92686"/>
                    </a:cubicBezTo>
                    <a:lnTo>
                      <a:pt x="11184" y="92686"/>
                    </a:lnTo>
                    <a:cubicBezTo>
                      <a:pt x="11291" y="92686"/>
                      <a:pt x="13228" y="91829"/>
                      <a:pt x="17312" y="78387"/>
                    </a:cubicBezTo>
                    <a:lnTo>
                      <a:pt x="21185" y="64516"/>
                    </a:lnTo>
                    <a:lnTo>
                      <a:pt x="21292" y="64516"/>
                    </a:lnTo>
                    <a:cubicBezTo>
                      <a:pt x="21292" y="64623"/>
                      <a:pt x="25269" y="72259"/>
                      <a:pt x="37207" y="72259"/>
                    </a:cubicBezTo>
                    <a:cubicBezTo>
                      <a:pt x="54947" y="72259"/>
                      <a:pt x="67096" y="60214"/>
                      <a:pt x="67096" y="47847"/>
                    </a:cubicBezTo>
                    <a:cubicBezTo>
                      <a:pt x="67096" y="34409"/>
                      <a:pt x="51614" y="32365"/>
                      <a:pt x="51506" y="32365"/>
                    </a:cubicBezTo>
                    <a:lnTo>
                      <a:pt x="51506" y="31936"/>
                    </a:lnTo>
                    <a:cubicBezTo>
                      <a:pt x="51614" y="31936"/>
                      <a:pt x="72902" y="28063"/>
                      <a:pt x="72902" y="12367"/>
                    </a:cubicBezTo>
                    <a:close/>
                    <a:moveTo>
                      <a:pt x="62258" y="12152"/>
                    </a:moveTo>
                    <a:cubicBezTo>
                      <a:pt x="62258" y="17097"/>
                      <a:pt x="59031" y="29246"/>
                      <a:pt x="49248" y="29246"/>
                    </a:cubicBezTo>
                    <a:cubicBezTo>
                      <a:pt x="46669" y="29246"/>
                      <a:pt x="44518" y="28817"/>
                      <a:pt x="42581" y="28817"/>
                    </a:cubicBezTo>
                    <a:cubicBezTo>
                      <a:pt x="39247" y="28817"/>
                      <a:pt x="36989" y="31290"/>
                      <a:pt x="36989" y="33226"/>
                    </a:cubicBezTo>
                    <a:cubicBezTo>
                      <a:pt x="36989" y="34409"/>
                      <a:pt x="37957" y="35377"/>
                      <a:pt x="40108" y="35377"/>
                    </a:cubicBezTo>
                    <a:cubicBezTo>
                      <a:pt x="43442" y="35377"/>
                      <a:pt x="44303" y="34838"/>
                      <a:pt x="46990" y="34838"/>
                    </a:cubicBezTo>
                    <a:cubicBezTo>
                      <a:pt x="52903" y="34838"/>
                      <a:pt x="55590" y="40644"/>
                      <a:pt x="55590" y="46664"/>
                    </a:cubicBezTo>
                    <a:cubicBezTo>
                      <a:pt x="55590" y="57420"/>
                      <a:pt x="48709" y="67310"/>
                      <a:pt x="36453" y="67310"/>
                    </a:cubicBezTo>
                    <a:cubicBezTo>
                      <a:pt x="28710" y="67310"/>
                      <a:pt x="23765" y="63548"/>
                      <a:pt x="23765" y="57313"/>
                    </a:cubicBezTo>
                    <a:cubicBezTo>
                      <a:pt x="23765" y="56023"/>
                      <a:pt x="23979" y="54622"/>
                      <a:pt x="24408" y="53118"/>
                    </a:cubicBezTo>
                    <a:lnTo>
                      <a:pt x="33980" y="18601"/>
                    </a:lnTo>
                    <a:cubicBezTo>
                      <a:pt x="36131" y="11612"/>
                      <a:pt x="41831" y="3012"/>
                      <a:pt x="52796" y="3012"/>
                    </a:cubicBezTo>
                    <a:cubicBezTo>
                      <a:pt x="59678" y="3012"/>
                      <a:pt x="62258" y="7203"/>
                      <a:pt x="62258" y="1215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feedback_outline_5"/>
              <p:cNvSpPr/>
              <p:nvPr/>
            </p:nvSpPr>
            <p:spPr>
              <a:xfrm>
                <a:off x="4064153" y="15700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feedback_outline_6"/>
              <p:cNvSpPr/>
              <p:nvPr/>
            </p:nvSpPr>
            <p:spPr>
              <a:xfrm>
                <a:off x="4156399" y="1553573"/>
                <a:ext cx="55050" cy="55268"/>
              </a:xfrm>
              <a:custGeom>
                <a:avLst/>
                <a:gdLst/>
                <a:ahLst/>
                <a:cxnLst/>
                <a:rect l="0" t="0" r="r" b="b"/>
                <a:pathLst>
                  <a:path w="55050" h="55269">
                    <a:moveTo>
                      <a:pt x="23979" y="24086"/>
                    </a:moveTo>
                    <a:lnTo>
                      <a:pt x="0" y="24086"/>
                    </a:lnTo>
                    <a:lnTo>
                      <a:pt x="0" y="31182"/>
                    </a:lnTo>
                    <a:lnTo>
                      <a:pt x="23979" y="31182"/>
                    </a:lnTo>
                    <a:lnTo>
                      <a:pt x="23979" y="55269"/>
                    </a:lnTo>
                    <a:lnTo>
                      <a:pt x="31075" y="55269"/>
                    </a:lnTo>
                    <a:lnTo>
                      <a:pt x="31075" y="31182"/>
                    </a:lnTo>
                    <a:lnTo>
                      <a:pt x="55050" y="31182"/>
                    </a:lnTo>
                    <a:lnTo>
                      <a:pt x="55050" y="24086"/>
                    </a:lnTo>
                    <a:lnTo>
                      <a:pt x="31075" y="24086"/>
                    </a:lnTo>
                    <a:lnTo>
                      <a:pt x="31075" y="0"/>
                    </a:lnTo>
                    <a:lnTo>
                      <a:pt x="23979" y="0"/>
                    </a:lnTo>
                    <a:lnTo>
                      <a:pt x="23979" y="24086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feedback_outline_7"/>
              <p:cNvSpPr/>
              <p:nvPr/>
            </p:nvSpPr>
            <p:spPr>
              <a:xfrm>
                <a:off x="4253973" y="1561423"/>
                <a:ext cx="67742" cy="48601"/>
              </a:xfrm>
              <a:custGeom>
                <a:avLst/>
                <a:gdLst/>
                <a:ahLst/>
                <a:cxnLst/>
                <a:rect l="0" t="0" r="r" b="b"/>
                <a:pathLst>
                  <a:path w="67743" h="48601">
                    <a:moveTo>
                      <a:pt x="67743" y="3227"/>
                    </a:moveTo>
                    <a:lnTo>
                      <a:pt x="59785" y="4302"/>
                    </a:lnTo>
                    <a:cubicBezTo>
                      <a:pt x="56666" y="12581"/>
                      <a:pt x="47419" y="25269"/>
                      <a:pt x="47419" y="25376"/>
                    </a:cubicBezTo>
                    <a:lnTo>
                      <a:pt x="47312" y="25376"/>
                    </a:lnTo>
                    <a:cubicBezTo>
                      <a:pt x="47312" y="25269"/>
                      <a:pt x="50109" y="20646"/>
                      <a:pt x="50109" y="14946"/>
                    </a:cubicBezTo>
                    <a:cubicBezTo>
                      <a:pt x="50109" y="7850"/>
                      <a:pt x="47204" y="0"/>
                      <a:pt x="33873" y="0"/>
                    </a:cubicBezTo>
                    <a:cubicBezTo>
                      <a:pt x="12906" y="0"/>
                      <a:pt x="0" y="19030"/>
                      <a:pt x="0" y="32044"/>
                    </a:cubicBezTo>
                    <a:cubicBezTo>
                      <a:pt x="0" y="41184"/>
                      <a:pt x="5271" y="48601"/>
                      <a:pt x="17959" y="48601"/>
                    </a:cubicBezTo>
                    <a:cubicBezTo>
                      <a:pt x="27527" y="48601"/>
                      <a:pt x="34842" y="42041"/>
                      <a:pt x="34842" y="41934"/>
                    </a:cubicBezTo>
                    <a:lnTo>
                      <a:pt x="34949" y="41934"/>
                    </a:lnTo>
                    <a:cubicBezTo>
                      <a:pt x="34949" y="42795"/>
                      <a:pt x="35163" y="48387"/>
                      <a:pt x="44196" y="48387"/>
                    </a:cubicBezTo>
                    <a:cubicBezTo>
                      <a:pt x="53979" y="48387"/>
                      <a:pt x="59785" y="38707"/>
                      <a:pt x="59785" y="36235"/>
                    </a:cubicBezTo>
                    <a:cubicBezTo>
                      <a:pt x="59785" y="35913"/>
                      <a:pt x="59571" y="35699"/>
                      <a:pt x="59357" y="35699"/>
                    </a:cubicBezTo>
                    <a:cubicBezTo>
                      <a:pt x="57848" y="35699"/>
                      <a:pt x="55162" y="44514"/>
                      <a:pt x="48494" y="44514"/>
                    </a:cubicBezTo>
                    <a:cubicBezTo>
                      <a:pt x="45915" y="44514"/>
                      <a:pt x="45272" y="41827"/>
                      <a:pt x="45272" y="39033"/>
                    </a:cubicBezTo>
                    <a:cubicBezTo>
                      <a:pt x="45272" y="36667"/>
                      <a:pt x="45593" y="34195"/>
                      <a:pt x="46022" y="33119"/>
                    </a:cubicBezTo>
                    <a:cubicBezTo>
                      <a:pt x="47637" y="31075"/>
                      <a:pt x="67743" y="3334"/>
                      <a:pt x="67743" y="3227"/>
                    </a:cubicBezTo>
                    <a:close/>
                    <a:moveTo>
                      <a:pt x="40215" y="15700"/>
                    </a:moveTo>
                    <a:cubicBezTo>
                      <a:pt x="40215" y="25912"/>
                      <a:pt x="35163" y="37636"/>
                      <a:pt x="35163" y="37743"/>
                    </a:cubicBezTo>
                    <a:cubicBezTo>
                      <a:pt x="35163" y="37850"/>
                      <a:pt x="29357" y="45914"/>
                      <a:pt x="20645" y="45914"/>
                    </a:cubicBezTo>
                    <a:cubicBezTo>
                      <a:pt x="18173" y="45914"/>
                      <a:pt x="11938" y="45160"/>
                      <a:pt x="11938" y="31397"/>
                    </a:cubicBezTo>
                    <a:cubicBezTo>
                      <a:pt x="11938" y="25912"/>
                      <a:pt x="14839" y="2687"/>
                      <a:pt x="31401" y="2687"/>
                    </a:cubicBezTo>
                    <a:cubicBezTo>
                      <a:pt x="39465" y="2687"/>
                      <a:pt x="40215" y="11827"/>
                      <a:pt x="40215" y="15700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feedback_outline_8"/>
              <p:cNvSpPr/>
              <p:nvPr/>
            </p:nvSpPr>
            <p:spPr>
              <a:xfrm>
                <a:off x="4338011" y="1531744"/>
                <a:ext cx="27527" cy="98817"/>
              </a:xfrm>
              <a:custGeom>
                <a:avLst/>
                <a:gdLst/>
                <a:ahLst/>
                <a:cxnLst/>
                <a:rect l="0" t="0" r="r" b="b"/>
                <a:pathLst>
                  <a:path w="27527" h="98818">
                    <a:moveTo>
                      <a:pt x="26559" y="0"/>
                    </a:moveTo>
                    <a:cubicBezTo>
                      <a:pt x="10970" y="10108"/>
                      <a:pt x="0" y="27527"/>
                      <a:pt x="0" y="49462"/>
                    </a:cubicBezTo>
                    <a:cubicBezTo>
                      <a:pt x="0" y="69461"/>
                      <a:pt x="11398" y="89678"/>
                      <a:pt x="26237" y="98818"/>
                    </a:cubicBezTo>
                    <a:lnTo>
                      <a:pt x="27527" y="97095"/>
                    </a:lnTo>
                    <a:cubicBezTo>
                      <a:pt x="13335" y="85915"/>
                      <a:pt x="9247" y="72902"/>
                      <a:pt x="9247" y="49141"/>
                    </a:cubicBezTo>
                    <a:cubicBezTo>
                      <a:pt x="9247" y="25269"/>
                      <a:pt x="13656" y="12902"/>
                      <a:pt x="27527" y="1722"/>
                    </a:cubicBezTo>
                    <a:lnTo>
                      <a:pt x="26559" y="0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feedback_outline_9"/>
              <p:cNvSpPr/>
              <p:nvPr/>
            </p:nvSpPr>
            <p:spPr>
              <a:xfrm>
                <a:off x="4408838" y="1520605"/>
                <a:ext cx="33440" cy="5806"/>
              </a:xfrm>
              <a:custGeom>
                <a:avLst/>
                <a:gdLst/>
                <a:ahLst/>
                <a:cxnLst/>
                <a:rect l="0" t="0" r="r" b="b"/>
                <a:pathLst>
                  <a:path w="33441" h="5806">
                    <a:moveTo>
                      <a:pt x="33441" y="5806"/>
                    </a:moveTo>
                    <a:lnTo>
                      <a:pt x="33441" y="0"/>
                    </a:lnTo>
                    <a:lnTo>
                      <a:pt x="0" y="0"/>
                    </a:lnTo>
                    <a:lnTo>
                      <a:pt x="0" y="5806"/>
                    </a:lnTo>
                    <a:lnTo>
                      <a:pt x="33441" y="5806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feedback_outline_10"/>
              <p:cNvSpPr/>
              <p:nvPr/>
            </p:nvSpPr>
            <p:spPr>
              <a:xfrm>
                <a:off x="4379638" y="1538626"/>
                <a:ext cx="59253" cy="72151"/>
              </a:xfrm>
              <a:custGeom>
                <a:avLst/>
                <a:gdLst/>
                <a:ahLst/>
                <a:cxnLst/>
                <a:rect l="0" t="0" r="r" b="b"/>
                <a:pathLst>
                  <a:path w="59254" h="72152">
                    <a:moveTo>
                      <a:pt x="59254" y="1723"/>
                    </a:moveTo>
                    <a:lnTo>
                      <a:pt x="59254" y="0"/>
                    </a:lnTo>
                    <a:lnTo>
                      <a:pt x="27960" y="0"/>
                    </a:lnTo>
                    <a:lnTo>
                      <a:pt x="27960" y="1723"/>
                    </a:lnTo>
                    <a:cubicBezTo>
                      <a:pt x="35703" y="2365"/>
                      <a:pt x="37532" y="3227"/>
                      <a:pt x="37640" y="6132"/>
                    </a:cubicBezTo>
                    <a:cubicBezTo>
                      <a:pt x="37640" y="7743"/>
                      <a:pt x="37318" y="9894"/>
                      <a:pt x="36350" y="13010"/>
                    </a:cubicBezTo>
                    <a:lnTo>
                      <a:pt x="21403" y="63012"/>
                    </a:lnTo>
                    <a:cubicBezTo>
                      <a:pt x="20328" y="67203"/>
                      <a:pt x="18713" y="68818"/>
                      <a:pt x="15919" y="68818"/>
                    </a:cubicBezTo>
                    <a:cubicBezTo>
                      <a:pt x="13125" y="68818"/>
                      <a:pt x="11617" y="67528"/>
                      <a:pt x="11509" y="64516"/>
                    </a:cubicBezTo>
                    <a:cubicBezTo>
                      <a:pt x="11509" y="63980"/>
                      <a:pt x="11724" y="63440"/>
                      <a:pt x="11831" y="62905"/>
                    </a:cubicBezTo>
                    <a:lnTo>
                      <a:pt x="11724" y="61936"/>
                    </a:lnTo>
                    <a:cubicBezTo>
                      <a:pt x="11724" y="59249"/>
                      <a:pt x="8608" y="56880"/>
                      <a:pt x="5275" y="56880"/>
                    </a:cubicBezTo>
                    <a:cubicBezTo>
                      <a:pt x="1941" y="56880"/>
                      <a:pt x="-103" y="59249"/>
                      <a:pt x="4" y="62686"/>
                    </a:cubicBezTo>
                    <a:cubicBezTo>
                      <a:pt x="111" y="68386"/>
                      <a:pt x="5917" y="72152"/>
                      <a:pt x="14522" y="72152"/>
                    </a:cubicBezTo>
                    <a:cubicBezTo>
                      <a:pt x="20649" y="72152"/>
                      <a:pt x="26134" y="70001"/>
                      <a:pt x="29790" y="66020"/>
                    </a:cubicBezTo>
                    <a:cubicBezTo>
                      <a:pt x="33016" y="62579"/>
                      <a:pt x="35274" y="57741"/>
                      <a:pt x="37425" y="49570"/>
                    </a:cubicBezTo>
                    <a:lnTo>
                      <a:pt x="49467" y="9680"/>
                    </a:lnTo>
                    <a:cubicBezTo>
                      <a:pt x="51403" y="3227"/>
                      <a:pt x="52372" y="2580"/>
                      <a:pt x="59254" y="1723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feedback_outline_11"/>
              <p:cNvSpPr/>
              <p:nvPr/>
            </p:nvSpPr>
            <p:spPr>
              <a:xfrm>
                <a:off x="4438448" y="15700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feedback_outline_12"/>
              <p:cNvSpPr/>
              <p:nvPr/>
            </p:nvSpPr>
            <p:spPr>
              <a:xfrm>
                <a:off x="4534998" y="1578195"/>
                <a:ext cx="55050" cy="6024"/>
              </a:xfrm>
              <a:custGeom>
                <a:avLst/>
                <a:gdLst/>
                <a:ahLst/>
                <a:cxnLst/>
                <a:rect l="0" t="0" r="r" b="b"/>
                <a:pathLst>
                  <a:path w="55051" h="6024">
                    <a:moveTo>
                      <a:pt x="55051" y="6024"/>
                    </a:moveTo>
                    <a:lnTo>
                      <a:pt x="55051" y="0"/>
                    </a:lnTo>
                    <a:lnTo>
                      <a:pt x="0" y="0"/>
                    </a:lnTo>
                    <a:lnTo>
                      <a:pt x="0" y="6024"/>
                    </a:lnTo>
                    <a:lnTo>
                      <a:pt x="55051" y="6024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feedback_outline_13"/>
              <p:cNvSpPr/>
              <p:nvPr/>
            </p:nvSpPr>
            <p:spPr>
              <a:xfrm>
                <a:off x="4629129" y="1538626"/>
                <a:ext cx="71509" cy="70215"/>
              </a:xfrm>
              <a:custGeom>
                <a:avLst/>
                <a:gdLst/>
                <a:ahLst/>
                <a:cxnLst/>
                <a:rect l="0" t="0" r="r" b="b"/>
                <a:pathLst>
                  <a:path w="71510" h="70215">
                    <a:moveTo>
                      <a:pt x="66449" y="48708"/>
                    </a:moveTo>
                    <a:cubicBezTo>
                      <a:pt x="66234" y="40862"/>
                      <a:pt x="62258" y="36882"/>
                      <a:pt x="50213" y="32472"/>
                    </a:cubicBezTo>
                    <a:cubicBezTo>
                      <a:pt x="59031" y="30647"/>
                      <a:pt x="62579" y="29357"/>
                      <a:pt x="66560" y="26345"/>
                    </a:cubicBezTo>
                    <a:cubicBezTo>
                      <a:pt x="69890" y="23765"/>
                      <a:pt x="71612" y="20217"/>
                      <a:pt x="71505" y="15808"/>
                    </a:cubicBezTo>
                    <a:cubicBezTo>
                      <a:pt x="71072" y="5592"/>
                      <a:pt x="62472" y="0"/>
                      <a:pt x="46990" y="0"/>
                    </a:cubicBezTo>
                    <a:lnTo>
                      <a:pt x="16022" y="0"/>
                    </a:lnTo>
                    <a:lnTo>
                      <a:pt x="16022" y="1723"/>
                    </a:lnTo>
                    <a:cubicBezTo>
                      <a:pt x="23765" y="2258"/>
                      <a:pt x="25698" y="3012"/>
                      <a:pt x="25805" y="6132"/>
                    </a:cubicBezTo>
                    <a:cubicBezTo>
                      <a:pt x="25805" y="7743"/>
                      <a:pt x="25269" y="10323"/>
                      <a:pt x="24622" y="13010"/>
                    </a:cubicBezTo>
                    <a:lnTo>
                      <a:pt x="9783" y="60539"/>
                    </a:lnTo>
                    <a:cubicBezTo>
                      <a:pt x="7850" y="66774"/>
                      <a:pt x="6882" y="67421"/>
                      <a:pt x="0" y="68497"/>
                    </a:cubicBezTo>
                    <a:lnTo>
                      <a:pt x="107" y="70215"/>
                    </a:lnTo>
                    <a:lnTo>
                      <a:pt x="34731" y="70215"/>
                    </a:lnTo>
                    <a:cubicBezTo>
                      <a:pt x="53872" y="70215"/>
                      <a:pt x="66881" y="61504"/>
                      <a:pt x="66449" y="48708"/>
                    </a:cubicBezTo>
                    <a:close/>
                    <a:moveTo>
                      <a:pt x="52903" y="48494"/>
                    </a:moveTo>
                    <a:cubicBezTo>
                      <a:pt x="53332" y="60107"/>
                      <a:pt x="44732" y="66989"/>
                      <a:pt x="29893" y="66989"/>
                    </a:cubicBezTo>
                    <a:cubicBezTo>
                      <a:pt x="24836" y="66989"/>
                      <a:pt x="22042" y="65484"/>
                      <a:pt x="22042" y="62472"/>
                    </a:cubicBezTo>
                    <a:cubicBezTo>
                      <a:pt x="21935" y="61075"/>
                      <a:pt x="23225" y="56237"/>
                      <a:pt x="25805" y="47633"/>
                    </a:cubicBezTo>
                    <a:lnTo>
                      <a:pt x="29785" y="34838"/>
                    </a:lnTo>
                    <a:cubicBezTo>
                      <a:pt x="37203" y="34838"/>
                      <a:pt x="42366" y="35270"/>
                      <a:pt x="44625" y="36132"/>
                    </a:cubicBezTo>
                    <a:cubicBezTo>
                      <a:pt x="49677" y="37850"/>
                      <a:pt x="52689" y="42581"/>
                      <a:pt x="52903" y="48494"/>
                    </a:cubicBezTo>
                    <a:close/>
                    <a:moveTo>
                      <a:pt x="58710" y="14839"/>
                    </a:moveTo>
                    <a:cubicBezTo>
                      <a:pt x="59138" y="25916"/>
                      <a:pt x="51395" y="31182"/>
                      <a:pt x="34945" y="31182"/>
                    </a:cubicBezTo>
                    <a:lnTo>
                      <a:pt x="30968" y="31182"/>
                    </a:lnTo>
                    <a:lnTo>
                      <a:pt x="38707" y="6239"/>
                    </a:lnTo>
                    <a:cubicBezTo>
                      <a:pt x="39247" y="3873"/>
                      <a:pt x="40751" y="3227"/>
                      <a:pt x="45160" y="3227"/>
                    </a:cubicBezTo>
                    <a:cubicBezTo>
                      <a:pt x="54408" y="3227"/>
                      <a:pt x="58495" y="6882"/>
                      <a:pt x="58710" y="14839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feedback_outline_14"/>
              <p:cNvSpPr/>
              <p:nvPr/>
            </p:nvSpPr>
            <p:spPr>
              <a:xfrm>
                <a:off x="4711587" y="15700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9" y="8822"/>
                      <a:pt x="15875" y="11517"/>
                      <a:pt x="14423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5" y="59873"/>
                      <a:pt x="26356" y="63504"/>
                    </a:cubicBezTo>
                    <a:cubicBezTo>
                      <a:pt x="30298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feedback_outline_15"/>
              <p:cNvSpPr/>
              <p:nvPr/>
            </p:nvSpPr>
            <p:spPr>
              <a:xfrm>
                <a:off x="4781767" y="1531744"/>
                <a:ext cx="27527" cy="98817"/>
              </a:xfrm>
              <a:custGeom>
                <a:avLst/>
                <a:gdLst/>
                <a:ahLst/>
                <a:cxnLst/>
                <a:rect l="0" t="0" r="r" b="b"/>
                <a:pathLst>
                  <a:path w="27527" h="98818">
                    <a:moveTo>
                      <a:pt x="968" y="0"/>
                    </a:moveTo>
                    <a:lnTo>
                      <a:pt x="0" y="1722"/>
                    </a:lnTo>
                    <a:cubicBezTo>
                      <a:pt x="13871" y="12902"/>
                      <a:pt x="18280" y="25269"/>
                      <a:pt x="18280" y="49141"/>
                    </a:cubicBezTo>
                    <a:cubicBezTo>
                      <a:pt x="18280" y="72902"/>
                      <a:pt x="14192" y="85915"/>
                      <a:pt x="0" y="97095"/>
                    </a:cubicBezTo>
                    <a:lnTo>
                      <a:pt x="1290" y="98818"/>
                    </a:lnTo>
                    <a:cubicBezTo>
                      <a:pt x="16129" y="89678"/>
                      <a:pt x="27527" y="69461"/>
                      <a:pt x="27527" y="49462"/>
                    </a:cubicBezTo>
                    <a:cubicBezTo>
                      <a:pt x="27527" y="27527"/>
                      <a:pt x="16558" y="10108"/>
                      <a:pt x="968" y="0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feedback_outline_16"/>
              <p:cNvSpPr/>
              <p:nvPr/>
            </p:nvSpPr>
            <p:spPr>
              <a:xfrm>
                <a:off x="4833127" y="1532820"/>
                <a:ext cx="22689" cy="96773"/>
              </a:xfrm>
              <a:custGeom>
                <a:avLst/>
                <a:gdLst/>
                <a:ahLst/>
                <a:cxnLst/>
                <a:rect l="0" t="0" r="r" b="b"/>
                <a:pathLst>
                  <a:path w="22689" h="96774">
                    <a:moveTo>
                      <a:pt x="0" y="94087"/>
                    </a:moveTo>
                    <a:lnTo>
                      <a:pt x="0" y="96774"/>
                    </a:lnTo>
                    <a:lnTo>
                      <a:pt x="22689" y="96774"/>
                    </a:lnTo>
                    <a:lnTo>
                      <a:pt x="22689" y="0"/>
                    </a:lnTo>
                    <a:lnTo>
                      <a:pt x="0" y="0"/>
                    </a:lnTo>
                    <a:lnTo>
                      <a:pt x="0" y="2691"/>
                    </a:lnTo>
                    <a:lnTo>
                      <a:pt x="9247" y="2691"/>
                    </a:lnTo>
                    <a:cubicBezTo>
                      <a:pt x="12795" y="2691"/>
                      <a:pt x="14518" y="4517"/>
                      <a:pt x="14518" y="8279"/>
                    </a:cubicBezTo>
                    <a:lnTo>
                      <a:pt x="14518" y="89356"/>
                    </a:lnTo>
                    <a:cubicBezTo>
                      <a:pt x="14518" y="92686"/>
                      <a:pt x="13010" y="94087"/>
                      <a:pt x="9680" y="94087"/>
                    </a:cubicBezTo>
                    <a:lnTo>
                      <a:pt x="0" y="94087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feedback_outline_17"/>
              <p:cNvSpPr/>
              <p:nvPr/>
            </p:nvSpPr>
            <p:spPr>
              <a:xfrm>
                <a:off x="4878223" y="1571639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7" name="price_rule"/>
            <p:cNvGrpSpPr/>
            <p:nvPr/>
          </p:nvGrpSpPr>
          <p:grpSpPr>
            <a:xfrm>
              <a:off x="3946186" y="1813401"/>
              <a:ext cx="694873" cy="158164"/>
              <a:chOff x="3946186" y="1813401"/>
              <a:chExt cx="694873" cy="158164"/>
            </a:xfrm>
          </p:grpSpPr>
          <p:sp>
            <p:nvSpPr>
              <p:cNvPr id="278" name="price_rule_outline_0"/>
              <p:cNvSpPr/>
              <p:nvPr/>
            </p:nvSpPr>
            <p:spPr>
              <a:xfrm>
                <a:off x="3946186" y="1834347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" name="price_rule_outline_1"/>
              <p:cNvSpPr/>
              <p:nvPr/>
            </p:nvSpPr>
            <p:spPr>
              <a:xfrm>
                <a:off x="4021335" y="18717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" name="price_rule_outline_2"/>
              <p:cNvSpPr/>
              <p:nvPr/>
            </p:nvSpPr>
            <p:spPr>
              <a:xfrm>
                <a:off x="4126007" y="1868380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price_rule_outline_3"/>
              <p:cNvSpPr/>
              <p:nvPr/>
            </p:nvSpPr>
            <p:spPr>
              <a:xfrm>
                <a:off x="4256527" y="1813401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" name="price_rule_outline_4"/>
              <p:cNvSpPr/>
              <p:nvPr/>
            </p:nvSpPr>
            <p:spPr>
              <a:xfrm>
                <a:off x="4234159" y="1834347"/>
                <a:ext cx="64647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0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" name="price_rule_outline_5"/>
              <p:cNvSpPr/>
              <p:nvPr/>
            </p:nvSpPr>
            <p:spPr>
              <a:xfrm>
                <a:off x="4303002" y="1814208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" name="price_rule_outline_6"/>
              <p:cNvSpPr/>
              <p:nvPr/>
            </p:nvSpPr>
            <p:spPr>
              <a:xfrm>
                <a:off x="4309320" y="189955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" name="price_rule_outline_7"/>
              <p:cNvSpPr/>
              <p:nvPr/>
            </p:nvSpPr>
            <p:spPr>
              <a:xfrm>
                <a:off x="4410855" y="1852187"/>
                <a:ext cx="64773" cy="65023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65024">
                    <a:moveTo>
                      <a:pt x="28214" y="28337"/>
                    </a:moveTo>
                    <a:lnTo>
                      <a:pt x="0" y="28337"/>
                    </a:lnTo>
                    <a:lnTo>
                      <a:pt x="0" y="36687"/>
                    </a:lnTo>
                    <a:lnTo>
                      <a:pt x="28214" y="36687"/>
                    </a:lnTo>
                    <a:lnTo>
                      <a:pt x="28214" y="65024"/>
                    </a:lnTo>
                    <a:lnTo>
                      <a:pt x="36560" y="65024"/>
                    </a:lnTo>
                    <a:lnTo>
                      <a:pt x="36560" y="36687"/>
                    </a:lnTo>
                    <a:lnTo>
                      <a:pt x="64774" y="36687"/>
                    </a:lnTo>
                    <a:lnTo>
                      <a:pt x="64774" y="28337"/>
                    </a:lnTo>
                    <a:lnTo>
                      <a:pt x="36560" y="28337"/>
                    </a:lnTo>
                    <a:lnTo>
                      <a:pt x="36560" y="0"/>
                    </a:lnTo>
                    <a:lnTo>
                      <a:pt x="28214" y="0"/>
                    </a:lnTo>
                    <a:lnTo>
                      <a:pt x="28214" y="28337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" name="price_rule_outline_8"/>
              <p:cNvSpPr/>
              <p:nvPr/>
            </p:nvSpPr>
            <p:spPr>
              <a:xfrm>
                <a:off x="4506286" y="1834347"/>
                <a:ext cx="76156" cy="109049"/>
              </a:xfrm>
              <a:custGeom>
                <a:avLst/>
                <a:gdLst/>
                <a:ahLst/>
                <a:cxnLst/>
                <a:rect l="0" t="0" r="r" b="b"/>
                <a:pathLst>
                  <a:path w="76156" h="109049">
                    <a:moveTo>
                      <a:pt x="76156" y="14550"/>
                    </a:moveTo>
                    <a:cubicBezTo>
                      <a:pt x="76156" y="4556"/>
                      <a:pt x="68060" y="0"/>
                      <a:pt x="57563" y="0"/>
                    </a:cubicBezTo>
                    <a:cubicBezTo>
                      <a:pt x="44152" y="0"/>
                      <a:pt x="31123" y="8981"/>
                      <a:pt x="27579" y="21761"/>
                    </a:cubicBezTo>
                    <a:lnTo>
                      <a:pt x="8223" y="92353"/>
                    </a:lnTo>
                    <a:cubicBezTo>
                      <a:pt x="6072" y="100322"/>
                      <a:pt x="1266" y="107406"/>
                      <a:pt x="0" y="109049"/>
                    </a:cubicBezTo>
                    <a:lnTo>
                      <a:pt x="11259" y="109049"/>
                    </a:lnTo>
                    <a:cubicBezTo>
                      <a:pt x="11386" y="109049"/>
                      <a:pt x="13410" y="108037"/>
                      <a:pt x="17586" y="92226"/>
                    </a:cubicBezTo>
                    <a:lnTo>
                      <a:pt x="21888" y="75906"/>
                    </a:lnTo>
                    <a:lnTo>
                      <a:pt x="22011" y="75906"/>
                    </a:lnTo>
                    <a:cubicBezTo>
                      <a:pt x="22011" y="76033"/>
                      <a:pt x="26186" y="85015"/>
                      <a:pt x="38965" y="85015"/>
                    </a:cubicBezTo>
                    <a:cubicBezTo>
                      <a:pt x="57940" y="85015"/>
                      <a:pt x="70719" y="70846"/>
                      <a:pt x="70719" y="56297"/>
                    </a:cubicBezTo>
                    <a:cubicBezTo>
                      <a:pt x="70719" y="40485"/>
                      <a:pt x="56424" y="38080"/>
                      <a:pt x="56297" y="38080"/>
                    </a:cubicBezTo>
                    <a:lnTo>
                      <a:pt x="56297" y="37572"/>
                    </a:lnTo>
                    <a:cubicBezTo>
                      <a:pt x="56424" y="37572"/>
                      <a:pt x="76156" y="33020"/>
                      <a:pt x="76156" y="14550"/>
                    </a:cubicBezTo>
                    <a:close/>
                    <a:moveTo>
                      <a:pt x="66163" y="14296"/>
                    </a:moveTo>
                    <a:cubicBezTo>
                      <a:pt x="66163" y="20118"/>
                      <a:pt x="62873" y="34413"/>
                      <a:pt x="52753" y="34413"/>
                    </a:cubicBezTo>
                    <a:cubicBezTo>
                      <a:pt x="50097" y="34413"/>
                      <a:pt x="48074" y="33905"/>
                      <a:pt x="46049" y="33905"/>
                    </a:cubicBezTo>
                    <a:cubicBezTo>
                      <a:pt x="42632" y="33905"/>
                      <a:pt x="40231" y="36814"/>
                      <a:pt x="40231" y="39092"/>
                    </a:cubicBezTo>
                    <a:cubicBezTo>
                      <a:pt x="40231" y="40485"/>
                      <a:pt x="41243" y="41620"/>
                      <a:pt x="43517" y="41620"/>
                    </a:cubicBezTo>
                    <a:cubicBezTo>
                      <a:pt x="47061" y="41620"/>
                      <a:pt x="47947" y="40989"/>
                      <a:pt x="50856" y="40989"/>
                    </a:cubicBezTo>
                    <a:cubicBezTo>
                      <a:pt x="57182" y="40989"/>
                      <a:pt x="59964" y="47819"/>
                      <a:pt x="59964" y="54904"/>
                    </a:cubicBezTo>
                    <a:cubicBezTo>
                      <a:pt x="59964" y="67556"/>
                      <a:pt x="52376" y="79196"/>
                      <a:pt x="38838" y="79196"/>
                    </a:cubicBezTo>
                    <a:cubicBezTo>
                      <a:pt x="30234" y="79196"/>
                      <a:pt x="24670" y="74767"/>
                      <a:pt x="24670" y="67429"/>
                    </a:cubicBezTo>
                    <a:cubicBezTo>
                      <a:pt x="24670" y="65913"/>
                      <a:pt x="24924" y="64266"/>
                      <a:pt x="25428" y="62496"/>
                    </a:cubicBezTo>
                    <a:lnTo>
                      <a:pt x="36814" y="21888"/>
                    </a:lnTo>
                    <a:cubicBezTo>
                      <a:pt x="39092" y="13664"/>
                      <a:pt x="44910" y="3544"/>
                      <a:pt x="56297" y="3544"/>
                    </a:cubicBezTo>
                    <a:cubicBezTo>
                      <a:pt x="63508" y="3544"/>
                      <a:pt x="66163" y="8477"/>
                      <a:pt x="66163" y="14296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price_rule_outline_9"/>
              <p:cNvSpPr/>
              <p:nvPr/>
            </p:nvSpPr>
            <p:spPr>
              <a:xfrm>
                <a:off x="4590422" y="18717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8" name="priced_advantage"/>
            <p:cNvGrpSpPr/>
            <p:nvPr/>
          </p:nvGrpSpPr>
          <p:grpSpPr>
            <a:xfrm>
              <a:off x="3805673" y="2103615"/>
              <a:ext cx="974421" cy="250836"/>
              <a:chOff x="3805673" y="2103615"/>
              <a:chExt cx="974421" cy="250836"/>
            </a:xfrm>
          </p:grpSpPr>
          <p:sp>
            <p:nvSpPr>
              <p:cNvPr id="289" name="priced_advantage_outline_0"/>
              <p:cNvSpPr/>
              <p:nvPr/>
            </p:nvSpPr>
            <p:spPr>
              <a:xfrm>
                <a:off x="3822563" y="2148968"/>
                <a:ext cx="76664" cy="13156"/>
              </a:xfrm>
              <a:custGeom>
                <a:avLst/>
                <a:gdLst/>
                <a:ahLst/>
                <a:cxnLst/>
                <a:rect l="0" t="0" r="r" b="b"/>
                <a:pathLst>
                  <a:path w="76664" h="13156">
                    <a:moveTo>
                      <a:pt x="76664" y="0"/>
                    </a:moveTo>
                    <a:lnTo>
                      <a:pt x="72870" y="0"/>
                    </a:lnTo>
                    <a:cubicBezTo>
                      <a:pt x="71858" y="3163"/>
                      <a:pt x="68187" y="5945"/>
                      <a:pt x="55666" y="5945"/>
                    </a:cubicBezTo>
                    <a:cubicBezTo>
                      <a:pt x="43644" y="5945"/>
                      <a:pt x="39596" y="381"/>
                      <a:pt x="27960" y="381"/>
                    </a:cubicBezTo>
                    <a:cubicBezTo>
                      <a:pt x="8731" y="381"/>
                      <a:pt x="3290" y="6072"/>
                      <a:pt x="0" y="13156"/>
                    </a:cubicBezTo>
                    <a:lnTo>
                      <a:pt x="3798" y="13156"/>
                    </a:lnTo>
                    <a:cubicBezTo>
                      <a:pt x="4810" y="9993"/>
                      <a:pt x="9362" y="7338"/>
                      <a:pt x="21888" y="7338"/>
                    </a:cubicBezTo>
                    <a:cubicBezTo>
                      <a:pt x="33778" y="7338"/>
                      <a:pt x="37953" y="12902"/>
                      <a:pt x="49593" y="12902"/>
                    </a:cubicBezTo>
                    <a:cubicBezTo>
                      <a:pt x="68822" y="12902"/>
                      <a:pt x="73374" y="7084"/>
                      <a:pt x="76664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priced_advantage_outline_1"/>
              <p:cNvSpPr/>
              <p:nvPr/>
            </p:nvSpPr>
            <p:spPr>
              <a:xfrm>
                <a:off x="3805673" y="2184640"/>
                <a:ext cx="77803" cy="84506"/>
              </a:xfrm>
              <a:custGeom>
                <a:avLst/>
                <a:gdLst/>
                <a:ahLst/>
                <a:cxnLst/>
                <a:rect l="0" t="0" r="r" b="b"/>
                <a:pathLst>
                  <a:path w="77803" h="84507">
                    <a:moveTo>
                      <a:pt x="77803" y="84507"/>
                    </a:moveTo>
                    <a:lnTo>
                      <a:pt x="77803" y="82482"/>
                    </a:lnTo>
                    <a:cubicBezTo>
                      <a:pt x="70592" y="81851"/>
                      <a:pt x="69707" y="80839"/>
                      <a:pt x="68187" y="71604"/>
                    </a:cubicBezTo>
                    <a:lnTo>
                      <a:pt x="56297" y="0"/>
                    </a:lnTo>
                    <a:lnTo>
                      <a:pt x="53007" y="0"/>
                    </a:lnTo>
                    <a:lnTo>
                      <a:pt x="16319" y="63254"/>
                    </a:lnTo>
                    <a:cubicBezTo>
                      <a:pt x="6326" y="80077"/>
                      <a:pt x="5060" y="81470"/>
                      <a:pt x="0" y="82482"/>
                    </a:cubicBezTo>
                    <a:lnTo>
                      <a:pt x="0" y="84507"/>
                    </a:lnTo>
                    <a:lnTo>
                      <a:pt x="23658" y="84507"/>
                    </a:lnTo>
                    <a:lnTo>
                      <a:pt x="23658" y="82482"/>
                    </a:lnTo>
                    <a:cubicBezTo>
                      <a:pt x="17205" y="81851"/>
                      <a:pt x="16193" y="81216"/>
                      <a:pt x="16193" y="78053"/>
                    </a:cubicBezTo>
                    <a:cubicBezTo>
                      <a:pt x="16193" y="75652"/>
                      <a:pt x="16574" y="74513"/>
                      <a:pt x="18725" y="70211"/>
                    </a:cubicBezTo>
                    <a:lnTo>
                      <a:pt x="25936" y="55916"/>
                    </a:lnTo>
                    <a:lnTo>
                      <a:pt x="53769" y="55916"/>
                    </a:lnTo>
                    <a:lnTo>
                      <a:pt x="56297" y="72489"/>
                    </a:lnTo>
                    <a:cubicBezTo>
                      <a:pt x="56424" y="73628"/>
                      <a:pt x="56551" y="74767"/>
                      <a:pt x="56551" y="75779"/>
                    </a:cubicBezTo>
                    <a:cubicBezTo>
                      <a:pt x="56551" y="80585"/>
                      <a:pt x="54781" y="81724"/>
                      <a:pt x="46684" y="82482"/>
                    </a:cubicBezTo>
                    <a:lnTo>
                      <a:pt x="46684" y="84507"/>
                    </a:lnTo>
                    <a:lnTo>
                      <a:pt x="77803" y="84507"/>
                    </a:lnTo>
                    <a:close/>
                    <a:moveTo>
                      <a:pt x="53134" y="51363"/>
                    </a:moveTo>
                    <a:lnTo>
                      <a:pt x="28591" y="51363"/>
                    </a:lnTo>
                    <a:lnTo>
                      <a:pt x="47569" y="18470"/>
                    </a:lnTo>
                    <a:lnTo>
                      <a:pt x="53134" y="5136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priced_advantage_outline_2"/>
              <p:cNvSpPr/>
              <p:nvPr/>
            </p:nvSpPr>
            <p:spPr>
              <a:xfrm>
                <a:off x="3934066" y="2220315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priced_advantage_outline_3"/>
              <p:cNvSpPr/>
              <p:nvPr/>
            </p:nvSpPr>
            <p:spPr>
              <a:xfrm>
                <a:off x="4060141" y="2106923"/>
                <a:ext cx="71699" cy="69310"/>
              </a:xfrm>
              <a:custGeom>
                <a:avLst/>
                <a:gdLst/>
                <a:ahLst/>
                <a:cxnLst/>
                <a:rect l="0" t="0" r="r" b="b"/>
                <a:pathLst>
                  <a:path w="71699" h="69310">
                    <a:moveTo>
                      <a:pt x="71699" y="69310"/>
                    </a:moveTo>
                    <a:lnTo>
                      <a:pt x="71596" y="67651"/>
                    </a:lnTo>
                    <a:cubicBezTo>
                      <a:pt x="64853" y="67131"/>
                      <a:pt x="63917" y="66302"/>
                      <a:pt x="62258" y="58726"/>
                    </a:cubicBezTo>
                    <a:lnTo>
                      <a:pt x="50221" y="0"/>
                    </a:lnTo>
                    <a:lnTo>
                      <a:pt x="47006" y="0"/>
                    </a:lnTo>
                    <a:lnTo>
                      <a:pt x="14633" y="51880"/>
                    </a:lnTo>
                    <a:cubicBezTo>
                      <a:pt x="5810" y="65679"/>
                      <a:pt x="4774" y="66822"/>
                      <a:pt x="0" y="67651"/>
                    </a:cubicBezTo>
                    <a:lnTo>
                      <a:pt x="103" y="69310"/>
                    </a:lnTo>
                    <a:lnTo>
                      <a:pt x="22205" y="69310"/>
                    </a:lnTo>
                    <a:lnTo>
                      <a:pt x="22102" y="67651"/>
                    </a:lnTo>
                    <a:cubicBezTo>
                      <a:pt x="16085" y="67131"/>
                      <a:pt x="14839" y="66612"/>
                      <a:pt x="14736" y="64020"/>
                    </a:cubicBezTo>
                    <a:cubicBezTo>
                      <a:pt x="14736" y="62047"/>
                      <a:pt x="14839" y="61008"/>
                      <a:pt x="16708" y="57587"/>
                    </a:cubicBezTo>
                    <a:lnTo>
                      <a:pt x="23451" y="45756"/>
                    </a:lnTo>
                    <a:lnTo>
                      <a:pt x="48562" y="45859"/>
                    </a:lnTo>
                    <a:lnTo>
                      <a:pt x="51364" y="59452"/>
                    </a:lnTo>
                    <a:cubicBezTo>
                      <a:pt x="51467" y="60389"/>
                      <a:pt x="51570" y="61321"/>
                      <a:pt x="51673" y="62151"/>
                    </a:cubicBezTo>
                    <a:cubicBezTo>
                      <a:pt x="51776" y="66096"/>
                      <a:pt x="50117" y="67028"/>
                      <a:pt x="42545" y="67651"/>
                    </a:cubicBezTo>
                    <a:lnTo>
                      <a:pt x="42648" y="69310"/>
                    </a:lnTo>
                    <a:lnTo>
                      <a:pt x="71699" y="69310"/>
                    </a:lnTo>
                    <a:close/>
                    <a:moveTo>
                      <a:pt x="47835" y="42124"/>
                    </a:moveTo>
                    <a:lnTo>
                      <a:pt x="25733" y="42124"/>
                    </a:lnTo>
                    <a:lnTo>
                      <a:pt x="42335" y="15149"/>
                    </a:lnTo>
                    <a:lnTo>
                      <a:pt x="47835" y="4212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priced_advantage_outline_4"/>
              <p:cNvSpPr/>
              <p:nvPr/>
            </p:nvSpPr>
            <p:spPr>
              <a:xfrm>
                <a:off x="4141585" y="2146044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3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priced_advantage_outline_5"/>
              <p:cNvSpPr/>
              <p:nvPr/>
            </p:nvSpPr>
            <p:spPr>
              <a:xfrm>
                <a:off x="4209123" y="2146662"/>
                <a:ext cx="53125" cy="5810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810">
                    <a:moveTo>
                      <a:pt x="53126" y="5810"/>
                    </a:moveTo>
                    <a:lnTo>
                      <a:pt x="53126" y="0"/>
                    </a:lnTo>
                    <a:lnTo>
                      <a:pt x="0" y="0"/>
                    </a:lnTo>
                    <a:lnTo>
                      <a:pt x="0" y="5810"/>
                    </a:lnTo>
                    <a:lnTo>
                      <a:pt x="53126" y="581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priced_advantage_outline_6"/>
              <p:cNvSpPr/>
              <p:nvPr/>
            </p:nvSpPr>
            <p:spPr>
              <a:xfrm>
                <a:off x="4277293" y="2103615"/>
                <a:ext cx="70869" cy="91308"/>
              </a:xfrm>
              <a:custGeom>
                <a:avLst/>
                <a:gdLst/>
                <a:ahLst/>
                <a:cxnLst/>
                <a:rect l="0" t="0" r="r" b="b"/>
                <a:pathLst>
                  <a:path w="70870" h="91309">
                    <a:moveTo>
                      <a:pt x="70870" y="63603"/>
                    </a:moveTo>
                    <a:lnTo>
                      <a:pt x="68691" y="63603"/>
                    </a:lnTo>
                    <a:cubicBezTo>
                      <a:pt x="66615" y="76573"/>
                      <a:pt x="61841" y="82387"/>
                      <a:pt x="54578" y="82387"/>
                    </a:cubicBezTo>
                    <a:lnTo>
                      <a:pt x="13906" y="82387"/>
                    </a:lnTo>
                    <a:lnTo>
                      <a:pt x="43994" y="43787"/>
                    </a:lnTo>
                    <a:lnTo>
                      <a:pt x="17224" y="4048"/>
                    </a:lnTo>
                    <a:lnTo>
                      <a:pt x="50427" y="4048"/>
                    </a:lnTo>
                    <a:cubicBezTo>
                      <a:pt x="58003" y="4048"/>
                      <a:pt x="62778" y="8195"/>
                      <a:pt x="64957" y="21376"/>
                    </a:cubicBezTo>
                    <a:lnTo>
                      <a:pt x="67239" y="21376"/>
                    </a:lnTo>
                    <a:lnTo>
                      <a:pt x="66615" y="0"/>
                    </a:lnTo>
                    <a:lnTo>
                      <a:pt x="4358" y="0"/>
                    </a:lnTo>
                    <a:lnTo>
                      <a:pt x="36108" y="45549"/>
                    </a:lnTo>
                    <a:lnTo>
                      <a:pt x="0" y="91309"/>
                    </a:lnTo>
                    <a:lnTo>
                      <a:pt x="69727" y="91309"/>
                    </a:lnTo>
                    <a:lnTo>
                      <a:pt x="70870" y="6360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priced_advantage_outline_7"/>
              <p:cNvSpPr/>
              <p:nvPr/>
            </p:nvSpPr>
            <p:spPr>
              <a:xfrm>
                <a:off x="4362985" y="2138790"/>
                <a:ext cx="50637" cy="72013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3"/>
                      <a:pt x="41196" y="66616"/>
                      <a:pt x="39430" y="66616"/>
                    </a:cubicBezTo>
                    <a:cubicBezTo>
                      <a:pt x="37044" y="66616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" name="priced_advantage_outline_8"/>
              <p:cNvSpPr/>
              <p:nvPr/>
            </p:nvSpPr>
            <p:spPr>
              <a:xfrm>
                <a:off x="4443720" y="2108269"/>
                <a:ext cx="59352" cy="69107"/>
              </a:xfrm>
              <a:custGeom>
                <a:avLst/>
                <a:gdLst/>
                <a:ahLst/>
                <a:cxnLst/>
                <a:rect l="0" t="0" r="r" b="b"/>
                <a:pathLst>
                  <a:path w="59353" h="69108">
                    <a:moveTo>
                      <a:pt x="59353" y="60388"/>
                    </a:moveTo>
                    <a:lnTo>
                      <a:pt x="59249" y="60182"/>
                    </a:lnTo>
                    <a:cubicBezTo>
                      <a:pt x="57591" y="60182"/>
                      <a:pt x="55618" y="63710"/>
                      <a:pt x="50637" y="63710"/>
                    </a:cubicBezTo>
                    <a:cubicBezTo>
                      <a:pt x="45240" y="63710"/>
                      <a:pt x="43374" y="59976"/>
                      <a:pt x="43374" y="54372"/>
                    </a:cubicBezTo>
                    <a:cubicBezTo>
                      <a:pt x="43374" y="44410"/>
                      <a:pt x="49391" y="28329"/>
                      <a:pt x="49391" y="16292"/>
                    </a:cubicBezTo>
                    <a:cubicBezTo>
                      <a:pt x="49391" y="6953"/>
                      <a:pt x="45966" y="0"/>
                      <a:pt x="34036" y="0"/>
                    </a:cubicBezTo>
                    <a:lnTo>
                      <a:pt x="32790" y="0"/>
                    </a:lnTo>
                    <a:cubicBezTo>
                      <a:pt x="30611" y="0"/>
                      <a:pt x="25424" y="1560"/>
                      <a:pt x="23761" y="2802"/>
                    </a:cubicBezTo>
                    <a:cubicBezTo>
                      <a:pt x="23658" y="2909"/>
                      <a:pt x="24594" y="3842"/>
                      <a:pt x="24698" y="3842"/>
                    </a:cubicBezTo>
                    <a:cubicBezTo>
                      <a:pt x="25217" y="3425"/>
                      <a:pt x="27809" y="2492"/>
                      <a:pt x="30301" y="2492"/>
                    </a:cubicBezTo>
                    <a:cubicBezTo>
                      <a:pt x="37771" y="2492"/>
                      <a:pt x="39017" y="9446"/>
                      <a:pt x="39017" y="15153"/>
                    </a:cubicBezTo>
                    <a:cubicBezTo>
                      <a:pt x="39017" y="18161"/>
                      <a:pt x="38703" y="20856"/>
                      <a:pt x="38703" y="21792"/>
                    </a:cubicBezTo>
                    <a:cubicBezTo>
                      <a:pt x="38806" y="22102"/>
                      <a:pt x="38703" y="22312"/>
                      <a:pt x="38600" y="22725"/>
                    </a:cubicBezTo>
                    <a:cubicBezTo>
                      <a:pt x="36421" y="32377"/>
                      <a:pt x="2699" y="59559"/>
                      <a:pt x="0" y="67965"/>
                    </a:cubicBezTo>
                    <a:lnTo>
                      <a:pt x="11105" y="67965"/>
                    </a:lnTo>
                    <a:cubicBezTo>
                      <a:pt x="11105" y="66929"/>
                      <a:pt x="11208" y="65889"/>
                      <a:pt x="11414" y="64750"/>
                    </a:cubicBezTo>
                    <a:cubicBezTo>
                      <a:pt x="14736" y="51467"/>
                      <a:pt x="37251" y="31337"/>
                      <a:pt x="37251" y="31234"/>
                    </a:cubicBezTo>
                    <a:lnTo>
                      <a:pt x="37354" y="31234"/>
                    </a:lnTo>
                    <a:cubicBezTo>
                      <a:pt x="36941" y="34139"/>
                      <a:pt x="33207" y="44621"/>
                      <a:pt x="33207" y="53852"/>
                    </a:cubicBezTo>
                    <a:cubicBezTo>
                      <a:pt x="33207" y="61948"/>
                      <a:pt x="35798" y="69108"/>
                      <a:pt x="45240" y="69108"/>
                    </a:cubicBezTo>
                    <a:cubicBezTo>
                      <a:pt x="50534" y="69108"/>
                      <a:pt x="59146" y="61635"/>
                      <a:pt x="59353" y="6038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priced_advantage_outline_9"/>
              <p:cNvSpPr/>
              <p:nvPr/>
            </p:nvSpPr>
            <p:spPr>
              <a:xfrm>
                <a:off x="4509707" y="2138790"/>
                <a:ext cx="50637" cy="72013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3"/>
                      <a:pt x="41196" y="66616"/>
                      <a:pt x="39429" y="66616"/>
                    </a:cubicBezTo>
                    <a:cubicBezTo>
                      <a:pt x="37044" y="66616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3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" name="priced_advantage_outline_10"/>
              <p:cNvSpPr/>
              <p:nvPr/>
            </p:nvSpPr>
            <p:spPr>
              <a:xfrm>
                <a:off x="4574491" y="2106923"/>
                <a:ext cx="71699" cy="69310"/>
              </a:xfrm>
              <a:custGeom>
                <a:avLst/>
                <a:gdLst/>
                <a:ahLst/>
                <a:cxnLst/>
                <a:rect l="0" t="0" r="r" b="b"/>
                <a:pathLst>
                  <a:path w="71699" h="69310">
                    <a:moveTo>
                      <a:pt x="71699" y="69310"/>
                    </a:moveTo>
                    <a:lnTo>
                      <a:pt x="71596" y="67651"/>
                    </a:lnTo>
                    <a:cubicBezTo>
                      <a:pt x="64853" y="67131"/>
                      <a:pt x="63917" y="66302"/>
                      <a:pt x="62258" y="58726"/>
                    </a:cubicBezTo>
                    <a:lnTo>
                      <a:pt x="50221" y="0"/>
                    </a:lnTo>
                    <a:lnTo>
                      <a:pt x="47006" y="0"/>
                    </a:lnTo>
                    <a:lnTo>
                      <a:pt x="14633" y="51880"/>
                    </a:lnTo>
                    <a:cubicBezTo>
                      <a:pt x="5810" y="65679"/>
                      <a:pt x="4774" y="66822"/>
                      <a:pt x="0" y="67651"/>
                    </a:cubicBezTo>
                    <a:lnTo>
                      <a:pt x="103" y="69310"/>
                    </a:lnTo>
                    <a:lnTo>
                      <a:pt x="22205" y="69310"/>
                    </a:lnTo>
                    <a:lnTo>
                      <a:pt x="22102" y="67651"/>
                    </a:lnTo>
                    <a:cubicBezTo>
                      <a:pt x="16085" y="67131"/>
                      <a:pt x="14839" y="66612"/>
                      <a:pt x="14736" y="64020"/>
                    </a:cubicBezTo>
                    <a:cubicBezTo>
                      <a:pt x="14736" y="62047"/>
                      <a:pt x="14839" y="61008"/>
                      <a:pt x="16708" y="57587"/>
                    </a:cubicBezTo>
                    <a:lnTo>
                      <a:pt x="23451" y="45756"/>
                    </a:lnTo>
                    <a:lnTo>
                      <a:pt x="48562" y="45859"/>
                    </a:lnTo>
                    <a:lnTo>
                      <a:pt x="51364" y="59452"/>
                    </a:lnTo>
                    <a:cubicBezTo>
                      <a:pt x="51467" y="60389"/>
                      <a:pt x="51570" y="61321"/>
                      <a:pt x="51673" y="62151"/>
                    </a:cubicBezTo>
                    <a:cubicBezTo>
                      <a:pt x="51776" y="66096"/>
                      <a:pt x="50117" y="67028"/>
                      <a:pt x="42545" y="67651"/>
                    </a:cubicBezTo>
                    <a:lnTo>
                      <a:pt x="42648" y="69310"/>
                    </a:lnTo>
                    <a:lnTo>
                      <a:pt x="71699" y="69310"/>
                    </a:lnTo>
                    <a:close/>
                    <a:moveTo>
                      <a:pt x="47835" y="42124"/>
                    </a:moveTo>
                    <a:lnTo>
                      <a:pt x="25733" y="42124"/>
                    </a:lnTo>
                    <a:lnTo>
                      <a:pt x="42335" y="15149"/>
                    </a:lnTo>
                    <a:lnTo>
                      <a:pt x="47835" y="4212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" name="priced_advantage_outline_11"/>
              <p:cNvSpPr/>
              <p:nvPr/>
            </p:nvSpPr>
            <p:spPr>
              <a:xfrm>
                <a:off x="4656752" y="2146044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5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" name="priced_advantage_outline_12"/>
              <p:cNvSpPr/>
              <p:nvPr/>
            </p:nvSpPr>
            <p:spPr>
              <a:xfrm>
                <a:off x="4712069" y="215436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" name="priced_advantage_outline_13"/>
              <p:cNvSpPr/>
              <p:nvPr/>
            </p:nvSpPr>
            <p:spPr>
              <a:xfrm>
                <a:off x="4057038" y="2236621"/>
                <a:ext cx="723056" cy="254"/>
              </a:xfrm>
              <a:custGeom>
                <a:avLst/>
                <a:gdLst/>
                <a:ahLst/>
                <a:cxnLst/>
                <a:rect l="0" t="0" r="r" b="b"/>
                <a:pathLst>
                  <a:path w="723056" h="254">
                    <a:moveTo>
                      <a:pt x="0" y="0"/>
                    </a:moveTo>
                    <a:lnTo>
                      <a:pt x="723056" y="0"/>
                    </a:lnTo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" name="priced_advantage_outline_14"/>
              <p:cNvSpPr/>
              <p:nvPr/>
            </p:nvSpPr>
            <p:spPr>
              <a:xfrm>
                <a:off x="4221852" y="2249739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1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" name="priced_advantage_outline_15"/>
              <p:cNvSpPr/>
              <p:nvPr/>
            </p:nvSpPr>
            <p:spPr>
              <a:xfrm>
                <a:off x="4268648" y="2266551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" name="priced_advantage_outline_16"/>
              <p:cNvSpPr/>
              <p:nvPr/>
            </p:nvSpPr>
            <p:spPr>
              <a:xfrm>
                <a:off x="4332665" y="2247265"/>
                <a:ext cx="70869" cy="91308"/>
              </a:xfrm>
              <a:custGeom>
                <a:avLst/>
                <a:gdLst/>
                <a:ahLst/>
                <a:cxnLst/>
                <a:rect l="0" t="0" r="r" b="b"/>
                <a:pathLst>
                  <a:path w="70870" h="91309">
                    <a:moveTo>
                      <a:pt x="70870" y="63603"/>
                    </a:moveTo>
                    <a:lnTo>
                      <a:pt x="68691" y="63603"/>
                    </a:lnTo>
                    <a:cubicBezTo>
                      <a:pt x="66615" y="76573"/>
                      <a:pt x="61841" y="82387"/>
                      <a:pt x="54578" y="82387"/>
                    </a:cubicBezTo>
                    <a:lnTo>
                      <a:pt x="13907" y="82387"/>
                    </a:lnTo>
                    <a:lnTo>
                      <a:pt x="43994" y="43787"/>
                    </a:lnTo>
                    <a:lnTo>
                      <a:pt x="17224" y="4048"/>
                    </a:lnTo>
                    <a:lnTo>
                      <a:pt x="50427" y="4048"/>
                    </a:lnTo>
                    <a:cubicBezTo>
                      <a:pt x="58003" y="4048"/>
                      <a:pt x="62778" y="8195"/>
                      <a:pt x="64957" y="21376"/>
                    </a:cubicBezTo>
                    <a:lnTo>
                      <a:pt x="67239" y="21376"/>
                    </a:lnTo>
                    <a:lnTo>
                      <a:pt x="66615" y="0"/>
                    </a:lnTo>
                    <a:lnTo>
                      <a:pt x="4358" y="0"/>
                    </a:lnTo>
                    <a:lnTo>
                      <a:pt x="36108" y="45549"/>
                    </a:lnTo>
                    <a:lnTo>
                      <a:pt x="0" y="91309"/>
                    </a:lnTo>
                    <a:lnTo>
                      <a:pt x="69727" y="91309"/>
                    </a:lnTo>
                    <a:lnTo>
                      <a:pt x="70870" y="6360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" name="priced_advantage_outline_17"/>
              <p:cNvSpPr/>
              <p:nvPr/>
            </p:nvSpPr>
            <p:spPr>
              <a:xfrm>
                <a:off x="4418357" y="2282439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" name="priced_advantage_outline_18"/>
              <p:cNvSpPr/>
              <p:nvPr/>
            </p:nvSpPr>
            <p:spPr>
              <a:xfrm>
                <a:off x="4499092" y="2251918"/>
                <a:ext cx="59352" cy="69107"/>
              </a:xfrm>
              <a:custGeom>
                <a:avLst/>
                <a:gdLst/>
                <a:ahLst/>
                <a:cxnLst/>
                <a:rect l="0" t="0" r="r" b="b"/>
                <a:pathLst>
                  <a:path w="59353" h="69108">
                    <a:moveTo>
                      <a:pt x="59353" y="60388"/>
                    </a:moveTo>
                    <a:lnTo>
                      <a:pt x="59249" y="60182"/>
                    </a:lnTo>
                    <a:cubicBezTo>
                      <a:pt x="57590" y="60182"/>
                      <a:pt x="55618" y="63710"/>
                      <a:pt x="50637" y="63710"/>
                    </a:cubicBezTo>
                    <a:cubicBezTo>
                      <a:pt x="45240" y="63710"/>
                      <a:pt x="43374" y="59976"/>
                      <a:pt x="43374" y="54372"/>
                    </a:cubicBezTo>
                    <a:cubicBezTo>
                      <a:pt x="43374" y="44410"/>
                      <a:pt x="49391" y="28329"/>
                      <a:pt x="49391" y="16292"/>
                    </a:cubicBezTo>
                    <a:cubicBezTo>
                      <a:pt x="49391" y="6953"/>
                      <a:pt x="45966" y="0"/>
                      <a:pt x="34036" y="0"/>
                    </a:cubicBezTo>
                    <a:lnTo>
                      <a:pt x="32790" y="0"/>
                    </a:lnTo>
                    <a:cubicBezTo>
                      <a:pt x="30611" y="0"/>
                      <a:pt x="25424" y="1560"/>
                      <a:pt x="23761" y="2802"/>
                    </a:cubicBezTo>
                    <a:cubicBezTo>
                      <a:pt x="23658" y="2909"/>
                      <a:pt x="24594" y="3842"/>
                      <a:pt x="24697" y="3842"/>
                    </a:cubicBezTo>
                    <a:cubicBezTo>
                      <a:pt x="25217" y="3425"/>
                      <a:pt x="27809" y="2492"/>
                      <a:pt x="30301" y="2492"/>
                    </a:cubicBezTo>
                    <a:cubicBezTo>
                      <a:pt x="37771" y="2492"/>
                      <a:pt x="39017" y="9446"/>
                      <a:pt x="39017" y="15153"/>
                    </a:cubicBezTo>
                    <a:cubicBezTo>
                      <a:pt x="39017" y="18161"/>
                      <a:pt x="38703" y="20856"/>
                      <a:pt x="38703" y="21792"/>
                    </a:cubicBezTo>
                    <a:cubicBezTo>
                      <a:pt x="38806" y="22102"/>
                      <a:pt x="38703" y="22312"/>
                      <a:pt x="38600" y="22725"/>
                    </a:cubicBezTo>
                    <a:cubicBezTo>
                      <a:pt x="36421" y="32377"/>
                      <a:pt x="2699" y="59559"/>
                      <a:pt x="0" y="67965"/>
                    </a:cubicBezTo>
                    <a:lnTo>
                      <a:pt x="11105" y="67965"/>
                    </a:lnTo>
                    <a:cubicBezTo>
                      <a:pt x="11105" y="66929"/>
                      <a:pt x="11208" y="65889"/>
                      <a:pt x="11414" y="64750"/>
                    </a:cubicBezTo>
                    <a:cubicBezTo>
                      <a:pt x="14736" y="51467"/>
                      <a:pt x="37251" y="31337"/>
                      <a:pt x="37251" y="31234"/>
                    </a:cubicBezTo>
                    <a:lnTo>
                      <a:pt x="37354" y="31234"/>
                    </a:lnTo>
                    <a:cubicBezTo>
                      <a:pt x="36941" y="34139"/>
                      <a:pt x="33206" y="44621"/>
                      <a:pt x="33206" y="53852"/>
                    </a:cubicBezTo>
                    <a:cubicBezTo>
                      <a:pt x="33206" y="61948"/>
                      <a:pt x="35798" y="69108"/>
                      <a:pt x="45240" y="69108"/>
                    </a:cubicBezTo>
                    <a:cubicBezTo>
                      <a:pt x="50534" y="69108"/>
                      <a:pt x="59146" y="61635"/>
                      <a:pt x="59353" y="6038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priced_advantage_outline_19"/>
              <p:cNvSpPr/>
              <p:nvPr/>
            </p:nvSpPr>
            <p:spPr>
              <a:xfrm>
                <a:off x="4565079" y="2282439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09" name="next_policy"/>
            <p:cNvGrpSpPr/>
            <p:nvPr/>
          </p:nvGrpSpPr>
          <p:grpSpPr>
            <a:xfrm>
              <a:off x="4621155" y="2478972"/>
              <a:ext cx="217856" cy="82537"/>
              <a:chOff x="4621155" y="2478972"/>
              <a:chExt cx="217856" cy="82537"/>
            </a:xfrm>
          </p:grpSpPr>
          <p:sp>
            <p:nvSpPr>
              <p:cNvPr id="310" name="next_policy_outline_0"/>
              <p:cNvSpPr/>
              <p:nvPr/>
            </p:nvSpPr>
            <p:spPr>
              <a:xfrm>
                <a:off x="4621155" y="2478972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5"/>
                      <a:pt x="2151" y="16320"/>
                    </a:cubicBezTo>
                    <a:lnTo>
                      <a:pt x="3540" y="16320"/>
                    </a:lnTo>
                    <a:cubicBezTo>
                      <a:pt x="4175" y="15435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" name="next_policy_outline_1"/>
              <p:cNvSpPr/>
              <p:nvPr/>
            </p:nvSpPr>
            <p:spPr>
              <a:xfrm>
                <a:off x="4694487" y="2503506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" name="next_policy_outline_2"/>
              <p:cNvSpPr/>
              <p:nvPr/>
            </p:nvSpPr>
            <p:spPr>
              <a:xfrm>
                <a:off x="4738586" y="2506828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" name="next_policy_outline_3"/>
              <p:cNvSpPr/>
              <p:nvPr/>
            </p:nvSpPr>
            <p:spPr>
              <a:xfrm>
                <a:off x="4809647" y="2490017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314" name="main_arrow0"/>
          <p:cNvSpPr/>
          <p:nvPr/>
        </p:nvSpPr>
        <p:spPr>
          <a:xfrm>
            <a:off x="673100" y="13335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065">
            <a:solidFill>
              <a:srgbClr val="285AA0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main_arrow1"/>
          <p:cNvSpPr/>
          <p:nvPr/>
        </p:nvSpPr>
        <p:spPr>
          <a:xfrm>
            <a:off x="1473200" y="13335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065">
            <a:solidFill>
              <a:srgbClr val="285AA0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main_arrow2"/>
          <p:cNvSpPr/>
          <p:nvPr/>
        </p:nvSpPr>
        <p:spPr>
          <a:xfrm>
            <a:off x="2336800" y="13335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065">
            <a:solidFill>
              <a:srgbClr val="285AA0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dual_to_update"/>
          <p:cNvSpPr/>
          <p:nvPr/>
        </p:nvSpPr>
        <p:spPr>
          <a:xfrm>
            <a:off x="3479800" y="876300"/>
            <a:ext cx="114300" cy="127"/>
          </a:xfrm>
          <a:custGeom>
            <a:avLst/>
            <a:gdLst/>
            <a:ahLst/>
            <a:cxnLst/>
            <a:rect l="0" t="0" r="r" b="b"/>
            <a:pathLst>
              <a:path w="114300" h="1" fill="none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13970">
            <a:solidFill>
              <a:srgbClr val="18785B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bserved_feedback"/>
          <p:cNvSpPr/>
          <p:nvPr/>
        </p:nvSpPr>
        <p:spPr>
          <a:xfrm>
            <a:off x="368300" y="1562100"/>
            <a:ext cx="3251200" cy="1155700"/>
          </a:xfrm>
          <a:custGeom>
            <a:avLst/>
            <a:gdLst/>
            <a:ahLst/>
            <a:cxnLst/>
            <a:rect l="0" t="0" r="r" b="b"/>
            <a:pathLst>
              <a:path w="3251200" h="1155700" fill="none">
                <a:moveTo>
                  <a:pt x="0" y="1016000"/>
                </a:moveTo>
                <a:lnTo>
                  <a:pt x="0" y="1155700"/>
                </a:lnTo>
                <a:lnTo>
                  <a:pt x="3200400" y="1155700"/>
                </a:lnTo>
                <a:lnTo>
                  <a:pt x="3200400" y="0"/>
                </a:lnTo>
                <a:lnTo>
                  <a:pt x="3251200" y="0"/>
                </a:lnTo>
              </a:path>
            </a:pathLst>
          </a:custGeom>
          <a:noFill/>
          <a:ln w="9525">
            <a:solidFill>
              <a:srgbClr val="BA651F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bserved_label_bg"/>
          <p:cNvSpPr/>
          <p:nvPr/>
        </p:nvSpPr>
        <p:spPr>
          <a:xfrm>
            <a:off x="723900" y="2654300"/>
            <a:ext cx="1346200" cy="12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bserved_route"/>
          <p:cNvSpPr txBox="1"/>
          <p:nvPr/>
        </p:nvSpPr>
        <p:spPr>
          <a:xfrm>
            <a:off x="723900" y="2654300"/>
            <a:ext cx="1333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BA651F"/>
                </a:solidFill>
                <a:latin typeface="Liberation Serif"/>
              </a:rPr>
              <a:t>observed episode costs</a:t>
            </a:r>
          </a:p>
        </p:txBody>
      </p:sp>
      <p:sp>
        <p:nvSpPr>
          <p:cNvPr id="321" name="gae_route"/>
          <p:cNvSpPr/>
          <p:nvPr/>
        </p:nvSpPr>
        <p:spPr>
          <a:xfrm>
            <a:off x="635000" y="2070100"/>
            <a:ext cx="2997200" cy="787400"/>
          </a:xfrm>
          <a:custGeom>
            <a:avLst/>
            <a:gdLst/>
            <a:ahLst/>
            <a:cxnLst/>
            <a:rect l="0" t="0" r="r" b="b"/>
            <a:pathLst>
              <a:path w="2997200" h="787400" fill="none">
                <a:moveTo>
                  <a:pt x="0" y="0"/>
                </a:moveTo>
                <a:lnTo>
                  <a:pt x="63500" y="0"/>
                </a:lnTo>
                <a:lnTo>
                  <a:pt x="63500" y="787400"/>
                </a:lnTo>
                <a:lnTo>
                  <a:pt x="2921000" y="787400"/>
                </a:lnTo>
                <a:lnTo>
                  <a:pt x="2921000" y="190500"/>
                </a:lnTo>
                <a:lnTo>
                  <a:pt x="2997200" y="190500"/>
                </a:lnTo>
              </a:path>
            </a:pathLst>
          </a:custGeom>
          <a:noFill/>
          <a:ln w="7620">
            <a:solidFill>
              <a:srgbClr val="697681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gae_label_bg"/>
          <p:cNvSpPr/>
          <p:nvPr/>
        </p:nvSpPr>
        <p:spPr>
          <a:xfrm>
            <a:off x="876300" y="2794000"/>
            <a:ext cx="1054100" cy="13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gae_route_label"/>
          <p:cNvSpPr txBox="1"/>
          <p:nvPr/>
        </p:nvSpPr>
        <p:spPr>
          <a:xfrm>
            <a:off x="876300" y="2794000"/>
            <a:ext cx="10541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97681"/>
                </a:solidFill>
                <a:latin typeface="Liberation Serif"/>
              </a:rPr>
              <a:t>GAE advantages</a:t>
            </a:r>
          </a:p>
        </p:txBody>
      </p:sp>
      <p:sp>
        <p:nvSpPr>
          <p:cNvPr id="324" name="next_rollout"/>
          <p:cNvSpPr/>
          <p:nvPr/>
        </p:nvSpPr>
        <p:spPr>
          <a:xfrm>
            <a:off x="12700" y="850900"/>
            <a:ext cx="5003800" cy="2133600"/>
          </a:xfrm>
          <a:custGeom>
            <a:avLst/>
            <a:gdLst/>
            <a:ahLst/>
            <a:cxnLst/>
            <a:rect l="0" t="0" r="r" b="b"/>
            <a:pathLst>
              <a:path w="5003800" h="2133600" fill="none">
                <a:moveTo>
                  <a:pt x="4927600" y="1676400"/>
                </a:moveTo>
                <a:lnTo>
                  <a:pt x="5003800" y="1676400"/>
                </a:lnTo>
                <a:lnTo>
                  <a:pt x="5003800" y="2133600"/>
                </a:lnTo>
                <a:lnTo>
                  <a:pt x="0" y="2133600"/>
                </a:lnTo>
                <a:lnTo>
                  <a:pt x="0" y="0"/>
                </a:lnTo>
                <a:lnTo>
                  <a:pt x="139700" y="0"/>
                </a:lnTo>
              </a:path>
            </a:pathLst>
          </a:custGeom>
          <a:noFill/>
          <a:ln w="6985">
            <a:solidFill>
              <a:srgbClr val="697681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loop_label"/>
          <p:cNvSpPr txBox="1"/>
          <p:nvPr/>
        </p:nvSpPr>
        <p:spPr>
          <a:xfrm>
            <a:off x="2235200" y="2857500"/>
            <a:ext cx="8636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97681"/>
                </a:solidFill>
                <a:latin typeface="Liberation Serif"/>
              </a:rPr>
              <a:t>next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SafeOT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