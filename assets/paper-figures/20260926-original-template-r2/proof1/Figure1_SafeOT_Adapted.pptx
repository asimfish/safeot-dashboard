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184400"/>
            <a:chOff x="25400" y="38100"/>
            <a:chExt cx="1244600" cy="21844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1844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22B32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285AA0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1" name="left_sub"/>
            <p:cNvSpPr txBox="1"/>
            <p:nvPr/>
          </p:nvSpPr>
          <p:spPr>
            <a:xfrm>
              <a:off x="76200" y="3556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weight the actor</a:t>
              </a:r>
            </a:p>
          </p:txBody>
        </p:sp>
        <p:sp>
          <p:nvSpPr>
            <p:cNvPr id="12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D4D46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3" name="left_note"/>
            <p:cNvSpPr txBox="1"/>
            <p:nvPr/>
          </p:nvSpPr>
          <p:spPr>
            <a:xfrm>
              <a:off x="101600" y="18161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 can leave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a budget violated.</a:t>
              </a:r>
            </a:p>
          </p:txBody>
        </p:sp>
        <p:sp>
          <p:nvSpPr>
            <p:cNvPr id="14" name="left_schematic"/>
            <p:cNvSpPr txBox="1"/>
            <p:nvPr/>
          </p:nvSpPr>
          <p:spPr>
            <a:xfrm>
              <a:off x="114300" y="20701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5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6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" name="objective"/>
            <p:cNvGrpSpPr/>
            <p:nvPr/>
          </p:nvGrpSpPr>
          <p:grpSpPr>
            <a:xfrm>
              <a:off x="248336" y="617619"/>
              <a:ext cx="784240" cy="136740"/>
              <a:chOff x="248336" y="617619"/>
              <a:chExt cx="784240" cy="136740"/>
            </a:xfrm>
          </p:grpSpPr>
          <p:sp>
            <p:nvSpPr>
              <p:cNvPr id="19" name="objective_outline_0"/>
              <p:cNvSpPr/>
              <p:nvPr/>
            </p:nvSpPr>
            <p:spPr>
              <a:xfrm>
                <a:off x="248336" y="621477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objective_outline_1"/>
              <p:cNvSpPr/>
              <p:nvPr/>
            </p:nvSpPr>
            <p:spPr>
              <a:xfrm>
                <a:off x="332765" y="674018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objective_outline_2"/>
              <p:cNvSpPr/>
              <p:nvPr/>
            </p:nvSpPr>
            <p:spPr>
              <a:xfrm>
                <a:off x="423876" y="667507"/>
                <a:ext cx="61535" cy="6731"/>
              </a:xfrm>
              <a:custGeom>
                <a:avLst/>
                <a:gdLst/>
                <a:ahLst/>
                <a:cxnLst/>
                <a:rect l="0" t="0" r="r" b="b"/>
                <a:pathLst>
                  <a:path w="61535" h="6731">
                    <a:moveTo>
                      <a:pt x="61535" y="6731"/>
                    </a:moveTo>
                    <a:lnTo>
                      <a:pt x="61535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5" y="673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objective_outline_3"/>
              <p:cNvSpPr/>
              <p:nvPr/>
            </p:nvSpPr>
            <p:spPr>
              <a:xfrm>
                <a:off x="524756" y="617619"/>
                <a:ext cx="82081" cy="105759"/>
              </a:xfrm>
              <a:custGeom>
                <a:avLst/>
                <a:gdLst/>
                <a:ahLst/>
                <a:cxnLst/>
                <a:rect l="0" t="0" r="r" b="b"/>
                <a:pathLst>
                  <a:path w="82082" h="105759">
                    <a:moveTo>
                      <a:pt x="82082" y="73672"/>
                    </a:moveTo>
                    <a:lnTo>
                      <a:pt x="79561" y="73672"/>
                    </a:lnTo>
                    <a:cubicBezTo>
                      <a:pt x="77156" y="88694"/>
                      <a:pt x="71628" y="95425"/>
                      <a:pt x="63214" y="95425"/>
                    </a:cubicBezTo>
                    <a:lnTo>
                      <a:pt x="16105" y="95425"/>
                    </a:lnTo>
                    <a:lnTo>
                      <a:pt x="50959" y="50717"/>
                    </a:lnTo>
                    <a:lnTo>
                      <a:pt x="19951" y="4687"/>
                    </a:lnTo>
                    <a:lnTo>
                      <a:pt x="58408" y="4687"/>
                    </a:lnTo>
                    <a:cubicBezTo>
                      <a:pt x="67183" y="4687"/>
                      <a:pt x="72708" y="9493"/>
                      <a:pt x="75232" y="24757"/>
                    </a:cubicBezTo>
                    <a:lnTo>
                      <a:pt x="77879" y="24757"/>
                    </a:lnTo>
                    <a:lnTo>
                      <a:pt x="77156" y="0"/>
                    </a:lnTo>
                    <a:lnTo>
                      <a:pt x="5048" y="0"/>
                    </a:lnTo>
                    <a:lnTo>
                      <a:pt x="41823" y="52761"/>
                    </a:lnTo>
                    <a:lnTo>
                      <a:pt x="0" y="105759"/>
                    </a:lnTo>
                    <a:lnTo>
                      <a:pt x="80760" y="105759"/>
                    </a:lnTo>
                    <a:lnTo>
                      <a:pt x="82082" y="7367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objective_outline_4"/>
              <p:cNvSpPr/>
              <p:nvPr/>
            </p:nvSpPr>
            <p:spPr>
              <a:xfrm>
                <a:off x="623038" y="65851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objective_outline_5"/>
              <p:cNvSpPr/>
              <p:nvPr/>
            </p:nvSpPr>
            <p:spPr>
              <a:xfrm>
                <a:off x="705105" y="623041"/>
                <a:ext cx="61408" cy="80037"/>
              </a:xfrm>
              <a:custGeom>
                <a:avLst/>
                <a:gdLst/>
                <a:ahLst/>
                <a:cxnLst/>
                <a:rect l="0" t="0" r="r" b="b"/>
                <a:pathLst>
                  <a:path w="61409" h="80038">
                    <a:moveTo>
                      <a:pt x="61409" y="69941"/>
                    </a:moveTo>
                    <a:lnTo>
                      <a:pt x="61289" y="69703"/>
                    </a:lnTo>
                    <a:cubicBezTo>
                      <a:pt x="59607" y="69703"/>
                      <a:pt x="57563" y="73787"/>
                      <a:pt x="52519" y="73787"/>
                    </a:cubicBezTo>
                    <a:cubicBezTo>
                      <a:pt x="29801" y="73787"/>
                      <a:pt x="71144" y="0"/>
                      <a:pt x="35810" y="0"/>
                    </a:cubicBezTo>
                    <a:lnTo>
                      <a:pt x="34488" y="0"/>
                    </a:lnTo>
                    <a:cubicBezTo>
                      <a:pt x="32326" y="0"/>
                      <a:pt x="27277" y="1802"/>
                      <a:pt x="25717" y="3242"/>
                    </a:cubicBezTo>
                    <a:cubicBezTo>
                      <a:pt x="25595" y="3362"/>
                      <a:pt x="26559" y="4445"/>
                      <a:pt x="26678" y="4445"/>
                    </a:cubicBezTo>
                    <a:cubicBezTo>
                      <a:pt x="27277" y="3965"/>
                      <a:pt x="29924" y="2881"/>
                      <a:pt x="32326" y="2881"/>
                    </a:cubicBezTo>
                    <a:cubicBezTo>
                      <a:pt x="43986" y="2881"/>
                      <a:pt x="40858" y="22110"/>
                      <a:pt x="40858" y="25237"/>
                    </a:cubicBezTo>
                    <a:cubicBezTo>
                      <a:pt x="40981" y="25598"/>
                      <a:pt x="40858" y="25836"/>
                      <a:pt x="40739" y="26317"/>
                    </a:cubicBezTo>
                    <a:cubicBezTo>
                      <a:pt x="38334" y="37493"/>
                      <a:pt x="2881" y="68981"/>
                      <a:pt x="0" y="78716"/>
                    </a:cubicBezTo>
                    <a:lnTo>
                      <a:pt x="12017" y="78716"/>
                    </a:lnTo>
                    <a:cubicBezTo>
                      <a:pt x="12017" y="77514"/>
                      <a:pt x="12136" y="76311"/>
                      <a:pt x="12379" y="74989"/>
                    </a:cubicBezTo>
                    <a:cubicBezTo>
                      <a:pt x="15863" y="59607"/>
                      <a:pt x="39418" y="36294"/>
                      <a:pt x="39418" y="36171"/>
                    </a:cubicBezTo>
                    <a:lnTo>
                      <a:pt x="39537" y="36171"/>
                    </a:lnTo>
                    <a:cubicBezTo>
                      <a:pt x="38814" y="42422"/>
                      <a:pt x="28000" y="80038"/>
                      <a:pt x="47589" y="80038"/>
                    </a:cubicBezTo>
                    <a:cubicBezTo>
                      <a:pt x="52876" y="80038"/>
                      <a:pt x="61170" y="71386"/>
                      <a:pt x="61409" y="69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objective_outline_6"/>
              <p:cNvSpPr/>
              <p:nvPr/>
            </p:nvSpPr>
            <p:spPr>
              <a:xfrm>
                <a:off x="776822" y="65851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bjective_outline_7"/>
              <p:cNvSpPr/>
              <p:nvPr/>
            </p:nvSpPr>
            <p:spPr>
              <a:xfrm>
                <a:off x="841387" y="621477"/>
                <a:ext cx="73909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bjective_outline_8"/>
              <p:cNvSpPr/>
              <p:nvPr/>
            </p:nvSpPr>
            <p:spPr>
              <a:xfrm>
                <a:off x="926635" y="674018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5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5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bjective_outline_9"/>
              <p:cNvSpPr/>
              <p:nvPr/>
            </p:nvSpPr>
            <p:spPr>
              <a:xfrm>
                <a:off x="981939" y="68234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" name="module_safeot"/>
          <p:cNvGrpSpPr/>
          <p:nvPr/>
        </p:nvGrpSpPr>
        <p:grpSpPr>
          <a:xfrm>
            <a:off x="1333500" y="38100"/>
            <a:ext cx="2362200" cy="2184400"/>
            <a:chOff x="1333500" y="38100"/>
            <a:chExt cx="2362200" cy="2184400"/>
          </a:xfrm>
        </p:grpSpPr>
        <p:sp>
          <p:nvSpPr>
            <p:cNvPr id="30" name="safeot_border"/>
            <p:cNvSpPr/>
            <p:nvPr/>
          </p:nvSpPr>
          <p:spPr>
            <a:xfrm>
              <a:off x="1333500" y="38100"/>
              <a:ext cx="2362200" cy="21844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ostcard0"/>
            <p:cNvSpPr/>
            <p:nvPr/>
          </p:nvSpPr>
          <p:spPr>
            <a:xfrm>
              <a:off x="1422400" y="8001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costicon0" descr="costicon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7800" y="812800"/>
              <a:ext cx="127000" cy="190500"/>
            </a:xfrm>
            <a:prstGeom prst="rect">
              <a:avLst/>
            </a:prstGeom>
          </p:spPr>
        </p:pic>
        <p:sp>
          <p:nvSpPr>
            <p:cNvPr id="33" name="costcard1"/>
            <p:cNvSpPr/>
            <p:nvPr/>
          </p:nvSpPr>
          <p:spPr>
            <a:xfrm>
              <a:off x="1422400" y="10414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costicon1" descr="costicon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800" y="1054100"/>
              <a:ext cx="127000" cy="190500"/>
            </a:xfrm>
            <a:prstGeom prst="rect">
              <a:avLst/>
            </a:prstGeom>
          </p:spPr>
        </p:pic>
        <p:sp>
          <p:nvSpPr>
            <p:cNvPr id="35" name="costcard2"/>
            <p:cNvSpPr/>
            <p:nvPr/>
          </p:nvSpPr>
          <p:spPr>
            <a:xfrm>
              <a:off x="1422400" y="12827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costicon2" descr="costicon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7800" y="1295400"/>
              <a:ext cx="127000" cy="190500"/>
            </a:xfrm>
            <a:prstGeom prst="rect">
              <a:avLst/>
            </a:prstGeom>
          </p:spPr>
        </p:pic>
        <p:sp>
          <p:nvSpPr>
            <p:cNvPr id="37" name="costcard3"/>
            <p:cNvSpPr/>
            <p:nvPr/>
          </p:nvSpPr>
          <p:spPr>
            <a:xfrm>
              <a:off x="1422400" y="15240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costicon3" descr="costicon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7800" y="1536700"/>
              <a:ext cx="127000" cy="190500"/>
            </a:xfrm>
            <a:prstGeom prst="rect">
              <a:avLst/>
            </a:prstGeom>
          </p:spPr>
        </p:pic>
        <p:sp>
          <p:nvSpPr>
            <p:cNvPr id="39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18785B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40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18785B"/>
                  </a:solidFill>
                  <a:latin typeface="Liberation Serif"/>
                </a:rPr>
                <a:t>One flow prices all budgets</a:t>
              </a:r>
            </a:p>
          </p:txBody>
        </p:sp>
        <p:sp>
          <p:nvSpPr>
            <p:cNvPr id="41" name="costs_title"/>
            <p:cNvSpPr txBox="1"/>
            <p:nvPr/>
          </p:nvSpPr>
          <p:spPr>
            <a:xfrm>
              <a:off x="1422400" y="596900"/>
              <a:ext cx="546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42" name="solve_title"/>
            <p:cNvSpPr txBox="1"/>
            <p:nvPr/>
          </p:nvSpPr>
          <p:spPr>
            <a:xfrm>
              <a:off x="2057400" y="596900"/>
              <a:ext cx="1574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 flow projection</a:t>
              </a:r>
            </a:p>
          </p:txBody>
        </p:sp>
        <p:sp>
          <p:nvSpPr>
            <p:cNvPr id="43" name="cost_solve_divider"/>
            <p:cNvSpPr/>
            <p:nvPr/>
          </p:nvSpPr>
          <p:spPr>
            <a:xfrm>
              <a:off x="2032000" y="787400"/>
              <a:ext cx="127" cy="990600"/>
            </a:xfrm>
            <a:custGeom>
              <a:avLst/>
              <a:gdLst/>
              <a:ahLst/>
              <a:cxnLst/>
              <a:rect l="0" t="0" r="r" b="b"/>
              <a:pathLst>
                <a:path w="1" h="990600" fill="none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5715">
              <a:solidFill>
                <a:srgbClr val="CCD9D2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o_solve"/>
            <p:cNvSpPr/>
            <p:nvPr/>
          </p:nvSpPr>
          <p:spPr>
            <a:xfrm>
              <a:off x="1968500" y="11303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1079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low_e0"/>
            <p:cNvSpPr/>
            <p:nvPr/>
          </p:nvSpPr>
          <p:spPr>
            <a:xfrm>
              <a:off x="2278507" y="85090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1333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low_e1"/>
            <p:cNvSpPr/>
            <p:nvPr/>
          </p:nvSpPr>
          <p:spPr>
            <a:xfrm>
              <a:off x="2701671" y="85090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low_x0"/>
            <p:cNvSpPr/>
            <p:nvPr/>
          </p:nvSpPr>
          <p:spPr>
            <a:xfrm>
              <a:off x="2823641" y="817295"/>
              <a:ext cx="67208" cy="67208"/>
            </a:xfrm>
            <a:custGeom>
              <a:avLst/>
              <a:gdLst/>
              <a:ahLst/>
              <a:cxnLst/>
              <a:rect l="0" t="0" r="r" b="b"/>
              <a:pathLst>
                <a:path w="67208" h="67208" fill="none">
                  <a:moveTo>
                    <a:pt x="0" y="67208"/>
                  </a:moveTo>
                  <a:lnTo>
                    <a:pt x="67208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low_x1"/>
            <p:cNvSpPr/>
            <p:nvPr/>
          </p:nvSpPr>
          <p:spPr>
            <a:xfrm>
              <a:off x="2823641" y="817295"/>
              <a:ext cx="67208" cy="67208"/>
            </a:xfrm>
            <a:custGeom>
              <a:avLst/>
              <a:gdLst/>
              <a:ahLst/>
              <a:cxnLst/>
              <a:rect l="0" t="0" r="r" b="b"/>
              <a:pathLst>
                <a:path w="67208" h="67208" fill="none">
                  <a:moveTo>
                    <a:pt x="0" y="0"/>
                  </a:moveTo>
                  <a:lnTo>
                    <a:pt x="67208" y="67208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low_e2"/>
            <p:cNvSpPr/>
            <p:nvPr/>
          </p:nvSpPr>
          <p:spPr>
            <a:xfrm>
              <a:off x="2222500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low_e3"/>
            <p:cNvSpPr/>
            <p:nvPr/>
          </p:nvSpPr>
          <p:spPr>
            <a:xfrm>
              <a:off x="2645664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98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low_e4"/>
            <p:cNvSpPr/>
            <p:nvPr/>
          </p:nvSpPr>
          <p:spPr>
            <a:xfrm>
              <a:off x="3068828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low_e5"/>
            <p:cNvSpPr/>
            <p:nvPr/>
          </p:nvSpPr>
          <p:spPr>
            <a:xfrm>
              <a:off x="2278507" y="106045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952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low_e6"/>
            <p:cNvSpPr/>
            <p:nvPr/>
          </p:nvSpPr>
          <p:spPr>
            <a:xfrm>
              <a:off x="2701671" y="106045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1016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low_e7"/>
            <p:cNvSpPr/>
            <p:nvPr/>
          </p:nvSpPr>
          <p:spPr>
            <a:xfrm>
              <a:off x="3124835" y="1060450"/>
              <a:ext cx="286257" cy="127"/>
            </a:xfrm>
            <a:custGeom>
              <a:avLst/>
              <a:gdLst/>
              <a:ahLst/>
              <a:cxnLst/>
              <a:rect l="0" t="0" r="r" b="b"/>
              <a:pathLst>
                <a:path w="286257" h="1" fill="none">
                  <a:moveTo>
                    <a:pt x="0" y="0"/>
                  </a:moveTo>
                  <a:lnTo>
                    <a:pt x="286257" y="0"/>
                  </a:lnTo>
                </a:path>
              </a:pathLst>
            </a:custGeom>
            <a:noFill/>
            <a:ln w="1270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low_e8"/>
            <p:cNvSpPr/>
            <p:nvPr/>
          </p:nvSpPr>
          <p:spPr>
            <a:xfrm>
              <a:off x="2222500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low_e9"/>
            <p:cNvSpPr/>
            <p:nvPr/>
          </p:nvSpPr>
          <p:spPr>
            <a:xfrm>
              <a:off x="2645664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low_e10"/>
            <p:cNvSpPr/>
            <p:nvPr/>
          </p:nvSpPr>
          <p:spPr>
            <a:xfrm>
              <a:off x="3068828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low_e11"/>
            <p:cNvSpPr/>
            <p:nvPr/>
          </p:nvSpPr>
          <p:spPr>
            <a:xfrm>
              <a:off x="2695854" y="1085304"/>
              <a:ext cx="322783" cy="159841"/>
            </a:xfrm>
            <a:custGeom>
              <a:avLst/>
              <a:gdLst/>
              <a:ahLst/>
              <a:cxnLst/>
              <a:rect l="0" t="0" r="r" b="b"/>
              <a:pathLst>
                <a:path w="322783" h="159841" fill="none">
                  <a:moveTo>
                    <a:pt x="0" y="159841"/>
                  </a:moveTo>
                  <a:lnTo>
                    <a:pt x="322783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low_n0"/>
            <p:cNvSpPr/>
            <p:nvPr/>
          </p:nvSpPr>
          <p:spPr>
            <a:xfrm>
              <a:off x="2166493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flow_n1"/>
            <p:cNvSpPr/>
            <p:nvPr/>
          </p:nvSpPr>
          <p:spPr>
            <a:xfrm>
              <a:off x="2589657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low_n2"/>
            <p:cNvSpPr/>
            <p:nvPr/>
          </p:nvSpPr>
          <p:spPr>
            <a:xfrm>
              <a:off x="3012821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low_n3"/>
            <p:cNvSpPr/>
            <p:nvPr/>
          </p:nvSpPr>
          <p:spPr>
            <a:xfrm>
              <a:off x="2166493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low_n4"/>
            <p:cNvSpPr/>
            <p:nvPr/>
          </p:nvSpPr>
          <p:spPr>
            <a:xfrm>
              <a:off x="2589657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low_n5"/>
            <p:cNvSpPr/>
            <p:nvPr/>
          </p:nvSpPr>
          <p:spPr>
            <a:xfrm>
              <a:off x="3012821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low_n6"/>
            <p:cNvSpPr/>
            <p:nvPr/>
          </p:nvSpPr>
          <p:spPr>
            <a:xfrm>
              <a:off x="3411092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low_n7"/>
            <p:cNvSpPr/>
            <p:nvPr/>
          </p:nvSpPr>
          <p:spPr>
            <a:xfrm>
              <a:off x="2166493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low_n8"/>
            <p:cNvSpPr/>
            <p:nvPr/>
          </p:nvSpPr>
          <p:spPr>
            <a:xfrm>
              <a:off x="2589657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low_n9"/>
            <p:cNvSpPr/>
            <p:nvPr/>
          </p:nvSpPr>
          <p:spPr>
            <a:xfrm>
              <a:off x="3012821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arget0"/>
            <p:cNvSpPr/>
            <p:nvPr/>
          </p:nvSpPr>
          <p:spPr>
            <a:xfrm>
              <a:off x="2279650" y="1092200"/>
              <a:ext cx="308610" cy="127"/>
            </a:xfrm>
            <a:custGeom>
              <a:avLst/>
              <a:gdLst/>
              <a:ahLst/>
              <a:cxnLst/>
              <a:rect l="0" t="0" r="r" b="b"/>
              <a:pathLst>
                <a:path w="308610" h="1" fill="none">
                  <a:moveTo>
                    <a:pt x="0" y="0"/>
                  </a:moveTo>
                  <a:lnTo>
                    <a:pt x="308610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arget1"/>
            <p:cNvSpPr/>
            <p:nvPr/>
          </p:nvSpPr>
          <p:spPr>
            <a:xfrm>
              <a:off x="2702560" y="1092200"/>
              <a:ext cx="308609" cy="127"/>
            </a:xfrm>
            <a:custGeom>
              <a:avLst/>
              <a:gdLst/>
              <a:ahLst/>
              <a:cxnLst/>
              <a:rect l="0" t="0" r="r" b="b"/>
              <a:pathLst>
                <a:path w="308609" h="1" fill="none">
                  <a:moveTo>
                    <a:pt x="0" y="0"/>
                  </a:moveTo>
                  <a:lnTo>
                    <a:pt x="308609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arget2"/>
            <p:cNvSpPr/>
            <p:nvPr/>
          </p:nvSpPr>
          <p:spPr>
            <a:xfrm>
              <a:off x="3125470" y="1092200"/>
              <a:ext cx="284480" cy="127"/>
            </a:xfrm>
            <a:custGeom>
              <a:avLst/>
              <a:gdLst/>
              <a:ahLst/>
              <a:cxnLst/>
              <a:rect l="0" t="0" r="r" b="b"/>
              <a:pathLst>
                <a:path w="284480" h="1" fill="none">
                  <a:moveTo>
                    <a:pt x="0" y="0"/>
                  </a:moveTo>
                  <a:lnTo>
                    <a:pt x="284480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upper_cost_tick"/>
            <p:cNvSpPr/>
            <p:nvPr/>
          </p:nvSpPr>
          <p:spPr>
            <a:xfrm>
              <a:off x="2362200" y="812800"/>
              <a:ext cx="127" cy="76200"/>
            </a:xfrm>
            <a:custGeom>
              <a:avLst/>
              <a:gdLst/>
              <a:ahLst/>
              <a:cxnLst/>
              <a:rect l="0" t="0" r="r" b="b"/>
              <a:pathLst>
                <a:path w="1" h="76200" fill="none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016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entropy"/>
            <p:cNvSpPr txBox="1"/>
            <p:nvPr/>
          </p:nvSpPr>
          <p:spPr>
            <a:xfrm>
              <a:off x="2082800" y="1574800"/>
              <a:ext cx="1549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s.t. flow conservation</a:t>
              </a:r>
            </a:p>
          </p:txBody>
        </p:sp>
        <p:sp>
          <p:nvSpPr>
            <p:cNvPr id="74" name="flow_key"/>
            <p:cNvSpPr txBox="1"/>
            <p:nvPr/>
          </p:nvSpPr>
          <p:spPr>
            <a:xfrm>
              <a:off x="2057400" y="17653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75" name="hard_key"/>
            <p:cNvSpPr txBox="1"/>
            <p:nvPr/>
          </p:nvSpPr>
          <p:spPr>
            <a:xfrm>
              <a:off x="1384300" y="1917700"/>
              <a:ext cx="22606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D4D46"/>
                  </a:solidFill>
                  <a:latin typeface="Liberation Serif"/>
                </a:rPr>
                <a:t>× hard constraint: excluded edge</a:t>
              </a:r>
            </a:p>
          </p:txBody>
        </p:sp>
        <p:grpSp>
          <p:nvGrpSpPr>
            <p:cNvPr id="76" name="cost0"/>
            <p:cNvGrpSpPr/>
            <p:nvPr/>
          </p:nvGrpSpPr>
          <p:grpSpPr>
            <a:xfrm>
              <a:off x="1721780" y="848211"/>
              <a:ext cx="113890" cy="108072"/>
              <a:chOff x="1721780" y="848211"/>
              <a:chExt cx="113890" cy="108072"/>
            </a:xfrm>
          </p:grpSpPr>
          <p:sp>
            <p:nvSpPr>
              <p:cNvPr id="77" name="cost0_outline_0"/>
              <p:cNvSpPr/>
              <p:nvPr/>
            </p:nvSpPr>
            <p:spPr>
              <a:xfrm>
                <a:off x="1721780" y="84821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cost0_outline_1"/>
              <p:cNvSpPr/>
              <p:nvPr/>
            </p:nvSpPr>
            <p:spPr>
              <a:xfrm>
                <a:off x="1806306" y="886140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9" name="cost1"/>
            <p:cNvGrpSpPr/>
            <p:nvPr/>
          </p:nvGrpSpPr>
          <p:grpSpPr>
            <a:xfrm>
              <a:off x="1721780" y="1089511"/>
              <a:ext cx="122296" cy="108072"/>
              <a:chOff x="1721780" y="1089511"/>
              <a:chExt cx="122296" cy="108072"/>
            </a:xfrm>
          </p:grpSpPr>
          <p:sp>
            <p:nvSpPr>
              <p:cNvPr id="80" name="cost1_outline_0"/>
              <p:cNvSpPr/>
              <p:nvPr/>
            </p:nvSpPr>
            <p:spPr>
              <a:xfrm>
                <a:off x="1721780" y="108951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cost1_outline_1"/>
              <p:cNvSpPr/>
              <p:nvPr/>
            </p:nvSpPr>
            <p:spPr>
              <a:xfrm>
                <a:off x="1797900" y="1127440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2" name="cost2"/>
            <p:cNvGrpSpPr/>
            <p:nvPr/>
          </p:nvGrpSpPr>
          <p:grpSpPr>
            <a:xfrm>
              <a:off x="1721780" y="1330081"/>
              <a:ext cx="117832" cy="109526"/>
              <a:chOff x="1721780" y="1330081"/>
              <a:chExt cx="117832" cy="109526"/>
            </a:xfrm>
          </p:grpSpPr>
          <p:sp>
            <p:nvSpPr>
              <p:cNvPr id="83" name="cost2_outline_0"/>
              <p:cNvSpPr/>
              <p:nvPr/>
            </p:nvSpPr>
            <p:spPr>
              <a:xfrm>
                <a:off x="1721780" y="133008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7"/>
                      <a:pt x="28908" y="13728"/>
                    </a:cubicBezTo>
                    <a:cubicBezTo>
                      <a:pt x="34739" y="7656"/>
                      <a:pt x="42390" y="4374"/>
                      <a:pt x="50407" y="4374"/>
                    </a:cubicBezTo>
                    <a:cubicBezTo>
                      <a:pt x="61579" y="4374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80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cost2_outline_1"/>
              <p:cNvSpPr/>
              <p:nvPr/>
            </p:nvSpPr>
            <p:spPr>
              <a:xfrm>
                <a:off x="1799250" y="1368011"/>
                <a:ext cx="4036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0362" h="71596">
                    <a:moveTo>
                      <a:pt x="40362" y="47419"/>
                    </a:moveTo>
                    <a:cubicBezTo>
                      <a:pt x="40362" y="42128"/>
                      <a:pt x="38703" y="37251"/>
                      <a:pt x="35695" y="34036"/>
                    </a:cubicBezTo>
                    <a:cubicBezTo>
                      <a:pt x="33619" y="31754"/>
                      <a:pt x="31647" y="30508"/>
                      <a:pt x="27083" y="28535"/>
                    </a:cubicBezTo>
                    <a:cubicBezTo>
                      <a:pt x="34242" y="23658"/>
                      <a:pt x="36834" y="19820"/>
                      <a:pt x="36834" y="14216"/>
                    </a:cubicBezTo>
                    <a:cubicBezTo>
                      <a:pt x="36834" y="5814"/>
                      <a:pt x="30194" y="0"/>
                      <a:pt x="20649" y="0"/>
                    </a:cubicBezTo>
                    <a:cubicBezTo>
                      <a:pt x="15462" y="0"/>
                      <a:pt x="10894" y="1766"/>
                      <a:pt x="7160" y="5088"/>
                    </a:cubicBezTo>
                    <a:cubicBezTo>
                      <a:pt x="4048" y="7886"/>
                      <a:pt x="2492" y="10585"/>
                      <a:pt x="206" y="16812"/>
                    </a:cubicBezTo>
                    <a:lnTo>
                      <a:pt x="1766" y="17224"/>
                    </a:lnTo>
                    <a:cubicBezTo>
                      <a:pt x="6021" y="9652"/>
                      <a:pt x="10688" y="6227"/>
                      <a:pt x="17224" y="6227"/>
                    </a:cubicBezTo>
                    <a:cubicBezTo>
                      <a:pt x="23971" y="6227"/>
                      <a:pt x="28638" y="10791"/>
                      <a:pt x="28638" y="17332"/>
                    </a:cubicBezTo>
                    <a:cubicBezTo>
                      <a:pt x="28638" y="21066"/>
                      <a:pt x="27083" y="24801"/>
                      <a:pt x="24487" y="27396"/>
                    </a:cubicBezTo>
                    <a:cubicBezTo>
                      <a:pt x="21376" y="30508"/>
                      <a:pt x="18471" y="32064"/>
                      <a:pt x="11414" y="34556"/>
                    </a:cubicBezTo>
                    <a:lnTo>
                      <a:pt x="11414" y="35901"/>
                    </a:lnTo>
                    <a:cubicBezTo>
                      <a:pt x="17538" y="35901"/>
                      <a:pt x="19923" y="36112"/>
                      <a:pt x="22412" y="37044"/>
                    </a:cubicBezTo>
                    <a:cubicBezTo>
                      <a:pt x="28845" y="39326"/>
                      <a:pt x="32893" y="45240"/>
                      <a:pt x="32893" y="52399"/>
                    </a:cubicBezTo>
                    <a:cubicBezTo>
                      <a:pt x="32893" y="61115"/>
                      <a:pt x="26980" y="67862"/>
                      <a:pt x="19300" y="67862"/>
                    </a:cubicBezTo>
                    <a:cubicBezTo>
                      <a:pt x="16498" y="67862"/>
                      <a:pt x="14422" y="67135"/>
                      <a:pt x="10585" y="64643"/>
                    </a:cubicBezTo>
                    <a:cubicBezTo>
                      <a:pt x="7473" y="62778"/>
                      <a:pt x="5707" y="62051"/>
                      <a:pt x="3945" y="62051"/>
                    </a:cubicBezTo>
                    <a:cubicBezTo>
                      <a:pt x="1556" y="62051"/>
                      <a:pt x="0" y="63504"/>
                      <a:pt x="0" y="65683"/>
                    </a:cubicBezTo>
                    <a:cubicBezTo>
                      <a:pt x="0" y="69314"/>
                      <a:pt x="4461" y="71596"/>
                      <a:pt x="11728" y="71596"/>
                    </a:cubicBezTo>
                    <a:cubicBezTo>
                      <a:pt x="19717" y="71596"/>
                      <a:pt x="27912" y="68897"/>
                      <a:pt x="32790" y="64643"/>
                    </a:cubicBezTo>
                    <a:cubicBezTo>
                      <a:pt x="37667" y="60388"/>
                      <a:pt x="40362" y="54372"/>
                      <a:pt x="40362" y="4741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5" name="cost3"/>
            <p:cNvGrpSpPr/>
            <p:nvPr/>
          </p:nvGrpSpPr>
          <p:grpSpPr>
            <a:xfrm>
              <a:off x="1702692" y="1573222"/>
              <a:ext cx="157775" cy="105850"/>
              <a:chOff x="1702692" y="1573222"/>
              <a:chExt cx="157775" cy="105850"/>
            </a:xfrm>
          </p:grpSpPr>
          <p:sp>
            <p:nvSpPr>
              <p:cNvPr id="86" name="cost3_outline_0"/>
              <p:cNvSpPr/>
              <p:nvPr/>
            </p:nvSpPr>
            <p:spPr>
              <a:xfrm>
                <a:off x="1702692" y="1573222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7"/>
                      <a:pt x="28908" y="13728"/>
                    </a:cubicBezTo>
                    <a:cubicBezTo>
                      <a:pt x="34739" y="7656"/>
                      <a:pt x="42390" y="4374"/>
                      <a:pt x="50407" y="4374"/>
                    </a:cubicBezTo>
                    <a:cubicBezTo>
                      <a:pt x="61579" y="4374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80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cost3_outline_1"/>
              <p:cNvSpPr/>
              <p:nvPr/>
            </p:nvSpPr>
            <p:spPr>
              <a:xfrm>
                <a:off x="1778914" y="1611318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29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4" y="0"/>
                    </a:lnTo>
                    <a:lnTo>
                      <a:pt x="56444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4" y="6433"/>
                      <a:pt x="59246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9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8" y="66096"/>
                    </a:lnTo>
                    <a:cubicBezTo>
                      <a:pt x="22308" y="65369"/>
                      <a:pt x="21269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8" name="budgets"/>
            <p:cNvGrpSpPr/>
            <p:nvPr/>
          </p:nvGrpSpPr>
          <p:grpSpPr>
            <a:xfrm>
              <a:off x="2543062" y="1409965"/>
              <a:ext cx="641459" cy="114192"/>
              <a:chOff x="2543062" y="1409965"/>
              <a:chExt cx="641459" cy="114192"/>
            </a:xfrm>
          </p:grpSpPr>
          <p:sp>
            <p:nvSpPr>
              <p:cNvPr id="89" name="budgets_outline_0"/>
              <p:cNvSpPr/>
              <p:nvPr/>
            </p:nvSpPr>
            <p:spPr>
              <a:xfrm>
                <a:off x="2543062" y="1409965"/>
                <a:ext cx="31944" cy="109315"/>
              </a:xfrm>
              <a:custGeom>
                <a:avLst/>
                <a:gdLst/>
                <a:ahLst/>
                <a:cxnLst/>
                <a:rect l="0" t="0" r="r" b="b"/>
                <a:pathLst>
                  <a:path w="31945" h="109315">
                    <a:moveTo>
                      <a:pt x="31945" y="109315"/>
                    </a:moveTo>
                    <a:lnTo>
                      <a:pt x="8382" y="54658"/>
                    </a:lnTo>
                    <a:lnTo>
                      <a:pt x="31945" y="0"/>
                    </a:lnTo>
                    <a:lnTo>
                      <a:pt x="26114" y="0"/>
                    </a:lnTo>
                    <a:lnTo>
                      <a:pt x="0" y="54658"/>
                    </a:lnTo>
                    <a:lnTo>
                      <a:pt x="26114" y="109315"/>
                    </a:lnTo>
                    <a:lnTo>
                      <a:pt x="31945" y="10931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budgets_outline_1"/>
              <p:cNvSpPr/>
              <p:nvPr/>
            </p:nvSpPr>
            <p:spPr>
              <a:xfrm>
                <a:off x="2587158" y="1414942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8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budgets_outline_2"/>
              <p:cNvSpPr/>
              <p:nvPr/>
            </p:nvSpPr>
            <p:spPr>
              <a:xfrm>
                <a:off x="2666474" y="145214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budgets_outline_3"/>
              <p:cNvSpPr/>
              <p:nvPr/>
            </p:nvSpPr>
            <p:spPr>
              <a:xfrm>
                <a:off x="2734966" y="1483447"/>
                <a:ext cx="16883" cy="29515"/>
              </a:xfrm>
              <a:custGeom>
                <a:avLst/>
                <a:gdLst/>
                <a:ahLst/>
                <a:cxnLst/>
                <a:rect l="0" t="0" r="r" b="b"/>
                <a:pathLst>
                  <a:path w="16883" h="29516">
                    <a:moveTo>
                      <a:pt x="16883" y="11660"/>
                    </a:moveTo>
                    <a:cubicBezTo>
                      <a:pt x="16883" y="1580"/>
                      <a:pt x="9838" y="0"/>
                      <a:pt x="7044" y="0"/>
                    </a:cubicBezTo>
                    <a:cubicBezTo>
                      <a:pt x="4008" y="0"/>
                      <a:pt x="0" y="1822"/>
                      <a:pt x="0" y="7045"/>
                    </a:cubicBezTo>
                    <a:cubicBezTo>
                      <a:pt x="0" y="11906"/>
                      <a:pt x="4374" y="13121"/>
                      <a:pt x="7529" y="13121"/>
                    </a:cubicBezTo>
                    <a:cubicBezTo>
                      <a:pt x="8382" y="13121"/>
                      <a:pt x="8989" y="12998"/>
                      <a:pt x="9350" y="12875"/>
                    </a:cubicBezTo>
                    <a:cubicBezTo>
                      <a:pt x="9838" y="12756"/>
                      <a:pt x="10204" y="12633"/>
                      <a:pt x="10446" y="12633"/>
                    </a:cubicBezTo>
                    <a:cubicBezTo>
                      <a:pt x="11295" y="12633"/>
                      <a:pt x="12144" y="13240"/>
                      <a:pt x="12144" y="14335"/>
                    </a:cubicBezTo>
                    <a:cubicBezTo>
                      <a:pt x="12144" y="16641"/>
                      <a:pt x="10204" y="22106"/>
                      <a:pt x="2187" y="27210"/>
                    </a:cubicBezTo>
                    <a:lnTo>
                      <a:pt x="3278" y="29516"/>
                    </a:lnTo>
                    <a:cubicBezTo>
                      <a:pt x="6922" y="28301"/>
                      <a:pt x="16883" y="20284"/>
                      <a:pt x="16883" y="116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budgets_outline_4"/>
              <p:cNvSpPr/>
              <p:nvPr/>
            </p:nvSpPr>
            <p:spPr>
              <a:xfrm>
                <a:off x="2784639" y="1416521"/>
                <a:ext cx="77371" cy="79315"/>
              </a:xfrm>
              <a:custGeom>
                <a:avLst/>
                <a:gdLst/>
                <a:ahLst/>
                <a:cxnLst/>
                <a:rect l="0" t="0" r="r" b="b"/>
                <a:pathLst>
                  <a:path w="77371" h="79316">
                    <a:moveTo>
                      <a:pt x="73481" y="18586"/>
                    </a:moveTo>
                    <a:lnTo>
                      <a:pt x="77371" y="0"/>
                    </a:lnTo>
                    <a:lnTo>
                      <a:pt x="16883" y="0"/>
                    </a:lnTo>
                    <a:lnTo>
                      <a:pt x="16883" y="1945"/>
                    </a:lnTo>
                    <a:cubicBezTo>
                      <a:pt x="24900" y="2675"/>
                      <a:pt x="26233" y="3401"/>
                      <a:pt x="26233" y="6803"/>
                    </a:cubicBezTo>
                    <a:cubicBezTo>
                      <a:pt x="26233" y="8747"/>
                      <a:pt x="25749" y="11660"/>
                      <a:pt x="24900" y="14696"/>
                    </a:cubicBezTo>
                    <a:lnTo>
                      <a:pt x="9958" y="68386"/>
                    </a:lnTo>
                    <a:cubicBezTo>
                      <a:pt x="7775" y="75672"/>
                      <a:pt x="6921" y="76398"/>
                      <a:pt x="0" y="77371"/>
                    </a:cubicBezTo>
                    <a:lnTo>
                      <a:pt x="0" y="79316"/>
                    </a:lnTo>
                    <a:lnTo>
                      <a:pt x="30607" y="79316"/>
                    </a:lnTo>
                    <a:lnTo>
                      <a:pt x="30607" y="77371"/>
                    </a:lnTo>
                    <a:cubicBezTo>
                      <a:pt x="23562" y="77010"/>
                      <a:pt x="21376" y="75672"/>
                      <a:pt x="21376" y="72029"/>
                    </a:cubicBezTo>
                    <a:cubicBezTo>
                      <a:pt x="21376" y="70934"/>
                      <a:pt x="21618" y="69477"/>
                      <a:pt x="22471" y="66564"/>
                    </a:cubicBezTo>
                    <a:lnTo>
                      <a:pt x="30000" y="39477"/>
                    </a:lnTo>
                    <a:cubicBezTo>
                      <a:pt x="34492" y="39719"/>
                      <a:pt x="37167" y="39842"/>
                      <a:pt x="39838" y="39842"/>
                    </a:cubicBezTo>
                    <a:cubicBezTo>
                      <a:pt x="44577" y="39842"/>
                      <a:pt x="45303" y="39961"/>
                      <a:pt x="46518" y="40449"/>
                    </a:cubicBezTo>
                    <a:cubicBezTo>
                      <a:pt x="48220" y="41299"/>
                      <a:pt x="49193" y="42998"/>
                      <a:pt x="49193" y="45426"/>
                    </a:cubicBezTo>
                    <a:cubicBezTo>
                      <a:pt x="49193" y="47371"/>
                      <a:pt x="48947" y="48828"/>
                      <a:pt x="48220" y="52594"/>
                    </a:cubicBezTo>
                    <a:lnTo>
                      <a:pt x="50284" y="53201"/>
                    </a:lnTo>
                    <a:lnTo>
                      <a:pt x="59515" y="24781"/>
                    </a:lnTo>
                    <a:lnTo>
                      <a:pt x="57329" y="24174"/>
                    </a:lnTo>
                    <a:cubicBezTo>
                      <a:pt x="51864" y="35104"/>
                      <a:pt x="51498" y="35227"/>
                      <a:pt x="31095" y="35469"/>
                    </a:cubicBezTo>
                    <a:lnTo>
                      <a:pt x="39108" y="7168"/>
                    </a:lnTo>
                    <a:cubicBezTo>
                      <a:pt x="39838" y="4739"/>
                      <a:pt x="41541" y="4009"/>
                      <a:pt x="46518" y="4009"/>
                    </a:cubicBezTo>
                    <a:cubicBezTo>
                      <a:pt x="67044" y="4009"/>
                      <a:pt x="71298" y="5588"/>
                      <a:pt x="71298" y="13240"/>
                    </a:cubicBezTo>
                    <a:cubicBezTo>
                      <a:pt x="71298" y="14089"/>
                      <a:pt x="71298" y="14577"/>
                      <a:pt x="71176" y="16034"/>
                    </a:cubicBezTo>
                    <a:cubicBezTo>
                      <a:pt x="71053" y="16883"/>
                      <a:pt x="71053" y="17371"/>
                      <a:pt x="70933" y="18344"/>
                    </a:cubicBezTo>
                    <a:lnTo>
                      <a:pt x="73481" y="1858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budgets_outline_5"/>
              <p:cNvSpPr/>
              <p:nvPr/>
            </p:nvSpPr>
            <p:spPr>
              <a:xfrm>
                <a:off x="2871814" y="1409965"/>
                <a:ext cx="31944" cy="109315"/>
              </a:xfrm>
              <a:custGeom>
                <a:avLst/>
                <a:gdLst/>
                <a:ahLst/>
                <a:cxnLst/>
                <a:rect l="0" t="0" r="r" b="b"/>
                <a:pathLst>
                  <a:path w="31944" h="109315">
                    <a:moveTo>
                      <a:pt x="31944" y="54658"/>
                    </a:moveTo>
                    <a:lnTo>
                      <a:pt x="5830" y="0"/>
                    </a:lnTo>
                    <a:lnTo>
                      <a:pt x="0" y="0"/>
                    </a:lnTo>
                    <a:lnTo>
                      <a:pt x="23562" y="54658"/>
                    </a:lnTo>
                    <a:lnTo>
                      <a:pt x="0" y="109315"/>
                    </a:lnTo>
                    <a:lnTo>
                      <a:pt x="5830" y="109315"/>
                    </a:lnTo>
                    <a:lnTo>
                      <a:pt x="31944" y="546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budgets_outline_6"/>
              <p:cNvSpPr/>
              <p:nvPr/>
            </p:nvSpPr>
            <p:spPr>
              <a:xfrm>
                <a:off x="2955950" y="1426118"/>
                <a:ext cx="62190" cy="76763"/>
              </a:xfrm>
              <a:custGeom>
                <a:avLst/>
                <a:gdLst/>
                <a:ahLst/>
                <a:cxnLst/>
                <a:rect l="0" t="0" r="r" b="b"/>
                <a:pathLst>
                  <a:path w="62191" h="76764">
                    <a:moveTo>
                      <a:pt x="62191" y="60972"/>
                    </a:moveTo>
                    <a:lnTo>
                      <a:pt x="62191" y="54173"/>
                    </a:lnTo>
                    <a:lnTo>
                      <a:pt x="11660" y="30488"/>
                    </a:lnTo>
                    <a:lnTo>
                      <a:pt x="62191" y="6802"/>
                    </a:lnTo>
                    <a:lnTo>
                      <a:pt x="62191" y="0"/>
                    </a:lnTo>
                    <a:lnTo>
                      <a:pt x="0" y="29392"/>
                    </a:lnTo>
                    <a:lnTo>
                      <a:pt x="0" y="31821"/>
                    </a:lnTo>
                    <a:lnTo>
                      <a:pt x="62191" y="60972"/>
                    </a:lnTo>
                    <a:close/>
                    <a:moveTo>
                      <a:pt x="62191" y="76764"/>
                    </a:moveTo>
                    <a:lnTo>
                      <a:pt x="62191" y="70326"/>
                    </a:lnTo>
                    <a:lnTo>
                      <a:pt x="0" y="70326"/>
                    </a:lnTo>
                    <a:lnTo>
                      <a:pt x="0" y="76764"/>
                    </a:lnTo>
                    <a:lnTo>
                      <a:pt x="62191" y="7676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budgets_outline_7"/>
              <p:cNvSpPr/>
              <p:nvPr/>
            </p:nvSpPr>
            <p:spPr>
              <a:xfrm>
                <a:off x="3065132" y="1412878"/>
                <a:ext cx="54657" cy="84296"/>
              </a:xfrm>
              <a:custGeom>
                <a:avLst/>
                <a:gdLst/>
                <a:ahLst/>
                <a:cxnLst/>
                <a:rect l="0" t="0" r="r" b="b"/>
                <a:pathLst>
                  <a:path w="54658" h="84296">
                    <a:moveTo>
                      <a:pt x="54658" y="43970"/>
                    </a:moveTo>
                    <a:cubicBezTo>
                      <a:pt x="54658" y="35469"/>
                      <a:pt x="48704" y="29392"/>
                      <a:pt x="40569" y="29392"/>
                    </a:cubicBezTo>
                    <a:cubicBezTo>
                      <a:pt x="32064" y="29392"/>
                      <a:pt x="25749" y="34373"/>
                      <a:pt x="17125" y="47736"/>
                    </a:cubicBezTo>
                    <a:lnTo>
                      <a:pt x="29758" y="607"/>
                    </a:lnTo>
                    <a:lnTo>
                      <a:pt x="29150" y="0"/>
                    </a:lnTo>
                    <a:cubicBezTo>
                      <a:pt x="23078" y="1095"/>
                      <a:pt x="18705" y="1822"/>
                      <a:pt x="10565" y="2794"/>
                    </a:cubicBezTo>
                    <a:lnTo>
                      <a:pt x="10565" y="4858"/>
                    </a:lnTo>
                    <a:cubicBezTo>
                      <a:pt x="17732" y="5104"/>
                      <a:pt x="18463" y="5465"/>
                      <a:pt x="18463" y="8140"/>
                    </a:cubicBezTo>
                    <a:cubicBezTo>
                      <a:pt x="18463" y="9231"/>
                      <a:pt x="18221" y="10569"/>
                      <a:pt x="17367" y="13363"/>
                    </a:cubicBezTo>
                    <a:lnTo>
                      <a:pt x="16760" y="15669"/>
                    </a:lnTo>
                    <a:lnTo>
                      <a:pt x="16518" y="16518"/>
                    </a:lnTo>
                    <a:lnTo>
                      <a:pt x="0" y="77371"/>
                    </a:lnTo>
                    <a:lnTo>
                      <a:pt x="0" y="77859"/>
                    </a:lnTo>
                    <a:cubicBezTo>
                      <a:pt x="0" y="80653"/>
                      <a:pt x="9231" y="84296"/>
                      <a:pt x="16153" y="84296"/>
                    </a:cubicBezTo>
                    <a:cubicBezTo>
                      <a:pt x="34496" y="84296"/>
                      <a:pt x="54658" y="63159"/>
                      <a:pt x="54658" y="43970"/>
                    </a:cubicBezTo>
                    <a:close/>
                    <a:moveTo>
                      <a:pt x="44335" y="45791"/>
                    </a:moveTo>
                    <a:cubicBezTo>
                      <a:pt x="44335" y="53808"/>
                      <a:pt x="38259" y="66806"/>
                      <a:pt x="30972" y="74335"/>
                    </a:cubicBezTo>
                    <a:cubicBezTo>
                      <a:pt x="26479" y="78950"/>
                      <a:pt x="21257" y="81502"/>
                      <a:pt x="16034" y="81502"/>
                    </a:cubicBezTo>
                    <a:cubicBezTo>
                      <a:pt x="12267" y="81502"/>
                      <a:pt x="10446" y="80165"/>
                      <a:pt x="10446" y="77371"/>
                    </a:cubicBezTo>
                    <a:cubicBezTo>
                      <a:pt x="10446" y="70084"/>
                      <a:pt x="14089" y="58424"/>
                      <a:pt x="19189" y="49316"/>
                    </a:cubicBezTo>
                    <a:cubicBezTo>
                      <a:pt x="24535" y="39961"/>
                      <a:pt x="30000" y="35346"/>
                      <a:pt x="35830" y="35346"/>
                    </a:cubicBezTo>
                    <a:cubicBezTo>
                      <a:pt x="41176" y="35346"/>
                      <a:pt x="44335" y="39354"/>
                      <a:pt x="44335" y="457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budgets_outline_8"/>
              <p:cNvSpPr/>
              <p:nvPr/>
            </p:nvSpPr>
            <p:spPr>
              <a:xfrm>
                <a:off x="3133884" y="145214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8" name="module_budget"/>
          <p:cNvGrpSpPr/>
          <p:nvPr/>
        </p:nvGrpSpPr>
        <p:grpSpPr>
          <a:xfrm>
            <a:off x="3759200" y="38100"/>
            <a:ext cx="1244600" cy="2184400"/>
            <a:chOff x="3759200" y="38100"/>
            <a:chExt cx="1244600" cy="2184400"/>
          </a:xfrm>
        </p:grpSpPr>
        <p:sp>
          <p:nvSpPr>
            <p:cNvPr id="99" name="budget_border"/>
            <p:cNvSpPr/>
            <p:nvPr/>
          </p:nvSpPr>
          <p:spPr>
            <a:xfrm>
              <a:off x="3759200" y="38100"/>
              <a:ext cx="1244600" cy="21844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22B32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5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AD4D46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106" name="right_sub"/>
            <p:cNvSpPr txBox="1"/>
            <p:nvPr/>
          </p:nvSpPr>
          <p:spPr>
            <a:xfrm>
              <a:off x="3810000" y="3556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107" name="right_note"/>
            <p:cNvSpPr txBox="1"/>
            <p:nvPr/>
          </p:nvSpPr>
          <p:spPr>
            <a:xfrm>
              <a:off x="3810000" y="18161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Lagrangian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sp>
          <p:nvSpPr>
            <p:cNvPr id="108" name="right_schematic"/>
            <p:cNvSpPr txBox="1"/>
            <p:nvPr/>
          </p:nvSpPr>
          <p:spPr>
            <a:xfrm>
              <a:off x="3810000" y="20701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09" name="budget_objective"/>
            <p:cNvGrpSpPr/>
            <p:nvPr/>
          </p:nvGrpSpPr>
          <p:grpSpPr>
            <a:xfrm>
              <a:off x="4044426" y="606911"/>
              <a:ext cx="652938" cy="144248"/>
              <a:chOff x="4044426" y="606911"/>
              <a:chExt cx="652938" cy="144248"/>
            </a:xfrm>
          </p:grpSpPr>
          <p:sp>
            <p:nvSpPr>
              <p:cNvPr id="110" name="budget_objective_outline_0"/>
              <p:cNvSpPr/>
              <p:nvPr/>
            </p:nvSpPr>
            <p:spPr>
              <a:xfrm>
                <a:off x="4044426" y="615007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budget_objective_outline_1"/>
              <p:cNvSpPr/>
              <p:nvPr/>
            </p:nvSpPr>
            <p:spPr>
              <a:xfrm>
                <a:off x="4106436" y="670831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budget_objective_outline_2"/>
              <p:cNvSpPr/>
              <p:nvPr/>
            </p:nvSpPr>
            <p:spPr>
              <a:xfrm>
                <a:off x="4161753" y="67914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budget_objective_outline_3"/>
              <p:cNvSpPr/>
              <p:nvPr/>
            </p:nvSpPr>
            <p:spPr>
              <a:xfrm>
                <a:off x="4242150" y="606911"/>
                <a:ext cx="32385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5" h="116261">
                    <a:moveTo>
                      <a:pt x="31246" y="0"/>
                    </a:moveTo>
                    <a:cubicBezTo>
                      <a:pt x="12902" y="11890"/>
                      <a:pt x="0" y="32385"/>
                      <a:pt x="0" y="58194"/>
                    </a:cubicBezTo>
                    <a:cubicBezTo>
                      <a:pt x="0" y="81725"/>
                      <a:pt x="13410" y="105505"/>
                      <a:pt x="30869" y="116261"/>
                    </a:cubicBezTo>
                    <a:lnTo>
                      <a:pt x="32385" y="114237"/>
                    </a:lnTo>
                    <a:cubicBezTo>
                      <a:pt x="15688" y="101080"/>
                      <a:pt x="10878" y="85773"/>
                      <a:pt x="10878" y="57813"/>
                    </a:cubicBezTo>
                    <a:cubicBezTo>
                      <a:pt x="10878" y="29730"/>
                      <a:pt x="16066" y="15180"/>
                      <a:pt x="32385" y="2024"/>
                    </a:cubicBezTo>
                    <a:lnTo>
                      <a:pt x="31246" y="0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budget_objective_outline_4"/>
              <p:cNvSpPr/>
              <p:nvPr/>
            </p:nvSpPr>
            <p:spPr>
              <a:xfrm>
                <a:off x="4286561" y="641828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20"/>
                    </a:cubicBezTo>
                    <a:lnTo>
                      <a:pt x="3540" y="16320"/>
                    </a:lnTo>
                    <a:cubicBezTo>
                      <a:pt x="4175" y="15434"/>
                      <a:pt x="8854" y="9235"/>
                      <a:pt x="15431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budget_objective_outline_5"/>
              <p:cNvSpPr/>
              <p:nvPr/>
            </p:nvSpPr>
            <p:spPr>
              <a:xfrm>
                <a:off x="4360700" y="606911"/>
                <a:ext cx="32388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9" h="116261">
                    <a:moveTo>
                      <a:pt x="1139" y="0"/>
                    </a:moveTo>
                    <a:lnTo>
                      <a:pt x="0" y="2024"/>
                    </a:lnTo>
                    <a:cubicBezTo>
                      <a:pt x="16319" y="15180"/>
                      <a:pt x="21507" y="29730"/>
                      <a:pt x="21507" y="57813"/>
                    </a:cubicBezTo>
                    <a:cubicBezTo>
                      <a:pt x="21507" y="85773"/>
                      <a:pt x="16700" y="101080"/>
                      <a:pt x="0" y="114237"/>
                    </a:cubicBezTo>
                    <a:lnTo>
                      <a:pt x="1520" y="116261"/>
                    </a:lnTo>
                    <a:cubicBezTo>
                      <a:pt x="18979" y="105505"/>
                      <a:pt x="32389" y="81725"/>
                      <a:pt x="32389" y="58194"/>
                    </a:cubicBezTo>
                    <a:cubicBezTo>
                      <a:pt x="32389" y="32385"/>
                      <a:pt x="19483" y="11890"/>
                      <a:pt x="1139" y="0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budget_objective_outline_6"/>
              <p:cNvSpPr/>
              <p:nvPr/>
            </p:nvSpPr>
            <p:spPr>
              <a:xfrm>
                <a:off x="4448493" y="625001"/>
                <a:ext cx="64773" cy="7995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79954">
                    <a:moveTo>
                      <a:pt x="64774" y="63508"/>
                    </a:moveTo>
                    <a:lnTo>
                      <a:pt x="64774" y="56424"/>
                    </a:lnTo>
                    <a:lnTo>
                      <a:pt x="12144" y="31754"/>
                    </a:lnTo>
                    <a:lnTo>
                      <a:pt x="64774" y="7084"/>
                    </a:lnTo>
                    <a:lnTo>
                      <a:pt x="64774" y="0"/>
                    </a:lnTo>
                    <a:lnTo>
                      <a:pt x="0" y="30615"/>
                    </a:lnTo>
                    <a:lnTo>
                      <a:pt x="0" y="33147"/>
                    </a:lnTo>
                    <a:lnTo>
                      <a:pt x="64774" y="63508"/>
                    </a:lnTo>
                    <a:close/>
                    <a:moveTo>
                      <a:pt x="64774" y="79954"/>
                    </a:moveTo>
                    <a:lnTo>
                      <a:pt x="64774" y="73247"/>
                    </a:lnTo>
                    <a:lnTo>
                      <a:pt x="0" y="73247"/>
                    </a:lnTo>
                    <a:lnTo>
                      <a:pt x="0" y="79954"/>
                    </a:lnTo>
                    <a:lnTo>
                      <a:pt x="64774" y="79954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budget_objective_outline_7"/>
              <p:cNvSpPr/>
              <p:nvPr/>
            </p:nvSpPr>
            <p:spPr>
              <a:xfrm>
                <a:off x="4560174" y="61500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budget_objective_outline_8"/>
              <p:cNvSpPr/>
              <p:nvPr/>
            </p:nvSpPr>
            <p:spPr>
              <a:xfrm>
                <a:off x="4646727" y="6521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9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120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2" name="module_price_bridge"/>
          <p:cNvGrpSpPr/>
          <p:nvPr/>
        </p:nvGrpSpPr>
        <p:grpSpPr>
          <a:xfrm>
            <a:off x="50800" y="2260600"/>
            <a:ext cx="4927600" cy="317500"/>
            <a:chOff x="50800" y="2260600"/>
            <a:chExt cx="4927600" cy="317500"/>
          </a:xfrm>
        </p:grpSpPr>
        <p:sp>
          <p:nvSpPr>
            <p:cNvPr id="123" name="price_band"/>
            <p:cNvSpPr/>
            <p:nvPr/>
          </p:nvSpPr>
          <p:spPr>
            <a:xfrm>
              <a:off x="50800" y="2260600"/>
              <a:ext cx="4927600" cy="317500"/>
            </a:xfrm>
            <a:prstGeom prst="roundRect">
              <a:avLst>
                <a:gd name="adj" fmla="val 2500"/>
              </a:avLst>
            </a:prstGeom>
            <a:solidFill>
              <a:srgbClr val="F4F8F3"/>
            </a:solidFill>
            <a:ln w="7620">
              <a:solidFill>
                <a:srgbClr val="C6D9C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raw_to_filter"/>
            <p:cNvSpPr/>
            <p:nvPr/>
          </p:nvSpPr>
          <p:spPr>
            <a:xfrm>
              <a:off x="342900" y="24257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762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ilter"/>
            <p:cNvSpPr txBox="1"/>
            <p:nvPr/>
          </p:nvSpPr>
          <p:spPr>
            <a:xfrm>
              <a:off x="457200" y="2311400"/>
              <a:ext cx="5842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26" name="filter_to_price"/>
            <p:cNvSpPr/>
            <p:nvPr/>
          </p:nvSpPr>
          <p:spPr>
            <a:xfrm>
              <a:off x="1054100" y="24257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762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price_to_actor"/>
            <p:cNvSpPr/>
            <p:nvPr/>
          </p:nvSpPr>
          <p:spPr>
            <a:xfrm>
              <a:off x="3225800" y="24257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889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actor_next"/>
            <p:cNvSpPr/>
            <p:nvPr/>
          </p:nvSpPr>
          <p:spPr>
            <a:xfrm>
              <a:off x="4610100" y="2425700"/>
              <a:ext cx="76200" cy="127"/>
            </a:xfrm>
            <a:custGeom>
              <a:avLst/>
              <a:gdLst/>
              <a:ahLst/>
              <a:cxnLst/>
              <a:rect l="0" t="0" r="r" b="b"/>
              <a:pathLst>
                <a:path w="76200" h="1" fill="none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762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feedback_note"/>
            <p:cNvSpPr txBox="1"/>
            <p:nvPr/>
          </p:nvSpPr>
          <p:spPr>
            <a:xfrm>
              <a:off x="2565400" y="2273300"/>
              <a:ext cx="685800" cy="292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feedback</a:t>
              </a:r>
            </a:p>
          </p:txBody>
        </p:sp>
        <p:sp>
          <p:nvSpPr>
            <p:cNvPr id="130" name="feedback_to_beta"/>
            <p:cNvSpPr/>
            <p:nvPr/>
          </p:nvSpPr>
          <p:spPr>
            <a:xfrm>
              <a:off x="2476500" y="24638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101600" y="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BA651F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actor"/>
            <p:cNvSpPr txBox="1"/>
            <p:nvPr/>
          </p:nvSpPr>
          <p:spPr>
            <a:xfrm>
              <a:off x="3378200" y="2311400"/>
              <a:ext cx="609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1" i="0">
                  <a:solidFill>
                    <a:srgbClr val="101010"/>
                  </a:solidFill>
                  <a:latin typeface="Liberation Serif"/>
                </a:rPr>
                <a:t>priced actor</a:t>
              </a:r>
            </a:p>
          </p:txBody>
        </p:sp>
        <p:sp>
          <p:nvSpPr>
            <p:cNvPr id="132" name="algorithm"/>
            <p:cNvSpPr txBox="1"/>
            <p:nvPr/>
          </p:nvSpPr>
          <p:spPr>
            <a:xfrm>
              <a:off x="4013200" y="2311400"/>
              <a:ext cx="5842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grpSp>
          <p:nvGrpSpPr>
            <p:cNvPr id="133" name="raw_duals"/>
            <p:cNvGrpSpPr/>
            <p:nvPr/>
          </p:nvGrpSpPr>
          <p:grpSpPr>
            <a:xfrm>
              <a:off x="164774" y="2340357"/>
              <a:ext cx="133679" cy="157357"/>
              <a:chOff x="164774" y="2340357"/>
              <a:chExt cx="133679" cy="157357"/>
            </a:xfrm>
          </p:grpSpPr>
          <p:sp>
            <p:nvSpPr>
              <p:cNvPr id="134" name="raw_duals_outline_0"/>
              <p:cNvSpPr/>
              <p:nvPr/>
            </p:nvSpPr>
            <p:spPr>
              <a:xfrm>
                <a:off x="164774" y="2360496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raw_duals_outline_1"/>
              <p:cNvSpPr/>
              <p:nvPr/>
            </p:nvSpPr>
            <p:spPr>
              <a:xfrm>
                <a:off x="233604" y="2340357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raw_duals_outline_2"/>
              <p:cNvSpPr/>
              <p:nvPr/>
            </p:nvSpPr>
            <p:spPr>
              <a:xfrm>
                <a:off x="239923" y="242570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7" name="combined"/>
            <p:cNvGrpSpPr/>
            <p:nvPr/>
          </p:nvGrpSpPr>
          <p:grpSpPr>
            <a:xfrm>
              <a:off x="1469686" y="2340451"/>
              <a:ext cx="694873" cy="158164"/>
              <a:chOff x="1469686" y="2340451"/>
              <a:chExt cx="694873" cy="158164"/>
            </a:xfrm>
          </p:grpSpPr>
          <p:sp>
            <p:nvSpPr>
              <p:cNvPr id="138" name="combined_outline_0"/>
              <p:cNvSpPr/>
              <p:nvPr/>
            </p:nvSpPr>
            <p:spPr>
              <a:xfrm>
                <a:off x="1469686" y="236139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combined_outline_1"/>
              <p:cNvSpPr/>
              <p:nvPr/>
            </p:nvSpPr>
            <p:spPr>
              <a:xfrm>
                <a:off x="1544835" y="239877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combined_outline_2"/>
              <p:cNvSpPr/>
              <p:nvPr/>
            </p:nvSpPr>
            <p:spPr>
              <a:xfrm>
                <a:off x="1649507" y="239543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combined_outline_3"/>
              <p:cNvSpPr/>
              <p:nvPr/>
            </p:nvSpPr>
            <p:spPr>
              <a:xfrm>
                <a:off x="1780027" y="234045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combined_outline_4"/>
              <p:cNvSpPr/>
              <p:nvPr/>
            </p:nvSpPr>
            <p:spPr>
              <a:xfrm>
                <a:off x="1757659" y="236139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combined_outline_5"/>
              <p:cNvSpPr/>
              <p:nvPr/>
            </p:nvSpPr>
            <p:spPr>
              <a:xfrm>
                <a:off x="1826502" y="234125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combined_outline_6"/>
              <p:cNvSpPr/>
              <p:nvPr/>
            </p:nvSpPr>
            <p:spPr>
              <a:xfrm>
                <a:off x="1832820" y="242660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combined_outline_7"/>
              <p:cNvSpPr/>
              <p:nvPr/>
            </p:nvSpPr>
            <p:spPr>
              <a:xfrm>
                <a:off x="1934355" y="237923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combined_outline_8"/>
              <p:cNvSpPr/>
              <p:nvPr/>
            </p:nvSpPr>
            <p:spPr>
              <a:xfrm>
                <a:off x="2029786" y="236139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combined_outline_9"/>
              <p:cNvSpPr/>
              <p:nvPr/>
            </p:nvSpPr>
            <p:spPr>
              <a:xfrm>
                <a:off x="2113922" y="239877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8" name="pi_next"/>
            <p:cNvGrpSpPr/>
            <p:nvPr/>
          </p:nvGrpSpPr>
          <p:grpSpPr>
            <a:xfrm>
              <a:off x="4716405" y="2377372"/>
              <a:ext cx="217856" cy="82537"/>
              <a:chOff x="4716405" y="2377372"/>
              <a:chExt cx="217856" cy="82537"/>
            </a:xfrm>
          </p:grpSpPr>
          <p:sp>
            <p:nvSpPr>
              <p:cNvPr id="149" name="pi_next_outline_0"/>
              <p:cNvSpPr/>
              <p:nvPr/>
            </p:nvSpPr>
            <p:spPr>
              <a:xfrm>
                <a:off x="4716405" y="23773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pi_next_outline_1"/>
              <p:cNvSpPr/>
              <p:nvPr/>
            </p:nvSpPr>
            <p:spPr>
              <a:xfrm>
                <a:off x="4789737" y="24019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pi_next_outline_2"/>
              <p:cNvSpPr/>
              <p:nvPr/>
            </p:nvSpPr>
            <p:spPr>
              <a:xfrm>
                <a:off x="4833836" y="24052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pi_next_outline_3"/>
              <p:cNvSpPr/>
              <p:nvPr/>
            </p:nvSpPr>
            <p:spPr>
              <a:xfrm>
                <a:off x="4904897" y="23884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3" name="module_spectrum"/>
          <p:cNvGrpSpPr/>
          <p:nvPr/>
        </p:nvGrpSpPr>
        <p:grpSpPr>
          <a:xfrm>
            <a:off x="38100" y="2070100"/>
            <a:ext cx="4914900" cy="932864"/>
            <a:chOff x="38100" y="2070100"/>
            <a:chExt cx="4914900" cy="932864"/>
          </a:xfrm>
        </p:grpSpPr>
        <p:sp>
          <p:nvSpPr>
            <p:cNvPr id="154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56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57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58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59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60" name="advance_price"/>
            <p:cNvSpPr txBox="1"/>
            <p:nvPr/>
          </p:nvSpPr>
          <p:spPr>
            <a:xfrm>
              <a:off x="1651000" y="2070100"/>
              <a:ext cx="1905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8785B"/>
                  </a:solidFill>
                  <a:latin typeface="Liberation Serif"/>
                </a:rPr>
                <a:t>Prices before violations</a:t>
              </a:r>
            </a:p>
          </p:txBody>
        </p:sp>
        <p:sp>
          <p:nvSpPr>
            <p:cNvPr id="161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price rule</a:t>
              </a:r>
            </a:p>
          </p:txBody>
        </p:sp>
        <p:sp>
          <p:nvSpPr>
            <p:cNvPr id="162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63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64" name="rule_strip0"/>
            <p:cNvSpPr/>
            <p:nvPr/>
          </p:nvSpPr>
          <p:spPr>
            <a:xfrm>
              <a:off x="228600" y="2857500"/>
              <a:ext cx="46355" cy="15240"/>
            </a:xfrm>
            <a:prstGeom prst="rect">
              <a:avLst/>
            </a:prstGeom>
            <a:solidFill>
              <a:srgbClr val="285A9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rule_strip1"/>
            <p:cNvSpPr/>
            <p:nvPr/>
          </p:nvSpPr>
          <p:spPr>
            <a:xfrm>
              <a:off x="274574" y="2857500"/>
              <a:ext cx="46355" cy="15240"/>
            </a:xfrm>
            <a:prstGeom prst="rect">
              <a:avLst/>
            </a:prstGeom>
            <a:solidFill>
              <a:srgbClr val="285B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rule_strip2"/>
            <p:cNvSpPr/>
            <p:nvPr/>
          </p:nvSpPr>
          <p:spPr>
            <a:xfrm>
              <a:off x="320548" y="2857500"/>
              <a:ext cx="46355" cy="15240"/>
            </a:xfrm>
            <a:prstGeom prst="rect">
              <a:avLst/>
            </a:prstGeom>
            <a:solidFill>
              <a:srgbClr val="275C9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rule_strip3"/>
            <p:cNvSpPr/>
            <p:nvPr/>
          </p:nvSpPr>
          <p:spPr>
            <a:xfrm>
              <a:off x="366522" y="2857500"/>
              <a:ext cx="46355" cy="15240"/>
            </a:xfrm>
            <a:prstGeom prst="rect">
              <a:avLst/>
            </a:prstGeom>
            <a:solidFill>
              <a:srgbClr val="275C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rule_strip4"/>
            <p:cNvSpPr/>
            <p:nvPr/>
          </p:nvSpPr>
          <p:spPr>
            <a:xfrm>
              <a:off x="412496" y="2857500"/>
              <a:ext cx="46355" cy="15240"/>
            </a:xfrm>
            <a:prstGeom prst="rect">
              <a:avLst/>
            </a:prstGeom>
            <a:solidFill>
              <a:srgbClr val="265D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rule_strip5"/>
            <p:cNvSpPr/>
            <p:nvPr/>
          </p:nvSpPr>
          <p:spPr>
            <a:xfrm>
              <a:off x="458470" y="2857500"/>
              <a:ext cx="46355" cy="15240"/>
            </a:xfrm>
            <a:prstGeom prst="rect">
              <a:avLst/>
            </a:prstGeom>
            <a:solidFill>
              <a:srgbClr val="265D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rule_strip6"/>
            <p:cNvSpPr/>
            <p:nvPr/>
          </p:nvSpPr>
          <p:spPr>
            <a:xfrm>
              <a:off x="504444" y="2857500"/>
              <a:ext cx="46355" cy="15240"/>
            </a:xfrm>
            <a:prstGeom prst="rect">
              <a:avLst/>
            </a:prstGeom>
            <a:solidFill>
              <a:srgbClr val="265E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ule_strip7"/>
            <p:cNvSpPr/>
            <p:nvPr/>
          </p:nvSpPr>
          <p:spPr>
            <a:xfrm>
              <a:off x="550418" y="2857500"/>
              <a:ext cx="46355" cy="15240"/>
            </a:xfrm>
            <a:prstGeom prst="rect">
              <a:avLst/>
            </a:prstGeom>
            <a:solidFill>
              <a:srgbClr val="265F9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rule_strip8"/>
            <p:cNvSpPr/>
            <p:nvPr/>
          </p:nvSpPr>
          <p:spPr>
            <a:xfrm>
              <a:off x="596392" y="2857500"/>
              <a:ext cx="46355" cy="15240"/>
            </a:xfrm>
            <a:prstGeom prst="rect">
              <a:avLst/>
            </a:prstGeom>
            <a:solidFill>
              <a:srgbClr val="255F9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rule_strip9"/>
            <p:cNvSpPr/>
            <p:nvPr/>
          </p:nvSpPr>
          <p:spPr>
            <a:xfrm>
              <a:off x="642366" y="2857500"/>
              <a:ext cx="46355" cy="15240"/>
            </a:xfrm>
            <a:prstGeom prst="rect">
              <a:avLst/>
            </a:prstGeom>
            <a:solidFill>
              <a:srgbClr val="2560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rule_strip10"/>
            <p:cNvSpPr/>
            <p:nvPr/>
          </p:nvSpPr>
          <p:spPr>
            <a:xfrm>
              <a:off x="688340" y="2857500"/>
              <a:ext cx="46355" cy="15240"/>
            </a:xfrm>
            <a:prstGeom prst="rect">
              <a:avLst/>
            </a:prstGeom>
            <a:solidFill>
              <a:srgbClr val="2461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rule_strip11"/>
            <p:cNvSpPr/>
            <p:nvPr/>
          </p:nvSpPr>
          <p:spPr>
            <a:xfrm>
              <a:off x="734314" y="2857500"/>
              <a:ext cx="46355" cy="15240"/>
            </a:xfrm>
            <a:prstGeom prst="rect">
              <a:avLst/>
            </a:prstGeom>
            <a:solidFill>
              <a:srgbClr val="24618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rule_strip12"/>
            <p:cNvSpPr/>
            <p:nvPr/>
          </p:nvSpPr>
          <p:spPr>
            <a:xfrm>
              <a:off x="780288" y="2857500"/>
              <a:ext cx="46355" cy="15240"/>
            </a:xfrm>
            <a:prstGeom prst="rect">
              <a:avLst/>
            </a:prstGeom>
            <a:solidFill>
              <a:srgbClr val="2462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rule_strip13"/>
            <p:cNvSpPr/>
            <p:nvPr/>
          </p:nvSpPr>
          <p:spPr>
            <a:xfrm>
              <a:off x="826262" y="2857500"/>
              <a:ext cx="46355" cy="15240"/>
            </a:xfrm>
            <a:prstGeom prst="rect">
              <a:avLst/>
            </a:prstGeom>
            <a:solidFill>
              <a:srgbClr val="2462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ule_strip14"/>
            <p:cNvSpPr/>
            <p:nvPr/>
          </p:nvSpPr>
          <p:spPr>
            <a:xfrm>
              <a:off x="872236" y="2857500"/>
              <a:ext cx="46355" cy="15240"/>
            </a:xfrm>
            <a:prstGeom prst="rect">
              <a:avLst/>
            </a:prstGeom>
            <a:solidFill>
              <a:srgbClr val="23638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rule_strip15"/>
            <p:cNvSpPr/>
            <p:nvPr/>
          </p:nvSpPr>
          <p:spPr>
            <a:xfrm>
              <a:off x="918210" y="2857500"/>
              <a:ext cx="46355" cy="15240"/>
            </a:xfrm>
            <a:prstGeom prst="rect">
              <a:avLst/>
            </a:prstGeom>
            <a:solidFill>
              <a:srgbClr val="2364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rule_strip16"/>
            <p:cNvSpPr/>
            <p:nvPr/>
          </p:nvSpPr>
          <p:spPr>
            <a:xfrm>
              <a:off x="964184" y="2857500"/>
              <a:ext cx="46355" cy="15240"/>
            </a:xfrm>
            <a:prstGeom prst="rect">
              <a:avLst/>
            </a:prstGeom>
            <a:solidFill>
              <a:srgbClr val="226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rule_strip17"/>
            <p:cNvSpPr/>
            <p:nvPr/>
          </p:nvSpPr>
          <p:spPr>
            <a:xfrm>
              <a:off x="1010157" y="2857500"/>
              <a:ext cx="46355" cy="15240"/>
            </a:xfrm>
            <a:prstGeom prst="rect">
              <a:avLst/>
            </a:prstGeom>
            <a:solidFill>
              <a:srgbClr val="2265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ule_strip18"/>
            <p:cNvSpPr/>
            <p:nvPr/>
          </p:nvSpPr>
          <p:spPr>
            <a:xfrm>
              <a:off x="1056132" y="2857500"/>
              <a:ext cx="46355" cy="15240"/>
            </a:xfrm>
            <a:prstGeom prst="rect">
              <a:avLst/>
            </a:prstGeom>
            <a:solidFill>
              <a:srgbClr val="2266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rule_strip19"/>
            <p:cNvSpPr/>
            <p:nvPr/>
          </p:nvSpPr>
          <p:spPr>
            <a:xfrm>
              <a:off x="1102106" y="2857500"/>
              <a:ext cx="46355" cy="15240"/>
            </a:xfrm>
            <a:prstGeom prst="rect">
              <a:avLst/>
            </a:prstGeom>
            <a:solidFill>
              <a:srgbClr val="2266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rule_strip20"/>
            <p:cNvSpPr/>
            <p:nvPr/>
          </p:nvSpPr>
          <p:spPr>
            <a:xfrm>
              <a:off x="1148080" y="2857500"/>
              <a:ext cx="46355" cy="15240"/>
            </a:xfrm>
            <a:prstGeom prst="rect">
              <a:avLst/>
            </a:prstGeom>
            <a:solidFill>
              <a:srgbClr val="2167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ule_strip21"/>
            <p:cNvSpPr/>
            <p:nvPr/>
          </p:nvSpPr>
          <p:spPr>
            <a:xfrm>
              <a:off x="1194054" y="2857500"/>
              <a:ext cx="46355" cy="15240"/>
            </a:xfrm>
            <a:prstGeom prst="rect">
              <a:avLst/>
            </a:prstGeom>
            <a:solidFill>
              <a:srgbClr val="2167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ule_strip22"/>
            <p:cNvSpPr/>
            <p:nvPr/>
          </p:nvSpPr>
          <p:spPr>
            <a:xfrm>
              <a:off x="1240028" y="2857500"/>
              <a:ext cx="46355" cy="15240"/>
            </a:xfrm>
            <a:prstGeom prst="rect">
              <a:avLst/>
            </a:prstGeom>
            <a:solidFill>
              <a:srgbClr val="2068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ule_strip23"/>
            <p:cNvSpPr/>
            <p:nvPr/>
          </p:nvSpPr>
          <p:spPr>
            <a:xfrm>
              <a:off x="1286002" y="2857500"/>
              <a:ext cx="46355" cy="15240"/>
            </a:xfrm>
            <a:prstGeom prst="rect">
              <a:avLst/>
            </a:prstGeom>
            <a:solidFill>
              <a:srgbClr val="20697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ule_strip24"/>
            <p:cNvSpPr/>
            <p:nvPr/>
          </p:nvSpPr>
          <p:spPr>
            <a:xfrm>
              <a:off x="1331976" y="2857500"/>
              <a:ext cx="46355" cy="15240"/>
            </a:xfrm>
            <a:prstGeom prst="rect">
              <a:avLst/>
            </a:prstGeom>
            <a:solidFill>
              <a:srgbClr val="206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ule_strip25"/>
            <p:cNvSpPr/>
            <p:nvPr/>
          </p:nvSpPr>
          <p:spPr>
            <a:xfrm>
              <a:off x="1377950" y="2857500"/>
              <a:ext cx="46355" cy="15240"/>
            </a:xfrm>
            <a:prstGeom prst="rect">
              <a:avLst/>
            </a:prstGeom>
            <a:solidFill>
              <a:srgbClr val="206A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ule_strip26"/>
            <p:cNvSpPr/>
            <p:nvPr/>
          </p:nvSpPr>
          <p:spPr>
            <a:xfrm>
              <a:off x="1423924" y="2857500"/>
              <a:ext cx="46355" cy="15240"/>
            </a:xfrm>
            <a:prstGeom prst="rect">
              <a:avLst/>
            </a:prstGeom>
            <a:solidFill>
              <a:srgbClr val="1F6B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ule_strip27"/>
            <p:cNvSpPr/>
            <p:nvPr/>
          </p:nvSpPr>
          <p:spPr>
            <a:xfrm>
              <a:off x="1469898" y="2857500"/>
              <a:ext cx="46355" cy="15240"/>
            </a:xfrm>
            <a:prstGeom prst="rect">
              <a:avLst/>
            </a:prstGeom>
            <a:solidFill>
              <a:srgbClr val="1F6B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ule_strip28"/>
            <p:cNvSpPr/>
            <p:nvPr/>
          </p:nvSpPr>
          <p:spPr>
            <a:xfrm>
              <a:off x="1515872" y="2857500"/>
              <a:ext cx="46355" cy="15240"/>
            </a:xfrm>
            <a:prstGeom prst="rect">
              <a:avLst/>
            </a:prstGeom>
            <a:solidFill>
              <a:srgbClr val="1E6C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ule_strip29"/>
            <p:cNvSpPr/>
            <p:nvPr/>
          </p:nvSpPr>
          <p:spPr>
            <a:xfrm>
              <a:off x="1561846" y="2857500"/>
              <a:ext cx="46355" cy="15240"/>
            </a:xfrm>
            <a:prstGeom prst="rect">
              <a:avLst/>
            </a:prstGeom>
            <a:solidFill>
              <a:srgbClr val="1E6C7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ule_strip30"/>
            <p:cNvSpPr/>
            <p:nvPr/>
          </p:nvSpPr>
          <p:spPr>
            <a:xfrm>
              <a:off x="1607820" y="2857500"/>
              <a:ext cx="46355" cy="15240"/>
            </a:xfrm>
            <a:prstGeom prst="rect">
              <a:avLst/>
            </a:prstGeom>
            <a:solidFill>
              <a:srgbClr val="1E6D7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ule_strip31"/>
            <p:cNvSpPr/>
            <p:nvPr/>
          </p:nvSpPr>
          <p:spPr>
            <a:xfrm>
              <a:off x="1653794" y="2857500"/>
              <a:ext cx="46355" cy="15240"/>
            </a:xfrm>
            <a:prstGeom prst="rect">
              <a:avLst/>
            </a:prstGeom>
            <a:solidFill>
              <a:srgbClr val="1E6E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ule_strip32"/>
            <p:cNvSpPr/>
            <p:nvPr/>
          </p:nvSpPr>
          <p:spPr>
            <a:xfrm>
              <a:off x="1699768" y="2857500"/>
              <a:ext cx="46355" cy="15240"/>
            </a:xfrm>
            <a:prstGeom prst="rect">
              <a:avLst/>
            </a:prstGeom>
            <a:solidFill>
              <a:srgbClr val="1D6E7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ule_strip33"/>
            <p:cNvSpPr/>
            <p:nvPr/>
          </p:nvSpPr>
          <p:spPr>
            <a:xfrm>
              <a:off x="1745741" y="2857500"/>
              <a:ext cx="46355" cy="15240"/>
            </a:xfrm>
            <a:prstGeom prst="rect">
              <a:avLst/>
            </a:prstGeom>
            <a:solidFill>
              <a:srgbClr val="1D6F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rule_strip34"/>
            <p:cNvSpPr/>
            <p:nvPr/>
          </p:nvSpPr>
          <p:spPr>
            <a:xfrm>
              <a:off x="1791715" y="2857500"/>
              <a:ext cx="46355" cy="15240"/>
            </a:xfrm>
            <a:prstGeom prst="rect">
              <a:avLst/>
            </a:prstGeom>
            <a:solidFill>
              <a:srgbClr val="1C70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rule_strip35"/>
            <p:cNvSpPr/>
            <p:nvPr/>
          </p:nvSpPr>
          <p:spPr>
            <a:xfrm>
              <a:off x="1837689" y="2857500"/>
              <a:ext cx="46355" cy="15240"/>
            </a:xfrm>
            <a:prstGeom prst="rect">
              <a:avLst/>
            </a:prstGeom>
            <a:solidFill>
              <a:srgbClr val="1C706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ule_strip36"/>
            <p:cNvSpPr/>
            <p:nvPr/>
          </p:nvSpPr>
          <p:spPr>
            <a:xfrm>
              <a:off x="1883664" y="2857500"/>
              <a:ext cx="46355" cy="15240"/>
            </a:xfrm>
            <a:prstGeom prst="rect">
              <a:avLst/>
            </a:prstGeom>
            <a:solidFill>
              <a:srgbClr val="1C71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rule_strip37"/>
            <p:cNvSpPr/>
            <p:nvPr/>
          </p:nvSpPr>
          <p:spPr>
            <a:xfrm>
              <a:off x="1929638" y="2857500"/>
              <a:ext cx="46355" cy="15240"/>
            </a:xfrm>
            <a:prstGeom prst="rect">
              <a:avLst/>
            </a:prstGeom>
            <a:solidFill>
              <a:srgbClr val="1C71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rule_strip38"/>
            <p:cNvSpPr/>
            <p:nvPr/>
          </p:nvSpPr>
          <p:spPr>
            <a:xfrm>
              <a:off x="1975612" y="2857500"/>
              <a:ext cx="46355" cy="15240"/>
            </a:xfrm>
            <a:prstGeom prst="rect">
              <a:avLst/>
            </a:prstGeom>
            <a:solidFill>
              <a:srgbClr val="1B72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ule_strip39"/>
            <p:cNvSpPr/>
            <p:nvPr/>
          </p:nvSpPr>
          <p:spPr>
            <a:xfrm>
              <a:off x="2021586" y="2857500"/>
              <a:ext cx="46355" cy="15240"/>
            </a:xfrm>
            <a:prstGeom prst="rect">
              <a:avLst/>
            </a:prstGeom>
            <a:solidFill>
              <a:srgbClr val="1B736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rule_strip40"/>
            <p:cNvSpPr/>
            <p:nvPr/>
          </p:nvSpPr>
          <p:spPr>
            <a:xfrm>
              <a:off x="2067560" y="2857500"/>
              <a:ext cx="46355" cy="15240"/>
            </a:xfrm>
            <a:prstGeom prst="rect">
              <a:avLst/>
            </a:prstGeom>
            <a:solidFill>
              <a:srgbClr val="1A7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rule_strip41"/>
            <p:cNvSpPr/>
            <p:nvPr/>
          </p:nvSpPr>
          <p:spPr>
            <a:xfrm>
              <a:off x="2113534" y="2857500"/>
              <a:ext cx="46355" cy="15240"/>
            </a:xfrm>
            <a:prstGeom prst="rect">
              <a:avLst/>
            </a:prstGeom>
            <a:solidFill>
              <a:srgbClr val="1A74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rule_strip42"/>
            <p:cNvSpPr/>
            <p:nvPr/>
          </p:nvSpPr>
          <p:spPr>
            <a:xfrm>
              <a:off x="2159508" y="2857500"/>
              <a:ext cx="46355" cy="15240"/>
            </a:xfrm>
            <a:prstGeom prst="rect">
              <a:avLst/>
            </a:prstGeom>
            <a:solidFill>
              <a:srgbClr val="1A75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rule_strip43"/>
            <p:cNvSpPr/>
            <p:nvPr/>
          </p:nvSpPr>
          <p:spPr>
            <a:xfrm>
              <a:off x="2205482" y="2857500"/>
              <a:ext cx="46355" cy="15240"/>
            </a:xfrm>
            <a:prstGeom prst="rect">
              <a:avLst/>
            </a:prstGeom>
            <a:solidFill>
              <a:srgbClr val="1A75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rule_strip44"/>
            <p:cNvSpPr/>
            <p:nvPr/>
          </p:nvSpPr>
          <p:spPr>
            <a:xfrm>
              <a:off x="2251456" y="2857500"/>
              <a:ext cx="46355" cy="15240"/>
            </a:xfrm>
            <a:prstGeom prst="rect">
              <a:avLst/>
            </a:prstGeom>
            <a:solidFill>
              <a:srgbClr val="1976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rule_strip45"/>
            <p:cNvSpPr/>
            <p:nvPr/>
          </p:nvSpPr>
          <p:spPr>
            <a:xfrm>
              <a:off x="2297430" y="2857500"/>
              <a:ext cx="46355" cy="15240"/>
            </a:xfrm>
            <a:prstGeom prst="rect">
              <a:avLst/>
            </a:prstGeom>
            <a:solidFill>
              <a:srgbClr val="1976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rule_strip46"/>
            <p:cNvSpPr/>
            <p:nvPr/>
          </p:nvSpPr>
          <p:spPr>
            <a:xfrm>
              <a:off x="2343404" y="2857500"/>
              <a:ext cx="46355" cy="15240"/>
            </a:xfrm>
            <a:prstGeom prst="rect">
              <a:avLst/>
            </a:prstGeom>
            <a:solidFill>
              <a:srgbClr val="1877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rule_strip47"/>
            <p:cNvSpPr/>
            <p:nvPr/>
          </p:nvSpPr>
          <p:spPr>
            <a:xfrm>
              <a:off x="2389378" y="2857500"/>
              <a:ext cx="46355" cy="15240"/>
            </a:xfrm>
            <a:prstGeom prst="rect">
              <a:avLst/>
            </a:prstGeom>
            <a:solidFill>
              <a:srgbClr val="187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rule_strip48"/>
            <p:cNvSpPr/>
            <p:nvPr/>
          </p:nvSpPr>
          <p:spPr>
            <a:xfrm>
              <a:off x="2435352" y="2857500"/>
              <a:ext cx="46355" cy="15240"/>
            </a:xfrm>
            <a:prstGeom prst="rect">
              <a:avLst/>
            </a:prstGeom>
            <a:solidFill>
              <a:srgbClr val="19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rule_strip49"/>
            <p:cNvSpPr/>
            <p:nvPr/>
          </p:nvSpPr>
          <p:spPr>
            <a:xfrm>
              <a:off x="2481326" y="2857500"/>
              <a:ext cx="46355" cy="15240"/>
            </a:xfrm>
            <a:prstGeom prst="rect">
              <a:avLst/>
            </a:prstGeom>
            <a:solidFill>
              <a:srgbClr val="1C77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rule_strip50"/>
            <p:cNvSpPr/>
            <p:nvPr/>
          </p:nvSpPr>
          <p:spPr>
            <a:xfrm>
              <a:off x="2527300" y="2857500"/>
              <a:ext cx="46355" cy="15240"/>
            </a:xfrm>
            <a:prstGeom prst="rect">
              <a:avLst/>
            </a:prstGeom>
            <a:solidFill>
              <a:srgbClr val="1F7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rule_strip51"/>
            <p:cNvSpPr/>
            <p:nvPr/>
          </p:nvSpPr>
          <p:spPr>
            <a:xfrm>
              <a:off x="2573274" y="2857500"/>
              <a:ext cx="46355" cy="15240"/>
            </a:xfrm>
            <a:prstGeom prst="rect">
              <a:avLst/>
            </a:prstGeom>
            <a:solidFill>
              <a:srgbClr val="2275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ule_strip52"/>
            <p:cNvSpPr/>
            <p:nvPr/>
          </p:nvSpPr>
          <p:spPr>
            <a:xfrm>
              <a:off x="2619248" y="2857500"/>
              <a:ext cx="46355" cy="15240"/>
            </a:xfrm>
            <a:prstGeom prst="rect">
              <a:avLst/>
            </a:prstGeom>
            <a:solidFill>
              <a:srgbClr val="2574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rule_strip53"/>
            <p:cNvSpPr/>
            <p:nvPr/>
          </p:nvSpPr>
          <p:spPr>
            <a:xfrm>
              <a:off x="2665222" y="2857500"/>
              <a:ext cx="46355" cy="15240"/>
            </a:xfrm>
            <a:prstGeom prst="rect">
              <a:avLst/>
            </a:prstGeom>
            <a:solidFill>
              <a:srgbClr val="2873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rule_strip54"/>
            <p:cNvSpPr/>
            <p:nvPr/>
          </p:nvSpPr>
          <p:spPr>
            <a:xfrm>
              <a:off x="2711196" y="2857500"/>
              <a:ext cx="46355" cy="15240"/>
            </a:xfrm>
            <a:prstGeom prst="rect">
              <a:avLst/>
            </a:prstGeom>
            <a:solidFill>
              <a:srgbClr val="2B73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ule_strip55"/>
            <p:cNvSpPr/>
            <p:nvPr/>
          </p:nvSpPr>
          <p:spPr>
            <a:xfrm>
              <a:off x="2757170" y="2857500"/>
              <a:ext cx="46355" cy="15240"/>
            </a:xfrm>
            <a:prstGeom prst="rect">
              <a:avLst/>
            </a:prstGeom>
            <a:solidFill>
              <a:srgbClr val="2D72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rule_strip56"/>
            <p:cNvSpPr/>
            <p:nvPr/>
          </p:nvSpPr>
          <p:spPr>
            <a:xfrm>
              <a:off x="2803144" y="2857500"/>
              <a:ext cx="46355" cy="15240"/>
            </a:xfrm>
            <a:prstGeom prst="rect">
              <a:avLst/>
            </a:prstGeom>
            <a:solidFill>
              <a:srgbClr val="307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rule_strip57"/>
            <p:cNvSpPr/>
            <p:nvPr/>
          </p:nvSpPr>
          <p:spPr>
            <a:xfrm>
              <a:off x="2849118" y="2857500"/>
              <a:ext cx="46355" cy="15240"/>
            </a:xfrm>
            <a:prstGeom prst="rect">
              <a:avLst/>
            </a:prstGeom>
            <a:solidFill>
              <a:srgbClr val="3370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rule_strip58"/>
            <p:cNvSpPr/>
            <p:nvPr/>
          </p:nvSpPr>
          <p:spPr>
            <a:xfrm>
              <a:off x="2895092" y="2857500"/>
              <a:ext cx="46355" cy="15240"/>
            </a:xfrm>
            <a:prstGeom prst="rect">
              <a:avLst/>
            </a:prstGeom>
            <a:solidFill>
              <a:srgbClr val="366F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rule_strip59"/>
            <p:cNvSpPr/>
            <p:nvPr/>
          </p:nvSpPr>
          <p:spPr>
            <a:xfrm>
              <a:off x="2941066" y="2857500"/>
              <a:ext cx="46355" cy="15240"/>
            </a:xfrm>
            <a:prstGeom prst="rect">
              <a:avLst/>
            </a:prstGeom>
            <a:solidFill>
              <a:srgbClr val="396E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ule_strip60"/>
            <p:cNvSpPr/>
            <p:nvPr/>
          </p:nvSpPr>
          <p:spPr>
            <a:xfrm>
              <a:off x="2987040" y="2857500"/>
              <a:ext cx="46355" cy="15240"/>
            </a:xfrm>
            <a:prstGeom prst="rect">
              <a:avLst/>
            </a:prstGeom>
            <a:solidFill>
              <a:srgbClr val="3C6E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ule_strip61"/>
            <p:cNvSpPr/>
            <p:nvPr/>
          </p:nvSpPr>
          <p:spPr>
            <a:xfrm>
              <a:off x="3033014" y="2857500"/>
              <a:ext cx="46355" cy="15240"/>
            </a:xfrm>
            <a:prstGeom prst="rect">
              <a:avLst/>
            </a:prstGeom>
            <a:solidFill>
              <a:srgbClr val="3F6D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ule_strip62"/>
            <p:cNvSpPr/>
            <p:nvPr/>
          </p:nvSpPr>
          <p:spPr>
            <a:xfrm>
              <a:off x="3078988" y="2857500"/>
              <a:ext cx="46355" cy="15240"/>
            </a:xfrm>
            <a:prstGeom prst="rect">
              <a:avLst/>
            </a:prstGeom>
            <a:solidFill>
              <a:srgbClr val="426C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ule_strip63"/>
            <p:cNvSpPr/>
            <p:nvPr/>
          </p:nvSpPr>
          <p:spPr>
            <a:xfrm>
              <a:off x="3124962" y="2857500"/>
              <a:ext cx="46355" cy="15240"/>
            </a:xfrm>
            <a:prstGeom prst="rect">
              <a:avLst/>
            </a:prstGeom>
            <a:solidFill>
              <a:srgbClr val="446B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rule_strip64"/>
            <p:cNvSpPr/>
            <p:nvPr/>
          </p:nvSpPr>
          <p:spPr>
            <a:xfrm>
              <a:off x="3170936" y="2857500"/>
              <a:ext cx="46355" cy="15240"/>
            </a:xfrm>
            <a:prstGeom prst="rect">
              <a:avLst/>
            </a:prstGeom>
            <a:solidFill>
              <a:srgbClr val="476A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rule_strip65"/>
            <p:cNvSpPr/>
            <p:nvPr/>
          </p:nvSpPr>
          <p:spPr>
            <a:xfrm>
              <a:off x="3216910" y="2857500"/>
              <a:ext cx="46355" cy="15240"/>
            </a:xfrm>
            <a:prstGeom prst="rect">
              <a:avLst/>
            </a:prstGeom>
            <a:solidFill>
              <a:srgbClr val="4A6A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ule_strip66"/>
            <p:cNvSpPr/>
            <p:nvPr/>
          </p:nvSpPr>
          <p:spPr>
            <a:xfrm>
              <a:off x="3262883" y="2857500"/>
              <a:ext cx="46355" cy="15240"/>
            </a:xfrm>
            <a:prstGeom prst="rect">
              <a:avLst/>
            </a:prstGeom>
            <a:solidFill>
              <a:srgbClr val="4D69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ule_strip67"/>
            <p:cNvSpPr/>
            <p:nvPr/>
          </p:nvSpPr>
          <p:spPr>
            <a:xfrm>
              <a:off x="3308857" y="2857500"/>
              <a:ext cx="46355" cy="15240"/>
            </a:xfrm>
            <a:prstGeom prst="rect">
              <a:avLst/>
            </a:prstGeom>
            <a:solidFill>
              <a:srgbClr val="5068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ule_strip68"/>
            <p:cNvSpPr/>
            <p:nvPr/>
          </p:nvSpPr>
          <p:spPr>
            <a:xfrm>
              <a:off x="3354831" y="2857500"/>
              <a:ext cx="46355" cy="15240"/>
            </a:xfrm>
            <a:prstGeom prst="rect">
              <a:avLst/>
            </a:prstGeom>
            <a:solidFill>
              <a:srgbClr val="5367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ule_strip69"/>
            <p:cNvSpPr/>
            <p:nvPr/>
          </p:nvSpPr>
          <p:spPr>
            <a:xfrm>
              <a:off x="3400805" y="2857500"/>
              <a:ext cx="46355" cy="15240"/>
            </a:xfrm>
            <a:prstGeom prst="rect">
              <a:avLst/>
            </a:prstGeom>
            <a:solidFill>
              <a:srgbClr val="5666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ule_strip70"/>
            <p:cNvSpPr/>
            <p:nvPr/>
          </p:nvSpPr>
          <p:spPr>
            <a:xfrm>
              <a:off x="3446779" y="2857500"/>
              <a:ext cx="46355" cy="15240"/>
            </a:xfrm>
            <a:prstGeom prst="rect">
              <a:avLst/>
            </a:prstGeom>
            <a:solidFill>
              <a:srgbClr val="586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ule_strip71"/>
            <p:cNvSpPr/>
            <p:nvPr/>
          </p:nvSpPr>
          <p:spPr>
            <a:xfrm>
              <a:off x="3492754" y="2857500"/>
              <a:ext cx="46355" cy="15240"/>
            </a:xfrm>
            <a:prstGeom prst="rect">
              <a:avLst/>
            </a:prstGeom>
            <a:solidFill>
              <a:srgbClr val="5B6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rule_strip72"/>
            <p:cNvSpPr/>
            <p:nvPr/>
          </p:nvSpPr>
          <p:spPr>
            <a:xfrm>
              <a:off x="3538728" y="2857500"/>
              <a:ext cx="46355" cy="15240"/>
            </a:xfrm>
            <a:prstGeom prst="rect">
              <a:avLst/>
            </a:prstGeom>
            <a:solidFill>
              <a:srgbClr val="5E645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rule_strip73"/>
            <p:cNvSpPr/>
            <p:nvPr/>
          </p:nvSpPr>
          <p:spPr>
            <a:xfrm>
              <a:off x="3584702" y="2857500"/>
              <a:ext cx="46355" cy="15240"/>
            </a:xfrm>
            <a:prstGeom prst="rect">
              <a:avLst/>
            </a:prstGeom>
            <a:solidFill>
              <a:srgbClr val="61635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rule_strip74"/>
            <p:cNvSpPr/>
            <p:nvPr/>
          </p:nvSpPr>
          <p:spPr>
            <a:xfrm>
              <a:off x="3630676" y="2857500"/>
              <a:ext cx="46355" cy="15240"/>
            </a:xfrm>
            <a:prstGeom prst="rect">
              <a:avLst/>
            </a:prstGeom>
            <a:solidFill>
              <a:srgbClr val="6462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rule_strip75"/>
            <p:cNvSpPr/>
            <p:nvPr/>
          </p:nvSpPr>
          <p:spPr>
            <a:xfrm>
              <a:off x="3676650" y="2857500"/>
              <a:ext cx="46355" cy="15240"/>
            </a:xfrm>
            <a:prstGeom prst="rect">
              <a:avLst/>
            </a:prstGeom>
            <a:solidFill>
              <a:srgbClr val="6761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rule_strip76"/>
            <p:cNvSpPr/>
            <p:nvPr/>
          </p:nvSpPr>
          <p:spPr>
            <a:xfrm>
              <a:off x="3722624" y="2857500"/>
              <a:ext cx="46355" cy="15240"/>
            </a:xfrm>
            <a:prstGeom prst="rect">
              <a:avLst/>
            </a:prstGeom>
            <a:solidFill>
              <a:srgbClr val="6A60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rule_strip77"/>
            <p:cNvSpPr/>
            <p:nvPr/>
          </p:nvSpPr>
          <p:spPr>
            <a:xfrm>
              <a:off x="3768598" y="2857500"/>
              <a:ext cx="46355" cy="15240"/>
            </a:xfrm>
            <a:prstGeom prst="rect">
              <a:avLst/>
            </a:prstGeom>
            <a:solidFill>
              <a:srgbClr val="6D60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rule_strip78"/>
            <p:cNvSpPr/>
            <p:nvPr/>
          </p:nvSpPr>
          <p:spPr>
            <a:xfrm>
              <a:off x="3814572" y="2857500"/>
              <a:ext cx="46355" cy="15240"/>
            </a:xfrm>
            <a:prstGeom prst="rect">
              <a:avLst/>
            </a:prstGeom>
            <a:solidFill>
              <a:srgbClr val="6F5F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rule_strip79"/>
            <p:cNvSpPr/>
            <p:nvPr/>
          </p:nvSpPr>
          <p:spPr>
            <a:xfrm>
              <a:off x="3860546" y="2857500"/>
              <a:ext cx="46355" cy="15240"/>
            </a:xfrm>
            <a:prstGeom prst="rect">
              <a:avLst/>
            </a:prstGeom>
            <a:solidFill>
              <a:srgbClr val="725E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rule_strip80"/>
            <p:cNvSpPr/>
            <p:nvPr/>
          </p:nvSpPr>
          <p:spPr>
            <a:xfrm>
              <a:off x="3906520" y="2857500"/>
              <a:ext cx="46355" cy="15240"/>
            </a:xfrm>
            <a:prstGeom prst="rect">
              <a:avLst/>
            </a:prstGeom>
            <a:solidFill>
              <a:srgbClr val="755D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rule_strip81"/>
            <p:cNvSpPr/>
            <p:nvPr/>
          </p:nvSpPr>
          <p:spPr>
            <a:xfrm>
              <a:off x="3952494" y="2857500"/>
              <a:ext cx="46355" cy="15240"/>
            </a:xfrm>
            <a:prstGeom prst="rect">
              <a:avLst/>
            </a:prstGeom>
            <a:solidFill>
              <a:srgbClr val="785C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rule_strip82"/>
            <p:cNvSpPr/>
            <p:nvPr/>
          </p:nvSpPr>
          <p:spPr>
            <a:xfrm>
              <a:off x="3998467" y="2857500"/>
              <a:ext cx="46355" cy="15240"/>
            </a:xfrm>
            <a:prstGeom prst="rect">
              <a:avLst/>
            </a:prstGeom>
            <a:solidFill>
              <a:srgbClr val="7B5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rule_strip83"/>
            <p:cNvSpPr/>
            <p:nvPr/>
          </p:nvSpPr>
          <p:spPr>
            <a:xfrm>
              <a:off x="4044441" y="2857500"/>
              <a:ext cx="46355" cy="15240"/>
            </a:xfrm>
            <a:prstGeom prst="rect">
              <a:avLst/>
            </a:prstGeom>
            <a:solidFill>
              <a:srgbClr val="7E5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rule_strip84"/>
            <p:cNvSpPr/>
            <p:nvPr/>
          </p:nvSpPr>
          <p:spPr>
            <a:xfrm>
              <a:off x="4090416" y="2857500"/>
              <a:ext cx="46355" cy="15240"/>
            </a:xfrm>
            <a:prstGeom prst="rect">
              <a:avLst/>
            </a:prstGeom>
            <a:solidFill>
              <a:srgbClr val="815A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ule_strip85"/>
            <p:cNvSpPr/>
            <p:nvPr/>
          </p:nvSpPr>
          <p:spPr>
            <a:xfrm>
              <a:off x="4136390" y="2857500"/>
              <a:ext cx="46355" cy="15240"/>
            </a:xfrm>
            <a:prstGeom prst="rect">
              <a:avLst/>
            </a:prstGeom>
            <a:solidFill>
              <a:srgbClr val="8359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ule_strip86"/>
            <p:cNvSpPr/>
            <p:nvPr/>
          </p:nvSpPr>
          <p:spPr>
            <a:xfrm>
              <a:off x="4182364" y="2857500"/>
              <a:ext cx="46355" cy="15240"/>
            </a:xfrm>
            <a:prstGeom prst="rect">
              <a:avLst/>
            </a:prstGeom>
            <a:solidFill>
              <a:srgbClr val="8658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ule_strip87"/>
            <p:cNvSpPr/>
            <p:nvPr/>
          </p:nvSpPr>
          <p:spPr>
            <a:xfrm>
              <a:off x="4228338" y="2857500"/>
              <a:ext cx="46355" cy="15240"/>
            </a:xfrm>
            <a:prstGeom prst="rect">
              <a:avLst/>
            </a:prstGeom>
            <a:solidFill>
              <a:srgbClr val="8957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ule_strip88"/>
            <p:cNvSpPr/>
            <p:nvPr/>
          </p:nvSpPr>
          <p:spPr>
            <a:xfrm>
              <a:off x="4274312" y="2857500"/>
              <a:ext cx="46355" cy="15240"/>
            </a:xfrm>
            <a:prstGeom prst="rect">
              <a:avLst/>
            </a:prstGeom>
            <a:solidFill>
              <a:srgbClr val="8C57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ule_strip89"/>
            <p:cNvSpPr/>
            <p:nvPr/>
          </p:nvSpPr>
          <p:spPr>
            <a:xfrm>
              <a:off x="4320286" y="2857500"/>
              <a:ext cx="46355" cy="15240"/>
            </a:xfrm>
            <a:prstGeom prst="rect">
              <a:avLst/>
            </a:prstGeom>
            <a:solidFill>
              <a:srgbClr val="8F56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ule_strip90"/>
            <p:cNvSpPr/>
            <p:nvPr/>
          </p:nvSpPr>
          <p:spPr>
            <a:xfrm>
              <a:off x="4366260" y="2857500"/>
              <a:ext cx="46355" cy="15240"/>
            </a:xfrm>
            <a:prstGeom prst="rect">
              <a:avLst/>
            </a:prstGeom>
            <a:solidFill>
              <a:srgbClr val="9255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ule_strip91"/>
            <p:cNvSpPr/>
            <p:nvPr/>
          </p:nvSpPr>
          <p:spPr>
            <a:xfrm>
              <a:off x="4412234" y="2857500"/>
              <a:ext cx="46355" cy="15240"/>
            </a:xfrm>
            <a:prstGeom prst="rect">
              <a:avLst/>
            </a:prstGeom>
            <a:solidFill>
              <a:srgbClr val="9554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ule_strip92"/>
            <p:cNvSpPr/>
            <p:nvPr/>
          </p:nvSpPr>
          <p:spPr>
            <a:xfrm>
              <a:off x="4458208" y="2857500"/>
              <a:ext cx="46355" cy="15240"/>
            </a:xfrm>
            <a:prstGeom prst="rect">
              <a:avLst/>
            </a:prstGeom>
            <a:solidFill>
              <a:srgbClr val="9853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ule_strip93"/>
            <p:cNvSpPr/>
            <p:nvPr/>
          </p:nvSpPr>
          <p:spPr>
            <a:xfrm>
              <a:off x="4504182" y="2857500"/>
              <a:ext cx="46355" cy="15240"/>
            </a:xfrm>
            <a:prstGeom prst="rect">
              <a:avLst/>
            </a:prstGeom>
            <a:solidFill>
              <a:srgbClr val="9A52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ule_strip94"/>
            <p:cNvSpPr/>
            <p:nvPr/>
          </p:nvSpPr>
          <p:spPr>
            <a:xfrm>
              <a:off x="4550156" y="2857500"/>
              <a:ext cx="46355" cy="15240"/>
            </a:xfrm>
            <a:prstGeom prst="rect">
              <a:avLst/>
            </a:prstGeom>
            <a:solidFill>
              <a:srgbClr val="9D52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ule_strip95"/>
            <p:cNvSpPr/>
            <p:nvPr/>
          </p:nvSpPr>
          <p:spPr>
            <a:xfrm>
              <a:off x="4596130" y="2857500"/>
              <a:ext cx="46355" cy="15240"/>
            </a:xfrm>
            <a:prstGeom prst="rect">
              <a:avLst/>
            </a:prstGeom>
            <a:solidFill>
              <a:srgbClr val="A051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ule_strip96"/>
            <p:cNvSpPr/>
            <p:nvPr/>
          </p:nvSpPr>
          <p:spPr>
            <a:xfrm>
              <a:off x="4642104" y="2857500"/>
              <a:ext cx="46355" cy="15240"/>
            </a:xfrm>
            <a:prstGeom prst="rect">
              <a:avLst/>
            </a:prstGeom>
            <a:solidFill>
              <a:srgbClr val="A350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ule_strip97"/>
            <p:cNvSpPr/>
            <p:nvPr/>
          </p:nvSpPr>
          <p:spPr>
            <a:xfrm>
              <a:off x="4688078" y="2857500"/>
              <a:ext cx="46355" cy="15240"/>
            </a:xfrm>
            <a:prstGeom prst="rect">
              <a:avLst/>
            </a:prstGeom>
            <a:solidFill>
              <a:srgbClr val="A64F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ule_strip98"/>
            <p:cNvSpPr/>
            <p:nvPr/>
          </p:nvSpPr>
          <p:spPr>
            <a:xfrm>
              <a:off x="4734052" y="2857500"/>
              <a:ext cx="46355" cy="15240"/>
            </a:xfrm>
            <a:prstGeom prst="rect">
              <a:avLst/>
            </a:prstGeom>
            <a:solidFill>
              <a:srgbClr val="A94E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ule_strip99"/>
            <p:cNvSpPr/>
            <p:nvPr/>
          </p:nvSpPr>
          <p:spPr>
            <a:xfrm>
              <a:off x="4780026" y="2857500"/>
              <a:ext cx="46355" cy="15240"/>
            </a:xfrm>
            <a:prstGeom prst="rect">
              <a:avLst/>
            </a:prstGeom>
            <a:solidFill>
              <a:srgbClr val="AC4D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4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265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3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274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2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283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5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286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9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290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