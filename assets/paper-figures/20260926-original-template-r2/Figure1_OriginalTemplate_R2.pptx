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penalty"/>
          <p:cNvGrpSpPr/>
          <p:nvPr/>
        </p:nvGrpSpPr>
        <p:grpSpPr>
          <a:xfrm>
            <a:off x="25400" y="38100"/>
            <a:ext cx="1244600" cy="2095500"/>
            <a:chOff x="25400" y="38100"/>
            <a:chExt cx="1244600" cy="2095500"/>
          </a:xfrm>
        </p:grpSpPr>
        <p:sp>
          <p:nvSpPr>
            <p:cNvPr id="3" name="penalty_border"/>
            <p:cNvSpPr/>
            <p:nvPr/>
          </p:nvSpPr>
          <p:spPr>
            <a:xfrm>
              <a:off x="25400" y="38100"/>
              <a:ext cx="1244600" cy="20955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left_x"/>
            <p:cNvSpPr/>
            <p:nvPr/>
          </p:nvSpPr>
          <p:spPr>
            <a:xfrm>
              <a:off x="190500" y="1574800"/>
              <a:ext cx="1016000" cy="127"/>
            </a:xfrm>
            <a:custGeom>
              <a:avLst/>
              <a:gdLst/>
              <a:ahLst/>
              <a:cxnLst/>
              <a:rect l="0" t="0" r="r" b="b"/>
              <a:pathLst>
                <a:path w="1016000" h="1" fill="none">
                  <a:moveTo>
                    <a:pt x="0" y="0"/>
                  </a:moveTo>
                  <a:lnTo>
                    <a:pt x="1016000" y="0"/>
                  </a:lnTo>
                </a:path>
              </a:pathLst>
            </a:custGeom>
            <a:noFill/>
            <a:ln w="8255">
              <a:solidFill>
                <a:srgbClr val="222B3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left_y"/>
            <p:cNvSpPr/>
            <p:nvPr/>
          </p:nvSpPr>
          <p:spPr>
            <a:xfrm>
              <a:off x="190500" y="965200"/>
              <a:ext cx="127" cy="622300"/>
            </a:xfrm>
            <a:custGeom>
              <a:avLst/>
              <a:gdLst/>
              <a:ahLst/>
              <a:cxnLst/>
              <a:rect l="0" t="0" r="r" b="b"/>
              <a:pathLst>
                <a:path w="1" h="622300" fill="none">
                  <a:moveTo>
                    <a:pt x="0" y="622300"/>
                  </a:moveTo>
                  <a:lnTo>
                    <a:pt x="0" y="0"/>
                  </a:lnTo>
                </a:path>
              </a:pathLst>
            </a:custGeom>
            <a:noFill/>
            <a:ln w="8255">
              <a:solidFill>
                <a:srgbClr val="222B3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left_budget"/>
            <p:cNvSpPr/>
            <p:nvPr/>
          </p:nvSpPr>
          <p:spPr>
            <a:xfrm>
              <a:off x="190500" y="1320800"/>
              <a:ext cx="1003300" cy="127"/>
            </a:xfrm>
            <a:custGeom>
              <a:avLst/>
              <a:gdLst/>
              <a:ahLst/>
              <a:cxnLst/>
              <a:rect l="0" t="0" r="r" b="b"/>
              <a:pathLst>
                <a:path w="1003300" h="1" fill="none">
                  <a:moveTo>
                    <a:pt x="0" y="0"/>
                  </a:moveTo>
                  <a:lnTo>
                    <a:pt x="1003300" y="0"/>
                  </a:lnTo>
                </a:path>
              </a:pathLst>
            </a:custGeom>
            <a:noFill/>
            <a:ln w="7620">
              <a:solidFill>
                <a:srgbClr val="AD4D46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left_curve"/>
            <p:cNvSpPr/>
            <p:nvPr/>
          </p:nvSpPr>
          <p:spPr>
            <a:xfrm>
              <a:off x="228600" y="1003300"/>
              <a:ext cx="889000" cy="546100"/>
            </a:xfrm>
            <a:custGeom>
              <a:avLst/>
              <a:gdLst/>
              <a:ahLst/>
              <a:cxnLst/>
              <a:rect l="0" t="0" r="r" b="b"/>
              <a:pathLst>
                <a:path w="1032591" h="544384" fill="none">
                  <a:moveTo>
                    <a:pt x="0" y="544384"/>
                  </a:moveTo>
                  <a:lnTo>
                    <a:pt x="2675" y="543380"/>
                  </a:lnTo>
                  <a:lnTo>
                    <a:pt x="5350" y="540037"/>
                  </a:lnTo>
                  <a:lnTo>
                    <a:pt x="37451" y="476168"/>
                  </a:lnTo>
                  <a:lnTo>
                    <a:pt x="50827" y="454099"/>
                  </a:lnTo>
                  <a:lnTo>
                    <a:pt x="58852" y="445405"/>
                  </a:lnTo>
                  <a:lnTo>
                    <a:pt x="69552" y="436376"/>
                  </a:lnTo>
                  <a:lnTo>
                    <a:pt x="80253" y="430357"/>
                  </a:lnTo>
                  <a:lnTo>
                    <a:pt x="90953" y="422332"/>
                  </a:lnTo>
                  <a:lnTo>
                    <a:pt x="112354" y="399594"/>
                  </a:lnTo>
                  <a:lnTo>
                    <a:pt x="136430" y="368830"/>
                  </a:lnTo>
                  <a:lnTo>
                    <a:pt x="152481" y="356123"/>
                  </a:lnTo>
                  <a:lnTo>
                    <a:pt x="165856" y="348432"/>
                  </a:lnTo>
                  <a:lnTo>
                    <a:pt x="195282" y="339069"/>
                  </a:lnTo>
                  <a:lnTo>
                    <a:pt x="222033" y="327366"/>
                  </a:lnTo>
                  <a:lnTo>
                    <a:pt x="238084" y="314325"/>
                  </a:lnTo>
                  <a:lnTo>
                    <a:pt x="264835" y="275870"/>
                  </a:lnTo>
                  <a:lnTo>
                    <a:pt x="272860" y="266173"/>
                  </a:lnTo>
                  <a:lnTo>
                    <a:pt x="280886" y="258482"/>
                  </a:lnTo>
                  <a:lnTo>
                    <a:pt x="294261" y="249453"/>
                  </a:lnTo>
                  <a:lnTo>
                    <a:pt x="312987" y="242765"/>
                  </a:lnTo>
                  <a:lnTo>
                    <a:pt x="326362" y="236412"/>
                  </a:lnTo>
                  <a:lnTo>
                    <a:pt x="337063" y="229724"/>
                  </a:lnTo>
                  <a:lnTo>
                    <a:pt x="358464" y="210330"/>
                  </a:lnTo>
                  <a:lnTo>
                    <a:pt x="369164" y="201970"/>
                  </a:lnTo>
                  <a:lnTo>
                    <a:pt x="393240" y="178228"/>
                  </a:lnTo>
                  <a:lnTo>
                    <a:pt x="417316" y="163850"/>
                  </a:lnTo>
                  <a:lnTo>
                    <a:pt x="438717" y="155490"/>
                  </a:lnTo>
                  <a:lnTo>
                    <a:pt x="484194" y="142115"/>
                  </a:lnTo>
                  <a:lnTo>
                    <a:pt x="500244" y="139105"/>
                  </a:lnTo>
                  <a:lnTo>
                    <a:pt x="521645" y="139105"/>
                  </a:lnTo>
                  <a:lnTo>
                    <a:pt x="556422" y="134758"/>
                  </a:lnTo>
                  <a:lnTo>
                    <a:pt x="569797" y="130745"/>
                  </a:lnTo>
                  <a:lnTo>
                    <a:pt x="585848" y="123723"/>
                  </a:lnTo>
                  <a:lnTo>
                    <a:pt x="604574" y="118039"/>
                  </a:lnTo>
                  <a:lnTo>
                    <a:pt x="617949" y="115029"/>
                  </a:lnTo>
                  <a:lnTo>
                    <a:pt x="634000" y="114695"/>
                  </a:lnTo>
                  <a:lnTo>
                    <a:pt x="655401" y="109010"/>
                  </a:lnTo>
                  <a:lnTo>
                    <a:pt x="679477" y="100985"/>
                  </a:lnTo>
                  <a:lnTo>
                    <a:pt x="703552" y="89616"/>
                  </a:lnTo>
                  <a:lnTo>
                    <a:pt x="754380" y="57514"/>
                  </a:lnTo>
                  <a:lnTo>
                    <a:pt x="775780" y="46814"/>
                  </a:lnTo>
                  <a:lnTo>
                    <a:pt x="783806" y="44139"/>
                  </a:lnTo>
                  <a:lnTo>
                    <a:pt x="794506" y="38120"/>
                  </a:lnTo>
                  <a:lnTo>
                    <a:pt x="807882" y="37451"/>
                  </a:lnTo>
                  <a:lnTo>
                    <a:pt x="829282" y="34441"/>
                  </a:lnTo>
                  <a:lnTo>
                    <a:pt x="853358" y="26751"/>
                  </a:lnTo>
                  <a:lnTo>
                    <a:pt x="864059" y="26751"/>
                  </a:lnTo>
                  <a:lnTo>
                    <a:pt x="874759" y="24075"/>
                  </a:lnTo>
                  <a:lnTo>
                    <a:pt x="893485" y="23741"/>
                  </a:lnTo>
                  <a:lnTo>
                    <a:pt x="912211" y="18725"/>
                  </a:lnTo>
                  <a:lnTo>
                    <a:pt x="920236" y="18056"/>
                  </a:lnTo>
                  <a:lnTo>
                    <a:pt x="936287" y="12372"/>
                  </a:lnTo>
                  <a:lnTo>
                    <a:pt x="952337" y="8359"/>
                  </a:lnTo>
                  <a:lnTo>
                    <a:pt x="984439" y="8025"/>
                  </a:lnTo>
                  <a:lnTo>
                    <a:pt x="992464" y="5684"/>
                  </a:lnTo>
                  <a:lnTo>
                    <a:pt x="1003164" y="5015"/>
                  </a:lnTo>
                  <a:lnTo>
                    <a:pt x="1011190" y="3009"/>
                  </a:lnTo>
                  <a:lnTo>
                    <a:pt x="1019215" y="2675"/>
                  </a:lnTo>
                  <a:lnTo>
                    <a:pt x="1027240" y="0"/>
                  </a:lnTo>
                  <a:lnTo>
                    <a:pt x="1032591" y="0"/>
                  </a:lnTo>
                </a:path>
              </a:pathLst>
            </a:custGeom>
            <a:noFill/>
            <a:ln w="535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eakage_leader"/>
            <p:cNvSpPr/>
            <p:nvPr/>
          </p:nvSpPr>
          <p:spPr>
            <a:xfrm>
              <a:off x="901700" y="1016000"/>
              <a:ext cx="50800" cy="139700"/>
            </a:xfrm>
            <a:custGeom>
              <a:avLst/>
              <a:gdLst/>
              <a:ahLst/>
              <a:cxnLst/>
              <a:rect l="0" t="0" r="r" b="b"/>
              <a:pathLst>
                <a:path w="50800" h="139700" fill="none">
                  <a:moveTo>
                    <a:pt x="0" y="0"/>
                  </a:moveTo>
                  <a:lnTo>
                    <a:pt x="50800" y="139700"/>
                  </a:lnTo>
                </a:path>
              </a:pathLst>
            </a:custGeom>
            <a:noFill/>
            <a:ln w="762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left_x_label"/>
            <p:cNvSpPr txBox="1"/>
            <p:nvPr/>
          </p:nvSpPr>
          <p:spPr>
            <a:xfrm>
              <a:off x="762000" y="1600200"/>
              <a:ext cx="431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22B32"/>
                  </a:solidFill>
                  <a:latin typeface="Liberation Serif"/>
                </a:rPr>
                <a:t>training</a:t>
              </a:r>
            </a:p>
          </p:txBody>
        </p:sp>
        <p:sp>
          <p:nvSpPr>
            <p:cNvPr id="10" name="left_title"/>
            <p:cNvSpPr txBox="1"/>
            <p:nvPr/>
          </p:nvSpPr>
          <p:spPr>
            <a:xfrm>
              <a:off x="76200" y="127000"/>
              <a:ext cx="11430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 i="0">
                  <a:solidFill>
                    <a:srgbClr val="285AA0"/>
                  </a:solidFill>
                  <a:latin typeface="Liberation Serif"/>
                </a:rPr>
                <a:t>Penalty view</a:t>
              </a:r>
            </a:p>
          </p:txBody>
        </p:sp>
        <p:sp>
          <p:nvSpPr>
            <p:cNvPr id="11" name="left_sub"/>
            <p:cNvSpPr txBox="1"/>
            <p:nvPr/>
          </p:nvSpPr>
          <p:spPr>
            <a:xfrm>
              <a:off x="76200" y="355600"/>
              <a:ext cx="1143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Costs weight the actor</a:t>
              </a:r>
            </a:p>
          </p:txBody>
        </p:sp>
        <p:sp>
          <p:nvSpPr>
            <p:cNvPr id="12" name="leakage_label"/>
            <p:cNvSpPr txBox="1"/>
            <p:nvPr/>
          </p:nvSpPr>
          <p:spPr>
            <a:xfrm>
              <a:off x="317500" y="889000"/>
              <a:ext cx="8509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AD4D46"/>
                  </a:solidFill>
                  <a:latin typeface="Liberation Serif"/>
                </a:rPr>
                <a:t>budget leakage</a:t>
              </a:r>
            </a:p>
          </p:txBody>
        </p:sp>
        <p:sp>
          <p:nvSpPr>
            <p:cNvPr id="13" name="left_note"/>
            <p:cNvSpPr txBox="1"/>
            <p:nvPr/>
          </p:nvSpPr>
          <p:spPr>
            <a:xfrm>
              <a:off x="101600" y="1714500"/>
              <a:ext cx="11176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Fixed price can leave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a budget violated.</a:t>
              </a:r>
            </a:p>
          </p:txBody>
        </p:sp>
        <p:sp>
          <p:nvSpPr>
            <p:cNvPr id="14" name="left_schematic"/>
            <p:cNvSpPr txBox="1"/>
            <p:nvPr/>
          </p:nvSpPr>
          <p:spPr>
            <a:xfrm>
              <a:off x="114300" y="1993900"/>
              <a:ext cx="10922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681"/>
                  </a:solidFill>
                  <a:latin typeface="Liberation Serif"/>
                </a:rPr>
                <a:t>(schematic)</a:t>
              </a:r>
            </a:p>
          </p:txBody>
        </p:sp>
        <p:grpSp>
          <p:nvGrpSpPr>
            <p:cNvPr id="15" name="left_B"/>
            <p:cNvGrpSpPr/>
            <p:nvPr/>
          </p:nvGrpSpPr>
          <p:grpSpPr>
            <a:xfrm>
              <a:off x="48505" y="1209297"/>
              <a:ext cx="137178" cy="109139"/>
              <a:chOff x="48505" y="1209297"/>
              <a:chExt cx="137178" cy="109139"/>
            </a:xfrm>
          </p:grpSpPr>
          <p:sp>
            <p:nvSpPr>
              <p:cNvPr id="16" name="left_B_outline_0"/>
              <p:cNvSpPr/>
              <p:nvPr/>
            </p:nvSpPr>
            <p:spPr>
              <a:xfrm>
                <a:off x="48505" y="1209297"/>
                <a:ext cx="75398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75398" h="82610">
                    <a:moveTo>
                      <a:pt x="69199" y="57309"/>
                    </a:moveTo>
                    <a:cubicBezTo>
                      <a:pt x="69199" y="48073"/>
                      <a:pt x="65278" y="43390"/>
                      <a:pt x="53261" y="38207"/>
                    </a:cubicBezTo>
                    <a:cubicBezTo>
                      <a:pt x="62242" y="36056"/>
                      <a:pt x="65909" y="34536"/>
                      <a:pt x="69957" y="30996"/>
                    </a:cubicBezTo>
                    <a:cubicBezTo>
                      <a:pt x="73501" y="27960"/>
                      <a:pt x="75398" y="23785"/>
                      <a:pt x="75398" y="18598"/>
                    </a:cubicBezTo>
                    <a:cubicBezTo>
                      <a:pt x="75398" y="6580"/>
                      <a:pt x="66417" y="0"/>
                      <a:pt x="50097" y="0"/>
                    </a:cubicBezTo>
                    <a:lnTo>
                      <a:pt x="17458" y="0"/>
                    </a:lnTo>
                    <a:lnTo>
                      <a:pt x="17458" y="2024"/>
                    </a:lnTo>
                    <a:cubicBezTo>
                      <a:pt x="25428" y="2655"/>
                      <a:pt x="27198" y="3544"/>
                      <a:pt x="27198" y="7211"/>
                    </a:cubicBezTo>
                    <a:cubicBezTo>
                      <a:pt x="27198" y="9108"/>
                      <a:pt x="26694" y="12144"/>
                      <a:pt x="25809" y="15307"/>
                    </a:cubicBezTo>
                    <a:lnTo>
                      <a:pt x="10247" y="71223"/>
                    </a:lnTo>
                    <a:cubicBezTo>
                      <a:pt x="7969" y="78561"/>
                      <a:pt x="7084" y="79319"/>
                      <a:pt x="0" y="80585"/>
                    </a:cubicBezTo>
                    <a:lnTo>
                      <a:pt x="0" y="82610"/>
                    </a:lnTo>
                    <a:lnTo>
                      <a:pt x="35675" y="82610"/>
                    </a:lnTo>
                    <a:cubicBezTo>
                      <a:pt x="55539" y="82610"/>
                      <a:pt x="69199" y="72362"/>
                      <a:pt x="69199" y="57309"/>
                    </a:cubicBezTo>
                    <a:close/>
                    <a:moveTo>
                      <a:pt x="55539" y="56801"/>
                    </a:moveTo>
                    <a:cubicBezTo>
                      <a:pt x="55539" y="70465"/>
                      <a:pt x="46176" y="78815"/>
                      <a:pt x="30742" y="78815"/>
                    </a:cubicBezTo>
                    <a:cubicBezTo>
                      <a:pt x="25428" y="78815"/>
                      <a:pt x="22646" y="77041"/>
                      <a:pt x="22646" y="73501"/>
                    </a:cubicBezTo>
                    <a:cubicBezTo>
                      <a:pt x="22646" y="71858"/>
                      <a:pt x="24162" y="65909"/>
                      <a:pt x="27071" y="55789"/>
                    </a:cubicBezTo>
                    <a:lnTo>
                      <a:pt x="31119" y="40735"/>
                    </a:lnTo>
                    <a:cubicBezTo>
                      <a:pt x="39092" y="40735"/>
                      <a:pt x="44529" y="41243"/>
                      <a:pt x="47061" y="42255"/>
                    </a:cubicBezTo>
                    <a:cubicBezTo>
                      <a:pt x="52376" y="44279"/>
                      <a:pt x="55539" y="49844"/>
                      <a:pt x="55539" y="56801"/>
                    </a:cubicBezTo>
                    <a:close/>
                    <a:moveTo>
                      <a:pt x="62623" y="17459"/>
                    </a:moveTo>
                    <a:cubicBezTo>
                      <a:pt x="62623" y="30488"/>
                      <a:pt x="54146" y="36687"/>
                      <a:pt x="36687" y="36687"/>
                    </a:cubicBezTo>
                    <a:lnTo>
                      <a:pt x="32385" y="36687"/>
                    </a:lnTo>
                    <a:lnTo>
                      <a:pt x="40608" y="7338"/>
                    </a:lnTo>
                    <a:cubicBezTo>
                      <a:pt x="41366" y="4556"/>
                      <a:pt x="42886" y="3794"/>
                      <a:pt x="47819" y="3794"/>
                    </a:cubicBezTo>
                    <a:cubicBezTo>
                      <a:pt x="58067" y="3794"/>
                      <a:pt x="62623" y="8096"/>
                      <a:pt x="62623" y="17459"/>
                    </a:cubicBezTo>
                    <a:close/>
                  </a:path>
                </a:pathLst>
              </a:custGeom>
              <a:solidFill>
                <a:srgbClr val="AD4D4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left_B_outline_1"/>
              <p:cNvSpPr/>
              <p:nvPr/>
            </p:nvSpPr>
            <p:spPr>
              <a:xfrm>
                <a:off x="135046" y="1246424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AD4D4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" name="objective"/>
            <p:cNvGrpSpPr/>
            <p:nvPr/>
          </p:nvGrpSpPr>
          <p:grpSpPr>
            <a:xfrm>
              <a:off x="248336" y="617619"/>
              <a:ext cx="784240" cy="136740"/>
              <a:chOff x="248336" y="617619"/>
              <a:chExt cx="784240" cy="136740"/>
            </a:xfrm>
          </p:grpSpPr>
          <p:sp>
            <p:nvSpPr>
              <p:cNvPr id="19" name="objective_outline_0"/>
              <p:cNvSpPr/>
              <p:nvPr/>
            </p:nvSpPr>
            <p:spPr>
              <a:xfrm>
                <a:off x="248336" y="621477"/>
                <a:ext cx="73910" cy="80279"/>
              </a:xfrm>
              <a:custGeom>
                <a:avLst/>
                <a:gdLst/>
                <a:ahLst/>
                <a:cxnLst/>
                <a:rect l="0" t="0" r="r" b="b"/>
                <a:pathLst>
                  <a:path w="73910" h="80280">
                    <a:moveTo>
                      <a:pt x="73910" y="80280"/>
                    </a:moveTo>
                    <a:lnTo>
                      <a:pt x="73910" y="78355"/>
                    </a:lnTo>
                    <a:cubicBezTo>
                      <a:pt x="67060" y="77756"/>
                      <a:pt x="66219" y="76795"/>
                      <a:pt x="64774" y="68020"/>
                    </a:cubicBezTo>
                    <a:lnTo>
                      <a:pt x="53479" y="0"/>
                    </a:lnTo>
                    <a:lnTo>
                      <a:pt x="50355" y="0"/>
                    </a:lnTo>
                    <a:lnTo>
                      <a:pt x="15502" y="60091"/>
                    </a:lnTo>
                    <a:cubicBezTo>
                      <a:pt x="6009" y="76073"/>
                      <a:pt x="4806" y="77395"/>
                      <a:pt x="0" y="78355"/>
                    </a:cubicBezTo>
                    <a:lnTo>
                      <a:pt x="0" y="80280"/>
                    </a:lnTo>
                    <a:lnTo>
                      <a:pt x="22471" y="80280"/>
                    </a:lnTo>
                    <a:lnTo>
                      <a:pt x="22471" y="78355"/>
                    </a:lnTo>
                    <a:cubicBezTo>
                      <a:pt x="16343" y="77756"/>
                      <a:pt x="15383" y="77157"/>
                      <a:pt x="15383" y="74152"/>
                    </a:cubicBezTo>
                    <a:cubicBezTo>
                      <a:pt x="15383" y="71866"/>
                      <a:pt x="15744" y="70787"/>
                      <a:pt x="17784" y="66699"/>
                    </a:cubicBezTo>
                    <a:lnTo>
                      <a:pt x="24634" y="53118"/>
                    </a:lnTo>
                    <a:lnTo>
                      <a:pt x="51074" y="53118"/>
                    </a:lnTo>
                    <a:lnTo>
                      <a:pt x="53479" y="68862"/>
                    </a:lnTo>
                    <a:cubicBezTo>
                      <a:pt x="53598" y="69945"/>
                      <a:pt x="53721" y="71025"/>
                      <a:pt x="53721" y="71989"/>
                    </a:cubicBezTo>
                    <a:cubicBezTo>
                      <a:pt x="53721" y="76553"/>
                      <a:pt x="52038" y="77637"/>
                      <a:pt x="44347" y="78355"/>
                    </a:cubicBezTo>
                    <a:lnTo>
                      <a:pt x="44347" y="80280"/>
                    </a:lnTo>
                    <a:lnTo>
                      <a:pt x="73910" y="80280"/>
                    </a:lnTo>
                    <a:close/>
                    <a:moveTo>
                      <a:pt x="50475" y="48792"/>
                    </a:moveTo>
                    <a:lnTo>
                      <a:pt x="27158" y="48792"/>
                    </a:lnTo>
                    <a:lnTo>
                      <a:pt x="45188" y="17546"/>
                    </a:lnTo>
                    <a:lnTo>
                      <a:pt x="50475" y="4879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objective_outline_1"/>
              <p:cNvSpPr/>
              <p:nvPr/>
            </p:nvSpPr>
            <p:spPr>
              <a:xfrm>
                <a:off x="332765" y="674018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2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2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2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objective_outline_2"/>
              <p:cNvSpPr/>
              <p:nvPr/>
            </p:nvSpPr>
            <p:spPr>
              <a:xfrm>
                <a:off x="423876" y="667507"/>
                <a:ext cx="61535" cy="6731"/>
              </a:xfrm>
              <a:custGeom>
                <a:avLst/>
                <a:gdLst/>
                <a:ahLst/>
                <a:cxnLst/>
                <a:rect l="0" t="0" r="r" b="b"/>
                <a:pathLst>
                  <a:path w="61535" h="6731">
                    <a:moveTo>
                      <a:pt x="61535" y="6731"/>
                    </a:moveTo>
                    <a:lnTo>
                      <a:pt x="61535" y="0"/>
                    </a:lnTo>
                    <a:lnTo>
                      <a:pt x="0" y="0"/>
                    </a:lnTo>
                    <a:lnTo>
                      <a:pt x="0" y="6731"/>
                    </a:lnTo>
                    <a:lnTo>
                      <a:pt x="61535" y="673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objective_outline_3"/>
              <p:cNvSpPr/>
              <p:nvPr/>
            </p:nvSpPr>
            <p:spPr>
              <a:xfrm>
                <a:off x="524756" y="617619"/>
                <a:ext cx="82081" cy="105759"/>
              </a:xfrm>
              <a:custGeom>
                <a:avLst/>
                <a:gdLst/>
                <a:ahLst/>
                <a:cxnLst/>
                <a:rect l="0" t="0" r="r" b="b"/>
                <a:pathLst>
                  <a:path w="82082" h="105759">
                    <a:moveTo>
                      <a:pt x="82082" y="73672"/>
                    </a:moveTo>
                    <a:lnTo>
                      <a:pt x="79561" y="73672"/>
                    </a:lnTo>
                    <a:cubicBezTo>
                      <a:pt x="77156" y="88694"/>
                      <a:pt x="71628" y="95425"/>
                      <a:pt x="63214" y="95425"/>
                    </a:cubicBezTo>
                    <a:lnTo>
                      <a:pt x="16105" y="95425"/>
                    </a:lnTo>
                    <a:lnTo>
                      <a:pt x="50959" y="50717"/>
                    </a:lnTo>
                    <a:lnTo>
                      <a:pt x="19951" y="4687"/>
                    </a:lnTo>
                    <a:lnTo>
                      <a:pt x="58408" y="4687"/>
                    </a:lnTo>
                    <a:cubicBezTo>
                      <a:pt x="67183" y="4687"/>
                      <a:pt x="72708" y="9493"/>
                      <a:pt x="75232" y="24757"/>
                    </a:cubicBezTo>
                    <a:lnTo>
                      <a:pt x="77879" y="24757"/>
                    </a:lnTo>
                    <a:lnTo>
                      <a:pt x="77156" y="0"/>
                    </a:lnTo>
                    <a:lnTo>
                      <a:pt x="5048" y="0"/>
                    </a:lnTo>
                    <a:lnTo>
                      <a:pt x="41823" y="52761"/>
                    </a:lnTo>
                    <a:lnTo>
                      <a:pt x="0" y="105759"/>
                    </a:lnTo>
                    <a:lnTo>
                      <a:pt x="80760" y="105759"/>
                    </a:lnTo>
                    <a:lnTo>
                      <a:pt x="82082" y="7367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objective_outline_4"/>
              <p:cNvSpPr/>
              <p:nvPr/>
            </p:nvSpPr>
            <p:spPr>
              <a:xfrm>
                <a:off x="623038" y="65851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objective_outline_5"/>
              <p:cNvSpPr/>
              <p:nvPr/>
            </p:nvSpPr>
            <p:spPr>
              <a:xfrm>
                <a:off x="705105" y="623041"/>
                <a:ext cx="61408" cy="80037"/>
              </a:xfrm>
              <a:custGeom>
                <a:avLst/>
                <a:gdLst/>
                <a:ahLst/>
                <a:cxnLst/>
                <a:rect l="0" t="0" r="r" b="b"/>
                <a:pathLst>
                  <a:path w="61409" h="80038">
                    <a:moveTo>
                      <a:pt x="61409" y="69941"/>
                    </a:moveTo>
                    <a:lnTo>
                      <a:pt x="61289" y="69703"/>
                    </a:lnTo>
                    <a:cubicBezTo>
                      <a:pt x="59607" y="69703"/>
                      <a:pt x="57563" y="73787"/>
                      <a:pt x="52519" y="73787"/>
                    </a:cubicBezTo>
                    <a:cubicBezTo>
                      <a:pt x="29801" y="73787"/>
                      <a:pt x="71144" y="0"/>
                      <a:pt x="35810" y="0"/>
                    </a:cubicBezTo>
                    <a:lnTo>
                      <a:pt x="34488" y="0"/>
                    </a:lnTo>
                    <a:cubicBezTo>
                      <a:pt x="32326" y="0"/>
                      <a:pt x="27277" y="1802"/>
                      <a:pt x="25717" y="3242"/>
                    </a:cubicBezTo>
                    <a:cubicBezTo>
                      <a:pt x="25595" y="3362"/>
                      <a:pt x="26559" y="4445"/>
                      <a:pt x="26678" y="4445"/>
                    </a:cubicBezTo>
                    <a:cubicBezTo>
                      <a:pt x="27277" y="3965"/>
                      <a:pt x="29924" y="2881"/>
                      <a:pt x="32326" y="2881"/>
                    </a:cubicBezTo>
                    <a:cubicBezTo>
                      <a:pt x="43986" y="2881"/>
                      <a:pt x="40858" y="22110"/>
                      <a:pt x="40858" y="25237"/>
                    </a:cubicBezTo>
                    <a:cubicBezTo>
                      <a:pt x="40981" y="25598"/>
                      <a:pt x="40858" y="25836"/>
                      <a:pt x="40739" y="26317"/>
                    </a:cubicBezTo>
                    <a:cubicBezTo>
                      <a:pt x="38334" y="37493"/>
                      <a:pt x="2881" y="68981"/>
                      <a:pt x="0" y="78716"/>
                    </a:cubicBezTo>
                    <a:lnTo>
                      <a:pt x="12017" y="78716"/>
                    </a:lnTo>
                    <a:cubicBezTo>
                      <a:pt x="12017" y="77514"/>
                      <a:pt x="12136" y="76311"/>
                      <a:pt x="12379" y="74989"/>
                    </a:cubicBezTo>
                    <a:cubicBezTo>
                      <a:pt x="15863" y="59607"/>
                      <a:pt x="39418" y="36294"/>
                      <a:pt x="39418" y="36171"/>
                    </a:cubicBezTo>
                    <a:lnTo>
                      <a:pt x="39537" y="36171"/>
                    </a:lnTo>
                    <a:cubicBezTo>
                      <a:pt x="38814" y="42422"/>
                      <a:pt x="28000" y="80038"/>
                      <a:pt x="47589" y="80038"/>
                    </a:cubicBezTo>
                    <a:cubicBezTo>
                      <a:pt x="52876" y="80038"/>
                      <a:pt x="61170" y="71386"/>
                      <a:pt x="61409" y="6994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objective_outline_6"/>
              <p:cNvSpPr/>
              <p:nvPr/>
            </p:nvSpPr>
            <p:spPr>
              <a:xfrm>
                <a:off x="776822" y="65851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objective_outline_7"/>
              <p:cNvSpPr/>
              <p:nvPr/>
            </p:nvSpPr>
            <p:spPr>
              <a:xfrm>
                <a:off x="841387" y="621477"/>
                <a:ext cx="73909" cy="80279"/>
              </a:xfrm>
              <a:custGeom>
                <a:avLst/>
                <a:gdLst/>
                <a:ahLst/>
                <a:cxnLst/>
                <a:rect l="0" t="0" r="r" b="b"/>
                <a:pathLst>
                  <a:path w="73910" h="80280">
                    <a:moveTo>
                      <a:pt x="73910" y="80280"/>
                    </a:moveTo>
                    <a:lnTo>
                      <a:pt x="73910" y="78355"/>
                    </a:lnTo>
                    <a:cubicBezTo>
                      <a:pt x="67060" y="77756"/>
                      <a:pt x="66219" y="76795"/>
                      <a:pt x="64774" y="68020"/>
                    </a:cubicBezTo>
                    <a:lnTo>
                      <a:pt x="53479" y="0"/>
                    </a:lnTo>
                    <a:lnTo>
                      <a:pt x="50356" y="0"/>
                    </a:lnTo>
                    <a:lnTo>
                      <a:pt x="15502" y="60091"/>
                    </a:lnTo>
                    <a:cubicBezTo>
                      <a:pt x="6009" y="76073"/>
                      <a:pt x="4806" y="77395"/>
                      <a:pt x="0" y="78355"/>
                    </a:cubicBezTo>
                    <a:lnTo>
                      <a:pt x="0" y="80280"/>
                    </a:lnTo>
                    <a:lnTo>
                      <a:pt x="22471" y="80280"/>
                    </a:lnTo>
                    <a:lnTo>
                      <a:pt x="22471" y="78355"/>
                    </a:lnTo>
                    <a:cubicBezTo>
                      <a:pt x="16343" y="77756"/>
                      <a:pt x="15383" y="77157"/>
                      <a:pt x="15383" y="74152"/>
                    </a:cubicBezTo>
                    <a:cubicBezTo>
                      <a:pt x="15383" y="71866"/>
                      <a:pt x="15744" y="70787"/>
                      <a:pt x="17784" y="66699"/>
                    </a:cubicBezTo>
                    <a:lnTo>
                      <a:pt x="24634" y="53118"/>
                    </a:lnTo>
                    <a:lnTo>
                      <a:pt x="51074" y="53118"/>
                    </a:lnTo>
                    <a:lnTo>
                      <a:pt x="53479" y="68862"/>
                    </a:lnTo>
                    <a:cubicBezTo>
                      <a:pt x="53598" y="69945"/>
                      <a:pt x="53721" y="71025"/>
                      <a:pt x="53721" y="71989"/>
                    </a:cubicBezTo>
                    <a:cubicBezTo>
                      <a:pt x="53721" y="76553"/>
                      <a:pt x="52038" y="77637"/>
                      <a:pt x="44347" y="78355"/>
                    </a:cubicBezTo>
                    <a:lnTo>
                      <a:pt x="44347" y="80280"/>
                    </a:lnTo>
                    <a:lnTo>
                      <a:pt x="73910" y="80280"/>
                    </a:lnTo>
                    <a:close/>
                    <a:moveTo>
                      <a:pt x="50475" y="48792"/>
                    </a:moveTo>
                    <a:lnTo>
                      <a:pt x="27158" y="48792"/>
                    </a:lnTo>
                    <a:lnTo>
                      <a:pt x="45188" y="17546"/>
                    </a:lnTo>
                    <a:lnTo>
                      <a:pt x="50475" y="4879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objective_outline_8"/>
              <p:cNvSpPr/>
              <p:nvPr/>
            </p:nvSpPr>
            <p:spPr>
              <a:xfrm>
                <a:off x="926635" y="674018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5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4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5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objective_outline_9"/>
              <p:cNvSpPr/>
              <p:nvPr/>
            </p:nvSpPr>
            <p:spPr>
              <a:xfrm>
                <a:off x="981939" y="682347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9" name="module_safeot"/>
          <p:cNvGrpSpPr/>
          <p:nvPr/>
        </p:nvGrpSpPr>
        <p:grpSpPr>
          <a:xfrm>
            <a:off x="1333500" y="38100"/>
            <a:ext cx="2362200" cy="2095500"/>
            <a:chOff x="1333500" y="38100"/>
            <a:chExt cx="2362200" cy="2095500"/>
          </a:xfrm>
        </p:grpSpPr>
        <p:sp>
          <p:nvSpPr>
            <p:cNvPr id="30" name="safeot_border"/>
            <p:cNvSpPr/>
            <p:nvPr/>
          </p:nvSpPr>
          <p:spPr>
            <a:xfrm>
              <a:off x="1333500" y="38100"/>
              <a:ext cx="2362200" cy="20955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costcard0"/>
            <p:cNvSpPr/>
            <p:nvPr/>
          </p:nvSpPr>
          <p:spPr>
            <a:xfrm>
              <a:off x="1422400" y="787400"/>
              <a:ext cx="571500" cy="190500"/>
            </a:xfrm>
            <a:prstGeom prst="roundRect">
              <a:avLst>
                <a:gd name="adj" fmla="val 2500"/>
              </a:avLst>
            </a:prstGeom>
            <a:solidFill>
              <a:srgbClr val="F7FAF7"/>
            </a:solidFill>
            <a:ln w="7620">
              <a:solidFill>
                <a:srgbClr val="CEDA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2" name="costicon0" descr="costicon0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7800" y="794512"/>
              <a:ext cx="127000" cy="176276"/>
            </a:xfrm>
            <a:prstGeom prst="rect">
              <a:avLst/>
            </a:prstGeom>
          </p:spPr>
        </p:pic>
        <p:sp>
          <p:nvSpPr>
            <p:cNvPr id="33" name="costcard1"/>
            <p:cNvSpPr/>
            <p:nvPr/>
          </p:nvSpPr>
          <p:spPr>
            <a:xfrm>
              <a:off x="1422400" y="1016000"/>
              <a:ext cx="571500" cy="190500"/>
            </a:xfrm>
            <a:prstGeom prst="roundRect">
              <a:avLst>
                <a:gd name="adj" fmla="val 2500"/>
              </a:avLst>
            </a:prstGeom>
            <a:solidFill>
              <a:srgbClr val="F7FAF7"/>
            </a:solidFill>
            <a:ln w="7620">
              <a:solidFill>
                <a:srgbClr val="CEDA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4" name="costicon1" descr="costicon1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47800" y="1038669"/>
              <a:ext cx="127000" cy="145161"/>
            </a:xfrm>
            <a:prstGeom prst="rect">
              <a:avLst/>
            </a:prstGeom>
          </p:spPr>
        </p:pic>
        <p:sp>
          <p:nvSpPr>
            <p:cNvPr id="35" name="costcard2"/>
            <p:cNvSpPr/>
            <p:nvPr/>
          </p:nvSpPr>
          <p:spPr>
            <a:xfrm>
              <a:off x="1422400" y="1244600"/>
              <a:ext cx="571500" cy="190500"/>
            </a:xfrm>
            <a:prstGeom prst="roundRect">
              <a:avLst>
                <a:gd name="adj" fmla="val 2500"/>
              </a:avLst>
            </a:prstGeom>
            <a:solidFill>
              <a:srgbClr val="F7FAF7"/>
            </a:solidFill>
            <a:ln w="7620">
              <a:solidFill>
                <a:srgbClr val="CEDA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6" name="costicon2" descr="costicon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47800" y="1256919"/>
              <a:ext cx="127000" cy="165862"/>
            </a:xfrm>
            <a:prstGeom prst="rect">
              <a:avLst/>
            </a:prstGeom>
          </p:spPr>
        </p:pic>
        <p:sp>
          <p:nvSpPr>
            <p:cNvPr id="37" name="costcard3"/>
            <p:cNvSpPr/>
            <p:nvPr/>
          </p:nvSpPr>
          <p:spPr>
            <a:xfrm>
              <a:off x="1422400" y="1473200"/>
              <a:ext cx="571500" cy="190500"/>
            </a:xfrm>
            <a:prstGeom prst="roundRect">
              <a:avLst>
                <a:gd name="adj" fmla="val 2500"/>
              </a:avLst>
            </a:prstGeom>
            <a:solidFill>
              <a:srgbClr val="F7FAF7"/>
            </a:solidFill>
            <a:ln w="7620">
              <a:solidFill>
                <a:srgbClr val="CEDA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8" name="costicon3" descr="costicon3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47800" y="1479550"/>
              <a:ext cx="117602" cy="177800"/>
            </a:xfrm>
            <a:prstGeom prst="rect">
              <a:avLst/>
            </a:prstGeom>
          </p:spPr>
        </p:pic>
        <p:sp>
          <p:nvSpPr>
            <p:cNvPr id="39" name="safeot_title"/>
            <p:cNvSpPr txBox="1"/>
            <p:nvPr/>
          </p:nvSpPr>
          <p:spPr>
            <a:xfrm>
              <a:off x="1714500" y="114300"/>
              <a:ext cx="1612900" cy="203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80" b="1" i="0">
                  <a:solidFill>
                    <a:srgbClr val="18785B"/>
                  </a:solidFill>
                  <a:latin typeface="Liberation Serif"/>
                </a:rPr>
                <a:t>SafeOT</a:t>
              </a:r>
            </a:p>
          </p:txBody>
        </p:sp>
        <p:sp>
          <p:nvSpPr>
            <p:cNvPr id="40" name="subtitle"/>
            <p:cNvSpPr txBox="1"/>
            <p:nvPr/>
          </p:nvSpPr>
          <p:spPr>
            <a:xfrm>
              <a:off x="1422400" y="368300"/>
              <a:ext cx="2184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i="0">
                  <a:solidFill>
                    <a:srgbClr val="18785B"/>
                  </a:solidFill>
                  <a:latin typeface="Liberation Serif"/>
                </a:rPr>
                <a:t>One flow prices all budgets</a:t>
              </a:r>
            </a:p>
          </p:txBody>
        </p:sp>
        <p:sp>
          <p:nvSpPr>
            <p:cNvPr id="41" name="costs_title"/>
            <p:cNvSpPr txBox="1"/>
            <p:nvPr/>
          </p:nvSpPr>
          <p:spPr>
            <a:xfrm>
              <a:off x="1422400" y="596900"/>
              <a:ext cx="5461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18785B"/>
                  </a:solidFill>
                  <a:latin typeface="Liberation Serif"/>
                </a:rPr>
                <a:t>Costs</a:t>
              </a:r>
            </a:p>
          </p:txBody>
        </p:sp>
        <p:sp>
          <p:nvSpPr>
            <p:cNvPr id="42" name="solve_title"/>
            <p:cNvSpPr txBox="1"/>
            <p:nvPr/>
          </p:nvSpPr>
          <p:spPr>
            <a:xfrm>
              <a:off x="2057400" y="596900"/>
              <a:ext cx="1574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18785B"/>
                  </a:solidFill>
                  <a:latin typeface="Liberation Serif"/>
                </a:rPr>
                <a:t>Entropic flow projection</a:t>
              </a:r>
            </a:p>
          </p:txBody>
        </p:sp>
        <p:sp>
          <p:nvSpPr>
            <p:cNvPr id="43" name="cost_solve_divider"/>
            <p:cNvSpPr/>
            <p:nvPr/>
          </p:nvSpPr>
          <p:spPr>
            <a:xfrm>
              <a:off x="2032000" y="787400"/>
              <a:ext cx="127" cy="990600"/>
            </a:xfrm>
            <a:custGeom>
              <a:avLst/>
              <a:gdLst/>
              <a:ahLst/>
              <a:cxnLst/>
              <a:rect l="0" t="0" r="r" b="b"/>
              <a:pathLst>
                <a:path w="1" h="990600" fill="none">
                  <a:moveTo>
                    <a:pt x="0" y="0"/>
                  </a:moveTo>
                  <a:lnTo>
                    <a:pt x="0" y="990600"/>
                  </a:lnTo>
                </a:path>
              </a:pathLst>
            </a:custGeom>
            <a:noFill/>
            <a:ln w="5715">
              <a:solidFill>
                <a:srgbClr val="CCD9D2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o_solve"/>
            <p:cNvSpPr/>
            <p:nvPr/>
          </p:nvSpPr>
          <p:spPr>
            <a:xfrm>
              <a:off x="1968500" y="1130300"/>
              <a:ext cx="165100" cy="127"/>
            </a:xfrm>
            <a:custGeom>
              <a:avLst/>
              <a:gdLst/>
              <a:ahLst/>
              <a:cxnLst/>
              <a:rect l="0" t="0" r="r" b="b"/>
              <a:pathLst>
                <a:path w="165100" h="1" fill="none">
                  <a:moveTo>
                    <a:pt x="0" y="0"/>
                  </a:moveTo>
                  <a:lnTo>
                    <a:pt x="165100" y="0"/>
                  </a:lnTo>
                </a:path>
              </a:pathLst>
            </a:custGeom>
            <a:noFill/>
            <a:ln w="10795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flow_e0"/>
            <p:cNvSpPr/>
            <p:nvPr/>
          </p:nvSpPr>
          <p:spPr>
            <a:xfrm>
              <a:off x="2278507" y="850900"/>
              <a:ext cx="311150" cy="127"/>
            </a:xfrm>
            <a:custGeom>
              <a:avLst/>
              <a:gdLst/>
              <a:ahLst/>
              <a:cxnLst/>
              <a:rect l="0" t="0" r="r" b="b"/>
              <a:pathLst>
                <a:path w="311150" h="1" fill="none">
                  <a:moveTo>
                    <a:pt x="0" y="0"/>
                  </a:moveTo>
                  <a:lnTo>
                    <a:pt x="311150" y="0"/>
                  </a:lnTo>
                </a:path>
              </a:pathLst>
            </a:custGeom>
            <a:noFill/>
            <a:ln w="1333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flow_e1"/>
            <p:cNvSpPr/>
            <p:nvPr/>
          </p:nvSpPr>
          <p:spPr>
            <a:xfrm>
              <a:off x="2701671" y="850900"/>
              <a:ext cx="311150" cy="127"/>
            </a:xfrm>
            <a:custGeom>
              <a:avLst/>
              <a:gdLst/>
              <a:ahLst/>
              <a:cxnLst/>
              <a:rect l="0" t="0" r="r" b="b"/>
              <a:pathLst>
                <a:path w="311150" h="1" fill="none">
                  <a:moveTo>
                    <a:pt x="0" y="0"/>
                  </a:moveTo>
                  <a:lnTo>
                    <a:pt x="311150" y="0"/>
                  </a:lnTo>
                </a:path>
              </a:pathLst>
            </a:custGeom>
            <a:noFill/>
            <a:ln w="6604">
              <a:solidFill>
                <a:srgbClr val="AD4D46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flow_x0"/>
            <p:cNvSpPr/>
            <p:nvPr/>
          </p:nvSpPr>
          <p:spPr>
            <a:xfrm>
              <a:off x="2823641" y="817295"/>
              <a:ext cx="67208" cy="67208"/>
            </a:xfrm>
            <a:custGeom>
              <a:avLst/>
              <a:gdLst/>
              <a:ahLst/>
              <a:cxnLst/>
              <a:rect l="0" t="0" r="r" b="b"/>
              <a:pathLst>
                <a:path w="67208" h="67208" fill="none">
                  <a:moveTo>
                    <a:pt x="0" y="67208"/>
                  </a:moveTo>
                  <a:lnTo>
                    <a:pt x="67208" y="0"/>
                  </a:lnTo>
                </a:path>
              </a:pathLst>
            </a:custGeom>
            <a:noFill/>
            <a:ln w="889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flow_x1"/>
            <p:cNvSpPr/>
            <p:nvPr/>
          </p:nvSpPr>
          <p:spPr>
            <a:xfrm>
              <a:off x="2823641" y="817295"/>
              <a:ext cx="67208" cy="67208"/>
            </a:xfrm>
            <a:custGeom>
              <a:avLst/>
              <a:gdLst/>
              <a:ahLst/>
              <a:cxnLst/>
              <a:rect l="0" t="0" r="r" b="b"/>
              <a:pathLst>
                <a:path w="67208" h="67208" fill="none">
                  <a:moveTo>
                    <a:pt x="0" y="0"/>
                  </a:moveTo>
                  <a:lnTo>
                    <a:pt x="67208" y="67208"/>
                  </a:lnTo>
                </a:path>
              </a:pathLst>
            </a:custGeom>
            <a:noFill/>
            <a:ln w="889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flow_e2"/>
            <p:cNvSpPr/>
            <p:nvPr/>
          </p:nvSpPr>
          <p:spPr>
            <a:xfrm>
              <a:off x="2222500" y="906907"/>
              <a:ext cx="127" cy="97536"/>
            </a:xfrm>
            <a:custGeom>
              <a:avLst/>
              <a:gdLst/>
              <a:ahLst/>
              <a:cxnLst/>
              <a:rect l="0" t="0" r="r" b="b"/>
              <a:pathLst>
                <a:path w="1" h="97536" fill="none">
                  <a:moveTo>
                    <a:pt x="0" y="0"/>
                  </a:moveTo>
                  <a:lnTo>
                    <a:pt x="0" y="97536"/>
                  </a:lnTo>
                </a:path>
              </a:pathLst>
            </a:custGeom>
            <a:noFill/>
            <a:ln w="635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flow_e3"/>
            <p:cNvSpPr/>
            <p:nvPr/>
          </p:nvSpPr>
          <p:spPr>
            <a:xfrm>
              <a:off x="2645664" y="906907"/>
              <a:ext cx="127" cy="97536"/>
            </a:xfrm>
            <a:custGeom>
              <a:avLst/>
              <a:gdLst/>
              <a:ahLst/>
              <a:cxnLst/>
              <a:rect l="0" t="0" r="r" b="b"/>
              <a:pathLst>
                <a:path w="1" h="97536" fill="none">
                  <a:moveTo>
                    <a:pt x="0" y="0"/>
                  </a:moveTo>
                  <a:lnTo>
                    <a:pt x="0" y="97536"/>
                  </a:lnTo>
                </a:path>
              </a:pathLst>
            </a:custGeom>
            <a:noFill/>
            <a:ln w="698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flow_e4"/>
            <p:cNvSpPr/>
            <p:nvPr/>
          </p:nvSpPr>
          <p:spPr>
            <a:xfrm>
              <a:off x="3068828" y="906907"/>
              <a:ext cx="127" cy="97536"/>
            </a:xfrm>
            <a:custGeom>
              <a:avLst/>
              <a:gdLst/>
              <a:ahLst/>
              <a:cxnLst/>
              <a:rect l="0" t="0" r="r" b="b"/>
              <a:pathLst>
                <a:path w="1" h="97536" fill="none">
                  <a:moveTo>
                    <a:pt x="0" y="0"/>
                  </a:moveTo>
                  <a:lnTo>
                    <a:pt x="0" y="97536"/>
                  </a:lnTo>
                </a:path>
              </a:pathLst>
            </a:custGeom>
            <a:noFill/>
            <a:ln w="825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flow_e5"/>
            <p:cNvSpPr/>
            <p:nvPr/>
          </p:nvSpPr>
          <p:spPr>
            <a:xfrm>
              <a:off x="2278507" y="1060450"/>
              <a:ext cx="311150" cy="127"/>
            </a:xfrm>
            <a:custGeom>
              <a:avLst/>
              <a:gdLst/>
              <a:ahLst/>
              <a:cxnLst/>
              <a:rect l="0" t="0" r="r" b="b"/>
              <a:pathLst>
                <a:path w="311150" h="1" fill="none">
                  <a:moveTo>
                    <a:pt x="0" y="0"/>
                  </a:moveTo>
                  <a:lnTo>
                    <a:pt x="311150" y="0"/>
                  </a:lnTo>
                </a:path>
              </a:pathLst>
            </a:custGeom>
            <a:noFill/>
            <a:ln w="952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flow_e6"/>
            <p:cNvSpPr/>
            <p:nvPr/>
          </p:nvSpPr>
          <p:spPr>
            <a:xfrm>
              <a:off x="2701671" y="1060450"/>
              <a:ext cx="311150" cy="127"/>
            </a:xfrm>
            <a:custGeom>
              <a:avLst/>
              <a:gdLst/>
              <a:ahLst/>
              <a:cxnLst/>
              <a:rect l="0" t="0" r="r" b="b"/>
              <a:pathLst>
                <a:path w="311150" h="1" fill="none">
                  <a:moveTo>
                    <a:pt x="0" y="0"/>
                  </a:moveTo>
                  <a:lnTo>
                    <a:pt x="311150" y="0"/>
                  </a:lnTo>
                </a:path>
              </a:pathLst>
            </a:custGeom>
            <a:noFill/>
            <a:ln w="1016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flow_e7"/>
            <p:cNvSpPr/>
            <p:nvPr/>
          </p:nvSpPr>
          <p:spPr>
            <a:xfrm>
              <a:off x="3124835" y="1060450"/>
              <a:ext cx="286257" cy="127"/>
            </a:xfrm>
            <a:custGeom>
              <a:avLst/>
              <a:gdLst/>
              <a:ahLst/>
              <a:cxnLst/>
              <a:rect l="0" t="0" r="r" b="b"/>
              <a:pathLst>
                <a:path w="286257" h="1" fill="none">
                  <a:moveTo>
                    <a:pt x="0" y="0"/>
                  </a:moveTo>
                  <a:lnTo>
                    <a:pt x="286257" y="0"/>
                  </a:lnTo>
                </a:path>
              </a:pathLst>
            </a:custGeom>
            <a:noFill/>
            <a:ln w="1270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flow_e8"/>
            <p:cNvSpPr/>
            <p:nvPr/>
          </p:nvSpPr>
          <p:spPr>
            <a:xfrm>
              <a:off x="2222500" y="1116457"/>
              <a:ext cx="127" cy="97536"/>
            </a:xfrm>
            <a:custGeom>
              <a:avLst/>
              <a:gdLst/>
              <a:ahLst/>
              <a:cxnLst/>
              <a:rect l="0" t="0" r="r" b="b"/>
              <a:pathLst>
                <a:path w="1" h="97536" fill="none">
                  <a:moveTo>
                    <a:pt x="0" y="0"/>
                  </a:moveTo>
                  <a:lnTo>
                    <a:pt x="0" y="97536"/>
                  </a:lnTo>
                </a:path>
              </a:pathLst>
            </a:custGeom>
            <a:noFill/>
            <a:ln w="571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flow_e9"/>
            <p:cNvSpPr/>
            <p:nvPr/>
          </p:nvSpPr>
          <p:spPr>
            <a:xfrm>
              <a:off x="2645664" y="1116457"/>
              <a:ext cx="127" cy="97536"/>
            </a:xfrm>
            <a:custGeom>
              <a:avLst/>
              <a:gdLst/>
              <a:ahLst/>
              <a:cxnLst/>
              <a:rect l="0" t="0" r="r" b="b"/>
              <a:pathLst>
                <a:path w="1" h="97536" fill="none">
                  <a:moveTo>
                    <a:pt x="0" y="0"/>
                  </a:moveTo>
                  <a:lnTo>
                    <a:pt x="0" y="97536"/>
                  </a:lnTo>
                </a:path>
              </a:pathLst>
            </a:custGeom>
            <a:noFill/>
            <a:ln w="571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flow_e10"/>
            <p:cNvSpPr/>
            <p:nvPr/>
          </p:nvSpPr>
          <p:spPr>
            <a:xfrm>
              <a:off x="3068828" y="1116457"/>
              <a:ext cx="127" cy="97536"/>
            </a:xfrm>
            <a:custGeom>
              <a:avLst/>
              <a:gdLst/>
              <a:ahLst/>
              <a:cxnLst/>
              <a:rect l="0" t="0" r="r" b="b"/>
              <a:pathLst>
                <a:path w="1" h="97536" fill="none">
                  <a:moveTo>
                    <a:pt x="0" y="0"/>
                  </a:moveTo>
                  <a:lnTo>
                    <a:pt x="0" y="97536"/>
                  </a:lnTo>
                </a:path>
              </a:pathLst>
            </a:custGeom>
            <a:noFill/>
            <a:ln w="635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flow_e11"/>
            <p:cNvSpPr/>
            <p:nvPr/>
          </p:nvSpPr>
          <p:spPr>
            <a:xfrm>
              <a:off x="2695854" y="1085304"/>
              <a:ext cx="322783" cy="159841"/>
            </a:xfrm>
            <a:custGeom>
              <a:avLst/>
              <a:gdLst/>
              <a:ahLst/>
              <a:cxnLst/>
              <a:rect l="0" t="0" r="r" b="b"/>
              <a:pathLst>
                <a:path w="322783" h="159841" fill="none">
                  <a:moveTo>
                    <a:pt x="0" y="159841"/>
                  </a:moveTo>
                  <a:lnTo>
                    <a:pt x="322783" y="0"/>
                  </a:lnTo>
                </a:path>
              </a:pathLst>
            </a:custGeom>
            <a:noFill/>
            <a:ln w="825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flow_n0"/>
            <p:cNvSpPr/>
            <p:nvPr/>
          </p:nvSpPr>
          <p:spPr>
            <a:xfrm>
              <a:off x="2166493" y="79489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flow_n1"/>
            <p:cNvSpPr/>
            <p:nvPr/>
          </p:nvSpPr>
          <p:spPr>
            <a:xfrm>
              <a:off x="2589657" y="79489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flow_n2"/>
            <p:cNvSpPr/>
            <p:nvPr/>
          </p:nvSpPr>
          <p:spPr>
            <a:xfrm>
              <a:off x="3012821" y="79489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flow_n3"/>
            <p:cNvSpPr/>
            <p:nvPr/>
          </p:nvSpPr>
          <p:spPr>
            <a:xfrm>
              <a:off x="2166493" y="100444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flow_n4"/>
            <p:cNvSpPr/>
            <p:nvPr/>
          </p:nvSpPr>
          <p:spPr>
            <a:xfrm>
              <a:off x="2589657" y="100444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flow_n5"/>
            <p:cNvSpPr/>
            <p:nvPr/>
          </p:nvSpPr>
          <p:spPr>
            <a:xfrm>
              <a:off x="3012821" y="100444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flow_n6"/>
            <p:cNvSpPr/>
            <p:nvPr/>
          </p:nvSpPr>
          <p:spPr>
            <a:xfrm>
              <a:off x="3411092" y="100444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flow_n7"/>
            <p:cNvSpPr/>
            <p:nvPr/>
          </p:nvSpPr>
          <p:spPr>
            <a:xfrm>
              <a:off x="2166493" y="121399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flow_n8"/>
            <p:cNvSpPr/>
            <p:nvPr/>
          </p:nvSpPr>
          <p:spPr>
            <a:xfrm>
              <a:off x="2589657" y="121399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flow_n9"/>
            <p:cNvSpPr/>
            <p:nvPr/>
          </p:nvSpPr>
          <p:spPr>
            <a:xfrm>
              <a:off x="3012821" y="121399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arget0"/>
            <p:cNvSpPr/>
            <p:nvPr/>
          </p:nvSpPr>
          <p:spPr>
            <a:xfrm>
              <a:off x="2279650" y="1092200"/>
              <a:ext cx="308610" cy="127"/>
            </a:xfrm>
            <a:custGeom>
              <a:avLst/>
              <a:gdLst/>
              <a:ahLst/>
              <a:cxnLst/>
              <a:rect l="0" t="0" r="r" b="b"/>
              <a:pathLst>
                <a:path w="308610" h="1" fill="none">
                  <a:moveTo>
                    <a:pt x="0" y="0"/>
                  </a:moveTo>
                  <a:lnTo>
                    <a:pt x="308610" y="0"/>
                  </a:lnTo>
                </a:path>
              </a:pathLst>
            </a:custGeom>
            <a:noFill/>
            <a:ln w="19050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target1"/>
            <p:cNvSpPr/>
            <p:nvPr/>
          </p:nvSpPr>
          <p:spPr>
            <a:xfrm>
              <a:off x="2702560" y="1092200"/>
              <a:ext cx="308609" cy="127"/>
            </a:xfrm>
            <a:custGeom>
              <a:avLst/>
              <a:gdLst/>
              <a:ahLst/>
              <a:cxnLst/>
              <a:rect l="0" t="0" r="r" b="b"/>
              <a:pathLst>
                <a:path w="308609" h="1" fill="none">
                  <a:moveTo>
                    <a:pt x="0" y="0"/>
                  </a:moveTo>
                  <a:lnTo>
                    <a:pt x="308609" y="0"/>
                  </a:lnTo>
                </a:path>
              </a:pathLst>
            </a:custGeom>
            <a:noFill/>
            <a:ln w="19050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arget2"/>
            <p:cNvSpPr/>
            <p:nvPr/>
          </p:nvSpPr>
          <p:spPr>
            <a:xfrm>
              <a:off x="3125470" y="1092200"/>
              <a:ext cx="284480" cy="127"/>
            </a:xfrm>
            <a:custGeom>
              <a:avLst/>
              <a:gdLst/>
              <a:ahLst/>
              <a:cxnLst/>
              <a:rect l="0" t="0" r="r" b="b"/>
              <a:pathLst>
                <a:path w="284480" h="1" fill="none">
                  <a:moveTo>
                    <a:pt x="0" y="0"/>
                  </a:moveTo>
                  <a:lnTo>
                    <a:pt x="284480" y="0"/>
                  </a:lnTo>
                </a:path>
              </a:pathLst>
            </a:custGeom>
            <a:noFill/>
            <a:ln w="19050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flow_key"/>
            <p:cNvSpPr txBox="1"/>
            <p:nvPr/>
          </p:nvSpPr>
          <p:spPr>
            <a:xfrm>
              <a:off x="2057400" y="1536700"/>
              <a:ext cx="1574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681"/>
                  </a:solidFill>
                  <a:latin typeface="Liberation Serif"/>
                </a:rPr>
                <a:t>gray: observed · green: target</a:t>
              </a:r>
            </a:p>
          </p:txBody>
        </p:sp>
        <p:sp>
          <p:nvSpPr>
            <p:cNvPr id="73" name="hard_key"/>
            <p:cNvSpPr txBox="1"/>
            <p:nvPr/>
          </p:nvSpPr>
          <p:spPr>
            <a:xfrm>
              <a:off x="1384300" y="1689100"/>
              <a:ext cx="22606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AD4D46"/>
                  </a:solidFill>
                  <a:latin typeface="Liberation Serif"/>
                </a:rPr>
                <a:t>× hard constraint: excluded edge</a:t>
              </a:r>
            </a:p>
          </p:txBody>
        </p:sp>
        <p:sp>
          <p:nvSpPr>
            <p:cNvPr id="74" name="solve_to_prices"/>
            <p:cNvSpPr/>
            <p:nvPr/>
          </p:nvSpPr>
          <p:spPr>
            <a:xfrm>
              <a:off x="3378200" y="1060450"/>
              <a:ext cx="266700" cy="831850"/>
            </a:xfrm>
            <a:custGeom>
              <a:avLst/>
              <a:gdLst/>
              <a:ahLst/>
              <a:cxnLst/>
              <a:rect l="0" t="0" r="r" b="b"/>
              <a:pathLst>
                <a:path w="266700" h="831850" fill="none">
                  <a:moveTo>
                    <a:pt x="152400" y="0"/>
                  </a:moveTo>
                  <a:lnTo>
                    <a:pt x="266700" y="0"/>
                  </a:lnTo>
                  <a:lnTo>
                    <a:pt x="266700" y="831850"/>
                  </a:lnTo>
                  <a:lnTo>
                    <a:pt x="0" y="831850"/>
                  </a:lnTo>
                </a:path>
              </a:pathLst>
            </a:custGeom>
            <a:noFill/>
            <a:ln w="8890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afety_price_label"/>
            <p:cNvSpPr txBox="1"/>
            <p:nvPr/>
          </p:nvSpPr>
          <p:spPr>
            <a:xfrm>
              <a:off x="2070100" y="1828800"/>
              <a:ext cx="9144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safety prices</a:t>
              </a:r>
            </a:p>
          </p:txBody>
        </p:sp>
        <p:grpSp>
          <p:nvGrpSpPr>
            <p:cNvPr id="76" name="cost0"/>
            <p:cNvGrpSpPr/>
            <p:nvPr/>
          </p:nvGrpSpPr>
          <p:grpSpPr>
            <a:xfrm>
              <a:off x="1721780" y="829161"/>
              <a:ext cx="113890" cy="108072"/>
              <a:chOff x="1721780" y="829161"/>
              <a:chExt cx="113890" cy="108072"/>
            </a:xfrm>
          </p:grpSpPr>
          <p:sp>
            <p:nvSpPr>
              <p:cNvPr id="77" name="cost0_outline_0"/>
              <p:cNvSpPr/>
              <p:nvPr/>
            </p:nvSpPr>
            <p:spPr>
              <a:xfrm>
                <a:off x="1721780" y="829161"/>
                <a:ext cx="75668" cy="83081"/>
              </a:xfrm>
              <a:custGeom>
                <a:avLst/>
                <a:gdLst/>
                <a:ahLst/>
                <a:cxnLst/>
                <a:rect l="0" t="0" r="r" b="b"/>
                <a:pathLst>
                  <a:path w="75668" h="83082">
                    <a:moveTo>
                      <a:pt x="64861" y="64984"/>
                    </a:moveTo>
                    <a:lnTo>
                      <a:pt x="62794" y="63282"/>
                    </a:lnTo>
                    <a:cubicBezTo>
                      <a:pt x="51864" y="74093"/>
                      <a:pt x="44819" y="77617"/>
                      <a:pt x="34857" y="77617"/>
                    </a:cubicBezTo>
                    <a:cubicBezTo>
                      <a:pt x="21376" y="77617"/>
                      <a:pt x="13605" y="68505"/>
                      <a:pt x="13605" y="52717"/>
                    </a:cubicBezTo>
                    <a:cubicBezTo>
                      <a:pt x="13605" y="38263"/>
                      <a:pt x="19435" y="23566"/>
                      <a:pt x="28908" y="13728"/>
                    </a:cubicBezTo>
                    <a:cubicBezTo>
                      <a:pt x="34739" y="7656"/>
                      <a:pt x="42390" y="4373"/>
                      <a:pt x="50407" y="4373"/>
                    </a:cubicBezTo>
                    <a:cubicBezTo>
                      <a:pt x="61579" y="4373"/>
                      <a:pt x="67774" y="10934"/>
                      <a:pt x="68989" y="24051"/>
                    </a:cubicBezTo>
                    <a:lnTo>
                      <a:pt x="71176" y="24416"/>
                    </a:lnTo>
                    <a:lnTo>
                      <a:pt x="75668" y="246"/>
                    </a:lnTo>
                    <a:lnTo>
                      <a:pt x="73120" y="246"/>
                    </a:lnTo>
                    <a:cubicBezTo>
                      <a:pt x="72148" y="2187"/>
                      <a:pt x="70934" y="2917"/>
                      <a:pt x="68505" y="2917"/>
                    </a:cubicBezTo>
                    <a:cubicBezTo>
                      <a:pt x="67409" y="2917"/>
                      <a:pt x="66076" y="2675"/>
                      <a:pt x="63524" y="2068"/>
                    </a:cubicBezTo>
                    <a:cubicBezTo>
                      <a:pt x="58178" y="730"/>
                      <a:pt x="53320" y="0"/>
                      <a:pt x="49312" y="0"/>
                    </a:cubicBezTo>
                    <a:cubicBezTo>
                      <a:pt x="23320" y="0"/>
                      <a:pt x="0" y="24293"/>
                      <a:pt x="0" y="51379"/>
                    </a:cubicBezTo>
                    <a:cubicBezTo>
                      <a:pt x="0" y="69965"/>
                      <a:pt x="13117" y="83082"/>
                      <a:pt x="31702" y="83082"/>
                    </a:cubicBezTo>
                    <a:cubicBezTo>
                      <a:pt x="44212" y="83082"/>
                      <a:pt x="53927" y="77859"/>
                      <a:pt x="64861" y="64984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" name="cost0_outline_1"/>
              <p:cNvSpPr/>
              <p:nvPr/>
            </p:nvSpPr>
            <p:spPr>
              <a:xfrm>
                <a:off x="1806306" y="867090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9" name="cost1"/>
            <p:cNvGrpSpPr/>
            <p:nvPr/>
          </p:nvGrpSpPr>
          <p:grpSpPr>
            <a:xfrm>
              <a:off x="1721780" y="1057761"/>
              <a:ext cx="122296" cy="108072"/>
              <a:chOff x="1721780" y="1057761"/>
              <a:chExt cx="122296" cy="108072"/>
            </a:xfrm>
          </p:grpSpPr>
          <p:sp>
            <p:nvSpPr>
              <p:cNvPr id="80" name="cost1_outline_0"/>
              <p:cNvSpPr/>
              <p:nvPr/>
            </p:nvSpPr>
            <p:spPr>
              <a:xfrm>
                <a:off x="1721780" y="1057761"/>
                <a:ext cx="75668" cy="83081"/>
              </a:xfrm>
              <a:custGeom>
                <a:avLst/>
                <a:gdLst/>
                <a:ahLst/>
                <a:cxnLst/>
                <a:rect l="0" t="0" r="r" b="b"/>
                <a:pathLst>
                  <a:path w="75668" h="83082">
                    <a:moveTo>
                      <a:pt x="64861" y="64984"/>
                    </a:moveTo>
                    <a:lnTo>
                      <a:pt x="62794" y="63282"/>
                    </a:lnTo>
                    <a:cubicBezTo>
                      <a:pt x="51864" y="74093"/>
                      <a:pt x="44819" y="77617"/>
                      <a:pt x="34857" y="77617"/>
                    </a:cubicBezTo>
                    <a:cubicBezTo>
                      <a:pt x="21376" y="77617"/>
                      <a:pt x="13605" y="68505"/>
                      <a:pt x="13605" y="52717"/>
                    </a:cubicBezTo>
                    <a:cubicBezTo>
                      <a:pt x="13605" y="38263"/>
                      <a:pt x="19435" y="23566"/>
                      <a:pt x="28908" y="13728"/>
                    </a:cubicBezTo>
                    <a:cubicBezTo>
                      <a:pt x="34739" y="7656"/>
                      <a:pt x="42390" y="4373"/>
                      <a:pt x="50407" y="4373"/>
                    </a:cubicBezTo>
                    <a:cubicBezTo>
                      <a:pt x="61579" y="4373"/>
                      <a:pt x="67774" y="10934"/>
                      <a:pt x="68989" y="24051"/>
                    </a:cubicBezTo>
                    <a:lnTo>
                      <a:pt x="71176" y="24416"/>
                    </a:lnTo>
                    <a:lnTo>
                      <a:pt x="75668" y="246"/>
                    </a:lnTo>
                    <a:lnTo>
                      <a:pt x="73120" y="246"/>
                    </a:lnTo>
                    <a:cubicBezTo>
                      <a:pt x="72148" y="2187"/>
                      <a:pt x="70934" y="2917"/>
                      <a:pt x="68505" y="2917"/>
                    </a:cubicBezTo>
                    <a:cubicBezTo>
                      <a:pt x="67409" y="2917"/>
                      <a:pt x="66076" y="2675"/>
                      <a:pt x="63524" y="2068"/>
                    </a:cubicBezTo>
                    <a:cubicBezTo>
                      <a:pt x="58178" y="730"/>
                      <a:pt x="53320" y="0"/>
                      <a:pt x="49312" y="0"/>
                    </a:cubicBezTo>
                    <a:cubicBezTo>
                      <a:pt x="23320" y="0"/>
                      <a:pt x="0" y="24293"/>
                      <a:pt x="0" y="51379"/>
                    </a:cubicBezTo>
                    <a:cubicBezTo>
                      <a:pt x="0" y="69965"/>
                      <a:pt x="13117" y="83082"/>
                      <a:pt x="31702" y="83082"/>
                    </a:cubicBezTo>
                    <a:cubicBezTo>
                      <a:pt x="44212" y="83082"/>
                      <a:pt x="53927" y="77859"/>
                      <a:pt x="64861" y="64984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" name="cost1_outline_1"/>
              <p:cNvSpPr/>
              <p:nvPr/>
            </p:nvSpPr>
            <p:spPr>
              <a:xfrm>
                <a:off x="1797900" y="1095690"/>
                <a:ext cx="46176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46176" h="70144">
                    <a:moveTo>
                      <a:pt x="46176" y="55928"/>
                    </a:moveTo>
                    <a:lnTo>
                      <a:pt x="44827" y="55412"/>
                    </a:lnTo>
                    <a:cubicBezTo>
                      <a:pt x="40985" y="61325"/>
                      <a:pt x="39636" y="62258"/>
                      <a:pt x="34969" y="62258"/>
                    </a:cubicBezTo>
                    <a:lnTo>
                      <a:pt x="10168" y="62258"/>
                    </a:lnTo>
                    <a:lnTo>
                      <a:pt x="27603" y="43998"/>
                    </a:lnTo>
                    <a:cubicBezTo>
                      <a:pt x="36838" y="34346"/>
                      <a:pt x="40882" y="26460"/>
                      <a:pt x="40882" y="18367"/>
                    </a:cubicBezTo>
                    <a:cubicBezTo>
                      <a:pt x="40882" y="7993"/>
                      <a:pt x="32476" y="0"/>
                      <a:pt x="21685" y="0"/>
                    </a:cubicBezTo>
                    <a:cubicBezTo>
                      <a:pt x="15982" y="0"/>
                      <a:pt x="10585" y="2286"/>
                      <a:pt x="6747" y="6433"/>
                    </a:cubicBezTo>
                    <a:cubicBezTo>
                      <a:pt x="3425" y="9962"/>
                      <a:pt x="1869" y="13283"/>
                      <a:pt x="103" y="20649"/>
                    </a:cubicBezTo>
                    <a:lnTo>
                      <a:pt x="2286" y="21169"/>
                    </a:lnTo>
                    <a:cubicBezTo>
                      <a:pt x="6433" y="11001"/>
                      <a:pt x="10168" y="7680"/>
                      <a:pt x="17328" y="7680"/>
                    </a:cubicBezTo>
                    <a:cubicBezTo>
                      <a:pt x="26047" y="7680"/>
                      <a:pt x="31960" y="13593"/>
                      <a:pt x="31960" y="22308"/>
                    </a:cubicBezTo>
                    <a:cubicBezTo>
                      <a:pt x="31960" y="30405"/>
                      <a:pt x="27186" y="40053"/>
                      <a:pt x="18471" y="49288"/>
                    </a:cubicBezTo>
                    <a:lnTo>
                      <a:pt x="0" y="68898"/>
                    </a:lnTo>
                    <a:lnTo>
                      <a:pt x="0" y="70144"/>
                    </a:lnTo>
                    <a:lnTo>
                      <a:pt x="40469" y="70144"/>
                    </a:lnTo>
                    <a:lnTo>
                      <a:pt x="46176" y="55928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2" name="cost2"/>
            <p:cNvGrpSpPr/>
            <p:nvPr/>
          </p:nvGrpSpPr>
          <p:grpSpPr>
            <a:xfrm>
              <a:off x="1721780" y="1285631"/>
              <a:ext cx="117832" cy="109526"/>
              <a:chOff x="1721780" y="1285631"/>
              <a:chExt cx="117832" cy="109526"/>
            </a:xfrm>
          </p:grpSpPr>
          <p:sp>
            <p:nvSpPr>
              <p:cNvPr id="83" name="cost2_outline_0"/>
              <p:cNvSpPr/>
              <p:nvPr/>
            </p:nvSpPr>
            <p:spPr>
              <a:xfrm>
                <a:off x="1721780" y="1285631"/>
                <a:ext cx="75668" cy="83081"/>
              </a:xfrm>
              <a:custGeom>
                <a:avLst/>
                <a:gdLst/>
                <a:ahLst/>
                <a:cxnLst/>
                <a:rect l="0" t="0" r="r" b="b"/>
                <a:pathLst>
                  <a:path w="75668" h="83082">
                    <a:moveTo>
                      <a:pt x="64861" y="64984"/>
                    </a:moveTo>
                    <a:lnTo>
                      <a:pt x="62794" y="63282"/>
                    </a:lnTo>
                    <a:cubicBezTo>
                      <a:pt x="51864" y="74093"/>
                      <a:pt x="44819" y="77617"/>
                      <a:pt x="34857" y="77617"/>
                    </a:cubicBezTo>
                    <a:cubicBezTo>
                      <a:pt x="21376" y="77617"/>
                      <a:pt x="13605" y="68505"/>
                      <a:pt x="13605" y="52717"/>
                    </a:cubicBezTo>
                    <a:cubicBezTo>
                      <a:pt x="13605" y="38263"/>
                      <a:pt x="19435" y="23567"/>
                      <a:pt x="28908" y="13728"/>
                    </a:cubicBezTo>
                    <a:cubicBezTo>
                      <a:pt x="34739" y="7656"/>
                      <a:pt x="42390" y="4374"/>
                      <a:pt x="50407" y="4374"/>
                    </a:cubicBezTo>
                    <a:cubicBezTo>
                      <a:pt x="61579" y="4374"/>
                      <a:pt x="67774" y="10934"/>
                      <a:pt x="68989" y="24051"/>
                    </a:cubicBezTo>
                    <a:lnTo>
                      <a:pt x="71176" y="24416"/>
                    </a:lnTo>
                    <a:lnTo>
                      <a:pt x="75668" y="246"/>
                    </a:lnTo>
                    <a:lnTo>
                      <a:pt x="73120" y="246"/>
                    </a:lnTo>
                    <a:cubicBezTo>
                      <a:pt x="72148" y="2187"/>
                      <a:pt x="70934" y="2917"/>
                      <a:pt x="68505" y="2917"/>
                    </a:cubicBezTo>
                    <a:cubicBezTo>
                      <a:pt x="67409" y="2917"/>
                      <a:pt x="66076" y="2675"/>
                      <a:pt x="63524" y="2068"/>
                    </a:cubicBezTo>
                    <a:cubicBezTo>
                      <a:pt x="58178" y="730"/>
                      <a:pt x="53320" y="0"/>
                      <a:pt x="49312" y="0"/>
                    </a:cubicBezTo>
                    <a:cubicBezTo>
                      <a:pt x="23320" y="0"/>
                      <a:pt x="0" y="24293"/>
                      <a:pt x="0" y="51380"/>
                    </a:cubicBezTo>
                    <a:cubicBezTo>
                      <a:pt x="0" y="69965"/>
                      <a:pt x="13117" y="83082"/>
                      <a:pt x="31702" y="83082"/>
                    </a:cubicBezTo>
                    <a:cubicBezTo>
                      <a:pt x="44212" y="83082"/>
                      <a:pt x="53927" y="77859"/>
                      <a:pt x="64861" y="64984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" name="cost2_outline_1"/>
              <p:cNvSpPr/>
              <p:nvPr/>
            </p:nvSpPr>
            <p:spPr>
              <a:xfrm>
                <a:off x="1799250" y="1323561"/>
                <a:ext cx="40362" cy="71596"/>
              </a:xfrm>
              <a:custGeom>
                <a:avLst/>
                <a:gdLst/>
                <a:ahLst/>
                <a:cxnLst/>
                <a:rect l="0" t="0" r="r" b="b"/>
                <a:pathLst>
                  <a:path w="40362" h="71596">
                    <a:moveTo>
                      <a:pt x="40362" y="47419"/>
                    </a:moveTo>
                    <a:cubicBezTo>
                      <a:pt x="40362" y="42128"/>
                      <a:pt x="38703" y="37251"/>
                      <a:pt x="35695" y="34036"/>
                    </a:cubicBezTo>
                    <a:cubicBezTo>
                      <a:pt x="33619" y="31754"/>
                      <a:pt x="31647" y="30508"/>
                      <a:pt x="27083" y="28535"/>
                    </a:cubicBezTo>
                    <a:cubicBezTo>
                      <a:pt x="34242" y="23658"/>
                      <a:pt x="36834" y="19820"/>
                      <a:pt x="36834" y="14216"/>
                    </a:cubicBezTo>
                    <a:cubicBezTo>
                      <a:pt x="36834" y="5814"/>
                      <a:pt x="30194" y="0"/>
                      <a:pt x="20649" y="0"/>
                    </a:cubicBezTo>
                    <a:cubicBezTo>
                      <a:pt x="15462" y="0"/>
                      <a:pt x="10894" y="1766"/>
                      <a:pt x="7160" y="5088"/>
                    </a:cubicBezTo>
                    <a:cubicBezTo>
                      <a:pt x="4048" y="7886"/>
                      <a:pt x="2492" y="10585"/>
                      <a:pt x="206" y="16812"/>
                    </a:cubicBezTo>
                    <a:lnTo>
                      <a:pt x="1766" y="17224"/>
                    </a:lnTo>
                    <a:cubicBezTo>
                      <a:pt x="6021" y="9652"/>
                      <a:pt x="10688" y="6227"/>
                      <a:pt x="17224" y="6227"/>
                    </a:cubicBezTo>
                    <a:cubicBezTo>
                      <a:pt x="23971" y="6227"/>
                      <a:pt x="28638" y="10791"/>
                      <a:pt x="28638" y="17332"/>
                    </a:cubicBezTo>
                    <a:cubicBezTo>
                      <a:pt x="28638" y="21066"/>
                      <a:pt x="27083" y="24801"/>
                      <a:pt x="24487" y="27396"/>
                    </a:cubicBezTo>
                    <a:cubicBezTo>
                      <a:pt x="21376" y="30508"/>
                      <a:pt x="18471" y="32064"/>
                      <a:pt x="11414" y="34556"/>
                    </a:cubicBezTo>
                    <a:lnTo>
                      <a:pt x="11414" y="35901"/>
                    </a:lnTo>
                    <a:cubicBezTo>
                      <a:pt x="17538" y="35901"/>
                      <a:pt x="19923" y="36112"/>
                      <a:pt x="22412" y="37044"/>
                    </a:cubicBezTo>
                    <a:cubicBezTo>
                      <a:pt x="28845" y="39326"/>
                      <a:pt x="32893" y="45240"/>
                      <a:pt x="32893" y="52399"/>
                    </a:cubicBezTo>
                    <a:cubicBezTo>
                      <a:pt x="32893" y="61115"/>
                      <a:pt x="26980" y="67862"/>
                      <a:pt x="19300" y="67862"/>
                    </a:cubicBezTo>
                    <a:cubicBezTo>
                      <a:pt x="16498" y="67862"/>
                      <a:pt x="14422" y="67135"/>
                      <a:pt x="10585" y="64643"/>
                    </a:cubicBezTo>
                    <a:cubicBezTo>
                      <a:pt x="7473" y="62778"/>
                      <a:pt x="5707" y="62051"/>
                      <a:pt x="3945" y="62051"/>
                    </a:cubicBezTo>
                    <a:cubicBezTo>
                      <a:pt x="1556" y="62051"/>
                      <a:pt x="0" y="63504"/>
                      <a:pt x="0" y="65683"/>
                    </a:cubicBezTo>
                    <a:cubicBezTo>
                      <a:pt x="0" y="69314"/>
                      <a:pt x="4461" y="71596"/>
                      <a:pt x="11728" y="71596"/>
                    </a:cubicBezTo>
                    <a:cubicBezTo>
                      <a:pt x="19717" y="71596"/>
                      <a:pt x="27912" y="68897"/>
                      <a:pt x="32790" y="64643"/>
                    </a:cubicBezTo>
                    <a:cubicBezTo>
                      <a:pt x="37667" y="60388"/>
                      <a:pt x="40362" y="54372"/>
                      <a:pt x="40362" y="47419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5" name="cost3"/>
            <p:cNvGrpSpPr/>
            <p:nvPr/>
          </p:nvGrpSpPr>
          <p:grpSpPr>
            <a:xfrm>
              <a:off x="1702692" y="1516072"/>
              <a:ext cx="157775" cy="105850"/>
              <a:chOff x="1702692" y="1516072"/>
              <a:chExt cx="157775" cy="105850"/>
            </a:xfrm>
          </p:grpSpPr>
          <p:sp>
            <p:nvSpPr>
              <p:cNvPr id="86" name="cost3_outline_0"/>
              <p:cNvSpPr/>
              <p:nvPr/>
            </p:nvSpPr>
            <p:spPr>
              <a:xfrm>
                <a:off x="1702692" y="1516072"/>
                <a:ext cx="75668" cy="83081"/>
              </a:xfrm>
              <a:custGeom>
                <a:avLst/>
                <a:gdLst/>
                <a:ahLst/>
                <a:cxnLst/>
                <a:rect l="0" t="0" r="r" b="b"/>
                <a:pathLst>
                  <a:path w="75668" h="83082">
                    <a:moveTo>
                      <a:pt x="64861" y="64984"/>
                    </a:moveTo>
                    <a:lnTo>
                      <a:pt x="62794" y="63282"/>
                    </a:lnTo>
                    <a:cubicBezTo>
                      <a:pt x="51864" y="74093"/>
                      <a:pt x="44819" y="77617"/>
                      <a:pt x="34857" y="77617"/>
                    </a:cubicBezTo>
                    <a:cubicBezTo>
                      <a:pt x="21376" y="77617"/>
                      <a:pt x="13605" y="68505"/>
                      <a:pt x="13605" y="52717"/>
                    </a:cubicBezTo>
                    <a:cubicBezTo>
                      <a:pt x="13605" y="38263"/>
                      <a:pt x="19435" y="23567"/>
                      <a:pt x="28908" y="13728"/>
                    </a:cubicBezTo>
                    <a:cubicBezTo>
                      <a:pt x="34739" y="7656"/>
                      <a:pt x="42390" y="4374"/>
                      <a:pt x="50407" y="4374"/>
                    </a:cubicBezTo>
                    <a:cubicBezTo>
                      <a:pt x="61579" y="4374"/>
                      <a:pt x="67774" y="10934"/>
                      <a:pt x="68989" y="24051"/>
                    </a:cubicBezTo>
                    <a:lnTo>
                      <a:pt x="71176" y="24416"/>
                    </a:lnTo>
                    <a:lnTo>
                      <a:pt x="75668" y="246"/>
                    </a:lnTo>
                    <a:lnTo>
                      <a:pt x="73120" y="246"/>
                    </a:lnTo>
                    <a:cubicBezTo>
                      <a:pt x="72148" y="2187"/>
                      <a:pt x="70934" y="2917"/>
                      <a:pt x="68505" y="2917"/>
                    </a:cubicBezTo>
                    <a:cubicBezTo>
                      <a:pt x="67409" y="2917"/>
                      <a:pt x="66076" y="2675"/>
                      <a:pt x="63524" y="2068"/>
                    </a:cubicBezTo>
                    <a:cubicBezTo>
                      <a:pt x="58178" y="730"/>
                      <a:pt x="53320" y="0"/>
                      <a:pt x="49312" y="0"/>
                    </a:cubicBezTo>
                    <a:cubicBezTo>
                      <a:pt x="23320" y="0"/>
                      <a:pt x="0" y="24293"/>
                      <a:pt x="0" y="51380"/>
                    </a:cubicBezTo>
                    <a:cubicBezTo>
                      <a:pt x="0" y="69965"/>
                      <a:pt x="13117" y="83082"/>
                      <a:pt x="31702" y="83082"/>
                    </a:cubicBezTo>
                    <a:cubicBezTo>
                      <a:pt x="44212" y="83082"/>
                      <a:pt x="53927" y="77859"/>
                      <a:pt x="64861" y="64984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" name="cost3_outline_1"/>
              <p:cNvSpPr/>
              <p:nvPr/>
            </p:nvSpPr>
            <p:spPr>
              <a:xfrm>
                <a:off x="1778914" y="1554168"/>
                <a:ext cx="81553" cy="67754"/>
              </a:xfrm>
              <a:custGeom>
                <a:avLst/>
                <a:gdLst/>
                <a:ahLst/>
                <a:cxnLst/>
                <a:rect l="0" t="0" r="r" b="b"/>
                <a:pathLst>
                  <a:path w="81554" h="67754">
                    <a:moveTo>
                      <a:pt x="71803" y="67754"/>
                    </a:moveTo>
                    <a:lnTo>
                      <a:pt x="71699" y="66096"/>
                    </a:lnTo>
                    <a:cubicBezTo>
                      <a:pt x="64329" y="65472"/>
                      <a:pt x="63706" y="65159"/>
                      <a:pt x="60285" y="60285"/>
                    </a:cubicBezTo>
                    <a:lnTo>
                      <a:pt x="38910" y="28845"/>
                    </a:lnTo>
                    <a:lnTo>
                      <a:pt x="73045" y="5394"/>
                    </a:lnTo>
                    <a:cubicBezTo>
                      <a:pt x="76470" y="3215"/>
                      <a:pt x="78859" y="2076"/>
                      <a:pt x="81554" y="1659"/>
                    </a:cubicBezTo>
                    <a:lnTo>
                      <a:pt x="81554" y="0"/>
                    </a:lnTo>
                    <a:lnTo>
                      <a:pt x="56444" y="0"/>
                    </a:lnTo>
                    <a:lnTo>
                      <a:pt x="56444" y="1659"/>
                    </a:lnTo>
                    <a:lnTo>
                      <a:pt x="59662" y="1972"/>
                    </a:lnTo>
                    <a:cubicBezTo>
                      <a:pt x="62567" y="2179"/>
                      <a:pt x="63706" y="2802"/>
                      <a:pt x="63706" y="3941"/>
                    </a:cubicBezTo>
                    <a:cubicBezTo>
                      <a:pt x="63814" y="6433"/>
                      <a:pt x="59246" y="10374"/>
                      <a:pt x="47315" y="17847"/>
                    </a:cubicBezTo>
                    <a:lnTo>
                      <a:pt x="29571" y="28948"/>
                    </a:lnTo>
                    <a:lnTo>
                      <a:pt x="34965" y="9338"/>
                    </a:lnTo>
                    <a:cubicBezTo>
                      <a:pt x="36524" y="4151"/>
                      <a:pt x="39739" y="2076"/>
                      <a:pt x="46692" y="1659"/>
                    </a:cubicBezTo>
                    <a:lnTo>
                      <a:pt x="46692" y="0"/>
                    </a:lnTo>
                    <a:lnTo>
                      <a:pt x="13799" y="0"/>
                    </a:lnTo>
                    <a:lnTo>
                      <a:pt x="13799" y="1659"/>
                    </a:lnTo>
                    <a:cubicBezTo>
                      <a:pt x="21269" y="2282"/>
                      <a:pt x="23035" y="3112"/>
                      <a:pt x="23138" y="6120"/>
                    </a:cubicBezTo>
                    <a:cubicBezTo>
                      <a:pt x="23138" y="7675"/>
                      <a:pt x="23035" y="9751"/>
                      <a:pt x="22102" y="12553"/>
                    </a:cubicBezTo>
                    <a:lnTo>
                      <a:pt x="9648" y="58416"/>
                    </a:lnTo>
                    <a:cubicBezTo>
                      <a:pt x="7783" y="64643"/>
                      <a:pt x="6953" y="65159"/>
                      <a:pt x="0" y="66096"/>
                    </a:cubicBezTo>
                    <a:lnTo>
                      <a:pt x="103" y="67754"/>
                    </a:lnTo>
                    <a:lnTo>
                      <a:pt x="29881" y="67754"/>
                    </a:lnTo>
                    <a:lnTo>
                      <a:pt x="29778" y="66096"/>
                    </a:lnTo>
                    <a:cubicBezTo>
                      <a:pt x="22308" y="65369"/>
                      <a:pt x="21269" y="64746"/>
                      <a:pt x="21165" y="61528"/>
                    </a:cubicBezTo>
                    <a:cubicBezTo>
                      <a:pt x="21165" y="60388"/>
                      <a:pt x="21165" y="59662"/>
                      <a:pt x="21892" y="57483"/>
                    </a:cubicBezTo>
                    <a:lnTo>
                      <a:pt x="22515" y="55305"/>
                    </a:lnTo>
                    <a:lnTo>
                      <a:pt x="28948" y="31647"/>
                    </a:lnTo>
                    <a:lnTo>
                      <a:pt x="43994" y="53229"/>
                    </a:lnTo>
                    <a:cubicBezTo>
                      <a:pt x="47105" y="57483"/>
                      <a:pt x="48768" y="61115"/>
                      <a:pt x="48768" y="63087"/>
                    </a:cubicBezTo>
                    <a:cubicBezTo>
                      <a:pt x="48871" y="64643"/>
                      <a:pt x="47212" y="65472"/>
                      <a:pt x="43267" y="65782"/>
                    </a:cubicBezTo>
                    <a:lnTo>
                      <a:pt x="39636" y="66096"/>
                    </a:lnTo>
                    <a:lnTo>
                      <a:pt x="39739" y="67754"/>
                    </a:lnTo>
                    <a:lnTo>
                      <a:pt x="71803" y="67754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8" name="budgets"/>
            <p:cNvGrpSpPr/>
            <p:nvPr/>
          </p:nvGrpSpPr>
          <p:grpSpPr>
            <a:xfrm>
              <a:off x="2543062" y="1409965"/>
              <a:ext cx="641459" cy="114192"/>
              <a:chOff x="2543062" y="1409965"/>
              <a:chExt cx="641459" cy="114192"/>
            </a:xfrm>
          </p:grpSpPr>
          <p:sp>
            <p:nvSpPr>
              <p:cNvPr id="89" name="budgets_outline_0"/>
              <p:cNvSpPr/>
              <p:nvPr/>
            </p:nvSpPr>
            <p:spPr>
              <a:xfrm>
                <a:off x="2543062" y="1409965"/>
                <a:ext cx="31944" cy="109315"/>
              </a:xfrm>
              <a:custGeom>
                <a:avLst/>
                <a:gdLst/>
                <a:ahLst/>
                <a:cxnLst/>
                <a:rect l="0" t="0" r="r" b="b"/>
                <a:pathLst>
                  <a:path w="31945" h="109315">
                    <a:moveTo>
                      <a:pt x="31945" y="109315"/>
                    </a:moveTo>
                    <a:lnTo>
                      <a:pt x="8382" y="54658"/>
                    </a:lnTo>
                    <a:lnTo>
                      <a:pt x="31945" y="0"/>
                    </a:lnTo>
                    <a:lnTo>
                      <a:pt x="26114" y="0"/>
                    </a:lnTo>
                    <a:lnTo>
                      <a:pt x="0" y="54658"/>
                    </a:lnTo>
                    <a:lnTo>
                      <a:pt x="26114" y="109315"/>
                    </a:lnTo>
                    <a:lnTo>
                      <a:pt x="31945" y="10931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" name="budgets_outline_1"/>
              <p:cNvSpPr/>
              <p:nvPr/>
            </p:nvSpPr>
            <p:spPr>
              <a:xfrm>
                <a:off x="2587158" y="1414942"/>
                <a:ext cx="75668" cy="83081"/>
              </a:xfrm>
              <a:custGeom>
                <a:avLst/>
                <a:gdLst/>
                <a:ahLst/>
                <a:cxnLst/>
                <a:rect l="0" t="0" r="r" b="b"/>
                <a:pathLst>
                  <a:path w="75668" h="83082">
                    <a:moveTo>
                      <a:pt x="64861" y="64984"/>
                    </a:moveTo>
                    <a:lnTo>
                      <a:pt x="62794" y="63282"/>
                    </a:lnTo>
                    <a:cubicBezTo>
                      <a:pt x="51864" y="74093"/>
                      <a:pt x="44819" y="77617"/>
                      <a:pt x="34858" y="77617"/>
                    </a:cubicBezTo>
                    <a:cubicBezTo>
                      <a:pt x="21376" y="77617"/>
                      <a:pt x="13605" y="68505"/>
                      <a:pt x="13605" y="52717"/>
                    </a:cubicBezTo>
                    <a:cubicBezTo>
                      <a:pt x="13605" y="38263"/>
                      <a:pt x="19435" y="23566"/>
                      <a:pt x="28908" y="13728"/>
                    </a:cubicBezTo>
                    <a:cubicBezTo>
                      <a:pt x="34739" y="7656"/>
                      <a:pt x="42390" y="4373"/>
                      <a:pt x="50407" y="4373"/>
                    </a:cubicBezTo>
                    <a:cubicBezTo>
                      <a:pt x="61579" y="4373"/>
                      <a:pt x="67774" y="10934"/>
                      <a:pt x="68989" y="24051"/>
                    </a:cubicBezTo>
                    <a:lnTo>
                      <a:pt x="71176" y="24416"/>
                    </a:lnTo>
                    <a:lnTo>
                      <a:pt x="75668" y="246"/>
                    </a:lnTo>
                    <a:lnTo>
                      <a:pt x="73120" y="246"/>
                    </a:lnTo>
                    <a:cubicBezTo>
                      <a:pt x="72148" y="2187"/>
                      <a:pt x="70934" y="2917"/>
                      <a:pt x="68505" y="2917"/>
                    </a:cubicBezTo>
                    <a:cubicBezTo>
                      <a:pt x="67409" y="2917"/>
                      <a:pt x="66076" y="2675"/>
                      <a:pt x="63524" y="2068"/>
                    </a:cubicBezTo>
                    <a:cubicBezTo>
                      <a:pt x="58178" y="730"/>
                      <a:pt x="53320" y="0"/>
                      <a:pt x="49312" y="0"/>
                    </a:cubicBezTo>
                    <a:cubicBezTo>
                      <a:pt x="23320" y="0"/>
                      <a:pt x="0" y="24293"/>
                      <a:pt x="0" y="51379"/>
                    </a:cubicBezTo>
                    <a:cubicBezTo>
                      <a:pt x="0" y="69965"/>
                      <a:pt x="13117" y="83082"/>
                      <a:pt x="31702" y="83082"/>
                    </a:cubicBezTo>
                    <a:cubicBezTo>
                      <a:pt x="44212" y="83082"/>
                      <a:pt x="53927" y="77859"/>
                      <a:pt x="64861" y="6498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" name="budgets_outline_2"/>
              <p:cNvSpPr/>
              <p:nvPr/>
            </p:nvSpPr>
            <p:spPr>
              <a:xfrm>
                <a:off x="2666474" y="145214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" name="budgets_outline_3"/>
              <p:cNvSpPr/>
              <p:nvPr/>
            </p:nvSpPr>
            <p:spPr>
              <a:xfrm>
                <a:off x="2734966" y="1483447"/>
                <a:ext cx="16883" cy="29515"/>
              </a:xfrm>
              <a:custGeom>
                <a:avLst/>
                <a:gdLst/>
                <a:ahLst/>
                <a:cxnLst/>
                <a:rect l="0" t="0" r="r" b="b"/>
                <a:pathLst>
                  <a:path w="16883" h="29516">
                    <a:moveTo>
                      <a:pt x="16883" y="11660"/>
                    </a:moveTo>
                    <a:cubicBezTo>
                      <a:pt x="16883" y="1580"/>
                      <a:pt x="9838" y="0"/>
                      <a:pt x="7044" y="0"/>
                    </a:cubicBezTo>
                    <a:cubicBezTo>
                      <a:pt x="4008" y="0"/>
                      <a:pt x="0" y="1822"/>
                      <a:pt x="0" y="7045"/>
                    </a:cubicBezTo>
                    <a:cubicBezTo>
                      <a:pt x="0" y="11906"/>
                      <a:pt x="4374" y="13121"/>
                      <a:pt x="7529" y="13121"/>
                    </a:cubicBezTo>
                    <a:cubicBezTo>
                      <a:pt x="8382" y="13121"/>
                      <a:pt x="8989" y="12998"/>
                      <a:pt x="9350" y="12875"/>
                    </a:cubicBezTo>
                    <a:cubicBezTo>
                      <a:pt x="9838" y="12756"/>
                      <a:pt x="10204" y="12633"/>
                      <a:pt x="10446" y="12633"/>
                    </a:cubicBezTo>
                    <a:cubicBezTo>
                      <a:pt x="11295" y="12633"/>
                      <a:pt x="12144" y="13240"/>
                      <a:pt x="12144" y="14335"/>
                    </a:cubicBezTo>
                    <a:cubicBezTo>
                      <a:pt x="12144" y="16641"/>
                      <a:pt x="10204" y="22106"/>
                      <a:pt x="2187" y="27210"/>
                    </a:cubicBezTo>
                    <a:lnTo>
                      <a:pt x="3278" y="29516"/>
                    </a:lnTo>
                    <a:cubicBezTo>
                      <a:pt x="6922" y="28301"/>
                      <a:pt x="16883" y="20284"/>
                      <a:pt x="16883" y="116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" name="budgets_outline_4"/>
              <p:cNvSpPr/>
              <p:nvPr/>
            </p:nvSpPr>
            <p:spPr>
              <a:xfrm>
                <a:off x="2784639" y="1416521"/>
                <a:ext cx="77371" cy="79315"/>
              </a:xfrm>
              <a:custGeom>
                <a:avLst/>
                <a:gdLst/>
                <a:ahLst/>
                <a:cxnLst/>
                <a:rect l="0" t="0" r="r" b="b"/>
                <a:pathLst>
                  <a:path w="77371" h="79316">
                    <a:moveTo>
                      <a:pt x="73481" y="18586"/>
                    </a:moveTo>
                    <a:lnTo>
                      <a:pt x="77371" y="0"/>
                    </a:lnTo>
                    <a:lnTo>
                      <a:pt x="16883" y="0"/>
                    </a:lnTo>
                    <a:lnTo>
                      <a:pt x="16883" y="1945"/>
                    </a:lnTo>
                    <a:cubicBezTo>
                      <a:pt x="24900" y="2675"/>
                      <a:pt x="26233" y="3401"/>
                      <a:pt x="26233" y="6803"/>
                    </a:cubicBezTo>
                    <a:cubicBezTo>
                      <a:pt x="26233" y="8747"/>
                      <a:pt x="25749" y="11660"/>
                      <a:pt x="24900" y="14696"/>
                    </a:cubicBezTo>
                    <a:lnTo>
                      <a:pt x="9958" y="68386"/>
                    </a:lnTo>
                    <a:cubicBezTo>
                      <a:pt x="7775" y="75672"/>
                      <a:pt x="6921" y="76398"/>
                      <a:pt x="0" y="77371"/>
                    </a:cubicBezTo>
                    <a:lnTo>
                      <a:pt x="0" y="79316"/>
                    </a:lnTo>
                    <a:lnTo>
                      <a:pt x="30607" y="79316"/>
                    </a:lnTo>
                    <a:lnTo>
                      <a:pt x="30607" y="77371"/>
                    </a:lnTo>
                    <a:cubicBezTo>
                      <a:pt x="23562" y="77010"/>
                      <a:pt x="21376" y="75672"/>
                      <a:pt x="21376" y="72029"/>
                    </a:cubicBezTo>
                    <a:cubicBezTo>
                      <a:pt x="21376" y="70934"/>
                      <a:pt x="21618" y="69477"/>
                      <a:pt x="22471" y="66564"/>
                    </a:cubicBezTo>
                    <a:lnTo>
                      <a:pt x="30000" y="39477"/>
                    </a:lnTo>
                    <a:cubicBezTo>
                      <a:pt x="34492" y="39719"/>
                      <a:pt x="37167" y="39842"/>
                      <a:pt x="39838" y="39842"/>
                    </a:cubicBezTo>
                    <a:cubicBezTo>
                      <a:pt x="44577" y="39842"/>
                      <a:pt x="45303" y="39961"/>
                      <a:pt x="46518" y="40449"/>
                    </a:cubicBezTo>
                    <a:cubicBezTo>
                      <a:pt x="48220" y="41299"/>
                      <a:pt x="49193" y="42998"/>
                      <a:pt x="49193" y="45426"/>
                    </a:cubicBezTo>
                    <a:cubicBezTo>
                      <a:pt x="49193" y="47371"/>
                      <a:pt x="48947" y="48828"/>
                      <a:pt x="48220" y="52594"/>
                    </a:cubicBezTo>
                    <a:lnTo>
                      <a:pt x="50284" y="53201"/>
                    </a:lnTo>
                    <a:lnTo>
                      <a:pt x="59515" y="24781"/>
                    </a:lnTo>
                    <a:lnTo>
                      <a:pt x="57329" y="24174"/>
                    </a:lnTo>
                    <a:cubicBezTo>
                      <a:pt x="51864" y="35104"/>
                      <a:pt x="51498" y="35227"/>
                      <a:pt x="31095" y="35469"/>
                    </a:cubicBezTo>
                    <a:lnTo>
                      <a:pt x="39108" y="7168"/>
                    </a:lnTo>
                    <a:cubicBezTo>
                      <a:pt x="39838" y="4739"/>
                      <a:pt x="41541" y="4009"/>
                      <a:pt x="46518" y="4009"/>
                    </a:cubicBezTo>
                    <a:cubicBezTo>
                      <a:pt x="67044" y="4009"/>
                      <a:pt x="71298" y="5588"/>
                      <a:pt x="71298" y="13240"/>
                    </a:cubicBezTo>
                    <a:cubicBezTo>
                      <a:pt x="71298" y="14089"/>
                      <a:pt x="71298" y="14577"/>
                      <a:pt x="71176" y="16034"/>
                    </a:cubicBezTo>
                    <a:cubicBezTo>
                      <a:pt x="71053" y="16883"/>
                      <a:pt x="71053" y="17371"/>
                      <a:pt x="70933" y="18344"/>
                    </a:cubicBezTo>
                    <a:lnTo>
                      <a:pt x="73481" y="18586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budgets_outline_5"/>
              <p:cNvSpPr/>
              <p:nvPr/>
            </p:nvSpPr>
            <p:spPr>
              <a:xfrm>
                <a:off x="2871814" y="1409965"/>
                <a:ext cx="31944" cy="109315"/>
              </a:xfrm>
              <a:custGeom>
                <a:avLst/>
                <a:gdLst/>
                <a:ahLst/>
                <a:cxnLst/>
                <a:rect l="0" t="0" r="r" b="b"/>
                <a:pathLst>
                  <a:path w="31944" h="109315">
                    <a:moveTo>
                      <a:pt x="31944" y="54658"/>
                    </a:moveTo>
                    <a:lnTo>
                      <a:pt x="5830" y="0"/>
                    </a:lnTo>
                    <a:lnTo>
                      <a:pt x="0" y="0"/>
                    </a:lnTo>
                    <a:lnTo>
                      <a:pt x="23562" y="54658"/>
                    </a:lnTo>
                    <a:lnTo>
                      <a:pt x="0" y="109315"/>
                    </a:lnTo>
                    <a:lnTo>
                      <a:pt x="5830" y="109315"/>
                    </a:lnTo>
                    <a:lnTo>
                      <a:pt x="31944" y="5465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budgets_outline_6"/>
              <p:cNvSpPr/>
              <p:nvPr/>
            </p:nvSpPr>
            <p:spPr>
              <a:xfrm>
                <a:off x="2955950" y="1426118"/>
                <a:ext cx="62190" cy="76763"/>
              </a:xfrm>
              <a:custGeom>
                <a:avLst/>
                <a:gdLst/>
                <a:ahLst/>
                <a:cxnLst/>
                <a:rect l="0" t="0" r="r" b="b"/>
                <a:pathLst>
                  <a:path w="62191" h="76764">
                    <a:moveTo>
                      <a:pt x="62191" y="60972"/>
                    </a:moveTo>
                    <a:lnTo>
                      <a:pt x="62191" y="54173"/>
                    </a:lnTo>
                    <a:lnTo>
                      <a:pt x="11660" y="30488"/>
                    </a:lnTo>
                    <a:lnTo>
                      <a:pt x="62191" y="6802"/>
                    </a:lnTo>
                    <a:lnTo>
                      <a:pt x="62191" y="0"/>
                    </a:lnTo>
                    <a:lnTo>
                      <a:pt x="0" y="29392"/>
                    </a:lnTo>
                    <a:lnTo>
                      <a:pt x="0" y="31821"/>
                    </a:lnTo>
                    <a:lnTo>
                      <a:pt x="62191" y="60972"/>
                    </a:lnTo>
                    <a:close/>
                    <a:moveTo>
                      <a:pt x="62191" y="76764"/>
                    </a:moveTo>
                    <a:lnTo>
                      <a:pt x="62191" y="70326"/>
                    </a:lnTo>
                    <a:lnTo>
                      <a:pt x="0" y="70326"/>
                    </a:lnTo>
                    <a:lnTo>
                      <a:pt x="0" y="76764"/>
                    </a:lnTo>
                    <a:lnTo>
                      <a:pt x="62191" y="7676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budgets_outline_7"/>
              <p:cNvSpPr/>
              <p:nvPr/>
            </p:nvSpPr>
            <p:spPr>
              <a:xfrm>
                <a:off x="3065132" y="1412878"/>
                <a:ext cx="54657" cy="84296"/>
              </a:xfrm>
              <a:custGeom>
                <a:avLst/>
                <a:gdLst/>
                <a:ahLst/>
                <a:cxnLst/>
                <a:rect l="0" t="0" r="r" b="b"/>
                <a:pathLst>
                  <a:path w="54658" h="84296">
                    <a:moveTo>
                      <a:pt x="54658" y="43970"/>
                    </a:moveTo>
                    <a:cubicBezTo>
                      <a:pt x="54658" y="35469"/>
                      <a:pt x="48704" y="29392"/>
                      <a:pt x="40569" y="29392"/>
                    </a:cubicBezTo>
                    <a:cubicBezTo>
                      <a:pt x="32064" y="29392"/>
                      <a:pt x="25749" y="34373"/>
                      <a:pt x="17125" y="47736"/>
                    </a:cubicBezTo>
                    <a:lnTo>
                      <a:pt x="29758" y="607"/>
                    </a:lnTo>
                    <a:lnTo>
                      <a:pt x="29150" y="0"/>
                    </a:lnTo>
                    <a:cubicBezTo>
                      <a:pt x="23078" y="1095"/>
                      <a:pt x="18705" y="1822"/>
                      <a:pt x="10565" y="2794"/>
                    </a:cubicBezTo>
                    <a:lnTo>
                      <a:pt x="10565" y="4858"/>
                    </a:lnTo>
                    <a:cubicBezTo>
                      <a:pt x="17732" y="5104"/>
                      <a:pt x="18463" y="5465"/>
                      <a:pt x="18463" y="8140"/>
                    </a:cubicBezTo>
                    <a:cubicBezTo>
                      <a:pt x="18463" y="9231"/>
                      <a:pt x="18221" y="10569"/>
                      <a:pt x="17367" y="13363"/>
                    </a:cubicBezTo>
                    <a:lnTo>
                      <a:pt x="16760" y="15669"/>
                    </a:lnTo>
                    <a:lnTo>
                      <a:pt x="16518" y="16518"/>
                    </a:lnTo>
                    <a:lnTo>
                      <a:pt x="0" y="77371"/>
                    </a:lnTo>
                    <a:lnTo>
                      <a:pt x="0" y="77859"/>
                    </a:lnTo>
                    <a:cubicBezTo>
                      <a:pt x="0" y="80653"/>
                      <a:pt x="9231" y="84296"/>
                      <a:pt x="16153" y="84296"/>
                    </a:cubicBezTo>
                    <a:cubicBezTo>
                      <a:pt x="34496" y="84296"/>
                      <a:pt x="54658" y="63159"/>
                      <a:pt x="54658" y="43970"/>
                    </a:cubicBezTo>
                    <a:close/>
                    <a:moveTo>
                      <a:pt x="44335" y="45791"/>
                    </a:moveTo>
                    <a:cubicBezTo>
                      <a:pt x="44335" y="53808"/>
                      <a:pt x="38259" y="66806"/>
                      <a:pt x="30972" y="74335"/>
                    </a:cubicBezTo>
                    <a:cubicBezTo>
                      <a:pt x="26479" y="78950"/>
                      <a:pt x="21257" y="81502"/>
                      <a:pt x="16034" y="81502"/>
                    </a:cubicBezTo>
                    <a:cubicBezTo>
                      <a:pt x="12267" y="81502"/>
                      <a:pt x="10446" y="80165"/>
                      <a:pt x="10446" y="77371"/>
                    </a:cubicBezTo>
                    <a:cubicBezTo>
                      <a:pt x="10446" y="70084"/>
                      <a:pt x="14089" y="58424"/>
                      <a:pt x="19189" y="49316"/>
                    </a:cubicBezTo>
                    <a:cubicBezTo>
                      <a:pt x="24535" y="39961"/>
                      <a:pt x="30000" y="35346"/>
                      <a:pt x="35830" y="35346"/>
                    </a:cubicBezTo>
                    <a:cubicBezTo>
                      <a:pt x="41176" y="35346"/>
                      <a:pt x="44335" y="39354"/>
                      <a:pt x="44335" y="4579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" name="budgets_outline_8"/>
              <p:cNvSpPr/>
              <p:nvPr/>
            </p:nvSpPr>
            <p:spPr>
              <a:xfrm>
                <a:off x="3133884" y="145214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8" name="solve_duals"/>
            <p:cNvGrpSpPr/>
            <p:nvPr/>
          </p:nvGrpSpPr>
          <p:grpSpPr>
            <a:xfrm>
              <a:off x="3092124" y="1819657"/>
              <a:ext cx="133679" cy="157357"/>
              <a:chOff x="3092124" y="1819657"/>
              <a:chExt cx="133679" cy="157357"/>
            </a:xfrm>
          </p:grpSpPr>
          <p:sp>
            <p:nvSpPr>
              <p:cNvPr id="99" name="solve_duals_outline_0"/>
              <p:cNvSpPr/>
              <p:nvPr/>
            </p:nvSpPr>
            <p:spPr>
              <a:xfrm>
                <a:off x="3092124" y="1839796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" name="solve_duals_outline_1"/>
              <p:cNvSpPr/>
              <p:nvPr/>
            </p:nvSpPr>
            <p:spPr>
              <a:xfrm>
                <a:off x="3160954" y="1819657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solve_duals_outline_2"/>
              <p:cNvSpPr/>
              <p:nvPr/>
            </p:nvSpPr>
            <p:spPr>
              <a:xfrm>
                <a:off x="3167273" y="190500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02" name="module_budget"/>
          <p:cNvGrpSpPr/>
          <p:nvPr/>
        </p:nvGrpSpPr>
        <p:grpSpPr>
          <a:xfrm>
            <a:off x="3759200" y="38100"/>
            <a:ext cx="1244600" cy="2095500"/>
            <a:chOff x="3759200" y="38100"/>
            <a:chExt cx="1244600" cy="2095500"/>
          </a:xfrm>
        </p:grpSpPr>
        <p:sp>
          <p:nvSpPr>
            <p:cNvPr id="103" name="budget_border"/>
            <p:cNvSpPr/>
            <p:nvPr/>
          </p:nvSpPr>
          <p:spPr>
            <a:xfrm>
              <a:off x="3759200" y="38100"/>
              <a:ext cx="1244600" cy="20955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right_x"/>
            <p:cNvSpPr/>
            <p:nvPr/>
          </p:nvSpPr>
          <p:spPr>
            <a:xfrm>
              <a:off x="3924300" y="1574800"/>
              <a:ext cx="1016000" cy="127"/>
            </a:xfrm>
            <a:custGeom>
              <a:avLst/>
              <a:gdLst/>
              <a:ahLst/>
              <a:cxnLst/>
              <a:rect l="0" t="0" r="r" b="b"/>
              <a:pathLst>
                <a:path w="1016000" h="1" fill="none">
                  <a:moveTo>
                    <a:pt x="0" y="0"/>
                  </a:moveTo>
                  <a:lnTo>
                    <a:pt x="1016000" y="0"/>
                  </a:lnTo>
                </a:path>
              </a:pathLst>
            </a:custGeom>
            <a:noFill/>
            <a:ln w="8255">
              <a:solidFill>
                <a:srgbClr val="222B3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right_y"/>
            <p:cNvSpPr/>
            <p:nvPr/>
          </p:nvSpPr>
          <p:spPr>
            <a:xfrm>
              <a:off x="3924300" y="965200"/>
              <a:ext cx="127" cy="622300"/>
            </a:xfrm>
            <a:custGeom>
              <a:avLst/>
              <a:gdLst/>
              <a:ahLst/>
              <a:cxnLst/>
              <a:rect l="0" t="0" r="r" b="b"/>
              <a:pathLst>
                <a:path w="1" h="622300" fill="none">
                  <a:moveTo>
                    <a:pt x="0" y="622300"/>
                  </a:moveTo>
                  <a:lnTo>
                    <a:pt x="0" y="0"/>
                  </a:lnTo>
                </a:path>
              </a:pathLst>
            </a:custGeom>
            <a:noFill/>
            <a:ln w="8255">
              <a:solidFill>
                <a:srgbClr val="222B3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right_budget"/>
            <p:cNvSpPr/>
            <p:nvPr/>
          </p:nvSpPr>
          <p:spPr>
            <a:xfrm>
              <a:off x="3924300" y="1206500"/>
              <a:ext cx="1016000" cy="127"/>
            </a:xfrm>
            <a:custGeom>
              <a:avLst/>
              <a:gdLst/>
              <a:ahLst/>
              <a:cxnLst/>
              <a:rect l="0" t="0" r="r" b="b"/>
              <a:pathLst>
                <a:path w="1016000" h="1" fill="none">
                  <a:moveTo>
                    <a:pt x="0" y="0"/>
                  </a:moveTo>
                  <a:lnTo>
                    <a:pt x="1016000" y="0"/>
                  </a:lnTo>
                </a:path>
              </a:pathLst>
            </a:custGeom>
            <a:noFill/>
            <a:ln w="7620">
              <a:solidFill>
                <a:srgbClr val="AD4D46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oscillation"/>
            <p:cNvSpPr/>
            <p:nvPr/>
          </p:nvSpPr>
          <p:spPr>
            <a:xfrm>
              <a:off x="3949700" y="1054100"/>
              <a:ext cx="939800" cy="457200"/>
            </a:xfrm>
            <a:custGeom>
              <a:avLst/>
              <a:gdLst/>
              <a:ahLst/>
              <a:cxnLst/>
              <a:rect l="0" t="0" r="r" b="b"/>
              <a:pathLst>
                <a:path w="952337" h="365152" fill="none">
                  <a:moveTo>
                    <a:pt x="0" y="88947"/>
                  </a:moveTo>
                  <a:lnTo>
                    <a:pt x="2675" y="92291"/>
                  </a:lnTo>
                  <a:lnTo>
                    <a:pt x="8025" y="108676"/>
                  </a:lnTo>
                  <a:lnTo>
                    <a:pt x="58852" y="305965"/>
                  </a:lnTo>
                  <a:lnTo>
                    <a:pt x="72227" y="336394"/>
                  </a:lnTo>
                  <a:lnTo>
                    <a:pt x="80253" y="349435"/>
                  </a:lnTo>
                  <a:lnTo>
                    <a:pt x="88278" y="354451"/>
                  </a:lnTo>
                  <a:lnTo>
                    <a:pt x="96303" y="356123"/>
                  </a:lnTo>
                  <a:lnTo>
                    <a:pt x="107004" y="350438"/>
                  </a:lnTo>
                  <a:lnTo>
                    <a:pt x="112354" y="342748"/>
                  </a:lnTo>
                  <a:lnTo>
                    <a:pt x="117704" y="330710"/>
                  </a:lnTo>
                  <a:lnTo>
                    <a:pt x="125730" y="306968"/>
                  </a:lnTo>
                  <a:lnTo>
                    <a:pt x="133755" y="270185"/>
                  </a:lnTo>
                  <a:lnTo>
                    <a:pt x="149805" y="203308"/>
                  </a:lnTo>
                  <a:lnTo>
                    <a:pt x="163181" y="152982"/>
                  </a:lnTo>
                  <a:lnTo>
                    <a:pt x="168531" y="128237"/>
                  </a:lnTo>
                  <a:lnTo>
                    <a:pt x="179232" y="89281"/>
                  </a:lnTo>
                  <a:lnTo>
                    <a:pt x="200632" y="22292"/>
                  </a:lnTo>
                  <a:lnTo>
                    <a:pt x="208658" y="10366"/>
                  </a:lnTo>
                  <a:lnTo>
                    <a:pt x="216683" y="3343"/>
                  </a:lnTo>
                  <a:lnTo>
                    <a:pt x="227384" y="0"/>
                  </a:lnTo>
                  <a:lnTo>
                    <a:pt x="235409" y="3343"/>
                  </a:lnTo>
                  <a:lnTo>
                    <a:pt x="240759" y="8359"/>
                  </a:lnTo>
                  <a:lnTo>
                    <a:pt x="251460" y="23407"/>
                  </a:lnTo>
                  <a:lnTo>
                    <a:pt x="264835" y="57180"/>
                  </a:lnTo>
                  <a:lnTo>
                    <a:pt x="288911" y="131080"/>
                  </a:lnTo>
                  <a:lnTo>
                    <a:pt x="296936" y="163181"/>
                  </a:lnTo>
                  <a:lnTo>
                    <a:pt x="329038" y="268513"/>
                  </a:lnTo>
                  <a:lnTo>
                    <a:pt x="342413" y="307971"/>
                  </a:lnTo>
                  <a:lnTo>
                    <a:pt x="355789" y="335725"/>
                  </a:lnTo>
                  <a:lnTo>
                    <a:pt x="366489" y="352110"/>
                  </a:lnTo>
                  <a:lnTo>
                    <a:pt x="377190" y="361808"/>
                  </a:lnTo>
                  <a:lnTo>
                    <a:pt x="382540" y="364148"/>
                  </a:lnTo>
                  <a:lnTo>
                    <a:pt x="390565" y="365152"/>
                  </a:lnTo>
                  <a:lnTo>
                    <a:pt x="398590" y="362476"/>
                  </a:lnTo>
                  <a:lnTo>
                    <a:pt x="401265" y="360470"/>
                  </a:lnTo>
                  <a:lnTo>
                    <a:pt x="411966" y="348432"/>
                  </a:lnTo>
                  <a:lnTo>
                    <a:pt x="422666" y="328369"/>
                  </a:lnTo>
                  <a:lnTo>
                    <a:pt x="430692" y="309309"/>
                  </a:lnTo>
                  <a:lnTo>
                    <a:pt x="460118" y="204980"/>
                  </a:lnTo>
                  <a:lnTo>
                    <a:pt x="478844" y="131247"/>
                  </a:lnTo>
                  <a:lnTo>
                    <a:pt x="484194" y="116032"/>
                  </a:lnTo>
                  <a:lnTo>
                    <a:pt x="494894" y="78246"/>
                  </a:lnTo>
                  <a:lnTo>
                    <a:pt x="502920" y="55174"/>
                  </a:lnTo>
                  <a:lnTo>
                    <a:pt x="508270" y="44696"/>
                  </a:lnTo>
                  <a:lnTo>
                    <a:pt x="516295" y="22515"/>
                  </a:lnTo>
                  <a:lnTo>
                    <a:pt x="524320" y="10031"/>
                  </a:lnTo>
                  <a:lnTo>
                    <a:pt x="532346" y="2340"/>
                  </a:lnTo>
                  <a:lnTo>
                    <a:pt x="540371" y="0"/>
                  </a:lnTo>
                  <a:lnTo>
                    <a:pt x="548396" y="2675"/>
                  </a:lnTo>
                  <a:lnTo>
                    <a:pt x="556422" y="10366"/>
                  </a:lnTo>
                  <a:lnTo>
                    <a:pt x="564447" y="22515"/>
                  </a:lnTo>
                  <a:lnTo>
                    <a:pt x="585848" y="81925"/>
                  </a:lnTo>
                  <a:lnTo>
                    <a:pt x="599223" y="127736"/>
                  </a:lnTo>
                  <a:lnTo>
                    <a:pt x="604574" y="152481"/>
                  </a:lnTo>
                  <a:lnTo>
                    <a:pt x="628650" y="239756"/>
                  </a:lnTo>
                  <a:lnTo>
                    <a:pt x="650050" y="311092"/>
                  </a:lnTo>
                  <a:lnTo>
                    <a:pt x="663426" y="341076"/>
                  </a:lnTo>
                  <a:lnTo>
                    <a:pt x="674126" y="357461"/>
                  </a:lnTo>
                  <a:lnTo>
                    <a:pt x="679477" y="362476"/>
                  </a:lnTo>
                  <a:lnTo>
                    <a:pt x="690177" y="364483"/>
                  </a:lnTo>
                  <a:lnTo>
                    <a:pt x="695527" y="362811"/>
                  </a:lnTo>
                  <a:lnTo>
                    <a:pt x="700877" y="358464"/>
                  </a:lnTo>
                  <a:lnTo>
                    <a:pt x="708903" y="347763"/>
                  </a:lnTo>
                  <a:lnTo>
                    <a:pt x="714253" y="336060"/>
                  </a:lnTo>
                  <a:lnTo>
                    <a:pt x="724953" y="305965"/>
                  </a:lnTo>
                  <a:lnTo>
                    <a:pt x="767755" y="129408"/>
                  </a:lnTo>
                  <a:lnTo>
                    <a:pt x="786481" y="63199"/>
                  </a:lnTo>
                  <a:lnTo>
                    <a:pt x="799856" y="23630"/>
                  </a:lnTo>
                  <a:lnTo>
                    <a:pt x="805207" y="14713"/>
                  </a:lnTo>
                  <a:lnTo>
                    <a:pt x="813232" y="5015"/>
                  </a:lnTo>
                  <a:lnTo>
                    <a:pt x="821257" y="1003"/>
                  </a:lnTo>
                  <a:lnTo>
                    <a:pt x="829282" y="1003"/>
                  </a:lnTo>
                  <a:lnTo>
                    <a:pt x="834633" y="3343"/>
                  </a:lnTo>
                  <a:lnTo>
                    <a:pt x="839983" y="7356"/>
                  </a:lnTo>
                  <a:lnTo>
                    <a:pt x="850683" y="21735"/>
                  </a:lnTo>
                  <a:lnTo>
                    <a:pt x="869409" y="66543"/>
                  </a:lnTo>
                  <a:lnTo>
                    <a:pt x="890810" y="130913"/>
                  </a:lnTo>
                  <a:lnTo>
                    <a:pt x="896160" y="152982"/>
                  </a:lnTo>
                  <a:lnTo>
                    <a:pt x="933612" y="274867"/>
                  </a:lnTo>
                  <a:lnTo>
                    <a:pt x="941637" y="306132"/>
                  </a:lnTo>
                  <a:lnTo>
                    <a:pt x="949662" y="330710"/>
                  </a:lnTo>
                  <a:lnTo>
                    <a:pt x="952337" y="335948"/>
                  </a:lnTo>
                </a:path>
              </a:pathLst>
            </a:custGeom>
            <a:noFill/>
            <a:ln w="535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right_x_label"/>
            <p:cNvSpPr txBox="1"/>
            <p:nvPr/>
          </p:nvSpPr>
          <p:spPr>
            <a:xfrm>
              <a:off x="4495800" y="1600200"/>
              <a:ext cx="431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22B32"/>
                  </a:solidFill>
                  <a:latin typeface="Liberation Serif"/>
                </a:rPr>
                <a:t>training</a:t>
              </a:r>
            </a:p>
          </p:txBody>
        </p:sp>
        <p:sp>
          <p:nvSpPr>
            <p:cNvPr id="109" name="right_title"/>
            <p:cNvSpPr txBox="1"/>
            <p:nvPr/>
          </p:nvSpPr>
          <p:spPr>
            <a:xfrm>
              <a:off x="3784600" y="127000"/>
              <a:ext cx="11938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 i="0">
                  <a:solidFill>
                    <a:srgbClr val="AD4D46"/>
                  </a:solidFill>
                  <a:latin typeface="Liberation Serif"/>
                </a:rPr>
                <a:t>Constraint view</a:t>
              </a:r>
            </a:p>
          </p:txBody>
        </p:sp>
        <p:sp>
          <p:nvSpPr>
            <p:cNvPr id="110" name="right_sub"/>
            <p:cNvSpPr txBox="1"/>
            <p:nvPr/>
          </p:nvSpPr>
          <p:spPr>
            <a:xfrm>
              <a:off x="3810000" y="355600"/>
              <a:ext cx="1143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Budgets bound costs</a:t>
              </a:r>
            </a:p>
          </p:txBody>
        </p:sp>
        <p:sp>
          <p:nvSpPr>
            <p:cNvPr id="111" name="right_note"/>
            <p:cNvSpPr txBox="1"/>
            <p:nvPr/>
          </p:nvSpPr>
          <p:spPr>
            <a:xfrm>
              <a:off x="3810000" y="1714500"/>
              <a:ext cx="11430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Lagrangian feedback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can lag and oscillate.</a:t>
              </a:r>
            </a:p>
          </p:txBody>
        </p:sp>
        <p:sp>
          <p:nvSpPr>
            <p:cNvPr id="112" name="right_schematic"/>
            <p:cNvSpPr txBox="1"/>
            <p:nvPr/>
          </p:nvSpPr>
          <p:spPr>
            <a:xfrm>
              <a:off x="3810000" y="1993900"/>
              <a:ext cx="11430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681"/>
                  </a:solidFill>
                  <a:latin typeface="Liberation Serif"/>
                </a:rPr>
                <a:t>(schematic)</a:t>
              </a:r>
            </a:p>
          </p:txBody>
        </p:sp>
        <p:grpSp>
          <p:nvGrpSpPr>
            <p:cNvPr id="113" name="budget_objective"/>
            <p:cNvGrpSpPr/>
            <p:nvPr/>
          </p:nvGrpSpPr>
          <p:grpSpPr>
            <a:xfrm>
              <a:off x="4044426" y="606911"/>
              <a:ext cx="652938" cy="144248"/>
              <a:chOff x="4044426" y="606911"/>
              <a:chExt cx="652938" cy="144248"/>
            </a:xfrm>
          </p:grpSpPr>
          <p:sp>
            <p:nvSpPr>
              <p:cNvPr id="114" name="budget_objective_outline_0"/>
              <p:cNvSpPr/>
              <p:nvPr/>
            </p:nvSpPr>
            <p:spPr>
              <a:xfrm>
                <a:off x="4044426" y="615007"/>
                <a:ext cx="62872" cy="84887"/>
              </a:xfrm>
              <a:custGeom>
                <a:avLst/>
                <a:gdLst/>
                <a:ahLst/>
                <a:cxnLst/>
                <a:rect l="0" t="0" r="r" b="b"/>
                <a:pathLst>
                  <a:path w="62873" h="84888">
                    <a:moveTo>
                      <a:pt x="62873" y="2024"/>
                    </a:moveTo>
                    <a:lnTo>
                      <a:pt x="62873" y="0"/>
                    </a:lnTo>
                    <a:lnTo>
                      <a:pt x="30742" y="0"/>
                    </a:lnTo>
                    <a:lnTo>
                      <a:pt x="30742" y="2024"/>
                    </a:lnTo>
                    <a:cubicBezTo>
                      <a:pt x="38711" y="2782"/>
                      <a:pt x="40481" y="3794"/>
                      <a:pt x="40481" y="7211"/>
                    </a:cubicBezTo>
                    <a:cubicBezTo>
                      <a:pt x="40481" y="9108"/>
                      <a:pt x="39977" y="11640"/>
                      <a:pt x="38965" y="15307"/>
                    </a:cubicBezTo>
                    <a:lnTo>
                      <a:pt x="22392" y="74132"/>
                    </a:lnTo>
                    <a:cubicBezTo>
                      <a:pt x="20999" y="79065"/>
                      <a:pt x="19229" y="80966"/>
                      <a:pt x="16192" y="80966"/>
                    </a:cubicBezTo>
                    <a:cubicBezTo>
                      <a:pt x="13156" y="80966"/>
                      <a:pt x="11763" y="79446"/>
                      <a:pt x="11763" y="75906"/>
                    </a:cubicBezTo>
                    <a:cubicBezTo>
                      <a:pt x="11763" y="75271"/>
                      <a:pt x="11763" y="74640"/>
                      <a:pt x="11890" y="74005"/>
                    </a:cubicBezTo>
                    <a:lnTo>
                      <a:pt x="11890" y="72870"/>
                    </a:lnTo>
                    <a:cubicBezTo>
                      <a:pt x="11890" y="69707"/>
                      <a:pt x="9108" y="66921"/>
                      <a:pt x="5691" y="66921"/>
                    </a:cubicBezTo>
                    <a:cubicBezTo>
                      <a:pt x="2278" y="66921"/>
                      <a:pt x="0" y="69707"/>
                      <a:pt x="0" y="73755"/>
                    </a:cubicBezTo>
                    <a:cubicBezTo>
                      <a:pt x="0" y="80458"/>
                      <a:pt x="5945" y="84888"/>
                      <a:pt x="14799" y="84888"/>
                    </a:cubicBezTo>
                    <a:cubicBezTo>
                      <a:pt x="21253" y="84888"/>
                      <a:pt x="26944" y="82356"/>
                      <a:pt x="30865" y="77676"/>
                    </a:cubicBezTo>
                    <a:cubicBezTo>
                      <a:pt x="34282" y="73628"/>
                      <a:pt x="36814" y="67933"/>
                      <a:pt x="39469" y="58321"/>
                    </a:cubicBezTo>
                    <a:lnTo>
                      <a:pt x="52499" y="11386"/>
                    </a:lnTo>
                    <a:cubicBezTo>
                      <a:pt x="54777" y="3794"/>
                      <a:pt x="55662" y="3036"/>
                      <a:pt x="62873" y="2024"/>
                    </a:cubicBezTo>
                    <a:close/>
                  </a:path>
                </a:pathLst>
              </a:custGeom>
              <a:solidFill>
                <a:srgbClr val="222B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" name="budget_objective_outline_1"/>
              <p:cNvSpPr/>
              <p:nvPr/>
            </p:nvSpPr>
            <p:spPr>
              <a:xfrm>
                <a:off x="4106436" y="670831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4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4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4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222B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budget_objective_outline_2"/>
              <p:cNvSpPr/>
              <p:nvPr/>
            </p:nvSpPr>
            <p:spPr>
              <a:xfrm>
                <a:off x="4161753" y="679147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22B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" name="budget_objective_outline_3"/>
              <p:cNvSpPr/>
              <p:nvPr/>
            </p:nvSpPr>
            <p:spPr>
              <a:xfrm>
                <a:off x="4242150" y="606911"/>
                <a:ext cx="32385" cy="116260"/>
              </a:xfrm>
              <a:custGeom>
                <a:avLst/>
                <a:gdLst/>
                <a:ahLst/>
                <a:cxnLst/>
                <a:rect l="0" t="0" r="r" b="b"/>
                <a:pathLst>
                  <a:path w="32385" h="116261">
                    <a:moveTo>
                      <a:pt x="31246" y="0"/>
                    </a:moveTo>
                    <a:cubicBezTo>
                      <a:pt x="12902" y="11890"/>
                      <a:pt x="0" y="32385"/>
                      <a:pt x="0" y="58194"/>
                    </a:cubicBezTo>
                    <a:cubicBezTo>
                      <a:pt x="0" y="81725"/>
                      <a:pt x="13410" y="105505"/>
                      <a:pt x="30869" y="116261"/>
                    </a:cubicBezTo>
                    <a:lnTo>
                      <a:pt x="32385" y="114237"/>
                    </a:lnTo>
                    <a:cubicBezTo>
                      <a:pt x="15688" y="101080"/>
                      <a:pt x="10878" y="85773"/>
                      <a:pt x="10878" y="57813"/>
                    </a:cubicBezTo>
                    <a:cubicBezTo>
                      <a:pt x="10878" y="29730"/>
                      <a:pt x="16066" y="15180"/>
                      <a:pt x="32385" y="2024"/>
                    </a:cubicBezTo>
                    <a:lnTo>
                      <a:pt x="31246" y="0"/>
                    </a:lnTo>
                    <a:close/>
                  </a:path>
                </a:pathLst>
              </a:custGeom>
              <a:solidFill>
                <a:srgbClr val="222B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" name="budget_objective_outline_4"/>
              <p:cNvSpPr/>
              <p:nvPr/>
            </p:nvSpPr>
            <p:spPr>
              <a:xfrm>
                <a:off x="4286561" y="641828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4"/>
                      <a:pt x="2151" y="16320"/>
                    </a:cubicBezTo>
                    <a:lnTo>
                      <a:pt x="3540" y="16320"/>
                    </a:lnTo>
                    <a:cubicBezTo>
                      <a:pt x="4175" y="15434"/>
                      <a:pt x="8854" y="9235"/>
                      <a:pt x="15431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222B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budget_objective_outline_5"/>
              <p:cNvSpPr/>
              <p:nvPr/>
            </p:nvSpPr>
            <p:spPr>
              <a:xfrm>
                <a:off x="4360700" y="606911"/>
                <a:ext cx="32388" cy="116260"/>
              </a:xfrm>
              <a:custGeom>
                <a:avLst/>
                <a:gdLst/>
                <a:ahLst/>
                <a:cxnLst/>
                <a:rect l="0" t="0" r="r" b="b"/>
                <a:pathLst>
                  <a:path w="32389" h="116261">
                    <a:moveTo>
                      <a:pt x="1139" y="0"/>
                    </a:moveTo>
                    <a:lnTo>
                      <a:pt x="0" y="2024"/>
                    </a:lnTo>
                    <a:cubicBezTo>
                      <a:pt x="16319" y="15180"/>
                      <a:pt x="21507" y="29730"/>
                      <a:pt x="21507" y="57813"/>
                    </a:cubicBezTo>
                    <a:cubicBezTo>
                      <a:pt x="21507" y="85773"/>
                      <a:pt x="16700" y="101080"/>
                      <a:pt x="0" y="114237"/>
                    </a:cubicBezTo>
                    <a:lnTo>
                      <a:pt x="1520" y="116261"/>
                    </a:lnTo>
                    <a:cubicBezTo>
                      <a:pt x="18979" y="105505"/>
                      <a:pt x="32389" y="81725"/>
                      <a:pt x="32389" y="58194"/>
                    </a:cubicBezTo>
                    <a:cubicBezTo>
                      <a:pt x="32389" y="32385"/>
                      <a:pt x="19483" y="11890"/>
                      <a:pt x="1139" y="0"/>
                    </a:cubicBezTo>
                    <a:close/>
                  </a:path>
                </a:pathLst>
              </a:custGeom>
              <a:solidFill>
                <a:srgbClr val="222B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budget_objective_outline_6"/>
              <p:cNvSpPr/>
              <p:nvPr/>
            </p:nvSpPr>
            <p:spPr>
              <a:xfrm>
                <a:off x="4448493" y="625001"/>
                <a:ext cx="64773" cy="79954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79954">
                    <a:moveTo>
                      <a:pt x="64774" y="63508"/>
                    </a:moveTo>
                    <a:lnTo>
                      <a:pt x="64774" y="56424"/>
                    </a:lnTo>
                    <a:lnTo>
                      <a:pt x="12144" y="31754"/>
                    </a:lnTo>
                    <a:lnTo>
                      <a:pt x="64774" y="7084"/>
                    </a:lnTo>
                    <a:lnTo>
                      <a:pt x="64774" y="0"/>
                    </a:lnTo>
                    <a:lnTo>
                      <a:pt x="0" y="30615"/>
                    </a:lnTo>
                    <a:lnTo>
                      <a:pt x="0" y="33147"/>
                    </a:lnTo>
                    <a:lnTo>
                      <a:pt x="64774" y="63508"/>
                    </a:lnTo>
                    <a:close/>
                    <a:moveTo>
                      <a:pt x="64774" y="79954"/>
                    </a:moveTo>
                    <a:lnTo>
                      <a:pt x="64774" y="73247"/>
                    </a:lnTo>
                    <a:lnTo>
                      <a:pt x="0" y="73247"/>
                    </a:lnTo>
                    <a:lnTo>
                      <a:pt x="0" y="79954"/>
                    </a:lnTo>
                    <a:lnTo>
                      <a:pt x="64774" y="79954"/>
                    </a:lnTo>
                    <a:close/>
                  </a:path>
                </a:pathLst>
              </a:custGeom>
              <a:solidFill>
                <a:srgbClr val="222B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" name="budget_objective_outline_7"/>
              <p:cNvSpPr/>
              <p:nvPr/>
            </p:nvSpPr>
            <p:spPr>
              <a:xfrm>
                <a:off x="4560174" y="615007"/>
                <a:ext cx="75398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75398" h="82610">
                    <a:moveTo>
                      <a:pt x="69199" y="57309"/>
                    </a:moveTo>
                    <a:cubicBezTo>
                      <a:pt x="69199" y="48073"/>
                      <a:pt x="65278" y="43390"/>
                      <a:pt x="53261" y="38207"/>
                    </a:cubicBezTo>
                    <a:cubicBezTo>
                      <a:pt x="62242" y="36056"/>
                      <a:pt x="65909" y="34536"/>
                      <a:pt x="69957" y="30996"/>
                    </a:cubicBezTo>
                    <a:cubicBezTo>
                      <a:pt x="73501" y="27960"/>
                      <a:pt x="75398" y="23785"/>
                      <a:pt x="75398" y="18598"/>
                    </a:cubicBezTo>
                    <a:cubicBezTo>
                      <a:pt x="75398" y="6580"/>
                      <a:pt x="66417" y="0"/>
                      <a:pt x="50097" y="0"/>
                    </a:cubicBezTo>
                    <a:lnTo>
                      <a:pt x="17458" y="0"/>
                    </a:lnTo>
                    <a:lnTo>
                      <a:pt x="17458" y="2024"/>
                    </a:lnTo>
                    <a:cubicBezTo>
                      <a:pt x="25428" y="2655"/>
                      <a:pt x="27198" y="3544"/>
                      <a:pt x="27198" y="7211"/>
                    </a:cubicBezTo>
                    <a:cubicBezTo>
                      <a:pt x="27198" y="9108"/>
                      <a:pt x="26694" y="12144"/>
                      <a:pt x="25809" y="15307"/>
                    </a:cubicBezTo>
                    <a:lnTo>
                      <a:pt x="10247" y="71223"/>
                    </a:lnTo>
                    <a:cubicBezTo>
                      <a:pt x="7969" y="78561"/>
                      <a:pt x="7084" y="79319"/>
                      <a:pt x="0" y="80585"/>
                    </a:cubicBezTo>
                    <a:lnTo>
                      <a:pt x="0" y="82610"/>
                    </a:lnTo>
                    <a:lnTo>
                      <a:pt x="35675" y="82610"/>
                    </a:lnTo>
                    <a:cubicBezTo>
                      <a:pt x="55539" y="82610"/>
                      <a:pt x="69199" y="72362"/>
                      <a:pt x="69199" y="57309"/>
                    </a:cubicBezTo>
                    <a:close/>
                    <a:moveTo>
                      <a:pt x="55539" y="56801"/>
                    </a:moveTo>
                    <a:cubicBezTo>
                      <a:pt x="55539" y="70465"/>
                      <a:pt x="46176" y="78815"/>
                      <a:pt x="30742" y="78815"/>
                    </a:cubicBezTo>
                    <a:cubicBezTo>
                      <a:pt x="25428" y="78815"/>
                      <a:pt x="22646" y="77041"/>
                      <a:pt x="22646" y="73501"/>
                    </a:cubicBezTo>
                    <a:cubicBezTo>
                      <a:pt x="22646" y="71858"/>
                      <a:pt x="24162" y="65909"/>
                      <a:pt x="27071" y="55789"/>
                    </a:cubicBezTo>
                    <a:lnTo>
                      <a:pt x="31119" y="40735"/>
                    </a:lnTo>
                    <a:cubicBezTo>
                      <a:pt x="39092" y="40735"/>
                      <a:pt x="44529" y="41243"/>
                      <a:pt x="47061" y="42255"/>
                    </a:cubicBezTo>
                    <a:cubicBezTo>
                      <a:pt x="52376" y="44279"/>
                      <a:pt x="55539" y="49844"/>
                      <a:pt x="55539" y="56801"/>
                    </a:cubicBezTo>
                    <a:close/>
                    <a:moveTo>
                      <a:pt x="62623" y="17459"/>
                    </a:moveTo>
                    <a:cubicBezTo>
                      <a:pt x="62623" y="30488"/>
                      <a:pt x="54146" y="36687"/>
                      <a:pt x="36687" y="36687"/>
                    </a:cubicBezTo>
                    <a:lnTo>
                      <a:pt x="32385" y="36687"/>
                    </a:lnTo>
                    <a:lnTo>
                      <a:pt x="40608" y="7338"/>
                    </a:lnTo>
                    <a:cubicBezTo>
                      <a:pt x="41366" y="4556"/>
                      <a:pt x="42886" y="3794"/>
                      <a:pt x="47819" y="3794"/>
                    </a:cubicBezTo>
                    <a:cubicBezTo>
                      <a:pt x="58067" y="3794"/>
                      <a:pt x="62623" y="8096"/>
                      <a:pt x="62623" y="17459"/>
                    </a:cubicBezTo>
                    <a:close/>
                  </a:path>
                </a:pathLst>
              </a:custGeom>
              <a:solidFill>
                <a:srgbClr val="222B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" name="budget_objective_outline_8"/>
              <p:cNvSpPr/>
              <p:nvPr/>
            </p:nvSpPr>
            <p:spPr>
              <a:xfrm>
                <a:off x="4646727" y="65213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22B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3" name="right_B"/>
            <p:cNvGrpSpPr/>
            <p:nvPr/>
          </p:nvGrpSpPr>
          <p:grpSpPr>
            <a:xfrm>
              <a:off x="3782305" y="1196597"/>
              <a:ext cx="137178" cy="109139"/>
              <a:chOff x="3782305" y="1196597"/>
              <a:chExt cx="137178" cy="109139"/>
            </a:xfrm>
          </p:grpSpPr>
          <p:sp>
            <p:nvSpPr>
              <p:cNvPr id="124" name="right_B_outline_0"/>
              <p:cNvSpPr/>
              <p:nvPr/>
            </p:nvSpPr>
            <p:spPr>
              <a:xfrm>
                <a:off x="3782305" y="1196597"/>
                <a:ext cx="75398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75398" h="82610">
                    <a:moveTo>
                      <a:pt x="69199" y="57309"/>
                    </a:moveTo>
                    <a:cubicBezTo>
                      <a:pt x="69199" y="48073"/>
                      <a:pt x="65278" y="43390"/>
                      <a:pt x="53261" y="38207"/>
                    </a:cubicBezTo>
                    <a:cubicBezTo>
                      <a:pt x="62242" y="36056"/>
                      <a:pt x="65909" y="34536"/>
                      <a:pt x="69957" y="30996"/>
                    </a:cubicBezTo>
                    <a:cubicBezTo>
                      <a:pt x="73501" y="27960"/>
                      <a:pt x="75398" y="23785"/>
                      <a:pt x="75398" y="18598"/>
                    </a:cubicBezTo>
                    <a:cubicBezTo>
                      <a:pt x="75398" y="6580"/>
                      <a:pt x="66417" y="0"/>
                      <a:pt x="50097" y="0"/>
                    </a:cubicBezTo>
                    <a:lnTo>
                      <a:pt x="17458" y="0"/>
                    </a:lnTo>
                    <a:lnTo>
                      <a:pt x="17458" y="2024"/>
                    </a:lnTo>
                    <a:cubicBezTo>
                      <a:pt x="25428" y="2655"/>
                      <a:pt x="27198" y="3544"/>
                      <a:pt x="27198" y="7211"/>
                    </a:cubicBezTo>
                    <a:cubicBezTo>
                      <a:pt x="27198" y="9108"/>
                      <a:pt x="26694" y="12144"/>
                      <a:pt x="25809" y="15307"/>
                    </a:cubicBezTo>
                    <a:lnTo>
                      <a:pt x="10247" y="71223"/>
                    </a:lnTo>
                    <a:cubicBezTo>
                      <a:pt x="7969" y="78561"/>
                      <a:pt x="7084" y="79319"/>
                      <a:pt x="0" y="80585"/>
                    </a:cubicBezTo>
                    <a:lnTo>
                      <a:pt x="0" y="82610"/>
                    </a:lnTo>
                    <a:lnTo>
                      <a:pt x="35675" y="82610"/>
                    </a:lnTo>
                    <a:cubicBezTo>
                      <a:pt x="55539" y="82610"/>
                      <a:pt x="69199" y="72362"/>
                      <a:pt x="69199" y="57309"/>
                    </a:cubicBezTo>
                    <a:close/>
                    <a:moveTo>
                      <a:pt x="55539" y="56801"/>
                    </a:moveTo>
                    <a:cubicBezTo>
                      <a:pt x="55539" y="70465"/>
                      <a:pt x="46176" y="78815"/>
                      <a:pt x="30742" y="78815"/>
                    </a:cubicBezTo>
                    <a:cubicBezTo>
                      <a:pt x="25428" y="78815"/>
                      <a:pt x="22646" y="77041"/>
                      <a:pt x="22646" y="73501"/>
                    </a:cubicBezTo>
                    <a:cubicBezTo>
                      <a:pt x="22646" y="71858"/>
                      <a:pt x="24162" y="65909"/>
                      <a:pt x="27071" y="55789"/>
                    </a:cubicBezTo>
                    <a:lnTo>
                      <a:pt x="31119" y="40735"/>
                    </a:lnTo>
                    <a:cubicBezTo>
                      <a:pt x="39092" y="40735"/>
                      <a:pt x="44529" y="41243"/>
                      <a:pt x="47061" y="42255"/>
                    </a:cubicBezTo>
                    <a:cubicBezTo>
                      <a:pt x="52376" y="44279"/>
                      <a:pt x="55539" y="49844"/>
                      <a:pt x="55539" y="56801"/>
                    </a:cubicBezTo>
                    <a:close/>
                    <a:moveTo>
                      <a:pt x="62623" y="17459"/>
                    </a:moveTo>
                    <a:cubicBezTo>
                      <a:pt x="62623" y="30488"/>
                      <a:pt x="54146" y="36687"/>
                      <a:pt x="36687" y="36687"/>
                    </a:cubicBezTo>
                    <a:lnTo>
                      <a:pt x="32385" y="36687"/>
                    </a:lnTo>
                    <a:lnTo>
                      <a:pt x="40608" y="7338"/>
                    </a:lnTo>
                    <a:cubicBezTo>
                      <a:pt x="41366" y="4556"/>
                      <a:pt x="42886" y="3794"/>
                      <a:pt x="47819" y="3794"/>
                    </a:cubicBezTo>
                    <a:cubicBezTo>
                      <a:pt x="58067" y="3794"/>
                      <a:pt x="62623" y="8096"/>
                      <a:pt x="62623" y="17459"/>
                    </a:cubicBezTo>
                    <a:close/>
                  </a:path>
                </a:pathLst>
              </a:custGeom>
              <a:solidFill>
                <a:srgbClr val="AD4D4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" name="right_B_outline_1"/>
              <p:cNvSpPr/>
              <p:nvPr/>
            </p:nvSpPr>
            <p:spPr>
              <a:xfrm>
                <a:off x="3868846" y="1233724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AD4D4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26" name="module_price_bridge"/>
          <p:cNvGrpSpPr/>
          <p:nvPr/>
        </p:nvGrpSpPr>
        <p:grpSpPr>
          <a:xfrm>
            <a:off x="50800" y="2197100"/>
            <a:ext cx="4927600" cy="381000"/>
            <a:chOff x="50800" y="2197100"/>
            <a:chExt cx="4927600" cy="381000"/>
          </a:xfrm>
        </p:grpSpPr>
        <p:sp>
          <p:nvSpPr>
            <p:cNvPr id="127" name="price_band"/>
            <p:cNvSpPr/>
            <p:nvPr/>
          </p:nvSpPr>
          <p:spPr>
            <a:xfrm>
              <a:off x="50800" y="2197100"/>
              <a:ext cx="4927600" cy="381000"/>
            </a:xfrm>
            <a:prstGeom prst="roundRect">
              <a:avLst>
                <a:gd name="adj" fmla="val 2500"/>
              </a:avLst>
            </a:prstGeom>
            <a:solidFill>
              <a:srgbClr val="F4F8F3"/>
            </a:solidFill>
            <a:ln w="7620">
              <a:solidFill>
                <a:srgbClr val="C6D9C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raw_to_filter"/>
            <p:cNvSpPr/>
            <p:nvPr/>
          </p:nvSpPr>
          <p:spPr>
            <a:xfrm>
              <a:off x="368300" y="2387600"/>
              <a:ext cx="101600" cy="127"/>
            </a:xfrm>
            <a:custGeom>
              <a:avLst/>
              <a:gdLst/>
              <a:ahLst/>
              <a:cxnLst/>
              <a:rect l="0" t="0" r="r" b="b"/>
              <a:pathLst>
                <a:path w="101600" h="1" fill="none">
                  <a:moveTo>
                    <a:pt x="0" y="0"/>
                  </a:moveTo>
                  <a:lnTo>
                    <a:pt x="101600" y="0"/>
                  </a:lnTo>
                </a:path>
              </a:pathLst>
            </a:custGeom>
            <a:noFill/>
            <a:ln w="8255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filter"/>
            <p:cNvSpPr txBox="1"/>
            <p:nvPr/>
          </p:nvSpPr>
          <p:spPr>
            <a:xfrm>
              <a:off x="495300" y="2298700"/>
              <a:ext cx="5842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clip + EMA</a:t>
              </a:r>
            </a:p>
          </p:txBody>
        </p:sp>
        <p:sp>
          <p:nvSpPr>
            <p:cNvPr id="130" name="filter_to_price"/>
            <p:cNvSpPr/>
            <p:nvPr/>
          </p:nvSpPr>
          <p:spPr>
            <a:xfrm>
              <a:off x="1104900" y="2387600"/>
              <a:ext cx="228600" cy="127"/>
            </a:xfrm>
            <a:custGeom>
              <a:avLst/>
              <a:gdLst/>
              <a:ahLst/>
              <a:cxnLst/>
              <a:rect l="0" t="0" r="r" b="b"/>
              <a:pathLst>
                <a:path w="228600" h="1" fill="none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8255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feedback_note"/>
            <p:cNvSpPr txBox="1"/>
            <p:nvPr/>
          </p:nvSpPr>
          <p:spPr>
            <a:xfrm>
              <a:off x="1435100" y="2438400"/>
              <a:ext cx="14097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BA651F"/>
                  </a:solidFill>
                  <a:latin typeface="Liberation Serif"/>
                </a:rPr>
                <a:t>observed-cost feedback</a:t>
              </a:r>
            </a:p>
          </p:txBody>
        </p:sp>
        <p:sp>
          <p:nvSpPr>
            <p:cNvPr id="132" name="feedback_to_beta"/>
            <p:cNvSpPr/>
            <p:nvPr/>
          </p:nvSpPr>
          <p:spPr>
            <a:xfrm>
              <a:off x="2540000" y="2336800"/>
              <a:ext cx="368300" cy="165100"/>
            </a:xfrm>
            <a:custGeom>
              <a:avLst/>
              <a:gdLst/>
              <a:ahLst/>
              <a:cxnLst/>
              <a:rect l="0" t="0" r="r" b="b"/>
              <a:pathLst>
                <a:path w="368300" h="165100" fill="none">
                  <a:moveTo>
                    <a:pt x="304800" y="165100"/>
                  </a:moveTo>
                  <a:lnTo>
                    <a:pt x="368300" y="165100"/>
                  </a:lnTo>
                  <a:lnTo>
                    <a:pt x="368300" y="0"/>
                  </a:lnTo>
                  <a:lnTo>
                    <a:pt x="0" y="0"/>
                  </a:lnTo>
                </a:path>
              </a:pathLst>
            </a:custGeom>
            <a:noFill/>
            <a:ln w="8255">
              <a:solidFill>
                <a:srgbClr val="BA651F"/>
              </a:solidFill>
              <a:prstDash val="dash"/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price_to_actor"/>
            <p:cNvSpPr/>
            <p:nvPr/>
          </p:nvSpPr>
          <p:spPr>
            <a:xfrm>
              <a:off x="2997200" y="2387600"/>
              <a:ext cx="533400" cy="127"/>
            </a:xfrm>
            <a:custGeom>
              <a:avLst/>
              <a:gdLst/>
              <a:ahLst/>
              <a:cxnLst/>
              <a:rect l="0" t="0" r="r" b="b"/>
              <a:pathLst>
                <a:path w="533400" h="1" fill="none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9525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actor"/>
            <p:cNvSpPr txBox="1"/>
            <p:nvPr/>
          </p:nvSpPr>
          <p:spPr>
            <a:xfrm>
              <a:off x="3035300" y="2222500"/>
              <a:ext cx="4445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681"/>
                  </a:solidFill>
                  <a:latin typeface="Liberation Serif"/>
                </a:rPr>
                <a:t>actor</a:t>
              </a:r>
            </a:p>
          </p:txBody>
        </p:sp>
        <p:sp>
          <p:nvSpPr>
            <p:cNvPr id="135" name="algorithm"/>
            <p:cNvSpPr txBox="1"/>
            <p:nvPr/>
          </p:nvSpPr>
          <p:spPr>
            <a:xfrm>
              <a:off x="3556000" y="2298700"/>
              <a:ext cx="7239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101010"/>
                  </a:solidFill>
                  <a:latin typeface="Liberation Serif"/>
                </a:rPr>
                <a:t>PPO/TRPO</a:t>
              </a:r>
            </a:p>
          </p:txBody>
        </p:sp>
        <p:sp>
          <p:nvSpPr>
            <p:cNvPr id="136" name="actor_next"/>
            <p:cNvSpPr/>
            <p:nvPr/>
          </p:nvSpPr>
          <p:spPr>
            <a:xfrm>
              <a:off x="4318000" y="2387600"/>
              <a:ext cx="254000" cy="127"/>
            </a:xfrm>
            <a:custGeom>
              <a:avLst/>
              <a:gdLst/>
              <a:ahLst/>
              <a:cxnLst/>
              <a:rect l="0" t="0" r="r" b="b"/>
              <a:pathLst>
                <a:path w="254000" h="1" fill="none">
                  <a:moveTo>
                    <a:pt x="0" y="0"/>
                  </a:moveTo>
                  <a:lnTo>
                    <a:pt x="254000" y="0"/>
                  </a:lnTo>
                </a:path>
              </a:pathLst>
            </a:custGeom>
            <a:noFill/>
            <a:ln w="825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37" name="raw_duals"/>
            <p:cNvGrpSpPr/>
            <p:nvPr/>
          </p:nvGrpSpPr>
          <p:grpSpPr>
            <a:xfrm>
              <a:off x="164774" y="2308607"/>
              <a:ext cx="133679" cy="157357"/>
              <a:chOff x="164774" y="2308607"/>
              <a:chExt cx="133679" cy="157357"/>
            </a:xfrm>
          </p:grpSpPr>
          <p:sp>
            <p:nvSpPr>
              <p:cNvPr id="138" name="raw_duals_outline_0"/>
              <p:cNvSpPr/>
              <p:nvPr/>
            </p:nvSpPr>
            <p:spPr>
              <a:xfrm>
                <a:off x="164774" y="2328746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raw_duals_outline_1"/>
              <p:cNvSpPr/>
              <p:nvPr/>
            </p:nvSpPr>
            <p:spPr>
              <a:xfrm>
                <a:off x="233604" y="2308607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" name="raw_duals_outline_2"/>
              <p:cNvSpPr/>
              <p:nvPr/>
            </p:nvSpPr>
            <p:spPr>
              <a:xfrm>
                <a:off x="239923" y="23939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1" name="combined"/>
            <p:cNvGrpSpPr/>
            <p:nvPr/>
          </p:nvGrpSpPr>
          <p:grpSpPr>
            <a:xfrm>
              <a:off x="1806236" y="2257901"/>
              <a:ext cx="694873" cy="158164"/>
              <a:chOff x="1806236" y="2257901"/>
              <a:chExt cx="694873" cy="158164"/>
            </a:xfrm>
          </p:grpSpPr>
          <p:sp>
            <p:nvSpPr>
              <p:cNvPr id="142" name="combined_outline_0"/>
              <p:cNvSpPr/>
              <p:nvPr/>
            </p:nvSpPr>
            <p:spPr>
              <a:xfrm>
                <a:off x="1806236" y="2278847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combined_outline_1"/>
              <p:cNvSpPr/>
              <p:nvPr/>
            </p:nvSpPr>
            <p:spPr>
              <a:xfrm>
                <a:off x="1881385" y="23162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combined_outline_2"/>
              <p:cNvSpPr/>
              <p:nvPr/>
            </p:nvSpPr>
            <p:spPr>
              <a:xfrm>
                <a:off x="1986057" y="2312880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combined_outline_3"/>
              <p:cNvSpPr/>
              <p:nvPr/>
            </p:nvSpPr>
            <p:spPr>
              <a:xfrm>
                <a:off x="2116577" y="2257901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combined_outline_4"/>
              <p:cNvSpPr/>
              <p:nvPr/>
            </p:nvSpPr>
            <p:spPr>
              <a:xfrm>
                <a:off x="2094209" y="2278847"/>
                <a:ext cx="64647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0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combined_outline_5"/>
              <p:cNvSpPr/>
              <p:nvPr/>
            </p:nvSpPr>
            <p:spPr>
              <a:xfrm>
                <a:off x="2163052" y="2258708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combined_outline_6"/>
              <p:cNvSpPr/>
              <p:nvPr/>
            </p:nvSpPr>
            <p:spPr>
              <a:xfrm>
                <a:off x="2169370" y="234405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combined_outline_7"/>
              <p:cNvSpPr/>
              <p:nvPr/>
            </p:nvSpPr>
            <p:spPr>
              <a:xfrm>
                <a:off x="2270905" y="2296687"/>
                <a:ext cx="64773" cy="65023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65024">
                    <a:moveTo>
                      <a:pt x="28214" y="28337"/>
                    </a:moveTo>
                    <a:lnTo>
                      <a:pt x="0" y="28337"/>
                    </a:lnTo>
                    <a:lnTo>
                      <a:pt x="0" y="36687"/>
                    </a:lnTo>
                    <a:lnTo>
                      <a:pt x="28214" y="36687"/>
                    </a:lnTo>
                    <a:lnTo>
                      <a:pt x="28214" y="65024"/>
                    </a:lnTo>
                    <a:lnTo>
                      <a:pt x="36560" y="65024"/>
                    </a:lnTo>
                    <a:lnTo>
                      <a:pt x="36560" y="36687"/>
                    </a:lnTo>
                    <a:lnTo>
                      <a:pt x="64774" y="36687"/>
                    </a:lnTo>
                    <a:lnTo>
                      <a:pt x="64774" y="28337"/>
                    </a:lnTo>
                    <a:lnTo>
                      <a:pt x="36560" y="28337"/>
                    </a:lnTo>
                    <a:lnTo>
                      <a:pt x="36560" y="0"/>
                    </a:lnTo>
                    <a:lnTo>
                      <a:pt x="28214" y="0"/>
                    </a:lnTo>
                    <a:lnTo>
                      <a:pt x="28214" y="28337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combined_outline_8"/>
              <p:cNvSpPr/>
              <p:nvPr/>
            </p:nvSpPr>
            <p:spPr>
              <a:xfrm>
                <a:off x="2366336" y="2278847"/>
                <a:ext cx="76156" cy="109049"/>
              </a:xfrm>
              <a:custGeom>
                <a:avLst/>
                <a:gdLst/>
                <a:ahLst/>
                <a:cxnLst/>
                <a:rect l="0" t="0" r="r" b="b"/>
                <a:pathLst>
                  <a:path w="76156" h="109049">
                    <a:moveTo>
                      <a:pt x="76156" y="14550"/>
                    </a:moveTo>
                    <a:cubicBezTo>
                      <a:pt x="76156" y="4556"/>
                      <a:pt x="68060" y="0"/>
                      <a:pt x="57563" y="0"/>
                    </a:cubicBezTo>
                    <a:cubicBezTo>
                      <a:pt x="44152" y="0"/>
                      <a:pt x="31123" y="8981"/>
                      <a:pt x="27579" y="21761"/>
                    </a:cubicBezTo>
                    <a:lnTo>
                      <a:pt x="8223" y="92353"/>
                    </a:lnTo>
                    <a:cubicBezTo>
                      <a:pt x="6072" y="100322"/>
                      <a:pt x="1266" y="107406"/>
                      <a:pt x="0" y="109049"/>
                    </a:cubicBezTo>
                    <a:lnTo>
                      <a:pt x="11259" y="109049"/>
                    </a:lnTo>
                    <a:cubicBezTo>
                      <a:pt x="11386" y="109049"/>
                      <a:pt x="13410" y="108037"/>
                      <a:pt x="17586" y="92226"/>
                    </a:cubicBezTo>
                    <a:lnTo>
                      <a:pt x="21888" y="75906"/>
                    </a:lnTo>
                    <a:lnTo>
                      <a:pt x="22011" y="75906"/>
                    </a:lnTo>
                    <a:cubicBezTo>
                      <a:pt x="22011" y="76033"/>
                      <a:pt x="26186" y="85015"/>
                      <a:pt x="38965" y="85015"/>
                    </a:cubicBezTo>
                    <a:cubicBezTo>
                      <a:pt x="57940" y="85015"/>
                      <a:pt x="70719" y="70846"/>
                      <a:pt x="70719" y="56297"/>
                    </a:cubicBezTo>
                    <a:cubicBezTo>
                      <a:pt x="70719" y="40485"/>
                      <a:pt x="56424" y="38080"/>
                      <a:pt x="56297" y="38080"/>
                    </a:cubicBezTo>
                    <a:lnTo>
                      <a:pt x="56297" y="37572"/>
                    </a:lnTo>
                    <a:cubicBezTo>
                      <a:pt x="56424" y="37572"/>
                      <a:pt x="76156" y="33020"/>
                      <a:pt x="76156" y="14550"/>
                    </a:cubicBezTo>
                    <a:close/>
                    <a:moveTo>
                      <a:pt x="66163" y="14296"/>
                    </a:moveTo>
                    <a:cubicBezTo>
                      <a:pt x="66163" y="20118"/>
                      <a:pt x="62873" y="34413"/>
                      <a:pt x="52753" y="34413"/>
                    </a:cubicBezTo>
                    <a:cubicBezTo>
                      <a:pt x="50097" y="34413"/>
                      <a:pt x="48074" y="33905"/>
                      <a:pt x="46049" y="33905"/>
                    </a:cubicBezTo>
                    <a:cubicBezTo>
                      <a:pt x="42632" y="33905"/>
                      <a:pt x="40231" y="36814"/>
                      <a:pt x="40231" y="39092"/>
                    </a:cubicBezTo>
                    <a:cubicBezTo>
                      <a:pt x="40231" y="40485"/>
                      <a:pt x="41243" y="41620"/>
                      <a:pt x="43517" y="41620"/>
                    </a:cubicBezTo>
                    <a:cubicBezTo>
                      <a:pt x="47061" y="41620"/>
                      <a:pt x="47947" y="40989"/>
                      <a:pt x="50856" y="40989"/>
                    </a:cubicBezTo>
                    <a:cubicBezTo>
                      <a:pt x="57182" y="40989"/>
                      <a:pt x="59964" y="47819"/>
                      <a:pt x="59964" y="54904"/>
                    </a:cubicBezTo>
                    <a:cubicBezTo>
                      <a:pt x="59964" y="67556"/>
                      <a:pt x="52376" y="79196"/>
                      <a:pt x="38838" y="79196"/>
                    </a:cubicBezTo>
                    <a:cubicBezTo>
                      <a:pt x="30234" y="79196"/>
                      <a:pt x="24670" y="74767"/>
                      <a:pt x="24670" y="67429"/>
                    </a:cubicBezTo>
                    <a:cubicBezTo>
                      <a:pt x="24670" y="65913"/>
                      <a:pt x="24924" y="64266"/>
                      <a:pt x="25428" y="62496"/>
                    </a:cubicBezTo>
                    <a:lnTo>
                      <a:pt x="36814" y="21888"/>
                    </a:lnTo>
                    <a:cubicBezTo>
                      <a:pt x="39092" y="13664"/>
                      <a:pt x="44910" y="3544"/>
                      <a:pt x="56297" y="3544"/>
                    </a:cubicBezTo>
                    <a:cubicBezTo>
                      <a:pt x="63508" y="3544"/>
                      <a:pt x="66163" y="8477"/>
                      <a:pt x="66163" y="14296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combined_outline_9"/>
              <p:cNvSpPr/>
              <p:nvPr/>
            </p:nvSpPr>
            <p:spPr>
              <a:xfrm>
                <a:off x="2450472" y="23162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2" name="pi_next"/>
            <p:cNvGrpSpPr/>
            <p:nvPr/>
          </p:nvGrpSpPr>
          <p:grpSpPr>
            <a:xfrm>
              <a:off x="4659255" y="2345622"/>
              <a:ext cx="217856" cy="82537"/>
              <a:chOff x="4659255" y="2345622"/>
              <a:chExt cx="217856" cy="82537"/>
            </a:xfrm>
          </p:grpSpPr>
          <p:sp>
            <p:nvSpPr>
              <p:cNvPr id="153" name="pi_next_outline_0"/>
              <p:cNvSpPr/>
              <p:nvPr/>
            </p:nvSpPr>
            <p:spPr>
              <a:xfrm>
                <a:off x="4659255" y="2345622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5"/>
                      <a:pt x="2151" y="16320"/>
                    </a:cubicBezTo>
                    <a:lnTo>
                      <a:pt x="3540" y="16320"/>
                    </a:lnTo>
                    <a:cubicBezTo>
                      <a:pt x="4175" y="15435"/>
                      <a:pt x="8854" y="9235"/>
                      <a:pt x="15430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pi_next_outline_1"/>
              <p:cNvSpPr/>
              <p:nvPr/>
            </p:nvSpPr>
            <p:spPr>
              <a:xfrm>
                <a:off x="4732587" y="2370156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pi_next_outline_2"/>
              <p:cNvSpPr/>
              <p:nvPr/>
            </p:nvSpPr>
            <p:spPr>
              <a:xfrm>
                <a:off x="4776686" y="2373478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" name="pi_next_outline_3"/>
              <p:cNvSpPr/>
              <p:nvPr/>
            </p:nvSpPr>
            <p:spPr>
              <a:xfrm>
                <a:off x="4847747" y="2356667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57" name="module_spectrum"/>
          <p:cNvGrpSpPr/>
          <p:nvPr/>
        </p:nvGrpSpPr>
        <p:grpSpPr>
          <a:xfrm>
            <a:off x="38100" y="1981200"/>
            <a:ext cx="4914900" cy="1021764"/>
            <a:chOff x="38100" y="1981200"/>
            <a:chExt cx="4914900" cy="1021764"/>
          </a:xfrm>
        </p:grpSpPr>
        <p:sp>
          <p:nvSpPr>
            <p:cNvPr id="158" name="ours_marker"/>
            <p:cNvSpPr/>
            <p:nvPr/>
          </p:nvSpPr>
          <p:spPr>
            <a:xfrm>
              <a:off x="2184400" y="2717800"/>
              <a:ext cx="660400" cy="133350"/>
            </a:xfrm>
            <a:prstGeom prst="roundRect">
              <a:avLst>
                <a:gd name="adj" fmla="val 2500"/>
              </a:avLst>
            </a:prstGeom>
            <a:solidFill>
              <a:srgbClr val="1878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setting0"/>
            <p:cNvSpPr txBox="1"/>
            <p:nvPr/>
          </p:nvSpPr>
          <p:spPr>
            <a:xfrm>
              <a:off x="38100" y="2717800"/>
              <a:ext cx="9652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22B32"/>
                  </a:solidFill>
                  <a:latin typeface="Liberation Serif"/>
                </a:rPr>
                <a:t>Fixed penalty</a:t>
              </a:r>
            </a:p>
          </p:txBody>
        </p:sp>
        <p:sp>
          <p:nvSpPr>
            <p:cNvPr id="160" name="setting1"/>
            <p:cNvSpPr txBox="1"/>
            <p:nvPr/>
          </p:nvSpPr>
          <p:spPr>
            <a:xfrm>
              <a:off x="1054100" y="2717800"/>
              <a:ext cx="10795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22B32"/>
                  </a:solidFill>
                  <a:latin typeface="Liberation Serif"/>
                </a:rPr>
                <a:t>Lagrangian</a:t>
              </a:r>
            </a:p>
          </p:txBody>
        </p:sp>
        <p:sp>
          <p:nvSpPr>
            <p:cNvPr id="161" name="setting2"/>
            <p:cNvSpPr txBox="1"/>
            <p:nvPr/>
          </p:nvSpPr>
          <p:spPr>
            <a:xfrm>
              <a:off x="2184400" y="2717800"/>
              <a:ext cx="6604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FFFFFF"/>
                  </a:solidFill>
                  <a:latin typeface="Liberation Serif"/>
                </a:rPr>
                <a:t>SafeOT</a:t>
              </a:r>
            </a:p>
          </p:txBody>
        </p:sp>
        <p:sp>
          <p:nvSpPr>
            <p:cNvPr id="162" name="setting3"/>
            <p:cNvSpPr txBox="1"/>
            <p:nvPr/>
          </p:nvSpPr>
          <p:spPr>
            <a:xfrm>
              <a:off x="2908300" y="2717800"/>
              <a:ext cx="5715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22B32"/>
                  </a:solidFill>
                  <a:latin typeface="Liberation Serif"/>
                </a:rPr>
                <a:t>LP</a:t>
              </a:r>
            </a:p>
          </p:txBody>
        </p:sp>
        <p:sp>
          <p:nvSpPr>
            <p:cNvPr id="163" name="setting4"/>
            <p:cNvSpPr txBox="1"/>
            <p:nvPr/>
          </p:nvSpPr>
          <p:spPr>
            <a:xfrm>
              <a:off x="3543300" y="2717800"/>
              <a:ext cx="14097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22B32"/>
                  </a:solidFill>
                  <a:latin typeface="Liberation Serif"/>
                </a:rPr>
                <a:t>Active-set</a:t>
              </a:r>
            </a:p>
          </p:txBody>
        </p:sp>
        <p:sp>
          <p:nvSpPr>
            <p:cNvPr id="164" name="advance_price"/>
            <p:cNvSpPr txBox="1"/>
            <p:nvPr/>
          </p:nvSpPr>
          <p:spPr>
            <a:xfrm>
              <a:off x="1651000" y="1981200"/>
              <a:ext cx="19050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18785B"/>
                  </a:solidFill>
                  <a:latin typeface="Liberation Serif"/>
                </a:rPr>
                <a:t>Prices before violations</a:t>
              </a:r>
            </a:p>
          </p:txBody>
        </p:sp>
        <p:sp>
          <p:nvSpPr>
            <p:cNvPr id="165" name="one_rule"/>
            <p:cNvSpPr txBox="1"/>
            <p:nvPr/>
          </p:nvSpPr>
          <p:spPr>
            <a:xfrm>
              <a:off x="50800" y="2590800"/>
              <a:ext cx="9271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18785B"/>
                  </a:solidFill>
                  <a:latin typeface="Liberation Serif"/>
                </a:rPr>
                <a:t>One price rule</a:t>
              </a:r>
            </a:p>
          </p:txBody>
        </p:sp>
        <p:sp>
          <p:nvSpPr>
            <p:cNvPr id="166" name="exact"/>
            <p:cNvSpPr txBox="1"/>
            <p:nvPr/>
          </p:nvSpPr>
          <p:spPr>
            <a:xfrm>
              <a:off x="1054100" y="2590800"/>
              <a:ext cx="11684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681"/>
                  </a:solidFill>
                  <a:latin typeface="Liberation Serif"/>
                </a:rPr>
                <a:t>exact settings</a:t>
              </a:r>
            </a:p>
          </p:txBody>
        </p:sp>
        <p:sp>
          <p:nvSpPr>
            <p:cNvPr id="167" name="limits"/>
            <p:cNvSpPr txBox="1"/>
            <p:nvPr/>
          </p:nvSpPr>
          <p:spPr>
            <a:xfrm>
              <a:off x="3136900" y="2590800"/>
              <a:ext cx="17907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681"/>
                  </a:solidFill>
                  <a:latin typeface="Liberation Serif"/>
                </a:rPr>
                <a:t>conditional limits</a:t>
              </a:r>
            </a:p>
          </p:txBody>
        </p:sp>
        <p:sp>
          <p:nvSpPr>
            <p:cNvPr id="168" name="rule_strip0"/>
            <p:cNvSpPr/>
            <p:nvPr/>
          </p:nvSpPr>
          <p:spPr>
            <a:xfrm>
              <a:off x="228600" y="2857500"/>
              <a:ext cx="46355" cy="15240"/>
            </a:xfrm>
            <a:prstGeom prst="rect">
              <a:avLst/>
            </a:prstGeom>
            <a:solidFill>
              <a:srgbClr val="285A9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rule_strip1"/>
            <p:cNvSpPr/>
            <p:nvPr/>
          </p:nvSpPr>
          <p:spPr>
            <a:xfrm>
              <a:off x="274574" y="2857500"/>
              <a:ext cx="46355" cy="15240"/>
            </a:xfrm>
            <a:prstGeom prst="rect">
              <a:avLst/>
            </a:prstGeom>
            <a:solidFill>
              <a:srgbClr val="285B9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rule_strip2"/>
            <p:cNvSpPr/>
            <p:nvPr/>
          </p:nvSpPr>
          <p:spPr>
            <a:xfrm>
              <a:off x="320548" y="2857500"/>
              <a:ext cx="46355" cy="15240"/>
            </a:xfrm>
            <a:prstGeom prst="rect">
              <a:avLst/>
            </a:prstGeom>
            <a:solidFill>
              <a:srgbClr val="275C9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rule_strip3"/>
            <p:cNvSpPr/>
            <p:nvPr/>
          </p:nvSpPr>
          <p:spPr>
            <a:xfrm>
              <a:off x="366522" y="2857500"/>
              <a:ext cx="46355" cy="15240"/>
            </a:xfrm>
            <a:prstGeom prst="rect">
              <a:avLst/>
            </a:prstGeom>
            <a:solidFill>
              <a:srgbClr val="275C9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rule_strip4"/>
            <p:cNvSpPr/>
            <p:nvPr/>
          </p:nvSpPr>
          <p:spPr>
            <a:xfrm>
              <a:off x="412496" y="2857500"/>
              <a:ext cx="46355" cy="15240"/>
            </a:xfrm>
            <a:prstGeom prst="rect">
              <a:avLst/>
            </a:prstGeom>
            <a:solidFill>
              <a:srgbClr val="265D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rule_strip5"/>
            <p:cNvSpPr/>
            <p:nvPr/>
          </p:nvSpPr>
          <p:spPr>
            <a:xfrm>
              <a:off x="458470" y="2857500"/>
              <a:ext cx="46355" cy="15240"/>
            </a:xfrm>
            <a:prstGeom prst="rect">
              <a:avLst/>
            </a:prstGeom>
            <a:solidFill>
              <a:srgbClr val="265D9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rule_strip6"/>
            <p:cNvSpPr/>
            <p:nvPr/>
          </p:nvSpPr>
          <p:spPr>
            <a:xfrm>
              <a:off x="504444" y="2857500"/>
              <a:ext cx="46355" cy="15240"/>
            </a:xfrm>
            <a:prstGeom prst="rect">
              <a:avLst/>
            </a:prstGeom>
            <a:solidFill>
              <a:srgbClr val="265E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rule_strip7"/>
            <p:cNvSpPr/>
            <p:nvPr/>
          </p:nvSpPr>
          <p:spPr>
            <a:xfrm>
              <a:off x="550418" y="2857500"/>
              <a:ext cx="46355" cy="15240"/>
            </a:xfrm>
            <a:prstGeom prst="rect">
              <a:avLst/>
            </a:prstGeom>
            <a:solidFill>
              <a:srgbClr val="265F9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rule_strip8"/>
            <p:cNvSpPr/>
            <p:nvPr/>
          </p:nvSpPr>
          <p:spPr>
            <a:xfrm>
              <a:off x="596392" y="2857500"/>
              <a:ext cx="46355" cy="15240"/>
            </a:xfrm>
            <a:prstGeom prst="rect">
              <a:avLst/>
            </a:prstGeom>
            <a:solidFill>
              <a:srgbClr val="255F9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rule_strip9"/>
            <p:cNvSpPr/>
            <p:nvPr/>
          </p:nvSpPr>
          <p:spPr>
            <a:xfrm>
              <a:off x="642366" y="2857500"/>
              <a:ext cx="46355" cy="15240"/>
            </a:xfrm>
            <a:prstGeom prst="rect">
              <a:avLst/>
            </a:prstGeom>
            <a:solidFill>
              <a:srgbClr val="25609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rule_strip10"/>
            <p:cNvSpPr/>
            <p:nvPr/>
          </p:nvSpPr>
          <p:spPr>
            <a:xfrm>
              <a:off x="688340" y="2857500"/>
              <a:ext cx="46355" cy="15240"/>
            </a:xfrm>
            <a:prstGeom prst="rect">
              <a:avLst/>
            </a:prstGeom>
            <a:solidFill>
              <a:srgbClr val="24619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rule_strip11"/>
            <p:cNvSpPr/>
            <p:nvPr/>
          </p:nvSpPr>
          <p:spPr>
            <a:xfrm>
              <a:off x="734314" y="2857500"/>
              <a:ext cx="46355" cy="15240"/>
            </a:xfrm>
            <a:prstGeom prst="rect">
              <a:avLst/>
            </a:prstGeom>
            <a:solidFill>
              <a:srgbClr val="24618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rule_strip12"/>
            <p:cNvSpPr/>
            <p:nvPr/>
          </p:nvSpPr>
          <p:spPr>
            <a:xfrm>
              <a:off x="780288" y="2857500"/>
              <a:ext cx="46355" cy="15240"/>
            </a:xfrm>
            <a:prstGeom prst="rect">
              <a:avLst/>
            </a:prstGeom>
            <a:solidFill>
              <a:srgbClr val="24628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rule_strip13"/>
            <p:cNvSpPr/>
            <p:nvPr/>
          </p:nvSpPr>
          <p:spPr>
            <a:xfrm>
              <a:off x="826262" y="2857500"/>
              <a:ext cx="46355" cy="15240"/>
            </a:xfrm>
            <a:prstGeom prst="rect">
              <a:avLst/>
            </a:prstGeom>
            <a:solidFill>
              <a:srgbClr val="24628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rule_strip14"/>
            <p:cNvSpPr/>
            <p:nvPr/>
          </p:nvSpPr>
          <p:spPr>
            <a:xfrm>
              <a:off x="872236" y="2857500"/>
              <a:ext cx="46355" cy="15240"/>
            </a:xfrm>
            <a:prstGeom prst="rect">
              <a:avLst/>
            </a:prstGeom>
            <a:solidFill>
              <a:srgbClr val="23638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rule_strip15"/>
            <p:cNvSpPr/>
            <p:nvPr/>
          </p:nvSpPr>
          <p:spPr>
            <a:xfrm>
              <a:off x="918210" y="2857500"/>
              <a:ext cx="46355" cy="15240"/>
            </a:xfrm>
            <a:prstGeom prst="rect">
              <a:avLst/>
            </a:prstGeom>
            <a:solidFill>
              <a:srgbClr val="2364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rule_strip16"/>
            <p:cNvSpPr/>
            <p:nvPr/>
          </p:nvSpPr>
          <p:spPr>
            <a:xfrm>
              <a:off x="964184" y="2857500"/>
              <a:ext cx="46355" cy="15240"/>
            </a:xfrm>
            <a:prstGeom prst="rect">
              <a:avLst/>
            </a:prstGeom>
            <a:solidFill>
              <a:srgbClr val="2264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rule_strip17"/>
            <p:cNvSpPr/>
            <p:nvPr/>
          </p:nvSpPr>
          <p:spPr>
            <a:xfrm>
              <a:off x="1010157" y="2857500"/>
              <a:ext cx="46355" cy="15240"/>
            </a:xfrm>
            <a:prstGeom prst="rect">
              <a:avLst/>
            </a:prstGeom>
            <a:solidFill>
              <a:srgbClr val="22658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rule_strip18"/>
            <p:cNvSpPr/>
            <p:nvPr/>
          </p:nvSpPr>
          <p:spPr>
            <a:xfrm>
              <a:off x="1056132" y="2857500"/>
              <a:ext cx="46355" cy="15240"/>
            </a:xfrm>
            <a:prstGeom prst="rect">
              <a:avLst/>
            </a:prstGeom>
            <a:solidFill>
              <a:srgbClr val="22668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rule_strip19"/>
            <p:cNvSpPr/>
            <p:nvPr/>
          </p:nvSpPr>
          <p:spPr>
            <a:xfrm>
              <a:off x="1102106" y="2857500"/>
              <a:ext cx="46355" cy="15240"/>
            </a:xfrm>
            <a:prstGeom prst="rect">
              <a:avLst/>
            </a:prstGeom>
            <a:solidFill>
              <a:srgbClr val="2266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rule_strip20"/>
            <p:cNvSpPr/>
            <p:nvPr/>
          </p:nvSpPr>
          <p:spPr>
            <a:xfrm>
              <a:off x="1148080" y="2857500"/>
              <a:ext cx="46355" cy="15240"/>
            </a:xfrm>
            <a:prstGeom prst="rect">
              <a:avLst/>
            </a:prstGeom>
            <a:solidFill>
              <a:srgbClr val="21678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rule_strip21"/>
            <p:cNvSpPr/>
            <p:nvPr/>
          </p:nvSpPr>
          <p:spPr>
            <a:xfrm>
              <a:off x="1194054" y="2857500"/>
              <a:ext cx="46355" cy="15240"/>
            </a:xfrm>
            <a:prstGeom prst="rect">
              <a:avLst/>
            </a:prstGeom>
            <a:solidFill>
              <a:srgbClr val="2167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rule_strip22"/>
            <p:cNvSpPr/>
            <p:nvPr/>
          </p:nvSpPr>
          <p:spPr>
            <a:xfrm>
              <a:off x="1240028" y="2857500"/>
              <a:ext cx="46355" cy="15240"/>
            </a:xfrm>
            <a:prstGeom prst="rect">
              <a:avLst/>
            </a:prstGeom>
            <a:solidFill>
              <a:srgbClr val="20688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rule_strip23"/>
            <p:cNvSpPr/>
            <p:nvPr/>
          </p:nvSpPr>
          <p:spPr>
            <a:xfrm>
              <a:off x="1286002" y="2857500"/>
              <a:ext cx="46355" cy="15240"/>
            </a:xfrm>
            <a:prstGeom prst="rect">
              <a:avLst/>
            </a:prstGeom>
            <a:solidFill>
              <a:srgbClr val="20697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rule_strip24"/>
            <p:cNvSpPr/>
            <p:nvPr/>
          </p:nvSpPr>
          <p:spPr>
            <a:xfrm>
              <a:off x="1331976" y="2857500"/>
              <a:ext cx="46355" cy="15240"/>
            </a:xfrm>
            <a:prstGeom prst="rect">
              <a:avLst/>
            </a:prstGeom>
            <a:solidFill>
              <a:srgbClr val="20697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rule_strip25"/>
            <p:cNvSpPr/>
            <p:nvPr/>
          </p:nvSpPr>
          <p:spPr>
            <a:xfrm>
              <a:off x="1377950" y="2857500"/>
              <a:ext cx="46355" cy="15240"/>
            </a:xfrm>
            <a:prstGeom prst="rect">
              <a:avLst/>
            </a:prstGeom>
            <a:solidFill>
              <a:srgbClr val="206A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rule_strip26"/>
            <p:cNvSpPr/>
            <p:nvPr/>
          </p:nvSpPr>
          <p:spPr>
            <a:xfrm>
              <a:off x="1423924" y="2857500"/>
              <a:ext cx="46355" cy="15240"/>
            </a:xfrm>
            <a:prstGeom prst="rect">
              <a:avLst/>
            </a:prstGeom>
            <a:solidFill>
              <a:srgbClr val="1F6B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rule_strip27"/>
            <p:cNvSpPr/>
            <p:nvPr/>
          </p:nvSpPr>
          <p:spPr>
            <a:xfrm>
              <a:off x="1469898" y="2857500"/>
              <a:ext cx="46355" cy="15240"/>
            </a:xfrm>
            <a:prstGeom prst="rect">
              <a:avLst/>
            </a:prstGeom>
            <a:solidFill>
              <a:srgbClr val="1F6B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rule_strip28"/>
            <p:cNvSpPr/>
            <p:nvPr/>
          </p:nvSpPr>
          <p:spPr>
            <a:xfrm>
              <a:off x="1515872" y="2857500"/>
              <a:ext cx="46355" cy="15240"/>
            </a:xfrm>
            <a:prstGeom prst="rect">
              <a:avLst/>
            </a:prstGeom>
            <a:solidFill>
              <a:srgbClr val="1E6C7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rule_strip29"/>
            <p:cNvSpPr/>
            <p:nvPr/>
          </p:nvSpPr>
          <p:spPr>
            <a:xfrm>
              <a:off x="1561846" y="2857500"/>
              <a:ext cx="46355" cy="15240"/>
            </a:xfrm>
            <a:prstGeom prst="rect">
              <a:avLst/>
            </a:prstGeom>
            <a:solidFill>
              <a:srgbClr val="1E6C7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rule_strip30"/>
            <p:cNvSpPr/>
            <p:nvPr/>
          </p:nvSpPr>
          <p:spPr>
            <a:xfrm>
              <a:off x="1607820" y="2857500"/>
              <a:ext cx="46355" cy="15240"/>
            </a:xfrm>
            <a:prstGeom prst="rect">
              <a:avLst/>
            </a:prstGeom>
            <a:solidFill>
              <a:srgbClr val="1E6D7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rule_strip31"/>
            <p:cNvSpPr/>
            <p:nvPr/>
          </p:nvSpPr>
          <p:spPr>
            <a:xfrm>
              <a:off x="1653794" y="2857500"/>
              <a:ext cx="46355" cy="15240"/>
            </a:xfrm>
            <a:prstGeom prst="rect">
              <a:avLst/>
            </a:prstGeom>
            <a:solidFill>
              <a:srgbClr val="1E6E7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rule_strip32"/>
            <p:cNvSpPr/>
            <p:nvPr/>
          </p:nvSpPr>
          <p:spPr>
            <a:xfrm>
              <a:off x="1699768" y="2857500"/>
              <a:ext cx="46355" cy="15240"/>
            </a:xfrm>
            <a:prstGeom prst="rect">
              <a:avLst/>
            </a:prstGeom>
            <a:solidFill>
              <a:srgbClr val="1D6E7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rule_strip33"/>
            <p:cNvSpPr/>
            <p:nvPr/>
          </p:nvSpPr>
          <p:spPr>
            <a:xfrm>
              <a:off x="1745741" y="2857500"/>
              <a:ext cx="46355" cy="15240"/>
            </a:xfrm>
            <a:prstGeom prst="rect">
              <a:avLst/>
            </a:prstGeom>
            <a:solidFill>
              <a:srgbClr val="1D6F7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rule_strip34"/>
            <p:cNvSpPr/>
            <p:nvPr/>
          </p:nvSpPr>
          <p:spPr>
            <a:xfrm>
              <a:off x="1791715" y="2857500"/>
              <a:ext cx="46355" cy="15240"/>
            </a:xfrm>
            <a:prstGeom prst="rect">
              <a:avLst/>
            </a:prstGeom>
            <a:solidFill>
              <a:srgbClr val="1C706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rule_strip35"/>
            <p:cNvSpPr/>
            <p:nvPr/>
          </p:nvSpPr>
          <p:spPr>
            <a:xfrm>
              <a:off x="1837689" y="2857500"/>
              <a:ext cx="46355" cy="15240"/>
            </a:xfrm>
            <a:prstGeom prst="rect">
              <a:avLst/>
            </a:prstGeom>
            <a:solidFill>
              <a:srgbClr val="1C706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rule_strip36"/>
            <p:cNvSpPr/>
            <p:nvPr/>
          </p:nvSpPr>
          <p:spPr>
            <a:xfrm>
              <a:off x="1883664" y="2857500"/>
              <a:ext cx="46355" cy="15240"/>
            </a:xfrm>
            <a:prstGeom prst="rect">
              <a:avLst/>
            </a:prstGeom>
            <a:solidFill>
              <a:srgbClr val="1C716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rule_strip37"/>
            <p:cNvSpPr/>
            <p:nvPr/>
          </p:nvSpPr>
          <p:spPr>
            <a:xfrm>
              <a:off x="1929638" y="2857500"/>
              <a:ext cx="46355" cy="15240"/>
            </a:xfrm>
            <a:prstGeom prst="rect">
              <a:avLst/>
            </a:prstGeom>
            <a:solidFill>
              <a:srgbClr val="1C716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rule_strip38"/>
            <p:cNvSpPr/>
            <p:nvPr/>
          </p:nvSpPr>
          <p:spPr>
            <a:xfrm>
              <a:off x="1975612" y="2857500"/>
              <a:ext cx="46355" cy="15240"/>
            </a:xfrm>
            <a:prstGeom prst="rect">
              <a:avLst/>
            </a:prstGeom>
            <a:solidFill>
              <a:srgbClr val="1B72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rule_strip39"/>
            <p:cNvSpPr/>
            <p:nvPr/>
          </p:nvSpPr>
          <p:spPr>
            <a:xfrm>
              <a:off x="2021586" y="2857500"/>
              <a:ext cx="46355" cy="15240"/>
            </a:xfrm>
            <a:prstGeom prst="rect">
              <a:avLst/>
            </a:prstGeom>
            <a:solidFill>
              <a:srgbClr val="1B736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rule_strip40"/>
            <p:cNvSpPr/>
            <p:nvPr/>
          </p:nvSpPr>
          <p:spPr>
            <a:xfrm>
              <a:off x="2067560" y="2857500"/>
              <a:ext cx="46355" cy="15240"/>
            </a:xfrm>
            <a:prstGeom prst="rect">
              <a:avLst/>
            </a:prstGeom>
            <a:solidFill>
              <a:srgbClr val="1A7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rule_strip41"/>
            <p:cNvSpPr/>
            <p:nvPr/>
          </p:nvSpPr>
          <p:spPr>
            <a:xfrm>
              <a:off x="2113534" y="2857500"/>
              <a:ext cx="46355" cy="15240"/>
            </a:xfrm>
            <a:prstGeom prst="rect">
              <a:avLst/>
            </a:prstGeom>
            <a:solidFill>
              <a:srgbClr val="1A74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rule_strip42"/>
            <p:cNvSpPr/>
            <p:nvPr/>
          </p:nvSpPr>
          <p:spPr>
            <a:xfrm>
              <a:off x="2159508" y="2857500"/>
              <a:ext cx="46355" cy="15240"/>
            </a:xfrm>
            <a:prstGeom prst="rect">
              <a:avLst/>
            </a:prstGeom>
            <a:solidFill>
              <a:srgbClr val="1A756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rule_strip43"/>
            <p:cNvSpPr/>
            <p:nvPr/>
          </p:nvSpPr>
          <p:spPr>
            <a:xfrm>
              <a:off x="2205482" y="2857500"/>
              <a:ext cx="46355" cy="15240"/>
            </a:xfrm>
            <a:prstGeom prst="rect">
              <a:avLst/>
            </a:prstGeom>
            <a:solidFill>
              <a:srgbClr val="1A756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rule_strip44"/>
            <p:cNvSpPr/>
            <p:nvPr/>
          </p:nvSpPr>
          <p:spPr>
            <a:xfrm>
              <a:off x="2251456" y="2857500"/>
              <a:ext cx="46355" cy="15240"/>
            </a:xfrm>
            <a:prstGeom prst="rect">
              <a:avLst/>
            </a:prstGeom>
            <a:solidFill>
              <a:srgbClr val="1976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rule_strip45"/>
            <p:cNvSpPr/>
            <p:nvPr/>
          </p:nvSpPr>
          <p:spPr>
            <a:xfrm>
              <a:off x="2297430" y="2857500"/>
              <a:ext cx="46355" cy="15240"/>
            </a:xfrm>
            <a:prstGeom prst="rect">
              <a:avLst/>
            </a:prstGeom>
            <a:solidFill>
              <a:srgbClr val="19765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rule_strip46"/>
            <p:cNvSpPr/>
            <p:nvPr/>
          </p:nvSpPr>
          <p:spPr>
            <a:xfrm>
              <a:off x="2343404" y="2857500"/>
              <a:ext cx="46355" cy="15240"/>
            </a:xfrm>
            <a:prstGeom prst="rect">
              <a:avLst/>
            </a:prstGeom>
            <a:solidFill>
              <a:srgbClr val="18775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rule_strip47"/>
            <p:cNvSpPr/>
            <p:nvPr/>
          </p:nvSpPr>
          <p:spPr>
            <a:xfrm>
              <a:off x="2389378" y="2857500"/>
              <a:ext cx="46355" cy="15240"/>
            </a:xfrm>
            <a:prstGeom prst="rect">
              <a:avLst/>
            </a:prstGeom>
            <a:solidFill>
              <a:srgbClr val="1878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rule_strip48"/>
            <p:cNvSpPr/>
            <p:nvPr/>
          </p:nvSpPr>
          <p:spPr>
            <a:xfrm>
              <a:off x="2435352" y="2857500"/>
              <a:ext cx="46355" cy="15240"/>
            </a:xfrm>
            <a:prstGeom prst="rect">
              <a:avLst/>
            </a:prstGeom>
            <a:solidFill>
              <a:srgbClr val="1978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rule_strip49"/>
            <p:cNvSpPr/>
            <p:nvPr/>
          </p:nvSpPr>
          <p:spPr>
            <a:xfrm>
              <a:off x="2481326" y="2857500"/>
              <a:ext cx="46355" cy="15240"/>
            </a:xfrm>
            <a:prstGeom prst="rect">
              <a:avLst/>
            </a:prstGeom>
            <a:solidFill>
              <a:srgbClr val="1C775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rule_strip50"/>
            <p:cNvSpPr/>
            <p:nvPr/>
          </p:nvSpPr>
          <p:spPr>
            <a:xfrm>
              <a:off x="2527300" y="2857500"/>
              <a:ext cx="46355" cy="15240"/>
            </a:xfrm>
            <a:prstGeom prst="rect">
              <a:avLst/>
            </a:prstGeom>
            <a:solidFill>
              <a:srgbClr val="1F765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rule_strip51"/>
            <p:cNvSpPr/>
            <p:nvPr/>
          </p:nvSpPr>
          <p:spPr>
            <a:xfrm>
              <a:off x="2573274" y="2857500"/>
              <a:ext cx="46355" cy="15240"/>
            </a:xfrm>
            <a:prstGeom prst="rect">
              <a:avLst/>
            </a:prstGeom>
            <a:solidFill>
              <a:srgbClr val="22755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rule_strip52"/>
            <p:cNvSpPr/>
            <p:nvPr/>
          </p:nvSpPr>
          <p:spPr>
            <a:xfrm>
              <a:off x="2619248" y="2857500"/>
              <a:ext cx="46355" cy="15240"/>
            </a:xfrm>
            <a:prstGeom prst="rect">
              <a:avLst/>
            </a:prstGeom>
            <a:solidFill>
              <a:srgbClr val="2574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rule_strip53"/>
            <p:cNvSpPr/>
            <p:nvPr/>
          </p:nvSpPr>
          <p:spPr>
            <a:xfrm>
              <a:off x="2665222" y="2857500"/>
              <a:ext cx="46355" cy="15240"/>
            </a:xfrm>
            <a:prstGeom prst="rect">
              <a:avLst/>
            </a:prstGeom>
            <a:solidFill>
              <a:srgbClr val="2873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rule_strip54"/>
            <p:cNvSpPr/>
            <p:nvPr/>
          </p:nvSpPr>
          <p:spPr>
            <a:xfrm>
              <a:off x="2711196" y="2857500"/>
              <a:ext cx="46355" cy="15240"/>
            </a:xfrm>
            <a:prstGeom prst="rect">
              <a:avLst/>
            </a:prstGeom>
            <a:solidFill>
              <a:srgbClr val="2B73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rule_strip55"/>
            <p:cNvSpPr/>
            <p:nvPr/>
          </p:nvSpPr>
          <p:spPr>
            <a:xfrm>
              <a:off x="2757170" y="2857500"/>
              <a:ext cx="46355" cy="15240"/>
            </a:xfrm>
            <a:prstGeom prst="rect">
              <a:avLst/>
            </a:prstGeom>
            <a:solidFill>
              <a:srgbClr val="2D72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rule_strip56"/>
            <p:cNvSpPr/>
            <p:nvPr/>
          </p:nvSpPr>
          <p:spPr>
            <a:xfrm>
              <a:off x="2803144" y="2857500"/>
              <a:ext cx="46355" cy="15240"/>
            </a:xfrm>
            <a:prstGeom prst="rect">
              <a:avLst/>
            </a:prstGeom>
            <a:solidFill>
              <a:srgbClr val="3071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rule_strip57"/>
            <p:cNvSpPr/>
            <p:nvPr/>
          </p:nvSpPr>
          <p:spPr>
            <a:xfrm>
              <a:off x="2849118" y="2857500"/>
              <a:ext cx="46355" cy="15240"/>
            </a:xfrm>
            <a:prstGeom prst="rect">
              <a:avLst/>
            </a:prstGeom>
            <a:solidFill>
              <a:srgbClr val="3370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rule_strip58"/>
            <p:cNvSpPr/>
            <p:nvPr/>
          </p:nvSpPr>
          <p:spPr>
            <a:xfrm>
              <a:off x="2895092" y="2857500"/>
              <a:ext cx="46355" cy="15240"/>
            </a:xfrm>
            <a:prstGeom prst="rect">
              <a:avLst/>
            </a:prstGeom>
            <a:solidFill>
              <a:srgbClr val="366F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rule_strip59"/>
            <p:cNvSpPr/>
            <p:nvPr/>
          </p:nvSpPr>
          <p:spPr>
            <a:xfrm>
              <a:off x="2941066" y="2857500"/>
              <a:ext cx="46355" cy="15240"/>
            </a:xfrm>
            <a:prstGeom prst="rect">
              <a:avLst/>
            </a:prstGeom>
            <a:solidFill>
              <a:srgbClr val="396E5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rule_strip60"/>
            <p:cNvSpPr/>
            <p:nvPr/>
          </p:nvSpPr>
          <p:spPr>
            <a:xfrm>
              <a:off x="2987040" y="2857500"/>
              <a:ext cx="46355" cy="15240"/>
            </a:xfrm>
            <a:prstGeom prst="rect">
              <a:avLst/>
            </a:prstGeom>
            <a:solidFill>
              <a:srgbClr val="3C6E5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rule_strip61"/>
            <p:cNvSpPr/>
            <p:nvPr/>
          </p:nvSpPr>
          <p:spPr>
            <a:xfrm>
              <a:off x="3033014" y="2857500"/>
              <a:ext cx="46355" cy="15240"/>
            </a:xfrm>
            <a:prstGeom prst="rect">
              <a:avLst/>
            </a:prstGeom>
            <a:solidFill>
              <a:srgbClr val="3F6D5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rule_strip62"/>
            <p:cNvSpPr/>
            <p:nvPr/>
          </p:nvSpPr>
          <p:spPr>
            <a:xfrm>
              <a:off x="3078988" y="2857500"/>
              <a:ext cx="46355" cy="15240"/>
            </a:xfrm>
            <a:prstGeom prst="rect">
              <a:avLst/>
            </a:prstGeom>
            <a:solidFill>
              <a:srgbClr val="426C5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rule_strip63"/>
            <p:cNvSpPr/>
            <p:nvPr/>
          </p:nvSpPr>
          <p:spPr>
            <a:xfrm>
              <a:off x="3124962" y="2857500"/>
              <a:ext cx="46355" cy="15240"/>
            </a:xfrm>
            <a:prstGeom prst="rect">
              <a:avLst/>
            </a:prstGeom>
            <a:solidFill>
              <a:srgbClr val="446B5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rule_strip64"/>
            <p:cNvSpPr/>
            <p:nvPr/>
          </p:nvSpPr>
          <p:spPr>
            <a:xfrm>
              <a:off x="3170936" y="2857500"/>
              <a:ext cx="46355" cy="15240"/>
            </a:xfrm>
            <a:prstGeom prst="rect">
              <a:avLst/>
            </a:prstGeom>
            <a:solidFill>
              <a:srgbClr val="476A5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rule_strip65"/>
            <p:cNvSpPr/>
            <p:nvPr/>
          </p:nvSpPr>
          <p:spPr>
            <a:xfrm>
              <a:off x="3216910" y="2857500"/>
              <a:ext cx="46355" cy="15240"/>
            </a:xfrm>
            <a:prstGeom prst="rect">
              <a:avLst/>
            </a:prstGeom>
            <a:solidFill>
              <a:srgbClr val="4A6A5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rule_strip66"/>
            <p:cNvSpPr/>
            <p:nvPr/>
          </p:nvSpPr>
          <p:spPr>
            <a:xfrm>
              <a:off x="3262883" y="2857500"/>
              <a:ext cx="46355" cy="15240"/>
            </a:xfrm>
            <a:prstGeom prst="rect">
              <a:avLst/>
            </a:prstGeom>
            <a:solidFill>
              <a:srgbClr val="4D695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rule_strip67"/>
            <p:cNvSpPr/>
            <p:nvPr/>
          </p:nvSpPr>
          <p:spPr>
            <a:xfrm>
              <a:off x="3308857" y="2857500"/>
              <a:ext cx="46355" cy="15240"/>
            </a:xfrm>
            <a:prstGeom prst="rect">
              <a:avLst/>
            </a:prstGeom>
            <a:solidFill>
              <a:srgbClr val="50685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rule_strip68"/>
            <p:cNvSpPr/>
            <p:nvPr/>
          </p:nvSpPr>
          <p:spPr>
            <a:xfrm>
              <a:off x="3354831" y="2857500"/>
              <a:ext cx="46355" cy="15240"/>
            </a:xfrm>
            <a:prstGeom prst="rect">
              <a:avLst/>
            </a:prstGeom>
            <a:solidFill>
              <a:srgbClr val="53675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rule_strip69"/>
            <p:cNvSpPr/>
            <p:nvPr/>
          </p:nvSpPr>
          <p:spPr>
            <a:xfrm>
              <a:off x="3400805" y="2857500"/>
              <a:ext cx="46355" cy="15240"/>
            </a:xfrm>
            <a:prstGeom prst="rect">
              <a:avLst/>
            </a:prstGeom>
            <a:solidFill>
              <a:srgbClr val="56665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rule_strip70"/>
            <p:cNvSpPr/>
            <p:nvPr/>
          </p:nvSpPr>
          <p:spPr>
            <a:xfrm>
              <a:off x="3446779" y="2857500"/>
              <a:ext cx="46355" cy="15240"/>
            </a:xfrm>
            <a:prstGeom prst="rect">
              <a:avLst/>
            </a:prstGeom>
            <a:solidFill>
              <a:srgbClr val="58655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9" name="rule_strip71"/>
            <p:cNvSpPr/>
            <p:nvPr/>
          </p:nvSpPr>
          <p:spPr>
            <a:xfrm>
              <a:off x="3492754" y="2857500"/>
              <a:ext cx="46355" cy="15240"/>
            </a:xfrm>
            <a:prstGeom prst="rect">
              <a:avLst/>
            </a:prstGeom>
            <a:solidFill>
              <a:srgbClr val="5B655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0" name="rule_strip72"/>
            <p:cNvSpPr/>
            <p:nvPr/>
          </p:nvSpPr>
          <p:spPr>
            <a:xfrm>
              <a:off x="3538728" y="2857500"/>
              <a:ext cx="46355" cy="15240"/>
            </a:xfrm>
            <a:prstGeom prst="rect">
              <a:avLst/>
            </a:prstGeom>
            <a:solidFill>
              <a:srgbClr val="5E645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1" name="rule_strip73"/>
            <p:cNvSpPr/>
            <p:nvPr/>
          </p:nvSpPr>
          <p:spPr>
            <a:xfrm>
              <a:off x="3584702" y="2857500"/>
              <a:ext cx="46355" cy="15240"/>
            </a:xfrm>
            <a:prstGeom prst="rect">
              <a:avLst/>
            </a:prstGeom>
            <a:solidFill>
              <a:srgbClr val="61635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2" name="rule_strip74"/>
            <p:cNvSpPr/>
            <p:nvPr/>
          </p:nvSpPr>
          <p:spPr>
            <a:xfrm>
              <a:off x="3630676" y="2857500"/>
              <a:ext cx="46355" cy="15240"/>
            </a:xfrm>
            <a:prstGeom prst="rect">
              <a:avLst/>
            </a:prstGeom>
            <a:solidFill>
              <a:srgbClr val="6462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rule_strip75"/>
            <p:cNvSpPr/>
            <p:nvPr/>
          </p:nvSpPr>
          <p:spPr>
            <a:xfrm>
              <a:off x="3676650" y="2857500"/>
              <a:ext cx="46355" cy="15240"/>
            </a:xfrm>
            <a:prstGeom prst="rect">
              <a:avLst/>
            </a:prstGeom>
            <a:solidFill>
              <a:srgbClr val="6761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4" name="rule_strip76"/>
            <p:cNvSpPr/>
            <p:nvPr/>
          </p:nvSpPr>
          <p:spPr>
            <a:xfrm>
              <a:off x="3722624" y="2857500"/>
              <a:ext cx="46355" cy="15240"/>
            </a:xfrm>
            <a:prstGeom prst="rect">
              <a:avLst/>
            </a:prstGeom>
            <a:solidFill>
              <a:srgbClr val="6A604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5" name="rule_strip77"/>
            <p:cNvSpPr/>
            <p:nvPr/>
          </p:nvSpPr>
          <p:spPr>
            <a:xfrm>
              <a:off x="3768598" y="2857500"/>
              <a:ext cx="46355" cy="15240"/>
            </a:xfrm>
            <a:prstGeom prst="rect">
              <a:avLst/>
            </a:prstGeom>
            <a:solidFill>
              <a:srgbClr val="6D604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6" name="rule_strip78"/>
            <p:cNvSpPr/>
            <p:nvPr/>
          </p:nvSpPr>
          <p:spPr>
            <a:xfrm>
              <a:off x="3814572" y="2857500"/>
              <a:ext cx="46355" cy="15240"/>
            </a:xfrm>
            <a:prstGeom prst="rect">
              <a:avLst/>
            </a:prstGeom>
            <a:solidFill>
              <a:srgbClr val="6F5F4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7" name="rule_strip79"/>
            <p:cNvSpPr/>
            <p:nvPr/>
          </p:nvSpPr>
          <p:spPr>
            <a:xfrm>
              <a:off x="3860546" y="2857500"/>
              <a:ext cx="46355" cy="15240"/>
            </a:xfrm>
            <a:prstGeom prst="rect">
              <a:avLst/>
            </a:prstGeom>
            <a:solidFill>
              <a:srgbClr val="725E4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8" name="rule_strip80"/>
            <p:cNvSpPr/>
            <p:nvPr/>
          </p:nvSpPr>
          <p:spPr>
            <a:xfrm>
              <a:off x="3906520" y="2857500"/>
              <a:ext cx="46355" cy="15240"/>
            </a:xfrm>
            <a:prstGeom prst="rect">
              <a:avLst/>
            </a:prstGeom>
            <a:solidFill>
              <a:srgbClr val="755D4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9" name="rule_strip81"/>
            <p:cNvSpPr/>
            <p:nvPr/>
          </p:nvSpPr>
          <p:spPr>
            <a:xfrm>
              <a:off x="3952494" y="2857500"/>
              <a:ext cx="46355" cy="15240"/>
            </a:xfrm>
            <a:prstGeom prst="rect">
              <a:avLst/>
            </a:prstGeom>
            <a:solidFill>
              <a:srgbClr val="785C4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rule_strip82"/>
            <p:cNvSpPr/>
            <p:nvPr/>
          </p:nvSpPr>
          <p:spPr>
            <a:xfrm>
              <a:off x="3998467" y="2857500"/>
              <a:ext cx="46355" cy="15240"/>
            </a:xfrm>
            <a:prstGeom prst="rect">
              <a:avLst/>
            </a:prstGeom>
            <a:solidFill>
              <a:srgbClr val="7B5B4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1" name="rule_strip83"/>
            <p:cNvSpPr/>
            <p:nvPr/>
          </p:nvSpPr>
          <p:spPr>
            <a:xfrm>
              <a:off x="4044441" y="2857500"/>
              <a:ext cx="46355" cy="15240"/>
            </a:xfrm>
            <a:prstGeom prst="rect">
              <a:avLst/>
            </a:prstGeom>
            <a:solidFill>
              <a:srgbClr val="7E5B4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2" name="rule_strip84"/>
            <p:cNvSpPr/>
            <p:nvPr/>
          </p:nvSpPr>
          <p:spPr>
            <a:xfrm>
              <a:off x="4090416" y="2857500"/>
              <a:ext cx="46355" cy="15240"/>
            </a:xfrm>
            <a:prstGeom prst="rect">
              <a:avLst/>
            </a:prstGeom>
            <a:solidFill>
              <a:srgbClr val="815A4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3" name="rule_strip85"/>
            <p:cNvSpPr/>
            <p:nvPr/>
          </p:nvSpPr>
          <p:spPr>
            <a:xfrm>
              <a:off x="4136390" y="2857500"/>
              <a:ext cx="46355" cy="15240"/>
            </a:xfrm>
            <a:prstGeom prst="rect">
              <a:avLst/>
            </a:prstGeom>
            <a:solidFill>
              <a:srgbClr val="83594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4" name="rule_strip86"/>
            <p:cNvSpPr/>
            <p:nvPr/>
          </p:nvSpPr>
          <p:spPr>
            <a:xfrm>
              <a:off x="4182364" y="2857500"/>
              <a:ext cx="46355" cy="15240"/>
            </a:xfrm>
            <a:prstGeom prst="rect">
              <a:avLst/>
            </a:prstGeom>
            <a:solidFill>
              <a:srgbClr val="86584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rule_strip87"/>
            <p:cNvSpPr/>
            <p:nvPr/>
          </p:nvSpPr>
          <p:spPr>
            <a:xfrm>
              <a:off x="4228338" y="2857500"/>
              <a:ext cx="46355" cy="15240"/>
            </a:xfrm>
            <a:prstGeom prst="rect">
              <a:avLst/>
            </a:prstGeom>
            <a:solidFill>
              <a:srgbClr val="89574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rule_strip88"/>
            <p:cNvSpPr/>
            <p:nvPr/>
          </p:nvSpPr>
          <p:spPr>
            <a:xfrm>
              <a:off x="4274312" y="2857500"/>
              <a:ext cx="46355" cy="15240"/>
            </a:xfrm>
            <a:prstGeom prst="rect">
              <a:avLst/>
            </a:prstGeom>
            <a:solidFill>
              <a:srgbClr val="8C574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7" name="rule_strip89"/>
            <p:cNvSpPr/>
            <p:nvPr/>
          </p:nvSpPr>
          <p:spPr>
            <a:xfrm>
              <a:off x="4320286" y="2857500"/>
              <a:ext cx="46355" cy="15240"/>
            </a:xfrm>
            <a:prstGeom prst="rect">
              <a:avLst/>
            </a:prstGeom>
            <a:solidFill>
              <a:srgbClr val="8F56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rule_strip90"/>
            <p:cNvSpPr/>
            <p:nvPr/>
          </p:nvSpPr>
          <p:spPr>
            <a:xfrm>
              <a:off x="4366260" y="2857500"/>
              <a:ext cx="46355" cy="15240"/>
            </a:xfrm>
            <a:prstGeom prst="rect">
              <a:avLst/>
            </a:prstGeom>
            <a:solidFill>
              <a:srgbClr val="9255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9" name="rule_strip91"/>
            <p:cNvSpPr/>
            <p:nvPr/>
          </p:nvSpPr>
          <p:spPr>
            <a:xfrm>
              <a:off x="4412234" y="2857500"/>
              <a:ext cx="46355" cy="15240"/>
            </a:xfrm>
            <a:prstGeom prst="rect">
              <a:avLst/>
            </a:prstGeom>
            <a:solidFill>
              <a:srgbClr val="95544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0" name="rule_strip92"/>
            <p:cNvSpPr/>
            <p:nvPr/>
          </p:nvSpPr>
          <p:spPr>
            <a:xfrm>
              <a:off x="4458208" y="2857500"/>
              <a:ext cx="46355" cy="15240"/>
            </a:xfrm>
            <a:prstGeom prst="rect">
              <a:avLst/>
            </a:prstGeom>
            <a:solidFill>
              <a:srgbClr val="98534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1" name="rule_strip93"/>
            <p:cNvSpPr/>
            <p:nvPr/>
          </p:nvSpPr>
          <p:spPr>
            <a:xfrm>
              <a:off x="4504182" y="2857500"/>
              <a:ext cx="46355" cy="15240"/>
            </a:xfrm>
            <a:prstGeom prst="rect">
              <a:avLst/>
            </a:prstGeom>
            <a:solidFill>
              <a:srgbClr val="9A524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rule_strip94"/>
            <p:cNvSpPr/>
            <p:nvPr/>
          </p:nvSpPr>
          <p:spPr>
            <a:xfrm>
              <a:off x="4550156" y="2857500"/>
              <a:ext cx="46355" cy="15240"/>
            </a:xfrm>
            <a:prstGeom prst="rect">
              <a:avLst/>
            </a:prstGeom>
            <a:solidFill>
              <a:srgbClr val="9D52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3" name="rule_strip95"/>
            <p:cNvSpPr/>
            <p:nvPr/>
          </p:nvSpPr>
          <p:spPr>
            <a:xfrm>
              <a:off x="4596130" y="2857500"/>
              <a:ext cx="46355" cy="15240"/>
            </a:xfrm>
            <a:prstGeom prst="rect">
              <a:avLst/>
            </a:prstGeom>
            <a:solidFill>
              <a:srgbClr val="A051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rule_strip96"/>
            <p:cNvSpPr/>
            <p:nvPr/>
          </p:nvSpPr>
          <p:spPr>
            <a:xfrm>
              <a:off x="4642104" y="2857500"/>
              <a:ext cx="46355" cy="15240"/>
            </a:xfrm>
            <a:prstGeom prst="rect">
              <a:avLst/>
            </a:prstGeom>
            <a:solidFill>
              <a:srgbClr val="A350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5" name="rule_strip97"/>
            <p:cNvSpPr/>
            <p:nvPr/>
          </p:nvSpPr>
          <p:spPr>
            <a:xfrm>
              <a:off x="4688078" y="2857500"/>
              <a:ext cx="46355" cy="15240"/>
            </a:xfrm>
            <a:prstGeom prst="rect">
              <a:avLst/>
            </a:prstGeom>
            <a:solidFill>
              <a:srgbClr val="A64F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6" name="rule_strip98"/>
            <p:cNvSpPr/>
            <p:nvPr/>
          </p:nvSpPr>
          <p:spPr>
            <a:xfrm>
              <a:off x="4734052" y="2857500"/>
              <a:ext cx="46355" cy="15240"/>
            </a:xfrm>
            <a:prstGeom prst="rect">
              <a:avLst/>
            </a:prstGeom>
            <a:solidFill>
              <a:srgbClr val="A94E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7" name="rule_strip99"/>
            <p:cNvSpPr/>
            <p:nvPr/>
          </p:nvSpPr>
          <p:spPr>
            <a:xfrm>
              <a:off x="4780026" y="2857500"/>
              <a:ext cx="46355" cy="15240"/>
            </a:xfrm>
            <a:prstGeom prst="rect">
              <a:avLst/>
            </a:prstGeom>
            <a:solidFill>
              <a:srgbClr val="AC4D4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68" name="fixed"/>
            <p:cNvGrpSpPr/>
            <p:nvPr/>
          </p:nvGrpSpPr>
          <p:grpSpPr>
            <a:xfrm>
              <a:off x="211019" y="2897125"/>
              <a:ext cx="674266" cy="105839"/>
              <a:chOff x="211019" y="2897125"/>
              <a:chExt cx="674266" cy="105839"/>
            </a:xfrm>
          </p:grpSpPr>
          <p:sp>
            <p:nvSpPr>
              <p:cNvPr id="269" name="fixed_outline_0"/>
              <p:cNvSpPr/>
              <p:nvPr/>
            </p:nvSpPr>
            <p:spPr>
              <a:xfrm>
                <a:off x="211019" y="2922533"/>
                <a:ext cx="47163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47164" h="47462">
                    <a:moveTo>
                      <a:pt x="40859" y="36227"/>
                    </a:moveTo>
                    <a:lnTo>
                      <a:pt x="38862" y="35179"/>
                    </a:lnTo>
                    <a:cubicBezTo>
                      <a:pt x="32461" y="41374"/>
                      <a:pt x="27944" y="43684"/>
                      <a:pt x="21959" y="43684"/>
                    </a:cubicBezTo>
                    <a:cubicBezTo>
                      <a:pt x="15133" y="43684"/>
                      <a:pt x="10827" y="39271"/>
                      <a:pt x="10514" y="31710"/>
                    </a:cubicBezTo>
                    <a:cubicBezTo>
                      <a:pt x="10200" y="22789"/>
                      <a:pt x="14189" y="13442"/>
                      <a:pt x="20697" y="7247"/>
                    </a:cubicBezTo>
                    <a:cubicBezTo>
                      <a:pt x="24059" y="4096"/>
                      <a:pt x="28786" y="2207"/>
                      <a:pt x="33616" y="2207"/>
                    </a:cubicBezTo>
                    <a:cubicBezTo>
                      <a:pt x="36449" y="2207"/>
                      <a:pt x="38128" y="3048"/>
                      <a:pt x="38128" y="4306"/>
                    </a:cubicBezTo>
                    <a:cubicBezTo>
                      <a:pt x="38235" y="4830"/>
                      <a:pt x="38128" y="5358"/>
                      <a:pt x="37604" y="6303"/>
                    </a:cubicBezTo>
                    <a:cubicBezTo>
                      <a:pt x="36660" y="7668"/>
                      <a:pt x="36552" y="8295"/>
                      <a:pt x="36552" y="9346"/>
                    </a:cubicBezTo>
                    <a:cubicBezTo>
                      <a:pt x="36660" y="11867"/>
                      <a:pt x="38446" y="13335"/>
                      <a:pt x="41382" y="13335"/>
                    </a:cubicBezTo>
                    <a:cubicBezTo>
                      <a:pt x="44744" y="13335"/>
                      <a:pt x="47264" y="11343"/>
                      <a:pt x="47161" y="8505"/>
                    </a:cubicBezTo>
                    <a:cubicBezTo>
                      <a:pt x="46951" y="3572"/>
                      <a:pt x="41593" y="0"/>
                      <a:pt x="34139" y="0"/>
                    </a:cubicBezTo>
                    <a:cubicBezTo>
                      <a:pt x="15975" y="0"/>
                      <a:pt x="-512" y="15331"/>
                      <a:pt x="12" y="31710"/>
                    </a:cubicBezTo>
                    <a:cubicBezTo>
                      <a:pt x="330" y="41688"/>
                      <a:pt x="7152" y="47462"/>
                      <a:pt x="18388" y="47462"/>
                    </a:cubicBezTo>
                    <a:cubicBezTo>
                      <a:pt x="27524" y="47462"/>
                      <a:pt x="33616" y="44311"/>
                      <a:pt x="40859" y="3622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fixed_outline_1"/>
              <p:cNvSpPr/>
              <p:nvPr/>
            </p:nvSpPr>
            <p:spPr>
              <a:xfrm>
                <a:off x="300526" y="2928307"/>
                <a:ext cx="53760" cy="27197"/>
              </a:xfrm>
              <a:custGeom>
                <a:avLst/>
                <a:gdLst/>
                <a:ahLst/>
                <a:cxnLst/>
                <a:rect l="0" t="0" r="r" b="b"/>
                <a:pathLst>
                  <a:path w="53761" h="27198">
                    <a:moveTo>
                      <a:pt x="53761" y="5882"/>
                    </a:moveTo>
                    <a:lnTo>
                      <a:pt x="53761" y="0"/>
                    </a:lnTo>
                    <a:lnTo>
                      <a:pt x="0" y="0"/>
                    </a:lnTo>
                    <a:lnTo>
                      <a:pt x="0" y="5882"/>
                    </a:lnTo>
                    <a:lnTo>
                      <a:pt x="53761" y="5882"/>
                    </a:lnTo>
                    <a:close/>
                    <a:moveTo>
                      <a:pt x="53761" y="27198"/>
                    </a:moveTo>
                    <a:lnTo>
                      <a:pt x="53761" y="21316"/>
                    </a:lnTo>
                    <a:lnTo>
                      <a:pt x="0" y="21316"/>
                    </a:lnTo>
                    <a:lnTo>
                      <a:pt x="0" y="27198"/>
                    </a:lnTo>
                    <a:lnTo>
                      <a:pt x="53761" y="2719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fixed_outline_2"/>
              <p:cNvSpPr/>
              <p:nvPr/>
            </p:nvSpPr>
            <p:spPr>
              <a:xfrm>
                <a:off x="392499" y="2897859"/>
                <a:ext cx="47462" cy="72449"/>
              </a:xfrm>
              <a:custGeom>
                <a:avLst/>
                <a:gdLst/>
                <a:ahLst/>
                <a:cxnLst/>
                <a:rect l="0" t="0" r="r" b="b"/>
                <a:pathLst>
                  <a:path w="47462" h="72450">
                    <a:moveTo>
                      <a:pt x="47462" y="36330"/>
                    </a:moveTo>
                    <a:cubicBezTo>
                      <a:pt x="47462" y="14804"/>
                      <a:pt x="37906" y="0"/>
                      <a:pt x="24150" y="0"/>
                    </a:cubicBezTo>
                    <a:cubicBezTo>
                      <a:pt x="18375" y="0"/>
                      <a:pt x="13966" y="1786"/>
                      <a:pt x="10081" y="5461"/>
                    </a:cubicBezTo>
                    <a:cubicBezTo>
                      <a:pt x="3989" y="11339"/>
                      <a:pt x="0" y="23416"/>
                      <a:pt x="0" y="35699"/>
                    </a:cubicBezTo>
                    <a:cubicBezTo>
                      <a:pt x="0" y="47145"/>
                      <a:pt x="3465" y="59432"/>
                      <a:pt x="8402" y="65310"/>
                    </a:cubicBezTo>
                    <a:cubicBezTo>
                      <a:pt x="12283" y="69929"/>
                      <a:pt x="17641" y="72450"/>
                      <a:pt x="23729" y="72450"/>
                    </a:cubicBezTo>
                    <a:cubicBezTo>
                      <a:pt x="29087" y="72450"/>
                      <a:pt x="33599" y="70668"/>
                      <a:pt x="37382" y="66993"/>
                    </a:cubicBezTo>
                    <a:cubicBezTo>
                      <a:pt x="43470" y="61214"/>
                      <a:pt x="47462" y="49034"/>
                      <a:pt x="47462" y="36330"/>
                    </a:cubicBezTo>
                    <a:close/>
                    <a:moveTo>
                      <a:pt x="37382" y="36540"/>
                    </a:moveTo>
                    <a:cubicBezTo>
                      <a:pt x="37382" y="58488"/>
                      <a:pt x="32762" y="69723"/>
                      <a:pt x="23729" y="69723"/>
                    </a:cubicBezTo>
                    <a:cubicBezTo>
                      <a:pt x="14700" y="69723"/>
                      <a:pt x="10081" y="58488"/>
                      <a:pt x="10081" y="36644"/>
                    </a:cubicBezTo>
                    <a:cubicBezTo>
                      <a:pt x="10081" y="14387"/>
                      <a:pt x="14803" y="2730"/>
                      <a:pt x="23836" y="2730"/>
                    </a:cubicBezTo>
                    <a:cubicBezTo>
                      <a:pt x="32655" y="2730"/>
                      <a:pt x="37382" y="14593"/>
                      <a:pt x="37382" y="365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fixed_outline_3"/>
              <p:cNvSpPr/>
              <p:nvPr/>
            </p:nvSpPr>
            <p:spPr>
              <a:xfrm>
                <a:off x="450887" y="2958128"/>
                <a:ext cx="16696" cy="25832"/>
              </a:xfrm>
              <a:custGeom>
                <a:avLst/>
                <a:gdLst/>
                <a:ahLst/>
                <a:cxnLst/>
                <a:rect l="0" t="0" r="r" b="b"/>
                <a:pathLst>
                  <a:path w="16696" h="25833">
                    <a:moveTo>
                      <a:pt x="16696" y="10081"/>
                    </a:moveTo>
                    <a:cubicBezTo>
                      <a:pt x="16696" y="1365"/>
                      <a:pt x="9870" y="0"/>
                      <a:pt x="7037" y="0"/>
                    </a:cubicBezTo>
                    <a:cubicBezTo>
                      <a:pt x="3993" y="0"/>
                      <a:pt x="0" y="1893"/>
                      <a:pt x="0" y="6406"/>
                    </a:cubicBezTo>
                    <a:cubicBezTo>
                      <a:pt x="0" y="10608"/>
                      <a:pt x="4096" y="11656"/>
                      <a:pt x="7144" y="11656"/>
                    </a:cubicBezTo>
                    <a:cubicBezTo>
                      <a:pt x="7878" y="11656"/>
                      <a:pt x="8505" y="11553"/>
                      <a:pt x="8822" y="11446"/>
                    </a:cubicBezTo>
                    <a:cubicBezTo>
                      <a:pt x="9243" y="11343"/>
                      <a:pt x="9767" y="11236"/>
                      <a:pt x="9977" y="11236"/>
                    </a:cubicBezTo>
                    <a:cubicBezTo>
                      <a:pt x="10712" y="11236"/>
                      <a:pt x="11553" y="11763"/>
                      <a:pt x="11553" y="12708"/>
                    </a:cubicBezTo>
                    <a:cubicBezTo>
                      <a:pt x="11553" y="14700"/>
                      <a:pt x="9664" y="19217"/>
                      <a:pt x="1996" y="23626"/>
                    </a:cubicBezTo>
                    <a:lnTo>
                      <a:pt x="3048" y="25833"/>
                    </a:lnTo>
                    <a:cubicBezTo>
                      <a:pt x="6723" y="24781"/>
                      <a:pt x="16696" y="17538"/>
                      <a:pt x="16696" y="1008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fixed_outline_4"/>
              <p:cNvSpPr/>
              <p:nvPr/>
            </p:nvSpPr>
            <p:spPr>
              <a:xfrm>
                <a:off x="514931" y="2900062"/>
                <a:ext cx="71191" cy="90515"/>
              </a:xfrm>
              <a:custGeom>
                <a:avLst/>
                <a:gdLst/>
                <a:ahLst/>
                <a:cxnLst/>
                <a:rect l="0" t="0" r="r" b="b"/>
                <a:pathLst>
                  <a:path w="71192" h="90515">
                    <a:moveTo>
                      <a:pt x="71192" y="12077"/>
                    </a:moveTo>
                    <a:cubicBezTo>
                      <a:pt x="71192" y="3782"/>
                      <a:pt x="63318" y="0"/>
                      <a:pt x="53026" y="0"/>
                    </a:cubicBezTo>
                    <a:cubicBezTo>
                      <a:pt x="39902" y="0"/>
                      <a:pt x="27198" y="7457"/>
                      <a:pt x="23733" y="18062"/>
                    </a:cubicBezTo>
                    <a:lnTo>
                      <a:pt x="7350" y="76652"/>
                    </a:lnTo>
                    <a:cubicBezTo>
                      <a:pt x="5461" y="83268"/>
                      <a:pt x="1155" y="89150"/>
                      <a:pt x="0" y="90515"/>
                    </a:cubicBezTo>
                    <a:lnTo>
                      <a:pt x="10922" y="90515"/>
                    </a:lnTo>
                    <a:cubicBezTo>
                      <a:pt x="11025" y="90515"/>
                      <a:pt x="12918" y="89674"/>
                      <a:pt x="16907" y="76549"/>
                    </a:cubicBezTo>
                    <a:lnTo>
                      <a:pt x="20689" y="63004"/>
                    </a:lnTo>
                    <a:lnTo>
                      <a:pt x="20792" y="63004"/>
                    </a:lnTo>
                    <a:cubicBezTo>
                      <a:pt x="20792" y="63107"/>
                      <a:pt x="24678" y="70564"/>
                      <a:pt x="36334" y="70564"/>
                    </a:cubicBezTo>
                    <a:cubicBezTo>
                      <a:pt x="53657" y="70564"/>
                      <a:pt x="65523" y="58805"/>
                      <a:pt x="65523" y="46728"/>
                    </a:cubicBezTo>
                    <a:cubicBezTo>
                      <a:pt x="65523" y="33603"/>
                      <a:pt x="50403" y="31607"/>
                      <a:pt x="50296" y="31607"/>
                    </a:cubicBezTo>
                    <a:lnTo>
                      <a:pt x="50296" y="31186"/>
                    </a:lnTo>
                    <a:cubicBezTo>
                      <a:pt x="50403" y="31186"/>
                      <a:pt x="71192" y="27408"/>
                      <a:pt x="71192" y="12077"/>
                    </a:cubicBezTo>
                    <a:close/>
                    <a:moveTo>
                      <a:pt x="60798" y="11866"/>
                    </a:moveTo>
                    <a:cubicBezTo>
                      <a:pt x="60798" y="16697"/>
                      <a:pt x="57646" y="28563"/>
                      <a:pt x="48093" y="28563"/>
                    </a:cubicBezTo>
                    <a:cubicBezTo>
                      <a:pt x="45573" y="28563"/>
                      <a:pt x="43474" y="28142"/>
                      <a:pt x="41584" y="28142"/>
                    </a:cubicBezTo>
                    <a:cubicBezTo>
                      <a:pt x="38326" y="28142"/>
                      <a:pt x="36123" y="30559"/>
                      <a:pt x="36123" y="32449"/>
                    </a:cubicBezTo>
                    <a:cubicBezTo>
                      <a:pt x="36123" y="33603"/>
                      <a:pt x="37068" y="34548"/>
                      <a:pt x="39168" y="34548"/>
                    </a:cubicBezTo>
                    <a:cubicBezTo>
                      <a:pt x="42422" y="34548"/>
                      <a:pt x="43263" y="34024"/>
                      <a:pt x="45887" y="34024"/>
                    </a:cubicBezTo>
                    <a:cubicBezTo>
                      <a:pt x="51661" y="34024"/>
                      <a:pt x="54289" y="39691"/>
                      <a:pt x="54289" y="45573"/>
                    </a:cubicBezTo>
                    <a:cubicBezTo>
                      <a:pt x="54289" y="56074"/>
                      <a:pt x="47569" y="65734"/>
                      <a:pt x="35596" y="65734"/>
                    </a:cubicBezTo>
                    <a:cubicBezTo>
                      <a:pt x="28039" y="65734"/>
                      <a:pt x="23209" y="62059"/>
                      <a:pt x="23209" y="55967"/>
                    </a:cubicBezTo>
                    <a:cubicBezTo>
                      <a:pt x="23209" y="54709"/>
                      <a:pt x="23416" y="53344"/>
                      <a:pt x="23836" y="51872"/>
                    </a:cubicBezTo>
                    <a:lnTo>
                      <a:pt x="33183" y="18169"/>
                    </a:lnTo>
                    <a:cubicBezTo>
                      <a:pt x="35282" y="11343"/>
                      <a:pt x="40846" y="2941"/>
                      <a:pt x="51558" y="2941"/>
                    </a:cubicBezTo>
                    <a:cubicBezTo>
                      <a:pt x="58277" y="2941"/>
                      <a:pt x="60798" y="7037"/>
                      <a:pt x="60798" y="1186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fixed_outline_5"/>
              <p:cNvSpPr/>
              <p:nvPr/>
            </p:nvSpPr>
            <p:spPr>
              <a:xfrm>
                <a:off x="591498" y="29309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fixed_outline_6"/>
              <p:cNvSpPr/>
              <p:nvPr/>
            </p:nvSpPr>
            <p:spPr>
              <a:xfrm>
                <a:off x="682678" y="2897125"/>
                <a:ext cx="105429" cy="71715"/>
              </a:xfrm>
              <a:custGeom>
                <a:avLst/>
                <a:gdLst/>
                <a:ahLst/>
                <a:cxnLst/>
                <a:rect l="0" t="0" r="r" b="b"/>
                <a:pathLst>
                  <a:path w="105430" h="71715">
                    <a:moveTo>
                      <a:pt x="51451" y="71715"/>
                    </a:moveTo>
                    <a:lnTo>
                      <a:pt x="51451" y="70140"/>
                    </a:lnTo>
                    <a:cubicBezTo>
                      <a:pt x="45573" y="69616"/>
                      <a:pt x="44418" y="68251"/>
                      <a:pt x="44418" y="61532"/>
                    </a:cubicBezTo>
                    <a:lnTo>
                      <a:pt x="44418" y="34020"/>
                    </a:lnTo>
                    <a:lnTo>
                      <a:pt x="44629" y="23729"/>
                    </a:lnTo>
                    <a:lnTo>
                      <a:pt x="44208" y="23416"/>
                    </a:lnTo>
                    <a:cubicBezTo>
                      <a:pt x="39588" y="24150"/>
                      <a:pt x="36540" y="24463"/>
                      <a:pt x="32341" y="24463"/>
                    </a:cubicBezTo>
                    <a:lnTo>
                      <a:pt x="15855" y="24463"/>
                    </a:lnTo>
                    <a:lnTo>
                      <a:pt x="15855" y="19951"/>
                    </a:lnTo>
                    <a:lnTo>
                      <a:pt x="15855" y="19320"/>
                    </a:lnTo>
                    <a:cubicBezTo>
                      <a:pt x="15645" y="14593"/>
                      <a:pt x="16276" y="10604"/>
                      <a:pt x="17641" y="8084"/>
                    </a:cubicBezTo>
                    <a:cubicBezTo>
                      <a:pt x="19427" y="4830"/>
                      <a:pt x="23205" y="2623"/>
                      <a:pt x="26988" y="2623"/>
                    </a:cubicBezTo>
                    <a:cubicBezTo>
                      <a:pt x="29928" y="2623"/>
                      <a:pt x="31921" y="3989"/>
                      <a:pt x="34441" y="7560"/>
                    </a:cubicBezTo>
                    <a:cubicBezTo>
                      <a:pt x="36437" y="10497"/>
                      <a:pt x="37802" y="11446"/>
                      <a:pt x="39588" y="11446"/>
                    </a:cubicBezTo>
                    <a:cubicBezTo>
                      <a:pt x="41791" y="11446"/>
                      <a:pt x="43366" y="9763"/>
                      <a:pt x="43366" y="7350"/>
                    </a:cubicBezTo>
                    <a:cubicBezTo>
                      <a:pt x="43366" y="2834"/>
                      <a:pt x="38116" y="0"/>
                      <a:pt x="30031" y="0"/>
                    </a:cubicBezTo>
                    <a:cubicBezTo>
                      <a:pt x="22050" y="0"/>
                      <a:pt x="15962" y="2623"/>
                      <a:pt x="12180" y="7874"/>
                    </a:cubicBezTo>
                    <a:cubicBezTo>
                      <a:pt x="9033" y="12283"/>
                      <a:pt x="7874" y="16066"/>
                      <a:pt x="7247" y="24463"/>
                    </a:cubicBezTo>
                    <a:lnTo>
                      <a:pt x="0" y="24463"/>
                    </a:lnTo>
                    <a:lnTo>
                      <a:pt x="0" y="27928"/>
                    </a:lnTo>
                    <a:lnTo>
                      <a:pt x="7140" y="27928"/>
                    </a:lnTo>
                    <a:lnTo>
                      <a:pt x="7140" y="61845"/>
                    </a:lnTo>
                    <a:cubicBezTo>
                      <a:pt x="7140" y="68564"/>
                      <a:pt x="5985" y="69929"/>
                      <a:pt x="107" y="70140"/>
                    </a:cubicBezTo>
                    <a:lnTo>
                      <a:pt x="107" y="71715"/>
                    </a:lnTo>
                    <a:lnTo>
                      <a:pt x="23205" y="71715"/>
                    </a:lnTo>
                    <a:lnTo>
                      <a:pt x="23205" y="70140"/>
                    </a:lnTo>
                    <a:cubicBezTo>
                      <a:pt x="17328" y="69719"/>
                      <a:pt x="15962" y="68251"/>
                      <a:pt x="15962" y="62476"/>
                    </a:cubicBezTo>
                    <a:lnTo>
                      <a:pt x="15962" y="27928"/>
                    </a:lnTo>
                    <a:lnTo>
                      <a:pt x="24991" y="27928"/>
                    </a:lnTo>
                    <a:cubicBezTo>
                      <a:pt x="35072" y="27928"/>
                      <a:pt x="35596" y="28246"/>
                      <a:pt x="35596" y="33810"/>
                    </a:cubicBezTo>
                    <a:lnTo>
                      <a:pt x="35596" y="61532"/>
                    </a:lnTo>
                    <a:cubicBezTo>
                      <a:pt x="35596" y="68671"/>
                      <a:pt x="34861" y="69616"/>
                      <a:pt x="28353" y="70140"/>
                    </a:cubicBezTo>
                    <a:lnTo>
                      <a:pt x="28353" y="71715"/>
                    </a:lnTo>
                    <a:lnTo>
                      <a:pt x="51451" y="71715"/>
                    </a:lnTo>
                    <a:close/>
                    <a:moveTo>
                      <a:pt x="105430" y="71715"/>
                    </a:moveTo>
                    <a:lnTo>
                      <a:pt x="105430" y="70140"/>
                    </a:lnTo>
                    <a:cubicBezTo>
                      <a:pt x="102176" y="70140"/>
                      <a:pt x="100076" y="68461"/>
                      <a:pt x="96822" y="63841"/>
                    </a:cubicBezTo>
                    <a:lnTo>
                      <a:pt x="83380" y="43259"/>
                    </a:lnTo>
                    <a:lnTo>
                      <a:pt x="92095" y="30659"/>
                    </a:lnTo>
                    <a:cubicBezTo>
                      <a:pt x="94091" y="27825"/>
                      <a:pt x="97238" y="26146"/>
                      <a:pt x="100600" y="26039"/>
                    </a:cubicBezTo>
                    <a:lnTo>
                      <a:pt x="100600" y="24463"/>
                    </a:lnTo>
                    <a:lnTo>
                      <a:pt x="84010" y="24463"/>
                    </a:lnTo>
                    <a:lnTo>
                      <a:pt x="84010" y="26039"/>
                    </a:lnTo>
                    <a:cubicBezTo>
                      <a:pt x="87158" y="26249"/>
                      <a:pt x="88209" y="26880"/>
                      <a:pt x="88209" y="28349"/>
                    </a:cubicBezTo>
                    <a:cubicBezTo>
                      <a:pt x="88209" y="29611"/>
                      <a:pt x="86951" y="31921"/>
                      <a:pt x="84324" y="35175"/>
                    </a:cubicBezTo>
                    <a:cubicBezTo>
                      <a:pt x="83800" y="35806"/>
                      <a:pt x="82538" y="37695"/>
                      <a:pt x="81173" y="39795"/>
                    </a:cubicBezTo>
                    <a:lnTo>
                      <a:pt x="79704" y="37695"/>
                    </a:lnTo>
                    <a:cubicBezTo>
                      <a:pt x="76764" y="33286"/>
                      <a:pt x="74874" y="29714"/>
                      <a:pt x="74874" y="28349"/>
                    </a:cubicBezTo>
                    <a:cubicBezTo>
                      <a:pt x="74874" y="26880"/>
                      <a:pt x="76240" y="26146"/>
                      <a:pt x="79391" y="26039"/>
                    </a:cubicBezTo>
                    <a:lnTo>
                      <a:pt x="79391" y="24463"/>
                    </a:lnTo>
                    <a:lnTo>
                      <a:pt x="57654" y="24463"/>
                    </a:lnTo>
                    <a:lnTo>
                      <a:pt x="57654" y="26039"/>
                    </a:lnTo>
                    <a:lnTo>
                      <a:pt x="58599" y="26039"/>
                    </a:lnTo>
                    <a:cubicBezTo>
                      <a:pt x="61750" y="26039"/>
                      <a:pt x="63429" y="27404"/>
                      <a:pt x="66683" y="32341"/>
                    </a:cubicBezTo>
                    <a:lnTo>
                      <a:pt x="76553" y="47458"/>
                    </a:lnTo>
                    <a:lnTo>
                      <a:pt x="64584" y="64786"/>
                    </a:lnTo>
                    <a:cubicBezTo>
                      <a:pt x="61432" y="69092"/>
                      <a:pt x="60384" y="69826"/>
                      <a:pt x="56920" y="70140"/>
                    </a:cubicBezTo>
                    <a:lnTo>
                      <a:pt x="56920" y="71715"/>
                    </a:lnTo>
                    <a:lnTo>
                      <a:pt x="72144" y="71715"/>
                    </a:lnTo>
                    <a:lnTo>
                      <a:pt x="72144" y="70140"/>
                    </a:lnTo>
                    <a:cubicBezTo>
                      <a:pt x="69203" y="70140"/>
                      <a:pt x="67945" y="69616"/>
                      <a:pt x="67945" y="68251"/>
                    </a:cubicBezTo>
                    <a:cubicBezTo>
                      <a:pt x="67945" y="67620"/>
                      <a:pt x="68679" y="66044"/>
                      <a:pt x="70045" y="63944"/>
                    </a:cubicBezTo>
                    <a:lnTo>
                      <a:pt x="78339" y="51030"/>
                    </a:lnTo>
                    <a:lnTo>
                      <a:pt x="87896" y="65730"/>
                    </a:lnTo>
                    <a:cubicBezTo>
                      <a:pt x="88317" y="66361"/>
                      <a:pt x="88523" y="66989"/>
                      <a:pt x="88523" y="67620"/>
                    </a:cubicBezTo>
                    <a:cubicBezTo>
                      <a:pt x="88523" y="69509"/>
                      <a:pt x="87789" y="69929"/>
                      <a:pt x="84324" y="70140"/>
                    </a:cubicBezTo>
                    <a:lnTo>
                      <a:pt x="84324" y="71715"/>
                    </a:lnTo>
                    <a:lnTo>
                      <a:pt x="105430" y="7171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fixed_outline_7"/>
              <p:cNvSpPr/>
              <p:nvPr/>
            </p:nvSpPr>
            <p:spPr>
              <a:xfrm>
                <a:off x="789724" y="2897125"/>
                <a:ext cx="95561" cy="72767"/>
              </a:xfrm>
              <a:custGeom>
                <a:avLst/>
                <a:gdLst/>
                <a:ahLst/>
                <a:cxnLst/>
                <a:rect l="0" t="0" r="r" b="b"/>
                <a:pathLst>
                  <a:path w="95562" h="72767">
                    <a:moveTo>
                      <a:pt x="41898" y="55229"/>
                    </a:moveTo>
                    <a:lnTo>
                      <a:pt x="40219" y="54495"/>
                    </a:lnTo>
                    <a:cubicBezTo>
                      <a:pt x="35178" y="62476"/>
                      <a:pt x="30662" y="65520"/>
                      <a:pt x="23944" y="65520"/>
                    </a:cubicBezTo>
                    <a:cubicBezTo>
                      <a:pt x="18169" y="65520"/>
                      <a:pt x="13756" y="62790"/>
                      <a:pt x="10712" y="57118"/>
                    </a:cubicBezTo>
                    <a:cubicBezTo>
                      <a:pt x="8612" y="53026"/>
                      <a:pt x="7771" y="49351"/>
                      <a:pt x="7561" y="42628"/>
                    </a:cubicBezTo>
                    <a:lnTo>
                      <a:pt x="39902" y="42628"/>
                    </a:lnTo>
                    <a:cubicBezTo>
                      <a:pt x="39065" y="35806"/>
                      <a:pt x="38013" y="32758"/>
                      <a:pt x="35389" y="29400"/>
                    </a:cubicBezTo>
                    <a:cubicBezTo>
                      <a:pt x="32238" y="25618"/>
                      <a:pt x="27409" y="23416"/>
                      <a:pt x="21948" y="23416"/>
                    </a:cubicBezTo>
                    <a:cubicBezTo>
                      <a:pt x="8926" y="23416"/>
                      <a:pt x="0" y="33913"/>
                      <a:pt x="0" y="49244"/>
                    </a:cubicBezTo>
                    <a:cubicBezTo>
                      <a:pt x="0" y="63734"/>
                      <a:pt x="7561" y="72767"/>
                      <a:pt x="19638" y="72767"/>
                    </a:cubicBezTo>
                    <a:cubicBezTo>
                      <a:pt x="29717" y="72767"/>
                      <a:pt x="37489" y="66572"/>
                      <a:pt x="41898" y="55229"/>
                    </a:cubicBezTo>
                    <a:close/>
                    <a:moveTo>
                      <a:pt x="29194" y="39271"/>
                    </a:moveTo>
                    <a:lnTo>
                      <a:pt x="7771" y="39271"/>
                    </a:lnTo>
                    <a:cubicBezTo>
                      <a:pt x="8926" y="30976"/>
                      <a:pt x="12498" y="27194"/>
                      <a:pt x="18903" y="27194"/>
                    </a:cubicBezTo>
                    <a:cubicBezTo>
                      <a:pt x="25309" y="27194"/>
                      <a:pt x="27829" y="30135"/>
                      <a:pt x="29194" y="39271"/>
                    </a:cubicBezTo>
                    <a:close/>
                    <a:moveTo>
                      <a:pt x="95562" y="67306"/>
                    </a:moveTo>
                    <a:lnTo>
                      <a:pt x="95562" y="65623"/>
                    </a:lnTo>
                    <a:cubicBezTo>
                      <a:pt x="93668" y="65730"/>
                      <a:pt x="93458" y="65730"/>
                      <a:pt x="93145" y="65730"/>
                    </a:cubicBezTo>
                    <a:cubicBezTo>
                      <a:pt x="89367" y="65730"/>
                      <a:pt x="88525" y="64576"/>
                      <a:pt x="88525" y="59746"/>
                    </a:cubicBezTo>
                    <a:lnTo>
                      <a:pt x="88525" y="210"/>
                    </a:lnTo>
                    <a:lnTo>
                      <a:pt x="88002" y="0"/>
                    </a:lnTo>
                    <a:cubicBezTo>
                      <a:pt x="82961" y="1782"/>
                      <a:pt x="79286" y="2834"/>
                      <a:pt x="72562" y="4620"/>
                    </a:cubicBezTo>
                    <a:lnTo>
                      <a:pt x="72562" y="6298"/>
                    </a:lnTo>
                    <a:cubicBezTo>
                      <a:pt x="73404" y="6195"/>
                      <a:pt x="74035" y="6195"/>
                      <a:pt x="74872" y="6195"/>
                    </a:cubicBezTo>
                    <a:cubicBezTo>
                      <a:pt x="78757" y="6195"/>
                      <a:pt x="79702" y="7243"/>
                      <a:pt x="79702" y="11549"/>
                    </a:cubicBezTo>
                    <a:lnTo>
                      <a:pt x="79702" y="27928"/>
                    </a:lnTo>
                    <a:cubicBezTo>
                      <a:pt x="75714" y="24571"/>
                      <a:pt x="72880" y="23416"/>
                      <a:pt x="68677" y="23416"/>
                    </a:cubicBezTo>
                    <a:cubicBezTo>
                      <a:pt x="56605" y="23416"/>
                      <a:pt x="46837" y="35278"/>
                      <a:pt x="46837" y="50189"/>
                    </a:cubicBezTo>
                    <a:cubicBezTo>
                      <a:pt x="46837" y="63631"/>
                      <a:pt x="54715" y="72767"/>
                      <a:pt x="66264" y="72767"/>
                    </a:cubicBezTo>
                    <a:cubicBezTo>
                      <a:pt x="72146" y="72767"/>
                      <a:pt x="76135" y="70664"/>
                      <a:pt x="79702" y="65730"/>
                    </a:cubicBezTo>
                    <a:lnTo>
                      <a:pt x="79702" y="72450"/>
                    </a:lnTo>
                    <a:lnTo>
                      <a:pt x="80123" y="72767"/>
                    </a:lnTo>
                    <a:lnTo>
                      <a:pt x="95562" y="67306"/>
                    </a:lnTo>
                    <a:close/>
                    <a:moveTo>
                      <a:pt x="79702" y="61004"/>
                    </a:moveTo>
                    <a:cubicBezTo>
                      <a:pt x="79702" y="61742"/>
                      <a:pt x="78968" y="63000"/>
                      <a:pt x="77920" y="64155"/>
                    </a:cubicBezTo>
                    <a:cubicBezTo>
                      <a:pt x="76027" y="66254"/>
                      <a:pt x="73404" y="67306"/>
                      <a:pt x="70360" y="67306"/>
                    </a:cubicBezTo>
                    <a:cubicBezTo>
                      <a:pt x="61644" y="67306"/>
                      <a:pt x="55871" y="58904"/>
                      <a:pt x="55871" y="45990"/>
                    </a:cubicBezTo>
                    <a:cubicBezTo>
                      <a:pt x="55871" y="34123"/>
                      <a:pt x="61014" y="26353"/>
                      <a:pt x="68995" y="26353"/>
                    </a:cubicBezTo>
                    <a:cubicBezTo>
                      <a:pt x="74559" y="26353"/>
                      <a:pt x="79702" y="31290"/>
                      <a:pt x="79702" y="36854"/>
                    </a:cubicBezTo>
                    <a:lnTo>
                      <a:pt x="79702" y="6100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77" name="lag"/>
            <p:cNvGrpSpPr/>
            <p:nvPr/>
          </p:nvGrpSpPr>
          <p:grpSpPr>
            <a:xfrm>
              <a:off x="1205200" y="2897125"/>
              <a:ext cx="818218" cy="105839"/>
              <a:chOff x="1205200" y="2897125"/>
              <a:chExt cx="818218" cy="105839"/>
            </a:xfrm>
          </p:grpSpPr>
          <p:sp>
            <p:nvSpPr>
              <p:cNvPr id="278" name="lag_outline_0"/>
              <p:cNvSpPr/>
              <p:nvPr/>
            </p:nvSpPr>
            <p:spPr>
              <a:xfrm>
                <a:off x="1205200" y="2922533"/>
                <a:ext cx="47163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47164" h="47462">
                    <a:moveTo>
                      <a:pt x="40859" y="36227"/>
                    </a:moveTo>
                    <a:lnTo>
                      <a:pt x="38862" y="35179"/>
                    </a:lnTo>
                    <a:cubicBezTo>
                      <a:pt x="32461" y="41374"/>
                      <a:pt x="27944" y="43684"/>
                      <a:pt x="21959" y="43684"/>
                    </a:cubicBezTo>
                    <a:cubicBezTo>
                      <a:pt x="15133" y="43684"/>
                      <a:pt x="10827" y="39271"/>
                      <a:pt x="10514" y="31710"/>
                    </a:cubicBezTo>
                    <a:cubicBezTo>
                      <a:pt x="10200" y="22789"/>
                      <a:pt x="14189" y="13442"/>
                      <a:pt x="20697" y="7247"/>
                    </a:cubicBezTo>
                    <a:cubicBezTo>
                      <a:pt x="24059" y="4096"/>
                      <a:pt x="28786" y="2207"/>
                      <a:pt x="33616" y="2207"/>
                    </a:cubicBezTo>
                    <a:cubicBezTo>
                      <a:pt x="36449" y="2207"/>
                      <a:pt x="38128" y="3048"/>
                      <a:pt x="38128" y="4306"/>
                    </a:cubicBezTo>
                    <a:cubicBezTo>
                      <a:pt x="38235" y="4830"/>
                      <a:pt x="38128" y="5358"/>
                      <a:pt x="37604" y="6303"/>
                    </a:cubicBezTo>
                    <a:cubicBezTo>
                      <a:pt x="36660" y="7668"/>
                      <a:pt x="36552" y="8295"/>
                      <a:pt x="36552" y="9346"/>
                    </a:cubicBezTo>
                    <a:cubicBezTo>
                      <a:pt x="36660" y="11867"/>
                      <a:pt x="38446" y="13335"/>
                      <a:pt x="41382" y="13335"/>
                    </a:cubicBezTo>
                    <a:cubicBezTo>
                      <a:pt x="44744" y="13335"/>
                      <a:pt x="47264" y="11343"/>
                      <a:pt x="47161" y="8505"/>
                    </a:cubicBezTo>
                    <a:cubicBezTo>
                      <a:pt x="46951" y="3572"/>
                      <a:pt x="41593" y="0"/>
                      <a:pt x="34139" y="0"/>
                    </a:cubicBezTo>
                    <a:cubicBezTo>
                      <a:pt x="15975" y="0"/>
                      <a:pt x="-512" y="15331"/>
                      <a:pt x="12" y="31710"/>
                    </a:cubicBezTo>
                    <a:cubicBezTo>
                      <a:pt x="330" y="41688"/>
                      <a:pt x="7152" y="47462"/>
                      <a:pt x="18388" y="47462"/>
                    </a:cubicBezTo>
                    <a:cubicBezTo>
                      <a:pt x="27524" y="47462"/>
                      <a:pt x="33616" y="44311"/>
                      <a:pt x="40859" y="3622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" name="lag_outline_1"/>
              <p:cNvSpPr/>
              <p:nvPr/>
            </p:nvSpPr>
            <p:spPr>
              <a:xfrm>
                <a:off x="1294708" y="2928307"/>
                <a:ext cx="53760" cy="27197"/>
              </a:xfrm>
              <a:custGeom>
                <a:avLst/>
                <a:gdLst/>
                <a:ahLst/>
                <a:cxnLst/>
                <a:rect l="0" t="0" r="r" b="b"/>
                <a:pathLst>
                  <a:path w="53761" h="27198">
                    <a:moveTo>
                      <a:pt x="53761" y="5882"/>
                    </a:moveTo>
                    <a:lnTo>
                      <a:pt x="53761" y="0"/>
                    </a:lnTo>
                    <a:lnTo>
                      <a:pt x="0" y="0"/>
                    </a:lnTo>
                    <a:lnTo>
                      <a:pt x="0" y="5882"/>
                    </a:lnTo>
                    <a:lnTo>
                      <a:pt x="53761" y="5882"/>
                    </a:lnTo>
                    <a:close/>
                    <a:moveTo>
                      <a:pt x="53761" y="27198"/>
                    </a:moveTo>
                    <a:lnTo>
                      <a:pt x="53761" y="21316"/>
                    </a:lnTo>
                    <a:lnTo>
                      <a:pt x="0" y="21316"/>
                    </a:lnTo>
                    <a:lnTo>
                      <a:pt x="0" y="27198"/>
                    </a:lnTo>
                    <a:lnTo>
                      <a:pt x="53761" y="2719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" name="lag_outline_2"/>
              <p:cNvSpPr/>
              <p:nvPr/>
            </p:nvSpPr>
            <p:spPr>
              <a:xfrm>
                <a:off x="1386680" y="2897859"/>
                <a:ext cx="47462" cy="72449"/>
              </a:xfrm>
              <a:custGeom>
                <a:avLst/>
                <a:gdLst/>
                <a:ahLst/>
                <a:cxnLst/>
                <a:rect l="0" t="0" r="r" b="b"/>
                <a:pathLst>
                  <a:path w="47462" h="72450">
                    <a:moveTo>
                      <a:pt x="47462" y="36330"/>
                    </a:moveTo>
                    <a:cubicBezTo>
                      <a:pt x="47462" y="14804"/>
                      <a:pt x="37906" y="0"/>
                      <a:pt x="24150" y="0"/>
                    </a:cubicBezTo>
                    <a:cubicBezTo>
                      <a:pt x="18375" y="0"/>
                      <a:pt x="13966" y="1786"/>
                      <a:pt x="10081" y="5461"/>
                    </a:cubicBezTo>
                    <a:cubicBezTo>
                      <a:pt x="3989" y="11339"/>
                      <a:pt x="0" y="23416"/>
                      <a:pt x="0" y="35699"/>
                    </a:cubicBezTo>
                    <a:cubicBezTo>
                      <a:pt x="0" y="47145"/>
                      <a:pt x="3465" y="59432"/>
                      <a:pt x="8402" y="65310"/>
                    </a:cubicBezTo>
                    <a:cubicBezTo>
                      <a:pt x="12283" y="69929"/>
                      <a:pt x="17641" y="72450"/>
                      <a:pt x="23729" y="72450"/>
                    </a:cubicBezTo>
                    <a:cubicBezTo>
                      <a:pt x="29087" y="72450"/>
                      <a:pt x="33599" y="70668"/>
                      <a:pt x="37382" y="66993"/>
                    </a:cubicBezTo>
                    <a:cubicBezTo>
                      <a:pt x="43470" y="61214"/>
                      <a:pt x="47462" y="49034"/>
                      <a:pt x="47462" y="36330"/>
                    </a:cubicBezTo>
                    <a:close/>
                    <a:moveTo>
                      <a:pt x="37382" y="36540"/>
                    </a:moveTo>
                    <a:cubicBezTo>
                      <a:pt x="37382" y="58488"/>
                      <a:pt x="32762" y="69723"/>
                      <a:pt x="23729" y="69723"/>
                    </a:cubicBezTo>
                    <a:cubicBezTo>
                      <a:pt x="14700" y="69723"/>
                      <a:pt x="10081" y="58488"/>
                      <a:pt x="10081" y="36644"/>
                    </a:cubicBezTo>
                    <a:cubicBezTo>
                      <a:pt x="10081" y="14387"/>
                      <a:pt x="14803" y="2730"/>
                      <a:pt x="23836" y="2730"/>
                    </a:cubicBezTo>
                    <a:cubicBezTo>
                      <a:pt x="32655" y="2730"/>
                      <a:pt x="37382" y="14593"/>
                      <a:pt x="37382" y="365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lag_outline_3"/>
              <p:cNvSpPr/>
              <p:nvPr/>
            </p:nvSpPr>
            <p:spPr>
              <a:xfrm>
                <a:off x="1445068" y="2958128"/>
                <a:ext cx="16696" cy="25832"/>
              </a:xfrm>
              <a:custGeom>
                <a:avLst/>
                <a:gdLst/>
                <a:ahLst/>
                <a:cxnLst/>
                <a:rect l="0" t="0" r="r" b="b"/>
                <a:pathLst>
                  <a:path w="16696" h="25833">
                    <a:moveTo>
                      <a:pt x="16696" y="10081"/>
                    </a:moveTo>
                    <a:cubicBezTo>
                      <a:pt x="16696" y="1365"/>
                      <a:pt x="9870" y="0"/>
                      <a:pt x="7037" y="0"/>
                    </a:cubicBezTo>
                    <a:cubicBezTo>
                      <a:pt x="3993" y="0"/>
                      <a:pt x="0" y="1893"/>
                      <a:pt x="0" y="6406"/>
                    </a:cubicBezTo>
                    <a:cubicBezTo>
                      <a:pt x="0" y="10608"/>
                      <a:pt x="4096" y="11656"/>
                      <a:pt x="7144" y="11656"/>
                    </a:cubicBezTo>
                    <a:cubicBezTo>
                      <a:pt x="7878" y="11656"/>
                      <a:pt x="8505" y="11553"/>
                      <a:pt x="8822" y="11446"/>
                    </a:cubicBezTo>
                    <a:cubicBezTo>
                      <a:pt x="9243" y="11343"/>
                      <a:pt x="9767" y="11236"/>
                      <a:pt x="9977" y="11236"/>
                    </a:cubicBezTo>
                    <a:cubicBezTo>
                      <a:pt x="10712" y="11236"/>
                      <a:pt x="11553" y="11763"/>
                      <a:pt x="11553" y="12708"/>
                    </a:cubicBezTo>
                    <a:cubicBezTo>
                      <a:pt x="11553" y="14700"/>
                      <a:pt x="9664" y="19217"/>
                      <a:pt x="1996" y="23626"/>
                    </a:cubicBezTo>
                    <a:lnTo>
                      <a:pt x="3048" y="25833"/>
                    </a:lnTo>
                    <a:cubicBezTo>
                      <a:pt x="6723" y="24781"/>
                      <a:pt x="16696" y="17538"/>
                      <a:pt x="16696" y="1008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" name="lag_outline_4"/>
              <p:cNvSpPr/>
              <p:nvPr/>
            </p:nvSpPr>
            <p:spPr>
              <a:xfrm>
                <a:off x="1509112" y="2900062"/>
                <a:ext cx="71191" cy="90515"/>
              </a:xfrm>
              <a:custGeom>
                <a:avLst/>
                <a:gdLst/>
                <a:ahLst/>
                <a:cxnLst/>
                <a:rect l="0" t="0" r="r" b="b"/>
                <a:pathLst>
                  <a:path w="71192" h="90515">
                    <a:moveTo>
                      <a:pt x="71192" y="12077"/>
                    </a:moveTo>
                    <a:cubicBezTo>
                      <a:pt x="71192" y="3782"/>
                      <a:pt x="63318" y="0"/>
                      <a:pt x="53026" y="0"/>
                    </a:cubicBezTo>
                    <a:cubicBezTo>
                      <a:pt x="39902" y="0"/>
                      <a:pt x="27198" y="7457"/>
                      <a:pt x="23733" y="18062"/>
                    </a:cubicBezTo>
                    <a:lnTo>
                      <a:pt x="7350" y="76652"/>
                    </a:lnTo>
                    <a:cubicBezTo>
                      <a:pt x="5461" y="83268"/>
                      <a:pt x="1155" y="89150"/>
                      <a:pt x="0" y="90515"/>
                    </a:cubicBezTo>
                    <a:lnTo>
                      <a:pt x="10922" y="90515"/>
                    </a:lnTo>
                    <a:cubicBezTo>
                      <a:pt x="11025" y="90515"/>
                      <a:pt x="12918" y="89674"/>
                      <a:pt x="16907" y="76549"/>
                    </a:cubicBezTo>
                    <a:lnTo>
                      <a:pt x="20689" y="63004"/>
                    </a:lnTo>
                    <a:lnTo>
                      <a:pt x="20792" y="63004"/>
                    </a:lnTo>
                    <a:cubicBezTo>
                      <a:pt x="20792" y="63107"/>
                      <a:pt x="24678" y="70564"/>
                      <a:pt x="36334" y="70564"/>
                    </a:cubicBezTo>
                    <a:cubicBezTo>
                      <a:pt x="53657" y="70564"/>
                      <a:pt x="65523" y="58805"/>
                      <a:pt x="65523" y="46728"/>
                    </a:cubicBezTo>
                    <a:cubicBezTo>
                      <a:pt x="65523" y="33603"/>
                      <a:pt x="50403" y="31607"/>
                      <a:pt x="50296" y="31607"/>
                    </a:cubicBezTo>
                    <a:lnTo>
                      <a:pt x="50296" y="31186"/>
                    </a:lnTo>
                    <a:cubicBezTo>
                      <a:pt x="50403" y="31186"/>
                      <a:pt x="71192" y="27408"/>
                      <a:pt x="71192" y="12077"/>
                    </a:cubicBezTo>
                    <a:close/>
                    <a:moveTo>
                      <a:pt x="60798" y="11866"/>
                    </a:moveTo>
                    <a:cubicBezTo>
                      <a:pt x="60798" y="16697"/>
                      <a:pt x="57646" y="28563"/>
                      <a:pt x="48093" y="28563"/>
                    </a:cubicBezTo>
                    <a:cubicBezTo>
                      <a:pt x="45573" y="28563"/>
                      <a:pt x="43474" y="28142"/>
                      <a:pt x="41584" y="28142"/>
                    </a:cubicBezTo>
                    <a:cubicBezTo>
                      <a:pt x="38326" y="28142"/>
                      <a:pt x="36123" y="30559"/>
                      <a:pt x="36123" y="32449"/>
                    </a:cubicBezTo>
                    <a:cubicBezTo>
                      <a:pt x="36123" y="33603"/>
                      <a:pt x="37068" y="34548"/>
                      <a:pt x="39168" y="34548"/>
                    </a:cubicBezTo>
                    <a:cubicBezTo>
                      <a:pt x="42422" y="34548"/>
                      <a:pt x="43263" y="34024"/>
                      <a:pt x="45887" y="34024"/>
                    </a:cubicBezTo>
                    <a:cubicBezTo>
                      <a:pt x="51661" y="34024"/>
                      <a:pt x="54289" y="39691"/>
                      <a:pt x="54289" y="45573"/>
                    </a:cubicBezTo>
                    <a:cubicBezTo>
                      <a:pt x="54289" y="56074"/>
                      <a:pt x="47569" y="65734"/>
                      <a:pt x="35596" y="65734"/>
                    </a:cubicBezTo>
                    <a:cubicBezTo>
                      <a:pt x="28039" y="65734"/>
                      <a:pt x="23209" y="62059"/>
                      <a:pt x="23209" y="55967"/>
                    </a:cubicBezTo>
                    <a:cubicBezTo>
                      <a:pt x="23209" y="54709"/>
                      <a:pt x="23416" y="53344"/>
                      <a:pt x="23836" y="51872"/>
                    </a:cubicBezTo>
                    <a:lnTo>
                      <a:pt x="33183" y="18169"/>
                    </a:lnTo>
                    <a:cubicBezTo>
                      <a:pt x="35282" y="11343"/>
                      <a:pt x="40846" y="2941"/>
                      <a:pt x="51558" y="2941"/>
                    </a:cubicBezTo>
                    <a:cubicBezTo>
                      <a:pt x="58277" y="2941"/>
                      <a:pt x="60798" y="7037"/>
                      <a:pt x="60798" y="1186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" name="lag_outline_5"/>
              <p:cNvSpPr/>
              <p:nvPr/>
            </p:nvSpPr>
            <p:spPr>
              <a:xfrm>
                <a:off x="1585679" y="29309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" name="lag_outline_6"/>
              <p:cNvSpPr/>
              <p:nvPr/>
            </p:nvSpPr>
            <p:spPr>
              <a:xfrm>
                <a:off x="1677490" y="2897125"/>
                <a:ext cx="302856" cy="94499"/>
              </a:xfrm>
              <a:custGeom>
                <a:avLst/>
                <a:gdLst/>
                <a:ahLst/>
                <a:cxnLst/>
                <a:rect l="0" t="0" r="r" b="b"/>
                <a:pathLst>
                  <a:path w="302857" h="94500">
                    <a:moveTo>
                      <a:pt x="42525" y="67516"/>
                    </a:moveTo>
                    <a:lnTo>
                      <a:pt x="42525" y="64786"/>
                    </a:lnTo>
                    <a:cubicBezTo>
                      <a:pt x="40739" y="66254"/>
                      <a:pt x="39481" y="66782"/>
                      <a:pt x="37906" y="66782"/>
                    </a:cubicBezTo>
                    <a:cubicBezTo>
                      <a:pt x="35489" y="66782"/>
                      <a:pt x="34754" y="65310"/>
                      <a:pt x="34754" y="60690"/>
                    </a:cubicBezTo>
                    <a:lnTo>
                      <a:pt x="34754" y="40215"/>
                    </a:lnTo>
                    <a:cubicBezTo>
                      <a:pt x="34754" y="34858"/>
                      <a:pt x="34230" y="31921"/>
                      <a:pt x="32762" y="29504"/>
                    </a:cubicBezTo>
                    <a:cubicBezTo>
                      <a:pt x="30555" y="25515"/>
                      <a:pt x="26039" y="23416"/>
                      <a:pt x="19633" y="23416"/>
                    </a:cubicBezTo>
                    <a:cubicBezTo>
                      <a:pt x="14280" y="23416"/>
                      <a:pt x="9239" y="24884"/>
                      <a:pt x="6298" y="27301"/>
                    </a:cubicBezTo>
                    <a:cubicBezTo>
                      <a:pt x="3675" y="29504"/>
                      <a:pt x="1996" y="32548"/>
                      <a:pt x="1996" y="35175"/>
                    </a:cubicBezTo>
                    <a:cubicBezTo>
                      <a:pt x="1996" y="37588"/>
                      <a:pt x="3989" y="39691"/>
                      <a:pt x="6509" y="39691"/>
                    </a:cubicBezTo>
                    <a:cubicBezTo>
                      <a:pt x="9029" y="39691"/>
                      <a:pt x="11236" y="37588"/>
                      <a:pt x="11236" y="35278"/>
                    </a:cubicBezTo>
                    <a:cubicBezTo>
                      <a:pt x="11236" y="34858"/>
                      <a:pt x="11128" y="34334"/>
                      <a:pt x="11025" y="33599"/>
                    </a:cubicBezTo>
                    <a:cubicBezTo>
                      <a:pt x="10815" y="32655"/>
                      <a:pt x="10712" y="31814"/>
                      <a:pt x="10712" y="31079"/>
                    </a:cubicBezTo>
                    <a:cubicBezTo>
                      <a:pt x="10712" y="28246"/>
                      <a:pt x="14069" y="25936"/>
                      <a:pt x="18268" y="25936"/>
                    </a:cubicBezTo>
                    <a:cubicBezTo>
                      <a:pt x="23416" y="25936"/>
                      <a:pt x="26249" y="28980"/>
                      <a:pt x="26249" y="34651"/>
                    </a:cubicBezTo>
                    <a:lnTo>
                      <a:pt x="26249" y="41053"/>
                    </a:lnTo>
                    <a:cubicBezTo>
                      <a:pt x="10081" y="47565"/>
                      <a:pt x="8295" y="48403"/>
                      <a:pt x="3778" y="52395"/>
                    </a:cubicBezTo>
                    <a:cubicBezTo>
                      <a:pt x="1468" y="54495"/>
                      <a:pt x="0" y="58067"/>
                      <a:pt x="0" y="61532"/>
                    </a:cubicBezTo>
                    <a:cubicBezTo>
                      <a:pt x="0" y="68143"/>
                      <a:pt x="4516" y="72767"/>
                      <a:pt x="11025" y="72767"/>
                    </a:cubicBezTo>
                    <a:cubicBezTo>
                      <a:pt x="15645" y="72767"/>
                      <a:pt x="19951" y="70560"/>
                      <a:pt x="26357" y="65099"/>
                    </a:cubicBezTo>
                    <a:cubicBezTo>
                      <a:pt x="26880" y="70664"/>
                      <a:pt x="28769" y="72767"/>
                      <a:pt x="33076" y="72767"/>
                    </a:cubicBezTo>
                    <a:cubicBezTo>
                      <a:pt x="36647" y="72767"/>
                      <a:pt x="38850" y="71505"/>
                      <a:pt x="42525" y="67516"/>
                    </a:cubicBezTo>
                    <a:close/>
                    <a:moveTo>
                      <a:pt x="26249" y="58801"/>
                    </a:moveTo>
                    <a:cubicBezTo>
                      <a:pt x="26249" y="62055"/>
                      <a:pt x="25725" y="63000"/>
                      <a:pt x="23519" y="64365"/>
                    </a:cubicBezTo>
                    <a:cubicBezTo>
                      <a:pt x="20999" y="65834"/>
                      <a:pt x="18062" y="66675"/>
                      <a:pt x="15855" y="66675"/>
                    </a:cubicBezTo>
                    <a:cubicBezTo>
                      <a:pt x="12180" y="66675"/>
                      <a:pt x="9239" y="63107"/>
                      <a:pt x="9239" y="58591"/>
                    </a:cubicBezTo>
                    <a:lnTo>
                      <a:pt x="9239" y="58170"/>
                    </a:lnTo>
                    <a:cubicBezTo>
                      <a:pt x="9239" y="51975"/>
                      <a:pt x="13545" y="48196"/>
                      <a:pt x="26249" y="43573"/>
                    </a:cubicBezTo>
                    <a:lnTo>
                      <a:pt x="26249" y="58801"/>
                    </a:lnTo>
                    <a:close/>
                    <a:moveTo>
                      <a:pt x="94300" y="67306"/>
                    </a:moveTo>
                    <a:lnTo>
                      <a:pt x="94300" y="65623"/>
                    </a:lnTo>
                    <a:cubicBezTo>
                      <a:pt x="92406" y="65730"/>
                      <a:pt x="92196" y="65730"/>
                      <a:pt x="91883" y="65730"/>
                    </a:cubicBezTo>
                    <a:cubicBezTo>
                      <a:pt x="88104" y="65730"/>
                      <a:pt x="87263" y="64576"/>
                      <a:pt x="87263" y="59746"/>
                    </a:cubicBezTo>
                    <a:lnTo>
                      <a:pt x="87263" y="210"/>
                    </a:lnTo>
                    <a:lnTo>
                      <a:pt x="86739" y="0"/>
                    </a:lnTo>
                    <a:cubicBezTo>
                      <a:pt x="81699" y="1782"/>
                      <a:pt x="78024" y="2834"/>
                      <a:pt x="71301" y="4620"/>
                    </a:cubicBezTo>
                    <a:lnTo>
                      <a:pt x="71301" y="6298"/>
                    </a:lnTo>
                    <a:cubicBezTo>
                      <a:pt x="72142" y="6195"/>
                      <a:pt x="72773" y="6195"/>
                      <a:pt x="73610" y="6195"/>
                    </a:cubicBezTo>
                    <a:cubicBezTo>
                      <a:pt x="77496" y="6195"/>
                      <a:pt x="78440" y="7243"/>
                      <a:pt x="78440" y="11549"/>
                    </a:cubicBezTo>
                    <a:lnTo>
                      <a:pt x="78440" y="27928"/>
                    </a:lnTo>
                    <a:cubicBezTo>
                      <a:pt x="74452" y="24571"/>
                      <a:pt x="71618" y="23416"/>
                      <a:pt x="67415" y="23416"/>
                    </a:cubicBezTo>
                    <a:cubicBezTo>
                      <a:pt x="55342" y="23416"/>
                      <a:pt x="45575" y="35278"/>
                      <a:pt x="45575" y="50189"/>
                    </a:cubicBezTo>
                    <a:cubicBezTo>
                      <a:pt x="45575" y="63631"/>
                      <a:pt x="53453" y="72767"/>
                      <a:pt x="65002" y="72767"/>
                    </a:cubicBezTo>
                    <a:cubicBezTo>
                      <a:pt x="70884" y="72767"/>
                      <a:pt x="74872" y="70664"/>
                      <a:pt x="78440" y="65730"/>
                    </a:cubicBezTo>
                    <a:lnTo>
                      <a:pt x="78440" y="72450"/>
                    </a:lnTo>
                    <a:lnTo>
                      <a:pt x="78861" y="72767"/>
                    </a:lnTo>
                    <a:lnTo>
                      <a:pt x="94300" y="67306"/>
                    </a:lnTo>
                    <a:close/>
                    <a:moveTo>
                      <a:pt x="78440" y="61004"/>
                    </a:moveTo>
                    <a:cubicBezTo>
                      <a:pt x="78440" y="61742"/>
                      <a:pt x="77706" y="63000"/>
                      <a:pt x="76658" y="64155"/>
                    </a:cubicBezTo>
                    <a:cubicBezTo>
                      <a:pt x="74765" y="66254"/>
                      <a:pt x="72142" y="67306"/>
                      <a:pt x="69098" y="67306"/>
                    </a:cubicBezTo>
                    <a:cubicBezTo>
                      <a:pt x="60383" y="67306"/>
                      <a:pt x="54608" y="58904"/>
                      <a:pt x="54608" y="45990"/>
                    </a:cubicBezTo>
                    <a:cubicBezTo>
                      <a:pt x="54608" y="34123"/>
                      <a:pt x="59752" y="26353"/>
                      <a:pt x="67733" y="26353"/>
                    </a:cubicBezTo>
                    <a:cubicBezTo>
                      <a:pt x="73297" y="26353"/>
                      <a:pt x="78440" y="31290"/>
                      <a:pt x="78440" y="36854"/>
                    </a:cubicBezTo>
                    <a:lnTo>
                      <a:pt x="78440" y="61004"/>
                    </a:lnTo>
                    <a:close/>
                    <a:moveTo>
                      <a:pt x="141660" y="67516"/>
                    </a:moveTo>
                    <a:lnTo>
                      <a:pt x="141660" y="64786"/>
                    </a:lnTo>
                    <a:cubicBezTo>
                      <a:pt x="139874" y="66254"/>
                      <a:pt x="138615" y="66782"/>
                      <a:pt x="137039" y="66782"/>
                    </a:cubicBezTo>
                    <a:cubicBezTo>
                      <a:pt x="134623" y="66782"/>
                      <a:pt x="133888" y="65310"/>
                      <a:pt x="133888" y="60690"/>
                    </a:cubicBezTo>
                    <a:lnTo>
                      <a:pt x="133888" y="40215"/>
                    </a:lnTo>
                    <a:cubicBezTo>
                      <a:pt x="133888" y="34858"/>
                      <a:pt x="133365" y="31921"/>
                      <a:pt x="131896" y="29504"/>
                    </a:cubicBezTo>
                    <a:cubicBezTo>
                      <a:pt x="129690" y="25515"/>
                      <a:pt x="125174" y="23416"/>
                      <a:pt x="118768" y="23416"/>
                    </a:cubicBezTo>
                    <a:cubicBezTo>
                      <a:pt x="113414" y="23416"/>
                      <a:pt x="108374" y="24884"/>
                      <a:pt x="105433" y="27301"/>
                    </a:cubicBezTo>
                    <a:cubicBezTo>
                      <a:pt x="102810" y="29504"/>
                      <a:pt x="101131" y="32548"/>
                      <a:pt x="101131" y="35175"/>
                    </a:cubicBezTo>
                    <a:cubicBezTo>
                      <a:pt x="101131" y="37588"/>
                      <a:pt x="103123" y="39691"/>
                      <a:pt x="105643" y="39691"/>
                    </a:cubicBezTo>
                    <a:cubicBezTo>
                      <a:pt x="108163" y="39691"/>
                      <a:pt x="110370" y="37588"/>
                      <a:pt x="110370" y="35278"/>
                    </a:cubicBezTo>
                    <a:cubicBezTo>
                      <a:pt x="110370" y="34858"/>
                      <a:pt x="110263" y="34334"/>
                      <a:pt x="110160" y="33599"/>
                    </a:cubicBezTo>
                    <a:cubicBezTo>
                      <a:pt x="109949" y="32655"/>
                      <a:pt x="109846" y="31814"/>
                      <a:pt x="109846" y="31079"/>
                    </a:cubicBezTo>
                    <a:cubicBezTo>
                      <a:pt x="109846" y="28246"/>
                      <a:pt x="113204" y="25936"/>
                      <a:pt x="117403" y="25936"/>
                    </a:cubicBezTo>
                    <a:cubicBezTo>
                      <a:pt x="122550" y="25936"/>
                      <a:pt x="125383" y="28980"/>
                      <a:pt x="125383" y="34651"/>
                    </a:cubicBezTo>
                    <a:lnTo>
                      <a:pt x="125383" y="41053"/>
                    </a:lnTo>
                    <a:cubicBezTo>
                      <a:pt x="109215" y="47565"/>
                      <a:pt x="107429" y="48403"/>
                      <a:pt x="102913" y="52395"/>
                    </a:cubicBezTo>
                    <a:cubicBezTo>
                      <a:pt x="100603" y="54495"/>
                      <a:pt x="99134" y="58067"/>
                      <a:pt x="99134" y="61532"/>
                    </a:cubicBezTo>
                    <a:cubicBezTo>
                      <a:pt x="99134" y="68143"/>
                      <a:pt x="103651" y="72767"/>
                      <a:pt x="110160" y="72767"/>
                    </a:cubicBezTo>
                    <a:cubicBezTo>
                      <a:pt x="114779" y="72767"/>
                      <a:pt x="119085" y="70560"/>
                      <a:pt x="125491" y="65099"/>
                    </a:cubicBezTo>
                    <a:cubicBezTo>
                      <a:pt x="126014" y="70664"/>
                      <a:pt x="127904" y="72767"/>
                      <a:pt x="132210" y="72767"/>
                    </a:cubicBezTo>
                    <a:cubicBezTo>
                      <a:pt x="135782" y="72767"/>
                      <a:pt x="137984" y="71505"/>
                      <a:pt x="141660" y="67516"/>
                    </a:cubicBezTo>
                    <a:close/>
                    <a:moveTo>
                      <a:pt x="125383" y="58801"/>
                    </a:moveTo>
                    <a:cubicBezTo>
                      <a:pt x="125383" y="62055"/>
                      <a:pt x="124860" y="63000"/>
                      <a:pt x="122653" y="64365"/>
                    </a:cubicBezTo>
                    <a:cubicBezTo>
                      <a:pt x="120133" y="65834"/>
                      <a:pt x="117196" y="66675"/>
                      <a:pt x="114990" y="66675"/>
                    </a:cubicBezTo>
                    <a:cubicBezTo>
                      <a:pt x="111314" y="66675"/>
                      <a:pt x="108374" y="63107"/>
                      <a:pt x="108374" y="58591"/>
                    </a:cubicBezTo>
                    <a:lnTo>
                      <a:pt x="108374" y="58170"/>
                    </a:lnTo>
                    <a:cubicBezTo>
                      <a:pt x="108374" y="51975"/>
                      <a:pt x="112680" y="48196"/>
                      <a:pt x="125383" y="43573"/>
                    </a:cubicBezTo>
                    <a:lnTo>
                      <a:pt x="125383" y="58801"/>
                    </a:lnTo>
                    <a:close/>
                    <a:moveTo>
                      <a:pt x="191228" y="45780"/>
                    </a:moveTo>
                    <a:cubicBezTo>
                      <a:pt x="191228" y="32758"/>
                      <a:pt x="183877" y="23416"/>
                      <a:pt x="173693" y="23416"/>
                    </a:cubicBezTo>
                    <a:cubicBezTo>
                      <a:pt x="167811" y="23416"/>
                      <a:pt x="163192" y="26039"/>
                      <a:pt x="158572" y="31710"/>
                    </a:cubicBezTo>
                    <a:lnTo>
                      <a:pt x="158572" y="23626"/>
                    </a:lnTo>
                    <a:lnTo>
                      <a:pt x="157941" y="23416"/>
                    </a:lnTo>
                    <a:cubicBezTo>
                      <a:pt x="152270" y="25618"/>
                      <a:pt x="148595" y="26984"/>
                      <a:pt x="142820" y="28769"/>
                    </a:cubicBezTo>
                    <a:lnTo>
                      <a:pt x="142820" y="30448"/>
                    </a:lnTo>
                    <a:cubicBezTo>
                      <a:pt x="143765" y="30345"/>
                      <a:pt x="144499" y="30345"/>
                      <a:pt x="145448" y="30345"/>
                    </a:cubicBezTo>
                    <a:cubicBezTo>
                      <a:pt x="149015" y="30345"/>
                      <a:pt x="149749" y="31393"/>
                      <a:pt x="149749" y="36330"/>
                    </a:cubicBezTo>
                    <a:lnTo>
                      <a:pt x="149749" y="85471"/>
                    </a:lnTo>
                    <a:cubicBezTo>
                      <a:pt x="149749" y="90932"/>
                      <a:pt x="148595" y="92087"/>
                      <a:pt x="142400" y="92714"/>
                    </a:cubicBezTo>
                    <a:lnTo>
                      <a:pt x="142400" y="94500"/>
                    </a:lnTo>
                    <a:lnTo>
                      <a:pt x="167811" y="94500"/>
                    </a:lnTo>
                    <a:lnTo>
                      <a:pt x="167811" y="92611"/>
                    </a:lnTo>
                    <a:cubicBezTo>
                      <a:pt x="159937" y="92508"/>
                      <a:pt x="158572" y="91353"/>
                      <a:pt x="158572" y="84737"/>
                    </a:cubicBezTo>
                    <a:lnTo>
                      <a:pt x="158572" y="68251"/>
                    </a:lnTo>
                    <a:cubicBezTo>
                      <a:pt x="162248" y="71715"/>
                      <a:pt x="164767" y="72767"/>
                      <a:pt x="169177" y="72767"/>
                    </a:cubicBezTo>
                    <a:cubicBezTo>
                      <a:pt x="181567" y="72767"/>
                      <a:pt x="191228" y="61004"/>
                      <a:pt x="191228" y="45780"/>
                    </a:cubicBezTo>
                    <a:close/>
                    <a:moveTo>
                      <a:pt x="182198" y="49875"/>
                    </a:moveTo>
                    <a:cubicBezTo>
                      <a:pt x="182198" y="61532"/>
                      <a:pt x="177051" y="69406"/>
                      <a:pt x="169490" y="69406"/>
                    </a:cubicBezTo>
                    <a:cubicBezTo>
                      <a:pt x="164558" y="69406"/>
                      <a:pt x="158572" y="65623"/>
                      <a:pt x="158572" y="62476"/>
                    </a:cubicBezTo>
                    <a:lnTo>
                      <a:pt x="158572" y="36643"/>
                    </a:lnTo>
                    <a:cubicBezTo>
                      <a:pt x="158572" y="33496"/>
                      <a:pt x="164450" y="29714"/>
                      <a:pt x="169280" y="29714"/>
                    </a:cubicBezTo>
                    <a:cubicBezTo>
                      <a:pt x="177051" y="29714"/>
                      <a:pt x="182198" y="37695"/>
                      <a:pt x="182198" y="49875"/>
                    </a:cubicBezTo>
                    <a:close/>
                    <a:moveTo>
                      <a:pt x="223681" y="64786"/>
                    </a:moveTo>
                    <a:lnTo>
                      <a:pt x="222316" y="63631"/>
                    </a:lnTo>
                    <a:cubicBezTo>
                      <a:pt x="220006" y="66361"/>
                      <a:pt x="218323" y="67306"/>
                      <a:pt x="216013" y="67306"/>
                    </a:cubicBezTo>
                    <a:cubicBezTo>
                      <a:pt x="212128" y="67306"/>
                      <a:pt x="210552" y="64576"/>
                      <a:pt x="210552" y="57857"/>
                    </a:cubicBezTo>
                    <a:lnTo>
                      <a:pt x="210552" y="27825"/>
                    </a:lnTo>
                    <a:lnTo>
                      <a:pt x="221160" y="27825"/>
                    </a:lnTo>
                    <a:lnTo>
                      <a:pt x="221160" y="24463"/>
                    </a:lnTo>
                    <a:lnTo>
                      <a:pt x="210552" y="24463"/>
                    </a:lnTo>
                    <a:lnTo>
                      <a:pt x="210552" y="12283"/>
                    </a:lnTo>
                    <a:cubicBezTo>
                      <a:pt x="210552" y="11236"/>
                      <a:pt x="210346" y="10918"/>
                      <a:pt x="209818" y="10918"/>
                    </a:cubicBezTo>
                    <a:cubicBezTo>
                      <a:pt x="209187" y="11970"/>
                      <a:pt x="208453" y="12914"/>
                      <a:pt x="207719" y="13859"/>
                    </a:cubicBezTo>
                    <a:cubicBezTo>
                      <a:pt x="203832" y="19633"/>
                      <a:pt x="200265" y="23519"/>
                      <a:pt x="197535" y="25094"/>
                    </a:cubicBezTo>
                    <a:cubicBezTo>
                      <a:pt x="196380" y="25829"/>
                      <a:pt x="195749" y="26460"/>
                      <a:pt x="195749" y="27091"/>
                    </a:cubicBezTo>
                    <a:cubicBezTo>
                      <a:pt x="195749" y="27404"/>
                      <a:pt x="195852" y="27614"/>
                      <a:pt x="196169" y="27825"/>
                    </a:cubicBezTo>
                    <a:lnTo>
                      <a:pt x="201733" y="27825"/>
                    </a:lnTo>
                    <a:lnTo>
                      <a:pt x="201733" y="59428"/>
                    </a:lnTo>
                    <a:cubicBezTo>
                      <a:pt x="201733" y="68251"/>
                      <a:pt x="204885" y="72767"/>
                      <a:pt x="210972" y="72767"/>
                    </a:cubicBezTo>
                    <a:cubicBezTo>
                      <a:pt x="216224" y="72767"/>
                      <a:pt x="220212" y="70247"/>
                      <a:pt x="223681" y="64786"/>
                    </a:cubicBezTo>
                    <a:close/>
                    <a:moveTo>
                      <a:pt x="250144" y="71715"/>
                    </a:moveTo>
                    <a:lnTo>
                      <a:pt x="250144" y="70140"/>
                    </a:lnTo>
                    <a:cubicBezTo>
                      <a:pt x="243215" y="69616"/>
                      <a:pt x="242373" y="68564"/>
                      <a:pt x="242373" y="61004"/>
                    </a:cubicBezTo>
                    <a:lnTo>
                      <a:pt x="242373" y="23729"/>
                    </a:lnTo>
                    <a:lnTo>
                      <a:pt x="241953" y="23416"/>
                    </a:lnTo>
                    <a:lnTo>
                      <a:pt x="225676" y="29190"/>
                    </a:lnTo>
                    <a:lnTo>
                      <a:pt x="225676" y="30766"/>
                    </a:lnTo>
                    <a:lnTo>
                      <a:pt x="226518" y="30659"/>
                    </a:lnTo>
                    <a:cubicBezTo>
                      <a:pt x="227777" y="30448"/>
                      <a:pt x="229142" y="30345"/>
                      <a:pt x="230086" y="30345"/>
                    </a:cubicBezTo>
                    <a:cubicBezTo>
                      <a:pt x="232607" y="30345"/>
                      <a:pt x="233550" y="32024"/>
                      <a:pt x="233550" y="36643"/>
                    </a:cubicBezTo>
                    <a:lnTo>
                      <a:pt x="233550" y="61004"/>
                    </a:lnTo>
                    <a:cubicBezTo>
                      <a:pt x="233550" y="68564"/>
                      <a:pt x="232503" y="69719"/>
                      <a:pt x="225256" y="70140"/>
                    </a:cubicBezTo>
                    <a:lnTo>
                      <a:pt x="225256" y="71715"/>
                    </a:lnTo>
                    <a:lnTo>
                      <a:pt x="250144" y="71715"/>
                    </a:lnTo>
                    <a:close/>
                    <a:moveTo>
                      <a:pt x="243318" y="5354"/>
                    </a:moveTo>
                    <a:cubicBezTo>
                      <a:pt x="243318" y="2413"/>
                      <a:pt x="241008" y="0"/>
                      <a:pt x="237964" y="0"/>
                    </a:cubicBezTo>
                    <a:cubicBezTo>
                      <a:pt x="235024" y="0"/>
                      <a:pt x="232607" y="2413"/>
                      <a:pt x="232607" y="5354"/>
                    </a:cubicBezTo>
                    <a:cubicBezTo>
                      <a:pt x="232607" y="8398"/>
                      <a:pt x="235024" y="10708"/>
                      <a:pt x="237964" y="10708"/>
                    </a:cubicBezTo>
                    <a:cubicBezTo>
                      <a:pt x="241008" y="10708"/>
                      <a:pt x="243318" y="8398"/>
                      <a:pt x="243318" y="5354"/>
                    </a:cubicBezTo>
                    <a:close/>
                    <a:moveTo>
                      <a:pt x="302857" y="26039"/>
                    </a:moveTo>
                    <a:lnTo>
                      <a:pt x="302857" y="24463"/>
                    </a:lnTo>
                    <a:lnTo>
                      <a:pt x="288265" y="24463"/>
                    </a:lnTo>
                    <a:lnTo>
                      <a:pt x="288265" y="26039"/>
                    </a:lnTo>
                    <a:cubicBezTo>
                      <a:pt x="291621" y="26353"/>
                      <a:pt x="293197" y="27404"/>
                      <a:pt x="293197" y="29400"/>
                    </a:cubicBezTo>
                    <a:cubicBezTo>
                      <a:pt x="293197" y="30448"/>
                      <a:pt x="292986" y="31500"/>
                      <a:pt x="292566" y="32548"/>
                    </a:cubicBezTo>
                    <a:lnTo>
                      <a:pt x="282172" y="59746"/>
                    </a:lnTo>
                    <a:lnTo>
                      <a:pt x="271460" y="32865"/>
                    </a:lnTo>
                    <a:cubicBezTo>
                      <a:pt x="270834" y="31393"/>
                      <a:pt x="270516" y="29924"/>
                      <a:pt x="270516" y="28980"/>
                    </a:cubicBezTo>
                    <a:cubicBezTo>
                      <a:pt x="270516" y="27091"/>
                      <a:pt x="271671" y="26353"/>
                      <a:pt x="275346" y="26039"/>
                    </a:cubicBezTo>
                    <a:lnTo>
                      <a:pt x="275346" y="24463"/>
                    </a:lnTo>
                    <a:lnTo>
                      <a:pt x="254768" y="24463"/>
                    </a:lnTo>
                    <a:lnTo>
                      <a:pt x="254768" y="26039"/>
                    </a:lnTo>
                    <a:cubicBezTo>
                      <a:pt x="258756" y="26249"/>
                      <a:pt x="259490" y="27301"/>
                      <a:pt x="264321" y="38116"/>
                    </a:cubicBezTo>
                    <a:lnTo>
                      <a:pt x="276921" y="68251"/>
                    </a:lnTo>
                    <a:cubicBezTo>
                      <a:pt x="277132" y="68882"/>
                      <a:pt x="277445" y="69616"/>
                      <a:pt x="277763" y="70457"/>
                    </a:cubicBezTo>
                    <a:cubicBezTo>
                      <a:pt x="278394" y="72346"/>
                      <a:pt x="279022" y="73184"/>
                      <a:pt x="279651" y="73184"/>
                    </a:cubicBezTo>
                    <a:cubicBezTo>
                      <a:pt x="280283" y="73184"/>
                      <a:pt x="281017" y="71818"/>
                      <a:pt x="282593" y="67937"/>
                    </a:cubicBezTo>
                    <a:lnTo>
                      <a:pt x="296031" y="34230"/>
                    </a:lnTo>
                    <a:cubicBezTo>
                      <a:pt x="299079" y="27091"/>
                      <a:pt x="299706" y="26353"/>
                      <a:pt x="302857" y="2603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" name="lag_outline_7"/>
              <p:cNvSpPr/>
              <p:nvPr/>
            </p:nvSpPr>
            <p:spPr>
              <a:xfrm>
                <a:off x="1981521" y="2920540"/>
                <a:ext cx="41897" cy="49351"/>
              </a:xfrm>
              <a:custGeom>
                <a:avLst/>
                <a:gdLst/>
                <a:ahLst/>
                <a:cxnLst/>
                <a:rect l="0" t="0" r="r" b="b"/>
                <a:pathLst>
                  <a:path w="41897" h="49351">
                    <a:moveTo>
                      <a:pt x="41897" y="31814"/>
                    </a:moveTo>
                    <a:lnTo>
                      <a:pt x="40220" y="31079"/>
                    </a:lnTo>
                    <a:cubicBezTo>
                      <a:pt x="35179" y="39060"/>
                      <a:pt x="30663" y="42104"/>
                      <a:pt x="23943" y="42104"/>
                    </a:cubicBezTo>
                    <a:cubicBezTo>
                      <a:pt x="18169" y="42104"/>
                      <a:pt x="13755" y="39374"/>
                      <a:pt x="10711" y="33703"/>
                    </a:cubicBezTo>
                    <a:cubicBezTo>
                      <a:pt x="8612" y="29611"/>
                      <a:pt x="7771" y="25936"/>
                      <a:pt x="7560" y="19213"/>
                    </a:cubicBezTo>
                    <a:lnTo>
                      <a:pt x="39902" y="19213"/>
                    </a:lnTo>
                    <a:cubicBezTo>
                      <a:pt x="39064" y="12391"/>
                      <a:pt x="38012" y="9343"/>
                      <a:pt x="35389" y="5985"/>
                    </a:cubicBezTo>
                    <a:cubicBezTo>
                      <a:pt x="32238" y="2203"/>
                      <a:pt x="27408" y="0"/>
                      <a:pt x="21947" y="0"/>
                    </a:cubicBezTo>
                    <a:cubicBezTo>
                      <a:pt x="8926" y="0"/>
                      <a:pt x="0" y="10497"/>
                      <a:pt x="0" y="25829"/>
                    </a:cubicBezTo>
                    <a:cubicBezTo>
                      <a:pt x="0" y="40319"/>
                      <a:pt x="7560" y="49351"/>
                      <a:pt x="19637" y="49351"/>
                    </a:cubicBezTo>
                    <a:cubicBezTo>
                      <a:pt x="29718" y="49351"/>
                      <a:pt x="37489" y="43156"/>
                      <a:pt x="41897" y="31814"/>
                    </a:cubicBezTo>
                    <a:close/>
                    <a:moveTo>
                      <a:pt x="29193" y="15855"/>
                    </a:moveTo>
                    <a:lnTo>
                      <a:pt x="7771" y="15855"/>
                    </a:lnTo>
                    <a:cubicBezTo>
                      <a:pt x="8926" y="7560"/>
                      <a:pt x="12497" y="3778"/>
                      <a:pt x="18903" y="3778"/>
                    </a:cubicBezTo>
                    <a:cubicBezTo>
                      <a:pt x="25309" y="3778"/>
                      <a:pt x="27828" y="6719"/>
                      <a:pt x="29193" y="1585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6" name="finite"/>
            <p:cNvGrpSpPr/>
            <p:nvPr/>
          </p:nvGrpSpPr>
          <p:grpSpPr>
            <a:xfrm>
              <a:off x="2379824" y="2913439"/>
              <a:ext cx="305906" cy="72869"/>
              <a:chOff x="2379824" y="2913439"/>
              <a:chExt cx="305906" cy="72869"/>
            </a:xfrm>
          </p:grpSpPr>
          <p:sp>
            <p:nvSpPr>
              <p:cNvPr id="287" name="finite_outline_0"/>
              <p:cNvSpPr/>
              <p:nvPr/>
            </p:nvSpPr>
            <p:spPr>
              <a:xfrm>
                <a:off x="2379824" y="2913439"/>
                <a:ext cx="210551" cy="72766"/>
              </a:xfrm>
              <a:custGeom>
                <a:avLst/>
                <a:gdLst/>
                <a:ahLst/>
                <a:cxnLst/>
                <a:rect l="0" t="0" r="r" b="b"/>
                <a:pathLst>
                  <a:path w="210551" h="72767">
                    <a:moveTo>
                      <a:pt x="51451" y="71715"/>
                    </a:moveTo>
                    <a:lnTo>
                      <a:pt x="51451" y="70140"/>
                    </a:lnTo>
                    <a:cubicBezTo>
                      <a:pt x="45573" y="69616"/>
                      <a:pt x="44418" y="68251"/>
                      <a:pt x="44418" y="61531"/>
                    </a:cubicBezTo>
                    <a:lnTo>
                      <a:pt x="44418" y="34020"/>
                    </a:lnTo>
                    <a:lnTo>
                      <a:pt x="44629" y="23729"/>
                    </a:lnTo>
                    <a:lnTo>
                      <a:pt x="44208" y="23416"/>
                    </a:lnTo>
                    <a:cubicBezTo>
                      <a:pt x="39588" y="24150"/>
                      <a:pt x="36540" y="24463"/>
                      <a:pt x="32341" y="24463"/>
                    </a:cubicBezTo>
                    <a:lnTo>
                      <a:pt x="15855" y="24463"/>
                    </a:lnTo>
                    <a:lnTo>
                      <a:pt x="15855" y="19951"/>
                    </a:lnTo>
                    <a:lnTo>
                      <a:pt x="15855" y="19320"/>
                    </a:lnTo>
                    <a:cubicBezTo>
                      <a:pt x="15645" y="14593"/>
                      <a:pt x="16276" y="10604"/>
                      <a:pt x="17641" y="8084"/>
                    </a:cubicBezTo>
                    <a:cubicBezTo>
                      <a:pt x="19427" y="4830"/>
                      <a:pt x="23205" y="2623"/>
                      <a:pt x="26987" y="2623"/>
                    </a:cubicBezTo>
                    <a:cubicBezTo>
                      <a:pt x="29928" y="2623"/>
                      <a:pt x="31921" y="3989"/>
                      <a:pt x="34441" y="7560"/>
                    </a:cubicBezTo>
                    <a:cubicBezTo>
                      <a:pt x="36437" y="10497"/>
                      <a:pt x="37802" y="11446"/>
                      <a:pt x="39588" y="11446"/>
                    </a:cubicBezTo>
                    <a:cubicBezTo>
                      <a:pt x="41791" y="11446"/>
                      <a:pt x="43367" y="9763"/>
                      <a:pt x="43367" y="7350"/>
                    </a:cubicBezTo>
                    <a:cubicBezTo>
                      <a:pt x="43367" y="2834"/>
                      <a:pt x="38116" y="0"/>
                      <a:pt x="30032" y="0"/>
                    </a:cubicBezTo>
                    <a:cubicBezTo>
                      <a:pt x="22050" y="0"/>
                      <a:pt x="15962" y="2623"/>
                      <a:pt x="12180" y="7874"/>
                    </a:cubicBezTo>
                    <a:cubicBezTo>
                      <a:pt x="9033" y="12283"/>
                      <a:pt x="7874" y="16066"/>
                      <a:pt x="7247" y="24463"/>
                    </a:cubicBezTo>
                    <a:lnTo>
                      <a:pt x="0" y="24463"/>
                    </a:lnTo>
                    <a:lnTo>
                      <a:pt x="0" y="27928"/>
                    </a:lnTo>
                    <a:lnTo>
                      <a:pt x="7140" y="27928"/>
                    </a:lnTo>
                    <a:lnTo>
                      <a:pt x="7140" y="61845"/>
                    </a:lnTo>
                    <a:cubicBezTo>
                      <a:pt x="7140" y="68564"/>
                      <a:pt x="5985" y="69929"/>
                      <a:pt x="107" y="70140"/>
                    </a:cubicBezTo>
                    <a:lnTo>
                      <a:pt x="107" y="71715"/>
                    </a:lnTo>
                    <a:lnTo>
                      <a:pt x="23205" y="71715"/>
                    </a:lnTo>
                    <a:lnTo>
                      <a:pt x="23205" y="70140"/>
                    </a:lnTo>
                    <a:cubicBezTo>
                      <a:pt x="17328" y="69719"/>
                      <a:pt x="15962" y="68251"/>
                      <a:pt x="15962" y="62476"/>
                    </a:cubicBezTo>
                    <a:lnTo>
                      <a:pt x="15962" y="27928"/>
                    </a:lnTo>
                    <a:lnTo>
                      <a:pt x="24991" y="27928"/>
                    </a:lnTo>
                    <a:cubicBezTo>
                      <a:pt x="35072" y="27928"/>
                      <a:pt x="35596" y="28246"/>
                      <a:pt x="35596" y="33810"/>
                    </a:cubicBezTo>
                    <a:lnTo>
                      <a:pt x="35596" y="61531"/>
                    </a:lnTo>
                    <a:cubicBezTo>
                      <a:pt x="35596" y="68671"/>
                      <a:pt x="34861" y="69616"/>
                      <a:pt x="28353" y="70140"/>
                    </a:cubicBezTo>
                    <a:lnTo>
                      <a:pt x="28353" y="71715"/>
                    </a:lnTo>
                    <a:lnTo>
                      <a:pt x="51451" y="71715"/>
                    </a:lnTo>
                    <a:close/>
                    <a:moveTo>
                      <a:pt x="106061" y="71715"/>
                    </a:moveTo>
                    <a:lnTo>
                      <a:pt x="106061" y="70140"/>
                    </a:lnTo>
                    <a:cubicBezTo>
                      <a:pt x="100913" y="69616"/>
                      <a:pt x="99655" y="68354"/>
                      <a:pt x="99655" y="63210"/>
                    </a:cubicBezTo>
                    <a:lnTo>
                      <a:pt x="99655" y="39164"/>
                    </a:lnTo>
                    <a:cubicBezTo>
                      <a:pt x="99655" y="29293"/>
                      <a:pt x="95036" y="23416"/>
                      <a:pt x="87265" y="23416"/>
                    </a:cubicBezTo>
                    <a:cubicBezTo>
                      <a:pt x="82435" y="23416"/>
                      <a:pt x="79181" y="25198"/>
                      <a:pt x="72041" y="31921"/>
                    </a:cubicBezTo>
                    <a:lnTo>
                      <a:pt x="72041" y="23626"/>
                    </a:lnTo>
                    <a:lnTo>
                      <a:pt x="71303" y="23416"/>
                    </a:lnTo>
                    <a:cubicBezTo>
                      <a:pt x="66159" y="25305"/>
                      <a:pt x="62587" y="26460"/>
                      <a:pt x="56813" y="28138"/>
                    </a:cubicBezTo>
                    <a:lnTo>
                      <a:pt x="56813" y="29924"/>
                    </a:lnTo>
                    <a:cubicBezTo>
                      <a:pt x="57444" y="29611"/>
                      <a:pt x="58495" y="29504"/>
                      <a:pt x="59650" y="29504"/>
                    </a:cubicBezTo>
                    <a:cubicBezTo>
                      <a:pt x="62587" y="29504"/>
                      <a:pt x="63536" y="31079"/>
                      <a:pt x="63536" y="36223"/>
                    </a:cubicBezTo>
                    <a:lnTo>
                      <a:pt x="63536" y="62266"/>
                    </a:lnTo>
                    <a:cubicBezTo>
                      <a:pt x="63536" y="68251"/>
                      <a:pt x="62381" y="69719"/>
                      <a:pt x="57023" y="70140"/>
                    </a:cubicBezTo>
                    <a:lnTo>
                      <a:pt x="57023" y="71715"/>
                    </a:lnTo>
                    <a:lnTo>
                      <a:pt x="79284" y="71715"/>
                    </a:lnTo>
                    <a:lnTo>
                      <a:pt x="79284" y="70140"/>
                    </a:lnTo>
                    <a:cubicBezTo>
                      <a:pt x="73930" y="69719"/>
                      <a:pt x="72354" y="68461"/>
                      <a:pt x="72354" y="64679"/>
                    </a:cubicBezTo>
                    <a:lnTo>
                      <a:pt x="72354" y="35175"/>
                    </a:lnTo>
                    <a:cubicBezTo>
                      <a:pt x="77395" y="30448"/>
                      <a:pt x="79704" y="29190"/>
                      <a:pt x="83169" y="29190"/>
                    </a:cubicBezTo>
                    <a:cubicBezTo>
                      <a:pt x="88317" y="29190"/>
                      <a:pt x="90833" y="32444"/>
                      <a:pt x="90833" y="39374"/>
                    </a:cubicBezTo>
                    <a:lnTo>
                      <a:pt x="90833" y="61321"/>
                    </a:lnTo>
                    <a:cubicBezTo>
                      <a:pt x="90833" y="67937"/>
                      <a:pt x="89471" y="69719"/>
                      <a:pt x="84221" y="70140"/>
                    </a:cubicBezTo>
                    <a:lnTo>
                      <a:pt x="84221" y="71715"/>
                    </a:lnTo>
                    <a:lnTo>
                      <a:pt x="106061" y="71715"/>
                    </a:lnTo>
                    <a:close/>
                    <a:moveTo>
                      <a:pt x="134208" y="71715"/>
                    </a:moveTo>
                    <a:lnTo>
                      <a:pt x="134208" y="70140"/>
                    </a:lnTo>
                    <a:cubicBezTo>
                      <a:pt x="127279" y="69616"/>
                      <a:pt x="126438" y="68564"/>
                      <a:pt x="126438" y="61004"/>
                    </a:cubicBezTo>
                    <a:lnTo>
                      <a:pt x="126438" y="23729"/>
                    </a:lnTo>
                    <a:lnTo>
                      <a:pt x="126016" y="23416"/>
                    </a:lnTo>
                    <a:lnTo>
                      <a:pt x="109741" y="29190"/>
                    </a:lnTo>
                    <a:lnTo>
                      <a:pt x="109741" y="30766"/>
                    </a:lnTo>
                    <a:lnTo>
                      <a:pt x="110582" y="30659"/>
                    </a:lnTo>
                    <a:cubicBezTo>
                      <a:pt x="111840" y="30448"/>
                      <a:pt x="113206" y="30345"/>
                      <a:pt x="114150" y="30345"/>
                    </a:cubicBezTo>
                    <a:cubicBezTo>
                      <a:pt x="116670" y="30345"/>
                      <a:pt x="117615" y="32024"/>
                      <a:pt x="117615" y="36643"/>
                    </a:cubicBezTo>
                    <a:lnTo>
                      <a:pt x="117615" y="61004"/>
                    </a:lnTo>
                    <a:cubicBezTo>
                      <a:pt x="117615" y="68564"/>
                      <a:pt x="116567" y="69719"/>
                      <a:pt x="109320" y="70140"/>
                    </a:cubicBezTo>
                    <a:lnTo>
                      <a:pt x="109320" y="71715"/>
                    </a:lnTo>
                    <a:lnTo>
                      <a:pt x="134208" y="71715"/>
                    </a:lnTo>
                    <a:close/>
                    <a:moveTo>
                      <a:pt x="127382" y="5354"/>
                    </a:moveTo>
                    <a:cubicBezTo>
                      <a:pt x="127382" y="2413"/>
                      <a:pt x="125073" y="0"/>
                      <a:pt x="122028" y="0"/>
                    </a:cubicBezTo>
                    <a:cubicBezTo>
                      <a:pt x="119087" y="0"/>
                      <a:pt x="116670" y="2413"/>
                      <a:pt x="116670" y="5354"/>
                    </a:cubicBezTo>
                    <a:cubicBezTo>
                      <a:pt x="116670" y="8398"/>
                      <a:pt x="119087" y="10708"/>
                      <a:pt x="122028" y="10708"/>
                    </a:cubicBezTo>
                    <a:cubicBezTo>
                      <a:pt x="125073" y="10708"/>
                      <a:pt x="127382" y="8398"/>
                      <a:pt x="127382" y="5354"/>
                    </a:cubicBezTo>
                    <a:close/>
                    <a:moveTo>
                      <a:pt x="166133" y="64786"/>
                    </a:moveTo>
                    <a:lnTo>
                      <a:pt x="164768" y="63631"/>
                    </a:lnTo>
                    <a:cubicBezTo>
                      <a:pt x="162458" y="66361"/>
                      <a:pt x="160775" y="67306"/>
                      <a:pt x="158465" y="67306"/>
                    </a:cubicBezTo>
                    <a:cubicBezTo>
                      <a:pt x="154580" y="67306"/>
                      <a:pt x="153004" y="64575"/>
                      <a:pt x="153004" y="57856"/>
                    </a:cubicBezTo>
                    <a:lnTo>
                      <a:pt x="153004" y="27825"/>
                    </a:lnTo>
                    <a:lnTo>
                      <a:pt x="163612" y="27825"/>
                    </a:lnTo>
                    <a:lnTo>
                      <a:pt x="163612" y="24463"/>
                    </a:lnTo>
                    <a:lnTo>
                      <a:pt x="153004" y="24463"/>
                    </a:lnTo>
                    <a:lnTo>
                      <a:pt x="153004" y="12283"/>
                    </a:lnTo>
                    <a:cubicBezTo>
                      <a:pt x="153004" y="11235"/>
                      <a:pt x="152798" y="10918"/>
                      <a:pt x="152270" y="10918"/>
                    </a:cubicBezTo>
                    <a:cubicBezTo>
                      <a:pt x="151639" y="11970"/>
                      <a:pt x="150905" y="12914"/>
                      <a:pt x="150170" y="13859"/>
                    </a:cubicBezTo>
                    <a:cubicBezTo>
                      <a:pt x="146286" y="19633"/>
                      <a:pt x="142717" y="23519"/>
                      <a:pt x="139986" y="25094"/>
                    </a:cubicBezTo>
                    <a:cubicBezTo>
                      <a:pt x="138832" y="25829"/>
                      <a:pt x="138201" y="26460"/>
                      <a:pt x="138201" y="27091"/>
                    </a:cubicBezTo>
                    <a:cubicBezTo>
                      <a:pt x="138201" y="27404"/>
                      <a:pt x="138304" y="27614"/>
                      <a:pt x="138621" y="27825"/>
                    </a:cubicBezTo>
                    <a:lnTo>
                      <a:pt x="144186" y="27825"/>
                    </a:lnTo>
                    <a:lnTo>
                      <a:pt x="144186" y="59428"/>
                    </a:lnTo>
                    <a:cubicBezTo>
                      <a:pt x="144186" y="68251"/>
                      <a:pt x="147337" y="72767"/>
                      <a:pt x="153425" y="72767"/>
                    </a:cubicBezTo>
                    <a:cubicBezTo>
                      <a:pt x="158676" y="72767"/>
                      <a:pt x="162665" y="70247"/>
                      <a:pt x="166133" y="64786"/>
                    </a:cubicBezTo>
                    <a:close/>
                    <a:moveTo>
                      <a:pt x="210551" y="55229"/>
                    </a:moveTo>
                    <a:lnTo>
                      <a:pt x="208872" y="54495"/>
                    </a:lnTo>
                    <a:cubicBezTo>
                      <a:pt x="203832" y="62476"/>
                      <a:pt x="199316" y="65520"/>
                      <a:pt x="192596" y="65520"/>
                    </a:cubicBezTo>
                    <a:cubicBezTo>
                      <a:pt x="186821" y="65520"/>
                      <a:pt x="182408" y="62790"/>
                      <a:pt x="179365" y="57118"/>
                    </a:cubicBezTo>
                    <a:cubicBezTo>
                      <a:pt x="177265" y="53026"/>
                      <a:pt x="176424" y="49351"/>
                      <a:pt x="176213" y="42628"/>
                    </a:cubicBezTo>
                    <a:lnTo>
                      <a:pt x="208555" y="42628"/>
                    </a:lnTo>
                    <a:cubicBezTo>
                      <a:pt x="207718" y="35806"/>
                      <a:pt x="206665" y="32758"/>
                      <a:pt x="204043" y="29401"/>
                    </a:cubicBezTo>
                    <a:cubicBezTo>
                      <a:pt x="200892" y="25618"/>
                      <a:pt x="196061" y="23416"/>
                      <a:pt x="190600" y="23416"/>
                    </a:cubicBezTo>
                    <a:cubicBezTo>
                      <a:pt x="177578" y="23416"/>
                      <a:pt x="168653" y="33913"/>
                      <a:pt x="168653" y="49244"/>
                    </a:cubicBezTo>
                    <a:cubicBezTo>
                      <a:pt x="168653" y="63734"/>
                      <a:pt x="176213" y="72767"/>
                      <a:pt x="188291" y="72767"/>
                    </a:cubicBezTo>
                    <a:cubicBezTo>
                      <a:pt x="198371" y="72767"/>
                      <a:pt x="206142" y="66572"/>
                      <a:pt x="210551" y="55229"/>
                    </a:cubicBezTo>
                    <a:close/>
                    <a:moveTo>
                      <a:pt x="197848" y="39271"/>
                    </a:moveTo>
                    <a:lnTo>
                      <a:pt x="176424" y="39271"/>
                    </a:lnTo>
                    <a:cubicBezTo>
                      <a:pt x="177578" y="30976"/>
                      <a:pt x="181151" y="27194"/>
                      <a:pt x="187557" y="27194"/>
                    </a:cubicBezTo>
                    <a:cubicBezTo>
                      <a:pt x="193961" y="27194"/>
                      <a:pt x="196482" y="30135"/>
                      <a:pt x="197848" y="3927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" name="finite_outline_1"/>
              <p:cNvSpPr/>
              <p:nvPr/>
            </p:nvSpPr>
            <p:spPr>
              <a:xfrm>
                <a:off x="2630605" y="2938846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6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9" name="lp"/>
            <p:cNvGrpSpPr/>
            <p:nvPr/>
          </p:nvGrpSpPr>
          <p:grpSpPr>
            <a:xfrm>
              <a:off x="3035328" y="2913302"/>
              <a:ext cx="275982" cy="72449"/>
              <a:chOff x="3035328" y="2913302"/>
              <a:chExt cx="275982" cy="72449"/>
            </a:xfrm>
          </p:grpSpPr>
          <p:sp>
            <p:nvSpPr>
              <p:cNvPr id="290" name="lp_outline_0"/>
              <p:cNvSpPr/>
              <p:nvPr/>
            </p:nvSpPr>
            <p:spPr>
              <a:xfrm>
                <a:off x="3035328" y="2937976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7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lp_outline_1"/>
              <p:cNvSpPr/>
              <p:nvPr/>
            </p:nvSpPr>
            <p:spPr>
              <a:xfrm>
                <a:off x="3131133" y="2935773"/>
                <a:ext cx="94503" cy="43048"/>
              </a:xfrm>
              <a:custGeom>
                <a:avLst/>
                <a:gdLst/>
                <a:ahLst/>
                <a:cxnLst/>
                <a:rect l="0" t="0" r="r" b="b"/>
                <a:pathLst>
                  <a:path w="94504" h="43049">
                    <a:moveTo>
                      <a:pt x="94504" y="21419"/>
                    </a:moveTo>
                    <a:lnTo>
                      <a:pt x="73922" y="0"/>
                    </a:lnTo>
                    <a:lnTo>
                      <a:pt x="70668" y="3465"/>
                    </a:lnTo>
                    <a:lnTo>
                      <a:pt x="83165" y="18586"/>
                    </a:lnTo>
                    <a:lnTo>
                      <a:pt x="0" y="18586"/>
                    </a:lnTo>
                    <a:lnTo>
                      <a:pt x="0" y="24463"/>
                    </a:lnTo>
                    <a:lnTo>
                      <a:pt x="83165" y="24463"/>
                    </a:lnTo>
                    <a:lnTo>
                      <a:pt x="70668" y="39584"/>
                    </a:lnTo>
                    <a:lnTo>
                      <a:pt x="73922" y="43049"/>
                    </a:lnTo>
                    <a:lnTo>
                      <a:pt x="94504" y="2141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lp_outline_2"/>
              <p:cNvSpPr/>
              <p:nvPr/>
            </p:nvSpPr>
            <p:spPr>
              <a:xfrm>
                <a:off x="3263848" y="2913302"/>
                <a:ext cx="47462" cy="72449"/>
              </a:xfrm>
              <a:custGeom>
                <a:avLst/>
                <a:gdLst/>
                <a:ahLst/>
                <a:cxnLst/>
                <a:rect l="0" t="0" r="r" b="b"/>
                <a:pathLst>
                  <a:path w="47462" h="72450">
                    <a:moveTo>
                      <a:pt x="47462" y="36330"/>
                    </a:moveTo>
                    <a:cubicBezTo>
                      <a:pt x="47462" y="14804"/>
                      <a:pt x="37906" y="0"/>
                      <a:pt x="24150" y="0"/>
                    </a:cubicBezTo>
                    <a:cubicBezTo>
                      <a:pt x="18375" y="0"/>
                      <a:pt x="13966" y="1786"/>
                      <a:pt x="10081" y="5461"/>
                    </a:cubicBezTo>
                    <a:cubicBezTo>
                      <a:pt x="3989" y="11339"/>
                      <a:pt x="0" y="23416"/>
                      <a:pt x="0" y="35699"/>
                    </a:cubicBezTo>
                    <a:cubicBezTo>
                      <a:pt x="0" y="47145"/>
                      <a:pt x="3465" y="59432"/>
                      <a:pt x="8402" y="65310"/>
                    </a:cubicBezTo>
                    <a:cubicBezTo>
                      <a:pt x="12283" y="69929"/>
                      <a:pt x="17641" y="72450"/>
                      <a:pt x="23729" y="72450"/>
                    </a:cubicBezTo>
                    <a:cubicBezTo>
                      <a:pt x="29087" y="72450"/>
                      <a:pt x="33599" y="70668"/>
                      <a:pt x="37382" y="66993"/>
                    </a:cubicBezTo>
                    <a:cubicBezTo>
                      <a:pt x="43470" y="61214"/>
                      <a:pt x="47462" y="49034"/>
                      <a:pt x="47462" y="36330"/>
                    </a:cubicBezTo>
                    <a:close/>
                    <a:moveTo>
                      <a:pt x="37382" y="36540"/>
                    </a:moveTo>
                    <a:cubicBezTo>
                      <a:pt x="37382" y="58487"/>
                      <a:pt x="32762" y="69723"/>
                      <a:pt x="23729" y="69723"/>
                    </a:cubicBezTo>
                    <a:cubicBezTo>
                      <a:pt x="14700" y="69723"/>
                      <a:pt x="10081" y="58487"/>
                      <a:pt x="10081" y="36643"/>
                    </a:cubicBezTo>
                    <a:cubicBezTo>
                      <a:pt x="10081" y="14387"/>
                      <a:pt x="14803" y="2730"/>
                      <a:pt x="23836" y="2730"/>
                    </a:cubicBezTo>
                    <a:cubicBezTo>
                      <a:pt x="32655" y="2730"/>
                      <a:pt x="37382" y="14593"/>
                      <a:pt x="37382" y="365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93" name="active_setting"/>
            <p:cNvGrpSpPr/>
            <p:nvPr/>
          </p:nvGrpSpPr>
          <p:grpSpPr>
            <a:xfrm>
              <a:off x="3775281" y="2902612"/>
              <a:ext cx="954156" cy="94499"/>
              <a:chOff x="3775281" y="2902612"/>
              <a:chExt cx="954156" cy="94499"/>
            </a:xfrm>
          </p:grpSpPr>
          <p:sp>
            <p:nvSpPr>
              <p:cNvPr id="294" name="active_setting_outline_0"/>
              <p:cNvSpPr/>
              <p:nvPr/>
            </p:nvSpPr>
            <p:spPr>
              <a:xfrm>
                <a:off x="3775281" y="2928020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7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active_setting_outline_1"/>
              <p:cNvSpPr/>
              <p:nvPr/>
            </p:nvSpPr>
            <p:spPr>
              <a:xfrm>
                <a:off x="3871086" y="2925817"/>
                <a:ext cx="94503" cy="43049"/>
              </a:xfrm>
              <a:custGeom>
                <a:avLst/>
                <a:gdLst/>
                <a:ahLst/>
                <a:cxnLst/>
                <a:rect l="0" t="0" r="r" b="b"/>
                <a:pathLst>
                  <a:path w="94504" h="43049">
                    <a:moveTo>
                      <a:pt x="94504" y="21419"/>
                    </a:moveTo>
                    <a:lnTo>
                      <a:pt x="73922" y="0"/>
                    </a:lnTo>
                    <a:lnTo>
                      <a:pt x="70668" y="3465"/>
                    </a:lnTo>
                    <a:lnTo>
                      <a:pt x="83165" y="18586"/>
                    </a:lnTo>
                    <a:lnTo>
                      <a:pt x="0" y="18586"/>
                    </a:lnTo>
                    <a:lnTo>
                      <a:pt x="0" y="24463"/>
                    </a:lnTo>
                    <a:lnTo>
                      <a:pt x="83165" y="24463"/>
                    </a:lnTo>
                    <a:lnTo>
                      <a:pt x="70668" y="39584"/>
                    </a:lnTo>
                    <a:lnTo>
                      <a:pt x="73922" y="43049"/>
                    </a:lnTo>
                    <a:lnTo>
                      <a:pt x="94504" y="2141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" name="active_setting_outline_2"/>
              <p:cNvSpPr/>
              <p:nvPr/>
            </p:nvSpPr>
            <p:spPr>
              <a:xfrm>
                <a:off x="4006738" y="2928127"/>
                <a:ext cx="78644" cy="39691"/>
              </a:xfrm>
              <a:custGeom>
                <a:avLst/>
                <a:gdLst/>
                <a:ahLst/>
                <a:cxnLst/>
                <a:rect l="0" t="0" r="r" b="b"/>
                <a:pathLst>
                  <a:path w="78645" h="39691">
                    <a:moveTo>
                      <a:pt x="78645" y="17851"/>
                    </a:moveTo>
                    <a:cubicBezTo>
                      <a:pt x="78645" y="8295"/>
                      <a:pt x="73501" y="210"/>
                      <a:pt x="63106" y="210"/>
                    </a:cubicBezTo>
                    <a:cubicBezTo>
                      <a:pt x="54392" y="210"/>
                      <a:pt x="45989" y="8505"/>
                      <a:pt x="40739" y="14803"/>
                    </a:cubicBezTo>
                    <a:cubicBezTo>
                      <a:pt x="36330" y="7560"/>
                      <a:pt x="27824" y="0"/>
                      <a:pt x="19006" y="0"/>
                    </a:cubicBezTo>
                    <a:cubicBezTo>
                      <a:pt x="7452" y="0"/>
                      <a:pt x="0" y="11128"/>
                      <a:pt x="0" y="21840"/>
                    </a:cubicBezTo>
                    <a:cubicBezTo>
                      <a:pt x="0" y="31397"/>
                      <a:pt x="5461" y="39584"/>
                      <a:pt x="15748" y="39584"/>
                    </a:cubicBezTo>
                    <a:cubicBezTo>
                      <a:pt x="24042" y="39584"/>
                      <a:pt x="33388" y="31079"/>
                      <a:pt x="38009" y="24674"/>
                    </a:cubicBezTo>
                    <a:cubicBezTo>
                      <a:pt x="42945" y="31921"/>
                      <a:pt x="50505" y="39691"/>
                      <a:pt x="59849" y="39691"/>
                    </a:cubicBezTo>
                    <a:cubicBezTo>
                      <a:pt x="71401" y="39691"/>
                      <a:pt x="78645" y="28349"/>
                      <a:pt x="78645" y="17851"/>
                    </a:cubicBezTo>
                    <a:close/>
                    <a:moveTo>
                      <a:pt x="72659" y="22681"/>
                    </a:moveTo>
                    <a:cubicBezTo>
                      <a:pt x="72659" y="29611"/>
                      <a:pt x="69195" y="35385"/>
                      <a:pt x="61634" y="35385"/>
                    </a:cubicBezTo>
                    <a:cubicBezTo>
                      <a:pt x="53760" y="35385"/>
                      <a:pt x="46620" y="23626"/>
                      <a:pt x="42525" y="17851"/>
                    </a:cubicBezTo>
                    <a:cubicBezTo>
                      <a:pt x="45676" y="13125"/>
                      <a:pt x="54074" y="5354"/>
                      <a:pt x="59955" y="5354"/>
                    </a:cubicBezTo>
                    <a:cubicBezTo>
                      <a:pt x="68353" y="5354"/>
                      <a:pt x="72659" y="15538"/>
                      <a:pt x="72659" y="22681"/>
                    </a:cubicBezTo>
                    <a:close/>
                    <a:moveTo>
                      <a:pt x="36227" y="21733"/>
                    </a:moveTo>
                    <a:cubicBezTo>
                      <a:pt x="33179" y="26460"/>
                      <a:pt x="24569" y="34020"/>
                      <a:pt x="18796" y="34020"/>
                    </a:cubicBezTo>
                    <a:cubicBezTo>
                      <a:pt x="10394" y="34020"/>
                      <a:pt x="6195" y="23836"/>
                      <a:pt x="6195" y="16696"/>
                    </a:cubicBezTo>
                    <a:cubicBezTo>
                      <a:pt x="6195" y="9660"/>
                      <a:pt x="9762" y="3885"/>
                      <a:pt x="17431" y="3885"/>
                    </a:cubicBezTo>
                    <a:cubicBezTo>
                      <a:pt x="24463" y="3885"/>
                      <a:pt x="33179" y="15855"/>
                      <a:pt x="36227" y="2173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" name="active_setting_outline_3"/>
              <p:cNvSpPr/>
              <p:nvPr/>
            </p:nvSpPr>
            <p:spPr>
              <a:xfrm>
                <a:off x="4099260" y="2963616"/>
                <a:ext cx="16696" cy="25832"/>
              </a:xfrm>
              <a:custGeom>
                <a:avLst/>
                <a:gdLst/>
                <a:ahLst/>
                <a:cxnLst/>
                <a:rect l="0" t="0" r="r" b="b"/>
                <a:pathLst>
                  <a:path w="16697" h="25833">
                    <a:moveTo>
                      <a:pt x="16697" y="10081"/>
                    </a:moveTo>
                    <a:cubicBezTo>
                      <a:pt x="16697" y="1365"/>
                      <a:pt x="9870" y="0"/>
                      <a:pt x="7037" y="0"/>
                    </a:cubicBezTo>
                    <a:cubicBezTo>
                      <a:pt x="3993" y="0"/>
                      <a:pt x="0" y="1893"/>
                      <a:pt x="0" y="6406"/>
                    </a:cubicBezTo>
                    <a:cubicBezTo>
                      <a:pt x="0" y="10608"/>
                      <a:pt x="4096" y="11656"/>
                      <a:pt x="7144" y="11656"/>
                    </a:cubicBezTo>
                    <a:cubicBezTo>
                      <a:pt x="7878" y="11656"/>
                      <a:pt x="8505" y="11553"/>
                      <a:pt x="8823" y="11446"/>
                    </a:cubicBezTo>
                    <a:cubicBezTo>
                      <a:pt x="9243" y="11343"/>
                      <a:pt x="9767" y="11236"/>
                      <a:pt x="9977" y="11236"/>
                    </a:cubicBezTo>
                    <a:cubicBezTo>
                      <a:pt x="10712" y="11236"/>
                      <a:pt x="11553" y="11763"/>
                      <a:pt x="11553" y="12708"/>
                    </a:cubicBezTo>
                    <a:cubicBezTo>
                      <a:pt x="11553" y="14700"/>
                      <a:pt x="9664" y="19217"/>
                      <a:pt x="1996" y="23626"/>
                    </a:cubicBezTo>
                    <a:lnTo>
                      <a:pt x="3048" y="25833"/>
                    </a:lnTo>
                    <a:cubicBezTo>
                      <a:pt x="6723" y="24781"/>
                      <a:pt x="16697" y="17538"/>
                      <a:pt x="16697" y="1008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" name="active_setting_outline_4"/>
              <p:cNvSpPr/>
              <p:nvPr/>
            </p:nvSpPr>
            <p:spPr>
              <a:xfrm>
                <a:off x="4175354" y="2902612"/>
                <a:ext cx="372801" cy="72767"/>
              </a:xfrm>
              <a:custGeom>
                <a:avLst/>
                <a:gdLst/>
                <a:ahLst/>
                <a:cxnLst/>
                <a:rect l="0" t="0" r="r" b="b"/>
                <a:pathLst>
                  <a:path w="372801" h="72767">
                    <a:moveTo>
                      <a:pt x="31186" y="59325"/>
                    </a:moveTo>
                    <a:cubicBezTo>
                      <a:pt x="31186" y="54074"/>
                      <a:pt x="28773" y="50609"/>
                      <a:pt x="22368" y="46831"/>
                    </a:cubicBezTo>
                    <a:lnTo>
                      <a:pt x="11025" y="40108"/>
                    </a:lnTo>
                    <a:cubicBezTo>
                      <a:pt x="8088" y="38429"/>
                      <a:pt x="6513" y="35806"/>
                      <a:pt x="6513" y="32968"/>
                    </a:cubicBezTo>
                    <a:cubicBezTo>
                      <a:pt x="6513" y="28666"/>
                      <a:pt x="9767" y="25829"/>
                      <a:pt x="14597" y="25829"/>
                    </a:cubicBezTo>
                    <a:cubicBezTo>
                      <a:pt x="20582" y="25829"/>
                      <a:pt x="23733" y="29293"/>
                      <a:pt x="26146" y="38743"/>
                    </a:cubicBezTo>
                    <a:lnTo>
                      <a:pt x="27722" y="38743"/>
                    </a:lnTo>
                    <a:lnTo>
                      <a:pt x="27301" y="24463"/>
                    </a:lnTo>
                    <a:lnTo>
                      <a:pt x="26146" y="24463"/>
                    </a:lnTo>
                    <a:lnTo>
                      <a:pt x="25936" y="24674"/>
                    </a:lnTo>
                    <a:cubicBezTo>
                      <a:pt x="24991" y="25408"/>
                      <a:pt x="24888" y="25515"/>
                      <a:pt x="24467" y="25515"/>
                    </a:cubicBezTo>
                    <a:cubicBezTo>
                      <a:pt x="23836" y="25515"/>
                      <a:pt x="22789" y="25305"/>
                      <a:pt x="21634" y="24781"/>
                    </a:cubicBezTo>
                    <a:cubicBezTo>
                      <a:pt x="19427" y="23939"/>
                      <a:pt x="17010" y="23519"/>
                      <a:pt x="14490" y="23519"/>
                    </a:cubicBezTo>
                    <a:cubicBezTo>
                      <a:pt x="5882" y="23519"/>
                      <a:pt x="0" y="28770"/>
                      <a:pt x="0" y="36433"/>
                    </a:cubicBezTo>
                    <a:cubicBezTo>
                      <a:pt x="0" y="42315"/>
                      <a:pt x="3362" y="46411"/>
                      <a:pt x="12287" y="51554"/>
                    </a:cubicBezTo>
                    <a:lnTo>
                      <a:pt x="18375" y="55019"/>
                    </a:lnTo>
                    <a:cubicBezTo>
                      <a:pt x="22050" y="57118"/>
                      <a:pt x="23836" y="59638"/>
                      <a:pt x="23836" y="62897"/>
                    </a:cubicBezTo>
                    <a:cubicBezTo>
                      <a:pt x="23836" y="67516"/>
                      <a:pt x="20475" y="70457"/>
                      <a:pt x="15121" y="70457"/>
                    </a:cubicBezTo>
                    <a:cubicBezTo>
                      <a:pt x="7878" y="70457"/>
                      <a:pt x="4203" y="66465"/>
                      <a:pt x="1786" y="55753"/>
                    </a:cubicBezTo>
                    <a:lnTo>
                      <a:pt x="107" y="55753"/>
                    </a:lnTo>
                    <a:lnTo>
                      <a:pt x="107" y="72136"/>
                    </a:lnTo>
                    <a:lnTo>
                      <a:pt x="1472" y="72136"/>
                    </a:lnTo>
                    <a:cubicBezTo>
                      <a:pt x="2207" y="71084"/>
                      <a:pt x="2627" y="70874"/>
                      <a:pt x="3885" y="70874"/>
                    </a:cubicBezTo>
                    <a:cubicBezTo>
                      <a:pt x="5040" y="70874"/>
                      <a:pt x="6195" y="71084"/>
                      <a:pt x="8715" y="71715"/>
                    </a:cubicBezTo>
                    <a:cubicBezTo>
                      <a:pt x="11656" y="72346"/>
                      <a:pt x="14283" y="72767"/>
                      <a:pt x="16486" y="72767"/>
                    </a:cubicBezTo>
                    <a:cubicBezTo>
                      <a:pt x="24467" y="72767"/>
                      <a:pt x="31186" y="66675"/>
                      <a:pt x="31186" y="59325"/>
                    </a:cubicBezTo>
                    <a:close/>
                    <a:moveTo>
                      <a:pt x="81908" y="67516"/>
                    </a:moveTo>
                    <a:lnTo>
                      <a:pt x="81908" y="64786"/>
                    </a:lnTo>
                    <a:cubicBezTo>
                      <a:pt x="80122" y="66254"/>
                      <a:pt x="78864" y="66782"/>
                      <a:pt x="77288" y="66782"/>
                    </a:cubicBezTo>
                    <a:cubicBezTo>
                      <a:pt x="74871" y="66782"/>
                      <a:pt x="74137" y="65310"/>
                      <a:pt x="74137" y="60690"/>
                    </a:cubicBezTo>
                    <a:lnTo>
                      <a:pt x="74137" y="40215"/>
                    </a:lnTo>
                    <a:cubicBezTo>
                      <a:pt x="74137" y="34858"/>
                      <a:pt x="73613" y="31921"/>
                      <a:pt x="72145" y="29504"/>
                    </a:cubicBezTo>
                    <a:cubicBezTo>
                      <a:pt x="69938" y="25515"/>
                      <a:pt x="65422" y="23416"/>
                      <a:pt x="59016" y="23416"/>
                    </a:cubicBezTo>
                    <a:cubicBezTo>
                      <a:pt x="53662" y="23416"/>
                      <a:pt x="48622" y="24884"/>
                      <a:pt x="45681" y="27301"/>
                    </a:cubicBezTo>
                    <a:cubicBezTo>
                      <a:pt x="43058" y="29504"/>
                      <a:pt x="41379" y="32548"/>
                      <a:pt x="41379" y="35175"/>
                    </a:cubicBezTo>
                    <a:cubicBezTo>
                      <a:pt x="41379" y="37588"/>
                      <a:pt x="43371" y="39692"/>
                      <a:pt x="45892" y="39692"/>
                    </a:cubicBezTo>
                    <a:cubicBezTo>
                      <a:pt x="48412" y="39692"/>
                      <a:pt x="50618" y="37588"/>
                      <a:pt x="50618" y="35278"/>
                    </a:cubicBezTo>
                    <a:cubicBezTo>
                      <a:pt x="50618" y="34858"/>
                      <a:pt x="50511" y="34334"/>
                      <a:pt x="50408" y="33600"/>
                    </a:cubicBezTo>
                    <a:cubicBezTo>
                      <a:pt x="50198" y="32655"/>
                      <a:pt x="50095" y="31814"/>
                      <a:pt x="50095" y="31079"/>
                    </a:cubicBezTo>
                    <a:cubicBezTo>
                      <a:pt x="50095" y="28246"/>
                      <a:pt x="53452" y="25936"/>
                      <a:pt x="57651" y="25936"/>
                    </a:cubicBezTo>
                    <a:cubicBezTo>
                      <a:pt x="62798" y="25936"/>
                      <a:pt x="65632" y="28980"/>
                      <a:pt x="65632" y="34651"/>
                    </a:cubicBezTo>
                    <a:lnTo>
                      <a:pt x="65632" y="41053"/>
                    </a:lnTo>
                    <a:cubicBezTo>
                      <a:pt x="49463" y="47566"/>
                      <a:pt x="47678" y="48403"/>
                      <a:pt x="43161" y="52396"/>
                    </a:cubicBezTo>
                    <a:cubicBezTo>
                      <a:pt x="40851" y="54495"/>
                      <a:pt x="39383" y="58067"/>
                      <a:pt x="39383" y="61532"/>
                    </a:cubicBezTo>
                    <a:cubicBezTo>
                      <a:pt x="39383" y="68143"/>
                      <a:pt x="43899" y="72767"/>
                      <a:pt x="50408" y="72767"/>
                    </a:cubicBezTo>
                    <a:cubicBezTo>
                      <a:pt x="55028" y="72767"/>
                      <a:pt x="59334" y="70560"/>
                      <a:pt x="65739" y="65099"/>
                    </a:cubicBezTo>
                    <a:cubicBezTo>
                      <a:pt x="66263" y="70664"/>
                      <a:pt x="68152" y="72767"/>
                      <a:pt x="72458" y="72767"/>
                    </a:cubicBezTo>
                    <a:cubicBezTo>
                      <a:pt x="76030" y="72767"/>
                      <a:pt x="78233" y="71505"/>
                      <a:pt x="81908" y="67516"/>
                    </a:cubicBezTo>
                    <a:close/>
                    <a:moveTo>
                      <a:pt x="65632" y="58801"/>
                    </a:moveTo>
                    <a:cubicBezTo>
                      <a:pt x="65632" y="62055"/>
                      <a:pt x="65108" y="63000"/>
                      <a:pt x="62902" y="64365"/>
                    </a:cubicBezTo>
                    <a:cubicBezTo>
                      <a:pt x="60382" y="65834"/>
                      <a:pt x="57445" y="66675"/>
                      <a:pt x="55238" y="66675"/>
                    </a:cubicBezTo>
                    <a:cubicBezTo>
                      <a:pt x="51563" y="66675"/>
                      <a:pt x="48622" y="63107"/>
                      <a:pt x="48622" y="58591"/>
                    </a:cubicBezTo>
                    <a:lnTo>
                      <a:pt x="48622" y="58170"/>
                    </a:lnTo>
                    <a:cubicBezTo>
                      <a:pt x="48622" y="51975"/>
                      <a:pt x="52928" y="48196"/>
                      <a:pt x="65632" y="43573"/>
                    </a:cubicBezTo>
                    <a:lnTo>
                      <a:pt x="65632" y="58801"/>
                    </a:lnTo>
                    <a:close/>
                    <a:moveTo>
                      <a:pt x="111422" y="64786"/>
                    </a:moveTo>
                    <a:lnTo>
                      <a:pt x="110056" y="63631"/>
                    </a:lnTo>
                    <a:cubicBezTo>
                      <a:pt x="107747" y="66362"/>
                      <a:pt x="106064" y="67306"/>
                      <a:pt x="103754" y="67306"/>
                    </a:cubicBezTo>
                    <a:cubicBezTo>
                      <a:pt x="99869" y="67306"/>
                      <a:pt x="98293" y="64576"/>
                      <a:pt x="98293" y="57857"/>
                    </a:cubicBezTo>
                    <a:lnTo>
                      <a:pt x="98293" y="27825"/>
                    </a:lnTo>
                    <a:lnTo>
                      <a:pt x="108902" y="27825"/>
                    </a:lnTo>
                    <a:lnTo>
                      <a:pt x="108902" y="24463"/>
                    </a:lnTo>
                    <a:lnTo>
                      <a:pt x="98293" y="24463"/>
                    </a:lnTo>
                    <a:lnTo>
                      <a:pt x="98293" y="12283"/>
                    </a:lnTo>
                    <a:cubicBezTo>
                      <a:pt x="98293" y="11236"/>
                      <a:pt x="98087" y="10918"/>
                      <a:pt x="97559" y="10918"/>
                    </a:cubicBezTo>
                    <a:cubicBezTo>
                      <a:pt x="96928" y="11970"/>
                      <a:pt x="96194" y="12914"/>
                      <a:pt x="95459" y="13859"/>
                    </a:cubicBezTo>
                    <a:cubicBezTo>
                      <a:pt x="91574" y="19633"/>
                      <a:pt x="88006" y="23519"/>
                      <a:pt x="85276" y="25094"/>
                    </a:cubicBezTo>
                    <a:cubicBezTo>
                      <a:pt x="84121" y="25829"/>
                      <a:pt x="83490" y="26460"/>
                      <a:pt x="83490" y="27091"/>
                    </a:cubicBezTo>
                    <a:cubicBezTo>
                      <a:pt x="83490" y="27404"/>
                      <a:pt x="83593" y="27615"/>
                      <a:pt x="83910" y="27825"/>
                    </a:cubicBezTo>
                    <a:lnTo>
                      <a:pt x="89474" y="27825"/>
                    </a:lnTo>
                    <a:lnTo>
                      <a:pt x="89474" y="59428"/>
                    </a:lnTo>
                    <a:cubicBezTo>
                      <a:pt x="89474" y="68251"/>
                      <a:pt x="92626" y="72767"/>
                      <a:pt x="98714" y="72767"/>
                    </a:cubicBezTo>
                    <a:cubicBezTo>
                      <a:pt x="103964" y="72767"/>
                      <a:pt x="107953" y="70247"/>
                      <a:pt x="111422" y="64786"/>
                    </a:cubicBezTo>
                    <a:close/>
                    <a:moveTo>
                      <a:pt x="161614" y="67937"/>
                    </a:moveTo>
                    <a:lnTo>
                      <a:pt x="161614" y="66465"/>
                    </a:lnTo>
                    <a:lnTo>
                      <a:pt x="161091" y="66465"/>
                    </a:lnTo>
                    <a:cubicBezTo>
                      <a:pt x="156261" y="66465"/>
                      <a:pt x="155105" y="65310"/>
                      <a:pt x="155105" y="60480"/>
                    </a:cubicBezTo>
                    <a:lnTo>
                      <a:pt x="155105" y="24463"/>
                    </a:lnTo>
                    <a:lnTo>
                      <a:pt x="138513" y="24463"/>
                    </a:lnTo>
                    <a:lnTo>
                      <a:pt x="138513" y="26249"/>
                    </a:lnTo>
                    <a:cubicBezTo>
                      <a:pt x="145025" y="26563"/>
                      <a:pt x="146283" y="27615"/>
                      <a:pt x="146283" y="32865"/>
                    </a:cubicBezTo>
                    <a:lnTo>
                      <a:pt x="146283" y="57539"/>
                    </a:lnTo>
                    <a:cubicBezTo>
                      <a:pt x="146283" y="60377"/>
                      <a:pt x="145759" y="61948"/>
                      <a:pt x="144501" y="62897"/>
                    </a:cubicBezTo>
                    <a:cubicBezTo>
                      <a:pt x="141561" y="65417"/>
                      <a:pt x="138306" y="66675"/>
                      <a:pt x="135047" y="66675"/>
                    </a:cubicBezTo>
                    <a:cubicBezTo>
                      <a:pt x="130956" y="66675"/>
                      <a:pt x="127595" y="63107"/>
                      <a:pt x="127595" y="58694"/>
                    </a:cubicBezTo>
                    <a:lnTo>
                      <a:pt x="127595" y="24463"/>
                    </a:lnTo>
                    <a:lnTo>
                      <a:pt x="112263" y="24463"/>
                    </a:lnTo>
                    <a:lnTo>
                      <a:pt x="112263" y="25936"/>
                    </a:lnTo>
                    <a:cubicBezTo>
                      <a:pt x="117303" y="26249"/>
                      <a:pt x="118772" y="27825"/>
                      <a:pt x="118772" y="32655"/>
                    </a:cubicBezTo>
                    <a:lnTo>
                      <a:pt x="118772" y="59115"/>
                    </a:lnTo>
                    <a:cubicBezTo>
                      <a:pt x="118772" y="67409"/>
                      <a:pt x="123813" y="72767"/>
                      <a:pt x="131480" y="72767"/>
                    </a:cubicBezTo>
                    <a:cubicBezTo>
                      <a:pt x="135365" y="72767"/>
                      <a:pt x="139460" y="71084"/>
                      <a:pt x="142295" y="68251"/>
                    </a:cubicBezTo>
                    <a:lnTo>
                      <a:pt x="146811" y="63734"/>
                    </a:lnTo>
                    <a:lnTo>
                      <a:pt x="146811" y="72450"/>
                    </a:lnTo>
                    <a:lnTo>
                      <a:pt x="147228" y="72660"/>
                    </a:lnTo>
                    <a:cubicBezTo>
                      <a:pt x="152478" y="70560"/>
                      <a:pt x="156261" y="69406"/>
                      <a:pt x="161614" y="67937"/>
                    </a:cubicBezTo>
                    <a:close/>
                    <a:moveTo>
                      <a:pt x="199002" y="28980"/>
                    </a:moveTo>
                    <a:cubicBezTo>
                      <a:pt x="199002" y="25515"/>
                      <a:pt x="196798" y="23416"/>
                      <a:pt x="193227" y="23416"/>
                    </a:cubicBezTo>
                    <a:cubicBezTo>
                      <a:pt x="188818" y="23416"/>
                      <a:pt x="185773" y="25829"/>
                      <a:pt x="180626" y="33286"/>
                    </a:cubicBezTo>
                    <a:lnTo>
                      <a:pt x="180626" y="23626"/>
                    </a:lnTo>
                    <a:lnTo>
                      <a:pt x="180102" y="23416"/>
                    </a:lnTo>
                    <a:cubicBezTo>
                      <a:pt x="174538" y="25726"/>
                      <a:pt x="170756" y="27091"/>
                      <a:pt x="164561" y="29083"/>
                    </a:cubicBezTo>
                    <a:lnTo>
                      <a:pt x="164561" y="30766"/>
                    </a:lnTo>
                    <a:cubicBezTo>
                      <a:pt x="166032" y="30448"/>
                      <a:pt x="166977" y="30345"/>
                      <a:pt x="168236" y="30345"/>
                    </a:cubicBezTo>
                    <a:cubicBezTo>
                      <a:pt x="170862" y="30345"/>
                      <a:pt x="171807" y="32024"/>
                      <a:pt x="171807" y="36644"/>
                    </a:cubicBezTo>
                    <a:lnTo>
                      <a:pt x="171807" y="62897"/>
                    </a:lnTo>
                    <a:cubicBezTo>
                      <a:pt x="171807" y="68143"/>
                      <a:pt x="171073" y="68882"/>
                      <a:pt x="164350" y="70140"/>
                    </a:cubicBezTo>
                    <a:lnTo>
                      <a:pt x="164350" y="71715"/>
                    </a:lnTo>
                    <a:lnTo>
                      <a:pt x="189552" y="71715"/>
                    </a:lnTo>
                    <a:lnTo>
                      <a:pt x="189552" y="70140"/>
                    </a:lnTo>
                    <a:cubicBezTo>
                      <a:pt x="182412" y="69826"/>
                      <a:pt x="180626" y="68251"/>
                      <a:pt x="180626" y="62266"/>
                    </a:cubicBezTo>
                    <a:lnTo>
                      <a:pt x="180626" y="38640"/>
                    </a:lnTo>
                    <a:cubicBezTo>
                      <a:pt x="180626" y="35278"/>
                      <a:pt x="185142" y="30028"/>
                      <a:pt x="187976" y="30028"/>
                    </a:cubicBezTo>
                    <a:cubicBezTo>
                      <a:pt x="188607" y="30028"/>
                      <a:pt x="189552" y="30555"/>
                      <a:pt x="190706" y="31603"/>
                    </a:cubicBezTo>
                    <a:cubicBezTo>
                      <a:pt x="192385" y="33076"/>
                      <a:pt x="193541" y="33703"/>
                      <a:pt x="194906" y="33703"/>
                    </a:cubicBezTo>
                    <a:cubicBezTo>
                      <a:pt x="197426" y="33703"/>
                      <a:pt x="199002" y="31921"/>
                      <a:pt x="199002" y="28980"/>
                    </a:cubicBezTo>
                    <a:close/>
                    <a:moveTo>
                      <a:pt x="245207" y="67516"/>
                    </a:moveTo>
                    <a:lnTo>
                      <a:pt x="245207" y="64786"/>
                    </a:lnTo>
                    <a:cubicBezTo>
                      <a:pt x="243420" y="66254"/>
                      <a:pt x="242163" y="66782"/>
                      <a:pt x="240587" y="66782"/>
                    </a:cubicBezTo>
                    <a:cubicBezTo>
                      <a:pt x="238170" y="66782"/>
                      <a:pt x="237436" y="65310"/>
                      <a:pt x="237436" y="60690"/>
                    </a:cubicBezTo>
                    <a:lnTo>
                      <a:pt x="237436" y="40215"/>
                    </a:lnTo>
                    <a:cubicBezTo>
                      <a:pt x="237436" y="34858"/>
                      <a:pt x="236911" y="31921"/>
                      <a:pt x="235443" y="29504"/>
                    </a:cubicBezTo>
                    <a:cubicBezTo>
                      <a:pt x="233237" y="25515"/>
                      <a:pt x="228720" y="23416"/>
                      <a:pt x="222315" y="23416"/>
                    </a:cubicBezTo>
                    <a:cubicBezTo>
                      <a:pt x="216961" y="23416"/>
                      <a:pt x="211920" y="24884"/>
                      <a:pt x="208980" y="27301"/>
                    </a:cubicBezTo>
                    <a:cubicBezTo>
                      <a:pt x="206356" y="29504"/>
                      <a:pt x="204677" y="32548"/>
                      <a:pt x="204677" y="35175"/>
                    </a:cubicBezTo>
                    <a:cubicBezTo>
                      <a:pt x="204677" y="37588"/>
                      <a:pt x="206670" y="39692"/>
                      <a:pt x="209190" y="39692"/>
                    </a:cubicBezTo>
                    <a:cubicBezTo>
                      <a:pt x="211711" y="39692"/>
                      <a:pt x="213917" y="37588"/>
                      <a:pt x="213917" y="35278"/>
                    </a:cubicBezTo>
                    <a:cubicBezTo>
                      <a:pt x="213917" y="34858"/>
                      <a:pt x="213810" y="34334"/>
                      <a:pt x="213706" y="33600"/>
                    </a:cubicBezTo>
                    <a:cubicBezTo>
                      <a:pt x="213496" y="32655"/>
                      <a:pt x="213393" y="31814"/>
                      <a:pt x="213393" y="31079"/>
                    </a:cubicBezTo>
                    <a:cubicBezTo>
                      <a:pt x="213393" y="28246"/>
                      <a:pt x="216750" y="25936"/>
                      <a:pt x="220950" y="25936"/>
                    </a:cubicBezTo>
                    <a:cubicBezTo>
                      <a:pt x="226097" y="25936"/>
                      <a:pt x="228930" y="28980"/>
                      <a:pt x="228930" y="34651"/>
                    </a:cubicBezTo>
                    <a:lnTo>
                      <a:pt x="228930" y="41053"/>
                    </a:lnTo>
                    <a:cubicBezTo>
                      <a:pt x="212762" y="47566"/>
                      <a:pt x="210975" y="48403"/>
                      <a:pt x="206459" y="52396"/>
                    </a:cubicBezTo>
                    <a:cubicBezTo>
                      <a:pt x="204149" y="54495"/>
                      <a:pt x="202681" y="58067"/>
                      <a:pt x="202681" y="61532"/>
                    </a:cubicBezTo>
                    <a:cubicBezTo>
                      <a:pt x="202681" y="68143"/>
                      <a:pt x="207197" y="72767"/>
                      <a:pt x="213706" y="72767"/>
                    </a:cubicBezTo>
                    <a:cubicBezTo>
                      <a:pt x="218326" y="72767"/>
                      <a:pt x="222633" y="70560"/>
                      <a:pt x="229037" y="65099"/>
                    </a:cubicBezTo>
                    <a:cubicBezTo>
                      <a:pt x="229562" y="70664"/>
                      <a:pt x="231450" y="72767"/>
                      <a:pt x="235757" y="72767"/>
                    </a:cubicBezTo>
                    <a:cubicBezTo>
                      <a:pt x="239328" y="72767"/>
                      <a:pt x="241531" y="71505"/>
                      <a:pt x="245207" y="67516"/>
                    </a:cubicBezTo>
                    <a:close/>
                    <a:moveTo>
                      <a:pt x="228930" y="58801"/>
                    </a:moveTo>
                    <a:cubicBezTo>
                      <a:pt x="228930" y="62055"/>
                      <a:pt x="228406" y="63000"/>
                      <a:pt x="226200" y="64365"/>
                    </a:cubicBezTo>
                    <a:cubicBezTo>
                      <a:pt x="223680" y="65834"/>
                      <a:pt x="220743" y="66675"/>
                      <a:pt x="218537" y="66675"/>
                    </a:cubicBezTo>
                    <a:cubicBezTo>
                      <a:pt x="214861" y="66675"/>
                      <a:pt x="211920" y="63107"/>
                      <a:pt x="211920" y="58591"/>
                    </a:cubicBezTo>
                    <a:lnTo>
                      <a:pt x="211920" y="58170"/>
                    </a:lnTo>
                    <a:cubicBezTo>
                      <a:pt x="211920" y="51975"/>
                      <a:pt x="216227" y="48196"/>
                      <a:pt x="228930" y="43573"/>
                    </a:cubicBezTo>
                    <a:lnTo>
                      <a:pt x="228930" y="58801"/>
                    </a:lnTo>
                    <a:close/>
                    <a:moveTo>
                      <a:pt x="274720" y="64786"/>
                    </a:moveTo>
                    <a:lnTo>
                      <a:pt x="273355" y="63631"/>
                    </a:lnTo>
                    <a:cubicBezTo>
                      <a:pt x="271045" y="66362"/>
                      <a:pt x="269362" y="67306"/>
                      <a:pt x="267052" y="67306"/>
                    </a:cubicBezTo>
                    <a:cubicBezTo>
                      <a:pt x="263167" y="67306"/>
                      <a:pt x="261591" y="64576"/>
                      <a:pt x="261591" y="57857"/>
                    </a:cubicBezTo>
                    <a:lnTo>
                      <a:pt x="261591" y="27825"/>
                    </a:lnTo>
                    <a:lnTo>
                      <a:pt x="272199" y="27825"/>
                    </a:lnTo>
                    <a:lnTo>
                      <a:pt x="272199" y="24463"/>
                    </a:lnTo>
                    <a:lnTo>
                      <a:pt x="261591" y="24463"/>
                    </a:lnTo>
                    <a:lnTo>
                      <a:pt x="261591" y="12283"/>
                    </a:lnTo>
                    <a:cubicBezTo>
                      <a:pt x="261591" y="11236"/>
                      <a:pt x="261385" y="10918"/>
                      <a:pt x="260857" y="10918"/>
                    </a:cubicBezTo>
                    <a:cubicBezTo>
                      <a:pt x="260226" y="11970"/>
                      <a:pt x="259492" y="12914"/>
                      <a:pt x="258758" y="13859"/>
                    </a:cubicBezTo>
                    <a:cubicBezTo>
                      <a:pt x="254872" y="19633"/>
                      <a:pt x="251304" y="23519"/>
                      <a:pt x="248574" y="25094"/>
                    </a:cubicBezTo>
                    <a:cubicBezTo>
                      <a:pt x="247419" y="25829"/>
                      <a:pt x="246788" y="26460"/>
                      <a:pt x="246788" y="27091"/>
                    </a:cubicBezTo>
                    <a:cubicBezTo>
                      <a:pt x="246788" y="27404"/>
                      <a:pt x="246891" y="27615"/>
                      <a:pt x="247208" y="27825"/>
                    </a:cubicBezTo>
                    <a:lnTo>
                      <a:pt x="252772" y="27825"/>
                    </a:lnTo>
                    <a:lnTo>
                      <a:pt x="252772" y="59428"/>
                    </a:lnTo>
                    <a:cubicBezTo>
                      <a:pt x="252772" y="68251"/>
                      <a:pt x="255924" y="72767"/>
                      <a:pt x="262011" y="72767"/>
                    </a:cubicBezTo>
                    <a:cubicBezTo>
                      <a:pt x="267263" y="72767"/>
                      <a:pt x="271251" y="70247"/>
                      <a:pt x="274720" y="64786"/>
                    </a:cubicBezTo>
                    <a:close/>
                    <a:moveTo>
                      <a:pt x="319139" y="55229"/>
                    </a:moveTo>
                    <a:lnTo>
                      <a:pt x="317460" y="54495"/>
                    </a:lnTo>
                    <a:cubicBezTo>
                      <a:pt x="312419" y="62476"/>
                      <a:pt x="307903" y="65520"/>
                      <a:pt x="301183" y="65520"/>
                    </a:cubicBezTo>
                    <a:cubicBezTo>
                      <a:pt x="295409" y="65520"/>
                      <a:pt x="290995" y="62790"/>
                      <a:pt x="287951" y="57118"/>
                    </a:cubicBezTo>
                    <a:cubicBezTo>
                      <a:pt x="285852" y="53027"/>
                      <a:pt x="285011" y="49351"/>
                      <a:pt x="284800" y="42628"/>
                    </a:cubicBezTo>
                    <a:lnTo>
                      <a:pt x="317142" y="42628"/>
                    </a:lnTo>
                    <a:cubicBezTo>
                      <a:pt x="316304" y="35806"/>
                      <a:pt x="315252" y="32758"/>
                      <a:pt x="312630" y="29400"/>
                    </a:cubicBezTo>
                    <a:cubicBezTo>
                      <a:pt x="309478" y="25618"/>
                      <a:pt x="304648" y="23416"/>
                      <a:pt x="299187" y="23416"/>
                    </a:cubicBezTo>
                    <a:cubicBezTo>
                      <a:pt x="286166" y="23416"/>
                      <a:pt x="277240" y="33913"/>
                      <a:pt x="277240" y="49244"/>
                    </a:cubicBezTo>
                    <a:cubicBezTo>
                      <a:pt x="277240" y="63734"/>
                      <a:pt x="284800" y="72767"/>
                      <a:pt x="296877" y="72767"/>
                    </a:cubicBezTo>
                    <a:cubicBezTo>
                      <a:pt x="306958" y="72767"/>
                      <a:pt x="314729" y="66572"/>
                      <a:pt x="319139" y="55229"/>
                    </a:cubicBezTo>
                    <a:close/>
                    <a:moveTo>
                      <a:pt x="306434" y="39271"/>
                    </a:moveTo>
                    <a:lnTo>
                      <a:pt x="285011" y="39271"/>
                    </a:lnTo>
                    <a:cubicBezTo>
                      <a:pt x="286166" y="30976"/>
                      <a:pt x="289738" y="27194"/>
                      <a:pt x="296143" y="27194"/>
                    </a:cubicBezTo>
                    <a:cubicBezTo>
                      <a:pt x="302549" y="27194"/>
                      <a:pt x="305068" y="30135"/>
                      <a:pt x="306434" y="39271"/>
                    </a:cubicBezTo>
                    <a:close/>
                    <a:moveTo>
                      <a:pt x="372801" y="67306"/>
                    </a:moveTo>
                    <a:lnTo>
                      <a:pt x="372801" y="65623"/>
                    </a:lnTo>
                    <a:cubicBezTo>
                      <a:pt x="370909" y="65730"/>
                      <a:pt x="370698" y="65730"/>
                      <a:pt x="370384" y="65730"/>
                    </a:cubicBezTo>
                    <a:cubicBezTo>
                      <a:pt x="366606" y="65730"/>
                      <a:pt x="365765" y="64576"/>
                      <a:pt x="365765" y="59746"/>
                    </a:cubicBezTo>
                    <a:lnTo>
                      <a:pt x="365765" y="210"/>
                    </a:lnTo>
                    <a:lnTo>
                      <a:pt x="365241" y="0"/>
                    </a:lnTo>
                    <a:cubicBezTo>
                      <a:pt x="360200" y="1782"/>
                      <a:pt x="356526" y="2834"/>
                      <a:pt x="349803" y="4620"/>
                    </a:cubicBezTo>
                    <a:lnTo>
                      <a:pt x="349803" y="6298"/>
                    </a:lnTo>
                    <a:cubicBezTo>
                      <a:pt x="350643" y="6195"/>
                      <a:pt x="351275" y="6195"/>
                      <a:pt x="352113" y="6195"/>
                    </a:cubicBezTo>
                    <a:cubicBezTo>
                      <a:pt x="355998" y="6195"/>
                      <a:pt x="356943" y="7243"/>
                      <a:pt x="356943" y="11549"/>
                    </a:cubicBezTo>
                    <a:lnTo>
                      <a:pt x="356943" y="27928"/>
                    </a:lnTo>
                    <a:cubicBezTo>
                      <a:pt x="352954" y="24571"/>
                      <a:pt x="350120" y="23416"/>
                      <a:pt x="345918" y="23416"/>
                    </a:cubicBezTo>
                    <a:cubicBezTo>
                      <a:pt x="333844" y="23416"/>
                      <a:pt x="324078" y="35278"/>
                      <a:pt x="324078" y="50189"/>
                    </a:cubicBezTo>
                    <a:cubicBezTo>
                      <a:pt x="324078" y="63631"/>
                      <a:pt x="331955" y="72767"/>
                      <a:pt x="343505" y="72767"/>
                    </a:cubicBezTo>
                    <a:cubicBezTo>
                      <a:pt x="349386" y="72767"/>
                      <a:pt x="353374" y="70664"/>
                      <a:pt x="356943" y="65730"/>
                    </a:cubicBezTo>
                    <a:lnTo>
                      <a:pt x="356943" y="72450"/>
                    </a:lnTo>
                    <a:lnTo>
                      <a:pt x="357363" y="72767"/>
                    </a:lnTo>
                    <a:lnTo>
                      <a:pt x="372801" y="67306"/>
                    </a:lnTo>
                    <a:close/>
                    <a:moveTo>
                      <a:pt x="356943" y="61004"/>
                    </a:moveTo>
                    <a:cubicBezTo>
                      <a:pt x="356943" y="61742"/>
                      <a:pt x="356209" y="63000"/>
                      <a:pt x="355161" y="64155"/>
                    </a:cubicBezTo>
                    <a:cubicBezTo>
                      <a:pt x="353267" y="66254"/>
                      <a:pt x="350643" y="67306"/>
                      <a:pt x="347601" y="67306"/>
                    </a:cubicBezTo>
                    <a:cubicBezTo>
                      <a:pt x="338885" y="67306"/>
                      <a:pt x="333110" y="58904"/>
                      <a:pt x="333110" y="45990"/>
                    </a:cubicBezTo>
                    <a:cubicBezTo>
                      <a:pt x="333110" y="34123"/>
                      <a:pt x="338253" y="26352"/>
                      <a:pt x="346235" y="26352"/>
                    </a:cubicBezTo>
                    <a:cubicBezTo>
                      <a:pt x="351799" y="26352"/>
                      <a:pt x="356943" y="31290"/>
                      <a:pt x="356943" y="36854"/>
                    </a:cubicBezTo>
                    <a:lnTo>
                      <a:pt x="356943" y="6100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" name="active_setting_outline_5"/>
              <p:cNvSpPr/>
              <p:nvPr/>
            </p:nvSpPr>
            <p:spPr>
              <a:xfrm>
                <a:off x="4577695" y="2902612"/>
                <a:ext cx="151742" cy="94499"/>
              </a:xfrm>
              <a:custGeom>
                <a:avLst/>
                <a:gdLst/>
                <a:ahLst/>
                <a:cxnLst/>
                <a:rect l="0" t="0" r="r" b="b"/>
                <a:pathLst>
                  <a:path w="151742" h="94500">
                    <a:moveTo>
                      <a:pt x="40636" y="56281"/>
                    </a:moveTo>
                    <a:lnTo>
                      <a:pt x="39167" y="55336"/>
                    </a:lnTo>
                    <a:cubicBezTo>
                      <a:pt x="34127" y="62686"/>
                      <a:pt x="30349" y="65207"/>
                      <a:pt x="24364" y="65207"/>
                    </a:cubicBezTo>
                    <a:cubicBezTo>
                      <a:pt x="14700" y="65207"/>
                      <a:pt x="8087" y="56805"/>
                      <a:pt x="8087" y="44728"/>
                    </a:cubicBezTo>
                    <a:cubicBezTo>
                      <a:pt x="8087" y="33810"/>
                      <a:pt x="13862" y="26460"/>
                      <a:pt x="22367" y="26460"/>
                    </a:cubicBezTo>
                    <a:cubicBezTo>
                      <a:pt x="26145" y="26460"/>
                      <a:pt x="27511" y="27615"/>
                      <a:pt x="28562" y="31500"/>
                    </a:cubicBezTo>
                    <a:lnTo>
                      <a:pt x="29193" y="33810"/>
                    </a:lnTo>
                    <a:cubicBezTo>
                      <a:pt x="30032" y="36854"/>
                      <a:pt x="31920" y="38640"/>
                      <a:pt x="34234" y="38640"/>
                    </a:cubicBezTo>
                    <a:cubicBezTo>
                      <a:pt x="36961" y="38640"/>
                      <a:pt x="39167" y="36644"/>
                      <a:pt x="39167" y="34231"/>
                    </a:cubicBezTo>
                    <a:cubicBezTo>
                      <a:pt x="39167" y="28349"/>
                      <a:pt x="31817" y="23416"/>
                      <a:pt x="22998" y="23416"/>
                    </a:cubicBezTo>
                    <a:cubicBezTo>
                      <a:pt x="18062" y="23416"/>
                      <a:pt x="13021" y="25305"/>
                      <a:pt x="8823" y="28770"/>
                    </a:cubicBezTo>
                    <a:cubicBezTo>
                      <a:pt x="3151" y="33496"/>
                      <a:pt x="0" y="40739"/>
                      <a:pt x="0" y="49455"/>
                    </a:cubicBezTo>
                    <a:cubicBezTo>
                      <a:pt x="0" y="63000"/>
                      <a:pt x="8298" y="72767"/>
                      <a:pt x="19950" y="72767"/>
                    </a:cubicBezTo>
                    <a:cubicBezTo>
                      <a:pt x="24467" y="72767"/>
                      <a:pt x="28456" y="71295"/>
                      <a:pt x="32027" y="68354"/>
                    </a:cubicBezTo>
                    <a:cubicBezTo>
                      <a:pt x="35179" y="65834"/>
                      <a:pt x="37278" y="62790"/>
                      <a:pt x="40636" y="56281"/>
                    </a:cubicBezTo>
                    <a:close/>
                    <a:moveTo>
                      <a:pt x="70990" y="71715"/>
                    </a:moveTo>
                    <a:lnTo>
                      <a:pt x="70990" y="70140"/>
                    </a:lnTo>
                    <a:cubicBezTo>
                      <a:pt x="64267" y="69719"/>
                      <a:pt x="63113" y="68671"/>
                      <a:pt x="63113" y="62897"/>
                    </a:cubicBezTo>
                    <a:lnTo>
                      <a:pt x="63113" y="210"/>
                    </a:lnTo>
                    <a:lnTo>
                      <a:pt x="62692" y="0"/>
                    </a:lnTo>
                    <a:cubicBezTo>
                      <a:pt x="57235" y="1782"/>
                      <a:pt x="53242" y="2834"/>
                      <a:pt x="45999" y="4620"/>
                    </a:cubicBezTo>
                    <a:lnTo>
                      <a:pt x="45999" y="6298"/>
                    </a:lnTo>
                    <a:lnTo>
                      <a:pt x="46627" y="6298"/>
                    </a:lnTo>
                    <a:cubicBezTo>
                      <a:pt x="47781" y="6195"/>
                      <a:pt x="49044" y="6088"/>
                      <a:pt x="49884" y="6088"/>
                    </a:cubicBezTo>
                    <a:cubicBezTo>
                      <a:pt x="53242" y="6088"/>
                      <a:pt x="54294" y="7561"/>
                      <a:pt x="54294" y="12494"/>
                    </a:cubicBezTo>
                    <a:lnTo>
                      <a:pt x="54294" y="62579"/>
                    </a:lnTo>
                    <a:cubicBezTo>
                      <a:pt x="54294" y="68251"/>
                      <a:pt x="52822" y="69616"/>
                      <a:pt x="46210" y="70140"/>
                    </a:cubicBezTo>
                    <a:lnTo>
                      <a:pt x="46210" y="71715"/>
                    </a:lnTo>
                    <a:lnTo>
                      <a:pt x="70990" y="71715"/>
                    </a:lnTo>
                    <a:close/>
                    <a:moveTo>
                      <a:pt x="99764" y="71715"/>
                    </a:moveTo>
                    <a:lnTo>
                      <a:pt x="99764" y="70140"/>
                    </a:lnTo>
                    <a:cubicBezTo>
                      <a:pt x="92834" y="69616"/>
                      <a:pt x="91994" y="68564"/>
                      <a:pt x="91994" y="61004"/>
                    </a:cubicBezTo>
                    <a:lnTo>
                      <a:pt x="91994" y="23729"/>
                    </a:lnTo>
                    <a:lnTo>
                      <a:pt x="91572" y="23416"/>
                    </a:lnTo>
                    <a:lnTo>
                      <a:pt x="75297" y="29190"/>
                    </a:lnTo>
                    <a:lnTo>
                      <a:pt x="75297" y="30766"/>
                    </a:lnTo>
                    <a:lnTo>
                      <a:pt x="76138" y="30659"/>
                    </a:lnTo>
                    <a:cubicBezTo>
                      <a:pt x="77396" y="30448"/>
                      <a:pt x="78762" y="30345"/>
                      <a:pt x="79706" y="30345"/>
                    </a:cubicBezTo>
                    <a:cubicBezTo>
                      <a:pt x="82226" y="30345"/>
                      <a:pt x="83171" y="32024"/>
                      <a:pt x="83171" y="36644"/>
                    </a:cubicBezTo>
                    <a:lnTo>
                      <a:pt x="83171" y="61004"/>
                    </a:lnTo>
                    <a:cubicBezTo>
                      <a:pt x="83171" y="68564"/>
                      <a:pt x="82123" y="69719"/>
                      <a:pt x="74875" y="70140"/>
                    </a:cubicBezTo>
                    <a:lnTo>
                      <a:pt x="74875" y="71715"/>
                    </a:lnTo>
                    <a:lnTo>
                      <a:pt x="99764" y="71715"/>
                    </a:lnTo>
                    <a:close/>
                    <a:moveTo>
                      <a:pt x="92937" y="5354"/>
                    </a:moveTo>
                    <a:cubicBezTo>
                      <a:pt x="92937" y="2413"/>
                      <a:pt x="90628" y="0"/>
                      <a:pt x="87584" y="0"/>
                    </a:cubicBezTo>
                    <a:cubicBezTo>
                      <a:pt x="84643" y="0"/>
                      <a:pt x="82226" y="2413"/>
                      <a:pt x="82226" y="5354"/>
                    </a:cubicBezTo>
                    <a:cubicBezTo>
                      <a:pt x="82226" y="8398"/>
                      <a:pt x="84643" y="10708"/>
                      <a:pt x="87584" y="10708"/>
                    </a:cubicBezTo>
                    <a:cubicBezTo>
                      <a:pt x="90628" y="10708"/>
                      <a:pt x="92937" y="8398"/>
                      <a:pt x="92937" y="5354"/>
                    </a:cubicBezTo>
                    <a:close/>
                    <a:moveTo>
                      <a:pt x="151742" y="45780"/>
                    </a:moveTo>
                    <a:cubicBezTo>
                      <a:pt x="151742" y="32758"/>
                      <a:pt x="144393" y="23416"/>
                      <a:pt x="134209" y="23416"/>
                    </a:cubicBezTo>
                    <a:cubicBezTo>
                      <a:pt x="128327" y="23416"/>
                      <a:pt x="123708" y="26039"/>
                      <a:pt x="119088" y="31710"/>
                    </a:cubicBezTo>
                    <a:lnTo>
                      <a:pt x="119088" y="23626"/>
                    </a:lnTo>
                    <a:lnTo>
                      <a:pt x="118457" y="23416"/>
                    </a:lnTo>
                    <a:cubicBezTo>
                      <a:pt x="112785" y="25618"/>
                      <a:pt x="109111" y="26984"/>
                      <a:pt x="103336" y="28770"/>
                    </a:cubicBezTo>
                    <a:lnTo>
                      <a:pt x="103336" y="30448"/>
                    </a:lnTo>
                    <a:cubicBezTo>
                      <a:pt x="104281" y="30345"/>
                      <a:pt x="105015" y="30345"/>
                      <a:pt x="105964" y="30345"/>
                    </a:cubicBezTo>
                    <a:cubicBezTo>
                      <a:pt x="109531" y="30345"/>
                      <a:pt x="110265" y="31393"/>
                      <a:pt x="110265" y="36330"/>
                    </a:cubicBezTo>
                    <a:lnTo>
                      <a:pt x="110265" y="85471"/>
                    </a:lnTo>
                    <a:cubicBezTo>
                      <a:pt x="110265" y="90932"/>
                      <a:pt x="109111" y="92087"/>
                      <a:pt x="102916" y="92714"/>
                    </a:cubicBezTo>
                    <a:lnTo>
                      <a:pt x="102916" y="94500"/>
                    </a:lnTo>
                    <a:lnTo>
                      <a:pt x="128327" y="94500"/>
                    </a:lnTo>
                    <a:lnTo>
                      <a:pt x="128327" y="92611"/>
                    </a:lnTo>
                    <a:cubicBezTo>
                      <a:pt x="120453" y="92508"/>
                      <a:pt x="119088" y="91353"/>
                      <a:pt x="119088" y="84737"/>
                    </a:cubicBezTo>
                    <a:lnTo>
                      <a:pt x="119088" y="68251"/>
                    </a:lnTo>
                    <a:cubicBezTo>
                      <a:pt x="122763" y="71715"/>
                      <a:pt x="125283" y="72767"/>
                      <a:pt x="129692" y="72767"/>
                    </a:cubicBezTo>
                    <a:cubicBezTo>
                      <a:pt x="142083" y="72767"/>
                      <a:pt x="151742" y="61004"/>
                      <a:pt x="151742" y="45780"/>
                    </a:cubicBezTo>
                    <a:close/>
                    <a:moveTo>
                      <a:pt x="142714" y="49875"/>
                    </a:moveTo>
                    <a:cubicBezTo>
                      <a:pt x="142714" y="61532"/>
                      <a:pt x="137566" y="69406"/>
                      <a:pt x="130006" y="69406"/>
                    </a:cubicBezTo>
                    <a:cubicBezTo>
                      <a:pt x="125072" y="69406"/>
                      <a:pt x="119088" y="65623"/>
                      <a:pt x="119088" y="62476"/>
                    </a:cubicBezTo>
                    <a:lnTo>
                      <a:pt x="119088" y="36644"/>
                    </a:lnTo>
                    <a:cubicBezTo>
                      <a:pt x="119088" y="33496"/>
                      <a:pt x="124965" y="29714"/>
                      <a:pt x="129795" y="29714"/>
                    </a:cubicBezTo>
                    <a:cubicBezTo>
                      <a:pt x="137566" y="29714"/>
                      <a:pt x="142714" y="37695"/>
                      <a:pt x="142714" y="4987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 SafeOT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