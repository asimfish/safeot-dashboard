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029200" cy="301752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enalty" descr="Editable shape; source id penalty"/>
          <p:cNvSpPr/>
          <p:nvPr/>
        </p:nvSpPr>
        <p:spPr>
          <a:xfrm>
            <a:off x="38100" y="38100"/>
            <a:ext cx="1054100" cy="1917700"/>
          </a:xfrm>
          <a:prstGeom prst="roundRect">
            <a:avLst>
              <a:gd name="adj" fmla="val 3614"/>
            </a:avLst>
          </a:prstGeom>
          <a:solidFill>
            <a:srgbClr val="F3F5F6"/>
          </a:solidFill>
          <a:ln w="7620">
            <a:solidFill>
              <a:srgbClr val="A6B1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enalty_title" descr="Editable text; source id penalty_title"/>
          <p:cNvSpPr txBox="1"/>
          <p:nvPr/>
        </p:nvSpPr>
        <p:spPr>
          <a:xfrm>
            <a:off x="101600" y="76200"/>
            <a:ext cx="927100" cy="15240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035"/>
              </a:lnSpc>
              <a:spcBef>
                <a:spcPts val="0"/>
              </a:spcBef>
              <a:spcAft>
                <a:spcPts val="0"/>
              </a:spcAft>
              <a:defRPr sz="900" b="1" i="0" lang="zh-CN" dirty="0">
                <a:solidFill>
                  <a:srgbClr val="24343D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900" b="1" i="0" lang="zh-CN" dirty="0">
                <a:solidFill>
                  <a:srgbClr val="24343D"/>
                </a:solidFill>
                <a:latin typeface="Liberation Serif"/>
                <a:ea typeface="Liberation Serif"/>
                <a:cs typeface="Liberation Serif"/>
              </a:rPr>
              <a:t>Fixed penalty</a:t>
            </a:r>
          </a:p>
        </p:txBody>
      </p:sp>
      <p:sp>
        <p:nvSpPr>
          <p:cNvPr id="4" name="leak" descr="Editable text; source id leak"/>
          <p:cNvSpPr txBox="1"/>
          <p:nvPr/>
        </p:nvSpPr>
        <p:spPr>
          <a:xfrm>
            <a:off x="114300" y="279400"/>
            <a:ext cx="889000" cy="15240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920"/>
              </a:lnSpc>
              <a:spcBef>
                <a:spcPts val="0"/>
              </a:spcBef>
              <a:spcAft>
                <a:spcPts val="0"/>
              </a:spcAft>
              <a:defRPr sz="800" b="1" i="0" lang="zh-CN" dirty="0">
                <a:solidFill>
                  <a:srgbClr val="AD3C3C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810" b="1" i="0" lang="zh-CN" dirty="0">
                <a:solidFill>
                  <a:srgbClr val="AD3C3C"/>
                </a:solidFill>
                <a:latin typeface="Liberation Serif"/>
                <a:ea typeface="Liberation Serif"/>
                <a:cs typeface="Liberation Serif"/>
              </a:rPr>
              <a:t>Budget leakage</a:t>
            </a:r>
          </a:p>
        </p:txBody>
      </p:sp>
      <p:sp>
        <p:nvSpPr>
          <p:cNvPr id="5" name="p_x" descr="Editable line; source id p_x"/>
          <p:cNvSpPr/>
          <p:nvPr/>
        </p:nvSpPr>
        <p:spPr>
          <a:xfrm>
            <a:off x="177800" y="1557020"/>
            <a:ext cx="812800" cy="35560"/>
          </a:xfrm>
          <a:custGeom>
            <a:avLst/>
            <a:gdLst/>
            <a:ahLst/>
            <a:cxnLst/>
            <a:rect l="l" t="t" r="r" b="b"/>
            <a:pathLst>
              <a:path w="320000" h="14000">
                <a:moveTo>
                  <a:pt x="0" y="5250"/>
                </a:moveTo>
                <a:lnTo>
                  <a:pt x="302500" y="5250"/>
                </a:lnTo>
                <a:lnTo>
                  <a:pt x="302500" y="0"/>
                </a:lnTo>
                <a:lnTo>
                  <a:pt x="320000" y="7000"/>
                </a:lnTo>
                <a:lnTo>
                  <a:pt x="302500" y="14000"/>
                </a:lnTo>
                <a:lnTo>
                  <a:pt x="302500" y="8750"/>
                </a:lnTo>
                <a:lnTo>
                  <a:pt x="0" y="8750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_y" descr="Editable line; source id p_y"/>
          <p:cNvSpPr/>
          <p:nvPr/>
        </p:nvSpPr>
        <p:spPr>
          <a:xfrm>
            <a:off x="160020" y="495300"/>
            <a:ext cx="35560" cy="1079500"/>
          </a:xfrm>
          <a:custGeom>
            <a:avLst/>
            <a:gdLst/>
            <a:ahLst/>
            <a:cxnLst/>
            <a:rect l="l" t="t" r="r" b="b"/>
            <a:pathLst>
              <a:path w="14000" h="425000">
                <a:moveTo>
                  <a:pt x="5250" y="425000"/>
                </a:moveTo>
                <a:lnTo>
                  <a:pt x="5250" y="17500"/>
                </a:lnTo>
                <a:lnTo>
                  <a:pt x="0" y="17500"/>
                </a:lnTo>
                <a:lnTo>
                  <a:pt x="7000" y="0"/>
                </a:lnTo>
                <a:lnTo>
                  <a:pt x="14000" y="17500"/>
                </a:lnTo>
                <a:lnTo>
                  <a:pt x="8750" y="17500"/>
                </a:lnTo>
                <a:lnTo>
                  <a:pt x="8750" y="425000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p_B" descr="Editable line; source id p_B"/>
          <p:cNvCxnSpPr/>
          <p:nvPr/>
        </p:nvCxnSpPr>
        <p:spPr>
          <a:xfrm>
            <a:off x="190500" y="1079500"/>
            <a:ext cx="787400" cy="0"/>
          </a:xfrm>
          <a:prstGeom prst="line">
            <a:avLst/>
          </a:prstGeom>
          <a:ln w="8890">
            <a:solidFill>
              <a:srgbClr val="66747D"/>
            </a:solidFill>
            <a:custDash>
              <a:ds d="285714" sp="285714"/>
            </a:custDash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p_budget" descr="Editable text; source id p_budget"/>
          <p:cNvSpPr txBox="1"/>
          <p:nvPr/>
        </p:nvSpPr>
        <p:spPr>
          <a:xfrm>
            <a:off x="76200" y="1016000"/>
            <a:ext cx="88900" cy="13970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920"/>
              </a:lnSpc>
              <a:spcBef>
                <a:spcPts val="0"/>
              </a:spcBef>
              <a:spcAft>
                <a:spcPts val="0"/>
              </a:spcAft>
              <a:defRPr sz="800" b="0" i="0" lang="zh-CN" dirty="0">
                <a:solidFill>
                  <a:srgbClr val="24343D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810" b="0" i="0" lang="zh-CN" dirty="0">
                <a:solidFill>
                  <a:srgbClr val="24343D"/>
                </a:solidFill>
                <a:latin typeface="Liberation Serif"/>
                <a:ea typeface="Liberation Serif"/>
                <a:cs typeface="Liberation Serif"/>
              </a:rPr>
              <a:t>B</a:t>
            </a:r>
          </a:p>
        </p:txBody>
      </p:sp>
      <p:cxnSp>
        <p:nvCxnSpPr>
          <p:cNvPr id="9" name="cost_penalty_0" descr="Editable line; source id cost_penalty_0"/>
          <p:cNvCxnSpPr/>
          <p:nvPr/>
        </p:nvCxnSpPr>
        <p:spPr>
          <a:xfrm>
            <a:off x="203200" y="1076345"/>
            <a:ext cx="6128" cy="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st_penalty_1" descr="Editable line; source id cost_penalty_1"/>
          <p:cNvCxnSpPr/>
          <p:nvPr/>
        </p:nvCxnSpPr>
        <p:spPr>
          <a:xfrm>
            <a:off x="209328" y="1076345"/>
            <a:ext cx="6129" cy="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st_penalty_2" descr="Editable line; source id cost_penalty_2"/>
          <p:cNvCxnSpPr/>
          <p:nvPr/>
        </p:nvCxnSpPr>
        <p:spPr>
          <a:xfrm>
            <a:off x="215457" y="1076345"/>
            <a:ext cx="6129" cy="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st_penalty_3" descr="Editable line; source id cost_penalty_3"/>
          <p:cNvCxnSpPr/>
          <p:nvPr/>
        </p:nvCxnSpPr>
        <p:spPr>
          <a:xfrm>
            <a:off x="221586" y="1076345"/>
            <a:ext cx="6128" cy="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st_penalty_4" descr="Editable line; source id cost_penalty_4"/>
          <p:cNvCxnSpPr/>
          <p:nvPr/>
        </p:nvCxnSpPr>
        <p:spPr>
          <a:xfrm flipV="1">
            <a:off x="227714" y="1073190"/>
            <a:ext cx="6129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st_penalty_5" descr="Editable line; source id cost_penalty_5"/>
          <p:cNvCxnSpPr/>
          <p:nvPr/>
        </p:nvCxnSpPr>
        <p:spPr>
          <a:xfrm>
            <a:off x="233843" y="1073190"/>
            <a:ext cx="6129" cy="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st_penalty_6" descr="Editable line; source id cost_penalty_6"/>
          <p:cNvCxnSpPr/>
          <p:nvPr/>
        </p:nvCxnSpPr>
        <p:spPr>
          <a:xfrm flipV="1">
            <a:off x="239972" y="1070035"/>
            <a:ext cx="6128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st_penalty_7" descr="Editable line; source id cost_penalty_7"/>
          <p:cNvCxnSpPr/>
          <p:nvPr/>
        </p:nvCxnSpPr>
        <p:spPr>
          <a:xfrm flipV="1">
            <a:off x="246100" y="1066880"/>
            <a:ext cx="6129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st_penalty_8" descr="Editable line; source id cost_penalty_8"/>
          <p:cNvCxnSpPr/>
          <p:nvPr/>
        </p:nvCxnSpPr>
        <p:spPr>
          <a:xfrm flipV="1">
            <a:off x="252229" y="1063726"/>
            <a:ext cx="6129" cy="3154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st_penalty_9" descr="Editable line; source id cost_penalty_9"/>
          <p:cNvCxnSpPr/>
          <p:nvPr/>
        </p:nvCxnSpPr>
        <p:spPr>
          <a:xfrm flipV="1">
            <a:off x="258358" y="1057416"/>
            <a:ext cx="6128" cy="631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st_penalty_10" descr="Editable line; source id cost_penalty_10"/>
          <p:cNvCxnSpPr/>
          <p:nvPr/>
        </p:nvCxnSpPr>
        <p:spPr>
          <a:xfrm flipV="1">
            <a:off x="264486" y="1054261"/>
            <a:ext cx="6129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st_penalty_11" descr="Editable line; source id cost_penalty_11"/>
          <p:cNvCxnSpPr/>
          <p:nvPr/>
        </p:nvCxnSpPr>
        <p:spPr>
          <a:xfrm flipV="1">
            <a:off x="270615" y="1051107"/>
            <a:ext cx="6129" cy="3154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st_penalty_12" descr="Editable line; source id cost_penalty_12"/>
          <p:cNvCxnSpPr/>
          <p:nvPr/>
        </p:nvCxnSpPr>
        <p:spPr>
          <a:xfrm flipV="1">
            <a:off x="276744" y="1044797"/>
            <a:ext cx="6128" cy="631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st_penalty_13" descr="Editable line; source id cost_penalty_13"/>
          <p:cNvCxnSpPr/>
          <p:nvPr/>
        </p:nvCxnSpPr>
        <p:spPr>
          <a:xfrm>
            <a:off x="282872" y="1044797"/>
            <a:ext cx="6129" cy="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st_penalty_14" descr="Editable line; source id cost_penalty_14"/>
          <p:cNvCxnSpPr/>
          <p:nvPr/>
        </p:nvCxnSpPr>
        <p:spPr>
          <a:xfrm flipV="1">
            <a:off x="289001" y="1041642"/>
            <a:ext cx="6129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st_penalty_15" descr="Editable line; source id cost_penalty_15"/>
          <p:cNvCxnSpPr/>
          <p:nvPr/>
        </p:nvCxnSpPr>
        <p:spPr>
          <a:xfrm flipV="1">
            <a:off x="295130" y="1038487"/>
            <a:ext cx="6128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st_penalty_16" descr="Editable line; source id cost_penalty_16"/>
          <p:cNvCxnSpPr/>
          <p:nvPr/>
        </p:nvCxnSpPr>
        <p:spPr>
          <a:xfrm flipV="1">
            <a:off x="301258" y="1035333"/>
            <a:ext cx="6129" cy="3154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st_penalty_17" descr="Editable line; source id cost_penalty_17"/>
          <p:cNvCxnSpPr/>
          <p:nvPr/>
        </p:nvCxnSpPr>
        <p:spPr>
          <a:xfrm flipV="1">
            <a:off x="307387" y="1032178"/>
            <a:ext cx="6129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st_penalty_18" descr="Editable line; source id cost_penalty_18"/>
          <p:cNvCxnSpPr/>
          <p:nvPr/>
        </p:nvCxnSpPr>
        <p:spPr>
          <a:xfrm flipV="1">
            <a:off x="313516" y="1025868"/>
            <a:ext cx="6129" cy="631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st_penalty_19" descr="Editable line; source id cost_penalty_19"/>
          <p:cNvCxnSpPr/>
          <p:nvPr/>
        </p:nvCxnSpPr>
        <p:spPr>
          <a:xfrm flipV="1">
            <a:off x="319645" y="1022714"/>
            <a:ext cx="6128" cy="3154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st_penalty_20" descr="Editable line; source id cost_penalty_20"/>
          <p:cNvCxnSpPr/>
          <p:nvPr/>
        </p:nvCxnSpPr>
        <p:spPr>
          <a:xfrm flipV="1">
            <a:off x="325773" y="1016404"/>
            <a:ext cx="6129" cy="631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st_penalty_21" descr="Editable line; source id cost_penalty_21"/>
          <p:cNvCxnSpPr/>
          <p:nvPr/>
        </p:nvCxnSpPr>
        <p:spPr>
          <a:xfrm flipV="1">
            <a:off x="331902" y="1013249"/>
            <a:ext cx="6129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st_penalty_22" descr="Editable line; source id cost_penalty_22"/>
          <p:cNvCxnSpPr/>
          <p:nvPr/>
        </p:nvCxnSpPr>
        <p:spPr>
          <a:xfrm flipV="1">
            <a:off x="338031" y="1010094"/>
            <a:ext cx="6128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st_penalty_23" descr="Editable line; source id cost_penalty_23"/>
          <p:cNvCxnSpPr/>
          <p:nvPr/>
        </p:nvCxnSpPr>
        <p:spPr>
          <a:xfrm flipV="1">
            <a:off x="344159" y="1006940"/>
            <a:ext cx="6129" cy="3154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st_penalty_24" descr="Editable line; source id cost_penalty_24"/>
          <p:cNvCxnSpPr/>
          <p:nvPr/>
        </p:nvCxnSpPr>
        <p:spPr>
          <a:xfrm>
            <a:off x="350288" y="1006940"/>
            <a:ext cx="6129" cy="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st_penalty_25" descr="Editable line; source id cost_penalty_25"/>
          <p:cNvCxnSpPr/>
          <p:nvPr/>
        </p:nvCxnSpPr>
        <p:spPr>
          <a:xfrm flipV="1">
            <a:off x="356417" y="1003785"/>
            <a:ext cx="6128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st_penalty_26" descr="Editable line; source id cost_penalty_26"/>
          <p:cNvCxnSpPr/>
          <p:nvPr/>
        </p:nvCxnSpPr>
        <p:spPr>
          <a:xfrm>
            <a:off x="362545" y="1003785"/>
            <a:ext cx="6129" cy="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st_penalty_27" descr="Editable line; source id cost_penalty_27"/>
          <p:cNvCxnSpPr/>
          <p:nvPr/>
        </p:nvCxnSpPr>
        <p:spPr>
          <a:xfrm flipV="1">
            <a:off x="368674" y="1000630"/>
            <a:ext cx="6129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st_penalty_28" descr="Editable line; source id cost_penalty_28"/>
          <p:cNvCxnSpPr/>
          <p:nvPr/>
        </p:nvCxnSpPr>
        <p:spPr>
          <a:xfrm flipV="1">
            <a:off x="374803" y="997475"/>
            <a:ext cx="6128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st_penalty_29" descr="Editable line; source id cost_penalty_29"/>
          <p:cNvCxnSpPr/>
          <p:nvPr/>
        </p:nvCxnSpPr>
        <p:spPr>
          <a:xfrm flipV="1">
            <a:off x="380931" y="994321"/>
            <a:ext cx="6129" cy="3154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st_penalty_30" descr="Editable line; source id cost_penalty_30"/>
          <p:cNvCxnSpPr/>
          <p:nvPr/>
        </p:nvCxnSpPr>
        <p:spPr>
          <a:xfrm flipV="1">
            <a:off x="387060" y="988011"/>
            <a:ext cx="6129" cy="631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st_penalty_31" descr="Editable line; source id cost_penalty_31"/>
          <p:cNvCxnSpPr/>
          <p:nvPr/>
        </p:nvCxnSpPr>
        <p:spPr>
          <a:xfrm flipV="1">
            <a:off x="393189" y="984856"/>
            <a:ext cx="6128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st_penalty_32" descr="Editable line; source id cost_penalty_32"/>
          <p:cNvCxnSpPr/>
          <p:nvPr/>
        </p:nvCxnSpPr>
        <p:spPr>
          <a:xfrm flipV="1">
            <a:off x="399317" y="978547"/>
            <a:ext cx="6129" cy="6309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st_penalty_33" descr="Editable line; source id cost_penalty_33"/>
          <p:cNvCxnSpPr/>
          <p:nvPr/>
        </p:nvCxnSpPr>
        <p:spPr>
          <a:xfrm flipV="1">
            <a:off x="405446" y="975392"/>
            <a:ext cx="6129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st_penalty_34" descr="Editable line; source id cost_penalty_34"/>
          <p:cNvCxnSpPr/>
          <p:nvPr/>
        </p:nvCxnSpPr>
        <p:spPr>
          <a:xfrm flipV="1">
            <a:off x="411575" y="969082"/>
            <a:ext cx="6129" cy="631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st_penalty_35" descr="Editable line; source id cost_penalty_35"/>
          <p:cNvCxnSpPr/>
          <p:nvPr/>
        </p:nvCxnSpPr>
        <p:spPr>
          <a:xfrm flipV="1">
            <a:off x="417704" y="965928"/>
            <a:ext cx="6128" cy="3154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st_penalty_36" descr="Editable line; source id cost_penalty_36"/>
          <p:cNvCxnSpPr/>
          <p:nvPr/>
        </p:nvCxnSpPr>
        <p:spPr>
          <a:xfrm flipV="1">
            <a:off x="423832" y="962773"/>
            <a:ext cx="6129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st_penalty_37" descr="Editable line; source id cost_penalty_37"/>
          <p:cNvCxnSpPr/>
          <p:nvPr/>
        </p:nvCxnSpPr>
        <p:spPr>
          <a:xfrm flipV="1">
            <a:off x="429961" y="959618"/>
            <a:ext cx="6129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st_penalty_38" descr="Editable line; source id cost_penalty_38"/>
          <p:cNvCxnSpPr/>
          <p:nvPr/>
        </p:nvCxnSpPr>
        <p:spPr>
          <a:xfrm flipV="1">
            <a:off x="436090" y="956463"/>
            <a:ext cx="6128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st_penalty_39" descr="Editable line; source id cost_penalty_39"/>
          <p:cNvCxnSpPr/>
          <p:nvPr/>
        </p:nvCxnSpPr>
        <p:spPr>
          <a:xfrm>
            <a:off x="442218" y="956463"/>
            <a:ext cx="6129" cy="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st_penalty_40" descr="Editable line; source id cost_penalty_40"/>
          <p:cNvCxnSpPr/>
          <p:nvPr/>
        </p:nvCxnSpPr>
        <p:spPr>
          <a:xfrm flipV="1">
            <a:off x="448347" y="953308"/>
            <a:ext cx="6129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st_penalty_41" descr="Editable line; source id cost_penalty_41"/>
          <p:cNvCxnSpPr/>
          <p:nvPr/>
        </p:nvCxnSpPr>
        <p:spPr>
          <a:xfrm>
            <a:off x="454476" y="953308"/>
            <a:ext cx="6128" cy="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st_penalty_42" descr="Editable line; source id cost_penalty_42"/>
          <p:cNvCxnSpPr/>
          <p:nvPr/>
        </p:nvCxnSpPr>
        <p:spPr>
          <a:xfrm>
            <a:off x="460604" y="953308"/>
            <a:ext cx="6129" cy="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st_penalty_43" descr="Editable line; source id cost_penalty_43"/>
          <p:cNvCxnSpPr/>
          <p:nvPr/>
        </p:nvCxnSpPr>
        <p:spPr>
          <a:xfrm flipV="1">
            <a:off x="466733" y="950154"/>
            <a:ext cx="6129" cy="3154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st_penalty_44" descr="Editable line; source id cost_penalty_44"/>
          <p:cNvCxnSpPr/>
          <p:nvPr/>
        </p:nvCxnSpPr>
        <p:spPr>
          <a:xfrm flipV="1">
            <a:off x="472862" y="946999"/>
            <a:ext cx="6128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st_penalty_45" descr="Editable line; source id cost_penalty_45"/>
          <p:cNvCxnSpPr/>
          <p:nvPr/>
        </p:nvCxnSpPr>
        <p:spPr>
          <a:xfrm flipV="1">
            <a:off x="478990" y="943844"/>
            <a:ext cx="6129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st_penalty_46" descr="Editable line; source id cost_penalty_46"/>
          <p:cNvCxnSpPr/>
          <p:nvPr/>
        </p:nvCxnSpPr>
        <p:spPr>
          <a:xfrm flipV="1">
            <a:off x="485119" y="940689"/>
            <a:ext cx="6129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st_penalty_47" descr="Editable line; source id cost_penalty_47"/>
          <p:cNvCxnSpPr/>
          <p:nvPr/>
        </p:nvCxnSpPr>
        <p:spPr>
          <a:xfrm flipV="1">
            <a:off x="491248" y="934380"/>
            <a:ext cx="6128" cy="6309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st_penalty_48" descr="Editable line; source id cost_penalty_48"/>
          <p:cNvCxnSpPr/>
          <p:nvPr/>
        </p:nvCxnSpPr>
        <p:spPr>
          <a:xfrm flipV="1">
            <a:off x="497376" y="928070"/>
            <a:ext cx="6129" cy="631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st_penalty_49" descr="Editable line; source id cost_penalty_49"/>
          <p:cNvCxnSpPr/>
          <p:nvPr/>
        </p:nvCxnSpPr>
        <p:spPr>
          <a:xfrm flipV="1">
            <a:off x="503505" y="924915"/>
            <a:ext cx="6129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st_penalty_50" descr="Editable line; source id cost_penalty_50"/>
          <p:cNvCxnSpPr/>
          <p:nvPr/>
        </p:nvCxnSpPr>
        <p:spPr>
          <a:xfrm flipV="1">
            <a:off x="509634" y="918606"/>
            <a:ext cx="6129" cy="6309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st_penalty_51" descr="Editable line; source id cost_penalty_51"/>
          <p:cNvCxnSpPr/>
          <p:nvPr/>
        </p:nvCxnSpPr>
        <p:spPr>
          <a:xfrm flipV="1">
            <a:off x="515763" y="912296"/>
            <a:ext cx="6128" cy="631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st_penalty_52" descr="Editable line; source id cost_penalty_52"/>
          <p:cNvCxnSpPr/>
          <p:nvPr/>
        </p:nvCxnSpPr>
        <p:spPr>
          <a:xfrm flipV="1">
            <a:off x="521891" y="905987"/>
            <a:ext cx="6129" cy="6309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st_penalty_53" descr="Editable line; source id cost_penalty_53"/>
          <p:cNvCxnSpPr/>
          <p:nvPr/>
        </p:nvCxnSpPr>
        <p:spPr>
          <a:xfrm>
            <a:off x="528020" y="905987"/>
            <a:ext cx="6129" cy="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cost_penalty_54" descr="Editable line; source id cost_penalty_54"/>
          <p:cNvCxnSpPr/>
          <p:nvPr/>
        </p:nvCxnSpPr>
        <p:spPr>
          <a:xfrm flipV="1">
            <a:off x="534149" y="902832"/>
            <a:ext cx="6128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cost_penalty_55" descr="Editable line; source id cost_penalty_55"/>
          <p:cNvCxnSpPr/>
          <p:nvPr/>
        </p:nvCxnSpPr>
        <p:spPr>
          <a:xfrm>
            <a:off x="540277" y="902832"/>
            <a:ext cx="6129" cy="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ost_penalty_56" descr="Editable line; source id cost_penalty_56"/>
          <p:cNvCxnSpPr/>
          <p:nvPr/>
        </p:nvCxnSpPr>
        <p:spPr>
          <a:xfrm flipV="1">
            <a:off x="546406" y="899677"/>
            <a:ext cx="6129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st_penalty_57" descr="Editable line; source id cost_penalty_57"/>
          <p:cNvCxnSpPr/>
          <p:nvPr/>
        </p:nvCxnSpPr>
        <p:spPr>
          <a:xfrm flipV="1">
            <a:off x="552535" y="896522"/>
            <a:ext cx="6128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st_penalty_58" descr="Editable line; source id cost_penalty_58"/>
          <p:cNvCxnSpPr/>
          <p:nvPr/>
        </p:nvCxnSpPr>
        <p:spPr>
          <a:xfrm>
            <a:off x="558663" y="896522"/>
            <a:ext cx="6129" cy="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cost_penalty_59" descr="Editable line; source id cost_penalty_59"/>
          <p:cNvCxnSpPr/>
          <p:nvPr/>
        </p:nvCxnSpPr>
        <p:spPr>
          <a:xfrm flipV="1">
            <a:off x="564792" y="893368"/>
            <a:ext cx="6129" cy="3154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cost_penalty_60" descr="Editable line; source id cost_penalty_60"/>
          <p:cNvCxnSpPr/>
          <p:nvPr/>
        </p:nvCxnSpPr>
        <p:spPr>
          <a:xfrm flipV="1">
            <a:off x="570921" y="887058"/>
            <a:ext cx="6128" cy="631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cost_penalty_61" descr="Editable line; source id cost_penalty_61"/>
          <p:cNvCxnSpPr/>
          <p:nvPr/>
        </p:nvCxnSpPr>
        <p:spPr>
          <a:xfrm>
            <a:off x="577049" y="887058"/>
            <a:ext cx="6129" cy="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cost_penalty_62" descr="Editable line; source id cost_penalty_62"/>
          <p:cNvCxnSpPr/>
          <p:nvPr/>
        </p:nvCxnSpPr>
        <p:spPr>
          <a:xfrm flipV="1">
            <a:off x="583178" y="880749"/>
            <a:ext cx="6129" cy="6309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cost_penalty_63" descr="Editable line; source id cost_penalty_63"/>
          <p:cNvCxnSpPr/>
          <p:nvPr/>
        </p:nvCxnSpPr>
        <p:spPr>
          <a:xfrm flipV="1">
            <a:off x="589307" y="877594"/>
            <a:ext cx="6128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cost_penalty_64" descr="Editable line; source id cost_penalty_64"/>
          <p:cNvCxnSpPr/>
          <p:nvPr/>
        </p:nvCxnSpPr>
        <p:spPr>
          <a:xfrm flipV="1">
            <a:off x="595435" y="874439"/>
            <a:ext cx="6129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cost_penalty_65" descr="Editable line; source id cost_penalty_65"/>
          <p:cNvCxnSpPr/>
          <p:nvPr/>
        </p:nvCxnSpPr>
        <p:spPr>
          <a:xfrm flipV="1">
            <a:off x="601564" y="871284"/>
            <a:ext cx="6129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cost_penalty_66" descr="Editable line; source id cost_penalty_66"/>
          <p:cNvCxnSpPr/>
          <p:nvPr/>
        </p:nvCxnSpPr>
        <p:spPr>
          <a:xfrm flipV="1">
            <a:off x="607693" y="861820"/>
            <a:ext cx="6128" cy="9464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cost_penalty_67" descr="Editable line; source id cost_penalty_67"/>
          <p:cNvCxnSpPr/>
          <p:nvPr/>
        </p:nvCxnSpPr>
        <p:spPr>
          <a:xfrm flipV="1">
            <a:off x="613821" y="858665"/>
            <a:ext cx="6129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cost_penalty_68" descr="Editable line; source id cost_penalty_68"/>
          <p:cNvCxnSpPr/>
          <p:nvPr/>
        </p:nvCxnSpPr>
        <p:spPr>
          <a:xfrm flipV="1">
            <a:off x="619950" y="852356"/>
            <a:ext cx="6129" cy="6309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cost_penalty_69" descr="Editable line; source id cost_penalty_69"/>
          <p:cNvCxnSpPr/>
          <p:nvPr/>
        </p:nvCxnSpPr>
        <p:spPr>
          <a:xfrm flipV="1">
            <a:off x="626079" y="846046"/>
            <a:ext cx="6129" cy="631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cost_penalty_70" descr="Editable line; source id cost_penalty_70"/>
          <p:cNvCxnSpPr/>
          <p:nvPr/>
        </p:nvCxnSpPr>
        <p:spPr>
          <a:xfrm flipV="1">
            <a:off x="632208" y="839736"/>
            <a:ext cx="6128" cy="631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cost_penalty_71" descr="Editable line; source id cost_penalty_71"/>
          <p:cNvCxnSpPr/>
          <p:nvPr/>
        </p:nvCxnSpPr>
        <p:spPr>
          <a:xfrm flipV="1">
            <a:off x="638336" y="833427"/>
            <a:ext cx="6129" cy="6309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st_penalty_72" descr="Editable line; source id cost_penalty_72"/>
          <p:cNvCxnSpPr/>
          <p:nvPr/>
        </p:nvCxnSpPr>
        <p:spPr>
          <a:xfrm flipV="1">
            <a:off x="644465" y="827117"/>
            <a:ext cx="6129" cy="631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cost_penalty_73" descr="Editable line; source id cost_penalty_73"/>
          <p:cNvCxnSpPr/>
          <p:nvPr/>
        </p:nvCxnSpPr>
        <p:spPr>
          <a:xfrm flipV="1">
            <a:off x="650594" y="820808"/>
            <a:ext cx="6128" cy="6309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cost_penalty_74" descr="Editable line; source id cost_penalty_74"/>
          <p:cNvCxnSpPr/>
          <p:nvPr/>
        </p:nvCxnSpPr>
        <p:spPr>
          <a:xfrm flipV="1">
            <a:off x="656722" y="814498"/>
            <a:ext cx="6129" cy="631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cost_penalty_75" descr="Editable line; source id cost_penalty_75"/>
          <p:cNvCxnSpPr/>
          <p:nvPr/>
        </p:nvCxnSpPr>
        <p:spPr>
          <a:xfrm flipV="1">
            <a:off x="662851" y="808189"/>
            <a:ext cx="6129" cy="6309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cost_penalty_76" descr="Editable line; source id cost_penalty_76"/>
          <p:cNvCxnSpPr/>
          <p:nvPr/>
        </p:nvCxnSpPr>
        <p:spPr>
          <a:xfrm flipV="1">
            <a:off x="668980" y="801879"/>
            <a:ext cx="6128" cy="631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cost_penalty_77" descr="Editable line; source id cost_penalty_77"/>
          <p:cNvCxnSpPr/>
          <p:nvPr/>
        </p:nvCxnSpPr>
        <p:spPr>
          <a:xfrm>
            <a:off x="675108" y="801879"/>
            <a:ext cx="6129" cy="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cost_penalty_78" descr="Editable line; source id cost_penalty_78"/>
          <p:cNvCxnSpPr/>
          <p:nvPr/>
        </p:nvCxnSpPr>
        <p:spPr>
          <a:xfrm flipV="1">
            <a:off x="681237" y="798724"/>
            <a:ext cx="6129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cost_penalty_79" descr="Editable line; source id cost_penalty_79"/>
          <p:cNvCxnSpPr/>
          <p:nvPr/>
        </p:nvCxnSpPr>
        <p:spPr>
          <a:xfrm flipV="1">
            <a:off x="687366" y="795570"/>
            <a:ext cx="6128" cy="3154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cost_penalty_80" descr="Editable line; source id cost_penalty_80"/>
          <p:cNvCxnSpPr/>
          <p:nvPr/>
        </p:nvCxnSpPr>
        <p:spPr>
          <a:xfrm flipV="1">
            <a:off x="693494" y="789260"/>
            <a:ext cx="6129" cy="631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cost_penalty_81" descr="Editable line; source id cost_penalty_81"/>
          <p:cNvCxnSpPr/>
          <p:nvPr/>
        </p:nvCxnSpPr>
        <p:spPr>
          <a:xfrm flipV="1">
            <a:off x="699623" y="786105"/>
            <a:ext cx="6129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st_penalty_82" descr="Editable line; source id cost_penalty_82"/>
          <p:cNvCxnSpPr/>
          <p:nvPr/>
        </p:nvCxnSpPr>
        <p:spPr>
          <a:xfrm flipV="1">
            <a:off x="705752" y="779796"/>
            <a:ext cx="6128" cy="6309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cost_penalty_83" descr="Editable line; source id cost_penalty_83"/>
          <p:cNvCxnSpPr/>
          <p:nvPr/>
        </p:nvCxnSpPr>
        <p:spPr>
          <a:xfrm flipV="1">
            <a:off x="711880" y="773486"/>
            <a:ext cx="6129" cy="631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cost_penalty_84" descr="Editable line; source id cost_penalty_84"/>
          <p:cNvCxnSpPr/>
          <p:nvPr/>
        </p:nvCxnSpPr>
        <p:spPr>
          <a:xfrm flipV="1">
            <a:off x="718009" y="767177"/>
            <a:ext cx="6129" cy="6309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cost_penalty_85" descr="Editable line; source id cost_penalty_85"/>
          <p:cNvCxnSpPr/>
          <p:nvPr/>
        </p:nvCxnSpPr>
        <p:spPr>
          <a:xfrm flipV="1">
            <a:off x="724138" y="757712"/>
            <a:ext cx="6129" cy="946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cost_penalty_86" descr="Editable line; source id cost_penalty_86"/>
          <p:cNvCxnSpPr/>
          <p:nvPr/>
        </p:nvCxnSpPr>
        <p:spPr>
          <a:xfrm flipV="1">
            <a:off x="730267" y="751403"/>
            <a:ext cx="6128" cy="6309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cost_penalty_87" descr="Editable line; source id cost_penalty_87"/>
          <p:cNvCxnSpPr/>
          <p:nvPr/>
        </p:nvCxnSpPr>
        <p:spPr>
          <a:xfrm flipV="1">
            <a:off x="736395" y="748248"/>
            <a:ext cx="6129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cost_penalty_88" descr="Editable line; source id cost_penalty_88"/>
          <p:cNvCxnSpPr/>
          <p:nvPr/>
        </p:nvCxnSpPr>
        <p:spPr>
          <a:xfrm flipV="1">
            <a:off x="742524" y="741938"/>
            <a:ext cx="6129" cy="631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cost_penalty_89" descr="Editable line; source id cost_penalty_89"/>
          <p:cNvCxnSpPr/>
          <p:nvPr/>
        </p:nvCxnSpPr>
        <p:spPr>
          <a:xfrm flipV="1">
            <a:off x="748653" y="735629"/>
            <a:ext cx="6128" cy="6309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cost_penalty_90" descr="Editable line; source id cost_penalty_90"/>
          <p:cNvCxnSpPr/>
          <p:nvPr/>
        </p:nvCxnSpPr>
        <p:spPr>
          <a:xfrm flipV="1">
            <a:off x="754781" y="732474"/>
            <a:ext cx="6129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cost_penalty_91" descr="Editable line; source id cost_penalty_91"/>
          <p:cNvCxnSpPr/>
          <p:nvPr/>
        </p:nvCxnSpPr>
        <p:spPr>
          <a:xfrm flipV="1">
            <a:off x="760910" y="729319"/>
            <a:ext cx="6129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cost_penalty_92" descr="Editable line; source id cost_penalty_92"/>
          <p:cNvCxnSpPr/>
          <p:nvPr/>
        </p:nvCxnSpPr>
        <p:spPr>
          <a:xfrm flipV="1">
            <a:off x="767039" y="723010"/>
            <a:ext cx="6128" cy="6309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cost_penalty_93" descr="Editable line; source id cost_penalty_93"/>
          <p:cNvCxnSpPr/>
          <p:nvPr/>
        </p:nvCxnSpPr>
        <p:spPr>
          <a:xfrm flipV="1">
            <a:off x="773167" y="719855"/>
            <a:ext cx="6129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cost_penalty_94" descr="Editable line; source id cost_penalty_94"/>
          <p:cNvCxnSpPr/>
          <p:nvPr/>
        </p:nvCxnSpPr>
        <p:spPr>
          <a:xfrm flipV="1">
            <a:off x="779296" y="716700"/>
            <a:ext cx="6129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cost_penalty_95" descr="Editable line; source id cost_penalty_95"/>
          <p:cNvCxnSpPr/>
          <p:nvPr/>
        </p:nvCxnSpPr>
        <p:spPr>
          <a:xfrm flipV="1">
            <a:off x="785425" y="713545"/>
            <a:ext cx="6128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cost_penalty_96" descr="Editable line; source id cost_penalty_96"/>
          <p:cNvCxnSpPr/>
          <p:nvPr/>
        </p:nvCxnSpPr>
        <p:spPr>
          <a:xfrm flipV="1">
            <a:off x="791553" y="710391"/>
            <a:ext cx="6129" cy="3154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cost_penalty_97" descr="Editable line; source id cost_penalty_97"/>
          <p:cNvCxnSpPr/>
          <p:nvPr/>
        </p:nvCxnSpPr>
        <p:spPr>
          <a:xfrm flipV="1">
            <a:off x="797682" y="704081"/>
            <a:ext cx="6129" cy="631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cost_penalty_98" descr="Editable line; source id cost_penalty_98"/>
          <p:cNvCxnSpPr/>
          <p:nvPr/>
        </p:nvCxnSpPr>
        <p:spPr>
          <a:xfrm flipV="1">
            <a:off x="803811" y="697771"/>
            <a:ext cx="6128" cy="631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cost_penalty_99" descr="Editable line; source id cost_penalty_99"/>
          <p:cNvCxnSpPr/>
          <p:nvPr/>
        </p:nvCxnSpPr>
        <p:spPr>
          <a:xfrm flipV="1">
            <a:off x="809939" y="694617"/>
            <a:ext cx="6129" cy="3154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cost_penalty_100" descr="Editable line; source id cost_penalty_100"/>
          <p:cNvCxnSpPr/>
          <p:nvPr/>
        </p:nvCxnSpPr>
        <p:spPr>
          <a:xfrm flipV="1">
            <a:off x="816068" y="688307"/>
            <a:ext cx="6129" cy="631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cost_penalty_101" descr="Editable line; source id cost_penalty_101"/>
          <p:cNvCxnSpPr/>
          <p:nvPr/>
        </p:nvCxnSpPr>
        <p:spPr>
          <a:xfrm flipV="1">
            <a:off x="822197" y="681998"/>
            <a:ext cx="6129" cy="6309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cost_penalty_102" descr="Editable line; source id cost_penalty_102"/>
          <p:cNvCxnSpPr/>
          <p:nvPr/>
        </p:nvCxnSpPr>
        <p:spPr>
          <a:xfrm flipV="1">
            <a:off x="828326" y="675688"/>
            <a:ext cx="6128" cy="631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cost_penalty_103" descr="Editable line; source id cost_penalty_103"/>
          <p:cNvCxnSpPr/>
          <p:nvPr/>
        </p:nvCxnSpPr>
        <p:spPr>
          <a:xfrm flipV="1">
            <a:off x="834454" y="672533"/>
            <a:ext cx="6129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cost_penalty_104" descr="Editable line; source id cost_penalty_104"/>
          <p:cNvCxnSpPr/>
          <p:nvPr/>
        </p:nvCxnSpPr>
        <p:spPr>
          <a:xfrm flipV="1">
            <a:off x="840583" y="666224"/>
            <a:ext cx="6129" cy="6309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cost_penalty_105" descr="Editable line; source id cost_penalty_105"/>
          <p:cNvCxnSpPr/>
          <p:nvPr/>
        </p:nvCxnSpPr>
        <p:spPr>
          <a:xfrm flipV="1">
            <a:off x="846712" y="659914"/>
            <a:ext cx="6128" cy="631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cost_penalty_106" descr="Editable line; source id cost_penalty_106"/>
          <p:cNvCxnSpPr/>
          <p:nvPr/>
        </p:nvCxnSpPr>
        <p:spPr>
          <a:xfrm flipV="1">
            <a:off x="852840" y="656759"/>
            <a:ext cx="6129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cost_penalty_107" descr="Editable line; source id cost_penalty_107"/>
          <p:cNvCxnSpPr/>
          <p:nvPr/>
        </p:nvCxnSpPr>
        <p:spPr>
          <a:xfrm flipV="1">
            <a:off x="858969" y="650450"/>
            <a:ext cx="6129" cy="6309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cost_penalty_108" descr="Editable line; source id cost_penalty_108"/>
          <p:cNvCxnSpPr/>
          <p:nvPr/>
        </p:nvCxnSpPr>
        <p:spPr>
          <a:xfrm>
            <a:off x="865098" y="650450"/>
            <a:ext cx="6128" cy="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cost_penalty_109" descr="Editable line; source id cost_penalty_109"/>
          <p:cNvCxnSpPr/>
          <p:nvPr/>
        </p:nvCxnSpPr>
        <p:spPr>
          <a:xfrm flipV="1">
            <a:off x="871226" y="644140"/>
            <a:ext cx="6129" cy="631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cost_penalty_110" descr="Editable line; source id cost_penalty_110"/>
          <p:cNvCxnSpPr/>
          <p:nvPr/>
        </p:nvCxnSpPr>
        <p:spPr>
          <a:xfrm flipV="1">
            <a:off x="877355" y="640985"/>
            <a:ext cx="6129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cost_penalty_111" descr="Editable line; source id cost_penalty_111"/>
          <p:cNvCxnSpPr/>
          <p:nvPr/>
        </p:nvCxnSpPr>
        <p:spPr>
          <a:xfrm flipV="1">
            <a:off x="883484" y="637831"/>
            <a:ext cx="6128" cy="3154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cost_penalty_112" descr="Editable line; source id cost_penalty_112"/>
          <p:cNvCxnSpPr/>
          <p:nvPr/>
        </p:nvCxnSpPr>
        <p:spPr>
          <a:xfrm flipV="1">
            <a:off x="889612" y="634676"/>
            <a:ext cx="6129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cost_penalty_113" descr="Editable line; source id cost_penalty_113"/>
          <p:cNvCxnSpPr/>
          <p:nvPr/>
        </p:nvCxnSpPr>
        <p:spPr>
          <a:xfrm flipV="1">
            <a:off x="895741" y="631521"/>
            <a:ext cx="6129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cost_penalty_114" descr="Editable line; source id cost_penalty_114"/>
          <p:cNvCxnSpPr/>
          <p:nvPr/>
        </p:nvCxnSpPr>
        <p:spPr>
          <a:xfrm flipV="1">
            <a:off x="901870" y="625212"/>
            <a:ext cx="6128" cy="6309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cost_penalty_115" descr="Editable line; source id cost_penalty_115"/>
          <p:cNvCxnSpPr/>
          <p:nvPr/>
        </p:nvCxnSpPr>
        <p:spPr>
          <a:xfrm flipV="1">
            <a:off x="907998" y="622057"/>
            <a:ext cx="6129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cost_penalty_116" descr="Editable line; source id cost_penalty_116"/>
          <p:cNvCxnSpPr/>
          <p:nvPr/>
        </p:nvCxnSpPr>
        <p:spPr>
          <a:xfrm flipV="1">
            <a:off x="914127" y="615747"/>
            <a:ext cx="6129" cy="631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cost_penalty_117" descr="Editable line; source id cost_penalty_117"/>
          <p:cNvCxnSpPr/>
          <p:nvPr/>
        </p:nvCxnSpPr>
        <p:spPr>
          <a:xfrm flipV="1">
            <a:off x="920256" y="612592"/>
            <a:ext cx="6128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cost_penalty_118" descr="Editable line; source id cost_penalty_118"/>
          <p:cNvCxnSpPr/>
          <p:nvPr/>
        </p:nvCxnSpPr>
        <p:spPr>
          <a:xfrm flipV="1">
            <a:off x="926384" y="606283"/>
            <a:ext cx="6129" cy="6309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cost_penalty_119" descr="Editable line; source id cost_penalty_119"/>
          <p:cNvCxnSpPr/>
          <p:nvPr/>
        </p:nvCxnSpPr>
        <p:spPr>
          <a:xfrm flipV="1">
            <a:off x="932513" y="599973"/>
            <a:ext cx="6129" cy="631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cost_penalty_120" descr="Editable line; source id cost_penalty_120"/>
          <p:cNvCxnSpPr/>
          <p:nvPr/>
        </p:nvCxnSpPr>
        <p:spPr>
          <a:xfrm flipV="1">
            <a:off x="938642" y="596819"/>
            <a:ext cx="6129" cy="3154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cost_penalty_121" descr="Editable line; source id cost_penalty_121"/>
          <p:cNvCxnSpPr/>
          <p:nvPr/>
        </p:nvCxnSpPr>
        <p:spPr>
          <a:xfrm>
            <a:off x="944771" y="596819"/>
            <a:ext cx="6128" cy="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cost_penalty_122" descr="Editable line; source id cost_penalty_122"/>
          <p:cNvCxnSpPr/>
          <p:nvPr/>
        </p:nvCxnSpPr>
        <p:spPr>
          <a:xfrm flipV="1">
            <a:off x="950899" y="593664"/>
            <a:ext cx="6129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cost_penalty_123" descr="Editable line; source id cost_penalty_123"/>
          <p:cNvCxnSpPr/>
          <p:nvPr/>
        </p:nvCxnSpPr>
        <p:spPr>
          <a:xfrm flipV="1">
            <a:off x="957028" y="590509"/>
            <a:ext cx="6129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p_cost" descr="Editable text; source id p_cost"/>
          <p:cNvSpPr txBox="1"/>
          <p:nvPr/>
        </p:nvSpPr>
        <p:spPr>
          <a:xfrm>
            <a:off x="381000" y="685800"/>
            <a:ext cx="317500" cy="12700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862"/>
              </a:lnSpc>
              <a:spcBef>
                <a:spcPts val="0"/>
              </a:spcBef>
              <a:spcAft>
                <a:spcPts val="0"/>
              </a:spcAft>
              <a:defRPr sz="750" b="0" i="0" lang="zh-CN" dirty="0">
                <a:solidFill>
                  <a:srgbClr val="24343D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810" b="0" i="0" lang="zh-CN" dirty="0">
                <a:solidFill>
                  <a:srgbClr val="24343D"/>
                </a:solidFill>
                <a:latin typeface="Liberation Serif"/>
                <a:ea typeface="Liberation Serif"/>
                <a:cs typeface="Liberation Serif"/>
              </a:rPr>
              <a:t>cost</a:t>
            </a:r>
          </a:p>
        </p:txBody>
      </p:sp>
      <p:cxnSp>
        <p:nvCxnSpPr>
          <p:cNvPr id="134" name="p_price" descr="Editable line; source id p_price"/>
          <p:cNvCxnSpPr/>
          <p:nvPr/>
        </p:nvCxnSpPr>
        <p:spPr>
          <a:xfrm>
            <a:off x="203200" y="1409700"/>
            <a:ext cx="762000" cy="0"/>
          </a:xfrm>
          <a:prstGeom prst="line">
            <a:avLst/>
          </a:prstGeom>
          <a:ln w="11430">
            <a:solidFill>
              <a:srgbClr val="73539B"/>
            </a:solidFill>
            <a:custDash>
              <a:ds d="333333" sp="222222"/>
            </a:custDash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p_price_label" descr="Editable text; source id p_price_label"/>
          <p:cNvSpPr txBox="1"/>
          <p:nvPr/>
        </p:nvSpPr>
        <p:spPr>
          <a:xfrm>
            <a:off x="419100" y="1257300"/>
            <a:ext cx="381000" cy="12700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862"/>
              </a:lnSpc>
              <a:spcBef>
                <a:spcPts val="0"/>
              </a:spcBef>
              <a:spcAft>
                <a:spcPts val="0"/>
              </a:spcAft>
              <a:defRPr sz="750" b="0" i="0" lang="zh-CN" dirty="0">
                <a:solidFill>
                  <a:srgbClr val="73539B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810" b="0" i="0" lang="zh-CN" dirty="0">
                <a:solidFill>
                  <a:srgbClr val="73539B"/>
                </a:solidFill>
                <a:latin typeface="Liberation Serif"/>
                <a:ea typeface="Liberation Serif"/>
                <a:cs typeface="Liberation Serif"/>
              </a:rPr>
              <a:t>price</a:t>
            </a:r>
          </a:p>
        </p:txBody>
      </p:sp>
      <p:sp>
        <p:nvSpPr>
          <p:cNvPr id="136" name="p_training" descr="Editable text; source id p_training"/>
          <p:cNvSpPr txBox="1"/>
          <p:nvPr/>
        </p:nvSpPr>
        <p:spPr>
          <a:xfrm>
            <a:off x="317500" y="1651000"/>
            <a:ext cx="635000" cy="12700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862"/>
              </a:lnSpc>
              <a:spcBef>
                <a:spcPts val="0"/>
              </a:spcBef>
              <a:spcAft>
                <a:spcPts val="0"/>
              </a:spcAft>
              <a:defRPr sz="750" b="0" i="0" lang="zh-CN" dirty="0">
                <a:solidFill>
                  <a:srgbClr val="24343D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810" b="0" i="0" lang="zh-CN" dirty="0">
                <a:solidFill>
                  <a:srgbClr val="24343D"/>
                </a:solidFill>
                <a:latin typeface="Liberation Serif"/>
                <a:ea typeface="Liberation Serif"/>
                <a:cs typeface="Liberation Serif"/>
              </a:rPr>
              <a:t>training</a:t>
            </a:r>
          </a:p>
        </p:txBody>
      </p:sp>
      <p:sp>
        <p:nvSpPr>
          <p:cNvPr id="137" name="safeot" descr="Editable shape; source id safeot"/>
          <p:cNvSpPr/>
          <p:nvPr/>
        </p:nvSpPr>
        <p:spPr>
          <a:xfrm>
            <a:off x="1155700" y="38100"/>
            <a:ext cx="2717800" cy="1917700"/>
          </a:xfrm>
          <a:prstGeom prst="roundRect">
            <a:avLst>
              <a:gd name="adj" fmla="val 2083"/>
            </a:avLst>
          </a:prstGeom>
          <a:solidFill>
            <a:srgbClr val="EAF6F5"/>
          </a:solidFill>
          <a:ln w="7620">
            <a:solidFill>
              <a:srgbClr val="08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safeot_title" descr="Editable text; source id safeot_title"/>
          <p:cNvSpPr txBox="1"/>
          <p:nvPr/>
        </p:nvSpPr>
        <p:spPr>
          <a:xfrm>
            <a:off x="1219200" y="76200"/>
            <a:ext cx="2590800" cy="18288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200" b="1" i="0" lang="zh-CN" dirty="0">
                <a:solidFill>
                  <a:srgbClr val="087F8C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1200" b="1" i="0" lang="zh-CN" dirty="0">
                <a:solidFill>
                  <a:srgbClr val="087F8C"/>
                </a:solidFill>
                <a:latin typeface="Liberation Serif"/>
                <a:ea typeface="Liberation Serif"/>
                <a:cs typeface="Liberation Serif"/>
              </a:rPr>
              <a:t>SafeOT</a:t>
            </a:r>
          </a:p>
        </p:txBody>
      </p:sp>
      <p:sp>
        <p:nvSpPr>
          <p:cNvPr id="139" name="one_flow" descr="Editable text; source id one_flow"/>
          <p:cNvSpPr txBox="1"/>
          <p:nvPr/>
        </p:nvSpPr>
        <p:spPr>
          <a:xfrm>
            <a:off x="1206500" y="241300"/>
            <a:ext cx="2616200" cy="13970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977"/>
              </a:lnSpc>
              <a:spcBef>
                <a:spcPts val="0"/>
              </a:spcBef>
              <a:spcAft>
                <a:spcPts val="0"/>
              </a:spcAft>
              <a:defRPr sz="850" b="1" i="0" lang="zh-CN" dirty="0">
                <a:solidFill>
                  <a:srgbClr val="087F8C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850" b="1" i="0" lang="zh-CN" dirty="0">
                <a:solidFill>
                  <a:srgbClr val="087F8C"/>
                </a:solidFill>
                <a:latin typeface="Liberation Serif"/>
                <a:ea typeface="Liberation Serif"/>
                <a:cs typeface="Liberation Serif"/>
              </a:rPr>
              <a:t>One flow, all budgets</a:t>
            </a:r>
          </a:p>
        </p:txBody>
      </p:sp>
      <p:sp>
        <p:nvSpPr>
          <p:cNvPr id="140" name="unified_graph_edge_0_-1.4" descr="Editable line; source id unified_graph_edge_0_-1.4"/>
          <p:cNvSpPr/>
          <p:nvPr/>
        </p:nvSpPr>
        <p:spPr>
          <a:xfrm>
            <a:off x="1449768" y="558137"/>
            <a:ext cx="478757" cy="180233"/>
          </a:xfrm>
          <a:custGeom>
            <a:avLst/>
            <a:gdLst/>
            <a:ahLst/>
            <a:cxnLst/>
            <a:rect l="l" t="t" r="r" b="b"/>
            <a:pathLst>
              <a:path w="188487" h="70958">
                <a:moveTo>
                  <a:pt x="0" y="67671"/>
                </a:moveTo>
                <a:lnTo>
                  <a:pt x="171452" y="4931"/>
                </a:lnTo>
                <a:lnTo>
                  <a:pt x="169648" y="0"/>
                </a:lnTo>
                <a:lnTo>
                  <a:pt x="188487" y="560"/>
                </a:lnTo>
                <a:lnTo>
                  <a:pt x="174459" y="13148"/>
                </a:lnTo>
                <a:lnTo>
                  <a:pt x="172655" y="8218"/>
                </a:lnTo>
                <a:lnTo>
                  <a:pt x="1203" y="70958"/>
                </a:lnTo>
                <a:close/>
              </a:path>
            </a:pathLst>
          </a:custGeom>
          <a:solidFill>
            <a:srgbClr val="A6B1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unified_graph_edge_0_1.4" descr="Editable line; source id unified_graph_edge_0_1.4"/>
          <p:cNvSpPr/>
          <p:nvPr/>
        </p:nvSpPr>
        <p:spPr>
          <a:xfrm>
            <a:off x="1461552" y="591533"/>
            <a:ext cx="479196" cy="181425"/>
          </a:xfrm>
          <a:custGeom>
            <a:avLst/>
            <a:gdLst/>
            <a:ahLst/>
            <a:cxnLst/>
            <a:rect l="l" t="t" r="r" b="b"/>
            <a:pathLst>
              <a:path w="188660" h="71427">
                <a:moveTo>
                  <a:pt x="0" y="67201"/>
                </a:moveTo>
                <a:lnTo>
                  <a:pt x="171452" y="4461"/>
                </a:lnTo>
                <a:lnTo>
                  <a:pt x="169820" y="0"/>
                </a:lnTo>
                <a:lnTo>
                  <a:pt x="188660" y="560"/>
                </a:lnTo>
                <a:lnTo>
                  <a:pt x="174631" y="13147"/>
                </a:lnTo>
                <a:lnTo>
                  <a:pt x="172999" y="8686"/>
                </a:lnTo>
                <a:lnTo>
                  <a:pt x="1547" y="71427"/>
                </a:lnTo>
                <a:close/>
              </a:path>
            </a:pathLst>
          </a:cu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unified_graph_edge_1_-1.4" descr="Editable line; source id unified_graph_edge_1_-1.4"/>
          <p:cNvSpPr/>
          <p:nvPr/>
        </p:nvSpPr>
        <p:spPr>
          <a:xfrm>
            <a:off x="2033143" y="523240"/>
            <a:ext cx="874014" cy="35560"/>
          </a:xfrm>
          <a:custGeom>
            <a:avLst/>
            <a:gdLst/>
            <a:ahLst/>
            <a:cxnLst/>
            <a:rect l="l" t="t" r="r" b="b"/>
            <a:pathLst>
              <a:path w="344100" h="14000">
                <a:moveTo>
                  <a:pt x="0" y="5250"/>
                </a:moveTo>
                <a:lnTo>
                  <a:pt x="326600" y="5250"/>
                </a:lnTo>
                <a:lnTo>
                  <a:pt x="326600" y="0"/>
                </a:lnTo>
                <a:lnTo>
                  <a:pt x="344100" y="7000"/>
                </a:lnTo>
                <a:lnTo>
                  <a:pt x="326600" y="14000"/>
                </a:lnTo>
                <a:lnTo>
                  <a:pt x="326600" y="8750"/>
                </a:lnTo>
                <a:lnTo>
                  <a:pt x="0" y="8750"/>
                </a:lnTo>
                <a:close/>
              </a:path>
            </a:pathLst>
          </a:custGeom>
          <a:solidFill>
            <a:srgbClr val="A6B1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unified_graph_edge_1_1.4" descr="Editable line; source id unified_graph_edge_1_1.4"/>
          <p:cNvSpPr/>
          <p:nvPr/>
        </p:nvSpPr>
        <p:spPr>
          <a:xfrm>
            <a:off x="2033143" y="558800"/>
            <a:ext cx="874014" cy="35560"/>
          </a:xfrm>
          <a:custGeom>
            <a:avLst/>
            <a:gdLst/>
            <a:ahLst/>
            <a:cxnLst/>
            <a:rect l="l" t="t" r="r" b="b"/>
            <a:pathLst>
              <a:path w="344100" h="14000">
                <a:moveTo>
                  <a:pt x="0" y="4750"/>
                </a:moveTo>
                <a:lnTo>
                  <a:pt x="326600" y="4750"/>
                </a:lnTo>
                <a:lnTo>
                  <a:pt x="326600" y="0"/>
                </a:lnTo>
                <a:lnTo>
                  <a:pt x="344100" y="7000"/>
                </a:lnTo>
                <a:lnTo>
                  <a:pt x="326600" y="14000"/>
                </a:lnTo>
                <a:lnTo>
                  <a:pt x="326600" y="9250"/>
                </a:lnTo>
                <a:lnTo>
                  <a:pt x="0" y="9250"/>
                </a:lnTo>
                <a:close/>
              </a:path>
            </a:pathLst>
          </a:cu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unified_graph_edge_2_-1.4" descr="Editable line; source id unified_graph_edge_2_-1.4"/>
          <p:cNvSpPr/>
          <p:nvPr/>
        </p:nvSpPr>
        <p:spPr>
          <a:xfrm>
            <a:off x="3010245" y="555386"/>
            <a:ext cx="478760" cy="180231"/>
          </a:xfrm>
          <a:custGeom>
            <a:avLst/>
            <a:gdLst/>
            <a:ahLst/>
            <a:cxnLst/>
            <a:rect l="l" t="t" r="r" b="b"/>
            <a:pathLst>
              <a:path w="188488" h="70957">
                <a:moveTo>
                  <a:pt x="1203" y="0"/>
                </a:moveTo>
                <a:lnTo>
                  <a:pt x="172655" y="62740"/>
                </a:lnTo>
                <a:lnTo>
                  <a:pt x="174459" y="57810"/>
                </a:lnTo>
                <a:lnTo>
                  <a:pt x="188488" y="70397"/>
                </a:lnTo>
                <a:lnTo>
                  <a:pt x="169648" y="70957"/>
                </a:lnTo>
                <a:lnTo>
                  <a:pt x="171452" y="66027"/>
                </a:lnTo>
                <a:lnTo>
                  <a:pt x="0" y="3287"/>
                </a:lnTo>
                <a:close/>
              </a:path>
            </a:pathLst>
          </a:custGeom>
          <a:solidFill>
            <a:srgbClr val="A6B1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unified_graph_edge_2_1.4" descr="Editable line; source id unified_graph_edge_2_1.4"/>
          <p:cNvSpPr/>
          <p:nvPr/>
        </p:nvSpPr>
        <p:spPr>
          <a:xfrm>
            <a:off x="2997589" y="587588"/>
            <a:ext cx="479194" cy="181425"/>
          </a:xfrm>
          <a:custGeom>
            <a:avLst/>
            <a:gdLst/>
            <a:ahLst/>
            <a:cxnLst/>
            <a:rect l="l" t="t" r="r" b="b"/>
            <a:pathLst>
              <a:path w="188659" h="71427">
                <a:moveTo>
                  <a:pt x="1547" y="0"/>
                </a:moveTo>
                <a:lnTo>
                  <a:pt x="172998" y="62740"/>
                </a:lnTo>
                <a:lnTo>
                  <a:pt x="174631" y="58279"/>
                </a:lnTo>
                <a:lnTo>
                  <a:pt x="188659" y="70867"/>
                </a:lnTo>
                <a:lnTo>
                  <a:pt x="169820" y="71427"/>
                </a:lnTo>
                <a:lnTo>
                  <a:pt x="171452" y="66966"/>
                </a:lnTo>
                <a:lnTo>
                  <a:pt x="0" y="4226"/>
                </a:lnTo>
                <a:close/>
              </a:path>
            </a:pathLst>
          </a:cu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unified_graph_edge_3_-1.4" descr="Editable line; source id unified_graph_edge_3_-1.4"/>
          <p:cNvSpPr/>
          <p:nvPr/>
        </p:nvSpPr>
        <p:spPr>
          <a:xfrm>
            <a:off x="1461988" y="764936"/>
            <a:ext cx="478760" cy="180231"/>
          </a:xfrm>
          <a:custGeom>
            <a:avLst/>
            <a:gdLst/>
            <a:ahLst/>
            <a:cxnLst/>
            <a:rect l="l" t="t" r="r" b="b"/>
            <a:pathLst>
              <a:path w="188488" h="70957">
                <a:moveTo>
                  <a:pt x="1203" y="0"/>
                </a:moveTo>
                <a:lnTo>
                  <a:pt x="172655" y="62740"/>
                </a:lnTo>
                <a:lnTo>
                  <a:pt x="174459" y="57810"/>
                </a:lnTo>
                <a:lnTo>
                  <a:pt x="188488" y="70397"/>
                </a:lnTo>
                <a:lnTo>
                  <a:pt x="169648" y="70957"/>
                </a:lnTo>
                <a:lnTo>
                  <a:pt x="171452" y="66027"/>
                </a:lnTo>
                <a:lnTo>
                  <a:pt x="0" y="3287"/>
                </a:lnTo>
                <a:close/>
              </a:path>
            </a:pathLst>
          </a:custGeom>
          <a:solidFill>
            <a:srgbClr val="A6B1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unified_graph_edge_3_1.4" descr="Editable line; source id unified_graph_edge_3_1.4"/>
          <p:cNvSpPr/>
          <p:nvPr/>
        </p:nvSpPr>
        <p:spPr>
          <a:xfrm>
            <a:off x="1447368" y="791771"/>
            <a:ext cx="481157" cy="186792"/>
          </a:xfrm>
          <a:custGeom>
            <a:avLst/>
            <a:gdLst/>
            <a:ahLst/>
            <a:cxnLst/>
            <a:rect l="l" t="t" r="r" b="b"/>
            <a:pathLst>
              <a:path w="189432" h="73540">
                <a:moveTo>
                  <a:pt x="3093" y="0"/>
                </a:moveTo>
                <a:lnTo>
                  <a:pt x="174545" y="62740"/>
                </a:lnTo>
                <a:lnTo>
                  <a:pt x="175404" y="60392"/>
                </a:lnTo>
                <a:lnTo>
                  <a:pt x="189432" y="72980"/>
                </a:lnTo>
                <a:lnTo>
                  <a:pt x="170593" y="73540"/>
                </a:lnTo>
                <a:lnTo>
                  <a:pt x="171452" y="71192"/>
                </a:lnTo>
                <a:lnTo>
                  <a:pt x="0" y="8452"/>
                </a:lnTo>
                <a:close/>
              </a:path>
            </a:pathLst>
          </a:cu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unified_graph_edge_4_-1.4" descr="Editable line; source id unified_graph_edge_4_-1.4"/>
          <p:cNvSpPr/>
          <p:nvPr/>
        </p:nvSpPr>
        <p:spPr>
          <a:xfrm>
            <a:off x="2033143" y="942340"/>
            <a:ext cx="874014" cy="35560"/>
          </a:xfrm>
          <a:custGeom>
            <a:avLst/>
            <a:gdLst/>
            <a:ahLst/>
            <a:cxnLst/>
            <a:rect l="l" t="t" r="r" b="b"/>
            <a:pathLst>
              <a:path w="344100" h="14000">
                <a:moveTo>
                  <a:pt x="0" y="5250"/>
                </a:moveTo>
                <a:lnTo>
                  <a:pt x="326600" y="5250"/>
                </a:lnTo>
                <a:lnTo>
                  <a:pt x="326600" y="0"/>
                </a:lnTo>
                <a:lnTo>
                  <a:pt x="344100" y="7000"/>
                </a:lnTo>
                <a:lnTo>
                  <a:pt x="326600" y="14000"/>
                </a:lnTo>
                <a:lnTo>
                  <a:pt x="326600" y="8750"/>
                </a:lnTo>
                <a:lnTo>
                  <a:pt x="0" y="8750"/>
                </a:lnTo>
                <a:close/>
              </a:path>
            </a:pathLst>
          </a:custGeom>
          <a:solidFill>
            <a:srgbClr val="A6B1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unified_graph_edge_4_1.4" descr="Editable line; source id unified_graph_edge_4_1.4"/>
          <p:cNvSpPr/>
          <p:nvPr/>
        </p:nvSpPr>
        <p:spPr>
          <a:xfrm>
            <a:off x="2033143" y="977900"/>
            <a:ext cx="874014" cy="35560"/>
          </a:xfrm>
          <a:custGeom>
            <a:avLst/>
            <a:gdLst/>
            <a:ahLst/>
            <a:cxnLst/>
            <a:rect l="l" t="t" r="r" b="b"/>
            <a:pathLst>
              <a:path w="344100" h="14000">
                <a:moveTo>
                  <a:pt x="0" y="2500"/>
                </a:moveTo>
                <a:lnTo>
                  <a:pt x="326600" y="2500"/>
                </a:lnTo>
                <a:lnTo>
                  <a:pt x="326600" y="0"/>
                </a:lnTo>
                <a:lnTo>
                  <a:pt x="344100" y="7000"/>
                </a:lnTo>
                <a:lnTo>
                  <a:pt x="326600" y="14000"/>
                </a:lnTo>
                <a:lnTo>
                  <a:pt x="326600" y="11500"/>
                </a:lnTo>
                <a:lnTo>
                  <a:pt x="0" y="11500"/>
                </a:lnTo>
                <a:close/>
              </a:path>
            </a:pathLst>
          </a:cu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unified_graph_edge_5_-1.4" descr="Editable line; source id unified_graph_edge_5_-1.4"/>
          <p:cNvSpPr/>
          <p:nvPr/>
        </p:nvSpPr>
        <p:spPr>
          <a:xfrm>
            <a:off x="2998026" y="767687"/>
            <a:ext cx="478757" cy="180233"/>
          </a:xfrm>
          <a:custGeom>
            <a:avLst/>
            <a:gdLst/>
            <a:ahLst/>
            <a:cxnLst/>
            <a:rect l="l" t="t" r="r" b="b"/>
            <a:pathLst>
              <a:path w="188487" h="70958">
                <a:moveTo>
                  <a:pt x="0" y="67671"/>
                </a:moveTo>
                <a:lnTo>
                  <a:pt x="171452" y="4931"/>
                </a:lnTo>
                <a:lnTo>
                  <a:pt x="169648" y="0"/>
                </a:lnTo>
                <a:lnTo>
                  <a:pt x="188487" y="560"/>
                </a:lnTo>
                <a:lnTo>
                  <a:pt x="174459" y="13148"/>
                </a:lnTo>
                <a:lnTo>
                  <a:pt x="172655" y="8218"/>
                </a:lnTo>
                <a:lnTo>
                  <a:pt x="1203" y="70958"/>
                </a:lnTo>
                <a:close/>
              </a:path>
            </a:pathLst>
          </a:custGeom>
          <a:solidFill>
            <a:srgbClr val="A6B1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unified_graph_edge_5_1.4" descr="Editable line; source id unified_graph_edge_5_1.4"/>
          <p:cNvSpPr/>
          <p:nvPr/>
        </p:nvSpPr>
        <p:spPr>
          <a:xfrm>
            <a:off x="3007845" y="801083"/>
            <a:ext cx="481160" cy="186792"/>
          </a:xfrm>
          <a:custGeom>
            <a:avLst/>
            <a:gdLst/>
            <a:ahLst/>
            <a:cxnLst/>
            <a:rect l="l" t="t" r="r" b="b"/>
            <a:pathLst>
              <a:path w="189433" h="73540">
                <a:moveTo>
                  <a:pt x="0" y="65088"/>
                </a:moveTo>
                <a:lnTo>
                  <a:pt x="171452" y="2348"/>
                </a:lnTo>
                <a:lnTo>
                  <a:pt x="170593" y="0"/>
                </a:lnTo>
                <a:lnTo>
                  <a:pt x="189433" y="560"/>
                </a:lnTo>
                <a:lnTo>
                  <a:pt x="175404" y="13147"/>
                </a:lnTo>
                <a:lnTo>
                  <a:pt x="174545" y="10799"/>
                </a:lnTo>
                <a:lnTo>
                  <a:pt x="3093" y="73540"/>
                </a:lnTo>
                <a:close/>
              </a:path>
            </a:pathLst>
          </a:cu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2" name="unified_graph_hard" descr="Editable line; source id unified_graph_hard"/>
          <p:cNvCxnSpPr/>
          <p:nvPr/>
        </p:nvCxnSpPr>
        <p:spPr>
          <a:xfrm>
            <a:off x="2033143" y="609600"/>
            <a:ext cx="874014" cy="317500"/>
          </a:xfrm>
          <a:prstGeom prst="line">
            <a:avLst/>
          </a:prstGeom>
          <a:ln w="8890">
            <a:solidFill>
              <a:srgbClr val="AD3C3C"/>
            </a:solidFill>
            <a:custDash>
              <a:ds d="285714" sp="285714"/>
            </a:custDash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unified_graph_x1" descr="Editable line; source id unified_graph_x1"/>
          <p:cNvCxnSpPr/>
          <p:nvPr/>
        </p:nvCxnSpPr>
        <p:spPr>
          <a:xfrm>
            <a:off x="2432050" y="730250"/>
            <a:ext cx="76200" cy="76200"/>
          </a:xfrm>
          <a:prstGeom prst="line">
            <a:avLst/>
          </a:prstGeom>
          <a:ln w="16510">
            <a:solidFill>
              <a:srgbClr val="AD3C3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unified_graph_x2" descr="Editable line; source id unified_graph_x2"/>
          <p:cNvCxnSpPr/>
          <p:nvPr/>
        </p:nvCxnSpPr>
        <p:spPr>
          <a:xfrm flipV="1">
            <a:off x="2432050" y="730250"/>
            <a:ext cx="76200" cy="76200"/>
          </a:xfrm>
          <a:prstGeom prst="line">
            <a:avLst/>
          </a:prstGeom>
          <a:ln w="16510">
            <a:solidFill>
              <a:srgbClr val="AD3C3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5" name="unified_graph_node0" descr="Editable shape; source id unified_graph_node0"/>
          <p:cNvSpPr/>
          <p:nvPr/>
        </p:nvSpPr>
        <p:spPr>
          <a:xfrm>
            <a:off x="1365250" y="72390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unified_graph_node1" descr="Editable shape; source id unified_graph_node1"/>
          <p:cNvSpPr/>
          <p:nvPr/>
        </p:nvSpPr>
        <p:spPr>
          <a:xfrm>
            <a:off x="1937893" y="51435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unified_graph_node2" descr="Editable shape; source id unified_graph_node2"/>
          <p:cNvSpPr/>
          <p:nvPr/>
        </p:nvSpPr>
        <p:spPr>
          <a:xfrm>
            <a:off x="2913507" y="51435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unified_graph_node3" descr="Editable shape; source id unified_graph_node3"/>
          <p:cNvSpPr/>
          <p:nvPr/>
        </p:nvSpPr>
        <p:spPr>
          <a:xfrm>
            <a:off x="3486150" y="72390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unified_graph_node4" descr="Editable shape; source id unified_graph_node4"/>
          <p:cNvSpPr/>
          <p:nvPr/>
        </p:nvSpPr>
        <p:spPr>
          <a:xfrm>
            <a:off x="2913507" y="93345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unified_graph_node5" descr="Editable shape; source id unified_graph_node5"/>
          <p:cNvSpPr/>
          <p:nvPr/>
        </p:nvSpPr>
        <p:spPr>
          <a:xfrm>
            <a:off x="1937893" y="93345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leg_observed" descr="Editable line; source id leg_observed"/>
          <p:cNvSpPr/>
          <p:nvPr/>
        </p:nvSpPr>
        <p:spPr>
          <a:xfrm>
            <a:off x="1257300" y="426720"/>
            <a:ext cx="127000" cy="35560"/>
          </a:xfrm>
          <a:custGeom>
            <a:avLst/>
            <a:gdLst/>
            <a:ahLst/>
            <a:cxnLst/>
            <a:rect l="l" t="t" r="r" b="b"/>
            <a:pathLst>
              <a:path w="50000" h="14000">
                <a:moveTo>
                  <a:pt x="0" y="5250"/>
                </a:moveTo>
                <a:lnTo>
                  <a:pt x="32500" y="5250"/>
                </a:lnTo>
                <a:lnTo>
                  <a:pt x="32500" y="0"/>
                </a:lnTo>
                <a:lnTo>
                  <a:pt x="50000" y="7000"/>
                </a:lnTo>
                <a:lnTo>
                  <a:pt x="32500" y="14000"/>
                </a:lnTo>
                <a:lnTo>
                  <a:pt x="32500" y="8750"/>
                </a:lnTo>
                <a:lnTo>
                  <a:pt x="0" y="8750"/>
                </a:lnTo>
                <a:close/>
              </a:path>
            </a:pathLst>
          </a:custGeom>
          <a:solidFill>
            <a:srgbClr val="A6B1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leg_target" descr="Editable line; source id leg_target"/>
          <p:cNvSpPr/>
          <p:nvPr/>
        </p:nvSpPr>
        <p:spPr>
          <a:xfrm>
            <a:off x="1701800" y="426720"/>
            <a:ext cx="127000" cy="35560"/>
          </a:xfrm>
          <a:custGeom>
            <a:avLst/>
            <a:gdLst/>
            <a:ahLst/>
            <a:cxnLst/>
            <a:rect l="l" t="t" r="r" b="b"/>
            <a:pathLst>
              <a:path w="50000" h="14000">
                <a:moveTo>
                  <a:pt x="0" y="3000"/>
                </a:moveTo>
                <a:lnTo>
                  <a:pt x="32500" y="3000"/>
                </a:lnTo>
                <a:lnTo>
                  <a:pt x="32500" y="0"/>
                </a:lnTo>
                <a:lnTo>
                  <a:pt x="50000" y="7000"/>
                </a:lnTo>
                <a:lnTo>
                  <a:pt x="32500" y="14000"/>
                </a:lnTo>
                <a:lnTo>
                  <a:pt x="32500" y="11000"/>
                </a:lnTo>
                <a:lnTo>
                  <a:pt x="0" y="11000"/>
                </a:lnTo>
                <a:close/>
              </a:path>
            </a:pathLst>
          </a:cu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projection" descr="Editable shape; source id projection"/>
          <p:cNvSpPr/>
          <p:nvPr/>
        </p:nvSpPr>
        <p:spPr>
          <a:xfrm>
            <a:off x="1828800" y="1320800"/>
            <a:ext cx="1320800" cy="190500"/>
          </a:xfrm>
          <a:prstGeom prst="roundRect">
            <a:avLst>
              <a:gd name="adj" fmla="val 20000"/>
            </a:avLst>
          </a:prstGeom>
          <a:solidFill>
            <a:srgbClr val="087F8C"/>
          </a:solidFill>
          <a:ln w="7620">
            <a:solidFill>
              <a:srgbClr val="08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projection_text" descr="Editable text; source id projection_text"/>
          <p:cNvSpPr txBox="1"/>
          <p:nvPr/>
        </p:nvSpPr>
        <p:spPr>
          <a:xfrm>
            <a:off x="1866900" y="1346200"/>
            <a:ext cx="1244600" cy="12700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977"/>
              </a:lnSpc>
              <a:spcBef>
                <a:spcPts val="0"/>
              </a:spcBef>
              <a:spcAft>
                <a:spcPts val="0"/>
              </a:spcAft>
              <a:defRPr sz="850" b="1" i="0" lang="zh-CN" dirty="0">
                <a:solidFill>
                  <a:srgbClr val="FFFFFF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850" b="1" i="0" lang="zh-CN" dirty="0">
                <a:solidFill>
                  <a:srgbClr val="FFFFFF"/>
                </a:solidFill>
                <a:latin typeface="Liberation Serif"/>
                <a:ea typeface="Liberation Serif"/>
                <a:cs typeface="Liberation Serif"/>
              </a:rPr>
              <a:t>Entropic projection</a:t>
            </a:r>
          </a:p>
        </p:txBody>
      </p:sp>
      <p:sp>
        <p:nvSpPr>
          <p:cNvPr id="169" name="price_rule" descr="Editable shape; source id price_rule"/>
          <p:cNvSpPr/>
          <p:nvPr/>
        </p:nvSpPr>
        <p:spPr>
          <a:xfrm>
            <a:off x="1155700" y="2006600"/>
            <a:ext cx="3289300" cy="342900"/>
          </a:xfrm>
          <a:prstGeom prst="roundRect">
            <a:avLst>
              <a:gd name="adj" fmla="val 12000"/>
            </a:avLst>
          </a:prstGeom>
          <a:solidFill>
            <a:srgbClr val="EAF6F5"/>
          </a:solidFill>
          <a:ln w="7620">
            <a:solidFill>
              <a:srgbClr val="08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actor" descr="Editable shape; source id actor"/>
          <p:cNvSpPr/>
          <p:nvPr/>
        </p:nvSpPr>
        <p:spPr>
          <a:xfrm>
            <a:off x="3187700" y="2095500"/>
            <a:ext cx="546100" cy="215900"/>
          </a:xfrm>
          <a:prstGeom prst="roundRect">
            <a:avLst>
              <a:gd name="adj" fmla="val 18750"/>
            </a:avLst>
          </a:prstGeom>
          <a:solidFill>
            <a:srgbClr val="F3F5F6"/>
          </a:solidFill>
          <a:ln w="7620">
            <a:solidFill>
              <a:srgbClr val="A6B1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lagrangian" descr="Editable shape; source id lagrangian"/>
          <p:cNvSpPr/>
          <p:nvPr/>
        </p:nvSpPr>
        <p:spPr>
          <a:xfrm>
            <a:off x="3937000" y="38100"/>
            <a:ext cx="1054100" cy="1917700"/>
          </a:xfrm>
          <a:prstGeom prst="roundRect">
            <a:avLst>
              <a:gd name="adj" fmla="val 3614"/>
            </a:avLst>
          </a:prstGeom>
          <a:solidFill>
            <a:srgbClr val="F3F5F6"/>
          </a:solidFill>
          <a:ln w="7620">
            <a:solidFill>
              <a:srgbClr val="A6B1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lagrangian_title" descr="Editable text; source id lagrangian_title"/>
          <p:cNvSpPr txBox="1"/>
          <p:nvPr/>
        </p:nvSpPr>
        <p:spPr>
          <a:xfrm>
            <a:off x="4000500" y="76200"/>
            <a:ext cx="927100" cy="15240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035"/>
              </a:lnSpc>
              <a:spcBef>
                <a:spcPts val="0"/>
              </a:spcBef>
              <a:spcAft>
                <a:spcPts val="0"/>
              </a:spcAft>
              <a:defRPr sz="900" b="1" i="0" lang="zh-CN" dirty="0">
                <a:solidFill>
                  <a:srgbClr val="24343D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900" b="1" i="0" lang="zh-CN" dirty="0">
                <a:solidFill>
                  <a:srgbClr val="24343D"/>
                </a:solidFill>
                <a:latin typeface="Liberation Serif"/>
                <a:ea typeface="Liberation Serif"/>
                <a:cs typeface="Liberation Serif"/>
              </a:rPr>
              <a:t>Lagrangian</a:t>
            </a:r>
          </a:p>
        </p:txBody>
      </p:sp>
      <p:sp>
        <p:nvSpPr>
          <p:cNvPr id="179" name="late" descr="Editable text; source id late"/>
          <p:cNvSpPr txBox="1"/>
          <p:nvPr/>
        </p:nvSpPr>
        <p:spPr>
          <a:xfrm>
            <a:off x="4000500" y="279400"/>
            <a:ext cx="927100" cy="15240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920"/>
              </a:lnSpc>
              <a:spcBef>
                <a:spcPts val="0"/>
              </a:spcBef>
              <a:spcAft>
                <a:spcPts val="0"/>
              </a:spcAft>
              <a:defRPr sz="800" b="1" i="0" lang="zh-CN" dirty="0">
                <a:solidFill>
                  <a:srgbClr val="66747D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810" b="1" i="0" lang="zh-CN" dirty="0">
                <a:solidFill>
                  <a:srgbClr val="66747D"/>
                </a:solidFill>
                <a:latin typeface="Liberation Serif"/>
                <a:ea typeface="Liberation Serif"/>
                <a:cs typeface="Liberation Serif"/>
              </a:rPr>
              <a:t>Late feedback</a:t>
            </a:r>
          </a:p>
        </p:txBody>
      </p:sp>
      <p:sp>
        <p:nvSpPr>
          <p:cNvPr id="180" name="l_x" descr="Editable line; source id l_x"/>
          <p:cNvSpPr/>
          <p:nvPr/>
        </p:nvSpPr>
        <p:spPr>
          <a:xfrm>
            <a:off x="4076700" y="1557020"/>
            <a:ext cx="825500" cy="35560"/>
          </a:xfrm>
          <a:custGeom>
            <a:avLst/>
            <a:gdLst/>
            <a:ahLst/>
            <a:cxnLst/>
            <a:rect l="l" t="t" r="r" b="b"/>
            <a:pathLst>
              <a:path w="325000" h="14000">
                <a:moveTo>
                  <a:pt x="0" y="5250"/>
                </a:moveTo>
                <a:lnTo>
                  <a:pt x="307500" y="5250"/>
                </a:lnTo>
                <a:lnTo>
                  <a:pt x="307500" y="0"/>
                </a:lnTo>
                <a:lnTo>
                  <a:pt x="325000" y="7000"/>
                </a:lnTo>
                <a:lnTo>
                  <a:pt x="307500" y="14000"/>
                </a:lnTo>
                <a:lnTo>
                  <a:pt x="307500" y="8750"/>
                </a:lnTo>
                <a:lnTo>
                  <a:pt x="0" y="8750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l_y" descr="Editable line; source id l_y"/>
          <p:cNvSpPr/>
          <p:nvPr/>
        </p:nvSpPr>
        <p:spPr>
          <a:xfrm>
            <a:off x="4058920" y="495300"/>
            <a:ext cx="35560" cy="1079500"/>
          </a:xfrm>
          <a:custGeom>
            <a:avLst/>
            <a:gdLst/>
            <a:ahLst/>
            <a:cxnLst/>
            <a:rect l="l" t="t" r="r" b="b"/>
            <a:pathLst>
              <a:path w="14000" h="425000">
                <a:moveTo>
                  <a:pt x="5250" y="425000"/>
                </a:moveTo>
                <a:lnTo>
                  <a:pt x="5250" y="17500"/>
                </a:lnTo>
                <a:lnTo>
                  <a:pt x="0" y="17500"/>
                </a:lnTo>
                <a:lnTo>
                  <a:pt x="7000" y="0"/>
                </a:lnTo>
                <a:lnTo>
                  <a:pt x="14000" y="17500"/>
                </a:lnTo>
                <a:lnTo>
                  <a:pt x="8750" y="17500"/>
                </a:lnTo>
                <a:lnTo>
                  <a:pt x="8750" y="425000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2" name="l_B" descr="Editable line; source id l_B"/>
          <p:cNvCxnSpPr/>
          <p:nvPr/>
        </p:nvCxnSpPr>
        <p:spPr>
          <a:xfrm>
            <a:off x="4089400" y="977900"/>
            <a:ext cx="800100" cy="0"/>
          </a:xfrm>
          <a:prstGeom prst="line">
            <a:avLst/>
          </a:prstGeom>
          <a:ln w="8890">
            <a:solidFill>
              <a:srgbClr val="66747D"/>
            </a:solidFill>
            <a:custDash>
              <a:ds d="285714" sp="285714"/>
            </a:custDash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3" name="l_budget" descr="Editable text; source id l_budget"/>
          <p:cNvSpPr txBox="1"/>
          <p:nvPr/>
        </p:nvSpPr>
        <p:spPr>
          <a:xfrm>
            <a:off x="3975100" y="914400"/>
            <a:ext cx="88900" cy="13970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920"/>
              </a:lnSpc>
              <a:spcBef>
                <a:spcPts val="0"/>
              </a:spcBef>
              <a:spcAft>
                <a:spcPts val="0"/>
              </a:spcAft>
              <a:defRPr sz="800" b="0" i="0" lang="zh-CN" dirty="0">
                <a:solidFill>
                  <a:srgbClr val="24343D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810" b="0" i="0" lang="zh-CN" dirty="0">
                <a:solidFill>
                  <a:srgbClr val="24343D"/>
                </a:solidFill>
                <a:latin typeface="Liberation Serif"/>
                <a:ea typeface="Liberation Serif"/>
                <a:cs typeface="Liberation Serif"/>
              </a:rPr>
              <a:t>B</a:t>
            </a:r>
          </a:p>
        </p:txBody>
      </p:sp>
      <p:cxnSp>
        <p:nvCxnSpPr>
          <p:cNvPr id="184" name="lag_cost_0" descr="Editable line; source id lag_cost_0"/>
          <p:cNvCxnSpPr/>
          <p:nvPr/>
        </p:nvCxnSpPr>
        <p:spPr>
          <a:xfrm flipV="1">
            <a:off x="4102100" y="1125070"/>
            <a:ext cx="6135" cy="2988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lag_cost_1" descr="Editable line; source id lag_cost_1"/>
          <p:cNvCxnSpPr/>
          <p:nvPr/>
        </p:nvCxnSpPr>
        <p:spPr>
          <a:xfrm flipV="1">
            <a:off x="4108235" y="1122082"/>
            <a:ext cx="6136" cy="2988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lag_cost_2" descr="Editable line; source id lag_cost_2"/>
          <p:cNvCxnSpPr/>
          <p:nvPr/>
        </p:nvCxnSpPr>
        <p:spPr>
          <a:xfrm flipV="1">
            <a:off x="4114371" y="1116105"/>
            <a:ext cx="6135" cy="5977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lag_cost_3" descr="Editable line; source id lag_cost_3"/>
          <p:cNvCxnSpPr/>
          <p:nvPr/>
        </p:nvCxnSpPr>
        <p:spPr>
          <a:xfrm flipV="1">
            <a:off x="4120506" y="1110129"/>
            <a:ext cx="6136" cy="5976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lag_cost_4" descr="Editable line; source id lag_cost_4"/>
          <p:cNvCxnSpPr/>
          <p:nvPr/>
        </p:nvCxnSpPr>
        <p:spPr>
          <a:xfrm flipV="1">
            <a:off x="4126642" y="1101164"/>
            <a:ext cx="6135" cy="896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lag_cost_5" descr="Editable line; source id lag_cost_5"/>
          <p:cNvCxnSpPr/>
          <p:nvPr/>
        </p:nvCxnSpPr>
        <p:spPr>
          <a:xfrm flipV="1">
            <a:off x="4132777" y="1092200"/>
            <a:ext cx="6136" cy="8964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lag_cost_6" descr="Editable line; source id lag_cost_6"/>
          <p:cNvCxnSpPr/>
          <p:nvPr/>
        </p:nvCxnSpPr>
        <p:spPr>
          <a:xfrm flipV="1">
            <a:off x="4138913" y="1083235"/>
            <a:ext cx="6136" cy="896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lag_cost_7" descr="Editable line; source id lag_cost_7"/>
          <p:cNvCxnSpPr/>
          <p:nvPr/>
        </p:nvCxnSpPr>
        <p:spPr>
          <a:xfrm flipV="1">
            <a:off x="4145049" y="1071282"/>
            <a:ext cx="6135" cy="11953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lag_cost_8" descr="Editable line; source id lag_cost_8"/>
          <p:cNvCxnSpPr/>
          <p:nvPr/>
        </p:nvCxnSpPr>
        <p:spPr>
          <a:xfrm flipV="1">
            <a:off x="4151184" y="1062317"/>
            <a:ext cx="6136" cy="896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lag_cost_9" descr="Editable line; source id lag_cost_9"/>
          <p:cNvCxnSpPr/>
          <p:nvPr/>
        </p:nvCxnSpPr>
        <p:spPr>
          <a:xfrm flipV="1">
            <a:off x="4157320" y="1047376"/>
            <a:ext cx="6135" cy="14941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lag_cost_10" descr="Editable line; source id lag_cost_10"/>
          <p:cNvCxnSpPr/>
          <p:nvPr/>
        </p:nvCxnSpPr>
        <p:spPr>
          <a:xfrm flipV="1">
            <a:off x="4163455" y="1032435"/>
            <a:ext cx="6136" cy="14941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lag_cost_11" descr="Editable line; source id lag_cost_11"/>
          <p:cNvCxnSpPr/>
          <p:nvPr/>
        </p:nvCxnSpPr>
        <p:spPr>
          <a:xfrm flipV="1">
            <a:off x="4169591" y="1017494"/>
            <a:ext cx="6136" cy="14941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lag_cost_12" descr="Editable line; source id lag_cost_12"/>
          <p:cNvCxnSpPr/>
          <p:nvPr/>
        </p:nvCxnSpPr>
        <p:spPr>
          <a:xfrm flipV="1">
            <a:off x="4175727" y="999564"/>
            <a:ext cx="6135" cy="1793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lag_cost_13" descr="Editable line; source id lag_cost_13"/>
          <p:cNvCxnSpPr/>
          <p:nvPr/>
        </p:nvCxnSpPr>
        <p:spPr>
          <a:xfrm flipV="1">
            <a:off x="4181862" y="990600"/>
            <a:ext cx="6136" cy="8964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lag_cost_14" descr="Editable line; source id lag_cost_14"/>
          <p:cNvCxnSpPr/>
          <p:nvPr/>
        </p:nvCxnSpPr>
        <p:spPr>
          <a:xfrm flipV="1">
            <a:off x="4187998" y="957729"/>
            <a:ext cx="8180" cy="32871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lag_cost_15" descr="Editable line; source id lag_cost_15"/>
          <p:cNvCxnSpPr/>
          <p:nvPr/>
        </p:nvCxnSpPr>
        <p:spPr>
          <a:xfrm flipV="1">
            <a:off x="4196178" y="942788"/>
            <a:ext cx="6136" cy="14941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lag_cost_16" descr="Editable line; source id lag_cost_16"/>
          <p:cNvCxnSpPr/>
          <p:nvPr/>
        </p:nvCxnSpPr>
        <p:spPr>
          <a:xfrm flipV="1">
            <a:off x="4202314" y="927847"/>
            <a:ext cx="6136" cy="14941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lag_cost_17" descr="Editable line; source id lag_cost_17"/>
          <p:cNvCxnSpPr/>
          <p:nvPr/>
        </p:nvCxnSpPr>
        <p:spPr>
          <a:xfrm flipV="1">
            <a:off x="4208450" y="909917"/>
            <a:ext cx="6135" cy="1793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lag_cost_18" descr="Editable line; source id lag_cost_18"/>
          <p:cNvCxnSpPr/>
          <p:nvPr/>
        </p:nvCxnSpPr>
        <p:spPr>
          <a:xfrm flipV="1">
            <a:off x="4214585" y="891988"/>
            <a:ext cx="6136" cy="17929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lag_cost_19" descr="Editable line; source id lag_cost_19"/>
          <p:cNvCxnSpPr/>
          <p:nvPr/>
        </p:nvCxnSpPr>
        <p:spPr>
          <a:xfrm flipV="1">
            <a:off x="4220721" y="874058"/>
            <a:ext cx="6135" cy="1793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lag_cost_20" descr="Editable line; source id lag_cost_20"/>
          <p:cNvCxnSpPr/>
          <p:nvPr/>
        </p:nvCxnSpPr>
        <p:spPr>
          <a:xfrm flipV="1">
            <a:off x="4226856" y="856129"/>
            <a:ext cx="6136" cy="17929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lag_cost_21" descr="Editable line; source id lag_cost_21"/>
          <p:cNvCxnSpPr/>
          <p:nvPr/>
        </p:nvCxnSpPr>
        <p:spPr>
          <a:xfrm flipV="1">
            <a:off x="4232992" y="841188"/>
            <a:ext cx="6136" cy="14941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lag_cost_22" descr="Editable line; source id lag_cost_22"/>
          <p:cNvCxnSpPr/>
          <p:nvPr/>
        </p:nvCxnSpPr>
        <p:spPr>
          <a:xfrm flipV="1">
            <a:off x="4239128" y="823258"/>
            <a:ext cx="6135" cy="1793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" name="lag_cost_23" descr="Editable line; source id lag_cost_23"/>
          <p:cNvCxnSpPr/>
          <p:nvPr/>
        </p:nvCxnSpPr>
        <p:spPr>
          <a:xfrm flipV="1">
            <a:off x="4245263" y="808317"/>
            <a:ext cx="6136" cy="14941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" name="lag_cost_24" descr="Editable line; source id lag_cost_24"/>
          <p:cNvCxnSpPr/>
          <p:nvPr/>
        </p:nvCxnSpPr>
        <p:spPr>
          <a:xfrm flipV="1">
            <a:off x="4251399" y="796364"/>
            <a:ext cx="6135" cy="11953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" name="lag_cost_25" descr="Editable line; source id lag_cost_25"/>
          <p:cNvCxnSpPr/>
          <p:nvPr/>
        </p:nvCxnSpPr>
        <p:spPr>
          <a:xfrm flipV="1">
            <a:off x="4257534" y="781423"/>
            <a:ext cx="6136" cy="14941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" name="lag_cost_26" descr="Editable line; source id lag_cost_26"/>
          <p:cNvCxnSpPr/>
          <p:nvPr/>
        </p:nvCxnSpPr>
        <p:spPr>
          <a:xfrm flipV="1">
            <a:off x="4263670" y="769470"/>
            <a:ext cx="6135" cy="11953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" name="lag_cost_27" descr="Editable line; source id lag_cost_27"/>
          <p:cNvCxnSpPr/>
          <p:nvPr/>
        </p:nvCxnSpPr>
        <p:spPr>
          <a:xfrm flipV="1">
            <a:off x="4269805" y="763494"/>
            <a:ext cx="6136" cy="5976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lag_cost_28" descr="Editable line; source id lag_cost_28"/>
          <p:cNvCxnSpPr/>
          <p:nvPr/>
        </p:nvCxnSpPr>
        <p:spPr>
          <a:xfrm flipV="1">
            <a:off x="4275941" y="754529"/>
            <a:ext cx="6136" cy="896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" name="lag_cost_29" descr="Editable line; source id lag_cost_29"/>
          <p:cNvCxnSpPr/>
          <p:nvPr/>
        </p:nvCxnSpPr>
        <p:spPr>
          <a:xfrm flipV="1">
            <a:off x="4282077" y="748552"/>
            <a:ext cx="6135" cy="5977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lag_cost_30" descr="Editable line; source id lag_cost_30"/>
          <p:cNvCxnSpPr/>
          <p:nvPr/>
        </p:nvCxnSpPr>
        <p:spPr>
          <a:xfrm>
            <a:off x="4288212" y="748552"/>
            <a:ext cx="6136" cy="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lag_cost_31" descr="Editable line; source id lag_cost_31"/>
          <p:cNvCxnSpPr/>
          <p:nvPr/>
        </p:nvCxnSpPr>
        <p:spPr>
          <a:xfrm>
            <a:off x="4294348" y="748552"/>
            <a:ext cx="6135" cy="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" name="lag_cost_32" descr="Editable line; source id lag_cost_32"/>
          <p:cNvCxnSpPr/>
          <p:nvPr/>
        </p:nvCxnSpPr>
        <p:spPr>
          <a:xfrm>
            <a:off x="4300483" y="748552"/>
            <a:ext cx="6136" cy="2989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7" name="lag_cost_33" descr="Editable line; source id lag_cost_33"/>
          <p:cNvCxnSpPr/>
          <p:nvPr/>
        </p:nvCxnSpPr>
        <p:spPr>
          <a:xfrm>
            <a:off x="4306619" y="751541"/>
            <a:ext cx="6136" cy="5976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" name="lag_cost_34" descr="Editable line; source id lag_cost_34"/>
          <p:cNvCxnSpPr/>
          <p:nvPr/>
        </p:nvCxnSpPr>
        <p:spPr>
          <a:xfrm>
            <a:off x="4312755" y="757517"/>
            <a:ext cx="6135" cy="5977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" name="lag_cost_35" descr="Editable line; source id lag_cost_35"/>
          <p:cNvCxnSpPr/>
          <p:nvPr/>
        </p:nvCxnSpPr>
        <p:spPr>
          <a:xfrm>
            <a:off x="4318890" y="763494"/>
            <a:ext cx="6136" cy="8964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lag_cost_36" descr="Editable line; source id lag_cost_36"/>
          <p:cNvCxnSpPr/>
          <p:nvPr/>
        </p:nvCxnSpPr>
        <p:spPr>
          <a:xfrm>
            <a:off x="4325026" y="772458"/>
            <a:ext cx="6135" cy="14942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lag_cost_37" descr="Editable line; source id lag_cost_37"/>
          <p:cNvCxnSpPr/>
          <p:nvPr/>
        </p:nvCxnSpPr>
        <p:spPr>
          <a:xfrm>
            <a:off x="4331161" y="787400"/>
            <a:ext cx="6136" cy="11952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lag_cost_38" descr="Editable line; source id lag_cost_38"/>
          <p:cNvCxnSpPr/>
          <p:nvPr/>
        </p:nvCxnSpPr>
        <p:spPr>
          <a:xfrm>
            <a:off x="4337297" y="799352"/>
            <a:ext cx="6135" cy="1793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" name="lag_cost_39" descr="Editable line; source id lag_cost_39"/>
          <p:cNvCxnSpPr/>
          <p:nvPr/>
        </p:nvCxnSpPr>
        <p:spPr>
          <a:xfrm>
            <a:off x="4343432" y="817282"/>
            <a:ext cx="6136" cy="14941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lag_cost_40" descr="Editable line; source id lag_cost_40"/>
          <p:cNvCxnSpPr/>
          <p:nvPr/>
        </p:nvCxnSpPr>
        <p:spPr>
          <a:xfrm>
            <a:off x="4349568" y="832223"/>
            <a:ext cx="6136" cy="20918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lag_cost_41" descr="Editable line; source id lag_cost_41"/>
          <p:cNvCxnSpPr/>
          <p:nvPr/>
        </p:nvCxnSpPr>
        <p:spPr>
          <a:xfrm>
            <a:off x="4355704" y="853141"/>
            <a:ext cx="6135" cy="17929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6" name="lag_cost_42" descr="Editable line; source id lag_cost_42"/>
          <p:cNvCxnSpPr/>
          <p:nvPr/>
        </p:nvCxnSpPr>
        <p:spPr>
          <a:xfrm>
            <a:off x="4361839" y="871070"/>
            <a:ext cx="6136" cy="20918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" name="lag_cost_43" descr="Editable line; source id lag_cost_43"/>
          <p:cNvCxnSpPr/>
          <p:nvPr/>
        </p:nvCxnSpPr>
        <p:spPr>
          <a:xfrm>
            <a:off x="4367975" y="891988"/>
            <a:ext cx="6135" cy="23906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" name="lag_cost_44" descr="Editable line; source id lag_cost_44"/>
          <p:cNvCxnSpPr/>
          <p:nvPr/>
        </p:nvCxnSpPr>
        <p:spPr>
          <a:xfrm>
            <a:off x="4374110" y="915894"/>
            <a:ext cx="6136" cy="20917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" name="lag_cost_45" descr="Editable line; source id lag_cost_45"/>
          <p:cNvCxnSpPr/>
          <p:nvPr/>
        </p:nvCxnSpPr>
        <p:spPr>
          <a:xfrm>
            <a:off x="4380246" y="936811"/>
            <a:ext cx="6136" cy="14941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lag_cost_46" descr="Editable line; source id lag_cost_46"/>
          <p:cNvCxnSpPr/>
          <p:nvPr/>
        </p:nvCxnSpPr>
        <p:spPr>
          <a:xfrm>
            <a:off x="4386382" y="951752"/>
            <a:ext cx="6135" cy="35859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1" name="lag_cost_47" descr="Editable line; source id lag_cost_47"/>
          <p:cNvCxnSpPr/>
          <p:nvPr/>
        </p:nvCxnSpPr>
        <p:spPr>
          <a:xfrm>
            <a:off x="4392517" y="987611"/>
            <a:ext cx="6136" cy="14941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2" name="lag_cost_48" descr="Editable line; source id lag_cost_48"/>
          <p:cNvCxnSpPr/>
          <p:nvPr/>
        </p:nvCxnSpPr>
        <p:spPr>
          <a:xfrm>
            <a:off x="4398653" y="1002552"/>
            <a:ext cx="6135" cy="20918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" name="lag_cost_49" descr="Editable line; source id lag_cost_49"/>
          <p:cNvCxnSpPr/>
          <p:nvPr/>
        </p:nvCxnSpPr>
        <p:spPr>
          <a:xfrm>
            <a:off x="4404788" y="1023470"/>
            <a:ext cx="6136" cy="1793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" name="lag_cost_50" descr="Editable line; source id lag_cost_50"/>
          <p:cNvCxnSpPr/>
          <p:nvPr/>
        </p:nvCxnSpPr>
        <p:spPr>
          <a:xfrm>
            <a:off x="4410924" y="1041400"/>
            <a:ext cx="6136" cy="14941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" name="lag_cost_51" descr="Editable line; source id lag_cost_51"/>
          <p:cNvCxnSpPr/>
          <p:nvPr/>
        </p:nvCxnSpPr>
        <p:spPr>
          <a:xfrm>
            <a:off x="4417060" y="1056341"/>
            <a:ext cx="6135" cy="17929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6" name="lag_cost_52" descr="Editable line; source id lag_cost_52"/>
          <p:cNvCxnSpPr/>
          <p:nvPr/>
        </p:nvCxnSpPr>
        <p:spPr>
          <a:xfrm>
            <a:off x="4423195" y="1074270"/>
            <a:ext cx="6136" cy="11953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7" name="lag_cost_53" descr="Editable line; source id lag_cost_53"/>
          <p:cNvCxnSpPr/>
          <p:nvPr/>
        </p:nvCxnSpPr>
        <p:spPr>
          <a:xfrm>
            <a:off x="4429331" y="1086223"/>
            <a:ext cx="6135" cy="11953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8" name="lag_cost_54" descr="Editable line; source id lag_cost_54"/>
          <p:cNvCxnSpPr/>
          <p:nvPr/>
        </p:nvCxnSpPr>
        <p:spPr>
          <a:xfrm>
            <a:off x="4435466" y="1098176"/>
            <a:ext cx="6136" cy="896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9" name="lag_cost_55" descr="Editable line; source id lag_cost_55"/>
          <p:cNvCxnSpPr/>
          <p:nvPr/>
        </p:nvCxnSpPr>
        <p:spPr>
          <a:xfrm>
            <a:off x="4441602" y="1107141"/>
            <a:ext cx="6135" cy="2988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0" name="lag_cost_56" descr="Editable line; source id lag_cost_56"/>
          <p:cNvCxnSpPr/>
          <p:nvPr/>
        </p:nvCxnSpPr>
        <p:spPr>
          <a:xfrm>
            <a:off x="4447737" y="1110129"/>
            <a:ext cx="6136" cy="2988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1" name="lag_cost_57" descr="Editable line; source id lag_cost_57"/>
          <p:cNvCxnSpPr/>
          <p:nvPr/>
        </p:nvCxnSpPr>
        <p:spPr>
          <a:xfrm>
            <a:off x="4453873" y="1113117"/>
            <a:ext cx="6136" cy="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2" name="lag_cost_58" descr="Editable line; source id lag_cost_58"/>
          <p:cNvCxnSpPr/>
          <p:nvPr/>
        </p:nvCxnSpPr>
        <p:spPr>
          <a:xfrm>
            <a:off x="4460009" y="1113117"/>
            <a:ext cx="6135" cy="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3" name="lag_cost_59" descr="Editable line; source id lag_cost_59"/>
          <p:cNvCxnSpPr/>
          <p:nvPr/>
        </p:nvCxnSpPr>
        <p:spPr>
          <a:xfrm flipV="1">
            <a:off x="4466144" y="1107141"/>
            <a:ext cx="6136" cy="5976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4" name="lag_cost_60" descr="Editable line; source id lag_cost_60"/>
          <p:cNvCxnSpPr/>
          <p:nvPr/>
        </p:nvCxnSpPr>
        <p:spPr>
          <a:xfrm flipV="1">
            <a:off x="4472280" y="1101164"/>
            <a:ext cx="6135" cy="5977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5" name="lag_cost_61" descr="Editable line; source id lag_cost_61"/>
          <p:cNvCxnSpPr/>
          <p:nvPr/>
        </p:nvCxnSpPr>
        <p:spPr>
          <a:xfrm flipV="1">
            <a:off x="4478415" y="1089211"/>
            <a:ext cx="6136" cy="11953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6" name="lag_cost_62" descr="Editable line; source id lag_cost_62"/>
          <p:cNvCxnSpPr/>
          <p:nvPr/>
        </p:nvCxnSpPr>
        <p:spPr>
          <a:xfrm flipV="1">
            <a:off x="4484551" y="1080247"/>
            <a:ext cx="6136" cy="8964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7" name="lag_cost_63" descr="Editable line; source id lag_cost_63"/>
          <p:cNvCxnSpPr/>
          <p:nvPr/>
        </p:nvCxnSpPr>
        <p:spPr>
          <a:xfrm flipV="1">
            <a:off x="4490687" y="1065305"/>
            <a:ext cx="6135" cy="14942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8" name="lag_cost_64" descr="Editable line; source id lag_cost_64"/>
          <p:cNvCxnSpPr/>
          <p:nvPr/>
        </p:nvCxnSpPr>
        <p:spPr>
          <a:xfrm flipV="1">
            <a:off x="4496822" y="1050364"/>
            <a:ext cx="6136" cy="14941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9" name="lag_cost_65" descr="Editable line; source id lag_cost_65"/>
          <p:cNvCxnSpPr/>
          <p:nvPr/>
        </p:nvCxnSpPr>
        <p:spPr>
          <a:xfrm flipV="1">
            <a:off x="4502958" y="1032435"/>
            <a:ext cx="6135" cy="17929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0" name="lag_cost_66" descr="Editable line; source id lag_cost_66"/>
          <p:cNvCxnSpPr/>
          <p:nvPr/>
        </p:nvCxnSpPr>
        <p:spPr>
          <a:xfrm flipV="1">
            <a:off x="4509093" y="1014505"/>
            <a:ext cx="6136" cy="1793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1" name="lag_cost_67" descr="Editable line; source id lag_cost_67"/>
          <p:cNvCxnSpPr/>
          <p:nvPr/>
        </p:nvCxnSpPr>
        <p:spPr>
          <a:xfrm flipV="1">
            <a:off x="4515229" y="999564"/>
            <a:ext cx="6135" cy="14941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2" name="lag_cost_68" descr="Editable line; source id lag_cost_68"/>
          <p:cNvCxnSpPr/>
          <p:nvPr/>
        </p:nvCxnSpPr>
        <p:spPr>
          <a:xfrm flipV="1">
            <a:off x="4521364" y="987611"/>
            <a:ext cx="6136" cy="11953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3" name="lag_cost_69" descr="Editable line; source id lag_cost_69"/>
          <p:cNvCxnSpPr/>
          <p:nvPr/>
        </p:nvCxnSpPr>
        <p:spPr>
          <a:xfrm flipV="1">
            <a:off x="4527500" y="954741"/>
            <a:ext cx="8181" cy="3287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4" name="lag_cost_70" descr="Editable line; source id lag_cost_70"/>
          <p:cNvCxnSpPr/>
          <p:nvPr/>
        </p:nvCxnSpPr>
        <p:spPr>
          <a:xfrm flipV="1">
            <a:off x="4535681" y="939800"/>
            <a:ext cx="6135" cy="14941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5" name="lag_cost_71" descr="Editable line; source id lag_cost_71"/>
          <p:cNvCxnSpPr/>
          <p:nvPr/>
        </p:nvCxnSpPr>
        <p:spPr>
          <a:xfrm flipV="1">
            <a:off x="4541816" y="921870"/>
            <a:ext cx="6136" cy="1793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6" name="lag_cost_72" descr="Editable line; source id lag_cost_72"/>
          <p:cNvCxnSpPr/>
          <p:nvPr/>
        </p:nvCxnSpPr>
        <p:spPr>
          <a:xfrm flipV="1">
            <a:off x="4547952" y="906929"/>
            <a:ext cx="6136" cy="14941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7" name="lag_cost_73" descr="Editable line; source id lag_cost_73"/>
          <p:cNvCxnSpPr/>
          <p:nvPr/>
        </p:nvCxnSpPr>
        <p:spPr>
          <a:xfrm flipV="1">
            <a:off x="4554088" y="889000"/>
            <a:ext cx="6135" cy="17929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8" name="lag_cost_74" descr="Editable line; source id lag_cost_74"/>
          <p:cNvCxnSpPr/>
          <p:nvPr/>
        </p:nvCxnSpPr>
        <p:spPr>
          <a:xfrm flipV="1">
            <a:off x="4560223" y="871070"/>
            <a:ext cx="6136" cy="1793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9" name="lag_cost_75" descr="Editable line; source id lag_cost_75"/>
          <p:cNvCxnSpPr/>
          <p:nvPr/>
        </p:nvCxnSpPr>
        <p:spPr>
          <a:xfrm flipV="1">
            <a:off x="4566359" y="856129"/>
            <a:ext cx="6135" cy="14941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0" name="lag_cost_76" descr="Editable line; source id lag_cost_76"/>
          <p:cNvCxnSpPr/>
          <p:nvPr/>
        </p:nvCxnSpPr>
        <p:spPr>
          <a:xfrm flipV="1">
            <a:off x="4572494" y="841188"/>
            <a:ext cx="6136" cy="14941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1" name="lag_cost_77" descr="Editable line; source id lag_cost_77"/>
          <p:cNvCxnSpPr/>
          <p:nvPr/>
        </p:nvCxnSpPr>
        <p:spPr>
          <a:xfrm flipV="1">
            <a:off x="4578630" y="826247"/>
            <a:ext cx="6135" cy="14941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lag_cost_78" descr="Editable line; source id lag_cost_78"/>
          <p:cNvCxnSpPr/>
          <p:nvPr/>
        </p:nvCxnSpPr>
        <p:spPr>
          <a:xfrm flipV="1">
            <a:off x="4584765" y="814294"/>
            <a:ext cx="6136" cy="11953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3" name="lag_cost_79" descr="Editable line; source id lag_cost_79"/>
          <p:cNvCxnSpPr/>
          <p:nvPr/>
        </p:nvCxnSpPr>
        <p:spPr>
          <a:xfrm flipV="1">
            <a:off x="4590901" y="802341"/>
            <a:ext cx="6136" cy="11953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4" name="lag_cost_80" descr="Editable line; source id lag_cost_80"/>
          <p:cNvCxnSpPr/>
          <p:nvPr/>
        </p:nvCxnSpPr>
        <p:spPr>
          <a:xfrm flipV="1">
            <a:off x="4597037" y="793376"/>
            <a:ext cx="6135" cy="896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5" name="lag_cost_81" descr="Editable line; source id lag_cost_81"/>
          <p:cNvCxnSpPr/>
          <p:nvPr/>
        </p:nvCxnSpPr>
        <p:spPr>
          <a:xfrm flipV="1">
            <a:off x="4603172" y="784411"/>
            <a:ext cx="6136" cy="896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6" name="lag_cost_82" descr="Editable line; source id lag_cost_82"/>
          <p:cNvCxnSpPr/>
          <p:nvPr/>
        </p:nvCxnSpPr>
        <p:spPr>
          <a:xfrm flipV="1">
            <a:off x="4609308" y="778435"/>
            <a:ext cx="6135" cy="5976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7" name="lag_cost_83" descr="Editable line; source id lag_cost_83"/>
          <p:cNvCxnSpPr/>
          <p:nvPr/>
        </p:nvCxnSpPr>
        <p:spPr>
          <a:xfrm flipV="1">
            <a:off x="4615443" y="772458"/>
            <a:ext cx="6136" cy="5977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8" name="lag_cost_84" descr="Editable line; source id lag_cost_84"/>
          <p:cNvCxnSpPr/>
          <p:nvPr/>
        </p:nvCxnSpPr>
        <p:spPr>
          <a:xfrm flipV="1">
            <a:off x="4621579" y="766482"/>
            <a:ext cx="6136" cy="5976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9" name="lag_cost_85" descr="Editable line; source id lag_cost_85"/>
          <p:cNvCxnSpPr/>
          <p:nvPr/>
        </p:nvCxnSpPr>
        <p:spPr>
          <a:xfrm>
            <a:off x="4627715" y="766482"/>
            <a:ext cx="6135" cy="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0" name="lag_cost_86" descr="Editable line; source id lag_cost_86"/>
          <p:cNvCxnSpPr/>
          <p:nvPr/>
        </p:nvCxnSpPr>
        <p:spPr>
          <a:xfrm>
            <a:off x="4633850" y="766482"/>
            <a:ext cx="6136" cy="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1" name="lag_cost_87" descr="Editable line; source id lag_cost_87"/>
          <p:cNvCxnSpPr/>
          <p:nvPr/>
        </p:nvCxnSpPr>
        <p:spPr>
          <a:xfrm>
            <a:off x="4639986" y="766482"/>
            <a:ext cx="6135" cy="2988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2" name="lag_cost_88" descr="Editable line; source id lag_cost_88"/>
          <p:cNvCxnSpPr/>
          <p:nvPr/>
        </p:nvCxnSpPr>
        <p:spPr>
          <a:xfrm>
            <a:off x="4646121" y="769470"/>
            <a:ext cx="6136" cy="2988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3" name="lag_cost_89" descr="Editable line; source id lag_cost_89"/>
          <p:cNvCxnSpPr/>
          <p:nvPr/>
        </p:nvCxnSpPr>
        <p:spPr>
          <a:xfrm>
            <a:off x="4652257" y="772458"/>
            <a:ext cx="6135" cy="896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4" name="lag_cost_90" descr="Editable line; source id lag_cost_90"/>
          <p:cNvCxnSpPr/>
          <p:nvPr/>
        </p:nvCxnSpPr>
        <p:spPr>
          <a:xfrm>
            <a:off x="4658392" y="781423"/>
            <a:ext cx="6136" cy="5977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5" name="lag_cost_91" descr="Editable line; source id lag_cost_91"/>
          <p:cNvCxnSpPr/>
          <p:nvPr/>
        </p:nvCxnSpPr>
        <p:spPr>
          <a:xfrm>
            <a:off x="4664528" y="787400"/>
            <a:ext cx="6136" cy="11952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6" name="lag_cost_92" descr="Editable line; source id lag_cost_92"/>
          <p:cNvCxnSpPr/>
          <p:nvPr/>
        </p:nvCxnSpPr>
        <p:spPr>
          <a:xfrm>
            <a:off x="4670664" y="799352"/>
            <a:ext cx="6135" cy="896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" name="lag_cost_93" descr="Editable line; source id lag_cost_93"/>
          <p:cNvCxnSpPr/>
          <p:nvPr/>
        </p:nvCxnSpPr>
        <p:spPr>
          <a:xfrm>
            <a:off x="4676799" y="808317"/>
            <a:ext cx="6136" cy="14941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8" name="lag_cost_94" descr="Editable line; source id lag_cost_94"/>
          <p:cNvCxnSpPr/>
          <p:nvPr/>
        </p:nvCxnSpPr>
        <p:spPr>
          <a:xfrm>
            <a:off x="4682935" y="823258"/>
            <a:ext cx="6135" cy="14942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9" name="lag_cost_95" descr="Editable line; source id lag_cost_95"/>
          <p:cNvCxnSpPr/>
          <p:nvPr/>
        </p:nvCxnSpPr>
        <p:spPr>
          <a:xfrm>
            <a:off x="4689070" y="838200"/>
            <a:ext cx="6136" cy="14941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0" name="lag_cost_96" descr="Editable line; source id lag_cost_96"/>
          <p:cNvCxnSpPr/>
          <p:nvPr/>
        </p:nvCxnSpPr>
        <p:spPr>
          <a:xfrm>
            <a:off x="4695206" y="853141"/>
            <a:ext cx="6136" cy="14941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1" name="lag_cost_97" descr="Editable line; source id lag_cost_97"/>
          <p:cNvCxnSpPr/>
          <p:nvPr/>
        </p:nvCxnSpPr>
        <p:spPr>
          <a:xfrm>
            <a:off x="4701342" y="868082"/>
            <a:ext cx="6135" cy="17929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2" name="lag_cost_98" descr="Editable line; source id lag_cost_98"/>
          <p:cNvCxnSpPr/>
          <p:nvPr/>
        </p:nvCxnSpPr>
        <p:spPr>
          <a:xfrm>
            <a:off x="4707477" y="886011"/>
            <a:ext cx="6136" cy="14941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3" name="lag_cost_99" descr="Editable line; source id lag_cost_99"/>
          <p:cNvCxnSpPr/>
          <p:nvPr/>
        </p:nvCxnSpPr>
        <p:spPr>
          <a:xfrm>
            <a:off x="4713613" y="900952"/>
            <a:ext cx="6135" cy="1793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4" name="lag_cost_100" descr="Editable line; source id lag_cost_100"/>
          <p:cNvCxnSpPr/>
          <p:nvPr/>
        </p:nvCxnSpPr>
        <p:spPr>
          <a:xfrm>
            <a:off x="4719748" y="918882"/>
            <a:ext cx="6136" cy="17929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5" name="lag_cost_101" descr="Editable line; source id lag_cost_101"/>
          <p:cNvCxnSpPr/>
          <p:nvPr/>
        </p:nvCxnSpPr>
        <p:spPr>
          <a:xfrm>
            <a:off x="4725884" y="936811"/>
            <a:ext cx="6136" cy="14941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6" name="lag_cost_102" descr="Editable line; source id lag_cost_102"/>
          <p:cNvCxnSpPr/>
          <p:nvPr/>
        </p:nvCxnSpPr>
        <p:spPr>
          <a:xfrm>
            <a:off x="4732020" y="951752"/>
            <a:ext cx="8180" cy="38848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7" name="lag_cost_103" descr="Editable line; source id lag_cost_103"/>
          <p:cNvCxnSpPr/>
          <p:nvPr/>
        </p:nvCxnSpPr>
        <p:spPr>
          <a:xfrm>
            <a:off x="4740200" y="990600"/>
            <a:ext cx="6136" cy="11952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8" name="lag_cost_104" descr="Editable line; source id lag_cost_104"/>
          <p:cNvCxnSpPr/>
          <p:nvPr/>
        </p:nvCxnSpPr>
        <p:spPr>
          <a:xfrm>
            <a:off x="4746336" y="1002552"/>
            <a:ext cx="6135" cy="1793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9" name="lag_cost_105" descr="Editable line; source id lag_cost_105"/>
          <p:cNvCxnSpPr/>
          <p:nvPr/>
        </p:nvCxnSpPr>
        <p:spPr>
          <a:xfrm>
            <a:off x="4752471" y="1020482"/>
            <a:ext cx="6136" cy="17929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0" name="lag_cost_106" descr="Editable line; source id lag_cost_106"/>
          <p:cNvCxnSpPr/>
          <p:nvPr/>
        </p:nvCxnSpPr>
        <p:spPr>
          <a:xfrm>
            <a:off x="4758607" y="1038411"/>
            <a:ext cx="6136" cy="14941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1" name="lag_cost_107" descr="Editable line; source id lag_cost_107"/>
          <p:cNvCxnSpPr/>
          <p:nvPr/>
        </p:nvCxnSpPr>
        <p:spPr>
          <a:xfrm>
            <a:off x="4764743" y="1053352"/>
            <a:ext cx="6135" cy="14942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2" name="lag_cost_108" descr="Editable line; source id lag_cost_108"/>
          <p:cNvCxnSpPr/>
          <p:nvPr/>
        </p:nvCxnSpPr>
        <p:spPr>
          <a:xfrm>
            <a:off x="4770878" y="1068294"/>
            <a:ext cx="6136" cy="11953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3" name="lag_cost_109" descr="Editable line; source id lag_cost_109"/>
          <p:cNvCxnSpPr/>
          <p:nvPr/>
        </p:nvCxnSpPr>
        <p:spPr>
          <a:xfrm>
            <a:off x="4777014" y="1080247"/>
            <a:ext cx="6135" cy="8964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4" name="lag_cost_110" descr="Editable line; source id lag_cost_110"/>
          <p:cNvCxnSpPr/>
          <p:nvPr/>
        </p:nvCxnSpPr>
        <p:spPr>
          <a:xfrm>
            <a:off x="4783149" y="1089211"/>
            <a:ext cx="6136" cy="11953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5" name="lag_cost_111" descr="Editable line; source id lag_cost_111"/>
          <p:cNvCxnSpPr/>
          <p:nvPr/>
        </p:nvCxnSpPr>
        <p:spPr>
          <a:xfrm>
            <a:off x="4789285" y="1101164"/>
            <a:ext cx="6136" cy="5977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6" name="lag_cost_112" descr="Editable line; source id lag_cost_112"/>
          <p:cNvCxnSpPr/>
          <p:nvPr/>
        </p:nvCxnSpPr>
        <p:spPr>
          <a:xfrm>
            <a:off x="4795421" y="1107141"/>
            <a:ext cx="6135" cy="2988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7" name="lag_cost_113" descr="Editable line; source id lag_cost_113"/>
          <p:cNvCxnSpPr/>
          <p:nvPr/>
        </p:nvCxnSpPr>
        <p:spPr>
          <a:xfrm>
            <a:off x="4801556" y="1110129"/>
            <a:ext cx="6136" cy="2988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8" name="lag_cost_114" descr="Editable line; source id lag_cost_114"/>
          <p:cNvCxnSpPr/>
          <p:nvPr/>
        </p:nvCxnSpPr>
        <p:spPr>
          <a:xfrm flipV="1">
            <a:off x="4807692" y="1110129"/>
            <a:ext cx="6135" cy="2988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9" name="lag_cost_115" descr="Editable line; source id lag_cost_115"/>
          <p:cNvCxnSpPr/>
          <p:nvPr/>
        </p:nvCxnSpPr>
        <p:spPr>
          <a:xfrm>
            <a:off x="4813827" y="1110129"/>
            <a:ext cx="6136" cy="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0" name="lag_cost_116" descr="Editable line; source id lag_cost_116"/>
          <p:cNvCxnSpPr/>
          <p:nvPr/>
        </p:nvCxnSpPr>
        <p:spPr>
          <a:xfrm flipV="1">
            <a:off x="4819963" y="1104152"/>
            <a:ext cx="6135" cy="5977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1" name="lag_cost_117" descr="Editable line; source id lag_cost_117"/>
          <p:cNvCxnSpPr/>
          <p:nvPr/>
        </p:nvCxnSpPr>
        <p:spPr>
          <a:xfrm flipV="1">
            <a:off x="4826098" y="1098176"/>
            <a:ext cx="6136" cy="5976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2" name="lag_cost_118" descr="Editable line; source id lag_cost_118"/>
          <p:cNvCxnSpPr/>
          <p:nvPr/>
        </p:nvCxnSpPr>
        <p:spPr>
          <a:xfrm flipV="1">
            <a:off x="4832234" y="1089211"/>
            <a:ext cx="6136" cy="896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3" name="lag_cost_119" descr="Editable line; source id lag_cost_119"/>
          <p:cNvCxnSpPr/>
          <p:nvPr/>
        </p:nvCxnSpPr>
        <p:spPr>
          <a:xfrm flipV="1">
            <a:off x="4838370" y="1077258"/>
            <a:ext cx="6135" cy="11953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4" name="lag_cost_120" descr="Editable line; source id lag_cost_120"/>
          <p:cNvCxnSpPr/>
          <p:nvPr/>
        </p:nvCxnSpPr>
        <p:spPr>
          <a:xfrm flipV="1">
            <a:off x="4844505" y="1068294"/>
            <a:ext cx="6136" cy="8964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5" name="lag_cost_121" descr="Editable line; source id lag_cost_121"/>
          <p:cNvCxnSpPr/>
          <p:nvPr/>
        </p:nvCxnSpPr>
        <p:spPr>
          <a:xfrm flipV="1">
            <a:off x="4850641" y="1056341"/>
            <a:ext cx="6135" cy="11953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6" name="lag_cost_122" descr="Editable line; source id lag_cost_122"/>
          <p:cNvCxnSpPr/>
          <p:nvPr/>
        </p:nvCxnSpPr>
        <p:spPr>
          <a:xfrm flipV="1">
            <a:off x="4856776" y="1044388"/>
            <a:ext cx="6136" cy="11953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7" name="lag_cost_123" descr="Editable line; source id lag_cost_123"/>
          <p:cNvCxnSpPr/>
          <p:nvPr/>
        </p:nvCxnSpPr>
        <p:spPr>
          <a:xfrm flipV="1">
            <a:off x="4862912" y="1032435"/>
            <a:ext cx="6136" cy="11953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8" name="lag_cost_124" descr="Editable line; source id lag_cost_124"/>
          <p:cNvCxnSpPr/>
          <p:nvPr/>
        </p:nvCxnSpPr>
        <p:spPr>
          <a:xfrm flipV="1">
            <a:off x="4869048" y="1017494"/>
            <a:ext cx="6135" cy="14941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9" name="lag_cost_125" descr="Editable line; source id lag_cost_125"/>
          <p:cNvCxnSpPr/>
          <p:nvPr/>
        </p:nvCxnSpPr>
        <p:spPr>
          <a:xfrm flipV="1">
            <a:off x="4875183" y="1008529"/>
            <a:ext cx="6136" cy="896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0" name="lag_cost_126" descr="Editable line; source id lag_cost_126"/>
          <p:cNvCxnSpPr/>
          <p:nvPr/>
        </p:nvCxnSpPr>
        <p:spPr>
          <a:xfrm flipV="1">
            <a:off x="4881319" y="1005541"/>
            <a:ext cx="2045" cy="2988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1" name="lag_price_0" descr="Editable line; source id lag_price_0"/>
          <p:cNvCxnSpPr/>
          <p:nvPr/>
        </p:nvCxnSpPr>
        <p:spPr>
          <a:xfrm flipV="1">
            <a:off x="4102100" y="1393451"/>
            <a:ext cx="6135" cy="2708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2" name="lag_price_1" descr="Editable line; source id lag_price_1"/>
          <p:cNvCxnSpPr/>
          <p:nvPr/>
        </p:nvCxnSpPr>
        <p:spPr>
          <a:xfrm flipV="1">
            <a:off x="4108235" y="1388035"/>
            <a:ext cx="6136" cy="5416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3" name="lag_price_2" descr="Editable line; source id lag_price_2"/>
          <p:cNvCxnSpPr/>
          <p:nvPr/>
        </p:nvCxnSpPr>
        <p:spPr>
          <a:xfrm flipV="1">
            <a:off x="4114371" y="1385327"/>
            <a:ext cx="6135" cy="2708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" name="lag_price_3" descr="Editable line; source id lag_price_3"/>
          <p:cNvCxnSpPr/>
          <p:nvPr/>
        </p:nvCxnSpPr>
        <p:spPr>
          <a:xfrm flipV="1">
            <a:off x="4120506" y="1374494"/>
            <a:ext cx="18407" cy="10833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5" name="lag_price_4" descr="Editable line; source id lag_price_4"/>
          <p:cNvCxnSpPr/>
          <p:nvPr/>
        </p:nvCxnSpPr>
        <p:spPr>
          <a:xfrm>
            <a:off x="4138913" y="1374494"/>
            <a:ext cx="6136" cy="0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6" name="lag_price_5" descr="Editable line; source id lag_price_5"/>
          <p:cNvCxnSpPr/>
          <p:nvPr/>
        </p:nvCxnSpPr>
        <p:spPr>
          <a:xfrm flipV="1">
            <a:off x="4145049" y="1371786"/>
            <a:ext cx="6135" cy="2708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7" name="lag_price_6" descr="Editable line; source id lag_price_6"/>
          <p:cNvCxnSpPr/>
          <p:nvPr/>
        </p:nvCxnSpPr>
        <p:spPr>
          <a:xfrm flipV="1">
            <a:off x="4151184" y="1369078"/>
            <a:ext cx="6136" cy="2708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8" name="lag_price_7" descr="Editable line; source id lag_price_7"/>
          <p:cNvCxnSpPr/>
          <p:nvPr/>
        </p:nvCxnSpPr>
        <p:spPr>
          <a:xfrm>
            <a:off x="4157320" y="1369078"/>
            <a:ext cx="6135" cy="0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9" name="lag_price_8" descr="Editable line; source id lag_price_8"/>
          <p:cNvCxnSpPr/>
          <p:nvPr/>
        </p:nvCxnSpPr>
        <p:spPr>
          <a:xfrm flipV="1">
            <a:off x="4163455" y="1360954"/>
            <a:ext cx="20452" cy="8124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0" name="lag_price_9" descr="Editable line; source id lag_price_9"/>
          <p:cNvCxnSpPr/>
          <p:nvPr/>
        </p:nvCxnSpPr>
        <p:spPr>
          <a:xfrm>
            <a:off x="4183907" y="1360954"/>
            <a:ext cx="6136" cy="0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1" name="lag_price_10" descr="Editable line; source id lag_price_10"/>
          <p:cNvCxnSpPr/>
          <p:nvPr/>
        </p:nvCxnSpPr>
        <p:spPr>
          <a:xfrm flipV="1">
            <a:off x="4190043" y="1358246"/>
            <a:ext cx="6135" cy="2708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2" name="lag_price_11" descr="Editable line; source id lag_price_11"/>
          <p:cNvCxnSpPr/>
          <p:nvPr/>
        </p:nvCxnSpPr>
        <p:spPr>
          <a:xfrm>
            <a:off x="4196178" y="1358246"/>
            <a:ext cx="6136" cy="0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3" name="lag_price_12" descr="Editable line; source id lag_price_12"/>
          <p:cNvCxnSpPr/>
          <p:nvPr/>
        </p:nvCxnSpPr>
        <p:spPr>
          <a:xfrm>
            <a:off x="4202314" y="1358246"/>
            <a:ext cx="6136" cy="2708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4" name="lag_price_13" descr="Editable line; source id lag_price_13"/>
          <p:cNvCxnSpPr/>
          <p:nvPr/>
        </p:nvCxnSpPr>
        <p:spPr>
          <a:xfrm>
            <a:off x="4208450" y="1360954"/>
            <a:ext cx="20452" cy="0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5" name="lag_price_14" descr="Editable line; source id lag_price_14"/>
          <p:cNvCxnSpPr/>
          <p:nvPr/>
        </p:nvCxnSpPr>
        <p:spPr>
          <a:xfrm>
            <a:off x="4228902" y="1360954"/>
            <a:ext cx="6135" cy="0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6" name="lag_price_15" descr="Editable line; source id lag_price_15"/>
          <p:cNvCxnSpPr/>
          <p:nvPr/>
        </p:nvCxnSpPr>
        <p:spPr>
          <a:xfrm>
            <a:off x="4235037" y="1360954"/>
            <a:ext cx="6136" cy="0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7" name="lag_price_16" descr="Editable line; source id lag_price_16"/>
          <p:cNvCxnSpPr/>
          <p:nvPr/>
        </p:nvCxnSpPr>
        <p:spPr>
          <a:xfrm>
            <a:off x="4241173" y="1360954"/>
            <a:ext cx="6135" cy="2708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8" name="lag_price_17" descr="Editable line; source id lag_price_17"/>
          <p:cNvCxnSpPr/>
          <p:nvPr/>
        </p:nvCxnSpPr>
        <p:spPr>
          <a:xfrm>
            <a:off x="4247308" y="1363662"/>
            <a:ext cx="20452" cy="5416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9" name="lag_price_18" descr="Editable line; source id lag_price_18"/>
          <p:cNvCxnSpPr/>
          <p:nvPr/>
        </p:nvCxnSpPr>
        <p:spPr>
          <a:xfrm flipV="1">
            <a:off x="4267760" y="1366370"/>
            <a:ext cx="6136" cy="2708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0" name="lag_price_19" descr="Editable line; source id lag_price_19"/>
          <p:cNvCxnSpPr/>
          <p:nvPr/>
        </p:nvCxnSpPr>
        <p:spPr>
          <a:xfrm>
            <a:off x="4273896" y="1366370"/>
            <a:ext cx="6135" cy="2708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1" name="lag_price_20" descr="Editable line; source id lag_price_20"/>
          <p:cNvCxnSpPr/>
          <p:nvPr/>
        </p:nvCxnSpPr>
        <p:spPr>
          <a:xfrm>
            <a:off x="4280031" y="1369078"/>
            <a:ext cx="6136" cy="0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2" name="lag_price_21" descr="Editable line; source id lag_price_21"/>
          <p:cNvCxnSpPr/>
          <p:nvPr/>
        </p:nvCxnSpPr>
        <p:spPr>
          <a:xfrm>
            <a:off x="4286167" y="1369078"/>
            <a:ext cx="6136" cy="0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3" name="lag_price_22" descr="Editable line; source id lag_price_22"/>
          <p:cNvCxnSpPr/>
          <p:nvPr/>
        </p:nvCxnSpPr>
        <p:spPr>
          <a:xfrm>
            <a:off x="4292303" y="1369078"/>
            <a:ext cx="20452" cy="0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4" name="lag_price_23" descr="Editable line; source id lag_price_23"/>
          <p:cNvCxnSpPr/>
          <p:nvPr/>
        </p:nvCxnSpPr>
        <p:spPr>
          <a:xfrm>
            <a:off x="4312755" y="1369078"/>
            <a:ext cx="6135" cy="0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5" name="lag_price_24" descr="Editable line; source id lag_price_24"/>
          <p:cNvCxnSpPr/>
          <p:nvPr/>
        </p:nvCxnSpPr>
        <p:spPr>
          <a:xfrm flipV="1">
            <a:off x="4318890" y="1366370"/>
            <a:ext cx="6136" cy="2708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6" name="lag_price_25" descr="Editable line; source id lag_price_25"/>
          <p:cNvCxnSpPr/>
          <p:nvPr/>
        </p:nvCxnSpPr>
        <p:spPr>
          <a:xfrm>
            <a:off x="4325026" y="1366370"/>
            <a:ext cx="6135" cy="0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7" name="lag_price_26" descr="Editable line; source id lag_price_26"/>
          <p:cNvCxnSpPr/>
          <p:nvPr/>
        </p:nvCxnSpPr>
        <p:spPr>
          <a:xfrm flipV="1">
            <a:off x="4331161" y="1363662"/>
            <a:ext cx="6136" cy="2708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8" name="lag_price_27" descr="Editable line; source id lag_price_27"/>
          <p:cNvCxnSpPr/>
          <p:nvPr/>
        </p:nvCxnSpPr>
        <p:spPr>
          <a:xfrm flipV="1">
            <a:off x="4337297" y="1358246"/>
            <a:ext cx="18407" cy="5416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9" name="lag_price_28" descr="Editable line; source id lag_price_28"/>
          <p:cNvCxnSpPr/>
          <p:nvPr/>
        </p:nvCxnSpPr>
        <p:spPr>
          <a:xfrm flipV="1">
            <a:off x="4355704" y="1355538"/>
            <a:ext cx="6135" cy="2708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0" name="lag_price_29" descr="Editable line; source id lag_price_29"/>
          <p:cNvCxnSpPr/>
          <p:nvPr/>
        </p:nvCxnSpPr>
        <p:spPr>
          <a:xfrm flipV="1">
            <a:off x="4361839" y="1352830"/>
            <a:ext cx="6136" cy="2708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1" name="lag_price_30" descr="Editable line; source id lag_price_30"/>
          <p:cNvCxnSpPr/>
          <p:nvPr/>
        </p:nvCxnSpPr>
        <p:spPr>
          <a:xfrm flipV="1">
            <a:off x="4367975" y="1347413"/>
            <a:ext cx="6135" cy="5417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2" name="lag_price_31" descr="Editable line; source id lag_price_31"/>
          <p:cNvCxnSpPr/>
          <p:nvPr/>
        </p:nvCxnSpPr>
        <p:spPr>
          <a:xfrm>
            <a:off x="4374110" y="1347413"/>
            <a:ext cx="6136" cy="0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3" name="lag_price_32" descr="Editable line; source id lag_price_32"/>
          <p:cNvCxnSpPr/>
          <p:nvPr/>
        </p:nvCxnSpPr>
        <p:spPr>
          <a:xfrm flipV="1">
            <a:off x="4380246" y="1333873"/>
            <a:ext cx="18407" cy="13540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4" name="lag_price_33" descr="Editable line; source id lag_price_33"/>
          <p:cNvCxnSpPr/>
          <p:nvPr/>
        </p:nvCxnSpPr>
        <p:spPr>
          <a:xfrm flipV="1">
            <a:off x="4398653" y="1314916"/>
            <a:ext cx="18407" cy="18957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5" name="lag_price_34" descr="Editable line; source id lag_price_34"/>
          <p:cNvCxnSpPr/>
          <p:nvPr/>
        </p:nvCxnSpPr>
        <p:spPr>
          <a:xfrm flipV="1">
            <a:off x="4417060" y="1293252"/>
            <a:ext cx="16361" cy="21664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6" name="lag_price_35" descr="Editable line; source id lag_price_35"/>
          <p:cNvCxnSpPr/>
          <p:nvPr/>
        </p:nvCxnSpPr>
        <p:spPr>
          <a:xfrm flipV="1">
            <a:off x="4433421" y="1285127"/>
            <a:ext cx="6136" cy="8125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7" name="lag_price_36" descr="Editable line; source id lag_price_36"/>
          <p:cNvCxnSpPr/>
          <p:nvPr/>
        </p:nvCxnSpPr>
        <p:spPr>
          <a:xfrm flipV="1">
            <a:off x="4439557" y="1274295"/>
            <a:ext cx="6135" cy="10832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8" name="lag_price_37" descr="Editable line; source id lag_price_37"/>
          <p:cNvCxnSpPr/>
          <p:nvPr/>
        </p:nvCxnSpPr>
        <p:spPr>
          <a:xfrm flipV="1">
            <a:off x="4445692" y="1268879"/>
            <a:ext cx="6136" cy="5416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9" name="lag_price_38" descr="Editable line; source id lag_price_38"/>
          <p:cNvCxnSpPr/>
          <p:nvPr/>
        </p:nvCxnSpPr>
        <p:spPr>
          <a:xfrm flipV="1">
            <a:off x="4451828" y="1241798"/>
            <a:ext cx="12271" cy="27081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0" name="lag_price_39" descr="Editable line; source id lag_price_39"/>
          <p:cNvCxnSpPr/>
          <p:nvPr/>
        </p:nvCxnSpPr>
        <p:spPr>
          <a:xfrm flipV="1">
            <a:off x="4464099" y="1230966"/>
            <a:ext cx="6136" cy="10832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1" name="lag_price_40" descr="Editable line; source id lag_price_40"/>
          <p:cNvCxnSpPr/>
          <p:nvPr/>
        </p:nvCxnSpPr>
        <p:spPr>
          <a:xfrm flipV="1">
            <a:off x="4470235" y="1220133"/>
            <a:ext cx="6135" cy="10833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2" name="lag_price_41" descr="Editable line; source id lag_price_41"/>
          <p:cNvCxnSpPr/>
          <p:nvPr/>
        </p:nvCxnSpPr>
        <p:spPr>
          <a:xfrm flipV="1">
            <a:off x="4476370" y="1193052"/>
            <a:ext cx="14317" cy="27081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3" name="lag_price_42" descr="Editable line; source id lag_price_42"/>
          <p:cNvCxnSpPr/>
          <p:nvPr/>
        </p:nvCxnSpPr>
        <p:spPr>
          <a:xfrm flipV="1">
            <a:off x="4490687" y="1182220"/>
            <a:ext cx="6135" cy="10832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4" name="lag_price_43" descr="Editable line; source id lag_price_43"/>
          <p:cNvCxnSpPr/>
          <p:nvPr/>
        </p:nvCxnSpPr>
        <p:spPr>
          <a:xfrm flipV="1">
            <a:off x="4496822" y="1171388"/>
            <a:ext cx="6136" cy="10832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5" name="lag_price_44" descr="Editable line; source id lag_price_44"/>
          <p:cNvCxnSpPr/>
          <p:nvPr/>
        </p:nvCxnSpPr>
        <p:spPr>
          <a:xfrm flipV="1">
            <a:off x="4502958" y="1147015"/>
            <a:ext cx="10226" cy="24373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6" name="lag_price_45" descr="Editable line; source id lag_price_45"/>
          <p:cNvCxnSpPr/>
          <p:nvPr/>
        </p:nvCxnSpPr>
        <p:spPr>
          <a:xfrm flipV="1">
            <a:off x="4513184" y="1138891"/>
            <a:ext cx="6135" cy="8124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7" name="lag_price_46" descr="Editable line; source id lag_price_46"/>
          <p:cNvCxnSpPr/>
          <p:nvPr/>
        </p:nvCxnSpPr>
        <p:spPr>
          <a:xfrm flipV="1">
            <a:off x="4519319" y="1128058"/>
            <a:ext cx="6136" cy="10833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8" name="lag_price_47" descr="Editable line; source id lag_price_47"/>
          <p:cNvCxnSpPr/>
          <p:nvPr/>
        </p:nvCxnSpPr>
        <p:spPr>
          <a:xfrm flipV="1">
            <a:off x="4525455" y="1103686"/>
            <a:ext cx="12271" cy="24372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9" name="lag_price_48" descr="Editable line; source id lag_price_48"/>
          <p:cNvCxnSpPr/>
          <p:nvPr/>
        </p:nvCxnSpPr>
        <p:spPr>
          <a:xfrm flipV="1">
            <a:off x="4537726" y="1098269"/>
            <a:ext cx="6136" cy="5417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0" name="lag_price_49" descr="Editable line; source id lag_price_49"/>
          <p:cNvCxnSpPr/>
          <p:nvPr/>
        </p:nvCxnSpPr>
        <p:spPr>
          <a:xfrm flipV="1">
            <a:off x="4543862" y="1087437"/>
            <a:ext cx="6135" cy="10832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1" name="lag_price_50" descr="Editable line; source id lag_price_50"/>
          <p:cNvCxnSpPr/>
          <p:nvPr/>
        </p:nvCxnSpPr>
        <p:spPr>
          <a:xfrm flipV="1">
            <a:off x="4549997" y="1082021"/>
            <a:ext cx="6136" cy="5416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2" name="lag_price_51" descr="Editable line; source id lag_price_51"/>
          <p:cNvCxnSpPr/>
          <p:nvPr/>
        </p:nvCxnSpPr>
        <p:spPr>
          <a:xfrm flipV="1">
            <a:off x="4556133" y="1063064"/>
            <a:ext cx="18407" cy="18957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3" name="lag_price_52" descr="Editable line; source id lag_price_52"/>
          <p:cNvCxnSpPr/>
          <p:nvPr/>
        </p:nvCxnSpPr>
        <p:spPr>
          <a:xfrm flipV="1">
            <a:off x="4574540" y="1057648"/>
            <a:ext cx="6135" cy="5416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4" name="lag_price_53" descr="Editable line; source id lag_price_53"/>
          <p:cNvCxnSpPr/>
          <p:nvPr/>
        </p:nvCxnSpPr>
        <p:spPr>
          <a:xfrm flipV="1">
            <a:off x="4580675" y="1052232"/>
            <a:ext cx="6136" cy="5416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5" name="lag_price_54" descr="Editable line; source id lag_price_54"/>
          <p:cNvCxnSpPr/>
          <p:nvPr/>
        </p:nvCxnSpPr>
        <p:spPr>
          <a:xfrm flipV="1">
            <a:off x="4586811" y="1049524"/>
            <a:ext cx="6135" cy="2708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6" name="lag_price_55" descr="Editable line; source id lag_price_55"/>
          <p:cNvCxnSpPr/>
          <p:nvPr/>
        </p:nvCxnSpPr>
        <p:spPr>
          <a:xfrm flipV="1">
            <a:off x="4592946" y="1044108"/>
            <a:ext cx="22497" cy="5416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7" name="lag_price_56" descr="Editable line; source id lag_price_56"/>
          <p:cNvCxnSpPr/>
          <p:nvPr/>
        </p:nvCxnSpPr>
        <p:spPr>
          <a:xfrm>
            <a:off x="4615443" y="1044108"/>
            <a:ext cx="6136" cy="0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8" name="lag_price_57" descr="Editable line; source id lag_price_57"/>
          <p:cNvCxnSpPr/>
          <p:nvPr/>
        </p:nvCxnSpPr>
        <p:spPr>
          <a:xfrm>
            <a:off x="4621579" y="1044108"/>
            <a:ext cx="6136" cy="0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9" name="lag_price_58" descr="Editable line; source id lag_price_58"/>
          <p:cNvCxnSpPr/>
          <p:nvPr/>
        </p:nvCxnSpPr>
        <p:spPr>
          <a:xfrm>
            <a:off x="4627715" y="1044108"/>
            <a:ext cx="6135" cy="2708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0" name="lag_price_59" descr="Editable line; source id lag_price_59"/>
          <p:cNvCxnSpPr/>
          <p:nvPr/>
        </p:nvCxnSpPr>
        <p:spPr>
          <a:xfrm>
            <a:off x="4633850" y="1046816"/>
            <a:ext cx="6136" cy="2708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1" name="lag_price_60" descr="Editable line; source id lag_price_60"/>
          <p:cNvCxnSpPr/>
          <p:nvPr/>
        </p:nvCxnSpPr>
        <p:spPr>
          <a:xfrm>
            <a:off x="4639986" y="1049524"/>
            <a:ext cx="18406" cy="13540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2" name="lag_price_61" descr="Editable line; source id lag_price_61"/>
          <p:cNvCxnSpPr/>
          <p:nvPr/>
        </p:nvCxnSpPr>
        <p:spPr>
          <a:xfrm>
            <a:off x="4658392" y="1063064"/>
            <a:ext cx="6136" cy="2708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3" name="lag_price_62" descr="Editable line; source id lag_price_62"/>
          <p:cNvCxnSpPr/>
          <p:nvPr/>
        </p:nvCxnSpPr>
        <p:spPr>
          <a:xfrm>
            <a:off x="4664528" y="1065772"/>
            <a:ext cx="6136" cy="5416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4" name="lag_price_63" descr="Editable line; source id lag_price_63"/>
          <p:cNvCxnSpPr/>
          <p:nvPr/>
        </p:nvCxnSpPr>
        <p:spPr>
          <a:xfrm>
            <a:off x="4670664" y="1071188"/>
            <a:ext cx="6135" cy="5417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5" name="lag_price_64" descr="Editable line; source id lag_price_64"/>
          <p:cNvCxnSpPr/>
          <p:nvPr/>
        </p:nvCxnSpPr>
        <p:spPr>
          <a:xfrm>
            <a:off x="4676799" y="1076605"/>
            <a:ext cx="6136" cy="0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6" name="lag_price_65" descr="Editable line; source id lag_price_65"/>
          <p:cNvCxnSpPr/>
          <p:nvPr/>
        </p:nvCxnSpPr>
        <p:spPr>
          <a:xfrm>
            <a:off x="4682935" y="1076605"/>
            <a:ext cx="16361" cy="18956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7" name="lag_price_66" descr="Editable line; source id lag_price_66"/>
          <p:cNvCxnSpPr/>
          <p:nvPr/>
        </p:nvCxnSpPr>
        <p:spPr>
          <a:xfrm>
            <a:off x="4699296" y="1095561"/>
            <a:ext cx="6136" cy="5416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8" name="lag_price_67" descr="Editable line; source id lag_price_67"/>
          <p:cNvCxnSpPr/>
          <p:nvPr/>
        </p:nvCxnSpPr>
        <p:spPr>
          <a:xfrm>
            <a:off x="4705432" y="1100977"/>
            <a:ext cx="6136" cy="8125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9" name="lag_price_68" descr="Editable line; source id lag_price_68"/>
          <p:cNvCxnSpPr/>
          <p:nvPr/>
        </p:nvCxnSpPr>
        <p:spPr>
          <a:xfrm>
            <a:off x="4711568" y="1109102"/>
            <a:ext cx="6135" cy="2708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0" name="lag_price_69" descr="Editable line; source id lag_price_69"/>
          <p:cNvCxnSpPr/>
          <p:nvPr/>
        </p:nvCxnSpPr>
        <p:spPr>
          <a:xfrm>
            <a:off x="4717703" y="1111810"/>
            <a:ext cx="18407" cy="13540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1" name="lag_price_70" descr="Editable line; source id lag_price_70"/>
          <p:cNvCxnSpPr/>
          <p:nvPr/>
        </p:nvCxnSpPr>
        <p:spPr>
          <a:xfrm>
            <a:off x="4736110" y="1125350"/>
            <a:ext cx="6135" cy="5416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2" name="lag_price_71" descr="Editable line; source id lag_price_71"/>
          <p:cNvCxnSpPr/>
          <p:nvPr/>
        </p:nvCxnSpPr>
        <p:spPr>
          <a:xfrm>
            <a:off x="4742245" y="1130766"/>
            <a:ext cx="6136" cy="2709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3" name="lag_price_72" descr="Editable line; source id lag_price_72"/>
          <p:cNvCxnSpPr/>
          <p:nvPr/>
        </p:nvCxnSpPr>
        <p:spPr>
          <a:xfrm>
            <a:off x="4748381" y="1133475"/>
            <a:ext cx="6136" cy="5416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4" name="lag_price_73" descr="Editable line; source id lag_price_73"/>
          <p:cNvCxnSpPr/>
          <p:nvPr/>
        </p:nvCxnSpPr>
        <p:spPr>
          <a:xfrm>
            <a:off x="4754517" y="1138891"/>
            <a:ext cx="22497" cy="8124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5" name="lag_price_74" descr="Editable line; source id lag_price_74"/>
          <p:cNvCxnSpPr/>
          <p:nvPr/>
        </p:nvCxnSpPr>
        <p:spPr>
          <a:xfrm>
            <a:off x="4777014" y="1147015"/>
            <a:ext cx="6135" cy="2708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6" name="lag_price_75" descr="Editable line; source id lag_price_75"/>
          <p:cNvCxnSpPr/>
          <p:nvPr/>
        </p:nvCxnSpPr>
        <p:spPr>
          <a:xfrm>
            <a:off x="4783149" y="1149723"/>
            <a:ext cx="6136" cy="0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7" name="lag_price_76" descr="Editable line; source id lag_price_76"/>
          <p:cNvCxnSpPr/>
          <p:nvPr/>
        </p:nvCxnSpPr>
        <p:spPr>
          <a:xfrm>
            <a:off x="4789285" y="1149723"/>
            <a:ext cx="6136" cy="2708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8" name="lag_price_77" descr="Editable line; source id lag_price_77"/>
          <p:cNvCxnSpPr/>
          <p:nvPr/>
        </p:nvCxnSpPr>
        <p:spPr>
          <a:xfrm>
            <a:off x="4795421" y="1152431"/>
            <a:ext cx="6135" cy="0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9" name="lag_price_78" descr="Editable line; source id lag_price_78"/>
          <p:cNvCxnSpPr/>
          <p:nvPr/>
        </p:nvCxnSpPr>
        <p:spPr>
          <a:xfrm>
            <a:off x="4801556" y="1152431"/>
            <a:ext cx="20452" cy="0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0" name="lag_price_79" descr="Editable line; source id lag_price_79"/>
          <p:cNvCxnSpPr/>
          <p:nvPr/>
        </p:nvCxnSpPr>
        <p:spPr>
          <a:xfrm>
            <a:off x="4822008" y="1152431"/>
            <a:ext cx="6136" cy="0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1" name="lag_price_80" descr="Editable line; source id lag_price_80"/>
          <p:cNvCxnSpPr/>
          <p:nvPr/>
        </p:nvCxnSpPr>
        <p:spPr>
          <a:xfrm flipV="1">
            <a:off x="4828144" y="1149723"/>
            <a:ext cx="6135" cy="2708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2" name="lag_price_81" descr="Editable line; source id lag_price_81"/>
          <p:cNvCxnSpPr/>
          <p:nvPr/>
        </p:nvCxnSpPr>
        <p:spPr>
          <a:xfrm>
            <a:off x="4834279" y="1149723"/>
            <a:ext cx="6136" cy="0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3" name="lag_price_82" descr="Editable line; source id lag_price_82"/>
          <p:cNvCxnSpPr/>
          <p:nvPr/>
        </p:nvCxnSpPr>
        <p:spPr>
          <a:xfrm flipV="1">
            <a:off x="4840415" y="1147015"/>
            <a:ext cx="6135" cy="2708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4" name="lag_price_83" descr="Editable line; source id lag_price_83"/>
          <p:cNvCxnSpPr/>
          <p:nvPr/>
        </p:nvCxnSpPr>
        <p:spPr>
          <a:xfrm flipV="1">
            <a:off x="4846550" y="1138891"/>
            <a:ext cx="20452" cy="8124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5" name="lag_price_84" descr="Editable line; source id lag_price_84"/>
          <p:cNvCxnSpPr/>
          <p:nvPr/>
        </p:nvCxnSpPr>
        <p:spPr>
          <a:xfrm>
            <a:off x="4867002" y="1138891"/>
            <a:ext cx="6136" cy="0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6" name="lag_price_85" descr="Editable line; source id lag_price_85"/>
          <p:cNvCxnSpPr/>
          <p:nvPr/>
        </p:nvCxnSpPr>
        <p:spPr>
          <a:xfrm flipV="1">
            <a:off x="4873138" y="1133475"/>
            <a:ext cx="6136" cy="5416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7" name="lag_price_86" descr="Editable line; source id lag_price_86"/>
          <p:cNvCxnSpPr/>
          <p:nvPr/>
        </p:nvCxnSpPr>
        <p:spPr>
          <a:xfrm flipV="1">
            <a:off x="4879274" y="1130766"/>
            <a:ext cx="6135" cy="2709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8" name="lag_price_87" descr="Editable line; source id lag_price_87"/>
          <p:cNvCxnSpPr/>
          <p:nvPr/>
        </p:nvCxnSpPr>
        <p:spPr>
          <a:xfrm>
            <a:off x="4885409" y="1130766"/>
            <a:ext cx="2045" cy="0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9" name="l_cost" descr="Editable text; source id l_cost"/>
          <p:cNvSpPr txBox="1"/>
          <p:nvPr/>
        </p:nvSpPr>
        <p:spPr>
          <a:xfrm>
            <a:off x="4533900" y="571500"/>
            <a:ext cx="330200" cy="12700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862"/>
              </a:lnSpc>
              <a:spcBef>
                <a:spcPts val="0"/>
              </a:spcBef>
              <a:spcAft>
                <a:spcPts val="0"/>
              </a:spcAft>
              <a:defRPr sz="750" b="0" i="0" lang="zh-CN" dirty="0">
                <a:solidFill>
                  <a:srgbClr val="24343D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810" b="0" i="0" lang="zh-CN" dirty="0">
                <a:solidFill>
                  <a:srgbClr val="24343D"/>
                </a:solidFill>
                <a:latin typeface="Liberation Serif"/>
                <a:ea typeface="Liberation Serif"/>
                <a:cs typeface="Liberation Serif"/>
              </a:rPr>
              <a:t>cost</a:t>
            </a:r>
          </a:p>
        </p:txBody>
      </p:sp>
      <p:sp>
        <p:nvSpPr>
          <p:cNvPr id="400" name="l_price" descr="Editable text; source id l_price"/>
          <p:cNvSpPr txBox="1"/>
          <p:nvPr/>
        </p:nvSpPr>
        <p:spPr>
          <a:xfrm>
            <a:off x="4432300" y="1409700"/>
            <a:ext cx="381000" cy="12700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862"/>
              </a:lnSpc>
              <a:spcBef>
                <a:spcPts val="0"/>
              </a:spcBef>
              <a:spcAft>
                <a:spcPts val="0"/>
              </a:spcAft>
              <a:defRPr sz="750" b="0" i="0" lang="zh-CN" dirty="0">
                <a:solidFill>
                  <a:srgbClr val="73539B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810" b="0" i="0" lang="zh-CN" dirty="0">
                <a:solidFill>
                  <a:srgbClr val="73539B"/>
                </a:solidFill>
                <a:latin typeface="Liberation Serif"/>
                <a:ea typeface="Liberation Serif"/>
                <a:cs typeface="Liberation Serif"/>
              </a:rPr>
              <a:t>price</a:t>
            </a:r>
          </a:p>
        </p:txBody>
      </p:sp>
      <p:sp>
        <p:nvSpPr>
          <p:cNvPr id="401" name="l_training" descr="Editable text; source id l_training"/>
          <p:cNvSpPr txBox="1"/>
          <p:nvPr/>
        </p:nvSpPr>
        <p:spPr>
          <a:xfrm>
            <a:off x="4178300" y="1651000"/>
            <a:ext cx="660400" cy="12700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862"/>
              </a:lnSpc>
              <a:spcBef>
                <a:spcPts val="0"/>
              </a:spcBef>
              <a:spcAft>
                <a:spcPts val="0"/>
              </a:spcAft>
              <a:defRPr sz="750" b="0" i="0" lang="zh-CN" dirty="0">
                <a:solidFill>
                  <a:srgbClr val="24343D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810" b="0" i="0" lang="zh-CN" dirty="0">
                <a:solidFill>
                  <a:srgbClr val="24343D"/>
                </a:solidFill>
                <a:latin typeface="Liberation Serif"/>
                <a:ea typeface="Liberation Serif"/>
                <a:cs typeface="Liberation Serif"/>
              </a:rPr>
              <a:t>training</a:t>
            </a:r>
          </a:p>
        </p:txBody>
      </p:sp>
      <p:sp>
        <p:nvSpPr>
          <p:cNvPr id="402" name="unification" descr="Editable shape; source id unification"/>
          <p:cNvSpPr/>
          <p:nvPr/>
        </p:nvSpPr>
        <p:spPr>
          <a:xfrm>
            <a:off x="38100" y="2540000"/>
            <a:ext cx="4953000" cy="444500"/>
          </a:xfrm>
          <a:prstGeom prst="roundRect">
            <a:avLst>
              <a:gd name="adj" fmla="val 9375"/>
            </a:avLst>
          </a:prstGeom>
          <a:solidFill>
            <a:srgbClr val="F6FAFA"/>
          </a:solidFill>
          <a:ln w="7620">
            <a:solidFill>
              <a:srgbClr val="A6B1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4" name="hard_event_label"/>
          <p:cNvSpPr txBox="1"/>
          <p:nvPr/>
        </p:nvSpPr>
        <p:spPr>
          <a:xfrm>
            <a:off x="1765300" y="1041400"/>
            <a:ext cx="147320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0" b="0">
                <a:solidFill>
                  <a:srgbClr val="AD3C3C"/>
                </a:solidFill>
                <a:latin typeface="Liberation Serif"/>
              </a:rPr>
              <a:t>hard constraint: excluded edge</a:t>
            </a:r>
          </a:p>
        </p:txBody>
      </p:sp>
      <p:cxnSp>
        <p:nvCxnSpPr>
          <p:cNvPr id="415" name="hard_key_0"/>
          <p:cNvCxnSpPr/>
          <p:nvPr/>
        </p:nvCxnSpPr>
        <p:spPr>
          <a:xfrm>
            <a:off x="1562100" y="1117600"/>
            <a:ext cx="152400" cy="0"/>
          </a:xfrm>
          <a:prstGeom prst="line">
            <a:avLst/>
          </a:prstGeom>
          <a:ln w="8890">
            <a:solidFill>
              <a:srgbClr val="AD3C3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6" name="hard_key_x1_0"/>
          <p:cNvCxnSpPr/>
          <p:nvPr/>
        </p:nvCxnSpPr>
        <p:spPr>
          <a:xfrm>
            <a:off x="1612900" y="1092200"/>
            <a:ext cx="50800" cy="50800"/>
          </a:xfrm>
          <a:prstGeom prst="line">
            <a:avLst/>
          </a:prstGeom>
          <a:ln w="11430">
            <a:solidFill>
              <a:srgbClr val="AD3C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7" name="hard_key_x2_0"/>
          <p:cNvCxnSpPr/>
          <p:nvPr/>
        </p:nvCxnSpPr>
        <p:spPr>
          <a:xfrm flipV="1">
            <a:off x="1612900" y="1092200"/>
            <a:ext cx="50800" cy="50800"/>
          </a:xfrm>
          <a:prstGeom prst="line">
            <a:avLst/>
          </a:prstGeom>
          <a:ln w="11430">
            <a:solidFill>
              <a:srgbClr val="AD3C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8" name="graph_legend"/>
          <p:cNvSpPr txBox="1"/>
          <p:nvPr/>
        </p:nvSpPr>
        <p:spPr>
          <a:xfrm>
            <a:off x="1219200" y="1168400"/>
            <a:ext cx="2578100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0" b="0">
                <a:solidFill>
                  <a:srgbClr val="24343D"/>
                </a:solidFill>
                <a:latin typeface="Liberation Serif"/>
              </a:rPr>
              <a:t>nodes: clustered states · edges: transition flow</a:t>
            </a:r>
          </a:p>
        </p:txBody>
      </p:sp>
      <p:cxnSp>
        <p:nvCxnSpPr>
          <p:cNvPr id="419" name="duals_down_0"/>
          <p:cNvCxnSpPr/>
          <p:nvPr/>
        </p:nvCxnSpPr>
        <p:spPr>
          <a:xfrm>
            <a:off x="2476500" y="1524000"/>
            <a:ext cx="0" cy="203200"/>
          </a:xfrm>
          <a:prstGeom prst="line">
            <a:avLst/>
          </a:prstGeom>
          <a:ln w="10160">
            <a:solidFill>
              <a:srgbClr val="087F8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0" name="pre_violation"/>
          <p:cNvSpPr txBox="1"/>
          <p:nvPr/>
        </p:nvSpPr>
        <p:spPr>
          <a:xfrm>
            <a:off x="2552700" y="1524000"/>
            <a:ext cx="127000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0" b="1">
                <a:solidFill>
                  <a:srgbClr val="087F8C"/>
                </a:solidFill>
                <a:latin typeface="Liberation Serif"/>
              </a:rPr>
              <a:t>Can price before violation</a:t>
            </a:r>
          </a:p>
        </p:txBody>
      </p:sp>
      <p:cxnSp>
        <p:nvCxnSpPr>
          <p:cNvPr id="421" name="filter_to_price_0"/>
          <p:cNvCxnSpPr/>
          <p:nvPr/>
        </p:nvCxnSpPr>
        <p:spPr>
          <a:xfrm>
            <a:off x="2959100" y="1943100"/>
            <a:ext cx="0" cy="38100"/>
          </a:xfrm>
          <a:prstGeom prst="line">
            <a:avLst/>
          </a:prstGeom>
          <a:ln w="10160">
            <a:solidFill>
              <a:srgbClr val="087F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2" name="filter_to_price_1"/>
          <p:cNvCxnSpPr/>
          <p:nvPr/>
        </p:nvCxnSpPr>
        <p:spPr>
          <a:xfrm flipH="1">
            <a:off x="2311400" y="1981200"/>
            <a:ext cx="647700" cy="0"/>
          </a:xfrm>
          <a:prstGeom prst="line">
            <a:avLst/>
          </a:prstGeom>
          <a:ln w="10160">
            <a:solidFill>
              <a:srgbClr val="087F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3" name="filter_to_price_2"/>
          <p:cNvCxnSpPr/>
          <p:nvPr/>
        </p:nvCxnSpPr>
        <p:spPr>
          <a:xfrm>
            <a:off x="2311400" y="1981200"/>
            <a:ext cx="0" cy="101600"/>
          </a:xfrm>
          <a:prstGeom prst="line">
            <a:avLst/>
          </a:prstGeom>
          <a:ln w="10160">
            <a:solidFill>
              <a:srgbClr val="087F8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4" name="feedback_label"/>
          <p:cNvSpPr txBox="1"/>
          <p:nvPr/>
        </p:nvSpPr>
        <p:spPr>
          <a:xfrm>
            <a:off x="1219200" y="2032000"/>
            <a:ext cx="495300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0" b="0">
                <a:solidFill>
                  <a:srgbClr val="BA5B20"/>
                </a:solidFill>
                <a:latin typeface="Liberation Serif"/>
              </a:rPr>
              <a:t>feedback</a:t>
            </a:r>
          </a:p>
        </p:txBody>
      </p:sp>
      <p:cxnSp>
        <p:nvCxnSpPr>
          <p:cNvPr id="425" name="feedback_to_price_0"/>
          <p:cNvCxnSpPr/>
          <p:nvPr/>
        </p:nvCxnSpPr>
        <p:spPr>
          <a:xfrm>
            <a:off x="1727200" y="2209800"/>
            <a:ext cx="76200" cy="0"/>
          </a:xfrm>
          <a:prstGeom prst="line">
            <a:avLst/>
          </a:prstGeom>
          <a:ln w="10160">
            <a:solidFill>
              <a:srgbClr val="BA5B2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6" name="price_to_actor_0"/>
          <p:cNvCxnSpPr/>
          <p:nvPr/>
        </p:nvCxnSpPr>
        <p:spPr>
          <a:xfrm>
            <a:off x="2857500" y="2209800"/>
            <a:ext cx="304800" cy="0"/>
          </a:xfrm>
          <a:prstGeom prst="line">
            <a:avLst/>
          </a:prstGeom>
          <a:ln w="10160">
            <a:solidFill>
              <a:srgbClr val="66747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7" name="actor_text"/>
          <p:cNvSpPr txBox="1"/>
          <p:nvPr/>
        </p:nvSpPr>
        <p:spPr>
          <a:xfrm>
            <a:off x="3200400" y="2133600"/>
            <a:ext cx="52070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0" b="0">
                <a:solidFill>
                  <a:srgbClr val="24343D"/>
                </a:solidFill>
                <a:latin typeface="Liberation Serif"/>
              </a:rPr>
              <a:t>PPO/TRPO</a:t>
            </a:r>
          </a:p>
        </p:txBody>
      </p:sp>
      <p:cxnSp>
        <p:nvCxnSpPr>
          <p:cNvPr id="428" name="actor_out_0"/>
          <p:cNvCxnSpPr/>
          <p:nvPr/>
        </p:nvCxnSpPr>
        <p:spPr>
          <a:xfrm>
            <a:off x="3759200" y="2209800"/>
            <a:ext cx="165100" cy="0"/>
          </a:xfrm>
          <a:prstGeom prst="line">
            <a:avLst/>
          </a:prstGeom>
          <a:ln w="10160">
            <a:solidFill>
              <a:srgbClr val="66747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9" name="rule_title"/>
          <p:cNvSpPr txBox="1"/>
          <p:nvPr/>
        </p:nvSpPr>
        <p:spPr>
          <a:xfrm>
            <a:off x="88900" y="2070100"/>
            <a:ext cx="1003300" cy="177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87F8C"/>
                </a:solidFill>
                <a:latin typeface="Liberation Serif"/>
              </a:rPr>
              <a:t>One price rule</a:t>
            </a:r>
          </a:p>
        </p:txBody>
      </p:sp>
      <p:sp>
        <p:nvSpPr>
          <p:cNvPr id="430" name="exact_title"/>
          <p:cNvSpPr txBox="1"/>
          <p:nvPr/>
        </p:nvSpPr>
        <p:spPr>
          <a:xfrm>
            <a:off x="101600" y="2362200"/>
            <a:ext cx="213360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0" b="1">
                <a:solidFill>
                  <a:srgbClr val="66747D"/>
                </a:solidFill>
                <a:latin typeface="Liberation Serif"/>
              </a:rPr>
              <a:t>Exact settings</a:t>
            </a:r>
          </a:p>
        </p:txBody>
      </p:sp>
      <p:sp>
        <p:nvSpPr>
          <p:cNvPr id="431" name="limits_title"/>
          <p:cNvSpPr txBox="1"/>
          <p:nvPr/>
        </p:nvSpPr>
        <p:spPr>
          <a:xfrm>
            <a:off x="3149600" y="2362200"/>
            <a:ext cx="179070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0" b="1">
                <a:solidFill>
                  <a:srgbClr val="66747D"/>
                </a:solidFill>
                <a:latin typeface="Liberation Serif"/>
              </a:rPr>
              <a:t>Conditional limits</a:t>
            </a:r>
          </a:p>
        </p:txBody>
      </p:sp>
      <p:cxnSp>
        <p:nvCxnSpPr>
          <p:cNvPr id="432" name="exact_bracket_0"/>
          <p:cNvCxnSpPr/>
          <p:nvPr/>
        </p:nvCxnSpPr>
        <p:spPr>
          <a:xfrm>
            <a:off x="127000" y="2514600"/>
            <a:ext cx="0" cy="25400"/>
          </a:xfrm>
          <a:prstGeom prst="line">
            <a:avLst/>
          </a:prstGeom>
          <a:ln w="7620">
            <a:solidFill>
              <a:srgbClr val="6674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3" name="exact_bracket_1"/>
          <p:cNvCxnSpPr/>
          <p:nvPr/>
        </p:nvCxnSpPr>
        <p:spPr>
          <a:xfrm>
            <a:off x="127000" y="2540000"/>
            <a:ext cx="2095500" cy="0"/>
          </a:xfrm>
          <a:prstGeom prst="line">
            <a:avLst/>
          </a:prstGeom>
          <a:ln w="7620">
            <a:solidFill>
              <a:srgbClr val="6674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4" name="exact_bracket_2"/>
          <p:cNvCxnSpPr/>
          <p:nvPr/>
        </p:nvCxnSpPr>
        <p:spPr>
          <a:xfrm flipV="1">
            <a:off x="2222500" y="2514600"/>
            <a:ext cx="0" cy="25400"/>
          </a:xfrm>
          <a:prstGeom prst="line">
            <a:avLst/>
          </a:prstGeom>
          <a:ln w="7620">
            <a:solidFill>
              <a:srgbClr val="6674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5" name="limit_bracket_0"/>
          <p:cNvCxnSpPr/>
          <p:nvPr/>
        </p:nvCxnSpPr>
        <p:spPr>
          <a:xfrm>
            <a:off x="3149600" y="2514600"/>
            <a:ext cx="0" cy="25400"/>
          </a:xfrm>
          <a:prstGeom prst="line">
            <a:avLst/>
          </a:prstGeom>
          <a:ln w="7620">
            <a:solidFill>
              <a:srgbClr val="6674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6" name="limit_bracket_1"/>
          <p:cNvCxnSpPr/>
          <p:nvPr/>
        </p:nvCxnSpPr>
        <p:spPr>
          <a:xfrm>
            <a:off x="3149600" y="2540000"/>
            <a:ext cx="1778000" cy="0"/>
          </a:xfrm>
          <a:prstGeom prst="line">
            <a:avLst/>
          </a:prstGeom>
          <a:ln w="7620">
            <a:solidFill>
              <a:srgbClr val="6674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7" name="limit_bracket_2"/>
          <p:cNvCxnSpPr/>
          <p:nvPr/>
        </p:nvCxnSpPr>
        <p:spPr>
          <a:xfrm flipV="1">
            <a:off x="4927600" y="2514600"/>
            <a:ext cx="0" cy="25400"/>
          </a:xfrm>
          <a:prstGeom prst="line">
            <a:avLst/>
          </a:prstGeom>
          <a:ln w="7620">
            <a:solidFill>
              <a:srgbClr val="6674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8" name="u_fixed"/>
          <p:cNvSpPr txBox="1"/>
          <p:nvPr/>
        </p:nvSpPr>
        <p:spPr>
          <a:xfrm>
            <a:off x="88900" y="2578100"/>
            <a:ext cx="101600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24343D"/>
                </a:solidFill>
                <a:latin typeface="Liberation Serif"/>
              </a:rPr>
              <a:t>Fixed penalty</a:t>
            </a:r>
          </a:p>
        </p:txBody>
      </p:sp>
      <p:sp>
        <p:nvSpPr>
          <p:cNvPr id="439" name="u_lag"/>
          <p:cNvSpPr txBox="1"/>
          <p:nvPr/>
        </p:nvSpPr>
        <p:spPr>
          <a:xfrm>
            <a:off x="1117600" y="2578100"/>
            <a:ext cx="114300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24343D"/>
                </a:solidFill>
                <a:latin typeface="Liberation Serif"/>
              </a:rPr>
              <a:t>Lagrangian</a:t>
            </a:r>
          </a:p>
        </p:txBody>
      </p:sp>
      <p:sp>
        <p:nvSpPr>
          <p:cNvPr id="440" name="u_ours"/>
          <p:cNvSpPr txBox="1"/>
          <p:nvPr/>
        </p:nvSpPr>
        <p:spPr>
          <a:xfrm>
            <a:off x="2286000" y="2578100"/>
            <a:ext cx="73660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087F8C"/>
                </a:solidFill>
                <a:latin typeface="Liberation Serif"/>
              </a:rPr>
              <a:t>SafeOT</a:t>
            </a:r>
          </a:p>
        </p:txBody>
      </p:sp>
      <p:sp>
        <p:nvSpPr>
          <p:cNvPr id="441" name="u_lp"/>
          <p:cNvSpPr txBox="1"/>
          <p:nvPr/>
        </p:nvSpPr>
        <p:spPr>
          <a:xfrm>
            <a:off x="3035300" y="2578100"/>
            <a:ext cx="66040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24343D"/>
                </a:solidFill>
                <a:latin typeface="Liberation Serif"/>
              </a:rPr>
              <a:t>LP</a:t>
            </a:r>
          </a:p>
        </p:txBody>
      </p:sp>
      <p:sp>
        <p:nvSpPr>
          <p:cNvPr id="442" name="u_active"/>
          <p:cNvSpPr txBox="1"/>
          <p:nvPr/>
        </p:nvSpPr>
        <p:spPr>
          <a:xfrm>
            <a:off x="3733800" y="2578100"/>
            <a:ext cx="120650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24343D"/>
                </a:solidFill>
                <a:latin typeface="Liberation Serif"/>
              </a:rPr>
              <a:t>Active-set</a:t>
            </a:r>
          </a:p>
        </p:txBody>
      </p:sp>
      <p:sp>
        <p:nvSpPr>
          <p:cNvPr id="443" name="u_active_eq"/>
          <p:cNvSpPr txBox="1"/>
          <p:nvPr/>
        </p:nvSpPr>
        <p:spPr>
          <a:xfrm>
            <a:off x="3733800" y="2857500"/>
            <a:ext cx="1206500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0" b="0">
                <a:solidFill>
                  <a:srgbClr val="24343D"/>
                </a:solidFill>
                <a:latin typeface="Liberation Serif"/>
              </a:rPr>
              <a:t>saturated clip</a:t>
            </a:r>
          </a:p>
        </p:txBody>
      </p:sp>
      <p:grpSp>
        <p:nvGrpSpPr>
          <p:cNvPr id="163" name="Fhat_legend"/>
          <p:cNvGrpSpPr/>
          <p:nvPr/>
        </p:nvGrpSpPr>
        <p:grpSpPr>
          <a:xfrm>
            <a:off x="1461036" y="390728"/>
            <a:ext cx="97770" cy="132968"/>
            <a:chOff x="1461036" y="390728"/>
            <a:chExt cx="97770" cy="132968"/>
          </a:xfrm>
        </p:grpSpPr>
        <p:sp>
          <p:nvSpPr>
            <p:cNvPr id="444" name="Fhat_legend_outline_0"/>
            <p:cNvSpPr/>
            <p:nvPr/>
          </p:nvSpPr>
          <p:spPr>
            <a:xfrm>
              <a:off x="1480872" y="390728"/>
              <a:ext cx="77934" cy="21708"/>
            </a:xfrm>
            <a:custGeom>
              <a:avLst/>
              <a:gdLst/>
              <a:ahLst/>
              <a:cxnLst/>
              <a:rect l="0" t="0" r="r" b="b"/>
              <a:pathLst>
                <a:path w="77934" h="21709">
                  <a:moveTo>
                    <a:pt x="77934" y="21709"/>
                  </a:moveTo>
                  <a:lnTo>
                    <a:pt x="77934" y="15585"/>
                  </a:lnTo>
                  <a:lnTo>
                    <a:pt x="38826" y="0"/>
                  </a:lnTo>
                  <a:lnTo>
                    <a:pt x="0" y="15585"/>
                  </a:lnTo>
                  <a:lnTo>
                    <a:pt x="0" y="21709"/>
                  </a:lnTo>
                  <a:lnTo>
                    <a:pt x="38965" y="9462"/>
                  </a:lnTo>
                  <a:lnTo>
                    <a:pt x="77934" y="21709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5" name="Fhat_legend_outline_1"/>
            <p:cNvSpPr/>
            <p:nvPr/>
          </p:nvSpPr>
          <p:spPr>
            <a:xfrm>
              <a:off x="1461036" y="432824"/>
              <a:ext cx="88645" cy="90872"/>
            </a:xfrm>
            <a:custGeom>
              <a:avLst/>
              <a:gdLst/>
              <a:ahLst/>
              <a:cxnLst/>
              <a:rect l="0" t="0" r="r" b="b"/>
              <a:pathLst>
                <a:path w="88646" h="90872">
                  <a:moveTo>
                    <a:pt x="84193" y="21292"/>
                  </a:moveTo>
                  <a:lnTo>
                    <a:pt x="88646" y="0"/>
                  </a:lnTo>
                  <a:lnTo>
                    <a:pt x="19340" y="0"/>
                  </a:lnTo>
                  <a:lnTo>
                    <a:pt x="19340" y="2226"/>
                  </a:lnTo>
                  <a:cubicBezTo>
                    <a:pt x="28527" y="3060"/>
                    <a:pt x="30055" y="3897"/>
                    <a:pt x="30055" y="7795"/>
                  </a:cubicBezTo>
                  <a:cubicBezTo>
                    <a:pt x="30055" y="10021"/>
                    <a:pt x="29500" y="13359"/>
                    <a:pt x="28527" y="16839"/>
                  </a:cubicBezTo>
                  <a:lnTo>
                    <a:pt x="11410" y="78347"/>
                  </a:lnTo>
                  <a:cubicBezTo>
                    <a:pt x="8906" y="86697"/>
                    <a:pt x="7930" y="87531"/>
                    <a:pt x="0" y="88646"/>
                  </a:cubicBezTo>
                  <a:lnTo>
                    <a:pt x="0" y="90872"/>
                  </a:lnTo>
                  <a:lnTo>
                    <a:pt x="35068" y="90872"/>
                  </a:lnTo>
                  <a:lnTo>
                    <a:pt x="35068" y="88646"/>
                  </a:lnTo>
                  <a:cubicBezTo>
                    <a:pt x="26995" y="88229"/>
                    <a:pt x="24491" y="86697"/>
                    <a:pt x="24491" y="82522"/>
                  </a:cubicBezTo>
                  <a:cubicBezTo>
                    <a:pt x="24491" y="81272"/>
                    <a:pt x="24769" y="79601"/>
                    <a:pt x="25741" y="76259"/>
                  </a:cubicBezTo>
                  <a:lnTo>
                    <a:pt x="34369" y="45228"/>
                  </a:lnTo>
                  <a:cubicBezTo>
                    <a:pt x="39521" y="45506"/>
                    <a:pt x="42581" y="45645"/>
                    <a:pt x="45645" y="45645"/>
                  </a:cubicBezTo>
                  <a:cubicBezTo>
                    <a:pt x="51070" y="45645"/>
                    <a:pt x="51907" y="45784"/>
                    <a:pt x="53296" y="46339"/>
                  </a:cubicBezTo>
                  <a:cubicBezTo>
                    <a:pt x="55245" y="47315"/>
                    <a:pt x="56360" y="49264"/>
                    <a:pt x="56360" y="52046"/>
                  </a:cubicBezTo>
                  <a:cubicBezTo>
                    <a:pt x="56360" y="54273"/>
                    <a:pt x="56078" y="55944"/>
                    <a:pt x="55245" y="60257"/>
                  </a:cubicBezTo>
                  <a:lnTo>
                    <a:pt x="57610" y="60952"/>
                  </a:lnTo>
                  <a:lnTo>
                    <a:pt x="68187" y="28388"/>
                  </a:lnTo>
                  <a:lnTo>
                    <a:pt x="65683" y="27694"/>
                  </a:lnTo>
                  <a:cubicBezTo>
                    <a:pt x="59420" y="40219"/>
                    <a:pt x="59003" y="40358"/>
                    <a:pt x="35623" y="40636"/>
                  </a:cubicBezTo>
                  <a:lnTo>
                    <a:pt x="44807" y="8211"/>
                  </a:lnTo>
                  <a:cubicBezTo>
                    <a:pt x="45645" y="5425"/>
                    <a:pt x="47593" y="4592"/>
                    <a:pt x="53296" y="4592"/>
                  </a:cubicBezTo>
                  <a:cubicBezTo>
                    <a:pt x="76815" y="4592"/>
                    <a:pt x="81685" y="6402"/>
                    <a:pt x="81685" y="15168"/>
                  </a:cubicBezTo>
                  <a:cubicBezTo>
                    <a:pt x="81685" y="16141"/>
                    <a:pt x="81685" y="16701"/>
                    <a:pt x="81546" y="18367"/>
                  </a:cubicBezTo>
                  <a:cubicBezTo>
                    <a:pt x="81407" y="19344"/>
                    <a:pt x="81407" y="19899"/>
                    <a:pt x="81268" y="21014"/>
                  </a:cubicBezTo>
                  <a:lnTo>
                    <a:pt x="84193" y="21292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66" name="Fstar_legend"/>
          <p:cNvGrpSpPr/>
          <p:nvPr/>
        </p:nvGrpSpPr>
        <p:grpSpPr>
          <a:xfrm>
            <a:off x="1903346" y="408856"/>
            <a:ext cx="135404" cy="97213"/>
            <a:chOff x="1903346" y="408856"/>
            <a:chExt cx="135404" cy="97213"/>
          </a:xfrm>
        </p:grpSpPr>
        <p:sp>
          <p:nvSpPr>
            <p:cNvPr id="446" name="Fstar_legend_outline_0"/>
            <p:cNvSpPr/>
            <p:nvPr/>
          </p:nvSpPr>
          <p:spPr>
            <a:xfrm>
              <a:off x="1903346" y="415197"/>
              <a:ext cx="88645" cy="90872"/>
            </a:xfrm>
            <a:custGeom>
              <a:avLst/>
              <a:gdLst/>
              <a:ahLst/>
              <a:cxnLst/>
              <a:rect l="0" t="0" r="r" b="b"/>
              <a:pathLst>
                <a:path w="88646" h="90872">
                  <a:moveTo>
                    <a:pt x="84193" y="21292"/>
                  </a:moveTo>
                  <a:lnTo>
                    <a:pt x="88646" y="0"/>
                  </a:lnTo>
                  <a:lnTo>
                    <a:pt x="19340" y="0"/>
                  </a:lnTo>
                  <a:lnTo>
                    <a:pt x="19340" y="2226"/>
                  </a:lnTo>
                  <a:cubicBezTo>
                    <a:pt x="28527" y="3060"/>
                    <a:pt x="30055" y="3897"/>
                    <a:pt x="30055" y="7795"/>
                  </a:cubicBezTo>
                  <a:cubicBezTo>
                    <a:pt x="30055" y="10021"/>
                    <a:pt x="29500" y="13359"/>
                    <a:pt x="28527" y="16839"/>
                  </a:cubicBezTo>
                  <a:lnTo>
                    <a:pt x="11410" y="78347"/>
                  </a:lnTo>
                  <a:cubicBezTo>
                    <a:pt x="8906" y="86697"/>
                    <a:pt x="7930" y="87531"/>
                    <a:pt x="0" y="88646"/>
                  </a:cubicBezTo>
                  <a:lnTo>
                    <a:pt x="0" y="90872"/>
                  </a:lnTo>
                  <a:lnTo>
                    <a:pt x="35068" y="90872"/>
                  </a:lnTo>
                  <a:lnTo>
                    <a:pt x="35068" y="88646"/>
                  </a:lnTo>
                  <a:cubicBezTo>
                    <a:pt x="26995" y="88229"/>
                    <a:pt x="24491" y="86697"/>
                    <a:pt x="24491" y="82522"/>
                  </a:cubicBezTo>
                  <a:cubicBezTo>
                    <a:pt x="24491" y="81272"/>
                    <a:pt x="24769" y="79601"/>
                    <a:pt x="25741" y="76259"/>
                  </a:cubicBezTo>
                  <a:lnTo>
                    <a:pt x="34369" y="45228"/>
                  </a:lnTo>
                  <a:cubicBezTo>
                    <a:pt x="39521" y="45506"/>
                    <a:pt x="42581" y="45645"/>
                    <a:pt x="45645" y="45645"/>
                  </a:cubicBezTo>
                  <a:cubicBezTo>
                    <a:pt x="51070" y="45645"/>
                    <a:pt x="51907" y="45784"/>
                    <a:pt x="53296" y="46339"/>
                  </a:cubicBezTo>
                  <a:cubicBezTo>
                    <a:pt x="55245" y="47315"/>
                    <a:pt x="56360" y="49264"/>
                    <a:pt x="56360" y="52046"/>
                  </a:cubicBezTo>
                  <a:cubicBezTo>
                    <a:pt x="56360" y="54273"/>
                    <a:pt x="56078" y="55944"/>
                    <a:pt x="55245" y="60257"/>
                  </a:cubicBezTo>
                  <a:lnTo>
                    <a:pt x="57610" y="60952"/>
                  </a:lnTo>
                  <a:lnTo>
                    <a:pt x="68187" y="28388"/>
                  </a:lnTo>
                  <a:lnTo>
                    <a:pt x="65683" y="27694"/>
                  </a:lnTo>
                  <a:cubicBezTo>
                    <a:pt x="59420" y="40219"/>
                    <a:pt x="59003" y="40358"/>
                    <a:pt x="35623" y="40636"/>
                  </a:cubicBezTo>
                  <a:lnTo>
                    <a:pt x="44807" y="8211"/>
                  </a:lnTo>
                  <a:cubicBezTo>
                    <a:pt x="45645" y="5425"/>
                    <a:pt x="47593" y="4592"/>
                    <a:pt x="53296" y="4592"/>
                  </a:cubicBezTo>
                  <a:cubicBezTo>
                    <a:pt x="76815" y="4592"/>
                    <a:pt x="81685" y="6402"/>
                    <a:pt x="81685" y="15168"/>
                  </a:cubicBezTo>
                  <a:cubicBezTo>
                    <a:pt x="81685" y="16141"/>
                    <a:pt x="81685" y="16701"/>
                    <a:pt x="81546" y="18367"/>
                  </a:cubicBezTo>
                  <a:cubicBezTo>
                    <a:pt x="81407" y="19344"/>
                    <a:pt x="81407" y="19899"/>
                    <a:pt x="81268" y="21014"/>
                  </a:cubicBezTo>
                  <a:lnTo>
                    <a:pt x="84193" y="21292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7" name="Fstar_legend_outline_1"/>
            <p:cNvSpPr/>
            <p:nvPr/>
          </p:nvSpPr>
          <p:spPr>
            <a:xfrm>
              <a:off x="2002746" y="408856"/>
              <a:ext cx="36004" cy="40155"/>
            </a:xfrm>
            <a:custGeom>
              <a:avLst/>
              <a:gdLst/>
              <a:ahLst/>
              <a:cxnLst/>
              <a:rect l="0" t="0" r="r" b="b"/>
              <a:pathLst>
                <a:path w="36005" h="40156">
                  <a:moveTo>
                    <a:pt x="36005" y="12037"/>
                  </a:moveTo>
                  <a:cubicBezTo>
                    <a:pt x="36005" y="10271"/>
                    <a:pt x="34552" y="8406"/>
                    <a:pt x="32683" y="8406"/>
                  </a:cubicBezTo>
                  <a:cubicBezTo>
                    <a:pt x="30297" y="8406"/>
                    <a:pt x="21788" y="16915"/>
                    <a:pt x="18780" y="18677"/>
                  </a:cubicBezTo>
                  <a:cubicBezTo>
                    <a:pt x="18780" y="12867"/>
                    <a:pt x="21685" y="7057"/>
                    <a:pt x="21685" y="3528"/>
                  </a:cubicBezTo>
                  <a:cubicBezTo>
                    <a:pt x="21685" y="1349"/>
                    <a:pt x="20233" y="0"/>
                    <a:pt x="18054" y="0"/>
                  </a:cubicBezTo>
                  <a:cubicBezTo>
                    <a:pt x="15978" y="0"/>
                    <a:pt x="14732" y="1453"/>
                    <a:pt x="14732" y="3528"/>
                  </a:cubicBezTo>
                  <a:cubicBezTo>
                    <a:pt x="14732" y="7576"/>
                    <a:pt x="17224" y="13073"/>
                    <a:pt x="17224" y="18677"/>
                  </a:cubicBezTo>
                  <a:cubicBezTo>
                    <a:pt x="13902" y="16705"/>
                    <a:pt x="5810" y="7989"/>
                    <a:pt x="3631" y="7989"/>
                  </a:cubicBezTo>
                  <a:cubicBezTo>
                    <a:pt x="1762" y="7989"/>
                    <a:pt x="103" y="9755"/>
                    <a:pt x="103" y="11620"/>
                  </a:cubicBezTo>
                  <a:cubicBezTo>
                    <a:pt x="103" y="15252"/>
                    <a:pt x="12347" y="17744"/>
                    <a:pt x="16395" y="20026"/>
                  </a:cubicBezTo>
                  <a:cubicBezTo>
                    <a:pt x="12037" y="22515"/>
                    <a:pt x="3941" y="23761"/>
                    <a:pt x="1869" y="25110"/>
                  </a:cubicBezTo>
                  <a:cubicBezTo>
                    <a:pt x="829" y="25837"/>
                    <a:pt x="0" y="26769"/>
                    <a:pt x="0" y="28119"/>
                  </a:cubicBezTo>
                  <a:cubicBezTo>
                    <a:pt x="0" y="29988"/>
                    <a:pt x="1453" y="31647"/>
                    <a:pt x="3322" y="31647"/>
                  </a:cubicBezTo>
                  <a:cubicBezTo>
                    <a:pt x="5707" y="31647"/>
                    <a:pt x="14113" y="23241"/>
                    <a:pt x="17224" y="21479"/>
                  </a:cubicBezTo>
                  <a:cubicBezTo>
                    <a:pt x="17224" y="27186"/>
                    <a:pt x="14319" y="32996"/>
                    <a:pt x="14319" y="36628"/>
                  </a:cubicBezTo>
                  <a:cubicBezTo>
                    <a:pt x="14319" y="38703"/>
                    <a:pt x="15875" y="40156"/>
                    <a:pt x="17951" y="40156"/>
                  </a:cubicBezTo>
                  <a:cubicBezTo>
                    <a:pt x="20026" y="40156"/>
                    <a:pt x="21273" y="38600"/>
                    <a:pt x="21273" y="36628"/>
                  </a:cubicBezTo>
                  <a:cubicBezTo>
                    <a:pt x="21273" y="32373"/>
                    <a:pt x="18883" y="26980"/>
                    <a:pt x="18883" y="21479"/>
                  </a:cubicBezTo>
                  <a:cubicBezTo>
                    <a:pt x="22102" y="23348"/>
                    <a:pt x="30297" y="32064"/>
                    <a:pt x="32373" y="32064"/>
                  </a:cubicBezTo>
                  <a:cubicBezTo>
                    <a:pt x="34242" y="32064"/>
                    <a:pt x="35901" y="30298"/>
                    <a:pt x="35901" y="28432"/>
                  </a:cubicBezTo>
                  <a:cubicBezTo>
                    <a:pt x="35901" y="27083"/>
                    <a:pt x="34969" y="26146"/>
                    <a:pt x="33929" y="25527"/>
                  </a:cubicBezTo>
                  <a:cubicBezTo>
                    <a:pt x="31230" y="23761"/>
                    <a:pt x="24070" y="22622"/>
                    <a:pt x="19610" y="20026"/>
                  </a:cubicBezTo>
                  <a:cubicBezTo>
                    <a:pt x="24487" y="17121"/>
                    <a:pt x="31127" y="16705"/>
                    <a:pt x="34135" y="14942"/>
                  </a:cubicBezTo>
                  <a:cubicBezTo>
                    <a:pt x="35278" y="14319"/>
                    <a:pt x="36005" y="13387"/>
                    <a:pt x="36005" y="12037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67" name="budget"/>
          <p:cNvGrpSpPr/>
          <p:nvPr/>
        </p:nvGrpSpPr>
        <p:grpSpPr>
          <a:xfrm>
            <a:off x="2817352" y="400714"/>
            <a:ext cx="716776" cy="125245"/>
            <a:chOff x="2817352" y="400714"/>
            <a:chExt cx="716776" cy="125245"/>
          </a:xfrm>
        </p:grpSpPr>
        <p:sp>
          <p:nvSpPr>
            <p:cNvPr id="448" name="budget_outline_0"/>
            <p:cNvSpPr/>
            <p:nvPr/>
          </p:nvSpPr>
          <p:spPr>
            <a:xfrm>
              <a:off x="2817352" y="400714"/>
              <a:ext cx="36599" cy="125245"/>
            </a:xfrm>
            <a:custGeom>
              <a:avLst/>
              <a:gdLst/>
              <a:ahLst/>
              <a:cxnLst/>
              <a:rect l="0" t="0" r="r" b="b"/>
              <a:pathLst>
                <a:path w="36600" h="125246">
                  <a:moveTo>
                    <a:pt x="36600" y="125246"/>
                  </a:moveTo>
                  <a:lnTo>
                    <a:pt x="9604" y="62623"/>
                  </a:lnTo>
                  <a:lnTo>
                    <a:pt x="36600" y="0"/>
                  </a:lnTo>
                  <a:lnTo>
                    <a:pt x="29920" y="0"/>
                  </a:lnTo>
                  <a:lnTo>
                    <a:pt x="0" y="62623"/>
                  </a:lnTo>
                  <a:lnTo>
                    <a:pt x="29920" y="125246"/>
                  </a:lnTo>
                  <a:lnTo>
                    <a:pt x="36600" y="125246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9" name="budget_outline_1"/>
            <p:cNvSpPr/>
            <p:nvPr/>
          </p:nvSpPr>
          <p:spPr>
            <a:xfrm>
              <a:off x="2867865" y="406421"/>
              <a:ext cx="86697" cy="95186"/>
            </a:xfrm>
            <a:custGeom>
              <a:avLst/>
              <a:gdLst/>
              <a:ahLst/>
              <a:cxnLst/>
              <a:rect l="0" t="0" r="r" b="b"/>
              <a:pathLst>
                <a:path w="86697" h="95186">
                  <a:moveTo>
                    <a:pt x="74315" y="74454"/>
                  </a:moveTo>
                  <a:lnTo>
                    <a:pt x="71949" y="72505"/>
                  </a:lnTo>
                  <a:cubicBezTo>
                    <a:pt x="59424" y="84888"/>
                    <a:pt x="51352" y="88924"/>
                    <a:pt x="39941" y="88924"/>
                  </a:cubicBezTo>
                  <a:cubicBezTo>
                    <a:pt x="24495" y="88924"/>
                    <a:pt x="15585" y="78486"/>
                    <a:pt x="15585" y="60396"/>
                  </a:cubicBezTo>
                  <a:cubicBezTo>
                    <a:pt x="15585" y="43835"/>
                    <a:pt x="22269" y="26999"/>
                    <a:pt x="33123" y="15724"/>
                  </a:cubicBezTo>
                  <a:cubicBezTo>
                    <a:pt x="39803" y="8767"/>
                    <a:pt x="48570" y="5008"/>
                    <a:pt x="57753" y="5008"/>
                  </a:cubicBezTo>
                  <a:cubicBezTo>
                    <a:pt x="70556" y="5008"/>
                    <a:pt x="77653" y="12525"/>
                    <a:pt x="79046" y="27555"/>
                  </a:cubicBezTo>
                  <a:lnTo>
                    <a:pt x="81550" y="27972"/>
                  </a:lnTo>
                  <a:lnTo>
                    <a:pt x="86697" y="278"/>
                  </a:lnTo>
                  <a:lnTo>
                    <a:pt x="83776" y="278"/>
                  </a:lnTo>
                  <a:cubicBezTo>
                    <a:pt x="82665" y="2504"/>
                    <a:pt x="81272" y="3342"/>
                    <a:pt x="78490" y="3342"/>
                  </a:cubicBezTo>
                  <a:cubicBezTo>
                    <a:pt x="77236" y="3342"/>
                    <a:pt x="75704" y="3060"/>
                    <a:pt x="72783" y="2365"/>
                  </a:cubicBezTo>
                  <a:cubicBezTo>
                    <a:pt x="66659" y="833"/>
                    <a:pt x="61095" y="0"/>
                    <a:pt x="56499" y="0"/>
                  </a:cubicBezTo>
                  <a:cubicBezTo>
                    <a:pt x="26722" y="0"/>
                    <a:pt x="0" y="27833"/>
                    <a:pt x="0" y="58864"/>
                  </a:cubicBezTo>
                  <a:cubicBezTo>
                    <a:pt x="0" y="80157"/>
                    <a:pt x="15030" y="95186"/>
                    <a:pt x="36322" y="95186"/>
                  </a:cubicBezTo>
                  <a:cubicBezTo>
                    <a:pt x="50657" y="95186"/>
                    <a:pt x="61789" y="89202"/>
                    <a:pt x="74315" y="74454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0" name="budget_outline_2"/>
            <p:cNvSpPr/>
            <p:nvPr/>
          </p:nvSpPr>
          <p:spPr>
            <a:xfrm>
              <a:off x="2957850" y="449162"/>
              <a:ext cx="50637" cy="72012"/>
            </a:xfrm>
            <a:custGeom>
              <a:avLst/>
              <a:gdLst/>
              <a:ahLst/>
              <a:cxnLst/>
              <a:rect l="0" t="0" r="r" b="b"/>
              <a:pathLst>
                <a:path w="50637" h="72013">
                  <a:moveTo>
                    <a:pt x="48042" y="60702"/>
                  </a:moveTo>
                  <a:lnTo>
                    <a:pt x="46176" y="59559"/>
                  </a:lnTo>
                  <a:cubicBezTo>
                    <a:pt x="45760" y="60496"/>
                    <a:pt x="45033" y="61428"/>
                    <a:pt x="44514" y="62258"/>
                  </a:cubicBezTo>
                  <a:cubicBezTo>
                    <a:pt x="42541" y="65472"/>
                    <a:pt x="41196" y="66615"/>
                    <a:pt x="39429" y="66615"/>
                  </a:cubicBezTo>
                  <a:cubicBezTo>
                    <a:pt x="37044" y="66615"/>
                    <a:pt x="34449" y="63294"/>
                    <a:pt x="29468" y="53229"/>
                  </a:cubicBezTo>
                  <a:lnTo>
                    <a:pt x="24904" y="44101"/>
                  </a:lnTo>
                  <a:cubicBezTo>
                    <a:pt x="41608" y="30508"/>
                    <a:pt x="45137" y="28432"/>
                    <a:pt x="50637" y="28122"/>
                  </a:cubicBezTo>
                  <a:lnTo>
                    <a:pt x="50534" y="26460"/>
                  </a:lnTo>
                  <a:lnTo>
                    <a:pt x="29885" y="26460"/>
                  </a:lnTo>
                  <a:lnTo>
                    <a:pt x="29988" y="28122"/>
                  </a:lnTo>
                  <a:lnTo>
                    <a:pt x="32063" y="28122"/>
                  </a:lnTo>
                  <a:cubicBezTo>
                    <a:pt x="35072" y="28122"/>
                    <a:pt x="36318" y="28849"/>
                    <a:pt x="36421" y="29988"/>
                  </a:cubicBezTo>
                  <a:cubicBezTo>
                    <a:pt x="36421" y="32064"/>
                    <a:pt x="30817" y="35592"/>
                    <a:pt x="20233" y="44101"/>
                  </a:cubicBezTo>
                  <a:lnTo>
                    <a:pt x="15149" y="47939"/>
                  </a:lnTo>
                  <a:lnTo>
                    <a:pt x="27706" y="520"/>
                  </a:lnTo>
                  <a:lnTo>
                    <a:pt x="26563" y="0"/>
                  </a:lnTo>
                  <a:cubicBezTo>
                    <a:pt x="19614" y="1349"/>
                    <a:pt x="15256" y="2076"/>
                    <a:pt x="8406" y="2802"/>
                  </a:cubicBezTo>
                  <a:lnTo>
                    <a:pt x="8406" y="4465"/>
                  </a:lnTo>
                  <a:lnTo>
                    <a:pt x="10481" y="4465"/>
                  </a:lnTo>
                  <a:cubicBezTo>
                    <a:pt x="14633" y="4465"/>
                    <a:pt x="16498" y="5191"/>
                    <a:pt x="16812" y="7056"/>
                  </a:cubicBezTo>
                  <a:cubicBezTo>
                    <a:pt x="16708" y="8823"/>
                    <a:pt x="15875" y="11517"/>
                    <a:pt x="14422" y="16395"/>
                  </a:cubicBezTo>
                  <a:lnTo>
                    <a:pt x="13490" y="19820"/>
                  </a:lnTo>
                  <a:lnTo>
                    <a:pt x="13387" y="20753"/>
                  </a:lnTo>
                  <a:lnTo>
                    <a:pt x="0" y="70870"/>
                  </a:lnTo>
                  <a:lnTo>
                    <a:pt x="9029" y="70870"/>
                  </a:lnTo>
                  <a:lnTo>
                    <a:pt x="14010" y="52193"/>
                  </a:lnTo>
                  <a:lnTo>
                    <a:pt x="18887" y="48871"/>
                  </a:lnTo>
                  <a:cubicBezTo>
                    <a:pt x="20856" y="53439"/>
                    <a:pt x="24074" y="59873"/>
                    <a:pt x="26356" y="63504"/>
                  </a:cubicBezTo>
                  <a:cubicBezTo>
                    <a:pt x="30297" y="70040"/>
                    <a:pt x="32167" y="72013"/>
                    <a:pt x="35592" y="72013"/>
                  </a:cubicBezTo>
                  <a:cubicBezTo>
                    <a:pt x="40156" y="72013"/>
                    <a:pt x="43164" y="69417"/>
                    <a:pt x="48042" y="60702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1" name="budget_outline_3"/>
            <p:cNvSpPr/>
            <p:nvPr/>
          </p:nvSpPr>
          <p:spPr>
            <a:xfrm>
              <a:off x="3027321" y="484907"/>
              <a:ext cx="19343" cy="33817"/>
            </a:xfrm>
            <a:custGeom>
              <a:avLst/>
              <a:gdLst/>
              <a:ahLst/>
              <a:cxnLst/>
              <a:rect l="0" t="0" r="r" b="b"/>
              <a:pathLst>
                <a:path w="19344" h="33818">
                  <a:moveTo>
                    <a:pt x="19344" y="13363"/>
                  </a:moveTo>
                  <a:cubicBezTo>
                    <a:pt x="19344" y="1810"/>
                    <a:pt x="11271" y="0"/>
                    <a:pt x="8068" y="0"/>
                  </a:cubicBezTo>
                  <a:cubicBezTo>
                    <a:pt x="4592" y="0"/>
                    <a:pt x="0" y="2088"/>
                    <a:pt x="0" y="8072"/>
                  </a:cubicBezTo>
                  <a:cubicBezTo>
                    <a:pt x="0" y="13641"/>
                    <a:pt x="5009" y="15030"/>
                    <a:pt x="8628" y="15030"/>
                  </a:cubicBezTo>
                  <a:cubicBezTo>
                    <a:pt x="9600" y="15030"/>
                    <a:pt x="10295" y="14891"/>
                    <a:pt x="10716" y="14752"/>
                  </a:cubicBezTo>
                  <a:cubicBezTo>
                    <a:pt x="11271" y="14613"/>
                    <a:pt x="11688" y="14474"/>
                    <a:pt x="11966" y="14474"/>
                  </a:cubicBezTo>
                  <a:cubicBezTo>
                    <a:pt x="12942" y="14474"/>
                    <a:pt x="13914" y="15169"/>
                    <a:pt x="13914" y="16423"/>
                  </a:cubicBezTo>
                  <a:cubicBezTo>
                    <a:pt x="13914" y="19066"/>
                    <a:pt x="11688" y="25329"/>
                    <a:pt x="2504" y="31175"/>
                  </a:cubicBezTo>
                  <a:lnTo>
                    <a:pt x="3754" y="33818"/>
                  </a:lnTo>
                  <a:cubicBezTo>
                    <a:pt x="7930" y="32425"/>
                    <a:pt x="19344" y="23241"/>
                    <a:pt x="19344" y="13363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2" name="budget_outline_4"/>
            <p:cNvSpPr/>
            <p:nvPr/>
          </p:nvSpPr>
          <p:spPr>
            <a:xfrm>
              <a:off x="3084228" y="408231"/>
              <a:ext cx="88645" cy="90872"/>
            </a:xfrm>
            <a:custGeom>
              <a:avLst/>
              <a:gdLst/>
              <a:ahLst/>
              <a:cxnLst/>
              <a:rect l="0" t="0" r="r" b="b"/>
              <a:pathLst>
                <a:path w="88646" h="90872">
                  <a:moveTo>
                    <a:pt x="84193" y="21292"/>
                  </a:moveTo>
                  <a:lnTo>
                    <a:pt x="88646" y="0"/>
                  </a:lnTo>
                  <a:lnTo>
                    <a:pt x="19340" y="0"/>
                  </a:lnTo>
                  <a:lnTo>
                    <a:pt x="19340" y="2226"/>
                  </a:lnTo>
                  <a:cubicBezTo>
                    <a:pt x="28527" y="3060"/>
                    <a:pt x="30055" y="3897"/>
                    <a:pt x="30055" y="7795"/>
                  </a:cubicBezTo>
                  <a:cubicBezTo>
                    <a:pt x="30055" y="10021"/>
                    <a:pt x="29500" y="13359"/>
                    <a:pt x="28527" y="16839"/>
                  </a:cubicBezTo>
                  <a:lnTo>
                    <a:pt x="11410" y="78347"/>
                  </a:lnTo>
                  <a:cubicBezTo>
                    <a:pt x="8906" y="86697"/>
                    <a:pt x="7929" y="87531"/>
                    <a:pt x="0" y="88646"/>
                  </a:cubicBezTo>
                  <a:lnTo>
                    <a:pt x="0" y="90872"/>
                  </a:lnTo>
                  <a:lnTo>
                    <a:pt x="35068" y="90872"/>
                  </a:lnTo>
                  <a:lnTo>
                    <a:pt x="35068" y="88646"/>
                  </a:lnTo>
                  <a:cubicBezTo>
                    <a:pt x="26995" y="88229"/>
                    <a:pt x="24491" y="86697"/>
                    <a:pt x="24491" y="82522"/>
                  </a:cubicBezTo>
                  <a:cubicBezTo>
                    <a:pt x="24491" y="81272"/>
                    <a:pt x="24769" y="79601"/>
                    <a:pt x="25741" y="76260"/>
                  </a:cubicBezTo>
                  <a:lnTo>
                    <a:pt x="34369" y="45228"/>
                  </a:lnTo>
                  <a:cubicBezTo>
                    <a:pt x="39521" y="45506"/>
                    <a:pt x="42581" y="45645"/>
                    <a:pt x="45645" y="45645"/>
                  </a:cubicBezTo>
                  <a:cubicBezTo>
                    <a:pt x="51070" y="45645"/>
                    <a:pt x="51907" y="45783"/>
                    <a:pt x="53296" y="46339"/>
                  </a:cubicBezTo>
                  <a:cubicBezTo>
                    <a:pt x="55245" y="47315"/>
                    <a:pt x="56360" y="49264"/>
                    <a:pt x="56360" y="52046"/>
                  </a:cubicBezTo>
                  <a:cubicBezTo>
                    <a:pt x="56360" y="54273"/>
                    <a:pt x="56078" y="55943"/>
                    <a:pt x="55245" y="60258"/>
                  </a:cubicBezTo>
                  <a:lnTo>
                    <a:pt x="57610" y="60952"/>
                  </a:lnTo>
                  <a:lnTo>
                    <a:pt x="68187" y="28388"/>
                  </a:lnTo>
                  <a:lnTo>
                    <a:pt x="65683" y="27694"/>
                  </a:lnTo>
                  <a:cubicBezTo>
                    <a:pt x="59420" y="40219"/>
                    <a:pt x="59003" y="40358"/>
                    <a:pt x="35624" y="40636"/>
                  </a:cubicBezTo>
                  <a:lnTo>
                    <a:pt x="44807" y="8211"/>
                  </a:lnTo>
                  <a:cubicBezTo>
                    <a:pt x="45645" y="5425"/>
                    <a:pt x="47593" y="4592"/>
                    <a:pt x="53296" y="4592"/>
                  </a:cubicBezTo>
                  <a:cubicBezTo>
                    <a:pt x="76816" y="4592"/>
                    <a:pt x="81685" y="6402"/>
                    <a:pt x="81685" y="15168"/>
                  </a:cubicBezTo>
                  <a:cubicBezTo>
                    <a:pt x="81685" y="16141"/>
                    <a:pt x="81685" y="16700"/>
                    <a:pt x="81546" y="18367"/>
                  </a:cubicBezTo>
                  <a:cubicBezTo>
                    <a:pt x="81407" y="19344"/>
                    <a:pt x="81407" y="19899"/>
                    <a:pt x="81268" y="21015"/>
                  </a:cubicBezTo>
                  <a:lnTo>
                    <a:pt x="84193" y="21292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3" name="budget_outline_5"/>
            <p:cNvSpPr/>
            <p:nvPr/>
          </p:nvSpPr>
          <p:spPr>
            <a:xfrm>
              <a:off x="3184115" y="400714"/>
              <a:ext cx="36599" cy="125245"/>
            </a:xfrm>
            <a:custGeom>
              <a:avLst/>
              <a:gdLst/>
              <a:ahLst/>
              <a:cxnLst/>
              <a:rect l="0" t="0" r="r" b="b"/>
              <a:pathLst>
                <a:path w="36600" h="125246">
                  <a:moveTo>
                    <a:pt x="36600" y="62623"/>
                  </a:moveTo>
                  <a:lnTo>
                    <a:pt x="6679" y="0"/>
                  </a:lnTo>
                  <a:lnTo>
                    <a:pt x="0" y="0"/>
                  </a:lnTo>
                  <a:lnTo>
                    <a:pt x="26999" y="62623"/>
                  </a:lnTo>
                  <a:lnTo>
                    <a:pt x="0" y="125246"/>
                  </a:lnTo>
                  <a:lnTo>
                    <a:pt x="6679" y="125246"/>
                  </a:lnTo>
                  <a:lnTo>
                    <a:pt x="36600" y="62623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4" name="budget_outline_6"/>
            <p:cNvSpPr/>
            <p:nvPr/>
          </p:nvSpPr>
          <p:spPr>
            <a:xfrm>
              <a:off x="3280547" y="419224"/>
              <a:ext cx="71250" cy="87951"/>
            </a:xfrm>
            <a:custGeom>
              <a:avLst/>
              <a:gdLst/>
              <a:ahLst/>
              <a:cxnLst/>
              <a:rect l="0" t="0" r="r" b="b"/>
              <a:pathLst>
                <a:path w="71250" h="87952">
                  <a:moveTo>
                    <a:pt x="71250" y="69858"/>
                  </a:moveTo>
                  <a:lnTo>
                    <a:pt x="71250" y="62067"/>
                  </a:lnTo>
                  <a:lnTo>
                    <a:pt x="13359" y="34929"/>
                  </a:lnTo>
                  <a:lnTo>
                    <a:pt x="71250" y="7795"/>
                  </a:lnTo>
                  <a:lnTo>
                    <a:pt x="71250" y="0"/>
                  </a:lnTo>
                  <a:lnTo>
                    <a:pt x="0" y="33679"/>
                  </a:lnTo>
                  <a:lnTo>
                    <a:pt x="0" y="36461"/>
                  </a:lnTo>
                  <a:lnTo>
                    <a:pt x="71250" y="69858"/>
                  </a:lnTo>
                  <a:close/>
                  <a:moveTo>
                    <a:pt x="71250" y="87952"/>
                  </a:moveTo>
                  <a:lnTo>
                    <a:pt x="71250" y="80574"/>
                  </a:lnTo>
                  <a:lnTo>
                    <a:pt x="0" y="80574"/>
                  </a:lnTo>
                  <a:lnTo>
                    <a:pt x="0" y="87952"/>
                  </a:lnTo>
                  <a:lnTo>
                    <a:pt x="71250" y="87952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5" name="budget_outline_7"/>
            <p:cNvSpPr/>
            <p:nvPr/>
          </p:nvSpPr>
          <p:spPr>
            <a:xfrm>
              <a:off x="3405630" y="404056"/>
              <a:ext cx="62622" cy="96579"/>
            </a:xfrm>
            <a:custGeom>
              <a:avLst/>
              <a:gdLst/>
              <a:ahLst/>
              <a:cxnLst/>
              <a:rect l="0" t="0" r="r" b="b"/>
              <a:pathLst>
                <a:path w="62623" h="96580">
                  <a:moveTo>
                    <a:pt x="62623" y="50375"/>
                  </a:moveTo>
                  <a:cubicBezTo>
                    <a:pt x="62623" y="40636"/>
                    <a:pt x="55805" y="33679"/>
                    <a:pt x="46482" y="33679"/>
                  </a:cubicBezTo>
                  <a:cubicBezTo>
                    <a:pt x="36743" y="33679"/>
                    <a:pt x="29504" y="39382"/>
                    <a:pt x="19625" y="54689"/>
                  </a:cubicBezTo>
                  <a:lnTo>
                    <a:pt x="34096" y="695"/>
                  </a:lnTo>
                  <a:lnTo>
                    <a:pt x="33401" y="0"/>
                  </a:lnTo>
                  <a:cubicBezTo>
                    <a:pt x="26444" y="1254"/>
                    <a:pt x="21431" y="2087"/>
                    <a:pt x="12109" y="3199"/>
                  </a:cubicBezTo>
                  <a:lnTo>
                    <a:pt x="12109" y="5568"/>
                  </a:lnTo>
                  <a:cubicBezTo>
                    <a:pt x="20320" y="5846"/>
                    <a:pt x="21153" y="6263"/>
                    <a:pt x="21153" y="9323"/>
                  </a:cubicBezTo>
                  <a:cubicBezTo>
                    <a:pt x="21153" y="10577"/>
                    <a:pt x="20876" y="12109"/>
                    <a:pt x="19903" y="15307"/>
                  </a:cubicBezTo>
                  <a:lnTo>
                    <a:pt x="19205" y="17951"/>
                  </a:lnTo>
                  <a:lnTo>
                    <a:pt x="18927" y="18927"/>
                  </a:lnTo>
                  <a:lnTo>
                    <a:pt x="0" y="88646"/>
                  </a:lnTo>
                  <a:lnTo>
                    <a:pt x="0" y="89202"/>
                  </a:lnTo>
                  <a:cubicBezTo>
                    <a:pt x="0" y="92404"/>
                    <a:pt x="10577" y="96580"/>
                    <a:pt x="18510" y="96580"/>
                  </a:cubicBezTo>
                  <a:cubicBezTo>
                    <a:pt x="39525" y="96580"/>
                    <a:pt x="62623" y="72362"/>
                    <a:pt x="62623" y="50375"/>
                  </a:cubicBezTo>
                  <a:close/>
                  <a:moveTo>
                    <a:pt x="50796" y="52463"/>
                  </a:moveTo>
                  <a:cubicBezTo>
                    <a:pt x="50796" y="61650"/>
                    <a:pt x="43839" y="76537"/>
                    <a:pt x="35489" y="85165"/>
                  </a:cubicBezTo>
                  <a:cubicBezTo>
                    <a:pt x="30341" y="90456"/>
                    <a:pt x="24356" y="93377"/>
                    <a:pt x="18371" y="93377"/>
                  </a:cubicBezTo>
                  <a:cubicBezTo>
                    <a:pt x="14057" y="93377"/>
                    <a:pt x="11970" y="91849"/>
                    <a:pt x="11970" y="88646"/>
                  </a:cubicBezTo>
                  <a:cubicBezTo>
                    <a:pt x="11970" y="80296"/>
                    <a:pt x="16145" y="66937"/>
                    <a:pt x="21991" y="56499"/>
                  </a:cubicBezTo>
                  <a:cubicBezTo>
                    <a:pt x="28115" y="45783"/>
                    <a:pt x="34373" y="40497"/>
                    <a:pt x="41057" y="40497"/>
                  </a:cubicBezTo>
                  <a:cubicBezTo>
                    <a:pt x="47177" y="40497"/>
                    <a:pt x="50796" y="45089"/>
                    <a:pt x="50796" y="52463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6" name="budget_outline_8"/>
            <p:cNvSpPr/>
            <p:nvPr/>
          </p:nvSpPr>
          <p:spPr>
            <a:xfrm>
              <a:off x="3483491" y="449162"/>
              <a:ext cx="50637" cy="72012"/>
            </a:xfrm>
            <a:custGeom>
              <a:avLst/>
              <a:gdLst/>
              <a:ahLst/>
              <a:cxnLst/>
              <a:rect l="0" t="0" r="r" b="b"/>
              <a:pathLst>
                <a:path w="50637" h="72013">
                  <a:moveTo>
                    <a:pt x="48042" y="60702"/>
                  </a:moveTo>
                  <a:lnTo>
                    <a:pt x="46176" y="59559"/>
                  </a:lnTo>
                  <a:cubicBezTo>
                    <a:pt x="45760" y="60496"/>
                    <a:pt x="45033" y="61428"/>
                    <a:pt x="44514" y="62258"/>
                  </a:cubicBezTo>
                  <a:cubicBezTo>
                    <a:pt x="42541" y="65472"/>
                    <a:pt x="41196" y="66615"/>
                    <a:pt x="39430" y="66615"/>
                  </a:cubicBezTo>
                  <a:cubicBezTo>
                    <a:pt x="37044" y="66615"/>
                    <a:pt x="34449" y="63294"/>
                    <a:pt x="29468" y="53229"/>
                  </a:cubicBezTo>
                  <a:lnTo>
                    <a:pt x="24904" y="44101"/>
                  </a:lnTo>
                  <a:cubicBezTo>
                    <a:pt x="41608" y="30508"/>
                    <a:pt x="45137" y="28432"/>
                    <a:pt x="50637" y="28122"/>
                  </a:cubicBezTo>
                  <a:lnTo>
                    <a:pt x="50534" y="26460"/>
                  </a:lnTo>
                  <a:lnTo>
                    <a:pt x="29885" y="26460"/>
                  </a:lnTo>
                  <a:lnTo>
                    <a:pt x="29988" y="28122"/>
                  </a:lnTo>
                  <a:lnTo>
                    <a:pt x="32064" y="28122"/>
                  </a:lnTo>
                  <a:cubicBezTo>
                    <a:pt x="35072" y="28122"/>
                    <a:pt x="36318" y="28849"/>
                    <a:pt x="36421" y="29988"/>
                  </a:cubicBezTo>
                  <a:cubicBezTo>
                    <a:pt x="36421" y="32064"/>
                    <a:pt x="30817" y="35592"/>
                    <a:pt x="20233" y="44101"/>
                  </a:cubicBezTo>
                  <a:lnTo>
                    <a:pt x="15149" y="47939"/>
                  </a:lnTo>
                  <a:lnTo>
                    <a:pt x="27706" y="520"/>
                  </a:lnTo>
                  <a:lnTo>
                    <a:pt x="26563" y="0"/>
                  </a:lnTo>
                  <a:cubicBezTo>
                    <a:pt x="19614" y="1349"/>
                    <a:pt x="15256" y="2076"/>
                    <a:pt x="8406" y="2802"/>
                  </a:cubicBezTo>
                  <a:lnTo>
                    <a:pt x="8406" y="4465"/>
                  </a:lnTo>
                  <a:lnTo>
                    <a:pt x="10481" y="4465"/>
                  </a:lnTo>
                  <a:cubicBezTo>
                    <a:pt x="14633" y="4465"/>
                    <a:pt x="16498" y="5191"/>
                    <a:pt x="16812" y="7056"/>
                  </a:cubicBezTo>
                  <a:cubicBezTo>
                    <a:pt x="16708" y="8823"/>
                    <a:pt x="15875" y="11517"/>
                    <a:pt x="14422" y="16395"/>
                  </a:cubicBezTo>
                  <a:lnTo>
                    <a:pt x="13490" y="19820"/>
                  </a:lnTo>
                  <a:lnTo>
                    <a:pt x="13387" y="20753"/>
                  </a:lnTo>
                  <a:lnTo>
                    <a:pt x="0" y="70870"/>
                  </a:lnTo>
                  <a:lnTo>
                    <a:pt x="9029" y="70870"/>
                  </a:lnTo>
                  <a:lnTo>
                    <a:pt x="14010" y="52193"/>
                  </a:lnTo>
                  <a:lnTo>
                    <a:pt x="18887" y="48871"/>
                  </a:lnTo>
                  <a:cubicBezTo>
                    <a:pt x="20856" y="53439"/>
                    <a:pt x="24074" y="59873"/>
                    <a:pt x="26356" y="63504"/>
                  </a:cubicBezTo>
                  <a:cubicBezTo>
                    <a:pt x="30297" y="70040"/>
                    <a:pt x="32167" y="72013"/>
                    <a:pt x="35592" y="72013"/>
                  </a:cubicBezTo>
                  <a:cubicBezTo>
                    <a:pt x="40156" y="72013"/>
                    <a:pt x="43164" y="69417"/>
                    <a:pt x="48042" y="60702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68" name="raw_dual"/>
          <p:cNvGrpSpPr/>
          <p:nvPr/>
        </p:nvGrpSpPr>
        <p:grpSpPr>
          <a:xfrm>
            <a:off x="2195300" y="1532463"/>
            <a:ext cx="132671" cy="149041"/>
            <a:chOff x="2195300" y="1532463"/>
            <a:chExt cx="132671" cy="149041"/>
          </a:xfrm>
        </p:grpSpPr>
        <p:sp>
          <p:nvSpPr>
            <p:cNvPr id="457" name="raw_dual_outline_0"/>
            <p:cNvSpPr/>
            <p:nvPr/>
          </p:nvSpPr>
          <p:spPr>
            <a:xfrm>
              <a:off x="2195300" y="1538526"/>
              <a:ext cx="71112" cy="92682"/>
            </a:xfrm>
            <a:custGeom>
              <a:avLst/>
              <a:gdLst/>
              <a:ahLst/>
              <a:cxnLst/>
              <a:rect l="0" t="0" r="r" b="b"/>
              <a:pathLst>
                <a:path w="71112" h="92682">
                  <a:moveTo>
                    <a:pt x="71112" y="80990"/>
                  </a:moveTo>
                  <a:lnTo>
                    <a:pt x="70973" y="80712"/>
                  </a:lnTo>
                  <a:cubicBezTo>
                    <a:pt x="69024" y="80712"/>
                    <a:pt x="66659" y="85443"/>
                    <a:pt x="60813" y="85443"/>
                  </a:cubicBezTo>
                  <a:cubicBezTo>
                    <a:pt x="34512" y="85443"/>
                    <a:pt x="82383" y="0"/>
                    <a:pt x="41469" y="0"/>
                  </a:cubicBezTo>
                  <a:lnTo>
                    <a:pt x="39941" y="0"/>
                  </a:lnTo>
                  <a:cubicBezTo>
                    <a:pt x="37433" y="0"/>
                    <a:pt x="31591" y="2087"/>
                    <a:pt x="29781" y="3758"/>
                  </a:cubicBezTo>
                  <a:cubicBezTo>
                    <a:pt x="29643" y="3897"/>
                    <a:pt x="30754" y="5147"/>
                    <a:pt x="30893" y="5147"/>
                  </a:cubicBezTo>
                  <a:cubicBezTo>
                    <a:pt x="31591" y="4592"/>
                    <a:pt x="34651" y="3338"/>
                    <a:pt x="37433" y="3338"/>
                  </a:cubicBezTo>
                  <a:cubicBezTo>
                    <a:pt x="50935" y="3338"/>
                    <a:pt x="47315" y="25606"/>
                    <a:pt x="47315" y="29222"/>
                  </a:cubicBezTo>
                  <a:cubicBezTo>
                    <a:pt x="47454" y="29643"/>
                    <a:pt x="47315" y="29920"/>
                    <a:pt x="47177" y="30476"/>
                  </a:cubicBezTo>
                  <a:cubicBezTo>
                    <a:pt x="44394" y="43418"/>
                    <a:pt x="3342" y="79879"/>
                    <a:pt x="0" y="91150"/>
                  </a:cubicBezTo>
                  <a:lnTo>
                    <a:pt x="13914" y="91150"/>
                  </a:lnTo>
                  <a:cubicBezTo>
                    <a:pt x="13914" y="89757"/>
                    <a:pt x="14057" y="88368"/>
                    <a:pt x="14335" y="86836"/>
                  </a:cubicBezTo>
                  <a:cubicBezTo>
                    <a:pt x="18371" y="69024"/>
                    <a:pt x="45645" y="42025"/>
                    <a:pt x="45645" y="41886"/>
                  </a:cubicBezTo>
                  <a:lnTo>
                    <a:pt x="45783" y="41886"/>
                  </a:lnTo>
                  <a:cubicBezTo>
                    <a:pt x="44950" y="49125"/>
                    <a:pt x="32425" y="92682"/>
                    <a:pt x="55110" y="92682"/>
                  </a:cubicBezTo>
                  <a:cubicBezTo>
                    <a:pt x="61230" y="92682"/>
                    <a:pt x="70834" y="82661"/>
                    <a:pt x="71112" y="80990"/>
                  </a:cubicBezTo>
                  <a:close/>
                </a:path>
              </a:pathLst>
            </a:custGeom>
            <a:solidFill>
              <a:srgbClr val="087F8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8" name="raw_dual_outline_1"/>
            <p:cNvSpPr/>
            <p:nvPr/>
          </p:nvSpPr>
          <p:spPr>
            <a:xfrm>
              <a:off x="2276546" y="1532463"/>
              <a:ext cx="36004" cy="40155"/>
            </a:xfrm>
            <a:custGeom>
              <a:avLst/>
              <a:gdLst/>
              <a:ahLst/>
              <a:cxnLst/>
              <a:rect l="0" t="0" r="r" b="b"/>
              <a:pathLst>
                <a:path w="36004" h="40156">
                  <a:moveTo>
                    <a:pt x="36004" y="12037"/>
                  </a:moveTo>
                  <a:cubicBezTo>
                    <a:pt x="36004" y="10271"/>
                    <a:pt x="34552" y="8406"/>
                    <a:pt x="32683" y="8406"/>
                  </a:cubicBezTo>
                  <a:cubicBezTo>
                    <a:pt x="30298" y="8406"/>
                    <a:pt x="21788" y="16915"/>
                    <a:pt x="18780" y="18677"/>
                  </a:cubicBezTo>
                  <a:cubicBezTo>
                    <a:pt x="18780" y="12867"/>
                    <a:pt x="21685" y="7057"/>
                    <a:pt x="21685" y="3528"/>
                  </a:cubicBezTo>
                  <a:cubicBezTo>
                    <a:pt x="21685" y="1349"/>
                    <a:pt x="20233" y="0"/>
                    <a:pt x="18054" y="0"/>
                  </a:cubicBezTo>
                  <a:cubicBezTo>
                    <a:pt x="15978" y="0"/>
                    <a:pt x="14732" y="1453"/>
                    <a:pt x="14732" y="3528"/>
                  </a:cubicBezTo>
                  <a:cubicBezTo>
                    <a:pt x="14732" y="7576"/>
                    <a:pt x="17224" y="13073"/>
                    <a:pt x="17224" y="18677"/>
                  </a:cubicBezTo>
                  <a:cubicBezTo>
                    <a:pt x="13903" y="16704"/>
                    <a:pt x="5810" y="7989"/>
                    <a:pt x="3631" y="7989"/>
                  </a:cubicBezTo>
                  <a:cubicBezTo>
                    <a:pt x="1762" y="7989"/>
                    <a:pt x="103" y="9755"/>
                    <a:pt x="103" y="11620"/>
                  </a:cubicBezTo>
                  <a:cubicBezTo>
                    <a:pt x="103" y="15252"/>
                    <a:pt x="12347" y="17744"/>
                    <a:pt x="16395" y="20026"/>
                  </a:cubicBezTo>
                  <a:cubicBezTo>
                    <a:pt x="12037" y="22515"/>
                    <a:pt x="3941" y="23761"/>
                    <a:pt x="1869" y="25110"/>
                  </a:cubicBezTo>
                  <a:cubicBezTo>
                    <a:pt x="829" y="25837"/>
                    <a:pt x="0" y="26769"/>
                    <a:pt x="0" y="28119"/>
                  </a:cubicBezTo>
                  <a:cubicBezTo>
                    <a:pt x="0" y="29988"/>
                    <a:pt x="1453" y="31647"/>
                    <a:pt x="3322" y="31647"/>
                  </a:cubicBezTo>
                  <a:cubicBezTo>
                    <a:pt x="5707" y="31647"/>
                    <a:pt x="14113" y="23241"/>
                    <a:pt x="17224" y="21479"/>
                  </a:cubicBezTo>
                  <a:cubicBezTo>
                    <a:pt x="17224" y="27186"/>
                    <a:pt x="14319" y="32996"/>
                    <a:pt x="14319" y="36628"/>
                  </a:cubicBezTo>
                  <a:cubicBezTo>
                    <a:pt x="14319" y="38703"/>
                    <a:pt x="15875" y="40156"/>
                    <a:pt x="17951" y="40156"/>
                  </a:cubicBezTo>
                  <a:cubicBezTo>
                    <a:pt x="20026" y="40156"/>
                    <a:pt x="21272" y="38600"/>
                    <a:pt x="21272" y="36628"/>
                  </a:cubicBezTo>
                  <a:cubicBezTo>
                    <a:pt x="21272" y="32373"/>
                    <a:pt x="18883" y="26980"/>
                    <a:pt x="18883" y="21479"/>
                  </a:cubicBezTo>
                  <a:cubicBezTo>
                    <a:pt x="22102" y="23348"/>
                    <a:pt x="30298" y="32064"/>
                    <a:pt x="32373" y="32064"/>
                  </a:cubicBezTo>
                  <a:cubicBezTo>
                    <a:pt x="34242" y="32064"/>
                    <a:pt x="35901" y="30298"/>
                    <a:pt x="35901" y="28432"/>
                  </a:cubicBezTo>
                  <a:cubicBezTo>
                    <a:pt x="35901" y="27083"/>
                    <a:pt x="34969" y="26146"/>
                    <a:pt x="33929" y="25527"/>
                  </a:cubicBezTo>
                  <a:cubicBezTo>
                    <a:pt x="31230" y="23761"/>
                    <a:pt x="24070" y="22622"/>
                    <a:pt x="19610" y="20026"/>
                  </a:cubicBezTo>
                  <a:cubicBezTo>
                    <a:pt x="24487" y="17121"/>
                    <a:pt x="31127" y="16704"/>
                    <a:pt x="34135" y="14942"/>
                  </a:cubicBezTo>
                  <a:cubicBezTo>
                    <a:pt x="35278" y="14319"/>
                    <a:pt x="36004" y="13387"/>
                    <a:pt x="36004" y="12037"/>
                  </a:cubicBezTo>
                  <a:close/>
                </a:path>
              </a:pathLst>
            </a:custGeom>
            <a:solidFill>
              <a:srgbClr val="087F8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9" name="raw_dual_outline_2"/>
            <p:cNvSpPr/>
            <p:nvPr/>
          </p:nvSpPr>
          <p:spPr>
            <a:xfrm>
              <a:off x="2277334" y="1609492"/>
              <a:ext cx="50637" cy="72012"/>
            </a:xfrm>
            <a:custGeom>
              <a:avLst/>
              <a:gdLst/>
              <a:ahLst/>
              <a:cxnLst/>
              <a:rect l="0" t="0" r="r" b="b"/>
              <a:pathLst>
                <a:path w="50637" h="72013">
                  <a:moveTo>
                    <a:pt x="48042" y="60702"/>
                  </a:moveTo>
                  <a:lnTo>
                    <a:pt x="46176" y="59559"/>
                  </a:lnTo>
                  <a:cubicBezTo>
                    <a:pt x="45760" y="60496"/>
                    <a:pt x="45033" y="61428"/>
                    <a:pt x="44513" y="62258"/>
                  </a:cubicBezTo>
                  <a:cubicBezTo>
                    <a:pt x="42541" y="65472"/>
                    <a:pt x="41196" y="66615"/>
                    <a:pt x="39430" y="66615"/>
                  </a:cubicBezTo>
                  <a:cubicBezTo>
                    <a:pt x="37044" y="66615"/>
                    <a:pt x="34449" y="63294"/>
                    <a:pt x="29468" y="53229"/>
                  </a:cubicBezTo>
                  <a:lnTo>
                    <a:pt x="24904" y="44101"/>
                  </a:lnTo>
                  <a:cubicBezTo>
                    <a:pt x="41608" y="30508"/>
                    <a:pt x="45137" y="28432"/>
                    <a:pt x="50637" y="28122"/>
                  </a:cubicBezTo>
                  <a:lnTo>
                    <a:pt x="50534" y="26460"/>
                  </a:lnTo>
                  <a:lnTo>
                    <a:pt x="29885" y="26460"/>
                  </a:lnTo>
                  <a:lnTo>
                    <a:pt x="29988" y="28122"/>
                  </a:lnTo>
                  <a:lnTo>
                    <a:pt x="32064" y="28122"/>
                  </a:lnTo>
                  <a:cubicBezTo>
                    <a:pt x="35072" y="28122"/>
                    <a:pt x="36318" y="28849"/>
                    <a:pt x="36421" y="29988"/>
                  </a:cubicBezTo>
                  <a:cubicBezTo>
                    <a:pt x="36421" y="32063"/>
                    <a:pt x="30817" y="35592"/>
                    <a:pt x="20233" y="44101"/>
                  </a:cubicBezTo>
                  <a:lnTo>
                    <a:pt x="15149" y="47938"/>
                  </a:lnTo>
                  <a:lnTo>
                    <a:pt x="27706" y="520"/>
                  </a:lnTo>
                  <a:lnTo>
                    <a:pt x="26563" y="0"/>
                  </a:lnTo>
                  <a:cubicBezTo>
                    <a:pt x="19614" y="1349"/>
                    <a:pt x="15256" y="2076"/>
                    <a:pt x="8406" y="2802"/>
                  </a:cubicBezTo>
                  <a:lnTo>
                    <a:pt x="8406" y="4465"/>
                  </a:lnTo>
                  <a:lnTo>
                    <a:pt x="10481" y="4465"/>
                  </a:lnTo>
                  <a:cubicBezTo>
                    <a:pt x="14633" y="4465"/>
                    <a:pt x="16498" y="5191"/>
                    <a:pt x="16812" y="7056"/>
                  </a:cubicBezTo>
                  <a:cubicBezTo>
                    <a:pt x="16708" y="8822"/>
                    <a:pt x="15875" y="11517"/>
                    <a:pt x="14422" y="16395"/>
                  </a:cubicBezTo>
                  <a:lnTo>
                    <a:pt x="13490" y="19820"/>
                  </a:lnTo>
                  <a:lnTo>
                    <a:pt x="13387" y="20753"/>
                  </a:lnTo>
                  <a:lnTo>
                    <a:pt x="0" y="70870"/>
                  </a:lnTo>
                  <a:lnTo>
                    <a:pt x="9029" y="70870"/>
                  </a:lnTo>
                  <a:lnTo>
                    <a:pt x="14010" y="52193"/>
                  </a:lnTo>
                  <a:lnTo>
                    <a:pt x="18887" y="48871"/>
                  </a:lnTo>
                  <a:cubicBezTo>
                    <a:pt x="20856" y="53439"/>
                    <a:pt x="24074" y="59873"/>
                    <a:pt x="26357" y="63504"/>
                  </a:cubicBezTo>
                  <a:cubicBezTo>
                    <a:pt x="30297" y="70040"/>
                    <a:pt x="32167" y="72013"/>
                    <a:pt x="35592" y="72013"/>
                  </a:cubicBezTo>
                  <a:cubicBezTo>
                    <a:pt x="40156" y="72013"/>
                    <a:pt x="43164" y="69417"/>
                    <a:pt x="48042" y="60702"/>
                  </a:cubicBezTo>
                  <a:close/>
                </a:path>
              </a:pathLst>
            </a:custGeom>
            <a:solidFill>
              <a:srgbClr val="087F8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70" name="filter_chain"/>
          <p:cNvGrpSpPr/>
          <p:nvPr/>
        </p:nvGrpSpPr>
        <p:grpSpPr>
          <a:xfrm>
            <a:off x="2004956" y="1769351"/>
            <a:ext cx="998711" cy="157377"/>
            <a:chOff x="2004956" y="1769351"/>
            <a:chExt cx="998711" cy="157377"/>
          </a:xfrm>
        </p:grpSpPr>
        <p:sp>
          <p:nvSpPr>
            <p:cNvPr id="460" name="filter_chain_outline_0"/>
            <p:cNvSpPr/>
            <p:nvPr/>
          </p:nvSpPr>
          <p:spPr>
            <a:xfrm>
              <a:off x="2004956" y="1786744"/>
              <a:ext cx="182819" cy="113855"/>
            </a:xfrm>
            <a:custGeom>
              <a:avLst/>
              <a:gdLst/>
              <a:ahLst/>
              <a:cxnLst/>
              <a:rect l="0" t="0" r="r" b="b"/>
              <a:pathLst>
                <a:path w="182819" h="113856">
                  <a:moveTo>
                    <a:pt x="48958" y="67806"/>
                  </a:moveTo>
                  <a:lnTo>
                    <a:pt x="47188" y="66667"/>
                  </a:lnTo>
                  <a:cubicBezTo>
                    <a:pt x="41116" y="75525"/>
                    <a:pt x="36560" y="78561"/>
                    <a:pt x="29349" y="78561"/>
                  </a:cubicBezTo>
                  <a:cubicBezTo>
                    <a:pt x="17713" y="78561"/>
                    <a:pt x="9739" y="68441"/>
                    <a:pt x="9739" y="53892"/>
                  </a:cubicBezTo>
                  <a:cubicBezTo>
                    <a:pt x="9739" y="40735"/>
                    <a:pt x="16700" y="31877"/>
                    <a:pt x="26944" y="31877"/>
                  </a:cubicBezTo>
                  <a:cubicBezTo>
                    <a:pt x="31500" y="31877"/>
                    <a:pt x="33143" y="33270"/>
                    <a:pt x="34409" y="37953"/>
                  </a:cubicBezTo>
                  <a:lnTo>
                    <a:pt x="35167" y="40735"/>
                  </a:lnTo>
                  <a:cubicBezTo>
                    <a:pt x="36179" y="44402"/>
                    <a:pt x="38457" y="46554"/>
                    <a:pt x="41239" y="46554"/>
                  </a:cubicBezTo>
                  <a:cubicBezTo>
                    <a:pt x="44529" y="46554"/>
                    <a:pt x="47188" y="44148"/>
                    <a:pt x="47188" y="41239"/>
                  </a:cubicBezTo>
                  <a:cubicBezTo>
                    <a:pt x="47188" y="34155"/>
                    <a:pt x="38330" y="28210"/>
                    <a:pt x="27706" y="28210"/>
                  </a:cubicBezTo>
                  <a:cubicBezTo>
                    <a:pt x="21761" y="28210"/>
                    <a:pt x="15689" y="30488"/>
                    <a:pt x="10624" y="34663"/>
                  </a:cubicBezTo>
                  <a:cubicBezTo>
                    <a:pt x="3794" y="40354"/>
                    <a:pt x="0" y="49085"/>
                    <a:pt x="0" y="59583"/>
                  </a:cubicBezTo>
                  <a:cubicBezTo>
                    <a:pt x="0" y="75902"/>
                    <a:pt x="9993" y="87670"/>
                    <a:pt x="24035" y="87670"/>
                  </a:cubicBezTo>
                  <a:cubicBezTo>
                    <a:pt x="29476" y="87670"/>
                    <a:pt x="34282" y="85896"/>
                    <a:pt x="38584" y="82356"/>
                  </a:cubicBezTo>
                  <a:cubicBezTo>
                    <a:pt x="42378" y="79319"/>
                    <a:pt x="44910" y="75652"/>
                    <a:pt x="48958" y="67806"/>
                  </a:cubicBezTo>
                  <a:close/>
                  <a:moveTo>
                    <a:pt x="85526" y="86404"/>
                  </a:moveTo>
                  <a:lnTo>
                    <a:pt x="85526" y="84507"/>
                  </a:lnTo>
                  <a:cubicBezTo>
                    <a:pt x="77429" y="83999"/>
                    <a:pt x="76036" y="82737"/>
                    <a:pt x="76036" y="75775"/>
                  </a:cubicBezTo>
                  <a:lnTo>
                    <a:pt x="76036" y="254"/>
                  </a:lnTo>
                  <a:lnTo>
                    <a:pt x="75532" y="0"/>
                  </a:lnTo>
                  <a:cubicBezTo>
                    <a:pt x="68952" y="2151"/>
                    <a:pt x="64146" y="3413"/>
                    <a:pt x="55419" y="5564"/>
                  </a:cubicBezTo>
                  <a:lnTo>
                    <a:pt x="55419" y="7588"/>
                  </a:lnTo>
                  <a:lnTo>
                    <a:pt x="56177" y="7588"/>
                  </a:lnTo>
                  <a:cubicBezTo>
                    <a:pt x="57570" y="7461"/>
                    <a:pt x="59086" y="7338"/>
                    <a:pt x="60098" y="7338"/>
                  </a:cubicBezTo>
                  <a:cubicBezTo>
                    <a:pt x="64146" y="7338"/>
                    <a:pt x="65412" y="9108"/>
                    <a:pt x="65412" y="15054"/>
                  </a:cubicBezTo>
                  <a:lnTo>
                    <a:pt x="65412" y="75398"/>
                  </a:lnTo>
                  <a:cubicBezTo>
                    <a:pt x="65412" y="82229"/>
                    <a:pt x="63642" y="83872"/>
                    <a:pt x="55669" y="84507"/>
                  </a:cubicBezTo>
                  <a:lnTo>
                    <a:pt x="55669" y="86404"/>
                  </a:lnTo>
                  <a:lnTo>
                    <a:pt x="85526" y="86404"/>
                  </a:lnTo>
                  <a:close/>
                  <a:moveTo>
                    <a:pt x="120195" y="86404"/>
                  </a:moveTo>
                  <a:lnTo>
                    <a:pt x="120195" y="84507"/>
                  </a:lnTo>
                  <a:cubicBezTo>
                    <a:pt x="111844" y="83872"/>
                    <a:pt x="110832" y="82610"/>
                    <a:pt x="110832" y="73501"/>
                  </a:cubicBezTo>
                  <a:lnTo>
                    <a:pt x="110832" y="28591"/>
                  </a:lnTo>
                  <a:lnTo>
                    <a:pt x="110324" y="28210"/>
                  </a:lnTo>
                  <a:lnTo>
                    <a:pt x="90719" y="35167"/>
                  </a:lnTo>
                  <a:lnTo>
                    <a:pt x="90719" y="37064"/>
                  </a:lnTo>
                  <a:lnTo>
                    <a:pt x="91731" y="36941"/>
                  </a:lnTo>
                  <a:cubicBezTo>
                    <a:pt x="93247" y="36687"/>
                    <a:pt x="94890" y="36560"/>
                    <a:pt x="96029" y="36560"/>
                  </a:cubicBezTo>
                  <a:cubicBezTo>
                    <a:pt x="99065" y="36560"/>
                    <a:pt x="100204" y="38584"/>
                    <a:pt x="100204" y="44148"/>
                  </a:cubicBezTo>
                  <a:lnTo>
                    <a:pt x="100204" y="73501"/>
                  </a:lnTo>
                  <a:cubicBezTo>
                    <a:pt x="100204" y="82610"/>
                    <a:pt x="98938" y="83999"/>
                    <a:pt x="90211" y="84507"/>
                  </a:cubicBezTo>
                  <a:lnTo>
                    <a:pt x="90211" y="86404"/>
                  </a:lnTo>
                  <a:lnTo>
                    <a:pt x="120195" y="86404"/>
                  </a:lnTo>
                  <a:close/>
                  <a:moveTo>
                    <a:pt x="111971" y="6449"/>
                  </a:moveTo>
                  <a:cubicBezTo>
                    <a:pt x="111971" y="2909"/>
                    <a:pt x="109185" y="0"/>
                    <a:pt x="105518" y="0"/>
                  </a:cubicBezTo>
                  <a:cubicBezTo>
                    <a:pt x="101974" y="0"/>
                    <a:pt x="99065" y="2909"/>
                    <a:pt x="99065" y="6449"/>
                  </a:cubicBezTo>
                  <a:cubicBezTo>
                    <a:pt x="99065" y="10120"/>
                    <a:pt x="101974" y="12902"/>
                    <a:pt x="105518" y="12902"/>
                  </a:cubicBezTo>
                  <a:cubicBezTo>
                    <a:pt x="109185" y="12902"/>
                    <a:pt x="111971" y="10120"/>
                    <a:pt x="111971" y="6449"/>
                  </a:cubicBezTo>
                  <a:close/>
                  <a:moveTo>
                    <a:pt x="182819" y="55158"/>
                  </a:moveTo>
                  <a:cubicBezTo>
                    <a:pt x="182819" y="39469"/>
                    <a:pt x="173961" y="28210"/>
                    <a:pt x="161689" y="28210"/>
                  </a:cubicBezTo>
                  <a:cubicBezTo>
                    <a:pt x="154605" y="28210"/>
                    <a:pt x="149041" y="31373"/>
                    <a:pt x="143474" y="38203"/>
                  </a:cubicBezTo>
                  <a:lnTo>
                    <a:pt x="143474" y="28464"/>
                  </a:lnTo>
                  <a:lnTo>
                    <a:pt x="142715" y="28210"/>
                  </a:lnTo>
                  <a:cubicBezTo>
                    <a:pt x="135885" y="30865"/>
                    <a:pt x="131456" y="32512"/>
                    <a:pt x="124499" y="34663"/>
                  </a:cubicBezTo>
                  <a:lnTo>
                    <a:pt x="124499" y="36687"/>
                  </a:lnTo>
                  <a:cubicBezTo>
                    <a:pt x="125638" y="36560"/>
                    <a:pt x="126523" y="36560"/>
                    <a:pt x="127662" y="36560"/>
                  </a:cubicBezTo>
                  <a:cubicBezTo>
                    <a:pt x="131964" y="36560"/>
                    <a:pt x="132849" y="37826"/>
                    <a:pt x="132849" y="43771"/>
                  </a:cubicBezTo>
                  <a:lnTo>
                    <a:pt x="132849" y="102977"/>
                  </a:lnTo>
                  <a:cubicBezTo>
                    <a:pt x="132849" y="109553"/>
                    <a:pt x="131456" y="110946"/>
                    <a:pt x="123991" y="111705"/>
                  </a:cubicBezTo>
                  <a:lnTo>
                    <a:pt x="123991" y="113856"/>
                  </a:lnTo>
                  <a:lnTo>
                    <a:pt x="154605" y="113856"/>
                  </a:lnTo>
                  <a:lnTo>
                    <a:pt x="154605" y="111578"/>
                  </a:lnTo>
                  <a:cubicBezTo>
                    <a:pt x="145121" y="111451"/>
                    <a:pt x="143474" y="110061"/>
                    <a:pt x="143474" y="102092"/>
                  </a:cubicBezTo>
                  <a:lnTo>
                    <a:pt x="143474" y="82229"/>
                  </a:lnTo>
                  <a:cubicBezTo>
                    <a:pt x="147902" y="86404"/>
                    <a:pt x="150939" y="87670"/>
                    <a:pt x="156252" y="87670"/>
                  </a:cubicBezTo>
                  <a:cubicBezTo>
                    <a:pt x="171179" y="87670"/>
                    <a:pt x="182819" y="73501"/>
                    <a:pt x="182819" y="55158"/>
                  </a:cubicBezTo>
                  <a:close/>
                  <a:moveTo>
                    <a:pt x="171937" y="60091"/>
                  </a:moveTo>
                  <a:cubicBezTo>
                    <a:pt x="171937" y="74132"/>
                    <a:pt x="165738" y="83622"/>
                    <a:pt x="156630" y="83622"/>
                  </a:cubicBezTo>
                  <a:cubicBezTo>
                    <a:pt x="150685" y="83622"/>
                    <a:pt x="143474" y="79065"/>
                    <a:pt x="143474" y="75271"/>
                  </a:cubicBezTo>
                  <a:lnTo>
                    <a:pt x="143474" y="44148"/>
                  </a:lnTo>
                  <a:cubicBezTo>
                    <a:pt x="143474" y="40354"/>
                    <a:pt x="150558" y="35802"/>
                    <a:pt x="156379" y="35802"/>
                  </a:cubicBezTo>
                  <a:cubicBezTo>
                    <a:pt x="165738" y="35802"/>
                    <a:pt x="171937" y="45414"/>
                    <a:pt x="171937" y="60091"/>
                  </a:cubicBezTo>
                  <a:close/>
                </a:path>
              </a:pathLst>
            </a:custGeom>
            <a:solidFill>
              <a:srgbClr val="087F8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1" name="filter_chain_outline_1"/>
            <p:cNvSpPr/>
            <p:nvPr/>
          </p:nvSpPr>
          <p:spPr>
            <a:xfrm>
              <a:off x="2228240" y="1810906"/>
              <a:ext cx="61229" cy="61229"/>
            </a:xfrm>
            <a:custGeom>
              <a:avLst/>
              <a:gdLst/>
              <a:ahLst/>
              <a:cxnLst/>
              <a:rect l="0" t="0" r="r" b="b"/>
              <a:pathLst>
                <a:path w="61229" h="61230">
                  <a:moveTo>
                    <a:pt x="61229" y="34790"/>
                  </a:moveTo>
                  <a:lnTo>
                    <a:pt x="61229" y="26440"/>
                  </a:lnTo>
                  <a:lnTo>
                    <a:pt x="34789" y="26440"/>
                  </a:lnTo>
                  <a:lnTo>
                    <a:pt x="34789" y="0"/>
                  </a:lnTo>
                  <a:lnTo>
                    <a:pt x="26439" y="0"/>
                  </a:lnTo>
                  <a:lnTo>
                    <a:pt x="26439" y="26440"/>
                  </a:lnTo>
                  <a:lnTo>
                    <a:pt x="0" y="26440"/>
                  </a:lnTo>
                  <a:lnTo>
                    <a:pt x="0" y="34790"/>
                  </a:lnTo>
                  <a:lnTo>
                    <a:pt x="26439" y="34790"/>
                  </a:lnTo>
                  <a:lnTo>
                    <a:pt x="26439" y="61230"/>
                  </a:lnTo>
                  <a:lnTo>
                    <a:pt x="34789" y="61230"/>
                  </a:lnTo>
                  <a:lnTo>
                    <a:pt x="34789" y="34790"/>
                  </a:lnTo>
                  <a:lnTo>
                    <a:pt x="61229" y="34790"/>
                  </a:lnTo>
                  <a:close/>
                </a:path>
              </a:pathLst>
            </a:custGeom>
            <a:solidFill>
              <a:srgbClr val="087F8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2" name="filter_chain_outline_2"/>
            <p:cNvSpPr/>
            <p:nvPr/>
          </p:nvSpPr>
          <p:spPr>
            <a:xfrm>
              <a:off x="2327669" y="1787883"/>
              <a:ext cx="277580" cy="85264"/>
            </a:xfrm>
            <a:custGeom>
              <a:avLst/>
              <a:gdLst/>
              <a:ahLst/>
              <a:cxnLst/>
              <a:rect l="0" t="0" r="r" b="b"/>
              <a:pathLst>
                <a:path w="277580" h="85265">
                  <a:moveTo>
                    <a:pt x="74005" y="63885"/>
                  </a:moveTo>
                  <a:lnTo>
                    <a:pt x="70461" y="63885"/>
                  </a:lnTo>
                  <a:cubicBezTo>
                    <a:pt x="64139" y="77549"/>
                    <a:pt x="58698" y="80585"/>
                    <a:pt x="40608" y="80585"/>
                  </a:cubicBezTo>
                  <a:lnTo>
                    <a:pt x="37191" y="80585"/>
                  </a:lnTo>
                  <a:cubicBezTo>
                    <a:pt x="31119" y="80585"/>
                    <a:pt x="26059" y="80077"/>
                    <a:pt x="24920" y="79192"/>
                  </a:cubicBezTo>
                  <a:cubicBezTo>
                    <a:pt x="24162" y="78684"/>
                    <a:pt x="23908" y="77549"/>
                    <a:pt x="23908" y="75144"/>
                  </a:cubicBezTo>
                  <a:lnTo>
                    <a:pt x="23908" y="43898"/>
                  </a:lnTo>
                  <a:lnTo>
                    <a:pt x="43391" y="43898"/>
                  </a:lnTo>
                  <a:cubicBezTo>
                    <a:pt x="53764" y="43898"/>
                    <a:pt x="55662" y="45541"/>
                    <a:pt x="57305" y="56043"/>
                  </a:cubicBezTo>
                  <a:lnTo>
                    <a:pt x="60215" y="56043"/>
                  </a:lnTo>
                  <a:lnTo>
                    <a:pt x="60215" y="26690"/>
                  </a:lnTo>
                  <a:lnTo>
                    <a:pt x="57305" y="26690"/>
                  </a:lnTo>
                  <a:cubicBezTo>
                    <a:pt x="55662" y="37064"/>
                    <a:pt x="53637" y="38711"/>
                    <a:pt x="43391" y="38711"/>
                  </a:cubicBezTo>
                  <a:lnTo>
                    <a:pt x="23908" y="38711"/>
                  </a:lnTo>
                  <a:lnTo>
                    <a:pt x="23908" y="10624"/>
                  </a:lnTo>
                  <a:cubicBezTo>
                    <a:pt x="23908" y="7084"/>
                    <a:pt x="24666" y="6322"/>
                    <a:pt x="28084" y="6322"/>
                  </a:cubicBezTo>
                  <a:lnTo>
                    <a:pt x="45160" y="6322"/>
                  </a:lnTo>
                  <a:cubicBezTo>
                    <a:pt x="59456" y="6322"/>
                    <a:pt x="62238" y="8223"/>
                    <a:pt x="64389" y="19606"/>
                  </a:cubicBezTo>
                  <a:lnTo>
                    <a:pt x="67553" y="19606"/>
                  </a:lnTo>
                  <a:lnTo>
                    <a:pt x="67175" y="1516"/>
                  </a:lnTo>
                  <a:lnTo>
                    <a:pt x="0" y="1516"/>
                  </a:lnTo>
                  <a:lnTo>
                    <a:pt x="0" y="3921"/>
                  </a:lnTo>
                  <a:cubicBezTo>
                    <a:pt x="9359" y="4679"/>
                    <a:pt x="11006" y="6322"/>
                    <a:pt x="11006" y="15307"/>
                  </a:cubicBezTo>
                  <a:lnTo>
                    <a:pt x="11006" y="71477"/>
                  </a:lnTo>
                  <a:cubicBezTo>
                    <a:pt x="11006" y="80458"/>
                    <a:pt x="9232" y="82229"/>
                    <a:pt x="0" y="82860"/>
                  </a:cubicBezTo>
                  <a:lnTo>
                    <a:pt x="0" y="85265"/>
                  </a:lnTo>
                  <a:lnTo>
                    <a:pt x="68311" y="85265"/>
                  </a:lnTo>
                  <a:lnTo>
                    <a:pt x="74005" y="63885"/>
                  </a:lnTo>
                  <a:close/>
                  <a:moveTo>
                    <a:pt x="184963" y="85265"/>
                  </a:moveTo>
                  <a:lnTo>
                    <a:pt x="184963" y="82860"/>
                  </a:lnTo>
                  <a:cubicBezTo>
                    <a:pt x="175727" y="82229"/>
                    <a:pt x="173957" y="80458"/>
                    <a:pt x="173957" y="71477"/>
                  </a:cubicBezTo>
                  <a:lnTo>
                    <a:pt x="173957" y="15307"/>
                  </a:lnTo>
                  <a:cubicBezTo>
                    <a:pt x="173957" y="6322"/>
                    <a:pt x="175600" y="4679"/>
                    <a:pt x="184963" y="3921"/>
                  </a:cubicBezTo>
                  <a:lnTo>
                    <a:pt x="184963" y="1516"/>
                  </a:lnTo>
                  <a:lnTo>
                    <a:pt x="159789" y="1516"/>
                  </a:lnTo>
                  <a:lnTo>
                    <a:pt x="131829" y="65401"/>
                  </a:lnTo>
                  <a:lnTo>
                    <a:pt x="102607" y="1516"/>
                  </a:lnTo>
                  <a:lnTo>
                    <a:pt x="77556" y="1516"/>
                  </a:lnTo>
                  <a:lnTo>
                    <a:pt x="77556" y="3921"/>
                  </a:lnTo>
                  <a:cubicBezTo>
                    <a:pt x="87931" y="4552"/>
                    <a:pt x="89574" y="6072"/>
                    <a:pt x="89574" y="15307"/>
                  </a:cubicBezTo>
                  <a:lnTo>
                    <a:pt x="89574" y="66667"/>
                  </a:lnTo>
                  <a:cubicBezTo>
                    <a:pt x="89574" y="79696"/>
                    <a:pt x="87804" y="82102"/>
                    <a:pt x="77306" y="82860"/>
                  </a:cubicBezTo>
                  <a:lnTo>
                    <a:pt x="77306" y="85265"/>
                  </a:lnTo>
                  <a:lnTo>
                    <a:pt x="107032" y="85265"/>
                  </a:lnTo>
                  <a:lnTo>
                    <a:pt x="107032" y="82860"/>
                  </a:lnTo>
                  <a:cubicBezTo>
                    <a:pt x="97293" y="82356"/>
                    <a:pt x="95142" y="79446"/>
                    <a:pt x="95142" y="66667"/>
                  </a:cubicBezTo>
                  <a:lnTo>
                    <a:pt x="95142" y="15684"/>
                  </a:lnTo>
                  <a:lnTo>
                    <a:pt x="126896" y="85265"/>
                  </a:lnTo>
                  <a:lnTo>
                    <a:pt x="128666" y="85265"/>
                  </a:lnTo>
                  <a:lnTo>
                    <a:pt x="161051" y="12775"/>
                  </a:lnTo>
                  <a:lnTo>
                    <a:pt x="161051" y="70084"/>
                  </a:lnTo>
                  <a:cubicBezTo>
                    <a:pt x="161051" y="80585"/>
                    <a:pt x="159535" y="82229"/>
                    <a:pt x="149541" y="82860"/>
                  </a:cubicBezTo>
                  <a:lnTo>
                    <a:pt x="149541" y="85265"/>
                  </a:lnTo>
                  <a:lnTo>
                    <a:pt x="184963" y="85265"/>
                  </a:lnTo>
                  <a:close/>
                  <a:moveTo>
                    <a:pt x="277580" y="85265"/>
                  </a:moveTo>
                  <a:lnTo>
                    <a:pt x="277580" y="82860"/>
                  </a:lnTo>
                  <a:cubicBezTo>
                    <a:pt x="271888" y="82483"/>
                    <a:pt x="270622" y="81216"/>
                    <a:pt x="266197" y="71854"/>
                  </a:cubicBezTo>
                  <a:lnTo>
                    <a:pt x="234693" y="0"/>
                  </a:lnTo>
                  <a:lnTo>
                    <a:pt x="232165" y="0"/>
                  </a:lnTo>
                  <a:lnTo>
                    <a:pt x="205852" y="62115"/>
                  </a:lnTo>
                  <a:cubicBezTo>
                    <a:pt x="197756" y="80585"/>
                    <a:pt x="196237" y="82483"/>
                    <a:pt x="190163" y="82860"/>
                  </a:cubicBezTo>
                  <a:lnTo>
                    <a:pt x="190163" y="85265"/>
                  </a:lnTo>
                  <a:lnTo>
                    <a:pt x="215214" y="85265"/>
                  </a:lnTo>
                  <a:lnTo>
                    <a:pt x="215214" y="82860"/>
                  </a:lnTo>
                  <a:cubicBezTo>
                    <a:pt x="209142" y="82860"/>
                    <a:pt x="206610" y="81216"/>
                    <a:pt x="206610" y="77672"/>
                  </a:cubicBezTo>
                  <a:cubicBezTo>
                    <a:pt x="206610" y="76156"/>
                    <a:pt x="206991" y="74386"/>
                    <a:pt x="207622" y="72739"/>
                  </a:cubicBezTo>
                  <a:lnTo>
                    <a:pt x="213440" y="57940"/>
                  </a:lnTo>
                  <a:lnTo>
                    <a:pt x="246587" y="57940"/>
                  </a:lnTo>
                  <a:lnTo>
                    <a:pt x="251775" y="70084"/>
                  </a:lnTo>
                  <a:cubicBezTo>
                    <a:pt x="253291" y="73624"/>
                    <a:pt x="254175" y="76787"/>
                    <a:pt x="254175" y="78684"/>
                  </a:cubicBezTo>
                  <a:cubicBezTo>
                    <a:pt x="254175" y="79823"/>
                    <a:pt x="253418" y="81216"/>
                    <a:pt x="252406" y="81721"/>
                  </a:cubicBezTo>
                  <a:cubicBezTo>
                    <a:pt x="250890" y="82610"/>
                    <a:pt x="249878" y="82860"/>
                    <a:pt x="245322" y="82860"/>
                  </a:cubicBezTo>
                  <a:lnTo>
                    <a:pt x="245322" y="85265"/>
                  </a:lnTo>
                  <a:lnTo>
                    <a:pt x="277580" y="85265"/>
                  </a:lnTo>
                  <a:close/>
                  <a:moveTo>
                    <a:pt x="244818" y="52753"/>
                  </a:moveTo>
                  <a:lnTo>
                    <a:pt x="215591" y="52753"/>
                  </a:lnTo>
                  <a:lnTo>
                    <a:pt x="230141" y="17962"/>
                  </a:lnTo>
                  <a:lnTo>
                    <a:pt x="244818" y="52753"/>
                  </a:lnTo>
                  <a:close/>
                </a:path>
              </a:pathLst>
            </a:custGeom>
            <a:solidFill>
              <a:srgbClr val="087F8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3" name="filter_chain_outline_3"/>
            <p:cNvSpPr/>
            <p:nvPr/>
          </p:nvSpPr>
          <p:spPr>
            <a:xfrm>
              <a:off x="2685478" y="1814700"/>
              <a:ext cx="113859" cy="51867"/>
            </a:xfrm>
            <a:custGeom>
              <a:avLst/>
              <a:gdLst/>
              <a:ahLst/>
              <a:cxnLst/>
              <a:rect l="0" t="0" r="r" b="b"/>
              <a:pathLst>
                <a:path w="113859" h="51868">
                  <a:moveTo>
                    <a:pt x="113859" y="25809"/>
                  </a:moveTo>
                  <a:lnTo>
                    <a:pt x="89063" y="0"/>
                  </a:lnTo>
                  <a:lnTo>
                    <a:pt x="85142" y="4175"/>
                  </a:lnTo>
                  <a:lnTo>
                    <a:pt x="100195" y="22392"/>
                  </a:lnTo>
                  <a:lnTo>
                    <a:pt x="0" y="22392"/>
                  </a:lnTo>
                  <a:lnTo>
                    <a:pt x="0" y="29476"/>
                  </a:lnTo>
                  <a:lnTo>
                    <a:pt x="100195" y="29476"/>
                  </a:lnTo>
                  <a:lnTo>
                    <a:pt x="85142" y="47696"/>
                  </a:lnTo>
                  <a:lnTo>
                    <a:pt x="89063" y="51868"/>
                  </a:lnTo>
                  <a:lnTo>
                    <a:pt x="113859" y="25809"/>
                  </a:lnTo>
                  <a:close/>
                </a:path>
              </a:pathLst>
            </a:custGeom>
            <a:solidFill>
              <a:srgbClr val="087F8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4" name="filter_chain_outline_4"/>
            <p:cNvSpPr/>
            <p:nvPr/>
          </p:nvSpPr>
          <p:spPr>
            <a:xfrm>
              <a:off x="2900237" y="1769351"/>
              <a:ext cx="39342" cy="6830"/>
            </a:xfrm>
            <a:custGeom>
              <a:avLst/>
              <a:gdLst/>
              <a:ahLst/>
              <a:cxnLst/>
              <a:rect l="0" t="0" r="r" b="b"/>
              <a:pathLst>
                <a:path w="39342" h="6830">
                  <a:moveTo>
                    <a:pt x="39342" y="6830"/>
                  </a:moveTo>
                  <a:lnTo>
                    <a:pt x="39342" y="0"/>
                  </a:lnTo>
                  <a:lnTo>
                    <a:pt x="0" y="0"/>
                  </a:lnTo>
                  <a:lnTo>
                    <a:pt x="0" y="6830"/>
                  </a:lnTo>
                  <a:lnTo>
                    <a:pt x="39342" y="6830"/>
                  </a:lnTo>
                  <a:close/>
                </a:path>
              </a:pathLst>
            </a:custGeom>
            <a:solidFill>
              <a:srgbClr val="087F8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5" name="filter_chain_outline_5"/>
            <p:cNvSpPr/>
            <p:nvPr/>
          </p:nvSpPr>
          <p:spPr>
            <a:xfrm>
              <a:off x="2877869" y="1790284"/>
              <a:ext cx="64646" cy="84256"/>
            </a:xfrm>
            <a:custGeom>
              <a:avLst/>
              <a:gdLst/>
              <a:ahLst/>
              <a:cxnLst/>
              <a:rect l="0" t="0" r="r" b="b"/>
              <a:pathLst>
                <a:path w="64647" h="84257">
                  <a:moveTo>
                    <a:pt x="64647" y="73628"/>
                  </a:moveTo>
                  <a:lnTo>
                    <a:pt x="64520" y="73374"/>
                  </a:lnTo>
                  <a:cubicBezTo>
                    <a:pt x="62746" y="73374"/>
                    <a:pt x="60599" y="77676"/>
                    <a:pt x="55285" y="77676"/>
                  </a:cubicBezTo>
                  <a:cubicBezTo>
                    <a:pt x="31373" y="77676"/>
                    <a:pt x="74894" y="0"/>
                    <a:pt x="37699" y="0"/>
                  </a:cubicBezTo>
                  <a:lnTo>
                    <a:pt x="36306" y="0"/>
                  </a:lnTo>
                  <a:cubicBezTo>
                    <a:pt x="34032" y="0"/>
                    <a:pt x="28718" y="1897"/>
                    <a:pt x="27071" y="3417"/>
                  </a:cubicBezTo>
                  <a:cubicBezTo>
                    <a:pt x="26948" y="3544"/>
                    <a:pt x="27960" y="4683"/>
                    <a:pt x="28083" y="4683"/>
                  </a:cubicBezTo>
                  <a:cubicBezTo>
                    <a:pt x="28718" y="4175"/>
                    <a:pt x="31500" y="3036"/>
                    <a:pt x="34032" y="3036"/>
                  </a:cubicBezTo>
                  <a:cubicBezTo>
                    <a:pt x="46303" y="3036"/>
                    <a:pt x="43013" y="23277"/>
                    <a:pt x="43013" y="26567"/>
                  </a:cubicBezTo>
                  <a:cubicBezTo>
                    <a:pt x="43140" y="26948"/>
                    <a:pt x="43013" y="27202"/>
                    <a:pt x="42886" y="27706"/>
                  </a:cubicBezTo>
                  <a:cubicBezTo>
                    <a:pt x="40354" y="39473"/>
                    <a:pt x="3036" y="72616"/>
                    <a:pt x="0" y="82864"/>
                  </a:cubicBezTo>
                  <a:lnTo>
                    <a:pt x="12652" y="82864"/>
                  </a:lnTo>
                  <a:cubicBezTo>
                    <a:pt x="12652" y="81598"/>
                    <a:pt x="12775" y="80332"/>
                    <a:pt x="13029" y="78942"/>
                  </a:cubicBezTo>
                  <a:cubicBezTo>
                    <a:pt x="16700" y="62750"/>
                    <a:pt x="41493" y="38207"/>
                    <a:pt x="41493" y="38080"/>
                  </a:cubicBezTo>
                  <a:lnTo>
                    <a:pt x="41620" y="38080"/>
                  </a:lnTo>
                  <a:cubicBezTo>
                    <a:pt x="40862" y="44656"/>
                    <a:pt x="29476" y="84257"/>
                    <a:pt x="50098" y="84257"/>
                  </a:cubicBezTo>
                  <a:cubicBezTo>
                    <a:pt x="55662" y="84257"/>
                    <a:pt x="64393" y="75148"/>
                    <a:pt x="64647" y="73628"/>
                  </a:cubicBezTo>
                  <a:close/>
                </a:path>
              </a:pathLst>
            </a:custGeom>
            <a:solidFill>
              <a:srgbClr val="087F8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6" name="filter_chain_outline_6"/>
            <p:cNvSpPr/>
            <p:nvPr/>
          </p:nvSpPr>
          <p:spPr>
            <a:xfrm>
              <a:off x="2952306" y="1780532"/>
              <a:ext cx="36004" cy="40155"/>
            </a:xfrm>
            <a:custGeom>
              <a:avLst/>
              <a:gdLst/>
              <a:ahLst/>
              <a:cxnLst/>
              <a:rect l="0" t="0" r="r" b="b"/>
              <a:pathLst>
                <a:path w="36004" h="40156">
                  <a:moveTo>
                    <a:pt x="36004" y="12037"/>
                  </a:moveTo>
                  <a:cubicBezTo>
                    <a:pt x="36004" y="10271"/>
                    <a:pt x="34552" y="8406"/>
                    <a:pt x="32683" y="8406"/>
                  </a:cubicBezTo>
                  <a:cubicBezTo>
                    <a:pt x="30297" y="8406"/>
                    <a:pt x="21788" y="16915"/>
                    <a:pt x="18780" y="18677"/>
                  </a:cubicBezTo>
                  <a:cubicBezTo>
                    <a:pt x="18780" y="12867"/>
                    <a:pt x="21685" y="7057"/>
                    <a:pt x="21685" y="3528"/>
                  </a:cubicBezTo>
                  <a:cubicBezTo>
                    <a:pt x="21685" y="1349"/>
                    <a:pt x="20233" y="0"/>
                    <a:pt x="18054" y="0"/>
                  </a:cubicBezTo>
                  <a:cubicBezTo>
                    <a:pt x="15978" y="0"/>
                    <a:pt x="14732" y="1453"/>
                    <a:pt x="14732" y="3528"/>
                  </a:cubicBezTo>
                  <a:cubicBezTo>
                    <a:pt x="14732" y="7576"/>
                    <a:pt x="17224" y="13073"/>
                    <a:pt x="17224" y="18677"/>
                  </a:cubicBezTo>
                  <a:cubicBezTo>
                    <a:pt x="13903" y="16705"/>
                    <a:pt x="5810" y="7989"/>
                    <a:pt x="3631" y="7989"/>
                  </a:cubicBezTo>
                  <a:cubicBezTo>
                    <a:pt x="1762" y="7989"/>
                    <a:pt x="103" y="9755"/>
                    <a:pt x="103" y="11620"/>
                  </a:cubicBezTo>
                  <a:cubicBezTo>
                    <a:pt x="103" y="15252"/>
                    <a:pt x="12347" y="17744"/>
                    <a:pt x="16395" y="20026"/>
                  </a:cubicBezTo>
                  <a:cubicBezTo>
                    <a:pt x="12037" y="22515"/>
                    <a:pt x="3941" y="23761"/>
                    <a:pt x="1869" y="25110"/>
                  </a:cubicBezTo>
                  <a:cubicBezTo>
                    <a:pt x="829" y="25837"/>
                    <a:pt x="0" y="26769"/>
                    <a:pt x="0" y="28119"/>
                  </a:cubicBezTo>
                  <a:cubicBezTo>
                    <a:pt x="0" y="29988"/>
                    <a:pt x="1453" y="31647"/>
                    <a:pt x="3322" y="31647"/>
                  </a:cubicBezTo>
                  <a:cubicBezTo>
                    <a:pt x="5707" y="31647"/>
                    <a:pt x="14113" y="23241"/>
                    <a:pt x="17224" y="21479"/>
                  </a:cubicBezTo>
                  <a:cubicBezTo>
                    <a:pt x="17224" y="27186"/>
                    <a:pt x="14319" y="32996"/>
                    <a:pt x="14319" y="36628"/>
                  </a:cubicBezTo>
                  <a:cubicBezTo>
                    <a:pt x="14319" y="38703"/>
                    <a:pt x="15875" y="40156"/>
                    <a:pt x="17951" y="40156"/>
                  </a:cubicBezTo>
                  <a:cubicBezTo>
                    <a:pt x="20026" y="40156"/>
                    <a:pt x="21272" y="38600"/>
                    <a:pt x="21272" y="36628"/>
                  </a:cubicBezTo>
                  <a:cubicBezTo>
                    <a:pt x="21272" y="32373"/>
                    <a:pt x="18883" y="26980"/>
                    <a:pt x="18883" y="21479"/>
                  </a:cubicBezTo>
                  <a:cubicBezTo>
                    <a:pt x="22102" y="23348"/>
                    <a:pt x="30297" y="32064"/>
                    <a:pt x="32373" y="32064"/>
                  </a:cubicBezTo>
                  <a:cubicBezTo>
                    <a:pt x="34242" y="32064"/>
                    <a:pt x="35901" y="30298"/>
                    <a:pt x="35901" y="28432"/>
                  </a:cubicBezTo>
                  <a:cubicBezTo>
                    <a:pt x="35901" y="27083"/>
                    <a:pt x="34969" y="26146"/>
                    <a:pt x="33929" y="25527"/>
                  </a:cubicBezTo>
                  <a:cubicBezTo>
                    <a:pt x="31230" y="23761"/>
                    <a:pt x="24071" y="22622"/>
                    <a:pt x="19610" y="20026"/>
                  </a:cubicBezTo>
                  <a:cubicBezTo>
                    <a:pt x="24487" y="17121"/>
                    <a:pt x="31127" y="16705"/>
                    <a:pt x="34135" y="14942"/>
                  </a:cubicBezTo>
                  <a:cubicBezTo>
                    <a:pt x="35278" y="14319"/>
                    <a:pt x="36004" y="13387"/>
                    <a:pt x="36004" y="12037"/>
                  </a:cubicBezTo>
                  <a:close/>
                </a:path>
              </a:pathLst>
            </a:custGeom>
            <a:solidFill>
              <a:srgbClr val="087F8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7" name="filter_chain_outline_7"/>
            <p:cNvSpPr/>
            <p:nvPr/>
          </p:nvSpPr>
          <p:spPr>
            <a:xfrm>
              <a:off x="2953030" y="1854716"/>
              <a:ext cx="50637" cy="72012"/>
            </a:xfrm>
            <a:custGeom>
              <a:avLst/>
              <a:gdLst/>
              <a:ahLst/>
              <a:cxnLst/>
              <a:rect l="0" t="0" r="r" b="b"/>
              <a:pathLst>
                <a:path w="50637" h="72013">
                  <a:moveTo>
                    <a:pt x="48042" y="60702"/>
                  </a:moveTo>
                  <a:lnTo>
                    <a:pt x="46176" y="59559"/>
                  </a:lnTo>
                  <a:cubicBezTo>
                    <a:pt x="45760" y="60496"/>
                    <a:pt x="45033" y="61428"/>
                    <a:pt x="44514" y="62258"/>
                  </a:cubicBezTo>
                  <a:cubicBezTo>
                    <a:pt x="42541" y="65472"/>
                    <a:pt x="41196" y="66615"/>
                    <a:pt x="39430" y="66615"/>
                  </a:cubicBezTo>
                  <a:cubicBezTo>
                    <a:pt x="37044" y="66615"/>
                    <a:pt x="34449" y="63294"/>
                    <a:pt x="29468" y="53229"/>
                  </a:cubicBezTo>
                  <a:lnTo>
                    <a:pt x="24904" y="44101"/>
                  </a:lnTo>
                  <a:cubicBezTo>
                    <a:pt x="41608" y="30508"/>
                    <a:pt x="45137" y="28432"/>
                    <a:pt x="50637" y="28122"/>
                  </a:cubicBezTo>
                  <a:lnTo>
                    <a:pt x="50534" y="26460"/>
                  </a:lnTo>
                  <a:lnTo>
                    <a:pt x="29885" y="26460"/>
                  </a:lnTo>
                  <a:lnTo>
                    <a:pt x="29988" y="28122"/>
                  </a:lnTo>
                  <a:lnTo>
                    <a:pt x="32063" y="28122"/>
                  </a:lnTo>
                  <a:cubicBezTo>
                    <a:pt x="35072" y="28122"/>
                    <a:pt x="36318" y="28849"/>
                    <a:pt x="36421" y="29988"/>
                  </a:cubicBezTo>
                  <a:cubicBezTo>
                    <a:pt x="36421" y="32063"/>
                    <a:pt x="30817" y="35592"/>
                    <a:pt x="20233" y="44101"/>
                  </a:cubicBezTo>
                  <a:lnTo>
                    <a:pt x="15149" y="47938"/>
                  </a:lnTo>
                  <a:lnTo>
                    <a:pt x="27706" y="520"/>
                  </a:lnTo>
                  <a:lnTo>
                    <a:pt x="26563" y="0"/>
                  </a:lnTo>
                  <a:cubicBezTo>
                    <a:pt x="19614" y="1349"/>
                    <a:pt x="15256" y="2076"/>
                    <a:pt x="8406" y="2802"/>
                  </a:cubicBezTo>
                  <a:lnTo>
                    <a:pt x="8406" y="4465"/>
                  </a:lnTo>
                  <a:lnTo>
                    <a:pt x="10481" y="4465"/>
                  </a:lnTo>
                  <a:cubicBezTo>
                    <a:pt x="14633" y="4465"/>
                    <a:pt x="16498" y="5191"/>
                    <a:pt x="16812" y="7056"/>
                  </a:cubicBezTo>
                  <a:cubicBezTo>
                    <a:pt x="16708" y="8822"/>
                    <a:pt x="15875" y="11517"/>
                    <a:pt x="14422" y="16395"/>
                  </a:cubicBezTo>
                  <a:lnTo>
                    <a:pt x="13490" y="19820"/>
                  </a:lnTo>
                  <a:lnTo>
                    <a:pt x="13387" y="20753"/>
                  </a:lnTo>
                  <a:lnTo>
                    <a:pt x="0" y="70870"/>
                  </a:lnTo>
                  <a:lnTo>
                    <a:pt x="9029" y="70870"/>
                  </a:lnTo>
                  <a:lnTo>
                    <a:pt x="14010" y="52193"/>
                  </a:lnTo>
                  <a:lnTo>
                    <a:pt x="18887" y="48871"/>
                  </a:lnTo>
                  <a:cubicBezTo>
                    <a:pt x="20856" y="53439"/>
                    <a:pt x="24074" y="59873"/>
                    <a:pt x="26356" y="63504"/>
                  </a:cubicBezTo>
                  <a:cubicBezTo>
                    <a:pt x="30297" y="70040"/>
                    <a:pt x="32167" y="72013"/>
                    <a:pt x="35592" y="72013"/>
                  </a:cubicBezTo>
                  <a:cubicBezTo>
                    <a:pt x="40156" y="72013"/>
                    <a:pt x="43164" y="69417"/>
                    <a:pt x="48042" y="60702"/>
                  </a:cubicBezTo>
                  <a:close/>
                </a:path>
              </a:pathLst>
            </a:custGeom>
            <a:solidFill>
              <a:srgbClr val="087F8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71" name="feedback_cost"/>
          <p:cNvGrpSpPr/>
          <p:nvPr/>
        </p:nvGrpSpPr>
        <p:grpSpPr>
          <a:xfrm>
            <a:off x="1261215" y="2163877"/>
            <a:ext cx="402748" cy="130326"/>
            <a:chOff x="1261215" y="2163877"/>
            <a:chExt cx="402748" cy="130326"/>
          </a:xfrm>
        </p:grpSpPr>
        <p:sp>
          <p:nvSpPr>
            <p:cNvPr id="468" name="feedback_cost_outline_0"/>
            <p:cNvSpPr/>
            <p:nvPr/>
          </p:nvSpPr>
          <p:spPr>
            <a:xfrm>
              <a:off x="1290252" y="2163877"/>
              <a:ext cx="39342" cy="6830"/>
            </a:xfrm>
            <a:custGeom>
              <a:avLst/>
              <a:gdLst/>
              <a:ahLst/>
              <a:cxnLst/>
              <a:rect l="0" t="0" r="r" b="b"/>
              <a:pathLst>
                <a:path w="39342" h="6830">
                  <a:moveTo>
                    <a:pt x="39342" y="6830"/>
                  </a:moveTo>
                  <a:lnTo>
                    <a:pt x="39342" y="0"/>
                  </a:lnTo>
                  <a:lnTo>
                    <a:pt x="0" y="0"/>
                  </a:lnTo>
                  <a:lnTo>
                    <a:pt x="0" y="6830"/>
                  </a:lnTo>
                  <a:lnTo>
                    <a:pt x="39342" y="6830"/>
                  </a:lnTo>
                  <a:close/>
                </a:path>
              </a:pathLst>
            </a:custGeom>
            <a:solidFill>
              <a:srgbClr val="BA5B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9" name="feedback_cost_outline_1"/>
            <p:cNvSpPr/>
            <p:nvPr/>
          </p:nvSpPr>
          <p:spPr>
            <a:xfrm>
              <a:off x="1261215" y="2185063"/>
              <a:ext cx="62872" cy="84887"/>
            </a:xfrm>
            <a:custGeom>
              <a:avLst/>
              <a:gdLst/>
              <a:ahLst/>
              <a:cxnLst/>
              <a:rect l="0" t="0" r="r" b="b"/>
              <a:pathLst>
                <a:path w="62873" h="84888">
                  <a:moveTo>
                    <a:pt x="62873" y="2024"/>
                  </a:moveTo>
                  <a:lnTo>
                    <a:pt x="62873" y="0"/>
                  </a:lnTo>
                  <a:lnTo>
                    <a:pt x="30742" y="0"/>
                  </a:lnTo>
                  <a:lnTo>
                    <a:pt x="30742" y="2024"/>
                  </a:lnTo>
                  <a:cubicBezTo>
                    <a:pt x="38711" y="2782"/>
                    <a:pt x="40481" y="3794"/>
                    <a:pt x="40481" y="7211"/>
                  </a:cubicBezTo>
                  <a:cubicBezTo>
                    <a:pt x="40481" y="9108"/>
                    <a:pt x="39977" y="11640"/>
                    <a:pt x="38965" y="15307"/>
                  </a:cubicBezTo>
                  <a:lnTo>
                    <a:pt x="22392" y="74132"/>
                  </a:lnTo>
                  <a:cubicBezTo>
                    <a:pt x="20999" y="79065"/>
                    <a:pt x="19229" y="80966"/>
                    <a:pt x="16192" y="80966"/>
                  </a:cubicBezTo>
                  <a:cubicBezTo>
                    <a:pt x="13156" y="80966"/>
                    <a:pt x="11763" y="79446"/>
                    <a:pt x="11763" y="75906"/>
                  </a:cubicBezTo>
                  <a:cubicBezTo>
                    <a:pt x="11763" y="75271"/>
                    <a:pt x="11763" y="74640"/>
                    <a:pt x="11890" y="74005"/>
                  </a:cubicBezTo>
                  <a:lnTo>
                    <a:pt x="11890" y="72870"/>
                  </a:lnTo>
                  <a:cubicBezTo>
                    <a:pt x="11890" y="69707"/>
                    <a:pt x="9108" y="66921"/>
                    <a:pt x="5691" y="66921"/>
                  </a:cubicBezTo>
                  <a:cubicBezTo>
                    <a:pt x="2278" y="66921"/>
                    <a:pt x="0" y="69707"/>
                    <a:pt x="0" y="73755"/>
                  </a:cubicBezTo>
                  <a:cubicBezTo>
                    <a:pt x="0" y="80458"/>
                    <a:pt x="5945" y="84888"/>
                    <a:pt x="14799" y="84888"/>
                  </a:cubicBezTo>
                  <a:cubicBezTo>
                    <a:pt x="21253" y="84888"/>
                    <a:pt x="26944" y="82356"/>
                    <a:pt x="30865" y="77676"/>
                  </a:cubicBezTo>
                  <a:cubicBezTo>
                    <a:pt x="34282" y="73628"/>
                    <a:pt x="36814" y="67933"/>
                    <a:pt x="39469" y="58321"/>
                  </a:cubicBezTo>
                  <a:lnTo>
                    <a:pt x="52499" y="11386"/>
                  </a:lnTo>
                  <a:cubicBezTo>
                    <a:pt x="54777" y="3794"/>
                    <a:pt x="55662" y="3036"/>
                    <a:pt x="62873" y="2024"/>
                  </a:cubicBezTo>
                  <a:close/>
                </a:path>
              </a:pathLst>
            </a:custGeom>
            <a:solidFill>
              <a:srgbClr val="BA5B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0" name="feedback_cost_outline_2"/>
            <p:cNvSpPr/>
            <p:nvPr/>
          </p:nvSpPr>
          <p:spPr>
            <a:xfrm>
              <a:off x="1324478" y="2222191"/>
              <a:ext cx="50637" cy="72012"/>
            </a:xfrm>
            <a:custGeom>
              <a:avLst/>
              <a:gdLst/>
              <a:ahLst/>
              <a:cxnLst/>
              <a:rect l="0" t="0" r="r" b="b"/>
              <a:pathLst>
                <a:path w="50637" h="72013">
                  <a:moveTo>
                    <a:pt x="48042" y="60702"/>
                  </a:moveTo>
                  <a:lnTo>
                    <a:pt x="46176" y="59559"/>
                  </a:lnTo>
                  <a:cubicBezTo>
                    <a:pt x="45760" y="60496"/>
                    <a:pt x="45033" y="61428"/>
                    <a:pt x="44513" y="62258"/>
                  </a:cubicBezTo>
                  <a:cubicBezTo>
                    <a:pt x="42541" y="65472"/>
                    <a:pt x="41196" y="66615"/>
                    <a:pt x="39430" y="66615"/>
                  </a:cubicBezTo>
                  <a:cubicBezTo>
                    <a:pt x="37044" y="66615"/>
                    <a:pt x="34449" y="63294"/>
                    <a:pt x="29468" y="53229"/>
                  </a:cubicBezTo>
                  <a:lnTo>
                    <a:pt x="24904" y="44101"/>
                  </a:lnTo>
                  <a:cubicBezTo>
                    <a:pt x="41608" y="30508"/>
                    <a:pt x="45137" y="28432"/>
                    <a:pt x="50637" y="28122"/>
                  </a:cubicBezTo>
                  <a:lnTo>
                    <a:pt x="50534" y="26460"/>
                  </a:lnTo>
                  <a:lnTo>
                    <a:pt x="29885" y="26460"/>
                  </a:lnTo>
                  <a:lnTo>
                    <a:pt x="29988" y="28122"/>
                  </a:lnTo>
                  <a:lnTo>
                    <a:pt x="32064" y="28122"/>
                  </a:lnTo>
                  <a:cubicBezTo>
                    <a:pt x="35072" y="28122"/>
                    <a:pt x="36318" y="28849"/>
                    <a:pt x="36421" y="29988"/>
                  </a:cubicBezTo>
                  <a:cubicBezTo>
                    <a:pt x="36421" y="32063"/>
                    <a:pt x="30817" y="35592"/>
                    <a:pt x="20233" y="44101"/>
                  </a:cubicBezTo>
                  <a:lnTo>
                    <a:pt x="15149" y="47938"/>
                  </a:lnTo>
                  <a:lnTo>
                    <a:pt x="27706" y="520"/>
                  </a:lnTo>
                  <a:lnTo>
                    <a:pt x="26563" y="0"/>
                  </a:lnTo>
                  <a:cubicBezTo>
                    <a:pt x="19614" y="1349"/>
                    <a:pt x="15256" y="2076"/>
                    <a:pt x="8406" y="2802"/>
                  </a:cubicBezTo>
                  <a:lnTo>
                    <a:pt x="8406" y="4465"/>
                  </a:lnTo>
                  <a:lnTo>
                    <a:pt x="10481" y="4465"/>
                  </a:lnTo>
                  <a:cubicBezTo>
                    <a:pt x="14633" y="4465"/>
                    <a:pt x="16498" y="5191"/>
                    <a:pt x="16812" y="7056"/>
                  </a:cubicBezTo>
                  <a:cubicBezTo>
                    <a:pt x="16708" y="8822"/>
                    <a:pt x="15875" y="11517"/>
                    <a:pt x="14422" y="16395"/>
                  </a:cubicBezTo>
                  <a:lnTo>
                    <a:pt x="13490" y="19820"/>
                  </a:lnTo>
                  <a:lnTo>
                    <a:pt x="13387" y="20753"/>
                  </a:lnTo>
                  <a:lnTo>
                    <a:pt x="0" y="70870"/>
                  </a:lnTo>
                  <a:lnTo>
                    <a:pt x="9029" y="70870"/>
                  </a:lnTo>
                  <a:lnTo>
                    <a:pt x="14010" y="52193"/>
                  </a:lnTo>
                  <a:lnTo>
                    <a:pt x="18887" y="48871"/>
                  </a:lnTo>
                  <a:cubicBezTo>
                    <a:pt x="20856" y="53439"/>
                    <a:pt x="24074" y="59873"/>
                    <a:pt x="26357" y="63504"/>
                  </a:cubicBezTo>
                  <a:cubicBezTo>
                    <a:pt x="30297" y="70040"/>
                    <a:pt x="32167" y="72013"/>
                    <a:pt x="35592" y="72013"/>
                  </a:cubicBezTo>
                  <a:cubicBezTo>
                    <a:pt x="40156" y="72013"/>
                    <a:pt x="43164" y="69417"/>
                    <a:pt x="48042" y="60702"/>
                  </a:cubicBezTo>
                  <a:close/>
                </a:path>
              </a:pathLst>
            </a:custGeom>
            <a:solidFill>
              <a:srgbClr val="BA5B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1" name="feedback_cost_outline_3"/>
            <p:cNvSpPr/>
            <p:nvPr/>
          </p:nvSpPr>
          <p:spPr>
            <a:xfrm>
              <a:off x="1422114" y="2231617"/>
              <a:ext cx="64773" cy="7084"/>
            </a:xfrm>
            <a:custGeom>
              <a:avLst/>
              <a:gdLst/>
              <a:ahLst/>
              <a:cxnLst/>
              <a:rect l="0" t="0" r="r" b="b"/>
              <a:pathLst>
                <a:path w="64774" h="7084">
                  <a:moveTo>
                    <a:pt x="64774" y="7084"/>
                  </a:moveTo>
                  <a:lnTo>
                    <a:pt x="64774" y="0"/>
                  </a:lnTo>
                  <a:lnTo>
                    <a:pt x="0" y="0"/>
                  </a:lnTo>
                  <a:lnTo>
                    <a:pt x="0" y="7084"/>
                  </a:lnTo>
                  <a:lnTo>
                    <a:pt x="64774" y="7084"/>
                  </a:lnTo>
                  <a:close/>
                </a:path>
              </a:pathLst>
            </a:custGeom>
            <a:solidFill>
              <a:srgbClr val="BA5B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2" name="feedback_cost_outline_4"/>
            <p:cNvSpPr/>
            <p:nvPr/>
          </p:nvSpPr>
          <p:spPr>
            <a:xfrm>
              <a:off x="1526785" y="2185063"/>
              <a:ext cx="75398" cy="82609"/>
            </a:xfrm>
            <a:custGeom>
              <a:avLst/>
              <a:gdLst/>
              <a:ahLst/>
              <a:cxnLst/>
              <a:rect l="0" t="0" r="r" b="b"/>
              <a:pathLst>
                <a:path w="75398" h="82610">
                  <a:moveTo>
                    <a:pt x="69199" y="57309"/>
                  </a:moveTo>
                  <a:cubicBezTo>
                    <a:pt x="69199" y="48073"/>
                    <a:pt x="65278" y="43390"/>
                    <a:pt x="53261" y="38207"/>
                  </a:cubicBezTo>
                  <a:cubicBezTo>
                    <a:pt x="62242" y="36056"/>
                    <a:pt x="65909" y="34536"/>
                    <a:pt x="69957" y="30996"/>
                  </a:cubicBezTo>
                  <a:cubicBezTo>
                    <a:pt x="73501" y="27960"/>
                    <a:pt x="75398" y="23785"/>
                    <a:pt x="75398" y="18598"/>
                  </a:cubicBezTo>
                  <a:cubicBezTo>
                    <a:pt x="75398" y="6580"/>
                    <a:pt x="66417" y="0"/>
                    <a:pt x="50098" y="0"/>
                  </a:cubicBezTo>
                  <a:lnTo>
                    <a:pt x="17459" y="0"/>
                  </a:lnTo>
                  <a:lnTo>
                    <a:pt x="17459" y="2024"/>
                  </a:lnTo>
                  <a:cubicBezTo>
                    <a:pt x="25428" y="2655"/>
                    <a:pt x="27198" y="3544"/>
                    <a:pt x="27198" y="7211"/>
                  </a:cubicBezTo>
                  <a:cubicBezTo>
                    <a:pt x="27198" y="9108"/>
                    <a:pt x="26694" y="12144"/>
                    <a:pt x="25809" y="15307"/>
                  </a:cubicBezTo>
                  <a:lnTo>
                    <a:pt x="10247" y="71223"/>
                  </a:lnTo>
                  <a:cubicBezTo>
                    <a:pt x="7969" y="78561"/>
                    <a:pt x="7084" y="79319"/>
                    <a:pt x="0" y="80585"/>
                  </a:cubicBezTo>
                  <a:lnTo>
                    <a:pt x="0" y="82610"/>
                  </a:lnTo>
                  <a:lnTo>
                    <a:pt x="35675" y="82610"/>
                  </a:lnTo>
                  <a:cubicBezTo>
                    <a:pt x="55539" y="82610"/>
                    <a:pt x="69199" y="72362"/>
                    <a:pt x="69199" y="57309"/>
                  </a:cubicBezTo>
                  <a:close/>
                  <a:moveTo>
                    <a:pt x="55539" y="56801"/>
                  </a:moveTo>
                  <a:cubicBezTo>
                    <a:pt x="55539" y="70465"/>
                    <a:pt x="46176" y="78815"/>
                    <a:pt x="30742" y="78815"/>
                  </a:cubicBezTo>
                  <a:cubicBezTo>
                    <a:pt x="25428" y="78815"/>
                    <a:pt x="22646" y="77041"/>
                    <a:pt x="22646" y="73501"/>
                  </a:cubicBezTo>
                  <a:cubicBezTo>
                    <a:pt x="22646" y="71858"/>
                    <a:pt x="24162" y="65909"/>
                    <a:pt x="27071" y="55789"/>
                  </a:cubicBezTo>
                  <a:lnTo>
                    <a:pt x="31119" y="40735"/>
                  </a:lnTo>
                  <a:cubicBezTo>
                    <a:pt x="39092" y="40735"/>
                    <a:pt x="44529" y="41243"/>
                    <a:pt x="47061" y="42255"/>
                  </a:cubicBezTo>
                  <a:cubicBezTo>
                    <a:pt x="52376" y="44279"/>
                    <a:pt x="55539" y="49844"/>
                    <a:pt x="55539" y="56801"/>
                  </a:cubicBezTo>
                  <a:close/>
                  <a:moveTo>
                    <a:pt x="62623" y="17459"/>
                  </a:moveTo>
                  <a:cubicBezTo>
                    <a:pt x="62623" y="30488"/>
                    <a:pt x="54146" y="36687"/>
                    <a:pt x="36687" y="36687"/>
                  </a:cubicBezTo>
                  <a:lnTo>
                    <a:pt x="32385" y="36687"/>
                  </a:lnTo>
                  <a:lnTo>
                    <a:pt x="40608" y="7338"/>
                  </a:lnTo>
                  <a:cubicBezTo>
                    <a:pt x="41366" y="4556"/>
                    <a:pt x="42886" y="3794"/>
                    <a:pt x="47819" y="3794"/>
                  </a:cubicBezTo>
                  <a:cubicBezTo>
                    <a:pt x="58067" y="3794"/>
                    <a:pt x="62623" y="8096"/>
                    <a:pt x="62623" y="17459"/>
                  </a:cubicBezTo>
                  <a:close/>
                </a:path>
              </a:pathLst>
            </a:custGeom>
            <a:solidFill>
              <a:srgbClr val="BA5B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3" name="feedback_cost_outline_5"/>
            <p:cNvSpPr/>
            <p:nvPr/>
          </p:nvSpPr>
          <p:spPr>
            <a:xfrm>
              <a:off x="1613326" y="2222191"/>
              <a:ext cx="50637" cy="72012"/>
            </a:xfrm>
            <a:custGeom>
              <a:avLst/>
              <a:gdLst/>
              <a:ahLst/>
              <a:cxnLst/>
              <a:rect l="0" t="0" r="r" b="b"/>
              <a:pathLst>
                <a:path w="50637" h="72013">
                  <a:moveTo>
                    <a:pt x="48042" y="60702"/>
                  </a:moveTo>
                  <a:lnTo>
                    <a:pt x="46176" y="59559"/>
                  </a:lnTo>
                  <a:cubicBezTo>
                    <a:pt x="45760" y="60496"/>
                    <a:pt x="45033" y="61428"/>
                    <a:pt x="44514" y="62258"/>
                  </a:cubicBezTo>
                  <a:cubicBezTo>
                    <a:pt x="42541" y="65472"/>
                    <a:pt x="41196" y="66615"/>
                    <a:pt x="39429" y="66615"/>
                  </a:cubicBezTo>
                  <a:cubicBezTo>
                    <a:pt x="37044" y="66615"/>
                    <a:pt x="34449" y="63294"/>
                    <a:pt x="29468" y="53229"/>
                  </a:cubicBezTo>
                  <a:lnTo>
                    <a:pt x="24904" y="44101"/>
                  </a:lnTo>
                  <a:cubicBezTo>
                    <a:pt x="41608" y="30508"/>
                    <a:pt x="45137" y="28432"/>
                    <a:pt x="50637" y="28122"/>
                  </a:cubicBezTo>
                  <a:lnTo>
                    <a:pt x="50534" y="26460"/>
                  </a:lnTo>
                  <a:lnTo>
                    <a:pt x="29885" y="26460"/>
                  </a:lnTo>
                  <a:lnTo>
                    <a:pt x="29988" y="28122"/>
                  </a:lnTo>
                  <a:lnTo>
                    <a:pt x="32063" y="28122"/>
                  </a:lnTo>
                  <a:cubicBezTo>
                    <a:pt x="35072" y="28122"/>
                    <a:pt x="36318" y="28849"/>
                    <a:pt x="36421" y="29988"/>
                  </a:cubicBezTo>
                  <a:cubicBezTo>
                    <a:pt x="36421" y="32063"/>
                    <a:pt x="30817" y="35592"/>
                    <a:pt x="20233" y="44101"/>
                  </a:cubicBezTo>
                  <a:lnTo>
                    <a:pt x="15149" y="47938"/>
                  </a:lnTo>
                  <a:lnTo>
                    <a:pt x="27706" y="520"/>
                  </a:lnTo>
                  <a:lnTo>
                    <a:pt x="26563" y="0"/>
                  </a:lnTo>
                  <a:cubicBezTo>
                    <a:pt x="19614" y="1349"/>
                    <a:pt x="15256" y="2076"/>
                    <a:pt x="8406" y="2802"/>
                  </a:cubicBezTo>
                  <a:lnTo>
                    <a:pt x="8406" y="4465"/>
                  </a:lnTo>
                  <a:lnTo>
                    <a:pt x="10481" y="4465"/>
                  </a:lnTo>
                  <a:cubicBezTo>
                    <a:pt x="14633" y="4465"/>
                    <a:pt x="16498" y="5191"/>
                    <a:pt x="16812" y="7056"/>
                  </a:cubicBezTo>
                  <a:cubicBezTo>
                    <a:pt x="16708" y="8822"/>
                    <a:pt x="15875" y="11517"/>
                    <a:pt x="14422" y="16395"/>
                  </a:cubicBezTo>
                  <a:lnTo>
                    <a:pt x="13490" y="19820"/>
                  </a:lnTo>
                  <a:lnTo>
                    <a:pt x="13387" y="20753"/>
                  </a:lnTo>
                  <a:lnTo>
                    <a:pt x="0" y="70870"/>
                  </a:lnTo>
                  <a:lnTo>
                    <a:pt x="9029" y="70870"/>
                  </a:lnTo>
                  <a:lnTo>
                    <a:pt x="14010" y="52193"/>
                  </a:lnTo>
                  <a:lnTo>
                    <a:pt x="18887" y="48871"/>
                  </a:lnTo>
                  <a:cubicBezTo>
                    <a:pt x="20856" y="53439"/>
                    <a:pt x="24074" y="59873"/>
                    <a:pt x="26356" y="63504"/>
                  </a:cubicBezTo>
                  <a:cubicBezTo>
                    <a:pt x="30297" y="70040"/>
                    <a:pt x="32167" y="72013"/>
                    <a:pt x="35592" y="72013"/>
                  </a:cubicBezTo>
                  <a:cubicBezTo>
                    <a:pt x="40156" y="72013"/>
                    <a:pt x="43164" y="69417"/>
                    <a:pt x="48042" y="60702"/>
                  </a:cubicBezTo>
                  <a:close/>
                </a:path>
              </a:pathLst>
            </a:custGeom>
            <a:solidFill>
              <a:srgbClr val="BA5B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72" name="price_sum"/>
          <p:cNvGrpSpPr/>
          <p:nvPr/>
        </p:nvGrpSpPr>
        <p:grpSpPr>
          <a:xfrm>
            <a:off x="1954750" y="2101578"/>
            <a:ext cx="740771" cy="166012"/>
            <a:chOff x="1954750" y="2101578"/>
            <a:chExt cx="740771" cy="166012"/>
          </a:xfrm>
        </p:grpSpPr>
        <p:sp>
          <p:nvSpPr>
            <p:cNvPr id="474" name="price_sum_outline_0"/>
            <p:cNvSpPr/>
            <p:nvPr/>
          </p:nvSpPr>
          <p:spPr>
            <a:xfrm>
              <a:off x="1954750" y="2124611"/>
              <a:ext cx="71112" cy="92682"/>
            </a:xfrm>
            <a:custGeom>
              <a:avLst/>
              <a:gdLst/>
              <a:ahLst/>
              <a:cxnLst/>
              <a:rect l="0" t="0" r="r" b="b"/>
              <a:pathLst>
                <a:path w="71112" h="92682">
                  <a:moveTo>
                    <a:pt x="71112" y="80990"/>
                  </a:moveTo>
                  <a:lnTo>
                    <a:pt x="70973" y="80712"/>
                  </a:lnTo>
                  <a:cubicBezTo>
                    <a:pt x="69024" y="80712"/>
                    <a:pt x="66659" y="85443"/>
                    <a:pt x="60813" y="85443"/>
                  </a:cubicBezTo>
                  <a:cubicBezTo>
                    <a:pt x="34512" y="85443"/>
                    <a:pt x="82383" y="0"/>
                    <a:pt x="41469" y="0"/>
                  </a:cubicBezTo>
                  <a:lnTo>
                    <a:pt x="39941" y="0"/>
                  </a:lnTo>
                  <a:cubicBezTo>
                    <a:pt x="37433" y="0"/>
                    <a:pt x="31591" y="2087"/>
                    <a:pt x="29781" y="3758"/>
                  </a:cubicBezTo>
                  <a:cubicBezTo>
                    <a:pt x="29643" y="3897"/>
                    <a:pt x="30754" y="5147"/>
                    <a:pt x="30893" y="5147"/>
                  </a:cubicBezTo>
                  <a:cubicBezTo>
                    <a:pt x="31591" y="4592"/>
                    <a:pt x="34651" y="3338"/>
                    <a:pt x="37433" y="3338"/>
                  </a:cubicBezTo>
                  <a:cubicBezTo>
                    <a:pt x="50935" y="3338"/>
                    <a:pt x="47315" y="25606"/>
                    <a:pt x="47315" y="29222"/>
                  </a:cubicBezTo>
                  <a:cubicBezTo>
                    <a:pt x="47454" y="29643"/>
                    <a:pt x="47315" y="29920"/>
                    <a:pt x="47177" y="30476"/>
                  </a:cubicBezTo>
                  <a:cubicBezTo>
                    <a:pt x="44394" y="43418"/>
                    <a:pt x="3342" y="79879"/>
                    <a:pt x="0" y="91150"/>
                  </a:cubicBezTo>
                  <a:lnTo>
                    <a:pt x="13914" y="91150"/>
                  </a:lnTo>
                  <a:cubicBezTo>
                    <a:pt x="13914" y="89757"/>
                    <a:pt x="14057" y="88368"/>
                    <a:pt x="14335" y="86836"/>
                  </a:cubicBezTo>
                  <a:cubicBezTo>
                    <a:pt x="18371" y="69024"/>
                    <a:pt x="45645" y="42025"/>
                    <a:pt x="45645" y="41886"/>
                  </a:cubicBezTo>
                  <a:lnTo>
                    <a:pt x="45783" y="41886"/>
                  </a:lnTo>
                  <a:cubicBezTo>
                    <a:pt x="44950" y="49125"/>
                    <a:pt x="32425" y="92682"/>
                    <a:pt x="55110" y="92682"/>
                  </a:cubicBezTo>
                  <a:cubicBezTo>
                    <a:pt x="61230" y="92682"/>
                    <a:pt x="70834" y="82661"/>
                    <a:pt x="71112" y="80990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5" name="price_sum_outline_1"/>
            <p:cNvSpPr/>
            <p:nvPr/>
          </p:nvSpPr>
          <p:spPr>
            <a:xfrm>
              <a:off x="2036783" y="2165821"/>
              <a:ext cx="50637" cy="72012"/>
            </a:xfrm>
            <a:custGeom>
              <a:avLst/>
              <a:gdLst/>
              <a:ahLst/>
              <a:cxnLst/>
              <a:rect l="0" t="0" r="r" b="b"/>
              <a:pathLst>
                <a:path w="50637" h="72013">
                  <a:moveTo>
                    <a:pt x="48042" y="60702"/>
                  </a:moveTo>
                  <a:lnTo>
                    <a:pt x="46176" y="59559"/>
                  </a:lnTo>
                  <a:cubicBezTo>
                    <a:pt x="45760" y="60496"/>
                    <a:pt x="45033" y="61428"/>
                    <a:pt x="44513" y="62258"/>
                  </a:cubicBezTo>
                  <a:cubicBezTo>
                    <a:pt x="42541" y="65472"/>
                    <a:pt x="41196" y="66615"/>
                    <a:pt x="39430" y="66615"/>
                  </a:cubicBezTo>
                  <a:cubicBezTo>
                    <a:pt x="37044" y="66615"/>
                    <a:pt x="34449" y="63294"/>
                    <a:pt x="29468" y="53229"/>
                  </a:cubicBezTo>
                  <a:lnTo>
                    <a:pt x="24904" y="44101"/>
                  </a:lnTo>
                  <a:cubicBezTo>
                    <a:pt x="41608" y="30508"/>
                    <a:pt x="45137" y="28432"/>
                    <a:pt x="50637" y="28123"/>
                  </a:cubicBezTo>
                  <a:lnTo>
                    <a:pt x="50534" y="26460"/>
                  </a:lnTo>
                  <a:lnTo>
                    <a:pt x="29885" y="26460"/>
                  </a:lnTo>
                  <a:lnTo>
                    <a:pt x="29988" y="28123"/>
                  </a:lnTo>
                  <a:lnTo>
                    <a:pt x="32064" y="28123"/>
                  </a:lnTo>
                  <a:cubicBezTo>
                    <a:pt x="35072" y="28123"/>
                    <a:pt x="36318" y="28849"/>
                    <a:pt x="36421" y="29988"/>
                  </a:cubicBezTo>
                  <a:cubicBezTo>
                    <a:pt x="36421" y="32064"/>
                    <a:pt x="30817" y="35592"/>
                    <a:pt x="20233" y="44101"/>
                  </a:cubicBezTo>
                  <a:lnTo>
                    <a:pt x="15149" y="47939"/>
                  </a:lnTo>
                  <a:lnTo>
                    <a:pt x="27706" y="520"/>
                  </a:lnTo>
                  <a:lnTo>
                    <a:pt x="26563" y="0"/>
                  </a:lnTo>
                  <a:cubicBezTo>
                    <a:pt x="19614" y="1349"/>
                    <a:pt x="15256" y="2076"/>
                    <a:pt x="8406" y="2802"/>
                  </a:cubicBezTo>
                  <a:lnTo>
                    <a:pt x="8406" y="4465"/>
                  </a:lnTo>
                  <a:lnTo>
                    <a:pt x="10481" y="4465"/>
                  </a:lnTo>
                  <a:cubicBezTo>
                    <a:pt x="14633" y="4465"/>
                    <a:pt x="16498" y="5191"/>
                    <a:pt x="16812" y="7057"/>
                  </a:cubicBezTo>
                  <a:cubicBezTo>
                    <a:pt x="16708" y="8823"/>
                    <a:pt x="15875" y="11517"/>
                    <a:pt x="14422" y="16395"/>
                  </a:cubicBezTo>
                  <a:lnTo>
                    <a:pt x="13490" y="19820"/>
                  </a:lnTo>
                  <a:lnTo>
                    <a:pt x="13387" y="20753"/>
                  </a:lnTo>
                  <a:lnTo>
                    <a:pt x="0" y="70870"/>
                  </a:lnTo>
                  <a:lnTo>
                    <a:pt x="9029" y="70870"/>
                  </a:lnTo>
                  <a:lnTo>
                    <a:pt x="14010" y="52193"/>
                  </a:lnTo>
                  <a:lnTo>
                    <a:pt x="18887" y="48871"/>
                  </a:lnTo>
                  <a:cubicBezTo>
                    <a:pt x="20856" y="53439"/>
                    <a:pt x="24074" y="59873"/>
                    <a:pt x="26357" y="63504"/>
                  </a:cubicBezTo>
                  <a:cubicBezTo>
                    <a:pt x="30297" y="70041"/>
                    <a:pt x="32167" y="72013"/>
                    <a:pt x="35592" y="72013"/>
                  </a:cubicBezTo>
                  <a:cubicBezTo>
                    <a:pt x="40156" y="72013"/>
                    <a:pt x="43164" y="69417"/>
                    <a:pt x="48042" y="60702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6" name="price_sum_outline_2"/>
            <p:cNvSpPr/>
            <p:nvPr/>
          </p:nvSpPr>
          <p:spPr>
            <a:xfrm>
              <a:off x="2145758" y="2162045"/>
              <a:ext cx="71250" cy="36044"/>
            </a:xfrm>
            <a:custGeom>
              <a:avLst/>
              <a:gdLst/>
              <a:ahLst/>
              <a:cxnLst/>
              <a:rect l="0" t="0" r="r" b="b"/>
              <a:pathLst>
                <a:path w="71251" h="36044">
                  <a:moveTo>
                    <a:pt x="71251" y="7795"/>
                  </a:moveTo>
                  <a:lnTo>
                    <a:pt x="71251" y="0"/>
                  </a:lnTo>
                  <a:lnTo>
                    <a:pt x="0" y="0"/>
                  </a:lnTo>
                  <a:lnTo>
                    <a:pt x="0" y="7795"/>
                  </a:lnTo>
                  <a:lnTo>
                    <a:pt x="71251" y="7795"/>
                  </a:lnTo>
                  <a:close/>
                  <a:moveTo>
                    <a:pt x="71251" y="36044"/>
                  </a:moveTo>
                  <a:lnTo>
                    <a:pt x="71251" y="28249"/>
                  </a:lnTo>
                  <a:lnTo>
                    <a:pt x="0" y="28249"/>
                  </a:lnTo>
                  <a:lnTo>
                    <a:pt x="0" y="36044"/>
                  </a:lnTo>
                  <a:lnTo>
                    <a:pt x="71251" y="36044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7" name="price_sum_outline_3"/>
            <p:cNvSpPr/>
            <p:nvPr/>
          </p:nvSpPr>
          <p:spPr>
            <a:xfrm>
              <a:off x="2289322" y="2101578"/>
              <a:ext cx="43279" cy="7516"/>
            </a:xfrm>
            <a:custGeom>
              <a:avLst/>
              <a:gdLst/>
              <a:ahLst/>
              <a:cxnLst/>
              <a:rect l="0" t="0" r="r" b="b"/>
              <a:pathLst>
                <a:path w="43279" h="7517">
                  <a:moveTo>
                    <a:pt x="43279" y="7517"/>
                  </a:moveTo>
                  <a:lnTo>
                    <a:pt x="43279" y="0"/>
                  </a:lnTo>
                  <a:lnTo>
                    <a:pt x="0" y="0"/>
                  </a:lnTo>
                  <a:lnTo>
                    <a:pt x="0" y="7517"/>
                  </a:lnTo>
                  <a:lnTo>
                    <a:pt x="43279" y="7517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8" name="price_sum_outline_4"/>
            <p:cNvSpPr/>
            <p:nvPr/>
          </p:nvSpPr>
          <p:spPr>
            <a:xfrm>
              <a:off x="2264718" y="2124611"/>
              <a:ext cx="71112" cy="92682"/>
            </a:xfrm>
            <a:custGeom>
              <a:avLst/>
              <a:gdLst/>
              <a:ahLst/>
              <a:cxnLst/>
              <a:rect l="0" t="0" r="r" b="b"/>
              <a:pathLst>
                <a:path w="71112" h="92682">
                  <a:moveTo>
                    <a:pt x="71112" y="80990"/>
                  </a:moveTo>
                  <a:lnTo>
                    <a:pt x="70973" y="80712"/>
                  </a:lnTo>
                  <a:cubicBezTo>
                    <a:pt x="69025" y="80712"/>
                    <a:pt x="66659" y="85443"/>
                    <a:pt x="60813" y="85443"/>
                  </a:cubicBezTo>
                  <a:cubicBezTo>
                    <a:pt x="34512" y="85443"/>
                    <a:pt x="82383" y="0"/>
                    <a:pt x="41469" y="0"/>
                  </a:cubicBezTo>
                  <a:lnTo>
                    <a:pt x="39942" y="0"/>
                  </a:lnTo>
                  <a:cubicBezTo>
                    <a:pt x="37433" y="0"/>
                    <a:pt x="31591" y="2087"/>
                    <a:pt x="29782" y="3758"/>
                  </a:cubicBezTo>
                  <a:cubicBezTo>
                    <a:pt x="29643" y="3897"/>
                    <a:pt x="30754" y="5147"/>
                    <a:pt x="30893" y="5147"/>
                  </a:cubicBezTo>
                  <a:cubicBezTo>
                    <a:pt x="31591" y="4592"/>
                    <a:pt x="34651" y="3338"/>
                    <a:pt x="37433" y="3338"/>
                  </a:cubicBezTo>
                  <a:cubicBezTo>
                    <a:pt x="50935" y="3338"/>
                    <a:pt x="47315" y="25606"/>
                    <a:pt x="47315" y="29222"/>
                  </a:cubicBezTo>
                  <a:cubicBezTo>
                    <a:pt x="47454" y="29643"/>
                    <a:pt x="47315" y="29920"/>
                    <a:pt x="47176" y="30476"/>
                  </a:cubicBezTo>
                  <a:cubicBezTo>
                    <a:pt x="44394" y="43418"/>
                    <a:pt x="3342" y="79879"/>
                    <a:pt x="0" y="91150"/>
                  </a:cubicBezTo>
                  <a:lnTo>
                    <a:pt x="13914" y="91150"/>
                  </a:lnTo>
                  <a:cubicBezTo>
                    <a:pt x="13914" y="89757"/>
                    <a:pt x="14057" y="88368"/>
                    <a:pt x="14335" y="86836"/>
                  </a:cubicBezTo>
                  <a:cubicBezTo>
                    <a:pt x="18371" y="69024"/>
                    <a:pt x="45645" y="42025"/>
                    <a:pt x="45645" y="41886"/>
                  </a:cubicBezTo>
                  <a:lnTo>
                    <a:pt x="45784" y="41886"/>
                  </a:lnTo>
                  <a:cubicBezTo>
                    <a:pt x="44950" y="49125"/>
                    <a:pt x="32425" y="92682"/>
                    <a:pt x="55110" y="92682"/>
                  </a:cubicBezTo>
                  <a:cubicBezTo>
                    <a:pt x="61230" y="92682"/>
                    <a:pt x="70834" y="82661"/>
                    <a:pt x="71112" y="80990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9" name="price_sum_outline_5"/>
            <p:cNvSpPr/>
            <p:nvPr/>
          </p:nvSpPr>
          <p:spPr>
            <a:xfrm>
              <a:off x="2345964" y="2118549"/>
              <a:ext cx="36004" cy="40155"/>
            </a:xfrm>
            <a:custGeom>
              <a:avLst/>
              <a:gdLst/>
              <a:ahLst/>
              <a:cxnLst/>
              <a:rect l="0" t="0" r="r" b="b"/>
              <a:pathLst>
                <a:path w="36005" h="40156">
                  <a:moveTo>
                    <a:pt x="36005" y="12037"/>
                  </a:moveTo>
                  <a:cubicBezTo>
                    <a:pt x="36005" y="10271"/>
                    <a:pt x="34552" y="8406"/>
                    <a:pt x="32683" y="8406"/>
                  </a:cubicBezTo>
                  <a:cubicBezTo>
                    <a:pt x="30297" y="8406"/>
                    <a:pt x="21788" y="16915"/>
                    <a:pt x="18780" y="18677"/>
                  </a:cubicBezTo>
                  <a:cubicBezTo>
                    <a:pt x="18780" y="12867"/>
                    <a:pt x="21685" y="7057"/>
                    <a:pt x="21685" y="3528"/>
                  </a:cubicBezTo>
                  <a:cubicBezTo>
                    <a:pt x="21685" y="1349"/>
                    <a:pt x="20233" y="0"/>
                    <a:pt x="18054" y="0"/>
                  </a:cubicBezTo>
                  <a:cubicBezTo>
                    <a:pt x="15978" y="0"/>
                    <a:pt x="14732" y="1453"/>
                    <a:pt x="14732" y="3528"/>
                  </a:cubicBezTo>
                  <a:cubicBezTo>
                    <a:pt x="14732" y="7576"/>
                    <a:pt x="17224" y="13073"/>
                    <a:pt x="17224" y="18677"/>
                  </a:cubicBezTo>
                  <a:cubicBezTo>
                    <a:pt x="13902" y="16704"/>
                    <a:pt x="5810" y="7989"/>
                    <a:pt x="3631" y="7989"/>
                  </a:cubicBezTo>
                  <a:cubicBezTo>
                    <a:pt x="1762" y="7989"/>
                    <a:pt x="103" y="9755"/>
                    <a:pt x="103" y="11620"/>
                  </a:cubicBezTo>
                  <a:cubicBezTo>
                    <a:pt x="103" y="15252"/>
                    <a:pt x="12347" y="17744"/>
                    <a:pt x="16395" y="20026"/>
                  </a:cubicBezTo>
                  <a:cubicBezTo>
                    <a:pt x="12037" y="22515"/>
                    <a:pt x="3941" y="23761"/>
                    <a:pt x="1869" y="25110"/>
                  </a:cubicBezTo>
                  <a:cubicBezTo>
                    <a:pt x="829" y="25837"/>
                    <a:pt x="0" y="26769"/>
                    <a:pt x="0" y="28119"/>
                  </a:cubicBezTo>
                  <a:cubicBezTo>
                    <a:pt x="0" y="29988"/>
                    <a:pt x="1453" y="31647"/>
                    <a:pt x="3322" y="31647"/>
                  </a:cubicBezTo>
                  <a:cubicBezTo>
                    <a:pt x="5707" y="31647"/>
                    <a:pt x="14113" y="23241"/>
                    <a:pt x="17224" y="21479"/>
                  </a:cubicBezTo>
                  <a:cubicBezTo>
                    <a:pt x="17224" y="27186"/>
                    <a:pt x="14319" y="32996"/>
                    <a:pt x="14319" y="36628"/>
                  </a:cubicBezTo>
                  <a:cubicBezTo>
                    <a:pt x="14319" y="38703"/>
                    <a:pt x="15875" y="40156"/>
                    <a:pt x="17951" y="40156"/>
                  </a:cubicBezTo>
                  <a:cubicBezTo>
                    <a:pt x="20026" y="40156"/>
                    <a:pt x="21273" y="38600"/>
                    <a:pt x="21273" y="36628"/>
                  </a:cubicBezTo>
                  <a:cubicBezTo>
                    <a:pt x="21273" y="32373"/>
                    <a:pt x="18883" y="26980"/>
                    <a:pt x="18883" y="21479"/>
                  </a:cubicBezTo>
                  <a:cubicBezTo>
                    <a:pt x="22102" y="23348"/>
                    <a:pt x="30297" y="32064"/>
                    <a:pt x="32373" y="32064"/>
                  </a:cubicBezTo>
                  <a:cubicBezTo>
                    <a:pt x="34242" y="32064"/>
                    <a:pt x="35901" y="30298"/>
                    <a:pt x="35901" y="28432"/>
                  </a:cubicBezTo>
                  <a:cubicBezTo>
                    <a:pt x="35901" y="27083"/>
                    <a:pt x="34969" y="26146"/>
                    <a:pt x="33929" y="25527"/>
                  </a:cubicBezTo>
                  <a:cubicBezTo>
                    <a:pt x="31230" y="23761"/>
                    <a:pt x="24071" y="22622"/>
                    <a:pt x="19610" y="20026"/>
                  </a:cubicBezTo>
                  <a:cubicBezTo>
                    <a:pt x="24487" y="17121"/>
                    <a:pt x="31127" y="16704"/>
                    <a:pt x="34135" y="14942"/>
                  </a:cubicBezTo>
                  <a:cubicBezTo>
                    <a:pt x="35278" y="14319"/>
                    <a:pt x="36005" y="13387"/>
                    <a:pt x="36005" y="12037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0" name="price_sum_outline_6"/>
            <p:cNvSpPr/>
            <p:nvPr/>
          </p:nvSpPr>
          <p:spPr>
            <a:xfrm>
              <a:off x="2346764" y="2195578"/>
              <a:ext cx="50637" cy="72012"/>
            </a:xfrm>
            <a:custGeom>
              <a:avLst/>
              <a:gdLst/>
              <a:ahLst/>
              <a:cxnLst/>
              <a:rect l="0" t="0" r="r" b="b"/>
              <a:pathLst>
                <a:path w="50637" h="72013">
                  <a:moveTo>
                    <a:pt x="48042" y="60702"/>
                  </a:moveTo>
                  <a:lnTo>
                    <a:pt x="46176" y="59559"/>
                  </a:lnTo>
                  <a:cubicBezTo>
                    <a:pt x="45760" y="60496"/>
                    <a:pt x="45033" y="61428"/>
                    <a:pt x="44514" y="62258"/>
                  </a:cubicBezTo>
                  <a:cubicBezTo>
                    <a:pt x="42541" y="65472"/>
                    <a:pt x="41196" y="66615"/>
                    <a:pt x="39430" y="66615"/>
                  </a:cubicBezTo>
                  <a:cubicBezTo>
                    <a:pt x="37044" y="66615"/>
                    <a:pt x="34449" y="63294"/>
                    <a:pt x="29468" y="53229"/>
                  </a:cubicBezTo>
                  <a:lnTo>
                    <a:pt x="24904" y="44101"/>
                  </a:lnTo>
                  <a:cubicBezTo>
                    <a:pt x="41608" y="30508"/>
                    <a:pt x="45137" y="28432"/>
                    <a:pt x="50637" y="28122"/>
                  </a:cubicBezTo>
                  <a:lnTo>
                    <a:pt x="50534" y="26460"/>
                  </a:lnTo>
                  <a:lnTo>
                    <a:pt x="29885" y="26460"/>
                  </a:lnTo>
                  <a:lnTo>
                    <a:pt x="29988" y="28122"/>
                  </a:lnTo>
                  <a:lnTo>
                    <a:pt x="32064" y="28122"/>
                  </a:lnTo>
                  <a:cubicBezTo>
                    <a:pt x="35072" y="28122"/>
                    <a:pt x="36318" y="28849"/>
                    <a:pt x="36421" y="29988"/>
                  </a:cubicBezTo>
                  <a:cubicBezTo>
                    <a:pt x="36421" y="32063"/>
                    <a:pt x="30817" y="35592"/>
                    <a:pt x="20233" y="44101"/>
                  </a:cubicBezTo>
                  <a:lnTo>
                    <a:pt x="15149" y="47938"/>
                  </a:lnTo>
                  <a:lnTo>
                    <a:pt x="27706" y="520"/>
                  </a:lnTo>
                  <a:lnTo>
                    <a:pt x="26563" y="0"/>
                  </a:lnTo>
                  <a:cubicBezTo>
                    <a:pt x="19614" y="1349"/>
                    <a:pt x="15256" y="2076"/>
                    <a:pt x="8406" y="2802"/>
                  </a:cubicBezTo>
                  <a:lnTo>
                    <a:pt x="8406" y="4465"/>
                  </a:lnTo>
                  <a:lnTo>
                    <a:pt x="10481" y="4465"/>
                  </a:lnTo>
                  <a:cubicBezTo>
                    <a:pt x="14633" y="4465"/>
                    <a:pt x="16498" y="5191"/>
                    <a:pt x="16812" y="7056"/>
                  </a:cubicBezTo>
                  <a:cubicBezTo>
                    <a:pt x="16708" y="8822"/>
                    <a:pt x="15875" y="11517"/>
                    <a:pt x="14422" y="16395"/>
                  </a:cubicBezTo>
                  <a:lnTo>
                    <a:pt x="13490" y="19820"/>
                  </a:lnTo>
                  <a:lnTo>
                    <a:pt x="13387" y="20753"/>
                  </a:lnTo>
                  <a:lnTo>
                    <a:pt x="0" y="70870"/>
                  </a:lnTo>
                  <a:lnTo>
                    <a:pt x="9029" y="70870"/>
                  </a:lnTo>
                  <a:lnTo>
                    <a:pt x="14010" y="52193"/>
                  </a:lnTo>
                  <a:lnTo>
                    <a:pt x="18887" y="48871"/>
                  </a:lnTo>
                  <a:cubicBezTo>
                    <a:pt x="20856" y="53439"/>
                    <a:pt x="24074" y="59873"/>
                    <a:pt x="26356" y="63504"/>
                  </a:cubicBezTo>
                  <a:cubicBezTo>
                    <a:pt x="30297" y="70040"/>
                    <a:pt x="32167" y="72013"/>
                    <a:pt x="35592" y="72013"/>
                  </a:cubicBezTo>
                  <a:cubicBezTo>
                    <a:pt x="40156" y="72013"/>
                    <a:pt x="43164" y="69417"/>
                    <a:pt x="48042" y="60702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1" name="price_sum_outline_7"/>
            <p:cNvSpPr/>
            <p:nvPr/>
          </p:nvSpPr>
          <p:spPr>
            <a:xfrm>
              <a:off x="2447993" y="2144233"/>
              <a:ext cx="71251" cy="71528"/>
            </a:xfrm>
            <a:custGeom>
              <a:avLst/>
              <a:gdLst/>
              <a:ahLst/>
              <a:cxnLst/>
              <a:rect l="0" t="0" r="r" b="b"/>
              <a:pathLst>
                <a:path w="71251" h="71529">
                  <a:moveTo>
                    <a:pt x="31032" y="31170"/>
                  </a:moveTo>
                  <a:lnTo>
                    <a:pt x="0" y="31170"/>
                  </a:lnTo>
                  <a:lnTo>
                    <a:pt x="0" y="40358"/>
                  </a:lnTo>
                  <a:lnTo>
                    <a:pt x="31032" y="40358"/>
                  </a:lnTo>
                  <a:lnTo>
                    <a:pt x="31032" y="71529"/>
                  </a:lnTo>
                  <a:lnTo>
                    <a:pt x="40219" y="71529"/>
                  </a:lnTo>
                  <a:lnTo>
                    <a:pt x="40219" y="40358"/>
                  </a:lnTo>
                  <a:lnTo>
                    <a:pt x="71251" y="40358"/>
                  </a:lnTo>
                  <a:lnTo>
                    <a:pt x="71251" y="31170"/>
                  </a:lnTo>
                  <a:lnTo>
                    <a:pt x="40219" y="31170"/>
                  </a:lnTo>
                  <a:lnTo>
                    <a:pt x="40219" y="0"/>
                  </a:lnTo>
                  <a:lnTo>
                    <a:pt x="31032" y="0"/>
                  </a:lnTo>
                  <a:lnTo>
                    <a:pt x="31032" y="31170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2" name="price_sum_outline_8"/>
            <p:cNvSpPr/>
            <p:nvPr/>
          </p:nvSpPr>
          <p:spPr>
            <a:xfrm>
              <a:off x="2552968" y="2124611"/>
              <a:ext cx="83776" cy="119955"/>
            </a:xfrm>
            <a:custGeom>
              <a:avLst/>
              <a:gdLst/>
              <a:ahLst/>
              <a:cxnLst/>
              <a:rect l="0" t="0" r="r" b="b"/>
              <a:pathLst>
                <a:path w="83776" h="119955">
                  <a:moveTo>
                    <a:pt x="83776" y="16002"/>
                  </a:moveTo>
                  <a:cubicBezTo>
                    <a:pt x="83776" y="5008"/>
                    <a:pt x="74867" y="0"/>
                    <a:pt x="63318" y="0"/>
                  </a:cubicBezTo>
                  <a:cubicBezTo>
                    <a:pt x="48566" y="0"/>
                    <a:pt x="34235" y="9878"/>
                    <a:pt x="30337" y="23935"/>
                  </a:cubicBezTo>
                  <a:lnTo>
                    <a:pt x="9045" y="101588"/>
                  </a:lnTo>
                  <a:cubicBezTo>
                    <a:pt x="6679" y="110355"/>
                    <a:pt x="1389" y="118150"/>
                    <a:pt x="0" y="119955"/>
                  </a:cubicBezTo>
                  <a:lnTo>
                    <a:pt x="12383" y="119955"/>
                  </a:lnTo>
                  <a:cubicBezTo>
                    <a:pt x="12525" y="119955"/>
                    <a:pt x="14752" y="118844"/>
                    <a:pt x="19344" y="101449"/>
                  </a:cubicBezTo>
                  <a:lnTo>
                    <a:pt x="24074" y="83495"/>
                  </a:lnTo>
                  <a:lnTo>
                    <a:pt x="24213" y="83495"/>
                  </a:lnTo>
                  <a:cubicBezTo>
                    <a:pt x="24213" y="83637"/>
                    <a:pt x="28805" y="93516"/>
                    <a:pt x="42862" y="93516"/>
                  </a:cubicBezTo>
                  <a:cubicBezTo>
                    <a:pt x="63734" y="93516"/>
                    <a:pt x="77792" y="77930"/>
                    <a:pt x="77792" y="61924"/>
                  </a:cubicBezTo>
                  <a:cubicBezTo>
                    <a:pt x="77792" y="44529"/>
                    <a:pt x="62063" y="41886"/>
                    <a:pt x="61924" y="41886"/>
                  </a:cubicBezTo>
                  <a:lnTo>
                    <a:pt x="61924" y="41330"/>
                  </a:lnTo>
                  <a:cubicBezTo>
                    <a:pt x="62063" y="41330"/>
                    <a:pt x="83776" y="36322"/>
                    <a:pt x="83776" y="16002"/>
                  </a:cubicBezTo>
                  <a:close/>
                  <a:moveTo>
                    <a:pt x="72779" y="15724"/>
                  </a:moveTo>
                  <a:cubicBezTo>
                    <a:pt x="72779" y="22126"/>
                    <a:pt x="69163" y="37850"/>
                    <a:pt x="58031" y="37850"/>
                  </a:cubicBezTo>
                  <a:cubicBezTo>
                    <a:pt x="55106" y="37850"/>
                    <a:pt x="52880" y="37294"/>
                    <a:pt x="50653" y="37294"/>
                  </a:cubicBezTo>
                  <a:cubicBezTo>
                    <a:pt x="46895" y="37294"/>
                    <a:pt x="44252" y="40497"/>
                    <a:pt x="44252" y="43001"/>
                  </a:cubicBezTo>
                  <a:cubicBezTo>
                    <a:pt x="44252" y="44529"/>
                    <a:pt x="45367" y="45784"/>
                    <a:pt x="47871" y="45784"/>
                  </a:cubicBezTo>
                  <a:cubicBezTo>
                    <a:pt x="51768" y="45784"/>
                    <a:pt x="52741" y="45089"/>
                    <a:pt x="55944" y="45089"/>
                  </a:cubicBezTo>
                  <a:cubicBezTo>
                    <a:pt x="62901" y="45089"/>
                    <a:pt x="65961" y="52602"/>
                    <a:pt x="65961" y="60396"/>
                  </a:cubicBezTo>
                  <a:cubicBezTo>
                    <a:pt x="65961" y="74311"/>
                    <a:pt x="57610" y="87114"/>
                    <a:pt x="42724" y="87114"/>
                  </a:cubicBezTo>
                  <a:cubicBezTo>
                    <a:pt x="33258" y="87114"/>
                    <a:pt x="27134" y="82244"/>
                    <a:pt x="27134" y="74172"/>
                  </a:cubicBezTo>
                  <a:cubicBezTo>
                    <a:pt x="27134" y="72501"/>
                    <a:pt x="27412" y="70695"/>
                    <a:pt x="27972" y="68747"/>
                  </a:cubicBezTo>
                  <a:lnTo>
                    <a:pt x="40497" y="24074"/>
                  </a:lnTo>
                  <a:cubicBezTo>
                    <a:pt x="43001" y="15030"/>
                    <a:pt x="49403" y="3897"/>
                    <a:pt x="61924" y="3897"/>
                  </a:cubicBezTo>
                  <a:cubicBezTo>
                    <a:pt x="69858" y="3897"/>
                    <a:pt x="72779" y="9323"/>
                    <a:pt x="72779" y="15724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3" name="price_sum_outline_9"/>
            <p:cNvSpPr/>
            <p:nvPr/>
          </p:nvSpPr>
          <p:spPr>
            <a:xfrm>
              <a:off x="2644884" y="2165821"/>
              <a:ext cx="50637" cy="72012"/>
            </a:xfrm>
            <a:custGeom>
              <a:avLst/>
              <a:gdLst/>
              <a:ahLst/>
              <a:cxnLst/>
              <a:rect l="0" t="0" r="r" b="b"/>
              <a:pathLst>
                <a:path w="50637" h="72013">
                  <a:moveTo>
                    <a:pt x="48042" y="60702"/>
                  </a:moveTo>
                  <a:lnTo>
                    <a:pt x="46176" y="59559"/>
                  </a:lnTo>
                  <a:cubicBezTo>
                    <a:pt x="45760" y="60496"/>
                    <a:pt x="45033" y="61428"/>
                    <a:pt x="44513" y="62258"/>
                  </a:cubicBezTo>
                  <a:cubicBezTo>
                    <a:pt x="42541" y="65472"/>
                    <a:pt x="41196" y="66615"/>
                    <a:pt x="39430" y="66615"/>
                  </a:cubicBezTo>
                  <a:cubicBezTo>
                    <a:pt x="37044" y="66615"/>
                    <a:pt x="34449" y="63294"/>
                    <a:pt x="29468" y="53229"/>
                  </a:cubicBezTo>
                  <a:lnTo>
                    <a:pt x="24904" y="44101"/>
                  </a:lnTo>
                  <a:cubicBezTo>
                    <a:pt x="41608" y="30508"/>
                    <a:pt x="45137" y="28432"/>
                    <a:pt x="50637" y="28123"/>
                  </a:cubicBezTo>
                  <a:lnTo>
                    <a:pt x="50534" y="26460"/>
                  </a:lnTo>
                  <a:lnTo>
                    <a:pt x="29885" y="26460"/>
                  </a:lnTo>
                  <a:lnTo>
                    <a:pt x="29988" y="28123"/>
                  </a:lnTo>
                  <a:lnTo>
                    <a:pt x="32064" y="28123"/>
                  </a:lnTo>
                  <a:cubicBezTo>
                    <a:pt x="35072" y="28123"/>
                    <a:pt x="36318" y="28849"/>
                    <a:pt x="36421" y="29988"/>
                  </a:cubicBezTo>
                  <a:cubicBezTo>
                    <a:pt x="36421" y="32064"/>
                    <a:pt x="30817" y="35592"/>
                    <a:pt x="20233" y="44101"/>
                  </a:cubicBezTo>
                  <a:lnTo>
                    <a:pt x="15149" y="47939"/>
                  </a:lnTo>
                  <a:lnTo>
                    <a:pt x="27706" y="520"/>
                  </a:lnTo>
                  <a:lnTo>
                    <a:pt x="26563" y="0"/>
                  </a:lnTo>
                  <a:cubicBezTo>
                    <a:pt x="19614" y="1349"/>
                    <a:pt x="15256" y="2076"/>
                    <a:pt x="8406" y="2802"/>
                  </a:cubicBezTo>
                  <a:lnTo>
                    <a:pt x="8406" y="4465"/>
                  </a:lnTo>
                  <a:lnTo>
                    <a:pt x="10481" y="4465"/>
                  </a:lnTo>
                  <a:cubicBezTo>
                    <a:pt x="14633" y="4465"/>
                    <a:pt x="16498" y="5191"/>
                    <a:pt x="16812" y="7057"/>
                  </a:cubicBezTo>
                  <a:cubicBezTo>
                    <a:pt x="16708" y="8823"/>
                    <a:pt x="15875" y="11517"/>
                    <a:pt x="14422" y="16395"/>
                  </a:cubicBezTo>
                  <a:lnTo>
                    <a:pt x="13490" y="19820"/>
                  </a:lnTo>
                  <a:lnTo>
                    <a:pt x="13387" y="20753"/>
                  </a:lnTo>
                  <a:lnTo>
                    <a:pt x="0" y="70870"/>
                  </a:lnTo>
                  <a:lnTo>
                    <a:pt x="9029" y="70870"/>
                  </a:lnTo>
                  <a:lnTo>
                    <a:pt x="14010" y="52193"/>
                  </a:lnTo>
                  <a:lnTo>
                    <a:pt x="18887" y="48871"/>
                  </a:lnTo>
                  <a:cubicBezTo>
                    <a:pt x="20856" y="53439"/>
                    <a:pt x="24074" y="59873"/>
                    <a:pt x="26356" y="63504"/>
                  </a:cubicBezTo>
                  <a:cubicBezTo>
                    <a:pt x="30297" y="70041"/>
                    <a:pt x="32167" y="72013"/>
                    <a:pt x="35592" y="72013"/>
                  </a:cubicBezTo>
                  <a:cubicBezTo>
                    <a:pt x="40156" y="72013"/>
                    <a:pt x="43164" y="69417"/>
                    <a:pt x="48042" y="60702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74" name="priced_label"/>
          <p:cNvGrpSpPr/>
          <p:nvPr/>
        </p:nvGrpSpPr>
        <p:grpSpPr>
          <a:xfrm>
            <a:off x="2964595" y="2042098"/>
            <a:ext cx="102918" cy="132211"/>
            <a:chOff x="2964595" y="2042098"/>
            <a:chExt cx="102918" cy="132211"/>
          </a:xfrm>
        </p:grpSpPr>
        <p:sp>
          <p:nvSpPr>
            <p:cNvPr id="484" name="priced_label_outline_0"/>
            <p:cNvSpPr/>
            <p:nvPr/>
          </p:nvSpPr>
          <p:spPr>
            <a:xfrm>
              <a:off x="2983182" y="2042098"/>
              <a:ext cx="84331" cy="14473"/>
            </a:xfrm>
            <a:custGeom>
              <a:avLst/>
              <a:gdLst/>
              <a:ahLst/>
              <a:cxnLst/>
              <a:rect l="0" t="0" r="r" b="b"/>
              <a:pathLst>
                <a:path w="84332" h="14474">
                  <a:moveTo>
                    <a:pt x="84332" y="0"/>
                  </a:moveTo>
                  <a:lnTo>
                    <a:pt x="80157" y="0"/>
                  </a:lnTo>
                  <a:cubicBezTo>
                    <a:pt x="79046" y="3481"/>
                    <a:pt x="75009" y="6541"/>
                    <a:pt x="61230" y="6541"/>
                  </a:cubicBezTo>
                  <a:cubicBezTo>
                    <a:pt x="48010" y="6541"/>
                    <a:pt x="43557" y="417"/>
                    <a:pt x="30754" y="417"/>
                  </a:cubicBezTo>
                  <a:cubicBezTo>
                    <a:pt x="9600" y="417"/>
                    <a:pt x="3619" y="6679"/>
                    <a:pt x="0" y="14474"/>
                  </a:cubicBezTo>
                  <a:lnTo>
                    <a:pt x="4175" y="14474"/>
                  </a:lnTo>
                  <a:cubicBezTo>
                    <a:pt x="5286" y="10993"/>
                    <a:pt x="10299" y="8072"/>
                    <a:pt x="24074" y="8072"/>
                  </a:cubicBezTo>
                  <a:cubicBezTo>
                    <a:pt x="37155" y="8072"/>
                    <a:pt x="41747" y="14196"/>
                    <a:pt x="54550" y="14196"/>
                  </a:cubicBezTo>
                  <a:cubicBezTo>
                    <a:pt x="75704" y="14196"/>
                    <a:pt x="80712" y="7795"/>
                    <a:pt x="84332" y="0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5" name="priced_label_outline_1"/>
            <p:cNvSpPr/>
            <p:nvPr/>
          </p:nvSpPr>
          <p:spPr>
            <a:xfrm>
              <a:off x="2964595" y="2081349"/>
              <a:ext cx="85582" cy="92960"/>
            </a:xfrm>
            <a:custGeom>
              <a:avLst/>
              <a:gdLst/>
              <a:ahLst/>
              <a:cxnLst/>
              <a:rect l="0" t="0" r="r" b="b"/>
              <a:pathLst>
                <a:path w="85582" h="92960">
                  <a:moveTo>
                    <a:pt x="85582" y="92960"/>
                  </a:moveTo>
                  <a:lnTo>
                    <a:pt x="85582" y="90734"/>
                  </a:lnTo>
                  <a:cubicBezTo>
                    <a:pt x="77653" y="90039"/>
                    <a:pt x="76676" y="88924"/>
                    <a:pt x="75005" y="78764"/>
                  </a:cubicBezTo>
                  <a:lnTo>
                    <a:pt x="61924" y="0"/>
                  </a:lnTo>
                  <a:lnTo>
                    <a:pt x="58309" y="0"/>
                  </a:lnTo>
                  <a:lnTo>
                    <a:pt x="17951" y="69580"/>
                  </a:lnTo>
                  <a:cubicBezTo>
                    <a:pt x="6957" y="88090"/>
                    <a:pt x="5564" y="89618"/>
                    <a:pt x="0" y="90734"/>
                  </a:cubicBezTo>
                  <a:lnTo>
                    <a:pt x="0" y="92960"/>
                  </a:lnTo>
                  <a:lnTo>
                    <a:pt x="26023" y="92960"/>
                  </a:lnTo>
                  <a:lnTo>
                    <a:pt x="26023" y="90734"/>
                  </a:lnTo>
                  <a:cubicBezTo>
                    <a:pt x="18923" y="90039"/>
                    <a:pt x="17812" y="89341"/>
                    <a:pt x="17812" y="85864"/>
                  </a:cubicBezTo>
                  <a:cubicBezTo>
                    <a:pt x="17812" y="83217"/>
                    <a:pt x="18228" y="81967"/>
                    <a:pt x="20594" y="77236"/>
                  </a:cubicBezTo>
                  <a:lnTo>
                    <a:pt x="28527" y="61508"/>
                  </a:lnTo>
                  <a:lnTo>
                    <a:pt x="59142" y="61508"/>
                  </a:lnTo>
                  <a:lnTo>
                    <a:pt x="61924" y="79740"/>
                  </a:lnTo>
                  <a:cubicBezTo>
                    <a:pt x="62063" y="80990"/>
                    <a:pt x="62206" y="82244"/>
                    <a:pt x="62206" y="83360"/>
                  </a:cubicBezTo>
                  <a:cubicBezTo>
                    <a:pt x="62206" y="88646"/>
                    <a:pt x="60258" y="89900"/>
                    <a:pt x="51352" y="90734"/>
                  </a:cubicBezTo>
                  <a:lnTo>
                    <a:pt x="51352" y="92960"/>
                  </a:lnTo>
                  <a:lnTo>
                    <a:pt x="85582" y="92960"/>
                  </a:lnTo>
                  <a:close/>
                  <a:moveTo>
                    <a:pt x="58448" y="56499"/>
                  </a:moveTo>
                  <a:lnTo>
                    <a:pt x="31448" y="56499"/>
                  </a:lnTo>
                  <a:lnTo>
                    <a:pt x="52324" y="20316"/>
                  </a:lnTo>
                  <a:lnTo>
                    <a:pt x="58448" y="56499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75" name="pi_next"/>
          <p:cNvGrpSpPr/>
          <p:nvPr/>
        </p:nvGrpSpPr>
        <p:grpSpPr>
          <a:xfrm>
            <a:off x="4033694" y="2148171"/>
            <a:ext cx="224704" cy="83646"/>
            <a:chOff x="4033694" y="2148171"/>
            <a:chExt cx="224704" cy="83646"/>
          </a:xfrm>
        </p:grpSpPr>
        <p:sp>
          <p:nvSpPr>
            <p:cNvPr id="486" name="pi_next_outline_0"/>
            <p:cNvSpPr/>
            <p:nvPr/>
          </p:nvSpPr>
          <p:spPr>
            <a:xfrm>
              <a:off x="4033694" y="2148171"/>
              <a:ext cx="72088" cy="62900"/>
            </a:xfrm>
            <a:custGeom>
              <a:avLst/>
              <a:gdLst/>
              <a:ahLst/>
              <a:cxnLst/>
              <a:rect l="0" t="0" r="r" b="b"/>
              <a:pathLst>
                <a:path w="72088" h="62901">
                  <a:moveTo>
                    <a:pt x="72088" y="0"/>
                  </a:moveTo>
                  <a:lnTo>
                    <a:pt x="23936" y="0"/>
                  </a:lnTo>
                  <a:cubicBezTo>
                    <a:pt x="11132" y="0"/>
                    <a:pt x="3481" y="15307"/>
                    <a:pt x="2365" y="17951"/>
                  </a:cubicBezTo>
                  <a:lnTo>
                    <a:pt x="3897" y="17951"/>
                  </a:lnTo>
                  <a:cubicBezTo>
                    <a:pt x="4592" y="16974"/>
                    <a:pt x="9743" y="10156"/>
                    <a:pt x="16978" y="10156"/>
                  </a:cubicBezTo>
                  <a:lnTo>
                    <a:pt x="24213" y="10156"/>
                  </a:lnTo>
                  <a:lnTo>
                    <a:pt x="14474" y="39521"/>
                  </a:lnTo>
                  <a:cubicBezTo>
                    <a:pt x="11410" y="48704"/>
                    <a:pt x="0" y="49121"/>
                    <a:pt x="0" y="58587"/>
                  </a:cubicBezTo>
                  <a:lnTo>
                    <a:pt x="0" y="59281"/>
                  </a:lnTo>
                  <a:cubicBezTo>
                    <a:pt x="0" y="61647"/>
                    <a:pt x="1810" y="62901"/>
                    <a:pt x="5151" y="62901"/>
                  </a:cubicBezTo>
                  <a:cubicBezTo>
                    <a:pt x="10438" y="62901"/>
                    <a:pt x="15446" y="59559"/>
                    <a:pt x="22269" y="39799"/>
                  </a:cubicBezTo>
                  <a:lnTo>
                    <a:pt x="32425" y="10156"/>
                  </a:lnTo>
                  <a:lnTo>
                    <a:pt x="46482" y="10156"/>
                  </a:lnTo>
                  <a:lnTo>
                    <a:pt x="39664" y="40076"/>
                  </a:lnTo>
                  <a:cubicBezTo>
                    <a:pt x="38687" y="44113"/>
                    <a:pt x="38132" y="47593"/>
                    <a:pt x="38132" y="50375"/>
                  </a:cubicBezTo>
                  <a:lnTo>
                    <a:pt x="38132" y="51625"/>
                  </a:lnTo>
                  <a:cubicBezTo>
                    <a:pt x="38132" y="57610"/>
                    <a:pt x="42307" y="62901"/>
                    <a:pt x="49125" y="62901"/>
                  </a:cubicBezTo>
                  <a:cubicBezTo>
                    <a:pt x="52324" y="62901"/>
                    <a:pt x="56082" y="61924"/>
                    <a:pt x="56082" y="57333"/>
                  </a:cubicBezTo>
                  <a:lnTo>
                    <a:pt x="56082" y="56777"/>
                  </a:lnTo>
                  <a:cubicBezTo>
                    <a:pt x="56082" y="48566"/>
                    <a:pt x="47732" y="49681"/>
                    <a:pt x="47732" y="41886"/>
                  </a:cubicBezTo>
                  <a:cubicBezTo>
                    <a:pt x="47732" y="40771"/>
                    <a:pt x="47871" y="39521"/>
                    <a:pt x="48292" y="37989"/>
                  </a:cubicBezTo>
                  <a:lnTo>
                    <a:pt x="55110" y="10156"/>
                  </a:lnTo>
                  <a:lnTo>
                    <a:pt x="69719" y="10156"/>
                  </a:lnTo>
                  <a:lnTo>
                    <a:pt x="72088" y="0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7" name="pi_next_outline_1"/>
            <p:cNvSpPr/>
            <p:nvPr/>
          </p:nvSpPr>
          <p:spPr>
            <a:xfrm>
              <a:off x="4113874" y="2173814"/>
              <a:ext cx="29777" cy="58003"/>
            </a:xfrm>
            <a:custGeom>
              <a:avLst/>
              <a:gdLst/>
              <a:ahLst/>
              <a:cxnLst/>
              <a:rect l="0" t="0" r="r" b="b"/>
              <a:pathLst>
                <a:path w="29777" h="58003">
                  <a:moveTo>
                    <a:pt x="22205" y="45240"/>
                  </a:moveTo>
                  <a:lnTo>
                    <a:pt x="20649" y="44513"/>
                  </a:lnTo>
                  <a:cubicBezTo>
                    <a:pt x="15045" y="51050"/>
                    <a:pt x="13283" y="52713"/>
                    <a:pt x="11414" y="52713"/>
                  </a:cubicBezTo>
                  <a:cubicBezTo>
                    <a:pt x="9858" y="52713"/>
                    <a:pt x="9029" y="51467"/>
                    <a:pt x="9648" y="50117"/>
                  </a:cubicBezTo>
                  <a:lnTo>
                    <a:pt x="19300" y="15772"/>
                  </a:lnTo>
                  <a:lnTo>
                    <a:pt x="29262" y="15772"/>
                  </a:lnTo>
                  <a:lnTo>
                    <a:pt x="29777" y="12244"/>
                  </a:lnTo>
                  <a:lnTo>
                    <a:pt x="20233" y="12244"/>
                  </a:lnTo>
                  <a:lnTo>
                    <a:pt x="22931" y="1556"/>
                  </a:lnTo>
                  <a:lnTo>
                    <a:pt x="21896" y="0"/>
                  </a:lnTo>
                  <a:lnTo>
                    <a:pt x="21582" y="0"/>
                  </a:lnTo>
                  <a:cubicBezTo>
                    <a:pt x="21165" y="0"/>
                    <a:pt x="20649" y="314"/>
                    <a:pt x="20233" y="937"/>
                  </a:cubicBezTo>
                  <a:cubicBezTo>
                    <a:pt x="15875" y="6124"/>
                    <a:pt x="8715" y="11728"/>
                    <a:pt x="4981" y="12557"/>
                  </a:cubicBezTo>
                  <a:cubicBezTo>
                    <a:pt x="2179" y="13387"/>
                    <a:pt x="1246" y="14010"/>
                    <a:pt x="1246" y="15149"/>
                  </a:cubicBezTo>
                  <a:cubicBezTo>
                    <a:pt x="1246" y="15149"/>
                    <a:pt x="1246" y="15462"/>
                    <a:pt x="1453" y="15772"/>
                  </a:cubicBezTo>
                  <a:lnTo>
                    <a:pt x="10271" y="15772"/>
                  </a:lnTo>
                  <a:lnTo>
                    <a:pt x="1766" y="46280"/>
                  </a:lnTo>
                  <a:cubicBezTo>
                    <a:pt x="623" y="49701"/>
                    <a:pt x="0" y="53126"/>
                    <a:pt x="0" y="54165"/>
                  </a:cubicBezTo>
                  <a:cubicBezTo>
                    <a:pt x="103" y="56344"/>
                    <a:pt x="2492" y="58003"/>
                    <a:pt x="5707" y="58003"/>
                  </a:cubicBezTo>
                  <a:cubicBezTo>
                    <a:pt x="11105" y="58003"/>
                    <a:pt x="14942" y="55098"/>
                    <a:pt x="22205" y="45240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8" name="pi_next_outline_2"/>
            <p:cNvSpPr/>
            <p:nvPr/>
          </p:nvSpPr>
          <p:spPr>
            <a:xfrm>
              <a:off x="4157961" y="2177136"/>
              <a:ext cx="53125" cy="53332"/>
            </a:xfrm>
            <a:custGeom>
              <a:avLst/>
              <a:gdLst/>
              <a:ahLst/>
              <a:cxnLst/>
              <a:rect l="0" t="0" r="r" b="b"/>
              <a:pathLst>
                <a:path w="53126" h="53332">
                  <a:moveTo>
                    <a:pt x="23138" y="23241"/>
                  </a:moveTo>
                  <a:lnTo>
                    <a:pt x="0" y="23241"/>
                  </a:lnTo>
                  <a:lnTo>
                    <a:pt x="0" y="30091"/>
                  </a:lnTo>
                  <a:lnTo>
                    <a:pt x="23138" y="30091"/>
                  </a:lnTo>
                  <a:lnTo>
                    <a:pt x="23138" y="53332"/>
                  </a:lnTo>
                  <a:lnTo>
                    <a:pt x="29988" y="53332"/>
                  </a:lnTo>
                  <a:lnTo>
                    <a:pt x="29988" y="30091"/>
                  </a:lnTo>
                  <a:lnTo>
                    <a:pt x="53126" y="30091"/>
                  </a:lnTo>
                  <a:lnTo>
                    <a:pt x="53126" y="23241"/>
                  </a:lnTo>
                  <a:lnTo>
                    <a:pt x="29988" y="23241"/>
                  </a:lnTo>
                  <a:lnTo>
                    <a:pt x="29988" y="0"/>
                  </a:lnTo>
                  <a:lnTo>
                    <a:pt x="23138" y="0"/>
                  </a:lnTo>
                  <a:lnTo>
                    <a:pt x="23138" y="23241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9" name="pi_next_outline_3"/>
            <p:cNvSpPr/>
            <p:nvPr/>
          </p:nvSpPr>
          <p:spPr>
            <a:xfrm>
              <a:off x="4229034" y="2160325"/>
              <a:ext cx="29364" cy="70143"/>
            </a:xfrm>
            <a:custGeom>
              <a:avLst/>
              <a:gdLst/>
              <a:ahLst/>
              <a:cxnLst/>
              <a:rect l="0" t="0" r="r" b="b"/>
              <a:pathLst>
                <a:path w="29365" h="70144">
                  <a:moveTo>
                    <a:pt x="29365" y="70144"/>
                  </a:moveTo>
                  <a:lnTo>
                    <a:pt x="29365" y="68588"/>
                  </a:lnTo>
                  <a:cubicBezTo>
                    <a:pt x="21165" y="68485"/>
                    <a:pt x="19506" y="67445"/>
                    <a:pt x="19506" y="62464"/>
                  </a:cubicBezTo>
                  <a:lnTo>
                    <a:pt x="19506" y="210"/>
                  </a:lnTo>
                  <a:lnTo>
                    <a:pt x="18677" y="0"/>
                  </a:lnTo>
                  <a:lnTo>
                    <a:pt x="0" y="9446"/>
                  </a:lnTo>
                  <a:lnTo>
                    <a:pt x="0" y="10898"/>
                  </a:lnTo>
                  <a:cubicBezTo>
                    <a:pt x="1246" y="10378"/>
                    <a:pt x="2385" y="9962"/>
                    <a:pt x="2802" y="9755"/>
                  </a:cubicBezTo>
                  <a:cubicBezTo>
                    <a:pt x="4671" y="9029"/>
                    <a:pt x="6433" y="8612"/>
                    <a:pt x="7469" y="8612"/>
                  </a:cubicBezTo>
                  <a:cubicBezTo>
                    <a:pt x="9648" y="8612"/>
                    <a:pt x="10585" y="10172"/>
                    <a:pt x="10585" y="13490"/>
                  </a:cubicBezTo>
                  <a:lnTo>
                    <a:pt x="10585" y="60496"/>
                  </a:lnTo>
                  <a:cubicBezTo>
                    <a:pt x="10585" y="63917"/>
                    <a:pt x="9755" y="66306"/>
                    <a:pt x="8092" y="67239"/>
                  </a:cubicBezTo>
                  <a:cubicBezTo>
                    <a:pt x="6537" y="68171"/>
                    <a:pt x="5084" y="68485"/>
                    <a:pt x="726" y="68588"/>
                  </a:cubicBezTo>
                  <a:lnTo>
                    <a:pt x="726" y="70144"/>
                  </a:lnTo>
                  <a:lnTo>
                    <a:pt x="29365" y="70144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76" name="u_fixed_eq"/>
          <p:cNvGrpSpPr/>
          <p:nvPr/>
        </p:nvGrpSpPr>
        <p:grpSpPr>
          <a:xfrm>
            <a:off x="253074" y="2823700"/>
            <a:ext cx="691868" cy="106665"/>
            <a:chOff x="253074" y="2823700"/>
            <a:chExt cx="691868" cy="106665"/>
          </a:xfrm>
        </p:grpSpPr>
        <p:sp>
          <p:nvSpPr>
            <p:cNvPr id="490" name="u_fixed_eq_outline_0"/>
            <p:cNvSpPr/>
            <p:nvPr/>
          </p:nvSpPr>
          <p:spPr>
            <a:xfrm>
              <a:off x="253074" y="2849723"/>
              <a:ext cx="48291" cy="48601"/>
            </a:xfrm>
            <a:custGeom>
              <a:avLst/>
              <a:gdLst/>
              <a:ahLst/>
              <a:cxnLst/>
              <a:rect l="0" t="0" r="r" b="b"/>
              <a:pathLst>
                <a:path w="48292" h="48601">
                  <a:moveTo>
                    <a:pt x="41839" y="37096"/>
                  </a:moveTo>
                  <a:lnTo>
                    <a:pt x="39795" y="36020"/>
                  </a:lnTo>
                  <a:cubicBezTo>
                    <a:pt x="33235" y="42366"/>
                    <a:pt x="28611" y="44732"/>
                    <a:pt x="22484" y="44732"/>
                  </a:cubicBezTo>
                  <a:cubicBezTo>
                    <a:pt x="15495" y="44732"/>
                    <a:pt x="11085" y="40215"/>
                    <a:pt x="10764" y="32472"/>
                  </a:cubicBezTo>
                  <a:cubicBezTo>
                    <a:pt x="10443" y="23332"/>
                    <a:pt x="14526" y="13764"/>
                    <a:pt x="21194" y="7418"/>
                  </a:cubicBezTo>
                  <a:cubicBezTo>
                    <a:pt x="24635" y="4195"/>
                    <a:pt x="29473" y="2258"/>
                    <a:pt x="34418" y="2258"/>
                  </a:cubicBezTo>
                  <a:cubicBezTo>
                    <a:pt x="37323" y="2258"/>
                    <a:pt x="39041" y="3120"/>
                    <a:pt x="39041" y="4409"/>
                  </a:cubicBezTo>
                  <a:cubicBezTo>
                    <a:pt x="39152" y="4945"/>
                    <a:pt x="39041" y="5485"/>
                    <a:pt x="38505" y="6453"/>
                  </a:cubicBezTo>
                  <a:cubicBezTo>
                    <a:pt x="37537" y="7850"/>
                    <a:pt x="37430" y="8493"/>
                    <a:pt x="37430" y="9569"/>
                  </a:cubicBezTo>
                  <a:cubicBezTo>
                    <a:pt x="37537" y="12148"/>
                    <a:pt x="39367" y="13656"/>
                    <a:pt x="42375" y="13656"/>
                  </a:cubicBezTo>
                  <a:cubicBezTo>
                    <a:pt x="45816" y="13656"/>
                    <a:pt x="48400" y="11613"/>
                    <a:pt x="48289" y="8711"/>
                  </a:cubicBezTo>
                  <a:cubicBezTo>
                    <a:pt x="48074" y="3655"/>
                    <a:pt x="42593" y="0"/>
                    <a:pt x="34957" y="0"/>
                  </a:cubicBezTo>
                  <a:cubicBezTo>
                    <a:pt x="16356" y="0"/>
                    <a:pt x="-527" y="15700"/>
                    <a:pt x="13" y="32472"/>
                  </a:cubicBezTo>
                  <a:cubicBezTo>
                    <a:pt x="334" y="42688"/>
                    <a:pt x="7323" y="48601"/>
                    <a:pt x="18828" y="48601"/>
                  </a:cubicBezTo>
                  <a:cubicBezTo>
                    <a:pt x="28183" y="48601"/>
                    <a:pt x="34418" y="45375"/>
                    <a:pt x="41839" y="37096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1" name="u_fixed_eq_outline_1"/>
            <p:cNvSpPr/>
            <p:nvPr/>
          </p:nvSpPr>
          <p:spPr>
            <a:xfrm>
              <a:off x="344734" y="2855637"/>
              <a:ext cx="55050" cy="27848"/>
            </a:xfrm>
            <a:custGeom>
              <a:avLst/>
              <a:gdLst/>
              <a:ahLst/>
              <a:cxnLst/>
              <a:rect l="0" t="0" r="r" b="b"/>
              <a:pathLst>
                <a:path w="55051" h="27849">
                  <a:moveTo>
                    <a:pt x="55051" y="6021"/>
                  </a:moveTo>
                  <a:lnTo>
                    <a:pt x="55051" y="0"/>
                  </a:lnTo>
                  <a:lnTo>
                    <a:pt x="0" y="0"/>
                  </a:lnTo>
                  <a:lnTo>
                    <a:pt x="0" y="6021"/>
                  </a:lnTo>
                  <a:lnTo>
                    <a:pt x="55051" y="6021"/>
                  </a:lnTo>
                  <a:close/>
                  <a:moveTo>
                    <a:pt x="55051" y="27849"/>
                  </a:moveTo>
                  <a:lnTo>
                    <a:pt x="55051" y="21828"/>
                  </a:lnTo>
                  <a:lnTo>
                    <a:pt x="0" y="21828"/>
                  </a:lnTo>
                  <a:lnTo>
                    <a:pt x="0" y="27849"/>
                  </a:lnTo>
                  <a:lnTo>
                    <a:pt x="55051" y="27849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2" name="u_fixed_eq_outline_2"/>
            <p:cNvSpPr/>
            <p:nvPr/>
          </p:nvSpPr>
          <p:spPr>
            <a:xfrm>
              <a:off x="438919" y="2824454"/>
              <a:ext cx="48601" cy="74191"/>
            </a:xfrm>
            <a:custGeom>
              <a:avLst/>
              <a:gdLst/>
              <a:ahLst/>
              <a:cxnLst/>
              <a:rect l="0" t="0" r="r" b="b"/>
              <a:pathLst>
                <a:path w="48601" h="74192">
                  <a:moveTo>
                    <a:pt x="48601" y="37203"/>
                  </a:moveTo>
                  <a:cubicBezTo>
                    <a:pt x="48601" y="15161"/>
                    <a:pt x="38818" y="0"/>
                    <a:pt x="24733" y="0"/>
                  </a:cubicBezTo>
                  <a:cubicBezTo>
                    <a:pt x="18820" y="0"/>
                    <a:pt x="14303" y="1830"/>
                    <a:pt x="10323" y="5592"/>
                  </a:cubicBezTo>
                  <a:cubicBezTo>
                    <a:pt x="4088" y="11613"/>
                    <a:pt x="0" y="23979"/>
                    <a:pt x="0" y="36560"/>
                  </a:cubicBezTo>
                  <a:cubicBezTo>
                    <a:pt x="0" y="48280"/>
                    <a:pt x="3548" y="60861"/>
                    <a:pt x="8604" y="66881"/>
                  </a:cubicBezTo>
                  <a:cubicBezTo>
                    <a:pt x="12581" y="71612"/>
                    <a:pt x="18066" y="74192"/>
                    <a:pt x="24301" y="74192"/>
                  </a:cubicBezTo>
                  <a:cubicBezTo>
                    <a:pt x="29785" y="74192"/>
                    <a:pt x="34409" y="72366"/>
                    <a:pt x="38279" y="68600"/>
                  </a:cubicBezTo>
                  <a:cubicBezTo>
                    <a:pt x="44517" y="62686"/>
                    <a:pt x="48601" y="50217"/>
                    <a:pt x="48601" y="37203"/>
                  </a:cubicBezTo>
                  <a:close/>
                  <a:moveTo>
                    <a:pt x="38279" y="37417"/>
                  </a:moveTo>
                  <a:cubicBezTo>
                    <a:pt x="38279" y="59892"/>
                    <a:pt x="33548" y="71398"/>
                    <a:pt x="24301" y="71398"/>
                  </a:cubicBezTo>
                  <a:cubicBezTo>
                    <a:pt x="15053" y="71398"/>
                    <a:pt x="10323" y="59892"/>
                    <a:pt x="10323" y="37528"/>
                  </a:cubicBezTo>
                  <a:cubicBezTo>
                    <a:pt x="10323" y="14732"/>
                    <a:pt x="15161" y="2798"/>
                    <a:pt x="24408" y="2798"/>
                  </a:cubicBezTo>
                  <a:cubicBezTo>
                    <a:pt x="33441" y="2798"/>
                    <a:pt x="38279" y="14946"/>
                    <a:pt x="38279" y="37417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3" name="u_fixed_eq_outline_3"/>
            <p:cNvSpPr/>
            <p:nvPr/>
          </p:nvSpPr>
          <p:spPr>
            <a:xfrm>
              <a:off x="498724" y="2886176"/>
              <a:ext cx="17093" cy="26447"/>
            </a:xfrm>
            <a:custGeom>
              <a:avLst/>
              <a:gdLst/>
              <a:ahLst/>
              <a:cxnLst/>
              <a:rect l="0" t="0" r="r" b="b"/>
              <a:pathLst>
                <a:path w="17093" h="26448">
                  <a:moveTo>
                    <a:pt x="17093" y="10319"/>
                  </a:moveTo>
                  <a:cubicBezTo>
                    <a:pt x="17093" y="1397"/>
                    <a:pt x="10104" y="0"/>
                    <a:pt x="7203" y="0"/>
                  </a:cubicBezTo>
                  <a:cubicBezTo>
                    <a:pt x="4084" y="0"/>
                    <a:pt x="0" y="1933"/>
                    <a:pt x="0" y="6556"/>
                  </a:cubicBezTo>
                  <a:cubicBezTo>
                    <a:pt x="0" y="10858"/>
                    <a:pt x="4191" y="11934"/>
                    <a:pt x="7310" y="11934"/>
                  </a:cubicBezTo>
                  <a:cubicBezTo>
                    <a:pt x="8065" y="11934"/>
                    <a:pt x="8707" y="11827"/>
                    <a:pt x="9029" y="11720"/>
                  </a:cubicBezTo>
                  <a:cubicBezTo>
                    <a:pt x="9462" y="11613"/>
                    <a:pt x="9997" y="11501"/>
                    <a:pt x="10212" y="11501"/>
                  </a:cubicBezTo>
                  <a:cubicBezTo>
                    <a:pt x="10966" y="11501"/>
                    <a:pt x="11827" y="12041"/>
                    <a:pt x="11827" y="13010"/>
                  </a:cubicBezTo>
                  <a:cubicBezTo>
                    <a:pt x="11827" y="15053"/>
                    <a:pt x="9890" y="19677"/>
                    <a:pt x="2040" y="24190"/>
                  </a:cubicBezTo>
                  <a:lnTo>
                    <a:pt x="3115" y="26448"/>
                  </a:lnTo>
                  <a:cubicBezTo>
                    <a:pt x="6882" y="25372"/>
                    <a:pt x="17093" y="17955"/>
                    <a:pt x="17093" y="10319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4" name="u_fixed_eq_outline_4"/>
            <p:cNvSpPr/>
            <p:nvPr/>
          </p:nvSpPr>
          <p:spPr>
            <a:xfrm>
              <a:off x="567207" y="2826713"/>
              <a:ext cx="72901" cy="92686"/>
            </a:xfrm>
            <a:custGeom>
              <a:avLst/>
              <a:gdLst/>
              <a:ahLst/>
              <a:cxnLst/>
              <a:rect l="0" t="0" r="r" b="b"/>
              <a:pathLst>
                <a:path w="72902" h="92686">
                  <a:moveTo>
                    <a:pt x="72902" y="12367"/>
                  </a:moveTo>
                  <a:cubicBezTo>
                    <a:pt x="72902" y="3869"/>
                    <a:pt x="64837" y="0"/>
                    <a:pt x="54300" y="0"/>
                  </a:cubicBezTo>
                  <a:cubicBezTo>
                    <a:pt x="40862" y="0"/>
                    <a:pt x="27849" y="7636"/>
                    <a:pt x="24301" y="18494"/>
                  </a:cubicBezTo>
                  <a:lnTo>
                    <a:pt x="7529" y="78494"/>
                  </a:lnTo>
                  <a:cubicBezTo>
                    <a:pt x="5592" y="85269"/>
                    <a:pt x="1183" y="91289"/>
                    <a:pt x="0" y="92686"/>
                  </a:cubicBezTo>
                  <a:lnTo>
                    <a:pt x="11184" y="92686"/>
                  </a:lnTo>
                  <a:cubicBezTo>
                    <a:pt x="11291" y="92686"/>
                    <a:pt x="13228" y="91829"/>
                    <a:pt x="17312" y="78387"/>
                  </a:cubicBezTo>
                  <a:lnTo>
                    <a:pt x="21185" y="64516"/>
                  </a:lnTo>
                  <a:lnTo>
                    <a:pt x="21292" y="64516"/>
                  </a:lnTo>
                  <a:cubicBezTo>
                    <a:pt x="21292" y="64623"/>
                    <a:pt x="25269" y="72259"/>
                    <a:pt x="37207" y="72259"/>
                  </a:cubicBezTo>
                  <a:cubicBezTo>
                    <a:pt x="54948" y="72259"/>
                    <a:pt x="67095" y="60214"/>
                    <a:pt x="67095" y="47847"/>
                  </a:cubicBezTo>
                  <a:cubicBezTo>
                    <a:pt x="67095" y="34409"/>
                    <a:pt x="51614" y="32365"/>
                    <a:pt x="51507" y="32365"/>
                  </a:cubicBezTo>
                  <a:lnTo>
                    <a:pt x="51507" y="31936"/>
                  </a:lnTo>
                  <a:cubicBezTo>
                    <a:pt x="51614" y="31936"/>
                    <a:pt x="72902" y="28063"/>
                    <a:pt x="72902" y="12367"/>
                  </a:cubicBezTo>
                  <a:close/>
                  <a:moveTo>
                    <a:pt x="62258" y="12152"/>
                  </a:moveTo>
                  <a:cubicBezTo>
                    <a:pt x="62258" y="17097"/>
                    <a:pt x="59031" y="29246"/>
                    <a:pt x="49248" y="29246"/>
                  </a:cubicBezTo>
                  <a:cubicBezTo>
                    <a:pt x="46669" y="29246"/>
                    <a:pt x="44517" y="28817"/>
                    <a:pt x="42581" y="28817"/>
                  </a:cubicBezTo>
                  <a:cubicBezTo>
                    <a:pt x="39247" y="28817"/>
                    <a:pt x="36989" y="31290"/>
                    <a:pt x="36989" y="33226"/>
                  </a:cubicBezTo>
                  <a:cubicBezTo>
                    <a:pt x="36989" y="34409"/>
                    <a:pt x="37957" y="35377"/>
                    <a:pt x="40108" y="35377"/>
                  </a:cubicBezTo>
                  <a:cubicBezTo>
                    <a:pt x="43442" y="35377"/>
                    <a:pt x="44303" y="34838"/>
                    <a:pt x="46990" y="34838"/>
                  </a:cubicBezTo>
                  <a:cubicBezTo>
                    <a:pt x="52903" y="34838"/>
                    <a:pt x="55591" y="40644"/>
                    <a:pt x="55591" y="46664"/>
                  </a:cubicBezTo>
                  <a:cubicBezTo>
                    <a:pt x="55591" y="57420"/>
                    <a:pt x="48708" y="67310"/>
                    <a:pt x="36453" y="67310"/>
                  </a:cubicBezTo>
                  <a:cubicBezTo>
                    <a:pt x="28710" y="67310"/>
                    <a:pt x="23765" y="63548"/>
                    <a:pt x="23765" y="57313"/>
                  </a:cubicBezTo>
                  <a:cubicBezTo>
                    <a:pt x="23765" y="56023"/>
                    <a:pt x="23979" y="54622"/>
                    <a:pt x="24408" y="53118"/>
                  </a:cubicBezTo>
                  <a:lnTo>
                    <a:pt x="33981" y="18601"/>
                  </a:lnTo>
                  <a:cubicBezTo>
                    <a:pt x="36132" y="11612"/>
                    <a:pt x="41831" y="3012"/>
                    <a:pt x="52797" y="3012"/>
                  </a:cubicBezTo>
                  <a:cubicBezTo>
                    <a:pt x="59679" y="3012"/>
                    <a:pt x="62258" y="7203"/>
                    <a:pt x="62258" y="12152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5" name="u_fixed_eq_outline_5"/>
            <p:cNvSpPr/>
            <p:nvPr/>
          </p:nvSpPr>
          <p:spPr>
            <a:xfrm>
              <a:off x="645555" y="2858353"/>
              <a:ext cx="50637" cy="72012"/>
            </a:xfrm>
            <a:custGeom>
              <a:avLst/>
              <a:gdLst/>
              <a:ahLst/>
              <a:cxnLst/>
              <a:rect l="0" t="0" r="r" b="b"/>
              <a:pathLst>
                <a:path w="50637" h="72013">
                  <a:moveTo>
                    <a:pt x="48042" y="60702"/>
                  </a:moveTo>
                  <a:lnTo>
                    <a:pt x="46176" y="59559"/>
                  </a:lnTo>
                  <a:cubicBezTo>
                    <a:pt x="45760" y="60496"/>
                    <a:pt x="45033" y="61428"/>
                    <a:pt x="44514" y="62258"/>
                  </a:cubicBezTo>
                  <a:cubicBezTo>
                    <a:pt x="42541" y="65472"/>
                    <a:pt x="41196" y="66615"/>
                    <a:pt x="39429" y="66615"/>
                  </a:cubicBezTo>
                  <a:cubicBezTo>
                    <a:pt x="37044" y="66615"/>
                    <a:pt x="34449" y="63294"/>
                    <a:pt x="29468" y="53229"/>
                  </a:cubicBezTo>
                  <a:lnTo>
                    <a:pt x="24904" y="44101"/>
                  </a:lnTo>
                  <a:cubicBezTo>
                    <a:pt x="41608" y="30508"/>
                    <a:pt x="45137" y="28432"/>
                    <a:pt x="50637" y="28122"/>
                  </a:cubicBezTo>
                  <a:lnTo>
                    <a:pt x="50534" y="26460"/>
                  </a:lnTo>
                  <a:lnTo>
                    <a:pt x="29885" y="26460"/>
                  </a:lnTo>
                  <a:lnTo>
                    <a:pt x="29988" y="28122"/>
                  </a:lnTo>
                  <a:lnTo>
                    <a:pt x="32063" y="28122"/>
                  </a:lnTo>
                  <a:cubicBezTo>
                    <a:pt x="35072" y="28122"/>
                    <a:pt x="36318" y="28849"/>
                    <a:pt x="36421" y="29988"/>
                  </a:cubicBezTo>
                  <a:cubicBezTo>
                    <a:pt x="36421" y="32063"/>
                    <a:pt x="30817" y="35592"/>
                    <a:pt x="20233" y="44101"/>
                  </a:cubicBezTo>
                  <a:lnTo>
                    <a:pt x="15149" y="47938"/>
                  </a:lnTo>
                  <a:lnTo>
                    <a:pt x="27706" y="520"/>
                  </a:lnTo>
                  <a:lnTo>
                    <a:pt x="26563" y="0"/>
                  </a:lnTo>
                  <a:cubicBezTo>
                    <a:pt x="19614" y="1349"/>
                    <a:pt x="15256" y="2076"/>
                    <a:pt x="8406" y="2802"/>
                  </a:cubicBezTo>
                  <a:lnTo>
                    <a:pt x="8406" y="4465"/>
                  </a:lnTo>
                  <a:lnTo>
                    <a:pt x="10481" y="4465"/>
                  </a:lnTo>
                  <a:cubicBezTo>
                    <a:pt x="14633" y="4465"/>
                    <a:pt x="16498" y="5191"/>
                    <a:pt x="16812" y="7056"/>
                  </a:cubicBezTo>
                  <a:cubicBezTo>
                    <a:pt x="16708" y="8822"/>
                    <a:pt x="15875" y="11517"/>
                    <a:pt x="14422" y="16395"/>
                  </a:cubicBezTo>
                  <a:lnTo>
                    <a:pt x="13490" y="19820"/>
                  </a:lnTo>
                  <a:lnTo>
                    <a:pt x="13387" y="20753"/>
                  </a:lnTo>
                  <a:lnTo>
                    <a:pt x="0" y="70870"/>
                  </a:lnTo>
                  <a:lnTo>
                    <a:pt x="9029" y="70870"/>
                  </a:lnTo>
                  <a:lnTo>
                    <a:pt x="14010" y="52193"/>
                  </a:lnTo>
                  <a:lnTo>
                    <a:pt x="18887" y="48871"/>
                  </a:lnTo>
                  <a:cubicBezTo>
                    <a:pt x="20856" y="53439"/>
                    <a:pt x="24074" y="59873"/>
                    <a:pt x="26356" y="63504"/>
                  </a:cubicBezTo>
                  <a:cubicBezTo>
                    <a:pt x="30297" y="70040"/>
                    <a:pt x="32167" y="72013"/>
                    <a:pt x="35592" y="72013"/>
                  </a:cubicBezTo>
                  <a:cubicBezTo>
                    <a:pt x="40156" y="72013"/>
                    <a:pt x="43164" y="69417"/>
                    <a:pt x="48042" y="60702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6" name="u_fixed_eq_outline_6"/>
            <p:cNvSpPr/>
            <p:nvPr/>
          </p:nvSpPr>
          <p:spPr>
            <a:xfrm>
              <a:off x="737451" y="2823700"/>
              <a:ext cx="107967" cy="73441"/>
            </a:xfrm>
            <a:custGeom>
              <a:avLst/>
              <a:gdLst/>
              <a:ahLst/>
              <a:cxnLst/>
              <a:rect l="0" t="0" r="r" b="b"/>
              <a:pathLst>
                <a:path w="107968" h="73442">
                  <a:moveTo>
                    <a:pt x="52685" y="73442"/>
                  </a:moveTo>
                  <a:lnTo>
                    <a:pt x="52685" y="71830"/>
                  </a:lnTo>
                  <a:cubicBezTo>
                    <a:pt x="46665" y="71291"/>
                    <a:pt x="45482" y="69894"/>
                    <a:pt x="45482" y="63012"/>
                  </a:cubicBezTo>
                  <a:lnTo>
                    <a:pt x="45482" y="34842"/>
                  </a:lnTo>
                  <a:lnTo>
                    <a:pt x="45696" y="24301"/>
                  </a:lnTo>
                  <a:lnTo>
                    <a:pt x="45268" y="23979"/>
                  </a:lnTo>
                  <a:cubicBezTo>
                    <a:pt x="40537" y="24733"/>
                    <a:pt x="37417" y="25055"/>
                    <a:pt x="33119" y="25055"/>
                  </a:cubicBezTo>
                  <a:lnTo>
                    <a:pt x="16236" y="25055"/>
                  </a:lnTo>
                  <a:lnTo>
                    <a:pt x="16236" y="20431"/>
                  </a:lnTo>
                  <a:lnTo>
                    <a:pt x="16236" y="19788"/>
                  </a:lnTo>
                  <a:cubicBezTo>
                    <a:pt x="16022" y="14946"/>
                    <a:pt x="16665" y="10862"/>
                    <a:pt x="18066" y="8283"/>
                  </a:cubicBezTo>
                  <a:cubicBezTo>
                    <a:pt x="19891" y="4949"/>
                    <a:pt x="23761" y="2691"/>
                    <a:pt x="27634" y="2691"/>
                  </a:cubicBezTo>
                  <a:cubicBezTo>
                    <a:pt x="30643" y="2691"/>
                    <a:pt x="32687" y="4088"/>
                    <a:pt x="35266" y="7743"/>
                  </a:cubicBezTo>
                  <a:cubicBezTo>
                    <a:pt x="37310" y="10755"/>
                    <a:pt x="38707" y="11724"/>
                    <a:pt x="40537" y="11724"/>
                  </a:cubicBezTo>
                  <a:cubicBezTo>
                    <a:pt x="42795" y="11724"/>
                    <a:pt x="44406" y="10001"/>
                    <a:pt x="44406" y="7529"/>
                  </a:cubicBezTo>
                  <a:cubicBezTo>
                    <a:pt x="44406" y="2905"/>
                    <a:pt x="39033" y="0"/>
                    <a:pt x="30750" y="0"/>
                  </a:cubicBezTo>
                  <a:cubicBezTo>
                    <a:pt x="22578" y="0"/>
                    <a:pt x="16343" y="2691"/>
                    <a:pt x="12474" y="8064"/>
                  </a:cubicBezTo>
                  <a:cubicBezTo>
                    <a:pt x="9247" y="12581"/>
                    <a:pt x="8064" y="16454"/>
                    <a:pt x="7418" y="25055"/>
                  </a:cubicBezTo>
                  <a:lnTo>
                    <a:pt x="0" y="25055"/>
                  </a:lnTo>
                  <a:lnTo>
                    <a:pt x="0" y="28603"/>
                  </a:lnTo>
                  <a:lnTo>
                    <a:pt x="7310" y="28603"/>
                  </a:lnTo>
                  <a:lnTo>
                    <a:pt x="7310" y="63333"/>
                  </a:lnTo>
                  <a:cubicBezTo>
                    <a:pt x="7310" y="70215"/>
                    <a:pt x="6128" y="71612"/>
                    <a:pt x="107" y="71830"/>
                  </a:cubicBezTo>
                  <a:lnTo>
                    <a:pt x="107" y="73442"/>
                  </a:lnTo>
                  <a:lnTo>
                    <a:pt x="23761" y="73442"/>
                  </a:lnTo>
                  <a:lnTo>
                    <a:pt x="23761" y="71830"/>
                  </a:lnTo>
                  <a:cubicBezTo>
                    <a:pt x="17740" y="71398"/>
                    <a:pt x="16343" y="69894"/>
                    <a:pt x="16343" y="63980"/>
                  </a:cubicBezTo>
                  <a:lnTo>
                    <a:pt x="16343" y="28603"/>
                  </a:lnTo>
                  <a:lnTo>
                    <a:pt x="25590" y="28603"/>
                  </a:lnTo>
                  <a:cubicBezTo>
                    <a:pt x="35913" y="28603"/>
                    <a:pt x="36449" y="28924"/>
                    <a:pt x="36449" y="34623"/>
                  </a:cubicBezTo>
                  <a:lnTo>
                    <a:pt x="36449" y="63012"/>
                  </a:lnTo>
                  <a:cubicBezTo>
                    <a:pt x="36449" y="70322"/>
                    <a:pt x="35699" y="71291"/>
                    <a:pt x="29031" y="71830"/>
                  </a:cubicBezTo>
                  <a:lnTo>
                    <a:pt x="29031" y="73442"/>
                  </a:lnTo>
                  <a:lnTo>
                    <a:pt x="52685" y="73442"/>
                  </a:lnTo>
                  <a:close/>
                  <a:moveTo>
                    <a:pt x="107968" y="73442"/>
                  </a:moveTo>
                  <a:lnTo>
                    <a:pt x="107968" y="71830"/>
                  </a:lnTo>
                  <a:cubicBezTo>
                    <a:pt x="104634" y="71830"/>
                    <a:pt x="102483" y="70108"/>
                    <a:pt x="99149" y="65377"/>
                  </a:cubicBezTo>
                  <a:lnTo>
                    <a:pt x="85386" y="44303"/>
                  </a:lnTo>
                  <a:lnTo>
                    <a:pt x="94311" y="31401"/>
                  </a:lnTo>
                  <a:cubicBezTo>
                    <a:pt x="96355" y="28496"/>
                    <a:pt x="99578" y="26777"/>
                    <a:pt x="103019" y="26670"/>
                  </a:cubicBezTo>
                  <a:lnTo>
                    <a:pt x="103019" y="25055"/>
                  </a:lnTo>
                  <a:lnTo>
                    <a:pt x="86033" y="25055"/>
                  </a:lnTo>
                  <a:lnTo>
                    <a:pt x="86033" y="26670"/>
                  </a:lnTo>
                  <a:cubicBezTo>
                    <a:pt x="89255" y="26884"/>
                    <a:pt x="90331" y="27527"/>
                    <a:pt x="90331" y="29035"/>
                  </a:cubicBezTo>
                  <a:cubicBezTo>
                    <a:pt x="90331" y="30325"/>
                    <a:pt x="89041" y="32691"/>
                    <a:pt x="86354" y="36024"/>
                  </a:cubicBezTo>
                  <a:cubicBezTo>
                    <a:pt x="85814" y="36667"/>
                    <a:pt x="84524" y="38604"/>
                    <a:pt x="83127" y="40755"/>
                  </a:cubicBezTo>
                  <a:lnTo>
                    <a:pt x="81623" y="38604"/>
                  </a:lnTo>
                  <a:cubicBezTo>
                    <a:pt x="78611" y="34088"/>
                    <a:pt x="76674" y="30432"/>
                    <a:pt x="76674" y="29035"/>
                  </a:cubicBezTo>
                  <a:cubicBezTo>
                    <a:pt x="76674" y="27527"/>
                    <a:pt x="78075" y="26777"/>
                    <a:pt x="81298" y="26670"/>
                  </a:cubicBezTo>
                  <a:lnTo>
                    <a:pt x="81298" y="25055"/>
                  </a:lnTo>
                  <a:lnTo>
                    <a:pt x="59041" y="25055"/>
                  </a:lnTo>
                  <a:lnTo>
                    <a:pt x="59041" y="26670"/>
                  </a:lnTo>
                  <a:lnTo>
                    <a:pt x="60010" y="26670"/>
                  </a:lnTo>
                  <a:cubicBezTo>
                    <a:pt x="63236" y="26670"/>
                    <a:pt x="64955" y="28067"/>
                    <a:pt x="68288" y="33119"/>
                  </a:cubicBezTo>
                  <a:lnTo>
                    <a:pt x="78397" y="48605"/>
                  </a:lnTo>
                  <a:lnTo>
                    <a:pt x="66137" y="66346"/>
                  </a:lnTo>
                  <a:cubicBezTo>
                    <a:pt x="62915" y="70755"/>
                    <a:pt x="61839" y="71505"/>
                    <a:pt x="58291" y="71830"/>
                  </a:cubicBezTo>
                  <a:lnTo>
                    <a:pt x="58291" y="73442"/>
                  </a:lnTo>
                  <a:lnTo>
                    <a:pt x="73880" y="73442"/>
                  </a:lnTo>
                  <a:lnTo>
                    <a:pt x="73880" y="71830"/>
                  </a:lnTo>
                  <a:cubicBezTo>
                    <a:pt x="70868" y="71830"/>
                    <a:pt x="69578" y="71291"/>
                    <a:pt x="69578" y="69894"/>
                  </a:cubicBezTo>
                  <a:cubicBezTo>
                    <a:pt x="69578" y="69247"/>
                    <a:pt x="70332" y="67635"/>
                    <a:pt x="71729" y="65484"/>
                  </a:cubicBezTo>
                  <a:lnTo>
                    <a:pt x="80226" y="52260"/>
                  </a:lnTo>
                  <a:lnTo>
                    <a:pt x="90009" y="67314"/>
                  </a:lnTo>
                  <a:cubicBezTo>
                    <a:pt x="90438" y="67957"/>
                    <a:pt x="90656" y="68604"/>
                    <a:pt x="90656" y="69247"/>
                  </a:cubicBezTo>
                  <a:cubicBezTo>
                    <a:pt x="90656" y="71183"/>
                    <a:pt x="89902" y="71612"/>
                    <a:pt x="86354" y="71830"/>
                  </a:cubicBezTo>
                  <a:lnTo>
                    <a:pt x="86354" y="73442"/>
                  </a:lnTo>
                  <a:lnTo>
                    <a:pt x="107968" y="73442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7" name="u_fixed_eq_outline_7"/>
            <p:cNvSpPr/>
            <p:nvPr/>
          </p:nvSpPr>
          <p:spPr>
            <a:xfrm>
              <a:off x="847083" y="2823700"/>
              <a:ext cx="97859" cy="74517"/>
            </a:xfrm>
            <a:custGeom>
              <a:avLst/>
              <a:gdLst/>
              <a:ahLst/>
              <a:cxnLst/>
              <a:rect l="0" t="0" r="r" b="b"/>
              <a:pathLst>
                <a:path w="97860" h="74517">
                  <a:moveTo>
                    <a:pt x="42902" y="56559"/>
                  </a:moveTo>
                  <a:lnTo>
                    <a:pt x="41183" y="55808"/>
                  </a:lnTo>
                  <a:cubicBezTo>
                    <a:pt x="36021" y="63980"/>
                    <a:pt x="31397" y="67100"/>
                    <a:pt x="24518" y="67100"/>
                  </a:cubicBezTo>
                  <a:cubicBezTo>
                    <a:pt x="18601" y="67100"/>
                    <a:pt x="14089" y="64302"/>
                    <a:pt x="10970" y="58495"/>
                  </a:cubicBezTo>
                  <a:cubicBezTo>
                    <a:pt x="8819" y="54300"/>
                    <a:pt x="7957" y="50538"/>
                    <a:pt x="7743" y="43656"/>
                  </a:cubicBezTo>
                  <a:lnTo>
                    <a:pt x="40862" y="43656"/>
                  </a:lnTo>
                  <a:cubicBezTo>
                    <a:pt x="40001" y="36667"/>
                    <a:pt x="38925" y="33548"/>
                    <a:pt x="36239" y="30111"/>
                  </a:cubicBezTo>
                  <a:cubicBezTo>
                    <a:pt x="33012" y="26237"/>
                    <a:pt x="28067" y="23979"/>
                    <a:pt x="22475" y="23979"/>
                  </a:cubicBezTo>
                  <a:cubicBezTo>
                    <a:pt x="9140" y="23979"/>
                    <a:pt x="0" y="34734"/>
                    <a:pt x="0" y="50431"/>
                  </a:cubicBezTo>
                  <a:cubicBezTo>
                    <a:pt x="0" y="65270"/>
                    <a:pt x="7743" y="74517"/>
                    <a:pt x="20110" y="74517"/>
                  </a:cubicBezTo>
                  <a:cubicBezTo>
                    <a:pt x="30433" y="74517"/>
                    <a:pt x="38389" y="68171"/>
                    <a:pt x="42902" y="56559"/>
                  </a:cubicBezTo>
                  <a:close/>
                  <a:moveTo>
                    <a:pt x="29893" y="40215"/>
                  </a:moveTo>
                  <a:lnTo>
                    <a:pt x="7957" y="40215"/>
                  </a:lnTo>
                  <a:cubicBezTo>
                    <a:pt x="9140" y="31722"/>
                    <a:pt x="12795" y="27853"/>
                    <a:pt x="19356" y="27853"/>
                  </a:cubicBezTo>
                  <a:cubicBezTo>
                    <a:pt x="25915" y="27853"/>
                    <a:pt x="28496" y="30861"/>
                    <a:pt x="29893" y="40215"/>
                  </a:cubicBezTo>
                  <a:close/>
                  <a:moveTo>
                    <a:pt x="97860" y="68925"/>
                  </a:moveTo>
                  <a:lnTo>
                    <a:pt x="97860" y="67207"/>
                  </a:lnTo>
                  <a:cubicBezTo>
                    <a:pt x="95923" y="67314"/>
                    <a:pt x="95708" y="67314"/>
                    <a:pt x="95387" y="67314"/>
                  </a:cubicBezTo>
                  <a:cubicBezTo>
                    <a:pt x="91513" y="67314"/>
                    <a:pt x="90652" y="66131"/>
                    <a:pt x="90652" y="61182"/>
                  </a:cubicBezTo>
                  <a:lnTo>
                    <a:pt x="90652" y="218"/>
                  </a:lnTo>
                  <a:lnTo>
                    <a:pt x="90116" y="0"/>
                  </a:lnTo>
                  <a:cubicBezTo>
                    <a:pt x="84958" y="1830"/>
                    <a:pt x="81191" y="2905"/>
                    <a:pt x="74309" y="4735"/>
                  </a:cubicBezTo>
                  <a:lnTo>
                    <a:pt x="74309" y="6453"/>
                  </a:lnTo>
                  <a:cubicBezTo>
                    <a:pt x="75170" y="6346"/>
                    <a:pt x="75817" y="6346"/>
                    <a:pt x="76675" y="6346"/>
                  </a:cubicBezTo>
                  <a:cubicBezTo>
                    <a:pt x="80655" y="6346"/>
                    <a:pt x="81624" y="7421"/>
                    <a:pt x="81624" y="11831"/>
                  </a:cubicBezTo>
                  <a:lnTo>
                    <a:pt x="81624" y="28603"/>
                  </a:lnTo>
                  <a:cubicBezTo>
                    <a:pt x="77536" y="25162"/>
                    <a:pt x="74634" y="23979"/>
                    <a:pt x="70332" y="23979"/>
                  </a:cubicBezTo>
                  <a:cubicBezTo>
                    <a:pt x="57965" y="23979"/>
                    <a:pt x="47969" y="36132"/>
                    <a:pt x="47969" y="51399"/>
                  </a:cubicBezTo>
                  <a:cubicBezTo>
                    <a:pt x="47969" y="65163"/>
                    <a:pt x="56028" y="74517"/>
                    <a:pt x="67860" y="74517"/>
                  </a:cubicBezTo>
                  <a:cubicBezTo>
                    <a:pt x="73881" y="74517"/>
                    <a:pt x="77964" y="72366"/>
                    <a:pt x="81624" y="67314"/>
                  </a:cubicBezTo>
                  <a:lnTo>
                    <a:pt x="81624" y="74196"/>
                  </a:lnTo>
                  <a:lnTo>
                    <a:pt x="82052" y="74517"/>
                  </a:lnTo>
                  <a:lnTo>
                    <a:pt x="97860" y="68925"/>
                  </a:lnTo>
                  <a:close/>
                  <a:moveTo>
                    <a:pt x="81624" y="62476"/>
                  </a:moveTo>
                  <a:cubicBezTo>
                    <a:pt x="81624" y="63226"/>
                    <a:pt x="80870" y="64516"/>
                    <a:pt x="79794" y="65699"/>
                  </a:cubicBezTo>
                  <a:cubicBezTo>
                    <a:pt x="77857" y="67850"/>
                    <a:pt x="75170" y="68925"/>
                    <a:pt x="72051" y="68925"/>
                  </a:cubicBezTo>
                  <a:cubicBezTo>
                    <a:pt x="63129" y="68925"/>
                    <a:pt x="57216" y="60325"/>
                    <a:pt x="57216" y="47097"/>
                  </a:cubicBezTo>
                  <a:cubicBezTo>
                    <a:pt x="57216" y="34949"/>
                    <a:pt x="62482" y="26991"/>
                    <a:pt x="70654" y="26991"/>
                  </a:cubicBezTo>
                  <a:cubicBezTo>
                    <a:pt x="76353" y="26991"/>
                    <a:pt x="81624" y="32044"/>
                    <a:pt x="81624" y="37743"/>
                  </a:cubicBezTo>
                  <a:lnTo>
                    <a:pt x="81624" y="62476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03" name="u_lag_eq"/>
          <p:cNvGrpSpPr/>
          <p:nvPr/>
        </p:nvGrpSpPr>
        <p:grpSpPr>
          <a:xfrm>
            <a:off x="1270909" y="2823700"/>
            <a:ext cx="839227" cy="106665"/>
            <a:chOff x="1270909" y="2823700"/>
            <a:chExt cx="839227" cy="106665"/>
          </a:xfrm>
        </p:grpSpPr>
        <p:sp>
          <p:nvSpPr>
            <p:cNvPr id="498" name="u_lag_eq_outline_0"/>
            <p:cNvSpPr/>
            <p:nvPr/>
          </p:nvSpPr>
          <p:spPr>
            <a:xfrm>
              <a:off x="1270909" y="2849723"/>
              <a:ext cx="48291" cy="48601"/>
            </a:xfrm>
            <a:custGeom>
              <a:avLst/>
              <a:gdLst/>
              <a:ahLst/>
              <a:cxnLst/>
              <a:rect l="0" t="0" r="r" b="b"/>
              <a:pathLst>
                <a:path w="48292" h="48601">
                  <a:moveTo>
                    <a:pt x="41839" y="37096"/>
                  </a:moveTo>
                  <a:lnTo>
                    <a:pt x="39795" y="36020"/>
                  </a:lnTo>
                  <a:cubicBezTo>
                    <a:pt x="33235" y="42366"/>
                    <a:pt x="28611" y="44732"/>
                    <a:pt x="22484" y="44732"/>
                  </a:cubicBezTo>
                  <a:cubicBezTo>
                    <a:pt x="15495" y="44732"/>
                    <a:pt x="11085" y="40215"/>
                    <a:pt x="10764" y="32472"/>
                  </a:cubicBezTo>
                  <a:cubicBezTo>
                    <a:pt x="10443" y="23332"/>
                    <a:pt x="14526" y="13764"/>
                    <a:pt x="21194" y="7418"/>
                  </a:cubicBezTo>
                  <a:cubicBezTo>
                    <a:pt x="24635" y="4195"/>
                    <a:pt x="29473" y="2258"/>
                    <a:pt x="34418" y="2258"/>
                  </a:cubicBezTo>
                  <a:cubicBezTo>
                    <a:pt x="37323" y="2258"/>
                    <a:pt x="39041" y="3120"/>
                    <a:pt x="39041" y="4409"/>
                  </a:cubicBezTo>
                  <a:cubicBezTo>
                    <a:pt x="39152" y="4945"/>
                    <a:pt x="39041" y="5485"/>
                    <a:pt x="38505" y="6453"/>
                  </a:cubicBezTo>
                  <a:cubicBezTo>
                    <a:pt x="37537" y="7850"/>
                    <a:pt x="37430" y="8493"/>
                    <a:pt x="37430" y="9569"/>
                  </a:cubicBezTo>
                  <a:cubicBezTo>
                    <a:pt x="37537" y="12148"/>
                    <a:pt x="39367" y="13656"/>
                    <a:pt x="42375" y="13656"/>
                  </a:cubicBezTo>
                  <a:cubicBezTo>
                    <a:pt x="45816" y="13656"/>
                    <a:pt x="48400" y="11613"/>
                    <a:pt x="48289" y="8711"/>
                  </a:cubicBezTo>
                  <a:cubicBezTo>
                    <a:pt x="48074" y="3655"/>
                    <a:pt x="42593" y="0"/>
                    <a:pt x="34957" y="0"/>
                  </a:cubicBezTo>
                  <a:cubicBezTo>
                    <a:pt x="16356" y="0"/>
                    <a:pt x="-527" y="15700"/>
                    <a:pt x="13" y="32472"/>
                  </a:cubicBezTo>
                  <a:cubicBezTo>
                    <a:pt x="334" y="42688"/>
                    <a:pt x="7323" y="48601"/>
                    <a:pt x="18828" y="48601"/>
                  </a:cubicBezTo>
                  <a:cubicBezTo>
                    <a:pt x="28183" y="48601"/>
                    <a:pt x="34418" y="45375"/>
                    <a:pt x="41839" y="37096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9" name="u_lag_eq_outline_1"/>
            <p:cNvSpPr/>
            <p:nvPr/>
          </p:nvSpPr>
          <p:spPr>
            <a:xfrm>
              <a:off x="1362569" y="2855637"/>
              <a:ext cx="55050" cy="27848"/>
            </a:xfrm>
            <a:custGeom>
              <a:avLst/>
              <a:gdLst/>
              <a:ahLst/>
              <a:cxnLst/>
              <a:rect l="0" t="0" r="r" b="b"/>
              <a:pathLst>
                <a:path w="55051" h="27849">
                  <a:moveTo>
                    <a:pt x="55051" y="6021"/>
                  </a:moveTo>
                  <a:lnTo>
                    <a:pt x="55051" y="0"/>
                  </a:lnTo>
                  <a:lnTo>
                    <a:pt x="0" y="0"/>
                  </a:lnTo>
                  <a:lnTo>
                    <a:pt x="0" y="6021"/>
                  </a:lnTo>
                  <a:lnTo>
                    <a:pt x="55051" y="6021"/>
                  </a:lnTo>
                  <a:close/>
                  <a:moveTo>
                    <a:pt x="55051" y="27849"/>
                  </a:moveTo>
                  <a:lnTo>
                    <a:pt x="55051" y="21828"/>
                  </a:lnTo>
                  <a:lnTo>
                    <a:pt x="0" y="21828"/>
                  </a:lnTo>
                  <a:lnTo>
                    <a:pt x="0" y="27849"/>
                  </a:lnTo>
                  <a:lnTo>
                    <a:pt x="55051" y="27849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0" name="u_lag_eq_outline_2"/>
            <p:cNvSpPr/>
            <p:nvPr/>
          </p:nvSpPr>
          <p:spPr>
            <a:xfrm>
              <a:off x="1456754" y="2824454"/>
              <a:ext cx="48601" cy="74191"/>
            </a:xfrm>
            <a:custGeom>
              <a:avLst/>
              <a:gdLst/>
              <a:ahLst/>
              <a:cxnLst/>
              <a:rect l="0" t="0" r="r" b="b"/>
              <a:pathLst>
                <a:path w="48601" h="74192">
                  <a:moveTo>
                    <a:pt x="48601" y="37203"/>
                  </a:moveTo>
                  <a:cubicBezTo>
                    <a:pt x="48601" y="15161"/>
                    <a:pt x="38818" y="0"/>
                    <a:pt x="24733" y="0"/>
                  </a:cubicBezTo>
                  <a:cubicBezTo>
                    <a:pt x="18820" y="0"/>
                    <a:pt x="14303" y="1830"/>
                    <a:pt x="10323" y="5592"/>
                  </a:cubicBezTo>
                  <a:cubicBezTo>
                    <a:pt x="4088" y="11613"/>
                    <a:pt x="0" y="23979"/>
                    <a:pt x="0" y="36560"/>
                  </a:cubicBezTo>
                  <a:cubicBezTo>
                    <a:pt x="0" y="48280"/>
                    <a:pt x="3548" y="60861"/>
                    <a:pt x="8604" y="66881"/>
                  </a:cubicBezTo>
                  <a:cubicBezTo>
                    <a:pt x="12581" y="71612"/>
                    <a:pt x="18066" y="74192"/>
                    <a:pt x="24301" y="74192"/>
                  </a:cubicBezTo>
                  <a:cubicBezTo>
                    <a:pt x="29785" y="74192"/>
                    <a:pt x="34409" y="72366"/>
                    <a:pt x="38279" y="68600"/>
                  </a:cubicBezTo>
                  <a:cubicBezTo>
                    <a:pt x="44517" y="62686"/>
                    <a:pt x="48601" y="50217"/>
                    <a:pt x="48601" y="37203"/>
                  </a:cubicBezTo>
                  <a:close/>
                  <a:moveTo>
                    <a:pt x="38279" y="37417"/>
                  </a:moveTo>
                  <a:cubicBezTo>
                    <a:pt x="38279" y="59892"/>
                    <a:pt x="33548" y="71398"/>
                    <a:pt x="24301" y="71398"/>
                  </a:cubicBezTo>
                  <a:cubicBezTo>
                    <a:pt x="15053" y="71398"/>
                    <a:pt x="10323" y="59892"/>
                    <a:pt x="10323" y="37528"/>
                  </a:cubicBezTo>
                  <a:cubicBezTo>
                    <a:pt x="10323" y="14732"/>
                    <a:pt x="15161" y="2798"/>
                    <a:pt x="24408" y="2798"/>
                  </a:cubicBezTo>
                  <a:cubicBezTo>
                    <a:pt x="33441" y="2798"/>
                    <a:pt x="38279" y="14946"/>
                    <a:pt x="38279" y="37417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1" name="u_lag_eq_outline_3"/>
            <p:cNvSpPr/>
            <p:nvPr/>
          </p:nvSpPr>
          <p:spPr>
            <a:xfrm>
              <a:off x="1516559" y="2886176"/>
              <a:ext cx="17093" cy="26447"/>
            </a:xfrm>
            <a:custGeom>
              <a:avLst/>
              <a:gdLst/>
              <a:ahLst/>
              <a:cxnLst/>
              <a:rect l="0" t="0" r="r" b="b"/>
              <a:pathLst>
                <a:path w="17093" h="26448">
                  <a:moveTo>
                    <a:pt x="17093" y="10319"/>
                  </a:moveTo>
                  <a:cubicBezTo>
                    <a:pt x="17093" y="1397"/>
                    <a:pt x="10104" y="0"/>
                    <a:pt x="7203" y="0"/>
                  </a:cubicBezTo>
                  <a:cubicBezTo>
                    <a:pt x="4084" y="0"/>
                    <a:pt x="0" y="1933"/>
                    <a:pt x="0" y="6556"/>
                  </a:cubicBezTo>
                  <a:cubicBezTo>
                    <a:pt x="0" y="10858"/>
                    <a:pt x="4191" y="11934"/>
                    <a:pt x="7310" y="11934"/>
                  </a:cubicBezTo>
                  <a:cubicBezTo>
                    <a:pt x="8065" y="11934"/>
                    <a:pt x="8707" y="11827"/>
                    <a:pt x="9029" y="11720"/>
                  </a:cubicBezTo>
                  <a:cubicBezTo>
                    <a:pt x="9462" y="11613"/>
                    <a:pt x="9997" y="11501"/>
                    <a:pt x="10212" y="11501"/>
                  </a:cubicBezTo>
                  <a:cubicBezTo>
                    <a:pt x="10966" y="11501"/>
                    <a:pt x="11827" y="12041"/>
                    <a:pt x="11827" y="13010"/>
                  </a:cubicBezTo>
                  <a:cubicBezTo>
                    <a:pt x="11827" y="15053"/>
                    <a:pt x="9890" y="19677"/>
                    <a:pt x="2040" y="24190"/>
                  </a:cubicBezTo>
                  <a:lnTo>
                    <a:pt x="3115" y="26448"/>
                  </a:lnTo>
                  <a:cubicBezTo>
                    <a:pt x="6882" y="25372"/>
                    <a:pt x="17093" y="17955"/>
                    <a:pt x="17093" y="10319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2" name="u_lag_eq_outline_4"/>
            <p:cNvSpPr/>
            <p:nvPr/>
          </p:nvSpPr>
          <p:spPr>
            <a:xfrm>
              <a:off x="1585042" y="2826713"/>
              <a:ext cx="72901" cy="92686"/>
            </a:xfrm>
            <a:custGeom>
              <a:avLst/>
              <a:gdLst/>
              <a:ahLst/>
              <a:cxnLst/>
              <a:rect l="0" t="0" r="r" b="b"/>
              <a:pathLst>
                <a:path w="72902" h="92686">
                  <a:moveTo>
                    <a:pt x="72902" y="12367"/>
                  </a:moveTo>
                  <a:cubicBezTo>
                    <a:pt x="72902" y="3869"/>
                    <a:pt x="64837" y="0"/>
                    <a:pt x="54300" y="0"/>
                  </a:cubicBezTo>
                  <a:cubicBezTo>
                    <a:pt x="40862" y="0"/>
                    <a:pt x="27849" y="7636"/>
                    <a:pt x="24301" y="18494"/>
                  </a:cubicBezTo>
                  <a:lnTo>
                    <a:pt x="7529" y="78494"/>
                  </a:lnTo>
                  <a:cubicBezTo>
                    <a:pt x="5592" y="85269"/>
                    <a:pt x="1183" y="91289"/>
                    <a:pt x="0" y="92686"/>
                  </a:cubicBezTo>
                  <a:lnTo>
                    <a:pt x="11184" y="92686"/>
                  </a:lnTo>
                  <a:cubicBezTo>
                    <a:pt x="11291" y="92686"/>
                    <a:pt x="13228" y="91829"/>
                    <a:pt x="17312" y="78387"/>
                  </a:cubicBezTo>
                  <a:lnTo>
                    <a:pt x="21185" y="64516"/>
                  </a:lnTo>
                  <a:lnTo>
                    <a:pt x="21292" y="64516"/>
                  </a:lnTo>
                  <a:cubicBezTo>
                    <a:pt x="21292" y="64623"/>
                    <a:pt x="25269" y="72259"/>
                    <a:pt x="37207" y="72259"/>
                  </a:cubicBezTo>
                  <a:cubicBezTo>
                    <a:pt x="54948" y="72259"/>
                    <a:pt x="67095" y="60214"/>
                    <a:pt x="67095" y="47847"/>
                  </a:cubicBezTo>
                  <a:cubicBezTo>
                    <a:pt x="67095" y="34409"/>
                    <a:pt x="51614" y="32365"/>
                    <a:pt x="51507" y="32365"/>
                  </a:cubicBezTo>
                  <a:lnTo>
                    <a:pt x="51507" y="31936"/>
                  </a:lnTo>
                  <a:cubicBezTo>
                    <a:pt x="51614" y="31936"/>
                    <a:pt x="72902" y="28063"/>
                    <a:pt x="72902" y="12367"/>
                  </a:cubicBezTo>
                  <a:close/>
                  <a:moveTo>
                    <a:pt x="62258" y="12152"/>
                  </a:moveTo>
                  <a:cubicBezTo>
                    <a:pt x="62258" y="17097"/>
                    <a:pt x="59031" y="29246"/>
                    <a:pt x="49248" y="29246"/>
                  </a:cubicBezTo>
                  <a:cubicBezTo>
                    <a:pt x="46669" y="29246"/>
                    <a:pt x="44517" y="28817"/>
                    <a:pt x="42581" y="28817"/>
                  </a:cubicBezTo>
                  <a:cubicBezTo>
                    <a:pt x="39247" y="28817"/>
                    <a:pt x="36989" y="31290"/>
                    <a:pt x="36989" y="33226"/>
                  </a:cubicBezTo>
                  <a:cubicBezTo>
                    <a:pt x="36989" y="34409"/>
                    <a:pt x="37957" y="35377"/>
                    <a:pt x="40108" y="35377"/>
                  </a:cubicBezTo>
                  <a:cubicBezTo>
                    <a:pt x="43442" y="35377"/>
                    <a:pt x="44303" y="34838"/>
                    <a:pt x="46990" y="34838"/>
                  </a:cubicBezTo>
                  <a:cubicBezTo>
                    <a:pt x="52903" y="34838"/>
                    <a:pt x="55591" y="40644"/>
                    <a:pt x="55591" y="46664"/>
                  </a:cubicBezTo>
                  <a:cubicBezTo>
                    <a:pt x="55591" y="57420"/>
                    <a:pt x="48708" y="67310"/>
                    <a:pt x="36453" y="67310"/>
                  </a:cubicBezTo>
                  <a:cubicBezTo>
                    <a:pt x="28710" y="67310"/>
                    <a:pt x="23765" y="63548"/>
                    <a:pt x="23765" y="57313"/>
                  </a:cubicBezTo>
                  <a:cubicBezTo>
                    <a:pt x="23765" y="56023"/>
                    <a:pt x="23979" y="54622"/>
                    <a:pt x="24408" y="53118"/>
                  </a:cubicBezTo>
                  <a:lnTo>
                    <a:pt x="33981" y="18601"/>
                  </a:lnTo>
                  <a:cubicBezTo>
                    <a:pt x="36132" y="11612"/>
                    <a:pt x="41831" y="3012"/>
                    <a:pt x="52797" y="3012"/>
                  </a:cubicBezTo>
                  <a:cubicBezTo>
                    <a:pt x="59679" y="3012"/>
                    <a:pt x="62258" y="7203"/>
                    <a:pt x="62258" y="12152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3" name="u_lag_eq_outline_5"/>
            <p:cNvSpPr/>
            <p:nvPr/>
          </p:nvSpPr>
          <p:spPr>
            <a:xfrm>
              <a:off x="1663390" y="2858353"/>
              <a:ext cx="50637" cy="72012"/>
            </a:xfrm>
            <a:custGeom>
              <a:avLst/>
              <a:gdLst/>
              <a:ahLst/>
              <a:cxnLst/>
              <a:rect l="0" t="0" r="r" b="b"/>
              <a:pathLst>
                <a:path w="50637" h="72013">
                  <a:moveTo>
                    <a:pt x="48042" y="60702"/>
                  </a:moveTo>
                  <a:lnTo>
                    <a:pt x="46176" y="59559"/>
                  </a:lnTo>
                  <a:cubicBezTo>
                    <a:pt x="45760" y="60496"/>
                    <a:pt x="45033" y="61428"/>
                    <a:pt x="44514" y="62258"/>
                  </a:cubicBezTo>
                  <a:cubicBezTo>
                    <a:pt x="42541" y="65472"/>
                    <a:pt x="41196" y="66615"/>
                    <a:pt x="39429" y="66615"/>
                  </a:cubicBezTo>
                  <a:cubicBezTo>
                    <a:pt x="37044" y="66615"/>
                    <a:pt x="34449" y="63294"/>
                    <a:pt x="29468" y="53229"/>
                  </a:cubicBezTo>
                  <a:lnTo>
                    <a:pt x="24904" y="44101"/>
                  </a:lnTo>
                  <a:cubicBezTo>
                    <a:pt x="41608" y="30508"/>
                    <a:pt x="45137" y="28432"/>
                    <a:pt x="50637" y="28122"/>
                  </a:cubicBezTo>
                  <a:lnTo>
                    <a:pt x="50534" y="26460"/>
                  </a:lnTo>
                  <a:lnTo>
                    <a:pt x="29885" y="26460"/>
                  </a:lnTo>
                  <a:lnTo>
                    <a:pt x="29988" y="28122"/>
                  </a:lnTo>
                  <a:lnTo>
                    <a:pt x="32063" y="28122"/>
                  </a:lnTo>
                  <a:cubicBezTo>
                    <a:pt x="35072" y="28122"/>
                    <a:pt x="36318" y="28849"/>
                    <a:pt x="36421" y="29988"/>
                  </a:cubicBezTo>
                  <a:cubicBezTo>
                    <a:pt x="36421" y="32063"/>
                    <a:pt x="30817" y="35592"/>
                    <a:pt x="20233" y="44101"/>
                  </a:cubicBezTo>
                  <a:lnTo>
                    <a:pt x="15149" y="47938"/>
                  </a:lnTo>
                  <a:lnTo>
                    <a:pt x="27706" y="520"/>
                  </a:lnTo>
                  <a:lnTo>
                    <a:pt x="26563" y="0"/>
                  </a:lnTo>
                  <a:cubicBezTo>
                    <a:pt x="19614" y="1349"/>
                    <a:pt x="15256" y="2076"/>
                    <a:pt x="8406" y="2802"/>
                  </a:cubicBezTo>
                  <a:lnTo>
                    <a:pt x="8406" y="4465"/>
                  </a:lnTo>
                  <a:lnTo>
                    <a:pt x="10481" y="4465"/>
                  </a:lnTo>
                  <a:cubicBezTo>
                    <a:pt x="14633" y="4465"/>
                    <a:pt x="16498" y="5191"/>
                    <a:pt x="16812" y="7056"/>
                  </a:cubicBezTo>
                  <a:cubicBezTo>
                    <a:pt x="16708" y="8822"/>
                    <a:pt x="15875" y="11517"/>
                    <a:pt x="14422" y="16395"/>
                  </a:cubicBezTo>
                  <a:lnTo>
                    <a:pt x="13490" y="19820"/>
                  </a:lnTo>
                  <a:lnTo>
                    <a:pt x="13387" y="20753"/>
                  </a:lnTo>
                  <a:lnTo>
                    <a:pt x="0" y="70870"/>
                  </a:lnTo>
                  <a:lnTo>
                    <a:pt x="9029" y="70870"/>
                  </a:lnTo>
                  <a:lnTo>
                    <a:pt x="14010" y="52193"/>
                  </a:lnTo>
                  <a:lnTo>
                    <a:pt x="18887" y="48871"/>
                  </a:lnTo>
                  <a:cubicBezTo>
                    <a:pt x="20856" y="53439"/>
                    <a:pt x="24074" y="59873"/>
                    <a:pt x="26356" y="63504"/>
                  </a:cubicBezTo>
                  <a:cubicBezTo>
                    <a:pt x="30297" y="70040"/>
                    <a:pt x="32167" y="72013"/>
                    <a:pt x="35592" y="72013"/>
                  </a:cubicBezTo>
                  <a:cubicBezTo>
                    <a:pt x="40156" y="72013"/>
                    <a:pt x="43164" y="69417"/>
                    <a:pt x="48042" y="60702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4" name="u_lag_eq_outline_6"/>
            <p:cNvSpPr/>
            <p:nvPr/>
          </p:nvSpPr>
          <p:spPr>
            <a:xfrm>
              <a:off x="1755929" y="2823700"/>
              <a:ext cx="310152" cy="96773"/>
            </a:xfrm>
            <a:custGeom>
              <a:avLst/>
              <a:gdLst/>
              <a:ahLst/>
              <a:cxnLst/>
              <a:rect l="0" t="0" r="r" b="b"/>
              <a:pathLst>
                <a:path w="310152" h="96774">
                  <a:moveTo>
                    <a:pt x="43549" y="69140"/>
                  </a:moveTo>
                  <a:lnTo>
                    <a:pt x="43549" y="66346"/>
                  </a:lnTo>
                  <a:cubicBezTo>
                    <a:pt x="41723" y="67850"/>
                    <a:pt x="40430" y="68389"/>
                    <a:pt x="38818" y="68389"/>
                  </a:cubicBezTo>
                  <a:cubicBezTo>
                    <a:pt x="36346" y="68389"/>
                    <a:pt x="35592" y="66881"/>
                    <a:pt x="35592" y="62151"/>
                  </a:cubicBezTo>
                  <a:lnTo>
                    <a:pt x="35592" y="41184"/>
                  </a:lnTo>
                  <a:cubicBezTo>
                    <a:pt x="35592" y="35699"/>
                    <a:pt x="35056" y="32691"/>
                    <a:pt x="33548" y="30218"/>
                  </a:cubicBezTo>
                  <a:cubicBezTo>
                    <a:pt x="31294" y="26130"/>
                    <a:pt x="26670" y="23979"/>
                    <a:pt x="20110" y="23979"/>
                  </a:cubicBezTo>
                  <a:cubicBezTo>
                    <a:pt x="14625" y="23979"/>
                    <a:pt x="9465" y="25487"/>
                    <a:pt x="6453" y="27960"/>
                  </a:cubicBezTo>
                  <a:cubicBezTo>
                    <a:pt x="3766" y="30218"/>
                    <a:pt x="2044" y="33334"/>
                    <a:pt x="2044" y="36024"/>
                  </a:cubicBezTo>
                  <a:cubicBezTo>
                    <a:pt x="2044" y="38497"/>
                    <a:pt x="4088" y="40648"/>
                    <a:pt x="6667" y="40648"/>
                  </a:cubicBezTo>
                  <a:cubicBezTo>
                    <a:pt x="9247" y="40648"/>
                    <a:pt x="11505" y="38497"/>
                    <a:pt x="11505" y="36132"/>
                  </a:cubicBezTo>
                  <a:cubicBezTo>
                    <a:pt x="11505" y="35699"/>
                    <a:pt x="11398" y="35163"/>
                    <a:pt x="11291" y="34409"/>
                  </a:cubicBezTo>
                  <a:cubicBezTo>
                    <a:pt x="11077" y="33441"/>
                    <a:pt x="10970" y="32583"/>
                    <a:pt x="10970" y="31829"/>
                  </a:cubicBezTo>
                  <a:cubicBezTo>
                    <a:pt x="10970" y="28924"/>
                    <a:pt x="14410" y="26559"/>
                    <a:pt x="18713" y="26559"/>
                  </a:cubicBezTo>
                  <a:cubicBezTo>
                    <a:pt x="23979" y="26559"/>
                    <a:pt x="26884" y="29678"/>
                    <a:pt x="26884" y="35485"/>
                  </a:cubicBezTo>
                  <a:lnTo>
                    <a:pt x="26884" y="42045"/>
                  </a:lnTo>
                  <a:cubicBezTo>
                    <a:pt x="10323" y="48712"/>
                    <a:pt x="8497" y="49570"/>
                    <a:pt x="3873" y="53657"/>
                  </a:cubicBezTo>
                  <a:cubicBezTo>
                    <a:pt x="1508" y="55808"/>
                    <a:pt x="0" y="59464"/>
                    <a:pt x="0" y="63012"/>
                  </a:cubicBezTo>
                  <a:cubicBezTo>
                    <a:pt x="0" y="69786"/>
                    <a:pt x="4624" y="74517"/>
                    <a:pt x="11291" y="74517"/>
                  </a:cubicBezTo>
                  <a:cubicBezTo>
                    <a:pt x="16022" y="74517"/>
                    <a:pt x="20431" y="72259"/>
                    <a:pt x="26991" y="66667"/>
                  </a:cubicBezTo>
                  <a:cubicBezTo>
                    <a:pt x="27527" y="72366"/>
                    <a:pt x="29464" y="74517"/>
                    <a:pt x="33873" y="74517"/>
                  </a:cubicBezTo>
                  <a:cubicBezTo>
                    <a:pt x="37529" y="74517"/>
                    <a:pt x="39787" y="73227"/>
                    <a:pt x="43549" y="69140"/>
                  </a:cubicBezTo>
                  <a:close/>
                  <a:moveTo>
                    <a:pt x="26884" y="60218"/>
                  </a:moveTo>
                  <a:cubicBezTo>
                    <a:pt x="26884" y="63548"/>
                    <a:pt x="26345" y="64516"/>
                    <a:pt x="24086" y="65913"/>
                  </a:cubicBezTo>
                  <a:cubicBezTo>
                    <a:pt x="21507" y="67421"/>
                    <a:pt x="18494" y="68282"/>
                    <a:pt x="16236" y="68282"/>
                  </a:cubicBezTo>
                  <a:cubicBezTo>
                    <a:pt x="12474" y="68282"/>
                    <a:pt x="9465" y="64623"/>
                    <a:pt x="9465" y="59999"/>
                  </a:cubicBezTo>
                  <a:lnTo>
                    <a:pt x="9465" y="59571"/>
                  </a:lnTo>
                  <a:cubicBezTo>
                    <a:pt x="9465" y="53229"/>
                    <a:pt x="13871" y="49355"/>
                    <a:pt x="26884" y="44625"/>
                  </a:cubicBezTo>
                  <a:lnTo>
                    <a:pt x="26884" y="60218"/>
                  </a:lnTo>
                  <a:close/>
                  <a:moveTo>
                    <a:pt x="96570" y="68925"/>
                  </a:moveTo>
                  <a:lnTo>
                    <a:pt x="96570" y="67207"/>
                  </a:lnTo>
                  <a:cubicBezTo>
                    <a:pt x="94633" y="67314"/>
                    <a:pt x="94419" y="67314"/>
                    <a:pt x="94097" y="67314"/>
                  </a:cubicBezTo>
                  <a:cubicBezTo>
                    <a:pt x="90224" y="67314"/>
                    <a:pt x="89362" y="66131"/>
                    <a:pt x="89362" y="61182"/>
                  </a:cubicBezTo>
                  <a:lnTo>
                    <a:pt x="89362" y="218"/>
                  </a:lnTo>
                  <a:lnTo>
                    <a:pt x="88827" y="0"/>
                  </a:lnTo>
                  <a:cubicBezTo>
                    <a:pt x="83667" y="1830"/>
                    <a:pt x="79901" y="2905"/>
                    <a:pt x="73019" y="4735"/>
                  </a:cubicBezTo>
                  <a:lnTo>
                    <a:pt x="73019" y="6453"/>
                  </a:lnTo>
                  <a:cubicBezTo>
                    <a:pt x="73880" y="6346"/>
                    <a:pt x="74527" y="6346"/>
                    <a:pt x="75384" y="6346"/>
                  </a:cubicBezTo>
                  <a:cubicBezTo>
                    <a:pt x="79365" y="6346"/>
                    <a:pt x="80334" y="7421"/>
                    <a:pt x="80334" y="11831"/>
                  </a:cubicBezTo>
                  <a:lnTo>
                    <a:pt x="80334" y="28603"/>
                  </a:lnTo>
                  <a:cubicBezTo>
                    <a:pt x="76246" y="25162"/>
                    <a:pt x="73344" y="23979"/>
                    <a:pt x="69042" y="23979"/>
                  </a:cubicBezTo>
                  <a:cubicBezTo>
                    <a:pt x="56676" y="23979"/>
                    <a:pt x="46679" y="36132"/>
                    <a:pt x="46679" y="51399"/>
                  </a:cubicBezTo>
                  <a:cubicBezTo>
                    <a:pt x="46679" y="65163"/>
                    <a:pt x="54739" y="74517"/>
                    <a:pt x="66570" y="74517"/>
                  </a:cubicBezTo>
                  <a:cubicBezTo>
                    <a:pt x="72590" y="74517"/>
                    <a:pt x="76674" y="72366"/>
                    <a:pt x="80334" y="67314"/>
                  </a:cubicBezTo>
                  <a:lnTo>
                    <a:pt x="80334" y="74196"/>
                  </a:lnTo>
                  <a:lnTo>
                    <a:pt x="80762" y="74517"/>
                  </a:lnTo>
                  <a:lnTo>
                    <a:pt x="96570" y="68925"/>
                  </a:lnTo>
                  <a:close/>
                  <a:moveTo>
                    <a:pt x="80334" y="62476"/>
                  </a:moveTo>
                  <a:cubicBezTo>
                    <a:pt x="80334" y="63226"/>
                    <a:pt x="79579" y="64516"/>
                    <a:pt x="78504" y="65699"/>
                  </a:cubicBezTo>
                  <a:cubicBezTo>
                    <a:pt x="76567" y="67850"/>
                    <a:pt x="73880" y="68925"/>
                    <a:pt x="70761" y="68925"/>
                  </a:cubicBezTo>
                  <a:cubicBezTo>
                    <a:pt x="61839" y="68925"/>
                    <a:pt x="55926" y="60325"/>
                    <a:pt x="55926" y="47097"/>
                  </a:cubicBezTo>
                  <a:cubicBezTo>
                    <a:pt x="55926" y="34949"/>
                    <a:pt x="61192" y="26991"/>
                    <a:pt x="69364" y="26991"/>
                  </a:cubicBezTo>
                  <a:cubicBezTo>
                    <a:pt x="75063" y="26991"/>
                    <a:pt x="80334" y="32044"/>
                    <a:pt x="80334" y="37743"/>
                  </a:cubicBezTo>
                  <a:lnTo>
                    <a:pt x="80334" y="62476"/>
                  </a:lnTo>
                  <a:close/>
                  <a:moveTo>
                    <a:pt x="145072" y="69140"/>
                  </a:moveTo>
                  <a:lnTo>
                    <a:pt x="145072" y="66346"/>
                  </a:lnTo>
                  <a:cubicBezTo>
                    <a:pt x="143247" y="67850"/>
                    <a:pt x="141952" y="68389"/>
                    <a:pt x="140341" y="68389"/>
                  </a:cubicBezTo>
                  <a:cubicBezTo>
                    <a:pt x="137868" y="68389"/>
                    <a:pt x="137115" y="66881"/>
                    <a:pt x="137115" y="62151"/>
                  </a:cubicBezTo>
                  <a:lnTo>
                    <a:pt x="137115" y="41184"/>
                  </a:lnTo>
                  <a:cubicBezTo>
                    <a:pt x="137115" y="35699"/>
                    <a:pt x="136579" y="32691"/>
                    <a:pt x="135070" y="30218"/>
                  </a:cubicBezTo>
                  <a:cubicBezTo>
                    <a:pt x="132816" y="26130"/>
                    <a:pt x="128193" y="23979"/>
                    <a:pt x="121632" y="23979"/>
                  </a:cubicBezTo>
                  <a:cubicBezTo>
                    <a:pt x="116148" y="23979"/>
                    <a:pt x="110988" y="25487"/>
                    <a:pt x="107976" y="27960"/>
                  </a:cubicBezTo>
                  <a:cubicBezTo>
                    <a:pt x="105289" y="30218"/>
                    <a:pt x="103567" y="33334"/>
                    <a:pt x="103567" y="36024"/>
                  </a:cubicBezTo>
                  <a:cubicBezTo>
                    <a:pt x="103567" y="38497"/>
                    <a:pt x="105610" y="40648"/>
                    <a:pt x="108190" y="40648"/>
                  </a:cubicBezTo>
                  <a:cubicBezTo>
                    <a:pt x="110770" y="40648"/>
                    <a:pt x="113028" y="38497"/>
                    <a:pt x="113028" y="36132"/>
                  </a:cubicBezTo>
                  <a:cubicBezTo>
                    <a:pt x="113028" y="35699"/>
                    <a:pt x="112921" y="35163"/>
                    <a:pt x="112814" y="34409"/>
                  </a:cubicBezTo>
                  <a:cubicBezTo>
                    <a:pt x="112599" y="33441"/>
                    <a:pt x="112492" y="32583"/>
                    <a:pt x="112492" y="31829"/>
                  </a:cubicBezTo>
                  <a:cubicBezTo>
                    <a:pt x="112492" y="28924"/>
                    <a:pt x="115933" y="26559"/>
                    <a:pt x="120235" y="26559"/>
                  </a:cubicBezTo>
                  <a:cubicBezTo>
                    <a:pt x="125502" y="26559"/>
                    <a:pt x="128407" y="29678"/>
                    <a:pt x="128407" y="35485"/>
                  </a:cubicBezTo>
                  <a:lnTo>
                    <a:pt x="128407" y="42045"/>
                  </a:lnTo>
                  <a:cubicBezTo>
                    <a:pt x="111845" y="48712"/>
                    <a:pt x="110020" y="49570"/>
                    <a:pt x="105396" y="53657"/>
                  </a:cubicBezTo>
                  <a:cubicBezTo>
                    <a:pt x="103031" y="55808"/>
                    <a:pt x="101523" y="59464"/>
                    <a:pt x="101523" y="63012"/>
                  </a:cubicBezTo>
                  <a:cubicBezTo>
                    <a:pt x="101523" y="69786"/>
                    <a:pt x="106146" y="74517"/>
                    <a:pt x="112814" y="74517"/>
                  </a:cubicBezTo>
                  <a:cubicBezTo>
                    <a:pt x="117544" y="74517"/>
                    <a:pt x="121954" y="72259"/>
                    <a:pt x="128515" y="66667"/>
                  </a:cubicBezTo>
                  <a:cubicBezTo>
                    <a:pt x="129050" y="72366"/>
                    <a:pt x="130987" y="74517"/>
                    <a:pt x="135395" y="74517"/>
                  </a:cubicBezTo>
                  <a:cubicBezTo>
                    <a:pt x="139052" y="74517"/>
                    <a:pt x="141310" y="73227"/>
                    <a:pt x="145072" y="69140"/>
                  </a:cubicBezTo>
                  <a:close/>
                  <a:moveTo>
                    <a:pt x="128407" y="60218"/>
                  </a:moveTo>
                  <a:cubicBezTo>
                    <a:pt x="128407" y="63548"/>
                    <a:pt x="127867" y="64516"/>
                    <a:pt x="125609" y="65913"/>
                  </a:cubicBezTo>
                  <a:cubicBezTo>
                    <a:pt x="123029" y="67421"/>
                    <a:pt x="120017" y="68282"/>
                    <a:pt x="117759" y="68282"/>
                  </a:cubicBezTo>
                  <a:cubicBezTo>
                    <a:pt x="113996" y="68282"/>
                    <a:pt x="110988" y="64623"/>
                    <a:pt x="110988" y="59999"/>
                  </a:cubicBezTo>
                  <a:lnTo>
                    <a:pt x="110988" y="59571"/>
                  </a:lnTo>
                  <a:cubicBezTo>
                    <a:pt x="110988" y="53229"/>
                    <a:pt x="115393" y="49355"/>
                    <a:pt x="128407" y="44625"/>
                  </a:cubicBezTo>
                  <a:lnTo>
                    <a:pt x="128407" y="60218"/>
                  </a:lnTo>
                  <a:close/>
                  <a:moveTo>
                    <a:pt x="195833" y="46883"/>
                  </a:moveTo>
                  <a:cubicBezTo>
                    <a:pt x="195833" y="33548"/>
                    <a:pt x="188305" y="23979"/>
                    <a:pt x="177876" y="23979"/>
                  </a:cubicBezTo>
                  <a:cubicBezTo>
                    <a:pt x="171855" y="23979"/>
                    <a:pt x="167124" y="26670"/>
                    <a:pt x="162393" y="32476"/>
                  </a:cubicBezTo>
                  <a:lnTo>
                    <a:pt x="162393" y="24193"/>
                  </a:lnTo>
                  <a:lnTo>
                    <a:pt x="161747" y="23979"/>
                  </a:lnTo>
                  <a:cubicBezTo>
                    <a:pt x="155940" y="26237"/>
                    <a:pt x="152177" y="27634"/>
                    <a:pt x="146264" y="29464"/>
                  </a:cubicBezTo>
                  <a:lnTo>
                    <a:pt x="146264" y="31182"/>
                  </a:lnTo>
                  <a:cubicBezTo>
                    <a:pt x="147233" y="31075"/>
                    <a:pt x="147982" y="31075"/>
                    <a:pt x="148951" y="31075"/>
                  </a:cubicBezTo>
                  <a:cubicBezTo>
                    <a:pt x="152606" y="31075"/>
                    <a:pt x="153361" y="32151"/>
                    <a:pt x="153361" y="37207"/>
                  </a:cubicBezTo>
                  <a:lnTo>
                    <a:pt x="153361" y="87527"/>
                  </a:lnTo>
                  <a:cubicBezTo>
                    <a:pt x="153361" y="93119"/>
                    <a:pt x="152177" y="94301"/>
                    <a:pt x="145832" y="94948"/>
                  </a:cubicBezTo>
                  <a:lnTo>
                    <a:pt x="145832" y="96774"/>
                  </a:lnTo>
                  <a:lnTo>
                    <a:pt x="171855" y="96774"/>
                  </a:lnTo>
                  <a:lnTo>
                    <a:pt x="171855" y="94841"/>
                  </a:lnTo>
                  <a:cubicBezTo>
                    <a:pt x="163790" y="94730"/>
                    <a:pt x="162393" y="93547"/>
                    <a:pt x="162393" y="86777"/>
                  </a:cubicBezTo>
                  <a:lnTo>
                    <a:pt x="162393" y="69894"/>
                  </a:lnTo>
                  <a:cubicBezTo>
                    <a:pt x="166156" y="73442"/>
                    <a:pt x="168735" y="74517"/>
                    <a:pt x="173252" y="74517"/>
                  </a:cubicBezTo>
                  <a:cubicBezTo>
                    <a:pt x="185940" y="74517"/>
                    <a:pt x="195833" y="62476"/>
                    <a:pt x="195833" y="46883"/>
                  </a:cubicBezTo>
                  <a:close/>
                  <a:moveTo>
                    <a:pt x="186587" y="51078"/>
                  </a:moveTo>
                  <a:cubicBezTo>
                    <a:pt x="186587" y="63012"/>
                    <a:pt x="181316" y="71076"/>
                    <a:pt x="173573" y="71076"/>
                  </a:cubicBezTo>
                  <a:cubicBezTo>
                    <a:pt x="168521" y="71076"/>
                    <a:pt x="162393" y="67207"/>
                    <a:pt x="162393" y="63980"/>
                  </a:cubicBezTo>
                  <a:lnTo>
                    <a:pt x="162393" y="37528"/>
                  </a:lnTo>
                  <a:cubicBezTo>
                    <a:pt x="162393" y="34302"/>
                    <a:pt x="168414" y="30432"/>
                    <a:pt x="173359" y="30432"/>
                  </a:cubicBezTo>
                  <a:cubicBezTo>
                    <a:pt x="181316" y="30432"/>
                    <a:pt x="186587" y="38604"/>
                    <a:pt x="186587" y="51078"/>
                  </a:cubicBezTo>
                  <a:close/>
                  <a:moveTo>
                    <a:pt x="229068" y="66346"/>
                  </a:moveTo>
                  <a:lnTo>
                    <a:pt x="227671" y="65163"/>
                  </a:lnTo>
                  <a:cubicBezTo>
                    <a:pt x="225306" y="67957"/>
                    <a:pt x="223583" y="68925"/>
                    <a:pt x="221218" y="68925"/>
                  </a:cubicBezTo>
                  <a:cubicBezTo>
                    <a:pt x="217242" y="68925"/>
                    <a:pt x="215626" y="66131"/>
                    <a:pt x="215626" y="59249"/>
                  </a:cubicBezTo>
                  <a:lnTo>
                    <a:pt x="215626" y="28496"/>
                  </a:lnTo>
                  <a:lnTo>
                    <a:pt x="226489" y="28496"/>
                  </a:lnTo>
                  <a:lnTo>
                    <a:pt x="226489" y="25055"/>
                  </a:lnTo>
                  <a:lnTo>
                    <a:pt x="215626" y="25055"/>
                  </a:lnTo>
                  <a:lnTo>
                    <a:pt x="215626" y="12581"/>
                  </a:lnTo>
                  <a:cubicBezTo>
                    <a:pt x="215626" y="11505"/>
                    <a:pt x="215412" y="11184"/>
                    <a:pt x="214876" y="11184"/>
                  </a:cubicBezTo>
                  <a:cubicBezTo>
                    <a:pt x="214229" y="12259"/>
                    <a:pt x="213475" y="13228"/>
                    <a:pt x="212724" y="14196"/>
                  </a:cubicBezTo>
                  <a:cubicBezTo>
                    <a:pt x="208744" y="20110"/>
                    <a:pt x="205089" y="24086"/>
                    <a:pt x="202295" y="25702"/>
                  </a:cubicBezTo>
                  <a:cubicBezTo>
                    <a:pt x="201113" y="26452"/>
                    <a:pt x="200465" y="27099"/>
                    <a:pt x="200465" y="27741"/>
                  </a:cubicBezTo>
                  <a:cubicBezTo>
                    <a:pt x="200465" y="28067"/>
                    <a:pt x="200573" y="28281"/>
                    <a:pt x="200898" y="28496"/>
                  </a:cubicBezTo>
                  <a:lnTo>
                    <a:pt x="206597" y="28496"/>
                  </a:lnTo>
                  <a:lnTo>
                    <a:pt x="206597" y="60861"/>
                  </a:lnTo>
                  <a:cubicBezTo>
                    <a:pt x="206597" y="69894"/>
                    <a:pt x="209820" y="74517"/>
                    <a:pt x="216058" y="74517"/>
                  </a:cubicBezTo>
                  <a:cubicBezTo>
                    <a:pt x="221433" y="74517"/>
                    <a:pt x="225520" y="71938"/>
                    <a:pt x="229068" y="66346"/>
                  </a:cubicBezTo>
                  <a:close/>
                  <a:moveTo>
                    <a:pt x="256172" y="73442"/>
                  </a:moveTo>
                  <a:lnTo>
                    <a:pt x="256172" y="71830"/>
                  </a:lnTo>
                  <a:cubicBezTo>
                    <a:pt x="249072" y="71291"/>
                    <a:pt x="248215" y="70215"/>
                    <a:pt x="248215" y="62476"/>
                  </a:cubicBezTo>
                  <a:lnTo>
                    <a:pt x="248215" y="24301"/>
                  </a:lnTo>
                  <a:lnTo>
                    <a:pt x="247781" y="23979"/>
                  </a:lnTo>
                  <a:lnTo>
                    <a:pt x="231117" y="29893"/>
                  </a:lnTo>
                  <a:lnTo>
                    <a:pt x="231117" y="31508"/>
                  </a:lnTo>
                  <a:lnTo>
                    <a:pt x="231979" y="31401"/>
                  </a:lnTo>
                  <a:cubicBezTo>
                    <a:pt x="233268" y="31182"/>
                    <a:pt x="234665" y="31075"/>
                    <a:pt x="235634" y="31075"/>
                  </a:cubicBezTo>
                  <a:cubicBezTo>
                    <a:pt x="238213" y="31075"/>
                    <a:pt x="239181" y="32798"/>
                    <a:pt x="239181" y="37528"/>
                  </a:cubicBezTo>
                  <a:lnTo>
                    <a:pt x="239181" y="62476"/>
                  </a:lnTo>
                  <a:cubicBezTo>
                    <a:pt x="239181" y="70215"/>
                    <a:pt x="238107" y="71398"/>
                    <a:pt x="230685" y="71830"/>
                  </a:cubicBezTo>
                  <a:lnTo>
                    <a:pt x="230685" y="73442"/>
                  </a:lnTo>
                  <a:lnTo>
                    <a:pt x="256172" y="73442"/>
                  </a:lnTo>
                  <a:close/>
                  <a:moveTo>
                    <a:pt x="249178" y="5485"/>
                  </a:moveTo>
                  <a:cubicBezTo>
                    <a:pt x="249178" y="2477"/>
                    <a:pt x="246814" y="0"/>
                    <a:pt x="243698" y="0"/>
                  </a:cubicBezTo>
                  <a:cubicBezTo>
                    <a:pt x="240686" y="0"/>
                    <a:pt x="238213" y="2477"/>
                    <a:pt x="238213" y="5485"/>
                  </a:cubicBezTo>
                  <a:cubicBezTo>
                    <a:pt x="238213" y="8604"/>
                    <a:pt x="240686" y="10970"/>
                    <a:pt x="243698" y="10970"/>
                  </a:cubicBezTo>
                  <a:cubicBezTo>
                    <a:pt x="246814" y="10970"/>
                    <a:pt x="249178" y="8604"/>
                    <a:pt x="249178" y="5485"/>
                  </a:cubicBezTo>
                  <a:close/>
                  <a:moveTo>
                    <a:pt x="310152" y="26670"/>
                  </a:moveTo>
                  <a:lnTo>
                    <a:pt x="310152" y="25055"/>
                  </a:lnTo>
                  <a:lnTo>
                    <a:pt x="295206" y="25055"/>
                  </a:lnTo>
                  <a:lnTo>
                    <a:pt x="295206" y="26670"/>
                  </a:lnTo>
                  <a:cubicBezTo>
                    <a:pt x="298646" y="26991"/>
                    <a:pt x="300262" y="28067"/>
                    <a:pt x="300262" y="30111"/>
                  </a:cubicBezTo>
                  <a:cubicBezTo>
                    <a:pt x="300262" y="31182"/>
                    <a:pt x="300047" y="32258"/>
                    <a:pt x="299615" y="33334"/>
                  </a:cubicBezTo>
                  <a:lnTo>
                    <a:pt x="288970" y="61182"/>
                  </a:lnTo>
                  <a:lnTo>
                    <a:pt x="278005" y="33659"/>
                  </a:lnTo>
                  <a:cubicBezTo>
                    <a:pt x="277359" y="32151"/>
                    <a:pt x="277037" y="30647"/>
                    <a:pt x="277037" y="29678"/>
                  </a:cubicBezTo>
                  <a:cubicBezTo>
                    <a:pt x="277037" y="27741"/>
                    <a:pt x="278220" y="26991"/>
                    <a:pt x="281981" y="26670"/>
                  </a:cubicBezTo>
                  <a:lnTo>
                    <a:pt x="281981" y="25055"/>
                  </a:lnTo>
                  <a:lnTo>
                    <a:pt x="260908" y="25055"/>
                  </a:lnTo>
                  <a:lnTo>
                    <a:pt x="260908" y="26670"/>
                  </a:lnTo>
                  <a:cubicBezTo>
                    <a:pt x="264991" y="26884"/>
                    <a:pt x="265746" y="27960"/>
                    <a:pt x="270691" y="39033"/>
                  </a:cubicBezTo>
                  <a:lnTo>
                    <a:pt x="283593" y="69894"/>
                  </a:lnTo>
                  <a:cubicBezTo>
                    <a:pt x="283811" y="70537"/>
                    <a:pt x="284133" y="71291"/>
                    <a:pt x="284454" y="72152"/>
                  </a:cubicBezTo>
                  <a:cubicBezTo>
                    <a:pt x="285102" y="74089"/>
                    <a:pt x="285744" y="74946"/>
                    <a:pt x="286391" y="74946"/>
                  </a:cubicBezTo>
                  <a:cubicBezTo>
                    <a:pt x="287033" y="74946"/>
                    <a:pt x="287788" y="73549"/>
                    <a:pt x="289399" y="69572"/>
                  </a:cubicBezTo>
                  <a:lnTo>
                    <a:pt x="303162" y="35056"/>
                  </a:lnTo>
                  <a:cubicBezTo>
                    <a:pt x="306283" y="27741"/>
                    <a:pt x="306929" y="26991"/>
                    <a:pt x="310152" y="26670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5" name="u_lag_eq_outline_7"/>
            <p:cNvSpPr/>
            <p:nvPr/>
          </p:nvSpPr>
          <p:spPr>
            <a:xfrm>
              <a:off x="2067233" y="2847679"/>
              <a:ext cx="42903" cy="50538"/>
            </a:xfrm>
            <a:custGeom>
              <a:avLst/>
              <a:gdLst/>
              <a:ahLst/>
              <a:cxnLst/>
              <a:rect l="0" t="0" r="r" b="b"/>
              <a:pathLst>
                <a:path w="42903" h="50538">
                  <a:moveTo>
                    <a:pt x="42903" y="32580"/>
                  </a:moveTo>
                  <a:lnTo>
                    <a:pt x="41184" y="31829"/>
                  </a:lnTo>
                  <a:cubicBezTo>
                    <a:pt x="36021" y="40001"/>
                    <a:pt x="31397" y="43121"/>
                    <a:pt x="24520" y="43121"/>
                  </a:cubicBezTo>
                  <a:cubicBezTo>
                    <a:pt x="18602" y="43121"/>
                    <a:pt x="14089" y="40323"/>
                    <a:pt x="10970" y="34516"/>
                  </a:cubicBezTo>
                  <a:cubicBezTo>
                    <a:pt x="8819" y="30321"/>
                    <a:pt x="7958" y="26559"/>
                    <a:pt x="7743" y="19677"/>
                  </a:cubicBezTo>
                  <a:lnTo>
                    <a:pt x="40862" y="19677"/>
                  </a:lnTo>
                  <a:cubicBezTo>
                    <a:pt x="40001" y="12688"/>
                    <a:pt x="38925" y="9569"/>
                    <a:pt x="36239" y="6132"/>
                  </a:cubicBezTo>
                  <a:cubicBezTo>
                    <a:pt x="33012" y="2258"/>
                    <a:pt x="28067" y="0"/>
                    <a:pt x="22475" y="0"/>
                  </a:cubicBezTo>
                  <a:cubicBezTo>
                    <a:pt x="9140" y="0"/>
                    <a:pt x="0" y="10755"/>
                    <a:pt x="0" y="26452"/>
                  </a:cubicBezTo>
                  <a:cubicBezTo>
                    <a:pt x="0" y="41291"/>
                    <a:pt x="7743" y="50538"/>
                    <a:pt x="20110" y="50538"/>
                  </a:cubicBezTo>
                  <a:cubicBezTo>
                    <a:pt x="30433" y="50538"/>
                    <a:pt x="38390" y="44192"/>
                    <a:pt x="42903" y="32580"/>
                  </a:cubicBezTo>
                  <a:close/>
                  <a:moveTo>
                    <a:pt x="29893" y="16236"/>
                  </a:moveTo>
                  <a:lnTo>
                    <a:pt x="7958" y="16236"/>
                  </a:lnTo>
                  <a:cubicBezTo>
                    <a:pt x="9140" y="7743"/>
                    <a:pt x="12795" y="3873"/>
                    <a:pt x="19356" y="3873"/>
                  </a:cubicBezTo>
                  <a:cubicBezTo>
                    <a:pt x="25917" y="3873"/>
                    <a:pt x="28496" y="6882"/>
                    <a:pt x="29893" y="16236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04" name="u_safe_eq"/>
          <p:cNvGrpSpPr/>
          <p:nvPr/>
        </p:nvGrpSpPr>
        <p:grpSpPr>
          <a:xfrm>
            <a:off x="2496639" y="2837360"/>
            <a:ext cx="314509" cy="79013"/>
            <a:chOff x="2496639" y="2837360"/>
            <a:chExt cx="314509" cy="79013"/>
          </a:xfrm>
        </p:grpSpPr>
        <p:sp>
          <p:nvSpPr>
            <p:cNvPr id="506" name="u_safe_eq_outline_0"/>
            <p:cNvSpPr/>
            <p:nvPr/>
          </p:nvSpPr>
          <p:spPr>
            <a:xfrm>
              <a:off x="2496639" y="2837360"/>
              <a:ext cx="228306" cy="78898"/>
            </a:xfrm>
            <a:custGeom>
              <a:avLst/>
              <a:gdLst/>
              <a:ahLst/>
              <a:cxnLst/>
              <a:rect l="0" t="0" r="r" b="b"/>
              <a:pathLst>
                <a:path w="228306" h="78899">
                  <a:moveTo>
                    <a:pt x="55789" y="77760"/>
                  </a:moveTo>
                  <a:lnTo>
                    <a:pt x="55789" y="76053"/>
                  </a:lnTo>
                  <a:cubicBezTo>
                    <a:pt x="49415" y="75482"/>
                    <a:pt x="48161" y="74001"/>
                    <a:pt x="48161" y="66715"/>
                  </a:cubicBezTo>
                  <a:lnTo>
                    <a:pt x="48161" y="36886"/>
                  </a:lnTo>
                  <a:lnTo>
                    <a:pt x="48387" y="25729"/>
                  </a:lnTo>
                  <a:lnTo>
                    <a:pt x="47935" y="25388"/>
                  </a:lnTo>
                  <a:cubicBezTo>
                    <a:pt x="42922" y="26186"/>
                    <a:pt x="39620" y="26527"/>
                    <a:pt x="35068" y="26527"/>
                  </a:cubicBezTo>
                  <a:lnTo>
                    <a:pt x="17193" y="26527"/>
                  </a:lnTo>
                  <a:lnTo>
                    <a:pt x="17193" y="21630"/>
                  </a:lnTo>
                  <a:lnTo>
                    <a:pt x="17193" y="20947"/>
                  </a:lnTo>
                  <a:cubicBezTo>
                    <a:pt x="16966" y="15823"/>
                    <a:pt x="17649" y="11498"/>
                    <a:pt x="19129" y="8763"/>
                  </a:cubicBezTo>
                  <a:cubicBezTo>
                    <a:pt x="21062" y="5235"/>
                    <a:pt x="25162" y="2846"/>
                    <a:pt x="29262" y="2846"/>
                  </a:cubicBezTo>
                  <a:cubicBezTo>
                    <a:pt x="32448" y="2846"/>
                    <a:pt x="34612" y="4326"/>
                    <a:pt x="37346" y="8195"/>
                  </a:cubicBezTo>
                  <a:cubicBezTo>
                    <a:pt x="39509" y="11382"/>
                    <a:pt x="40989" y="12406"/>
                    <a:pt x="42922" y="12406"/>
                  </a:cubicBezTo>
                  <a:cubicBezTo>
                    <a:pt x="45315" y="12406"/>
                    <a:pt x="47022" y="10585"/>
                    <a:pt x="47022" y="7969"/>
                  </a:cubicBezTo>
                  <a:cubicBezTo>
                    <a:pt x="47022" y="3072"/>
                    <a:pt x="41331" y="0"/>
                    <a:pt x="32564" y="0"/>
                  </a:cubicBezTo>
                  <a:cubicBezTo>
                    <a:pt x="23912" y="0"/>
                    <a:pt x="17308" y="2846"/>
                    <a:pt x="13208" y="8537"/>
                  </a:cubicBezTo>
                  <a:cubicBezTo>
                    <a:pt x="9791" y="13319"/>
                    <a:pt x="8541" y="17419"/>
                    <a:pt x="7858" y="26527"/>
                  </a:cubicBezTo>
                  <a:lnTo>
                    <a:pt x="0" y="26527"/>
                  </a:lnTo>
                  <a:lnTo>
                    <a:pt x="0" y="30282"/>
                  </a:lnTo>
                  <a:lnTo>
                    <a:pt x="7743" y="30282"/>
                  </a:lnTo>
                  <a:lnTo>
                    <a:pt x="7743" y="67056"/>
                  </a:lnTo>
                  <a:cubicBezTo>
                    <a:pt x="7743" y="74343"/>
                    <a:pt x="6489" y="75823"/>
                    <a:pt x="115" y="76053"/>
                  </a:cubicBezTo>
                  <a:lnTo>
                    <a:pt x="115" y="77760"/>
                  </a:lnTo>
                  <a:lnTo>
                    <a:pt x="25162" y="77760"/>
                  </a:lnTo>
                  <a:lnTo>
                    <a:pt x="25162" y="76053"/>
                  </a:lnTo>
                  <a:cubicBezTo>
                    <a:pt x="18788" y="75597"/>
                    <a:pt x="17308" y="74001"/>
                    <a:pt x="17308" y="67743"/>
                  </a:cubicBezTo>
                  <a:lnTo>
                    <a:pt x="17308" y="30282"/>
                  </a:lnTo>
                  <a:lnTo>
                    <a:pt x="27099" y="30282"/>
                  </a:lnTo>
                  <a:cubicBezTo>
                    <a:pt x="38029" y="30282"/>
                    <a:pt x="38596" y="30623"/>
                    <a:pt x="38596" y="36659"/>
                  </a:cubicBezTo>
                  <a:lnTo>
                    <a:pt x="38596" y="66715"/>
                  </a:lnTo>
                  <a:cubicBezTo>
                    <a:pt x="38596" y="74458"/>
                    <a:pt x="37802" y="75482"/>
                    <a:pt x="30742" y="76053"/>
                  </a:cubicBezTo>
                  <a:lnTo>
                    <a:pt x="30742" y="77760"/>
                  </a:lnTo>
                  <a:lnTo>
                    <a:pt x="55789" y="77760"/>
                  </a:lnTo>
                  <a:close/>
                  <a:moveTo>
                    <a:pt x="115003" y="77760"/>
                  </a:moveTo>
                  <a:lnTo>
                    <a:pt x="115003" y="76053"/>
                  </a:lnTo>
                  <a:cubicBezTo>
                    <a:pt x="109426" y="75482"/>
                    <a:pt x="108057" y="74116"/>
                    <a:pt x="108057" y="68536"/>
                  </a:cubicBezTo>
                  <a:lnTo>
                    <a:pt x="108057" y="42466"/>
                  </a:lnTo>
                  <a:cubicBezTo>
                    <a:pt x="108057" y="31762"/>
                    <a:pt x="103049" y="25388"/>
                    <a:pt x="94623" y="25388"/>
                  </a:cubicBezTo>
                  <a:cubicBezTo>
                    <a:pt x="89388" y="25388"/>
                    <a:pt x="85856" y="27325"/>
                    <a:pt x="78117" y="34611"/>
                  </a:cubicBezTo>
                  <a:lnTo>
                    <a:pt x="78117" y="25614"/>
                  </a:lnTo>
                  <a:lnTo>
                    <a:pt x="77319" y="25388"/>
                  </a:lnTo>
                  <a:cubicBezTo>
                    <a:pt x="71739" y="27436"/>
                    <a:pt x="67870" y="28690"/>
                    <a:pt x="61607" y="30512"/>
                  </a:cubicBezTo>
                  <a:lnTo>
                    <a:pt x="61607" y="32445"/>
                  </a:lnTo>
                  <a:cubicBezTo>
                    <a:pt x="62290" y="32103"/>
                    <a:pt x="63429" y="31992"/>
                    <a:pt x="64683" y="31992"/>
                  </a:cubicBezTo>
                  <a:cubicBezTo>
                    <a:pt x="67870" y="31992"/>
                    <a:pt x="68894" y="33699"/>
                    <a:pt x="68894" y="39279"/>
                  </a:cubicBezTo>
                  <a:lnTo>
                    <a:pt x="68894" y="67512"/>
                  </a:lnTo>
                  <a:cubicBezTo>
                    <a:pt x="68894" y="74001"/>
                    <a:pt x="67639" y="75597"/>
                    <a:pt x="61833" y="76053"/>
                  </a:cubicBezTo>
                  <a:lnTo>
                    <a:pt x="61833" y="77760"/>
                  </a:lnTo>
                  <a:lnTo>
                    <a:pt x="85971" y="77760"/>
                  </a:lnTo>
                  <a:lnTo>
                    <a:pt x="85971" y="76053"/>
                  </a:lnTo>
                  <a:cubicBezTo>
                    <a:pt x="80165" y="75597"/>
                    <a:pt x="78458" y="74232"/>
                    <a:pt x="78458" y="70132"/>
                  </a:cubicBezTo>
                  <a:lnTo>
                    <a:pt x="78458" y="38140"/>
                  </a:lnTo>
                  <a:cubicBezTo>
                    <a:pt x="83923" y="33016"/>
                    <a:pt x="86428" y="31651"/>
                    <a:pt x="90186" y="31651"/>
                  </a:cubicBezTo>
                  <a:cubicBezTo>
                    <a:pt x="95762" y="31651"/>
                    <a:pt x="98496" y="35179"/>
                    <a:pt x="98496" y="42692"/>
                  </a:cubicBezTo>
                  <a:lnTo>
                    <a:pt x="98496" y="66489"/>
                  </a:lnTo>
                  <a:cubicBezTo>
                    <a:pt x="98496" y="73660"/>
                    <a:pt x="97016" y="75597"/>
                    <a:pt x="91321" y="76053"/>
                  </a:cubicBezTo>
                  <a:lnTo>
                    <a:pt x="91321" y="77760"/>
                  </a:lnTo>
                  <a:lnTo>
                    <a:pt x="115003" y="77760"/>
                  </a:lnTo>
                  <a:close/>
                  <a:moveTo>
                    <a:pt x="145527" y="77760"/>
                  </a:moveTo>
                  <a:lnTo>
                    <a:pt x="145527" y="76053"/>
                  </a:lnTo>
                  <a:cubicBezTo>
                    <a:pt x="138013" y="75482"/>
                    <a:pt x="137100" y="74343"/>
                    <a:pt x="137100" y="66147"/>
                  </a:cubicBezTo>
                  <a:lnTo>
                    <a:pt x="137100" y="25729"/>
                  </a:lnTo>
                  <a:lnTo>
                    <a:pt x="136644" y="25388"/>
                  </a:lnTo>
                  <a:lnTo>
                    <a:pt x="118999" y="31651"/>
                  </a:lnTo>
                  <a:lnTo>
                    <a:pt x="118999" y="33357"/>
                  </a:lnTo>
                  <a:lnTo>
                    <a:pt x="119908" y="33242"/>
                  </a:lnTo>
                  <a:cubicBezTo>
                    <a:pt x="121273" y="33016"/>
                    <a:pt x="122753" y="32901"/>
                    <a:pt x="123782" y="32901"/>
                  </a:cubicBezTo>
                  <a:cubicBezTo>
                    <a:pt x="126512" y="32901"/>
                    <a:pt x="127536" y="34723"/>
                    <a:pt x="127536" y="39731"/>
                  </a:cubicBezTo>
                  <a:lnTo>
                    <a:pt x="127536" y="66147"/>
                  </a:lnTo>
                  <a:cubicBezTo>
                    <a:pt x="127536" y="74343"/>
                    <a:pt x="126397" y="75597"/>
                    <a:pt x="118543" y="76053"/>
                  </a:cubicBezTo>
                  <a:lnTo>
                    <a:pt x="118543" y="77760"/>
                  </a:lnTo>
                  <a:lnTo>
                    <a:pt x="145527" y="77760"/>
                  </a:lnTo>
                  <a:close/>
                  <a:moveTo>
                    <a:pt x="138125" y="5806"/>
                  </a:moveTo>
                  <a:cubicBezTo>
                    <a:pt x="138125" y="2615"/>
                    <a:pt x="135621" y="0"/>
                    <a:pt x="132319" y="0"/>
                  </a:cubicBezTo>
                  <a:cubicBezTo>
                    <a:pt x="129131" y="0"/>
                    <a:pt x="126512" y="2615"/>
                    <a:pt x="126512" y="5806"/>
                  </a:cubicBezTo>
                  <a:cubicBezTo>
                    <a:pt x="126512" y="9108"/>
                    <a:pt x="129131" y="11613"/>
                    <a:pt x="132319" y="11613"/>
                  </a:cubicBezTo>
                  <a:cubicBezTo>
                    <a:pt x="135621" y="11613"/>
                    <a:pt x="138125" y="9108"/>
                    <a:pt x="138125" y="5806"/>
                  </a:cubicBezTo>
                  <a:close/>
                  <a:moveTo>
                    <a:pt x="180143" y="70247"/>
                  </a:moveTo>
                  <a:lnTo>
                    <a:pt x="178663" y="68993"/>
                  </a:lnTo>
                  <a:cubicBezTo>
                    <a:pt x="176159" y="71953"/>
                    <a:pt x="174338" y="72977"/>
                    <a:pt x="171833" y="72977"/>
                  </a:cubicBezTo>
                  <a:cubicBezTo>
                    <a:pt x="167618" y="72977"/>
                    <a:pt x="165911" y="70017"/>
                    <a:pt x="165911" y="62730"/>
                  </a:cubicBezTo>
                  <a:lnTo>
                    <a:pt x="165911" y="30171"/>
                  </a:lnTo>
                  <a:lnTo>
                    <a:pt x="177409" y="30171"/>
                  </a:lnTo>
                  <a:lnTo>
                    <a:pt x="177409" y="26527"/>
                  </a:lnTo>
                  <a:lnTo>
                    <a:pt x="165911" y="26527"/>
                  </a:lnTo>
                  <a:lnTo>
                    <a:pt x="165911" y="13319"/>
                  </a:lnTo>
                  <a:cubicBezTo>
                    <a:pt x="165911" y="12180"/>
                    <a:pt x="165681" y="11839"/>
                    <a:pt x="165114" y="11839"/>
                  </a:cubicBezTo>
                  <a:cubicBezTo>
                    <a:pt x="164432" y="12978"/>
                    <a:pt x="163633" y="14002"/>
                    <a:pt x="162835" y="15026"/>
                  </a:cubicBezTo>
                  <a:cubicBezTo>
                    <a:pt x="158625" y="21288"/>
                    <a:pt x="154752" y="25503"/>
                    <a:pt x="151795" y="27210"/>
                  </a:cubicBezTo>
                  <a:cubicBezTo>
                    <a:pt x="150541" y="28008"/>
                    <a:pt x="149859" y="28690"/>
                    <a:pt x="149859" y="29373"/>
                  </a:cubicBezTo>
                  <a:cubicBezTo>
                    <a:pt x="149859" y="29714"/>
                    <a:pt x="149973" y="29940"/>
                    <a:pt x="150314" y="30171"/>
                  </a:cubicBezTo>
                  <a:lnTo>
                    <a:pt x="156347" y="30171"/>
                  </a:lnTo>
                  <a:lnTo>
                    <a:pt x="156347" y="64441"/>
                  </a:lnTo>
                  <a:cubicBezTo>
                    <a:pt x="156347" y="74001"/>
                    <a:pt x="159765" y="78899"/>
                    <a:pt x="166369" y="78899"/>
                  </a:cubicBezTo>
                  <a:cubicBezTo>
                    <a:pt x="172059" y="78899"/>
                    <a:pt x="176385" y="76164"/>
                    <a:pt x="180143" y="70247"/>
                  </a:cubicBezTo>
                  <a:close/>
                  <a:moveTo>
                    <a:pt x="228306" y="59885"/>
                  </a:moveTo>
                  <a:lnTo>
                    <a:pt x="226485" y="59087"/>
                  </a:lnTo>
                  <a:cubicBezTo>
                    <a:pt x="221019" y="67743"/>
                    <a:pt x="216126" y="71041"/>
                    <a:pt x="208840" y="71041"/>
                  </a:cubicBezTo>
                  <a:cubicBezTo>
                    <a:pt x="202578" y="71041"/>
                    <a:pt x="197795" y="68084"/>
                    <a:pt x="194493" y="61932"/>
                  </a:cubicBezTo>
                  <a:cubicBezTo>
                    <a:pt x="192218" y="57495"/>
                    <a:pt x="191306" y="53511"/>
                    <a:pt x="191079" y="46224"/>
                  </a:cubicBezTo>
                  <a:lnTo>
                    <a:pt x="226144" y="46224"/>
                  </a:lnTo>
                  <a:cubicBezTo>
                    <a:pt x="225234" y="38822"/>
                    <a:pt x="224095" y="35520"/>
                    <a:pt x="221250" y="31877"/>
                  </a:cubicBezTo>
                  <a:cubicBezTo>
                    <a:pt x="217833" y="27777"/>
                    <a:pt x="212598" y="25388"/>
                    <a:pt x="206677" y="25388"/>
                  </a:cubicBezTo>
                  <a:cubicBezTo>
                    <a:pt x="192560" y="25388"/>
                    <a:pt x="182880" y="36775"/>
                    <a:pt x="182880" y="53396"/>
                  </a:cubicBezTo>
                  <a:cubicBezTo>
                    <a:pt x="182880" y="69108"/>
                    <a:pt x="191079" y="78899"/>
                    <a:pt x="204173" y="78899"/>
                  </a:cubicBezTo>
                  <a:cubicBezTo>
                    <a:pt x="215102" y="78899"/>
                    <a:pt x="223527" y="72180"/>
                    <a:pt x="228306" y="59885"/>
                  </a:cubicBezTo>
                  <a:close/>
                  <a:moveTo>
                    <a:pt x="214531" y="42581"/>
                  </a:moveTo>
                  <a:lnTo>
                    <a:pt x="191306" y="42581"/>
                  </a:lnTo>
                  <a:cubicBezTo>
                    <a:pt x="192560" y="33584"/>
                    <a:pt x="196429" y="29488"/>
                    <a:pt x="203375" y="29488"/>
                  </a:cubicBezTo>
                  <a:cubicBezTo>
                    <a:pt x="210319" y="29488"/>
                    <a:pt x="213050" y="32675"/>
                    <a:pt x="214531" y="42581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7" name="u_safe_eq_outline_1"/>
            <p:cNvSpPr/>
            <p:nvPr/>
          </p:nvSpPr>
          <p:spPr>
            <a:xfrm>
              <a:off x="2758662" y="2864911"/>
              <a:ext cx="52486" cy="51462"/>
            </a:xfrm>
            <a:custGeom>
              <a:avLst/>
              <a:gdLst/>
              <a:ahLst/>
              <a:cxnLst/>
              <a:rect l="0" t="0" r="r" b="b"/>
              <a:pathLst>
                <a:path w="52487" h="51463">
                  <a:moveTo>
                    <a:pt x="52487" y="9334"/>
                  </a:moveTo>
                  <a:cubicBezTo>
                    <a:pt x="52487" y="1822"/>
                    <a:pt x="37683" y="0"/>
                    <a:pt x="31762" y="0"/>
                  </a:cubicBezTo>
                  <a:cubicBezTo>
                    <a:pt x="22999" y="0"/>
                    <a:pt x="9334" y="3643"/>
                    <a:pt x="9334" y="14232"/>
                  </a:cubicBezTo>
                  <a:cubicBezTo>
                    <a:pt x="9334" y="19467"/>
                    <a:pt x="13660" y="22769"/>
                    <a:pt x="18669" y="23566"/>
                  </a:cubicBezTo>
                  <a:lnTo>
                    <a:pt x="18669" y="24023"/>
                  </a:lnTo>
                  <a:cubicBezTo>
                    <a:pt x="10815" y="25047"/>
                    <a:pt x="0" y="29944"/>
                    <a:pt x="0" y="38937"/>
                  </a:cubicBezTo>
                  <a:cubicBezTo>
                    <a:pt x="0" y="49411"/>
                    <a:pt x="12180" y="51463"/>
                    <a:pt x="20721" y="51463"/>
                  </a:cubicBezTo>
                  <a:cubicBezTo>
                    <a:pt x="29258" y="51463"/>
                    <a:pt x="39279" y="48843"/>
                    <a:pt x="44744" y="42013"/>
                  </a:cubicBezTo>
                  <a:cubicBezTo>
                    <a:pt x="45883" y="40533"/>
                    <a:pt x="47022" y="38822"/>
                    <a:pt x="47022" y="36889"/>
                  </a:cubicBezTo>
                  <a:cubicBezTo>
                    <a:pt x="47022" y="35520"/>
                    <a:pt x="45768" y="34040"/>
                    <a:pt x="44287" y="34040"/>
                  </a:cubicBezTo>
                  <a:cubicBezTo>
                    <a:pt x="38707" y="34040"/>
                    <a:pt x="37457" y="48387"/>
                    <a:pt x="21971" y="48387"/>
                  </a:cubicBezTo>
                  <a:cubicBezTo>
                    <a:pt x="15939" y="48387"/>
                    <a:pt x="11382" y="46224"/>
                    <a:pt x="11382" y="39846"/>
                  </a:cubicBezTo>
                  <a:cubicBezTo>
                    <a:pt x="11382" y="33699"/>
                    <a:pt x="15367" y="26753"/>
                    <a:pt x="22427" y="26753"/>
                  </a:cubicBezTo>
                  <a:cubicBezTo>
                    <a:pt x="25729" y="26753"/>
                    <a:pt x="28805" y="28007"/>
                    <a:pt x="32107" y="28007"/>
                  </a:cubicBezTo>
                  <a:cubicBezTo>
                    <a:pt x="34723" y="28007"/>
                    <a:pt x="37116" y="27210"/>
                    <a:pt x="37116" y="24249"/>
                  </a:cubicBezTo>
                  <a:cubicBezTo>
                    <a:pt x="37116" y="21630"/>
                    <a:pt x="35520" y="21288"/>
                    <a:pt x="33131" y="21288"/>
                  </a:cubicBezTo>
                  <a:cubicBezTo>
                    <a:pt x="30512" y="21288"/>
                    <a:pt x="28007" y="21630"/>
                    <a:pt x="25503" y="21630"/>
                  </a:cubicBezTo>
                  <a:cubicBezTo>
                    <a:pt x="21288" y="21630"/>
                    <a:pt x="19467" y="19923"/>
                    <a:pt x="19467" y="15823"/>
                  </a:cubicBezTo>
                  <a:cubicBezTo>
                    <a:pt x="19467" y="9450"/>
                    <a:pt x="24590" y="3072"/>
                    <a:pt x="31536" y="3072"/>
                  </a:cubicBezTo>
                  <a:cubicBezTo>
                    <a:pt x="41783" y="3072"/>
                    <a:pt x="40759" y="13775"/>
                    <a:pt x="47589" y="13775"/>
                  </a:cubicBezTo>
                  <a:cubicBezTo>
                    <a:pt x="50320" y="13775"/>
                    <a:pt x="52487" y="12180"/>
                    <a:pt x="52487" y="9334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05" name="u_lp_eq"/>
          <p:cNvGrpSpPr/>
          <p:nvPr/>
        </p:nvGrpSpPr>
        <p:grpSpPr>
          <a:xfrm>
            <a:off x="3204017" y="2832846"/>
            <a:ext cx="323205" cy="87288"/>
            <a:chOff x="3204017" y="2832846"/>
            <a:chExt cx="323205" cy="87288"/>
          </a:xfrm>
        </p:grpSpPr>
        <p:sp>
          <p:nvSpPr>
            <p:cNvPr id="508" name="u_lp_eq_outline_0"/>
            <p:cNvSpPr/>
            <p:nvPr/>
          </p:nvSpPr>
          <p:spPr>
            <a:xfrm>
              <a:off x="3204017" y="2862575"/>
              <a:ext cx="58320" cy="57181"/>
            </a:xfrm>
            <a:custGeom>
              <a:avLst/>
              <a:gdLst/>
              <a:ahLst/>
              <a:cxnLst/>
              <a:rect l="0" t="0" r="r" b="b"/>
              <a:pathLst>
                <a:path w="58321" h="57182">
                  <a:moveTo>
                    <a:pt x="58321" y="10374"/>
                  </a:moveTo>
                  <a:cubicBezTo>
                    <a:pt x="58321" y="2024"/>
                    <a:pt x="41874" y="0"/>
                    <a:pt x="35294" y="0"/>
                  </a:cubicBezTo>
                  <a:cubicBezTo>
                    <a:pt x="25555" y="0"/>
                    <a:pt x="10374" y="4048"/>
                    <a:pt x="10374" y="15812"/>
                  </a:cubicBezTo>
                  <a:cubicBezTo>
                    <a:pt x="10374" y="21634"/>
                    <a:pt x="15181" y="25301"/>
                    <a:pt x="20749" y="26186"/>
                  </a:cubicBezTo>
                  <a:lnTo>
                    <a:pt x="20749" y="26694"/>
                  </a:lnTo>
                  <a:cubicBezTo>
                    <a:pt x="12017" y="27829"/>
                    <a:pt x="0" y="33270"/>
                    <a:pt x="0" y="43263"/>
                  </a:cubicBezTo>
                  <a:cubicBezTo>
                    <a:pt x="0" y="54904"/>
                    <a:pt x="13537" y="57182"/>
                    <a:pt x="23023" y="57182"/>
                  </a:cubicBezTo>
                  <a:cubicBezTo>
                    <a:pt x="32512" y="57182"/>
                    <a:pt x="43644" y="54269"/>
                    <a:pt x="49717" y="46680"/>
                  </a:cubicBezTo>
                  <a:cubicBezTo>
                    <a:pt x="50983" y="45037"/>
                    <a:pt x="52249" y="43136"/>
                    <a:pt x="52249" y="40989"/>
                  </a:cubicBezTo>
                  <a:cubicBezTo>
                    <a:pt x="52249" y="39469"/>
                    <a:pt x="50856" y="37826"/>
                    <a:pt x="49212" y="37826"/>
                  </a:cubicBezTo>
                  <a:cubicBezTo>
                    <a:pt x="43013" y="37826"/>
                    <a:pt x="41620" y="53765"/>
                    <a:pt x="24416" y="53765"/>
                  </a:cubicBezTo>
                  <a:cubicBezTo>
                    <a:pt x="17713" y="53765"/>
                    <a:pt x="12648" y="51360"/>
                    <a:pt x="12648" y="44275"/>
                  </a:cubicBezTo>
                  <a:cubicBezTo>
                    <a:pt x="12648" y="37445"/>
                    <a:pt x="17078" y="29730"/>
                    <a:pt x="24920" y="29730"/>
                  </a:cubicBezTo>
                  <a:cubicBezTo>
                    <a:pt x="28591" y="29730"/>
                    <a:pt x="32004" y="31119"/>
                    <a:pt x="35675" y="31119"/>
                  </a:cubicBezTo>
                  <a:cubicBezTo>
                    <a:pt x="38584" y="31119"/>
                    <a:pt x="41239" y="30234"/>
                    <a:pt x="41239" y="26944"/>
                  </a:cubicBezTo>
                  <a:cubicBezTo>
                    <a:pt x="41239" y="24035"/>
                    <a:pt x="39469" y="23658"/>
                    <a:pt x="36814" y="23658"/>
                  </a:cubicBezTo>
                  <a:cubicBezTo>
                    <a:pt x="33905" y="23658"/>
                    <a:pt x="31119" y="24035"/>
                    <a:pt x="28337" y="24035"/>
                  </a:cubicBezTo>
                  <a:cubicBezTo>
                    <a:pt x="23658" y="24035"/>
                    <a:pt x="21634" y="22138"/>
                    <a:pt x="21634" y="17582"/>
                  </a:cubicBezTo>
                  <a:cubicBezTo>
                    <a:pt x="21634" y="10497"/>
                    <a:pt x="27325" y="3413"/>
                    <a:pt x="35044" y="3413"/>
                  </a:cubicBezTo>
                  <a:cubicBezTo>
                    <a:pt x="46426" y="3413"/>
                    <a:pt x="45287" y="15308"/>
                    <a:pt x="52880" y="15308"/>
                  </a:cubicBezTo>
                  <a:cubicBezTo>
                    <a:pt x="55916" y="15308"/>
                    <a:pt x="58321" y="13534"/>
                    <a:pt x="58321" y="10374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9" name="u_lp_eq_outline_1"/>
            <p:cNvSpPr/>
            <p:nvPr/>
          </p:nvSpPr>
          <p:spPr>
            <a:xfrm>
              <a:off x="3310140" y="2859916"/>
              <a:ext cx="113859" cy="51867"/>
            </a:xfrm>
            <a:custGeom>
              <a:avLst/>
              <a:gdLst/>
              <a:ahLst/>
              <a:cxnLst/>
              <a:rect l="0" t="0" r="r" b="b"/>
              <a:pathLst>
                <a:path w="113860" h="51868">
                  <a:moveTo>
                    <a:pt x="113860" y="25809"/>
                  </a:moveTo>
                  <a:lnTo>
                    <a:pt x="89063" y="0"/>
                  </a:lnTo>
                  <a:lnTo>
                    <a:pt x="85142" y="4175"/>
                  </a:lnTo>
                  <a:lnTo>
                    <a:pt x="100195" y="22392"/>
                  </a:lnTo>
                  <a:lnTo>
                    <a:pt x="0" y="22392"/>
                  </a:lnTo>
                  <a:lnTo>
                    <a:pt x="0" y="29476"/>
                  </a:lnTo>
                  <a:lnTo>
                    <a:pt x="100195" y="29476"/>
                  </a:lnTo>
                  <a:lnTo>
                    <a:pt x="85142" y="47696"/>
                  </a:lnTo>
                  <a:lnTo>
                    <a:pt x="89063" y="51868"/>
                  </a:lnTo>
                  <a:lnTo>
                    <a:pt x="113860" y="25809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0" name="u_lp_eq_outline_2"/>
            <p:cNvSpPr/>
            <p:nvPr/>
          </p:nvSpPr>
          <p:spPr>
            <a:xfrm>
              <a:off x="3470041" y="2832846"/>
              <a:ext cx="57181" cy="87288"/>
            </a:xfrm>
            <a:custGeom>
              <a:avLst/>
              <a:gdLst/>
              <a:ahLst/>
              <a:cxnLst/>
              <a:rect l="0" t="0" r="r" b="b"/>
              <a:pathLst>
                <a:path w="57182" h="87289">
                  <a:moveTo>
                    <a:pt x="57182" y="43771"/>
                  </a:moveTo>
                  <a:cubicBezTo>
                    <a:pt x="57182" y="17835"/>
                    <a:pt x="45668" y="0"/>
                    <a:pt x="29095" y="0"/>
                  </a:cubicBezTo>
                  <a:cubicBezTo>
                    <a:pt x="22138" y="0"/>
                    <a:pt x="16828" y="2151"/>
                    <a:pt x="12144" y="6576"/>
                  </a:cubicBezTo>
                  <a:cubicBezTo>
                    <a:pt x="4806" y="13660"/>
                    <a:pt x="0" y="28210"/>
                    <a:pt x="0" y="43013"/>
                  </a:cubicBezTo>
                  <a:cubicBezTo>
                    <a:pt x="0" y="56801"/>
                    <a:pt x="4175" y="71604"/>
                    <a:pt x="10120" y="78688"/>
                  </a:cubicBezTo>
                  <a:cubicBezTo>
                    <a:pt x="14803" y="84253"/>
                    <a:pt x="21253" y="87289"/>
                    <a:pt x="28591" y="87289"/>
                  </a:cubicBezTo>
                  <a:cubicBezTo>
                    <a:pt x="35044" y="87289"/>
                    <a:pt x="40481" y="85138"/>
                    <a:pt x="45037" y="80712"/>
                  </a:cubicBezTo>
                  <a:cubicBezTo>
                    <a:pt x="52376" y="73755"/>
                    <a:pt x="57182" y="59079"/>
                    <a:pt x="57182" y="43771"/>
                  </a:cubicBezTo>
                  <a:close/>
                  <a:moveTo>
                    <a:pt x="45037" y="44025"/>
                  </a:moveTo>
                  <a:cubicBezTo>
                    <a:pt x="45037" y="70465"/>
                    <a:pt x="39469" y="83999"/>
                    <a:pt x="28591" y="83999"/>
                  </a:cubicBezTo>
                  <a:cubicBezTo>
                    <a:pt x="17713" y="83999"/>
                    <a:pt x="12144" y="70465"/>
                    <a:pt x="12144" y="44152"/>
                  </a:cubicBezTo>
                  <a:cubicBezTo>
                    <a:pt x="12144" y="17331"/>
                    <a:pt x="17840" y="3290"/>
                    <a:pt x="28718" y="3290"/>
                  </a:cubicBezTo>
                  <a:cubicBezTo>
                    <a:pt x="39342" y="3290"/>
                    <a:pt x="45037" y="17585"/>
                    <a:pt x="45037" y="44025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06" name="u_active_eps"/>
          <p:cNvGrpSpPr/>
          <p:nvPr/>
        </p:nvGrpSpPr>
        <p:grpSpPr>
          <a:xfrm>
            <a:off x="4171620" y="2785784"/>
            <a:ext cx="327885" cy="53855"/>
            <a:chOff x="4171620" y="2785784"/>
            <a:chExt cx="327885" cy="53855"/>
          </a:xfrm>
        </p:grpSpPr>
        <p:sp>
          <p:nvSpPr>
            <p:cNvPr id="511" name="u_active_eps_outline_0"/>
            <p:cNvSpPr/>
            <p:nvPr/>
          </p:nvSpPr>
          <p:spPr>
            <a:xfrm>
              <a:off x="4171620" y="2788177"/>
              <a:ext cx="52486" cy="51462"/>
            </a:xfrm>
            <a:custGeom>
              <a:avLst/>
              <a:gdLst/>
              <a:ahLst/>
              <a:cxnLst/>
              <a:rect l="0" t="0" r="r" b="b"/>
              <a:pathLst>
                <a:path w="52487" h="51463">
                  <a:moveTo>
                    <a:pt x="52487" y="9335"/>
                  </a:moveTo>
                  <a:cubicBezTo>
                    <a:pt x="52487" y="1822"/>
                    <a:pt x="37683" y="0"/>
                    <a:pt x="31762" y="0"/>
                  </a:cubicBezTo>
                  <a:cubicBezTo>
                    <a:pt x="22999" y="0"/>
                    <a:pt x="9335" y="3643"/>
                    <a:pt x="9335" y="14232"/>
                  </a:cubicBezTo>
                  <a:cubicBezTo>
                    <a:pt x="9335" y="19467"/>
                    <a:pt x="13660" y="22769"/>
                    <a:pt x="18669" y="23567"/>
                  </a:cubicBezTo>
                  <a:lnTo>
                    <a:pt x="18669" y="24023"/>
                  </a:lnTo>
                  <a:cubicBezTo>
                    <a:pt x="10815" y="25047"/>
                    <a:pt x="0" y="29944"/>
                    <a:pt x="0" y="38937"/>
                  </a:cubicBezTo>
                  <a:cubicBezTo>
                    <a:pt x="0" y="49411"/>
                    <a:pt x="12180" y="51463"/>
                    <a:pt x="20721" y="51463"/>
                  </a:cubicBezTo>
                  <a:cubicBezTo>
                    <a:pt x="29258" y="51463"/>
                    <a:pt x="39279" y="48843"/>
                    <a:pt x="44744" y="42013"/>
                  </a:cubicBezTo>
                  <a:cubicBezTo>
                    <a:pt x="45883" y="40533"/>
                    <a:pt x="47022" y="38822"/>
                    <a:pt x="47022" y="36890"/>
                  </a:cubicBezTo>
                  <a:cubicBezTo>
                    <a:pt x="47022" y="35520"/>
                    <a:pt x="45768" y="34040"/>
                    <a:pt x="44287" y="34040"/>
                  </a:cubicBezTo>
                  <a:cubicBezTo>
                    <a:pt x="38707" y="34040"/>
                    <a:pt x="37457" y="48387"/>
                    <a:pt x="21971" y="48387"/>
                  </a:cubicBezTo>
                  <a:cubicBezTo>
                    <a:pt x="15938" y="48387"/>
                    <a:pt x="11382" y="46224"/>
                    <a:pt x="11382" y="39846"/>
                  </a:cubicBezTo>
                  <a:cubicBezTo>
                    <a:pt x="11382" y="33699"/>
                    <a:pt x="15367" y="26753"/>
                    <a:pt x="22427" y="26753"/>
                  </a:cubicBezTo>
                  <a:cubicBezTo>
                    <a:pt x="25729" y="26753"/>
                    <a:pt x="28805" y="28008"/>
                    <a:pt x="32107" y="28008"/>
                  </a:cubicBezTo>
                  <a:cubicBezTo>
                    <a:pt x="34723" y="28008"/>
                    <a:pt x="37116" y="27210"/>
                    <a:pt x="37116" y="24249"/>
                  </a:cubicBezTo>
                  <a:cubicBezTo>
                    <a:pt x="37116" y="21630"/>
                    <a:pt x="35520" y="21288"/>
                    <a:pt x="33131" y="21288"/>
                  </a:cubicBezTo>
                  <a:cubicBezTo>
                    <a:pt x="30512" y="21288"/>
                    <a:pt x="28008" y="21630"/>
                    <a:pt x="25503" y="21630"/>
                  </a:cubicBezTo>
                  <a:cubicBezTo>
                    <a:pt x="21288" y="21630"/>
                    <a:pt x="19467" y="19923"/>
                    <a:pt x="19467" y="15823"/>
                  </a:cubicBezTo>
                  <a:cubicBezTo>
                    <a:pt x="19467" y="9450"/>
                    <a:pt x="24590" y="3072"/>
                    <a:pt x="31536" y="3072"/>
                  </a:cubicBezTo>
                  <a:cubicBezTo>
                    <a:pt x="41783" y="3072"/>
                    <a:pt x="40759" y="13776"/>
                    <a:pt x="47589" y="13776"/>
                  </a:cubicBezTo>
                  <a:cubicBezTo>
                    <a:pt x="50320" y="13776"/>
                    <a:pt x="52487" y="12180"/>
                    <a:pt x="52487" y="9335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2" name="u_active_eps_outline_1"/>
            <p:cNvSpPr/>
            <p:nvPr/>
          </p:nvSpPr>
          <p:spPr>
            <a:xfrm>
              <a:off x="4267129" y="2785784"/>
              <a:ext cx="102465" cy="46680"/>
            </a:xfrm>
            <a:custGeom>
              <a:avLst/>
              <a:gdLst/>
              <a:ahLst/>
              <a:cxnLst/>
              <a:rect l="0" t="0" r="r" b="b"/>
              <a:pathLst>
                <a:path w="102465" h="46680">
                  <a:moveTo>
                    <a:pt x="102465" y="23229"/>
                  </a:moveTo>
                  <a:lnTo>
                    <a:pt x="80149" y="0"/>
                  </a:lnTo>
                  <a:lnTo>
                    <a:pt x="76621" y="3758"/>
                  </a:lnTo>
                  <a:lnTo>
                    <a:pt x="90170" y="20153"/>
                  </a:lnTo>
                  <a:lnTo>
                    <a:pt x="0" y="20153"/>
                  </a:lnTo>
                  <a:lnTo>
                    <a:pt x="0" y="26531"/>
                  </a:lnTo>
                  <a:lnTo>
                    <a:pt x="90170" y="26531"/>
                  </a:lnTo>
                  <a:lnTo>
                    <a:pt x="76621" y="42926"/>
                  </a:lnTo>
                  <a:lnTo>
                    <a:pt x="80149" y="46680"/>
                  </a:lnTo>
                  <a:lnTo>
                    <a:pt x="102465" y="23229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3" name="u_active_eps_outline_2"/>
            <p:cNvSpPr/>
            <p:nvPr/>
          </p:nvSpPr>
          <p:spPr>
            <a:xfrm>
              <a:off x="4414229" y="2788293"/>
              <a:ext cx="85276" cy="43033"/>
            </a:xfrm>
            <a:custGeom>
              <a:avLst/>
              <a:gdLst/>
              <a:ahLst/>
              <a:cxnLst/>
              <a:rect l="0" t="0" r="r" b="b"/>
              <a:pathLst>
                <a:path w="85277" h="43033">
                  <a:moveTo>
                    <a:pt x="85277" y="19352"/>
                  </a:moveTo>
                  <a:cubicBezTo>
                    <a:pt x="85277" y="8993"/>
                    <a:pt x="79696" y="226"/>
                    <a:pt x="68425" y="226"/>
                  </a:cubicBezTo>
                  <a:cubicBezTo>
                    <a:pt x="58976" y="226"/>
                    <a:pt x="49868" y="9219"/>
                    <a:pt x="44172" y="16050"/>
                  </a:cubicBezTo>
                  <a:cubicBezTo>
                    <a:pt x="39394" y="8195"/>
                    <a:pt x="30170" y="0"/>
                    <a:pt x="20606" y="0"/>
                  </a:cubicBezTo>
                  <a:cubicBezTo>
                    <a:pt x="8085" y="0"/>
                    <a:pt x="0" y="12065"/>
                    <a:pt x="0" y="23681"/>
                  </a:cubicBezTo>
                  <a:cubicBezTo>
                    <a:pt x="0" y="34040"/>
                    <a:pt x="5918" y="42922"/>
                    <a:pt x="17078" y="42922"/>
                  </a:cubicBezTo>
                  <a:cubicBezTo>
                    <a:pt x="26071" y="42922"/>
                    <a:pt x="36203" y="33699"/>
                    <a:pt x="41215" y="26753"/>
                  </a:cubicBezTo>
                  <a:cubicBezTo>
                    <a:pt x="46566" y="34611"/>
                    <a:pt x="54761" y="43033"/>
                    <a:pt x="64897" y="43033"/>
                  </a:cubicBezTo>
                  <a:cubicBezTo>
                    <a:pt x="77419" y="43033"/>
                    <a:pt x="85277" y="30738"/>
                    <a:pt x="85277" y="19352"/>
                  </a:cubicBezTo>
                  <a:close/>
                  <a:moveTo>
                    <a:pt x="78784" y="24590"/>
                  </a:moveTo>
                  <a:cubicBezTo>
                    <a:pt x="78784" y="32103"/>
                    <a:pt x="75029" y="38366"/>
                    <a:pt x="66830" y="38366"/>
                  </a:cubicBezTo>
                  <a:cubicBezTo>
                    <a:pt x="58293" y="38366"/>
                    <a:pt x="50550" y="25614"/>
                    <a:pt x="46109" y="19352"/>
                  </a:cubicBezTo>
                  <a:cubicBezTo>
                    <a:pt x="49526" y="14228"/>
                    <a:pt x="58635" y="5806"/>
                    <a:pt x="65009" y="5806"/>
                  </a:cubicBezTo>
                  <a:cubicBezTo>
                    <a:pt x="74117" y="5806"/>
                    <a:pt x="78784" y="16847"/>
                    <a:pt x="78784" y="24590"/>
                  </a:cubicBezTo>
                  <a:close/>
                  <a:moveTo>
                    <a:pt x="39279" y="23566"/>
                  </a:moveTo>
                  <a:cubicBezTo>
                    <a:pt x="35977" y="28690"/>
                    <a:pt x="26642" y="36885"/>
                    <a:pt x="20380" y="36885"/>
                  </a:cubicBezTo>
                  <a:cubicBezTo>
                    <a:pt x="11271" y="36885"/>
                    <a:pt x="6716" y="25844"/>
                    <a:pt x="6716" y="18101"/>
                  </a:cubicBezTo>
                  <a:cubicBezTo>
                    <a:pt x="6716" y="10473"/>
                    <a:pt x="10589" y="4211"/>
                    <a:pt x="18899" y="4211"/>
                  </a:cubicBezTo>
                  <a:cubicBezTo>
                    <a:pt x="26528" y="4211"/>
                    <a:pt x="35977" y="17189"/>
                    <a:pt x="39279" y="23566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514" name="penalty_schematic"/>
          <p:cNvSpPr txBox="1"/>
          <p:nvPr/>
        </p:nvSpPr>
        <p:spPr>
          <a:xfrm>
            <a:off x="127000" y="406400"/>
            <a:ext cx="850900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0" b="0">
                <a:solidFill>
                  <a:srgbClr val="66747D"/>
                </a:solidFill>
                <a:latin typeface="Liberation Serif"/>
              </a:rPr>
              <a:t>(schematic)</a:t>
            </a:r>
          </a:p>
        </p:txBody>
      </p:sp>
      <p:sp>
        <p:nvSpPr>
          <p:cNvPr id="515" name="lagrangian_schematic"/>
          <p:cNvSpPr txBox="1"/>
          <p:nvPr/>
        </p:nvSpPr>
        <p:spPr>
          <a:xfrm>
            <a:off x="4025900" y="406400"/>
            <a:ext cx="850900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0" b="0">
                <a:solidFill>
                  <a:srgbClr val="66747D"/>
                </a:solidFill>
                <a:latin typeface="Liberation Serif"/>
              </a:rPr>
              <a:t>(schematic)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SafeOT Figure 1 R3</dc:title>
  <dc:subject/>
  <dc:creator/>
  <cp:keywords/>
  <dc:description/>
  <cp:lastModifiedBy/>
  <cp:revision>1</cp:revision>
  <dcterms:created xsi:type="dcterms:W3CDTF">2013-01-27T09:14:16Z</dcterms:created>
  <dcterms:modified xsi:type="dcterms:W3CDTF">2013-01-27T09:15:58Z</dcterms:modified>
  <cp:category/>
</cp:coreProperties>
</file>