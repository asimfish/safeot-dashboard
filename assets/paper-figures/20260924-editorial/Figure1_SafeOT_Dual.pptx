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34476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Legacy-led semantic redraw; diagrams are analytic/schematic, not empirical data. Native text/line math, not OMML.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69" name="penalty_view" descr="penalty view"/>
          <p:cNvGrpSpPr/>
          <p:nvPr/>
        </p:nvGrpSpPr>
        <p:grpSpPr>
          <a:xfrm>
            <a:off x="60350" y="75438"/>
            <a:ext cx="1033500" cy="1898523"/>
            <a:chOff x="60350" y="75438"/>
            <a:chExt cx="1033500" cy="1898523"/>
          </a:xfrm>
        </p:grpSpPr>
        <p:sp>
          <p:nvSpPr>
            <p:cNvPr id="2" name="penalty_view_panel" descr="Editable shape; source id penalty_view_panel"/>
            <p:cNvSpPr/>
            <p:nvPr/>
          </p:nvSpPr>
          <p:spPr>
            <a:xfrm>
              <a:off x="60350" y="75438"/>
              <a:ext cx="1033500" cy="1898523"/>
            </a:xfrm>
            <a:prstGeom prst="roundRect">
              <a:avLst>
                <a:gd name="adj" fmla="val 1946"/>
              </a:avLst>
            </a:prstGeom>
            <a:solidFill>
              <a:srgbClr val="FFFFFF"/>
            </a:solidFill>
            <a:ln w="4526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penalty_title" descr="Editable text; source id penalty_title"/>
            <p:cNvSpPr txBox="1"/>
            <p:nvPr/>
          </p:nvSpPr>
          <p:spPr>
            <a:xfrm>
              <a:off x="252958" y="124963"/>
              <a:ext cx="653987" cy="13831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1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Penalty view</a:t>
              </a:r>
            </a:p>
          </p:txBody>
        </p:sp>
        <p:grpSp>
          <p:nvGrpSpPr>
            <p:cNvPr id="256" name="penalty_objective" descr="Editable formula parts and native mathematical delimiters."/>
            <p:cNvGrpSpPr/>
            <p:nvPr/>
          </p:nvGrpSpPr>
          <p:grpSpPr>
            <a:xfrm>
              <a:off x="364763" y="310796"/>
              <a:ext cx="420586" cy="131527"/>
              <a:chOff x="364763" y="310796"/>
              <a:chExt cx="420586" cy="131527"/>
            </a:xfrm>
          </p:grpSpPr>
          <p:sp>
            <p:nvSpPr>
              <p:cNvPr id="4" name="penalty_objective_0" descr="Editable text; source id penalty_objective_0"/>
              <p:cNvSpPr txBox="1"/>
              <p:nvPr/>
            </p:nvSpPr>
            <p:spPr>
              <a:xfrm>
                <a:off x="364763" y="310796"/>
                <a:ext cx="1732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5" name="penalty_objective_1" descr="Editable text; source id penalty_objective_1"/>
              <p:cNvSpPr txBox="1"/>
              <p:nvPr/>
            </p:nvSpPr>
            <p:spPr>
              <a:xfrm>
                <a:off x="533910" y="363780"/>
                <a:ext cx="36979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6" name="penalty_objective_2" descr="Editable text; source id penalty_objective_2"/>
              <p:cNvSpPr txBox="1"/>
              <p:nvPr/>
            </p:nvSpPr>
            <p:spPr>
              <a:xfrm>
                <a:off x="594376" y="310796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7" name="penalty_objective_3" descr="Editable text; source id penalty_objective_3"/>
              <p:cNvSpPr txBox="1"/>
              <p:nvPr/>
            </p:nvSpPr>
            <p:spPr>
              <a:xfrm>
                <a:off x="642312" y="363780"/>
                <a:ext cx="25658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8" name="penalty_objective_4" descr="Editable text; source id penalty_objective_4"/>
              <p:cNvSpPr txBox="1"/>
              <p:nvPr/>
            </p:nvSpPr>
            <p:spPr>
              <a:xfrm>
                <a:off x="666804" y="310796"/>
                <a:ext cx="1185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257" name="penalty_subtract" descr="Editable formula parts and native mathematical delimiters."/>
            <p:cNvGrpSpPr/>
            <p:nvPr/>
          </p:nvGrpSpPr>
          <p:grpSpPr>
            <a:xfrm>
              <a:off x="390497" y="416385"/>
              <a:ext cx="369118" cy="149153"/>
              <a:chOff x="390497" y="416385"/>
              <a:chExt cx="369118" cy="149153"/>
            </a:xfrm>
          </p:grpSpPr>
          <p:sp>
            <p:nvSpPr>
              <p:cNvPr id="9" name="penalty_subtract_0" descr="Editable text; source id penalty_subtract_0"/>
              <p:cNvSpPr txBox="1"/>
              <p:nvPr/>
            </p:nvSpPr>
            <p:spPr>
              <a:xfrm>
                <a:off x="390497" y="434012"/>
                <a:ext cx="84230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− </a:t>
                </a:r>
              </a:p>
            </p:txBody>
          </p:sp>
          <p:sp>
            <p:nvSpPr>
              <p:cNvPr id="10" name="penalty_subtract_1" descr="Editable text; source id penalty_subtract_1"/>
              <p:cNvSpPr txBox="1"/>
              <p:nvPr/>
            </p:nvSpPr>
            <p:spPr>
              <a:xfrm>
                <a:off x="470822" y="434012"/>
                <a:ext cx="520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1" name="penalty_subtract_2" descr="Editable text; source id penalty_subtract_2"/>
              <p:cNvSpPr txBox="1"/>
              <p:nvPr/>
            </p:nvSpPr>
            <p:spPr>
              <a:xfrm>
                <a:off x="518769" y="416385"/>
                <a:ext cx="43827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12" name="penalty_subtract_3" descr="Editable text; source id penalty_subtract_3"/>
              <p:cNvSpPr txBox="1"/>
              <p:nvPr/>
            </p:nvSpPr>
            <p:spPr>
              <a:xfrm>
                <a:off x="561430" y="434012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3" name="penalty_subtract_4" descr="Editable text; source id penalty_subtract_4"/>
              <p:cNvSpPr txBox="1"/>
              <p:nvPr/>
            </p:nvSpPr>
            <p:spPr>
              <a:xfrm>
                <a:off x="609366" y="486995"/>
                <a:ext cx="32870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" name="penalty_subtract_5" descr="Editable text; source id penalty_subtract_5"/>
              <p:cNvSpPr txBox="1"/>
              <p:nvPr/>
            </p:nvSpPr>
            <p:spPr>
              <a:xfrm>
                <a:off x="641070" y="434012"/>
                <a:ext cx="1185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cxnSp>
          <p:nvCxnSpPr>
            <p:cNvPr id="15" name="penalty_sep" descr="Editable line; source id penalty_sep"/>
            <p:cNvCxnSpPr/>
            <p:nvPr/>
          </p:nvCxnSpPr>
          <p:spPr>
            <a:xfrm>
              <a:off x="118186" y="600989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weighted_label" descr="Editable text; source id weighted_label"/>
            <p:cNvSpPr txBox="1"/>
            <p:nvPr/>
          </p:nvSpPr>
          <p:spPr>
            <a:xfrm>
              <a:off x="140368" y="626031"/>
              <a:ext cx="667897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Weighted costs</a:t>
              </a:r>
            </a:p>
          </p:txBody>
        </p:sp>
        <p:grpSp>
          <p:nvGrpSpPr>
            <p:cNvPr id="259" name="cost_term0" descr="cost term0"/>
            <p:cNvGrpSpPr/>
            <p:nvPr/>
          </p:nvGrpSpPr>
          <p:grpSpPr>
            <a:xfrm>
              <a:off x="143332" y="769467"/>
              <a:ext cx="367131" cy="140782"/>
              <a:chOff x="143332" y="769467"/>
              <a:chExt cx="367131" cy="140782"/>
            </a:xfrm>
          </p:grpSpPr>
          <p:sp>
            <p:nvSpPr>
              <p:cNvPr id="17" name="cost_term0_panel" descr="Editable shape; source id cost_term0_panel"/>
              <p:cNvSpPr/>
              <p:nvPr/>
            </p:nvSpPr>
            <p:spPr>
              <a:xfrm>
                <a:off x="143332" y="769467"/>
                <a:ext cx="367131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58" name="jc0" descr="Editable formula parts and native mathematical delimiters."/>
              <p:cNvGrpSpPr/>
              <p:nvPr/>
            </p:nvGrpSpPr>
            <p:grpSpPr>
              <a:xfrm>
                <a:off x="220701" y="772562"/>
                <a:ext cx="210971" cy="137687"/>
                <a:chOff x="220701" y="772562"/>
                <a:chExt cx="210971" cy="137687"/>
              </a:xfrm>
            </p:grpSpPr>
            <p:sp>
              <p:nvSpPr>
                <p:cNvPr id="18" name="jc0_0" descr="Editable text; source id jc0_0"/>
                <p:cNvSpPr txBox="1"/>
                <p:nvPr/>
              </p:nvSpPr>
              <p:spPr>
                <a:xfrm>
                  <a:off x="220701" y="772562"/>
                  <a:ext cx="49305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19" name="jc0_1" descr="Editable text; source id jc0_1"/>
                <p:cNvSpPr txBox="1"/>
                <p:nvPr/>
              </p:nvSpPr>
              <p:spPr>
                <a:xfrm>
                  <a:off x="265898" y="823654"/>
                  <a:ext cx="31500" cy="747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55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0" name="jc0_2" descr="Editable text; source id jc0_2"/>
                <p:cNvSpPr txBox="1"/>
                <p:nvPr/>
              </p:nvSpPr>
              <p:spPr>
                <a:xfrm>
                  <a:off x="293290" y="854782"/>
                  <a:ext cx="26707" cy="5546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0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  <p:sp>
              <p:nvSpPr>
                <p:cNvPr id="21" name="jc0_3" descr="Editable text; source id jc0_3"/>
                <p:cNvSpPr txBox="1"/>
                <p:nvPr/>
              </p:nvSpPr>
              <p:spPr>
                <a:xfrm>
                  <a:off x="318680" y="772562"/>
                  <a:ext cx="112992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(π)</a:t>
                  </a:r>
                </a:p>
              </p:txBody>
            </p:sp>
          </p:grpSp>
        </p:grpSp>
        <p:grpSp>
          <p:nvGrpSpPr>
            <p:cNvPr id="260" name="weight0" descr="Editable formula parts and native mathematical delimiters."/>
            <p:cNvGrpSpPr/>
            <p:nvPr/>
          </p:nvGrpSpPr>
          <p:grpSpPr>
            <a:xfrm>
              <a:off x="553476" y="772562"/>
              <a:ext cx="80807" cy="125818"/>
              <a:chOff x="553476" y="772562"/>
              <a:chExt cx="80807" cy="125818"/>
            </a:xfrm>
          </p:grpSpPr>
          <p:sp>
            <p:nvSpPr>
              <p:cNvPr id="22" name="weight0_0" descr="Editable text; source id weight0_0"/>
              <p:cNvSpPr txBox="1"/>
              <p:nvPr/>
            </p:nvSpPr>
            <p:spPr>
              <a:xfrm>
                <a:off x="553476" y="772562"/>
                <a:ext cx="49990" cy="11110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3" name="weight0_1" descr="Editable text; source id weight0_1"/>
              <p:cNvSpPr txBox="1"/>
              <p:nvPr/>
            </p:nvSpPr>
            <p:spPr>
              <a:xfrm>
                <a:off x="599358" y="823654"/>
                <a:ext cx="34925" cy="747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sp>
          <p:nvSpPr>
            <p:cNvPr id="24" name="weighted_path0" descr="Editable line; source id weighted_path0"/>
            <p:cNvSpPr/>
            <p:nvPr/>
          </p:nvSpPr>
          <p:spPr>
            <a:xfrm>
              <a:off x="659102" y="841246"/>
              <a:ext cx="110366" cy="212371"/>
            </a:xfrm>
            <a:custGeom>
              <a:avLst/>
              <a:gdLst/>
              <a:ahLst/>
              <a:cxnLst/>
              <a:rect l="l" t="t" r="r" b="b"/>
              <a:pathLst>
                <a:path w="40291" h="77530">
                  <a:moveTo>
                    <a:pt x="1634" y="0"/>
                  </a:moveTo>
                  <a:lnTo>
                    <a:pt x="36088" y="67306"/>
                  </a:lnTo>
                  <a:lnTo>
                    <a:pt x="38949" y="65842"/>
                  </a:lnTo>
                  <a:lnTo>
                    <a:pt x="40291" y="77530"/>
                  </a:lnTo>
                  <a:lnTo>
                    <a:pt x="31594" y="69607"/>
                  </a:lnTo>
                  <a:lnTo>
                    <a:pt x="34454" y="68142"/>
                  </a:lnTo>
                  <a:lnTo>
                    <a:pt x="0" y="836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2" name="cost_term1" descr="cost term1"/>
            <p:cNvGrpSpPr/>
            <p:nvPr/>
          </p:nvGrpSpPr>
          <p:grpSpPr>
            <a:xfrm>
              <a:off x="143332" y="990752"/>
              <a:ext cx="367131" cy="140782"/>
              <a:chOff x="143332" y="990752"/>
              <a:chExt cx="367131" cy="140782"/>
            </a:xfrm>
          </p:grpSpPr>
          <p:sp>
            <p:nvSpPr>
              <p:cNvPr id="25" name="cost_term1_panel" descr="Editable shape; source id cost_term1_panel"/>
              <p:cNvSpPr/>
              <p:nvPr/>
            </p:nvSpPr>
            <p:spPr>
              <a:xfrm>
                <a:off x="143332" y="990752"/>
                <a:ext cx="367131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1" name="jc1" descr="Editable formula parts and native mathematical delimiters."/>
              <p:cNvGrpSpPr/>
              <p:nvPr/>
            </p:nvGrpSpPr>
            <p:grpSpPr>
              <a:xfrm>
                <a:off x="220701" y="993847"/>
                <a:ext cx="210971" cy="137687"/>
                <a:chOff x="220701" y="993847"/>
                <a:chExt cx="210971" cy="137687"/>
              </a:xfrm>
            </p:grpSpPr>
            <p:sp>
              <p:nvSpPr>
                <p:cNvPr id="26" name="jc1_0" descr="Editable text; source id jc1_0"/>
                <p:cNvSpPr txBox="1"/>
                <p:nvPr/>
              </p:nvSpPr>
              <p:spPr>
                <a:xfrm>
                  <a:off x="220701" y="993847"/>
                  <a:ext cx="49305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7" name="jc1_1" descr="Editable text; source id jc1_1"/>
                <p:cNvSpPr txBox="1"/>
                <p:nvPr/>
              </p:nvSpPr>
              <p:spPr>
                <a:xfrm>
                  <a:off x="265898" y="1044939"/>
                  <a:ext cx="31500" cy="747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55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28" name="jc1_2" descr="Editable text; source id jc1_2"/>
                <p:cNvSpPr txBox="1"/>
                <p:nvPr/>
              </p:nvSpPr>
              <p:spPr>
                <a:xfrm>
                  <a:off x="293290" y="1076067"/>
                  <a:ext cx="26707" cy="5546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0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  <p:sp>
              <p:nvSpPr>
                <p:cNvPr id="29" name="jc1_3" descr="Editable text; source id jc1_3"/>
                <p:cNvSpPr txBox="1"/>
                <p:nvPr/>
              </p:nvSpPr>
              <p:spPr>
                <a:xfrm>
                  <a:off x="318680" y="993847"/>
                  <a:ext cx="112992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(π)</a:t>
                  </a:r>
                </a:p>
              </p:txBody>
            </p:sp>
          </p:grpSp>
        </p:grpSp>
        <p:grpSp>
          <p:nvGrpSpPr>
            <p:cNvPr id="263" name="weight1" descr="Editable formula parts and native mathematical delimiters."/>
            <p:cNvGrpSpPr/>
            <p:nvPr/>
          </p:nvGrpSpPr>
          <p:grpSpPr>
            <a:xfrm>
              <a:off x="553476" y="993847"/>
              <a:ext cx="80807" cy="125818"/>
              <a:chOff x="553476" y="993847"/>
              <a:chExt cx="80807" cy="125818"/>
            </a:xfrm>
          </p:grpSpPr>
          <p:sp>
            <p:nvSpPr>
              <p:cNvPr id="30" name="weight1_0" descr="Editable text; source id weight1_0"/>
              <p:cNvSpPr txBox="1"/>
              <p:nvPr/>
            </p:nvSpPr>
            <p:spPr>
              <a:xfrm>
                <a:off x="553476" y="993847"/>
                <a:ext cx="49990" cy="11110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31" name="weight1_1" descr="Editable text; source id weight1_1"/>
              <p:cNvSpPr txBox="1"/>
              <p:nvPr/>
            </p:nvSpPr>
            <p:spPr>
              <a:xfrm>
                <a:off x="599358" y="1044939"/>
                <a:ext cx="34925" cy="747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sp>
          <p:nvSpPr>
            <p:cNvPr id="32" name="weighted_path1" descr="Editable line; source id weighted_path1"/>
            <p:cNvSpPr/>
            <p:nvPr/>
          </p:nvSpPr>
          <p:spPr>
            <a:xfrm>
              <a:off x="660880" y="1061202"/>
              <a:ext cx="108588" cy="28195"/>
            </a:xfrm>
            <a:custGeom>
              <a:avLst/>
              <a:gdLst/>
              <a:ahLst/>
              <a:cxnLst/>
              <a:rect l="l" t="t" r="r" b="b"/>
              <a:pathLst>
                <a:path w="39642" h="10293">
                  <a:moveTo>
                    <a:pt x="336" y="0"/>
                  </a:moveTo>
                  <a:lnTo>
                    <a:pt x="28980" y="5330"/>
                  </a:lnTo>
                  <a:lnTo>
                    <a:pt x="29567" y="2171"/>
                  </a:lnTo>
                  <a:lnTo>
                    <a:pt x="39642" y="8247"/>
                  </a:lnTo>
                  <a:lnTo>
                    <a:pt x="28056" y="10293"/>
                  </a:lnTo>
                  <a:lnTo>
                    <a:pt x="28644" y="7135"/>
                  </a:lnTo>
                  <a:lnTo>
                    <a:pt x="0" y="1806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5" name="cost_term2" descr="cost term2"/>
            <p:cNvGrpSpPr/>
            <p:nvPr/>
          </p:nvGrpSpPr>
          <p:grpSpPr>
            <a:xfrm>
              <a:off x="143332" y="1212037"/>
              <a:ext cx="367131" cy="140782"/>
              <a:chOff x="143332" y="1212037"/>
              <a:chExt cx="367131" cy="140782"/>
            </a:xfrm>
          </p:grpSpPr>
          <p:sp>
            <p:nvSpPr>
              <p:cNvPr id="33" name="cost_term2_panel" descr="Editable shape; source id cost_term2_panel"/>
              <p:cNvSpPr/>
              <p:nvPr/>
            </p:nvSpPr>
            <p:spPr>
              <a:xfrm>
                <a:off x="143332" y="1212037"/>
                <a:ext cx="367131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264" name="jc2" descr="Editable formula parts and native mathematical delimiters."/>
              <p:cNvGrpSpPr/>
              <p:nvPr/>
            </p:nvGrpSpPr>
            <p:grpSpPr>
              <a:xfrm>
                <a:off x="215875" y="1215132"/>
                <a:ext cx="220623" cy="137687"/>
                <a:chOff x="215875" y="1215132"/>
                <a:chExt cx="220623" cy="137687"/>
              </a:xfrm>
            </p:grpSpPr>
            <p:sp>
              <p:nvSpPr>
                <p:cNvPr id="34" name="jc2_0" descr="Editable text; source id jc2_0"/>
                <p:cNvSpPr txBox="1"/>
                <p:nvPr/>
              </p:nvSpPr>
              <p:spPr>
                <a:xfrm>
                  <a:off x="215875" y="1215132"/>
                  <a:ext cx="49305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35" name="jc2_1" descr="Editable text; source id jc2_1"/>
                <p:cNvSpPr txBox="1"/>
                <p:nvPr/>
              </p:nvSpPr>
              <p:spPr>
                <a:xfrm>
                  <a:off x="261072" y="1266223"/>
                  <a:ext cx="31500" cy="747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55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83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  <p:sp>
              <p:nvSpPr>
                <p:cNvPr id="36" name="jc2_2" descr="Editable text; source id jc2_2"/>
                <p:cNvSpPr txBox="1"/>
                <p:nvPr/>
              </p:nvSpPr>
              <p:spPr>
                <a:xfrm>
                  <a:off x="288464" y="1297352"/>
                  <a:ext cx="36358" cy="55467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0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351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K</a:t>
                  </a:r>
                </a:p>
              </p:txBody>
            </p:sp>
            <p:sp>
              <p:nvSpPr>
                <p:cNvPr id="37" name="jc2_3" descr="Editable text; source id jc2_3"/>
                <p:cNvSpPr txBox="1"/>
                <p:nvPr/>
              </p:nvSpPr>
              <p:spPr>
                <a:xfrm>
                  <a:off x="323506" y="1215132"/>
                  <a:ext cx="112992" cy="11110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842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732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(π)</a:t>
                  </a:r>
                </a:p>
              </p:txBody>
            </p:sp>
          </p:grpSp>
        </p:grpSp>
        <p:grpSp>
          <p:nvGrpSpPr>
            <p:cNvPr id="266" name="weight2" descr="Editable formula parts and native mathematical delimiters."/>
            <p:cNvGrpSpPr/>
            <p:nvPr/>
          </p:nvGrpSpPr>
          <p:grpSpPr>
            <a:xfrm>
              <a:off x="546628" y="1215132"/>
              <a:ext cx="94503" cy="125817"/>
              <a:chOff x="546628" y="1215132"/>
              <a:chExt cx="94503" cy="125817"/>
            </a:xfrm>
          </p:grpSpPr>
          <p:sp>
            <p:nvSpPr>
              <p:cNvPr id="38" name="weight2_0" descr="Editable text; source id weight2_0"/>
              <p:cNvSpPr txBox="1"/>
              <p:nvPr/>
            </p:nvSpPr>
            <p:spPr>
              <a:xfrm>
                <a:off x="546628" y="1215132"/>
                <a:ext cx="49990" cy="11110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3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39" name="weight2_1" descr="Editable text; source id weight2_1"/>
              <p:cNvSpPr txBox="1"/>
              <p:nvPr/>
            </p:nvSpPr>
            <p:spPr>
              <a:xfrm>
                <a:off x="592510" y="1266223"/>
                <a:ext cx="48621" cy="7472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56"/>
                  </a:lnSpc>
                  <a:spcBef>
                    <a:spcPts val="0"/>
                  </a:spcBef>
                  <a:spcAft>
                    <a:spcPts val="0"/>
                  </a:spcAft>
                  <a:def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83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40" name="weighted_path2" descr="Editable line; source id weighted_path2"/>
            <p:cNvSpPr/>
            <p:nvPr/>
          </p:nvSpPr>
          <p:spPr>
            <a:xfrm>
              <a:off x="659214" y="1113968"/>
              <a:ext cx="110253" cy="172338"/>
            </a:xfrm>
            <a:custGeom>
              <a:avLst/>
              <a:gdLst/>
              <a:ahLst/>
              <a:cxnLst/>
              <a:rect l="l" t="t" r="r" b="b"/>
              <a:pathLst>
                <a:path w="40250" h="62915">
                  <a:moveTo>
                    <a:pt x="0" y="61933"/>
                  </a:moveTo>
                  <a:lnTo>
                    <a:pt x="33586" y="8820"/>
                  </a:lnTo>
                  <a:lnTo>
                    <a:pt x="30871" y="7103"/>
                  </a:lnTo>
                  <a:lnTo>
                    <a:pt x="40250" y="0"/>
                  </a:lnTo>
                  <a:lnTo>
                    <a:pt x="37854" y="11519"/>
                  </a:lnTo>
                  <a:lnTo>
                    <a:pt x="35138" y="9801"/>
                  </a:lnTo>
                  <a:lnTo>
                    <a:pt x="1552" y="62915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7" name="sum_cost" descr="sum cost"/>
            <p:cNvGrpSpPr/>
            <p:nvPr/>
          </p:nvGrpSpPr>
          <p:grpSpPr>
            <a:xfrm>
              <a:off x="777011" y="1015898"/>
              <a:ext cx="148361" cy="148361"/>
              <a:chOff x="777011" y="1015898"/>
              <a:chExt cx="148361" cy="148361"/>
            </a:xfrm>
          </p:grpSpPr>
          <p:sp>
            <p:nvSpPr>
              <p:cNvPr id="41" name="sum_cost_panel" descr="Editable shape; source id sum_cost_panel"/>
              <p:cNvSpPr/>
              <p:nvPr/>
            </p:nvSpPr>
            <p:spPr>
              <a:xfrm>
                <a:off x="777011" y="1015898"/>
                <a:ext cx="148361" cy="148361"/>
              </a:xfrm>
              <a:prstGeom prst="roundRect">
                <a:avLst>
                  <a:gd name="adj" fmla="val 13559"/>
                </a:avLst>
              </a:prstGeom>
              <a:solidFill>
                <a:srgbClr val="FFFFFF"/>
              </a:solidFill>
              <a:ln w="4526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sum_symbol" descr="Editable text; source id sum_symbol"/>
              <p:cNvSpPr txBox="1"/>
              <p:nvPr/>
            </p:nvSpPr>
            <p:spPr>
              <a:xfrm>
                <a:off x="814924" y="1024033"/>
                <a:ext cx="78238" cy="12645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52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Σ</a:t>
                </a:r>
              </a:p>
            </p:txBody>
          </p:sp>
        </p:grpSp>
        <p:sp>
          <p:nvSpPr>
            <p:cNvPr id="43" name="sum_output" descr="Editable line; source id sum_output"/>
            <p:cNvSpPr/>
            <p:nvPr/>
          </p:nvSpPr>
          <p:spPr>
            <a:xfrm>
              <a:off x="841134" y="1174318"/>
              <a:ext cx="22631" cy="163449"/>
            </a:xfrm>
            <a:custGeom>
              <a:avLst/>
              <a:gdLst/>
              <a:ahLst/>
              <a:cxnLst/>
              <a:rect l="l" t="t" r="r" b="b"/>
              <a:pathLst>
                <a:path w="8262" h="59670">
                  <a:moveTo>
                    <a:pt x="5049" y="0"/>
                  </a:moveTo>
                  <a:lnTo>
                    <a:pt x="5049" y="48654"/>
                  </a:lnTo>
                  <a:lnTo>
                    <a:pt x="8262" y="48654"/>
                  </a:lnTo>
                  <a:lnTo>
                    <a:pt x="4131" y="59670"/>
                  </a:lnTo>
                  <a:lnTo>
                    <a:pt x="0" y="48654"/>
                  </a:lnTo>
                  <a:lnTo>
                    <a:pt x="3213" y="48654"/>
                  </a:lnTo>
                  <a:lnTo>
                    <a:pt x="3213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68" name="scalar_cost" descr="Editable formula parts and native mathematical delimiters."/>
            <p:cNvGrpSpPr/>
            <p:nvPr/>
          </p:nvGrpSpPr>
          <p:grpSpPr>
            <a:xfrm>
              <a:off x="764586" y="1359360"/>
              <a:ext cx="171414" cy="149153"/>
              <a:chOff x="764586" y="1359360"/>
              <a:chExt cx="171414" cy="149153"/>
            </a:xfrm>
          </p:grpSpPr>
          <p:sp>
            <p:nvSpPr>
              <p:cNvPr id="44" name="scalar_cost_0" descr="Editable text; source id scalar_cost_0"/>
              <p:cNvSpPr txBox="1"/>
              <p:nvPr/>
            </p:nvSpPr>
            <p:spPr>
              <a:xfrm>
                <a:off x="764586" y="1376987"/>
                <a:ext cx="520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45" name="scalar_cost_1" descr="Editable text; source id scalar_cost_1"/>
              <p:cNvSpPr txBox="1"/>
              <p:nvPr/>
            </p:nvSpPr>
            <p:spPr>
              <a:xfrm>
                <a:off x="812533" y="1359360"/>
                <a:ext cx="43827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T</a:t>
                </a:r>
              </a:p>
            </p:txBody>
          </p:sp>
          <p:sp>
            <p:nvSpPr>
              <p:cNvPr id="46" name="scalar_cost_2" descr="Editable text; source id scalar_cost_2"/>
              <p:cNvSpPr txBox="1"/>
              <p:nvPr/>
            </p:nvSpPr>
            <p:spPr>
              <a:xfrm>
                <a:off x="855193" y="1376987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47" name="scalar_cost_3" descr="Editable text; source id scalar_cost_3"/>
              <p:cNvSpPr txBox="1"/>
              <p:nvPr/>
            </p:nvSpPr>
            <p:spPr>
              <a:xfrm>
                <a:off x="903130" y="1429970"/>
                <a:ext cx="32870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536F8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</p:grpSp>
        <p:cxnSp>
          <p:nvCxnSpPr>
            <p:cNvPr id="48" name="setting_rule" descr="Editable line; source id setting_rule"/>
            <p:cNvCxnSpPr/>
            <p:nvPr/>
          </p:nvCxnSpPr>
          <p:spPr>
            <a:xfrm>
              <a:off x="118186" y="1536420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exact_label" descr="Editable text; source id exact_label"/>
            <p:cNvSpPr txBox="1"/>
            <p:nvPr/>
          </p:nvSpPr>
          <p:spPr>
            <a:xfrm>
              <a:off x="137853" y="1556433"/>
              <a:ext cx="892299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Exact settings · c = 0</a:t>
              </a:r>
            </a:p>
          </p:txBody>
        </p:sp>
        <p:sp>
          <p:nvSpPr>
            <p:cNvPr id="50" name="fixed_setting" descr="Editable text; source id fixed_setting"/>
            <p:cNvSpPr txBox="1"/>
            <p:nvPr/>
          </p:nvSpPr>
          <p:spPr>
            <a:xfrm>
              <a:off x="137853" y="1669130"/>
              <a:ext cx="886136" cy="114581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fixed β → fixed penalty</a:t>
              </a:r>
            </a:p>
          </p:txBody>
        </p:sp>
        <p:sp>
          <p:nvSpPr>
            <p:cNvPr id="51" name="adaptive_setting" descr="Editable text; source id adaptive_setting"/>
            <p:cNvSpPr txBox="1"/>
            <p:nvPr/>
          </p:nvSpPr>
          <p:spPr>
            <a:xfrm>
              <a:off x="117736" y="1787540"/>
              <a:ext cx="948057" cy="111614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adaptive β → Lagrangian</a:t>
              </a:r>
            </a:p>
          </p:txBody>
        </p:sp>
      </p:grpSp>
      <p:grpSp>
        <p:nvGrpSpPr>
          <p:cNvPr id="302" name="shared_construction" descr="shared construction"/>
          <p:cNvGrpSpPr/>
          <p:nvPr/>
        </p:nvGrpSpPr>
        <p:grpSpPr>
          <a:xfrm>
            <a:off x="1154201" y="75438"/>
            <a:ext cx="2720797" cy="1898523"/>
            <a:chOff x="1154201" y="75438"/>
            <a:chExt cx="2720797" cy="1898523"/>
          </a:xfrm>
        </p:grpSpPr>
        <p:sp>
          <p:nvSpPr>
            <p:cNvPr id="52" name="shared_construction_panel" descr="Editable shape; source id shared_construction_panel"/>
            <p:cNvSpPr/>
            <p:nvPr/>
          </p:nvSpPr>
          <p:spPr>
            <a:xfrm>
              <a:off x="1154201" y="75438"/>
              <a:ext cx="2720797" cy="1898523"/>
            </a:xfrm>
            <a:prstGeom prst="roundRect">
              <a:avLst>
                <a:gd name="adj" fmla="val 1059"/>
              </a:avLst>
            </a:prstGeom>
            <a:solidFill>
              <a:srgbClr val="FFFFFF"/>
            </a:solidFill>
            <a:ln w="4526">
              <a:solidFill>
                <a:srgbClr val="007F8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method_title" descr="Editable text; source id method_title"/>
            <p:cNvSpPr txBox="1"/>
            <p:nvPr/>
          </p:nvSpPr>
          <p:spPr>
            <a:xfrm>
              <a:off x="2180073" y="117654"/>
              <a:ext cx="677271" cy="144254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1001"/>
                </a:lnSpc>
                <a:spcBef>
                  <a:spcPts val="0"/>
                </a:spcBef>
                <a:spcAft>
                  <a:spcPts val="0"/>
                </a:spcAft>
                <a:defRPr sz="87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71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SafeOT-Dual</a:t>
              </a:r>
            </a:p>
          </p:txBody>
        </p:sp>
        <p:sp>
          <p:nvSpPr>
            <p:cNvPr id="54" name="method_subtitle" descr="Editable text; source id method_subtitle"/>
            <p:cNvSpPr txBox="1"/>
            <p:nvPr/>
          </p:nvSpPr>
          <p:spPr>
            <a:xfrm>
              <a:off x="1922110" y="258899"/>
              <a:ext cx="1193195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One shared price construction</a:t>
              </a:r>
            </a:p>
          </p:txBody>
        </p:sp>
        <p:cxnSp>
          <p:nvCxnSpPr>
            <p:cNvPr id="55" name="shared_header_rule" descr="Editable line; source id shared_header_rule"/>
            <p:cNvCxnSpPr/>
            <p:nvPr/>
          </p:nvCxnSpPr>
          <p:spPr>
            <a:xfrm>
              <a:off x="1212037" y="414909"/>
              <a:ext cx="2605125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constraints_heading" descr="Editable text; source id constraints_heading"/>
            <p:cNvSpPr txBox="1"/>
            <p:nvPr/>
          </p:nvSpPr>
          <p:spPr>
            <a:xfrm>
              <a:off x="1196360" y="440411"/>
              <a:ext cx="612899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Joint budgets</a:t>
              </a:r>
            </a:p>
          </p:txBody>
        </p:sp>
        <p:sp>
          <p:nvSpPr>
            <p:cNvPr id="57" name="graph_heading" descr="Editable text; source id graph_heading"/>
            <p:cNvSpPr txBox="1"/>
            <p:nvPr/>
          </p:nvSpPr>
          <p:spPr>
            <a:xfrm>
              <a:off x="1993574" y="440411"/>
              <a:ext cx="602670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Shared graph</a:t>
              </a:r>
            </a:p>
          </p:txBody>
        </p:sp>
        <p:sp>
          <p:nvSpPr>
            <p:cNvPr id="58" name="prices_heading" descr="Editable text; source id prices_heading"/>
            <p:cNvSpPr txBox="1"/>
            <p:nvPr/>
          </p:nvSpPr>
          <p:spPr>
            <a:xfrm>
              <a:off x="3107487" y="440411"/>
              <a:ext cx="532370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Safety price</a:t>
              </a:r>
            </a:p>
          </p:txBody>
        </p:sp>
        <p:grpSp>
          <p:nvGrpSpPr>
            <p:cNvPr id="270" name="costmap0" descr="costmap0"/>
            <p:cNvGrpSpPr/>
            <p:nvPr/>
          </p:nvGrpSpPr>
          <p:grpSpPr>
            <a:xfrm>
              <a:off x="1297533" y="689000"/>
              <a:ext cx="283646" cy="155402"/>
              <a:chOff x="1297533" y="689000"/>
              <a:chExt cx="283646" cy="155402"/>
            </a:xfrm>
          </p:grpSpPr>
          <p:sp>
            <p:nvSpPr>
              <p:cNvPr id="59" name="costmap0_0_0" descr="Editable shape; source id costmap0_0_0"/>
              <p:cNvSpPr/>
              <p:nvPr/>
            </p:nvSpPr>
            <p:spPr>
              <a:xfrm>
                <a:off x="1297533" y="68900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costmap0_0_1" descr="Editable shape; source id costmap0_0_1"/>
              <p:cNvSpPr/>
              <p:nvPr/>
            </p:nvSpPr>
            <p:spPr>
              <a:xfrm>
                <a:off x="1369199" y="689000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costmap0_0_2" descr="Editable shape; source id costmap0_0_2"/>
              <p:cNvSpPr/>
              <p:nvPr/>
            </p:nvSpPr>
            <p:spPr>
              <a:xfrm>
                <a:off x="1440865" y="68900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costmap0_0_3" descr="Editable shape; source id costmap0_0_3"/>
              <p:cNvSpPr/>
              <p:nvPr/>
            </p:nvSpPr>
            <p:spPr>
              <a:xfrm>
                <a:off x="1512531" y="68900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3" name="costmap0_1_0" descr="Editable shape; source id costmap0_1_0"/>
              <p:cNvSpPr/>
              <p:nvPr/>
            </p:nvSpPr>
            <p:spPr>
              <a:xfrm>
                <a:off x="1297533" y="74180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4" name="costmap0_1_1" descr="Editable shape; source id costmap0_1_1"/>
              <p:cNvSpPr/>
              <p:nvPr/>
            </p:nvSpPr>
            <p:spPr>
              <a:xfrm>
                <a:off x="1369199" y="74180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5" name="costmap0_1_2" descr="Editable shape; source id costmap0_1_2"/>
              <p:cNvSpPr/>
              <p:nvPr/>
            </p:nvSpPr>
            <p:spPr>
              <a:xfrm>
                <a:off x="1440865" y="741807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costmap0_1_3" descr="Editable shape; source id costmap0_1_3"/>
              <p:cNvSpPr/>
              <p:nvPr/>
            </p:nvSpPr>
            <p:spPr>
              <a:xfrm>
                <a:off x="1512531" y="74180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costmap0_2_0" descr="Editable shape; source id costmap0_2_0"/>
              <p:cNvSpPr/>
              <p:nvPr/>
            </p:nvSpPr>
            <p:spPr>
              <a:xfrm>
                <a:off x="1297533" y="794613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8" name="costmap0_2_1" descr="Editable shape; source id costmap0_2_1"/>
              <p:cNvSpPr/>
              <p:nvPr/>
            </p:nvSpPr>
            <p:spPr>
              <a:xfrm>
                <a:off x="1369199" y="79461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9" name="costmap0_2_2" descr="Editable shape; source id costmap0_2_2"/>
              <p:cNvSpPr/>
              <p:nvPr/>
            </p:nvSpPr>
            <p:spPr>
              <a:xfrm>
                <a:off x="1440865" y="79461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costmap0_2_3" descr="Editable shape; source id costmap0_2_3"/>
              <p:cNvSpPr/>
              <p:nvPr/>
            </p:nvSpPr>
            <p:spPr>
              <a:xfrm>
                <a:off x="1512531" y="79461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1" name="costmap_name0" descr="Editable formula parts and native mathematical delimiters."/>
            <p:cNvGrpSpPr/>
            <p:nvPr/>
          </p:nvGrpSpPr>
          <p:grpSpPr>
            <a:xfrm>
              <a:off x="1183775" y="711516"/>
              <a:ext cx="90532" cy="115542"/>
              <a:chOff x="1183775" y="711516"/>
              <a:chExt cx="90532" cy="115542"/>
            </a:xfrm>
          </p:grpSpPr>
          <p:sp>
            <p:nvSpPr>
              <p:cNvPr id="71" name="costmap_name0_0" descr="Editable text; source id costmap_name0_0"/>
              <p:cNvSpPr txBox="1"/>
              <p:nvPr/>
            </p:nvSpPr>
            <p:spPr>
              <a:xfrm>
                <a:off x="1183775" y="711516"/>
                <a:ext cx="62317" cy="10242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72" name="costmap_name0_1" descr="Editable text; source id costmap_name0_1"/>
              <p:cNvSpPr txBox="1"/>
              <p:nvPr/>
            </p:nvSpPr>
            <p:spPr>
              <a:xfrm>
                <a:off x="1241983" y="758058"/>
                <a:ext cx="32324" cy="690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72" name="budget_name0" descr="Editable formula parts and native mathematical delimiters."/>
            <p:cNvGrpSpPr/>
            <p:nvPr/>
          </p:nvGrpSpPr>
          <p:grpSpPr>
            <a:xfrm>
              <a:off x="1653111" y="709462"/>
              <a:ext cx="77157" cy="118739"/>
              <a:chOff x="1653111" y="709462"/>
              <a:chExt cx="77157" cy="118739"/>
            </a:xfrm>
          </p:grpSpPr>
          <p:sp>
            <p:nvSpPr>
              <p:cNvPr id="73" name="budget_name0_0" descr="Editable text; source id budget_name0_0"/>
              <p:cNvSpPr txBox="1"/>
              <p:nvPr/>
            </p:nvSpPr>
            <p:spPr>
              <a:xfrm>
                <a:off x="1653111" y="709462"/>
                <a:ext cx="48118" cy="1053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74" name="budget_name0_1" descr="Editable text; source id budget_name0_1"/>
              <p:cNvSpPr txBox="1"/>
              <p:nvPr/>
            </p:nvSpPr>
            <p:spPr>
              <a:xfrm>
                <a:off x="1697120" y="757292"/>
                <a:ext cx="33148" cy="7090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1</a:t>
                </a:r>
              </a:p>
            </p:txBody>
          </p:sp>
        </p:grpSp>
        <p:grpSp>
          <p:nvGrpSpPr>
            <p:cNvPr id="273" name="costmap1" descr="costmap1"/>
            <p:cNvGrpSpPr/>
            <p:nvPr/>
          </p:nvGrpSpPr>
          <p:grpSpPr>
            <a:xfrm>
              <a:off x="1297533" y="940460"/>
              <a:ext cx="283646" cy="155402"/>
              <a:chOff x="1297533" y="940460"/>
              <a:chExt cx="283646" cy="155402"/>
            </a:xfrm>
          </p:grpSpPr>
          <p:sp>
            <p:nvSpPr>
              <p:cNvPr id="75" name="costmap1_0_0" descr="Editable shape; source id costmap1_0_0"/>
              <p:cNvSpPr/>
              <p:nvPr/>
            </p:nvSpPr>
            <p:spPr>
              <a:xfrm>
                <a:off x="1297533" y="94046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costmap1_0_1" descr="Editable shape; source id costmap1_0_1"/>
              <p:cNvSpPr/>
              <p:nvPr/>
            </p:nvSpPr>
            <p:spPr>
              <a:xfrm>
                <a:off x="1369199" y="940460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costmap1_0_2" descr="Editable shape; source id costmap1_0_2"/>
              <p:cNvSpPr/>
              <p:nvPr/>
            </p:nvSpPr>
            <p:spPr>
              <a:xfrm>
                <a:off x="1440865" y="94046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costmap1_0_3" descr="Editable shape; source id costmap1_0_3"/>
              <p:cNvSpPr/>
              <p:nvPr/>
            </p:nvSpPr>
            <p:spPr>
              <a:xfrm>
                <a:off x="1512531" y="94046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costmap1_1_0" descr="Editable shape; source id costmap1_1_0"/>
              <p:cNvSpPr/>
              <p:nvPr/>
            </p:nvSpPr>
            <p:spPr>
              <a:xfrm>
                <a:off x="1297533" y="99326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costmap1_1_1" descr="Editable shape; source id costmap1_1_1"/>
              <p:cNvSpPr/>
              <p:nvPr/>
            </p:nvSpPr>
            <p:spPr>
              <a:xfrm>
                <a:off x="1369199" y="99326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1" name="costmap1_1_2" descr="Editable shape; source id costmap1_1_2"/>
              <p:cNvSpPr/>
              <p:nvPr/>
            </p:nvSpPr>
            <p:spPr>
              <a:xfrm>
                <a:off x="1440865" y="993267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costmap1_1_3" descr="Editable shape; source id costmap1_1_3"/>
              <p:cNvSpPr/>
              <p:nvPr/>
            </p:nvSpPr>
            <p:spPr>
              <a:xfrm>
                <a:off x="1512531" y="99326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3" name="costmap1_2_0" descr="Editable shape; source id costmap1_2_0"/>
              <p:cNvSpPr/>
              <p:nvPr/>
            </p:nvSpPr>
            <p:spPr>
              <a:xfrm>
                <a:off x="1297533" y="1046073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4" name="costmap1_2_1" descr="Editable shape; source id costmap1_2_1"/>
              <p:cNvSpPr/>
              <p:nvPr/>
            </p:nvSpPr>
            <p:spPr>
              <a:xfrm>
                <a:off x="1369199" y="104607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costmap1_2_2" descr="Editable shape; source id costmap1_2_2"/>
              <p:cNvSpPr/>
              <p:nvPr/>
            </p:nvSpPr>
            <p:spPr>
              <a:xfrm>
                <a:off x="1440865" y="104607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6" name="costmap1_2_3" descr="Editable shape; source id costmap1_2_3"/>
              <p:cNvSpPr/>
              <p:nvPr/>
            </p:nvSpPr>
            <p:spPr>
              <a:xfrm>
                <a:off x="1512531" y="104607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4" name="costmap_name1" descr="Editable formula parts and native mathematical delimiters."/>
            <p:cNvGrpSpPr/>
            <p:nvPr/>
          </p:nvGrpSpPr>
          <p:grpSpPr>
            <a:xfrm>
              <a:off x="1183775" y="962976"/>
              <a:ext cx="90532" cy="115542"/>
              <a:chOff x="1183775" y="962976"/>
              <a:chExt cx="90532" cy="115542"/>
            </a:xfrm>
          </p:grpSpPr>
          <p:sp>
            <p:nvSpPr>
              <p:cNvPr id="87" name="costmap_name1_0" descr="Editable text; source id costmap_name1_0"/>
              <p:cNvSpPr txBox="1"/>
              <p:nvPr/>
            </p:nvSpPr>
            <p:spPr>
              <a:xfrm>
                <a:off x="1183775" y="962976"/>
                <a:ext cx="62317" cy="10242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88" name="costmap_name1_1" descr="Editable text; source id costmap_name1_1"/>
              <p:cNvSpPr txBox="1"/>
              <p:nvPr/>
            </p:nvSpPr>
            <p:spPr>
              <a:xfrm>
                <a:off x="1241983" y="1009518"/>
                <a:ext cx="32324" cy="690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75" name="budget_name1" descr="Editable formula parts and native mathematical delimiters."/>
            <p:cNvGrpSpPr/>
            <p:nvPr/>
          </p:nvGrpSpPr>
          <p:grpSpPr>
            <a:xfrm>
              <a:off x="1653111" y="960922"/>
              <a:ext cx="77157" cy="118739"/>
              <a:chOff x="1653111" y="960922"/>
              <a:chExt cx="77157" cy="118739"/>
            </a:xfrm>
          </p:grpSpPr>
          <p:sp>
            <p:nvSpPr>
              <p:cNvPr id="89" name="budget_name1_0" descr="Editable text; source id budget_name1_0"/>
              <p:cNvSpPr txBox="1"/>
              <p:nvPr/>
            </p:nvSpPr>
            <p:spPr>
              <a:xfrm>
                <a:off x="1653111" y="960922"/>
                <a:ext cx="48118" cy="1053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90" name="budget_name1_1" descr="Editable text; source id budget_name1_1"/>
              <p:cNvSpPr txBox="1"/>
              <p:nvPr/>
            </p:nvSpPr>
            <p:spPr>
              <a:xfrm>
                <a:off x="1697120" y="1008752"/>
                <a:ext cx="33148" cy="7090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2</a:t>
                </a:r>
              </a:p>
            </p:txBody>
          </p:sp>
        </p:grpSp>
        <p:grpSp>
          <p:nvGrpSpPr>
            <p:cNvPr id="276" name="costmap2" descr="costmap2"/>
            <p:cNvGrpSpPr/>
            <p:nvPr/>
          </p:nvGrpSpPr>
          <p:grpSpPr>
            <a:xfrm>
              <a:off x="1297533" y="1191920"/>
              <a:ext cx="283646" cy="155402"/>
              <a:chOff x="1297533" y="1191920"/>
              <a:chExt cx="283646" cy="155402"/>
            </a:xfrm>
          </p:grpSpPr>
          <p:sp>
            <p:nvSpPr>
              <p:cNvPr id="91" name="costmap2_0_0" descr="Editable shape; source id costmap2_0_0"/>
              <p:cNvSpPr/>
              <p:nvPr/>
            </p:nvSpPr>
            <p:spPr>
              <a:xfrm>
                <a:off x="1297533" y="119192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2" name="costmap2_0_1" descr="Editable shape; source id costmap2_0_1"/>
              <p:cNvSpPr/>
              <p:nvPr/>
            </p:nvSpPr>
            <p:spPr>
              <a:xfrm>
                <a:off x="1369199" y="1191920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costmap2_0_2" descr="Editable shape; source id costmap2_0_2"/>
              <p:cNvSpPr/>
              <p:nvPr/>
            </p:nvSpPr>
            <p:spPr>
              <a:xfrm>
                <a:off x="1440865" y="119192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4" name="costmap2_0_3" descr="Editable shape; source id costmap2_0_3"/>
              <p:cNvSpPr/>
              <p:nvPr/>
            </p:nvSpPr>
            <p:spPr>
              <a:xfrm>
                <a:off x="1512531" y="1191920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costmap2_1_0" descr="Editable shape; source id costmap2_1_0"/>
              <p:cNvSpPr/>
              <p:nvPr/>
            </p:nvSpPr>
            <p:spPr>
              <a:xfrm>
                <a:off x="1297533" y="124472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costmap2_1_1" descr="Editable shape; source id costmap2_1_1"/>
              <p:cNvSpPr/>
              <p:nvPr/>
            </p:nvSpPr>
            <p:spPr>
              <a:xfrm>
                <a:off x="1369199" y="124472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7" name="costmap2_1_2" descr="Editable shape; source id costmap2_1_2"/>
              <p:cNvSpPr/>
              <p:nvPr/>
            </p:nvSpPr>
            <p:spPr>
              <a:xfrm>
                <a:off x="1440865" y="1244727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costmap2_1_3" descr="Editable shape; source id costmap2_1_3"/>
              <p:cNvSpPr/>
              <p:nvPr/>
            </p:nvSpPr>
            <p:spPr>
              <a:xfrm>
                <a:off x="1512531" y="1244727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9" name="costmap2_2_0" descr="Editable shape; source id costmap2_2_0"/>
              <p:cNvSpPr/>
              <p:nvPr/>
            </p:nvSpPr>
            <p:spPr>
              <a:xfrm>
                <a:off x="1297533" y="1297533"/>
                <a:ext cx="68648" cy="49789"/>
              </a:xfrm>
              <a:prstGeom prst="rect">
                <a:avLst/>
              </a:pr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0" name="costmap2_2_1" descr="Editable shape; source id costmap2_2_1"/>
              <p:cNvSpPr/>
              <p:nvPr/>
            </p:nvSpPr>
            <p:spPr>
              <a:xfrm>
                <a:off x="1369199" y="129753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costmap2_2_2" descr="Editable shape; source id costmap2_2_2"/>
              <p:cNvSpPr/>
              <p:nvPr/>
            </p:nvSpPr>
            <p:spPr>
              <a:xfrm>
                <a:off x="1440865" y="129753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2" name="costmap2_2_3" descr="Editable shape; source id costmap2_2_3"/>
              <p:cNvSpPr/>
              <p:nvPr/>
            </p:nvSpPr>
            <p:spPr>
              <a:xfrm>
                <a:off x="1512531" y="1297533"/>
                <a:ext cx="68648" cy="4978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77" name="costmap_name2" descr="Editable formula parts and native mathematical delimiters."/>
            <p:cNvGrpSpPr/>
            <p:nvPr/>
          </p:nvGrpSpPr>
          <p:grpSpPr>
            <a:xfrm>
              <a:off x="1177339" y="1214436"/>
              <a:ext cx="103405" cy="115542"/>
              <a:chOff x="1177339" y="1214436"/>
              <a:chExt cx="103405" cy="115542"/>
            </a:xfrm>
          </p:grpSpPr>
          <p:sp>
            <p:nvSpPr>
              <p:cNvPr id="103" name="costmap_name2_0" descr="Editable text; source id costmap_name2_0"/>
              <p:cNvSpPr txBox="1"/>
              <p:nvPr/>
            </p:nvSpPr>
            <p:spPr>
              <a:xfrm>
                <a:off x="1177339" y="1214436"/>
                <a:ext cx="62317" cy="10242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7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04" name="costmap_name2_1" descr="Editable text; source id costmap_name2_1"/>
              <p:cNvSpPr txBox="1"/>
              <p:nvPr/>
            </p:nvSpPr>
            <p:spPr>
              <a:xfrm>
                <a:off x="1235547" y="1260978"/>
                <a:ext cx="45197" cy="6900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10"/>
                  </a:lnSpc>
                  <a:spcBef>
                    <a:spcPts val="0"/>
                  </a:spcBef>
                  <a:spcAft>
                    <a:spcPts val="0"/>
                  </a:spcAft>
                  <a:def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44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grpSp>
          <p:nvGrpSpPr>
            <p:cNvPr id="278" name="budget_name2" descr="Editable formula parts and native mathematical delimiters."/>
            <p:cNvGrpSpPr/>
            <p:nvPr/>
          </p:nvGrpSpPr>
          <p:grpSpPr>
            <a:xfrm>
              <a:off x="1646659" y="1212382"/>
              <a:ext cx="90062" cy="118739"/>
              <a:chOff x="1646659" y="1212382"/>
              <a:chExt cx="90062" cy="118739"/>
            </a:xfrm>
          </p:grpSpPr>
          <p:sp>
            <p:nvSpPr>
              <p:cNvPr id="105" name="budget_name2_0" descr="Editable text; source id budget_name2_0"/>
              <p:cNvSpPr txBox="1"/>
              <p:nvPr/>
            </p:nvSpPr>
            <p:spPr>
              <a:xfrm>
                <a:off x="1646659" y="1212382"/>
                <a:ext cx="48118" cy="10532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796"/>
                  </a:lnSpc>
                  <a:spcBef>
                    <a:spcPts val="0"/>
                  </a:spcBef>
                  <a:spcAft>
                    <a:spcPts val="0"/>
                  </a:spcAft>
                  <a:def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693" b="0" i="1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06" name="budget_name2_1" descr="Editable text; source id budget_name2_1"/>
              <p:cNvSpPr txBox="1"/>
              <p:nvPr/>
            </p:nvSpPr>
            <p:spPr>
              <a:xfrm>
                <a:off x="1690668" y="1260212"/>
                <a:ext cx="46053" cy="7090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25"/>
                  </a:lnSpc>
                  <a:spcBef>
                    <a:spcPts val="0"/>
                  </a:spcBef>
                  <a:spcAft>
                    <a:spcPts val="0"/>
                  </a:spcAft>
                  <a:def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57" b="0" i="0" lang="zh-CN" dirty="0">
                    <a:solidFill>
                      <a:srgbClr val="B78129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sp>
          <p:nvSpPr>
            <p:cNvPr id="107" name="hard_label" descr="Editable text; source id hard_label"/>
            <p:cNvSpPr txBox="1"/>
            <p:nvPr/>
          </p:nvSpPr>
          <p:spPr>
            <a:xfrm>
              <a:off x="1203208" y="1425213"/>
              <a:ext cx="599203" cy="114581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Hard support H</a:t>
              </a:r>
            </a:p>
          </p:txBody>
        </p:sp>
        <p:grpSp>
          <p:nvGrpSpPr>
            <p:cNvPr id="279" name="hard_support" descr="hard support"/>
            <p:cNvGrpSpPr/>
            <p:nvPr/>
          </p:nvGrpSpPr>
          <p:grpSpPr>
            <a:xfrm>
              <a:off x="1292504" y="1571625"/>
              <a:ext cx="412394" cy="60350"/>
              <a:chOff x="1292504" y="1571625"/>
              <a:chExt cx="412394" cy="60350"/>
            </a:xfrm>
          </p:grpSpPr>
          <p:sp>
            <p:nvSpPr>
              <p:cNvPr id="108" name="hard_support_a" descr="Editable shape; source id hard_support_a"/>
              <p:cNvSpPr/>
              <p:nvPr/>
            </p:nvSpPr>
            <p:spPr>
              <a:xfrm>
                <a:off x="1292504" y="1571625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526">
                <a:solidFill>
                  <a:srgbClr val="77858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9" name="hard_support_b" descr="Editable shape; source id hard_support_b"/>
              <p:cNvSpPr/>
              <p:nvPr/>
            </p:nvSpPr>
            <p:spPr>
              <a:xfrm>
                <a:off x="1644548" y="1571625"/>
                <a:ext cx="60350" cy="60350"/>
              </a:xfrm>
              <a:prstGeom prst="ellipse">
                <a:avLst/>
              </a:prstGeom>
              <a:solidFill>
                <a:srgbClr val="FFFFFF"/>
              </a:solidFill>
              <a:ln w="4526">
                <a:solidFill>
                  <a:srgbClr val="77858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10" name="hard_support_l" descr="Editable line; source id hard_support_l"/>
              <p:cNvCxnSpPr/>
              <p:nvPr/>
            </p:nvCxnSpPr>
            <p:spPr>
              <a:xfrm>
                <a:off x="1365427" y="1601800"/>
                <a:ext cx="80468" cy="0"/>
              </a:xfrm>
              <a:prstGeom prst="line">
                <a:avLst/>
              </a:prstGeom>
              <a:ln w="5029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hard_support_r" descr="Editable line; source id hard_support_r"/>
              <p:cNvCxnSpPr/>
              <p:nvPr/>
            </p:nvCxnSpPr>
            <p:spPr>
              <a:xfrm>
                <a:off x="1551508" y="1601800"/>
                <a:ext cx="80467" cy="0"/>
              </a:xfrm>
              <a:prstGeom prst="line">
                <a:avLst/>
              </a:prstGeom>
              <a:ln w="5029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hard_support_x1" descr="Editable line; source id hard_support_x1"/>
              <p:cNvCxnSpPr/>
              <p:nvPr/>
            </p:nvCxnSpPr>
            <p:spPr>
              <a:xfrm>
                <a:off x="1473555" y="1576654"/>
                <a:ext cx="50292" cy="50292"/>
              </a:xfrm>
              <a:prstGeom prst="line">
                <a:avLst/>
              </a:prstGeom>
              <a:ln w="6537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hard_support_x2" descr="Editable line; source id hard_support_x2"/>
              <p:cNvCxnSpPr/>
              <p:nvPr/>
            </p:nvCxnSpPr>
            <p:spPr>
              <a:xfrm flipV="1">
                <a:off x="1473555" y="1576654"/>
                <a:ext cx="50292" cy="50292"/>
              </a:xfrm>
              <a:prstGeom prst="line">
                <a:avLst/>
              </a:prstGeom>
              <a:ln w="6537" cap="rnd">
                <a:solidFill>
                  <a:srgbClr val="77858D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0" name="hard_flow" descr="Editable formula parts and native mathematical delimiters."/>
            <p:cNvGrpSpPr/>
            <p:nvPr/>
          </p:nvGrpSpPr>
          <p:grpSpPr>
            <a:xfrm>
              <a:off x="1365984" y="1670735"/>
              <a:ext cx="263252" cy="128329"/>
              <a:chOff x="1365984" y="1670735"/>
              <a:chExt cx="263252" cy="128329"/>
            </a:xfrm>
          </p:grpSpPr>
          <p:sp>
            <p:nvSpPr>
              <p:cNvPr id="114" name="hard_flow_0" descr="Editable text; source id hard_flow_0"/>
              <p:cNvSpPr txBox="1"/>
              <p:nvPr/>
            </p:nvSpPr>
            <p:spPr>
              <a:xfrm>
                <a:off x="1365984" y="1670735"/>
                <a:ext cx="65056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2054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115" name="hard_flow_1" descr="Editable text; source id hard_flow_1"/>
              <p:cNvSpPr txBox="1"/>
              <p:nvPr/>
            </p:nvSpPr>
            <p:spPr>
              <a:xfrm>
                <a:off x="1426931" y="1722430"/>
                <a:ext cx="49990" cy="7663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H</a:t>
                </a:r>
              </a:p>
            </p:txBody>
          </p:sp>
          <p:sp>
            <p:nvSpPr>
              <p:cNvPr id="116" name="hard_flow_2" descr="Editable text; source id hard_flow_2"/>
              <p:cNvSpPr txBox="1"/>
              <p:nvPr/>
            </p:nvSpPr>
            <p:spPr>
              <a:xfrm>
                <a:off x="1475680" y="1670735"/>
                <a:ext cx="153556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= 0</a:t>
                </a:r>
              </a:p>
            </p:txBody>
          </p:sp>
        </p:grpSp>
        <p:grpSp>
          <p:nvGrpSpPr>
            <p:cNvPr id="281" name="shared_graph" descr="shared graph"/>
            <p:cNvGrpSpPr/>
            <p:nvPr/>
          </p:nvGrpSpPr>
          <p:grpSpPr>
            <a:xfrm>
              <a:off x="1911096" y="694029"/>
              <a:ext cx="799642" cy="470230"/>
              <a:chOff x="1911096" y="694029"/>
              <a:chExt cx="799642" cy="470230"/>
            </a:xfrm>
          </p:grpSpPr>
          <p:sp>
            <p:nvSpPr>
              <p:cNvPr id="117" name="shared_graph_edge0" descr="Editable line; source id shared_graph_edge0"/>
              <p:cNvSpPr/>
              <p:nvPr/>
            </p:nvSpPr>
            <p:spPr>
              <a:xfrm>
                <a:off x="1985877" y="772963"/>
                <a:ext cx="118718" cy="122791"/>
              </a:xfrm>
              <a:custGeom>
                <a:avLst/>
                <a:gdLst/>
                <a:ahLst/>
                <a:cxnLst/>
                <a:rect l="l" t="t" r="r" b="b"/>
                <a:pathLst>
                  <a:path w="43340" h="44827">
                    <a:moveTo>
                      <a:pt x="0" y="42787"/>
                    </a:moveTo>
                    <a:lnTo>
                      <a:pt x="34633" y="6906"/>
                    </a:lnTo>
                    <a:lnTo>
                      <a:pt x="32718" y="5057"/>
                    </a:lnTo>
                    <a:lnTo>
                      <a:pt x="43340" y="0"/>
                    </a:lnTo>
                    <a:lnTo>
                      <a:pt x="38662" y="10795"/>
                    </a:lnTo>
                    <a:lnTo>
                      <a:pt x="36747" y="8946"/>
                    </a:lnTo>
                    <a:lnTo>
                      <a:pt x="2114" y="4482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8" name="shared_graph_edge1" descr="Editable line; source id shared_graph_edge1"/>
              <p:cNvSpPr/>
              <p:nvPr/>
            </p:nvSpPr>
            <p:spPr>
              <a:xfrm>
                <a:off x="2189814" y="725462"/>
                <a:ext cx="22792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208" h="8262">
                    <a:moveTo>
                      <a:pt x="0" y="2662"/>
                    </a:moveTo>
                    <a:lnTo>
                      <a:pt x="72192" y="2662"/>
                    </a:lnTo>
                    <a:lnTo>
                      <a:pt x="72192" y="0"/>
                    </a:lnTo>
                    <a:lnTo>
                      <a:pt x="83208" y="4131"/>
                    </a:lnTo>
                    <a:lnTo>
                      <a:pt x="72192" y="8262"/>
                    </a:lnTo>
                    <a:lnTo>
                      <a:pt x="72192" y="5600"/>
                    </a:lnTo>
                    <a:lnTo>
                      <a:pt x="0" y="560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9" name="shared_graph_edge2" descr="Editable line; source id shared_graph_edge2"/>
              <p:cNvSpPr/>
              <p:nvPr/>
            </p:nvSpPr>
            <p:spPr>
              <a:xfrm>
                <a:off x="2501485" y="768744"/>
                <a:ext cx="130263" cy="125533"/>
              </a:xfrm>
              <a:custGeom>
                <a:avLst/>
                <a:gdLst/>
                <a:ahLst/>
                <a:cxnLst/>
                <a:rect l="l" t="t" r="r" b="b"/>
                <a:pathLst>
                  <a:path w="47555" h="45828">
                    <a:moveTo>
                      <a:pt x="2036" y="0"/>
                    </a:moveTo>
                    <a:lnTo>
                      <a:pt x="40634" y="37132"/>
                    </a:lnTo>
                    <a:lnTo>
                      <a:pt x="42480" y="35214"/>
                    </a:lnTo>
                    <a:lnTo>
                      <a:pt x="47555" y="45828"/>
                    </a:lnTo>
                    <a:lnTo>
                      <a:pt x="36752" y="41168"/>
                    </a:lnTo>
                    <a:lnTo>
                      <a:pt x="38598" y="39249"/>
                    </a:lnTo>
                    <a:lnTo>
                      <a:pt x="0" y="211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0" name="shared_graph_edge3" descr="Editable line; source id shared_graph_edge3"/>
              <p:cNvSpPr/>
              <p:nvPr/>
            </p:nvSpPr>
            <p:spPr>
              <a:xfrm>
                <a:off x="1986690" y="963322"/>
                <a:ext cx="117904" cy="122005"/>
              </a:xfrm>
              <a:custGeom>
                <a:avLst/>
                <a:gdLst/>
                <a:ahLst/>
                <a:cxnLst/>
                <a:rect l="l" t="t" r="r" b="b"/>
                <a:pathLst>
                  <a:path w="43043" h="44540">
                    <a:moveTo>
                      <a:pt x="1519" y="0"/>
                    </a:moveTo>
                    <a:lnTo>
                      <a:pt x="36152" y="35881"/>
                    </a:lnTo>
                    <a:lnTo>
                      <a:pt x="38365" y="33745"/>
                    </a:lnTo>
                    <a:lnTo>
                      <a:pt x="43043" y="44540"/>
                    </a:lnTo>
                    <a:lnTo>
                      <a:pt x="32421" y="39483"/>
                    </a:lnTo>
                    <a:lnTo>
                      <a:pt x="34633" y="37347"/>
                    </a:lnTo>
                    <a:lnTo>
                      <a:pt x="0" y="1466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1" name="shared_graph_edge4" descr="Editable line; source id shared_graph_edge4"/>
              <p:cNvSpPr/>
              <p:nvPr/>
            </p:nvSpPr>
            <p:spPr>
              <a:xfrm>
                <a:off x="2189814" y="1110196"/>
                <a:ext cx="227925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83208" h="8262">
                    <a:moveTo>
                      <a:pt x="0" y="3075"/>
                    </a:moveTo>
                    <a:lnTo>
                      <a:pt x="72192" y="3075"/>
                    </a:lnTo>
                    <a:lnTo>
                      <a:pt x="72192" y="0"/>
                    </a:lnTo>
                    <a:lnTo>
                      <a:pt x="83208" y="4131"/>
                    </a:lnTo>
                    <a:lnTo>
                      <a:pt x="72192" y="8262"/>
                    </a:lnTo>
                    <a:lnTo>
                      <a:pt x="72192" y="5187"/>
                    </a:lnTo>
                    <a:lnTo>
                      <a:pt x="0" y="5187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2" name="shared_graph_edge5" descr="Editable line; source id shared_graph_edge5"/>
              <p:cNvSpPr/>
              <p:nvPr/>
            </p:nvSpPr>
            <p:spPr>
              <a:xfrm>
                <a:off x="2502268" y="964012"/>
                <a:ext cx="129480" cy="124716"/>
              </a:xfrm>
              <a:custGeom>
                <a:avLst/>
                <a:gdLst/>
                <a:ahLst/>
                <a:cxnLst/>
                <a:rect l="l" t="t" r="r" b="b"/>
                <a:pathLst>
                  <a:path w="47269" h="45530">
                    <a:moveTo>
                      <a:pt x="0" y="44008"/>
                    </a:moveTo>
                    <a:lnTo>
                      <a:pt x="38598" y="6876"/>
                    </a:lnTo>
                    <a:lnTo>
                      <a:pt x="36466" y="4660"/>
                    </a:lnTo>
                    <a:lnTo>
                      <a:pt x="47269" y="0"/>
                    </a:lnTo>
                    <a:lnTo>
                      <a:pt x="42194" y="10614"/>
                    </a:lnTo>
                    <a:lnTo>
                      <a:pt x="40062" y="8398"/>
                    </a:lnTo>
                    <a:lnTo>
                      <a:pt x="1464" y="4553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3" name="shared_graph_edge6" descr="Editable line; source id shared_graph_edge6"/>
              <p:cNvSpPr/>
              <p:nvPr/>
            </p:nvSpPr>
            <p:spPr>
              <a:xfrm>
                <a:off x="2128206" y="787070"/>
                <a:ext cx="22631" cy="284150"/>
              </a:xfrm>
              <a:custGeom>
                <a:avLst/>
                <a:gdLst/>
                <a:ahLst/>
                <a:cxnLst/>
                <a:rect l="l" t="t" r="r" b="b"/>
                <a:pathLst>
                  <a:path w="8262" h="103734">
                    <a:moveTo>
                      <a:pt x="5187" y="0"/>
                    </a:moveTo>
                    <a:lnTo>
                      <a:pt x="5187" y="92718"/>
                    </a:lnTo>
                    <a:lnTo>
                      <a:pt x="8262" y="92718"/>
                    </a:lnTo>
                    <a:lnTo>
                      <a:pt x="4131" y="103734"/>
                    </a:lnTo>
                    <a:lnTo>
                      <a:pt x="0" y="92718"/>
                    </a:lnTo>
                    <a:lnTo>
                      <a:pt x="3075" y="92718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shared_graph_edge7" descr="Editable line; source id shared_graph_edge7"/>
              <p:cNvSpPr/>
              <p:nvPr/>
            </p:nvSpPr>
            <p:spPr>
              <a:xfrm>
                <a:off x="2456715" y="787070"/>
                <a:ext cx="22631" cy="284150"/>
              </a:xfrm>
              <a:custGeom>
                <a:avLst/>
                <a:gdLst/>
                <a:ahLst/>
                <a:cxnLst/>
                <a:rect l="l" t="t" r="r" b="b"/>
                <a:pathLst>
                  <a:path w="8262" h="103734">
                    <a:moveTo>
                      <a:pt x="5186" y="0"/>
                    </a:moveTo>
                    <a:lnTo>
                      <a:pt x="5186" y="92718"/>
                    </a:lnTo>
                    <a:lnTo>
                      <a:pt x="8262" y="92718"/>
                    </a:lnTo>
                    <a:lnTo>
                      <a:pt x="4131" y="103734"/>
                    </a:lnTo>
                    <a:lnTo>
                      <a:pt x="0" y="92718"/>
                    </a:lnTo>
                    <a:lnTo>
                      <a:pt x="3075" y="92718"/>
                    </a:lnTo>
                    <a:lnTo>
                      <a:pt x="3075" y="0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5" name="shared_graph_node1" descr="Editable shape; source id shared_graph_node1"/>
              <p:cNvSpPr/>
              <p:nvPr/>
            </p:nvSpPr>
            <p:spPr>
              <a:xfrm>
                <a:off x="1911096" y="886396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6" name="shared_graph_node2" descr="Editable shape; source id shared_graph_node2"/>
              <p:cNvSpPr/>
              <p:nvPr/>
            </p:nvSpPr>
            <p:spPr>
              <a:xfrm>
                <a:off x="2096774" y="694029"/>
                <a:ext cx="85496" cy="85496"/>
              </a:xfrm>
              <a:prstGeom prst="ellipse">
                <a:avLst/>
              </a:prstGeom>
              <a:solidFill>
                <a:srgbClr val="ECF5F4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7" name="shared_graph_node3" descr="Editable shape; source id shared_graph_node3"/>
              <p:cNvSpPr/>
              <p:nvPr/>
            </p:nvSpPr>
            <p:spPr>
              <a:xfrm>
                <a:off x="2425281" y="694029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8" name="shared_graph_node4" descr="Editable shape; source id shared_graph_node4"/>
              <p:cNvSpPr/>
              <p:nvPr/>
            </p:nvSpPr>
            <p:spPr>
              <a:xfrm>
                <a:off x="2625242" y="886396"/>
                <a:ext cx="85496" cy="85496"/>
              </a:xfrm>
              <a:prstGeom prst="ellipse">
                <a:avLst/>
              </a:prstGeom>
              <a:solidFill>
                <a:srgbClr val="007F85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shared_graph_node5" descr="Editable shape; source id shared_graph_node5"/>
              <p:cNvSpPr/>
              <p:nvPr/>
            </p:nvSpPr>
            <p:spPr>
              <a:xfrm>
                <a:off x="2096774" y="1078763"/>
                <a:ext cx="85496" cy="85496"/>
              </a:xfrm>
              <a:prstGeom prst="ellipse">
                <a:avLst/>
              </a:prstGeom>
              <a:solidFill>
                <a:srgbClr val="ECF5F4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0" name="shared_graph_node6" descr="Editable shape; source id shared_graph_node6"/>
              <p:cNvSpPr/>
              <p:nvPr/>
            </p:nvSpPr>
            <p:spPr>
              <a:xfrm>
                <a:off x="2425281" y="1078763"/>
                <a:ext cx="85496" cy="85496"/>
              </a:xfrm>
              <a:prstGeom prst="ellipse">
                <a:avLst/>
              </a:prstGeom>
              <a:solidFill>
                <a:srgbClr val="FFFFFF"/>
              </a:solidFill>
              <a:ln w="5029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284" name="objective_1" descr="Editable formula parts and native mathematical delimiters."/>
            <p:cNvGrpSpPr/>
            <p:nvPr/>
          </p:nvGrpSpPr>
          <p:grpSpPr>
            <a:xfrm>
              <a:off x="2046715" y="1226571"/>
              <a:ext cx="518987" cy="134724"/>
              <a:chOff x="2046715" y="1226571"/>
              <a:chExt cx="518987" cy="134724"/>
            </a:xfrm>
          </p:grpSpPr>
          <p:sp>
            <p:nvSpPr>
              <p:cNvPr id="131" name="objective_1_0" descr="Editable text; source id objective_1_0"/>
              <p:cNvSpPr txBox="1"/>
              <p:nvPr/>
            </p:nvSpPr>
            <p:spPr>
              <a:xfrm>
                <a:off x="2046715" y="1226571"/>
                <a:ext cx="160928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min</a:t>
                </a:r>
              </a:p>
            </p:txBody>
          </p:sp>
          <p:sp>
            <p:nvSpPr>
              <p:cNvPr id="132" name="objective_1_1" descr="Editable text; source id objective_1_1"/>
              <p:cNvSpPr txBox="1"/>
              <p:nvPr/>
            </p:nvSpPr>
            <p:spPr>
              <a:xfrm>
                <a:off x="2203535" y="1280843"/>
                <a:ext cx="41088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F</a:t>
                </a:r>
              </a:p>
            </p:txBody>
          </p:sp>
          <p:sp>
            <p:nvSpPr>
              <p:cNvPr id="133" name="objective_1_2" descr="Editable text; source id objective_1_2"/>
              <p:cNvSpPr txBox="1"/>
              <p:nvPr/>
            </p:nvSpPr>
            <p:spPr>
              <a:xfrm>
                <a:off x="2243532" y="1226571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134" name="objective_1_3" descr="Editable text; source id objective_1_3"/>
              <p:cNvSpPr txBox="1"/>
              <p:nvPr/>
            </p:nvSpPr>
            <p:spPr>
              <a:xfrm>
                <a:off x="2377573" y="1226571"/>
                <a:ext cx="16572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A,F</a:t>
                </a:r>
              </a:p>
            </p:txBody>
          </p:sp>
          <p:grpSp>
            <p:nvGrpSpPr>
              <p:cNvPr id="282" name="objective_1_angle_0" descr="One editable routed connector; fixed endpoints."/>
              <p:cNvGrpSpPr/>
              <p:nvPr/>
            </p:nvGrpSpPr>
            <p:grpSpPr>
              <a:xfrm>
                <a:off x="2360966" y="1245229"/>
                <a:ext cx="16093" cy="80468"/>
                <a:chOff x="2360966" y="1245229"/>
                <a:chExt cx="16093" cy="80468"/>
              </a:xfrm>
            </p:grpSpPr>
            <p:cxnSp>
              <p:nvCxnSpPr>
                <p:cNvPr id="135" name="objective_1_angle_0_0" descr="Editable line; source id objective_1_angle_0_0"/>
                <p:cNvCxnSpPr/>
                <p:nvPr/>
              </p:nvCxnSpPr>
              <p:spPr>
                <a:xfrm flipH="1">
                  <a:off x="2360966" y="1245229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objective_1_angle_0_1" descr="Editable line; source id objective_1_angle_0_1"/>
                <p:cNvCxnSpPr/>
                <p:nvPr/>
              </p:nvCxnSpPr>
              <p:spPr>
                <a:xfrm>
                  <a:off x="2360966" y="1285463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3" name="objective_1_angle_1" descr="One editable routed connector; fixed endpoints."/>
              <p:cNvGrpSpPr/>
              <p:nvPr/>
            </p:nvGrpSpPr>
            <p:grpSpPr>
              <a:xfrm>
                <a:off x="2549609" y="1245229"/>
                <a:ext cx="16093" cy="80468"/>
                <a:chOff x="2549609" y="1245229"/>
                <a:chExt cx="16093" cy="80468"/>
              </a:xfrm>
            </p:grpSpPr>
            <p:cxnSp>
              <p:nvCxnSpPr>
                <p:cNvPr id="137" name="objective_1_angle_1_0" descr="Editable line; source id objective_1_angle_1_0"/>
                <p:cNvCxnSpPr/>
                <p:nvPr/>
              </p:nvCxnSpPr>
              <p:spPr>
                <a:xfrm>
                  <a:off x="2549609" y="1245229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objective_1_angle_1_1" descr="Editable line; source id objective_1_angle_1_1"/>
                <p:cNvCxnSpPr/>
                <p:nvPr/>
              </p:nvCxnSpPr>
              <p:spPr>
                <a:xfrm flipH="1">
                  <a:off x="2549609" y="1285463"/>
                  <a:ext cx="16093" cy="40234"/>
                </a:xfrm>
                <a:prstGeom prst="line">
                  <a:avLst/>
                </a:prstGeom>
                <a:ln w="4023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5" name="objective_2" descr="Editable formula parts and native mathematical delimiters."/>
            <p:cNvGrpSpPr/>
            <p:nvPr/>
          </p:nvGrpSpPr>
          <p:grpSpPr>
            <a:xfrm>
              <a:off x="2037833" y="1354355"/>
              <a:ext cx="544595" cy="116888"/>
              <a:chOff x="2037833" y="1354355"/>
              <a:chExt cx="544595" cy="116888"/>
            </a:xfrm>
          </p:grpSpPr>
          <p:sp>
            <p:nvSpPr>
              <p:cNvPr id="139" name="objective_2_0" descr="Editable text; source id objective_2_0"/>
              <p:cNvSpPr txBox="1"/>
              <p:nvPr/>
            </p:nvSpPr>
            <p:spPr>
              <a:xfrm>
                <a:off x="2037833" y="1354355"/>
                <a:ext cx="395131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+ ε KL(F </a:t>
                </a:r>
              </a:p>
            </p:txBody>
          </p:sp>
          <p:sp>
            <p:nvSpPr>
              <p:cNvPr id="140" name="objective_2_1" descr="Editable text; source id objective_2_1"/>
              <p:cNvSpPr txBox="1"/>
              <p:nvPr/>
            </p:nvSpPr>
            <p:spPr>
              <a:xfrm>
                <a:off x="2461218" y="1354355"/>
                <a:ext cx="121210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F̂)</a:t>
                </a:r>
              </a:p>
            </p:txBody>
          </p:sp>
          <p:cxnSp>
            <p:nvCxnSpPr>
              <p:cNvPr id="141" name="objective_2_parallel_0_0" descr="Editable line; source id objective_2_parallel_0_0"/>
              <p:cNvCxnSpPr/>
              <p:nvPr/>
            </p:nvCxnSpPr>
            <p:spPr>
              <a:xfrm>
                <a:off x="2441013" y="1372770"/>
                <a:ext cx="0" cy="78455"/>
              </a:xfrm>
              <a:prstGeom prst="line">
                <a:avLst/>
              </a:prstGeom>
              <a:ln w="3922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objective_2_parallel_0_1" descr="Editable line; source id objective_2_parallel_0_1"/>
              <p:cNvCxnSpPr/>
              <p:nvPr/>
            </p:nvCxnSpPr>
            <p:spPr>
              <a:xfrm>
                <a:off x="2454743" y="1372770"/>
                <a:ext cx="0" cy="78455"/>
              </a:xfrm>
              <a:prstGeom prst="line">
                <a:avLst/>
              </a:prstGeom>
              <a:ln w="3922" cap="rnd">
                <a:solidFill>
                  <a:srgbClr val="29343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3" name="flow_balance" descr="Editable text; source id flow_balance"/>
            <p:cNvSpPr txBox="1"/>
            <p:nvPr/>
          </p:nvSpPr>
          <p:spPr>
            <a:xfrm>
              <a:off x="2060830" y="1508655"/>
              <a:ext cx="508392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flow balance</a:t>
              </a:r>
            </a:p>
          </p:txBody>
        </p:sp>
        <p:grpSp>
          <p:nvGrpSpPr>
            <p:cNvPr id="288" name="budget_constraint" descr="Editable formula parts and native mathematical delimiters."/>
            <p:cNvGrpSpPr/>
            <p:nvPr/>
          </p:nvGrpSpPr>
          <p:grpSpPr>
            <a:xfrm>
              <a:off x="2102334" y="1655647"/>
              <a:ext cx="422770" cy="128329"/>
              <a:chOff x="2102334" y="1655647"/>
              <a:chExt cx="422770" cy="128329"/>
            </a:xfrm>
          </p:grpSpPr>
          <p:sp>
            <p:nvSpPr>
              <p:cNvPr id="144" name="budget_constraint_0" descr="Editable text; source id budget_constraint_0"/>
              <p:cNvSpPr txBox="1"/>
              <p:nvPr/>
            </p:nvSpPr>
            <p:spPr>
              <a:xfrm>
                <a:off x="2123898" y="1655647"/>
                <a:ext cx="69165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145" name="budget_constraint_1" descr="Editable text; source id budget_constraint_1"/>
              <p:cNvSpPr txBox="1"/>
              <p:nvPr/>
            </p:nvSpPr>
            <p:spPr>
              <a:xfrm>
                <a:off x="2188954" y="1707342"/>
                <a:ext cx="35641" cy="7663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46" name="budget_constraint_2" descr="Editable text; source id budget_constraint_2"/>
              <p:cNvSpPr txBox="1"/>
              <p:nvPr/>
            </p:nvSpPr>
            <p:spPr>
              <a:xfrm>
                <a:off x="2223354" y="1655647"/>
                <a:ext cx="87654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,F</a:t>
                </a:r>
              </a:p>
            </p:txBody>
          </p:sp>
          <p:sp>
            <p:nvSpPr>
              <p:cNvPr id="147" name="budget_constraint_3" descr="Editable text; source id budget_constraint_3"/>
              <p:cNvSpPr txBox="1"/>
              <p:nvPr/>
            </p:nvSpPr>
            <p:spPr>
              <a:xfrm>
                <a:off x="2338433" y="1655647"/>
                <a:ext cx="104336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≤ </a:t>
                </a:r>
              </a:p>
            </p:txBody>
          </p:sp>
          <p:sp>
            <p:nvSpPr>
              <p:cNvPr id="148" name="budget_constraint_4" descr="Editable text; source id budget_constraint_4"/>
              <p:cNvSpPr txBox="1"/>
              <p:nvPr/>
            </p:nvSpPr>
            <p:spPr>
              <a:xfrm>
                <a:off x="2441527" y="1655647"/>
                <a:ext cx="52045" cy="113996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5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b</a:t>
                </a:r>
              </a:p>
            </p:txBody>
          </p:sp>
          <p:sp>
            <p:nvSpPr>
              <p:cNvPr id="149" name="budget_constraint_5" descr="Editable text; source id budget_constraint_5"/>
              <p:cNvSpPr txBox="1"/>
              <p:nvPr/>
            </p:nvSpPr>
            <p:spPr>
              <a:xfrm>
                <a:off x="2489463" y="1707342"/>
                <a:ext cx="35641" cy="7663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71"/>
                  </a:lnSpc>
                  <a:spcBef>
                    <a:spcPts val="0"/>
                  </a:spcBef>
                  <a:spcAft>
                    <a:spcPts val="0"/>
                  </a:spcAft>
                  <a:def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496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grpSp>
            <p:nvGrpSpPr>
              <p:cNvPr id="286" name="budget_constraint_angle_0" descr="One editable routed connector; fixed endpoints."/>
              <p:cNvGrpSpPr/>
              <p:nvPr/>
            </p:nvGrpSpPr>
            <p:grpSpPr>
              <a:xfrm>
                <a:off x="2102334" y="1673818"/>
                <a:ext cx="15289" cy="76444"/>
                <a:chOff x="2102334" y="1673818"/>
                <a:chExt cx="15289" cy="76444"/>
              </a:xfrm>
            </p:grpSpPr>
            <p:cxnSp>
              <p:nvCxnSpPr>
                <p:cNvPr id="150" name="budget_constraint_angle_0_0" descr="Editable line; source id budget_constraint_angle_0_0"/>
                <p:cNvCxnSpPr/>
                <p:nvPr/>
              </p:nvCxnSpPr>
              <p:spPr>
                <a:xfrm flipH="1">
                  <a:off x="2102334" y="1673818"/>
                  <a:ext cx="15289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budget_constraint_angle_0_1" descr="Editable line; source id budget_constraint_angle_0_1"/>
                <p:cNvCxnSpPr/>
                <p:nvPr/>
              </p:nvCxnSpPr>
              <p:spPr>
                <a:xfrm>
                  <a:off x="2102334" y="1712040"/>
                  <a:ext cx="15289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87" name="budget_constraint_angle_1" descr="One editable routed connector; fixed endpoints."/>
              <p:cNvGrpSpPr/>
              <p:nvPr/>
            </p:nvGrpSpPr>
            <p:grpSpPr>
              <a:xfrm>
                <a:off x="2316870" y="1673818"/>
                <a:ext cx="15288" cy="76444"/>
                <a:chOff x="2316870" y="1673818"/>
                <a:chExt cx="15288" cy="76444"/>
              </a:xfrm>
            </p:grpSpPr>
            <p:cxnSp>
              <p:nvCxnSpPr>
                <p:cNvPr id="152" name="budget_constraint_angle_1_0" descr="Editable line; source id budget_constraint_angle_1_0"/>
                <p:cNvCxnSpPr/>
                <p:nvPr/>
              </p:nvCxnSpPr>
              <p:spPr>
                <a:xfrm>
                  <a:off x="2316870" y="1673818"/>
                  <a:ext cx="15288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budget_constraint_angle_1_1" descr="Editable line; source id budget_constraint_angle_1_1"/>
                <p:cNvCxnSpPr/>
                <p:nvPr/>
              </p:nvCxnSpPr>
              <p:spPr>
                <a:xfrm flipH="1">
                  <a:off x="2316870" y="1712040"/>
                  <a:ext cx="15288" cy="38222"/>
                </a:xfrm>
                <a:prstGeom prst="line">
                  <a:avLst/>
                </a:prstGeom>
                <a:ln w="3822" cap="rnd">
                  <a:solidFill>
                    <a:srgbClr val="29343E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54" name="inputs_to_graph" descr="Editable line; source id inputs_to_graph"/>
            <p:cNvSpPr/>
            <p:nvPr/>
          </p:nvSpPr>
          <p:spPr>
            <a:xfrm>
              <a:off x="1775308" y="919086"/>
              <a:ext cx="115672" cy="22631"/>
            </a:xfrm>
            <a:custGeom>
              <a:avLst/>
              <a:gdLst/>
              <a:ahLst/>
              <a:cxnLst/>
              <a:rect l="l" t="t" r="r" b="b"/>
              <a:pathLst>
                <a:path w="42228" h="8262">
                  <a:moveTo>
                    <a:pt x="0" y="2984"/>
                  </a:moveTo>
                  <a:lnTo>
                    <a:pt x="31212" y="2984"/>
                  </a:lnTo>
                  <a:lnTo>
                    <a:pt x="31212" y="0"/>
                  </a:lnTo>
                  <a:lnTo>
                    <a:pt x="42228" y="4131"/>
                  </a:lnTo>
                  <a:lnTo>
                    <a:pt x="31212" y="8262"/>
                  </a:lnTo>
                  <a:lnTo>
                    <a:pt x="31212" y="5279"/>
                  </a:lnTo>
                  <a:lnTo>
                    <a:pt x="0" y="5279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5" name="graph_to_prices" descr="Editable line; source id graph_to_prices"/>
            <p:cNvSpPr/>
            <p:nvPr/>
          </p:nvSpPr>
          <p:spPr>
            <a:xfrm>
              <a:off x="2730856" y="919086"/>
              <a:ext cx="128245" cy="22631"/>
            </a:xfrm>
            <a:custGeom>
              <a:avLst/>
              <a:gdLst/>
              <a:ahLst/>
              <a:cxnLst/>
              <a:rect l="l" t="t" r="r" b="b"/>
              <a:pathLst>
                <a:path w="46818" h="8262">
                  <a:moveTo>
                    <a:pt x="0" y="2984"/>
                  </a:moveTo>
                  <a:lnTo>
                    <a:pt x="35802" y="2984"/>
                  </a:lnTo>
                  <a:lnTo>
                    <a:pt x="35802" y="0"/>
                  </a:lnTo>
                  <a:lnTo>
                    <a:pt x="46818" y="4131"/>
                  </a:lnTo>
                  <a:lnTo>
                    <a:pt x="35802" y="8262"/>
                  </a:lnTo>
                  <a:lnTo>
                    <a:pt x="35802" y="5279"/>
                  </a:lnTo>
                  <a:lnTo>
                    <a:pt x="0" y="5279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89" name="graph_price" descr="Editable formula parts and native mathematical delimiters."/>
            <p:cNvGrpSpPr/>
            <p:nvPr/>
          </p:nvGrpSpPr>
          <p:grpSpPr>
            <a:xfrm>
              <a:off x="3321204" y="559469"/>
              <a:ext cx="92105" cy="147486"/>
              <a:chOff x="3321204" y="559469"/>
              <a:chExt cx="92105" cy="147486"/>
            </a:xfrm>
          </p:grpSpPr>
          <p:sp>
            <p:nvSpPr>
              <p:cNvPr id="156" name="graph_price_0" descr="Editable text; source id graph_price_0"/>
              <p:cNvSpPr txBox="1"/>
              <p:nvPr/>
            </p:nvSpPr>
            <p:spPr>
              <a:xfrm>
                <a:off x="3321204" y="578500"/>
                <a:ext cx="56421" cy="128455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79"/>
                  </a:lnSpc>
                  <a:spcBef>
                    <a:spcPts val="0"/>
                  </a:spcBef>
                  <a:spcAft>
                    <a:spcPts val="0"/>
                  </a:spcAft>
                  <a:defRPr sz="85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5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57" name="graph_price_1" descr="Editable text; source id graph_price_1"/>
              <p:cNvSpPr txBox="1"/>
              <p:nvPr/>
            </p:nvSpPr>
            <p:spPr>
              <a:xfrm>
                <a:off x="3373516" y="559469"/>
                <a:ext cx="39793" cy="86177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46"/>
                  </a:lnSpc>
                  <a:spcBef>
                    <a:spcPts val="0"/>
                  </a:spcBef>
                  <a:spcAft>
                    <a:spcPts val="0"/>
                  </a:spcAft>
                  <a:defRPr sz="56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6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58" name="price_to_filter" descr="Editable line; source id price_to_filter"/>
            <p:cNvSpPr/>
            <p:nvPr/>
          </p:nvSpPr>
          <p:spPr>
            <a:xfrm>
              <a:off x="3358248" y="719176"/>
              <a:ext cx="22631" cy="35204"/>
            </a:xfrm>
            <a:custGeom>
              <a:avLst/>
              <a:gdLst/>
              <a:ahLst/>
              <a:cxnLst/>
              <a:rect l="l" t="t" r="r" b="b"/>
              <a:pathLst>
                <a:path w="8262" h="12852">
                  <a:moveTo>
                    <a:pt x="5095" y="0"/>
                  </a:moveTo>
                  <a:lnTo>
                    <a:pt x="5095" y="1836"/>
                  </a:lnTo>
                  <a:lnTo>
                    <a:pt x="8262" y="1836"/>
                  </a:lnTo>
                  <a:lnTo>
                    <a:pt x="4131" y="12852"/>
                  </a:lnTo>
                  <a:lnTo>
                    <a:pt x="0" y="1836"/>
                  </a:lnTo>
                  <a:lnTo>
                    <a:pt x="3167" y="1836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0" name="filter" descr="filter"/>
            <p:cNvGrpSpPr/>
            <p:nvPr/>
          </p:nvGrpSpPr>
          <p:grpSpPr>
            <a:xfrm>
              <a:off x="2947111" y="764438"/>
              <a:ext cx="819759" cy="158419"/>
              <a:chOff x="2947111" y="764438"/>
              <a:chExt cx="819759" cy="158419"/>
            </a:xfrm>
          </p:grpSpPr>
          <p:sp>
            <p:nvSpPr>
              <p:cNvPr id="159" name="filter_panel" descr="Editable shape; source id filter_panel"/>
              <p:cNvSpPr/>
              <p:nvPr/>
            </p:nvSpPr>
            <p:spPr>
              <a:xfrm>
                <a:off x="2947111" y="764438"/>
                <a:ext cx="819759" cy="158419"/>
              </a:xfrm>
              <a:prstGeom prst="roundRect">
                <a:avLst>
                  <a:gd name="adj" fmla="val 12698"/>
                </a:avLst>
              </a:prstGeom>
              <a:solidFill>
                <a:srgbClr val="ECF5F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0" name="filter_text" descr="Editable text; source id filter_text"/>
              <p:cNvSpPr txBox="1"/>
              <p:nvPr/>
            </p:nvSpPr>
            <p:spPr>
              <a:xfrm>
                <a:off x="3136452" y="784911"/>
                <a:ext cx="449295" cy="120516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Clip + filter</a:t>
                </a:r>
              </a:p>
            </p:txBody>
          </p:sp>
        </p:grpSp>
        <p:sp>
          <p:nvSpPr>
            <p:cNvPr id="161" name="filter_output" descr="Editable line; source id filter_output"/>
            <p:cNvSpPr/>
            <p:nvPr/>
          </p:nvSpPr>
          <p:spPr>
            <a:xfrm>
              <a:off x="3345675" y="935431"/>
              <a:ext cx="22631" cy="80467"/>
            </a:xfrm>
            <a:custGeom>
              <a:avLst/>
              <a:gdLst/>
              <a:ahLst/>
              <a:cxnLst/>
              <a:rect l="l" t="t" r="r" b="b"/>
              <a:pathLst>
                <a:path w="8262" h="29376">
                  <a:moveTo>
                    <a:pt x="5095" y="0"/>
                  </a:moveTo>
                  <a:lnTo>
                    <a:pt x="5095" y="18360"/>
                  </a:lnTo>
                  <a:lnTo>
                    <a:pt x="8262" y="18360"/>
                  </a:lnTo>
                  <a:lnTo>
                    <a:pt x="4131" y="29376"/>
                  </a:lnTo>
                  <a:lnTo>
                    <a:pt x="0" y="18360"/>
                  </a:lnTo>
                  <a:lnTo>
                    <a:pt x="3167" y="18360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1" name="filtered_price" descr="Editable formula parts and native mathematical delimiters."/>
            <p:cNvGrpSpPr/>
            <p:nvPr/>
          </p:nvGrpSpPr>
          <p:grpSpPr>
            <a:xfrm>
              <a:off x="3296513" y="1007130"/>
              <a:ext cx="116416" cy="144073"/>
              <a:chOff x="3296513" y="1007130"/>
              <a:chExt cx="116416" cy="144073"/>
            </a:xfrm>
          </p:grpSpPr>
          <p:sp>
            <p:nvSpPr>
              <p:cNvPr id="162" name="filtered_price_0" descr="Editable text; source id filtered_price_0"/>
              <p:cNvSpPr txBox="1"/>
              <p:nvPr/>
            </p:nvSpPr>
            <p:spPr>
              <a:xfrm>
                <a:off x="3296513" y="1025639"/>
                <a:ext cx="81491" cy="125564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56"/>
                  </a:lnSpc>
                  <a:spcBef>
                    <a:spcPts val="0"/>
                  </a:spcBef>
                  <a:spcAft>
                    <a:spcPts val="0"/>
                  </a:spcAft>
                  <a:defRPr sz="83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83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63" name="filtered_price_1" descr="Editable text; source id filtered_price_1"/>
              <p:cNvSpPr txBox="1"/>
              <p:nvPr/>
            </p:nvSpPr>
            <p:spPr>
              <a:xfrm>
                <a:off x="3373896" y="1007130"/>
                <a:ext cx="39033" cy="84269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31"/>
                  </a:lnSpc>
                  <a:spcBef>
                    <a:spcPts val="0"/>
                  </a:spcBef>
                  <a:spcAft>
                    <a:spcPts val="0"/>
                  </a:spcAft>
                  <a:defRPr sz="54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48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</p:grpSp>
        <p:sp>
          <p:nvSpPr>
            <p:cNvPr id="164" name="filtered_to_plus" descr="Editable line; source id filtered_to_plus"/>
            <p:cNvSpPr/>
            <p:nvPr/>
          </p:nvSpPr>
          <p:spPr>
            <a:xfrm>
              <a:off x="3345675" y="1169289"/>
              <a:ext cx="22631" cy="45263"/>
            </a:xfrm>
            <a:custGeom>
              <a:avLst/>
              <a:gdLst/>
              <a:ahLst/>
              <a:cxnLst/>
              <a:rect l="l" t="t" r="r" b="b"/>
              <a:pathLst>
                <a:path w="8262" h="16524">
                  <a:moveTo>
                    <a:pt x="5095" y="0"/>
                  </a:moveTo>
                  <a:lnTo>
                    <a:pt x="5095" y="5508"/>
                  </a:lnTo>
                  <a:lnTo>
                    <a:pt x="8262" y="5508"/>
                  </a:lnTo>
                  <a:lnTo>
                    <a:pt x="4131" y="16524"/>
                  </a:lnTo>
                  <a:lnTo>
                    <a:pt x="0" y="5508"/>
                  </a:lnTo>
                  <a:lnTo>
                    <a:pt x="3167" y="5508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2" name="price_sum" descr="price sum"/>
            <p:cNvGrpSpPr/>
            <p:nvPr/>
          </p:nvGrpSpPr>
          <p:grpSpPr>
            <a:xfrm>
              <a:off x="3286582" y="1222095"/>
              <a:ext cx="140817" cy="140817"/>
              <a:chOff x="3286582" y="1222095"/>
              <a:chExt cx="140817" cy="140817"/>
            </a:xfrm>
          </p:grpSpPr>
          <p:sp>
            <p:nvSpPr>
              <p:cNvPr id="165" name="price_sum_panel" descr="Editable shape; source id price_sum_panel"/>
              <p:cNvSpPr/>
              <p:nvPr/>
            </p:nvSpPr>
            <p:spPr>
              <a:xfrm>
                <a:off x="3286582" y="1222095"/>
                <a:ext cx="140817" cy="140817"/>
              </a:xfrm>
              <a:prstGeom prst="roundRect">
                <a:avLst>
                  <a:gd name="adj" fmla="val 14285"/>
                </a:avLst>
              </a:prstGeom>
              <a:solidFill>
                <a:srgbClr val="FFFFFF"/>
              </a:solidFill>
              <a:ln w="4274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6" name="price_plus" descr="Editable text; source id price_plus"/>
              <p:cNvSpPr txBox="1"/>
              <p:nvPr/>
            </p:nvSpPr>
            <p:spPr>
              <a:xfrm>
                <a:off x="3322750" y="1228176"/>
                <a:ext cx="76698" cy="129417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7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</p:grpSp>
        <p:sp>
          <p:nvSpPr>
            <p:cNvPr id="167" name="feedback_beta_0" descr="Editable text; source id feedback_beta_0"/>
            <p:cNvSpPr txBox="1"/>
            <p:nvPr/>
          </p:nvSpPr>
          <p:spPr>
            <a:xfrm>
              <a:off x="3660857" y="1178333"/>
              <a:ext cx="57523" cy="116888"/>
            </a:xfrm>
            <a:prstGeom prst="rect">
              <a:avLst/>
            </a:prstGeom>
            <a:noFill/>
            <a:effectLst/>
          </p:spPr>
          <p:txBody>
            <a:bodyPr wrap="none" anchor="t" tIns="1369" rIns="0" bIns="0" lIns="3424" anchorCtr="0" vertOverflow="overflow">
              <a:noAutofit/>
            </a:bodyPr>
            <a:lstStyle/>
            <a:p>
              <a:pPr algn="l" fontAlgn="base">
                <a:lnSpc>
                  <a:spcPts val="888"/>
                </a:lnSpc>
                <a:spcBef>
                  <a:spcPts val="0"/>
                </a:spcBef>
                <a:spcAft>
                  <a:spcPts val="0"/>
                </a:spcAft>
                <a:defRPr sz="772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772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β</a:t>
              </a:r>
            </a:p>
          </p:txBody>
        </p:sp>
        <p:sp>
          <p:nvSpPr>
            <p:cNvPr id="168" name="beta_to_plus" descr="Editable line; source id beta_to_plus"/>
            <p:cNvSpPr/>
            <p:nvPr/>
          </p:nvSpPr>
          <p:spPr>
            <a:xfrm>
              <a:off x="3437458" y="1281189"/>
              <a:ext cx="158420" cy="22631"/>
            </a:xfrm>
            <a:custGeom>
              <a:avLst/>
              <a:gdLst/>
              <a:ahLst/>
              <a:cxnLst/>
              <a:rect l="l" t="t" r="r" b="b"/>
              <a:pathLst>
                <a:path w="57834" h="8262">
                  <a:moveTo>
                    <a:pt x="57834" y="5095"/>
                  </a:moveTo>
                  <a:lnTo>
                    <a:pt x="11016" y="5095"/>
                  </a:lnTo>
                  <a:lnTo>
                    <a:pt x="11016" y="8262"/>
                  </a:lnTo>
                  <a:lnTo>
                    <a:pt x="0" y="4131"/>
                  </a:lnTo>
                  <a:lnTo>
                    <a:pt x="11016" y="0"/>
                  </a:lnTo>
                  <a:lnTo>
                    <a:pt x="11016" y="3167"/>
                  </a:lnTo>
                  <a:lnTo>
                    <a:pt x="57834" y="3167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9" name="sum_down" descr="Editable line; source id sum_down"/>
            <p:cNvSpPr/>
            <p:nvPr/>
          </p:nvSpPr>
          <p:spPr>
            <a:xfrm>
              <a:off x="3345675" y="1372972"/>
              <a:ext cx="22631" cy="67894"/>
            </a:xfrm>
            <a:custGeom>
              <a:avLst/>
              <a:gdLst/>
              <a:ahLst/>
              <a:cxnLst/>
              <a:rect l="l" t="t" r="r" b="b"/>
              <a:pathLst>
                <a:path w="8262" h="24786">
                  <a:moveTo>
                    <a:pt x="5095" y="0"/>
                  </a:moveTo>
                  <a:lnTo>
                    <a:pt x="5095" y="13770"/>
                  </a:lnTo>
                  <a:lnTo>
                    <a:pt x="8262" y="13770"/>
                  </a:lnTo>
                  <a:lnTo>
                    <a:pt x="4131" y="24786"/>
                  </a:lnTo>
                  <a:lnTo>
                    <a:pt x="0" y="13770"/>
                  </a:lnTo>
                  <a:lnTo>
                    <a:pt x="3167" y="13770"/>
                  </a:lnTo>
                  <a:lnTo>
                    <a:pt x="3167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93" name="total_price" descr="Editable formula parts and native mathematical delimiters."/>
            <p:cNvGrpSpPr/>
            <p:nvPr/>
          </p:nvGrpSpPr>
          <p:grpSpPr>
            <a:xfrm>
              <a:off x="3103024" y="1442280"/>
              <a:ext cx="503545" cy="152872"/>
              <a:chOff x="3103024" y="1442280"/>
              <a:chExt cx="503545" cy="152872"/>
            </a:xfrm>
          </p:grpSpPr>
          <p:sp>
            <p:nvSpPr>
              <p:cNvPr id="170" name="total_price_0" descr="Editable text; source id total_price_0"/>
              <p:cNvSpPr txBox="1"/>
              <p:nvPr/>
            </p:nvSpPr>
            <p:spPr>
              <a:xfrm>
                <a:off x="3103024" y="1460429"/>
                <a:ext cx="5341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171" name="total_price_1" descr="Editable text; source id total_price_1"/>
              <p:cNvSpPr txBox="1"/>
              <p:nvPr/>
            </p:nvSpPr>
            <p:spPr>
              <a:xfrm>
                <a:off x="3152330" y="151470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2" name="total_price_2" descr="Editable text; source id total_price_2"/>
              <p:cNvSpPr txBox="1"/>
              <p:nvPr/>
            </p:nvSpPr>
            <p:spPr>
              <a:xfrm>
                <a:off x="3188903" y="1460429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= </a:t>
                </a:r>
              </a:p>
            </p:txBody>
          </p:sp>
          <p:sp>
            <p:nvSpPr>
              <p:cNvPr id="173" name="total_price_3" descr="Editable text; source id total_price_3"/>
              <p:cNvSpPr txBox="1"/>
              <p:nvPr/>
            </p:nvSpPr>
            <p:spPr>
              <a:xfrm>
                <a:off x="3296193" y="1460429"/>
                <a:ext cx="78067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λ̄</a:t>
                </a:r>
              </a:p>
            </p:txBody>
          </p:sp>
          <p:sp>
            <p:nvSpPr>
              <p:cNvPr id="174" name="total_price_4" descr="Editable text; source id total_price_4"/>
              <p:cNvSpPr txBox="1"/>
              <p:nvPr/>
            </p:nvSpPr>
            <p:spPr>
              <a:xfrm>
                <a:off x="3370152" y="151470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175" name="total_price_5" descr="Editable text; source id total_price_5"/>
              <p:cNvSpPr txBox="1"/>
              <p:nvPr/>
            </p:nvSpPr>
            <p:spPr>
              <a:xfrm>
                <a:off x="3370152" y="1442280"/>
                <a:ext cx="37300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*</a:t>
                </a:r>
              </a:p>
            </p:txBody>
          </p:sp>
          <p:sp>
            <p:nvSpPr>
              <p:cNvPr id="176" name="total_price_6" descr="Editable text; source id total_price_6"/>
              <p:cNvSpPr txBox="1"/>
              <p:nvPr/>
            </p:nvSpPr>
            <p:spPr>
              <a:xfrm>
                <a:off x="3406724" y="1460429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 + </a:t>
                </a:r>
              </a:p>
            </p:txBody>
          </p:sp>
          <p:sp>
            <p:nvSpPr>
              <p:cNvPr id="177" name="total_price_7" descr="Editable text; source id total_price_7"/>
              <p:cNvSpPr txBox="1"/>
              <p:nvPr/>
            </p:nvSpPr>
            <p:spPr>
              <a:xfrm>
                <a:off x="3514699" y="1460429"/>
                <a:ext cx="58315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3424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β</a:t>
                </a:r>
              </a:p>
            </p:txBody>
          </p:sp>
          <p:sp>
            <p:nvSpPr>
              <p:cNvPr id="178" name="total_price_8" descr="Editable text; source id total_price_8"/>
              <p:cNvSpPr txBox="1"/>
              <p:nvPr/>
            </p:nvSpPr>
            <p:spPr>
              <a:xfrm>
                <a:off x="3568905" y="151470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007F85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</p:grpSp>
        <p:grpSp>
          <p:nvGrpSpPr>
            <p:cNvPr id="301" name="price_vector" descr="price vector"/>
            <p:cNvGrpSpPr/>
            <p:nvPr/>
          </p:nvGrpSpPr>
          <p:grpSpPr>
            <a:xfrm>
              <a:off x="3035122" y="1657121"/>
              <a:ext cx="638708" cy="138303"/>
              <a:chOff x="3035122" y="1657121"/>
              <a:chExt cx="638708" cy="138303"/>
            </a:xfrm>
          </p:grpSpPr>
          <p:grpSp>
            <p:nvGrpSpPr>
              <p:cNvPr id="295" name="price_vector_cell0" descr="price vector cell0"/>
              <p:cNvGrpSpPr/>
              <p:nvPr/>
            </p:nvGrpSpPr>
            <p:grpSpPr>
              <a:xfrm>
                <a:off x="3035122" y="1657121"/>
                <a:ext cx="155905" cy="138303"/>
                <a:chOff x="3035122" y="1657121"/>
                <a:chExt cx="155905" cy="138303"/>
              </a:xfrm>
            </p:grpSpPr>
            <p:sp>
              <p:nvSpPr>
                <p:cNvPr id="179" name="price_vector_cell0_panel" descr="Editable shape; source id price_vector_cell0_panel"/>
                <p:cNvSpPr/>
                <p:nvPr/>
              </p:nvSpPr>
              <p:spPr>
                <a:xfrm>
                  <a:off x="3035122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4" name="price_vector_label0" descr="Editable formula parts and native mathematical delimiters."/>
                <p:cNvGrpSpPr/>
                <p:nvPr/>
              </p:nvGrpSpPr>
              <p:grpSpPr>
                <a:xfrm>
                  <a:off x="3069702" y="1663191"/>
                  <a:ext cx="82507" cy="128329"/>
                  <a:chOff x="3069702" y="1663191"/>
                  <a:chExt cx="82507" cy="128329"/>
                </a:xfrm>
              </p:grpSpPr>
              <p:sp>
                <p:nvSpPr>
                  <p:cNvPr id="180" name="price_vector_label0_0" descr="Editable text; source id price_vector_label0_0"/>
                  <p:cNvSpPr txBox="1"/>
                  <p:nvPr/>
                </p:nvSpPr>
                <p:spPr>
                  <a:xfrm>
                    <a:off x="3069702" y="1663191"/>
                    <a:ext cx="50975" cy="11399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410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6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81" name="price_vector_label0_1" descr="Editable text; source id price_vector_label0_1"/>
                  <p:cNvSpPr txBox="1"/>
                  <p:nvPr/>
                </p:nvSpPr>
                <p:spPr>
                  <a:xfrm>
                    <a:off x="3116568" y="1714886"/>
                    <a:ext cx="35641" cy="766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13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7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297" name="price_vector_cell1" descr="price vector cell1"/>
              <p:cNvGrpSpPr/>
              <p:nvPr/>
            </p:nvGrpSpPr>
            <p:grpSpPr>
              <a:xfrm>
                <a:off x="3196056" y="1657121"/>
                <a:ext cx="155905" cy="138303"/>
                <a:chOff x="3196056" y="1657121"/>
                <a:chExt cx="155905" cy="138303"/>
              </a:xfrm>
            </p:grpSpPr>
            <p:sp>
              <p:nvSpPr>
                <p:cNvPr id="182" name="price_vector_cell1_panel" descr="Editable shape; source id price_vector_cell1_panel"/>
                <p:cNvSpPr/>
                <p:nvPr/>
              </p:nvSpPr>
              <p:spPr>
                <a:xfrm>
                  <a:off x="3196056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6" name="price_vector_label1" descr="Editable formula parts and native mathematical delimiters."/>
                <p:cNvGrpSpPr/>
                <p:nvPr/>
              </p:nvGrpSpPr>
              <p:grpSpPr>
                <a:xfrm>
                  <a:off x="3230636" y="1663191"/>
                  <a:ext cx="82508" cy="128329"/>
                  <a:chOff x="3230636" y="1663191"/>
                  <a:chExt cx="82508" cy="128329"/>
                </a:xfrm>
              </p:grpSpPr>
              <p:sp>
                <p:nvSpPr>
                  <p:cNvPr id="183" name="price_vector_label1_0" descr="Editable text; source id price_vector_label1_0"/>
                  <p:cNvSpPr txBox="1"/>
                  <p:nvPr/>
                </p:nvSpPr>
                <p:spPr>
                  <a:xfrm>
                    <a:off x="3230636" y="1663191"/>
                    <a:ext cx="50975" cy="11399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410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6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84" name="price_vector_label1_1" descr="Editable text; source id price_vector_label1_1"/>
                  <p:cNvSpPr txBox="1"/>
                  <p:nvPr/>
                </p:nvSpPr>
                <p:spPr>
                  <a:xfrm>
                    <a:off x="3277503" y="1714886"/>
                    <a:ext cx="35641" cy="766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13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7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298" name="price_vector_cell2" descr="price vector cell2"/>
              <p:cNvGrpSpPr/>
              <p:nvPr/>
            </p:nvGrpSpPr>
            <p:grpSpPr>
              <a:xfrm>
                <a:off x="3356990" y="1657121"/>
                <a:ext cx="155905" cy="138303"/>
                <a:chOff x="3356990" y="1657121"/>
                <a:chExt cx="155905" cy="138303"/>
              </a:xfrm>
            </p:grpSpPr>
            <p:sp>
              <p:nvSpPr>
                <p:cNvPr id="185" name="price_vector_cell2_panel" descr="Editable shape; source id price_vector_cell2_panel"/>
                <p:cNvSpPr/>
                <p:nvPr/>
              </p:nvSpPr>
              <p:spPr>
                <a:xfrm>
                  <a:off x="3356990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186" name="price_vector_dots" descr="Editable text; source id price_vector_dots"/>
                <p:cNvSpPr txBox="1"/>
                <p:nvPr/>
              </p:nvSpPr>
              <p:spPr>
                <a:xfrm>
                  <a:off x="3386664" y="1664100"/>
                  <a:ext cx="104775" cy="114581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478" rIns="0" bIns="0" lIns="5478" anchorCtr="0" vertOverflow="overflow">
                  <a:noAutofit/>
                </a:bodyPr>
                <a:lstStyle/>
                <a:p>
                  <a:pPr algn="l" fontAlgn="base">
                    <a:lnSpc>
                      <a:spcPts val="774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73" b="0" i="0" lang="zh-CN" dirty="0">
                      <a:solidFill>
                        <a:srgbClr val="007F85"/>
                      </a:solidFill>
                      <a:latin typeface="Liberation Sans"/>
                      <a:ea typeface="Liberation Sans"/>
                      <a:cs typeface="Liberation Sans"/>
                    </a:rPr>
                    <a:t>…</a:t>
                  </a:r>
                </a:p>
              </p:txBody>
            </p:sp>
          </p:grpSp>
          <p:grpSp>
            <p:nvGrpSpPr>
              <p:cNvPr id="300" name="price_vector_cell3" descr="price vector cell3"/>
              <p:cNvGrpSpPr/>
              <p:nvPr/>
            </p:nvGrpSpPr>
            <p:grpSpPr>
              <a:xfrm>
                <a:off x="3517925" y="1657121"/>
                <a:ext cx="155905" cy="138303"/>
                <a:chOff x="3517925" y="1657121"/>
                <a:chExt cx="155905" cy="138303"/>
              </a:xfrm>
            </p:grpSpPr>
            <p:sp>
              <p:nvSpPr>
                <p:cNvPr id="187" name="price_vector_cell3_panel" descr="Editable shape; source id price_vector_cell3_panel"/>
                <p:cNvSpPr/>
                <p:nvPr/>
              </p:nvSpPr>
              <p:spPr>
                <a:xfrm>
                  <a:off x="3517925" y="1657121"/>
                  <a:ext cx="155905" cy="138303"/>
                </a:xfrm>
                <a:prstGeom prst="roundRect">
                  <a:avLst>
                    <a:gd name="adj" fmla="val 14545"/>
                  </a:avLst>
                </a:prstGeom>
                <a:solidFill>
                  <a:srgbClr val="ECF5F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grpSp>
              <p:nvGrpSpPr>
                <p:cNvPr id="299" name="price_vector_label3" descr="Editable formula parts and native mathematical delimiters."/>
                <p:cNvGrpSpPr/>
                <p:nvPr/>
              </p:nvGrpSpPr>
              <p:grpSpPr>
                <a:xfrm>
                  <a:off x="3545331" y="1663191"/>
                  <a:ext cx="96856" cy="128329"/>
                  <a:chOff x="3545331" y="1663191"/>
                  <a:chExt cx="96856" cy="128329"/>
                </a:xfrm>
              </p:grpSpPr>
              <p:sp>
                <p:nvSpPr>
                  <p:cNvPr id="188" name="price_vector_label3_0" descr="Editable text; source id price_vector_label3_0"/>
                  <p:cNvSpPr txBox="1"/>
                  <p:nvPr/>
                </p:nvSpPr>
                <p:spPr>
                  <a:xfrm>
                    <a:off x="3545331" y="1663191"/>
                    <a:ext cx="50975" cy="113996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4108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865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752" b="0" i="1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λ</a:t>
                    </a:r>
                  </a:p>
                </p:txBody>
              </p:sp>
              <p:sp>
                <p:nvSpPr>
                  <p:cNvPr id="189" name="price_vector_label3_1" descr="Editable text; source id price_vector_label3_1"/>
                  <p:cNvSpPr txBox="1"/>
                  <p:nvPr/>
                </p:nvSpPr>
                <p:spPr>
                  <a:xfrm>
                    <a:off x="3592197" y="1714886"/>
                    <a:ext cx="49990" cy="7663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369" rIns="0" bIns="0" lIns="1369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71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96" b="0" i="0" lang="zh-CN" dirty="0">
                        <a:solidFill>
                          <a:srgbClr val="007F85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K</a:t>
                    </a:r>
                  </a:p>
                </p:txBody>
              </p:sp>
            </p:grpSp>
          </p:grpSp>
        </p:grpSp>
      </p:grpSp>
      <p:grpSp>
        <p:nvGrpSpPr>
          <p:cNvPr id="308" name="constraint_view" descr="constraint view"/>
          <p:cNvGrpSpPr/>
          <p:nvPr/>
        </p:nvGrpSpPr>
        <p:grpSpPr>
          <a:xfrm>
            <a:off x="3935349" y="75438"/>
            <a:ext cx="1033500" cy="1898523"/>
            <a:chOff x="3935349" y="75438"/>
            <a:chExt cx="1033500" cy="1898523"/>
          </a:xfrm>
        </p:grpSpPr>
        <p:sp>
          <p:nvSpPr>
            <p:cNvPr id="190" name="constraint_view_panel" descr="Editable shape; source id constraint_view_panel"/>
            <p:cNvSpPr/>
            <p:nvPr/>
          </p:nvSpPr>
          <p:spPr>
            <a:xfrm>
              <a:off x="3935349" y="75438"/>
              <a:ext cx="1033500" cy="1898523"/>
            </a:xfrm>
            <a:prstGeom prst="roundRect">
              <a:avLst>
                <a:gd name="adj" fmla="val 1946"/>
              </a:avLst>
            </a:prstGeom>
            <a:solidFill>
              <a:srgbClr val="FFFFFF"/>
            </a:solidFill>
            <a:ln w="4526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constraint_title" descr="Editable text; source id constraint_title"/>
            <p:cNvSpPr txBox="1"/>
            <p:nvPr/>
          </p:nvSpPr>
          <p:spPr>
            <a:xfrm>
              <a:off x="4051943" y="124963"/>
              <a:ext cx="806014" cy="13831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956"/>
                </a:lnSpc>
                <a:spcBef>
                  <a:spcPts val="0"/>
                </a:spcBef>
                <a:spcAft>
                  <a:spcPts val="0"/>
                </a:spcAft>
                <a:defRPr sz="831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831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Constraint view</a:t>
              </a:r>
            </a:p>
          </p:txBody>
        </p:sp>
        <p:grpSp>
          <p:nvGrpSpPr>
            <p:cNvPr id="303" name="constraint_objective" descr="Editable formula parts and native mathematical delimiters."/>
            <p:cNvGrpSpPr/>
            <p:nvPr/>
          </p:nvGrpSpPr>
          <p:grpSpPr>
            <a:xfrm>
              <a:off x="4239762" y="310796"/>
              <a:ext cx="420586" cy="131527"/>
              <a:chOff x="4239762" y="310796"/>
              <a:chExt cx="420586" cy="131527"/>
            </a:xfrm>
          </p:grpSpPr>
          <p:sp>
            <p:nvSpPr>
              <p:cNvPr id="192" name="constraint_objective_0" descr="Editable text; source id constraint_objective_0"/>
              <p:cNvSpPr txBox="1"/>
              <p:nvPr/>
            </p:nvSpPr>
            <p:spPr>
              <a:xfrm>
                <a:off x="4239762" y="310796"/>
                <a:ext cx="17325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max</a:t>
                </a:r>
              </a:p>
            </p:txBody>
          </p:sp>
          <p:sp>
            <p:nvSpPr>
              <p:cNvPr id="193" name="constraint_objective_1" descr="Editable text; source id constraint_objective_1"/>
              <p:cNvSpPr txBox="1"/>
              <p:nvPr/>
            </p:nvSpPr>
            <p:spPr>
              <a:xfrm>
                <a:off x="4408909" y="363780"/>
                <a:ext cx="36979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π</a:t>
                </a:r>
              </a:p>
            </p:txBody>
          </p:sp>
          <p:sp>
            <p:nvSpPr>
              <p:cNvPr id="194" name="constraint_objective_2" descr="Editable text; source id constraint_objective_2"/>
              <p:cNvSpPr txBox="1"/>
              <p:nvPr/>
            </p:nvSpPr>
            <p:spPr>
              <a:xfrm>
                <a:off x="4469374" y="310796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95" name="constraint_objective_3" descr="Editable text; source id constraint_objective_3"/>
              <p:cNvSpPr txBox="1"/>
              <p:nvPr/>
            </p:nvSpPr>
            <p:spPr>
              <a:xfrm>
                <a:off x="4517310" y="363780"/>
                <a:ext cx="25658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196" name="constraint_objective_4" descr="Editable text; source id constraint_objective_4"/>
              <p:cNvSpPr txBox="1"/>
              <p:nvPr/>
            </p:nvSpPr>
            <p:spPr>
              <a:xfrm>
                <a:off x="4541803" y="310796"/>
                <a:ext cx="1185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</a:t>
                </a:r>
              </a:p>
            </p:txBody>
          </p:sp>
        </p:grpSp>
        <p:grpSp>
          <p:nvGrpSpPr>
            <p:cNvPr id="304" name="constraint_objective2" descr="Editable formula parts and native mathematical delimiters."/>
            <p:cNvGrpSpPr/>
            <p:nvPr/>
          </p:nvGrpSpPr>
          <p:grpSpPr>
            <a:xfrm>
              <a:off x="4198529" y="434012"/>
              <a:ext cx="503052" cy="131526"/>
              <a:chOff x="4198529" y="434012"/>
              <a:chExt cx="503052" cy="131526"/>
            </a:xfrm>
          </p:grpSpPr>
          <p:sp>
            <p:nvSpPr>
              <p:cNvPr id="197" name="constraint_objective2_0" descr="Editable text; source id constraint_objective2_0"/>
              <p:cNvSpPr txBox="1"/>
              <p:nvPr/>
            </p:nvSpPr>
            <p:spPr>
              <a:xfrm>
                <a:off x="4198529" y="434012"/>
                <a:ext cx="143124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s.t. </a:t>
                </a:r>
              </a:p>
            </p:txBody>
          </p:sp>
          <p:sp>
            <p:nvSpPr>
              <p:cNvPr id="198" name="constraint_objective2_1" descr="Editable text; source id constraint_objective2_1"/>
              <p:cNvSpPr txBox="1"/>
              <p:nvPr/>
            </p:nvSpPr>
            <p:spPr>
              <a:xfrm>
                <a:off x="4340487" y="434012"/>
                <a:ext cx="52045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J</a:t>
                </a:r>
              </a:p>
            </p:txBody>
          </p:sp>
          <p:sp>
            <p:nvSpPr>
              <p:cNvPr id="199" name="constraint_objective2_2" descr="Editable text; source id constraint_objective2_2"/>
              <p:cNvSpPr txBox="1"/>
              <p:nvPr/>
            </p:nvSpPr>
            <p:spPr>
              <a:xfrm>
                <a:off x="4388423" y="486995"/>
                <a:ext cx="32870" cy="78543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586"/>
                  </a:lnSpc>
                  <a:spcBef>
                    <a:spcPts val="0"/>
                  </a:spcBef>
                  <a:spcAft>
                    <a:spcPts val="0"/>
                  </a:spcAft>
                  <a:def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09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00" name="constraint_objective2_3" descr="Editable text; source id constraint_objective2_3"/>
              <p:cNvSpPr txBox="1"/>
              <p:nvPr/>
            </p:nvSpPr>
            <p:spPr>
              <a:xfrm>
                <a:off x="4420127" y="434012"/>
                <a:ext cx="281454" cy="116888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888"/>
                  </a:lnSpc>
                  <a:spcBef>
                    <a:spcPts val="0"/>
                  </a:spcBef>
                  <a:spcAft>
                    <a:spcPts val="0"/>
                  </a:spcAft>
                  <a:def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72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(π) ≤ B</a:t>
                </a:r>
              </a:p>
            </p:txBody>
          </p:sp>
        </p:grpSp>
        <p:cxnSp>
          <p:nvCxnSpPr>
            <p:cNvPr id="201" name="constraint_sep" descr="Editable line; source id constraint_sep"/>
            <p:cNvCxnSpPr/>
            <p:nvPr/>
          </p:nvCxnSpPr>
          <p:spPr>
            <a:xfrm>
              <a:off x="3993184" y="600989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geometry_label" descr="Editable text; source id geometry_label"/>
            <p:cNvSpPr txBox="1"/>
            <p:nvPr/>
          </p:nvSpPr>
          <p:spPr>
            <a:xfrm>
              <a:off x="4012852" y="593341"/>
              <a:ext cx="596057" cy="117549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Joint budgets</a:t>
              </a:r>
            </a:p>
          </p:txBody>
        </p:sp>
        <p:grpSp>
          <p:nvGrpSpPr>
            <p:cNvPr id="307" name="budget_geometry" descr="budget geometry"/>
            <p:cNvGrpSpPr/>
            <p:nvPr/>
          </p:nvGrpSpPr>
          <p:grpSpPr>
            <a:xfrm>
              <a:off x="4036436" y="718824"/>
              <a:ext cx="839137" cy="706939"/>
              <a:chOff x="4036436" y="718824"/>
              <a:chExt cx="839137" cy="706939"/>
            </a:xfrm>
          </p:grpSpPr>
          <p:sp>
            <p:nvSpPr>
              <p:cNvPr id="203" name="feasible_area" descr="Editable shape; source id feasible_area"/>
              <p:cNvSpPr/>
              <p:nvPr/>
            </p:nvSpPr>
            <p:spPr>
              <a:xfrm>
                <a:off x="4144060" y="837361"/>
                <a:ext cx="450113" cy="414909"/>
              </a:xfrm>
              <a:prstGeom prst="rect">
                <a:avLst/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budget_x" descr="Editable line; source id budget_x"/>
              <p:cNvSpPr/>
              <p:nvPr/>
            </p:nvSpPr>
            <p:spPr>
              <a:xfrm>
                <a:off x="4144061" y="1248499"/>
                <a:ext cx="666369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243270" h="8262">
                    <a:moveTo>
                      <a:pt x="0" y="3305"/>
                    </a:moveTo>
                    <a:lnTo>
                      <a:pt x="232254" y="3305"/>
                    </a:lnTo>
                    <a:lnTo>
                      <a:pt x="232254" y="0"/>
                    </a:lnTo>
                    <a:lnTo>
                      <a:pt x="243270" y="4131"/>
                    </a:lnTo>
                    <a:lnTo>
                      <a:pt x="232254" y="8262"/>
                    </a:lnTo>
                    <a:lnTo>
                      <a:pt x="232254" y="4957"/>
                    </a:lnTo>
                    <a:lnTo>
                      <a:pt x="0" y="4957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budget_y" descr="Editable line; source id budget_y"/>
              <p:cNvSpPr/>
              <p:nvPr/>
            </p:nvSpPr>
            <p:spPr>
              <a:xfrm>
                <a:off x="4125201" y="792099"/>
                <a:ext cx="22631" cy="467716"/>
              </a:xfrm>
              <a:custGeom>
                <a:avLst/>
                <a:gdLst/>
                <a:ahLst/>
                <a:cxnLst/>
                <a:rect l="l" t="t" r="r" b="b"/>
                <a:pathLst>
                  <a:path w="8262" h="170748">
                    <a:moveTo>
                      <a:pt x="3305" y="170748"/>
                    </a:moveTo>
                    <a:lnTo>
                      <a:pt x="3305" y="11016"/>
                    </a:lnTo>
                    <a:lnTo>
                      <a:pt x="0" y="11016"/>
                    </a:lnTo>
                    <a:lnTo>
                      <a:pt x="4131" y="0"/>
                    </a:lnTo>
                    <a:lnTo>
                      <a:pt x="8262" y="11016"/>
                    </a:lnTo>
                    <a:lnTo>
                      <a:pt x="4957" y="11016"/>
                    </a:lnTo>
                    <a:lnTo>
                      <a:pt x="4957" y="170748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206" name="budget_bound_x" descr="Editable line; source id budget_bound_x"/>
              <p:cNvCxnSpPr/>
              <p:nvPr/>
            </p:nvCxnSpPr>
            <p:spPr>
              <a:xfrm flipV="1">
                <a:off x="4601718" y="834847"/>
                <a:ext cx="0" cy="417423"/>
              </a:xfrm>
              <a:prstGeom prst="line">
                <a:avLst/>
              </a:prstGeom>
              <a:ln w="5029" cap="rnd">
                <a:solidFill>
                  <a:srgbClr val="B78129"/>
                </a:solidFill>
                <a:custDash>
                  <a:ds d="350000" sp="250000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7" name="budget_bound_y" descr="Editable line; source id budget_bound_y"/>
              <p:cNvCxnSpPr/>
              <p:nvPr/>
            </p:nvCxnSpPr>
            <p:spPr>
              <a:xfrm>
                <a:off x="4149089" y="829818"/>
                <a:ext cx="452629" cy="0"/>
              </a:xfrm>
              <a:prstGeom prst="line">
                <a:avLst/>
              </a:prstGeom>
              <a:ln w="5029" cap="rnd">
                <a:solidFill>
                  <a:srgbClr val="B78129"/>
                </a:solidFill>
                <a:custDash>
                  <a:ds d="350000" sp="250000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8" name="feasible_text" descr="Editable text; source id feasible_text"/>
              <p:cNvSpPr txBox="1"/>
              <p:nvPr/>
            </p:nvSpPr>
            <p:spPr>
              <a:xfrm>
                <a:off x="4220065" y="944925"/>
                <a:ext cx="313864" cy="114581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feasible</a:t>
                </a:r>
              </a:p>
            </p:txBody>
          </p:sp>
          <p:sp>
            <p:nvSpPr>
              <p:cNvPr id="209" name="feasible_text2" descr="Editable text; source id feasible_text2"/>
              <p:cNvSpPr txBox="1"/>
              <p:nvPr/>
            </p:nvSpPr>
            <p:spPr>
              <a:xfrm>
                <a:off x="4248576" y="1048023"/>
                <a:ext cx="256844" cy="114581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region</a:t>
                </a:r>
              </a:p>
            </p:txBody>
          </p:sp>
          <p:sp>
            <p:nvSpPr>
              <p:cNvPr id="210" name="origin" descr="Editable text; source id origin"/>
              <p:cNvSpPr txBox="1"/>
              <p:nvPr/>
            </p:nvSpPr>
            <p:spPr>
              <a:xfrm>
                <a:off x="4046495" y="1258554"/>
                <a:ext cx="62531" cy="10568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0</a:t>
                </a:r>
              </a:p>
            </p:txBody>
          </p:sp>
          <p:sp>
            <p:nvSpPr>
              <p:cNvPr id="211" name="unit_x" descr="Editable text; source id unit_x"/>
              <p:cNvSpPr txBox="1"/>
              <p:nvPr/>
            </p:nvSpPr>
            <p:spPr>
              <a:xfrm>
                <a:off x="4574561" y="1268612"/>
                <a:ext cx="62531" cy="10568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1</a:t>
                </a:r>
              </a:p>
            </p:txBody>
          </p:sp>
          <p:sp>
            <p:nvSpPr>
              <p:cNvPr id="212" name="unit_y" descr="Editable text; source id unit_y"/>
              <p:cNvSpPr txBox="1"/>
              <p:nvPr/>
            </p:nvSpPr>
            <p:spPr>
              <a:xfrm>
                <a:off x="4036436" y="775751"/>
                <a:ext cx="62531" cy="105680"/>
              </a:xfrm>
              <a:prstGeom prst="rect">
                <a:avLst/>
              </a:prstGeom>
              <a:noFill/>
              <a:effectLst/>
            </p:spPr>
            <p:txBody>
              <a:bodyPr wrap="none" anchor="t" tIns="5478" rIns="0" bIns="0" lIns="5478" anchorCtr="0" vertOverflow="overflow">
                <a:noAutofit/>
              </a:bodyPr>
              <a:lstStyle/>
              <a:p>
                <a:pPr algn="l" fontAlgn="base">
                  <a:lnSpc>
                    <a:spcPts val="705"/>
                  </a:lnSpc>
                  <a:spcBef>
                    <a:spcPts val="0"/>
                  </a:spcBef>
                  <a:spcAft>
                    <a:spcPts val="0"/>
                  </a:spcAft>
                  <a:def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1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1</a:t>
                </a:r>
              </a:p>
            </p:txBody>
          </p:sp>
          <p:grpSp>
            <p:nvGrpSpPr>
              <p:cNvPr id="305" name="cost_y" descr="Editable formula parts and native mathematical delimiters."/>
              <p:cNvGrpSpPr/>
              <p:nvPr/>
            </p:nvGrpSpPr>
            <p:grpSpPr>
              <a:xfrm>
                <a:off x="4678861" y="718824"/>
                <a:ext cx="196712" cy="108464"/>
                <a:chOff x="4678861" y="718824"/>
                <a:chExt cx="196712" cy="108464"/>
              </a:xfrm>
            </p:grpSpPr>
            <p:sp>
              <p:nvSpPr>
                <p:cNvPr id="213" name="cost_y_0" descr="Editable text; source id cost_y_0"/>
                <p:cNvSpPr txBox="1"/>
                <p:nvPr/>
              </p:nvSpPr>
              <p:spPr>
                <a:xfrm>
                  <a:off x="4678861" y="718824"/>
                  <a:ext cx="43142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14" name="cost_y_1" descr="Editable text; source id cost_y_1"/>
                <p:cNvSpPr txBox="1"/>
                <p:nvPr/>
              </p:nvSpPr>
              <p:spPr>
                <a:xfrm>
                  <a:off x="4717895" y="762105"/>
                  <a:ext cx="54238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c2</a:t>
                  </a:r>
                </a:p>
              </p:txBody>
            </p:sp>
            <p:sp>
              <p:nvSpPr>
                <p:cNvPr id="215" name="cost_y_2" descr="Editable text; source id cost_y_2"/>
                <p:cNvSpPr txBox="1"/>
                <p:nvPr/>
              </p:nvSpPr>
              <p:spPr>
                <a:xfrm>
                  <a:off x="4770439" y="718824"/>
                  <a:ext cx="26707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16" name="cost_y_3" descr="Editable text; source id cost_y_3"/>
                <p:cNvSpPr txBox="1"/>
                <p:nvPr/>
              </p:nvSpPr>
              <p:spPr>
                <a:xfrm>
                  <a:off x="4795451" y="718824"/>
                  <a:ext cx="53414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17" name="cost_y_4" descr="Editable text; source id cost_y_4"/>
                <p:cNvSpPr txBox="1"/>
                <p:nvPr/>
              </p:nvSpPr>
              <p:spPr>
                <a:xfrm>
                  <a:off x="4844757" y="762105"/>
                  <a:ext cx="30816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2</a:t>
                  </a:r>
                </a:p>
              </p:txBody>
            </p:sp>
          </p:grpSp>
          <p:grpSp>
            <p:nvGrpSpPr>
              <p:cNvPr id="306" name="cost_x" descr="Editable formula parts and native mathematical delimiters."/>
              <p:cNvGrpSpPr/>
              <p:nvPr/>
            </p:nvGrpSpPr>
            <p:grpSpPr>
              <a:xfrm>
                <a:off x="4276525" y="1317299"/>
                <a:ext cx="196712" cy="108464"/>
                <a:chOff x="4276525" y="1317299"/>
                <a:chExt cx="196712" cy="108464"/>
              </a:xfrm>
            </p:grpSpPr>
            <p:sp>
              <p:nvSpPr>
                <p:cNvPr id="218" name="cost_x_0" descr="Editable text; source id cost_x_0"/>
                <p:cNvSpPr txBox="1"/>
                <p:nvPr/>
              </p:nvSpPr>
              <p:spPr>
                <a:xfrm>
                  <a:off x="4276525" y="1317299"/>
                  <a:ext cx="43142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J</a:t>
                  </a:r>
                </a:p>
              </p:txBody>
            </p:sp>
            <p:sp>
              <p:nvSpPr>
                <p:cNvPr id="219" name="cost_x_1" descr="Editable text; source id cost_x_1"/>
                <p:cNvSpPr txBox="1"/>
                <p:nvPr/>
              </p:nvSpPr>
              <p:spPr>
                <a:xfrm>
                  <a:off x="4315559" y="1360580"/>
                  <a:ext cx="54238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c1</a:t>
                  </a:r>
                </a:p>
              </p:txBody>
            </p:sp>
            <p:sp>
              <p:nvSpPr>
                <p:cNvPr id="220" name="cost_x_2" descr="Editable text; source id cost_x_2"/>
                <p:cNvSpPr txBox="1"/>
                <p:nvPr/>
              </p:nvSpPr>
              <p:spPr>
                <a:xfrm>
                  <a:off x="4368103" y="1317299"/>
                  <a:ext cx="26707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/</a:t>
                  </a:r>
                </a:p>
              </p:txBody>
            </p:sp>
            <p:sp>
              <p:nvSpPr>
                <p:cNvPr id="221" name="cost_x_3" descr="Editable text; source id cost_x_3"/>
                <p:cNvSpPr txBox="1"/>
                <p:nvPr/>
              </p:nvSpPr>
              <p:spPr>
                <a:xfrm>
                  <a:off x="4393115" y="1317299"/>
                  <a:ext cx="53414" cy="9664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33" b="0" i="1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B</a:t>
                  </a:r>
                </a:p>
              </p:txBody>
            </p:sp>
            <p:sp>
              <p:nvSpPr>
                <p:cNvPr id="222" name="cost_x_4" descr="Editable text; source id cost_x_4"/>
                <p:cNvSpPr txBox="1"/>
                <p:nvPr/>
              </p:nvSpPr>
              <p:spPr>
                <a:xfrm>
                  <a:off x="4442421" y="1360580"/>
                  <a:ext cx="30816" cy="6518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369" rIns="0" bIns="0" lIns="1369" anchorCtr="0" vertOverflow="overflow">
                  <a:noAutofit/>
                </a:bodyPr>
                <a:lstStyle/>
                <a:p>
                  <a:pPr algn="l" fontAlgn="base">
                    <a:lnSpc>
                      <a:spcPts val="480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18" b="0" i="0" lang="zh-CN" dirty="0">
                      <a:solidFill>
                        <a:srgbClr val="29343E"/>
                      </a:solidFill>
                      <a:latin typeface="Liberation Serif"/>
                      <a:ea typeface="Liberation Serif"/>
                      <a:cs typeface="Liberation Serif"/>
                    </a:rPr>
                    <a:t>1</a:t>
                  </a:r>
                </a:p>
              </p:txBody>
            </p:sp>
          </p:grpSp>
        </p:grpSp>
        <p:sp>
          <p:nvSpPr>
            <p:cNvPr id="223" name="schematic_note" descr="Editable text; source id schematic_note"/>
            <p:cNvSpPr txBox="1"/>
            <p:nvPr/>
          </p:nvSpPr>
          <p:spPr>
            <a:xfrm>
              <a:off x="4489273" y="1384509"/>
              <a:ext cx="358837" cy="102712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schematic</a:t>
              </a:r>
            </a:p>
          </p:txBody>
        </p:sp>
        <p:cxnSp>
          <p:nvCxnSpPr>
            <p:cNvPr id="224" name="limits_rule" descr="Editable line; source id limits_rule"/>
            <p:cNvCxnSpPr/>
            <p:nvPr/>
          </p:nvCxnSpPr>
          <p:spPr>
            <a:xfrm>
              <a:off x="3993184" y="1536420"/>
              <a:ext cx="917829" cy="0"/>
            </a:xfrm>
            <a:prstGeom prst="line">
              <a:avLst/>
            </a:prstGeom>
            <a:ln w="3520" cap="rnd">
              <a:solidFill>
                <a:srgbClr val="CDD7D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limits_title" descr="Editable text; source id limits_title"/>
            <p:cNvSpPr txBox="1"/>
            <p:nvPr/>
          </p:nvSpPr>
          <p:spPr>
            <a:xfrm>
              <a:off x="4012852" y="1538370"/>
              <a:ext cx="750823" cy="114581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74"/>
                </a:lnSpc>
                <a:spcBef>
                  <a:spcPts val="0"/>
                </a:spcBef>
                <a:spcAft>
                  <a:spcPts val="0"/>
                </a:spcAft>
                <a:defRPr sz="67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73" b="1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Graph-price limits</a:t>
              </a:r>
            </a:p>
          </p:txBody>
        </p:sp>
        <p:sp>
          <p:nvSpPr>
            <p:cNvPr id="226" name="limits_qualifier" descr="Editable text; source id limits_qualifier"/>
            <p:cNvSpPr txBox="1"/>
            <p:nvPr/>
          </p:nvSpPr>
          <p:spPr>
            <a:xfrm>
              <a:off x="4012852" y="1643288"/>
              <a:ext cx="677955" cy="105680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under assumptions</a:t>
              </a:r>
            </a:p>
          </p:txBody>
        </p:sp>
        <p:sp>
          <p:nvSpPr>
            <p:cNvPr id="227" name="limit_zero_0" descr="Editable text; source id limit_zero_0"/>
            <p:cNvSpPr txBox="1"/>
            <p:nvPr/>
          </p:nvSpPr>
          <p:spPr>
            <a:xfrm>
              <a:off x="4016961" y="1750271"/>
              <a:ext cx="202776" cy="99537"/>
            </a:xfrm>
            <a:prstGeom prst="rect">
              <a:avLst/>
            </a:prstGeom>
            <a:noFill/>
            <a:effectLst/>
          </p:spPr>
          <p:txBody>
            <a:bodyPr wrap="none" anchor="t" tIns="1369" rIns="0" bIns="0" lIns="13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29343E"/>
                  </a:solidFill>
                  <a:latin typeface="Liberation Serif"/>
                  <a:ea typeface="Liberation Serif"/>
                  <a:cs typeface="Liberation Serif"/>
                </a:rPr>
                <a:t>ε → 0</a:t>
              </a:r>
            </a:p>
          </p:txBody>
        </p:sp>
        <p:sp>
          <p:nvSpPr>
            <p:cNvPr id="228" name="limit_lp" descr="Editable text; source id limit_lp"/>
            <p:cNvSpPr txBox="1"/>
            <p:nvPr/>
          </p:nvSpPr>
          <p:spPr>
            <a:xfrm>
              <a:off x="4319633" y="1746386"/>
              <a:ext cx="586876" cy="105680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705"/>
                </a:lnSpc>
                <a:spcBef>
                  <a:spcPts val="0"/>
                </a:spcBef>
                <a:spcAft>
                  <a:spcPts val="0"/>
                </a:spcAft>
                <a:defRPr sz="61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13" b="0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LP-derived price</a:t>
              </a:r>
            </a:p>
          </p:txBody>
        </p:sp>
        <p:sp>
          <p:nvSpPr>
            <p:cNvPr id="229" name="limit_infty_0" descr="Editable text; source id limit_infty_0"/>
            <p:cNvSpPr txBox="1"/>
            <p:nvPr/>
          </p:nvSpPr>
          <p:spPr>
            <a:xfrm>
              <a:off x="4016961" y="1860913"/>
              <a:ext cx="220506" cy="99537"/>
            </a:xfrm>
            <a:prstGeom prst="rect">
              <a:avLst/>
            </a:prstGeom>
            <a:noFill/>
            <a:effectLst/>
          </p:spPr>
          <p:txBody>
            <a:bodyPr wrap="none" anchor="t" tIns="1369" rIns="0" bIns="0" lIns="13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defRPr>
              </a:pPr>
              <a:r>
                <a:rPr sz="653" b="0" i="1" lang="zh-CN" dirty="0">
                  <a:solidFill>
                    <a:srgbClr val="B78129"/>
                  </a:solidFill>
                  <a:latin typeface="Liberation Serif"/>
                  <a:ea typeface="Liberation Serif"/>
                  <a:cs typeface="Liberation Serif"/>
                </a:rPr>
                <a:t>ε → ∞</a:t>
              </a:r>
            </a:p>
          </p:txBody>
        </p:sp>
        <p:sp>
          <p:nvSpPr>
            <p:cNvPr id="230" name="limit_infty_text" descr="Editable text; source id limit_infty_text"/>
            <p:cNvSpPr txBox="1"/>
            <p:nvPr/>
          </p:nvSpPr>
          <p:spPr>
            <a:xfrm>
              <a:off x="4319633" y="1859768"/>
              <a:ext cx="602006" cy="102712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683"/>
                </a:lnSpc>
                <a:spcBef>
                  <a:spcPts val="0"/>
                </a:spcBef>
                <a:spcAft>
                  <a:spcPts val="0"/>
                </a:spcAft>
                <a:def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594" b="0" i="0" lang="zh-CN" dirty="0">
                  <a:solidFill>
                    <a:srgbClr val="77858D"/>
                  </a:solidFill>
                  <a:latin typeface="Liberation Sans"/>
                  <a:ea typeface="Liberation Sans"/>
                  <a:cs typeface="Liberation Sans"/>
                </a:rPr>
                <a:t>clipped active-set</a:t>
              </a:r>
            </a:p>
          </p:txBody>
        </p:sp>
      </p:grpSp>
      <p:grpSp>
        <p:nvGrpSpPr>
          <p:cNvPr id="309" name="central_to_update" descr="One editable routed connector; fixed endpoints."/>
          <p:cNvGrpSpPr/>
          <p:nvPr/>
        </p:nvGrpSpPr>
        <p:grpSpPr>
          <a:xfrm>
            <a:off x="2553576" y="1984019"/>
            <a:ext cx="803414" cy="85497"/>
            <a:chOff x="2553576" y="1984019"/>
            <a:chExt cx="803414" cy="85497"/>
          </a:xfrm>
        </p:grpSpPr>
        <p:cxnSp>
          <p:nvCxnSpPr>
            <p:cNvPr id="231" name="central_to_update_0" descr="Editable line; source id central_to_update_0"/>
            <p:cNvCxnSpPr/>
            <p:nvPr/>
          </p:nvCxnSpPr>
          <p:spPr>
            <a:xfrm>
              <a:off x="3356990" y="1984019"/>
              <a:ext cx="0" cy="35204"/>
            </a:xfrm>
            <a:prstGeom prst="line">
              <a:avLst/>
            </a:prstGeom>
            <a:ln w="5783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entral_to_update_1" descr="Editable line; source id central_to_update_1"/>
            <p:cNvCxnSpPr/>
            <p:nvPr/>
          </p:nvCxnSpPr>
          <p:spPr>
            <a:xfrm flipH="1">
              <a:off x="2564892" y="2019223"/>
              <a:ext cx="792098" cy="0"/>
            </a:xfrm>
            <a:prstGeom prst="line">
              <a:avLst/>
            </a:prstGeom>
            <a:ln w="5783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central_to_update_2" descr="Editable line; source id central_to_update_2"/>
            <p:cNvSpPr/>
            <p:nvPr/>
          </p:nvSpPr>
          <p:spPr>
            <a:xfrm>
              <a:off x="2553576" y="2019224"/>
              <a:ext cx="22631" cy="50292"/>
            </a:xfrm>
            <a:custGeom>
              <a:avLst/>
              <a:gdLst/>
              <a:ahLst/>
              <a:cxnLst/>
              <a:rect l="l" t="t" r="r" b="b"/>
              <a:pathLst>
                <a:path w="8262" h="18360">
                  <a:moveTo>
                    <a:pt x="5187" y="0"/>
                  </a:moveTo>
                  <a:lnTo>
                    <a:pt x="5187" y="7344"/>
                  </a:lnTo>
                  <a:lnTo>
                    <a:pt x="8262" y="7344"/>
                  </a:lnTo>
                  <a:lnTo>
                    <a:pt x="4131" y="18360"/>
                  </a:lnTo>
                  <a:lnTo>
                    <a:pt x="0" y="7344"/>
                  </a:lnTo>
                  <a:lnTo>
                    <a:pt x="3075" y="7344"/>
                  </a:lnTo>
                  <a:lnTo>
                    <a:pt x="3075" y="0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1" name="common_interface" descr="common interface"/>
          <p:cNvGrpSpPr/>
          <p:nvPr/>
        </p:nvGrpSpPr>
        <p:grpSpPr>
          <a:xfrm>
            <a:off x="60350" y="2079574"/>
            <a:ext cx="4908499" cy="216255"/>
            <a:chOff x="60350" y="2079574"/>
            <a:chExt cx="4908499" cy="216255"/>
          </a:xfrm>
        </p:grpSpPr>
        <p:sp>
          <p:nvSpPr>
            <p:cNvPr id="234" name="common_interface_panel" descr="Editable shape; source id common_interface_panel"/>
            <p:cNvSpPr/>
            <p:nvPr/>
          </p:nvSpPr>
          <p:spPr>
            <a:xfrm>
              <a:off x="60350" y="2079574"/>
              <a:ext cx="4908499" cy="216255"/>
            </a:xfrm>
            <a:prstGeom prst="roundRect">
              <a:avLst>
                <a:gd name="adj" fmla="val 9302"/>
              </a:avLst>
            </a:prstGeom>
            <a:solidFill>
              <a:srgbClr val="FFFFFF"/>
            </a:solidFill>
            <a:ln w="4023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5" name="interface_label" descr="Editable text; source id interface_label"/>
            <p:cNvSpPr txBox="1"/>
            <p:nvPr/>
          </p:nvSpPr>
          <p:spPr>
            <a:xfrm>
              <a:off x="99973" y="2122678"/>
              <a:ext cx="1211418" cy="120516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19"/>
                </a:lnSpc>
                <a:spcBef>
                  <a:spcPts val="0"/>
                </a:spcBef>
                <a:spcAft>
                  <a:spcPts val="0"/>
                </a:spcAft>
                <a:def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12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One policy-update interface</a:t>
              </a:r>
            </a:p>
          </p:txBody>
        </p:sp>
        <p:grpSp>
          <p:nvGrpSpPr>
            <p:cNvPr id="310" name="advantage" descr="Editable formula parts and native mathematical delimiters."/>
            <p:cNvGrpSpPr/>
            <p:nvPr/>
          </p:nvGrpSpPr>
          <p:grpSpPr>
            <a:xfrm>
              <a:off x="2090756" y="2121769"/>
              <a:ext cx="1327708" cy="148443"/>
              <a:chOff x="2090756" y="2121769"/>
              <a:chExt cx="1327708" cy="148443"/>
            </a:xfrm>
          </p:grpSpPr>
          <p:sp>
            <p:nvSpPr>
              <p:cNvPr id="236" name="advantage_0" descr="Editable text; source id advantage_0"/>
              <p:cNvSpPr txBox="1"/>
              <p:nvPr/>
            </p:nvSpPr>
            <p:spPr>
              <a:xfrm>
                <a:off x="2090756" y="2121769"/>
                <a:ext cx="7875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Ã</a:t>
                </a:r>
              </a:p>
            </p:txBody>
          </p:sp>
          <p:sp>
            <p:nvSpPr>
              <p:cNvPr id="237" name="advantage_1" descr="Editable text; source id advantage_1"/>
              <p:cNvSpPr txBox="1"/>
              <p:nvPr/>
            </p:nvSpPr>
            <p:spPr>
              <a:xfrm>
                <a:off x="2168418" y="2121769"/>
                <a:ext cx="144611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= (</a:t>
                </a:r>
              </a:p>
            </p:txBody>
          </p:sp>
          <p:sp>
            <p:nvSpPr>
              <p:cNvPr id="238" name="advantage_2" descr="Editable text; source id advantage_2"/>
              <p:cNvSpPr txBox="1"/>
              <p:nvPr/>
            </p:nvSpPr>
            <p:spPr>
              <a:xfrm>
                <a:off x="2305774" y="2121769"/>
                <a:ext cx="7875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39" name="advantage_3" descr="Editable text; source id advantage_3"/>
              <p:cNvSpPr txBox="1"/>
              <p:nvPr/>
            </p:nvSpPr>
            <p:spPr>
              <a:xfrm>
                <a:off x="2380418" y="2176040"/>
                <a:ext cx="26215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r</a:t>
                </a:r>
              </a:p>
            </p:txBody>
          </p:sp>
          <p:sp>
            <p:nvSpPr>
              <p:cNvPr id="240" name="advantage_4" descr="Editable text; source id advantage_4"/>
              <p:cNvSpPr txBox="1"/>
              <p:nvPr/>
            </p:nvSpPr>
            <p:spPr>
              <a:xfrm>
                <a:off x="2405542" y="2121769"/>
                <a:ext cx="111120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 − </a:t>
                </a:r>
              </a:p>
            </p:txBody>
          </p:sp>
          <p:sp>
            <p:nvSpPr>
              <p:cNvPr id="241" name="advantage_5" descr="Editable text; source id advantage_5"/>
              <p:cNvSpPr txBox="1"/>
              <p:nvPr/>
            </p:nvSpPr>
            <p:spPr>
              <a:xfrm>
                <a:off x="2515571" y="2121769"/>
                <a:ext cx="76013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242" name="advantage_6" descr="Editable text; source id advantage_6"/>
              <p:cNvSpPr txBox="1"/>
              <p:nvPr/>
            </p:nvSpPr>
            <p:spPr>
              <a:xfrm>
                <a:off x="2587475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43" name="advantage_7" descr="Editable text; source id advantage_7"/>
              <p:cNvSpPr txBox="1"/>
              <p:nvPr/>
            </p:nvSpPr>
            <p:spPr>
              <a:xfrm>
                <a:off x="2646647" y="2121769"/>
                <a:ext cx="5341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44" name="advantage_8" descr="Editable text; source id advantage_8"/>
              <p:cNvSpPr txBox="1"/>
              <p:nvPr/>
            </p:nvSpPr>
            <p:spPr>
              <a:xfrm>
                <a:off x="2695952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45" name="advantage_9" descr="Editable text; source id advantage_9"/>
              <p:cNvSpPr txBox="1"/>
              <p:nvPr/>
            </p:nvSpPr>
            <p:spPr>
              <a:xfrm>
                <a:off x="2726362" y="2121769"/>
                <a:ext cx="7875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7532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A</a:t>
                </a:r>
              </a:p>
            </p:txBody>
          </p:sp>
          <p:sp>
            <p:nvSpPr>
              <p:cNvPr id="246" name="advantage_10" descr="Editable text; source id advantage_10"/>
              <p:cNvSpPr txBox="1"/>
              <p:nvPr/>
            </p:nvSpPr>
            <p:spPr>
              <a:xfrm>
                <a:off x="2801006" y="2176040"/>
                <a:ext cx="33576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c</a:t>
                </a:r>
              </a:p>
            </p:txBody>
          </p:sp>
          <p:sp>
            <p:nvSpPr>
              <p:cNvPr id="247" name="advantage_11" descr="Editable text; source id advantage_11"/>
              <p:cNvSpPr txBox="1"/>
              <p:nvPr/>
            </p:nvSpPr>
            <p:spPr>
              <a:xfrm>
                <a:off x="2830474" y="2210581"/>
                <a:ext cx="28761" cy="59631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437"/>
                  </a:lnSpc>
                  <a:spcBef>
                    <a:spcPts val="0"/>
                  </a:spcBef>
                  <a:spcAft>
                    <a:spcPts val="0"/>
                  </a:spcAft>
                  <a:defRPr sz="38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380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48" name="advantage_12" descr="Editable text; source id advantage_12"/>
              <p:cNvSpPr txBox="1"/>
              <p:nvPr/>
            </p:nvSpPr>
            <p:spPr>
              <a:xfrm>
                <a:off x="2858144" y="2121769"/>
                <a:ext cx="306792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) / (1 + </a:t>
                </a:r>
              </a:p>
            </p:txBody>
          </p:sp>
          <p:sp>
            <p:nvSpPr>
              <p:cNvPr id="249" name="advantage_13" descr="Editable text; source id advantage_13"/>
              <p:cNvSpPr txBox="1"/>
              <p:nvPr/>
            </p:nvSpPr>
            <p:spPr>
              <a:xfrm>
                <a:off x="3163845" y="2121769"/>
                <a:ext cx="76013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∑</a:t>
                </a:r>
              </a:p>
            </p:txBody>
          </p:sp>
          <p:sp>
            <p:nvSpPr>
              <p:cNvPr id="250" name="advantage_14" descr="Editable text; source id advantage_14"/>
              <p:cNvSpPr txBox="1"/>
              <p:nvPr/>
            </p:nvSpPr>
            <p:spPr>
              <a:xfrm>
                <a:off x="3235749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51" name="advantage_15" descr="Editable text; source id advantage_15"/>
              <p:cNvSpPr txBox="1"/>
              <p:nvPr/>
            </p:nvSpPr>
            <p:spPr>
              <a:xfrm>
                <a:off x="3294921" y="2121769"/>
                <a:ext cx="5341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4108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1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λ</a:t>
                </a:r>
              </a:p>
            </p:txBody>
          </p:sp>
          <p:sp>
            <p:nvSpPr>
              <p:cNvPr id="252" name="advantage_16" descr="Editable text; source id advantage_16"/>
              <p:cNvSpPr txBox="1"/>
              <p:nvPr/>
            </p:nvSpPr>
            <p:spPr>
              <a:xfrm>
                <a:off x="3344227" y="2176040"/>
                <a:ext cx="37664" cy="80452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601"/>
                  </a:lnSpc>
                  <a:spcBef>
                    <a:spcPts val="0"/>
                  </a:spcBef>
                  <a:spcAft>
                    <a:spcPts val="0"/>
                  </a:spcAft>
                  <a:def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522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k</a:t>
                </a:r>
              </a:p>
            </p:txBody>
          </p:sp>
          <p:sp>
            <p:nvSpPr>
              <p:cNvPr id="253" name="advantage_17" descr="Editable text; source id advantage_17"/>
              <p:cNvSpPr txBox="1"/>
              <p:nvPr/>
            </p:nvSpPr>
            <p:spPr>
              <a:xfrm>
                <a:off x="3380800" y="2121769"/>
                <a:ext cx="37664" cy="119780"/>
              </a:xfrm>
              <a:prstGeom prst="rect">
                <a:avLst/>
              </a:prstGeom>
              <a:noFill/>
              <a:effectLst/>
            </p:spPr>
            <p:txBody>
              <a:bodyPr wrap="none" anchor="t" tIns="1369" rIns="0" bIns="0" lIns="1369" anchorCtr="0" vertOverflow="overflow">
                <a:noAutofit/>
              </a:bodyPr>
              <a:lstStyle/>
              <a:p>
                <a:pPr algn="l" fontAlgn="base">
                  <a:lnSpc>
                    <a:spcPts val="910"/>
                  </a:lnSpc>
                  <a:spcBef>
                    <a:spcPts val="0"/>
                  </a:spcBef>
                  <a:spcAft>
                    <a:spcPts val="0"/>
                  </a:spcAft>
                  <a:def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defRPr>
                </a:pPr>
                <a:r>
                  <a:rPr sz="791" b="0" i="0" lang="zh-CN" dirty="0">
                    <a:solidFill>
                      <a:srgbClr val="29343E"/>
                    </a:solidFill>
                    <a:latin typeface="Liberation Serif"/>
                    <a:ea typeface="Liberation Serif"/>
                    <a:cs typeface="Liberation Serif"/>
                  </a:rPr>
                  <a:t>)</a:t>
                </a:r>
              </a:p>
            </p:txBody>
          </p:sp>
        </p:grpSp>
        <p:sp>
          <p:nvSpPr>
            <p:cNvPr id="254" name="to_ppo" descr="Editable line; source id to_ppo"/>
            <p:cNvSpPr/>
            <p:nvPr/>
          </p:nvSpPr>
          <p:spPr>
            <a:xfrm>
              <a:off x="4030904" y="2166328"/>
              <a:ext cx="93040" cy="22631"/>
            </a:xfrm>
            <a:custGeom>
              <a:avLst/>
              <a:gdLst/>
              <a:ahLst/>
              <a:cxnLst/>
              <a:rect l="l" t="t" r="r" b="b"/>
              <a:pathLst>
                <a:path w="33966" h="8262">
                  <a:moveTo>
                    <a:pt x="0" y="3121"/>
                  </a:moveTo>
                  <a:lnTo>
                    <a:pt x="22950" y="3121"/>
                  </a:lnTo>
                  <a:lnTo>
                    <a:pt x="22950" y="0"/>
                  </a:lnTo>
                  <a:lnTo>
                    <a:pt x="33966" y="4131"/>
                  </a:lnTo>
                  <a:lnTo>
                    <a:pt x="22950" y="8262"/>
                  </a:lnTo>
                  <a:lnTo>
                    <a:pt x="22950" y="5141"/>
                  </a:lnTo>
                  <a:lnTo>
                    <a:pt x="0" y="5141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5" name="optimizer" descr="Editable text; source id optimizer"/>
            <p:cNvSpPr txBox="1"/>
            <p:nvPr/>
          </p:nvSpPr>
          <p:spPr>
            <a:xfrm>
              <a:off x="4247222" y="2117884"/>
              <a:ext cx="566332" cy="126450"/>
            </a:xfrm>
            <a:prstGeom prst="rect">
              <a:avLst/>
            </a:prstGeom>
            <a:noFill/>
            <a:effectLst/>
          </p:spPr>
          <p:txBody>
            <a:bodyPr wrap="none" anchor="t" tIns="5478" rIns="0" bIns="0" lIns="5478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PPO / TRPO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