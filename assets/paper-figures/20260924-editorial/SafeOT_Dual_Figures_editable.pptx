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029200" cy="23447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69" name="penalty_view" descr="penalty view"/>
          <p:cNvGrpSpPr/>
          <p:nvPr/>
        </p:nvGrpSpPr>
        <p:grpSpPr>
          <a:xfrm>
            <a:off x="60350" y="75438"/>
            <a:ext cx="1033500" cy="1898523"/>
            <a:chOff x="60350" y="75438"/>
            <a:chExt cx="1033500" cy="1898523"/>
          </a:xfrm>
        </p:grpSpPr>
        <p:sp>
          <p:nvSpPr>
            <p:cNvPr id="2" name="penalty_view_panel" descr="Editable shape; source id penalty_view_panel"/>
            <p:cNvSpPr/>
            <p:nvPr/>
          </p:nvSpPr>
          <p:spPr>
            <a:xfrm>
              <a:off x="60350" y="75438"/>
              <a:ext cx="1033500" cy="1898523"/>
            </a:xfrm>
            <a:prstGeom prst="roundRect">
              <a:avLst>
                <a:gd name="adj" fmla="val 1946"/>
              </a:avLst>
            </a:prstGeom>
            <a:solidFill>
              <a:srgbClr val="FFFFFF"/>
            </a:solidFill>
            <a:ln w="4526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penalty_title" descr="Editable text; source id penalty_title"/>
            <p:cNvSpPr txBox="1"/>
            <p:nvPr/>
          </p:nvSpPr>
          <p:spPr>
            <a:xfrm>
              <a:off x="252958" y="124963"/>
              <a:ext cx="653987" cy="13831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1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grpSp>
          <p:nvGrpSpPr>
            <p:cNvPr id="256" name="penalty_objective" descr="Editable formula parts and native mathematical delimiters."/>
            <p:cNvGrpSpPr/>
            <p:nvPr/>
          </p:nvGrpSpPr>
          <p:grpSpPr>
            <a:xfrm>
              <a:off x="364763" y="310796"/>
              <a:ext cx="420586" cy="131527"/>
              <a:chOff x="364763" y="310796"/>
              <a:chExt cx="420586" cy="131527"/>
            </a:xfrm>
          </p:grpSpPr>
          <p:sp>
            <p:nvSpPr>
              <p:cNvPr id="4" name="penalty_objective_0" descr="Editable text; source id penalty_objective_0"/>
              <p:cNvSpPr txBox="1"/>
              <p:nvPr/>
            </p:nvSpPr>
            <p:spPr>
              <a:xfrm>
                <a:off x="364763" y="310796"/>
                <a:ext cx="1732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5" name="penalty_objective_1" descr="Editable text; source id penalty_objective_1"/>
              <p:cNvSpPr txBox="1"/>
              <p:nvPr/>
            </p:nvSpPr>
            <p:spPr>
              <a:xfrm>
                <a:off x="533910" y="363780"/>
                <a:ext cx="36979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6" name="penalty_objective_2" descr="Editable text; source id penalty_objective_2"/>
              <p:cNvSpPr txBox="1"/>
              <p:nvPr/>
            </p:nvSpPr>
            <p:spPr>
              <a:xfrm>
                <a:off x="594376" y="310796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7" name="penalty_objective_3" descr="Editable text; source id penalty_objective_3"/>
              <p:cNvSpPr txBox="1"/>
              <p:nvPr/>
            </p:nvSpPr>
            <p:spPr>
              <a:xfrm>
                <a:off x="642312" y="363780"/>
                <a:ext cx="25658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8" name="penalty_objective_4" descr="Editable text; source id penalty_objective_4"/>
              <p:cNvSpPr txBox="1"/>
              <p:nvPr/>
            </p:nvSpPr>
            <p:spPr>
              <a:xfrm>
                <a:off x="666804" y="310796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57" name="penalty_subtract" descr="Editable formula parts and native mathematical delimiters."/>
            <p:cNvGrpSpPr/>
            <p:nvPr/>
          </p:nvGrpSpPr>
          <p:grpSpPr>
            <a:xfrm>
              <a:off x="390497" y="416385"/>
              <a:ext cx="369118" cy="149153"/>
              <a:chOff x="390497" y="416385"/>
              <a:chExt cx="369118" cy="149153"/>
            </a:xfrm>
          </p:grpSpPr>
          <p:sp>
            <p:nvSpPr>
              <p:cNvPr id="9" name="penalty_subtract_0" descr="Editable text; source id penalty_subtract_0"/>
              <p:cNvSpPr txBox="1"/>
              <p:nvPr/>
            </p:nvSpPr>
            <p:spPr>
              <a:xfrm>
                <a:off x="390497" y="434012"/>
                <a:ext cx="84230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0" name="penalty_subtract_1" descr="Editable text; source id penalty_subtract_1"/>
              <p:cNvSpPr txBox="1"/>
              <p:nvPr/>
            </p:nvSpPr>
            <p:spPr>
              <a:xfrm>
                <a:off x="470822" y="434012"/>
                <a:ext cx="520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" name="penalty_subtract_2" descr="Editable text; source id penalty_subtract_2"/>
              <p:cNvSpPr txBox="1"/>
              <p:nvPr/>
            </p:nvSpPr>
            <p:spPr>
              <a:xfrm>
                <a:off x="518769" y="416385"/>
                <a:ext cx="43827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2" name="penalty_subtract_3" descr="Editable text; source id penalty_subtract_3"/>
              <p:cNvSpPr txBox="1"/>
              <p:nvPr/>
            </p:nvSpPr>
            <p:spPr>
              <a:xfrm>
                <a:off x="561430" y="434012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3" name="penalty_subtract_4" descr="Editable text; source id penalty_subtract_4"/>
              <p:cNvSpPr txBox="1"/>
              <p:nvPr/>
            </p:nvSpPr>
            <p:spPr>
              <a:xfrm>
                <a:off x="609366" y="486995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" name="penalty_subtract_5" descr="Editable text; source id penalty_subtract_5"/>
              <p:cNvSpPr txBox="1"/>
              <p:nvPr/>
            </p:nvSpPr>
            <p:spPr>
              <a:xfrm>
                <a:off x="641070" y="434012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15" name="penalty_sep" descr="Editable line; source id penalty_sep"/>
            <p:cNvCxnSpPr/>
            <p:nvPr/>
          </p:nvCxnSpPr>
          <p:spPr>
            <a:xfrm>
              <a:off x="118186" y="600989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weighted_label" descr="Editable text; source id weighted_label"/>
            <p:cNvSpPr txBox="1"/>
            <p:nvPr/>
          </p:nvSpPr>
          <p:spPr>
            <a:xfrm>
              <a:off x="140368" y="626031"/>
              <a:ext cx="667897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Weighted costs</a:t>
              </a:r>
            </a:p>
          </p:txBody>
        </p:sp>
        <p:grpSp>
          <p:nvGrpSpPr>
            <p:cNvPr id="259" name="cost_term0" descr="cost term0"/>
            <p:cNvGrpSpPr/>
            <p:nvPr/>
          </p:nvGrpSpPr>
          <p:grpSpPr>
            <a:xfrm>
              <a:off x="143332" y="769467"/>
              <a:ext cx="367131" cy="140782"/>
              <a:chOff x="143332" y="769467"/>
              <a:chExt cx="367131" cy="140782"/>
            </a:xfrm>
          </p:grpSpPr>
          <p:sp>
            <p:nvSpPr>
              <p:cNvPr id="17" name="cost_term0_panel" descr="Editable shape; source id cost_term0_panel"/>
              <p:cNvSpPr/>
              <p:nvPr/>
            </p:nvSpPr>
            <p:spPr>
              <a:xfrm>
                <a:off x="143332" y="769467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8" name="jc0" descr="Editable formula parts and native mathematical delimiters."/>
              <p:cNvGrpSpPr/>
              <p:nvPr/>
            </p:nvGrpSpPr>
            <p:grpSpPr>
              <a:xfrm>
                <a:off x="220701" y="772562"/>
                <a:ext cx="210971" cy="137687"/>
                <a:chOff x="220701" y="772562"/>
                <a:chExt cx="210971" cy="137687"/>
              </a:xfrm>
            </p:grpSpPr>
            <p:sp>
              <p:nvSpPr>
                <p:cNvPr id="18" name="jc0_0" descr="Editable text; source id jc0_0"/>
                <p:cNvSpPr txBox="1"/>
                <p:nvPr/>
              </p:nvSpPr>
              <p:spPr>
                <a:xfrm>
                  <a:off x="220701" y="772562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19" name="jc0_1" descr="Editable text; source id jc0_1"/>
                <p:cNvSpPr txBox="1"/>
                <p:nvPr/>
              </p:nvSpPr>
              <p:spPr>
                <a:xfrm>
                  <a:off x="265898" y="823654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0" name="jc0_2" descr="Editable text; source id jc0_2"/>
                <p:cNvSpPr txBox="1"/>
                <p:nvPr/>
              </p:nvSpPr>
              <p:spPr>
                <a:xfrm>
                  <a:off x="293290" y="854782"/>
                  <a:ext cx="26707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21" name="jc0_3" descr="Editable text; source id jc0_3"/>
                <p:cNvSpPr txBox="1"/>
                <p:nvPr/>
              </p:nvSpPr>
              <p:spPr>
                <a:xfrm>
                  <a:off x="318680" y="772562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0" name="weight0" descr="Editable formula parts and native mathematical delimiters."/>
            <p:cNvGrpSpPr/>
            <p:nvPr/>
          </p:nvGrpSpPr>
          <p:grpSpPr>
            <a:xfrm>
              <a:off x="553476" y="772562"/>
              <a:ext cx="80807" cy="125818"/>
              <a:chOff x="553476" y="772562"/>
              <a:chExt cx="80807" cy="125818"/>
            </a:xfrm>
          </p:grpSpPr>
          <p:sp>
            <p:nvSpPr>
              <p:cNvPr id="22" name="weight0_0" descr="Editable text; source id weight0_0"/>
              <p:cNvSpPr txBox="1"/>
              <p:nvPr/>
            </p:nvSpPr>
            <p:spPr>
              <a:xfrm>
                <a:off x="553476" y="772562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3" name="weight0_1" descr="Editable text; source id weight0_1"/>
              <p:cNvSpPr txBox="1"/>
              <p:nvPr/>
            </p:nvSpPr>
            <p:spPr>
              <a:xfrm>
                <a:off x="599358" y="823654"/>
                <a:ext cx="34925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sp>
          <p:nvSpPr>
            <p:cNvPr id="24" name="weighted_path0" descr="Editable line; source id weighted_path0"/>
            <p:cNvSpPr/>
            <p:nvPr/>
          </p:nvSpPr>
          <p:spPr>
            <a:xfrm>
              <a:off x="659102" y="841246"/>
              <a:ext cx="110366" cy="212371"/>
            </a:xfrm>
            <a:custGeom>
              <a:avLst/>
              <a:gdLst/>
              <a:ahLst/>
              <a:cxnLst/>
              <a:rect l="l" t="t" r="r" b="b"/>
              <a:pathLst>
                <a:path w="40291" h="77530">
                  <a:moveTo>
                    <a:pt x="1634" y="0"/>
                  </a:moveTo>
                  <a:lnTo>
                    <a:pt x="36088" y="67306"/>
                  </a:lnTo>
                  <a:lnTo>
                    <a:pt x="38949" y="65842"/>
                  </a:lnTo>
                  <a:lnTo>
                    <a:pt x="40291" y="77530"/>
                  </a:lnTo>
                  <a:lnTo>
                    <a:pt x="31594" y="69607"/>
                  </a:lnTo>
                  <a:lnTo>
                    <a:pt x="34454" y="68142"/>
                  </a:lnTo>
                  <a:lnTo>
                    <a:pt x="0" y="836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2" name="cost_term1" descr="cost term1"/>
            <p:cNvGrpSpPr/>
            <p:nvPr/>
          </p:nvGrpSpPr>
          <p:grpSpPr>
            <a:xfrm>
              <a:off x="143332" y="990752"/>
              <a:ext cx="367131" cy="140782"/>
              <a:chOff x="143332" y="990752"/>
              <a:chExt cx="367131" cy="140782"/>
            </a:xfrm>
          </p:grpSpPr>
          <p:sp>
            <p:nvSpPr>
              <p:cNvPr id="25" name="cost_term1_panel" descr="Editable shape; source id cost_term1_panel"/>
              <p:cNvSpPr/>
              <p:nvPr/>
            </p:nvSpPr>
            <p:spPr>
              <a:xfrm>
                <a:off x="143332" y="990752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1" name="jc1" descr="Editable formula parts and native mathematical delimiters."/>
              <p:cNvGrpSpPr/>
              <p:nvPr/>
            </p:nvGrpSpPr>
            <p:grpSpPr>
              <a:xfrm>
                <a:off x="220701" y="993847"/>
                <a:ext cx="210971" cy="137687"/>
                <a:chOff x="220701" y="993847"/>
                <a:chExt cx="210971" cy="137687"/>
              </a:xfrm>
            </p:grpSpPr>
            <p:sp>
              <p:nvSpPr>
                <p:cNvPr id="26" name="jc1_0" descr="Editable text; source id jc1_0"/>
                <p:cNvSpPr txBox="1"/>
                <p:nvPr/>
              </p:nvSpPr>
              <p:spPr>
                <a:xfrm>
                  <a:off x="220701" y="993847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7" name="jc1_1" descr="Editable text; source id jc1_1"/>
                <p:cNvSpPr txBox="1"/>
                <p:nvPr/>
              </p:nvSpPr>
              <p:spPr>
                <a:xfrm>
                  <a:off x="265898" y="1044939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8" name="jc1_2" descr="Editable text; source id jc1_2"/>
                <p:cNvSpPr txBox="1"/>
                <p:nvPr/>
              </p:nvSpPr>
              <p:spPr>
                <a:xfrm>
                  <a:off x="293290" y="1076067"/>
                  <a:ext cx="26707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29" name="jc1_3" descr="Editable text; source id jc1_3"/>
                <p:cNvSpPr txBox="1"/>
                <p:nvPr/>
              </p:nvSpPr>
              <p:spPr>
                <a:xfrm>
                  <a:off x="318680" y="993847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3" name="weight1" descr="Editable formula parts and native mathematical delimiters."/>
            <p:cNvGrpSpPr/>
            <p:nvPr/>
          </p:nvGrpSpPr>
          <p:grpSpPr>
            <a:xfrm>
              <a:off x="553476" y="993847"/>
              <a:ext cx="80807" cy="125818"/>
              <a:chOff x="553476" y="993847"/>
              <a:chExt cx="80807" cy="125818"/>
            </a:xfrm>
          </p:grpSpPr>
          <p:sp>
            <p:nvSpPr>
              <p:cNvPr id="30" name="weight1_0" descr="Editable text; source id weight1_0"/>
              <p:cNvSpPr txBox="1"/>
              <p:nvPr/>
            </p:nvSpPr>
            <p:spPr>
              <a:xfrm>
                <a:off x="553476" y="993847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31" name="weight1_1" descr="Editable text; source id weight1_1"/>
              <p:cNvSpPr txBox="1"/>
              <p:nvPr/>
            </p:nvSpPr>
            <p:spPr>
              <a:xfrm>
                <a:off x="599358" y="1044939"/>
                <a:ext cx="34925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sp>
          <p:nvSpPr>
            <p:cNvPr id="32" name="weighted_path1" descr="Editable line; source id weighted_path1"/>
            <p:cNvSpPr/>
            <p:nvPr/>
          </p:nvSpPr>
          <p:spPr>
            <a:xfrm>
              <a:off x="660880" y="1061202"/>
              <a:ext cx="108588" cy="28195"/>
            </a:xfrm>
            <a:custGeom>
              <a:avLst/>
              <a:gdLst/>
              <a:ahLst/>
              <a:cxnLst/>
              <a:rect l="l" t="t" r="r" b="b"/>
              <a:pathLst>
                <a:path w="39642" h="10293">
                  <a:moveTo>
                    <a:pt x="336" y="0"/>
                  </a:moveTo>
                  <a:lnTo>
                    <a:pt x="28980" y="5330"/>
                  </a:lnTo>
                  <a:lnTo>
                    <a:pt x="29567" y="2171"/>
                  </a:lnTo>
                  <a:lnTo>
                    <a:pt x="39642" y="8247"/>
                  </a:lnTo>
                  <a:lnTo>
                    <a:pt x="28056" y="10293"/>
                  </a:lnTo>
                  <a:lnTo>
                    <a:pt x="28644" y="7135"/>
                  </a:lnTo>
                  <a:lnTo>
                    <a:pt x="0" y="1806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5" name="cost_term2" descr="cost term2"/>
            <p:cNvGrpSpPr/>
            <p:nvPr/>
          </p:nvGrpSpPr>
          <p:grpSpPr>
            <a:xfrm>
              <a:off x="143332" y="1212037"/>
              <a:ext cx="367131" cy="140782"/>
              <a:chOff x="143332" y="1212037"/>
              <a:chExt cx="367131" cy="140782"/>
            </a:xfrm>
          </p:grpSpPr>
          <p:sp>
            <p:nvSpPr>
              <p:cNvPr id="33" name="cost_term2_panel" descr="Editable shape; source id cost_term2_panel"/>
              <p:cNvSpPr/>
              <p:nvPr/>
            </p:nvSpPr>
            <p:spPr>
              <a:xfrm>
                <a:off x="143332" y="1212037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4" name="jc2" descr="Editable formula parts and native mathematical delimiters."/>
              <p:cNvGrpSpPr/>
              <p:nvPr/>
            </p:nvGrpSpPr>
            <p:grpSpPr>
              <a:xfrm>
                <a:off x="215875" y="1215132"/>
                <a:ext cx="220623" cy="137687"/>
                <a:chOff x="215875" y="1215132"/>
                <a:chExt cx="220623" cy="137687"/>
              </a:xfrm>
            </p:grpSpPr>
            <p:sp>
              <p:nvSpPr>
                <p:cNvPr id="34" name="jc2_0" descr="Editable text; source id jc2_0"/>
                <p:cNvSpPr txBox="1"/>
                <p:nvPr/>
              </p:nvSpPr>
              <p:spPr>
                <a:xfrm>
                  <a:off x="215875" y="1215132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35" name="jc2_1" descr="Editable text; source id jc2_1"/>
                <p:cNvSpPr txBox="1"/>
                <p:nvPr/>
              </p:nvSpPr>
              <p:spPr>
                <a:xfrm>
                  <a:off x="261072" y="1266223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6" name="jc2_2" descr="Editable text; source id jc2_2"/>
                <p:cNvSpPr txBox="1"/>
                <p:nvPr/>
              </p:nvSpPr>
              <p:spPr>
                <a:xfrm>
                  <a:off x="288464" y="1297352"/>
                  <a:ext cx="36358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37" name="jc2_3" descr="Editable text; source id jc2_3"/>
                <p:cNvSpPr txBox="1"/>
                <p:nvPr/>
              </p:nvSpPr>
              <p:spPr>
                <a:xfrm>
                  <a:off x="323506" y="1215132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6" name="weight2" descr="Editable formula parts and native mathematical delimiters."/>
            <p:cNvGrpSpPr/>
            <p:nvPr/>
          </p:nvGrpSpPr>
          <p:grpSpPr>
            <a:xfrm>
              <a:off x="546628" y="1215132"/>
              <a:ext cx="94503" cy="125817"/>
              <a:chOff x="546628" y="1215132"/>
              <a:chExt cx="94503" cy="125817"/>
            </a:xfrm>
          </p:grpSpPr>
          <p:sp>
            <p:nvSpPr>
              <p:cNvPr id="38" name="weight2_0" descr="Editable text; source id weight2_0"/>
              <p:cNvSpPr txBox="1"/>
              <p:nvPr/>
            </p:nvSpPr>
            <p:spPr>
              <a:xfrm>
                <a:off x="546628" y="1215132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39" name="weight2_1" descr="Editable text; source id weight2_1"/>
              <p:cNvSpPr txBox="1"/>
              <p:nvPr/>
            </p:nvSpPr>
            <p:spPr>
              <a:xfrm>
                <a:off x="592510" y="1266223"/>
                <a:ext cx="48621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40" name="weighted_path2" descr="Editable line; source id weighted_path2"/>
            <p:cNvSpPr/>
            <p:nvPr/>
          </p:nvSpPr>
          <p:spPr>
            <a:xfrm>
              <a:off x="659214" y="1113968"/>
              <a:ext cx="110253" cy="172338"/>
            </a:xfrm>
            <a:custGeom>
              <a:avLst/>
              <a:gdLst/>
              <a:ahLst/>
              <a:cxnLst/>
              <a:rect l="l" t="t" r="r" b="b"/>
              <a:pathLst>
                <a:path w="40250" h="62915">
                  <a:moveTo>
                    <a:pt x="0" y="61933"/>
                  </a:moveTo>
                  <a:lnTo>
                    <a:pt x="33586" y="8820"/>
                  </a:lnTo>
                  <a:lnTo>
                    <a:pt x="30871" y="7103"/>
                  </a:lnTo>
                  <a:lnTo>
                    <a:pt x="40250" y="0"/>
                  </a:lnTo>
                  <a:lnTo>
                    <a:pt x="37854" y="11519"/>
                  </a:lnTo>
                  <a:lnTo>
                    <a:pt x="35138" y="9801"/>
                  </a:lnTo>
                  <a:lnTo>
                    <a:pt x="1552" y="62915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7" name="sum_cost" descr="sum cost"/>
            <p:cNvGrpSpPr/>
            <p:nvPr/>
          </p:nvGrpSpPr>
          <p:grpSpPr>
            <a:xfrm>
              <a:off x="777011" y="1015898"/>
              <a:ext cx="148361" cy="148361"/>
              <a:chOff x="777011" y="1015898"/>
              <a:chExt cx="148361" cy="148361"/>
            </a:xfrm>
          </p:grpSpPr>
          <p:sp>
            <p:nvSpPr>
              <p:cNvPr id="41" name="sum_cost_panel" descr="Editable shape; source id sum_cost_panel"/>
              <p:cNvSpPr/>
              <p:nvPr/>
            </p:nvSpPr>
            <p:spPr>
              <a:xfrm>
                <a:off x="777011" y="1015898"/>
                <a:ext cx="148361" cy="148361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4526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sum_symbol" descr="Editable text; source id sum_symbol"/>
              <p:cNvSpPr txBox="1"/>
              <p:nvPr/>
            </p:nvSpPr>
            <p:spPr>
              <a:xfrm>
                <a:off x="814924" y="1024033"/>
                <a:ext cx="78238" cy="12645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52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Σ</a:t>
                </a:r>
              </a:p>
            </p:txBody>
          </p:sp>
        </p:grpSp>
        <p:sp>
          <p:nvSpPr>
            <p:cNvPr id="43" name="sum_output" descr="Editable line; source id sum_output"/>
            <p:cNvSpPr/>
            <p:nvPr/>
          </p:nvSpPr>
          <p:spPr>
            <a:xfrm>
              <a:off x="841134" y="1174318"/>
              <a:ext cx="22631" cy="163449"/>
            </a:xfrm>
            <a:custGeom>
              <a:avLst/>
              <a:gdLst/>
              <a:ahLst/>
              <a:cxnLst/>
              <a:rect l="l" t="t" r="r" b="b"/>
              <a:pathLst>
                <a:path w="8262" h="59670">
                  <a:moveTo>
                    <a:pt x="5049" y="0"/>
                  </a:moveTo>
                  <a:lnTo>
                    <a:pt x="5049" y="48654"/>
                  </a:lnTo>
                  <a:lnTo>
                    <a:pt x="8262" y="48654"/>
                  </a:lnTo>
                  <a:lnTo>
                    <a:pt x="4131" y="59670"/>
                  </a:lnTo>
                  <a:lnTo>
                    <a:pt x="0" y="48654"/>
                  </a:lnTo>
                  <a:lnTo>
                    <a:pt x="3213" y="48654"/>
                  </a:lnTo>
                  <a:lnTo>
                    <a:pt x="3213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8" name="scalar_cost" descr="Editable formula parts and native mathematical delimiters."/>
            <p:cNvGrpSpPr/>
            <p:nvPr/>
          </p:nvGrpSpPr>
          <p:grpSpPr>
            <a:xfrm>
              <a:off x="764586" y="1359360"/>
              <a:ext cx="171414" cy="149153"/>
              <a:chOff x="764586" y="1359360"/>
              <a:chExt cx="171414" cy="149153"/>
            </a:xfrm>
          </p:grpSpPr>
          <p:sp>
            <p:nvSpPr>
              <p:cNvPr id="44" name="scalar_cost_0" descr="Editable text; source id scalar_cost_0"/>
              <p:cNvSpPr txBox="1"/>
              <p:nvPr/>
            </p:nvSpPr>
            <p:spPr>
              <a:xfrm>
                <a:off x="764586" y="1376987"/>
                <a:ext cx="520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45" name="scalar_cost_1" descr="Editable text; source id scalar_cost_1"/>
              <p:cNvSpPr txBox="1"/>
              <p:nvPr/>
            </p:nvSpPr>
            <p:spPr>
              <a:xfrm>
                <a:off x="812533" y="1359360"/>
                <a:ext cx="43827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46" name="scalar_cost_2" descr="Editable text; source id scalar_cost_2"/>
              <p:cNvSpPr txBox="1"/>
              <p:nvPr/>
            </p:nvSpPr>
            <p:spPr>
              <a:xfrm>
                <a:off x="855193" y="1376987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47" name="scalar_cost_3" descr="Editable text; source id scalar_cost_3"/>
              <p:cNvSpPr txBox="1"/>
              <p:nvPr/>
            </p:nvSpPr>
            <p:spPr>
              <a:xfrm>
                <a:off x="903130" y="1429970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</p:grpSp>
        <p:cxnSp>
          <p:nvCxnSpPr>
            <p:cNvPr id="48" name="setting_rule" descr="Editable line; source id setting_rule"/>
            <p:cNvCxnSpPr/>
            <p:nvPr/>
          </p:nvCxnSpPr>
          <p:spPr>
            <a:xfrm>
              <a:off x="118186" y="1536420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exact_label" descr="Editable text; source id exact_label"/>
            <p:cNvSpPr txBox="1"/>
            <p:nvPr/>
          </p:nvSpPr>
          <p:spPr>
            <a:xfrm>
              <a:off x="137853" y="1556433"/>
              <a:ext cx="892299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Exact settings · c = 0</a:t>
              </a:r>
            </a:p>
          </p:txBody>
        </p:sp>
        <p:sp>
          <p:nvSpPr>
            <p:cNvPr id="50" name="fixed_setting" descr="Editable text; source id fixed_setting"/>
            <p:cNvSpPr txBox="1"/>
            <p:nvPr/>
          </p:nvSpPr>
          <p:spPr>
            <a:xfrm>
              <a:off x="137853" y="1669130"/>
              <a:ext cx="886136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β → fixed penalty</a:t>
              </a:r>
            </a:p>
          </p:txBody>
        </p:sp>
        <p:sp>
          <p:nvSpPr>
            <p:cNvPr id="51" name="adaptive_setting" descr="Editable text; source id adaptive_setting"/>
            <p:cNvSpPr txBox="1"/>
            <p:nvPr/>
          </p:nvSpPr>
          <p:spPr>
            <a:xfrm>
              <a:off x="117736" y="1787540"/>
              <a:ext cx="948057" cy="111614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adaptive β → Lagrangian</a:t>
              </a:r>
            </a:p>
          </p:txBody>
        </p:sp>
      </p:grpSp>
      <p:grpSp>
        <p:nvGrpSpPr>
          <p:cNvPr id="302" name="shared_construction" descr="shared construction"/>
          <p:cNvGrpSpPr/>
          <p:nvPr/>
        </p:nvGrpSpPr>
        <p:grpSpPr>
          <a:xfrm>
            <a:off x="1154201" y="75438"/>
            <a:ext cx="2720797" cy="1898523"/>
            <a:chOff x="1154201" y="75438"/>
            <a:chExt cx="2720797" cy="1898523"/>
          </a:xfrm>
        </p:grpSpPr>
        <p:sp>
          <p:nvSpPr>
            <p:cNvPr id="52" name="shared_construction_panel" descr="Editable shape; source id shared_construction_panel"/>
            <p:cNvSpPr/>
            <p:nvPr/>
          </p:nvSpPr>
          <p:spPr>
            <a:xfrm>
              <a:off x="1154201" y="75438"/>
              <a:ext cx="2720797" cy="1898523"/>
            </a:xfrm>
            <a:prstGeom prst="roundRect">
              <a:avLst>
                <a:gd name="adj" fmla="val 1059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method_title" descr="Editable text; source id method_title"/>
            <p:cNvSpPr txBox="1"/>
            <p:nvPr/>
          </p:nvSpPr>
          <p:spPr>
            <a:xfrm>
              <a:off x="2180073" y="117654"/>
              <a:ext cx="677271" cy="144254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1001"/>
                </a:lnSpc>
                <a:spcBef>
                  <a:spcPts val="0"/>
                </a:spcBef>
                <a:spcAft>
                  <a:spcPts val="0"/>
                </a:spcAft>
                <a:defRPr sz="87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7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SafeOT-Dual</a:t>
              </a:r>
            </a:p>
          </p:txBody>
        </p:sp>
        <p:sp>
          <p:nvSpPr>
            <p:cNvPr id="54" name="method_subtitle" descr="Editable text; source id method_subtitle"/>
            <p:cNvSpPr txBox="1"/>
            <p:nvPr/>
          </p:nvSpPr>
          <p:spPr>
            <a:xfrm>
              <a:off x="1922110" y="258899"/>
              <a:ext cx="1193195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One shared price construction</a:t>
              </a:r>
            </a:p>
          </p:txBody>
        </p:sp>
        <p:cxnSp>
          <p:nvCxnSpPr>
            <p:cNvPr id="55" name="shared_header_rule" descr="Editable line; source id shared_header_rule"/>
            <p:cNvCxnSpPr/>
            <p:nvPr/>
          </p:nvCxnSpPr>
          <p:spPr>
            <a:xfrm>
              <a:off x="1212037" y="414909"/>
              <a:ext cx="2605125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onstraints_heading" descr="Editable text; source id constraints_heading"/>
            <p:cNvSpPr txBox="1"/>
            <p:nvPr/>
          </p:nvSpPr>
          <p:spPr>
            <a:xfrm>
              <a:off x="1196360" y="440411"/>
              <a:ext cx="612899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sp>
          <p:nvSpPr>
            <p:cNvPr id="57" name="graph_heading" descr="Editable text; source id graph_heading"/>
            <p:cNvSpPr txBox="1"/>
            <p:nvPr/>
          </p:nvSpPr>
          <p:spPr>
            <a:xfrm>
              <a:off x="1993574" y="440411"/>
              <a:ext cx="602670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Shared graph</a:t>
              </a:r>
            </a:p>
          </p:txBody>
        </p:sp>
        <p:sp>
          <p:nvSpPr>
            <p:cNvPr id="58" name="prices_heading" descr="Editable text; source id prices_heading"/>
            <p:cNvSpPr txBox="1"/>
            <p:nvPr/>
          </p:nvSpPr>
          <p:spPr>
            <a:xfrm>
              <a:off x="3107487" y="440411"/>
              <a:ext cx="532370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Safety price</a:t>
              </a:r>
            </a:p>
          </p:txBody>
        </p:sp>
        <p:grpSp>
          <p:nvGrpSpPr>
            <p:cNvPr id="270" name="costmap0" descr="costmap0"/>
            <p:cNvGrpSpPr/>
            <p:nvPr/>
          </p:nvGrpSpPr>
          <p:grpSpPr>
            <a:xfrm>
              <a:off x="1297533" y="689000"/>
              <a:ext cx="283646" cy="155402"/>
              <a:chOff x="1297533" y="689000"/>
              <a:chExt cx="283646" cy="155402"/>
            </a:xfrm>
          </p:grpSpPr>
          <p:sp>
            <p:nvSpPr>
              <p:cNvPr id="59" name="costmap0_0_0" descr="Editable shape; source id costmap0_0_0"/>
              <p:cNvSpPr/>
              <p:nvPr/>
            </p:nvSpPr>
            <p:spPr>
              <a:xfrm>
                <a:off x="1297533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costmap0_0_1" descr="Editable shape; source id costmap0_0_1"/>
              <p:cNvSpPr/>
              <p:nvPr/>
            </p:nvSpPr>
            <p:spPr>
              <a:xfrm>
                <a:off x="1369199" y="68900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costmap0_0_2" descr="Editable shape; source id costmap0_0_2"/>
              <p:cNvSpPr/>
              <p:nvPr/>
            </p:nvSpPr>
            <p:spPr>
              <a:xfrm>
                <a:off x="1440865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costmap0_0_3" descr="Editable shape; source id costmap0_0_3"/>
              <p:cNvSpPr/>
              <p:nvPr/>
            </p:nvSpPr>
            <p:spPr>
              <a:xfrm>
                <a:off x="1512531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costmap0_1_0" descr="Editable shape; source id costmap0_1_0"/>
              <p:cNvSpPr/>
              <p:nvPr/>
            </p:nvSpPr>
            <p:spPr>
              <a:xfrm>
                <a:off x="1297533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ostmap0_1_1" descr="Editable shape; source id costmap0_1_1"/>
              <p:cNvSpPr/>
              <p:nvPr/>
            </p:nvSpPr>
            <p:spPr>
              <a:xfrm>
                <a:off x="1369199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costmap0_1_2" descr="Editable shape; source id costmap0_1_2"/>
              <p:cNvSpPr/>
              <p:nvPr/>
            </p:nvSpPr>
            <p:spPr>
              <a:xfrm>
                <a:off x="1440865" y="74180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costmap0_1_3" descr="Editable shape; source id costmap0_1_3"/>
              <p:cNvSpPr/>
              <p:nvPr/>
            </p:nvSpPr>
            <p:spPr>
              <a:xfrm>
                <a:off x="1512531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costmap0_2_0" descr="Editable shape; source id costmap0_2_0"/>
              <p:cNvSpPr/>
              <p:nvPr/>
            </p:nvSpPr>
            <p:spPr>
              <a:xfrm>
                <a:off x="1297533" y="79461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costmap0_2_1" descr="Editable shape; source id costmap0_2_1"/>
              <p:cNvSpPr/>
              <p:nvPr/>
            </p:nvSpPr>
            <p:spPr>
              <a:xfrm>
                <a:off x="1369199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costmap0_2_2" descr="Editable shape; source id costmap0_2_2"/>
              <p:cNvSpPr/>
              <p:nvPr/>
            </p:nvSpPr>
            <p:spPr>
              <a:xfrm>
                <a:off x="1440865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ostmap0_2_3" descr="Editable shape; source id costmap0_2_3"/>
              <p:cNvSpPr/>
              <p:nvPr/>
            </p:nvSpPr>
            <p:spPr>
              <a:xfrm>
                <a:off x="1512531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1" name="costmap_name0" descr="Editable formula parts and native mathematical delimiters."/>
            <p:cNvGrpSpPr/>
            <p:nvPr/>
          </p:nvGrpSpPr>
          <p:grpSpPr>
            <a:xfrm>
              <a:off x="1183775" y="711516"/>
              <a:ext cx="90532" cy="115542"/>
              <a:chOff x="1183775" y="711516"/>
              <a:chExt cx="90532" cy="115542"/>
            </a:xfrm>
          </p:grpSpPr>
          <p:sp>
            <p:nvSpPr>
              <p:cNvPr id="71" name="costmap_name0_0" descr="Editable text; source id costmap_name0_0"/>
              <p:cNvSpPr txBox="1"/>
              <p:nvPr/>
            </p:nvSpPr>
            <p:spPr>
              <a:xfrm>
                <a:off x="1183775" y="71151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72" name="costmap_name0_1" descr="Editable text; source id costmap_name0_1"/>
              <p:cNvSpPr txBox="1"/>
              <p:nvPr/>
            </p:nvSpPr>
            <p:spPr>
              <a:xfrm>
                <a:off x="1241983" y="758058"/>
                <a:ext cx="32324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72" name="budget_name0" descr="Editable formula parts and native mathematical delimiters."/>
            <p:cNvGrpSpPr/>
            <p:nvPr/>
          </p:nvGrpSpPr>
          <p:grpSpPr>
            <a:xfrm>
              <a:off x="1653111" y="709462"/>
              <a:ext cx="77157" cy="118739"/>
              <a:chOff x="1653111" y="709462"/>
              <a:chExt cx="77157" cy="118739"/>
            </a:xfrm>
          </p:grpSpPr>
          <p:sp>
            <p:nvSpPr>
              <p:cNvPr id="73" name="budget_name0_0" descr="Editable text; source id budget_name0_0"/>
              <p:cNvSpPr txBox="1"/>
              <p:nvPr/>
            </p:nvSpPr>
            <p:spPr>
              <a:xfrm>
                <a:off x="1653111" y="70946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4" name="budget_name0_1" descr="Editable text; source id budget_name0_1"/>
              <p:cNvSpPr txBox="1"/>
              <p:nvPr/>
            </p:nvSpPr>
            <p:spPr>
              <a:xfrm>
                <a:off x="1697120" y="757292"/>
                <a:ext cx="33148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73" name="costmap1" descr="costmap1"/>
            <p:cNvGrpSpPr/>
            <p:nvPr/>
          </p:nvGrpSpPr>
          <p:grpSpPr>
            <a:xfrm>
              <a:off x="1297533" y="940460"/>
              <a:ext cx="283646" cy="155402"/>
              <a:chOff x="1297533" y="940460"/>
              <a:chExt cx="283646" cy="155402"/>
            </a:xfrm>
          </p:grpSpPr>
          <p:sp>
            <p:nvSpPr>
              <p:cNvPr id="75" name="costmap1_0_0" descr="Editable shape; source id costmap1_0_0"/>
              <p:cNvSpPr/>
              <p:nvPr/>
            </p:nvSpPr>
            <p:spPr>
              <a:xfrm>
                <a:off x="1297533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costmap1_0_1" descr="Editable shape; source id costmap1_0_1"/>
              <p:cNvSpPr/>
              <p:nvPr/>
            </p:nvSpPr>
            <p:spPr>
              <a:xfrm>
                <a:off x="1369199" y="94046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costmap1_0_2" descr="Editable shape; source id costmap1_0_2"/>
              <p:cNvSpPr/>
              <p:nvPr/>
            </p:nvSpPr>
            <p:spPr>
              <a:xfrm>
                <a:off x="1440865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costmap1_0_3" descr="Editable shape; source id costmap1_0_3"/>
              <p:cNvSpPr/>
              <p:nvPr/>
            </p:nvSpPr>
            <p:spPr>
              <a:xfrm>
                <a:off x="1512531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costmap1_1_0" descr="Editable shape; source id costmap1_1_0"/>
              <p:cNvSpPr/>
              <p:nvPr/>
            </p:nvSpPr>
            <p:spPr>
              <a:xfrm>
                <a:off x="1297533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costmap1_1_1" descr="Editable shape; source id costmap1_1_1"/>
              <p:cNvSpPr/>
              <p:nvPr/>
            </p:nvSpPr>
            <p:spPr>
              <a:xfrm>
                <a:off x="1369199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costmap1_1_2" descr="Editable shape; source id costmap1_1_2"/>
              <p:cNvSpPr/>
              <p:nvPr/>
            </p:nvSpPr>
            <p:spPr>
              <a:xfrm>
                <a:off x="1440865" y="99326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costmap1_1_3" descr="Editable shape; source id costmap1_1_3"/>
              <p:cNvSpPr/>
              <p:nvPr/>
            </p:nvSpPr>
            <p:spPr>
              <a:xfrm>
                <a:off x="1512531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costmap1_2_0" descr="Editable shape; source id costmap1_2_0"/>
              <p:cNvSpPr/>
              <p:nvPr/>
            </p:nvSpPr>
            <p:spPr>
              <a:xfrm>
                <a:off x="1297533" y="104607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costmap1_2_1" descr="Editable shape; source id costmap1_2_1"/>
              <p:cNvSpPr/>
              <p:nvPr/>
            </p:nvSpPr>
            <p:spPr>
              <a:xfrm>
                <a:off x="1369199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costmap1_2_2" descr="Editable shape; source id costmap1_2_2"/>
              <p:cNvSpPr/>
              <p:nvPr/>
            </p:nvSpPr>
            <p:spPr>
              <a:xfrm>
                <a:off x="1440865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costmap1_2_3" descr="Editable shape; source id costmap1_2_3"/>
              <p:cNvSpPr/>
              <p:nvPr/>
            </p:nvSpPr>
            <p:spPr>
              <a:xfrm>
                <a:off x="1512531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4" name="costmap_name1" descr="Editable formula parts and native mathematical delimiters."/>
            <p:cNvGrpSpPr/>
            <p:nvPr/>
          </p:nvGrpSpPr>
          <p:grpSpPr>
            <a:xfrm>
              <a:off x="1183775" y="962976"/>
              <a:ext cx="90532" cy="115542"/>
              <a:chOff x="1183775" y="962976"/>
              <a:chExt cx="90532" cy="115542"/>
            </a:xfrm>
          </p:grpSpPr>
          <p:sp>
            <p:nvSpPr>
              <p:cNvPr id="87" name="costmap_name1_0" descr="Editable text; source id costmap_name1_0"/>
              <p:cNvSpPr txBox="1"/>
              <p:nvPr/>
            </p:nvSpPr>
            <p:spPr>
              <a:xfrm>
                <a:off x="1183775" y="96297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88" name="costmap_name1_1" descr="Editable text; source id costmap_name1_1"/>
              <p:cNvSpPr txBox="1"/>
              <p:nvPr/>
            </p:nvSpPr>
            <p:spPr>
              <a:xfrm>
                <a:off x="1241983" y="1009518"/>
                <a:ext cx="32324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75" name="budget_name1" descr="Editable formula parts and native mathematical delimiters."/>
            <p:cNvGrpSpPr/>
            <p:nvPr/>
          </p:nvGrpSpPr>
          <p:grpSpPr>
            <a:xfrm>
              <a:off x="1653111" y="960922"/>
              <a:ext cx="77157" cy="118739"/>
              <a:chOff x="1653111" y="960922"/>
              <a:chExt cx="77157" cy="118739"/>
            </a:xfrm>
          </p:grpSpPr>
          <p:sp>
            <p:nvSpPr>
              <p:cNvPr id="89" name="budget_name1_0" descr="Editable text; source id budget_name1_0"/>
              <p:cNvSpPr txBox="1"/>
              <p:nvPr/>
            </p:nvSpPr>
            <p:spPr>
              <a:xfrm>
                <a:off x="1653111" y="96092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0" name="budget_name1_1" descr="Editable text; source id budget_name1_1"/>
              <p:cNvSpPr txBox="1"/>
              <p:nvPr/>
            </p:nvSpPr>
            <p:spPr>
              <a:xfrm>
                <a:off x="1697120" y="1008752"/>
                <a:ext cx="33148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76" name="costmap2" descr="costmap2"/>
            <p:cNvGrpSpPr/>
            <p:nvPr/>
          </p:nvGrpSpPr>
          <p:grpSpPr>
            <a:xfrm>
              <a:off x="1297533" y="1191920"/>
              <a:ext cx="283646" cy="155402"/>
              <a:chOff x="1297533" y="1191920"/>
              <a:chExt cx="283646" cy="155402"/>
            </a:xfrm>
          </p:grpSpPr>
          <p:sp>
            <p:nvSpPr>
              <p:cNvPr id="91" name="costmap2_0_0" descr="Editable shape; source id costmap2_0_0"/>
              <p:cNvSpPr/>
              <p:nvPr/>
            </p:nvSpPr>
            <p:spPr>
              <a:xfrm>
                <a:off x="1297533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costmap2_0_1" descr="Editable shape; source id costmap2_0_1"/>
              <p:cNvSpPr/>
              <p:nvPr/>
            </p:nvSpPr>
            <p:spPr>
              <a:xfrm>
                <a:off x="1369199" y="119192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costmap2_0_2" descr="Editable shape; source id costmap2_0_2"/>
              <p:cNvSpPr/>
              <p:nvPr/>
            </p:nvSpPr>
            <p:spPr>
              <a:xfrm>
                <a:off x="1440865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costmap2_0_3" descr="Editable shape; source id costmap2_0_3"/>
              <p:cNvSpPr/>
              <p:nvPr/>
            </p:nvSpPr>
            <p:spPr>
              <a:xfrm>
                <a:off x="1512531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costmap2_1_0" descr="Editable shape; source id costmap2_1_0"/>
              <p:cNvSpPr/>
              <p:nvPr/>
            </p:nvSpPr>
            <p:spPr>
              <a:xfrm>
                <a:off x="1297533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costmap2_1_1" descr="Editable shape; source id costmap2_1_1"/>
              <p:cNvSpPr/>
              <p:nvPr/>
            </p:nvSpPr>
            <p:spPr>
              <a:xfrm>
                <a:off x="1369199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costmap2_1_2" descr="Editable shape; source id costmap2_1_2"/>
              <p:cNvSpPr/>
              <p:nvPr/>
            </p:nvSpPr>
            <p:spPr>
              <a:xfrm>
                <a:off x="1440865" y="124472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costmap2_1_3" descr="Editable shape; source id costmap2_1_3"/>
              <p:cNvSpPr/>
              <p:nvPr/>
            </p:nvSpPr>
            <p:spPr>
              <a:xfrm>
                <a:off x="1512531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costmap2_2_0" descr="Editable shape; source id costmap2_2_0"/>
              <p:cNvSpPr/>
              <p:nvPr/>
            </p:nvSpPr>
            <p:spPr>
              <a:xfrm>
                <a:off x="1297533" y="129753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costmap2_2_1" descr="Editable shape; source id costmap2_2_1"/>
              <p:cNvSpPr/>
              <p:nvPr/>
            </p:nvSpPr>
            <p:spPr>
              <a:xfrm>
                <a:off x="1369199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costmap2_2_2" descr="Editable shape; source id costmap2_2_2"/>
              <p:cNvSpPr/>
              <p:nvPr/>
            </p:nvSpPr>
            <p:spPr>
              <a:xfrm>
                <a:off x="1440865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costmap2_2_3" descr="Editable shape; source id costmap2_2_3"/>
              <p:cNvSpPr/>
              <p:nvPr/>
            </p:nvSpPr>
            <p:spPr>
              <a:xfrm>
                <a:off x="1512531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costmap_name2" descr="Editable formula parts and native mathematical delimiters."/>
            <p:cNvGrpSpPr/>
            <p:nvPr/>
          </p:nvGrpSpPr>
          <p:grpSpPr>
            <a:xfrm>
              <a:off x="1177339" y="1214436"/>
              <a:ext cx="103405" cy="115542"/>
              <a:chOff x="1177339" y="1214436"/>
              <a:chExt cx="103405" cy="115542"/>
            </a:xfrm>
          </p:grpSpPr>
          <p:sp>
            <p:nvSpPr>
              <p:cNvPr id="103" name="costmap_name2_0" descr="Editable text; source id costmap_name2_0"/>
              <p:cNvSpPr txBox="1"/>
              <p:nvPr/>
            </p:nvSpPr>
            <p:spPr>
              <a:xfrm>
                <a:off x="1177339" y="121443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04" name="costmap_name2_1" descr="Editable text; source id costmap_name2_1"/>
              <p:cNvSpPr txBox="1"/>
              <p:nvPr/>
            </p:nvSpPr>
            <p:spPr>
              <a:xfrm>
                <a:off x="1235547" y="1260978"/>
                <a:ext cx="45197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278" name="budget_name2" descr="Editable formula parts and native mathematical delimiters."/>
            <p:cNvGrpSpPr/>
            <p:nvPr/>
          </p:nvGrpSpPr>
          <p:grpSpPr>
            <a:xfrm>
              <a:off x="1646659" y="1212382"/>
              <a:ext cx="90062" cy="118739"/>
              <a:chOff x="1646659" y="1212382"/>
              <a:chExt cx="90062" cy="118739"/>
            </a:xfrm>
          </p:grpSpPr>
          <p:sp>
            <p:nvSpPr>
              <p:cNvPr id="105" name="budget_name2_0" descr="Editable text; source id budget_name2_0"/>
              <p:cNvSpPr txBox="1"/>
              <p:nvPr/>
            </p:nvSpPr>
            <p:spPr>
              <a:xfrm>
                <a:off x="1646659" y="121238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06" name="budget_name2_1" descr="Editable text; source id budget_name2_1"/>
              <p:cNvSpPr txBox="1"/>
              <p:nvPr/>
            </p:nvSpPr>
            <p:spPr>
              <a:xfrm>
                <a:off x="1690668" y="1260212"/>
                <a:ext cx="46053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07" name="hard_label" descr="Editable text; source id hard_label"/>
            <p:cNvSpPr txBox="1"/>
            <p:nvPr/>
          </p:nvSpPr>
          <p:spPr>
            <a:xfrm>
              <a:off x="1203208" y="1425213"/>
              <a:ext cx="599203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Hard support H</a:t>
              </a:r>
            </a:p>
          </p:txBody>
        </p:sp>
        <p:grpSp>
          <p:nvGrpSpPr>
            <p:cNvPr id="279" name="hard_support" descr="hard support"/>
            <p:cNvGrpSpPr/>
            <p:nvPr/>
          </p:nvGrpSpPr>
          <p:grpSpPr>
            <a:xfrm>
              <a:off x="1292504" y="1571625"/>
              <a:ext cx="412394" cy="60350"/>
              <a:chOff x="1292504" y="1571625"/>
              <a:chExt cx="412394" cy="60350"/>
            </a:xfrm>
          </p:grpSpPr>
          <p:sp>
            <p:nvSpPr>
              <p:cNvPr id="108" name="hard_support_a" descr="Editable shape; source id hard_support_a"/>
              <p:cNvSpPr/>
              <p:nvPr/>
            </p:nvSpPr>
            <p:spPr>
              <a:xfrm>
                <a:off x="1292504" y="1571625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526">
                <a:solidFill>
                  <a:srgbClr val="77858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hard_support_b" descr="Editable shape; source id hard_support_b"/>
              <p:cNvSpPr/>
              <p:nvPr/>
            </p:nvSpPr>
            <p:spPr>
              <a:xfrm>
                <a:off x="1644548" y="1571625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526">
                <a:solidFill>
                  <a:srgbClr val="77858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0" name="hard_support_l" descr="Editable line; source id hard_support_l"/>
              <p:cNvCxnSpPr/>
              <p:nvPr/>
            </p:nvCxnSpPr>
            <p:spPr>
              <a:xfrm>
                <a:off x="1365427" y="1601800"/>
                <a:ext cx="80468" cy="0"/>
              </a:xfrm>
              <a:prstGeom prst="line">
                <a:avLst/>
              </a:prstGeom>
              <a:ln w="5029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hard_support_r" descr="Editable line; source id hard_support_r"/>
              <p:cNvCxnSpPr/>
              <p:nvPr/>
            </p:nvCxnSpPr>
            <p:spPr>
              <a:xfrm>
                <a:off x="1551508" y="1601800"/>
                <a:ext cx="80467" cy="0"/>
              </a:xfrm>
              <a:prstGeom prst="line">
                <a:avLst/>
              </a:prstGeom>
              <a:ln w="5029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hard_support_x1" descr="Editable line; source id hard_support_x1"/>
              <p:cNvCxnSpPr/>
              <p:nvPr/>
            </p:nvCxnSpPr>
            <p:spPr>
              <a:xfrm>
                <a:off x="1473555" y="1576654"/>
                <a:ext cx="50292" cy="50292"/>
              </a:xfrm>
              <a:prstGeom prst="line">
                <a:avLst/>
              </a:prstGeom>
              <a:ln w="6537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hard_support_x2" descr="Editable line; source id hard_support_x2"/>
              <p:cNvCxnSpPr/>
              <p:nvPr/>
            </p:nvCxnSpPr>
            <p:spPr>
              <a:xfrm flipV="1">
                <a:off x="1473555" y="1576654"/>
                <a:ext cx="50292" cy="50292"/>
              </a:xfrm>
              <a:prstGeom prst="line">
                <a:avLst/>
              </a:prstGeom>
              <a:ln w="6537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0" name="hard_flow" descr="Editable formula parts and native mathematical delimiters."/>
            <p:cNvGrpSpPr/>
            <p:nvPr/>
          </p:nvGrpSpPr>
          <p:grpSpPr>
            <a:xfrm>
              <a:off x="1365984" y="1670735"/>
              <a:ext cx="263252" cy="128329"/>
              <a:chOff x="1365984" y="1670735"/>
              <a:chExt cx="263252" cy="128329"/>
            </a:xfrm>
          </p:grpSpPr>
          <p:sp>
            <p:nvSpPr>
              <p:cNvPr id="114" name="hard_flow_0" descr="Editable text; source id hard_flow_0"/>
              <p:cNvSpPr txBox="1"/>
              <p:nvPr/>
            </p:nvSpPr>
            <p:spPr>
              <a:xfrm>
                <a:off x="1365984" y="1670735"/>
                <a:ext cx="6505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205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15" name="hard_flow_1" descr="Editable text; source id hard_flow_1"/>
              <p:cNvSpPr txBox="1"/>
              <p:nvPr/>
            </p:nvSpPr>
            <p:spPr>
              <a:xfrm>
                <a:off x="1426931" y="1722430"/>
                <a:ext cx="49990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116" name="hard_flow_2" descr="Editable text; source id hard_flow_2"/>
              <p:cNvSpPr txBox="1"/>
              <p:nvPr/>
            </p:nvSpPr>
            <p:spPr>
              <a:xfrm>
                <a:off x="1475680" y="1670735"/>
                <a:ext cx="15355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grpSp>
          <p:nvGrpSpPr>
            <p:cNvPr id="281" name="shared_graph" descr="shared graph"/>
            <p:cNvGrpSpPr/>
            <p:nvPr/>
          </p:nvGrpSpPr>
          <p:grpSpPr>
            <a:xfrm>
              <a:off x="1911096" y="694029"/>
              <a:ext cx="799642" cy="470230"/>
              <a:chOff x="1911096" y="694029"/>
              <a:chExt cx="799642" cy="470230"/>
            </a:xfrm>
          </p:grpSpPr>
          <p:sp>
            <p:nvSpPr>
              <p:cNvPr id="117" name="shared_graph_edge0" descr="Editable line; source id shared_graph_edge0"/>
              <p:cNvSpPr/>
              <p:nvPr/>
            </p:nvSpPr>
            <p:spPr>
              <a:xfrm>
                <a:off x="1985877" y="772963"/>
                <a:ext cx="118718" cy="122791"/>
              </a:xfrm>
              <a:custGeom>
                <a:avLst/>
                <a:gdLst/>
                <a:ahLst/>
                <a:cxnLst/>
                <a:rect l="l" t="t" r="r" b="b"/>
                <a:pathLst>
                  <a:path w="43340" h="44827">
                    <a:moveTo>
                      <a:pt x="0" y="42787"/>
                    </a:moveTo>
                    <a:lnTo>
                      <a:pt x="34633" y="6906"/>
                    </a:lnTo>
                    <a:lnTo>
                      <a:pt x="32718" y="5057"/>
                    </a:lnTo>
                    <a:lnTo>
                      <a:pt x="43340" y="0"/>
                    </a:lnTo>
                    <a:lnTo>
                      <a:pt x="38662" y="10795"/>
                    </a:lnTo>
                    <a:lnTo>
                      <a:pt x="36747" y="8946"/>
                    </a:lnTo>
                    <a:lnTo>
                      <a:pt x="2114" y="4482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hared_graph_edge1" descr="Editable line; source id shared_graph_edge1"/>
              <p:cNvSpPr/>
              <p:nvPr/>
            </p:nvSpPr>
            <p:spPr>
              <a:xfrm>
                <a:off x="2189814" y="725462"/>
                <a:ext cx="22792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208" h="8262">
                    <a:moveTo>
                      <a:pt x="0" y="2662"/>
                    </a:moveTo>
                    <a:lnTo>
                      <a:pt x="72192" y="2662"/>
                    </a:lnTo>
                    <a:lnTo>
                      <a:pt x="72192" y="0"/>
                    </a:lnTo>
                    <a:lnTo>
                      <a:pt x="83208" y="4131"/>
                    </a:lnTo>
                    <a:lnTo>
                      <a:pt x="72192" y="8262"/>
                    </a:lnTo>
                    <a:lnTo>
                      <a:pt x="72192" y="5600"/>
                    </a:lnTo>
                    <a:lnTo>
                      <a:pt x="0" y="560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hared_graph_edge2" descr="Editable line; source id shared_graph_edge2"/>
              <p:cNvSpPr/>
              <p:nvPr/>
            </p:nvSpPr>
            <p:spPr>
              <a:xfrm>
                <a:off x="2501485" y="768744"/>
                <a:ext cx="130263" cy="125533"/>
              </a:xfrm>
              <a:custGeom>
                <a:avLst/>
                <a:gdLst/>
                <a:ahLst/>
                <a:cxnLst/>
                <a:rect l="l" t="t" r="r" b="b"/>
                <a:pathLst>
                  <a:path w="47555" h="45828">
                    <a:moveTo>
                      <a:pt x="2036" y="0"/>
                    </a:moveTo>
                    <a:lnTo>
                      <a:pt x="40634" y="37132"/>
                    </a:lnTo>
                    <a:lnTo>
                      <a:pt x="42480" y="35214"/>
                    </a:lnTo>
                    <a:lnTo>
                      <a:pt x="47555" y="45828"/>
                    </a:lnTo>
                    <a:lnTo>
                      <a:pt x="36752" y="41168"/>
                    </a:lnTo>
                    <a:lnTo>
                      <a:pt x="38598" y="39249"/>
                    </a:lnTo>
                    <a:lnTo>
                      <a:pt x="0" y="211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shared_graph_edge3" descr="Editable line; source id shared_graph_edge3"/>
              <p:cNvSpPr/>
              <p:nvPr/>
            </p:nvSpPr>
            <p:spPr>
              <a:xfrm>
                <a:off x="1986690" y="963322"/>
                <a:ext cx="117904" cy="122005"/>
              </a:xfrm>
              <a:custGeom>
                <a:avLst/>
                <a:gdLst/>
                <a:ahLst/>
                <a:cxnLst/>
                <a:rect l="l" t="t" r="r" b="b"/>
                <a:pathLst>
                  <a:path w="43043" h="44540">
                    <a:moveTo>
                      <a:pt x="1519" y="0"/>
                    </a:moveTo>
                    <a:lnTo>
                      <a:pt x="36152" y="35881"/>
                    </a:lnTo>
                    <a:lnTo>
                      <a:pt x="38365" y="33745"/>
                    </a:lnTo>
                    <a:lnTo>
                      <a:pt x="43043" y="44540"/>
                    </a:lnTo>
                    <a:lnTo>
                      <a:pt x="32421" y="39483"/>
                    </a:lnTo>
                    <a:lnTo>
                      <a:pt x="34633" y="37347"/>
                    </a:lnTo>
                    <a:lnTo>
                      <a:pt x="0" y="1466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shared_graph_edge4" descr="Editable line; source id shared_graph_edge4"/>
              <p:cNvSpPr/>
              <p:nvPr/>
            </p:nvSpPr>
            <p:spPr>
              <a:xfrm>
                <a:off x="2189814" y="1110196"/>
                <a:ext cx="22792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208" h="8262">
                    <a:moveTo>
                      <a:pt x="0" y="3075"/>
                    </a:moveTo>
                    <a:lnTo>
                      <a:pt x="72192" y="3075"/>
                    </a:lnTo>
                    <a:lnTo>
                      <a:pt x="72192" y="0"/>
                    </a:lnTo>
                    <a:lnTo>
                      <a:pt x="83208" y="4131"/>
                    </a:lnTo>
                    <a:lnTo>
                      <a:pt x="72192" y="8262"/>
                    </a:lnTo>
                    <a:lnTo>
                      <a:pt x="72192" y="5187"/>
                    </a:lnTo>
                    <a:lnTo>
                      <a:pt x="0" y="518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shared_graph_edge5" descr="Editable line; source id shared_graph_edge5"/>
              <p:cNvSpPr/>
              <p:nvPr/>
            </p:nvSpPr>
            <p:spPr>
              <a:xfrm>
                <a:off x="2502268" y="964012"/>
                <a:ext cx="129480" cy="124716"/>
              </a:xfrm>
              <a:custGeom>
                <a:avLst/>
                <a:gdLst/>
                <a:ahLst/>
                <a:cxnLst/>
                <a:rect l="l" t="t" r="r" b="b"/>
                <a:pathLst>
                  <a:path w="47269" h="45530">
                    <a:moveTo>
                      <a:pt x="0" y="44008"/>
                    </a:moveTo>
                    <a:lnTo>
                      <a:pt x="38598" y="6876"/>
                    </a:lnTo>
                    <a:lnTo>
                      <a:pt x="36466" y="4660"/>
                    </a:lnTo>
                    <a:lnTo>
                      <a:pt x="47269" y="0"/>
                    </a:lnTo>
                    <a:lnTo>
                      <a:pt x="42194" y="10614"/>
                    </a:lnTo>
                    <a:lnTo>
                      <a:pt x="40062" y="8398"/>
                    </a:lnTo>
                    <a:lnTo>
                      <a:pt x="1464" y="4553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shared_graph_edge6" descr="Editable line; source id shared_graph_edge6"/>
              <p:cNvSpPr/>
              <p:nvPr/>
            </p:nvSpPr>
            <p:spPr>
              <a:xfrm>
                <a:off x="2128206" y="787070"/>
                <a:ext cx="22631" cy="284150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03734">
                    <a:moveTo>
                      <a:pt x="5187" y="0"/>
                    </a:moveTo>
                    <a:lnTo>
                      <a:pt x="5187" y="92718"/>
                    </a:lnTo>
                    <a:lnTo>
                      <a:pt x="8262" y="92718"/>
                    </a:lnTo>
                    <a:lnTo>
                      <a:pt x="4131" y="103734"/>
                    </a:lnTo>
                    <a:lnTo>
                      <a:pt x="0" y="92718"/>
                    </a:lnTo>
                    <a:lnTo>
                      <a:pt x="3075" y="92718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hared_graph_edge7" descr="Editable line; source id shared_graph_edge7"/>
              <p:cNvSpPr/>
              <p:nvPr/>
            </p:nvSpPr>
            <p:spPr>
              <a:xfrm>
                <a:off x="2456715" y="787070"/>
                <a:ext cx="22631" cy="284150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03734">
                    <a:moveTo>
                      <a:pt x="5186" y="0"/>
                    </a:moveTo>
                    <a:lnTo>
                      <a:pt x="5186" y="92718"/>
                    </a:lnTo>
                    <a:lnTo>
                      <a:pt x="8262" y="92718"/>
                    </a:lnTo>
                    <a:lnTo>
                      <a:pt x="4131" y="103734"/>
                    </a:lnTo>
                    <a:lnTo>
                      <a:pt x="0" y="92718"/>
                    </a:lnTo>
                    <a:lnTo>
                      <a:pt x="3075" y="92718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shared_graph_node1" descr="Editable shape; source id shared_graph_node1"/>
              <p:cNvSpPr/>
              <p:nvPr/>
            </p:nvSpPr>
            <p:spPr>
              <a:xfrm>
                <a:off x="1911096" y="88639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shared_graph_node2" descr="Editable shape; source id shared_graph_node2"/>
              <p:cNvSpPr/>
              <p:nvPr/>
            </p:nvSpPr>
            <p:spPr>
              <a:xfrm>
                <a:off x="2096774" y="694029"/>
                <a:ext cx="85496" cy="85496"/>
              </a:xfrm>
              <a:prstGeom prst="ellipse">
                <a:avLst/>
              </a:prstGeom>
              <a:solidFill>
                <a:srgbClr val="ECF5F4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shared_graph_node3" descr="Editable shape; source id shared_graph_node3"/>
              <p:cNvSpPr/>
              <p:nvPr/>
            </p:nvSpPr>
            <p:spPr>
              <a:xfrm>
                <a:off x="2425281" y="694029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hared_graph_node4" descr="Editable shape; source id shared_graph_node4"/>
              <p:cNvSpPr/>
              <p:nvPr/>
            </p:nvSpPr>
            <p:spPr>
              <a:xfrm>
                <a:off x="2625242" y="886396"/>
                <a:ext cx="85496" cy="85496"/>
              </a:xfrm>
              <a:prstGeom prst="ellipse">
                <a:avLst/>
              </a:prstGeom>
              <a:solidFill>
                <a:srgbClr val="007F85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shared_graph_node5" descr="Editable shape; source id shared_graph_node5"/>
              <p:cNvSpPr/>
              <p:nvPr/>
            </p:nvSpPr>
            <p:spPr>
              <a:xfrm>
                <a:off x="2096774" y="1078763"/>
                <a:ext cx="85496" cy="85496"/>
              </a:xfrm>
              <a:prstGeom prst="ellipse">
                <a:avLst/>
              </a:prstGeom>
              <a:solidFill>
                <a:srgbClr val="ECF5F4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shared_graph_node6" descr="Editable shape; source id shared_graph_node6"/>
              <p:cNvSpPr/>
              <p:nvPr/>
            </p:nvSpPr>
            <p:spPr>
              <a:xfrm>
                <a:off x="2425281" y="1078763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4" name="objective_1" descr="Editable formula parts and native mathematical delimiters."/>
            <p:cNvGrpSpPr/>
            <p:nvPr/>
          </p:nvGrpSpPr>
          <p:grpSpPr>
            <a:xfrm>
              <a:off x="2046715" y="1226571"/>
              <a:ext cx="518987" cy="134724"/>
              <a:chOff x="2046715" y="1226571"/>
              <a:chExt cx="518987" cy="134724"/>
            </a:xfrm>
          </p:grpSpPr>
          <p:sp>
            <p:nvSpPr>
              <p:cNvPr id="131" name="objective_1_0" descr="Editable text; source id objective_1_0"/>
              <p:cNvSpPr txBox="1"/>
              <p:nvPr/>
            </p:nvSpPr>
            <p:spPr>
              <a:xfrm>
                <a:off x="2046715" y="1226571"/>
                <a:ext cx="160928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132" name="objective_1_1" descr="Editable text; source id objective_1_1"/>
              <p:cNvSpPr txBox="1"/>
              <p:nvPr/>
            </p:nvSpPr>
            <p:spPr>
              <a:xfrm>
                <a:off x="2203535" y="1280843"/>
                <a:ext cx="41088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33" name="objective_1_2" descr="Editable text; source id objective_1_2"/>
              <p:cNvSpPr txBox="1"/>
              <p:nvPr/>
            </p:nvSpPr>
            <p:spPr>
              <a:xfrm>
                <a:off x="2243532" y="1226571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34" name="objective_1_3" descr="Editable text; source id objective_1_3"/>
              <p:cNvSpPr txBox="1"/>
              <p:nvPr/>
            </p:nvSpPr>
            <p:spPr>
              <a:xfrm>
                <a:off x="2377573" y="1226571"/>
                <a:ext cx="16572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grpSp>
            <p:nvGrpSpPr>
              <p:cNvPr id="282" name="objective_1_angle_0" descr="One editable routed connector; fixed endpoints."/>
              <p:cNvGrpSpPr/>
              <p:nvPr/>
            </p:nvGrpSpPr>
            <p:grpSpPr>
              <a:xfrm>
                <a:off x="2360966" y="1245229"/>
                <a:ext cx="16093" cy="80468"/>
                <a:chOff x="2360966" y="1245229"/>
                <a:chExt cx="16093" cy="80468"/>
              </a:xfrm>
            </p:grpSpPr>
            <p:cxnSp>
              <p:nvCxnSpPr>
                <p:cNvPr id="135" name="objective_1_angle_0_0" descr="Editable line; source id objective_1_angle_0_0"/>
                <p:cNvCxnSpPr/>
                <p:nvPr/>
              </p:nvCxnSpPr>
              <p:spPr>
                <a:xfrm flipH="1">
                  <a:off x="2360966" y="1245229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objective_1_angle_0_1" descr="Editable line; source id objective_1_angle_0_1"/>
                <p:cNvCxnSpPr/>
                <p:nvPr/>
              </p:nvCxnSpPr>
              <p:spPr>
                <a:xfrm>
                  <a:off x="2360966" y="1285463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objective_1_angle_1" descr="One editable routed connector; fixed endpoints."/>
              <p:cNvGrpSpPr/>
              <p:nvPr/>
            </p:nvGrpSpPr>
            <p:grpSpPr>
              <a:xfrm>
                <a:off x="2549609" y="1245229"/>
                <a:ext cx="16093" cy="80468"/>
                <a:chOff x="2549609" y="1245229"/>
                <a:chExt cx="16093" cy="80468"/>
              </a:xfrm>
            </p:grpSpPr>
            <p:cxnSp>
              <p:nvCxnSpPr>
                <p:cNvPr id="137" name="objective_1_angle_1_0" descr="Editable line; source id objective_1_angle_1_0"/>
                <p:cNvCxnSpPr/>
                <p:nvPr/>
              </p:nvCxnSpPr>
              <p:spPr>
                <a:xfrm>
                  <a:off x="2549609" y="1245229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objective_1_angle_1_1" descr="Editable line; source id objective_1_angle_1_1"/>
                <p:cNvCxnSpPr/>
                <p:nvPr/>
              </p:nvCxnSpPr>
              <p:spPr>
                <a:xfrm flipH="1">
                  <a:off x="2549609" y="1285463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5" name="objective_2" descr="Editable formula parts and native mathematical delimiters."/>
            <p:cNvGrpSpPr/>
            <p:nvPr/>
          </p:nvGrpSpPr>
          <p:grpSpPr>
            <a:xfrm>
              <a:off x="2037833" y="1354355"/>
              <a:ext cx="544595" cy="116888"/>
              <a:chOff x="2037833" y="1354355"/>
              <a:chExt cx="544595" cy="116888"/>
            </a:xfrm>
          </p:grpSpPr>
          <p:sp>
            <p:nvSpPr>
              <p:cNvPr id="139" name="objective_2_0" descr="Editable text; source id objective_2_0"/>
              <p:cNvSpPr txBox="1"/>
              <p:nvPr/>
            </p:nvSpPr>
            <p:spPr>
              <a:xfrm>
                <a:off x="2037833" y="1354355"/>
                <a:ext cx="395131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 ε KL(F </a:t>
                </a:r>
              </a:p>
            </p:txBody>
          </p:sp>
          <p:sp>
            <p:nvSpPr>
              <p:cNvPr id="140" name="objective_2_1" descr="Editable text; source id objective_2_1"/>
              <p:cNvSpPr txBox="1"/>
              <p:nvPr/>
            </p:nvSpPr>
            <p:spPr>
              <a:xfrm>
                <a:off x="2461218" y="1354355"/>
                <a:ext cx="121210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cxnSp>
            <p:nvCxnSpPr>
              <p:cNvPr id="141" name="objective_2_parallel_0_0" descr="Editable line; source id objective_2_parallel_0_0"/>
              <p:cNvCxnSpPr/>
              <p:nvPr/>
            </p:nvCxnSpPr>
            <p:spPr>
              <a:xfrm>
                <a:off x="2441013" y="1372770"/>
                <a:ext cx="0" cy="78455"/>
              </a:xfrm>
              <a:prstGeom prst="line">
                <a:avLst/>
              </a:prstGeom>
              <a:ln w="3922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objective_2_parallel_0_1" descr="Editable line; source id objective_2_parallel_0_1"/>
              <p:cNvCxnSpPr/>
              <p:nvPr/>
            </p:nvCxnSpPr>
            <p:spPr>
              <a:xfrm>
                <a:off x="2454743" y="1372770"/>
                <a:ext cx="0" cy="78455"/>
              </a:xfrm>
              <a:prstGeom prst="line">
                <a:avLst/>
              </a:prstGeom>
              <a:ln w="3922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flow_balance" descr="Editable text; source id flow_balance"/>
            <p:cNvSpPr txBox="1"/>
            <p:nvPr/>
          </p:nvSpPr>
          <p:spPr>
            <a:xfrm>
              <a:off x="2060830" y="1508655"/>
              <a:ext cx="508392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flow balance</a:t>
              </a:r>
            </a:p>
          </p:txBody>
        </p:sp>
        <p:grpSp>
          <p:nvGrpSpPr>
            <p:cNvPr id="288" name="budget_constraint" descr="Editable formula parts and native mathematical delimiters."/>
            <p:cNvGrpSpPr/>
            <p:nvPr/>
          </p:nvGrpSpPr>
          <p:grpSpPr>
            <a:xfrm>
              <a:off x="2102334" y="1655647"/>
              <a:ext cx="422770" cy="128329"/>
              <a:chOff x="2102334" y="1655647"/>
              <a:chExt cx="422770" cy="128329"/>
            </a:xfrm>
          </p:grpSpPr>
          <p:sp>
            <p:nvSpPr>
              <p:cNvPr id="144" name="budget_constraint_0" descr="Editable text; source id budget_constraint_0"/>
              <p:cNvSpPr txBox="1"/>
              <p:nvPr/>
            </p:nvSpPr>
            <p:spPr>
              <a:xfrm>
                <a:off x="2123898" y="1655647"/>
                <a:ext cx="69165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5" name="budget_constraint_1" descr="Editable text; source id budget_constraint_1"/>
              <p:cNvSpPr txBox="1"/>
              <p:nvPr/>
            </p:nvSpPr>
            <p:spPr>
              <a:xfrm>
                <a:off x="2188954" y="1707342"/>
                <a:ext cx="35641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46" name="budget_constraint_2" descr="Editable text; source id budget_constraint_2"/>
              <p:cNvSpPr txBox="1"/>
              <p:nvPr/>
            </p:nvSpPr>
            <p:spPr>
              <a:xfrm>
                <a:off x="2223354" y="1655647"/>
                <a:ext cx="87654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147" name="budget_constraint_3" descr="Editable text; source id budget_constraint_3"/>
              <p:cNvSpPr txBox="1"/>
              <p:nvPr/>
            </p:nvSpPr>
            <p:spPr>
              <a:xfrm>
                <a:off x="2338433" y="1655647"/>
                <a:ext cx="10433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148" name="budget_constraint_4" descr="Editable text; source id budget_constraint_4"/>
              <p:cNvSpPr txBox="1"/>
              <p:nvPr/>
            </p:nvSpPr>
            <p:spPr>
              <a:xfrm>
                <a:off x="2441527" y="1655647"/>
                <a:ext cx="52045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49" name="budget_constraint_5" descr="Editable text; source id budget_constraint_5"/>
              <p:cNvSpPr txBox="1"/>
              <p:nvPr/>
            </p:nvSpPr>
            <p:spPr>
              <a:xfrm>
                <a:off x="2489463" y="1707342"/>
                <a:ext cx="35641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286" name="budget_constraint_angle_0" descr="One editable routed connector; fixed endpoints."/>
              <p:cNvGrpSpPr/>
              <p:nvPr/>
            </p:nvGrpSpPr>
            <p:grpSpPr>
              <a:xfrm>
                <a:off x="2102334" y="1673818"/>
                <a:ext cx="15289" cy="76444"/>
                <a:chOff x="2102334" y="1673818"/>
                <a:chExt cx="15289" cy="76444"/>
              </a:xfrm>
            </p:grpSpPr>
            <p:cxnSp>
              <p:nvCxnSpPr>
                <p:cNvPr id="150" name="budget_constraint_angle_0_0" descr="Editable line; source id budget_constraint_angle_0_0"/>
                <p:cNvCxnSpPr/>
                <p:nvPr/>
              </p:nvCxnSpPr>
              <p:spPr>
                <a:xfrm flipH="1">
                  <a:off x="2102334" y="1673818"/>
                  <a:ext cx="15289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budget_constraint_angle_0_1" descr="Editable line; source id budget_constraint_angle_0_1"/>
                <p:cNvCxnSpPr/>
                <p:nvPr/>
              </p:nvCxnSpPr>
              <p:spPr>
                <a:xfrm>
                  <a:off x="2102334" y="1712040"/>
                  <a:ext cx="15289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budget_constraint_angle_1" descr="One editable routed connector; fixed endpoints."/>
              <p:cNvGrpSpPr/>
              <p:nvPr/>
            </p:nvGrpSpPr>
            <p:grpSpPr>
              <a:xfrm>
                <a:off x="2316870" y="1673818"/>
                <a:ext cx="15288" cy="76444"/>
                <a:chOff x="2316870" y="1673818"/>
                <a:chExt cx="15288" cy="76444"/>
              </a:xfrm>
            </p:grpSpPr>
            <p:cxnSp>
              <p:nvCxnSpPr>
                <p:cNvPr id="152" name="budget_constraint_angle_1_0" descr="Editable line; source id budget_constraint_angle_1_0"/>
                <p:cNvCxnSpPr/>
                <p:nvPr/>
              </p:nvCxnSpPr>
              <p:spPr>
                <a:xfrm>
                  <a:off x="2316870" y="1673818"/>
                  <a:ext cx="15288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budget_constraint_angle_1_1" descr="Editable line; source id budget_constraint_angle_1_1"/>
                <p:cNvCxnSpPr/>
                <p:nvPr/>
              </p:nvCxnSpPr>
              <p:spPr>
                <a:xfrm flipH="1">
                  <a:off x="2316870" y="1712040"/>
                  <a:ext cx="15288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4" name="inputs_to_graph" descr="Editable line; source id inputs_to_graph"/>
            <p:cNvSpPr/>
            <p:nvPr/>
          </p:nvSpPr>
          <p:spPr>
            <a:xfrm>
              <a:off x="1775308" y="919086"/>
              <a:ext cx="115672" cy="22631"/>
            </a:xfrm>
            <a:custGeom>
              <a:avLst/>
              <a:gdLst/>
              <a:ahLst/>
              <a:cxnLst/>
              <a:rect l="l" t="t" r="r" b="b"/>
              <a:pathLst>
                <a:path w="42228" h="8262">
                  <a:moveTo>
                    <a:pt x="0" y="2984"/>
                  </a:moveTo>
                  <a:lnTo>
                    <a:pt x="31212" y="2984"/>
                  </a:lnTo>
                  <a:lnTo>
                    <a:pt x="31212" y="0"/>
                  </a:lnTo>
                  <a:lnTo>
                    <a:pt x="42228" y="4131"/>
                  </a:lnTo>
                  <a:lnTo>
                    <a:pt x="31212" y="8262"/>
                  </a:lnTo>
                  <a:lnTo>
                    <a:pt x="31212" y="5279"/>
                  </a:lnTo>
                  <a:lnTo>
                    <a:pt x="0" y="5279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graph_to_prices" descr="Editable line; source id graph_to_prices"/>
            <p:cNvSpPr/>
            <p:nvPr/>
          </p:nvSpPr>
          <p:spPr>
            <a:xfrm>
              <a:off x="2730856" y="919086"/>
              <a:ext cx="128245" cy="22631"/>
            </a:xfrm>
            <a:custGeom>
              <a:avLst/>
              <a:gdLst/>
              <a:ahLst/>
              <a:cxnLst/>
              <a:rect l="l" t="t" r="r" b="b"/>
              <a:pathLst>
                <a:path w="46818" h="8262">
                  <a:moveTo>
                    <a:pt x="0" y="2984"/>
                  </a:moveTo>
                  <a:lnTo>
                    <a:pt x="35802" y="2984"/>
                  </a:lnTo>
                  <a:lnTo>
                    <a:pt x="35802" y="0"/>
                  </a:lnTo>
                  <a:lnTo>
                    <a:pt x="46818" y="4131"/>
                  </a:lnTo>
                  <a:lnTo>
                    <a:pt x="35802" y="8262"/>
                  </a:lnTo>
                  <a:lnTo>
                    <a:pt x="35802" y="5279"/>
                  </a:lnTo>
                  <a:lnTo>
                    <a:pt x="0" y="5279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89" name="graph_price" descr="Editable formula parts and native mathematical delimiters."/>
            <p:cNvGrpSpPr/>
            <p:nvPr/>
          </p:nvGrpSpPr>
          <p:grpSpPr>
            <a:xfrm>
              <a:off x="3321204" y="559469"/>
              <a:ext cx="92105" cy="147486"/>
              <a:chOff x="3321204" y="559469"/>
              <a:chExt cx="92105" cy="147486"/>
            </a:xfrm>
          </p:grpSpPr>
          <p:sp>
            <p:nvSpPr>
              <p:cNvPr id="156" name="graph_price_0" descr="Editable text; source id graph_price_0"/>
              <p:cNvSpPr txBox="1"/>
              <p:nvPr/>
            </p:nvSpPr>
            <p:spPr>
              <a:xfrm>
                <a:off x="3321204" y="578500"/>
                <a:ext cx="56421" cy="12845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79"/>
                  </a:lnSpc>
                  <a:spcBef>
                    <a:spcPts val="0"/>
                  </a:spcBef>
                  <a:spcAft>
                    <a:spcPts val="0"/>
                  </a:spcAft>
                  <a:defRPr sz="85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5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57" name="graph_price_1" descr="Editable text; source id graph_price_1"/>
              <p:cNvSpPr txBox="1"/>
              <p:nvPr/>
            </p:nvSpPr>
            <p:spPr>
              <a:xfrm>
                <a:off x="3373516" y="559469"/>
                <a:ext cx="39793" cy="86177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46"/>
                  </a:lnSpc>
                  <a:spcBef>
                    <a:spcPts val="0"/>
                  </a:spcBef>
                  <a:spcAft>
                    <a:spcPts val="0"/>
                  </a:spcAft>
                  <a:defRPr sz="56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58" name="price_to_filter" descr="Editable line; source id price_to_filter"/>
            <p:cNvSpPr/>
            <p:nvPr/>
          </p:nvSpPr>
          <p:spPr>
            <a:xfrm>
              <a:off x="3358248" y="719176"/>
              <a:ext cx="22631" cy="35204"/>
            </a:xfrm>
            <a:custGeom>
              <a:avLst/>
              <a:gdLst/>
              <a:ahLst/>
              <a:cxnLst/>
              <a:rect l="l" t="t" r="r" b="b"/>
              <a:pathLst>
                <a:path w="8262" h="12852">
                  <a:moveTo>
                    <a:pt x="5095" y="0"/>
                  </a:moveTo>
                  <a:lnTo>
                    <a:pt x="5095" y="1836"/>
                  </a:lnTo>
                  <a:lnTo>
                    <a:pt x="8262" y="1836"/>
                  </a:lnTo>
                  <a:lnTo>
                    <a:pt x="4131" y="12852"/>
                  </a:lnTo>
                  <a:lnTo>
                    <a:pt x="0" y="1836"/>
                  </a:lnTo>
                  <a:lnTo>
                    <a:pt x="3167" y="1836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0" name="filter" descr="filter"/>
            <p:cNvGrpSpPr/>
            <p:nvPr/>
          </p:nvGrpSpPr>
          <p:grpSpPr>
            <a:xfrm>
              <a:off x="2947111" y="764438"/>
              <a:ext cx="819759" cy="158419"/>
              <a:chOff x="2947111" y="764438"/>
              <a:chExt cx="819759" cy="158419"/>
            </a:xfrm>
          </p:grpSpPr>
          <p:sp>
            <p:nvSpPr>
              <p:cNvPr id="159" name="filter_panel" descr="Editable shape; source id filter_panel"/>
              <p:cNvSpPr/>
              <p:nvPr/>
            </p:nvSpPr>
            <p:spPr>
              <a:xfrm>
                <a:off x="2947111" y="764438"/>
                <a:ext cx="819759" cy="158419"/>
              </a:xfrm>
              <a:prstGeom prst="roundRect">
                <a:avLst>
                  <a:gd name="adj" fmla="val 12698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filter_text" descr="Editable text; source id filter_text"/>
              <p:cNvSpPr txBox="1"/>
              <p:nvPr/>
            </p:nvSpPr>
            <p:spPr>
              <a:xfrm>
                <a:off x="3136452" y="784911"/>
                <a:ext cx="449295" cy="120516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Clip + filter</a:t>
                </a:r>
              </a:p>
            </p:txBody>
          </p:sp>
        </p:grpSp>
        <p:sp>
          <p:nvSpPr>
            <p:cNvPr id="161" name="filter_output" descr="Editable line; source id filter_output"/>
            <p:cNvSpPr/>
            <p:nvPr/>
          </p:nvSpPr>
          <p:spPr>
            <a:xfrm>
              <a:off x="3345675" y="935431"/>
              <a:ext cx="22631" cy="80467"/>
            </a:xfrm>
            <a:custGeom>
              <a:avLst/>
              <a:gdLst/>
              <a:ahLst/>
              <a:cxnLst/>
              <a:rect l="l" t="t" r="r" b="b"/>
              <a:pathLst>
                <a:path w="8262" h="29376">
                  <a:moveTo>
                    <a:pt x="5095" y="0"/>
                  </a:moveTo>
                  <a:lnTo>
                    <a:pt x="5095" y="18360"/>
                  </a:lnTo>
                  <a:lnTo>
                    <a:pt x="8262" y="18360"/>
                  </a:lnTo>
                  <a:lnTo>
                    <a:pt x="4131" y="29376"/>
                  </a:lnTo>
                  <a:lnTo>
                    <a:pt x="0" y="18360"/>
                  </a:lnTo>
                  <a:lnTo>
                    <a:pt x="3167" y="18360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1" name="filtered_price" descr="Editable formula parts and native mathematical delimiters."/>
            <p:cNvGrpSpPr/>
            <p:nvPr/>
          </p:nvGrpSpPr>
          <p:grpSpPr>
            <a:xfrm>
              <a:off x="3296513" y="1007130"/>
              <a:ext cx="116416" cy="144073"/>
              <a:chOff x="3296513" y="1007130"/>
              <a:chExt cx="116416" cy="144073"/>
            </a:xfrm>
          </p:grpSpPr>
          <p:sp>
            <p:nvSpPr>
              <p:cNvPr id="162" name="filtered_price_0" descr="Editable text; source id filtered_price_0"/>
              <p:cNvSpPr txBox="1"/>
              <p:nvPr/>
            </p:nvSpPr>
            <p:spPr>
              <a:xfrm>
                <a:off x="3296513" y="1025639"/>
                <a:ext cx="81491" cy="1255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63" name="filtered_price_1" descr="Editable text; source id filtered_price_1"/>
              <p:cNvSpPr txBox="1"/>
              <p:nvPr/>
            </p:nvSpPr>
            <p:spPr>
              <a:xfrm>
                <a:off x="3373896" y="1007130"/>
                <a:ext cx="39033" cy="8426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64" name="filtered_to_plus" descr="Editable line; source id filtered_to_plus"/>
            <p:cNvSpPr/>
            <p:nvPr/>
          </p:nvSpPr>
          <p:spPr>
            <a:xfrm>
              <a:off x="3345675" y="1169289"/>
              <a:ext cx="22631" cy="45263"/>
            </a:xfrm>
            <a:custGeom>
              <a:avLst/>
              <a:gdLst/>
              <a:ahLst/>
              <a:cxnLst/>
              <a:rect l="l" t="t" r="r" b="b"/>
              <a:pathLst>
                <a:path w="8262" h="16524">
                  <a:moveTo>
                    <a:pt x="5095" y="0"/>
                  </a:moveTo>
                  <a:lnTo>
                    <a:pt x="5095" y="5508"/>
                  </a:lnTo>
                  <a:lnTo>
                    <a:pt x="8262" y="5508"/>
                  </a:lnTo>
                  <a:lnTo>
                    <a:pt x="4131" y="16524"/>
                  </a:lnTo>
                  <a:lnTo>
                    <a:pt x="0" y="5508"/>
                  </a:lnTo>
                  <a:lnTo>
                    <a:pt x="3167" y="5508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2" name="price_sum" descr="price sum"/>
            <p:cNvGrpSpPr/>
            <p:nvPr/>
          </p:nvGrpSpPr>
          <p:grpSpPr>
            <a:xfrm>
              <a:off x="3286582" y="1222095"/>
              <a:ext cx="140817" cy="140817"/>
              <a:chOff x="3286582" y="1222095"/>
              <a:chExt cx="140817" cy="140817"/>
            </a:xfrm>
          </p:grpSpPr>
          <p:sp>
            <p:nvSpPr>
              <p:cNvPr id="165" name="price_sum_panel" descr="Editable shape; source id price_sum_panel"/>
              <p:cNvSpPr/>
              <p:nvPr/>
            </p:nvSpPr>
            <p:spPr>
              <a:xfrm>
                <a:off x="3286582" y="1222095"/>
                <a:ext cx="140817" cy="140817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4274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price_plus" descr="Editable text; source id price_plus"/>
              <p:cNvSpPr txBox="1"/>
              <p:nvPr/>
            </p:nvSpPr>
            <p:spPr>
              <a:xfrm>
                <a:off x="3322750" y="1228176"/>
                <a:ext cx="76698" cy="129417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7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167" name="feedback_beta_0" descr="Editable text; source id feedback_beta_0"/>
            <p:cNvSpPr txBox="1"/>
            <p:nvPr/>
          </p:nvSpPr>
          <p:spPr>
            <a:xfrm>
              <a:off x="3660857" y="1178333"/>
              <a:ext cx="57523" cy="116888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3424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  <p:sp>
          <p:nvSpPr>
            <p:cNvPr id="168" name="beta_to_plus" descr="Editable line; source id beta_to_plus"/>
            <p:cNvSpPr/>
            <p:nvPr/>
          </p:nvSpPr>
          <p:spPr>
            <a:xfrm>
              <a:off x="3437458" y="1281189"/>
              <a:ext cx="158420" cy="22631"/>
            </a:xfrm>
            <a:custGeom>
              <a:avLst/>
              <a:gdLst/>
              <a:ahLst/>
              <a:cxnLst/>
              <a:rect l="l" t="t" r="r" b="b"/>
              <a:pathLst>
                <a:path w="57834" h="8262">
                  <a:moveTo>
                    <a:pt x="57834" y="5095"/>
                  </a:moveTo>
                  <a:lnTo>
                    <a:pt x="11016" y="5095"/>
                  </a:lnTo>
                  <a:lnTo>
                    <a:pt x="11016" y="8262"/>
                  </a:lnTo>
                  <a:lnTo>
                    <a:pt x="0" y="4131"/>
                  </a:lnTo>
                  <a:lnTo>
                    <a:pt x="11016" y="0"/>
                  </a:lnTo>
                  <a:lnTo>
                    <a:pt x="11016" y="3167"/>
                  </a:lnTo>
                  <a:lnTo>
                    <a:pt x="57834" y="3167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sum_down" descr="Editable line; source id sum_down"/>
            <p:cNvSpPr/>
            <p:nvPr/>
          </p:nvSpPr>
          <p:spPr>
            <a:xfrm>
              <a:off x="3345675" y="1372972"/>
              <a:ext cx="22631" cy="67894"/>
            </a:xfrm>
            <a:custGeom>
              <a:avLst/>
              <a:gdLst/>
              <a:ahLst/>
              <a:cxnLst/>
              <a:rect l="l" t="t" r="r" b="b"/>
              <a:pathLst>
                <a:path w="8262" h="24786">
                  <a:moveTo>
                    <a:pt x="5095" y="0"/>
                  </a:moveTo>
                  <a:lnTo>
                    <a:pt x="5095" y="13770"/>
                  </a:lnTo>
                  <a:lnTo>
                    <a:pt x="8262" y="13770"/>
                  </a:lnTo>
                  <a:lnTo>
                    <a:pt x="4131" y="24786"/>
                  </a:lnTo>
                  <a:lnTo>
                    <a:pt x="0" y="13770"/>
                  </a:lnTo>
                  <a:lnTo>
                    <a:pt x="3167" y="13770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3" name="total_price" descr="Editable formula parts and native mathematical delimiters."/>
            <p:cNvGrpSpPr/>
            <p:nvPr/>
          </p:nvGrpSpPr>
          <p:grpSpPr>
            <a:xfrm>
              <a:off x="3103024" y="1442280"/>
              <a:ext cx="503545" cy="152872"/>
              <a:chOff x="3103024" y="1442280"/>
              <a:chExt cx="503545" cy="152872"/>
            </a:xfrm>
          </p:grpSpPr>
          <p:sp>
            <p:nvSpPr>
              <p:cNvPr id="170" name="total_price_0" descr="Editable text; source id total_price_0"/>
              <p:cNvSpPr txBox="1"/>
              <p:nvPr/>
            </p:nvSpPr>
            <p:spPr>
              <a:xfrm>
                <a:off x="3103024" y="146042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1" name="total_price_1" descr="Editable text; source id total_price_1"/>
              <p:cNvSpPr txBox="1"/>
              <p:nvPr/>
            </p:nvSpPr>
            <p:spPr>
              <a:xfrm>
                <a:off x="3152330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2" name="total_price_2" descr="Editable text; source id total_price_2"/>
              <p:cNvSpPr txBox="1"/>
              <p:nvPr/>
            </p:nvSpPr>
            <p:spPr>
              <a:xfrm>
                <a:off x="3188903" y="146042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173" name="total_price_3" descr="Editable text; source id total_price_3"/>
              <p:cNvSpPr txBox="1"/>
              <p:nvPr/>
            </p:nvSpPr>
            <p:spPr>
              <a:xfrm>
                <a:off x="3296193" y="1460429"/>
                <a:ext cx="78067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74" name="total_price_4" descr="Editable text; source id total_price_4"/>
              <p:cNvSpPr txBox="1"/>
              <p:nvPr/>
            </p:nvSpPr>
            <p:spPr>
              <a:xfrm>
                <a:off x="3370152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5" name="total_price_5" descr="Editable text; source id total_price_5"/>
              <p:cNvSpPr txBox="1"/>
              <p:nvPr/>
            </p:nvSpPr>
            <p:spPr>
              <a:xfrm>
                <a:off x="3370152" y="1442280"/>
                <a:ext cx="37300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76" name="total_price_6" descr="Editable text; source id total_price_6"/>
              <p:cNvSpPr txBox="1"/>
              <p:nvPr/>
            </p:nvSpPr>
            <p:spPr>
              <a:xfrm>
                <a:off x="3406724" y="146042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177" name="total_price_7" descr="Editable text; source id total_price_7"/>
              <p:cNvSpPr txBox="1"/>
              <p:nvPr/>
            </p:nvSpPr>
            <p:spPr>
              <a:xfrm>
                <a:off x="3514699" y="1460429"/>
                <a:ext cx="58315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3424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78" name="total_price_8" descr="Editable text; source id total_price_8"/>
              <p:cNvSpPr txBox="1"/>
              <p:nvPr/>
            </p:nvSpPr>
            <p:spPr>
              <a:xfrm>
                <a:off x="3568905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301" name="price_vector" descr="price vector"/>
            <p:cNvGrpSpPr/>
            <p:nvPr/>
          </p:nvGrpSpPr>
          <p:grpSpPr>
            <a:xfrm>
              <a:off x="3035122" y="1657121"/>
              <a:ext cx="638708" cy="138303"/>
              <a:chOff x="3035122" y="1657121"/>
              <a:chExt cx="638708" cy="138303"/>
            </a:xfrm>
          </p:grpSpPr>
          <p:grpSp>
            <p:nvGrpSpPr>
              <p:cNvPr id="295" name="price_vector_cell0" descr="price vector cell0"/>
              <p:cNvGrpSpPr/>
              <p:nvPr/>
            </p:nvGrpSpPr>
            <p:grpSpPr>
              <a:xfrm>
                <a:off x="3035122" y="1657121"/>
                <a:ext cx="155905" cy="138303"/>
                <a:chOff x="3035122" y="1657121"/>
                <a:chExt cx="155905" cy="138303"/>
              </a:xfrm>
            </p:grpSpPr>
            <p:sp>
              <p:nvSpPr>
                <p:cNvPr id="179" name="price_vector_cell0_panel" descr="Editable shape; source id price_vector_cell0_panel"/>
                <p:cNvSpPr/>
                <p:nvPr/>
              </p:nvSpPr>
              <p:spPr>
                <a:xfrm>
                  <a:off x="3035122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4" name="price_vector_label0" descr="Editable formula parts and native mathematical delimiters."/>
                <p:cNvGrpSpPr/>
                <p:nvPr/>
              </p:nvGrpSpPr>
              <p:grpSpPr>
                <a:xfrm>
                  <a:off x="3069702" y="1663191"/>
                  <a:ext cx="82507" cy="128329"/>
                  <a:chOff x="3069702" y="1663191"/>
                  <a:chExt cx="82507" cy="128329"/>
                </a:xfrm>
              </p:grpSpPr>
              <p:sp>
                <p:nvSpPr>
                  <p:cNvPr id="180" name="price_vector_label0_0" descr="Editable text; source id price_vector_label0_0"/>
                  <p:cNvSpPr txBox="1"/>
                  <p:nvPr/>
                </p:nvSpPr>
                <p:spPr>
                  <a:xfrm>
                    <a:off x="3069702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1" name="price_vector_label0_1" descr="Editable text; source id price_vector_label0_1"/>
                  <p:cNvSpPr txBox="1"/>
                  <p:nvPr/>
                </p:nvSpPr>
                <p:spPr>
                  <a:xfrm>
                    <a:off x="3116568" y="1714886"/>
                    <a:ext cx="35641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297" name="price_vector_cell1" descr="price vector cell1"/>
              <p:cNvGrpSpPr/>
              <p:nvPr/>
            </p:nvGrpSpPr>
            <p:grpSpPr>
              <a:xfrm>
                <a:off x="3196056" y="1657121"/>
                <a:ext cx="155905" cy="138303"/>
                <a:chOff x="3196056" y="1657121"/>
                <a:chExt cx="155905" cy="138303"/>
              </a:xfrm>
            </p:grpSpPr>
            <p:sp>
              <p:nvSpPr>
                <p:cNvPr id="182" name="price_vector_cell1_panel" descr="Editable shape; source id price_vector_cell1_panel"/>
                <p:cNvSpPr/>
                <p:nvPr/>
              </p:nvSpPr>
              <p:spPr>
                <a:xfrm>
                  <a:off x="3196056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6" name="price_vector_label1" descr="Editable formula parts and native mathematical delimiters."/>
                <p:cNvGrpSpPr/>
                <p:nvPr/>
              </p:nvGrpSpPr>
              <p:grpSpPr>
                <a:xfrm>
                  <a:off x="3230636" y="1663191"/>
                  <a:ext cx="82508" cy="128329"/>
                  <a:chOff x="3230636" y="1663191"/>
                  <a:chExt cx="82508" cy="128329"/>
                </a:xfrm>
              </p:grpSpPr>
              <p:sp>
                <p:nvSpPr>
                  <p:cNvPr id="183" name="price_vector_label1_0" descr="Editable text; source id price_vector_label1_0"/>
                  <p:cNvSpPr txBox="1"/>
                  <p:nvPr/>
                </p:nvSpPr>
                <p:spPr>
                  <a:xfrm>
                    <a:off x="3230636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4" name="price_vector_label1_1" descr="Editable text; source id price_vector_label1_1"/>
                  <p:cNvSpPr txBox="1"/>
                  <p:nvPr/>
                </p:nvSpPr>
                <p:spPr>
                  <a:xfrm>
                    <a:off x="3277503" y="1714886"/>
                    <a:ext cx="35641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98" name="price_vector_cell2" descr="price vector cell2"/>
              <p:cNvGrpSpPr/>
              <p:nvPr/>
            </p:nvGrpSpPr>
            <p:grpSpPr>
              <a:xfrm>
                <a:off x="3356990" y="1657121"/>
                <a:ext cx="155905" cy="138303"/>
                <a:chOff x="3356990" y="1657121"/>
                <a:chExt cx="155905" cy="138303"/>
              </a:xfrm>
            </p:grpSpPr>
            <p:sp>
              <p:nvSpPr>
                <p:cNvPr id="185" name="price_vector_cell2_panel" descr="Editable shape; source id price_vector_cell2_panel"/>
                <p:cNvSpPr/>
                <p:nvPr/>
              </p:nvSpPr>
              <p:spPr>
                <a:xfrm>
                  <a:off x="3356990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6" name="price_vector_dots" descr="Editable text; source id price_vector_dots"/>
                <p:cNvSpPr txBox="1"/>
                <p:nvPr/>
              </p:nvSpPr>
              <p:spPr>
                <a:xfrm>
                  <a:off x="3386664" y="1664100"/>
                  <a:ext cx="104775" cy="1145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478" rIns="0" bIns="0" lIns="5478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…</a:t>
                  </a:r>
                </a:p>
              </p:txBody>
            </p:sp>
          </p:grpSp>
          <p:grpSp>
            <p:nvGrpSpPr>
              <p:cNvPr id="300" name="price_vector_cell3" descr="price vector cell3"/>
              <p:cNvGrpSpPr/>
              <p:nvPr/>
            </p:nvGrpSpPr>
            <p:grpSpPr>
              <a:xfrm>
                <a:off x="3517925" y="1657121"/>
                <a:ext cx="155905" cy="138303"/>
                <a:chOff x="3517925" y="1657121"/>
                <a:chExt cx="155905" cy="138303"/>
              </a:xfrm>
            </p:grpSpPr>
            <p:sp>
              <p:nvSpPr>
                <p:cNvPr id="187" name="price_vector_cell3_panel" descr="Editable shape; source id price_vector_cell3_panel"/>
                <p:cNvSpPr/>
                <p:nvPr/>
              </p:nvSpPr>
              <p:spPr>
                <a:xfrm>
                  <a:off x="3517925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9" name="price_vector_label3" descr="Editable formula parts and native mathematical delimiters."/>
                <p:cNvGrpSpPr/>
                <p:nvPr/>
              </p:nvGrpSpPr>
              <p:grpSpPr>
                <a:xfrm>
                  <a:off x="3545331" y="1663191"/>
                  <a:ext cx="96856" cy="128329"/>
                  <a:chOff x="3545331" y="1663191"/>
                  <a:chExt cx="96856" cy="128329"/>
                </a:xfrm>
              </p:grpSpPr>
              <p:sp>
                <p:nvSpPr>
                  <p:cNvPr id="188" name="price_vector_label3_0" descr="Editable text; source id price_vector_label3_0"/>
                  <p:cNvSpPr txBox="1"/>
                  <p:nvPr/>
                </p:nvSpPr>
                <p:spPr>
                  <a:xfrm>
                    <a:off x="3545331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9" name="price_vector_label3_1" descr="Editable text; source id price_vector_label3_1"/>
                  <p:cNvSpPr txBox="1"/>
                  <p:nvPr/>
                </p:nvSpPr>
                <p:spPr>
                  <a:xfrm>
                    <a:off x="3592197" y="1714886"/>
                    <a:ext cx="49990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</p:grpSp>
      </p:grpSp>
      <p:grpSp>
        <p:nvGrpSpPr>
          <p:cNvPr id="308" name="constraint_view" descr="constraint view"/>
          <p:cNvGrpSpPr/>
          <p:nvPr/>
        </p:nvGrpSpPr>
        <p:grpSpPr>
          <a:xfrm>
            <a:off x="3935349" y="75438"/>
            <a:ext cx="1033500" cy="1898523"/>
            <a:chOff x="3935349" y="75438"/>
            <a:chExt cx="1033500" cy="1898523"/>
          </a:xfrm>
        </p:grpSpPr>
        <p:sp>
          <p:nvSpPr>
            <p:cNvPr id="190" name="constraint_view_panel" descr="Editable shape; source id constraint_view_panel"/>
            <p:cNvSpPr/>
            <p:nvPr/>
          </p:nvSpPr>
          <p:spPr>
            <a:xfrm>
              <a:off x="3935349" y="75438"/>
              <a:ext cx="1033500" cy="1898523"/>
            </a:xfrm>
            <a:prstGeom prst="roundRect">
              <a:avLst>
                <a:gd name="adj" fmla="val 1946"/>
              </a:avLst>
            </a:prstGeom>
            <a:solidFill>
              <a:srgbClr val="FFFFFF"/>
            </a:solidFill>
            <a:ln w="4526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onstraint_title" descr="Editable text; source id constraint_title"/>
            <p:cNvSpPr txBox="1"/>
            <p:nvPr/>
          </p:nvSpPr>
          <p:spPr>
            <a:xfrm>
              <a:off x="4051943" y="124963"/>
              <a:ext cx="806014" cy="13831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1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grpSp>
          <p:nvGrpSpPr>
            <p:cNvPr id="303" name="constraint_objective" descr="Editable formula parts and native mathematical delimiters."/>
            <p:cNvGrpSpPr/>
            <p:nvPr/>
          </p:nvGrpSpPr>
          <p:grpSpPr>
            <a:xfrm>
              <a:off x="4239762" y="310796"/>
              <a:ext cx="420586" cy="131527"/>
              <a:chOff x="4239762" y="310796"/>
              <a:chExt cx="420586" cy="131527"/>
            </a:xfrm>
          </p:grpSpPr>
          <p:sp>
            <p:nvSpPr>
              <p:cNvPr id="192" name="constraint_objective_0" descr="Editable text; source id constraint_objective_0"/>
              <p:cNvSpPr txBox="1"/>
              <p:nvPr/>
            </p:nvSpPr>
            <p:spPr>
              <a:xfrm>
                <a:off x="4239762" y="310796"/>
                <a:ext cx="1732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93" name="constraint_objective_1" descr="Editable text; source id constraint_objective_1"/>
              <p:cNvSpPr txBox="1"/>
              <p:nvPr/>
            </p:nvSpPr>
            <p:spPr>
              <a:xfrm>
                <a:off x="4408909" y="363780"/>
                <a:ext cx="36979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94" name="constraint_objective_2" descr="Editable text; source id constraint_objective_2"/>
              <p:cNvSpPr txBox="1"/>
              <p:nvPr/>
            </p:nvSpPr>
            <p:spPr>
              <a:xfrm>
                <a:off x="4469374" y="310796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5" name="constraint_objective_3" descr="Editable text; source id constraint_objective_3"/>
              <p:cNvSpPr txBox="1"/>
              <p:nvPr/>
            </p:nvSpPr>
            <p:spPr>
              <a:xfrm>
                <a:off x="4517310" y="363780"/>
                <a:ext cx="25658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96" name="constraint_objective_4" descr="Editable text; source id constraint_objective_4"/>
              <p:cNvSpPr txBox="1"/>
              <p:nvPr/>
            </p:nvSpPr>
            <p:spPr>
              <a:xfrm>
                <a:off x="4541803" y="310796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304" name="constraint_objective2" descr="Editable formula parts and native mathematical delimiters."/>
            <p:cNvGrpSpPr/>
            <p:nvPr/>
          </p:nvGrpSpPr>
          <p:grpSpPr>
            <a:xfrm>
              <a:off x="4198529" y="434012"/>
              <a:ext cx="503052" cy="131526"/>
              <a:chOff x="4198529" y="434012"/>
              <a:chExt cx="503052" cy="131526"/>
            </a:xfrm>
          </p:grpSpPr>
          <p:sp>
            <p:nvSpPr>
              <p:cNvPr id="197" name="constraint_objective2_0" descr="Editable text; source id constraint_objective2_0"/>
              <p:cNvSpPr txBox="1"/>
              <p:nvPr/>
            </p:nvSpPr>
            <p:spPr>
              <a:xfrm>
                <a:off x="4198529" y="434012"/>
                <a:ext cx="143124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198" name="constraint_objective2_1" descr="Editable text; source id constraint_objective2_1"/>
              <p:cNvSpPr txBox="1"/>
              <p:nvPr/>
            </p:nvSpPr>
            <p:spPr>
              <a:xfrm>
                <a:off x="4340487" y="434012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9" name="constraint_objective2_2" descr="Editable text; source id constraint_objective2_2"/>
              <p:cNvSpPr txBox="1"/>
              <p:nvPr/>
            </p:nvSpPr>
            <p:spPr>
              <a:xfrm>
                <a:off x="4388423" y="486995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00" name="constraint_objective2_3" descr="Editable text; source id constraint_objective2_3"/>
              <p:cNvSpPr txBox="1"/>
              <p:nvPr/>
            </p:nvSpPr>
            <p:spPr>
              <a:xfrm>
                <a:off x="4420127" y="434012"/>
                <a:ext cx="281454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cxnSp>
          <p:nvCxnSpPr>
            <p:cNvPr id="201" name="constraint_sep" descr="Editable line; source id constraint_sep"/>
            <p:cNvCxnSpPr/>
            <p:nvPr/>
          </p:nvCxnSpPr>
          <p:spPr>
            <a:xfrm>
              <a:off x="3993184" y="600989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geometry_label" descr="Editable text; source id geometry_label"/>
            <p:cNvSpPr txBox="1"/>
            <p:nvPr/>
          </p:nvSpPr>
          <p:spPr>
            <a:xfrm>
              <a:off x="4012852" y="593341"/>
              <a:ext cx="596057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grpSp>
          <p:nvGrpSpPr>
            <p:cNvPr id="307" name="budget_geometry" descr="budget geometry"/>
            <p:cNvGrpSpPr/>
            <p:nvPr/>
          </p:nvGrpSpPr>
          <p:grpSpPr>
            <a:xfrm>
              <a:off x="4036436" y="718824"/>
              <a:ext cx="839137" cy="706939"/>
              <a:chOff x="4036436" y="718824"/>
              <a:chExt cx="839137" cy="706939"/>
            </a:xfrm>
          </p:grpSpPr>
          <p:sp>
            <p:nvSpPr>
              <p:cNvPr id="203" name="feasible_area" descr="Editable shape; source id feasible_area"/>
              <p:cNvSpPr/>
              <p:nvPr/>
            </p:nvSpPr>
            <p:spPr>
              <a:xfrm>
                <a:off x="4144060" y="837361"/>
                <a:ext cx="450113" cy="41490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budget_x" descr="Editable line; source id budget_x"/>
              <p:cNvSpPr/>
              <p:nvPr/>
            </p:nvSpPr>
            <p:spPr>
              <a:xfrm>
                <a:off x="4144061" y="1248499"/>
                <a:ext cx="666369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243270" h="8262">
                    <a:moveTo>
                      <a:pt x="0" y="3305"/>
                    </a:moveTo>
                    <a:lnTo>
                      <a:pt x="232254" y="3305"/>
                    </a:lnTo>
                    <a:lnTo>
                      <a:pt x="232254" y="0"/>
                    </a:lnTo>
                    <a:lnTo>
                      <a:pt x="243270" y="4131"/>
                    </a:lnTo>
                    <a:lnTo>
                      <a:pt x="232254" y="8262"/>
                    </a:lnTo>
                    <a:lnTo>
                      <a:pt x="232254" y="4957"/>
                    </a:lnTo>
                    <a:lnTo>
                      <a:pt x="0" y="4957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budget_y" descr="Editable line; source id budget_y"/>
              <p:cNvSpPr/>
              <p:nvPr/>
            </p:nvSpPr>
            <p:spPr>
              <a:xfrm>
                <a:off x="4125201" y="792099"/>
                <a:ext cx="22631" cy="467716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70748">
                    <a:moveTo>
                      <a:pt x="3305" y="170748"/>
                    </a:moveTo>
                    <a:lnTo>
                      <a:pt x="3305" y="11016"/>
                    </a:lnTo>
                    <a:lnTo>
                      <a:pt x="0" y="11016"/>
                    </a:lnTo>
                    <a:lnTo>
                      <a:pt x="4131" y="0"/>
                    </a:lnTo>
                    <a:lnTo>
                      <a:pt x="8262" y="11016"/>
                    </a:lnTo>
                    <a:lnTo>
                      <a:pt x="4957" y="11016"/>
                    </a:lnTo>
                    <a:lnTo>
                      <a:pt x="4957" y="17074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06" name="budget_bound_x" descr="Editable line; source id budget_bound_x"/>
              <p:cNvCxnSpPr/>
              <p:nvPr/>
            </p:nvCxnSpPr>
            <p:spPr>
              <a:xfrm flipV="1">
                <a:off x="4601718" y="834847"/>
                <a:ext cx="0" cy="417423"/>
              </a:xfrm>
              <a:prstGeom prst="line">
                <a:avLst/>
              </a:prstGeom>
              <a:ln w="5029" cap="rnd">
                <a:solidFill>
                  <a:srgbClr val="B78129"/>
                </a:solidFill>
                <a:custDash>
                  <a:ds d="350000" sp="250000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budget_bound_y" descr="Editable line; source id budget_bound_y"/>
              <p:cNvCxnSpPr/>
              <p:nvPr/>
            </p:nvCxnSpPr>
            <p:spPr>
              <a:xfrm>
                <a:off x="4149089" y="829818"/>
                <a:ext cx="452629" cy="0"/>
              </a:xfrm>
              <a:prstGeom prst="line">
                <a:avLst/>
              </a:prstGeom>
              <a:ln w="5029" cap="rnd">
                <a:solidFill>
                  <a:srgbClr val="B78129"/>
                </a:solidFill>
                <a:custDash>
                  <a:ds d="350000" sp="250000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feasible_text" descr="Editable text; source id feasible_text"/>
              <p:cNvSpPr txBox="1"/>
              <p:nvPr/>
            </p:nvSpPr>
            <p:spPr>
              <a:xfrm>
                <a:off x="4220065" y="944925"/>
                <a:ext cx="313864" cy="114581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feasible</a:t>
                </a:r>
              </a:p>
            </p:txBody>
          </p:sp>
          <p:sp>
            <p:nvSpPr>
              <p:cNvPr id="209" name="feasible_text2" descr="Editable text; source id feasible_text2"/>
              <p:cNvSpPr txBox="1"/>
              <p:nvPr/>
            </p:nvSpPr>
            <p:spPr>
              <a:xfrm>
                <a:off x="4248576" y="1048023"/>
                <a:ext cx="256844" cy="114581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region</a:t>
                </a:r>
              </a:p>
            </p:txBody>
          </p:sp>
          <p:sp>
            <p:nvSpPr>
              <p:cNvPr id="210" name="origin" descr="Editable text; source id origin"/>
              <p:cNvSpPr txBox="1"/>
              <p:nvPr/>
            </p:nvSpPr>
            <p:spPr>
              <a:xfrm>
                <a:off x="4046495" y="1258554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0</a:t>
                </a:r>
              </a:p>
            </p:txBody>
          </p:sp>
          <p:sp>
            <p:nvSpPr>
              <p:cNvPr id="211" name="unit_x" descr="Editable text; source id unit_x"/>
              <p:cNvSpPr txBox="1"/>
              <p:nvPr/>
            </p:nvSpPr>
            <p:spPr>
              <a:xfrm>
                <a:off x="4574561" y="1268612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1</a:t>
                </a:r>
              </a:p>
            </p:txBody>
          </p:sp>
          <p:sp>
            <p:nvSpPr>
              <p:cNvPr id="212" name="unit_y" descr="Editable text; source id unit_y"/>
              <p:cNvSpPr txBox="1"/>
              <p:nvPr/>
            </p:nvSpPr>
            <p:spPr>
              <a:xfrm>
                <a:off x="4036436" y="775751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1</a:t>
                </a:r>
              </a:p>
            </p:txBody>
          </p:sp>
          <p:grpSp>
            <p:nvGrpSpPr>
              <p:cNvPr id="305" name="cost_y" descr="Editable formula parts and native mathematical delimiters."/>
              <p:cNvGrpSpPr/>
              <p:nvPr/>
            </p:nvGrpSpPr>
            <p:grpSpPr>
              <a:xfrm>
                <a:off x="4678861" y="718824"/>
                <a:ext cx="196712" cy="108464"/>
                <a:chOff x="4678861" y="718824"/>
                <a:chExt cx="196712" cy="108464"/>
              </a:xfrm>
            </p:grpSpPr>
            <p:sp>
              <p:nvSpPr>
                <p:cNvPr id="213" name="cost_y_0" descr="Editable text; source id cost_y_0"/>
                <p:cNvSpPr txBox="1"/>
                <p:nvPr/>
              </p:nvSpPr>
              <p:spPr>
                <a:xfrm>
                  <a:off x="4678861" y="718824"/>
                  <a:ext cx="43142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14" name="cost_y_1" descr="Editable text; source id cost_y_1"/>
                <p:cNvSpPr txBox="1"/>
                <p:nvPr/>
              </p:nvSpPr>
              <p:spPr>
                <a:xfrm>
                  <a:off x="4717895" y="762105"/>
                  <a:ext cx="54238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c2</a:t>
                  </a:r>
                </a:p>
              </p:txBody>
            </p:sp>
            <p:sp>
              <p:nvSpPr>
                <p:cNvPr id="215" name="cost_y_2" descr="Editable text; source id cost_y_2"/>
                <p:cNvSpPr txBox="1"/>
                <p:nvPr/>
              </p:nvSpPr>
              <p:spPr>
                <a:xfrm>
                  <a:off x="4770439" y="718824"/>
                  <a:ext cx="26707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16" name="cost_y_3" descr="Editable text; source id cost_y_3"/>
                <p:cNvSpPr txBox="1"/>
                <p:nvPr/>
              </p:nvSpPr>
              <p:spPr>
                <a:xfrm>
                  <a:off x="4795451" y="718824"/>
                  <a:ext cx="53414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17" name="cost_y_4" descr="Editable text; source id cost_y_4"/>
                <p:cNvSpPr txBox="1"/>
                <p:nvPr/>
              </p:nvSpPr>
              <p:spPr>
                <a:xfrm>
                  <a:off x="4844757" y="762105"/>
                  <a:ext cx="30816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306" name="cost_x" descr="Editable formula parts and native mathematical delimiters."/>
              <p:cNvGrpSpPr/>
              <p:nvPr/>
            </p:nvGrpSpPr>
            <p:grpSpPr>
              <a:xfrm>
                <a:off x="4276525" y="1317299"/>
                <a:ext cx="196712" cy="108464"/>
                <a:chOff x="4276525" y="1317299"/>
                <a:chExt cx="196712" cy="108464"/>
              </a:xfrm>
            </p:grpSpPr>
            <p:sp>
              <p:nvSpPr>
                <p:cNvPr id="218" name="cost_x_0" descr="Editable text; source id cost_x_0"/>
                <p:cNvSpPr txBox="1"/>
                <p:nvPr/>
              </p:nvSpPr>
              <p:spPr>
                <a:xfrm>
                  <a:off x="4276525" y="1317299"/>
                  <a:ext cx="43142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19" name="cost_x_1" descr="Editable text; source id cost_x_1"/>
                <p:cNvSpPr txBox="1"/>
                <p:nvPr/>
              </p:nvSpPr>
              <p:spPr>
                <a:xfrm>
                  <a:off x="4315559" y="1360580"/>
                  <a:ext cx="54238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c1</a:t>
                  </a:r>
                </a:p>
              </p:txBody>
            </p:sp>
            <p:sp>
              <p:nvSpPr>
                <p:cNvPr id="220" name="cost_x_2" descr="Editable text; source id cost_x_2"/>
                <p:cNvSpPr txBox="1"/>
                <p:nvPr/>
              </p:nvSpPr>
              <p:spPr>
                <a:xfrm>
                  <a:off x="4368103" y="1317299"/>
                  <a:ext cx="26707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21" name="cost_x_3" descr="Editable text; source id cost_x_3"/>
                <p:cNvSpPr txBox="1"/>
                <p:nvPr/>
              </p:nvSpPr>
              <p:spPr>
                <a:xfrm>
                  <a:off x="4393115" y="1317299"/>
                  <a:ext cx="53414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22" name="cost_x_4" descr="Editable text; source id cost_x_4"/>
                <p:cNvSpPr txBox="1"/>
                <p:nvPr/>
              </p:nvSpPr>
              <p:spPr>
                <a:xfrm>
                  <a:off x="4442421" y="1360580"/>
                  <a:ext cx="30816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sp>
          <p:nvSpPr>
            <p:cNvPr id="223" name="schematic_note" descr="Editable text; source id schematic_note"/>
            <p:cNvSpPr txBox="1"/>
            <p:nvPr/>
          </p:nvSpPr>
          <p:spPr>
            <a:xfrm>
              <a:off x="4489273" y="1384509"/>
              <a:ext cx="358837" cy="102712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schematic</a:t>
              </a:r>
            </a:p>
          </p:txBody>
        </p:sp>
        <p:cxnSp>
          <p:nvCxnSpPr>
            <p:cNvPr id="224" name="limits_rule" descr="Editable line; source id limits_rule"/>
            <p:cNvCxnSpPr/>
            <p:nvPr/>
          </p:nvCxnSpPr>
          <p:spPr>
            <a:xfrm>
              <a:off x="3993184" y="1536420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limits_title" descr="Editable text; source id limits_title"/>
            <p:cNvSpPr txBox="1"/>
            <p:nvPr/>
          </p:nvSpPr>
          <p:spPr>
            <a:xfrm>
              <a:off x="4012852" y="1538370"/>
              <a:ext cx="750823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Graph-price limits</a:t>
              </a:r>
            </a:p>
          </p:txBody>
        </p:sp>
        <p:sp>
          <p:nvSpPr>
            <p:cNvPr id="226" name="limits_qualifier" descr="Editable text; source id limits_qualifier"/>
            <p:cNvSpPr txBox="1"/>
            <p:nvPr/>
          </p:nvSpPr>
          <p:spPr>
            <a:xfrm>
              <a:off x="4012852" y="1643288"/>
              <a:ext cx="677955" cy="10568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under assumptions</a:t>
              </a:r>
            </a:p>
          </p:txBody>
        </p:sp>
        <p:sp>
          <p:nvSpPr>
            <p:cNvPr id="227" name="limit_zero_0" descr="Editable text; source id limit_zero_0"/>
            <p:cNvSpPr txBox="1"/>
            <p:nvPr/>
          </p:nvSpPr>
          <p:spPr>
            <a:xfrm>
              <a:off x="4016961" y="1750271"/>
              <a:ext cx="202776" cy="99537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13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0</a:t>
              </a:r>
            </a:p>
          </p:txBody>
        </p:sp>
        <p:sp>
          <p:nvSpPr>
            <p:cNvPr id="228" name="limit_lp" descr="Editable text; source id limit_lp"/>
            <p:cNvSpPr txBox="1"/>
            <p:nvPr/>
          </p:nvSpPr>
          <p:spPr>
            <a:xfrm>
              <a:off x="4319633" y="1746386"/>
              <a:ext cx="586876" cy="10568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LP-derived price</a:t>
              </a:r>
            </a:p>
          </p:txBody>
        </p:sp>
        <p:sp>
          <p:nvSpPr>
            <p:cNvPr id="229" name="limit_infty_0" descr="Editable text; source id limit_infty_0"/>
            <p:cNvSpPr txBox="1"/>
            <p:nvPr/>
          </p:nvSpPr>
          <p:spPr>
            <a:xfrm>
              <a:off x="4016961" y="1860913"/>
              <a:ext cx="220506" cy="99537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13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ε → ∞</a:t>
              </a:r>
            </a:p>
          </p:txBody>
        </p:sp>
        <p:sp>
          <p:nvSpPr>
            <p:cNvPr id="230" name="limit_infty_text" descr="Editable text; source id limit_infty_text"/>
            <p:cNvSpPr txBox="1"/>
            <p:nvPr/>
          </p:nvSpPr>
          <p:spPr>
            <a:xfrm>
              <a:off x="4319633" y="1859768"/>
              <a:ext cx="602006" cy="102712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clipped active-set</a:t>
              </a:r>
            </a:p>
          </p:txBody>
        </p:sp>
      </p:grpSp>
      <p:grpSp>
        <p:nvGrpSpPr>
          <p:cNvPr id="309" name="central_to_update" descr="One editable routed connector; fixed endpoints."/>
          <p:cNvGrpSpPr/>
          <p:nvPr/>
        </p:nvGrpSpPr>
        <p:grpSpPr>
          <a:xfrm>
            <a:off x="2553576" y="1984019"/>
            <a:ext cx="803414" cy="85497"/>
            <a:chOff x="2553576" y="1984019"/>
            <a:chExt cx="803414" cy="85497"/>
          </a:xfrm>
        </p:grpSpPr>
        <p:cxnSp>
          <p:nvCxnSpPr>
            <p:cNvPr id="231" name="central_to_update_0" descr="Editable line; source id central_to_update_0"/>
            <p:cNvCxnSpPr/>
            <p:nvPr/>
          </p:nvCxnSpPr>
          <p:spPr>
            <a:xfrm>
              <a:off x="3356990" y="1984019"/>
              <a:ext cx="0" cy="35204"/>
            </a:xfrm>
            <a:prstGeom prst="line">
              <a:avLst/>
            </a:prstGeom>
            <a:ln w="5783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entral_to_update_1" descr="Editable line; source id central_to_update_1"/>
            <p:cNvCxnSpPr/>
            <p:nvPr/>
          </p:nvCxnSpPr>
          <p:spPr>
            <a:xfrm flipH="1">
              <a:off x="2564892" y="2019223"/>
              <a:ext cx="792098" cy="0"/>
            </a:xfrm>
            <a:prstGeom prst="line">
              <a:avLst/>
            </a:prstGeom>
            <a:ln w="5783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central_to_update_2" descr="Editable line; source id central_to_update_2"/>
            <p:cNvSpPr/>
            <p:nvPr/>
          </p:nvSpPr>
          <p:spPr>
            <a:xfrm>
              <a:off x="2553576" y="2019224"/>
              <a:ext cx="22631" cy="50292"/>
            </a:xfrm>
            <a:custGeom>
              <a:avLst/>
              <a:gdLst/>
              <a:ahLst/>
              <a:cxnLst/>
              <a:rect l="l" t="t" r="r" b="b"/>
              <a:pathLst>
                <a:path w="8262" h="18360">
                  <a:moveTo>
                    <a:pt x="5187" y="0"/>
                  </a:moveTo>
                  <a:lnTo>
                    <a:pt x="5187" y="7344"/>
                  </a:lnTo>
                  <a:lnTo>
                    <a:pt x="8262" y="7344"/>
                  </a:lnTo>
                  <a:lnTo>
                    <a:pt x="4131" y="18360"/>
                  </a:lnTo>
                  <a:lnTo>
                    <a:pt x="0" y="7344"/>
                  </a:lnTo>
                  <a:lnTo>
                    <a:pt x="3075" y="734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1" name="common_interface" descr="common interface"/>
          <p:cNvGrpSpPr/>
          <p:nvPr/>
        </p:nvGrpSpPr>
        <p:grpSpPr>
          <a:xfrm>
            <a:off x="60350" y="2079574"/>
            <a:ext cx="4908499" cy="216255"/>
            <a:chOff x="60350" y="2079574"/>
            <a:chExt cx="4908499" cy="216255"/>
          </a:xfrm>
        </p:grpSpPr>
        <p:sp>
          <p:nvSpPr>
            <p:cNvPr id="234" name="common_interface_panel" descr="Editable shape; source id common_interface_panel"/>
            <p:cNvSpPr/>
            <p:nvPr/>
          </p:nvSpPr>
          <p:spPr>
            <a:xfrm>
              <a:off x="60350" y="2079574"/>
              <a:ext cx="4908499" cy="21625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4023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interface_label" descr="Editable text; source id interface_label"/>
            <p:cNvSpPr txBox="1"/>
            <p:nvPr/>
          </p:nvSpPr>
          <p:spPr>
            <a:xfrm>
              <a:off x="99973" y="2122678"/>
              <a:ext cx="1211418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One policy-update interface</a:t>
              </a:r>
            </a:p>
          </p:txBody>
        </p:sp>
        <p:grpSp>
          <p:nvGrpSpPr>
            <p:cNvPr id="310" name="advantage" descr="Editable formula parts and native mathematical delimiters."/>
            <p:cNvGrpSpPr/>
            <p:nvPr/>
          </p:nvGrpSpPr>
          <p:grpSpPr>
            <a:xfrm>
              <a:off x="2090756" y="2121769"/>
              <a:ext cx="1327708" cy="148443"/>
              <a:chOff x="2090756" y="2121769"/>
              <a:chExt cx="1327708" cy="148443"/>
            </a:xfrm>
          </p:grpSpPr>
          <p:sp>
            <p:nvSpPr>
              <p:cNvPr id="236" name="advantage_0" descr="Editable text; source id advantage_0"/>
              <p:cNvSpPr txBox="1"/>
              <p:nvPr/>
            </p:nvSpPr>
            <p:spPr>
              <a:xfrm>
                <a:off x="2090756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</a:t>
                </a:r>
              </a:p>
            </p:txBody>
          </p:sp>
          <p:sp>
            <p:nvSpPr>
              <p:cNvPr id="237" name="advantage_1" descr="Editable text; source id advantage_1"/>
              <p:cNvSpPr txBox="1"/>
              <p:nvPr/>
            </p:nvSpPr>
            <p:spPr>
              <a:xfrm>
                <a:off x="2168418" y="2121769"/>
                <a:ext cx="144611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(</a:t>
                </a:r>
              </a:p>
            </p:txBody>
          </p:sp>
          <p:sp>
            <p:nvSpPr>
              <p:cNvPr id="238" name="advantage_2" descr="Editable text; source id advantage_2"/>
              <p:cNvSpPr txBox="1"/>
              <p:nvPr/>
            </p:nvSpPr>
            <p:spPr>
              <a:xfrm>
                <a:off x="2305774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39" name="advantage_3" descr="Editable text; source id advantage_3"/>
              <p:cNvSpPr txBox="1"/>
              <p:nvPr/>
            </p:nvSpPr>
            <p:spPr>
              <a:xfrm>
                <a:off x="2380418" y="2176040"/>
                <a:ext cx="26215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40" name="advantage_4" descr="Editable text; source id advantage_4"/>
              <p:cNvSpPr txBox="1"/>
              <p:nvPr/>
            </p:nvSpPr>
            <p:spPr>
              <a:xfrm>
                <a:off x="2405542" y="212176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241" name="advantage_5" descr="Editable text; source id advantage_5"/>
              <p:cNvSpPr txBox="1"/>
              <p:nvPr/>
            </p:nvSpPr>
            <p:spPr>
              <a:xfrm>
                <a:off x="2515571" y="2121769"/>
                <a:ext cx="76013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42" name="advantage_6" descr="Editable text; source id advantage_6"/>
              <p:cNvSpPr txBox="1"/>
              <p:nvPr/>
            </p:nvSpPr>
            <p:spPr>
              <a:xfrm>
                <a:off x="2587475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3" name="advantage_7" descr="Editable text; source id advantage_7"/>
              <p:cNvSpPr txBox="1"/>
              <p:nvPr/>
            </p:nvSpPr>
            <p:spPr>
              <a:xfrm>
                <a:off x="2646647" y="212176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44" name="advantage_8" descr="Editable text; source id advantage_8"/>
              <p:cNvSpPr txBox="1"/>
              <p:nvPr/>
            </p:nvSpPr>
            <p:spPr>
              <a:xfrm>
                <a:off x="2695952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5" name="advantage_9" descr="Editable text; source id advantage_9"/>
              <p:cNvSpPr txBox="1"/>
              <p:nvPr/>
            </p:nvSpPr>
            <p:spPr>
              <a:xfrm>
                <a:off x="2726362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46" name="advantage_10" descr="Editable text; source id advantage_10"/>
              <p:cNvSpPr txBox="1"/>
              <p:nvPr/>
            </p:nvSpPr>
            <p:spPr>
              <a:xfrm>
                <a:off x="2801006" y="2176040"/>
                <a:ext cx="33576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47" name="advantage_11" descr="Editable text; source id advantage_11"/>
              <p:cNvSpPr txBox="1"/>
              <p:nvPr/>
            </p:nvSpPr>
            <p:spPr>
              <a:xfrm>
                <a:off x="2830474" y="2210581"/>
                <a:ext cx="28761" cy="5963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437"/>
                  </a:lnSpc>
                  <a:spcBef>
                    <a:spcPts val="0"/>
                  </a:spcBef>
                  <a:spcAft>
                    <a:spcPts val="0"/>
                  </a:spcAft>
                  <a:defRPr sz="38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8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8" name="advantage_12" descr="Editable text; source id advantage_12"/>
              <p:cNvSpPr txBox="1"/>
              <p:nvPr/>
            </p:nvSpPr>
            <p:spPr>
              <a:xfrm>
                <a:off x="2858144" y="2121769"/>
                <a:ext cx="30679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) / (1 + </a:t>
                </a:r>
              </a:p>
            </p:txBody>
          </p:sp>
          <p:sp>
            <p:nvSpPr>
              <p:cNvPr id="249" name="advantage_13" descr="Editable text; source id advantage_13"/>
              <p:cNvSpPr txBox="1"/>
              <p:nvPr/>
            </p:nvSpPr>
            <p:spPr>
              <a:xfrm>
                <a:off x="3163845" y="2121769"/>
                <a:ext cx="76013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50" name="advantage_14" descr="Editable text; source id advantage_14"/>
              <p:cNvSpPr txBox="1"/>
              <p:nvPr/>
            </p:nvSpPr>
            <p:spPr>
              <a:xfrm>
                <a:off x="3235749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51" name="advantage_15" descr="Editable text; source id advantage_15"/>
              <p:cNvSpPr txBox="1"/>
              <p:nvPr/>
            </p:nvSpPr>
            <p:spPr>
              <a:xfrm>
                <a:off x="3294921" y="212176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52" name="advantage_16" descr="Editable text; source id advantage_16"/>
              <p:cNvSpPr txBox="1"/>
              <p:nvPr/>
            </p:nvSpPr>
            <p:spPr>
              <a:xfrm>
                <a:off x="3344227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53" name="advantage_17" descr="Editable text; source id advantage_17"/>
              <p:cNvSpPr txBox="1"/>
              <p:nvPr/>
            </p:nvSpPr>
            <p:spPr>
              <a:xfrm>
                <a:off x="3380800" y="2121769"/>
                <a:ext cx="3766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</p:grpSp>
        <p:sp>
          <p:nvSpPr>
            <p:cNvPr id="254" name="to_ppo" descr="Editable line; source id to_ppo"/>
            <p:cNvSpPr/>
            <p:nvPr/>
          </p:nvSpPr>
          <p:spPr>
            <a:xfrm>
              <a:off x="4030904" y="2166328"/>
              <a:ext cx="93040" cy="22631"/>
            </a:xfrm>
            <a:custGeom>
              <a:avLst/>
              <a:gdLst/>
              <a:ahLst/>
              <a:cxnLst/>
              <a:rect l="l" t="t" r="r" b="b"/>
              <a:pathLst>
                <a:path w="33966" h="8262">
                  <a:moveTo>
                    <a:pt x="0" y="3121"/>
                  </a:moveTo>
                  <a:lnTo>
                    <a:pt x="22950" y="3121"/>
                  </a:lnTo>
                  <a:lnTo>
                    <a:pt x="22950" y="0"/>
                  </a:lnTo>
                  <a:lnTo>
                    <a:pt x="33966" y="4131"/>
                  </a:lnTo>
                  <a:lnTo>
                    <a:pt x="22950" y="8262"/>
                  </a:lnTo>
                  <a:lnTo>
                    <a:pt x="22950" y="5141"/>
                  </a:lnTo>
                  <a:lnTo>
                    <a:pt x="0" y="5141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optimizer" descr="Editable text; source id optimizer"/>
            <p:cNvSpPr txBox="1"/>
            <p:nvPr/>
          </p:nvSpPr>
          <p:spPr>
            <a:xfrm>
              <a:off x="4247222" y="2117884"/>
              <a:ext cx="566332" cy="12645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PPO / TRPO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aph_space" descr="Editable text; source id graph_space"/>
          <p:cNvSpPr txBox="1"/>
          <p:nvPr/>
        </p:nvSpPr>
        <p:spPr>
          <a:xfrm>
            <a:off x="74994" y="40925"/>
            <a:ext cx="598038" cy="126435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Graph space</a:t>
            </a:r>
          </a:p>
        </p:txBody>
      </p:sp>
      <p:cxnSp>
        <p:nvCxnSpPr>
          <p:cNvPr id="3" name="graph_space_rule" descr="Editable line; source id graph_space_rule"/>
          <p:cNvCxnSpPr/>
          <p:nvPr/>
        </p:nvCxnSpPr>
        <p:spPr>
          <a:xfrm>
            <a:off x="731748" y="103098"/>
            <a:ext cx="4216984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empirical_graph" descr="empirical graph"/>
          <p:cNvGrpSpPr/>
          <p:nvPr/>
        </p:nvGrpSpPr>
        <p:grpSpPr>
          <a:xfrm>
            <a:off x="85496" y="236372"/>
            <a:ext cx="917828" cy="852449"/>
            <a:chOff x="85496" y="236372"/>
            <a:chExt cx="917828" cy="852449"/>
          </a:xfrm>
        </p:grpSpPr>
        <p:sp>
          <p:nvSpPr>
            <p:cNvPr id="4" name="empirical_graph_panel" descr="Editable shape; source id empirical_graph_panel"/>
            <p:cNvSpPr/>
            <p:nvPr/>
          </p:nvSpPr>
          <p:spPr>
            <a:xfrm>
              <a:off x="85496" y="236372"/>
              <a:ext cx="917828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023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empirical_title" descr="Editable text; source id empirical_title"/>
            <p:cNvSpPr txBox="1"/>
            <p:nvPr/>
          </p:nvSpPr>
          <p:spPr>
            <a:xfrm>
              <a:off x="176498" y="257181"/>
              <a:ext cx="741519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Empirical graph</a:t>
              </a:r>
            </a:p>
          </p:txBody>
        </p:sp>
        <p:grpSp>
          <p:nvGrpSpPr>
            <p:cNvPr id="223" name="empirical_network" descr="empirical network"/>
            <p:cNvGrpSpPr/>
            <p:nvPr/>
          </p:nvGrpSpPr>
          <p:grpSpPr>
            <a:xfrm>
              <a:off x="148361" y="460171"/>
              <a:ext cx="782040" cy="417424"/>
              <a:chOff x="148361" y="460171"/>
              <a:chExt cx="782040" cy="417424"/>
            </a:xfrm>
          </p:grpSpPr>
          <p:sp>
            <p:nvSpPr>
              <p:cNvPr id="6" name="empirical_network_edge0" descr="Editable line; source id empirical_network_edge0"/>
              <p:cNvSpPr/>
              <p:nvPr/>
            </p:nvSpPr>
            <p:spPr>
              <a:xfrm>
                <a:off x="225469" y="536899"/>
                <a:ext cx="109666" cy="100973"/>
              </a:xfrm>
              <a:custGeom>
                <a:avLst/>
                <a:gdLst/>
                <a:ahLst/>
                <a:cxnLst/>
                <a:rect l="l" t="t" r="r" b="b"/>
                <a:pathLst>
                  <a:path w="40079" h="36902">
                    <a:moveTo>
                      <a:pt x="0" y="34734"/>
                    </a:moveTo>
                    <a:lnTo>
                      <a:pt x="30955" y="6367"/>
                    </a:lnTo>
                    <a:lnTo>
                      <a:pt x="29154" y="4402"/>
                    </a:lnTo>
                    <a:lnTo>
                      <a:pt x="40079" y="0"/>
                    </a:lnTo>
                    <a:lnTo>
                      <a:pt x="34742" y="10500"/>
                    </a:lnTo>
                    <a:lnTo>
                      <a:pt x="32942" y="8535"/>
                    </a:lnTo>
                    <a:lnTo>
                      <a:pt x="1987" y="36902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empirical_network_edge1" descr="Editable line; source id empirical_network_edge1"/>
              <p:cNvSpPr/>
              <p:nvPr/>
            </p:nvSpPr>
            <p:spPr>
              <a:xfrm>
                <a:off x="422502" y="491603"/>
                <a:ext cx="21982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80339" h="8272">
                    <a:moveTo>
                      <a:pt x="0" y="2666"/>
                    </a:moveTo>
                    <a:lnTo>
                      <a:pt x="69311" y="2666"/>
                    </a:lnTo>
                    <a:lnTo>
                      <a:pt x="69311" y="0"/>
                    </a:lnTo>
                    <a:lnTo>
                      <a:pt x="80339" y="4136"/>
                    </a:lnTo>
                    <a:lnTo>
                      <a:pt x="69311" y="8272"/>
                    </a:lnTo>
                    <a:lnTo>
                      <a:pt x="69311" y="5606"/>
                    </a:lnTo>
                    <a:lnTo>
                      <a:pt x="0" y="5606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empirical_network_edge2" descr="Editable line; source id empirical_network_edge2"/>
              <p:cNvSpPr/>
              <p:nvPr/>
            </p:nvSpPr>
            <p:spPr>
              <a:xfrm>
                <a:off x="728315" y="532449"/>
                <a:ext cx="121037" cy="103840"/>
              </a:xfrm>
              <a:custGeom>
                <a:avLst/>
                <a:gdLst/>
                <a:ahLst/>
                <a:cxnLst/>
                <a:rect l="l" t="t" r="r" b="b"/>
                <a:pathLst>
                  <a:path w="44235" h="37950">
                    <a:moveTo>
                      <a:pt x="1906" y="0"/>
                    </a:moveTo>
                    <a:lnTo>
                      <a:pt x="36789" y="29684"/>
                    </a:lnTo>
                    <a:lnTo>
                      <a:pt x="38517" y="27654"/>
                    </a:lnTo>
                    <a:lnTo>
                      <a:pt x="44235" y="37950"/>
                    </a:lnTo>
                    <a:lnTo>
                      <a:pt x="33156" y="33953"/>
                    </a:lnTo>
                    <a:lnTo>
                      <a:pt x="34884" y="31923"/>
                    </a:lnTo>
                    <a:lnTo>
                      <a:pt x="0" y="2239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empirical_network_edge3" descr="Editable line; source id empirical_network_edge3"/>
              <p:cNvSpPr/>
              <p:nvPr/>
            </p:nvSpPr>
            <p:spPr>
              <a:xfrm>
                <a:off x="226235" y="700731"/>
                <a:ext cx="108899" cy="100138"/>
              </a:xfrm>
              <a:custGeom>
                <a:avLst/>
                <a:gdLst/>
                <a:ahLst/>
                <a:cxnLst/>
                <a:rect l="l" t="t" r="r" b="b"/>
                <a:pathLst>
                  <a:path w="39799" h="36597">
                    <a:moveTo>
                      <a:pt x="1428" y="0"/>
                    </a:moveTo>
                    <a:lnTo>
                      <a:pt x="32382" y="28367"/>
                    </a:lnTo>
                    <a:lnTo>
                      <a:pt x="34462" y="26097"/>
                    </a:lnTo>
                    <a:lnTo>
                      <a:pt x="39799" y="36597"/>
                    </a:lnTo>
                    <a:lnTo>
                      <a:pt x="28874" y="32195"/>
                    </a:lnTo>
                    <a:lnTo>
                      <a:pt x="30954" y="29925"/>
                    </a:lnTo>
                    <a:lnTo>
                      <a:pt x="0" y="155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empirical_network_edge4" descr="Editable line; source id empirical_network_edge4"/>
              <p:cNvSpPr/>
              <p:nvPr/>
            </p:nvSpPr>
            <p:spPr>
              <a:xfrm>
                <a:off x="422502" y="823530"/>
                <a:ext cx="21982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80339" h="8272">
                    <a:moveTo>
                      <a:pt x="0" y="3079"/>
                    </a:moveTo>
                    <a:lnTo>
                      <a:pt x="69311" y="3079"/>
                    </a:lnTo>
                    <a:lnTo>
                      <a:pt x="69311" y="0"/>
                    </a:lnTo>
                    <a:lnTo>
                      <a:pt x="80339" y="4136"/>
                    </a:lnTo>
                    <a:lnTo>
                      <a:pt x="69311" y="8272"/>
                    </a:lnTo>
                    <a:lnTo>
                      <a:pt x="69311" y="5193"/>
                    </a:lnTo>
                    <a:lnTo>
                      <a:pt x="0" y="5193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empirical_network_edge5" descr="Editable line; source id empirical_network_edge5"/>
              <p:cNvSpPr/>
              <p:nvPr/>
            </p:nvSpPr>
            <p:spPr>
              <a:xfrm>
                <a:off x="729048" y="701478"/>
                <a:ext cx="120304" cy="102978"/>
              </a:xfrm>
              <a:custGeom>
                <a:avLst/>
                <a:gdLst/>
                <a:ahLst/>
                <a:cxnLst/>
                <a:rect l="l" t="t" r="r" b="b"/>
                <a:pathLst>
                  <a:path w="43967" h="37635">
                    <a:moveTo>
                      <a:pt x="0" y="36026"/>
                    </a:moveTo>
                    <a:lnTo>
                      <a:pt x="34884" y="6342"/>
                    </a:lnTo>
                    <a:lnTo>
                      <a:pt x="32888" y="3997"/>
                    </a:lnTo>
                    <a:lnTo>
                      <a:pt x="43967" y="0"/>
                    </a:lnTo>
                    <a:lnTo>
                      <a:pt x="38249" y="10296"/>
                    </a:lnTo>
                    <a:lnTo>
                      <a:pt x="36253" y="7951"/>
                    </a:lnTo>
                    <a:lnTo>
                      <a:pt x="1370" y="37635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empirical_network_edge6" descr="Editable line; source id empirical_network_edge6"/>
              <p:cNvSpPr/>
              <p:nvPr/>
            </p:nvSpPr>
            <p:spPr>
              <a:xfrm>
                <a:off x="360896" y="553212"/>
                <a:ext cx="22631" cy="231343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84548">
                    <a:moveTo>
                      <a:pt x="5192" y="0"/>
                    </a:moveTo>
                    <a:lnTo>
                      <a:pt x="5192" y="73520"/>
                    </a:lnTo>
                    <a:lnTo>
                      <a:pt x="8271" y="73520"/>
                    </a:lnTo>
                    <a:lnTo>
                      <a:pt x="4135" y="84548"/>
                    </a:lnTo>
                    <a:lnTo>
                      <a:pt x="0" y="73520"/>
                    </a:lnTo>
                    <a:lnTo>
                      <a:pt x="3079" y="73520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empirical_network_edge7" descr="Editable line; source id empirical_network_edge7"/>
              <p:cNvSpPr/>
              <p:nvPr/>
            </p:nvSpPr>
            <p:spPr>
              <a:xfrm>
                <a:off x="681306" y="553212"/>
                <a:ext cx="22631" cy="231343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84548">
                    <a:moveTo>
                      <a:pt x="5192" y="0"/>
                    </a:moveTo>
                    <a:lnTo>
                      <a:pt x="5192" y="73520"/>
                    </a:lnTo>
                    <a:lnTo>
                      <a:pt x="8271" y="73520"/>
                    </a:lnTo>
                    <a:lnTo>
                      <a:pt x="4135" y="84548"/>
                    </a:lnTo>
                    <a:lnTo>
                      <a:pt x="0" y="73520"/>
                    </a:lnTo>
                    <a:lnTo>
                      <a:pt x="3079" y="73520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empirical_network_node1" descr="Editable shape; source id empirical_network_node1"/>
              <p:cNvSpPr/>
              <p:nvPr/>
            </p:nvSpPr>
            <p:spPr>
              <a:xfrm>
                <a:off x="148361" y="62613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empirical_network_node2" descr="Editable shape; source id empirical_network_node2"/>
              <p:cNvSpPr/>
              <p:nvPr/>
            </p:nvSpPr>
            <p:spPr>
              <a:xfrm>
                <a:off x="329462" y="460171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empirical_network_node3" descr="Editable shape; source id empirical_network_node3"/>
              <p:cNvSpPr/>
              <p:nvPr/>
            </p:nvSpPr>
            <p:spPr>
              <a:xfrm>
                <a:off x="649873" y="460171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empirical_network_node4" descr="Editable shape; source id empirical_network_node4"/>
              <p:cNvSpPr/>
              <p:nvPr/>
            </p:nvSpPr>
            <p:spPr>
              <a:xfrm>
                <a:off x="844905" y="626135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empirical_network_node5" descr="Editable shape; source id empirical_network_node5"/>
              <p:cNvSpPr/>
              <p:nvPr/>
            </p:nvSpPr>
            <p:spPr>
              <a:xfrm>
                <a:off x="329462" y="792099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empirical_network_node6" descr="Editable shape; source id empirical_network_node6"/>
              <p:cNvSpPr/>
              <p:nvPr/>
            </p:nvSpPr>
            <p:spPr>
              <a:xfrm>
                <a:off x="649873" y="792099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4" name="empirical_symbols" descr="Editable formula parts and native mathematical delimiters."/>
            <p:cNvGrpSpPr/>
            <p:nvPr/>
          </p:nvGrpSpPr>
          <p:grpSpPr>
            <a:xfrm>
              <a:off x="390446" y="916449"/>
              <a:ext cx="303232" cy="128294"/>
              <a:chOff x="390446" y="916449"/>
              <a:chExt cx="303232" cy="128294"/>
            </a:xfrm>
          </p:grpSpPr>
          <p:sp>
            <p:nvSpPr>
              <p:cNvPr id="20" name="empirical_symbols_0" descr="Editable text; source id empirical_symbols_0"/>
              <p:cNvSpPr txBox="1"/>
              <p:nvPr/>
            </p:nvSpPr>
            <p:spPr>
              <a:xfrm>
                <a:off x="390446" y="916449"/>
                <a:ext cx="20384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F̂, A, </a:t>
                </a:r>
              </a:p>
            </p:txBody>
          </p:sp>
          <p:sp>
            <p:nvSpPr>
              <p:cNvPr id="21" name="empirical_symbols_1" descr="Editable text; source id empirical_symbols_1"/>
              <p:cNvSpPr txBox="1"/>
              <p:nvPr/>
            </p:nvSpPr>
            <p:spPr>
              <a:xfrm>
                <a:off x="593057" y="916449"/>
                <a:ext cx="6908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2" name="empirical_symbols_2" descr="Editable text; source id empirical_symbols_2"/>
              <p:cNvSpPr txBox="1"/>
              <p:nvPr/>
            </p:nvSpPr>
            <p:spPr>
              <a:xfrm>
                <a:off x="658043" y="968113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</p:grpSp>
      <p:grpSp>
        <p:nvGrpSpPr>
          <p:cNvPr id="242" name="joint_solver" descr="joint solver"/>
          <p:cNvGrpSpPr/>
          <p:nvPr/>
        </p:nvGrpSpPr>
        <p:grpSpPr>
          <a:xfrm>
            <a:off x="1156716" y="236372"/>
            <a:ext cx="2489454" cy="852449"/>
            <a:chOff x="1156716" y="236372"/>
            <a:chExt cx="2489454" cy="852449"/>
          </a:xfrm>
        </p:grpSpPr>
        <p:sp>
          <p:nvSpPr>
            <p:cNvPr id="23" name="joint_solver_panel" descr="Editable shape; source id joint_solver_panel"/>
            <p:cNvSpPr/>
            <p:nvPr/>
          </p:nvSpPr>
          <p:spPr>
            <a:xfrm>
              <a:off x="1156716" y="236372"/>
              <a:ext cx="2489454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olver_title" descr="Editable text; source id solver_title"/>
            <p:cNvSpPr txBox="1"/>
            <p:nvPr/>
          </p:nvSpPr>
          <p:spPr>
            <a:xfrm>
              <a:off x="1671210" y="257181"/>
              <a:ext cx="1468674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One constrained graph problem</a:t>
              </a:r>
            </a:p>
          </p:txBody>
        </p:sp>
        <p:grpSp>
          <p:nvGrpSpPr>
            <p:cNvPr id="226" name="solver_matrix0" descr="solver matrix0"/>
            <p:cNvGrpSpPr/>
            <p:nvPr/>
          </p:nvGrpSpPr>
          <p:grpSpPr>
            <a:xfrm>
              <a:off x="1239697" y="482803"/>
              <a:ext cx="243413" cy="135285"/>
              <a:chOff x="1239697" y="482803"/>
              <a:chExt cx="243413" cy="135285"/>
            </a:xfrm>
          </p:grpSpPr>
          <p:sp>
            <p:nvSpPr>
              <p:cNvPr id="25" name="solver_matrix0_0_0" descr="Editable shape; source id solver_matrix0_0_0"/>
              <p:cNvSpPr/>
              <p:nvPr/>
            </p:nvSpPr>
            <p:spPr>
              <a:xfrm>
                <a:off x="1239697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solver_matrix0_0_1" descr="Editable shape; source id solver_matrix0_0_1"/>
              <p:cNvSpPr/>
              <p:nvPr/>
            </p:nvSpPr>
            <p:spPr>
              <a:xfrm>
                <a:off x="13013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solver_matrix0_0_2" descr="Editable shape; source id solver_matrix0_0_2"/>
              <p:cNvSpPr/>
              <p:nvPr/>
            </p:nvSpPr>
            <p:spPr>
              <a:xfrm>
                <a:off x="13629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solver_matrix0_0_3" descr="Editable shape; source id solver_matrix0_0_3"/>
              <p:cNvSpPr/>
              <p:nvPr/>
            </p:nvSpPr>
            <p:spPr>
              <a:xfrm>
                <a:off x="1424520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solver_matrix0_1_0" descr="Editable shape; source id solver_matrix0_1_0"/>
              <p:cNvSpPr/>
              <p:nvPr/>
            </p:nvSpPr>
            <p:spPr>
              <a:xfrm>
                <a:off x="1239697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olver_matrix0_1_1" descr="Editable shape; source id solver_matrix0_1_1"/>
              <p:cNvSpPr/>
              <p:nvPr/>
            </p:nvSpPr>
            <p:spPr>
              <a:xfrm>
                <a:off x="13013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olver_matrix0_1_2" descr="Editable shape; source id solver_matrix0_1_2"/>
              <p:cNvSpPr/>
              <p:nvPr/>
            </p:nvSpPr>
            <p:spPr>
              <a:xfrm>
                <a:off x="13629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olver_matrix0_1_3" descr="Editable shape; source id solver_matrix0_1_3"/>
              <p:cNvSpPr/>
              <p:nvPr/>
            </p:nvSpPr>
            <p:spPr>
              <a:xfrm>
                <a:off x="1424520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olver_matrix0_2_0" descr="Editable shape; source id solver_matrix0_2_0"/>
              <p:cNvSpPr/>
              <p:nvPr/>
            </p:nvSpPr>
            <p:spPr>
              <a:xfrm>
                <a:off x="1239697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olver_matrix0_2_1" descr="Editable shape; source id solver_matrix0_2_1"/>
              <p:cNvSpPr/>
              <p:nvPr/>
            </p:nvSpPr>
            <p:spPr>
              <a:xfrm>
                <a:off x="13013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solver_matrix0_2_2" descr="Editable shape; source id solver_matrix0_2_2"/>
              <p:cNvSpPr/>
              <p:nvPr/>
            </p:nvSpPr>
            <p:spPr>
              <a:xfrm>
                <a:off x="13629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solver_matrix0_2_3" descr="Editable shape; source id solver_matrix0_2_3"/>
              <p:cNvSpPr/>
              <p:nvPr/>
            </p:nvSpPr>
            <p:spPr>
              <a:xfrm>
                <a:off x="1424520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7" name="solver_matrix_name0" descr="Editable formula parts and native mathematical delimiters."/>
            <p:cNvGrpSpPr/>
            <p:nvPr/>
          </p:nvGrpSpPr>
          <p:grpSpPr>
            <a:xfrm>
              <a:off x="1319636" y="386977"/>
              <a:ext cx="85507" cy="108432"/>
              <a:chOff x="1319636" y="386977"/>
              <a:chExt cx="85507" cy="108432"/>
            </a:xfrm>
          </p:grpSpPr>
          <p:sp>
            <p:nvSpPr>
              <p:cNvPr id="37" name="solver_matrix_name0_0" descr="Editable text; source id solver_matrix_name0_0"/>
              <p:cNvSpPr txBox="1"/>
              <p:nvPr/>
            </p:nvSpPr>
            <p:spPr>
              <a:xfrm>
                <a:off x="1319636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38" name="solver_matrix_name0_1" descr="Editable text; source id solver_matrix_name0_1"/>
              <p:cNvSpPr txBox="1"/>
              <p:nvPr/>
            </p:nvSpPr>
            <p:spPr>
              <a:xfrm>
                <a:off x="1374361" y="430231"/>
                <a:ext cx="30782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28" name="solver_matrix1" descr="solver matrix1"/>
            <p:cNvGrpSpPr/>
            <p:nvPr/>
          </p:nvGrpSpPr>
          <p:grpSpPr>
            <a:xfrm>
              <a:off x="1584198" y="482803"/>
              <a:ext cx="243413" cy="135285"/>
              <a:chOff x="1584198" y="482803"/>
              <a:chExt cx="243413" cy="135285"/>
            </a:xfrm>
          </p:grpSpPr>
          <p:sp>
            <p:nvSpPr>
              <p:cNvPr id="39" name="solver_matrix1_0_0" descr="Editable shape; source id solver_matrix1_0_0"/>
              <p:cNvSpPr/>
              <p:nvPr/>
            </p:nvSpPr>
            <p:spPr>
              <a:xfrm>
                <a:off x="1584198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olver_matrix1_0_1" descr="Editable shape; source id solver_matrix1_0_1"/>
              <p:cNvSpPr/>
              <p:nvPr/>
            </p:nvSpPr>
            <p:spPr>
              <a:xfrm>
                <a:off x="16458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solver_matrix1_0_2" descr="Editable shape; source id solver_matrix1_0_2"/>
              <p:cNvSpPr/>
              <p:nvPr/>
            </p:nvSpPr>
            <p:spPr>
              <a:xfrm>
                <a:off x="17074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solver_matrix1_0_3" descr="Editable shape; source id solver_matrix1_0_3"/>
              <p:cNvSpPr/>
              <p:nvPr/>
            </p:nvSpPr>
            <p:spPr>
              <a:xfrm>
                <a:off x="1769021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olver_matrix1_1_0" descr="Editable shape; source id solver_matrix1_1_0"/>
              <p:cNvSpPr/>
              <p:nvPr/>
            </p:nvSpPr>
            <p:spPr>
              <a:xfrm>
                <a:off x="1584198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solver_matrix1_1_1" descr="Editable shape; source id solver_matrix1_1_1"/>
              <p:cNvSpPr/>
              <p:nvPr/>
            </p:nvSpPr>
            <p:spPr>
              <a:xfrm>
                <a:off x="16458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solver_matrix1_1_2" descr="Editable shape; source id solver_matrix1_1_2"/>
              <p:cNvSpPr/>
              <p:nvPr/>
            </p:nvSpPr>
            <p:spPr>
              <a:xfrm>
                <a:off x="17074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solver_matrix1_1_3" descr="Editable shape; source id solver_matrix1_1_3"/>
              <p:cNvSpPr/>
              <p:nvPr/>
            </p:nvSpPr>
            <p:spPr>
              <a:xfrm>
                <a:off x="1769021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olver_matrix1_2_0" descr="Editable shape; source id solver_matrix1_2_0"/>
              <p:cNvSpPr/>
              <p:nvPr/>
            </p:nvSpPr>
            <p:spPr>
              <a:xfrm>
                <a:off x="1584198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olver_matrix1_2_1" descr="Editable shape; source id solver_matrix1_2_1"/>
              <p:cNvSpPr/>
              <p:nvPr/>
            </p:nvSpPr>
            <p:spPr>
              <a:xfrm>
                <a:off x="16458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olver_matrix1_2_2" descr="Editable shape; source id solver_matrix1_2_2"/>
              <p:cNvSpPr/>
              <p:nvPr/>
            </p:nvSpPr>
            <p:spPr>
              <a:xfrm>
                <a:off x="17074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olver_matrix1_2_3" descr="Editable shape; source id solver_matrix1_2_3"/>
              <p:cNvSpPr/>
              <p:nvPr/>
            </p:nvSpPr>
            <p:spPr>
              <a:xfrm>
                <a:off x="1769021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solver_matrix_name1" descr="Editable formula parts and native mathematical delimiters."/>
            <p:cNvGrpSpPr/>
            <p:nvPr/>
          </p:nvGrpSpPr>
          <p:grpSpPr>
            <a:xfrm>
              <a:off x="1664136" y="386977"/>
              <a:ext cx="85507" cy="108432"/>
              <a:chOff x="1664136" y="386977"/>
              <a:chExt cx="85507" cy="108432"/>
            </a:xfrm>
          </p:grpSpPr>
          <p:sp>
            <p:nvSpPr>
              <p:cNvPr id="51" name="solver_matrix_name1_0" descr="Editable text; source id solver_matrix_name1_0"/>
              <p:cNvSpPr txBox="1"/>
              <p:nvPr/>
            </p:nvSpPr>
            <p:spPr>
              <a:xfrm>
                <a:off x="1664136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52" name="solver_matrix_name1_1" descr="Editable text; source id solver_matrix_name1_1"/>
              <p:cNvSpPr txBox="1"/>
              <p:nvPr/>
            </p:nvSpPr>
            <p:spPr>
              <a:xfrm>
                <a:off x="1718861" y="430231"/>
                <a:ext cx="30782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30" name="solver_matrix2" descr="solver matrix2"/>
            <p:cNvGrpSpPr/>
            <p:nvPr/>
          </p:nvGrpSpPr>
          <p:grpSpPr>
            <a:xfrm>
              <a:off x="1928698" y="482803"/>
              <a:ext cx="243413" cy="135285"/>
              <a:chOff x="1928698" y="482803"/>
              <a:chExt cx="243413" cy="135285"/>
            </a:xfrm>
          </p:grpSpPr>
          <p:sp>
            <p:nvSpPr>
              <p:cNvPr id="53" name="solver_matrix2_0_0" descr="Editable shape; source id solver_matrix2_0_0"/>
              <p:cNvSpPr/>
              <p:nvPr/>
            </p:nvSpPr>
            <p:spPr>
              <a:xfrm>
                <a:off x="1928698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solver_matrix2_0_1" descr="Editable shape; source id solver_matrix2_0_1"/>
              <p:cNvSpPr/>
              <p:nvPr/>
            </p:nvSpPr>
            <p:spPr>
              <a:xfrm>
                <a:off x="19903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solver_matrix2_0_2" descr="Editable shape; source id solver_matrix2_0_2"/>
              <p:cNvSpPr/>
              <p:nvPr/>
            </p:nvSpPr>
            <p:spPr>
              <a:xfrm>
                <a:off x="20519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solver_matrix2_0_3" descr="Editable shape; source id solver_matrix2_0_3"/>
              <p:cNvSpPr/>
              <p:nvPr/>
            </p:nvSpPr>
            <p:spPr>
              <a:xfrm>
                <a:off x="2113521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olver_matrix2_1_0" descr="Editable shape; source id solver_matrix2_1_0"/>
              <p:cNvSpPr/>
              <p:nvPr/>
            </p:nvSpPr>
            <p:spPr>
              <a:xfrm>
                <a:off x="1928698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solver_matrix2_1_1" descr="Editable shape; source id solver_matrix2_1_1"/>
              <p:cNvSpPr/>
              <p:nvPr/>
            </p:nvSpPr>
            <p:spPr>
              <a:xfrm>
                <a:off x="19903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solver_matrix2_1_2" descr="Editable shape; source id solver_matrix2_1_2"/>
              <p:cNvSpPr/>
              <p:nvPr/>
            </p:nvSpPr>
            <p:spPr>
              <a:xfrm>
                <a:off x="20519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solver_matrix2_1_3" descr="Editable shape; source id solver_matrix2_1_3"/>
              <p:cNvSpPr/>
              <p:nvPr/>
            </p:nvSpPr>
            <p:spPr>
              <a:xfrm>
                <a:off x="2113521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solver_matrix2_2_0" descr="Editable shape; source id solver_matrix2_2_0"/>
              <p:cNvSpPr/>
              <p:nvPr/>
            </p:nvSpPr>
            <p:spPr>
              <a:xfrm>
                <a:off x="1928698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solver_matrix2_2_1" descr="Editable shape; source id solver_matrix2_2_1"/>
              <p:cNvSpPr/>
              <p:nvPr/>
            </p:nvSpPr>
            <p:spPr>
              <a:xfrm>
                <a:off x="19903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olver_matrix2_2_2" descr="Editable shape; source id solver_matrix2_2_2"/>
              <p:cNvSpPr/>
              <p:nvPr/>
            </p:nvSpPr>
            <p:spPr>
              <a:xfrm>
                <a:off x="20519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olver_matrix2_2_3" descr="Editable shape; source id solver_matrix2_2_3"/>
              <p:cNvSpPr/>
              <p:nvPr/>
            </p:nvSpPr>
            <p:spPr>
              <a:xfrm>
                <a:off x="2113521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1" name="solver_matrix_name2" descr="Editable formula parts and native mathematical delimiters."/>
            <p:cNvGrpSpPr/>
            <p:nvPr/>
          </p:nvGrpSpPr>
          <p:grpSpPr>
            <a:xfrm>
              <a:off x="2002801" y="386977"/>
              <a:ext cx="97178" cy="108432"/>
              <a:chOff x="2002801" y="386977"/>
              <a:chExt cx="97178" cy="108432"/>
            </a:xfrm>
          </p:grpSpPr>
          <p:sp>
            <p:nvSpPr>
              <p:cNvPr id="65" name="solver_matrix_name2_0" descr="Editable text; source id solver_matrix_name2_0"/>
              <p:cNvSpPr txBox="1"/>
              <p:nvPr/>
            </p:nvSpPr>
            <p:spPr>
              <a:xfrm>
                <a:off x="2002801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66" name="solver_matrix_name2_1" descr="Editable text; source id solver_matrix_name2_1"/>
              <p:cNvSpPr txBox="1"/>
              <p:nvPr/>
            </p:nvSpPr>
            <p:spPr>
              <a:xfrm>
                <a:off x="2057525" y="430231"/>
                <a:ext cx="42454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232" name="per_step_budget" descr="Editable formula parts and native mathematical delimiters."/>
            <p:cNvGrpSpPr/>
            <p:nvPr/>
          </p:nvGrpSpPr>
          <p:grpSpPr>
            <a:xfrm>
              <a:off x="2487802" y="478447"/>
              <a:ext cx="358953" cy="125781"/>
              <a:chOff x="2487802" y="478447"/>
              <a:chExt cx="358953" cy="125781"/>
            </a:xfrm>
          </p:grpSpPr>
          <p:sp>
            <p:nvSpPr>
              <p:cNvPr id="67" name="per_step_budget_0" descr="Editable text; source id per_step_budget_0"/>
              <p:cNvSpPr txBox="1"/>
              <p:nvPr/>
            </p:nvSpPr>
            <p:spPr>
              <a:xfrm>
                <a:off x="2487802" y="478447"/>
                <a:ext cx="50620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68" name="per_step_budget_1" descr="Editable text; source id per_step_budget_1"/>
              <p:cNvSpPr txBox="1"/>
              <p:nvPr/>
            </p:nvSpPr>
            <p:spPr>
              <a:xfrm>
                <a:off x="2534318" y="529507"/>
                <a:ext cx="34886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69" name="per_step_budget_2" descr="Editable text; source id per_step_budget_2"/>
              <p:cNvSpPr txBox="1"/>
              <p:nvPr/>
            </p:nvSpPr>
            <p:spPr>
              <a:xfrm>
                <a:off x="2567892" y="478447"/>
                <a:ext cx="103292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70" name="per_step_budget_3" descr="Editable text; source id per_step_budget_3"/>
              <p:cNvSpPr txBox="1"/>
              <p:nvPr/>
            </p:nvSpPr>
            <p:spPr>
              <a:xfrm>
                <a:off x="2669871" y="478447"/>
                <a:ext cx="60934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1" name="per_step_budget_4" descr="Editable text; source id per_step_budget_4"/>
              <p:cNvSpPr txBox="1"/>
              <p:nvPr/>
            </p:nvSpPr>
            <p:spPr>
              <a:xfrm>
                <a:off x="2726702" y="529507"/>
                <a:ext cx="34886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72" name="per_step_budget_5" descr="Editable text; source id per_step_budget_5"/>
              <p:cNvSpPr txBox="1"/>
              <p:nvPr/>
            </p:nvSpPr>
            <p:spPr>
              <a:xfrm>
                <a:off x="2755487" y="478447"/>
                <a:ext cx="9126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156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/L</a:t>
                </a:r>
              </a:p>
            </p:txBody>
          </p:sp>
        </p:grpSp>
        <p:grpSp>
          <p:nvGrpSpPr>
            <p:cNvPr id="233" name="hard_support" descr="Editable formula parts and native mathematical delimiters."/>
            <p:cNvGrpSpPr/>
            <p:nvPr/>
          </p:nvGrpSpPr>
          <p:grpSpPr>
            <a:xfrm>
              <a:off x="3169813" y="478447"/>
              <a:ext cx="256576" cy="125781"/>
              <a:chOff x="3169813" y="478447"/>
              <a:chExt cx="256576" cy="125781"/>
            </a:xfrm>
          </p:grpSpPr>
          <p:sp>
            <p:nvSpPr>
              <p:cNvPr id="73" name="hard_support_0" descr="Editable text; source id hard_support_0"/>
              <p:cNvSpPr txBox="1"/>
              <p:nvPr/>
            </p:nvSpPr>
            <p:spPr>
              <a:xfrm>
                <a:off x="3169813" y="478447"/>
                <a:ext cx="63617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74" name="hard_support_1" descr="Editable text; source id hard_support_1"/>
              <p:cNvSpPr txBox="1"/>
              <p:nvPr/>
            </p:nvSpPr>
            <p:spPr>
              <a:xfrm>
                <a:off x="3229326" y="529507"/>
                <a:ext cx="48568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75" name="hard_support_2" descr="Editable text; source id hard_support_2"/>
              <p:cNvSpPr txBox="1"/>
              <p:nvPr/>
            </p:nvSpPr>
            <p:spPr>
              <a:xfrm>
                <a:off x="3276581" y="478447"/>
                <a:ext cx="14980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76" name="solver_rule" descr="Editable line; source id solver_rule"/>
            <p:cNvCxnSpPr/>
            <p:nvPr/>
          </p:nvCxnSpPr>
          <p:spPr>
            <a:xfrm>
              <a:off x="1214551" y="671398"/>
              <a:ext cx="2373783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" name="objective" descr="Editable formula parts and native mathematical delimiters."/>
            <p:cNvGrpSpPr/>
            <p:nvPr/>
          </p:nvGrpSpPr>
          <p:grpSpPr>
            <a:xfrm>
              <a:off x="1404810" y="742480"/>
              <a:ext cx="1026236" cy="125781"/>
              <a:chOff x="1404810" y="742480"/>
              <a:chExt cx="1026236" cy="125781"/>
            </a:xfrm>
          </p:grpSpPr>
          <p:sp>
            <p:nvSpPr>
              <p:cNvPr id="77" name="objective_0" descr="Editable text; source id objective_0"/>
              <p:cNvSpPr txBox="1"/>
              <p:nvPr/>
            </p:nvSpPr>
            <p:spPr>
              <a:xfrm>
                <a:off x="1404810" y="742480"/>
                <a:ext cx="149124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78" name="objective_1" descr="Editable text; source id objective_1"/>
              <p:cNvSpPr txBox="1"/>
              <p:nvPr/>
            </p:nvSpPr>
            <p:spPr>
              <a:xfrm>
                <a:off x="1549830" y="793540"/>
                <a:ext cx="38307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79" name="objective_2" descr="Editable text; source id objective_2"/>
              <p:cNvSpPr txBox="1"/>
              <p:nvPr/>
            </p:nvSpPr>
            <p:spPr>
              <a:xfrm>
                <a:off x="1586824" y="742480"/>
                <a:ext cx="103292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80" name="objective_3" descr="Editable text; source id objective_3"/>
              <p:cNvSpPr txBox="1"/>
              <p:nvPr/>
            </p:nvSpPr>
            <p:spPr>
              <a:xfrm>
                <a:off x="1711244" y="742480"/>
                <a:ext cx="153229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sp>
            <p:nvSpPr>
              <p:cNvPr id="81" name="objective_4" descr="Editable text; source id objective_4"/>
              <p:cNvSpPr txBox="1"/>
              <p:nvPr/>
            </p:nvSpPr>
            <p:spPr>
              <a:xfrm>
                <a:off x="1891072" y="742480"/>
                <a:ext cx="398197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+ ε KL(F </a:t>
                </a:r>
              </a:p>
            </p:txBody>
          </p:sp>
          <p:sp>
            <p:nvSpPr>
              <p:cNvPr id="82" name="objective_5" descr="Editable text; source id objective_5"/>
              <p:cNvSpPr txBox="1"/>
              <p:nvPr/>
            </p:nvSpPr>
            <p:spPr>
              <a:xfrm>
                <a:off x="2315868" y="742480"/>
                <a:ext cx="11517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grpSp>
            <p:nvGrpSpPr>
              <p:cNvPr id="234" name="objective_angle_0" descr="One editable routed connector; fixed endpoints."/>
              <p:cNvGrpSpPr/>
              <p:nvPr/>
            </p:nvGrpSpPr>
            <p:grpSpPr>
              <a:xfrm>
                <a:off x="1695754" y="760314"/>
                <a:ext cx="14887" cy="74432"/>
                <a:chOff x="1695754" y="760314"/>
                <a:chExt cx="14887" cy="74432"/>
              </a:xfrm>
            </p:grpSpPr>
            <p:cxnSp>
              <p:nvCxnSpPr>
                <p:cNvPr id="83" name="objective_angle_0_0" descr="Editable line; source id objective_angle_0_0"/>
                <p:cNvCxnSpPr/>
                <p:nvPr/>
              </p:nvCxnSpPr>
              <p:spPr>
                <a:xfrm flipH="1">
                  <a:off x="1695754" y="7603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objective_angle_0_1" descr="Editable line; source id objective_angle_0_1"/>
                <p:cNvCxnSpPr/>
                <p:nvPr/>
              </p:nvCxnSpPr>
              <p:spPr>
                <a:xfrm>
                  <a:off x="1695754" y="797530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objective_angle_1" descr="One editable routed connector; fixed endpoints."/>
              <p:cNvGrpSpPr/>
              <p:nvPr/>
            </p:nvGrpSpPr>
            <p:grpSpPr>
              <a:xfrm>
                <a:off x="1870110" y="760314"/>
                <a:ext cx="14886" cy="74432"/>
                <a:chOff x="1870110" y="760314"/>
                <a:chExt cx="14886" cy="74432"/>
              </a:xfrm>
            </p:grpSpPr>
            <p:cxnSp>
              <p:nvCxnSpPr>
                <p:cNvPr id="85" name="objective_angle_1_0" descr="Editable line; source id objective_angle_1_0"/>
                <p:cNvCxnSpPr/>
                <p:nvPr/>
              </p:nvCxnSpPr>
              <p:spPr>
                <a:xfrm>
                  <a:off x="1870110" y="760314"/>
                  <a:ext cx="14886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objective_angle_1_1" descr="Editable line; source id objective_angle_1_1"/>
                <p:cNvCxnSpPr/>
                <p:nvPr/>
              </p:nvCxnSpPr>
              <p:spPr>
                <a:xfrm flipH="1">
                  <a:off x="1870110" y="797530"/>
                  <a:ext cx="14886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objective_parallel_2_0" descr="Editable line; source id objective_parallel_2_0"/>
              <p:cNvCxnSpPr/>
              <p:nvPr/>
            </p:nvCxnSpPr>
            <p:spPr>
              <a:xfrm>
                <a:off x="2296767" y="760314"/>
                <a:ext cx="0" cy="74432"/>
              </a:xfrm>
              <a:prstGeom prst="line">
                <a:avLst/>
              </a:prstGeom>
              <a:ln w="3721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objective_parallel_2_1" descr="Editable line; source id objective_parallel_2_1"/>
              <p:cNvCxnSpPr/>
              <p:nvPr/>
            </p:nvCxnSpPr>
            <p:spPr>
              <a:xfrm>
                <a:off x="2309792" y="760314"/>
                <a:ext cx="0" cy="74432"/>
              </a:xfrm>
              <a:prstGeom prst="line">
                <a:avLst/>
              </a:prstGeom>
              <a:ln w="3721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solver_balance" descr="Editable text; source id solver_balance"/>
            <p:cNvSpPr txBox="1"/>
            <p:nvPr/>
          </p:nvSpPr>
          <p:spPr>
            <a:xfrm>
              <a:off x="1275635" y="907297"/>
              <a:ext cx="494574" cy="11456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flow balance</a:t>
              </a:r>
            </a:p>
          </p:txBody>
        </p:sp>
        <p:grpSp>
          <p:nvGrpSpPr>
            <p:cNvPr id="239" name="solver_constraint" descr="Editable formula parts and native mathematical delimiters."/>
            <p:cNvGrpSpPr/>
            <p:nvPr/>
          </p:nvGrpSpPr>
          <p:grpSpPr>
            <a:xfrm>
              <a:off x="1967641" y="910717"/>
              <a:ext cx="390175" cy="118705"/>
              <a:chOff x="1967641" y="910717"/>
              <a:chExt cx="390175" cy="118705"/>
            </a:xfrm>
          </p:grpSpPr>
          <p:sp>
            <p:nvSpPr>
              <p:cNvPr id="90" name="solver_constraint_0" descr="Editable text; source id solver_constraint_0"/>
              <p:cNvSpPr txBox="1"/>
              <p:nvPr/>
            </p:nvSpPr>
            <p:spPr>
              <a:xfrm>
                <a:off x="1987396" y="910717"/>
                <a:ext cx="64301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91" name="solver_constraint_1" descr="Editable text; source id solver_constraint_1"/>
              <p:cNvSpPr txBox="1"/>
              <p:nvPr/>
            </p:nvSpPr>
            <p:spPr>
              <a:xfrm>
                <a:off x="2047593" y="95851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92" name="solver_constraint_2" descr="Editable text; source id solver_constraint_2"/>
              <p:cNvSpPr txBox="1"/>
              <p:nvPr/>
            </p:nvSpPr>
            <p:spPr>
              <a:xfrm>
                <a:off x="2079648" y="910717"/>
                <a:ext cx="80718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93" name="solver_constraint_3" descr="Editable text; source id solver_constraint_3"/>
              <p:cNvSpPr txBox="1"/>
              <p:nvPr/>
            </p:nvSpPr>
            <p:spPr>
              <a:xfrm>
                <a:off x="2185306" y="910717"/>
                <a:ext cx="96452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94" name="solver_constraint_4" descr="Editable text; source id solver_constraint_4"/>
              <p:cNvSpPr txBox="1"/>
              <p:nvPr/>
            </p:nvSpPr>
            <p:spPr>
              <a:xfrm>
                <a:off x="2280294" y="910717"/>
                <a:ext cx="48108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5" name="solver_constraint_5" descr="Editable text; source id solver_constraint_5"/>
              <p:cNvSpPr txBox="1"/>
              <p:nvPr/>
            </p:nvSpPr>
            <p:spPr>
              <a:xfrm>
                <a:off x="2324298" y="95851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237" name="solver_constraint_angle_0" descr="One editable routed connector; fixed endpoints."/>
              <p:cNvGrpSpPr/>
              <p:nvPr/>
            </p:nvGrpSpPr>
            <p:grpSpPr>
              <a:xfrm>
                <a:off x="1967641" y="927384"/>
                <a:ext cx="14082" cy="70409"/>
                <a:chOff x="1967641" y="927384"/>
                <a:chExt cx="14082" cy="70409"/>
              </a:xfrm>
            </p:grpSpPr>
            <p:cxnSp>
              <p:nvCxnSpPr>
                <p:cNvPr id="96" name="solver_constraint_angle_0_0" descr="Editable line; source id solver_constraint_angle_0_0"/>
                <p:cNvCxnSpPr/>
                <p:nvPr/>
              </p:nvCxnSpPr>
              <p:spPr>
                <a:xfrm flipH="1">
                  <a:off x="1967641" y="927384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olver_constraint_angle_0_1" descr="Editable line; source id solver_constraint_angle_0_1"/>
                <p:cNvCxnSpPr/>
                <p:nvPr/>
              </p:nvCxnSpPr>
              <p:spPr>
                <a:xfrm>
                  <a:off x="1967641" y="962588"/>
                  <a:ext cx="14082" cy="35205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solver_constraint_angle_1" descr="One editable routed connector; fixed endpoints."/>
              <p:cNvGrpSpPr/>
              <p:nvPr/>
            </p:nvGrpSpPr>
            <p:grpSpPr>
              <a:xfrm>
                <a:off x="2165551" y="927384"/>
                <a:ext cx="14082" cy="70409"/>
                <a:chOff x="2165551" y="927384"/>
                <a:chExt cx="14082" cy="70409"/>
              </a:xfrm>
            </p:grpSpPr>
            <p:cxnSp>
              <p:nvCxnSpPr>
                <p:cNvPr id="98" name="solver_constraint_angle_1_0" descr="Editable line; source id solver_constraint_angle_1_0"/>
                <p:cNvCxnSpPr/>
                <p:nvPr/>
              </p:nvCxnSpPr>
              <p:spPr>
                <a:xfrm>
                  <a:off x="2165551" y="927384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olver_constraint_angle_1_1" descr="Editable line; source id solver_constraint_angle_1_1"/>
                <p:cNvCxnSpPr/>
                <p:nvPr/>
              </p:nvCxnSpPr>
              <p:spPr>
                <a:xfrm flipH="1">
                  <a:off x="2165551" y="962588"/>
                  <a:ext cx="14082" cy="35205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0" name="newton_step" descr="newton step"/>
            <p:cNvGrpSpPr/>
            <p:nvPr/>
          </p:nvGrpSpPr>
          <p:grpSpPr>
            <a:xfrm>
              <a:off x="2640330" y="787069"/>
              <a:ext cx="397306" cy="228828"/>
              <a:chOff x="2640330" y="787069"/>
              <a:chExt cx="397306" cy="228828"/>
            </a:xfrm>
          </p:grpSpPr>
          <p:sp>
            <p:nvSpPr>
              <p:cNvPr id="100" name="newton_step_panel" descr="Editable shape; source id newton_step_panel"/>
              <p:cNvSpPr/>
              <p:nvPr/>
            </p:nvSpPr>
            <p:spPr>
              <a:xfrm>
                <a:off x="2640330" y="787069"/>
                <a:ext cx="397306" cy="228828"/>
              </a:xfrm>
              <a:prstGeom prst="roundRect">
                <a:avLst>
                  <a:gd name="adj" fmla="val 8791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newton_text" descr="Editable text; source id newton_text"/>
              <p:cNvSpPr txBox="1"/>
              <p:nvPr/>
            </p:nvSpPr>
            <p:spPr>
              <a:xfrm>
                <a:off x="2688490" y="791625"/>
                <a:ext cx="309194" cy="114566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Newton</a:t>
                </a:r>
              </a:p>
            </p:txBody>
          </p:sp>
          <p:sp>
            <p:nvSpPr>
              <p:cNvPr id="102" name="newton_u_0" descr="Editable text; source id newton_u_0"/>
              <p:cNvSpPr txBox="1"/>
              <p:nvPr/>
            </p:nvSpPr>
            <p:spPr>
              <a:xfrm>
                <a:off x="2771005" y="900196"/>
                <a:ext cx="134759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in u</a:t>
                </a:r>
              </a:p>
            </p:txBody>
          </p:sp>
        </p:grpSp>
        <p:grpSp>
          <p:nvGrpSpPr>
            <p:cNvPr id="241" name="bisection_step" descr="bisection step"/>
            <p:cNvGrpSpPr/>
            <p:nvPr/>
          </p:nvGrpSpPr>
          <p:grpSpPr>
            <a:xfrm>
              <a:off x="3158337" y="787069"/>
              <a:ext cx="412394" cy="228828"/>
              <a:chOff x="3158337" y="787069"/>
              <a:chExt cx="412394" cy="228828"/>
            </a:xfrm>
          </p:grpSpPr>
          <p:sp>
            <p:nvSpPr>
              <p:cNvPr id="103" name="bisection_step_panel" descr="Editable shape; source id bisection_step_panel"/>
              <p:cNvSpPr/>
              <p:nvPr/>
            </p:nvSpPr>
            <p:spPr>
              <a:xfrm>
                <a:off x="3158337" y="787069"/>
                <a:ext cx="412394" cy="228828"/>
              </a:xfrm>
              <a:prstGeom prst="roundRect">
                <a:avLst>
                  <a:gd name="adj" fmla="val 8791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bisection_text" descr="Editable text; source id bisection_text"/>
              <p:cNvSpPr txBox="1"/>
              <p:nvPr/>
            </p:nvSpPr>
            <p:spPr>
              <a:xfrm>
                <a:off x="3185626" y="791625"/>
                <a:ext cx="366024" cy="114566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Bisection</a:t>
                </a:r>
              </a:p>
            </p:txBody>
          </p:sp>
          <p:sp>
            <p:nvSpPr>
              <p:cNvPr id="105" name="bisection_lambda_0" descr="Editable text; source id bisection_lambda_0"/>
              <p:cNvSpPr txBox="1"/>
              <p:nvPr/>
            </p:nvSpPr>
            <p:spPr>
              <a:xfrm>
                <a:off x="3299292" y="900196"/>
                <a:ext cx="129287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in λ</a:t>
                </a:r>
              </a:p>
            </p:txBody>
          </p:sp>
        </p:grpSp>
        <p:sp>
          <p:nvSpPr>
            <p:cNvPr id="106" name="alternating_forward" descr="Editable line; source id alternating_forward"/>
            <p:cNvSpPr/>
            <p:nvPr/>
          </p:nvSpPr>
          <p:spPr>
            <a:xfrm>
              <a:off x="3050210" y="853708"/>
              <a:ext cx="95555" cy="22631"/>
            </a:xfrm>
            <a:custGeom>
              <a:avLst/>
              <a:gdLst/>
              <a:ahLst/>
              <a:cxnLst/>
              <a:rect l="l" t="t" r="r" b="b"/>
              <a:pathLst>
                <a:path w="34922" h="8271">
                  <a:moveTo>
                    <a:pt x="0" y="3216"/>
                  </a:moveTo>
                  <a:lnTo>
                    <a:pt x="23894" y="3216"/>
                  </a:lnTo>
                  <a:lnTo>
                    <a:pt x="23894" y="0"/>
                  </a:lnTo>
                  <a:lnTo>
                    <a:pt x="34922" y="4135"/>
                  </a:lnTo>
                  <a:lnTo>
                    <a:pt x="23894" y="8271"/>
                  </a:lnTo>
                  <a:lnTo>
                    <a:pt x="23894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alternating_back" descr="Editable line; source id alternating_back"/>
            <p:cNvSpPr/>
            <p:nvPr/>
          </p:nvSpPr>
          <p:spPr>
            <a:xfrm>
              <a:off x="3050210" y="929146"/>
              <a:ext cx="95555" cy="22631"/>
            </a:xfrm>
            <a:custGeom>
              <a:avLst/>
              <a:gdLst/>
              <a:ahLst/>
              <a:cxnLst/>
              <a:rect l="l" t="t" r="r" b="b"/>
              <a:pathLst>
                <a:path w="34922" h="8271">
                  <a:moveTo>
                    <a:pt x="34922" y="5054"/>
                  </a:moveTo>
                  <a:lnTo>
                    <a:pt x="11028" y="5054"/>
                  </a:lnTo>
                  <a:lnTo>
                    <a:pt x="11028" y="8271"/>
                  </a:lnTo>
                  <a:lnTo>
                    <a:pt x="0" y="4135"/>
                  </a:lnTo>
                  <a:lnTo>
                    <a:pt x="11028" y="0"/>
                  </a:lnTo>
                  <a:lnTo>
                    <a:pt x="11028" y="3216"/>
                  </a:lnTo>
                  <a:lnTo>
                    <a:pt x="34922" y="3216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olver_method" descr="Editable text; source id solver_method"/>
            <p:cNvSpPr txBox="1"/>
            <p:nvPr/>
          </p:nvSpPr>
          <p:spPr>
            <a:xfrm>
              <a:off x="2898822" y="678227"/>
              <a:ext cx="421626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Dual solver</a:t>
              </a:r>
            </a:p>
          </p:txBody>
        </p:sp>
      </p:grpSp>
      <p:grpSp>
        <p:nvGrpSpPr>
          <p:cNvPr id="247" name="filter" descr="filter"/>
          <p:cNvGrpSpPr/>
          <p:nvPr/>
        </p:nvGrpSpPr>
        <p:grpSpPr>
          <a:xfrm>
            <a:off x="3812133" y="236372"/>
            <a:ext cx="1131570" cy="852449"/>
            <a:chOff x="3812133" y="236372"/>
            <a:chExt cx="1131570" cy="852449"/>
          </a:xfrm>
        </p:grpSpPr>
        <p:sp>
          <p:nvSpPr>
            <p:cNvPr id="109" name="filter_panel" descr="Editable shape; source id filter_panel"/>
            <p:cNvSpPr/>
            <p:nvPr/>
          </p:nvSpPr>
          <p:spPr>
            <a:xfrm>
              <a:off x="3812133" y="236372"/>
              <a:ext cx="1131570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023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ilter_title" descr="Editable text; source id filter_title"/>
            <p:cNvSpPr txBox="1"/>
            <p:nvPr/>
          </p:nvSpPr>
          <p:spPr>
            <a:xfrm>
              <a:off x="4124132" y="257181"/>
              <a:ext cx="515780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Clip + filter</a:t>
              </a:r>
            </a:p>
          </p:txBody>
        </p:sp>
        <p:grpSp>
          <p:nvGrpSpPr>
            <p:cNvPr id="243" name="filter_rule1" descr="Editable formula parts and native mathematical delimiters."/>
            <p:cNvGrpSpPr/>
            <p:nvPr/>
          </p:nvGrpSpPr>
          <p:grpSpPr>
            <a:xfrm>
              <a:off x="4084881" y="413996"/>
              <a:ext cx="581839" cy="131128"/>
              <a:chOff x="4084881" y="413996"/>
              <a:chExt cx="581839" cy="131128"/>
            </a:xfrm>
          </p:grpSpPr>
          <p:sp>
            <p:nvSpPr>
              <p:cNvPr id="111" name="filter_rule1_0" descr="Editable text; source id filter_rule1_0"/>
              <p:cNvSpPr txBox="1"/>
              <p:nvPr/>
            </p:nvSpPr>
            <p:spPr>
              <a:xfrm>
                <a:off x="4084881" y="431132"/>
                <a:ext cx="7524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2" name="filter_rule1_1" descr="Editable text; source id filter_rule1_1"/>
              <p:cNvSpPr txBox="1"/>
              <p:nvPr/>
            </p:nvSpPr>
            <p:spPr>
              <a:xfrm>
                <a:off x="4156023" y="413996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3" name="filter_rule1_2" descr="Editable text; source id filter_rule1_2"/>
              <p:cNvSpPr txBox="1"/>
              <p:nvPr/>
            </p:nvSpPr>
            <p:spPr>
              <a:xfrm>
                <a:off x="4190421" y="431132"/>
                <a:ext cx="37349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← (1−α)</a:t>
                </a:r>
              </a:p>
            </p:txBody>
          </p:sp>
          <p:sp>
            <p:nvSpPr>
              <p:cNvPr id="114" name="filter_rule1_3" descr="Editable text; source id filter_rule1_3"/>
              <p:cNvSpPr txBox="1"/>
              <p:nvPr/>
            </p:nvSpPr>
            <p:spPr>
              <a:xfrm>
                <a:off x="4559943" y="431132"/>
                <a:ext cx="7524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5" name="filter_rule1_4" descr="Editable text; source id filter_rule1_4"/>
              <p:cNvSpPr txBox="1"/>
              <p:nvPr/>
            </p:nvSpPr>
            <p:spPr>
              <a:xfrm>
                <a:off x="4631085" y="413996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244" name="filter_rule2" descr="Editable formula parts and native mathematical delimiters."/>
            <p:cNvGrpSpPr/>
            <p:nvPr/>
          </p:nvGrpSpPr>
          <p:grpSpPr>
            <a:xfrm>
              <a:off x="4078003" y="529667"/>
              <a:ext cx="598331" cy="131128"/>
              <a:chOff x="4078003" y="529667"/>
              <a:chExt cx="598331" cy="131128"/>
            </a:xfrm>
          </p:grpSpPr>
          <p:sp>
            <p:nvSpPr>
              <p:cNvPr id="116" name="filter_rule2_0" descr="Editable text; source id filter_rule2_0"/>
              <p:cNvSpPr txBox="1"/>
              <p:nvPr/>
            </p:nvSpPr>
            <p:spPr>
              <a:xfrm>
                <a:off x="4078003" y="546803"/>
                <a:ext cx="346817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 α clip(</a:t>
                </a:r>
              </a:p>
            </p:txBody>
          </p:sp>
          <p:sp>
            <p:nvSpPr>
              <p:cNvPr id="117" name="filter_rule2_1" descr="Editable text; source id filter_rule2_1"/>
              <p:cNvSpPr txBox="1"/>
              <p:nvPr/>
            </p:nvSpPr>
            <p:spPr>
              <a:xfrm>
                <a:off x="4420847" y="546803"/>
                <a:ext cx="51304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8" name="filter_rule2_2" descr="Editable text; source id filter_rule2_2"/>
              <p:cNvSpPr txBox="1"/>
              <p:nvPr/>
            </p:nvSpPr>
            <p:spPr>
              <a:xfrm>
                <a:off x="4468047" y="529667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9" name="filter_rule2_3" descr="Editable text; source id filter_rule2_3"/>
              <p:cNvSpPr txBox="1"/>
              <p:nvPr/>
            </p:nvSpPr>
            <p:spPr>
              <a:xfrm>
                <a:off x="4502445" y="546803"/>
                <a:ext cx="17388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,0,c)</a:t>
                </a:r>
              </a:p>
            </p:txBody>
          </p:sp>
        </p:grpSp>
        <p:sp>
          <p:nvSpPr>
            <p:cNvPr id="120" name="clip_x" descr="Editable line; source id clip_x"/>
            <p:cNvSpPr/>
            <p:nvPr/>
          </p:nvSpPr>
          <p:spPr>
            <a:xfrm>
              <a:off x="4073652" y="949260"/>
              <a:ext cx="711632" cy="22634"/>
            </a:xfrm>
            <a:custGeom>
              <a:avLst/>
              <a:gdLst/>
              <a:ahLst/>
              <a:cxnLst/>
              <a:rect l="l" t="t" r="r" b="b"/>
              <a:pathLst>
                <a:path w="260077" h="8272">
                  <a:moveTo>
                    <a:pt x="0" y="3401"/>
                  </a:moveTo>
                  <a:lnTo>
                    <a:pt x="249049" y="3401"/>
                  </a:lnTo>
                  <a:lnTo>
                    <a:pt x="249049" y="0"/>
                  </a:lnTo>
                  <a:lnTo>
                    <a:pt x="260077" y="4136"/>
                  </a:lnTo>
                  <a:lnTo>
                    <a:pt x="249049" y="8272"/>
                  </a:lnTo>
                  <a:lnTo>
                    <a:pt x="249049" y="4871"/>
                  </a:lnTo>
                  <a:lnTo>
                    <a:pt x="0" y="4871"/>
                  </a:lnTo>
                  <a:close/>
                </a:path>
              </a:pathLst>
            </a:custGeom>
            <a:solidFill>
              <a:srgbClr val="7785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lip_y" descr="Editable line; source id clip_y"/>
            <p:cNvSpPr/>
            <p:nvPr/>
          </p:nvSpPr>
          <p:spPr>
            <a:xfrm>
              <a:off x="4057306" y="724205"/>
              <a:ext cx="22634" cy="236372"/>
            </a:xfrm>
            <a:custGeom>
              <a:avLst/>
              <a:gdLst/>
              <a:ahLst/>
              <a:cxnLst/>
              <a:rect l="l" t="t" r="r" b="b"/>
              <a:pathLst>
                <a:path w="8272" h="86386">
                  <a:moveTo>
                    <a:pt x="3401" y="86386"/>
                  </a:moveTo>
                  <a:lnTo>
                    <a:pt x="3401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4871" y="11028"/>
                  </a:lnTo>
                  <a:lnTo>
                    <a:pt x="4871" y="86386"/>
                  </a:lnTo>
                  <a:close/>
                </a:path>
              </a:pathLst>
            </a:custGeom>
            <a:solidFill>
              <a:srgbClr val="7785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5" name="clipping" descr="One editable routed connector; fixed endpoints."/>
            <p:cNvGrpSpPr/>
            <p:nvPr/>
          </p:nvGrpSpPr>
          <p:grpSpPr>
            <a:xfrm>
              <a:off x="4083710" y="782040"/>
              <a:ext cx="618592" cy="170993"/>
              <a:chOff x="4083710" y="782040"/>
              <a:chExt cx="618592" cy="170993"/>
            </a:xfrm>
          </p:grpSpPr>
          <p:cxnSp>
            <p:nvCxnSpPr>
              <p:cNvPr id="122" name="clipping_0" descr="Editable line; source id clipping_0"/>
              <p:cNvCxnSpPr/>
              <p:nvPr/>
            </p:nvCxnSpPr>
            <p:spPr>
              <a:xfrm flipV="1">
                <a:off x="4083710" y="782040"/>
                <a:ext cx="414909" cy="170993"/>
              </a:xfrm>
              <a:prstGeom prst="line">
                <a:avLst/>
              </a:prstGeom>
              <a:ln w="7040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lipping_1" descr="Editable line; source id clipping_1"/>
              <p:cNvCxnSpPr/>
              <p:nvPr/>
            </p:nvCxnSpPr>
            <p:spPr>
              <a:xfrm>
                <a:off x="4498619" y="782040"/>
                <a:ext cx="203683" cy="0"/>
              </a:xfrm>
              <a:prstGeom prst="line">
                <a:avLst/>
              </a:prstGeom>
              <a:ln w="7040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cap_0" descr="Editable text; source id cap_0"/>
            <p:cNvSpPr txBox="1"/>
            <p:nvPr/>
          </p:nvSpPr>
          <p:spPr>
            <a:xfrm>
              <a:off x="3951985" y="733770"/>
              <a:ext cx="41043" cy="99533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grpSp>
          <p:nvGrpSpPr>
            <p:cNvPr id="246" name="clip_input" descr="Editable formula parts and native mathematical delimiters."/>
            <p:cNvGrpSpPr/>
            <p:nvPr/>
          </p:nvGrpSpPr>
          <p:grpSpPr>
            <a:xfrm>
              <a:off x="4702510" y="965680"/>
              <a:ext cx="71847" cy="114054"/>
              <a:chOff x="4702510" y="965680"/>
              <a:chExt cx="71847" cy="114054"/>
            </a:xfrm>
          </p:grpSpPr>
          <p:sp>
            <p:nvSpPr>
              <p:cNvPr id="125" name="clip_input_0" descr="Editable text; source id clip_input_0"/>
              <p:cNvSpPr txBox="1"/>
              <p:nvPr/>
            </p:nvSpPr>
            <p:spPr>
              <a:xfrm>
                <a:off x="4702510" y="980201"/>
                <a:ext cx="44463" cy="9953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26" name="clip_input_1" descr="Editable text; source id clip_input_1"/>
              <p:cNvSpPr txBox="1"/>
              <p:nvPr/>
            </p:nvSpPr>
            <p:spPr>
              <a:xfrm>
                <a:off x="4742869" y="965680"/>
                <a:ext cx="31488" cy="6708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sp>
        <p:nvSpPr>
          <p:cNvPr id="127" name="graph_to_solver" descr="Editable line; source id graph_to_solver"/>
          <p:cNvSpPr/>
          <p:nvPr/>
        </p:nvSpPr>
        <p:spPr>
          <a:xfrm>
            <a:off x="1015898" y="702832"/>
            <a:ext cx="125730" cy="22631"/>
          </a:xfrm>
          <a:custGeom>
            <a:avLst/>
            <a:gdLst/>
            <a:ahLst/>
            <a:cxnLst/>
            <a:rect l="l" t="t" r="r" b="b"/>
            <a:pathLst>
              <a:path w="45950" h="8271">
                <a:moveTo>
                  <a:pt x="0" y="3078"/>
                </a:moveTo>
                <a:lnTo>
                  <a:pt x="34922" y="3078"/>
                </a:lnTo>
                <a:lnTo>
                  <a:pt x="34922" y="0"/>
                </a:lnTo>
                <a:lnTo>
                  <a:pt x="45950" y="4135"/>
                </a:lnTo>
                <a:lnTo>
                  <a:pt x="34922" y="8271"/>
                </a:lnTo>
                <a:lnTo>
                  <a:pt x="34922" y="5192"/>
                </a:lnTo>
                <a:lnTo>
                  <a:pt x="0" y="5192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olver_to_filter" descr="Editable line; source id solver_to_filter"/>
          <p:cNvSpPr/>
          <p:nvPr/>
        </p:nvSpPr>
        <p:spPr>
          <a:xfrm>
            <a:off x="3661258" y="702832"/>
            <a:ext cx="135788" cy="22631"/>
          </a:xfrm>
          <a:custGeom>
            <a:avLst/>
            <a:gdLst/>
            <a:ahLst/>
            <a:cxnLst/>
            <a:rect l="l" t="t" r="r" b="b"/>
            <a:pathLst>
              <a:path w="49626" h="8271">
                <a:moveTo>
                  <a:pt x="0" y="2986"/>
                </a:moveTo>
                <a:lnTo>
                  <a:pt x="38598" y="2986"/>
                </a:lnTo>
                <a:lnTo>
                  <a:pt x="38598" y="0"/>
                </a:lnTo>
                <a:lnTo>
                  <a:pt x="49626" y="4135"/>
                </a:lnTo>
                <a:lnTo>
                  <a:pt x="38598" y="8271"/>
                </a:lnTo>
                <a:lnTo>
                  <a:pt x="38598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07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8" name="solver_price" descr="Editable formula parts and native mathematical delimiters."/>
          <p:cNvGrpSpPr/>
          <p:nvPr/>
        </p:nvGrpSpPr>
        <p:grpSpPr>
          <a:xfrm>
            <a:off x="3688685" y="558194"/>
            <a:ext cx="76924" cy="120884"/>
            <a:chOff x="3688685" y="558194"/>
            <a:chExt cx="76924" cy="120884"/>
          </a:xfrm>
        </p:grpSpPr>
        <p:sp>
          <p:nvSpPr>
            <p:cNvPr id="129" name="solver_price_0" descr="Editable text; source id solver_price_0"/>
            <p:cNvSpPr txBox="1"/>
            <p:nvPr/>
          </p:nvSpPr>
          <p:spPr>
            <a:xfrm>
              <a:off x="3688685" y="573761"/>
              <a:ext cx="47884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30" name="solver_price_1" descr="Editable text; source id solver_price_1"/>
            <p:cNvSpPr txBox="1"/>
            <p:nvPr/>
          </p:nvSpPr>
          <p:spPr>
            <a:xfrm>
              <a:off x="3732465" y="558194"/>
              <a:ext cx="33144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31" name="policy_space" descr="Editable text; source id policy_space"/>
          <p:cNvSpPr txBox="1"/>
          <p:nvPr/>
        </p:nvSpPr>
        <p:spPr>
          <a:xfrm>
            <a:off x="74994" y="1217758"/>
            <a:ext cx="598134" cy="126435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Policy space</a:t>
            </a:r>
          </a:p>
        </p:txBody>
      </p:sp>
      <p:cxnSp>
        <p:nvCxnSpPr>
          <p:cNvPr id="132" name="policy_rule_a" descr="Editable line; source id policy_rule_a"/>
          <p:cNvCxnSpPr/>
          <p:nvPr/>
        </p:nvCxnSpPr>
        <p:spPr>
          <a:xfrm>
            <a:off x="731748" y="1282445"/>
            <a:ext cx="334442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policy_rule_b" descr="Editable line; source id policy_rule_b"/>
          <p:cNvCxnSpPr/>
          <p:nvPr/>
        </p:nvCxnSpPr>
        <p:spPr>
          <a:xfrm>
            <a:off x="1116482" y="1282445"/>
            <a:ext cx="3236290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policy_rule_c" descr="Editable line; source id policy_rule_c"/>
          <p:cNvCxnSpPr/>
          <p:nvPr/>
        </p:nvCxnSpPr>
        <p:spPr>
          <a:xfrm>
            <a:off x="4403064" y="1282445"/>
            <a:ext cx="545668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ransfer_note" descr="Editable text; source id transfer_note"/>
          <p:cNvSpPr txBox="1"/>
          <p:nvPr/>
        </p:nvSpPr>
        <p:spPr>
          <a:xfrm>
            <a:off x="1891395" y="1128582"/>
            <a:ext cx="1254617" cy="114566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74"/>
              </a:lnSpc>
              <a:spcBef>
                <a:spcPts val="0"/>
              </a:spcBef>
              <a:spcAft>
                <a:spcPts val="0"/>
              </a:spcAft>
              <a:defRPr sz="67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7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Graph prices; rollout advantages</a:t>
            </a:r>
          </a:p>
        </p:txBody>
      </p:sp>
      <p:grpSp>
        <p:nvGrpSpPr>
          <p:cNvPr id="256" name="policy_rollout" descr="policy rollout"/>
          <p:cNvGrpSpPr/>
          <p:nvPr/>
        </p:nvGrpSpPr>
        <p:grpSpPr>
          <a:xfrm>
            <a:off x="85496" y="1423263"/>
            <a:ext cx="1096365" cy="590931"/>
            <a:chOff x="85496" y="1423263"/>
            <a:chExt cx="1096365" cy="590931"/>
          </a:xfrm>
        </p:grpSpPr>
        <p:sp>
          <p:nvSpPr>
            <p:cNvPr id="136" name="policy_rollout_panel" descr="Editable shape; source id policy_rollout_panel"/>
            <p:cNvSpPr/>
            <p:nvPr/>
          </p:nvSpPr>
          <p:spPr>
            <a:xfrm>
              <a:off x="85496" y="1423263"/>
              <a:ext cx="1096365" cy="590931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4023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llout_title" descr="Editable text; source id rollout_title"/>
            <p:cNvSpPr txBox="1"/>
            <p:nvPr/>
          </p:nvSpPr>
          <p:spPr>
            <a:xfrm>
              <a:off x="325510" y="1441558"/>
              <a:ext cx="624545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Policy rollout</a:t>
              </a:r>
            </a:p>
          </p:txBody>
        </p:sp>
        <p:sp>
          <p:nvSpPr>
            <p:cNvPr id="138" name="trajectory_edge0" descr="Editable line; source id trajectory_edge0"/>
            <p:cNvSpPr/>
            <p:nvPr/>
          </p:nvSpPr>
          <p:spPr>
            <a:xfrm>
              <a:off x="321869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0" name="state0" descr="state0"/>
            <p:cNvGrpSpPr/>
            <p:nvPr/>
          </p:nvGrpSpPr>
          <p:grpSpPr>
            <a:xfrm>
              <a:off x="208711" y="1586712"/>
              <a:ext cx="110642" cy="114562"/>
              <a:chOff x="208711" y="1586712"/>
              <a:chExt cx="110642" cy="114562"/>
            </a:xfrm>
          </p:grpSpPr>
          <p:sp>
            <p:nvSpPr>
              <p:cNvPr id="139" name="state0_panel" descr="Editable shape; source id state0_panel"/>
              <p:cNvSpPr/>
              <p:nvPr/>
            </p:nvSpPr>
            <p:spPr>
              <a:xfrm>
                <a:off x="208711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49" name="state_label0" descr="Editable formula parts and native mathematical delimiters."/>
              <p:cNvGrpSpPr/>
              <p:nvPr/>
            </p:nvGrpSpPr>
            <p:grpSpPr>
              <a:xfrm>
                <a:off x="233331" y="1596037"/>
                <a:ext cx="60432" cy="105237"/>
                <a:chOff x="233331" y="1596037"/>
                <a:chExt cx="60432" cy="105237"/>
              </a:xfrm>
            </p:grpSpPr>
            <p:sp>
              <p:nvSpPr>
                <p:cNvPr id="140" name="state_label0_0" descr="Editable text; source id state_label0_0"/>
                <p:cNvSpPr txBox="1"/>
                <p:nvPr/>
              </p:nvSpPr>
              <p:spPr>
                <a:xfrm>
                  <a:off x="233331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41" name="state_label0_1" descr="Editable text; source id state_label0_1"/>
                <p:cNvSpPr txBox="1"/>
                <p:nvPr/>
              </p:nvSpPr>
              <p:spPr>
                <a:xfrm>
                  <a:off x="263665" y="1638004"/>
                  <a:ext cx="30098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</p:grpSp>
        <p:sp>
          <p:nvSpPr>
            <p:cNvPr id="142" name="trajectory_edge1" descr="Editable line; source id trajectory_edge1"/>
            <p:cNvSpPr/>
            <p:nvPr/>
          </p:nvSpPr>
          <p:spPr>
            <a:xfrm>
              <a:off x="560756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2" name="state1" descr="state1"/>
            <p:cNvGrpSpPr/>
            <p:nvPr/>
          </p:nvGrpSpPr>
          <p:grpSpPr>
            <a:xfrm>
              <a:off x="447598" y="1586712"/>
              <a:ext cx="110642" cy="114562"/>
              <a:chOff x="447598" y="1586712"/>
              <a:chExt cx="110642" cy="114562"/>
            </a:xfrm>
          </p:grpSpPr>
          <p:sp>
            <p:nvSpPr>
              <p:cNvPr id="143" name="state1_panel" descr="Editable shape; source id state1_panel"/>
              <p:cNvSpPr/>
              <p:nvPr/>
            </p:nvSpPr>
            <p:spPr>
              <a:xfrm>
                <a:off x="447598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1" name="state_label1" descr="Editable formula parts and native mathematical delimiters."/>
              <p:cNvGrpSpPr/>
              <p:nvPr/>
            </p:nvGrpSpPr>
            <p:grpSpPr>
              <a:xfrm>
                <a:off x="472218" y="1596037"/>
                <a:ext cx="60432" cy="105237"/>
                <a:chOff x="472218" y="1596037"/>
                <a:chExt cx="60432" cy="105237"/>
              </a:xfrm>
            </p:grpSpPr>
            <p:sp>
              <p:nvSpPr>
                <p:cNvPr id="144" name="state_label1_0" descr="Editable text; source id state_label1_0"/>
                <p:cNvSpPr txBox="1"/>
                <p:nvPr/>
              </p:nvSpPr>
              <p:spPr>
                <a:xfrm>
                  <a:off x="472218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45" name="state_label1_1" descr="Editable text; source id state_label1_1"/>
                <p:cNvSpPr txBox="1"/>
                <p:nvPr/>
              </p:nvSpPr>
              <p:spPr>
                <a:xfrm>
                  <a:off x="502552" y="1638004"/>
                  <a:ext cx="30098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sp>
          <p:nvSpPr>
            <p:cNvPr id="146" name="trajectory_edge2" descr="Editable line; source id trajectory_edge2"/>
            <p:cNvSpPr/>
            <p:nvPr/>
          </p:nvSpPr>
          <p:spPr>
            <a:xfrm>
              <a:off x="799643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3" name="state2" descr="state2"/>
            <p:cNvGrpSpPr/>
            <p:nvPr/>
          </p:nvGrpSpPr>
          <p:grpSpPr>
            <a:xfrm>
              <a:off x="686485" y="1586712"/>
              <a:ext cx="110642" cy="110642"/>
              <a:chOff x="686485" y="1586712"/>
              <a:chExt cx="110642" cy="110642"/>
            </a:xfrm>
          </p:grpSpPr>
          <p:sp>
            <p:nvSpPr>
              <p:cNvPr id="147" name="state2_panel" descr="Editable shape; source id state2_panel"/>
              <p:cNvSpPr/>
              <p:nvPr/>
            </p:nvSpPr>
            <p:spPr>
              <a:xfrm>
                <a:off x="686485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ellipsis" descr="Editable text; source id ellipsis"/>
              <p:cNvSpPr txBox="1"/>
              <p:nvPr/>
            </p:nvSpPr>
            <p:spPr>
              <a:xfrm>
                <a:off x="698620" y="1590786"/>
                <a:ext cx="94581" cy="102698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…</a:t>
                </a:r>
              </a:p>
            </p:txBody>
          </p:sp>
        </p:grpSp>
        <p:grpSp>
          <p:nvGrpSpPr>
            <p:cNvPr id="255" name="state3" descr="state3"/>
            <p:cNvGrpSpPr/>
            <p:nvPr/>
          </p:nvGrpSpPr>
          <p:grpSpPr>
            <a:xfrm>
              <a:off x="925372" y="1586712"/>
              <a:ext cx="110642" cy="114562"/>
              <a:chOff x="925372" y="1586712"/>
              <a:chExt cx="110642" cy="114562"/>
            </a:xfrm>
          </p:grpSpPr>
          <p:sp>
            <p:nvSpPr>
              <p:cNvPr id="149" name="state3_panel" descr="Editable shape; source id state3_panel"/>
              <p:cNvSpPr/>
              <p:nvPr/>
            </p:nvSpPr>
            <p:spPr>
              <a:xfrm>
                <a:off x="925372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4" name="state_label3" descr="Editable formula parts and native mathematical delimiters."/>
              <p:cNvGrpSpPr/>
              <p:nvPr/>
            </p:nvGrpSpPr>
            <p:grpSpPr>
              <a:xfrm>
                <a:off x="947256" y="1596037"/>
                <a:ext cx="65905" cy="105237"/>
                <a:chOff x="947256" y="1596037"/>
                <a:chExt cx="65905" cy="105237"/>
              </a:xfrm>
            </p:grpSpPr>
            <p:sp>
              <p:nvSpPr>
                <p:cNvPr id="150" name="state_label3_0" descr="Editable text; source id state_label3_0"/>
                <p:cNvSpPr txBox="1"/>
                <p:nvPr/>
              </p:nvSpPr>
              <p:spPr>
                <a:xfrm>
                  <a:off x="947256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51" name="state_label3_1" descr="Editable text; source id state_label3_1"/>
                <p:cNvSpPr txBox="1"/>
                <p:nvPr/>
              </p:nvSpPr>
              <p:spPr>
                <a:xfrm>
                  <a:off x="977590" y="1638004"/>
                  <a:ext cx="35571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T</a:t>
                  </a:r>
                </a:p>
              </p:txBody>
            </p:sp>
          </p:grpSp>
        </p:grpSp>
        <p:sp>
          <p:nvSpPr>
            <p:cNvPr id="152" name="observation_label0" descr="Editable text; source id observation_label0"/>
            <p:cNvSpPr txBox="1"/>
            <p:nvPr/>
          </p:nvSpPr>
          <p:spPr>
            <a:xfrm>
              <a:off x="145403" y="1734359"/>
              <a:ext cx="305336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rewards</a:t>
              </a:r>
            </a:p>
          </p:txBody>
        </p:sp>
        <p:sp>
          <p:nvSpPr>
            <p:cNvPr id="153" name="observation_0_0" descr="Editable shape; source id observation_0_0"/>
            <p:cNvSpPr/>
            <p:nvPr/>
          </p:nvSpPr>
          <p:spPr>
            <a:xfrm>
              <a:off x="558241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bservation_0_1" descr="Editable shape; source id observation_0_1"/>
            <p:cNvSpPr/>
            <p:nvPr/>
          </p:nvSpPr>
          <p:spPr>
            <a:xfrm>
              <a:off x="709117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bservation_0_2" descr="Editable shape; source id observation_0_2"/>
            <p:cNvSpPr/>
            <p:nvPr/>
          </p:nvSpPr>
          <p:spPr>
            <a:xfrm>
              <a:off x="859993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bservation_0_3" descr="Editable shape; source id observation_0_3"/>
            <p:cNvSpPr/>
            <p:nvPr/>
          </p:nvSpPr>
          <p:spPr>
            <a:xfrm>
              <a:off x="1010869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bservation_label1" descr="Editable text; source id observation_label1"/>
            <p:cNvSpPr txBox="1"/>
            <p:nvPr/>
          </p:nvSpPr>
          <p:spPr>
            <a:xfrm>
              <a:off x="145403" y="1870148"/>
              <a:ext cx="283200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K costs</a:t>
              </a:r>
            </a:p>
          </p:txBody>
        </p:sp>
        <p:sp>
          <p:nvSpPr>
            <p:cNvPr id="158" name="observation_1_0" descr="Editable shape; source id observation_1_0"/>
            <p:cNvSpPr/>
            <p:nvPr/>
          </p:nvSpPr>
          <p:spPr>
            <a:xfrm>
              <a:off x="558241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bservation_1_1" descr="Editable shape; source id observation_1_1"/>
            <p:cNvSpPr/>
            <p:nvPr/>
          </p:nvSpPr>
          <p:spPr>
            <a:xfrm>
              <a:off x="709117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bservation_1_2" descr="Editable shape; source id observation_1_2"/>
            <p:cNvSpPr/>
            <p:nvPr/>
          </p:nvSpPr>
          <p:spPr>
            <a:xfrm>
              <a:off x="859993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bservation_1_3" descr="Editable shape; source id observation_1_3"/>
            <p:cNvSpPr/>
            <p:nvPr/>
          </p:nvSpPr>
          <p:spPr>
            <a:xfrm>
              <a:off x="1010869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8" name="cost_feedback" descr="cost feedback"/>
          <p:cNvGrpSpPr/>
          <p:nvPr/>
        </p:nvGrpSpPr>
        <p:grpSpPr>
          <a:xfrm>
            <a:off x="1719986" y="1523847"/>
            <a:ext cx="1201978" cy="387248"/>
            <a:chOff x="1719986" y="1523847"/>
            <a:chExt cx="1201978" cy="387248"/>
          </a:xfrm>
        </p:grpSpPr>
        <p:sp>
          <p:nvSpPr>
            <p:cNvPr id="162" name="cost_feedback_panel" descr="Editable shape; source id cost_feedback_panel"/>
            <p:cNvSpPr/>
            <p:nvPr/>
          </p:nvSpPr>
          <p:spPr>
            <a:xfrm>
              <a:off x="1719986" y="1523847"/>
              <a:ext cx="1201978" cy="387248"/>
            </a:xfrm>
            <a:prstGeom prst="roundRect">
              <a:avLst>
                <a:gd name="adj" fmla="val 5194"/>
              </a:avLst>
            </a:prstGeom>
            <a:solidFill>
              <a:srgbClr val="FFFFFF"/>
            </a:solidFill>
            <a:ln w="4023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feedback_title" descr="Editable text; source id feedback_title"/>
            <p:cNvSpPr txBox="1"/>
            <p:nvPr/>
          </p:nvSpPr>
          <p:spPr>
            <a:xfrm>
              <a:off x="1997416" y="1544194"/>
              <a:ext cx="655328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3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 feedback</a:t>
              </a:r>
            </a:p>
          </p:txBody>
        </p:sp>
        <p:grpSp>
          <p:nvGrpSpPr>
            <p:cNvPr id="257" name="feedback_equation" descr="Editable formula parts and native mathematical delimiters."/>
            <p:cNvGrpSpPr/>
            <p:nvPr/>
          </p:nvGrpSpPr>
          <p:grpSpPr>
            <a:xfrm>
              <a:off x="1923749" y="1708548"/>
              <a:ext cx="790902" cy="128294"/>
              <a:chOff x="1923749" y="1708548"/>
              <a:chExt cx="790902" cy="128294"/>
            </a:xfrm>
          </p:grpSpPr>
          <p:sp>
            <p:nvSpPr>
              <p:cNvPr id="164" name="feedback_equation_0" descr="Editable text; source id feedback_equation_0"/>
              <p:cNvSpPr txBox="1"/>
              <p:nvPr/>
            </p:nvSpPr>
            <p:spPr>
              <a:xfrm>
                <a:off x="1923749" y="1708548"/>
                <a:ext cx="720313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β ← [β + η(J̄ − B)</a:t>
                </a:r>
              </a:p>
            </p:txBody>
          </p:sp>
          <p:sp>
            <p:nvSpPr>
              <p:cNvPr id="165" name="feedback_equation_1" descr="Editable text; source id feedback_equation_1"/>
              <p:cNvSpPr txBox="1"/>
              <p:nvPr/>
            </p:nvSpPr>
            <p:spPr>
              <a:xfrm>
                <a:off x="2642825" y="1708548"/>
                <a:ext cx="36255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]</a:t>
                </a:r>
              </a:p>
            </p:txBody>
          </p:sp>
          <p:sp>
            <p:nvSpPr>
              <p:cNvPr id="166" name="feedback_equation_2" descr="Editable text; source id feedback_equation_2"/>
              <p:cNvSpPr txBox="1"/>
              <p:nvPr/>
            </p:nvSpPr>
            <p:spPr>
              <a:xfrm>
                <a:off x="2674976" y="1760212"/>
                <a:ext cx="3967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</p:grpSp>
      </p:grpSp>
      <p:grpSp>
        <p:nvGrpSpPr>
          <p:cNvPr id="261" name="policy_update" descr="policy update"/>
          <p:cNvGrpSpPr/>
          <p:nvPr/>
        </p:nvGrpSpPr>
        <p:grpSpPr>
          <a:xfrm>
            <a:off x="3676345" y="1423263"/>
            <a:ext cx="884115" cy="588416"/>
            <a:chOff x="3676345" y="1423263"/>
            <a:chExt cx="884115" cy="588416"/>
          </a:xfrm>
        </p:grpSpPr>
        <p:sp>
          <p:nvSpPr>
            <p:cNvPr id="167" name="policy_update_panel" descr="Editable shape; source id policy_update_panel"/>
            <p:cNvSpPr/>
            <p:nvPr/>
          </p:nvSpPr>
          <p:spPr>
            <a:xfrm>
              <a:off x="3676345" y="1423263"/>
              <a:ext cx="880110" cy="588416"/>
            </a:xfrm>
            <a:prstGeom prst="roundRect">
              <a:avLst>
                <a:gd name="adj" fmla="val 3418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update_title" descr="Editable text; source id update_title"/>
            <p:cNvSpPr txBox="1"/>
            <p:nvPr/>
          </p:nvSpPr>
          <p:spPr>
            <a:xfrm>
              <a:off x="3680547" y="1448398"/>
              <a:ext cx="879913" cy="11753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Priced policy update</a:t>
              </a:r>
            </a:p>
          </p:txBody>
        </p:sp>
        <p:grpSp>
          <p:nvGrpSpPr>
            <p:cNvPr id="259" name="update_numerator" descr="Editable formula parts and native mathematical delimiters."/>
            <p:cNvGrpSpPr/>
            <p:nvPr/>
          </p:nvGrpSpPr>
          <p:grpSpPr>
            <a:xfrm>
              <a:off x="3870223" y="1604747"/>
              <a:ext cx="485608" cy="130010"/>
              <a:chOff x="3870223" y="1604747"/>
              <a:chExt cx="485608" cy="130010"/>
            </a:xfrm>
          </p:grpSpPr>
          <p:sp>
            <p:nvSpPr>
              <p:cNvPr id="169" name="update_numerator_0" descr="Editable text; source id update_numerator_0"/>
              <p:cNvSpPr txBox="1"/>
              <p:nvPr/>
            </p:nvSpPr>
            <p:spPr>
              <a:xfrm>
                <a:off x="3870223" y="1604747"/>
                <a:ext cx="69773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0" name="update_numerator_1" descr="Editable text; source id update_numerator_1"/>
              <p:cNvSpPr txBox="1"/>
              <p:nvPr/>
            </p:nvSpPr>
            <p:spPr>
              <a:xfrm>
                <a:off x="3935893" y="1652548"/>
                <a:ext cx="23450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71" name="update_numerator_2" descr="Editable text; source id update_numerator_2"/>
              <p:cNvSpPr txBox="1"/>
              <p:nvPr/>
            </p:nvSpPr>
            <p:spPr>
              <a:xfrm>
                <a:off x="3957879" y="1604747"/>
                <a:ext cx="97820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72" name="update_numerator_3" descr="Editable text; source id update_numerator_3"/>
              <p:cNvSpPr txBox="1"/>
              <p:nvPr/>
            </p:nvSpPr>
            <p:spPr>
              <a:xfrm>
                <a:off x="4054236" y="1604747"/>
                <a:ext cx="67037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73" name="update_numerator_4" descr="Editable text; source id update_numerator_4"/>
              <p:cNvSpPr txBox="1"/>
              <p:nvPr/>
            </p:nvSpPr>
            <p:spPr>
              <a:xfrm>
                <a:off x="4117169" y="165254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4" name="update_numerator_5" descr="Editable text; source id update_numerator_5"/>
              <p:cNvSpPr txBox="1"/>
              <p:nvPr/>
            </p:nvSpPr>
            <p:spPr>
              <a:xfrm>
                <a:off x="4168495" y="1604747"/>
                <a:ext cx="47884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5" name="update_numerator_6" descr="Editable text; source id update_numerator_6"/>
              <p:cNvSpPr txBox="1"/>
              <p:nvPr/>
            </p:nvSpPr>
            <p:spPr>
              <a:xfrm>
                <a:off x="4212275" y="165254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6" name="update_numerator_7" descr="Editable text; source id update_numerator_7"/>
              <p:cNvSpPr txBox="1"/>
              <p:nvPr/>
            </p:nvSpPr>
            <p:spPr>
              <a:xfrm>
                <a:off x="4238857" y="1604747"/>
                <a:ext cx="69773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7" name="update_numerator_8" descr="Editable text; source id update_numerator_8"/>
              <p:cNvSpPr txBox="1"/>
              <p:nvPr/>
            </p:nvSpPr>
            <p:spPr>
              <a:xfrm>
                <a:off x="4304527" y="1652548"/>
                <a:ext cx="3009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78" name="update_numerator_9" descr="Editable text; source id update_numerator_9"/>
              <p:cNvSpPr txBox="1"/>
              <p:nvPr/>
            </p:nvSpPr>
            <p:spPr>
              <a:xfrm>
                <a:off x="4330521" y="1682071"/>
                <a:ext cx="25310" cy="5268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382"/>
                  </a:lnSpc>
                  <a:spcBef>
                    <a:spcPts val="0"/>
                  </a:spcBef>
                  <a:spcAft>
                    <a:spcPts val="0"/>
                  </a:spcAft>
                  <a:defRPr sz="3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cxnSp>
          <p:nvCxnSpPr>
            <p:cNvPr id="179" name="fraction_bar" descr="Editable line; source id fraction_bar"/>
            <p:cNvCxnSpPr/>
            <p:nvPr/>
          </p:nvCxnSpPr>
          <p:spPr>
            <a:xfrm>
              <a:off x="3726637" y="1725015"/>
              <a:ext cx="779526" cy="0"/>
            </a:xfrm>
            <a:prstGeom prst="line">
              <a:avLst/>
            </a:prstGeom>
            <a:ln w="4274" cap="rnd">
              <a:solidFill>
                <a:srgbClr val="29343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0" name="update_denominator" descr="Editable formula parts and native mathematical delimiters."/>
            <p:cNvGrpSpPr/>
            <p:nvPr/>
          </p:nvGrpSpPr>
          <p:grpSpPr>
            <a:xfrm>
              <a:off x="3949836" y="1745564"/>
              <a:ext cx="331854" cy="118705"/>
              <a:chOff x="3949836" y="1745564"/>
              <a:chExt cx="331854" cy="118705"/>
            </a:xfrm>
          </p:grpSpPr>
          <p:sp>
            <p:nvSpPr>
              <p:cNvPr id="180" name="update_denominator_0" descr="Editable text; source id update_denominator_0"/>
              <p:cNvSpPr txBox="1"/>
              <p:nvPr/>
            </p:nvSpPr>
            <p:spPr>
              <a:xfrm>
                <a:off x="3949836" y="1745564"/>
                <a:ext cx="141760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1 + </a:t>
                </a:r>
              </a:p>
            </p:txBody>
          </p:sp>
          <p:sp>
            <p:nvSpPr>
              <p:cNvPr id="181" name="update_denominator_1" descr="Editable text; source id update_denominator_1"/>
              <p:cNvSpPr txBox="1"/>
              <p:nvPr/>
            </p:nvSpPr>
            <p:spPr>
              <a:xfrm>
                <a:off x="4090133" y="1745564"/>
                <a:ext cx="67037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82" name="update_denominator_2" descr="Editable text; source id update_denominator_2"/>
              <p:cNvSpPr txBox="1"/>
              <p:nvPr/>
            </p:nvSpPr>
            <p:spPr>
              <a:xfrm>
                <a:off x="4153066" y="1793365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83" name="update_denominator_3" descr="Editable text; source id update_denominator_3"/>
              <p:cNvSpPr txBox="1"/>
              <p:nvPr/>
            </p:nvSpPr>
            <p:spPr>
              <a:xfrm>
                <a:off x="4204392" y="1745564"/>
                <a:ext cx="47884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84" name="update_denominator_4" descr="Editable text; source id update_denominator_4"/>
              <p:cNvSpPr txBox="1"/>
              <p:nvPr/>
            </p:nvSpPr>
            <p:spPr>
              <a:xfrm>
                <a:off x="4248172" y="1793365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85" name="optimizer" descr="Editable text; source id optimizer"/>
            <p:cNvSpPr txBox="1"/>
            <p:nvPr/>
          </p:nvSpPr>
          <p:spPr>
            <a:xfrm>
              <a:off x="3859076" y="1865822"/>
              <a:ext cx="522856" cy="11753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PPO / TRPO</a:t>
              </a:r>
            </a:p>
          </p:txBody>
        </p:sp>
      </p:grpSp>
      <p:grpSp>
        <p:nvGrpSpPr>
          <p:cNvPr id="263" name="updated_policy" descr="updated policy"/>
          <p:cNvGrpSpPr/>
          <p:nvPr/>
        </p:nvGrpSpPr>
        <p:grpSpPr>
          <a:xfrm>
            <a:off x="4677156" y="1513075"/>
            <a:ext cx="266547" cy="395505"/>
            <a:chOff x="4677156" y="1513075"/>
            <a:chExt cx="266547" cy="395505"/>
          </a:xfrm>
        </p:grpSpPr>
        <p:sp>
          <p:nvSpPr>
            <p:cNvPr id="186" name="updated_policy_panel" descr="Editable shape; source id updated_policy_panel"/>
            <p:cNvSpPr/>
            <p:nvPr/>
          </p:nvSpPr>
          <p:spPr>
            <a:xfrm>
              <a:off x="4677156" y="1516303"/>
              <a:ext cx="266547" cy="392277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updated_label" descr="Editable text; source id updated_label"/>
            <p:cNvSpPr txBox="1"/>
            <p:nvPr/>
          </p:nvSpPr>
          <p:spPr>
            <a:xfrm>
              <a:off x="4702006" y="1513075"/>
              <a:ext cx="225055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policy</a:t>
              </a:r>
            </a:p>
          </p:txBody>
        </p:sp>
        <p:sp>
          <p:nvSpPr>
            <p:cNvPr id="188" name="updated_policy_disc" descr="Editable shape; source id updated_policy_disc"/>
            <p:cNvSpPr/>
            <p:nvPr/>
          </p:nvSpPr>
          <p:spPr>
            <a:xfrm>
              <a:off x="4707331" y="1657121"/>
              <a:ext cx="203682" cy="203682"/>
            </a:xfrm>
            <a:prstGeom prst="ellipse">
              <a:avLst/>
            </a:pr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2" name="policy_token" descr="Editable formula parts and native mathematical delimiters."/>
            <p:cNvGrpSpPr/>
            <p:nvPr/>
          </p:nvGrpSpPr>
          <p:grpSpPr>
            <a:xfrm>
              <a:off x="4747240" y="1704868"/>
              <a:ext cx="125181" cy="115510"/>
              <a:chOff x="4747240" y="1704868"/>
              <a:chExt cx="125181" cy="115510"/>
            </a:xfrm>
          </p:grpSpPr>
          <p:sp>
            <p:nvSpPr>
              <p:cNvPr id="189" name="policy_token_0" descr="Editable text; source id policy_token_0"/>
              <p:cNvSpPr txBox="1"/>
              <p:nvPr/>
            </p:nvSpPr>
            <p:spPr>
              <a:xfrm>
                <a:off x="4747240" y="1704868"/>
                <a:ext cx="49252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90" name="policy_token_1" descr="Editable text; source id policy_token_1"/>
              <p:cNvSpPr txBox="1"/>
              <p:nvPr/>
            </p:nvSpPr>
            <p:spPr>
              <a:xfrm>
                <a:off x="4792387" y="1751382"/>
                <a:ext cx="80034" cy="68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rPr>
                  <a:t>t+1</a:t>
                </a:r>
              </a:p>
            </p:txBody>
          </p:sp>
        </p:grpSp>
      </p:grpSp>
      <p:grpSp>
        <p:nvGrpSpPr>
          <p:cNvPr id="264" name="data_to_graph" descr="One editable routed connector; fixed endpoints."/>
          <p:cNvGrpSpPr/>
          <p:nvPr/>
        </p:nvGrpSpPr>
        <p:grpSpPr>
          <a:xfrm>
            <a:off x="531837" y="1103909"/>
            <a:ext cx="559499" cy="304266"/>
            <a:chOff x="531837" y="1103909"/>
            <a:chExt cx="559499" cy="304266"/>
          </a:xfrm>
        </p:grpSpPr>
        <p:cxnSp>
          <p:nvCxnSpPr>
            <p:cNvPr id="191" name="data_to_graph_0" descr="Editable line; source id data_to_graph_0"/>
            <p:cNvCxnSpPr/>
            <p:nvPr/>
          </p:nvCxnSpPr>
          <p:spPr>
            <a:xfrm flipV="1">
              <a:off x="1091336" y="1171803"/>
              <a:ext cx="0" cy="236372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data_to_graph_1" descr="Editable line; source id data_to_graph_1"/>
            <p:cNvCxnSpPr/>
            <p:nvPr/>
          </p:nvCxnSpPr>
          <p:spPr>
            <a:xfrm flipH="1">
              <a:off x="543153" y="1171803"/>
              <a:ext cx="548183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data_to_graph_2" descr="Editable line; source id data_to_graph_2"/>
            <p:cNvSpPr/>
            <p:nvPr/>
          </p:nvSpPr>
          <p:spPr>
            <a:xfrm>
              <a:off x="531837" y="1103909"/>
              <a:ext cx="22634" cy="67894"/>
            </a:xfrm>
            <a:custGeom>
              <a:avLst/>
              <a:gdLst/>
              <a:ahLst/>
              <a:cxnLst/>
              <a:rect l="l" t="t" r="r" b="b"/>
              <a:pathLst>
                <a:path w="8272" h="24813">
                  <a:moveTo>
                    <a:pt x="3125" y="24813"/>
                  </a:moveTo>
                  <a:lnTo>
                    <a:pt x="3125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5147" y="11028"/>
                  </a:lnTo>
                  <a:lnTo>
                    <a:pt x="5147" y="2481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4" name="data_label" descr="Editable text; source id data_label"/>
          <p:cNvSpPr txBox="1"/>
          <p:nvPr/>
        </p:nvSpPr>
        <p:spPr>
          <a:xfrm>
            <a:off x="1201535" y="1316936"/>
            <a:ext cx="949473" cy="108632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28"/>
              </a:lnSpc>
              <a:spcBef>
                <a:spcPts val="0"/>
              </a:spcBef>
              <a:spcAft>
                <a:spcPts val="0"/>
              </a:spcAft>
              <a:defRPr sz="63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3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transitions, rewards, costs</a:t>
            </a:r>
          </a:p>
        </p:txBody>
      </p:sp>
      <p:sp>
        <p:nvSpPr>
          <p:cNvPr id="195" name="episode_costs" descr="Editable line; source id episode_costs"/>
          <p:cNvSpPr/>
          <p:nvPr/>
        </p:nvSpPr>
        <p:spPr>
          <a:xfrm>
            <a:off x="1196950" y="1703643"/>
            <a:ext cx="507949" cy="22631"/>
          </a:xfrm>
          <a:custGeom>
            <a:avLst/>
            <a:gdLst/>
            <a:ahLst/>
            <a:cxnLst/>
            <a:rect l="l" t="t" r="r" b="b"/>
            <a:pathLst>
              <a:path w="185638" h="8271">
                <a:moveTo>
                  <a:pt x="0" y="3124"/>
                </a:moveTo>
                <a:lnTo>
                  <a:pt x="174610" y="3124"/>
                </a:lnTo>
                <a:lnTo>
                  <a:pt x="174610" y="0"/>
                </a:lnTo>
                <a:lnTo>
                  <a:pt x="185638" y="4135"/>
                </a:lnTo>
                <a:lnTo>
                  <a:pt x="174610" y="8271"/>
                </a:lnTo>
                <a:lnTo>
                  <a:pt x="174610" y="5146"/>
                </a:lnTo>
                <a:lnTo>
                  <a:pt x="0" y="5146"/>
                </a:lnTo>
                <a:close/>
              </a:path>
            </a:pathLst>
          </a:custGeom>
          <a:solidFill>
            <a:srgbClr val="B78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pisode_cost_label_0" descr="Editable text; source id episode_cost_label_0"/>
          <p:cNvSpPr txBox="1"/>
          <p:nvPr/>
        </p:nvSpPr>
        <p:spPr>
          <a:xfrm>
            <a:off x="1268208" y="1567028"/>
            <a:ext cx="357762" cy="105317"/>
          </a:xfrm>
          <a:prstGeom prst="rect">
            <a:avLst/>
          </a:prstGeom>
          <a:noFill/>
          <a:effectLst/>
        </p:spPr>
        <p:txBody>
          <a:bodyPr wrap="none" anchor="t" tIns="1368" rIns="0" bIns="0" lIns="2736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rPr>
              <a:t>Episode J̄</a:t>
            </a:r>
          </a:p>
        </p:txBody>
      </p:sp>
      <p:grpSp>
        <p:nvGrpSpPr>
          <p:cNvPr id="265" name="graph_price_transfer" descr="One editable routed connector; fixed endpoints."/>
          <p:cNvGrpSpPr/>
          <p:nvPr/>
        </p:nvGrpSpPr>
        <p:grpSpPr>
          <a:xfrm>
            <a:off x="3235034" y="1103909"/>
            <a:ext cx="1142884" cy="528066"/>
            <a:chOff x="3235034" y="1103909"/>
            <a:chExt cx="1142884" cy="528066"/>
          </a:xfrm>
        </p:grpSpPr>
        <p:cxnSp>
          <p:nvCxnSpPr>
            <p:cNvPr id="197" name="graph_price_transfer_0" descr="Editable line; source id graph_price_transfer_0"/>
            <p:cNvCxnSpPr/>
            <p:nvPr/>
          </p:nvCxnSpPr>
          <p:spPr>
            <a:xfrm>
              <a:off x="4377918" y="1103909"/>
              <a:ext cx="0" cy="246431"/>
            </a:xfrm>
            <a:prstGeom prst="line">
              <a:avLst/>
            </a:prstGeom>
            <a:ln w="6537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raph_price_transfer_1" descr="Editable line; source id graph_price_transfer_1"/>
            <p:cNvCxnSpPr/>
            <p:nvPr/>
          </p:nvCxnSpPr>
          <p:spPr>
            <a:xfrm flipH="1">
              <a:off x="3246348" y="1350340"/>
              <a:ext cx="1131570" cy="0"/>
            </a:xfrm>
            <a:prstGeom prst="line">
              <a:avLst/>
            </a:prstGeom>
            <a:ln w="6537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graph_price_transfer_2" descr="Editable line; source id graph_price_transfer_2"/>
            <p:cNvSpPr/>
            <p:nvPr/>
          </p:nvSpPr>
          <p:spPr>
            <a:xfrm>
              <a:off x="3235034" y="1350340"/>
              <a:ext cx="22631" cy="281635"/>
            </a:xfrm>
            <a:custGeom>
              <a:avLst/>
              <a:gdLst/>
              <a:ahLst/>
              <a:cxnLst/>
              <a:rect l="l" t="t" r="r" b="b"/>
              <a:pathLst>
                <a:path w="8271" h="102928">
                  <a:moveTo>
                    <a:pt x="5330" y="0"/>
                  </a:moveTo>
                  <a:lnTo>
                    <a:pt x="5330" y="91900"/>
                  </a:lnTo>
                  <a:lnTo>
                    <a:pt x="8271" y="91900"/>
                  </a:lnTo>
                  <a:lnTo>
                    <a:pt x="4135" y="102928"/>
                  </a:lnTo>
                  <a:lnTo>
                    <a:pt x="0" y="91900"/>
                  </a:lnTo>
                  <a:lnTo>
                    <a:pt x="2940" y="91900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6" name="filtered_price_label" descr="Editable formula parts and native mathematical delimiters."/>
          <p:cNvGrpSpPr/>
          <p:nvPr/>
        </p:nvGrpSpPr>
        <p:grpSpPr>
          <a:xfrm>
            <a:off x="3297893" y="1460814"/>
            <a:ext cx="103976" cy="127029"/>
            <a:chOff x="3297893" y="1460814"/>
            <a:chExt cx="103976" cy="127029"/>
          </a:xfrm>
        </p:grpSpPr>
        <p:sp>
          <p:nvSpPr>
            <p:cNvPr id="200" name="filtered_price_label_0" descr="Editable text; source id filtered_price_label_0"/>
            <p:cNvSpPr txBox="1"/>
            <p:nvPr/>
          </p:nvSpPr>
          <p:spPr>
            <a:xfrm>
              <a:off x="3297893" y="1476743"/>
              <a:ext cx="73194" cy="111100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λ̄</a:t>
              </a:r>
            </a:p>
          </p:txBody>
        </p:sp>
        <p:sp>
          <p:nvSpPr>
            <p:cNvPr id="201" name="filtered_price_label_1" descr="Editable text; source id filtered_price_label_1"/>
            <p:cNvSpPr txBox="1"/>
            <p:nvPr/>
          </p:nvSpPr>
          <p:spPr>
            <a:xfrm>
              <a:off x="3366983" y="1460814"/>
              <a:ext cx="34886" cy="7472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grpSp>
        <p:nvGrpSpPr>
          <p:cNvPr id="267" name="price_sum" descr="price sum"/>
          <p:cNvGrpSpPr/>
          <p:nvPr/>
        </p:nvGrpSpPr>
        <p:grpSpPr>
          <a:xfrm>
            <a:off x="3163366" y="1639519"/>
            <a:ext cx="165963" cy="165963"/>
            <a:chOff x="3163366" y="1639519"/>
            <a:chExt cx="165963" cy="165963"/>
          </a:xfrm>
        </p:grpSpPr>
        <p:sp>
          <p:nvSpPr>
            <p:cNvPr id="202" name="price_sum_panel" descr="Editable shape; source id price_sum_panel"/>
            <p:cNvSpPr/>
            <p:nvPr/>
          </p:nvSpPr>
          <p:spPr>
            <a:xfrm>
              <a:off x="3163366" y="1639519"/>
              <a:ext cx="165963" cy="165963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sum_symbol" descr="Editable text; source id sum_symbol"/>
            <p:cNvSpPr txBox="1"/>
            <p:nvPr/>
          </p:nvSpPr>
          <p:spPr>
            <a:xfrm>
              <a:off x="3212145" y="1660790"/>
              <a:ext cx="76614" cy="129403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72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</p:grpSp>
      <p:sp>
        <p:nvSpPr>
          <p:cNvPr id="204" name="feedback_to_sum" descr="Editable line; source id feedback_to_sum"/>
          <p:cNvSpPr/>
          <p:nvPr/>
        </p:nvSpPr>
        <p:spPr>
          <a:xfrm>
            <a:off x="2937053" y="1708669"/>
            <a:ext cx="211226" cy="22634"/>
          </a:xfrm>
          <a:custGeom>
            <a:avLst/>
            <a:gdLst/>
            <a:ahLst/>
            <a:cxnLst/>
            <a:rect l="l" t="t" r="r" b="b"/>
            <a:pathLst>
              <a:path w="77196" h="8272">
                <a:moveTo>
                  <a:pt x="0" y="3125"/>
                </a:moveTo>
                <a:lnTo>
                  <a:pt x="66168" y="3125"/>
                </a:lnTo>
                <a:lnTo>
                  <a:pt x="66168" y="0"/>
                </a:lnTo>
                <a:lnTo>
                  <a:pt x="77196" y="4136"/>
                </a:lnTo>
                <a:lnTo>
                  <a:pt x="66168" y="8272"/>
                </a:lnTo>
                <a:lnTo>
                  <a:pt x="66168" y="5147"/>
                </a:lnTo>
                <a:lnTo>
                  <a:pt x="0" y="5147"/>
                </a:lnTo>
                <a:close/>
              </a:path>
            </a:pathLst>
          </a:custGeom>
          <a:solidFill>
            <a:srgbClr val="B78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eedback_price_0" descr="Editable text; source id feedback_price_0"/>
          <p:cNvSpPr txBox="1"/>
          <p:nvPr/>
        </p:nvSpPr>
        <p:spPr>
          <a:xfrm>
            <a:off x="3012152" y="1561998"/>
            <a:ext cx="52672" cy="105317"/>
          </a:xfrm>
          <a:prstGeom prst="rect">
            <a:avLst/>
          </a:prstGeom>
          <a:noFill/>
          <a:effectLst/>
        </p:spPr>
        <p:txBody>
          <a:bodyPr wrap="none" anchor="t" tIns="1368" rIns="0" bIns="0" lIns="3420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rPr>
              <a:t>β</a:t>
            </a:r>
          </a:p>
        </p:txBody>
      </p:sp>
      <p:sp>
        <p:nvSpPr>
          <p:cNvPr id="206" name="price_to_update" descr="Editable line; source id price_to_update"/>
          <p:cNvSpPr/>
          <p:nvPr/>
        </p:nvSpPr>
        <p:spPr>
          <a:xfrm>
            <a:off x="3344418" y="1708669"/>
            <a:ext cx="316840" cy="22634"/>
          </a:xfrm>
          <a:custGeom>
            <a:avLst/>
            <a:gdLst/>
            <a:ahLst/>
            <a:cxnLst/>
            <a:rect l="l" t="t" r="r" b="b"/>
            <a:pathLst>
              <a:path w="115794" h="8272">
                <a:moveTo>
                  <a:pt x="0" y="2987"/>
                </a:moveTo>
                <a:lnTo>
                  <a:pt x="104766" y="2987"/>
                </a:lnTo>
                <a:lnTo>
                  <a:pt x="104766" y="0"/>
                </a:lnTo>
                <a:lnTo>
                  <a:pt x="115794" y="4136"/>
                </a:lnTo>
                <a:lnTo>
                  <a:pt x="104766" y="8272"/>
                </a:lnTo>
                <a:lnTo>
                  <a:pt x="104766" y="5285"/>
                </a:lnTo>
                <a:lnTo>
                  <a:pt x="0" y="5285"/>
                </a:lnTo>
                <a:close/>
              </a:path>
            </a:pathLst>
          </a:custGeom>
          <a:solidFill>
            <a:srgbClr val="007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otal_price_0" descr="Editable text; source id total_price_0"/>
          <p:cNvSpPr txBox="1"/>
          <p:nvPr/>
        </p:nvSpPr>
        <p:spPr>
          <a:xfrm>
            <a:off x="3476404" y="1559946"/>
            <a:ext cx="48781" cy="108208"/>
          </a:xfrm>
          <a:prstGeom prst="rect">
            <a:avLst/>
          </a:prstGeom>
          <a:noFill/>
          <a:effectLst/>
        </p:spPr>
        <p:txBody>
          <a:bodyPr wrap="none" anchor="t" tIns="1368" rIns="0" bIns="0" lIns="4104" anchorCtr="0" vertOverflow="overflow">
            <a:noAutofit/>
          </a:bodyPr>
          <a:lstStyle/>
          <a:p>
            <a:pPr algn="l" fontAlgn="base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defRPr sz="712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12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268" name="gae_bypass" descr="One editable routed connector; fixed endpoints."/>
          <p:cNvGrpSpPr/>
          <p:nvPr/>
        </p:nvGrpSpPr>
        <p:grpSpPr>
          <a:xfrm>
            <a:off x="1196949" y="1901037"/>
            <a:ext cx="2641589" cy="213742"/>
            <a:chOff x="1196949" y="1901037"/>
            <a:chExt cx="2641589" cy="213742"/>
          </a:xfrm>
        </p:grpSpPr>
        <p:cxnSp>
          <p:nvCxnSpPr>
            <p:cNvPr id="208" name="gae_bypass_0" descr="Editable line; source id gae_bypass_0"/>
            <p:cNvCxnSpPr/>
            <p:nvPr/>
          </p:nvCxnSpPr>
          <p:spPr>
            <a:xfrm>
              <a:off x="1196949" y="1901037"/>
              <a:ext cx="95555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gae_bypass_1" descr="Editable line; source id gae_bypass_1"/>
            <p:cNvCxnSpPr/>
            <p:nvPr/>
          </p:nvCxnSpPr>
          <p:spPr>
            <a:xfrm>
              <a:off x="1292504" y="1901037"/>
              <a:ext cx="0" cy="213741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gae_bypass_2" descr="Editable line; source id gae_bypass_2"/>
            <p:cNvCxnSpPr/>
            <p:nvPr/>
          </p:nvCxnSpPr>
          <p:spPr>
            <a:xfrm>
              <a:off x="1292504" y="2114778"/>
              <a:ext cx="2534717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gae_bypass_3" descr="Editable line; source id gae_bypass_3"/>
            <p:cNvSpPr/>
            <p:nvPr/>
          </p:nvSpPr>
          <p:spPr>
            <a:xfrm>
              <a:off x="3815904" y="2026768"/>
              <a:ext cx="22634" cy="88011"/>
            </a:xfrm>
            <a:custGeom>
              <a:avLst/>
              <a:gdLst/>
              <a:ahLst/>
              <a:cxnLst/>
              <a:rect l="l" t="t" r="r" b="b"/>
              <a:pathLst>
                <a:path w="8272" h="32165">
                  <a:moveTo>
                    <a:pt x="3125" y="32165"/>
                  </a:moveTo>
                  <a:lnTo>
                    <a:pt x="3125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5147" y="11028"/>
                  </a:lnTo>
                  <a:lnTo>
                    <a:pt x="5147" y="32165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9" name="gae_label" descr="Editable formula parts and native mathematical delimiters."/>
          <p:cNvGrpSpPr/>
          <p:nvPr/>
        </p:nvGrpSpPr>
        <p:grpSpPr>
          <a:xfrm>
            <a:off x="2291879" y="1994510"/>
            <a:ext cx="444168" cy="118705"/>
            <a:chOff x="2291879" y="1994510"/>
            <a:chExt cx="444168" cy="118705"/>
          </a:xfrm>
        </p:grpSpPr>
        <p:sp>
          <p:nvSpPr>
            <p:cNvPr id="212" name="gae_label_0" descr="Editable text; source id gae_label_0"/>
            <p:cNvSpPr txBox="1"/>
            <p:nvPr/>
          </p:nvSpPr>
          <p:spPr>
            <a:xfrm>
              <a:off x="2291879" y="1994510"/>
              <a:ext cx="226498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213" name="gae_label_1" descr="Editable text; source id gae_label_1"/>
            <p:cNvSpPr txBox="1"/>
            <p:nvPr/>
          </p:nvSpPr>
          <p:spPr>
            <a:xfrm>
              <a:off x="2511441" y="1994510"/>
              <a:ext cx="69773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14" name="gae_label_2" descr="Editable text; source id gae_label_2"/>
            <p:cNvSpPr txBox="1"/>
            <p:nvPr/>
          </p:nvSpPr>
          <p:spPr>
            <a:xfrm>
              <a:off x="2577110" y="2042311"/>
              <a:ext cx="23450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215" name="gae_label_3" descr="Editable text; source id gae_label_3"/>
            <p:cNvSpPr txBox="1"/>
            <p:nvPr/>
          </p:nvSpPr>
          <p:spPr>
            <a:xfrm>
              <a:off x="2599097" y="1994510"/>
              <a:ext cx="48119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216" name="gae_label_4" descr="Editable text; source id gae_label_4"/>
            <p:cNvSpPr txBox="1"/>
            <p:nvPr/>
          </p:nvSpPr>
          <p:spPr>
            <a:xfrm>
              <a:off x="2640280" y="1994510"/>
              <a:ext cx="69773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17" name="gae_label_5" descr="Editable text; source id gae_label_5"/>
            <p:cNvSpPr txBox="1"/>
            <p:nvPr/>
          </p:nvSpPr>
          <p:spPr>
            <a:xfrm>
              <a:off x="2705949" y="2042311"/>
              <a:ext cx="30098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</p:grpSp>
      <p:sp>
        <p:nvSpPr>
          <p:cNvPr id="218" name="updated_policy_edge" descr="Editable line; source id updated_policy_edge"/>
          <p:cNvSpPr/>
          <p:nvPr/>
        </p:nvSpPr>
        <p:spPr>
          <a:xfrm>
            <a:off x="4571543" y="1723757"/>
            <a:ext cx="93040" cy="22634"/>
          </a:xfrm>
          <a:custGeom>
            <a:avLst/>
            <a:gdLst/>
            <a:ahLst/>
            <a:cxnLst/>
            <a:rect l="l" t="t" r="r" b="b"/>
            <a:pathLst>
              <a:path w="34003" h="8272">
                <a:moveTo>
                  <a:pt x="0" y="3125"/>
                </a:moveTo>
                <a:lnTo>
                  <a:pt x="22975" y="3125"/>
                </a:lnTo>
                <a:lnTo>
                  <a:pt x="22975" y="0"/>
                </a:lnTo>
                <a:lnTo>
                  <a:pt x="34003" y="4136"/>
                </a:lnTo>
                <a:lnTo>
                  <a:pt x="22975" y="8272"/>
                </a:lnTo>
                <a:lnTo>
                  <a:pt x="22975" y="5147"/>
                </a:lnTo>
                <a:lnTo>
                  <a:pt x="0" y="5147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0" name="next_rollout" descr="One editable routed connector; fixed endpoints."/>
          <p:cNvGrpSpPr/>
          <p:nvPr/>
        </p:nvGrpSpPr>
        <p:grpSpPr>
          <a:xfrm>
            <a:off x="622365" y="1923669"/>
            <a:ext cx="4188064" cy="336956"/>
            <a:chOff x="622365" y="1923669"/>
            <a:chExt cx="4188064" cy="336956"/>
          </a:xfrm>
        </p:grpSpPr>
        <p:cxnSp>
          <p:nvCxnSpPr>
            <p:cNvPr id="219" name="next_rollout_0" descr="Editable line; source id next_rollout_0"/>
            <p:cNvCxnSpPr/>
            <p:nvPr/>
          </p:nvCxnSpPr>
          <p:spPr>
            <a:xfrm>
              <a:off x="4810429" y="1923669"/>
              <a:ext cx="0" cy="336956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next_rollout_1" descr="Editable line; source id next_rollout_1"/>
            <p:cNvCxnSpPr/>
            <p:nvPr/>
          </p:nvCxnSpPr>
          <p:spPr>
            <a:xfrm flipH="1">
              <a:off x="633679" y="2260625"/>
              <a:ext cx="4176750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next_rollout_2" descr="Editable line; source id next_rollout_2"/>
            <p:cNvSpPr/>
            <p:nvPr/>
          </p:nvSpPr>
          <p:spPr>
            <a:xfrm>
              <a:off x="622365" y="2029282"/>
              <a:ext cx="22631" cy="231343"/>
            </a:xfrm>
            <a:custGeom>
              <a:avLst/>
              <a:gdLst/>
              <a:ahLst/>
              <a:cxnLst/>
              <a:rect l="l" t="t" r="r" b="b"/>
              <a:pathLst>
                <a:path w="8271" h="84548">
                  <a:moveTo>
                    <a:pt x="3124" y="84548"/>
                  </a:moveTo>
                  <a:lnTo>
                    <a:pt x="3124" y="11028"/>
                  </a:lnTo>
                  <a:lnTo>
                    <a:pt x="0" y="11028"/>
                  </a:lnTo>
                  <a:lnTo>
                    <a:pt x="4135" y="0"/>
                  </a:lnTo>
                  <a:lnTo>
                    <a:pt x="8271" y="11028"/>
                  </a:lnTo>
                  <a:lnTo>
                    <a:pt x="5146" y="11028"/>
                  </a:lnTo>
                  <a:lnTo>
                    <a:pt x="5146" y="84548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2" name="next_rollout_text" descr="Editable text; source id next_rollout_text"/>
          <p:cNvSpPr txBox="1"/>
          <p:nvPr/>
        </p:nvSpPr>
        <p:spPr>
          <a:xfrm>
            <a:off x="2557651" y="2147216"/>
            <a:ext cx="425024" cy="111599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51"/>
              </a:lnSpc>
              <a:spcBef>
                <a:spcPts val="0"/>
              </a:spcBef>
              <a:spcAft>
                <a:spcPts val="0"/>
              </a:spcAft>
              <a:defRPr sz="65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5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