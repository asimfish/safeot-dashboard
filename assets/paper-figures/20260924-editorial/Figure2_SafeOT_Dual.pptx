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34221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Legacy-led semantic redraw; diagrams are analytic/schematic, not empirical data. Native text/line math, not OMML.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raph_space" descr="Editable text; source id graph_space"/>
          <p:cNvSpPr txBox="1"/>
          <p:nvPr/>
        </p:nvSpPr>
        <p:spPr>
          <a:xfrm>
            <a:off x="74994" y="40925"/>
            <a:ext cx="598038" cy="126435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1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2" b="1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rPr>
              <a:t>Graph space</a:t>
            </a:r>
          </a:p>
        </p:txBody>
      </p:sp>
      <p:cxnSp>
        <p:nvCxnSpPr>
          <p:cNvPr id="3" name="graph_space_rule" descr="Editable line; source id graph_space_rule"/>
          <p:cNvCxnSpPr/>
          <p:nvPr/>
        </p:nvCxnSpPr>
        <p:spPr>
          <a:xfrm>
            <a:off x="731748" y="103098"/>
            <a:ext cx="4216984" cy="0"/>
          </a:xfrm>
          <a:prstGeom prst="line">
            <a:avLst/>
          </a:prstGeom>
          <a:ln w="3771" cap="rnd">
            <a:solidFill>
              <a:srgbClr val="CDD7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" name="empirical_graph" descr="empirical graph"/>
          <p:cNvGrpSpPr/>
          <p:nvPr/>
        </p:nvGrpSpPr>
        <p:grpSpPr>
          <a:xfrm>
            <a:off x="85496" y="236372"/>
            <a:ext cx="917828" cy="852449"/>
            <a:chOff x="85496" y="236372"/>
            <a:chExt cx="917828" cy="852449"/>
          </a:xfrm>
        </p:grpSpPr>
        <p:sp>
          <p:nvSpPr>
            <p:cNvPr id="4" name="empirical_graph_panel" descr="Editable shape; source id empirical_graph_panel"/>
            <p:cNvSpPr/>
            <p:nvPr/>
          </p:nvSpPr>
          <p:spPr>
            <a:xfrm>
              <a:off x="85496" y="236372"/>
              <a:ext cx="917828" cy="852449"/>
            </a:xfrm>
            <a:prstGeom prst="roundRect">
              <a:avLst>
                <a:gd name="adj" fmla="val 2359"/>
              </a:avLst>
            </a:prstGeom>
            <a:solidFill>
              <a:srgbClr val="FFFFFF"/>
            </a:solidFill>
            <a:ln w="4023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empirical_title" descr="Editable text; source id empirical_title"/>
            <p:cNvSpPr txBox="1"/>
            <p:nvPr/>
          </p:nvSpPr>
          <p:spPr>
            <a:xfrm>
              <a:off x="176498" y="257181"/>
              <a:ext cx="741519" cy="126435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Empirical graph</a:t>
              </a:r>
            </a:p>
          </p:txBody>
        </p:sp>
        <p:grpSp>
          <p:nvGrpSpPr>
            <p:cNvPr id="223" name="empirical_network" descr="empirical network"/>
            <p:cNvGrpSpPr/>
            <p:nvPr/>
          </p:nvGrpSpPr>
          <p:grpSpPr>
            <a:xfrm>
              <a:off x="148361" y="460171"/>
              <a:ext cx="782040" cy="417424"/>
              <a:chOff x="148361" y="460171"/>
              <a:chExt cx="782040" cy="417424"/>
            </a:xfrm>
          </p:grpSpPr>
          <p:sp>
            <p:nvSpPr>
              <p:cNvPr id="6" name="empirical_network_edge0" descr="Editable line; source id empirical_network_edge0"/>
              <p:cNvSpPr/>
              <p:nvPr/>
            </p:nvSpPr>
            <p:spPr>
              <a:xfrm>
                <a:off x="225469" y="536899"/>
                <a:ext cx="109666" cy="100973"/>
              </a:xfrm>
              <a:custGeom>
                <a:avLst/>
                <a:gdLst/>
                <a:ahLst/>
                <a:cxnLst/>
                <a:rect l="l" t="t" r="r" b="b"/>
                <a:pathLst>
                  <a:path w="40079" h="36902">
                    <a:moveTo>
                      <a:pt x="0" y="34734"/>
                    </a:moveTo>
                    <a:lnTo>
                      <a:pt x="30955" y="6367"/>
                    </a:lnTo>
                    <a:lnTo>
                      <a:pt x="29154" y="4402"/>
                    </a:lnTo>
                    <a:lnTo>
                      <a:pt x="40079" y="0"/>
                    </a:lnTo>
                    <a:lnTo>
                      <a:pt x="34742" y="10500"/>
                    </a:lnTo>
                    <a:lnTo>
                      <a:pt x="32942" y="8535"/>
                    </a:lnTo>
                    <a:lnTo>
                      <a:pt x="1987" y="36902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empirical_network_edge1" descr="Editable line; source id empirical_network_edge1"/>
              <p:cNvSpPr/>
              <p:nvPr/>
            </p:nvSpPr>
            <p:spPr>
              <a:xfrm>
                <a:off x="422502" y="491603"/>
                <a:ext cx="219826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80339" h="8272">
                    <a:moveTo>
                      <a:pt x="0" y="2666"/>
                    </a:moveTo>
                    <a:lnTo>
                      <a:pt x="69311" y="2666"/>
                    </a:lnTo>
                    <a:lnTo>
                      <a:pt x="69311" y="0"/>
                    </a:lnTo>
                    <a:lnTo>
                      <a:pt x="80339" y="4136"/>
                    </a:lnTo>
                    <a:lnTo>
                      <a:pt x="69311" y="8272"/>
                    </a:lnTo>
                    <a:lnTo>
                      <a:pt x="69311" y="5606"/>
                    </a:lnTo>
                    <a:lnTo>
                      <a:pt x="0" y="5606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empirical_network_edge2" descr="Editable line; source id empirical_network_edge2"/>
              <p:cNvSpPr/>
              <p:nvPr/>
            </p:nvSpPr>
            <p:spPr>
              <a:xfrm>
                <a:off x="728315" y="532449"/>
                <a:ext cx="121037" cy="103840"/>
              </a:xfrm>
              <a:custGeom>
                <a:avLst/>
                <a:gdLst/>
                <a:ahLst/>
                <a:cxnLst/>
                <a:rect l="l" t="t" r="r" b="b"/>
                <a:pathLst>
                  <a:path w="44235" h="37950">
                    <a:moveTo>
                      <a:pt x="1906" y="0"/>
                    </a:moveTo>
                    <a:lnTo>
                      <a:pt x="36789" y="29684"/>
                    </a:lnTo>
                    <a:lnTo>
                      <a:pt x="38517" y="27654"/>
                    </a:lnTo>
                    <a:lnTo>
                      <a:pt x="44235" y="37950"/>
                    </a:lnTo>
                    <a:lnTo>
                      <a:pt x="33156" y="33953"/>
                    </a:lnTo>
                    <a:lnTo>
                      <a:pt x="34884" y="31923"/>
                    </a:lnTo>
                    <a:lnTo>
                      <a:pt x="0" y="2239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empirical_network_edge3" descr="Editable line; source id empirical_network_edge3"/>
              <p:cNvSpPr/>
              <p:nvPr/>
            </p:nvSpPr>
            <p:spPr>
              <a:xfrm>
                <a:off x="226235" y="700731"/>
                <a:ext cx="108899" cy="100138"/>
              </a:xfrm>
              <a:custGeom>
                <a:avLst/>
                <a:gdLst/>
                <a:ahLst/>
                <a:cxnLst/>
                <a:rect l="l" t="t" r="r" b="b"/>
                <a:pathLst>
                  <a:path w="39799" h="36597">
                    <a:moveTo>
                      <a:pt x="1428" y="0"/>
                    </a:moveTo>
                    <a:lnTo>
                      <a:pt x="32382" y="28367"/>
                    </a:lnTo>
                    <a:lnTo>
                      <a:pt x="34462" y="26097"/>
                    </a:lnTo>
                    <a:lnTo>
                      <a:pt x="39799" y="36597"/>
                    </a:lnTo>
                    <a:lnTo>
                      <a:pt x="28874" y="32195"/>
                    </a:lnTo>
                    <a:lnTo>
                      <a:pt x="30954" y="29925"/>
                    </a:lnTo>
                    <a:lnTo>
                      <a:pt x="0" y="1558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empirical_network_edge4" descr="Editable line; source id empirical_network_edge4"/>
              <p:cNvSpPr/>
              <p:nvPr/>
            </p:nvSpPr>
            <p:spPr>
              <a:xfrm>
                <a:off x="422502" y="823530"/>
                <a:ext cx="219826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80339" h="8272">
                    <a:moveTo>
                      <a:pt x="0" y="3079"/>
                    </a:moveTo>
                    <a:lnTo>
                      <a:pt x="69311" y="3079"/>
                    </a:lnTo>
                    <a:lnTo>
                      <a:pt x="69311" y="0"/>
                    </a:lnTo>
                    <a:lnTo>
                      <a:pt x="80339" y="4136"/>
                    </a:lnTo>
                    <a:lnTo>
                      <a:pt x="69311" y="8272"/>
                    </a:lnTo>
                    <a:lnTo>
                      <a:pt x="69311" y="5193"/>
                    </a:lnTo>
                    <a:lnTo>
                      <a:pt x="0" y="5193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empirical_network_edge5" descr="Editable line; source id empirical_network_edge5"/>
              <p:cNvSpPr/>
              <p:nvPr/>
            </p:nvSpPr>
            <p:spPr>
              <a:xfrm>
                <a:off x="729048" y="701478"/>
                <a:ext cx="120304" cy="102978"/>
              </a:xfrm>
              <a:custGeom>
                <a:avLst/>
                <a:gdLst/>
                <a:ahLst/>
                <a:cxnLst/>
                <a:rect l="l" t="t" r="r" b="b"/>
                <a:pathLst>
                  <a:path w="43967" h="37635">
                    <a:moveTo>
                      <a:pt x="0" y="36026"/>
                    </a:moveTo>
                    <a:lnTo>
                      <a:pt x="34884" y="6342"/>
                    </a:lnTo>
                    <a:lnTo>
                      <a:pt x="32888" y="3997"/>
                    </a:lnTo>
                    <a:lnTo>
                      <a:pt x="43967" y="0"/>
                    </a:lnTo>
                    <a:lnTo>
                      <a:pt x="38249" y="10296"/>
                    </a:lnTo>
                    <a:lnTo>
                      <a:pt x="36253" y="7951"/>
                    </a:lnTo>
                    <a:lnTo>
                      <a:pt x="1370" y="37635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empirical_network_edge6" descr="Editable line; source id empirical_network_edge6"/>
              <p:cNvSpPr/>
              <p:nvPr/>
            </p:nvSpPr>
            <p:spPr>
              <a:xfrm>
                <a:off x="360896" y="553212"/>
                <a:ext cx="22631" cy="231343"/>
              </a:xfrm>
              <a:custGeom>
                <a:avLst/>
                <a:gdLst/>
                <a:ahLst/>
                <a:cxnLst/>
                <a:rect l="l" t="t" r="r" b="b"/>
                <a:pathLst>
                  <a:path w="8271" h="84548">
                    <a:moveTo>
                      <a:pt x="5192" y="0"/>
                    </a:moveTo>
                    <a:lnTo>
                      <a:pt x="5192" y="73520"/>
                    </a:lnTo>
                    <a:lnTo>
                      <a:pt x="8271" y="73520"/>
                    </a:lnTo>
                    <a:lnTo>
                      <a:pt x="4135" y="84548"/>
                    </a:lnTo>
                    <a:lnTo>
                      <a:pt x="0" y="73520"/>
                    </a:lnTo>
                    <a:lnTo>
                      <a:pt x="3079" y="73520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empirical_network_edge7" descr="Editable line; source id empirical_network_edge7"/>
              <p:cNvSpPr/>
              <p:nvPr/>
            </p:nvSpPr>
            <p:spPr>
              <a:xfrm>
                <a:off x="681306" y="553212"/>
                <a:ext cx="22631" cy="231343"/>
              </a:xfrm>
              <a:custGeom>
                <a:avLst/>
                <a:gdLst/>
                <a:ahLst/>
                <a:cxnLst/>
                <a:rect l="l" t="t" r="r" b="b"/>
                <a:pathLst>
                  <a:path w="8271" h="84548">
                    <a:moveTo>
                      <a:pt x="5192" y="0"/>
                    </a:moveTo>
                    <a:lnTo>
                      <a:pt x="5192" y="73520"/>
                    </a:lnTo>
                    <a:lnTo>
                      <a:pt x="8271" y="73520"/>
                    </a:lnTo>
                    <a:lnTo>
                      <a:pt x="4135" y="84548"/>
                    </a:lnTo>
                    <a:lnTo>
                      <a:pt x="0" y="73520"/>
                    </a:lnTo>
                    <a:lnTo>
                      <a:pt x="3079" y="73520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empirical_network_node1" descr="Editable shape; source id empirical_network_node1"/>
              <p:cNvSpPr/>
              <p:nvPr/>
            </p:nvSpPr>
            <p:spPr>
              <a:xfrm>
                <a:off x="148361" y="626135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empirical_network_node2" descr="Editable shape; source id empirical_network_node2"/>
              <p:cNvSpPr/>
              <p:nvPr/>
            </p:nvSpPr>
            <p:spPr>
              <a:xfrm>
                <a:off x="329462" y="460171"/>
                <a:ext cx="85496" cy="85496"/>
              </a:xfrm>
              <a:prstGeom prst="ellipse">
                <a:avLst/>
              </a:prstGeom>
              <a:solidFill>
                <a:srgbClr val="EDF1F6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empirical_network_node3" descr="Editable shape; source id empirical_network_node3"/>
              <p:cNvSpPr/>
              <p:nvPr/>
            </p:nvSpPr>
            <p:spPr>
              <a:xfrm>
                <a:off x="649873" y="460171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empirical_network_node4" descr="Editable shape; source id empirical_network_node4"/>
              <p:cNvSpPr/>
              <p:nvPr/>
            </p:nvSpPr>
            <p:spPr>
              <a:xfrm>
                <a:off x="844905" y="626135"/>
                <a:ext cx="85496" cy="85496"/>
              </a:xfrm>
              <a:prstGeom prst="ellipse">
                <a:avLst/>
              </a:prstGeom>
              <a:solidFill>
                <a:srgbClr val="EDF1F6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empirical_network_node5" descr="Editable shape; source id empirical_network_node5"/>
              <p:cNvSpPr/>
              <p:nvPr/>
            </p:nvSpPr>
            <p:spPr>
              <a:xfrm>
                <a:off x="329462" y="792099"/>
                <a:ext cx="85496" cy="85496"/>
              </a:xfrm>
              <a:prstGeom prst="ellipse">
                <a:avLst/>
              </a:prstGeom>
              <a:solidFill>
                <a:srgbClr val="EDF1F6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empirical_network_node6" descr="Editable shape; source id empirical_network_node6"/>
              <p:cNvSpPr/>
              <p:nvPr/>
            </p:nvSpPr>
            <p:spPr>
              <a:xfrm>
                <a:off x="649873" y="792099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4" name="empirical_symbols" descr="Editable formula parts and native mathematical delimiters."/>
            <p:cNvGrpSpPr/>
            <p:nvPr/>
          </p:nvGrpSpPr>
          <p:grpSpPr>
            <a:xfrm>
              <a:off x="390446" y="916449"/>
              <a:ext cx="303232" cy="128294"/>
              <a:chOff x="390446" y="916449"/>
              <a:chExt cx="303232" cy="128294"/>
            </a:xfrm>
          </p:grpSpPr>
          <p:sp>
            <p:nvSpPr>
              <p:cNvPr id="20" name="empirical_symbols_0" descr="Editable text; source id empirical_symbols_0"/>
              <p:cNvSpPr txBox="1"/>
              <p:nvPr/>
            </p:nvSpPr>
            <p:spPr>
              <a:xfrm>
                <a:off x="390446" y="916449"/>
                <a:ext cx="203849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2052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F̂, A, </a:t>
                </a:r>
              </a:p>
            </p:txBody>
          </p:sp>
          <p:sp>
            <p:nvSpPr>
              <p:cNvPr id="21" name="empirical_symbols_1" descr="Editable text; source id empirical_symbols_1"/>
              <p:cNvSpPr txBox="1"/>
              <p:nvPr/>
            </p:nvSpPr>
            <p:spPr>
              <a:xfrm>
                <a:off x="593057" y="916449"/>
                <a:ext cx="69089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2" name="empirical_symbols_2" descr="Editable text; source id empirical_symbols_2"/>
              <p:cNvSpPr txBox="1"/>
              <p:nvPr/>
            </p:nvSpPr>
            <p:spPr>
              <a:xfrm>
                <a:off x="658043" y="968113"/>
                <a:ext cx="35635" cy="7663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</p:grpSp>
      <p:grpSp>
        <p:nvGrpSpPr>
          <p:cNvPr id="242" name="joint_solver" descr="joint solver"/>
          <p:cNvGrpSpPr/>
          <p:nvPr/>
        </p:nvGrpSpPr>
        <p:grpSpPr>
          <a:xfrm>
            <a:off x="1156716" y="236372"/>
            <a:ext cx="2489454" cy="852449"/>
            <a:chOff x="1156716" y="236372"/>
            <a:chExt cx="2489454" cy="852449"/>
          </a:xfrm>
        </p:grpSpPr>
        <p:sp>
          <p:nvSpPr>
            <p:cNvPr id="23" name="joint_solver_panel" descr="Editable shape; source id joint_solver_panel"/>
            <p:cNvSpPr/>
            <p:nvPr/>
          </p:nvSpPr>
          <p:spPr>
            <a:xfrm>
              <a:off x="1156716" y="236372"/>
              <a:ext cx="2489454" cy="852449"/>
            </a:xfrm>
            <a:prstGeom prst="roundRect">
              <a:avLst>
                <a:gd name="adj" fmla="val 2359"/>
              </a:avLst>
            </a:prstGeom>
            <a:solidFill>
              <a:srgbClr val="FFFFFF"/>
            </a:solidFill>
            <a:ln w="4526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olver_title" descr="Editable text; source id solver_title"/>
            <p:cNvSpPr txBox="1"/>
            <p:nvPr/>
          </p:nvSpPr>
          <p:spPr>
            <a:xfrm>
              <a:off x="1671210" y="257181"/>
              <a:ext cx="1468674" cy="126435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One constrained graph problem</a:t>
              </a:r>
            </a:p>
          </p:txBody>
        </p:sp>
        <p:grpSp>
          <p:nvGrpSpPr>
            <p:cNvPr id="226" name="solver_matrix0" descr="solver matrix0"/>
            <p:cNvGrpSpPr/>
            <p:nvPr/>
          </p:nvGrpSpPr>
          <p:grpSpPr>
            <a:xfrm>
              <a:off x="1239697" y="482803"/>
              <a:ext cx="243413" cy="135285"/>
              <a:chOff x="1239697" y="482803"/>
              <a:chExt cx="243413" cy="135285"/>
            </a:xfrm>
          </p:grpSpPr>
          <p:sp>
            <p:nvSpPr>
              <p:cNvPr id="25" name="solver_matrix0_0_0" descr="Editable shape; source id solver_matrix0_0_0"/>
              <p:cNvSpPr/>
              <p:nvPr/>
            </p:nvSpPr>
            <p:spPr>
              <a:xfrm>
                <a:off x="1239697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solver_matrix0_0_1" descr="Editable shape; source id solver_matrix0_0_1"/>
              <p:cNvSpPr/>
              <p:nvPr/>
            </p:nvSpPr>
            <p:spPr>
              <a:xfrm>
                <a:off x="1301305" y="482803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solver_matrix0_0_2" descr="Editable shape; source id solver_matrix0_0_2"/>
              <p:cNvSpPr/>
              <p:nvPr/>
            </p:nvSpPr>
            <p:spPr>
              <a:xfrm>
                <a:off x="1362913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solver_matrix0_0_3" descr="Editable shape; source id solver_matrix0_0_3"/>
              <p:cNvSpPr/>
              <p:nvPr/>
            </p:nvSpPr>
            <p:spPr>
              <a:xfrm>
                <a:off x="1424520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solver_matrix0_1_0" descr="Editable shape; source id solver_matrix0_1_0"/>
              <p:cNvSpPr/>
              <p:nvPr/>
            </p:nvSpPr>
            <p:spPr>
              <a:xfrm>
                <a:off x="1239697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solver_matrix0_1_1" descr="Editable shape; source id solver_matrix0_1_1"/>
              <p:cNvSpPr/>
              <p:nvPr/>
            </p:nvSpPr>
            <p:spPr>
              <a:xfrm>
                <a:off x="1301305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solver_matrix0_1_2" descr="Editable shape; source id solver_matrix0_1_2"/>
              <p:cNvSpPr/>
              <p:nvPr/>
            </p:nvSpPr>
            <p:spPr>
              <a:xfrm>
                <a:off x="1362913" y="528904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solver_matrix0_1_3" descr="Editable shape; source id solver_matrix0_1_3"/>
              <p:cNvSpPr/>
              <p:nvPr/>
            </p:nvSpPr>
            <p:spPr>
              <a:xfrm>
                <a:off x="1424520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solver_matrix0_2_0" descr="Editable shape; source id solver_matrix0_2_0"/>
              <p:cNvSpPr/>
              <p:nvPr/>
            </p:nvSpPr>
            <p:spPr>
              <a:xfrm>
                <a:off x="1239697" y="575005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solver_matrix0_2_1" descr="Editable shape; source id solver_matrix0_2_1"/>
              <p:cNvSpPr/>
              <p:nvPr/>
            </p:nvSpPr>
            <p:spPr>
              <a:xfrm>
                <a:off x="1301305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solver_matrix0_2_2" descr="Editable shape; source id solver_matrix0_2_2"/>
              <p:cNvSpPr/>
              <p:nvPr/>
            </p:nvSpPr>
            <p:spPr>
              <a:xfrm>
                <a:off x="1362913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solver_matrix0_2_3" descr="Editable shape; source id solver_matrix0_2_3"/>
              <p:cNvSpPr/>
              <p:nvPr/>
            </p:nvSpPr>
            <p:spPr>
              <a:xfrm>
                <a:off x="1424520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7" name="solver_matrix_name0" descr="Editable formula parts and native mathematical delimiters."/>
            <p:cNvGrpSpPr/>
            <p:nvPr/>
          </p:nvGrpSpPr>
          <p:grpSpPr>
            <a:xfrm>
              <a:off x="1319636" y="386977"/>
              <a:ext cx="85507" cy="108432"/>
              <a:chOff x="1319636" y="386977"/>
              <a:chExt cx="85507" cy="108432"/>
            </a:xfrm>
          </p:grpSpPr>
          <p:sp>
            <p:nvSpPr>
              <p:cNvPr id="37" name="solver_matrix_name0_0" descr="Editable text; source id solver_matrix_name0_0"/>
              <p:cNvSpPr txBox="1"/>
              <p:nvPr/>
            </p:nvSpPr>
            <p:spPr>
              <a:xfrm>
                <a:off x="1319636" y="386977"/>
                <a:ext cx="58829" cy="9664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38" name="solver_matrix_name0_1" descr="Editable text; source id solver_matrix_name0_1"/>
              <p:cNvSpPr txBox="1"/>
              <p:nvPr/>
            </p:nvSpPr>
            <p:spPr>
              <a:xfrm>
                <a:off x="1374361" y="430231"/>
                <a:ext cx="30782" cy="65178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480"/>
                  </a:lnSpc>
                  <a:spcBef>
                    <a:spcPts val="0"/>
                  </a:spcBef>
                  <a:spcAft>
                    <a:spcPts val="0"/>
                  </a:spcAft>
                  <a:def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grpSp>
          <p:nvGrpSpPr>
            <p:cNvPr id="228" name="solver_matrix1" descr="solver matrix1"/>
            <p:cNvGrpSpPr/>
            <p:nvPr/>
          </p:nvGrpSpPr>
          <p:grpSpPr>
            <a:xfrm>
              <a:off x="1584198" y="482803"/>
              <a:ext cx="243413" cy="135285"/>
              <a:chOff x="1584198" y="482803"/>
              <a:chExt cx="243413" cy="135285"/>
            </a:xfrm>
          </p:grpSpPr>
          <p:sp>
            <p:nvSpPr>
              <p:cNvPr id="39" name="solver_matrix1_0_0" descr="Editable shape; source id solver_matrix1_0_0"/>
              <p:cNvSpPr/>
              <p:nvPr/>
            </p:nvSpPr>
            <p:spPr>
              <a:xfrm>
                <a:off x="1584198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solver_matrix1_0_1" descr="Editable shape; source id solver_matrix1_0_1"/>
              <p:cNvSpPr/>
              <p:nvPr/>
            </p:nvSpPr>
            <p:spPr>
              <a:xfrm>
                <a:off x="1645805" y="482803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solver_matrix1_0_2" descr="Editable shape; source id solver_matrix1_0_2"/>
              <p:cNvSpPr/>
              <p:nvPr/>
            </p:nvSpPr>
            <p:spPr>
              <a:xfrm>
                <a:off x="1707413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solver_matrix1_0_3" descr="Editable shape; source id solver_matrix1_0_3"/>
              <p:cNvSpPr/>
              <p:nvPr/>
            </p:nvSpPr>
            <p:spPr>
              <a:xfrm>
                <a:off x="1769021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solver_matrix1_1_0" descr="Editable shape; source id solver_matrix1_1_0"/>
              <p:cNvSpPr/>
              <p:nvPr/>
            </p:nvSpPr>
            <p:spPr>
              <a:xfrm>
                <a:off x="1584198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solver_matrix1_1_1" descr="Editable shape; source id solver_matrix1_1_1"/>
              <p:cNvSpPr/>
              <p:nvPr/>
            </p:nvSpPr>
            <p:spPr>
              <a:xfrm>
                <a:off x="1645805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solver_matrix1_1_2" descr="Editable shape; source id solver_matrix1_1_2"/>
              <p:cNvSpPr/>
              <p:nvPr/>
            </p:nvSpPr>
            <p:spPr>
              <a:xfrm>
                <a:off x="1707413" y="528904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solver_matrix1_1_3" descr="Editable shape; source id solver_matrix1_1_3"/>
              <p:cNvSpPr/>
              <p:nvPr/>
            </p:nvSpPr>
            <p:spPr>
              <a:xfrm>
                <a:off x="1769021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solver_matrix1_2_0" descr="Editable shape; source id solver_matrix1_2_0"/>
              <p:cNvSpPr/>
              <p:nvPr/>
            </p:nvSpPr>
            <p:spPr>
              <a:xfrm>
                <a:off x="1584198" y="575005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solver_matrix1_2_1" descr="Editable shape; source id solver_matrix1_2_1"/>
              <p:cNvSpPr/>
              <p:nvPr/>
            </p:nvSpPr>
            <p:spPr>
              <a:xfrm>
                <a:off x="1645805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solver_matrix1_2_2" descr="Editable shape; source id solver_matrix1_2_2"/>
              <p:cNvSpPr/>
              <p:nvPr/>
            </p:nvSpPr>
            <p:spPr>
              <a:xfrm>
                <a:off x="1707413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solver_matrix1_2_3" descr="Editable shape; source id solver_matrix1_2_3"/>
              <p:cNvSpPr/>
              <p:nvPr/>
            </p:nvSpPr>
            <p:spPr>
              <a:xfrm>
                <a:off x="1769021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9" name="solver_matrix_name1" descr="Editable formula parts and native mathematical delimiters."/>
            <p:cNvGrpSpPr/>
            <p:nvPr/>
          </p:nvGrpSpPr>
          <p:grpSpPr>
            <a:xfrm>
              <a:off x="1664136" y="386977"/>
              <a:ext cx="85507" cy="108432"/>
              <a:chOff x="1664136" y="386977"/>
              <a:chExt cx="85507" cy="108432"/>
            </a:xfrm>
          </p:grpSpPr>
          <p:sp>
            <p:nvSpPr>
              <p:cNvPr id="51" name="solver_matrix_name1_0" descr="Editable text; source id solver_matrix_name1_0"/>
              <p:cNvSpPr txBox="1"/>
              <p:nvPr/>
            </p:nvSpPr>
            <p:spPr>
              <a:xfrm>
                <a:off x="1664136" y="386977"/>
                <a:ext cx="58829" cy="9664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52" name="solver_matrix_name1_1" descr="Editable text; source id solver_matrix_name1_1"/>
              <p:cNvSpPr txBox="1"/>
              <p:nvPr/>
            </p:nvSpPr>
            <p:spPr>
              <a:xfrm>
                <a:off x="1718861" y="430231"/>
                <a:ext cx="30782" cy="65178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480"/>
                  </a:lnSpc>
                  <a:spcBef>
                    <a:spcPts val="0"/>
                  </a:spcBef>
                  <a:spcAft>
                    <a:spcPts val="0"/>
                  </a:spcAft>
                  <a:def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grpSp>
          <p:nvGrpSpPr>
            <p:cNvPr id="230" name="solver_matrix2" descr="solver matrix2"/>
            <p:cNvGrpSpPr/>
            <p:nvPr/>
          </p:nvGrpSpPr>
          <p:grpSpPr>
            <a:xfrm>
              <a:off x="1928698" y="482803"/>
              <a:ext cx="243413" cy="135285"/>
              <a:chOff x="1928698" y="482803"/>
              <a:chExt cx="243413" cy="135285"/>
            </a:xfrm>
          </p:grpSpPr>
          <p:sp>
            <p:nvSpPr>
              <p:cNvPr id="53" name="solver_matrix2_0_0" descr="Editable shape; source id solver_matrix2_0_0"/>
              <p:cNvSpPr/>
              <p:nvPr/>
            </p:nvSpPr>
            <p:spPr>
              <a:xfrm>
                <a:off x="1928698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solver_matrix2_0_1" descr="Editable shape; source id solver_matrix2_0_1"/>
              <p:cNvSpPr/>
              <p:nvPr/>
            </p:nvSpPr>
            <p:spPr>
              <a:xfrm>
                <a:off x="1990305" y="482803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solver_matrix2_0_2" descr="Editable shape; source id solver_matrix2_0_2"/>
              <p:cNvSpPr/>
              <p:nvPr/>
            </p:nvSpPr>
            <p:spPr>
              <a:xfrm>
                <a:off x="2051913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solver_matrix2_0_3" descr="Editable shape; source id solver_matrix2_0_3"/>
              <p:cNvSpPr/>
              <p:nvPr/>
            </p:nvSpPr>
            <p:spPr>
              <a:xfrm>
                <a:off x="2113521" y="482803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solver_matrix2_1_0" descr="Editable shape; source id solver_matrix2_1_0"/>
              <p:cNvSpPr/>
              <p:nvPr/>
            </p:nvSpPr>
            <p:spPr>
              <a:xfrm>
                <a:off x="1928698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solver_matrix2_1_1" descr="Editable shape; source id solver_matrix2_1_1"/>
              <p:cNvSpPr/>
              <p:nvPr/>
            </p:nvSpPr>
            <p:spPr>
              <a:xfrm>
                <a:off x="1990305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solver_matrix2_1_2" descr="Editable shape; source id solver_matrix2_1_2"/>
              <p:cNvSpPr/>
              <p:nvPr/>
            </p:nvSpPr>
            <p:spPr>
              <a:xfrm>
                <a:off x="2051913" y="528904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solver_matrix2_1_3" descr="Editable shape; source id solver_matrix2_1_3"/>
              <p:cNvSpPr/>
              <p:nvPr/>
            </p:nvSpPr>
            <p:spPr>
              <a:xfrm>
                <a:off x="2113521" y="528904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solver_matrix2_2_0" descr="Editable shape; source id solver_matrix2_2_0"/>
              <p:cNvSpPr/>
              <p:nvPr/>
            </p:nvSpPr>
            <p:spPr>
              <a:xfrm>
                <a:off x="1928698" y="575005"/>
                <a:ext cx="58590" cy="43083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solver_matrix2_2_1" descr="Editable shape; source id solver_matrix2_2_1"/>
              <p:cNvSpPr/>
              <p:nvPr/>
            </p:nvSpPr>
            <p:spPr>
              <a:xfrm>
                <a:off x="1990305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solver_matrix2_2_2" descr="Editable shape; source id solver_matrix2_2_2"/>
              <p:cNvSpPr/>
              <p:nvPr/>
            </p:nvSpPr>
            <p:spPr>
              <a:xfrm>
                <a:off x="2051913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solver_matrix2_2_3" descr="Editable shape; source id solver_matrix2_2_3"/>
              <p:cNvSpPr/>
              <p:nvPr/>
            </p:nvSpPr>
            <p:spPr>
              <a:xfrm>
                <a:off x="2113521" y="575005"/>
                <a:ext cx="58590" cy="43083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1" name="solver_matrix_name2" descr="Editable formula parts and native mathematical delimiters."/>
            <p:cNvGrpSpPr/>
            <p:nvPr/>
          </p:nvGrpSpPr>
          <p:grpSpPr>
            <a:xfrm>
              <a:off x="2002801" y="386977"/>
              <a:ext cx="97178" cy="108432"/>
              <a:chOff x="2002801" y="386977"/>
              <a:chExt cx="97178" cy="108432"/>
            </a:xfrm>
          </p:grpSpPr>
          <p:sp>
            <p:nvSpPr>
              <p:cNvPr id="65" name="solver_matrix_name2_0" descr="Editable text; source id solver_matrix_name2_0"/>
              <p:cNvSpPr txBox="1"/>
              <p:nvPr/>
            </p:nvSpPr>
            <p:spPr>
              <a:xfrm>
                <a:off x="2002801" y="386977"/>
                <a:ext cx="58829" cy="9664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28"/>
                  </a:lnSpc>
                  <a:spcBef>
                    <a:spcPts val="0"/>
                  </a:spcBef>
                  <a:spcAft>
                    <a:spcPts val="0"/>
                  </a:spcAft>
                  <a:def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3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66" name="solver_matrix_name2_1" descr="Editable text; source id solver_matrix_name2_1"/>
              <p:cNvSpPr txBox="1"/>
              <p:nvPr/>
            </p:nvSpPr>
            <p:spPr>
              <a:xfrm>
                <a:off x="2057525" y="430231"/>
                <a:ext cx="42454" cy="65178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480"/>
                  </a:lnSpc>
                  <a:spcBef>
                    <a:spcPts val="0"/>
                  </a:spcBef>
                  <a:spcAft>
                    <a:spcPts val="0"/>
                  </a:spcAft>
                  <a:def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18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grpSp>
          <p:nvGrpSpPr>
            <p:cNvPr id="232" name="per_step_budget" descr="Editable formula parts and native mathematical delimiters."/>
            <p:cNvGrpSpPr/>
            <p:nvPr/>
          </p:nvGrpSpPr>
          <p:grpSpPr>
            <a:xfrm>
              <a:off x="2487802" y="478447"/>
              <a:ext cx="358953" cy="125781"/>
              <a:chOff x="2487802" y="478447"/>
              <a:chExt cx="358953" cy="125781"/>
            </a:xfrm>
          </p:grpSpPr>
          <p:sp>
            <p:nvSpPr>
              <p:cNvPr id="67" name="per_step_budget_0" descr="Editable text; source id per_step_budget_0"/>
              <p:cNvSpPr txBox="1"/>
              <p:nvPr/>
            </p:nvSpPr>
            <p:spPr>
              <a:xfrm>
                <a:off x="2487802" y="478447"/>
                <a:ext cx="50620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68" name="per_step_budget_1" descr="Editable text; source id per_step_budget_1"/>
              <p:cNvSpPr txBox="1"/>
              <p:nvPr/>
            </p:nvSpPr>
            <p:spPr>
              <a:xfrm>
                <a:off x="2534318" y="529507"/>
                <a:ext cx="34886" cy="747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69" name="per_step_budget_2" descr="Editable text; source id per_step_budget_2"/>
              <p:cNvSpPr txBox="1"/>
              <p:nvPr/>
            </p:nvSpPr>
            <p:spPr>
              <a:xfrm>
                <a:off x="2567892" y="478447"/>
                <a:ext cx="103292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 = </a:t>
                </a:r>
              </a:p>
            </p:txBody>
          </p:sp>
          <p:sp>
            <p:nvSpPr>
              <p:cNvPr id="70" name="per_step_budget_3" descr="Editable text; source id per_step_budget_3"/>
              <p:cNvSpPr txBox="1"/>
              <p:nvPr/>
            </p:nvSpPr>
            <p:spPr>
              <a:xfrm>
                <a:off x="2669871" y="478447"/>
                <a:ext cx="60934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71" name="per_step_budget_4" descr="Editable text; source id per_step_budget_4"/>
              <p:cNvSpPr txBox="1"/>
              <p:nvPr/>
            </p:nvSpPr>
            <p:spPr>
              <a:xfrm>
                <a:off x="2726702" y="529507"/>
                <a:ext cx="34886" cy="747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72" name="per_step_budget_5" descr="Editable text; source id per_step_budget_5"/>
              <p:cNvSpPr txBox="1"/>
              <p:nvPr/>
            </p:nvSpPr>
            <p:spPr>
              <a:xfrm>
                <a:off x="2755487" y="478447"/>
                <a:ext cx="91268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6156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/L</a:t>
                </a:r>
              </a:p>
            </p:txBody>
          </p:sp>
        </p:grpSp>
        <p:grpSp>
          <p:nvGrpSpPr>
            <p:cNvPr id="233" name="hard_support" descr="Editable formula parts and native mathematical delimiters."/>
            <p:cNvGrpSpPr/>
            <p:nvPr/>
          </p:nvGrpSpPr>
          <p:grpSpPr>
            <a:xfrm>
              <a:off x="3169813" y="478447"/>
              <a:ext cx="256576" cy="125781"/>
              <a:chOff x="3169813" y="478447"/>
              <a:chExt cx="256576" cy="125781"/>
            </a:xfrm>
          </p:grpSpPr>
          <p:sp>
            <p:nvSpPr>
              <p:cNvPr id="73" name="hard_support_0" descr="Editable text; source id hard_support_0"/>
              <p:cNvSpPr txBox="1"/>
              <p:nvPr/>
            </p:nvSpPr>
            <p:spPr>
              <a:xfrm>
                <a:off x="3169813" y="478447"/>
                <a:ext cx="63617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2052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74" name="hard_support_1" descr="Editable text; source id hard_support_1"/>
              <p:cNvSpPr txBox="1"/>
              <p:nvPr/>
            </p:nvSpPr>
            <p:spPr>
              <a:xfrm>
                <a:off x="3229326" y="529507"/>
                <a:ext cx="48568" cy="747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H</a:t>
                </a:r>
              </a:p>
            </p:txBody>
          </p:sp>
          <p:sp>
            <p:nvSpPr>
              <p:cNvPr id="75" name="hard_support_2" descr="Editable text; source id hard_support_2"/>
              <p:cNvSpPr txBox="1"/>
              <p:nvPr/>
            </p:nvSpPr>
            <p:spPr>
              <a:xfrm>
                <a:off x="3276581" y="478447"/>
                <a:ext cx="149808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= 0</a:t>
                </a:r>
              </a:p>
            </p:txBody>
          </p:sp>
        </p:grpSp>
        <p:cxnSp>
          <p:nvCxnSpPr>
            <p:cNvPr id="76" name="solver_rule" descr="Editable line; source id solver_rule"/>
            <p:cNvCxnSpPr/>
            <p:nvPr/>
          </p:nvCxnSpPr>
          <p:spPr>
            <a:xfrm>
              <a:off x="1214551" y="671398"/>
              <a:ext cx="2373783" cy="0"/>
            </a:xfrm>
            <a:prstGeom prst="line">
              <a:avLst/>
            </a:prstGeom>
            <a:ln w="3268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6" name="objective" descr="Editable formula parts and native mathematical delimiters."/>
            <p:cNvGrpSpPr/>
            <p:nvPr/>
          </p:nvGrpSpPr>
          <p:grpSpPr>
            <a:xfrm>
              <a:off x="1404810" y="742480"/>
              <a:ext cx="1026236" cy="125781"/>
              <a:chOff x="1404810" y="742480"/>
              <a:chExt cx="1026236" cy="125781"/>
            </a:xfrm>
          </p:grpSpPr>
          <p:sp>
            <p:nvSpPr>
              <p:cNvPr id="77" name="objective_0" descr="Editable text; source id objective_0"/>
              <p:cNvSpPr txBox="1"/>
              <p:nvPr/>
            </p:nvSpPr>
            <p:spPr>
              <a:xfrm>
                <a:off x="1404810" y="742480"/>
                <a:ext cx="149124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min</a:t>
                </a:r>
              </a:p>
            </p:txBody>
          </p:sp>
          <p:sp>
            <p:nvSpPr>
              <p:cNvPr id="78" name="objective_1" descr="Editable text; source id objective_1"/>
              <p:cNvSpPr txBox="1"/>
              <p:nvPr/>
            </p:nvSpPr>
            <p:spPr>
              <a:xfrm>
                <a:off x="1549830" y="793540"/>
                <a:ext cx="38307" cy="747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79" name="objective_2" descr="Editable text; source id objective_2"/>
              <p:cNvSpPr txBox="1"/>
              <p:nvPr/>
            </p:nvSpPr>
            <p:spPr>
              <a:xfrm>
                <a:off x="1586824" y="742480"/>
                <a:ext cx="103292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80" name="objective_3" descr="Editable text; source id objective_3"/>
              <p:cNvSpPr txBox="1"/>
              <p:nvPr/>
            </p:nvSpPr>
            <p:spPr>
              <a:xfrm>
                <a:off x="1711244" y="742480"/>
                <a:ext cx="153229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684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A,F</a:t>
                </a:r>
              </a:p>
            </p:txBody>
          </p:sp>
          <p:sp>
            <p:nvSpPr>
              <p:cNvPr id="81" name="objective_4" descr="Editable text; source id objective_4"/>
              <p:cNvSpPr txBox="1"/>
              <p:nvPr/>
            </p:nvSpPr>
            <p:spPr>
              <a:xfrm>
                <a:off x="1891072" y="742480"/>
                <a:ext cx="398197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+ ε KL(F </a:t>
                </a:r>
              </a:p>
            </p:txBody>
          </p:sp>
          <p:sp>
            <p:nvSpPr>
              <p:cNvPr id="82" name="objective_5" descr="Editable text; source id objective_5"/>
              <p:cNvSpPr txBox="1"/>
              <p:nvPr/>
            </p:nvSpPr>
            <p:spPr>
              <a:xfrm>
                <a:off x="2315868" y="742480"/>
                <a:ext cx="115178" cy="1111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F̂)</a:t>
                </a:r>
              </a:p>
            </p:txBody>
          </p:sp>
          <p:grpSp>
            <p:nvGrpSpPr>
              <p:cNvPr id="234" name="objective_angle_0" descr="One editable routed connector; fixed endpoints."/>
              <p:cNvGrpSpPr/>
              <p:nvPr/>
            </p:nvGrpSpPr>
            <p:grpSpPr>
              <a:xfrm>
                <a:off x="1695754" y="760314"/>
                <a:ext cx="14887" cy="74432"/>
                <a:chOff x="1695754" y="760314"/>
                <a:chExt cx="14887" cy="74432"/>
              </a:xfrm>
            </p:grpSpPr>
            <p:cxnSp>
              <p:nvCxnSpPr>
                <p:cNvPr id="83" name="objective_angle_0_0" descr="Editable line; source id objective_angle_0_0"/>
                <p:cNvCxnSpPr/>
                <p:nvPr/>
              </p:nvCxnSpPr>
              <p:spPr>
                <a:xfrm flipH="1">
                  <a:off x="1695754" y="760314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objective_angle_0_1" descr="Editable line; source id objective_angle_0_1"/>
                <p:cNvCxnSpPr/>
                <p:nvPr/>
              </p:nvCxnSpPr>
              <p:spPr>
                <a:xfrm>
                  <a:off x="1695754" y="797530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objective_angle_1" descr="One editable routed connector; fixed endpoints."/>
              <p:cNvGrpSpPr/>
              <p:nvPr/>
            </p:nvGrpSpPr>
            <p:grpSpPr>
              <a:xfrm>
                <a:off x="1870110" y="760314"/>
                <a:ext cx="14886" cy="74432"/>
                <a:chOff x="1870110" y="760314"/>
                <a:chExt cx="14886" cy="74432"/>
              </a:xfrm>
            </p:grpSpPr>
            <p:cxnSp>
              <p:nvCxnSpPr>
                <p:cNvPr id="85" name="objective_angle_1_0" descr="Editable line; source id objective_angle_1_0"/>
                <p:cNvCxnSpPr/>
                <p:nvPr/>
              </p:nvCxnSpPr>
              <p:spPr>
                <a:xfrm>
                  <a:off x="1870110" y="760314"/>
                  <a:ext cx="14886" cy="37216"/>
                </a:xfrm>
                <a:prstGeom prst="line">
                  <a:avLst/>
                </a:prstGeom>
                <a:ln w="3721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objective_angle_1_1" descr="Editable line; source id objective_angle_1_1"/>
                <p:cNvCxnSpPr/>
                <p:nvPr/>
              </p:nvCxnSpPr>
              <p:spPr>
                <a:xfrm flipH="1">
                  <a:off x="1870110" y="797530"/>
                  <a:ext cx="14886" cy="37216"/>
                </a:xfrm>
                <a:prstGeom prst="line">
                  <a:avLst/>
                </a:prstGeom>
                <a:ln w="3721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objective_parallel_2_0" descr="Editable line; source id objective_parallel_2_0"/>
              <p:cNvCxnSpPr/>
              <p:nvPr/>
            </p:nvCxnSpPr>
            <p:spPr>
              <a:xfrm>
                <a:off x="2296767" y="760314"/>
                <a:ext cx="0" cy="74432"/>
              </a:xfrm>
              <a:prstGeom prst="line">
                <a:avLst/>
              </a:prstGeom>
              <a:ln w="3721" cap="rnd">
                <a:solidFill>
                  <a:srgbClr val="29343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objective_parallel_2_1" descr="Editable line; source id objective_parallel_2_1"/>
              <p:cNvCxnSpPr/>
              <p:nvPr/>
            </p:nvCxnSpPr>
            <p:spPr>
              <a:xfrm>
                <a:off x="2309792" y="760314"/>
                <a:ext cx="0" cy="74432"/>
              </a:xfrm>
              <a:prstGeom prst="line">
                <a:avLst/>
              </a:prstGeom>
              <a:ln w="3721" cap="rnd">
                <a:solidFill>
                  <a:srgbClr val="29343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solver_balance" descr="Editable text; source id solver_balance"/>
            <p:cNvSpPr txBox="1"/>
            <p:nvPr/>
          </p:nvSpPr>
          <p:spPr>
            <a:xfrm>
              <a:off x="1275635" y="907297"/>
              <a:ext cx="494574" cy="114566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74"/>
                </a:lnSpc>
                <a:spcBef>
                  <a:spcPts val="0"/>
                </a:spcBef>
                <a:spcAft>
                  <a:spcPts val="0"/>
                </a:spcAft>
                <a:def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flow balance</a:t>
              </a:r>
            </a:p>
          </p:txBody>
        </p:sp>
        <p:grpSp>
          <p:nvGrpSpPr>
            <p:cNvPr id="239" name="solver_constraint" descr="Editable formula parts and native mathematical delimiters."/>
            <p:cNvGrpSpPr/>
            <p:nvPr/>
          </p:nvGrpSpPr>
          <p:grpSpPr>
            <a:xfrm>
              <a:off x="1967641" y="910717"/>
              <a:ext cx="390175" cy="118705"/>
              <a:chOff x="1967641" y="910717"/>
              <a:chExt cx="390175" cy="118705"/>
            </a:xfrm>
          </p:grpSpPr>
          <p:sp>
            <p:nvSpPr>
              <p:cNvPr id="90" name="solver_constraint_0" descr="Editable text; source id solver_constraint_0"/>
              <p:cNvSpPr txBox="1"/>
              <p:nvPr/>
            </p:nvSpPr>
            <p:spPr>
              <a:xfrm>
                <a:off x="1987396" y="910717"/>
                <a:ext cx="64301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91" name="solver_constraint_1" descr="Editable text; source id solver_constraint_1"/>
              <p:cNvSpPr txBox="1"/>
              <p:nvPr/>
            </p:nvSpPr>
            <p:spPr>
              <a:xfrm>
                <a:off x="2047593" y="958518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92" name="solver_constraint_2" descr="Editable text; source id solver_constraint_2"/>
              <p:cNvSpPr txBox="1"/>
              <p:nvPr/>
            </p:nvSpPr>
            <p:spPr>
              <a:xfrm>
                <a:off x="2079648" y="910717"/>
                <a:ext cx="80718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,F</a:t>
                </a:r>
              </a:p>
            </p:txBody>
          </p:sp>
          <p:sp>
            <p:nvSpPr>
              <p:cNvPr id="93" name="solver_constraint_3" descr="Editable text; source id solver_constraint_3"/>
              <p:cNvSpPr txBox="1"/>
              <p:nvPr/>
            </p:nvSpPr>
            <p:spPr>
              <a:xfrm>
                <a:off x="2185306" y="910717"/>
                <a:ext cx="96452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≤ </a:t>
                </a:r>
              </a:p>
            </p:txBody>
          </p:sp>
          <p:sp>
            <p:nvSpPr>
              <p:cNvPr id="94" name="solver_constraint_4" descr="Editable text; source id solver_constraint_4"/>
              <p:cNvSpPr txBox="1"/>
              <p:nvPr/>
            </p:nvSpPr>
            <p:spPr>
              <a:xfrm>
                <a:off x="2280294" y="910717"/>
                <a:ext cx="48108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95" name="solver_constraint_5" descr="Editable text; source id solver_constraint_5"/>
              <p:cNvSpPr txBox="1"/>
              <p:nvPr/>
            </p:nvSpPr>
            <p:spPr>
              <a:xfrm>
                <a:off x="2324298" y="958518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grpSp>
            <p:nvGrpSpPr>
              <p:cNvPr id="237" name="solver_constraint_angle_0" descr="One editable routed connector; fixed endpoints."/>
              <p:cNvGrpSpPr/>
              <p:nvPr/>
            </p:nvGrpSpPr>
            <p:grpSpPr>
              <a:xfrm>
                <a:off x="1967641" y="927384"/>
                <a:ext cx="14082" cy="70409"/>
                <a:chOff x="1967641" y="927384"/>
                <a:chExt cx="14082" cy="70409"/>
              </a:xfrm>
            </p:grpSpPr>
            <p:cxnSp>
              <p:nvCxnSpPr>
                <p:cNvPr id="96" name="solver_constraint_angle_0_0" descr="Editable line; source id solver_constraint_angle_0_0"/>
                <p:cNvCxnSpPr/>
                <p:nvPr/>
              </p:nvCxnSpPr>
              <p:spPr>
                <a:xfrm flipH="1">
                  <a:off x="1967641" y="927384"/>
                  <a:ext cx="14082" cy="35204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olver_constraint_angle_0_1" descr="Editable line; source id solver_constraint_angle_0_1"/>
                <p:cNvCxnSpPr/>
                <p:nvPr/>
              </p:nvCxnSpPr>
              <p:spPr>
                <a:xfrm>
                  <a:off x="1967641" y="962588"/>
                  <a:ext cx="14082" cy="35205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solver_constraint_angle_1" descr="One editable routed connector; fixed endpoints."/>
              <p:cNvGrpSpPr/>
              <p:nvPr/>
            </p:nvGrpSpPr>
            <p:grpSpPr>
              <a:xfrm>
                <a:off x="2165551" y="927384"/>
                <a:ext cx="14082" cy="70409"/>
                <a:chOff x="2165551" y="927384"/>
                <a:chExt cx="14082" cy="70409"/>
              </a:xfrm>
            </p:grpSpPr>
            <p:cxnSp>
              <p:nvCxnSpPr>
                <p:cNvPr id="98" name="solver_constraint_angle_1_0" descr="Editable line; source id solver_constraint_angle_1_0"/>
                <p:cNvCxnSpPr/>
                <p:nvPr/>
              </p:nvCxnSpPr>
              <p:spPr>
                <a:xfrm>
                  <a:off x="2165551" y="927384"/>
                  <a:ext cx="14082" cy="35204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olver_constraint_angle_1_1" descr="Editable line; source id solver_constraint_angle_1_1"/>
                <p:cNvCxnSpPr/>
                <p:nvPr/>
              </p:nvCxnSpPr>
              <p:spPr>
                <a:xfrm flipH="1">
                  <a:off x="2165551" y="962588"/>
                  <a:ext cx="14082" cy="35205"/>
                </a:xfrm>
                <a:prstGeom prst="line">
                  <a:avLst/>
                </a:prstGeom>
                <a:ln w="3520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40" name="newton_step" descr="newton step"/>
            <p:cNvGrpSpPr/>
            <p:nvPr/>
          </p:nvGrpSpPr>
          <p:grpSpPr>
            <a:xfrm>
              <a:off x="2640330" y="787069"/>
              <a:ext cx="397306" cy="228828"/>
              <a:chOff x="2640330" y="787069"/>
              <a:chExt cx="397306" cy="228828"/>
            </a:xfrm>
          </p:grpSpPr>
          <p:sp>
            <p:nvSpPr>
              <p:cNvPr id="100" name="newton_step_panel" descr="Editable shape; source id newton_step_panel"/>
              <p:cNvSpPr/>
              <p:nvPr/>
            </p:nvSpPr>
            <p:spPr>
              <a:xfrm>
                <a:off x="2640330" y="787069"/>
                <a:ext cx="397306" cy="228828"/>
              </a:xfrm>
              <a:prstGeom prst="roundRect">
                <a:avLst>
                  <a:gd name="adj" fmla="val 8791"/>
                </a:avLst>
              </a:prstGeom>
              <a:solidFill>
                <a:srgbClr val="ECF5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newton_text" descr="Editable text; source id newton_text"/>
              <p:cNvSpPr txBox="1"/>
              <p:nvPr/>
            </p:nvSpPr>
            <p:spPr>
              <a:xfrm>
                <a:off x="2688490" y="791625"/>
                <a:ext cx="309194" cy="114566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Newton</a:t>
                </a:r>
              </a:p>
            </p:txBody>
          </p:sp>
          <p:sp>
            <p:nvSpPr>
              <p:cNvPr id="102" name="newton_u_0" descr="Editable text; source id newton_u_0"/>
              <p:cNvSpPr txBox="1"/>
              <p:nvPr/>
            </p:nvSpPr>
            <p:spPr>
              <a:xfrm>
                <a:off x="2771005" y="900196"/>
                <a:ext cx="134759" cy="10242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in u</a:t>
                </a:r>
              </a:p>
            </p:txBody>
          </p:sp>
        </p:grpSp>
        <p:grpSp>
          <p:nvGrpSpPr>
            <p:cNvPr id="241" name="bisection_step" descr="bisection step"/>
            <p:cNvGrpSpPr/>
            <p:nvPr/>
          </p:nvGrpSpPr>
          <p:grpSpPr>
            <a:xfrm>
              <a:off x="3158337" y="787069"/>
              <a:ext cx="412394" cy="228828"/>
              <a:chOff x="3158337" y="787069"/>
              <a:chExt cx="412394" cy="228828"/>
            </a:xfrm>
          </p:grpSpPr>
          <p:sp>
            <p:nvSpPr>
              <p:cNvPr id="103" name="bisection_step_panel" descr="Editable shape; source id bisection_step_panel"/>
              <p:cNvSpPr/>
              <p:nvPr/>
            </p:nvSpPr>
            <p:spPr>
              <a:xfrm>
                <a:off x="3158337" y="787069"/>
                <a:ext cx="412394" cy="228828"/>
              </a:xfrm>
              <a:prstGeom prst="roundRect">
                <a:avLst>
                  <a:gd name="adj" fmla="val 8791"/>
                </a:avLst>
              </a:prstGeom>
              <a:solidFill>
                <a:srgbClr val="ECF5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bisection_text" descr="Editable text; source id bisection_text"/>
              <p:cNvSpPr txBox="1"/>
              <p:nvPr/>
            </p:nvSpPr>
            <p:spPr>
              <a:xfrm>
                <a:off x="3185626" y="791625"/>
                <a:ext cx="366024" cy="114566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Bisection</a:t>
                </a:r>
              </a:p>
            </p:txBody>
          </p:sp>
          <p:sp>
            <p:nvSpPr>
              <p:cNvPr id="105" name="bisection_lambda_0" descr="Editable text; source id bisection_lambda_0"/>
              <p:cNvSpPr txBox="1"/>
              <p:nvPr/>
            </p:nvSpPr>
            <p:spPr>
              <a:xfrm>
                <a:off x="3299292" y="900196"/>
                <a:ext cx="129287" cy="10242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in λ</a:t>
                </a:r>
              </a:p>
            </p:txBody>
          </p:sp>
        </p:grpSp>
        <p:sp>
          <p:nvSpPr>
            <p:cNvPr id="106" name="alternating_forward" descr="Editable line; source id alternating_forward"/>
            <p:cNvSpPr/>
            <p:nvPr/>
          </p:nvSpPr>
          <p:spPr>
            <a:xfrm>
              <a:off x="3050210" y="853708"/>
              <a:ext cx="95555" cy="22631"/>
            </a:xfrm>
            <a:custGeom>
              <a:avLst/>
              <a:gdLst/>
              <a:ahLst/>
              <a:cxnLst/>
              <a:rect l="l" t="t" r="r" b="b"/>
              <a:pathLst>
                <a:path w="34922" h="8271">
                  <a:moveTo>
                    <a:pt x="0" y="3216"/>
                  </a:moveTo>
                  <a:lnTo>
                    <a:pt x="23894" y="3216"/>
                  </a:lnTo>
                  <a:lnTo>
                    <a:pt x="23894" y="0"/>
                  </a:lnTo>
                  <a:lnTo>
                    <a:pt x="34922" y="4135"/>
                  </a:lnTo>
                  <a:lnTo>
                    <a:pt x="23894" y="8271"/>
                  </a:lnTo>
                  <a:lnTo>
                    <a:pt x="23894" y="5054"/>
                  </a:lnTo>
                  <a:lnTo>
                    <a:pt x="0" y="5054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alternating_back" descr="Editable line; source id alternating_back"/>
            <p:cNvSpPr/>
            <p:nvPr/>
          </p:nvSpPr>
          <p:spPr>
            <a:xfrm>
              <a:off x="3050210" y="929146"/>
              <a:ext cx="95555" cy="22631"/>
            </a:xfrm>
            <a:custGeom>
              <a:avLst/>
              <a:gdLst/>
              <a:ahLst/>
              <a:cxnLst/>
              <a:rect l="l" t="t" r="r" b="b"/>
              <a:pathLst>
                <a:path w="34922" h="8271">
                  <a:moveTo>
                    <a:pt x="34922" y="5054"/>
                  </a:moveTo>
                  <a:lnTo>
                    <a:pt x="11028" y="5054"/>
                  </a:lnTo>
                  <a:lnTo>
                    <a:pt x="11028" y="8271"/>
                  </a:lnTo>
                  <a:lnTo>
                    <a:pt x="0" y="4135"/>
                  </a:lnTo>
                  <a:lnTo>
                    <a:pt x="11028" y="0"/>
                  </a:lnTo>
                  <a:lnTo>
                    <a:pt x="11028" y="3216"/>
                  </a:lnTo>
                  <a:lnTo>
                    <a:pt x="34922" y="3216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olver_method" descr="Editable text; source id solver_method"/>
            <p:cNvSpPr txBox="1"/>
            <p:nvPr/>
          </p:nvSpPr>
          <p:spPr>
            <a:xfrm>
              <a:off x="2898822" y="678227"/>
              <a:ext cx="421626" cy="108632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Dual solver</a:t>
              </a:r>
            </a:p>
          </p:txBody>
        </p:sp>
      </p:grpSp>
      <p:grpSp>
        <p:nvGrpSpPr>
          <p:cNvPr id="247" name="filter" descr="filter"/>
          <p:cNvGrpSpPr/>
          <p:nvPr/>
        </p:nvGrpSpPr>
        <p:grpSpPr>
          <a:xfrm>
            <a:off x="3812133" y="236372"/>
            <a:ext cx="1131570" cy="852449"/>
            <a:chOff x="3812133" y="236372"/>
            <a:chExt cx="1131570" cy="852449"/>
          </a:xfrm>
        </p:grpSpPr>
        <p:sp>
          <p:nvSpPr>
            <p:cNvPr id="109" name="filter_panel" descr="Editable shape; source id filter_panel"/>
            <p:cNvSpPr/>
            <p:nvPr/>
          </p:nvSpPr>
          <p:spPr>
            <a:xfrm>
              <a:off x="3812133" y="236372"/>
              <a:ext cx="1131570" cy="852449"/>
            </a:xfrm>
            <a:prstGeom prst="roundRect">
              <a:avLst>
                <a:gd name="adj" fmla="val 2359"/>
              </a:avLst>
            </a:prstGeom>
            <a:solidFill>
              <a:srgbClr val="FFFFFF"/>
            </a:solidFill>
            <a:ln w="4023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filter_title" descr="Editable text; source id filter_title"/>
            <p:cNvSpPr txBox="1"/>
            <p:nvPr/>
          </p:nvSpPr>
          <p:spPr>
            <a:xfrm>
              <a:off x="4124132" y="257181"/>
              <a:ext cx="515780" cy="126435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Clip + filter</a:t>
              </a:r>
            </a:p>
          </p:txBody>
        </p:sp>
        <p:grpSp>
          <p:nvGrpSpPr>
            <p:cNvPr id="243" name="filter_rule1" descr="Editable formula parts and native mathematical delimiters."/>
            <p:cNvGrpSpPr/>
            <p:nvPr/>
          </p:nvGrpSpPr>
          <p:grpSpPr>
            <a:xfrm>
              <a:off x="4084881" y="413996"/>
              <a:ext cx="581839" cy="131128"/>
              <a:chOff x="4084881" y="413996"/>
              <a:chExt cx="581839" cy="131128"/>
            </a:xfrm>
          </p:grpSpPr>
          <p:sp>
            <p:nvSpPr>
              <p:cNvPr id="111" name="filter_rule1_0" descr="Editable text; source id filter_rule1_0"/>
              <p:cNvSpPr txBox="1"/>
              <p:nvPr/>
            </p:nvSpPr>
            <p:spPr>
              <a:xfrm>
                <a:off x="4084881" y="431132"/>
                <a:ext cx="75246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12" name="filter_rule1_1" descr="Editable text; source id filter_rule1_1"/>
              <p:cNvSpPr txBox="1"/>
              <p:nvPr/>
            </p:nvSpPr>
            <p:spPr>
              <a:xfrm>
                <a:off x="4156023" y="413996"/>
                <a:ext cx="35635" cy="7663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113" name="filter_rule1_2" descr="Editable text; source id filter_rule1_2"/>
              <p:cNvSpPr txBox="1"/>
              <p:nvPr/>
            </p:nvSpPr>
            <p:spPr>
              <a:xfrm>
                <a:off x="4190421" y="431132"/>
                <a:ext cx="373496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← (1−α)</a:t>
                </a:r>
              </a:p>
            </p:txBody>
          </p:sp>
          <p:sp>
            <p:nvSpPr>
              <p:cNvPr id="114" name="filter_rule1_3" descr="Editable text; source id filter_rule1_3"/>
              <p:cNvSpPr txBox="1"/>
              <p:nvPr/>
            </p:nvSpPr>
            <p:spPr>
              <a:xfrm>
                <a:off x="4559943" y="431132"/>
                <a:ext cx="75246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15" name="filter_rule1_4" descr="Editable text; source id filter_rule1_4"/>
              <p:cNvSpPr txBox="1"/>
              <p:nvPr/>
            </p:nvSpPr>
            <p:spPr>
              <a:xfrm>
                <a:off x="4631085" y="413996"/>
                <a:ext cx="35635" cy="7663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grpSp>
          <p:nvGrpSpPr>
            <p:cNvPr id="244" name="filter_rule2" descr="Editable formula parts and native mathematical delimiters."/>
            <p:cNvGrpSpPr/>
            <p:nvPr/>
          </p:nvGrpSpPr>
          <p:grpSpPr>
            <a:xfrm>
              <a:off x="4078003" y="529667"/>
              <a:ext cx="598331" cy="131128"/>
              <a:chOff x="4078003" y="529667"/>
              <a:chExt cx="598331" cy="131128"/>
            </a:xfrm>
          </p:grpSpPr>
          <p:sp>
            <p:nvSpPr>
              <p:cNvPr id="116" name="filter_rule2_0" descr="Editable text; source id filter_rule2_0"/>
              <p:cNvSpPr txBox="1"/>
              <p:nvPr/>
            </p:nvSpPr>
            <p:spPr>
              <a:xfrm>
                <a:off x="4078003" y="546803"/>
                <a:ext cx="346817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+ α clip(</a:t>
                </a:r>
              </a:p>
            </p:txBody>
          </p:sp>
          <p:sp>
            <p:nvSpPr>
              <p:cNvPr id="117" name="filter_rule2_1" descr="Editable text; source id filter_rule2_1"/>
              <p:cNvSpPr txBox="1"/>
              <p:nvPr/>
            </p:nvSpPr>
            <p:spPr>
              <a:xfrm>
                <a:off x="4420847" y="546803"/>
                <a:ext cx="51304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18" name="filter_rule2_2" descr="Editable text; source id filter_rule2_2"/>
              <p:cNvSpPr txBox="1"/>
              <p:nvPr/>
            </p:nvSpPr>
            <p:spPr>
              <a:xfrm>
                <a:off x="4468047" y="529667"/>
                <a:ext cx="35635" cy="7663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119" name="filter_rule2_3" descr="Editable text; source id filter_rule2_3"/>
              <p:cNvSpPr txBox="1"/>
              <p:nvPr/>
            </p:nvSpPr>
            <p:spPr>
              <a:xfrm>
                <a:off x="4502445" y="546803"/>
                <a:ext cx="173889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,0,c)</a:t>
                </a:r>
              </a:p>
            </p:txBody>
          </p:sp>
        </p:grpSp>
        <p:sp>
          <p:nvSpPr>
            <p:cNvPr id="120" name="clip_x" descr="Editable line; source id clip_x"/>
            <p:cNvSpPr/>
            <p:nvPr/>
          </p:nvSpPr>
          <p:spPr>
            <a:xfrm>
              <a:off x="4073652" y="949260"/>
              <a:ext cx="711632" cy="22634"/>
            </a:xfrm>
            <a:custGeom>
              <a:avLst/>
              <a:gdLst/>
              <a:ahLst/>
              <a:cxnLst/>
              <a:rect l="l" t="t" r="r" b="b"/>
              <a:pathLst>
                <a:path w="260077" h="8272">
                  <a:moveTo>
                    <a:pt x="0" y="3401"/>
                  </a:moveTo>
                  <a:lnTo>
                    <a:pt x="249049" y="3401"/>
                  </a:lnTo>
                  <a:lnTo>
                    <a:pt x="249049" y="0"/>
                  </a:lnTo>
                  <a:lnTo>
                    <a:pt x="260077" y="4136"/>
                  </a:lnTo>
                  <a:lnTo>
                    <a:pt x="249049" y="8272"/>
                  </a:lnTo>
                  <a:lnTo>
                    <a:pt x="249049" y="4871"/>
                  </a:lnTo>
                  <a:lnTo>
                    <a:pt x="0" y="4871"/>
                  </a:lnTo>
                  <a:close/>
                </a:path>
              </a:pathLst>
            </a:custGeom>
            <a:solidFill>
              <a:srgbClr val="77858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clip_y" descr="Editable line; source id clip_y"/>
            <p:cNvSpPr/>
            <p:nvPr/>
          </p:nvSpPr>
          <p:spPr>
            <a:xfrm>
              <a:off x="4057306" y="724205"/>
              <a:ext cx="22634" cy="236372"/>
            </a:xfrm>
            <a:custGeom>
              <a:avLst/>
              <a:gdLst/>
              <a:ahLst/>
              <a:cxnLst/>
              <a:rect l="l" t="t" r="r" b="b"/>
              <a:pathLst>
                <a:path w="8272" h="86386">
                  <a:moveTo>
                    <a:pt x="3401" y="86386"/>
                  </a:moveTo>
                  <a:lnTo>
                    <a:pt x="3401" y="11028"/>
                  </a:lnTo>
                  <a:lnTo>
                    <a:pt x="0" y="11028"/>
                  </a:lnTo>
                  <a:lnTo>
                    <a:pt x="4136" y="0"/>
                  </a:lnTo>
                  <a:lnTo>
                    <a:pt x="8272" y="11028"/>
                  </a:lnTo>
                  <a:lnTo>
                    <a:pt x="4871" y="11028"/>
                  </a:lnTo>
                  <a:lnTo>
                    <a:pt x="4871" y="86386"/>
                  </a:lnTo>
                  <a:close/>
                </a:path>
              </a:pathLst>
            </a:custGeom>
            <a:solidFill>
              <a:srgbClr val="77858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45" name="clipping" descr="One editable routed connector; fixed endpoints."/>
            <p:cNvGrpSpPr/>
            <p:nvPr/>
          </p:nvGrpSpPr>
          <p:grpSpPr>
            <a:xfrm>
              <a:off x="4083710" y="782040"/>
              <a:ext cx="618592" cy="170993"/>
              <a:chOff x="4083710" y="782040"/>
              <a:chExt cx="618592" cy="170993"/>
            </a:xfrm>
          </p:grpSpPr>
          <p:cxnSp>
            <p:nvCxnSpPr>
              <p:cNvPr id="122" name="clipping_0" descr="Editable line; source id clipping_0"/>
              <p:cNvCxnSpPr/>
              <p:nvPr/>
            </p:nvCxnSpPr>
            <p:spPr>
              <a:xfrm flipV="1">
                <a:off x="4083710" y="782040"/>
                <a:ext cx="414909" cy="170993"/>
              </a:xfrm>
              <a:prstGeom prst="line">
                <a:avLst/>
              </a:prstGeom>
              <a:ln w="7040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lipping_1" descr="Editable line; source id clipping_1"/>
              <p:cNvCxnSpPr/>
              <p:nvPr/>
            </p:nvCxnSpPr>
            <p:spPr>
              <a:xfrm>
                <a:off x="4498619" y="782040"/>
                <a:ext cx="203683" cy="0"/>
              </a:xfrm>
              <a:prstGeom prst="line">
                <a:avLst/>
              </a:prstGeom>
              <a:ln w="7040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4" name="cap_0" descr="Editable text; source id cap_0"/>
            <p:cNvSpPr txBox="1"/>
            <p:nvPr/>
          </p:nvSpPr>
          <p:spPr>
            <a:xfrm>
              <a:off x="3951985" y="733770"/>
              <a:ext cx="41043" cy="99533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  <p:grpSp>
          <p:nvGrpSpPr>
            <p:cNvPr id="246" name="clip_input" descr="Editable formula parts and native mathematical delimiters."/>
            <p:cNvGrpSpPr/>
            <p:nvPr/>
          </p:nvGrpSpPr>
          <p:grpSpPr>
            <a:xfrm>
              <a:off x="4702510" y="965680"/>
              <a:ext cx="71847" cy="114054"/>
              <a:chOff x="4702510" y="965680"/>
              <a:chExt cx="71847" cy="114054"/>
            </a:xfrm>
          </p:grpSpPr>
          <p:sp>
            <p:nvSpPr>
              <p:cNvPr id="125" name="clip_input_0" descr="Editable text; source id clip_input_0"/>
              <p:cNvSpPr txBox="1"/>
              <p:nvPr/>
            </p:nvSpPr>
            <p:spPr>
              <a:xfrm>
                <a:off x="4702510" y="980201"/>
                <a:ext cx="44463" cy="99533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3420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53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26" name="clip_input_1" descr="Editable text; source id clip_input_1"/>
              <p:cNvSpPr txBox="1"/>
              <p:nvPr/>
            </p:nvSpPr>
            <p:spPr>
              <a:xfrm>
                <a:off x="4742869" y="965680"/>
                <a:ext cx="31488" cy="6708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495"/>
                  </a:lnSpc>
                  <a:spcBef>
                    <a:spcPts val="0"/>
                  </a:spcBef>
                  <a:spcAft>
                    <a:spcPts val="0"/>
                  </a:spcAft>
                  <a:defRPr sz="43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3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</p:grpSp>
      <p:sp>
        <p:nvSpPr>
          <p:cNvPr id="127" name="graph_to_solver" descr="Editable line; source id graph_to_solver"/>
          <p:cNvSpPr/>
          <p:nvPr/>
        </p:nvSpPr>
        <p:spPr>
          <a:xfrm>
            <a:off x="1015898" y="702832"/>
            <a:ext cx="125730" cy="22631"/>
          </a:xfrm>
          <a:custGeom>
            <a:avLst/>
            <a:gdLst/>
            <a:ahLst/>
            <a:cxnLst/>
            <a:rect l="l" t="t" r="r" b="b"/>
            <a:pathLst>
              <a:path w="45950" h="8271">
                <a:moveTo>
                  <a:pt x="0" y="3078"/>
                </a:moveTo>
                <a:lnTo>
                  <a:pt x="34922" y="3078"/>
                </a:lnTo>
                <a:lnTo>
                  <a:pt x="34922" y="0"/>
                </a:lnTo>
                <a:lnTo>
                  <a:pt x="45950" y="4135"/>
                </a:lnTo>
                <a:lnTo>
                  <a:pt x="34922" y="8271"/>
                </a:lnTo>
                <a:lnTo>
                  <a:pt x="34922" y="5192"/>
                </a:lnTo>
                <a:lnTo>
                  <a:pt x="0" y="5192"/>
                </a:lnTo>
                <a:close/>
              </a:path>
            </a:pathLst>
          </a:custGeom>
          <a:solidFill>
            <a:srgbClr val="53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solver_to_filter" descr="Editable line; source id solver_to_filter"/>
          <p:cNvSpPr/>
          <p:nvPr/>
        </p:nvSpPr>
        <p:spPr>
          <a:xfrm>
            <a:off x="3661258" y="702832"/>
            <a:ext cx="135788" cy="22631"/>
          </a:xfrm>
          <a:custGeom>
            <a:avLst/>
            <a:gdLst/>
            <a:ahLst/>
            <a:cxnLst/>
            <a:rect l="l" t="t" r="r" b="b"/>
            <a:pathLst>
              <a:path w="49626" h="8271">
                <a:moveTo>
                  <a:pt x="0" y="2986"/>
                </a:moveTo>
                <a:lnTo>
                  <a:pt x="38598" y="2986"/>
                </a:lnTo>
                <a:lnTo>
                  <a:pt x="38598" y="0"/>
                </a:lnTo>
                <a:lnTo>
                  <a:pt x="49626" y="4135"/>
                </a:lnTo>
                <a:lnTo>
                  <a:pt x="38598" y="8271"/>
                </a:lnTo>
                <a:lnTo>
                  <a:pt x="38598" y="5284"/>
                </a:lnTo>
                <a:lnTo>
                  <a:pt x="0" y="5284"/>
                </a:lnTo>
                <a:close/>
              </a:path>
            </a:pathLst>
          </a:custGeom>
          <a:solidFill>
            <a:srgbClr val="007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48" name="solver_price" descr="Editable formula parts and native mathematical delimiters."/>
          <p:cNvGrpSpPr/>
          <p:nvPr/>
        </p:nvGrpSpPr>
        <p:grpSpPr>
          <a:xfrm>
            <a:off x="3688685" y="558194"/>
            <a:ext cx="76924" cy="120884"/>
            <a:chOff x="3688685" y="558194"/>
            <a:chExt cx="76924" cy="120884"/>
          </a:xfrm>
        </p:grpSpPr>
        <p:sp>
          <p:nvSpPr>
            <p:cNvPr id="129" name="solver_price_0" descr="Editable text; source id solver_price_0"/>
            <p:cNvSpPr txBox="1"/>
            <p:nvPr/>
          </p:nvSpPr>
          <p:spPr>
            <a:xfrm>
              <a:off x="3688685" y="573761"/>
              <a:ext cx="47884" cy="105317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4104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1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1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rPr>
                <a:t>λ</a:t>
              </a:r>
            </a:p>
          </p:txBody>
        </p:sp>
        <p:sp>
          <p:nvSpPr>
            <p:cNvPr id="130" name="solver_price_1" descr="Editable text; source id solver_price_1"/>
            <p:cNvSpPr txBox="1"/>
            <p:nvPr/>
          </p:nvSpPr>
          <p:spPr>
            <a:xfrm>
              <a:off x="3732465" y="558194"/>
              <a:ext cx="33144" cy="70904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25"/>
                </a:lnSpc>
                <a:spcBef>
                  <a:spcPts val="0"/>
                </a:spcBef>
                <a:spcAft>
                  <a:spcPts val="0"/>
                </a:spcAft>
                <a:defRPr sz="457" b="0" i="0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57" b="0" i="0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rPr>
                <a:t>*</a:t>
              </a:r>
            </a:p>
          </p:txBody>
        </p:sp>
      </p:grpSp>
      <p:sp>
        <p:nvSpPr>
          <p:cNvPr id="131" name="policy_space" descr="Editable text; source id policy_space"/>
          <p:cNvSpPr txBox="1"/>
          <p:nvPr/>
        </p:nvSpPr>
        <p:spPr>
          <a:xfrm>
            <a:off x="74994" y="1217758"/>
            <a:ext cx="598134" cy="126435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Policy space</a:t>
            </a:r>
          </a:p>
        </p:txBody>
      </p:sp>
      <p:cxnSp>
        <p:nvCxnSpPr>
          <p:cNvPr id="132" name="policy_rule_a" descr="Editable line; source id policy_rule_a"/>
          <p:cNvCxnSpPr/>
          <p:nvPr/>
        </p:nvCxnSpPr>
        <p:spPr>
          <a:xfrm>
            <a:off x="731748" y="1282445"/>
            <a:ext cx="334442" cy="0"/>
          </a:xfrm>
          <a:prstGeom prst="line">
            <a:avLst/>
          </a:prstGeom>
          <a:ln w="3771" cap="rnd">
            <a:solidFill>
              <a:srgbClr val="CDD7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policy_rule_b" descr="Editable line; source id policy_rule_b"/>
          <p:cNvCxnSpPr/>
          <p:nvPr/>
        </p:nvCxnSpPr>
        <p:spPr>
          <a:xfrm>
            <a:off x="1116482" y="1282445"/>
            <a:ext cx="3236290" cy="0"/>
          </a:xfrm>
          <a:prstGeom prst="line">
            <a:avLst/>
          </a:prstGeom>
          <a:ln w="3771" cap="rnd">
            <a:solidFill>
              <a:srgbClr val="CDD7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policy_rule_c" descr="Editable line; source id policy_rule_c"/>
          <p:cNvCxnSpPr/>
          <p:nvPr/>
        </p:nvCxnSpPr>
        <p:spPr>
          <a:xfrm>
            <a:off x="4403064" y="1282445"/>
            <a:ext cx="545668" cy="0"/>
          </a:xfrm>
          <a:prstGeom prst="line">
            <a:avLst/>
          </a:prstGeom>
          <a:ln w="3771" cap="rnd">
            <a:solidFill>
              <a:srgbClr val="CDD7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ransfer_note" descr="Editable text; source id transfer_note"/>
          <p:cNvSpPr txBox="1"/>
          <p:nvPr/>
        </p:nvSpPr>
        <p:spPr>
          <a:xfrm>
            <a:off x="1891395" y="1128582"/>
            <a:ext cx="1254617" cy="114566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774"/>
              </a:lnSpc>
              <a:spcBef>
                <a:spcPts val="0"/>
              </a:spcBef>
              <a:spcAft>
                <a:spcPts val="0"/>
              </a:spcAft>
              <a:defRPr sz="67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7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rPr>
              <a:t>Graph prices; rollout advantages</a:t>
            </a:r>
          </a:p>
        </p:txBody>
      </p:sp>
      <p:grpSp>
        <p:nvGrpSpPr>
          <p:cNvPr id="256" name="policy_rollout" descr="policy rollout"/>
          <p:cNvGrpSpPr/>
          <p:nvPr/>
        </p:nvGrpSpPr>
        <p:grpSpPr>
          <a:xfrm>
            <a:off x="85496" y="1423263"/>
            <a:ext cx="1096365" cy="590931"/>
            <a:chOff x="85496" y="1423263"/>
            <a:chExt cx="1096365" cy="590931"/>
          </a:xfrm>
        </p:grpSpPr>
        <p:sp>
          <p:nvSpPr>
            <p:cNvPr id="136" name="policy_rollout_panel" descr="Editable shape; source id policy_rollout_panel"/>
            <p:cNvSpPr/>
            <p:nvPr/>
          </p:nvSpPr>
          <p:spPr>
            <a:xfrm>
              <a:off x="85496" y="1423263"/>
              <a:ext cx="1096365" cy="590931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4023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llout_title" descr="Editable text; source id rollout_title"/>
            <p:cNvSpPr txBox="1"/>
            <p:nvPr/>
          </p:nvSpPr>
          <p:spPr>
            <a:xfrm>
              <a:off x="325510" y="1441558"/>
              <a:ext cx="624545" cy="126435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Policy rollout</a:t>
              </a:r>
            </a:p>
          </p:txBody>
        </p:sp>
        <p:sp>
          <p:nvSpPr>
            <p:cNvPr id="138" name="trajectory_edge0" descr="Editable line; source id trajectory_edge0"/>
            <p:cNvSpPr/>
            <p:nvPr/>
          </p:nvSpPr>
          <p:spPr>
            <a:xfrm>
              <a:off x="321869" y="1630719"/>
              <a:ext cx="123215" cy="22629"/>
            </a:xfrm>
            <a:custGeom>
              <a:avLst/>
              <a:gdLst/>
              <a:ahLst/>
              <a:cxnLst/>
              <a:rect l="l" t="t" r="r" b="b"/>
              <a:pathLst>
                <a:path w="45031" h="8270">
                  <a:moveTo>
                    <a:pt x="0" y="3216"/>
                  </a:moveTo>
                  <a:lnTo>
                    <a:pt x="34003" y="3216"/>
                  </a:lnTo>
                  <a:lnTo>
                    <a:pt x="34003" y="0"/>
                  </a:lnTo>
                  <a:lnTo>
                    <a:pt x="45031" y="4135"/>
                  </a:lnTo>
                  <a:lnTo>
                    <a:pt x="34003" y="8270"/>
                  </a:lnTo>
                  <a:lnTo>
                    <a:pt x="34003" y="5054"/>
                  </a:lnTo>
                  <a:lnTo>
                    <a:pt x="0" y="5054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50" name="state0" descr="state0"/>
            <p:cNvGrpSpPr/>
            <p:nvPr/>
          </p:nvGrpSpPr>
          <p:grpSpPr>
            <a:xfrm>
              <a:off x="208711" y="1586712"/>
              <a:ext cx="110642" cy="114562"/>
              <a:chOff x="208711" y="1586712"/>
              <a:chExt cx="110642" cy="114562"/>
            </a:xfrm>
          </p:grpSpPr>
          <p:sp>
            <p:nvSpPr>
              <p:cNvPr id="139" name="state0_panel" descr="Editable shape; source id state0_panel"/>
              <p:cNvSpPr/>
              <p:nvPr/>
            </p:nvSpPr>
            <p:spPr>
              <a:xfrm>
                <a:off x="208711" y="1586712"/>
                <a:ext cx="110642" cy="110642"/>
              </a:xfrm>
              <a:prstGeom prst="roundRect">
                <a:avLst>
                  <a:gd name="adj" fmla="val 18181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49" name="state_label0" descr="Editable formula parts and native mathematical delimiters."/>
              <p:cNvGrpSpPr/>
              <p:nvPr/>
            </p:nvGrpSpPr>
            <p:grpSpPr>
              <a:xfrm>
                <a:off x="233331" y="1596037"/>
                <a:ext cx="60432" cy="105237"/>
                <a:chOff x="233331" y="1596037"/>
                <a:chExt cx="60432" cy="105237"/>
              </a:xfrm>
            </p:grpSpPr>
            <p:sp>
              <p:nvSpPr>
                <p:cNvPr id="140" name="state_label0_0" descr="Editable text; source id state_label0_0"/>
                <p:cNvSpPr txBox="1"/>
                <p:nvPr/>
              </p:nvSpPr>
              <p:spPr>
                <a:xfrm>
                  <a:off x="233331" y="1596037"/>
                  <a:ext cx="34438" cy="9374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s</a:t>
                  </a:r>
                </a:p>
              </p:txBody>
            </p:sp>
            <p:sp>
              <p:nvSpPr>
                <p:cNvPr id="141" name="state_label0_1" descr="Editable text; source id state_label0_1"/>
                <p:cNvSpPr txBox="1"/>
                <p:nvPr/>
              </p:nvSpPr>
              <p:spPr>
                <a:xfrm>
                  <a:off x="263665" y="1638004"/>
                  <a:ext cx="30098" cy="6327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0</a:t>
                  </a:r>
                </a:p>
              </p:txBody>
            </p:sp>
          </p:grpSp>
        </p:grpSp>
        <p:sp>
          <p:nvSpPr>
            <p:cNvPr id="142" name="trajectory_edge1" descr="Editable line; source id trajectory_edge1"/>
            <p:cNvSpPr/>
            <p:nvPr/>
          </p:nvSpPr>
          <p:spPr>
            <a:xfrm>
              <a:off x="560756" y="1630719"/>
              <a:ext cx="123215" cy="22629"/>
            </a:xfrm>
            <a:custGeom>
              <a:avLst/>
              <a:gdLst/>
              <a:ahLst/>
              <a:cxnLst/>
              <a:rect l="l" t="t" r="r" b="b"/>
              <a:pathLst>
                <a:path w="45031" h="8270">
                  <a:moveTo>
                    <a:pt x="0" y="3216"/>
                  </a:moveTo>
                  <a:lnTo>
                    <a:pt x="34003" y="3216"/>
                  </a:lnTo>
                  <a:lnTo>
                    <a:pt x="34003" y="0"/>
                  </a:lnTo>
                  <a:lnTo>
                    <a:pt x="45031" y="4135"/>
                  </a:lnTo>
                  <a:lnTo>
                    <a:pt x="34003" y="8270"/>
                  </a:lnTo>
                  <a:lnTo>
                    <a:pt x="34003" y="5054"/>
                  </a:lnTo>
                  <a:lnTo>
                    <a:pt x="0" y="5054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52" name="state1" descr="state1"/>
            <p:cNvGrpSpPr/>
            <p:nvPr/>
          </p:nvGrpSpPr>
          <p:grpSpPr>
            <a:xfrm>
              <a:off x="447598" y="1586712"/>
              <a:ext cx="110642" cy="114562"/>
              <a:chOff x="447598" y="1586712"/>
              <a:chExt cx="110642" cy="114562"/>
            </a:xfrm>
          </p:grpSpPr>
          <p:sp>
            <p:nvSpPr>
              <p:cNvPr id="143" name="state1_panel" descr="Editable shape; source id state1_panel"/>
              <p:cNvSpPr/>
              <p:nvPr/>
            </p:nvSpPr>
            <p:spPr>
              <a:xfrm>
                <a:off x="447598" y="1586712"/>
                <a:ext cx="110642" cy="110642"/>
              </a:xfrm>
              <a:prstGeom prst="roundRect">
                <a:avLst>
                  <a:gd name="adj" fmla="val 18181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51" name="state_label1" descr="Editable formula parts and native mathematical delimiters."/>
              <p:cNvGrpSpPr/>
              <p:nvPr/>
            </p:nvGrpSpPr>
            <p:grpSpPr>
              <a:xfrm>
                <a:off x="472218" y="1596037"/>
                <a:ext cx="60432" cy="105237"/>
                <a:chOff x="472218" y="1596037"/>
                <a:chExt cx="60432" cy="105237"/>
              </a:xfrm>
            </p:grpSpPr>
            <p:sp>
              <p:nvSpPr>
                <p:cNvPr id="144" name="state_label1_0" descr="Editable text; source id state_label1_0"/>
                <p:cNvSpPr txBox="1"/>
                <p:nvPr/>
              </p:nvSpPr>
              <p:spPr>
                <a:xfrm>
                  <a:off x="472218" y="1596037"/>
                  <a:ext cx="34438" cy="9374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s</a:t>
                  </a:r>
                </a:p>
              </p:txBody>
            </p:sp>
            <p:sp>
              <p:nvSpPr>
                <p:cNvPr id="145" name="state_label1_1" descr="Editable text; source id state_label1_1"/>
                <p:cNvSpPr txBox="1"/>
                <p:nvPr/>
              </p:nvSpPr>
              <p:spPr>
                <a:xfrm>
                  <a:off x="502552" y="1638004"/>
                  <a:ext cx="30098" cy="6327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</p:grpSp>
        <p:sp>
          <p:nvSpPr>
            <p:cNvPr id="146" name="trajectory_edge2" descr="Editable line; source id trajectory_edge2"/>
            <p:cNvSpPr/>
            <p:nvPr/>
          </p:nvSpPr>
          <p:spPr>
            <a:xfrm>
              <a:off x="799643" y="1630719"/>
              <a:ext cx="123215" cy="22629"/>
            </a:xfrm>
            <a:custGeom>
              <a:avLst/>
              <a:gdLst/>
              <a:ahLst/>
              <a:cxnLst/>
              <a:rect l="l" t="t" r="r" b="b"/>
              <a:pathLst>
                <a:path w="45031" h="8270">
                  <a:moveTo>
                    <a:pt x="0" y="3216"/>
                  </a:moveTo>
                  <a:lnTo>
                    <a:pt x="34003" y="3216"/>
                  </a:lnTo>
                  <a:lnTo>
                    <a:pt x="34003" y="0"/>
                  </a:lnTo>
                  <a:lnTo>
                    <a:pt x="45031" y="4135"/>
                  </a:lnTo>
                  <a:lnTo>
                    <a:pt x="34003" y="8270"/>
                  </a:lnTo>
                  <a:lnTo>
                    <a:pt x="34003" y="5054"/>
                  </a:lnTo>
                  <a:lnTo>
                    <a:pt x="0" y="5054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53" name="state2" descr="state2"/>
            <p:cNvGrpSpPr/>
            <p:nvPr/>
          </p:nvGrpSpPr>
          <p:grpSpPr>
            <a:xfrm>
              <a:off x="686485" y="1586712"/>
              <a:ext cx="110642" cy="110642"/>
              <a:chOff x="686485" y="1586712"/>
              <a:chExt cx="110642" cy="110642"/>
            </a:xfrm>
          </p:grpSpPr>
          <p:sp>
            <p:nvSpPr>
              <p:cNvPr id="147" name="state2_panel" descr="Editable shape; source id state2_panel"/>
              <p:cNvSpPr/>
              <p:nvPr/>
            </p:nvSpPr>
            <p:spPr>
              <a:xfrm>
                <a:off x="686485" y="1586712"/>
                <a:ext cx="110642" cy="110642"/>
              </a:xfrm>
              <a:prstGeom prst="roundRect">
                <a:avLst>
                  <a:gd name="adj" fmla="val 18181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ellipsis" descr="Editable text; source id ellipsis"/>
              <p:cNvSpPr txBox="1"/>
              <p:nvPr/>
            </p:nvSpPr>
            <p:spPr>
              <a:xfrm>
                <a:off x="698620" y="1590786"/>
                <a:ext cx="94581" cy="102698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683"/>
                  </a:lnSpc>
                  <a:spcBef>
                    <a:spcPts val="0"/>
                  </a:spcBef>
                  <a:spcAft>
                    <a:spcPts val="0"/>
                  </a:spcAft>
                  <a:defRPr sz="594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594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…</a:t>
                </a:r>
              </a:p>
            </p:txBody>
          </p:sp>
        </p:grpSp>
        <p:grpSp>
          <p:nvGrpSpPr>
            <p:cNvPr id="255" name="state3" descr="state3"/>
            <p:cNvGrpSpPr/>
            <p:nvPr/>
          </p:nvGrpSpPr>
          <p:grpSpPr>
            <a:xfrm>
              <a:off x="925372" y="1586712"/>
              <a:ext cx="110642" cy="114562"/>
              <a:chOff x="925372" y="1586712"/>
              <a:chExt cx="110642" cy="114562"/>
            </a:xfrm>
          </p:grpSpPr>
          <p:sp>
            <p:nvSpPr>
              <p:cNvPr id="149" name="state3_panel" descr="Editable shape; source id state3_panel"/>
              <p:cNvSpPr/>
              <p:nvPr/>
            </p:nvSpPr>
            <p:spPr>
              <a:xfrm>
                <a:off x="925372" y="1586712"/>
                <a:ext cx="110642" cy="110642"/>
              </a:xfrm>
              <a:prstGeom prst="roundRect">
                <a:avLst>
                  <a:gd name="adj" fmla="val 18181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54" name="state_label3" descr="Editable formula parts and native mathematical delimiters."/>
              <p:cNvGrpSpPr/>
              <p:nvPr/>
            </p:nvGrpSpPr>
            <p:grpSpPr>
              <a:xfrm>
                <a:off x="947256" y="1596037"/>
                <a:ext cx="65905" cy="105237"/>
                <a:chOff x="947256" y="1596037"/>
                <a:chExt cx="65905" cy="105237"/>
              </a:xfrm>
            </p:grpSpPr>
            <p:sp>
              <p:nvSpPr>
                <p:cNvPr id="150" name="state_label3_0" descr="Editable text; source id state_label3_0"/>
                <p:cNvSpPr txBox="1"/>
                <p:nvPr/>
              </p:nvSpPr>
              <p:spPr>
                <a:xfrm>
                  <a:off x="947256" y="1596037"/>
                  <a:ext cx="34438" cy="9374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70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1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s</a:t>
                  </a:r>
                </a:p>
              </p:txBody>
            </p:sp>
            <p:sp>
              <p:nvSpPr>
                <p:cNvPr id="151" name="state_label3_1" descr="Editable text; source id state_label3_1"/>
                <p:cNvSpPr txBox="1"/>
                <p:nvPr/>
              </p:nvSpPr>
              <p:spPr>
                <a:xfrm>
                  <a:off x="977590" y="1638004"/>
                  <a:ext cx="35571" cy="6327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46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05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T</a:t>
                  </a:r>
                </a:p>
              </p:txBody>
            </p:sp>
          </p:grpSp>
        </p:grpSp>
        <p:sp>
          <p:nvSpPr>
            <p:cNvPr id="152" name="observation_label0" descr="Editable text; source id observation_label0"/>
            <p:cNvSpPr txBox="1"/>
            <p:nvPr/>
          </p:nvSpPr>
          <p:spPr>
            <a:xfrm>
              <a:off x="145403" y="1734359"/>
              <a:ext cx="305336" cy="108632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rewards</a:t>
              </a:r>
            </a:p>
          </p:txBody>
        </p:sp>
        <p:sp>
          <p:nvSpPr>
            <p:cNvPr id="153" name="observation_0_0" descr="Editable shape; source id observation_0_0"/>
            <p:cNvSpPr/>
            <p:nvPr/>
          </p:nvSpPr>
          <p:spPr>
            <a:xfrm>
              <a:off x="558241" y="1745132"/>
              <a:ext cx="60350" cy="60350"/>
            </a:xfrm>
            <a:prstGeom prst="rect">
              <a:avLst/>
            </a:prstGeom>
            <a:solidFill>
              <a:srgbClr val="EDF1F6"/>
            </a:solidFill>
            <a:ln w="251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observation_0_1" descr="Editable shape; source id observation_0_1"/>
            <p:cNvSpPr/>
            <p:nvPr/>
          </p:nvSpPr>
          <p:spPr>
            <a:xfrm>
              <a:off x="709117" y="1745132"/>
              <a:ext cx="60350" cy="60350"/>
            </a:xfrm>
            <a:prstGeom prst="rect">
              <a:avLst/>
            </a:prstGeom>
            <a:solidFill>
              <a:srgbClr val="EDF1F6"/>
            </a:solidFill>
            <a:ln w="251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observation_0_2" descr="Editable shape; source id observation_0_2"/>
            <p:cNvSpPr/>
            <p:nvPr/>
          </p:nvSpPr>
          <p:spPr>
            <a:xfrm>
              <a:off x="859993" y="1745132"/>
              <a:ext cx="60350" cy="60350"/>
            </a:xfrm>
            <a:prstGeom prst="rect">
              <a:avLst/>
            </a:prstGeom>
            <a:solidFill>
              <a:srgbClr val="EDF1F6"/>
            </a:solidFill>
            <a:ln w="251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observation_0_3" descr="Editable shape; source id observation_0_3"/>
            <p:cNvSpPr/>
            <p:nvPr/>
          </p:nvSpPr>
          <p:spPr>
            <a:xfrm>
              <a:off x="1010869" y="1745132"/>
              <a:ext cx="60350" cy="60350"/>
            </a:xfrm>
            <a:prstGeom prst="rect">
              <a:avLst/>
            </a:prstGeom>
            <a:solidFill>
              <a:srgbClr val="EDF1F6"/>
            </a:solidFill>
            <a:ln w="2514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observation_label1" descr="Editable text; source id observation_label1"/>
            <p:cNvSpPr txBox="1"/>
            <p:nvPr/>
          </p:nvSpPr>
          <p:spPr>
            <a:xfrm>
              <a:off x="145403" y="1870148"/>
              <a:ext cx="283200" cy="108632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K costs</a:t>
              </a:r>
            </a:p>
          </p:txBody>
        </p:sp>
        <p:sp>
          <p:nvSpPr>
            <p:cNvPr id="158" name="observation_1_0" descr="Editable shape; source id observation_1_0"/>
            <p:cNvSpPr/>
            <p:nvPr/>
          </p:nvSpPr>
          <p:spPr>
            <a:xfrm>
              <a:off x="558241" y="1880920"/>
              <a:ext cx="60350" cy="60350"/>
            </a:xfrm>
            <a:prstGeom prst="rect">
              <a:avLst/>
            </a:prstGeom>
            <a:solidFill>
              <a:srgbClr val="F8F1E4"/>
            </a:solidFill>
            <a:ln w="2514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observation_1_1" descr="Editable shape; source id observation_1_1"/>
            <p:cNvSpPr/>
            <p:nvPr/>
          </p:nvSpPr>
          <p:spPr>
            <a:xfrm>
              <a:off x="709117" y="1880920"/>
              <a:ext cx="60350" cy="60350"/>
            </a:xfrm>
            <a:prstGeom prst="rect">
              <a:avLst/>
            </a:prstGeom>
            <a:solidFill>
              <a:srgbClr val="F8F1E4"/>
            </a:solidFill>
            <a:ln w="2514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observation_1_2" descr="Editable shape; source id observation_1_2"/>
            <p:cNvSpPr/>
            <p:nvPr/>
          </p:nvSpPr>
          <p:spPr>
            <a:xfrm>
              <a:off x="859993" y="1880920"/>
              <a:ext cx="60350" cy="60350"/>
            </a:xfrm>
            <a:prstGeom prst="rect">
              <a:avLst/>
            </a:prstGeom>
            <a:solidFill>
              <a:srgbClr val="F8F1E4"/>
            </a:solidFill>
            <a:ln w="2514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observation_1_3" descr="Editable shape; source id observation_1_3"/>
            <p:cNvSpPr/>
            <p:nvPr/>
          </p:nvSpPr>
          <p:spPr>
            <a:xfrm>
              <a:off x="1010869" y="1880920"/>
              <a:ext cx="60350" cy="60350"/>
            </a:xfrm>
            <a:prstGeom prst="rect">
              <a:avLst/>
            </a:prstGeom>
            <a:solidFill>
              <a:srgbClr val="F8F1E4"/>
            </a:solidFill>
            <a:ln w="2514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8" name="cost_feedback" descr="cost feedback"/>
          <p:cNvGrpSpPr/>
          <p:nvPr/>
        </p:nvGrpSpPr>
        <p:grpSpPr>
          <a:xfrm>
            <a:off x="1719986" y="1523847"/>
            <a:ext cx="1201978" cy="387248"/>
            <a:chOff x="1719986" y="1523847"/>
            <a:chExt cx="1201978" cy="387248"/>
          </a:xfrm>
        </p:grpSpPr>
        <p:sp>
          <p:nvSpPr>
            <p:cNvPr id="162" name="cost_feedback_panel" descr="Editable shape; source id cost_feedback_panel"/>
            <p:cNvSpPr/>
            <p:nvPr/>
          </p:nvSpPr>
          <p:spPr>
            <a:xfrm>
              <a:off x="1719986" y="1523847"/>
              <a:ext cx="1201978" cy="387248"/>
            </a:xfrm>
            <a:prstGeom prst="roundRect">
              <a:avLst>
                <a:gd name="adj" fmla="val 5194"/>
              </a:avLst>
            </a:prstGeom>
            <a:solidFill>
              <a:srgbClr val="FFFFFF"/>
            </a:solidFill>
            <a:ln w="4023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feedback_title" descr="Editable text; source id feedback_title"/>
            <p:cNvSpPr txBox="1"/>
            <p:nvPr/>
          </p:nvSpPr>
          <p:spPr>
            <a:xfrm>
              <a:off x="1997416" y="1544194"/>
              <a:ext cx="655328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32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Cost feedback</a:t>
              </a:r>
            </a:p>
          </p:txBody>
        </p:sp>
        <p:grpSp>
          <p:nvGrpSpPr>
            <p:cNvPr id="257" name="feedback_equation" descr="Editable formula parts and native mathematical delimiters."/>
            <p:cNvGrpSpPr/>
            <p:nvPr/>
          </p:nvGrpSpPr>
          <p:grpSpPr>
            <a:xfrm>
              <a:off x="1923749" y="1708548"/>
              <a:ext cx="790902" cy="128294"/>
              <a:chOff x="1923749" y="1708548"/>
              <a:chExt cx="790902" cy="128294"/>
            </a:xfrm>
          </p:grpSpPr>
          <p:sp>
            <p:nvSpPr>
              <p:cNvPr id="164" name="feedback_equation_0" descr="Editable text; source id feedback_equation_0"/>
              <p:cNvSpPr txBox="1"/>
              <p:nvPr/>
            </p:nvSpPr>
            <p:spPr>
              <a:xfrm>
                <a:off x="1923749" y="1708548"/>
                <a:ext cx="720313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3420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β ← [β + η(J̄ − B)</a:t>
                </a:r>
              </a:p>
            </p:txBody>
          </p:sp>
          <p:sp>
            <p:nvSpPr>
              <p:cNvPr id="165" name="feedback_equation_1" descr="Editable text; source id feedback_equation_1"/>
              <p:cNvSpPr txBox="1"/>
              <p:nvPr/>
            </p:nvSpPr>
            <p:spPr>
              <a:xfrm>
                <a:off x="2642825" y="1708548"/>
                <a:ext cx="36255" cy="11399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]</a:t>
                </a:r>
              </a:p>
            </p:txBody>
          </p:sp>
          <p:sp>
            <p:nvSpPr>
              <p:cNvPr id="166" name="feedback_equation_2" descr="Editable text; source id feedback_equation_2"/>
              <p:cNvSpPr txBox="1"/>
              <p:nvPr/>
            </p:nvSpPr>
            <p:spPr>
              <a:xfrm>
                <a:off x="2674976" y="1760212"/>
                <a:ext cx="39675" cy="76630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+</a:t>
                </a:r>
              </a:p>
            </p:txBody>
          </p:sp>
        </p:grpSp>
      </p:grpSp>
      <p:grpSp>
        <p:nvGrpSpPr>
          <p:cNvPr id="261" name="policy_update" descr="policy update"/>
          <p:cNvGrpSpPr/>
          <p:nvPr/>
        </p:nvGrpSpPr>
        <p:grpSpPr>
          <a:xfrm>
            <a:off x="3676345" y="1423263"/>
            <a:ext cx="884115" cy="588416"/>
            <a:chOff x="3676345" y="1423263"/>
            <a:chExt cx="884115" cy="588416"/>
          </a:xfrm>
        </p:grpSpPr>
        <p:sp>
          <p:nvSpPr>
            <p:cNvPr id="167" name="policy_update_panel" descr="Editable shape; source id policy_update_panel"/>
            <p:cNvSpPr/>
            <p:nvPr/>
          </p:nvSpPr>
          <p:spPr>
            <a:xfrm>
              <a:off x="3676345" y="1423263"/>
              <a:ext cx="880110" cy="588416"/>
            </a:xfrm>
            <a:prstGeom prst="roundRect">
              <a:avLst>
                <a:gd name="adj" fmla="val 3418"/>
              </a:avLst>
            </a:prstGeom>
            <a:solidFill>
              <a:srgbClr val="FFFFFF"/>
            </a:solidFill>
            <a:ln w="4526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update_title" descr="Editable text; source id update_title"/>
            <p:cNvSpPr txBox="1"/>
            <p:nvPr/>
          </p:nvSpPr>
          <p:spPr>
            <a:xfrm>
              <a:off x="3680547" y="1448398"/>
              <a:ext cx="879913" cy="117534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Priced policy update</a:t>
              </a:r>
            </a:p>
          </p:txBody>
        </p:sp>
        <p:grpSp>
          <p:nvGrpSpPr>
            <p:cNvPr id="259" name="update_numerator" descr="Editable formula parts and native mathematical delimiters."/>
            <p:cNvGrpSpPr/>
            <p:nvPr/>
          </p:nvGrpSpPr>
          <p:grpSpPr>
            <a:xfrm>
              <a:off x="3870223" y="1604747"/>
              <a:ext cx="485608" cy="130010"/>
              <a:chOff x="3870223" y="1604747"/>
              <a:chExt cx="485608" cy="130010"/>
            </a:xfrm>
          </p:grpSpPr>
          <p:sp>
            <p:nvSpPr>
              <p:cNvPr id="169" name="update_numerator_0" descr="Editable text; source id update_numerator_0"/>
              <p:cNvSpPr txBox="1"/>
              <p:nvPr/>
            </p:nvSpPr>
            <p:spPr>
              <a:xfrm>
                <a:off x="3870223" y="1604747"/>
                <a:ext cx="69773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684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170" name="update_numerator_1" descr="Editable text; source id update_numerator_1"/>
              <p:cNvSpPr txBox="1"/>
              <p:nvPr/>
            </p:nvSpPr>
            <p:spPr>
              <a:xfrm>
                <a:off x="3935893" y="1652548"/>
                <a:ext cx="23450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71" name="update_numerator_2" descr="Editable text; source id update_numerator_2"/>
              <p:cNvSpPr txBox="1"/>
              <p:nvPr/>
            </p:nvSpPr>
            <p:spPr>
              <a:xfrm>
                <a:off x="3957879" y="1604747"/>
                <a:ext cx="97820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172" name="update_numerator_3" descr="Editable text; source id update_numerator_3"/>
              <p:cNvSpPr txBox="1"/>
              <p:nvPr/>
            </p:nvSpPr>
            <p:spPr>
              <a:xfrm>
                <a:off x="4054236" y="1604747"/>
                <a:ext cx="67037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173" name="update_numerator_4" descr="Editable text; source id update_numerator_4"/>
              <p:cNvSpPr txBox="1"/>
              <p:nvPr/>
            </p:nvSpPr>
            <p:spPr>
              <a:xfrm>
                <a:off x="4117169" y="1652548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4" name="update_numerator_5" descr="Editable text; source id update_numerator_5"/>
              <p:cNvSpPr txBox="1"/>
              <p:nvPr/>
            </p:nvSpPr>
            <p:spPr>
              <a:xfrm>
                <a:off x="4168495" y="1604747"/>
                <a:ext cx="47884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75" name="update_numerator_6" descr="Editable text; source id update_numerator_6"/>
              <p:cNvSpPr txBox="1"/>
              <p:nvPr/>
            </p:nvSpPr>
            <p:spPr>
              <a:xfrm>
                <a:off x="4212275" y="1652548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6" name="update_numerator_7" descr="Editable text; source id update_numerator_7"/>
              <p:cNvSpPr txBox="1"/>
              <p:nvPr/>
            </p:nvSpPr>
            <p:spPr>
              <a:xfrm>
                <a:off x="4238857" y="1604747"/>
                <a:ext cx="69773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684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177" name="update_numerator_8" descr="Editable text; source id update_numerator_8"/>
              <p:cNvSpPr txBox="1"/>
              <p:nvPr/>
            </p:nvSpPr>
            <p:spPr>
              <a:xfrm>
                <a:off x="4304527" y="1652548"/>
                <a:ext cx="3009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78" name="update_numerator_9" descr="Editable text; source id update_numerator_9"/>
              <p:cNvSpPr txBox="1"/>
              <p:nvPr/>
            </p:nvSpPr>
            <p:spPr>
              <a:xfrm>
                <a:off x="4330521" y="1682071"/>
                <a:ext cx="25310" cy="5268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382"/>
                  </a:lnSpc>
                  <a:spcBef>
                    <a:spcPts val="0"/>
                  </a:spcBef>
                  <a:spcAft>
                    <a:spcPts val="0"/>
                  </a:spcAft>
                  <a:defRPr sz="3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33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cxnSp>
          <p:nvCxnSpPr>
            <p:cNvPr id="179" name="fraction_bar" descr="Editable line; source id fraction_bar"/>
            <p:cNvCxnSpPr/>
            <p:nvPr/>
          </p:nvCxnSpPr>
          <p:spPr>
            <a:xfrm>
              <a:off x="3726637" y="1725015"/>
              <a:ext cx="779526" cy="0"/>
            </a:xfrm>
            <a:prstGeom prst="line">
              <a:avLst/>
            </a:prstGeom>
            <a:ln w="4274" cap="rnd">
              <a:solidFill>
                <a:srgbClr val="29343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0" name="update_denominator" descr="Editable formula parts and native mathematical delimiters."/>
            <p:cNvGrpSpPr/>
            <p:nvPr/>
          </p:nvGrpSpPr>
          <p:grpSpPr>
            <a:xfrm>
              <a:off x="3949836" y="1745564"/>
              <a:ext cx="331854" cy="118705"/>
              <a:chOff x="3949836" y="1745564"/>
              <a:chExt cx="331854" cy="118705"/>
            </a:xfrm>
          </p:grpSpPr>
          <p:sp>
            <p:nvSpPr>
              <p:cNvPr id="180" name="update_denominator_0" descr="Editable text; source id update_denominator_0"/>
              <p:cNvSpPr txBox="1"/>
              <p:nvPr/>
            </p:nvSpPr>
            <p:spPr>
              <a:xfrm>
                <a:off x="3949836" y="1745564"/>
                <a:ext cx="141760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1 + </a:t>
                </a:r>
              </a:p>
            </p:txBody>
          </p:sp>
          <p:sp>
            <p:nvSpPr>
              <p:cNvPr id="181" name="update_denominator_1" descr="Editable text; source id update_denominator_1"/>
              <p:cNvSpPr txBox="1"/>
              <p:nvPr/>
            </p:nvSpPr>
            <p:spPr>
              <a:xfrm>
                <a:off x="4090133" y="1745564"/>
                <a:ext cx="67037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182" name="update_denominator_2" descr="Editable text; source id update_denominator_2"/>
              <p:cNvSpPr txBox="1"/>
              <p:nvPr/>
            </p:nvSpPr>
            <p:spPr>
              <a:xfrm>
                <a:off x="4153066" y="1793365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83" name="update_denominator_3" descr="Editable text; source id update_denominator_3"/>
              <p:cNvSpPr txBox="1"/>
              <p:nvPr/>
            </p:nvSpPr>
            <p:spPr>
              <a:xfrm>
                <a:off x="4204392" y="1745564"/>
                <a:ext cx="47884" cy="10531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84" name="update_denominator_4" descr="Editable text; source id update_denominator_4"/>
              <p:cNvSpPr txBox="1"/>
              <p:nvPr/>
            </p:nvSpPr>
            <p:spPr>
              <a:xfrm>
                <a:off x="4248172" y="1793365"/>
                <a:ext cx="33518" cy="7090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185" name="optimizer" descr="Editable text; source id optimizer"/>
            <p:cNvSpPr txBox="1"/>
            <p:nvPr/>
          </p:nvSpPr>
          <p:spPr>
            <a:xfrm>
              <a:off x="3859076" y="1865822"/>
              <a:ext cx="522856" cy="117534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PPO / TRPO</a:t>
              </a:r>
            </a:p>
          </p:txBody>
        </p:sp>
      </p:grpSp>
      <p:grpSp>
        <p:nvGrpSpPr>
          <p:cNvPr id="263" name="updated_policy" descr="updated policy"/>
          <p:cNvGrpSpPr/>
          <p:nvPr/>
        </p:nvGrpSpPr>
        <p:grpSpPr>
          <a:xfrm>
            <a:off x="4677156" y="1513075"/>
            <a:ext cx="266547" cy="395505"/>
            <a:chOff x="4677156" y="1513075"/>
            <a:chExt cx="266547" cy="395505"/>
          </a:xfrm>
        </p:grpSpPr>
        <p:sp>
          <p:nvSpPr>
            <p:cNvPr id="186" name="updated_policy_panel" descr="Editable shape; source id updated_policy_panel"/>
            <p:cNvSpPr/>
            <p:nvPr/>
          </p:nvSpPr>
          <p:spPr>
            <a:xfrm>
              <a:off x="4677156" y="1516303"/>
              <a:ext cx="266547" cy="392277"/>
            </a:xfrm>
            <a:prstGeom prst="roundRect">
              <a:avLst>
                <a:gd name="adj" fmla="val 7547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updated_label" descr="Editable text; source id updated_label"/>
            <p:cNvSpPr txBox="1"/>
            <p:nvPr/>
          </p:nvSpPr>
          <p:spPr>
            <a:xfrm>
              <a:off x="4702006" y="1513075"/>
              <a:ext cx="225055" cy="108632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policy</a:t>
              </a:r>
            </a:p>
          </p:txBody>
        </p:sp>
        <p:sp>
          <p:nvSpPr>
            <p:cNvPr id="188" name="updated_policy_disc" descr="Editable shape; source id updated_policy_disc"/>
            <p:cNvSpPr/>
            <p:nvPr/>
          </p:nvSpPr>
          <p:spPr>
            <a:xfrm>
              <a:off x="4707331" y="1657121"/>
              <a:ext cx="203682" cy="203682"/>
            </a:xfrm>
            <a:prstGeom prst="ellipse">
              <a:avLst/>
            </a:pr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2" name="policy_token" descr="Editable formula parts and native mathematical delimiters."/>
            <p:cNvGrpSpPr/>
            <p:nvPr/>
          </p:nvGrpSpPr>
          <p:grpSpPr>
            <a:xfrm>
              <a:off x="4747240" y="1704868"/>
              <a:ext cx="125181" cy="115510"/>
              <a:chOff x="4747240" y="1704868"/>
              <a:chExt cx="125181" cy="115510"/>
            </a:xfrm>
          </p:grpSpPr>
          <p:sp>
            <p:nvSpPr>
              <p:cNvPr id="189" name="policy_token_0" descr="Editable text; source id policy_token_0"/>
              <p:cNvSpPr txBox="1"/>
              <p:nvPr/>
            </p:nvSpPr>
            <p:spPr>
              <a:xfrm>
                <a:off x="4747240" y="1704868"/>
                <a:ext cx="49252" cy="10242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FFFFFF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FFFFFF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90" name="policy_token_1" descr="Editable text; source id policy_token_1"/>
              <p:cNvSpPr txBox="1"/>
              <p:nvPr/>
            </p:nvSpPr>
            <p:spPr>
              <a:xfrm>
                <a:off x="4792387" y="1751382"/>
                <a:ext cx="80034" cy="68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FFFFFF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FFFFFF"/>
                    </a:solidFill>
                    <a:latin typeface="Liberation Serif"/>
                    <a:ea typeface="Liberation Serif"/>
                    <a:cs typeface="Liberation Serif"/>
                  </a:rPr>
                  <a:t>t+1</a:t>
                </a:r>
              </a:p>
            </p:txBody>
          </p:sp>
        </p:grpSp>
      </p:grpSp>
      <p:grpSp>
        <p:nvGrpSpPr>
          <p:cNvPr id="264" name="data_to_graph" descr="One editable routed connector; fixed endpoints."/>
          <p:cNvGrpSpPr/>
          <p:nvPr/>
        </p:nvGrpSpPr>
        <p:grpSpPr>
          <a:xfrm>
            <a:off x="531837" y="1103909"/>
            <a:ext cx="559499" cy="304266"/>
            <a:chOff x="531837" y="1103909"/>
            <a:chExt cx="559499" cy="304266"/>
          </a:xfrm>
        </p:grpSpPr>
        <p:cxnSp>
          <p:nvCxnSpPr>
            <p:cNvPr id="191" name="data_to_graph_0" descr="Editable line; source id data_to_graph_0"/>
            <p:cNvCxnSpPr/>
            <p:nvPr/>
          </p:nvCxnSpPr>
          <p:spPr>
            <a:xfrm flipV="1">
              <a:off x="1091336" y="1171803"/>
              <a:ext cx="0" cy="236372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data_to_graph_1" descr="Editable line; source id data_to_graph_1"/>
            <p:cNvCxnSpPr/>
            <p:nvPr/>
          </p:nvCxnSpPr>
          <p:spPr>
            <a:xfrm flipH="1">
              <a:off x="543153" y="1171803"/>
              <a:ext cx="548183" cy="0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data_to_graph_2" descr="Editable line; source id data_to_graph_2"/>
            <p:cNvSpPr/>
            <p:nvPr/>
          </p:nvSpPr>
          <p:spPr>
            <a:xfrm>
              <a:off x="531837" y="1103909"/>
              <a:ext cx="22634" cy="67894"/>
            </a:xfrm>
            <a:custGeom>
              <a:avLst/>
              <a:gdLst/>
              <a:ahLst/>
              <a:cxnLst/>
              <a:rect l="l" t="t" r="r" b="b"/>
              <a:pathLst>
                <a:path w="8272" h="24813">
                  <a:moveTo>
                    <a:pt x="3125" y="24813"/>
                  </a:moveTo>
                  <a:lnTo>
                    <a:pt x="3125" y="11028"/>
                  </a:lnTo>
                  <a:lnTo>
                    <a:pt x="0" y="11028"/>
                  </a:lnTo>
                  <a:lnTo>
                    <a:pt x="4136" y="0"/>
                  </a:lnTo>
                  <a:lnTo>
                    <a:pt x="8272" y="11028"/>
                  </a:lnTo>
                  <a:lnTo>
                    <a:pt x="5147" y="11028"/>
                  </a:lnTo>
                  <a:lnTo>
                    <a:pt x="5147" y="24813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4" name="data_label" descr="Editable text; source id data_label"/>
          <p:cNvSpPr txBox="1"/>
          <p:nvPr/>
        </p:nvSpPr>
        <p:spPr>
          <a:xfrm>
            <a:off x="1201535" y="1316936"/>
            <a:ext cx="949473" cy="108632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728"/>
              </a:lnSpc>
              <a:spcBef>
                <a:spcPts val="0"/>
              </a:spcBef>
              <a:spcAft>
                <a:spcPts val="0"/>
              </a:spcAft>
              <a:defRPr sz="63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3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transitions, rewards, costs</a:t>
            </a:r>
          </a:p>
        </p:txBody>
      </p:sp>
      <p:sp>
        <p:nvSpPr>
          <p:cNvPr id="195" name="episode_costs" descr="Editable line; source id episode_costs"/>
          <p:cNvSpPr/>
          <p:nvPr/>
        </p:nvSpPr>
        <p:spPr>
          <a:xfrm>
            <a:off x="1196950" y="1703643"/>
            <a:ext cx="507949" cy="22631"/>
          </a:xfrm>
          <a:custGeom>
            <a:avLst/>
            <a:gdLst/>
            <a:ahLst/>
            <a:cxnLst/>
            <a:rect l="l" t="t" r="r" b="b"/>
            <a:pathLst>
              <a:path w="185638" h="8271">
                <a:moveTo>
                  <a:pt x="0" y="3124"/>
                </a:moveTo>
                <a:lnTo>
                  <a:pt x="174610" y="3124"/>
                </a:lnTo>
                <a:lnTo>
                  <a:pt x="174610" y="0"/>
                </a:lnTo>
                <a:lnTo>
                  <a:pt x="185638" y="4135"/>
                </a:lnTo>
                <a:lnTo>
                  <a:pt x="174610" y="8271"/>
                </a:lnTo>
                <a:lnTo>
                  <a:pt x="174610" y="5146"/>
                </a:lnTo>
                <a:lnTo>
                  <a:pt x="0" y="5146"/>
                </a:lnTo>
                <a:close/>
              </a:path>
            </a:pathLst>
          </a:custGeom>
          <a:solidFill>
            <a:srgbClr val="B78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pisode_cost_label_0" descr="Editable text; source id episode_cost_label_0"/>
          <p:cNvSpPr txBox="1"/>
          <p:nvPr/>
        </p:nvSpPr>
        <p:spPr>
          <a:xfrm>
            <a:off x="1268208" y="1567028"/>
            <a:ext cx="357762" cy="105317"/>
          </a:xfrm>
          <a:prstGeom prst="rect">
            <a:avLst/>
          </a:prstGeom>
          <a:noFill/>
          <a:effectLst/>
        </p:spPr>
        <p:txBody>
          <a:bodyPr wrap="none" anchor="t" tIns="1368" rIns="0" bIns="0" lIns="2736" anchorCtr="0" vertOverflow="overflow">
            <a:noAutofit/>
          </a:bodyPr>
          <a:lstStyle/>
          <a:p>
            <a:pPr algn="l" fontAlgn="base">
              <a:lnSpc>
                <a:spcPts val="796"/>
              </a:lnSpc>
              <a:spcBef>
                <a:spcPts val="0"/>
              </a:spcBef>
              <a:spcAft>
                <a:spcPts val="0"/>
              </a:spcAft>
              <a:defRPr sz="693" b="0" i="1" lang="zh-CN" dirty="0">
                <a:solidFill>
                  <a:srgbClr val="B78129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693" b="0" i="1" lang="zh-CN" dirty="0">
                <a:solidFill>
                  <a:srgbClr val="B78129"/>
                </a:solidFill>
                <a:latin typeface="Liberation Serif"/>
                <a:ea typeface="Liberation Serif"/>
                <a:cs typeface="Liberation Serif"/>
              </a:rPr>
              <a:t>Episode J̄</a:t>
            </a:r>
          </a:p>
        </p:txBody>
      </p:sp>
      <p:grpSp>
        <p:nvGrpSpPr>
          <p:cNvPr id="265" name="graph_price_transfer" descr="One editable routed connector; fixed endpoints."/>
          <p:cNvGrpSpPr/>
          <p:nvPr/>
        </p:nvGrpSpPr>
        <p:grpSpPr>
          <a:xfrm>
            <a:off x="3235034" y="1103909"/>
            <a:ext cx="1142884" cy="528066"/>
            <a:chOff x="3235034" y="1103909"/>
            <a:chExt cx="1142884" cy="528066"/>
          </a:xfrm>
        </p:grpSpPr>
        <p:cxnSp>
          <p:nvCxnSpPr>
            <p:cNvPr id="197" name="graph_price_transfer_0" descr="Editable line; source id graph_price_transfer_0"/>
            <p:cNvCxnSpPr/>
            <p:nvPr/>
          </p:nvCxnSpPr>
          <p:spPr>
            <a:xfrm>
              <a:off x="4377918" y="1103909"/>
              <a:ext cx="0" cy="246431"/>
            </a:xfrm>
            <a:prstGeom prst="line">
              <a:avLst/>
            </a:prstGeom>
            <a:ln w="6537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graph_price_transfer_1" descr="Editable line; source id graph_price_transfer_1"/>
            <p:cNvCxnSpPr/>
            <p:nvPr/>
          </p:nvCxnSpPr>
          <p:spPr>
            <a:xfrm flipH="1">
              <a:off x="3246348" y="1350340"/>
              <a:ext cx="1131570" cy="0"/>
            </a:xfrm>
            <a:prstGeom prst="line">
              <a:avLst/>
            </a:prstGeom>
            <a:ln w="6537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graph_price_transfer_2" descr="Editable line; source id graph_price_transfer_2"/>
            <p:cNvSpPr/>
            <p:nvPr/>
          </p:nvSpPr>
          <p:spPr>
            <a:xfrm>
              <a:off x="3235034" y="1350340"/>
              <a:ext cx="22631" cy="281635"/>
            </a:xfrm>
            <a:custGeom>
              <a:avLst/>
              <a:gdLst/>
              <a:ahLst/>
              <a:cxnLst/>
              <a:rect l="l" t="t" r="r" b="b"/>
              <a:pathLst>
                <a:path w="8271" h="102928">
                  <a:moveTo>
                    <a:pt x="5330" y="0"/>
                  </a:moveTo>
                  <a:lnTo>
                    <a:pt x="5330" y="91900"/>
                  </a:lnTo>
                  <a:lnTo>
                    <a:pt x="8271" y="91900"/>
                  </a:lnTo>
                  <a:lnTo>
                    <a:pt x="4135" y="102928"/>
                  </a:lnTo>
                  <a:lnTo>
                    <a:pt x="0" y="91900"/>
                  </a:lnTo>
                  <a:lnTo>
                    <a:pt x="2940" y="91900"/>
                  </a:lnTo>
                  <a:lnTo>
                    <a:pt x="2940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6" name="filtered_price_label" descr="Editable formula parts and native mathematical delimiters."/>
          <p:cNvGrpSpPr/>
          <p:nvPr/>
        </p:nvGrpSpPr>
        <p:grpSpPr>
          <a:xfrm>
            <a:off x="3297893" y="1460814"/>
            <a:ext cx="103976" cy="127029"/>
            <a:chOff x="3297893" y="1460814"/>
            <a:chExt cx="103976" cy="127029"/>
          </a:xfrm>
        </p:grpSpPr>
        <p:sp>
          <p:nvSpPr>
            <p:cNvPr id="200" name="filtered_price_label_0" descr="Editable text; source id filtered_price_label_0"/>
            <p:cNvSpPr txBox="1"/>
            <p:nvPr/>
          </p:nvSpPr>
          <p:spPr>
            <a:xfrm>
              <a:off x="3297893" y="1476743"/>
              <a:ext cx="73194" cy="111100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4104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rPr>
                <a:t>λ̄</a:t>
              </a:r>
            </a:p>
          </p:txBody>
        </p:sp>
        <p:sp>
          <p:nvSpPr>
            <p:cNvPr id="201" name="filtered_price_label_1" descr="Editable text; source id filtered_price_label_1"/>
            <p:cNvSpPr txBox="1"/>
            <p:nvPr/>
          </p:nvSpPr>
          <p:spPr>
            <a:xfrm>
              <a:off x="3366983" y="1460814"/>
              <a:ext cx="34886" cy="7472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56"/>
                </a:lnSpc>
                <a:spcBef>
                  <a:spcPts val="0"/>
                </a:spcBef>
                <a:spcAft>
                  <a:spcPts val="0"/>
                </a:spcAft>
                <a:defRPr sz="483" b="0" i="0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83" b="0" i="0" lang="zh-CN" dirty="0">
                  <a:solidFill>
                    <a:srgbClr val="007F85"/>
                  </a:solidFill>
                  <a:latin typeface="Liberation Serif"/>
                  <a:ea typeface="Liberation Serif"/>
                  <a:cs typeface="Liberation Serif"/>
                </a:rPr>
                <a:t>*</a:t>
              </a:r>
            </a:p>
          </p:txBody>
        </p:sp>
      </p:grpSp>
      <p:grpSp>
        <p:nvGrpSpPr>
          <p:cNvPr id="267" name="price_sum" descr="price sum"/>
          <p:cNvGrpSpPr/>
          <p:nvPr/>
        </p:nvGrpSpPr>
        <p:grpSpPr>
          <a:xfrm>
            <a:off x="3163366" y="1639519"/>
            <a:ext cx="165963" cy="165963"/>
            <a:chOff x="3163366" y="1639519"/>
            <a:chExt cx="165963" cy="165963"/>
          </a:xfrm>
        </p:grpSpPr>
        <p:sp>
          <p:nvSpPr>
            <p:cNvPr id="202" name="price_sum_panel" descr="Editable shape; source id price_sum_panel"/>
            <p:cNvSpPr/>
            <p:nvPr/>
          </p:nvSpPr>
          <p:spPr>
            <a:xfrm>
              <a:off x="3163366" y="1639519"/>
              <a:ext cx="165963" cy="165963"/>
            </a:xfrm>
            <a:prstGeom prst="roundRect">
              <a:avLst>
                <a:gd name="adj" fmla="val 12121"/>
              </a:avLst>
            </a:prstGeom>
            <a:solidFill>
              <a:srgbClr val="FFFFFF"/>
            </a:solidFill>
            <a:ln w="4526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sum_symbol" descr="Editable text; source id sum_symbol"/>
            <p:cNvSpPr txBox="1"/>
            <p:nvPr/>
          </p:nvSpPr>
          <p:spPr>
            <a:xfrm>
              <a:off x="3212145" y="1660790"/>
              <a:ext cx="76614" cy="129403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88"/>
                </a:lnSpc>
                <a:spcBef>
                  <a:spcPts val="0"/>
                </a:spcBef>
                <a:spcAft>
                  <a:spcPts val="0"/>
                </a:spcAft>
                <a:defRPr sz="772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72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+</a:t>
              </a:r>
            </a:p>
          </p:txBody>
        </p:sp>
      </p:grpSp>
      <p:sp>
        <p:nvSpPr>
          <p:cNvPr id="204" name="feedback_to_sum" descr="Editable line; source id feedback_to_sum"/>
          <p:cNvSpPr/>
          <p:nvPr/>
        </p:nvSpPr>
        <p:spPr>
          <a:xfrm>
            <a:off x="2937053" y="1708669"/>
            <a:ext cx="211226" cy="22634"/>
          </a:xfrm>
          <a:custGeom>
            <a:avLst/>
            <a:gdLst/>
            <a:ahLst/>
            <a:cxnLst/>
            <a:rect l="l" t="t" r="r" b="b"/>
            <a:pathLst>
              <a:path w="77196" h="8272">
                <a:moveTo>
                  <a:pt x="0" y="3125"/>
                </a:moveTo>
                <a:lnTo>
                  <a:pt x="66168" y="3125"/>
                </a:lnTo>
                <a:lnTo>
                  <a:pt x="66168" y="0"/>
                </a:lnTo>
                <a:lnTo>
                  <a:pt x="77196" y="4136"/>
                </a:lnTo>
                <a:lnTo>
                  <a:pt x="66168" y="8272"/>
                </a:lnTo>
                <a:lnTo>
                  <a:pt x="66168" y="5147"/>
                </a:lnTo>
                <a:lnTo>
                  <a:pt x="0" y="5147"/>
                </a:lnTo>
                <a:close/>
              </a:path>
            </a:pathLst>
          </a:custGeom>
          <a:solidFill>
            <a:srgbClr val="B78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eedback_price_0" descr="Editable text; source id feedback_price_0"/>
          <p:cNvSpPr txBox="1"/>
          <p:nvPr/>
        </p:nvSpPr>
        <p:spPr>
          <a:xfrm>
            <a:off x="3012152" y="1561998"/>
            <a:ext cx="52672" cy="105317"/>
          </a:xfrm>
          <a:prstGeom prst="rect">
            <a:avLst/>
          </a:prstGeom>
          <a:noFill/>
          <a:effectLst/>
        </p:spPr>
        <p:txBody>
          <a:bodyPr wrap="none" anchor="t" tIns="1368" rIns="0" bIns="0" lIns="3420" anchorCtr="0" vertOverflow="overflow">
            <a:noAutofit/>
          </a:bodyPr>
          <a:lstStyle/>
          <a:p>
            <a:pPr algn="l" fontAlgn="base">
              <a:lnSpc>
                <a:spcPts val="796"/>
              </a:lnSpc>
              <a:spcBef>
                <a:spcPts val="0"/>
              </a:spcBef>
              <a:spcAft>
                <a:spcPts val="0"/>
              </a:spcAft>
              <a:defRPr sz="693" b="0" i="1" lang="zh-CN" dirty="0">
                <a:solidFill>
                  <a:srgbClr val="B78129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693" b="0" i="1" lang="zh-CN" dirty="0">
                <a:solidFill>
                  <a:srgbClr val="B78129"/>
                </a:solidFill>
                <a:latin typeface="Liberation Serif"/>
                <a:ea typeface="Liberation Serif"/>
                <a:cs typeface="Liberation Serif"/>
              </a:rPr>
              <a:t>β</a:t>
            </a:r>
          </a:p>
        </p:txBody>
      </p:sp>
      <p:sp>
        <p:nvSpPr>
          <p:cNvPr id="206" name="price_to_update" descr="Editable line; source id price_to_update"/>
          <p:cNvSpPr/>
          <p:nvPr/>
        </p:nvSpPr>
        <p:spPr>
          <a:xfrm>
            <a:off x="3344418" y="1708669"/>
            <a:ext cx="316840" cy="22634"/>
          </a:xfrm>
          <a:custGeom>
            <a:avLst/>
            <a:gdLst/>
            <a:ahLst/>
            <a:cxnLst/>
            <a:rect l="l" t="t" r="r" b="b"/>
            <a:pathLst>
              <a:path w="115794" h="8272">
                <a:moveTo>
                  <a:pt x="0" y="2987"/>
                </a:moveTo>
                <a:lnTo>
                  <a:pt x="104766" y="2987"/>
                </a:lnTo>
                <a:lnTo>
                  <a:pt x="104766" y="0"/>
                </a:lnTo>
                <a:lnTo>
                  <a:pt x="115794" y="4136"/>
                </a:lnTo>
                <a:lnTo>
                  <a:pt x="104766" y="8272"/>
                </a:lnTo>
                <a:lnTo>
                  <a:pt x="104766" y="5285"/>
                </a:lnTo>
                <a:lnTo>
                  <a:pt x="0" y="5285"/>
                </a:lnTo>
                <a:close/>
              </a:path>
            </a:pathLst>
          </a:custGeom>
          <a:solidFill>
            <a:srgbClr val="007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otal_price_0" descr="Editable text; source id total_price_0"/>
          <p:cNvSpPr txBox="1"/>
          <p:nvPr/>
        </p:nvSpPr>
        <p:spPr>
          <a:xfrm>
            <a:off x="3476404" y="1559946"/>
            <a:ext cx="48781" cy="108208"/>
          </a:xfrm>
          <a:prstGeom prst="rect">
            <a:avLst/>
          </a:prstGeom>
          <a:noFill/>
          <a:effectLst/>
        </p:spPr>
        <p:txBody>
          <a:bodyPr wrap="none" anchor="t" tIns="1368" rIns="0" bIns="0" lIns="4104" anchorCtr="0" vertOverflow="overflow">
            <a:noAutofit/>
          </a:bodyPr>
          <a:lstStyle/>
          <a:p>
            <a:pPr algn="l" fontAlgn="base">
              <a:lnSpc>
                <a:spcPts val="819"/>
              </a:lnSpc>
              <a:spcBef>
                <a:spcPts val="0"/>
              </a:spcBef>
              <a:spcAft>
                <a:spcPts val="0"/>
              </a:spcAft>
              <a:defRPr sz="712" b="0" i="1" lang="zh-CN" dirty="0">
                <a:solidFill>
                  <a:srgbClr val="007F85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12" b="0" i="1" lang="zh-CN" dirty="0">
                <a:solidFill>
                  <a:srgbClr val="007F85"/>
                </a:solidFill>
                <a:latin typeface="Liberation Serif"/>
                <a:ea typeface="Liberation Serif"/>
                <a:cs typeface="Liberation Serif"/>
              </a:rPr>
              <a:t>λ</a:t>
            </a:r>
          </a:p>
        </p:txBody>
      </p:sp>
      <p:grpSp>
        <p:nvGrpSpPr>
          <p:cNvPr id="268" name="gae_bypass" descr="One editable routed connector; fixed endpoints."/>
          <p:cNvGrpSpPr/>
          <p:nvPr/>
        </p:nvGrpSpPr>
        <p:grpSpPr>
          <a:xfrm>
            <a:off x="1196949" y="1901037"/>
            <a:ext cx="2641589" cy="213742"/>
            <a:chOff x="1196949" y="1901037"/>
            <a:chExt cx="2641589" cy="213742"/>
          </a:xfrm>
        </p:grpSpPr>
        <p:cxnSp>
          <p:nvCxnSpPr>
            <p:cNvPr id="208" name="gae_bypass_0" descr="Editable line; source id gae_bypass_0"/>
            <p:cNvCxnSpPr/>
            <p:nvPr/>
          </p:nvCxnSpPr>
          <p:spPr>
            <a:xfrm>
              <a:off x="1196949" y="1901037"/>
              <a:ext cx="95555" cy="0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gae_bypass_1" descr="Editable line; source id gae_bypass_1"/>
            <p:cNvCxnSpPr/>
            <p:nvPr/>
          </p:nvCxnSpPr>
          <p:spPr>
            <a:xfrm>
              <a:off x="1292504" y="1901037"/>
              <a:ext cx="0" cy="213741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gae_bypass_2" descr="Editable line; source id gae_bypass_2"/>
            <p:cNvCxnSpPr/>
            <p:nvPr/>
          </p:nvCxnSpPr>
          <p:spPr>
            <a:xfrm>
              <a:off x="1292504" y="2114778"/>
              <a:ext cx="2534717" cy="0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gae_bypass_3" descr="Editable line; source id gae_bypass_3"/>
            <p:cNvSpPr/>
            <p:nvPr/>
          </p:nvSpPr>
          <p:spPr>
            <a:xfrm>
              <a:off x="3815904" y="2026768"/>
              <a:ext cx="22634" cy="88011"/>
            </a:xfrm>
            <a:custGeom>
              <a:avLst/>
              <a:gdLst/>
              <a:ahLst/>
              <a:cxnLst/>
              <a:rect l="l" t="t" r="r" b="b"/>
              <a:pathLst>
                <a:path w="8272" h="32165">
                  <a:moveTo>
                    <a:pt x="3125" y="32165"/>
                  </a:moveTo>
                  <a:lnTo>
                    <a:pt x="3125" y="11028"/>
                  </a:lnTo>
                  <a:lnTo>
                    <a:pt x="0" y="11028"/>
                  </a:lnTo>
                  <a:lnTo>
                    <a:pt x="4136" y="0"/>
                  </a:lnTo>
                  <a:lnTo>
                    <a:pt x="8272" y="11028"/>
                  </a:lnTo>
                  <a:lnTo>
                    <a:pt x="5147" y="11028"/>
                  </a:lnTo>
                  <a:lnTo>
                    <a:pt x="5147" y="32165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9" name="gae_label" descr="Editable formula parts and native mathematical delimiters."/>
          <p:cNvGrpSpPr/>
          <p:nvPr/>
        </p:nvGrpSpPr>
        <p:grpSpPr>
          <a:xfrm>
            <a:off x="2291879" y="1994510"/>
            <a:ext cx="444168" cy="118705"/>
            <a:chOff x="2291879" y="1994510"/>
            <a:chExt cx="444168" cy="118705"/>
          </a:xfrm>
        </p:grpSpPr>
        <p:sp>
          <p:nvSpPr>
            <p:cNvPr id="212" name="gae_label_0" descr="Editable text; source id gae_label_0"/>
            <p:cNvSpPr txBox="1"/>
            <p:nvPr/>
          </p:nvSpPr>
          <p:spPr>
            <a:xfrm>
              <a:off x="2291879" y="1994510"/>
              <a:ext cx="226498" cy="105317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GAE: </a:t>
              </a:r>
            </a:p>
          </p:txBody>
        </p:sp>
        <p:sp>
          <p:nvSpPr>
            <p:cNvPr id="213" name="gae_label_1" descr="Editable text; source id gae_label_1"/>
            <p:cNvSpPr txBox="1"/>
            <p:nvPr/>
          </p:nvSpPr>
          <p:spPr>
            <a:xfrm>
              <a:off x="2511441" y="1994510"/>
              <a:ext cx="69773" cy="105317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6840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214" name="gae_label_2" descr="Editable text; source id gae_label_2"/>
            <p:cNvSpPr txBox="1"/>
            <p:nvPr/>
          </p:nvSpPr>
          <p:spPr>
            <a:xfrm>
              <a:off x="2577110" y="2042311"/>
              <a:ext cx="23450" cy="70904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25"/>
                </a:lnSpc>
                <a:spcBef>
                  <a:spcPts val="0"/>
                </a:spcBef>
                <a:spcAft>
                  <a:spcPts val="0"/>
                </a:spcAft>
                <a:defRPr sz="457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57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r</a:t>
              </a:r>
            </a:p>
          </p:txBody>
        </p:sp>
        <p:sp>
          <p:nvSpPr>
            <p:cNvPr id="215" name="gae_label_3" descr="Editable text; source id gae_label_3"/>
            <p:cNvSpPr txBox="1"/>
            <p:nvPr/>
          </p:nvSpPr>
          <p:spPr>
            <a:xfrm>
              <a:off x="2599097" y="1994510"/>
              <a:ext cx="48119" cy="105317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, </a:t>
              </a:r>
            </a:p>
          </p:txBody>
        </p:sp>
        <p:sp>
          <p:nvSpPr>
            <p:cNvPr id="216" name="gae_label_4" descr="Editable text; source id gae_label_4"/>
            <p:cNvSpPr txBox="1"/>
            <p:nvPr/>
          </p:nvSpPr>
          <p:spPr>
            <a:xfrm>
              <a:off x="2640280" y="1994510"/>
              <a:ext cx="69773" cy="105317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6840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1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217" name="gae_label_5" descr="Editable text; source id gae_label_5"/>
            <p:cNvSpPr txBox="1"/>
            <p:nvPr/>
          </p:nvSpPr>
          <p:spPr>
            <a:xfrm>
              <a:off x="2705949" y="2042311"/>
              <a:ext cx="30098" cy="70904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25"/>
                </a:lnSpc>
                <a:spcBef>
                  <a:spcPts val="0"/>
                </a:spcBef>
                <a:spcAft>
                  <a:spcPts val="0"/>
                </a:spcAft>
                <a:defRPr sz="457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57" b="0" i="0" lang="zh-CN" dirty="0">
                  <a:solidFill>
                    <a:srgbClr val="536F8E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</p:grpSp>
      <p:sp>
        <p:nvSpPr>
          <p:cNvPr id="218" name="updated_policy_edge" descr="Editable line; source id updated_policy_edge"/>
          <p:cNvSpPr/>
          <p:nvPr/>
        </p:nvSpPr>
        <p:spPr>
          <a:xfrm>
            <a:off x="4571543" y="1723757"/>
            <a:ext cx="93040" cy="22634"/>
          </a:xfrm>
          <a:custGeom>
            <a:avLst/>
            <a:gdLst/>
            <a:ahLst/>
            <a:cxnLst/>
            <a:rect l="l" t="t" r="r" b="b"/>
            <a:pathLst>
              <a:path w="34003" h="8272">
                <a:moveTo>
                  <a:pt x="0" y="3125"/>
                </a:moveTo>
                <a:lnTo>
                  <a:pt x="22975" y="3125"/>
                </a:lnTo>
                <a:lnTo>
                  <a:pt x="22975" y="0"/>
                </a:lnTo>
                <a:lnTo>
                  <a:pt x="34003" y="4136"/>
                </a:lnTo>
                <a:lnTo>
                  <a:pt x="22975" y="8272"/>
                </a:lnTo>
                <a:lnTo>
                  <a:pt x="22975" y="5147"/>
                </a:lnTo>
                <a:lnTo>
                  <a:pt x="0" y="5147"/>
                </a:lnTo>
                <a:close/>
              </a:path>
            </a:pathLst>
          </a:custGeom>
          <a:solidFill>
            <a:srgbClr val="53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70" name="next_rollout" descr="One editable routed connector; fixed endpoints."/>
          <p:cNvGrpSpPr/>
          <p:nvPr/>
        </p:nvGrpSpPr>
        <p:grpSpPr>
          <a:xfrm>
            <a:off x="622365" y="1923669"/>
            <a:ext cx="4188064" cy="336956"/>
            <a:chOff x="622365" y="1923669"/>
            <a:chExt cx="4188064" cy="336956"/>
          </a:xfrm>
        </p:grpSpPr>
        <p:cxnSp>
          <p:nvCxnSpPr>
            <p:cNvPr id="219" name="next_rollout_0" descr="Editable line; source id next_rollout_0"/>
            <p:cNvCxnSpPr/>
            <p:nvPr/>
          </p:nvCxnSpPr>
          <p:spPr>
            <a:xfrm>
              <a:off x="4810429" y="1923669"/>
              <a:ext cx="0" cy="336956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next_rollout_1" descr="Editable line; source id next_rollout_1"/>
            <p:cNvCxnSpPr/>
            <p:nvPr/>
          </p:nvCxnSpPr>
          <p:spPr>
            <a:xfrm flipH="1">
              <a:off x="633679" y="2260625"/>
              <a:ext cx="4176750" cy="0"/>
            </a:xfrm>
            <a:prstGeom prst="line">
              <a:avLst/>
            </a:prstGeom>
            <a:ln w="5532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next_rollout_2" descr="Editable line; source id next_rollout_2"/>
            <p:cNvSpPr/>
            <p:nvPr/>
          </p:nvSpPr>
          <p:spPr>
            <a:xfrm>
              <a:off x="622365" y="2029282"/>
              <a:ext cx="22631" cy="231343"/>
            </a:xfrm>
            <a:custGeom>
              <a:avLst/>
              <a:gdLst/>
              <a:ahLst/>
              <a:cxnLst/>
              <a:rect l="l" t="t" r="r" b="b"/>
              <a:pathLst>
                <a:path w="8271" h="84548">
                  <a:moveTo>
                    <a:pt x="3124" y="84548"/>
                  </a:moveTo>
                  <a:lnTo>
                    <a:pt x="3124" y="11028"/>
                  </a:lnTo>
                  <a:lnTo>
                    <a:pt x="0" y="11028"/>
                  </a:lnTo>
                  <a:lnTo>
                    <a:pt x="4135" y="0"/>
                  </a:lnTo>
                  <a:lnTo>
                    <a:pt x="8271" y="11028"/>
                  </a:lnTo>
                  <a:lnTo>
                    <a:pt x="5146" y="11028"/>
                  </a:lnTo>
                  <a:lnTo>
                    <a:pt x="5146" y="84548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2" name="next_rollout_text" descr="Editable text; source id next_rollout_text"/>
          <p:cNvSpPr txBox="1"/>
          <p:nvPr/>
        </p:nvSpPr>
        <p:spPr>
          <a:xfrm>
            <a:off x="2557651" y="2147216"/>
            <a:ext cx="425024" cy="111599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751"/>
              </a:lnSpc>
              <a:spcBef>
                <a:spcPts val="0"/>
              </a:spcBef>
              <a:spcAft>
                <a:spcPts val="0"/>
              </a:spcAft>
              <a:defRPr sz="65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5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next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