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2514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V11 visual mechanism redraw of generated reference. Schematic only. Full equations in companion captions. Frozen R2 science; no policy-safety guarantee.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62" name="penalty_view" descr="penalty view"/>
          <p:cNvGrpSpPr/>
          <p:nvPr/>
        </p:nvGrpSpPr>
        <p:grpSpPr>
          <a:xfrm>
            <a:off x="229078" y="73050"/>
            <a:ext cx="883086" cy="693408"/>
            <a:chOff x="229078" y="73050"/>
            <a:chExt cx="883086" cy="693408"/>
          </a:xfrm>
        </p:grpSpPr>
        <p:sp>
          <p:nvSpPr>
            <p:cNvPr id="2" name="penalty_title" descr="Editable text; source id penalty_title"/>
            <p:cNvSpPr txBox="1"/>
            <p:nvPr/>
          </p:nvSpPr>
          <p:spPr>
            <a:xfrm>
              <a:off x="388898" y="73050"/>
              <a:ext cx="563446" cy="120994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819"/>
                </a:lnSpc>
                <a:spcBef>
                  <a:spcPts val="0"/>
                </a:spcBef>
                <a:spcAft>
                  <a:spcPts val="0"/>
                </a:spcAft>
                <a:defRPr sz="712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712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Penalty view</a:t>
              </a:r>
            </a:p>
          </p:txBody>
        </p:sp>
        <p:grpSp>
          <p:nvGrpSpPr>
            <p:cNvPr id="161" name="penalty_weights" descr="penalty weights"/>
            <p:cNvGrpSpPr/>
            <p:nvPr/>
          </p:nvGrpSpPr>
          <p:grpSpPr>
            <a:xfrm>
              <a:off x="255419" y="230557"/>
              <a:ext cx="730303" cy="345818"/>
              <a:chOff x="255419" y="230557"/>
              <a:chExt cx="730303" cy="345818"/>
            </a:xfrm>
          </p:grpSpPr>
          <p:grpSp>
            <p:nvGrpSpPr>
              <p:cNvPr id="158" name="penalty_weights_c0" descr="Editable formula parts and native mathematical delimiters."/>
              <p:cNvGrpSpPr/>
              <p:nvPr/>
            </p:nvGrpSpPr>
            <p:grpSpPr>
              <a:xfrm>
                <a:off x="255419" y="230557"/>
                <a:ext cx="66521" cy="109445"/>
                <a:chOff x="255419" y="230557"/>
                <a:chExt cx="66521" cy="109445"/>
              </a:xfrm>
            </p:grpSpPr>
            <p:sp>
              <p:nvSpPr>
                <p:cNvPr id="3" name="penalty_weights_c0_0" descr="Editable text; source id penalty_weights_c0_0"/>
                <p:cNvSpPr txBox="1"/>
                <p:nvPr/>
              </p:nvSpPr>
              <p:spPr>
                <a:xfrm>
                  <a:off x="255419" y="230557"/>
                  <a:ext cx="39966" cy="9678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2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3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3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4" name="penalty_weights_c0_1" descr="Editable text; source id penalty_weights_c0_1"/>
                <p:cNvSpPr txBox="1"/>
                <p:nvPr/>
              </p:nvSpPr>
              <p:spPr>
                <a:xfrm>
                  <a:off x="291133" y="274675"/>
                  <a:ext cx="30807" cy="6532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48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18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18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</p:grpSp>
          <p:sp>
            <p:nvSpPr>
              <p:cNvPr id="5" name="penalty_weights_track0" descr="Editable shape; source id penalty_weights_track0"/>
              <p:cNvSpPr/>
              <p:nvPr/>
            </p:nvSpPr>
            <p:spPr>
              <a:xfrm>
                <a:off x="374675" y="266547"/>
                <a:ext cx="611047" cy="25146"/>
              </a:xfrm>
              <a:prstGeom prst="roundRect">
                <a:avLst>
                  <a:gd name="adj" fmla="val 50000"/>
                </a:avLst>
              </a:prstGeom>
              <a:solidFill>
                <a:srgbClr val="EDF1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" name="penalty_weights_fill0" descr="Editable shape; source id penalty_weights_fill0"/>
              <p:cNvSpPr/>
              <p:nvPr/>
            </p:nvSpPr>
            <p:spPr>
              <a:xfrm>
                <a:off x="374675" y="266547"/>
                <a:ext cx="256640" cy="25146"/>
              </a:xfrm>
              <a:prstGeom prst="roundRect">
                <a:avLst>
                  <a:gd name="adj" fmla="val 50000"/>
                </a:avLst>
              </a:prstGeom>
              <a:solidFill>
                <a:srgbClr val="536F8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" name="penalty_weights_knob0" descr="Editable shape; source id penalty_weights_knob0"/>
              <p:cNvSpPr/>
              <p:nvPr/>
            </p:nvSpPr>
            <p:spPr>
              <a:xfrm>
                <a:off x="608684" y="256489"/>
                <a:ext cx="45262" cy="45262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536F8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59" name="penalty_weights_c1" descr="Editable formula parts and native mathematical delimiters."/>
              <p:cNvGrpSpPr/>
              <p:nvPr/>
            </p:nvGrpSpPr>
            <p:grpSpPr>
              <a:xfrm>
                <a:off x="255419" y="348744"/>
                <a:ext cx="66521" cy="109445"/>
                <a:chOff x="255419" y="348744"/>
                <a:chExt cx="66521" cy="109445"/>
              </a:xfrm>
            </p:grpSpPr>
            <p:sp>
              <p:nvSpPr>
                <p:cNvPr id="8" name="penalty_weights_c1_0" descr="Editable text; source id penalty_weights_c1_0"/>
                <p:cNvSpPr txBox="1"/>
                <p:nvPr/>
              </p:nvSpPr>
              <p:spPr>
                <a:xfrm>
                  <a:off x="255419" y="348744"/>
                  <a:ext cx="39966" cy="9678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2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3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3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9" name="penalty_weights_c1_1" descr="Editable text; source id penalty_weights_c1_1"/>
                <p:cNvSpPr txBox="1"/>
                <p:nvPr/>
              </p:nvSpPr>
              <p:spPr>
                <a:xfrm>
                  <a:off x="291133" y="392862"/>
                  <a:ext cx="30807" cy="6532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48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18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18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</p:grpSp>
          <p:sp>
            <p:nvSpPr>
              <p:cNvPr id="10" name="penalty_weights_track1" descr="Editable shape; source id penalty_weights_track1"/>
              <p:cNvSpPr/>
              <p:nvPr/>
            </p:nvSpPr>
            <p:spPr>
              <a:xfrm>
                <a:off x="374675" y="384733"/>
                <a:ext cx="611047" cy="25146"/>
              </a:xfrm>
              <a:prstGeom prst="roundRect">
                <a:avLst>
                  <a:gd name="adj" fmla="val 50000"/>
                </a:avLst>
              </a:prstGeom>
              <a:solidFill>
                <a:srgbClr val="EDF1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" name="penalty_weights_fill1" descr="Editable shape; source id penalty_weights_fill1"/>
              <p:cNvSpPr/>
              <p:nvPr/>
            </p:nvSpPr>
            <p:spPr>
              <a:xfrm>
                <a:off x="374675" y="384733"/>
                <a:ext cx="415512" cy="25146"/>
              </a:xfrm>
              <a:prstGeom prst="roundRect">
                <a:avLst>
                  <a:gd name="adj" fmla="val 50000"/>
                </a:avLst>
              </a:prstGeom>
              <a:solidFill>
                <a:srgbClr val="536F8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penalty_weights_knob1" descr="Editable shape; source id penalty_weights_knob1"/>
              <p:cNvSpPr/>
              <p:nvPr/>
            </p:nvSpPr>
            <p:spPr>
              <a:xfrm>
                <a:off x="767556" y="374675"/>
                <a:ext cx="45262" cy="45262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536F8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60" name="penalty_weights_c2" descr="Editable formula parts and native mathematical delimiters."/>
              <p:cNvGrpSpPr/>
              <p:nvPr/>
            </p:nvGrpSpPr>
            <p:grpSpPr>
              <a:xfrm>
                <a:off x="255419" y="466930"/>
                <a:ext cx="66521" cy="109445"/>
                <a:chOff x="255419" y="466930"/>
                <a:chExt cx="66521" cy="109445"/>
              </a:xfrm>
            </p:grpSpPr>
            <p:sp>
              <p:nvSpPr>
                <p:cNvPr id="13" name="penalty_weights_c2_0" descr="Editable text; source id penalty_weights_c2_0"/>
                <p:cNvSpPr txBox="1"/>
                <p:nvPr/>
              </p:nvSpPr>
              <p:spPr>
                <a:xfrm>
                  <a:off x="255419" y="466930"/>
                  <a:ext cx="39966" cy="9678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2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3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3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14" name="penalty_weights_c2_1" descr="Editable text; source id penalty_weights_c2_1"/>
                <p:cNvSpPr txBox="1"/>
                <p:nvPr/>
              </p:nvSpPr>
              <p:spPr>
                <a:xfrm>
                  <a:off x="291133" y="511048"/>
                  <a:ext cx="30807" cy="6532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48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18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18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3</a:t>
                  </a:r>
                </a:p>
              </p:txBody>
            </p:sp>
          </p:grpSp>
          <p:sp>
            <p:nvSpPr>
              <p:cNvPr id="15" name="penalty_weights_track2" descr="Editable shape; source id penalty_weights_track2"/>
              <p:cNvSpPr/>
              <p:nvPr/>
            </p:nvSpPr>
            <p:spPr>
              <a:xfrm>
                <a:off x="374675" y="502920"/>
                <a:ext cx="611047" cy="25146"/>
              </a:xfrm>
              <a:prstGeom prst="roundRect">
                <a:avLst>
                  <a:gd name="adj" fmla="val 50000"/>
                </a:avLst>
              </a:prstGeom>
              <a:solidFill>
                <a:srgbClr val="EDF1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penalty_weights_fill2" descr="Editable shape; source id penalty_weights_fill2"/>
              <p:cNvSpPr/>
              <p:nvPr/>
            </p:nvSpPr>
            <p:spPr>
              <a:xfrm>
                <a:off x="374675" y="502920"/>
                <a:ext cx="183314" cy="25146"/>
              </a:xfrm>
              <a:prstGeom prst="roundRect">
                <a:avLst>
                  <a:gd name="adj" fmla="val 50000"/>
                </a:avLst>
              </a:prstGeom>
              <a:solidFill>
                <a:srgbClr val="536F8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penalty_weights_knob2" descr="Editable shape; source id penalty_weights_knob2"/>
              <p:cNvSpPr/>
              <p:nvPr/>
            </p:nvSpPr>
            <p:spPr>
              <a:xfrm>
                <a:off x="535358" y="492861"/>
                <a:ext cx="45262" cy="45262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536F8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8" name="penalty_settings" descr="Editable text; source id penalty_settings"/>
            <p:cNvSpPr txBox="1"/>
            <p:nvPr/>
          </p:nvSpPr>
          <p:spPr>
            <a:xfrm>
              <a:off x="229078" y="549980"/>
              <a:ext cx="883086" cy="109126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28"/>
                </a:lnSpc>
                <a:spcBef>
                  <a:spcPts val="0"/>
                </a:spcBef>
                <a:spcAft>
                  <a:spcPts val="0"/>
                </a:spcAft>
                <a:defRPr sz="633" b="0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33" b="0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Fixed / adaptive weights</a:t>
              </a:r>
            </a:p>
          </p:txBody>
        </p:sp>
        <p:sp>
          <p:nvSpPr>
            <p:cNvPr id="19" name="zero_cap_note" descr="Editable text; source id zero_cap_note"/>
            <p:cNvSpPr txBox="1"/>
            <p:nvPr/>
          </p:nvSpPr>
          <p:spPr>
            <a:xfrm>
              <a:off x="293085" y="658816"/>
              <a:ext cx="755071" cy="107642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17"/>
                </a:lnSpc>
                <a:spcBef>
                  <a:spcPts val="0"/>
                </a:spcBef>
                <a:spcAft>
                  <a:spcPts val="0"/>
                </a:spcAft>
                <a:defRPr sz="623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23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rPr>
                <a:t>Zero graph-price cap</a:t>
              </a:r>
            </a:p>
          </p:txBody>
        </p:sp>
      </p:grpSp>
      <p:grpSp>
        <p:nvGrpSpPr>
          <p:cNvPr id="167" name="constraint_view" descr="constraint view"/>
          <p:cNvGrpSpPr/>
          <p:nvPr/>
        </p:nvGrpSpPr>
        <p:grpSpPr>
          <a:xfrm>
            <a:off x="3951881" y="73050"/>
            <a:ext cx="821307" cy="693408"/>
            <a:chOff x="3951881" y="73050"/>
            <a:chExt cx="821307" cy="693408"/>
          </a:xfrm>
        </p:grpSpPr>
        <p:sp>
          <p:nvSpPr>
            <p:cNvPr id="20" name="constraint_title" descr="Editable text; source id constraint_title"/>
            <p:cNvSpPr txBox="1"/>
            <p:nvPr/>
          </p:nvSpPr>
          <p:spPr>
            <a:xfrm>
              <a:off x="4019802" y="73050"/>
              <a:ext cx="694562" cy="120994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819"/>
                </a:lnSpc>
                <a:spcBef>
                  <a:spcPts val="0"/>
                </a:spcBef>
                <a:spcAft>
                  <a:spcPts val="0"/>
                </a:spcAft>
                <a:defRPr sz="712" b="1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712" b="1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rPr>
                <a:t>Constraint view</a:t>
              </a:r>
            </a:p>
          </p:txBody>
        </p:sp>
        <p:grpSp>
          <p:nvGrpSpPr>
            <p:cNvPr id="166" name="joint_budget_view" descr="joint budget view"/>
            <p:cNvGrpSpPr/>
            <p:nvPr/>
          </p:nvGrpSpPr>
          <p:grpSpPr>
            <a:xfrm>
              <a:off x="3951881" y="230557"/>
              <a:ext cx="730303" cy="345818"/>
              <a:chOff x="3951881" y="230557"/>
              <a:chExt cx="730303" cy="345818"/>
            </a:xfrm>
          </p:grpSpPr>
          <p:grpSp>
            <p:nvGrpSpPr>
              <p:cNvPr id="163" name="joint_budget_view_c0" descr="Editable formula parts and native mathematical delimiters."/>
              <p:cNvGrpSpPr/>
              <p:nvPr/>
            </p:nvGrpSpPr>
            <p:grpSpPr>
              <a:xfrm>
                <a:off x="3951881" y="230557"/>
                <a:ext cx="66521" cy="109445"/>
                <a:chOff x="3951881" y="230557"/>
                <a:chExt cx="66521" cy="109445"/>
              </a:xfrm>
            </p:grpSpPr>
            <p:sp>
              <p:nvSpPr>
                <p:cNvPr id="21" name="joint_budget_view_c0_0" descr="Editable text; source id joint_budget_view_c0_0"/>
                <p:cNvSpPr txBox="1"/>
                <p:nvPr/>
              </p:nvSpPr>
              <p:spPr>
                <a:xfrm>
                  <a:off x="3951881" y="230557"/>
                  <a:ext cx="39966" cy="9678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2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3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3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22" name="joint_budget_view_c0_1" descr="Editable text; source id joint_budget_view_c0_1"/>
                <p:cNvSpPr txBox="1"/>
                <p:nvPr/>
              </p:nvSpPr>
              <p:spPr>
                <a:xfrm>
                  <a:off x="3987595" y="274675"/>
                  <a:ext cx="30807" cy="6532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48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18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18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</p:grpSp>
          <p:sp>
            <p:nvSpPr>
              <p:cNvPr id="23" name="joint_budget_view_track0" descr="Editable shape; source id joint_budget_view_track0"/>
              <p:cNvSpPr/>
              <p:nvPr/>
            </p:nvSpPr>
            <p:spPr>
              <a:xfrm>
                <a:off x="4071137" y="266547"/>
                <a:ext cx="611047" cy="25146"/>
              </a:xfrm>
              <a:prstGeom prst="roundRect">
                <a:avLst>
                  <a:gd name="adj" fmla="val 50000"/>
                </a:avLst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joint_budget_view_fill0" descr="Editable shape; source id joint_budget_view_fill0"/>
              <p:cNvSpPr/>
              <p:nvPr/>
            </p:nvSpPr>
            <p:spPr>
              <a:xfrm>
                <a:off x="4071137" y="266547"/>
                <a:ext cx="256640" cy="25146"/>
              </a:xfrm>
              <a:prstGeom prst="roundRect">
                <a:avLst>
                  <a:gd name="adj" fmla="val 50000"/>
                </a:avLst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25" name="joint_budget_view_limit0" descr="Editable line; source id joint_budget_view_limit0"/>
              <p:cNvCxnSpPr/>
              <p:nvPr/>
            </p:nvCxnSpPr>
            <p:spPr>
              <a:xfrm>
                <a:off x="4547754" y="248945"/>
                <a:ext cx="0" cy="60350"/>
              </a:xfrm>
              <a:prstGeom prst="line">
                <a:avLst/>
              </a:prstGeom>
              <a:ln w="5532" cap="rnd">
                <a:solidFill>
                  <a:srgbClr val="B7812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4" name="joint_budget_view_c1" descr="Editable formula parts and native mathematical delimiters."/>
              <p:cNvGrpSpPr/>
              <p:nvPr/>
            </p:nvGrpSpPr>
            <p:grpSpPr>
              <a:xfrm>
                <a:off x="3951881" y="348744"/>
                <a:ext cx="66521" cy="109445"/>
                <a:chOff x="3951881" y="348744"/>
                <a:chExt cx="66521" cy="109445"/>
              </a:xfrm>
            </p:grpSpPr>
            <p:sp>
              <p:nvSpPr>
                <p:cNvPr id="26" name="joint_budget_view_c1_0" descr="Editable text; source id joint_budget_view_c1_0"/>
                <p:cNvSpPr txBox="1"/>
                <p:nvPr/>
              </p:nvSpPr>
              <p:spPr>
                <a:xfrm>
                  <a:off x="3951881" y="348744"/>
                  <a:ext cx="39966" cy="9678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2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3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3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27" name="joint_budget_view_c1_1" descr="Editable text; source id joint_budget_view_c1_1"/>
                <p:cNvSpPr txBox="1"/>
                <p:nvPr/>
              </p:nvSpPr>
              <p:spPr>
                <a:xfrm>
                  <a:off x="3987595" y="392862"/>
                  <a:ext cx="30807" cy="6532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48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18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18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</p:grpSp>
          <p:sp>
            <p:nvSpPr>
              <p:cNvPr id="28" name="joint_budget_view_track1" descr="Editable shape; source id joint_budget_view_track1"/>
              <p:cNvSpPr/>
              <p:nvPr/>
            </p:nvSpPr>
            <p:spPr>
              <a:xfrm>
                <a:off x="4071137" y="384733"/>
                <a:ext cx="611047" cy="25146"/>
              </a:xfrm>
              <a:prstGeom prst="roundRect">
                <a:avLst>
                  <a:gd name="adj" fmla="val 50000"/>
                </a:avLst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joint_budget_view_fill1" descr="Editable shape; source id joint_budget_view_fill1"/>
              <p:cNvSpPr/>
              <p:nvPr/>
            </p:nvSpPr>
            <p:spPr>
              <a:xfrm>
                <a:off x="4071137" y="384733"/>
                <a:ext cx="415512" cy="25146"/>
              </a:xfrm>
              <a:prstGeom prst="roundRect">
                <a:avLst>
                  <a:gd name="adj" fmla="val 50000"/>
                </a:avLst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30" name="joint_budget_view_limit1" descr="Editable line; source id joint_budget_view_limit1"/>
              <p:cNvCxnSpPr/>
              <p:nvPr/>
            </p:nvCxnSpPr>
            <p:spPr>
              <a:xfrm>
                <a:off x="4547754" y="367131"/>
                <a:ext cx="0" cy="60351"/>
              </a:xfrm>
              <a:prstGeom prst="line">
                <a:avLst/>
              </a:prstGeom>
              <a:ln w="5532" cap="rnd">
                <a:solidFill>
                  <a:srgbClr val="B7812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5" name="joint_budget_view_c2" descr="Editable formula parts and native mathematical delimiters."/>
              <p:cNvGrpSpPr/>
              <p:nvPr/>
            </p:nvGrpSpPr>
            <p:grpSpPr>
              <a:xfrm>
                <a:off x="3951881" y="466930"/>
                <a:ext cx="66521" cy="109445"/>
                <a:chOff x="3951881" y="466930"/>
                <a:chExt cx="66521" cy="109445"/>
              </a:xfrm>
            </p:grpSpPr>
            <p:sp>
              <p:nvSpPr>
                <p:cNvPr id="31" name="joint_budget_view_c2_0" descr="Editable text; source id joint_budget_view_c2_0"/>
                <p:cNvSpPr txBox="1"/>
                <p:nvPr/>
              </p:nvSpPr>
              <p:spPr>
                <a:xfrm>
                  <a:off x="3951881" y="466930"/>
                  <a:ext cx="39966" cy="9678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2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3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3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32" name="joint_budget_view_c2_1" descr="Editable text; source id joint_budget_view_c2_1"/>
                <p:cNvSpPr txBox="1"/>
                <p:nvPr/>
              </p:nvSpPr>
              <p:spPr>
                <a:xfrm>
                  <a:off x="3987595" y="511048"/>
                  <a:ext cx="30807" cy="6532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48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18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18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3</a:t>
                  </a:r>
                </a:p>
              </p:txBody>
            </p:sp>
          </p:grpSp>
          <p:sp>
            <p:nvSpPr>
              <p:cNvPr id="33" name="joint_budget_view_track2" descr="Editable shape; source id joint_budget_view_track2"/>
              <p:cNvSpPr/>
              <p:nvPr/>
            </p:nvSpPr>
            <p:spPr>
              <a:xfrm>
                <a:off x="4071137" y="502920"/>
                <a:ext cx="611047" cy="25146"/>
              </a:xfrm>
              <a:prstGeom prst="roundRect">
                <a:avLst>
                  <a:gd name="adj" fmla="val 50000"/>
                </a:avLst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joint_budget_view_fill2" descr="Editable shape; source id joint_budget_view_fill2"/>
              <p:cNvSpPr/>
              <p:nvPr/>
            </p:nvSpPr>
            <p:spPr>
              <a:xfrm>
                <a:off x="4071137" y="502920"/>
                <a:ext cx="183314" cy="25146"/>
              </a:xfrm>
              <a:prstGeom prst="roundRect">
                <a:avLst>
                  <a:gd name="adj" fmla="val 50000"/>
                </a:avLst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35" name="joint_budget_view_limit2" descr="Editable line; source id joint_budget_view_limit2"/>
              <p:cNvCxnSpPr/>
              <p:nvPr/>
            </p:nvCxnSpPr>
            <p:spPr>
              <a:xfrm>
                <a:off x="4547754" y="485317"/>
                <a:ext cx="0" cy="60351"/>
              </a:xfrm>
              <a:prstGeom prst="line">
                <a:avLst/>
              </a:prstGeom>
              <a:ln w="5532" cap="rnd">
                <a:solidFill>
                  <a:srgbClr val="B7812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constraint_budgets" descr="Editable text; source id constraint_budgets"/>
            <p:cNvSpPr txBox="1"/>
            <p:nvPr/>
          </p:nvSpPr>
          <p:spPr>
            <a:xfrm>
              <a:off x="4032863" y="549980"/>
              <a:ext cx="668438" cy="109126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28"/>
                </a:lnSpc>
                <a:spcBef>
                  <a:spcPts val="0"/>
                </a:spcBef>
                <a:spcAft>
                  <a:spcPts val="0"/>
                </a:spcAft>
                <a:defRPr sz="633" b="0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33" b="0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rPr>
                <a:t>Joint cost budgets</a:t>
              </a:r>
            </a:p>
          </p:txBody>
        </p:sp>
        <p:sp>
          <p:nvSpPr>
            <p:cNvPr id="37" name="conditional_limits" descr="Editable text; source id conditional_limits"/>
            <p:cNvSpPr txBox="1"/>
            <p:nvPr/>
          </p:nvSpPr>
          <p:spPr>
            <a:xfrm>
              <a:off x="3960976" y="658816"/>
              <a:ext cx="812212" cy="107642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17"/>
                </a:lnSpc>
                <a:spcBef>
                  <a:spcPts val="0"/>
                </a:spcBef>
                <a:spcAft>
                  <a:spcPts val="0"/>
                </a:spcAft>
                <a:defRPr sz="623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23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rPr>
                <a:t>Conditional price limits</a:t>
              </a:r>
            </a:p>
          </p:txBody>
        </p:sp>
      </p:grpSp>
      <p:sp>
        <p:nvSpPr>
          <p:cNvPr id="38" name="title" descr="Editable text; source id title"/>
          <p:cNvSpPr txBox="1"/>
          <p:nvPr/>
        </p:nvSpPr>
        <p:spPr>
          <a:xfrm>
            <a:off x="2172523" y="137993"/>
            <a:ext cx="692657" cy="147700"/>
          </a:xfrm>
          <a:prstGeom prst="rect">
            <a:avLst/>
          </a:prstGeom>
          <a:noFill/>
          <a:effectLst/>
        </p:spPr>
        <p:txBody>
          <a:bodyPr wrap="none" anchor="t" tIns="5669" rIns="0" bIns="0" lIns="5669" anchorCtr="0" vertOverflow="overflow">
            <a:noAutofit/>
          </a:bodyPr>
          <a:lstStyle/>
          <a:p>
            <a:pPr algn="l" fontAlgn="base">
              <a:lnSpc>
                <a:spcPts val="1024"/>
              </a:lnSpc>
              <a:spcBef>
                <a:spcPts val="0"/>
              </a:spcBef>
              <a:spcAft>
                <a:spcPts val="0"/>
              </a:spcAft>
              <a:defRPr sz="891" b="1" i="0" lang="zh-CN" dirty="0">
                <a:solidFill>
                  <a:srgbClr val="007F8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91" b="1" i="0" lang="zh-CN" dirty="0">
                <a:solidFill>
                  <a:srgbClr val="007F85"/>
                </a:solidFill>
                <a:latin typeface="Liberation Sans"/>
                <a:ea typeface="Liberation Sans"/>
                <a:cs typeface="Liberation Sans"/>
              </a:rPr>
              <a:t>SafeOT-Dual</a:t>
            </a:r>
          </a:p>
        </p:txBody>
      </p:sp>
      <p:sp>
        <p:nvSpPr>
          <p:cNvPr id="39" name="subtitle" descr="Editable text; source id subtitle"/>
          <p:cNvSpPr txBox="1"/>
          <p:nvPr/>
        </p:nvSpPr>
        <p:spPr>
          <a:xfrm>
            <a:off x="2017359" y="298976"/>
            <a:ext cx="1002985" cy="118027"/>
          </a:xfrm>
          <a:prstGeom prst="rect">
            <a:avLst/>
          </a:prstGeom>
          <a:noFill/>
          <a:effectLst/>
        </p:spPr>
        <p:txBody>
          <a:bodyPr wrap="none" anchor="t" tIns="5669" rIns="0" bIns="0" lIns="5669" anchorCtr="0" vertOverflow="overflow">
            <a:noAutofit/>
          </a:bodyPr>
          <a:lstStyle/>
          <a:p>
            <a:pPr algn="l" fontAlgn="base">
              <a:lnSpc>
                <a:spcPts val="796"/>
              </a:lnSpc>
              <a:spcBef>
                <a:spcPts val="0"/>
              </a:spcBef>
              <a:spcAft>
                <a:spcPts val="0"/>
              </a:spcAft>
              <a:defRPr sz="693" b="0" i="0" lang="zh-CN" dirty="0">
                <a:solidFill>
                  <a:srgbClr val="29343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693" b="0" i="0" lang="zh-CN" dirty="0">
                <a:solidFill>
                  <a:srgbClr val="29343E"/>
                </a:solidFill>
                <a:latin typeface="Liberation Sans"/>
                <a:ea typeface="Liberation Sans"/>
                <a:cs typeface="Liberation Sans"/>
              </a:rPr>
              <a:t>One price rule, two views</a:t>
            </a:r>
          </a:p>
        </p:txBody>
      </p:sp>
      <p:grpSp>
        <p:nvGrpSpPr>
          <p:cNvPr id="168" name="left_view_relation" descr="One editable routed connector; fixed endpoints."/>
          <p:cNvGrpSpPr/>
          <p:nvPr/>
        </p:nvGrpSpPr>
        <p:grpSpPr>
          <a:xfrm>
            <a:off x="1151686" y="392277"/>
            <a:ext cx="191110" cy="409880"/>
            <a:chOff x="1151686" y="392277"/>
            <a:chExt cx="191110" cy="409880"/>
          </a:xfrm>
        </p:grpSpPr>
        <p:cxnSp>
          <p:nvCxnSpPr>
            <p:cNvPr id="40" name="left_view_relation_0" descr="Editable line; source id left_view_relation_0"/>
            <p:cNvCxnSpPr/>
            <p:nvPr/>
          </p:nvCxnSpPr>
          <p:spPr>
            <a:xfrm>
              <a:off x="1151686" y="392277"/>
              <a:ext cx="191110" cy="0"/>
            </a:xfrm>
            <a:prstGeom prst="line">
              <a:avLst/>
            </a:prstGeom>
            <a:ln w="4023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left_view_relation_1" descr="Editable line; source id left_view_relation_1"/>
            <p:cNvCxnSpPr/>
            <p:nvPr/>
          </p:nvCxnSpPr>
          <p:spPr>
            <a:xfrm>
              <a:off x="1342796" y="392277"/>
              <a:ext cx="0" cy="409880"/>
            </a:xfrm>
            <a:prstGeom prst="line">
              <a:avLst/>
            </a:prstGeom>
            <a:ln w="4023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9" name="right_view_relation" descr="One editable routed connector; fixed endpoints."/>
          <p:cNvGrpSpPr/>
          <p:nvPr/>
        </p:nvGrpSpPr>
        <p:grpSpPr>
          <a:xfrm>
            <a:off x="3686403" y="392277"/>
            <a:ext cx="191110" cy="409880"/>
            <a:chOff x="3686403" y="392277"/>
            <a:chExt cx="191110" cy="409880"/>
          </a:xfrm>
        </p:grpSpPr>
        <p:cxnSp>
          <p:nvCxnSpPr>
            <p:cNvPr id="42" name="right_view_relation_0" descr="Editable line; source id right_view_relation_0"/>
            <p:cNvCxnSpPr/>
            <p:nvPr/>
          </p:nvCxnSpPr>
          <p:spPr>
            <a:xfrm flipH="1">
              <a:off x="3686403" y="392277"/>
              <a:ext cx="191110" cy="0"/>
            </a:xfrm>
            <a:prstGeom prst="line">
              <a:avLst/>
            </a:prstGeom>
            <a:ln w="4023" cap="rnd">
              <a:solidFill>
                <a:srgbClr val="B7812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right_view_relation_1" descr="Editable line; source id right_view_relation_1"/>
            <p:cNvCxnSpPr/>
            <p:nvPr/>
          </p:nvCxnSpPr>
          <p:spPr>
            <a:xfrm>
              <a:off x="3686403" y="392277"/>
              <a:ext cx="0" cy="409880"/>
            </a:xfrm>
            <a:prstGeom prst="line">
              <a:avLst/>
            </a:prstGeom>
            <a:ln w="4023" cap="rnd">
              <a:solidFill>
                <a:srgbClr val="B7812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9" name="shared_construction" descr="shared construction"/>
          <p:cNvGrpSpPr/>
          <p:nvPr/>
        </p:nvGrpSpPr>
        <p:grpSpPr>
          <a:xfrm>
            <a:off x="135788" y="827303"/>
            <a:ext cx="4757623" cy="1521332"/>
            <a:chOff x="135788" y="827303"/>
            <a:chExt cx="4757623" cy="1521332"/>
          </a:xfrm>
        </p:grpSpPr>
        <p:sp>
          <p:nvSpPr>
            <p:cNvPr id="44" name="shared_construction_panel" descr="Editable shape; source id shared_construction_panel"/>
            <p:cNvSpPr/>
            <p:nvPr/>
          </p:nvSpPr>
          <p:spPr>
            <a:xfrm>
              <a:off x="135788" y="827303"/>
              <a:ext cx="4757623" cy="1521332"/>
            </a:xfrm>
            <a:prstGeom prst="roundRect">
              <a:avLst>
                <a:gd name="adj" fmla="val 5619"/>
              </a:avLst>
            </a:prstGeom>
            <a:solidFill>
              <a:srgbClr val="F2F7F7"/>
            </a:solidFill>
            <a:ln w="3520">
              <a:solidFill>
                <a:srgbClr val="CDD7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encode_title" descr="Editable text; source id encode_title"/>
            <p:cNvSpPr txBox="1"/>
            <p:nvPr/>
          </p:nvSpPr>
          <p:spPr>
            <a:xfrm>
              <a:off x="397559" y="884878"/>
              <a:ext cx="621562" cy="118027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  <a:defRPr sz="693" b="1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93" b="1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rPr>
                <a:t>Encode jointly</a:t>
              </a:r>
            </a:p>
          </p:txBody>
        </p:sp>
        <p:sp>
          <p:nvSpPr>
            <p:cNvPr id="46" name="graph_title" descr="Editable text; source id graph_title"/>
            <p:cNvSpPr txBox="1"/>
            <p:nvPr/>
          </p:nvSpPr>
          <p:spPr>
            <a:xfrm>
              <a:off x="1833659" y="884878"/>
              <a:ext cx="817174" cy="118027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  <a:defRPr sz="693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93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rPr>
                <a:t>Price on one graph</a:t>
              </a:r>
            </a:p>
          </p:txBody>
        </p:sp>
        <p:sp>
          <p:nvSpPr>
            <p:cNvPr id="47" name="combine_title" descr="Editable text; source id combine_title"/>
            <p:cNvSpPr txBox="1"/>
            <p:nvPr/>
          </p:nvSpPr>
          <p:spPr>
            <a:xfrm>
              <a:off x="3647184" y="884878"/>
              <a:ext cx="680387" cy="118027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  <a:defRPr sz="693" b="1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93" b="1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rPr>
                <a:t>Combine prices</a:t>
              </a:r>
            </a:p>
          </p:txBody>
        </p:sp>
        <p:grpSp>
          <p:nvGrpSpPr>
            <p:cNvPr id="176" name="cost_maps" descr="cost maps"/>
            <p:cNvGrpSpPr/>
            <p:nvPr/>
          </p:nvGrpSpPr>
          <p:grpSpPr>
            <a:xfrm>
              <a:off x="351745" y="1103909"/>
              <a:ext cx="713189" cy="840157"/>
              <a:chOff x="351745" y="1103909"/>
              <a:chExt cx="713189" cy="840157"/>
            </a:xfrm>
          </p:grpSpPr>
          <p:grpSp>
            <p:nvGrpSpPr>
              <p:cNvPr id="170" name="cost_map1" descr="cost map1"/>
              <p:cNvGrpSpPr/>
              <p:nvPr/>
            </p:nvGrpSpPr>
            <p:grpSpPr>
              <a:xfrm>
                <a:off x="417423" y="1103909"/>
                <a:ext cx="361599" cy="155402"/>
                <a:chOff x="417423" y="1103909"/>
                <a:chExt cx="361599" cy="155402"/>
              </a:xfrm>
            </p:grpSpPr>
            <p:sp>
              <p:nvSpPr>
                <p:cNvPr id="48" name="cost_map1_0_0" descr="Editable shape; source id cost_map1_0_0"/>
                <p:cNvSpPr/>
                <p:nvPr/>
              </p:nvSpPr>
              <p:spPr>
                <a:xfrm>
                  <a:off x="417423" y="1103909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9" name="cost_map1_0_1" descr="Editable shape; source id cost_map1_0_1"/>
                <p:cNvSpPr/>
                <p:nvPr/>
              </p:nvSpPr>
              <p:spPr>
                <a:xfrm>
                  <a:off x="508577" y="1103909"/>
                  <a:ext cx="88136" cy="49789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0" name="cost_map1_0_2" descr="Editable shape; source id cost_map1_0_2"/>
                <p:cNvSpPr/>
                <p:nvPr/>
              </p:nvSpPr>
              <p:spPr>
                <a:xfrm>
                  <a:off x="599732" y="1103909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1" name="cost_map1_0_3" descr="Editable shape; source id cost_map1_0_3"/>
                <p:cNvSpPr/>
                <p:nvPr/>
              </p:nvSpPr>
              <p:spPr>
                <a:xfrm>
                  <a:off x="690886" y="1103909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2" name="cost_map1_1_0" descr="Editable shape; source id cost_map1_1_0"/>
                <p:cNvSpPr/>
                <p:nvPr/>
              </p:nvSpPr>
              <p:spPr>
                <a:xfrm>
                  <a:off x="417423" y="1156716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3" name="cost_map1_1_1" descr="Editable shape; source id cost_map1_1_1"/>
                <p:cNvSpPr/>
                <p:nvPr/>
              </p:nvSpPr>
              <p:spPr>
                <a:xfrm>
                  <a:off x="508577" y="1156716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4" name="cost_map1_1_2" descr="Editable shape; source id cost_map1_1_2"/>
                <p:cNvSpPr/>
                <p:nvPr/>
              </p:nvSpPr>
              <p:spPr>
                <a:xfrm>
                  <a:off x="599732" y="1156716"/>
                  <a:ext cx="88136" cy="49789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5" name="cost_map1_1_3" descr="Editable shape; source id cost_map1_1_3"/>
                <p:cNvSpPr/>
                <p:nvPr/>
              </p:nvSpPr>
              <p:spPr>
                <a:xfrm>
                  <a:off x="690886" y="1156716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6" name="cost_map1_2_0" descr="Editable shape; source id cost_map1_2_0"/>
                <p:cNvSpPr/>
                <p:nvPr/>
              </p:nvSpPr>
              <p:spPr>
                <a:xfrm>
                  <a:off x="417423" y="1209522"/>
                  <a:ext cx="88136" cy="49789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7" name="cost_map1_2_1" descr="Editable shape; source id cost_map1_2_1"/>
                <p:cNvSpPr/>
                <p:nvPr/>
              </p:nvSpPr>
              <p:spPr>
                <a:xfrm>
                  <a:off x="508577" y="1209522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8" name="cost_map1_2_2" descr="Editable shape; source id cost_map1_2_2"/>
                <p:cNvSpPr/>
                <p:nvPr/>
              </p:nvSpPr>
              <p:spPr>
                <a:xfrm>
                  <a:off x="599732" y="1209522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9" name="cost_map1_2_3" descr="Editable shape; source id cost_map1_2_3"/>
                <p:cNvSpPr/>
                <p:nvPr/>
              </p:nvSpPr>
              <p:spPr>
                <a:xfrm>
                  <a:off x="690886" y="1209522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171" name="cost_map_label1" descr="Editable formula parts and native mathematical delimiters."/>
              <p:cNvGrpSpPr/>
              <p:nvPr/>
            </p:nvGrpSpPr>
            <p:grpSpPr>
              <a:xfrm>
                <a:off x="841624" y="1129823"/>
                <a:ext cx="95790" cy="121619"/>
                <a:chOff x="841624" y="1129823"/>
                <a:chExt cx="95790" cy="121619"/>
              </a:xfrm>
            </p:grpSpPr>
            <p:sp>
              <p:nvSpPr>
                <p:cNvPr id="60" name="cost_map_label1_0" descr="Editable text; source id cost_map_label1_0"/>
                <p:cNvSpPr txBox="1"/>
                <p:nvPr/>
              </p:nvSpPr>
              <p:spPr>
                <a:xfrm>
                  <a:off x="841624" y="1129823"/>
                  <a:ext cx="65912" cy="10835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61" name="cost_map_label1_1" descr="Editable text; source id cost_map_label1_1"/>
                <p:cNvSpPr txBox="1"/>
                <p:nvPr/>
              </p:nvSpPr>
              <p:spPr>
                <a:xfrm>
                  <a:off x="903284" y="1178481"/>
                  <a:ext cx="34130" cy="7296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4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70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70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</p:grpSp>
          <p:grpSp>
            <p:nvGrpSpPr>
              <p:cNvPr id="172" name="cost_map2" descr="cost map2"/>
              <p:cNvGrpSpPr/>
              <p:nvPr/>
            </p:nvGrpSpPr>
            <p:grpSpPr>
              <a:xfrm>
                <a:off x="417423" y="1337767"/>
                <a:ext cx="361599" cy="155402"/>
                <a:chOff x="417423" y="1337767"/>
                <a:chExt cx="361599" cy="155402"/>
              </a:xfrm>
            </p:grpSpPr>
            <p:sp>
              <p:nvSpPr>
                <p:cNvPr id="62" name="cost_map2_0_0" descr="Editable shape; source id cost_map2_0_0"/>
                <p:cNvSpPr/>
                <p:nvPr/>
              </p:nvSpPr>
              <p:spPr>
                <a:xfrm>
                  <a:off x="417423" y="1337767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3" name="cost_map2_0_1" descr="Editable shape; source id cost_map2_0_1"/>
                <p:cNvSpPr/>
                <p:nvPr/>
              </p:nvSpPr>
              <p:spPr>
                <a:xfrm>
                  <a:off x="508577" y="1337767"/>
                  <a:ext cx="88136" cy="49789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4" name="cost_map2_0_2" descr="Editable shape; source id cost_map2_0_2"/>
                <p:cNvSpPr/>
                <p:nvPr/>
              </p:nvSpPr>
              <p:spPr>
                <a:xfrm>
                  <a:off x="599732" y="1337767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5" name="cost_map2_0_3" descr="Editable shape; source id cost_map2_0_3"/>
                <p:cNvSpPr/>
                <p:nvPr/>
              </p:nvSpPr>
              <p:spPr>
                <a:xfrm>
                  <a:off x="690886" y="1337767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6" name="cost_map2_1_0" descr="Editable shape; source id cost_map2_1_0"/>
                <p:cNvSpPr/>
                <p:nvPr/>
              </p:nvSpPr>
              <p:spPr>
                <a:xfrm>
                  <a:off x="417423" y="1390573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7" name="cost_map2_1_1" descr="Editable shape; source id cost_map2_1_1"/>
                <p:cNvSpPr/>
                <p:nvPr/>
              </p:nvSpPr>
              <p:spPr>
                <a:xfrm>
                  <a:off x="508577" y="1390573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8" name="cost_map2_1_2" descr="Editable shape; source id cost_map2_1_2"/>
                <p:cNvSpPr/>
                <p:nvPr/>
              </p:nvSpPr>
              <p:spPr>
                <a:xfrm>
                  <a:off x="599732" y="1390573"/>
                  <a:ext cx="88136" cy="49789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9" name="cost_map2_1_3" descr="Editable shape; source id cost_map2_1_3"/>
                <p:cNvSpPr/>
                <p:nvPr/>
              </p:nvSpPr>
              <p:spPr>
                <a:xfrm>
                  <a:off x="690886" y="1390573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0" name="cost_map2_2_0" descr="Editable shape; source id cost_map2_2_0"/>
                <p:cNvSpPr/>
                <p:nvPr/>
              </p:nvSpPr>
              <p:spPr>
                <a:xfrm>
                  <a:off x="417423" y="1443380"/>
                  <a:ext cx="88136" cy="49789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1" name="cost_map2_2_1" descr="Editable shape; source id cost_map2_2_1"/>
                <p:cNvSpPr/>
                <p:nvPr/>
              </p:nvSpPr>
              <p:spPr>
                <a:xfrm>
                  <a:off x="508577" y="1443380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2" name="cost_map2_2_2" descr="Editable shape; source id cost_map2_2_2"/>
                <p:cNvSpPr/>
                <p:nvPr/>
              </p:nvSpPr>
              <p:spPr>
                <a:xfrm>
                  <a:off x="599732" y="1443380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3" name="cost_map2_2_3" descr="Editable shape; source id cost_map2_2_3"/>
                <p:cNvSpPr/>
                <p:nvPr/>
              </p:nvSpPr>
              <p:spPr>
                <a:xfrm>
                  <a:off x="690886" y="1443380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173" name="cost_map_label2" descr="Editable formula parts and native mathematical delimiters."/>
              <p:cNvGrpSpPr/>
              <p:nvPr/>
            </p:nvGrpSpPr>
            <p:grpSpPr>
              <a:xfrm>
                <a:off x="841624" y="1363681"/>
                <a:ext cx="95790" cy="121619"/>
                <a:chOff x="841624" y="1363681"/>
                <a:chExt cx="95790" cy="121619"/>
              </a:xfrm>
            </p:grpSpPr>
            <p:sp>
              <p:nvSpPr>
                <p:cNvPr id="74" name="cost_map_label2_0" descr="Editable text; source id cost_map_label2_0"/>
                <p:cNvSpPr txBox="1"/>
                <p:nvPr/>
              </p:nvSpPr>
              <p:spPr>
                <a:xfrm>
                  <a:off x="841624" y="1363681"/>
                  <a:ext cx="65912" cy="10835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75" name="cost_map_label2_1" descr="Editable text; source id cost_map_label2_1"/>
                <p:cNvSpPr txBox="1"/>
                <p:nvPr/>
              </p:nvSpPr>
              <p:spPr>
                <a:xfrm>
                  <a:off x="903284" y="1412339"/>
                  <a:ext cx="34130" cy="7296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4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70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70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</p:grpSp>
          <p:grpSp>
            <p:nvGrpSpPr>
              <p:cNvPr id="174" name="cost_map3" descr="cost map3"/>
              <p:cNvGrpSpPr/>
              <p:nvPr/>
            </p:nvGrpSpPr>
            <p:grpSpPr>
              <a:xfrm>
                <a:off x="417423" y="1571625"/>
                <a:ext cx="361599" cy="155402"/>
                <a:chOff x="417423" y="1571625"/>
                <a:chExt cx="361599" cy="155402"/>
              </a:xfrm>
            </p:grpSpPr>
            <p:sp>
              <p:nvSpPr>
                <p:cNvPr id="76" name="cost_map3_0_0" descr="Editable shape; source id cost_map3_0_0"/>
                <p:cNvSpPr/>
                <p:nvPr/>
              </p:nvSpPr>
              <p:spPr>
                <a:xfrm>
                  <a:off x="417423" y="1571625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7" name="cost_map3_0_1" descr="Editable shape; source id cost_map3_0_1"/>
                <p:cNvSpPr/>
                <p:nvPr/>
              </p:nvSpPr>
              <p:spPr>
                <a:xfrm>
                  <a:off x="508577" y="1571625"/>
                  <a:ext cx="88136" cy="49789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8" name="cost_map3_0_2" descr="Editable shape; source id cost_map3_0_2"/>
                <p:cNvSpPr/>
                <p:nvPr/>
              </p:nvSpPr>
              <p:spPr>
                <a:xfrm>
                  <a:off x="599732" y="1571625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9" name="cost_map3_0_3" descr="Editable shape; source id cost_map3_0_3"/>
                <p:cNvSpPr/>
                <p:nvPr/>
              </p:nvSpPr>
              <p:spPr>
                <a:xfrm>
                  <a:off x="690886" y="1571625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0" name="cost_map3_1_0" descr="Editable shape; source id cost_map3_1_0"/>
                <p:cNvSpPr/>
                <p:nvPr/>
              </p:nvSpPr>
              <p:spPr>
                <a:xfrm>
                  <a:off x="417423" y="1624431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1" name="cost_map3_1_1" descr="Editable shape; source id cost_map3_1_1"/>
                <p:cNvSpPr/>
                <p:nvPr/>
              </p:nvSpPr>
              <p:spPr>
                <a:xfrm>
                  <a:off x="508577" y="1624431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2" name="cost_map3_1_2" descr="Editable shape; source id cost_map3_1_2"/>
                <p:cNvSpPr/>
                <p:nvPr/>
              </p:nvSpPr>
              <p:spPr>
                <a:xfrm>
                  <a:off x="599732" y="1624431"/>
                  <a:ext cx="88136" cy="49789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3" name="cost_map3_1_3" descr="Editable shape; source id cost_map3_1_3"/>
                <p:cNvSpPr/>
                <p:nvPr/>
              </p:nvSpPr>
              <p:spPr>
                <a:xfrm>
                  <a:off x="690886" y="1624431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4" name="cost_map3_2_0" descr="Editable shape; source id cost_map3_2_0"/>
                <p:cNvSpPr/>
                <p:nvPr/>
              </p:nvSpPr>
              <p:spPr>
                <a:xfrm>
                  <a:off x="417423" y="1677238"/>
                  <a:ext cx="88136" cy="49789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5" name="cost_map3_2_1" descr="Editable shape; source id cost_map3_2_1"/>
                <p:cNvSpPr/>
                <p:nvPr/>
              </p:nvSpPr>
              <p:spPr>
                <a:xfrm>
                  <a:off x="508577" y="1677238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6" name="cost_map3_2_2" descr="Editable shape; source id cost_map3_2_2"/>
                <p:cNvSpPr/>
                <p:nvPr/>
              </p:nvSpPr>
              <p:spPr>
                <a:xfrm>
                  <a:off x="599732" y="1677238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7" name="cost_map3_2_3" descr="Editable shape; source id cost_map3_2_3"/>
                <p:cNvSpPr/>
                <p:nvPr/>
              </p:nvSpPr>
              <p:spPr>
                <a:xfrm>
                  <a:off x="690886" y="1677238"/>
                  <a:ext cx="88136" cy="49789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175" name="cost_map_label3" descr="Editable formula parts and native mathematical delimiters."/>
              <p:cNvGrpSpPr/>
              <p:nvPr/>
            </p:nvGrpSpPr>
            <p:grpSpPr>
              <a:xfrm>
                <a:off x="841624" y="1597539"/>
                <a:ext cx="95790" cy="121619"/>
                <a:chOff x="841624" y="1597539"/>
                <a:chExt cx="95790" cy="121619"/>
              </a:xfrm>
            </p:grpSpPr>
            <p:sp>
              <p:nvSpPr>
                <p:cNvPr id="88" name="cost_map_label3_0" descr="Editable text; source id cost_map_label3_0"/>
                <p:cNvSpPr txBox="1"/>
                <p:nvPr/>
              </p:nvSpPr>
              <p:spPr>
                <a:xfrm>
                  <a:off x="841624" y="1597539"/>
                  <a:ext cx="65912" cy="10835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89" name="cost_map_label3_1" descr="Editable text; source id cost_map_label3_1"/>
                <p:cNvSpPr txBox="1"/>
                <p:nvPr/>
              </p:nvSpPr>
              <p:spPr>
                <a:xfrm>
                  <a:off x="903284" y="1646197"/>
                  <a:ext cx="34130" cy="7296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4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70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70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3</a:t>
                  </a:r>
                </a:p>
              </p:txBody>
            </p:sp>
          </p:grpSp>
          <p:sp>
            <p:nvSpPr>
              <p:cNvPr id="90" name="shared_states" descr="Editable text; source id shared_states"/>
              <p:cNvSpPr txBox="1"/>
              <p:nvPr/>
            </p:nvSpPr>
            <p:spPr>
              <a:xfrm>
                <a:off x="351745" y="1834940"/>
                <a:ext cx="713189" cy="109126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28"/>
                  </a:lnSpc>
                  <a:spcBef>
                    <a:spcPts val="0"/>
                  </a:spcBef>
                  <a:spcAft>
                    <a:spcPts val="0"/>
                  </a:spcAft>
                  <a:defRPr sz="633" b="0" i="0" lang="zh-CN" dirty="0">
                    <a:solidFill>
                      <a:srgbClr val="77858D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33" b="0" i="0" lang="zh-CN" dirty="0">
                    <a:solidFill>
                      <a:srgbClr val="77858D"/>
                    </a:solidFill>
                    <a:latin typeface="Liberation Sans"/>
                    <a:ea typeface="Liberation Sans"/>
                    <a:cs typeface="Liberation Sans"/>
                  </a:rPr>
                  <a:t>Shared state space</a:t>
                </a:r>
              </a:p>
            </p:txBody>
          </p:sp>
        </p:grpSp>
        <p:grpSp>
          <p:nvGrpSpPr>
            <p:cNvPr id="180" name="priced_graph" descr="priced graph"/>
            <p:cNvGrpSpPr/>
            <p:nvPr/>
          </p:nvGrpSpPr>
          <p:grpSpPr>
            <a:xfrm>
              <a:off x="1574139" y="1108938"/>
              <a:ext cx="1289990" cy="686485"/>
              <a:chOff x="1574139" y="1108938"/>
              <a:chExt cx="1289990" cy="686485"/>
            </a:xfrm>
          </p:grpSpPr>
          <p:sp>
            <p:nvSpPr>
              <p:cNvPr id="91" name="priced_graph_edge0" descr="Editable line; source id priced_graph_edge0"/>
              <p:cNvSpPr/>
              <p:nvPr/>
            </p:nvSpPr>
            <p:spPr>
              <a:xfrm>
                <a:off x="1678426" y="1208766"/>
                <a:ext cx="218186" cy="190052"/>
              </a:xfrm>
              <a:custGeom>
                <a:avLst/>
                <a:gdLst/>
                <a:ahLst/>
                <a:cxnLst/>
                <a:rect l="l" t="t" r="r" b="b"/>
                <a:pathLst>
                  <a:path w="76963" h="67039">
                    <a:moveTo>
                      <a:pt x="0" y="65163"/>
                    </a:moveTo>
                    <a:lnTo>
                      <a:pt x="68111" y="6040"/>
                    </a:lnTo>
                    <a:lnTo>
                      <a:pt x="66309" y="3963"/>
                    </a:lnTo>
                    <a:lnTo>
                      <a:pt x="76963" y="0"/>
                    </a:lnTo>
                    <a:lnTo>
                      <a:pt x="71542" y="9992"/>
                    </a:lnTo>
                    <a:lnTo>
                      <a:pt x="69739" y="7915"/>
                    </a:lnTo>
                    <a:lnTo>
                      <a:pt x="1628" y="67039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" name="priced_graph_edge1" descr="Editable line; source id priced_graph_edge1"/>
              <p:cNvSpPr/>
              <p:nvPr/>
            </p:nvSpPr>
            <p:spPr>
              <a:xfrm>
                <a:off x="2015779" y="1152946"/>
                <a:ext cx="371330" cy="22629"/>
              </a:xfrm>
              <a:custGeom>
                <a:avLst/>
                <a:gdLst/>
                <a:ahLst/>
                <a:cxnLst/>
                <a:rect l="l" t="t" r="r" b="b"/>
                <a:pathLst>
                  <a:path w="130983" h="7982">
                    <a:moveTo>
                      <a:pt x="0" y="2749"/>
                    </a:moveTo>
                    <a:lnTo>
                      <a:pt x="120339" y="2749"/>
                    </a:lnTo>
                    <a:lnTo>
                      <a:pt x="120339" y="0"/>
                    </a:lnTo>
                    <a:lnTo>
                      <a:pt x="130983" y="3991"/>
                    </a:lnTo>
                    <a:lnTo>
                      <a:pt x="120339" y="7982"/>
                    </a:lnTo>
                    <a:lnTo>
                      <a:pt x="120339" y="5233"/>
                    </a:lnTo>
                    <a:lnTo>
                      <a:pt x="0" y="5233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" name="priced_graph_edge2" descr="Editable line; source id priced_graph_edge2"/>
              <p:cNvSpPr/>
              <p:nvPr/>
            </p:nvSpPr>
            <p:spPr>
              <a:xfrm>
                <a:off x="2506339" y="1203283"/>
                <a:ext cx="248965" cy="195583"/>
              </a:xfrm>
              <a:custGeom>
                <a:avLst/>
                <a:gdLst/>
                <a:ahLst/>
                <a:cxnLst/>
                <a:rect l="l" t="t" r="r" b="b"/>
                <a:pathLst>
                  <a:path w="87820" h="68990">
                    <a:moveTo>
                      <a:pt x="1529" y="0"/>
                    </a:moveTo>
                    <a:lnTo>
                      <a:pt x="80197" y="61459"/>
                    </a:lnTo>
                    <a:lnTo>
                      <a:pt x="81890" y="59292"/>
                    </a:lnTo>
                    <a:lnTo>
                      <a:pt x="87820" y="68990"/>
                    </a:lnTo>
                    <a:lnTo>
                      <a:pt x="76975" y="65583"/>
                    </a:lnTo>
                    <a:lnTo>
                      <a:pt x="78668" y="63416"/>
                    </a:lnTo>
                    <a:lnTo>
                      <a:pt x="0" y="1957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" name="priced_graph_edge3" descr="Editable line; source id priced_graph_edge3"/>
              <p:cNvSpPr/>
              <p:nvPr/>
            </p:nvSpPr>
            <p:spPr>
              <a:xfrm>
                <a:off x="1697355" y="1429350"/>
                <a:ext cx="394917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139303" h="7983">
                    <a:moveTo>
                      <a:pt x="0" y="3060"/>
                    </a:moveTo>
                    <a:lnTo>
                      <a:pt x="128659" y="3060"/>
                    </a:lnTo>
                    <a:lnTo>
                      <a:pt x="128659" y="0"/>
                    </a:lnTo>
                    <a:lnTo>
                      <a:pt x="139303" y="3991"/>
                    </a:lnTo>
                    <a:lnTo>
                      <a:pt x="128659" y="7983"/>
                    </a:lnTo>
                    <a:lnTo>
                      <a:pt x="128659" y="4922"/>
                    </a:lnTo>
                    <a:lnTo>
                      <a:pt x="0" y="4922"/>
                    </a:lnTo>
                    <a:close/>
                  </a:path>
                </a:pathLst>
              </a:custGeom>
              <a:solidFill>
                <a:srgbClr val="77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" name="priced_graph_edge4" descr="Editable line; source id priced_graph_edge4"/>
              <p:cNvSpPr/>
              <p:nvPr/>
            </p:nvSpPr>
            <p:spPr>
              <a:xfrm>
                <a:off x="1987146" y="1216497"/>
                <a:ext cx="131666" cy="170321"/>
              </a:xfrm>
              <a:custGeom>
                <a:avLst/>
                <a:gdLst/>
                <a:ahLst/>
                <a:cxnLst/>
                <a:rect l="l" t="t" r="r" b="b"/>
                <a:pathLst>
                  <a:path w="46444" h="60079">
                    <a:moveTo>
                      <a:pt x="1477" y="0"/>
                    </a:moveTo>
                    <a:lnTo>
                      <a:pt x="40699" y="51070"/>
                    </a:lnTo>
                    <a:lnTo>
                      <a:pt x="43126" y="49206"/>
                    </a:lnTo>
                    <a:lnTo>
                      <a:pt x="46444" y="60079"/>
                    </a:lnTo>
                    <a:lnTo>
                      <a:pt x="36795" y="54069"/>
                    </a:lnTo>
                    <a:lnTo>
                      <a:pt x="39222" y="52205"/>
                    </a:lnTo>
                    <a:lnTo>
                      <a:pt x="0" y="1135"/>
                    </a:lnTo>
                    <a:close/>
                  </a:path>
                </a:pathLst>
              </a:custGeom>
              <a:solidFill>
                <a:srgbClr val="77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" name="priced_graph_edge5" descr="Editable line; source id priced_graph_edge5"/>
              <p:cNvSpPr/>
              <p:nvPr/>
            </p:nvSpPr>
            <p:spPr>
              <a:xfrm>
                <a:off x="2228060" y="1429350"/>
                <a:ext cx="512854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180904" h="7983">
                    <a:moveTo>
                      <a:pt x="0" y="2749"/>
                    </a:moveTo>
                    <a:lnTo>
                      <a:pt x="170260" y="2749"/>
                    </a:lnTo>
                    <a:lnTo>
                      <a:pt x="170260" y="0"/>
                    </a:lnTo>
                    <a:lnTo>
                      <a:pt x="180904" y="3991"/>
                    </a:lnTo>
                    <a:lnTo>
                      <a:pt x="170260" y="7983"/>
                    </a:lnTo>
                    <a:lnTo>
                      <a:pt x="170260" y="5233"/>
                    </a:lnTo>
                    <a:lnTo>
                      <a:pt x="0" y="5233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" name="priced_graph_edge6" descr="Editable line; source id priced_graph_edge6"/>
              <p:cNvSpPr/>
              <p:nvPr/>
            </p:nvSpPr>
            <p:spPr>
              <a:xfrm>
                <a:off x="1661723" y="1497777"/>
                <a:ext cx="110107" cy="183869"/>
              </a:xfrm>
              <a:custGeom>
                <a:avLst/>
                <a:gdLst/>
                <a:ahLst/>
                <a:cxnLst/>
                <a:rect l="l" t="t" r="r" b="b"/>
                <a:pathLst>
                  <a:path w="38839" h="64858">
                    <a:moveTo>
                      <a:pt x="1603" y="0"/>
                    </a:moveTo>
                    <a:lnTo>
                      <a:pt x="34227" y="55221"/>
                    </a:lnTo>
                    <a:lnTo>
                      <a:pt x="36861" y="53664"/>
                    </a:lnTo>
                    <a:lnTo>
                      <a:pt x="38839" y="64858"/>
                    </a:lnTo>
                    <a:lnTo>
                      <a:pt x="29988" y="57725"/>
                    </a:lnTo>
                    <a:lnTo>
                      <a:pt x="32623" y="56168"/>
                    </a:lnTo>
                    <a:lnTo>
                      <a:pt x="0" y="947"/>
                    </a:lnTo>
                    <a:close/>
                  </a:path>
                </a:pathLst>
              </a:custGeom>
              <a:solidFill>
                <a:srgbClr val="77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" name="priced_graph_edge7" descr="Editable line; source id priced_graph_edge7"/>
              <p:cNvSpPr/>
              <p:nvPr/>
            </p:nvSpPr>
            <p:spPr>
              <a:xfrm>
                <a:off x="1874256" y="1728786"/>
                <a:ext cx="418507" cy="22634"/>
              </a:xfrm>
              <a:custGeom>
                <a:avLst/>
                <a:gdLst/>
                <a:ahLst/>
                <a:cxnLst/>
                <a:rect l="l" t="t" r="r" b="b"/>
                <a:pathLst>
                  <a:path w="147624" h="7984">
                    <a:moveTo>
                      <a:pt x="0" y="3061"/>
                    </a:moveTo>
                    <a:lnTo>
                      <a:pt x="136980" y="3061"/>
                    </a:lnTo>
                    <a:lnTo>
                      <a:pt x="136980" y="0"/>
                    </a:lnTo>
                    <a:lnTo>
                      <a:pt x="147624" y="3992"/>
                    </a:lnTo>
                    <a:lnTo>
                      <a:pt x="136980" y="7984"/>
                    </a:lnTo>
                    <a:lnTo>
                      <a:pt x="136980" y="4923"/>
                    </a:lnTo>
                    <a:lnTo>
                      <a:pt x="0" y="4923"/>
                    </a:lnTo>
                    <a:close/>
                  </a:path>
                </a:pathLst>
              </a:custGeom>
              <a:solidFill>
                <a:srgbClr val="77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" name="priced_graph_edge8" descr="Editable line; source id priced_graph_edge8"/>
              <p:cNvSpPr/>
              <p:nvPr/>
            </p:nvSpPr>
            <p:spPr>
              <a:xfrm>
                <a:off x="2428551" y="1728786"/>
                <a:ext cx="312363" cy="22634"/>
              </a:xfrm>
              <a:custGeom>
                <a:avLst/>
                <a:gdLst/>
                <a:ahLst/>
                <a:cxnLst/>
                <a:rect l="l" t="t" r="r" b="b"/>
                <a:pathLst>
                  <a:path w="110183" h="7984">
                    <a:moveTo>
                      <a:pt x="0" y="3061"/>
                    </a:moveTo>
                    <a:lnTo>
                      <a:pt x="99539" y="3061"/>
                    </a:lnTo>
                    <a:lnTo>
                      <a:pt x="99539" y="0"/>
                    </a:lnTo>
                    <a:lnTo>
                      <a:pt x="110183" y="3992"/>
                    </a:lnTo>
                    <a:lnTo>
                      <a:pt x="99539" y="7984"/>
                    </a:lnTo>
                    <a:lnTo>
                      <a:pt x="99539" y="4923"/>
                    </a:lnTo>
                    <a:lnTo>
                      <a:pt x="0" y="4923"/>
                    </a:lnTo>
                    <a:close/>
                  </a:path>
                </a:pathLst>
              </a:custGeom>
              <a:solidFill>
                <a:srgbClr val="77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" name="priced_graph_edge9" descr="Editable line; source id priced_graph_edge9"/>
              <p:cNvSpPr/>
              <p:nvPr/>
            </p:nvSpPr>
            <p:spPr>
              <a:xfrm>
                <a:off x="2797494" y="1508559"/>
                <a:ext cx="22629" cy="163650"/>
              </a:xfrm>
              <a:custGeom>
                <a:avLst/>
                <a:gdLst/>
                <a:ahLst/>
                <a:cxnLst/>
                <a:rect l="l" t="t" r="r" b="b"/>
                <a:pathLst>
                  <a:path w="7982" h="57726">
                    <a:moveTo>
                      <a:pt x="3060" y="57726"/>
                    </a:moveTo>
                    <a:lnTo>
                      <a:pt x="3060" y="10644"/>
                    </a:lnTo>
                    <a:lnTo>
                      <a:pt x="0" y="10644"/>
                    </a:lnTo>
                    <a:lnTo>
                      <a:pt x="3991" y="0"/>
                    </a:lnTo>
                    <a:lnTo>
                      <a:pt x="7982" y="10644"/>
                    </a:lnTo>
                    <a:lnTo>
                      <a:pt x="4922" y="10644"/>
                    </a:lnTo>
                    <a:lnTo>
                      <a:pt x="4922" y="57726"/>
                    </a:lnTo>
                    <a:close/>
                  </a:path>
                </a:pathLst>
              </a:custGeom>
              <a:solidFill>
                <a:srgbClr val="77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" name="priced_graph_node0" descr="Editable shape; source id priced_graph_node0"/>
              <p:cNvSpPr/>
              <p:nvPr/>
            </p:nvSpPr>
            <p:spPr>
              <a:xfrm>
                <a:off x="1574139" y="1385343"/>
                <a:ext cx="110642" cy="110642"/>
              </a:xfrm>
              <a:prstGeom prst="ellipse">
                <a:avLst/>
              </a:prstGeom>
              <a:solidFill>
                <a:srgbClr val="FFFFFF"/>
              </a:solidFill>
              <a:ln w="4777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" name="priced_graph_node1" descr="Editable shape; source id priced_graph_node1"/>
              <p:cNvSpPr/>
              <p:nvPr/>
            </p:nvSpPr>
            <p:spPr>
              <a:xfrm>
                <a:off x="1892563" y="1108938"/>
                <a:ext cx="110642" cy="110642"/>
              </a:xfrm>
              <a:prstGeom prst="ellipse">
                <a:avLst/>
              </a:prstGeom>
              <a:solidFill>
                <a:srgbClr val="ECF5F4"/>
              </a:solidFill>
              <a:ln w="4777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" name="priced_graph_node2" descr="Editable shape; source id priced_graph_node2"/>
              <p:cNvSpPr/>
              <p:nvPr/>
            </p:nvSpPr>
            <p:spPr>
              <a:xfrm>
                <a:off x="2399682" y="1108938"/>
                <a:ext cx="110642" cy="110642"/>
              </a:xfrm>
              <a:prstGeom prst="ellipse">
                <a:avLst/>
              </a:prstGeom>
              <a:solidFill>
                <a:srgbClr val="FFFFFF"/>
              </a:solidFill>
              <a:ln w="4777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" name="priced_graph_node3" descr="Editable shape; source id priced_graph_node3"/>
              <p:cNvSpPr/>
              <p:nvPr/>
            </p:nvSpPr>
            <p:spPr>
              <a:xfrm>
                <a:off x="2753487" y="1385343"/>
                <a:ext cx="110642" cy="110642"/>
              </a:xfrm>
              <a:prstGeom prst="ellipse">
                <a:avLst/>
              </a:prstGeom>
              <a:solidFill>
                <a:srgbClr val="ECF5F4"/>
              </a:solidFill>
              <a:ln w="4777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" name="priced_graph_node4" descr="Editable shape; source id priced_graph_node4"/>
              <p:cNvSpPr/>
              <p:nvPr/>
            </p:nvSpPr>
            <p:spPr>
              <a:xfrm>
                <a:off x="2104845" y="1385343"/>
                <a:ext cx="110642" cy="110642"/>
              </a:xfrm>
              <a:prstGeom prst="ellipse">
                <a:avLst/>
              </a:prstGeom>
              <a:solidFill>
                <a:srgbClr val="ECF5F4"/>
              </a:solidFill>
              <a:ln w="4777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" name="priced_graph_node5" descr="Editable shape; source id priced_graph_node5"/>
              <p:cNvSpPr/>
              <p:nvPr/>
            </p:nvSpPr>
            <p:spPr>
              <a:xfrm>
                <a:off x="1751041" y="1684781"/>
                <a:ext cx="110642" cy="110642"/>
              </a:xfrm>
              <a:prstGeom prst="ellipse">
                <a:avLst/>
              </a:prstGeom>
              <a:solidFill>
                <a:srgbClr val="FFFFFF"/>
              </a:solidFill>
              <a:ln w="4777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" name="priced_graph_node6" descr="Editable shape; source id priced_graph_node6"/>
              <p:cNvSpPr/>
              <p:nvPr/>
            </p:nvSpPr>
            <p:spPr>
              <a:xfrm>
                <a:off x="2305334" y="1684781"/>
                <a:ext cx="110642" cy="110642"/>
              </a:xfrm>
              <a:prstGeom prst="ellipse">
                <a:avLst/>
              </a:prstGeom>
              <a:solidFill>
                <a:srgbClr val="FFFFFF"/>
              </a:solidFill>
              <a:ln w="4777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" name="priced_graph_node7" descr="Editable shape; source id priced_graph_node7"/>
              <p:cNvSpPr/>
              <p:nvPr/>
            </p:nvSpPr>
            <p:spPr>
              <a:xfrm>
                <a:off x="2753487" y="1684781"/>
                <a:ext cx="110642" cy="110642"/>
              </a:xfrm>
              <a:prstGeom prst="ellipse">
                <a:avLst/>
              </a:prstGeom>
              <a:solidFill>
                <a:srgbClr val="FFFFFF"/>
              </a:solidFill>
              <a:ln w="4777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09" name="priced_graph_hard_a" descr="Editable line; source id priced_graph_hard_a"/>
              <p:cNvCxnSpPr/>
              <p:nvPr/>
            </p:nvCxnSpPr>
            <p:spPr>
              <a:xfrm>
                <a:off x="2197940" y="1497080"/>
                <a:ext cx="37289" cy="55693"/>
              </a:xfrm>
              <a:prstGeom prst="line">
                <a:avLst/>
              </a:prstGeom>
              <a:ln w="4777" cap="rnd">
                <a:solidFill>
                  <a:srgbClr val="77858D"/>
                </a:solidFill>
                <a:custDash>
                  <a:ds d="263158" sp="263158"/>
                </a:custDash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priced_graph_hard_b" descr="Editable line; source id priced_graph_hard_b"/>
              <p:cNvCxnSpPr/>
              <p:nvPr/>
            </p:nvCxnSpPr>
            <p:spPr>
              <a:xfrm>
                <a:off x="2285593" y="1627994"/>
                <a:ext cx="37289" cy="55692"/>
              </a:xfrm>
              <a:prstGeom prst="line">
                <a:avLst/>
              </a:prstGeom>
              <a:ln w="4777" cap="rnd">
                <a:solidFill>
                  <a:srgbClr val="77858D"/>
                </a:solidFill>
                <a:custDash>
                  <a:ds d="263158" sp="263158"/>
                </a:custDash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priced_graph_cross1" descr="Editable line; source id priced_graph_cross1"/>
              <p:cNvCxnSpPr/>
              <p:nvPr/>
            </p:nvCxnSpPr>
            <p:spPr>
              <a:xfrm>
                <a:off x="2235265" y="1565237"/>
                <a:ext cx="50292" cy="50292"/>
              </a:xfrm>
              <a:prstGeom prst="line">
                <a:avLst/>
              </a:prstGeom>
              <a:ln w="7543" cap="rnd">
                <a:solidFill>
                  <a:srgbClr val="B7812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priced_graph_cross2" descr="Editable line; source id priced_graph_cross2"/>
              <p:cNvCxnSpPr/>
              <p:nvPr/>
            </p:nvCxnSpPr>
            <p:spPr>
              <a:xfrm flipV="1">
                <a:off x="2235265" y="1565237"/>
                <a:ext cx="50292" cy="50292"/>
              </a:xfrm>
              <a:prstGeom prst="line">
                <a:avLst/>
              </a:prstGeom>
              <a:ln w="7543" cap="rnd">
                <a:solidFill>
                  <a:srgbClr val="B7812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7" name="priced_graph_cost1" descr="Editable formula parts and native mathematical delimiters."/>
              <p:cNvGrpSpPr/>
              <p:nvPr/>
            </p:nvGrpSpPr>
            <p:grpSpPr>
              <a:xfrm>
                <a:off x="1711384" y="1166916"/>
                <a:ext cx="70873" cy="115887"/>
                <a:chOff x="1711384" y="1166916"/>
                <a:chExt cx="70873" cy="115887"/>
              </a:xfrm>
            </p:grpSpPr>
            <p:sp>
              <p:nvSpPr>
                <p:cNvPr id="113" name="priced_graph_cost1_0" descr="Editable text; source id priced_graph_cost1_0"/>
                <p:cNvSpPr txBox="1"/>
                <p:nvPr/>
              </p:nvSpPr>
              <p:spPr>
                <a:xfrm>
                  <a:off x="1711384" y="1166916"/>
                  <a:ext cx="42524" cy="102573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7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7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7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114" name="priced_graph_cost1_1" descr="Editable text; source id priced_graph_cost1_1"/>
                <p:cNvSpPr txBox="1"/>
                <p:nvPr/>
              </p:nvSpPr>
              <p:spPr>
                <a:xfrm>
                  <a:off x="1749656" y="1213659"/>
                  <a:ext cx="32601" cy="6914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44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44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</p:grpSp>
          <p:grpSp>
            <p:nvGrpSpPr>
              <p:cNvPr id="178" name="priced_graph_cost2" descr="Editable formula parts and native mathematical delimiters."/>
              <p:cNvGrpSpPr/>
              <p:nvPr/>
            </p:nvGrpSpPr>
            <p:grpSpPr>
              <a:xfrm>
                <a:off x="2654862" y="1166916"/>
                <a:ext cx="70873" cy="115887"/>
                <a:chOff x="2654862" y="1166916"/>
                <a:chExt cx="70873" cy="115887"/>
              </a:xfrm>
            </p:grpSpPr>
            <p:sp>
              <p:nvSpPr>
                <p:cNvPr id="115" name="priced_graph_cost2_0" descr="Editable text; source id priced_graph_cost2_0"/>
                <p:cNvSpPr txBox="1"/>
                <p:nvPr/>
              </p:nvSpPr>
              <p:spPr>
                <a:xfrm>
                  <a:off x="2654862" y="1166916"/>
                  <a:ext cx="42524" cy="102573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7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7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7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116" name="priced_graph_cost2_1" descr="Editable text; source id priced_graph_cost2_1"/>
                <p:cNvSpPr txBox="1"/>
                <p:nvPr/>
              </p:nvSpPr>
              <p:spPr>
                <a:xfrm>
                  <a:off x="2693134" y="1213659"/>
                  <a:ext cx="32601" cy="6914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44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44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</p:grpSp>
          <p:grpSp>
            <p:nvGrpSpPr>
              <p:cNvPr id="179" name="priced_graph_cost3" descr="Editable formula parts and native mathematical delimiters."/>
              <p:cNvGrpSpPr/>
              <p:nvPr/>
            </p:nvGrpSpPr>
            <p:grpSpPr>
              <a:xfrm>
                <a:off x="2006221" y="1633349"/>
                <a:ext cx="70873" cy="115887"/>
                <a:chOff x="2006221" y="1633349"/>
                <a:chExt cx="70873" cy="115887"/>
              </a:xfrm>
            </p:grpSpPr>
            <p:sp>
              <p:nvSpPr>
                <p:cNvPr id="117" name="priced_graph_cost3_0" descr="Editable text; source id priced_graph_cost3_0"/>
                <p:cNvSpPr txBox="1"/>
                <p:nvPr/>
              </p:nvSpPr>
              <p:spPr>
                <a:xfrm>
                  <a:off x="2006221" y="1633349"/>
                  <a:ext cx="42524" cy="102573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7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7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7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118" name="priced_graph_cost3_1" descr="Editable text; source id priced_graph_cost3_1"/>
                <p:cNvSpPr txBox="1"/>
                <p:nvPr/>
              </p:nvSpPr>
              <p:spPr>
                <a:xfrm>
                  <a:off x="2044493" y="1680092"/>
                  <a:ext cx="32601" cy="6914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44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44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3</a:t>
                  </a:r>
                </a:p>
              </p:txBody>
            </p:sp>
          </p:grpSp>
        </p:grpSp>
        <p:sp>
          <p:nvSpPr>
            <p:cNvPr id="119" name="graph_constraints" descr="Editable text; source id graph_constraints"/>
            <p:cNvSpPr txBox="1"/>
            <p:nvPr/>
          </p:nvSpPr>
          <p:spPr>
            <a:xfrm>
              <a:off x="1815193" y="1850028"/>
              <a:ext cx="854105" cy="109126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28"/>
                </a:lnSpc>
                <a:spcBef>
                  <a:spcPts val="0"/>
                </a:spcBef>
                <a:spcAft>
                  <a:spcPts val="0"/>
                </a:spcAft>
                <a:defRPr sz="633" b="0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33" b="0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rPr>
                <a:t>Budgets + flow balance</a:t>
              </a:r>
            </a:p>
          </p:txBody>
        </p:sp>
        <p:sp>
          <p:nvSpPr>
            <p:cNvPr id="120" name="graph_hard" descr="Editable text; source id graph_hard"/>
            <p:cNvSpPr txBox="1"/>
            <p:nvPr/>
          </p:nvSpPr>
          <p:spPr>
            <a:xfrm>
              <a:off x="1817258" y="1961379"/>
              <a:ext cx="849975" cy="107642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17"/>
                </a:lnSpc>
                <a:spcBef>
                  <a:spcPts val="0"/>
                </a:spcBef>
                <a:spcAft>
                  <a:spcPts val="0"/>
                </a:spcAft>
                <a:defRPr sz="623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23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rPr>
                <a:t>×  excluded graph edge</a:t>
              </a:r>
            </a:p>
          </p:txBody>
        </p:sp>
        <p:sp>
          <p:nvSpPr>
            <p:cNvPr id="121" name="maps_to_graph" descr="Editable line; source id maps_to_graph"/>
            <p:cNvSpPr/>
            <p:nvPr/>
          </p:nvSpPr>
          <p:spPr>
            <a:xfrm>
              <a:off x="1136599" y="1432066"/>
              <a:ext cx="369646" cy="22631"/>
            </a:xfrm>
            <a:custGeom>
              <a:avLst/>
              <a:gdLst/>
              <a:ahLst/>
              <a:cxnLst/>
              <a:rect l="l" t="t" r="r" b="b"/>
              <a:pathLst>
                <a:path w="130389" h="7983">
                  <a:moveTo>
                    <a:pt x="0" y="2794"/>
                  </a:moveTo>
                  <a:lnTo>
                    <a:pt x="119745" y="2794"/>
                  </a:lnTo>
                  <a:lnTo>
                    <a:pt x="119745" y="0"/>
                  </a:lnTo>
                  <a:lnTo>
                    <a:pt x="130389" y="3991"/>
                  </a:lnTo>
                  <a:lnTo>
                    <a:pt x="119745" y="7983"/>
                  </a:lnTo>
                  <a:lnTo>
                    <a:pt x="119745" y="5188"/>
                  </a:lnTo>
                  <a:lnTo>
                    <a:pt x="0" y="5188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graph_to_prices" descr="Editable line; source id graph_to_prices"/>
            <p:cNvSpPr/>
            <p:nvPr/>
          </p:nvSpPr>
          <p:spPr>
            <a:xfrm>
              <a:off x="2949626" y="1432066"/>
              <a:ext cx="316840" cy="22631"/>
            </a:xfrm>
            <a:custGeom>
              <a:avLst/>
              <a:gdLst/>
              <a:ahLst/>
              <a:cxnLst/>
              <a:rect l="l" t="t" r="r" b="b"/>
              <a:pathLst>
                <a:path w="111762" h="7983">
                  <a:moveTo>
                    <a:pt x="0" y="2794"/>
                  </a:moveTo>
                  <a:lnTo>
                    <a:pt x="101118" y="2794"/>
                  </a:lnTo>
                  <a:lnTo>
                    <a:pt x="101118" y="0"/>
                  </a:lnTo>
                  <a:lnTo>
                    <a:pt x="111762" y="3991"/>
                  </a:lnTo>
                  <a:lnTo>
                    <a:pt x="101118" y="7983"/>
                  </a:lnTo>
                  <a:lnTo>
                    <a:pt x="101118" y="5188"/>
                  </a:lnTo>
                  <a:lnTo>
                    <a:pt x="0" y="5188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85" name="price_combination" descr="price combination"/>
            <p:cNvGrpSpPr/>
            <p:nvPr/>
          </p:nvGrpSpPr>
          <p:grpSpPr>
            <a:xfrm>
              <a:off x="3402789" y="1045356"/>
              <a:ext cx="1154239" cy="742524"/>
              <a:chOff x="3402789" y="1045356"/>
              <a:chExt cx="1154239" cy="742524"/>
            </a:xfrm>
          </p:grpSpPr>
          <p:sp>
            <p:nvSpPr>
              <p:cNvPr id="123" name="price_head_Graph" descr="Editable text; source id price_head_Graph"/>
              <p:cNvSpPr txBox="1"/>
              <p:nvPr/>
            </p:nvSpPr>
            <p:spPr>
              <a:xfrm>
                <a:off x="3402789" y="1045356"/>
                <a:ext cx="243805" cy="109126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28"/>
                  </a:lnSpc>
                  <a:spcBef>
                    <a:spcPts val="0"/>
                  </a:spcBef>
                  <a:spcAft>
                    <a:spcPts val="0"/>
                  </a:spcAft>
                  <a:defRPr sz="633" b="0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33" b="0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rPr>
                  <a:t>Graph</a:t>
                </a:r>
              </a:p>
            </p:txBody>
          </p:sp>
          <p:sp>
            <p:nvSpPr>
              <p:cNvPr id="124" name="price_head_Feedback" descr="Editable text; source id price_head_Feedback"/>
              <p:cNvSpPr txBox="1"/>
              <p:nvPr/>
            </p:nvSpPr>
            <p:spPr>
              <a:xfrm>
                <a:off x="3714775" y="1045356"/>
                <a:ext cx="374213" cy="109126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28"/>
                  </a:lnSpc>
                  <a:spcBef>
                    <a:spcPts val="0"/>
                  </a:spcBef>
                  <a:spcAft>
                    <a:spcPts val="0"/>
                  </a:spcAft>
                  <a:defRPr sz="633" b="0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33" b="0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rPr>
                  <a:t>Feedback</a:t>
                </a:r>
              </a:p>
            </p:txBody>
          </p:sp>
          <p:sp>
            <p:nvSpPr>
              <p:cNvPr id="125" name="price_head_Shared" descr="Editable text; source id price_head_Shared"/>
              <p:cNvSpPr txBox="1"/>
              <p:nvPr/>
            </p:nvSpPr>
            <p:spPr>
              <a:xfrm>
                <a:off x="4277720" y="1045356"/>
                <a:ext cx="279308" cy="109126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28"/>
                  </a:lnSpc>
                  <a:spcBef>
                    <a:spcPts val="0"/>
                  </a:spcBef>
                  <a:spcAft>
                    <a:spcPts val="0"/>
                  </a:spcAft>
                  <a:defRPr sz="633" b="0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33" b="0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rPr>
                  <a:t>Shared</a:t>
                </a:r>
              </a:p>
            </p:txBody>
          </p:sp>
          <p:sp>
            <p:nvSpPr>
              <p:cNvPr id="126" name="graph_price0_panel" descr="Editable shape; source id graph_price0_panel"/>
              <p:cNvSpPr/>
              <p:nvPr/>
            </p:nvSpPr>
            <p:spPr>
              <a:xfrm>
                <a:off x="3462604" y="1189405"/>
                <a:ext cx="115671" cy="115671"/>
              </a:xfrm>
              <a:prstGeom prst="ellipse">
                <a:avLst/>
              </a:prstGeom>
              <a:solidFill>
                <a:srgbClr val="ECF5F4"/>
              </a:solidFill>
              <a:ln w="3771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" name="feedback_price0_panel" descr="Editable shape; source id feedback_price0_panel"/>
              <p:cNvSpPr/>
              <p:nvPr/>
            </p:nvSpPr>
            <p:spPr>
              <a:xfrm>
                <a:off x="3839794" y="1189405"/>
                <a:ext cx="115671" cy="115671"/>
              </a:xfrm>
              <a:prstGeom prst="ellipse">
                <a:avLst/>
              </a:prstGeom>
              <a:solidFill>
                <a:srgbClr val="F8F1E4"/>
              </a:solidFill>
              <a:ln w="3771">
                <a:solidFill>
                  <a:srgbClr val="B7812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" name="plus0" descr="Editable text; source id plus0"/>
              <p:cNvSpPr txBox="1"/>
              <p:nvPr/>
            </p:nvSpPr>
            <p:spPr>
              <a:xfrm>
                <a:off x="3676787" y="1187018"/>
                <a:ext cx="72999" cy="120994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712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+</a:t>
                </a:r>
              </a:p>
            </p:txBody>
          </p:sp>
          <p:sp>
            <p:nvSpPr>
              <p:cNvPr id="129" name="total_arrow0" descr="Editable line; source id total_arrow0"/>
              <p:cNvSpPr/>
              <p:nvPr/>
            </p:nvSpPr>
            <p:spPr>
              <a:xfrm>
                <a:off x="3998214" y="1235924"/>
                <a:ext cx="216256" cy="22634"/>
              </a:xfrm>
              <a:custGeom>
                <a:avLst/>
                <a:gdLst/>
                <a:ahLst/>
                <a:cxnLst/>
                <a:rect l="l" t="t" r="r" b="b"/>
                <a:pathLst>
                  <a:path w="76282" h="7984">
                    <a:moveTo>
                      <a:pt x="0" y="3016"/>
                    </a:moveTo>
                    <a:lnTo>
                      <a:pt x="65638" y="3016"/>
                    </a:lnTo>
                    <a:lnTo>
                      <a:pt x="65638" y="0"/>
                    </a:lnTo>
                    <a:lnTo>
                      <a:pt x="76282" y="3992"/>
                    </a:lnTo>
                    <a:lnTo>
                      <a:pt x="65638" y="7984"/>
                    </a:lnTo>
                    <a:lnTo>
                      <a:pt x="65638" y="4968"/>
                    </a:lnTo>
                    <a:lnTo>
                      <a:pt x="0" y="4968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81" name="total_price0" descr="total price0"/>
              <p:cNvGrpSpPr/>
              <p:nvPr/>
            </p:nvGrpSpPr>
            <p:grpSpPr>
              <a:xfrm>
                <a:off x="4257217" y="1179347"/>
                <a:ext cx="135788" cy="135788"/>
                <a:chOff x="4257217" y="1179347"/>
                <a:chExt cx="135788" cy="135788"/>
              </a:xfrm>
            </p:grpSpPr>
            <p:sp>
              <p:nvSpPr>
                <p:cNvPr id="130" name="total_price0_panel" descr="Editable shape; source id total_price0_panel"/>
                <p:cNvSpPr/>
                <p:nvPr/>
              </p:nvSpPr>
              <p:spPr>
                <a:xfrm>
                  <a:off x="4257217" y="1179347"/>
                  <a:ext cx="135788" cy="135788"/>
                </a:xfrm>
                <a:prstGeom prst="ellipse">
                  <a:avLst/>
                </a:prstGeom>
                <a:solidFill>
                  <a:srgbClr val="FFFFFF"/>
                </a:solidFill>
                <a:ln w="3771">
                  <a:solidFill>
                    <a:srgbClr val="007F85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1" name="total_price0_label" descr="Editable text; source id total_price0_label"/>
                <p:cNvSpPr txBox="1"/>
                <p:nvPr/>
              </p:nvSpPr>
              <p:spPr>
                <a:xfrm>
                  <a:off x="4283645" y="1189259"/>
                  <a:ext cx="91438" cy="11506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5669" rIns="0" bIns="0" lIns="5669" anchorCtr="0" vertOverflow="overflow">
                  <a:noAutofit/>
                </a:bodyPr>
                <a:lstStyle/>
                <a:p>
                  <a:pPr algn="l" fontAlgn="base">
                    <a:lnSpc>
                      <a:spcPts val="77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73" b="0" i="0" lang="zh-CN" dirty="0">
                      <a:solidFill>
                        <a:srgbClr val="007F85"/>
                      </a:solidFill>
                      <a:latin typeface="Liberation Sans"/>
                      <a:ea typeface="Liberation Sans"/>
                      <a:cs typeface="Liberation Sans"/>
                    </a:defRPr>
                  </a:pPr>
                  <a:r>
                    <a:rPr sz="673" b="0" i="0" lang="zh-CN" dirty="0">
                      <a:solidFill>
                        <a:srgbClr val="007F85"/>
                      </a:solidFill>
                      <a:latin typeface="Liberation Sans"/>
                      <a:ea typeface="Liberation Sans"/>
                      <a:cs typeface="Liberation Sans"/>
                    </a:rPr>
                    <a:t>λ₁</a:t>
                  </a:r>
                </a:p>
              </p:txBody>
            </p:sp>
          </p:grpSp>
          <p:sp>
            <p:nvSpPr>
              <p:cNvPr id="132" name="graph_price1_panel" descr="Editable shape; source id graph_price1_panel"/>
              <p:cNvSpPr/>
              <p:nvPr/>
            </p:nvSpPr>
            <p:spPr>
              <a:xfrm>
                <a:off x="3462604" y="1425778"/>
                <a:ext cx="115671" cy="115671"/>
              </a:xfrm>
              <a:prstGeom prst="ellipse">
                <a:avLst/>
              </a:prstGeom>
              <a:solidFill>
                <a:srgbClr val="ECF5F4"/>
              </a:solidFill>
              <a:ln w="3771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" name="feedback_price1_panel" descr="Editable shape; source id feedback_price1_panel"/>
              <p:cNvSpPr/>
              <p:nvPr/>
            </p:nvSpPr>
            <p:spPr>
              <a:xfrm>
                <a:off x="3839794" y="1425778"/>
                <a:ext cx="115671" cy="115671"/>
              </a:xfrm>
              <a:prstGeom prst="ellipse">
                <a:avLst/>
              </a:prstGeom>
              <a:solidFill>
                <a:srgbClr val="F8F1E4"/>
              </a:solidFill>
              <a:ln w="3771">
                <a:solidFill>
                  <a:srgbClr val="B7812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" name="plus1" descr="Editable text; source id plus1"/>
              <p:cNvSpPr txBox="1"/>
              <p:nvPr/>
            </p:nvSpPr>
            <p:spPr>
              <a:xfrm>
                <a:off x="3676787" y="1423391"/>
                <a:ext cx="72999" cy="120994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712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+</a:t>
                </a:r>
              </a:p>
            </p:txBody>
          </p:sp>
          <p:sp>
            <p:nvSpPr>
              <p:cNvPr id="135" name="total_arrow1" descr="Editable line; source id total_arrow1"/>
              <p:cNvSpPr/>
              <p:nvPr/>
            </p:nvSpPr>
            <p:spPr>
              <a:xfrm>
                <a:off x="3998214" y="1472300"/>
                <a:ext cx="216256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76282" h="7983">
                    <a:moveTo>
                      <a:pt x="0" y="3015"/>
                    </a:moveTo>
                    <a:lnTo>
                      <a:pt x="65638" y="3015"/>
                    </a:lnTo>
                    <a:lnTo>
                      <a:pt x="65638" y="0"/>
                    </a:lnTo>
                    <a:lnTo>
                      <a:pt x="76282" y="3991"/>
                    </a:lnTo>
                    <a:lnTo>
                      <a:pt x="65638" y="7983"/>
                    </a:lnTo>
                    <a:lnTo>
                      <a:pt x="65638" y="4967"/>
                    </a:lnTo>
                    <a:lnTo>
                      <a:pt x="0" y="4967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82" name="total_price1" descr="total price1"/>
              <p:cNvGrpSpPr/>
              <p:nvPr/>
            </p:nvGrpSpPr>
            <p:grpSpPr>
              <a:xfrm>
                <a:off x="4257217" y="1415719"/>
                <a:ext cx="135788" cy="135788"/>
                <a:chOff x="4257217" y="1415719"/>
                <a:chExt cx="135788" cy="135788"/>
              </a:xfrm>
            </p:grpSpPr>
            <p:sp>
              <p:nvSpPr>
                <p:cNvPr id="136" name="total_price1_panel" descr="Editable shape; source id total_price1_panel"/>
                <p:cNvSpPr/>
                <p:nvPr/>
              </p:nvSpPr>
              <p:spPr>
                <a:xfrm>
                  <a:off x="4257217" y="1415719"/>
                  <a:ext cx="135788" cy="135788"/>
                </a:xfrm>
                <a:prstGeom prst="ellipse">
                  <a:avLst/>
                </a:prstGeom>
                <a:solidFill>
                  <a:srgbClr val="FFFFFF"/>
                </a:solidFill>
                <a:ln w="3771">
                  <a:solidFill>
                    <a:srgbClr val="007F85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7" name="total_price1_label" descr="Editable text; source id total_price1_label"/>
                <p:cNvSpPr txBox="1"/>
                <p:nvPr/>
              </p:nvSpPr>
              <p:spPr>
                <a:xfrm>
                  <a:off x="4281474" y="1425631"/>
                  <a:ext cx="95779" cy="11506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5669" rIns="0" bIns="0" lIns="5669" anchorCtr="0" vertOverflow="overflow">
                  <a:noAutofit/>
                </a:bodyPr>
                <a:lstStyle/>
                <a:p>
                  <a:pPr algn="l" fontAlgn="base">
                    <a:lnSpc>
                      <a:spcPts val="77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73" b="0" i="0" lang="zh-CN" dirty="0">
                      <a:solidFill>
                        <a:srgbClr val="007F85"/>
                      </a:solidFill>
                      <a:latin typeface="Liberation Sans"/>
                      <a:ea typeface="Liberation Sans"/>
                      <a:cs typeface="Liberation Sans"/>
                    </a:defRPr>
                  </a:pPr>
                  <a:r>
                    <a:rPr sz="673" b="0" i="0" lang="zh-CN" dirty="0">
                      <a:solidFill>
                        <a:srgbClr val="007F85"/>
                      </a:solidFill>
                      <a:latin typeface="Liberation Sans"/>
                      <a:ea typeface="Liberation Sans"/>
                      <a:cs typeface="Liberation Sans"/>
                    </a:rPr>
                    <a:t>λ₂</a:t>
                  </a:r>
                </a:p>
              </p:txBody>
            </p:sp>
          </p:grpSp>
          <p:sp>
            <p:nvSpPr>
              <p:cNvPr id="138" name="graph_price2_panel" descr="Editable shape; source id graph_price2_panel"/>
              <p:cNvSpPr/>
              <p:nvPr/>
            </p:nvSpPr>
            <p:spPr>
              <a:xfrm>
                <a:off x="3462604" y="1662150"/>
                <a:ext cx="115671" cy="115671"/>
              </a:xfrm>
              <a:prstGeom prst="ellipse">
                <a:avLst/>
              </a:prstGeom>
              <a:solidFill>
                <a:srgbClr val="ECF5F4"/>
              </a:solidFill>
              <a:ln w="3771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" name="feedback_price2_panel" descr="Editable shape; source id feedback_price2_panel"/>
              <p:cNvSpPr/>
              <p:nvPr/>
            </p:nvSpPr>
            <p:spPr>
              <a:xfrm>
                <a:off x="3839794" y="1662150"/>
                <a:ext cx="115671" cy="115671"/>
              </a:xfrm>
              <a:prstGeom prst="ellipse">
                <a:avLst/>
              </a:prstGeom>
              <a:solidFill>
                <a:srgbClr val="F8F1E4"/>
              </a:solidFill>
              <a:ln w="3771">
                <a:solidFill>
                  <a:srgbClr val="B7812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" name="plus2" descr="Editable text; source id plus2"/>
              <p:cNvSpPr txBox="1"/>
              <p:nvPr/>
            </p:nvSpPr>
            <p:spPr>
              <a:xfrm>
                <a:off x="3676787" y="1659763"/>
                <a:ext cx="72999" cy="120994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712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+</a:t>
                </a:r>
              </a:p>
            </p:txBody>
          </p:sp>
          <p:sp>
            <p:nvSpPr>
              <p:cNvPr id="141" name="total_arrow2" descr="Editable line; source id total_arrow2"/>
              <p:cNvSpPr/>
              <p:nvPr/>
            </p:nvSpPr>
            <p:spPr>
              <a:xfrm>
                <a:off x="3998214" y="1708669"/>
                <a:ext cx="216256" cy="22634"/>
              </a:xfrm>
              <a:custGeom>
                <a:avLst/>
                <a:gdLst/>
                <a:ahLst/>
                <a:cxnLst/>
                <a:rect l="l" t="t" r="r" b="b"/>
                <a:pathLst>
                  <a:path w="76282" h="7984">
                    <a:moveTo>
                      <a:pt x="0" y="3016"/>
                    </a:moveTo>
                    <a:lnTo>
                      <a:pt x="65638" y="3016"/>
                    </a:lnTo>
                    <a:lnTo>
                      <a:pt x="65638" y="0"/>
                    </a:lnTo>
                    <a:lnTo>
                      <a:pt x="76282" y="3992"/>
                    </a:lnTo>
                    <a:lnTo>
                      <a:pt x="65638" y="7984"/>
                    </a:lnTo>
                    <a:lnTo>
                      <a:pt x="65638" y="4968"/>
                    </a:lnTo>
                    <a:lnTo>
                      <a:pt x="0" y="4968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83" name="total_price2" descr="total price2"/>
              <p:cNvGrpSpPr/>
              <p:nvPr/>
            </p:nvGrpSpPr>
            <p:grpSpPr>
              <a:xfrm>
                <a:off x="4257217" y="1652092"/>
                <a:ext cx="135788" cy="135788"/>
                <a:chOff x="4257217" y="1652092"/>
                <a:chExt cx="135788" cy="135788"/>
              </a:xfrm>
            </p:grpSpPr>
            <p:sp>
              <p:nvSpPr>
                <p:cNvPr id="142" name="total_price2_panel" descr="Editable shape; source id total_price2_panel"/>
                <p:cNvSpPr/>
                <p:nvPr/>
              </p:nvSpPr>
              <p:spPr>
                <a:xfrm>
                  <a:off x="4257217" y="1652092"/>
                  <a:ext cx="135788" cy="135788"/>
                </a:xfrm>
                <a:prstGeom prst="ellipse">
                  <a:avLst/>
                </a:prstGeom>
                <a:solidFill>
                  <a:srgbClr val="FFFFFF"/>
                </a:solidFill>
                <a:ln w="3771">
                  <a:solidFill>
                    <a:srgbClr val="007F85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3" name="total_price2_label" descr="Editable text; source id total_price2_label"/>
                <p:cNvSpPr txBox="1"/>
                <p:nvPr/>
              </p:nvSpPr>
              <p:spPr>
                <a:xfrm>
                  <a:off x="4280660" y="1662004"/>
                  <a:ext cx="97407" cy="11506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5669" rIns="0" bIns="0" lIns="5669" anchorCtr="0" vertOverflow="overflow">
                  <a:noAutofit/>
                </a:bodyPr>
                <a:lstStyle/>
                <a:p>
                  <a:pPr algn="l" fontAlgn="base">
                    <a:lnSpc>
                      <a:spcPts val="77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73" b="0" i="0" lang="zh-CN" dirty="0">
                      <a:solidFill>
                        <a:srgbClr val="007F85"/>
                      </a:solidFill>
                      <a:latin typeface="Liberation Sans"/>
                      <a:ea typeface="Liberation Sans"/>
                      <a:cs typeface="Liberation Sans"/>
                    </a:defRPr>
                  </a:pPr>
                  <a:r>
                    <a:rPr sz="673" b="0" i="0" lang="zh-CN" dirty="0">
                      <a:solidFill>
                        <a:srgbClr val="007F85"/>
                      </a:solidFill>
                      <a:latin typeface="Liberation Sans"/>
                      <a:ea typeface="Liberation Sans"/>
                      <a:cs typeface="Liberation Sans"/>
                    </a:rPr>
                    <a:t>λ₃</a:t>
                  </a:r>
                </a:p>
              </p:txBody>
            </p:sp>
          </p:grpSp>
          <p:grpSp>
            <p:nvGrpSpPr>
              <p:cNvPr id="184" name="price_vector_bracket" descr="One editable routed connector; fixed endpoints."/>
              <p:cNvGrpSpPr/>
              <p:nvPr/>
            </p:nvGrpSpPr>
            <p:grpSpPr>
              <a:xfrm>
                <a:off x="4488561" y="1201978"/>
                <a:ext cx="65379" cy="565785"/>
                <a:chOff x="4488561" y="1201978"/>
                <a:chExt cx="65379" cy="565785"/>
              </a:xfrm>
            </p:grpSpPr>
            <p:cxnSp>
              <p:nvCxnSpPr>
                <p:cNvPr id="144" name="price_vector_bracket_0" descr="Editable line; source id price_vector_bracket_0"/>
                <p:cNvCxnSpPr/>
                <p:nvPr/>
              </p:nvCxnSpPr>
              <p:spPr>
                <a:xfrm>
                  <a:off x="4488561" y="1201978"/>
                  <a:ext cx="65379" cy="0"/>
                </a:xfrm>
                <a:prstGeom prst="line">
                  <a:avLst/>
                </a:prstGeom>
                <a:ln w="4777" cap="rnd">
                  <a:solidFill>
                    <a:srgbClr val="007F85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price_vector_bracket_1" descr="Editable line; source id price_vector_bracket_1"/>
                <p:cNvCxnSpPr/>
                <p:nvPr/>
              </p:nvCxnSpPr>
              <p:spPr>
                <a:xfrm>
                  <a:off x="4553940" y="1201978"/>
                  <a:ext cx="0" cy="565785"/>
                </a:xfrm>
                <a:prstGeom prst="line">
                  <a:avLst/>
                </a:prstGeom>
                <a:ln w="4777" cap="rnd">
                  <a:solidFill>
                    <a:srgbClr val="007F85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price_vector_bracket_2" descr="Editable line; source id price_vector_bracket_2"/>
                <p:cNvCxnSpPr/>
                <p:nvPr/>
              </p:nvCxnSpPr>
              <p:spPr>
                <a:xfrm flipH="1">
                  <a:off x="4488561" y="1767763"/>
                  <a:ext cx="65379" cy="0"/>
                </a:xfrm>
                <a:prstGeom prst="line">
                  <a:avLst/>
                </a:prstGeom>
                <a:ln w="4777" cap="rnd">
                  <a:solidFill>
                    <a:srgbClr val="007F85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6" name="shared_prices_to_actor" descr="One editable routed connector; fixed endpoints."/>
            <p:cNvGrpSpPr/>
            <p:nvPr/>
          </p:nvGrpSpPr>
          <p:grpSpPr>
            <a:xfrm>
              <a:off x="4107598" y="1825599"/>
              <a:ext cx="446342" cy="236373"/>
              <a:chOff x="4107598" y="1825599"/>
              <a:chExt cx="446342" cy="236373"/>
            </a:xfrm>
          </p:grpSpPr>
          <p:cxnSp>
            <p:nvCxnSpPr>
              <p:cNvPr id="147" name="shared_prices_to_actor_0" descr="Editable line; source id shared_prices_to_actor_0"/>
              <p:cNvCxnSpPr/>
              <p:nvPr/>
            </p:nvCxnSpPr>
            <p:spPr>
              <a:xfrm>
                <a:off x="4553940" y="1825599"/>
                <a:ext cx="0" cy="153391"/>
              </a:xfrm>
              <a:prstGeom prst="line">
                <a:avLst/>
              </a:prstGeom>
              <a:ln w="5783" cap="rnd">
                <a:solidFill>
                  <a:srgbClr val="007F85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hared_prices_to_actor_1" descr="Editable line; source id shared_prices_to_actor_1"/>
              <p:cNvCxnSpPr/>
              <p:nvPr/>
            </p:nvCxnSpPr>
            <p:spPr>
              <a:xfrm flipH="1">
                <a:off x="4118914" y="1978990"/>
                <a:ext cx="435026" cy="0"/>
              </a:xfrm>
              <a:prstGeom prst="line">
                <a:avLst/>
              </a:prstGeom>
              <a:ln w="5783" cap="rnd">
                <a:solidFill>
                  <a:srgbClr val="007F85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9" name="shared_prices_to_actor_2" descr="Editable line; source id shared_prices_to_actor_2"/>
              <p:cNvSpPr/>
              <p:nvPr/>
            </p:nvSpPr>
            <p:spPr>
              <a:xfrm>
                <a:off x="4107598" y="1978990"/>
                <a:ext cx="22634" cy="82982"/>
              </a:xfrm>
              <a:custGeom>
                <a:avLst/>
                <a:gdLst/>
                <a:ahLst/>
                <a:cxnLst/>
                <a:rect l="l" t="t" r="r" b="b"/>
                <a:pathLst>
                  <a:path w="7984" h="29271">
                    <a:moveTo>
                      <a:pt x="5012" y="0"/>
                    </a:moveTo>
                    <a:lnTo>
                      <a:pt x="5012" y="18627"/>
                    </a:lnTo>
                    <a:lnTo>
                      <a:pt x="7984" y="18627"/>
                    </a:lnTo>
                    <a:lnTo>
                      <a:pt x="3992" y="29271"/>
                    </a:lnTo>
                    <a:lnTo>
                      <a:pt x="0" y="18627"/>
                    </a:lnTo>
                    <a:lnTo>
                      <a:pt x="2972" y="18627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8" name="shared_policy_update" descr="shared policy update"/>
            <p:cNvGrpSpPr/>
            <p:nvPr/>
          </p:nvGrpSpPr>
          <p:grpSpPr>
            <a:xfrm>
              <a:off x="436869" y="2082088"/>
              <a:ext cx="4302964" cy="186080"/>
              <a:chOff x="436869" y="2082088"/>
              <a:chExt cx="4302964" cy="186080"/>
            </a:xfrm>
          </p:grpSpPr>
          <p:sp>
            <p:nvSpPr>
              <p:cNvPr id="150" name="common_update" descr="Editable text; source id common_update"/>
              <p:cNvSpPr txBox="1"/>
              <p:nvPr/>
            </p:nvSpPr>
            <p:spPr>
              <a:xfrm>
                <a:off x="436869" y="2117420"/>
                <a:ext cx="804461" cy="120994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1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712" b="1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rPr>
                  <a:t>One policy update</a:t>
                </a:r>
              </a:p>
            </p:txBody>
          </p:sp>
          <p:sp>
            <p:nvSpPr>
              <p:cNvPr id="151" name="reward_cost_label" descr="Editable text; source id reward_cost_label"/>
              <p:cNvSpPr txBox="1"/>
              <p:nvPr/>
            </p:nvSpPr>
            <p:spPr>
              <a:xfrm>
                <a:off x="1697003" y="2127022"/>
                <a:ext cx="1004989" cy="112093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51"/>
                  </a:lnSpc>
                  <a:spcBef>
                    <a:spcPts val="0"/>
                  </a:spcBef>
                  <a:spcAft>
                    <a:spcPts val="0"/>
                  </a:spcAft>
                  <a:defRPr sz="653" b="0" i="0" lang="zh-CN" dirty="0">
                    <a:solidFill>
                      <a:srgbClr val="536F8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53" b="0" i="0" lang="zh-CN" dirty="0">
                    <a:solidFill>
                      <a:srgbClr val="536F8E"/>
                    </a:solidFill>
                    <a:latin typeface="Liberation Sans"/>
                    <a:ea typeface="Liberation Sans"/>
                    <a:cs typeface="Liberation Sans"/>
                  </a:rPr>
                  <a:t>Reward + cost advantages</a:t>
                </a:r>
              </a:p>
            </p:txBody>
          </p:sp>
          <p:sp>
            <p:nvSpPr>
              <p:cNvPr id="152" name="advantages_to_actor" descr="Editable line; source id advantages_to_actor"/>
              <p:cNvSpPr/>
              <p:nvPr/>
            </p:nvSpPr>
            <p:spPr>
              <a:xfrm>
                <a:off x="2967228" y="2163815"/>
                <a:ext cx="902741" cy="22629"/>
              </a:xfrm>
              <a:custGeom>
                <a:avLst/>
                <a:gdLst/>
                <a:ahLst/>
                <a:cxnLst/>
                <a:rect l="l" t="t" r="r" b="b"/>
                <a:pathLst>
                  <a:path w="318433" h="7982">
                    <a:moveTo>
                      <a:pt x="0" y="2971"/>
                    </a:moveTo>
                    <a:lnTo>
                      <a:pt x="307789" y="2971"/>
                    </a:lnTo>
                    <a:lnTo>
                      <a:pt x="307789" y="0"/>
                    </a:lnTo>
                    <a:lnTo>
                      <a:pt x="318433" y="3991"/>
                    </a:lnTo>
                    <a:lnTo>
                      <a:pt x="307789" y="7982"/>
                    </a:lnTo>
                    <a:lnTo>
                      <a:pt x="307789" y="5011"/>
                    </a:lnTo>
                    <a:lnTo>
                      <a:pt x="0" y="5011"/>
                    </a:lnTo>
                    <a:close/>
                  </a:path>
                </a:pathLst>
              </a:custGeom>
              <a:solidFill>
                <a:srgbClr val="536F8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87" name="policy" descr="policy"/>
              <p:cNvGrpSpPr/>
              <p:nvPr/>
            </p:nvGrpSpPr>
            <p:grpSpPr>
              <a:xfrm>
                <a:off x="3922776" y="2082088"/>
                <a:ext cx="186080" cy="186080"/>
                <a:chOff x="3922776" y="2082088"/>
                <a:chExt cx="186080" cy="186080"/>
              </a:xfrm>
            </p:grpSpPr>
            <p:sp>
              <p:nvSpPr>
                <p:cNvPr id="153" name="policy_panel" descr="Editable shape; source id policy_panel"/>
                <p:cNvSpPr/>
                <p:nvPr/>
              </p:nvSpPr>
              <p:spPr>
                <a:xfrm>
                  <a:off x="3922776" y="2082088"/>
                  <a:ext cx="186080" cy="186080"/>
                </a:xfrm>
                <a:prstGeom prst="ellipse">
                  <a:avLst/>
                </a:prstGeom>
                <a:solidFill>
                  <a:srgbClr val="FFFFFF"/>
                </a:solidFill>
                <a:ln w="3771">
                  <a:solidFill>
                    <a:srgbClr val="536F8E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54" name="policy_label" descr="Editable text; source id policy_label"/>
                <p:cNvSpPr txBox="1"/>
                <p:nvPr/>
              </p:nvSpPr>
              <p:spPr>
                <a:xfrm>
                  <a:off x="3968330" y="2095815"/>
                  <a:ext cx="103475" cy="15660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5669" rIns="0" bIns="0" lIns="5669" anchorCtr="0" vertOverflow="overflow">
                  <a:noAutofit/>
                </a:bodyPr>
                <a:lstStyle/>
                <a:p>
                  <a:pPr algn="l" fontAlgn="base">
                    <a:lnSpc>
                      <a:spcPts val="109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950" b="0" i="0" lang="zh-CN" dirty="0">
                      <a:solidFill>
                        <a:srgbClr val="536F8E"/>
                      </a:solidFill>
                      <a:latin typeface="Liberation Sans"/>
                      <a:ea typeface="Liberation Sans"/>
                      <a:cs typeface="Liberation Sans"/>
                    </a:defRPr>
                  </a:pPr>
                  <a:r>
                    <a:rPr sz="950" b="0" i="0" lang="zh-CN" dirty="0">
                      <a:solidFill>
                        <a:srgbClr val="536F8E"/>
                      </a:solidFill>
                      <a:latin typeface="Liberation Sans"/>
                      <a:ea typeface="Liberation Sans"/>
                      <a:cs typeface="Liberation Sans"/>
                    </a:rPr>
                    <a:t>π</a:t>
                  </a:r>
                </a:p>
              </p:txBody>
            </p:sp>
          </p:grpSp>
          <p:sp>
            <p:nvSpPr>
              <p:cNvPr id="155" name="ppo" descr="Editable text; source id ppo"/>
              <p:cNvSpPr txBox="1"/>
              <p:nvPr/>
            </p:nvSpPr>
            <p:spPr>
              <a:xfrm>
                <a:off x="4230705" y="2119158"/>
                <a:ext cx="509128" cy="115060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74"/>
                  </a:lnSpc>
                  <a:spcBef>
                    <a:spcPts val="0"/>
                  </a:spcBef>
                  <a:spcAft>
                    <a:spcPts val="0"/>
                  </a:spcAft>
                  <a:defRPr sz="673" b="1" i="0" lang="zh-CN" dirty="0">
                    <a:solidFill>
                      <a:srgbClr val="536F8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73" b="1" i="0" lang="zh-CN" dirty="0">
                    <a:solidFill>
                      <a:srgbClr val="536F8E"/>
                    </a:solidFill>
                    <a:latin typeface="Liberation Sans"/>
                    <a:ea typeface="Liberation Sans"/>
                    <a:cs typeface="Liberation Sans"/>
                  </a:rPr>
                  <a:t>PPO / TRPO</a:t>
                </a:r>
              </a:p>
            </p:txBody>
          </p:sp>
        </p:grpSp>
      </p:grpSp>
      <p:sp>
        <p:nvSpPr>
          <p:cNvPr id="156" name="schematic" descr="Editable text; source id schematic"/>
          <p:cNvSpPr txBox="1"/>
          <p:nvPr/>
        </p:nvSpPr>
        <p:spPr>
          <a:xfrm>
            <a:off x="187954" y="2403949"/>
            <a:ext cx="389805" cy="107642"/>
          </a:xfrm>
          <a:prstGeom prst="rect">
            <a:avLst/>
          </a:prstGeom>
          <a:noFill/>
          <a:effectLst/>
        </p:spPr>
        <p:txBody>
          <a:bodyPr wrap="none" anchor="t" tIns="5669" rIns="0" bIns="0" lIns="5669" anchorCtr="0" vertOverflow="overflow">
            <a:noAutofit/>
          </a:bodyPr>
          <a:lstStyle/>
          <a:p>
            <a:pPr algn="l" fontAlgn="base">
              <a:lnSpc>
                <a:spcPts val="717"/>
              </a:lnSpc>
              <a:spcBef>
                <a:spcPts val="0"/>
              </a:spcBef>
              <a:spcAft>
                <a:spcPts val="0"/>
              </a:spcAft>
              <a:defRPr sz="623" b="0" i="0" lang="zh-CN" dirty="0">
                <a:solidFill>
                  <a:srgbClr val="77858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623" b="0" i="0" lang="zh-CN" dirty="0">
                <a:solidFill>
                  <a:srgbClr val="77858D"/>
                </a:solidFill>
                <a:latin typeface="Liberation Sans"/>
                <a:ea typeface="Liberation Sans"/>
                <a:cs typeface="Liberation Sans"/>
              </a:rPr>
              <a:t>Schematic</a:t>
            </a:r>
          </a:p>
        </p:txBody>
      </p:sp>
      <p:sp>
        <p:nvSpPr>
          <p:cNvPr id="157" name="safety_scope" descr="Editable text; source id safety_scope"/>
          <p:cNvSpPr txBox="1"/>
          <p:nvPr/>
        </p:nvSpPr>
        <p:spPr>
          <a:xfrm>
            <a:off x="3230894" y="2403949"/>
            <a:ext cx="1604680" cy="107642"/>
          </a:xfrm>
          <a:prstGeom prst="rect">
            <a:avLst/>
          </a:prstGeom>
          <a:noFill/>
          <a:effectLst/>
        </p:spPr>
        <p:txBody>
          <a:bodyPr wrap="none" anchor="t" tIns="5669" rIns="0" bIns="0" lIns="5669" anchorCtr="0" vertOverflow="overflow">
            <a:noAutofit/>
          </a:bodyPr>
          <a:lstStyle/>
          <a:p>
            <a:pPr algn="l" fontAlgn="base">
              <a:lnSpc>
                <a:spcPts val="717"/>
              </a:lnSpc>
              <a:spcBef>
                <a:spcPts val="0"/>
              </a:spcBef>
              <a:spcAft>
                <a:spcPts val="0"/>
              </a:spcAft>
              <a:defRPr sz="623" b="0" i="0" lang="zh-CN" dirty="0">
                <a:solidFill>
                  <a:srgbClr val="77858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623" b="0" i="0" lang="zh-CN" dirty="0">
                <a:solidFill>
                  <a:srgbClr val="77858D"/>
                </a:solidFill>
                <a:latin typeface="Liberation Sans"/>
                <a:ea typeface="Liberation Sans"/>
                <a:cs typeface="Liberation Sans"/>
              </a:rPr>
              <a:t>Graph feasibility does not certify policy safety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