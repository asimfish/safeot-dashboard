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029200" cy="25146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V11 visual mechanism redraw of generated reference. Schematic only. Full equations in companion captions. Frozen R2 science; no policy-safety guarantee.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bserve_title" descr="Editable text; source id observe_title"/>
          <p:cNvSpPr txBox="1"/>
          <p:nvPr/>
        </p:nvSpPr>
        <p:spPr>
          <a:xfrm>
            <a:off x="300861" y="83177"/>
            <a:ext cx="402562" cy="126929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865"/>
              </a:lnSpc>
              <a:spcBef>
                <a:spcPts val="0"/>
              </a:spcBef>
              <a:spcAft>
                <a:spcPts val="0"/>
              </a:spcAft>
              <a:defRPr sz="752" b="1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2" b="1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Observe</a:t>
            </a:r>
          </a:p>
        </p:txBody>
      </p:sp>
      <p:sp>
        <p:nvSpPr>
          <p:cNvPr id="3" name="update_title" descr="Editable text; source id update_title"/>
          <p:cNvSpPr txBox="1"/>
          <p:nvPr/>
        </p:nvSpPr>
        <p:spPr>
          <a:xfrm>
            <a:off x="4169629" y="83177"/>
            <a:ext cx="646368" cy="126929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865"/>
              </a:lnSpc>
              <a:spcBef>
                <a:spcPts val="0"/>
              </a:spcBef>
              <a:spcAft>
                <a:spcPts val="0"/>
              </a:spcAft>
              <a:defRPr sz="752" b="1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752" b="1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Update policy</a:t>
            </a:r>
          </a:p>
        </p:txBody>
      </p:sp>
      <p:grpSp>
        <p:nvGrpSpPr>
          <p:cNvPr id="156" name="rollout_inputs" descr="rollout inputs"/>
          <p:cNvGrpSpPr/>
          <p:nvPr/>
        </p:nvGrpSpPr>
        <p:grpSpPr>
          <a:xfrm>
            <a:off x="82341" y="306452"/>
            <a:ext cx="775137" cy="1826209"/>
            <a:chOff x="82341" y="306452"/>
            <a:chExt cx="775137" cy="1826209"/>
          </a:xfrm>
        </p:grpSpPr>
        <p:sp>
          <p:nvSpPr>
            <p:cNvPr id="4" name="rollout_label" descr="Editable text; source id rollout_label"/>
            <p:cNvSpPr txBox="1"/>
            <p:nvPr/>
          </p:nvSpPr>
          <p:spPr>
            <a:xfrm>
              <a:off x="229279" y="306452"/>
              <a:ext cx="545727" cy="112093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1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1" i="0" lang="zh-CN" dirty="0">
                  <a:solidFill>
                    <a:srgbClr val="29343E"/>
                  </a:solidFill>
                  <a:latin typeface="Liberation Sans"/>
                  <a:ea typeface="Liberation Sans"/>
                  <a:cs typeface="Liberation Sans"/>
                </a:rPr>
                <a:t>Policy rollout</a:t>
              </a:r>
            </a:p>
          </p:txBody>
        </p:sp>
        <p:sp>
          <p:nvSpPr>
            <p:cNvPr id="5" name="rollout_state0_panel" descr="Editable shape; source id rollout_state0_panel"/>
            <p:cNvSpPr/>
            <p:nvPr/>
          </p:nvSpPr>
          <p:spPr>
            <a:xfrm>
              <a:off x="125730" y="482803"/>
              <a:ext cx="90525" cy="90525"/>
            </a:xfrm>
            <a:prstGeom prst="ellipse">
              <a:avLst/>
            </a:prstGeom>
            <a:solidFill>
              <a:srgbClr val="EDF1F6"/>
            </a:solidFill>
            <a:ln w="3771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" name="rollout_link0" descr="Editable line; source id rollout_link0"/>
            <p:cNvSpPr/>
            <p:nvPr/>
          </p:nvSpPr>
          <p:spPr>
            <a:xfrm>
              <a:off x="231343" y="516749"/>
              <a:ext cx="93040" cy="22634"/>
            </a:xfrm>
            <a:custGeom>
              <a:avLst/>
              <a:gdLst/>
              <a:ahLst/>
              <a:cxnLst/>
              <a:rect l="l" t="t" r="r" b="b"/>
              <a:pathLst>
                <a:path w="32819" h="7984">
                  <a:moveTo>
                    <a:pt x="0" y="3061"/>
                  </a:moveTo>
                  <a:lnTo>
                    <a:pt x="22175" y="3061"/>
                  </a:lnTo>
                  <a:lnTo>
                    <a:pt x="22175" y="0"/>
                  </a:lnTo>
                  <a:lnTo>
                    <a:pt x="32819" y="3992"/>
                  </a:lnTo>
                  <a:lnTo>
                    <a:pt x="22175" y="7984"/>
                  </a:lnTo>
                  <a:lnTo>
                    <a:pt x="22175" y="4923"/>
                  </a:lnTo>
                  <a:lnTo>
                    <a:pt x="0" y="4923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7" name="rollout_state1_panel" descr="Editable shape; source id rollout_state1_panel"/>
            <p:cNvSpPr/>
            <p:nvPr/>
          </p:nvSpPr>
          <p:spPr>
            <a:xfrm>
              <a:off x="339471" y="482803"/>
              <a:ext cx="90525" cy="90525"/>
            </a:xfrm>
            <a:prstGeom prst="ellipse">
              <a:avLst/>
            </a:prstGeom>
            <a:solidFill>
              <a:srgbClr val="EDF1F6"/>
            </a:solidFill>
            <a:ln w="3771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8" name="rollout_link1" descr="Editable line; source id rollout_link1"/>
            <p:cNvSpPr/>
            <p:nvPr/>
          </p:nvSpPr>
          <p:spPr>
            <a:xfrm>
              <a:off x="445084" y="516749"/>
              <a:ext cx="93040" cy="22634"/>
            </a:xfrm>
            <a:custGeom>
              <a:avLst/>
              <a:gdLst/>
              <a:ahLst/>
              <a:cxnLst/>
              <a:rect l="l" t="t" r="r" b="b"/>
              <a:pathLst>
                <a:path w="32819" h="7984">
                  <a:moveTo>
                    <a:pt x="0" y="3061"/>
                  </a:moveTo>
                  <a:lnTo>
                    <a:pt x="22175" y="3061"/>
                  </a:lnTo>
                  <a:lnTo>
                    <a:pt x="22175" y="0"/>
                  </a:lnTo>
                  <a:lnTo>
                    <a:pt x="32819" y="3992"/>
                  </a:lnTo>
                  <a:lnTo>
                    <a:pt x="22175" y="7984"/>
                  </a:lnTo>
                  <a:lnTo>
                    <a:pt x="22175" y="4923"/>
                  </a:lnTo>
                  <a:lnTo>
                    <a:pt x="0" y="4923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9" name="rollout_state2_panel" descr="Editable shape; source id rollout_state2_panel"/>
            <p:cNvSpPr/>
            <p:nvPr/>
          </p:nvSpPr>
          <p:spPr>
            <a:xfrm>
              <a:off x="553212" y="482803"/>
              <a:ext cx="90525" cy="90525"/>
            </a:xfrm>
            <a:prstGeom prst="ellipse">
              <a:avLst/>
            </a:prstGeom>
            <a:solidFill>
              <a:srgbClr val="EDF1F6"/>
            </a:solidFill>
            <a:ln w="3771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0" name="rollout_link2" descr="Editable line; source id rollout_link2"/>
            <p:cNvSpPr/>
            <p:nvPr/>
          </p:nvSpPr>
          <p:spPr>
            <a:xfrm>
              <a:off x="658825" y="516749"/>
              <a:ext cx="93040" cy="22634"/>
            </a:xfrm>
            <a:custGeom>
              <a:avLst/>
              <a:gdLst/>
              <a:ahLst/>
              <a:cxnLst/>
              <a:rect l="l" t="t" r="r" b="b"/>
              <a:pathLst>
                <a:path w="32819" h="7984">
                  <a:moveTo>
                    <a:pt x="0" y="3061"/>
                  </a:moveTo>
                  <a:lnTo>
                    <a:pt x="22175" y="3061"/>
                  </a:lnTo>
                  <a:lnTo>
                    <a:pt x="22175" y="0"/>
                  </a:lnTo>
                  <a:lnTo>
                    <a:pt x="32819" y="3992"/>
                  </a:lnTo>
                  <a:lnTo>
                    <a:pt x="22175" y="7984"/>
                  </a:lnTo>
                  <a:lnTo>
                    <a:pt x="22175" y="4923"/>
                  </a:lnTo>
                  <a:lnTo>
                    <a:pt x="0" y="4923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1" name="rollout_state3_panel" descr="Editable shape; source id rollout_state3_panel"/>
            <p:cNvSpPr/>
            <p:nvPr/>
          </p:nvSpPr>
          <p:spPr>
            <a:xfrm>
              <a:off x="766953" y="482803"/>
              <a:ext cx="90525" cy="90525"/>
            </a:xfrm>
            <a:prstGeom prst="ellipse">
              <a:avLst/>
            </a:prstGeom>
            <a:solidFill>
              <a:srgbClr val="EDF1F6"/>
            </a:solidFill>
            <a:ln w="3771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2" name="data_states" descr="Editable text; source id data_states"/>
            <p:cNvSpPr txBox="1"/>
            <p:nvPr/>
          </p:nvSpPr>
          <p:spPr>
            <a:xfrm>
              <a:off x="82341" y="700856"/>
              <a:ext cx="234592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states</a:t>
              </a:r>
            </a:p>
          </p:txBody>
        </p:sp>
        <p:sp>
          <p:nvSpPr>
            <p:cNvPr id="13" name="data_0_0" descr="Editable shape; source id data_0_0"/>
            <p:cNvSpPr/>
            <p:nvPr/>
          </p:nvSpPr>
          <p:spPr>
            <a:xfrm>
              <a:off x="477773" y="726719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4" name="data_0_1" descr="Editable shape; source id data_0_1"/>
            <p:cNvSpPr/>
            <p:nvPr/>
          </p:nvSpPr>
          <p:spPr>
            <a:xfrm>
              <a:off x="580872" y="726719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5" name="data_0_2" descr="Editable shape; source id data_0_2"/>
            <p:cNvSpPr/>
            <p:nvPr/>
          </p:nvSpPr>
          <p:spPr>
            <a:xfrm>
              <a:off x="683971" y="726719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6" name="data_0_3" descr="Editable shape; source id data_0_3"/>
            <p:cNvSpPr/>
            <p:nvPr/>
          </p:nvSpPr>
          <p:spPr>
            <a:xfrm>
              <a:off x="787069" y="726719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7" name="data_rewards" descr="Editable text; source id data_rewards"/>
            <p:cNvSpPr txBox="1"/>
            <p:nvPr/>
          </p:nvSpPr>
          <p:spPr>
            <a:xfrm>
              <a:off x="82341" y="864305"/>
              <a:ext cx="306174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rewards</a:t>
              </a:r>
            </a:p>
          </p:txBody>
        </p:sp>
        <p:sp>
          <p:nvSpPr>
            <p:cNvPr id="18" name="data_1_0" descr="Editable shape; source id data_1_0"/>
            <p:cNvSpPr/>
            <p:nvPr/>
          </p:nvSpPr>
          <p:spPr>
            <a:xfrm>
              <a:off x="477773" y="890168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19" name="data_1_1" descr="Editable shape; source id data_1_1"/>
            <p:cNvSpPr/>
            <p:nvPr/>
          </p:nvSpPr>
          <p:spPr>
            <a:xfrm>
              <a:off x="580872" y="890168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0" name="data_1_2" descr="Editable shape; source id data_1_2"/>
            <p:cNvSpPr/>
            <p:nvPr/>
          </p:nvSpPr>
          <p:spPr>
            <a:xfrm>
              <a:off x="683971" y="890168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1" name="data_1_3" descr="Editable shape; source id data_1_3"/>
            <p:cNvSpPr/>
            <p:nvPr/>
          </p:nvSpPr>
          <p:spPr>
            <a:xfrm>
              <a:off x="787069" y="890168"/>
              <a:ext cx="60350" cy="60350"/>
            </a:xfrm>
            <a:prstGeom prst="rect">
              <a:avLst/>
            </a:prstGeom>
            <a:solidFill>
              <a:srgbClr val="EDF1F6"/>
            </a:solidFill>
            <a:ln w="3017">
              <a:solidFill>
                <a:srgbClr val="536F8E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2" name="data_costs" descr="Editable text; source id data_costs"/>
            <p:cNvSpPr txBox="1"/>
            <p:nvPr/>
          </p:nvSpPr>
          <p:spPr>
            <a:xfrm>
              <a:off x="82341" y="1027754"/>
              <a:ext cx="207660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costs</a:t>
              </a:r>
            </a:p>
          </p:txBody>
        </p:sp>
        <p:sp>
          <p:nvSpPr>
            <p:cNvPr id="23" name="data_2_0" descr="Editable shape; source id data_2_0"/>
            <p:cNvSpPr/>
            <p:nvPr/>
          </p:nvSpPr>
          <p:spPr>
            <a:xfrm>
              <a:off x="477773" y="1053617"/>
              <a:ext cx="60350" cy="60350"/>
            </a:xfrm>
            <a:prstGeom prst="rect">
              <a:avLst/>
            </a:prstGeom>
            <a:solidFill>
              <a:srgbClr val="F8F1E4"/>
            </a:solidFill>
            <a:ln w="3017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4" name="data_2_1" descr="Editable shape; source id data_2_1"/>
            <p:cNvSpPr/>
            <p:nvPr/>
          </p:nvSpPr>
          <p:spPr>
            <a:xfrm>
              <a:off x="580872" y="1053617"/>
              <a:ext cx="60350" cy="60350"/>
            </a:xfrm>
            <a:prstGeom prst="rect">
              <a:avLst/>
            </a:prstGeom>
            <a:solidFill>
              <a:srgbClr val="F8F1E4"/>
            </a:solidFill>
            <a:ln w="3017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5" name="data_2_2" descr="Editable shape; source id data_2_2"/>
            <p:cNvSpPr/>
            <p:nvPr/>
          </p:nvSpPr>
          <p:spPr>
            <a:xfrm>
              <a:off x="683971" y="1053617"/>
              <a:ext cx="60350" cy="60350"/>
            </a:xfrm>
            <a:prstGeom prst="rect">
              <a:avLst/>
            </a:prstGeom>
            <a:solidFill>
              <a:srgbClr val="F8F1E4"/>
            </a:solidFill>
            <a:ln w="3017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6" name="data_2_3" descr="Editable shape; source id data_2_3"/>
            <p:cNvSpPr/>
            <p:nvPr/>
          </p:nvSpPr>
          <p:spPr>
            <a:xfrm>
              <a:off x="787069" y="1053617"/>
              <a:ext cx="60350" cy="60350"/>
            </a:xfrm>
            <a:prstGeom prst="rect">
              <a:avLst/>
            </a:prstGeom>
            <a:solidFill>
              <a:srgbClr val="F8F1E4"/>
            </a:solidFill>
            <a:ln w="3017">
              <a:solidFill>
                <a:srgbClr val="B78129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27" name="episodic_label" descr="Editable text; source id episodic_label"/>
            <p:cNvSpPr txBox="1"/>
            <p:nvPr/>
          </p:nvSpPr>
          <p:spPr>
            <a:xfrm>
              <a:off x="223827" y="1443051"/>
              <a:ext cx="536514" cy="112093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51"/>
                </a:lnSpc>
                <a:spcBef>
                  <a:spcPts val="0"/>
                </a:spcBef>
                <a:spcAft>
                  <a:spcPts val="0"/>
                </a:spcAft>
                <a:defRPr sz="65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5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Episode costs</a:t>
              </a:r>
            </a:p>
          </p:txBody>
        </p:sp>
        <p:grpSp>
          <p:nvGrpSpPr>
            <p:cNvPr id="155" name="observed_cost" descr="observed cost"/>
            <p:cNvGrpSpPr/>
            <p:nvPr/>
          </p:nvGrpSpPr>
          <p:grpSpPr>
            <a:xfrm>
              <a:off x="402336" y="1586712"/>
              <a:ext cx="170992" cy="170992"/>
              <a:chOff x="402336" y="1586712"/>
              <a:chExt cx="170992" cy="170992"/>
            </a:xfrm>
          </p:grpSpPr>
          <p:sp>
            <p:nvSpPr>
              <p:cNvPr id="28" name="observed_cost_panel" descr="Editable shape; source id observed_cost_panel"/>
              <p:cNvSpPr/>
              <p:nvPr/>
            </p:nvSpPr>
            <p:spPr>
              <a:xfrm>
                <a:off x="402336" y="1586712"/>
                <a:ext cx="170992" cy="170992"/>
              </a:xfrm>
              <a:prstGeom prst="ellipse">
                <a:avLst/>
              </a:prstGeom>
              <a:solidFill>
                <a:srgbClr val="F8F1E4"/>
              </a:solidFill>
              <a:ln w="3771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29" name="observed_cost_label" descr="Editable text; source id observed_cost_label"/>
              <p:cNvSpPr txBox="1"/>
              <p:nvPr/>
            </p:nvSpPr>
            <p:spPr>
              <a:xfrm>
                <a:off x="458774" y="1610111"/>
                <a:ext cx="66621" cy="12396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42"/>
                  </a:lnSpc>
                  <a:spcBef>
                    <a:spcPts val="0"/>
                  </a:spcBef>
                  <a:spcAft>
                    <a:spcPts val="0"/>
                  </a:spcAft>
                  <a:defRPr sz="732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32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J̄</a:t>
                </a:r>
              </a:p>
            </p:txBody>
          </p:sp>
        </p:grpSp>
        <p:sp>
          <p:nvSpPr>
            <p:cNvPr id="30" name="gae_label" descr="Editable text; source id gae_label"/>
            <p:cNvSpPr txBox="1"/>
            <p:nvPr/>
          </p:nvSpPr>
          <p:spPr>
            <a:xfrm>
              <a:off x="162433" y="2023535"/>
              <a:ext cx="659302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1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GAE advantages</a:t>
              </a:r>
            </a:p>
          </p:txBody>
        </p:sp>
      </p:grpSp>
      <p:grpSp>
        <p:nvGrpSpPr>
          <p:cNvPr id="171" name="shared_prices" descr="shared prices"/>
          <p:cNvGrpSpPr/>
          <p:nvPr/>
        </p:nvGrpSpPr>
        <p:grpSpPr>
          <a:xfrm>
            <a:off x="1103909" y="60350"/>
            <a:ext cx="2783662" cy="1936241"/>
            <a:chOff x="1103909" y="60350"/>
            <a:chExt cx="2783662" cy="1936241"/>
          </a:xfrm>
        </p:grpSpPr>
        <p:sp>
          <p:nvSpPr>
            <p:cNvPr id="31" name="shared_prices_panel" descr="Editable shape; source id shared_prices_panel"/>
            <p:cNvSpPr/>
            <p:nvPr/>
          </p:nvSpPr>
          <p:spPr>
            <a:xfrm>
              <a:off x="1103909" y="60350"/>
              <a:ext cx="2783662" cy="1936241"/>
            </a:xfrm>
            <a:prstGeom prst="roundRect">
              <a:avLst>
                <a:gd name="adj" fmla="val 3896"/>
              </a:avLst>
            </a:prstGeom>
            <a:solidFill>
              <a:srgbClr val="F2F7F7"/>
            </a:solidFill>
            <a:ln w="3520">
              <a:solidFill>
                <a:srgbClr val="CDD7DC"/>
              </a:solidFill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32" name="core_title" descr="Editable text; source id core_title"/>
            <p:cNvSpPr txBox="1"/>
            <p:nvPr/>
          </p:nvSpPr>
          <p:spPr>
            <a:xfrm>
              <a:off x="1173677" y="103294"/>
              <a:ext cx="1119096" cy="126929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865"/>
                </a:lnSpc>
                <a:spcBef>
                  <a:spcPts val="0"/>
                </a:spcBef>
                <a:spcAft>
                  <a:spcPts val="0"/>
                </a:spcAft>
                <a:def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752" b="1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Construct shared prices</a:t>
              </a:r>
            </a:p>
          </p:txBody>
        </p:sp>
        <p:grpSp>
          <p:nvGrpSpPr>
            <p:cNvPr id="161" name="joint_graph" descr="joint graph"/>
            <p:cNvGrpSpPr/>
            <p:nvPr/>
          </p:nvGrpSpPr>
          <p:grpSpPr>
            <a:xfrm>
              <a:off x="1196949" y="293879"/>
              <a:ext cx="2121588" cy="1189240"/>
              <a:chOff x="1196949" y="293879"/>
              <a:chExt cx="2121588" cy="1189240"/>
            </a:xfrm>
          </p:grpSpPr>
          <p:sp>
            <p:nvSpPr>
              <p:cNvPr id="33" name="joint_graph_title" descr="Editable text; source id joint_graph_title"/>
              <p:cNvSpPr txBox="1"/>
              <p:nvPr/>
            </p:nvSpPr>
            <p:spPr>
              <a:xfrm>
                <a:off x="1614169" y="293879"/>
                <a:ext cx="471598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Joint graph</a:t>
                </a:r>
              </a:p>
            </p:txBody>
          </p:sp>
          <p:grpSp>
            <p:nvGrpSpPr>
              <p:cNvPr id="160" name="empirical_graph" descr="empirical graph"/>
              <p:cNvGrpSpPr/>
              <p:nvPr/>
            </p:nvGrpSpPr>
            <p:grpSpPr>
              <a:xfrm>
                <a:off x="1196949" y="467715"/>
                <a:ext cx="1186891" cy="673913"/>
                <a:chOff x="1196949" y="467715"/>
                <a:chExt cx="1186891" cy="673913"/>
              </a:xfrm>
            </p:grpSpPr>
            <p:sp>
              <p:nvSpPr>
                <p:cNvPr id="34" name="empirical_graph_edge0" descr="Editable line; source id empirical_graph_edge0"/>
                <p:cNvSpPr/>
                <p:nvPr/>
              </p:nvSpPr>
              <p:spPr>
                <a:xfrm>
                  <a:off x="1299580" y="569286"/>
                  <a:ext cx="193570" cy="18045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68280" h="63652">
                      <a:moveTo>
                        <a:pt x="0" y="61834"/>
                      </a:moveTo>
                      <a:lnTo>
                        <a:pt x="59642" y="6341"/>
                      </a:lnTo>
                      <a:lnTo>
                        <a:pt x="57769" y="4328"/>
                      </a:lnTo>
                      <a:lnTo>
                        <a:pt x="68280" y="0"/>
                      </a:lnTo>
                      <a:lnTo>
                        <a:pt x="63207" y="10172"/>
                      </a:lnTo>
                      <a:lnTo>
                        <a:pt x="61334" y="8159"/>
                      </a:lnTo>
                      <a:lnTo>
                        <a:pt x="1691" y="63652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5" name="empirical_graph_edge1" descr="Editable line; source id empirical_graph_edge1"/>
                <p:cNvSpPr/>
                <p:nvPr/>
              </p:nvSpPr>
              <p:spPr>
                <a:xfrm>
                  <a:off x="1610753" y="511720"/>
                  <a:ext cx="326997" cy="2263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15345" h="7984">
                      <a:moveTo>
                        <a:pt x="0" y="2750"/>
                      </a:moveTo>
                      <a:lnTo>
                        <a:pt x="104701" y="2750"/>
                      </a:lnTo>
                      <a:lnTo>
                        <a:pt x="104701" y="0"/>
                      </a:lnTo>
                      <a:lnTo>
                        <a:pt x="115345" y="3992"/>
                      </a:lnTo>
                      <a:lnTo>
                        <a:pt x="104701" y="7984"/>
                      </a:lnTo>
                      <a:lnTo>
                        <a:pt x="104701" y="5234"/>
                      </a:lnTo>
                      <a:lnTo>
                        <a:pt x="0" y="5234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6" name="empirical_graph_edge2" descr="Editable line; source id empirical_graph_edge2"/>
                <p:cNvSpPr/>
                <p:nvPr/>
              </p:nvSpPr>
              <p:spPr>
                <a:xfrm>
                  <a:off x="2055437" y="563928"/>
                  <a:ext cx="221027" cy="18589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7965" h="65571">
                      <a:moveTo>
                        <a:pt x="1595" y="0"/>
                      </a:moveTo>
                      <a:lnTo>
                        <a:pt x="70602" y="57785"/>
                      </a:lnTo>
                      <a:lnTo>
                        <a:pt x="72367" y="55677"/>
                      </a:lnTo>
                      <a:lnTo>
                        <a:pt x="77965" y="65571"/>
                      </a:lnTo>
                      <a:lnTo>
                        <a:pt x="67242" y="61797"/>
                      </a:lnTo>
                      <a:lnTo>
                        <a:pt x="69008" y="59689"/>
                      </a:lnTo>
                      <a:lnTo>
                        <a:pt x="0" y="1904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7" name="empirical_graph_edge3" descr="Editable line; source id empirical_graph_edge3"/>
                <p:cNvSpPr/>
                <p:nvPr/>
              </p:nvSpPr>
              <p:spPr>
                <a:xfrm>
                  <a:off x="1320165" y="782092"/>
                  <a:ext cx="348523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22938" h="7983">
                      <a:moveTo>
                        <a:pt x="0" y="3060"/>
                      </a:moveTo>
                      <a:lnTo>
                        <a:pt x="112294" y="3060"/>
                      </a:lnTo>
                      <a:lnTo>
                        <a:pt x="112294" y="0"/>
                      </a:lnTo>
                      <a:lnTo>
                        <a:pt x="122938" y="3991"/>
                      </a:lnTo>
                      <a:lnTo>
                        <a:pt x="112294" y="7983"/>
                      </a:lnTo>
                      <a:lnTo>
                        <a:pt x="112294" y="4923"/>
                      </a:lnTo>
                      <a:lnTo>
                        <a:pt x="0" y="4923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8" name="empirical_graph_edge4" descr="Editable line; source id empirical_graph_edge4"/>
                <p:cNvSpPr/>
                <p:nvPr/>
              </p:nvSpPr>
              <p:spPr>
                <a:xfrm>
                  <a:off x="1580255" y="576688"/>
                  <a:ext cx="116783" cy="161530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41194" h="56978">
                      <a:moveTo>
                        <a:pt x="1515" y="0"/>
                      </a:moveTo>
                      <a:lnTo>
                        <a:pt x="35752" y="47783"/>
                      </a:lnTo>
                      <a:lnTo>
                        <a:pt x="38239" y="46001"/>
                      </a:lnTo>
                      <a:lnTo>
                        <a:pt x="41194" y="56978"/>
                      </a:lnTo>
                      <a:lnTo>
                        <a:pt x="31750" y="50650"/>
                      </a:lnTo>
                      <a:lnTo>
                        <a:pt x="34238" y="48868"/>
                      </a:lnTo>
                      <a:lnTo>
                        <a:pt x="0" y="1085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39" name="empirical_graph_edge5" descr="Editable line; source id empirical_graph_edge5"/>
                <p:cNvSpPr/>
                <p:nvPr/>
              </p:nvSpPr>
              <p:spPr>
                <a:xfrm>
                  <a:off x="1804476" y="782092"/>
                  <a:ext cx="456149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60902" h="7983">
                      <a:moveTo>
                        <a:pt x="0" y="2749"/>
                      </a:moveTo>
                      <a:lnTo>
                        <a:pt x="150258" y="2749"/>
                      </a:lnTo>
                      <a:lnTo>
                        <a:pt x="150258" y="0"/>
                      </a:lnTo>
                      <a:lnTo>
                        <a:pt x="160902" y="3991"/>
                      </a:lnTo>
                      <a:lnTo>
                        <a:pt x="150258" y="7983"/>
                      </a:lnTo>
                      <a:lnTo>
                        <a:pt x="150258" y="5233"/>
                      </a:lnTo>
                      <a:lnTo>
                        <a:pt x="0" y="5233"/>
                      </a:lnTo>
                      <a:close/>
                    </a:path>
                  </a:pathLst>
                </a:custGeom>
                <a:solidFill>
                  <a:srgbClr val="007F85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0" name="empirical_graph_edge6" descr="Editable line; source id empirical_graph_edge6"/>
                <p:cNvSpPr/>
                <p:nvPr/>
              </p:nvSpPr>
              <p:spPr>
                <a:xfrm>
                  <a:off x="1282732" y="851593"/>
                  <a:ext cx="98203" cy="175254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34640" h="61819">
                      <a:moveTo>
                        <a:pt x="1631" y="0"/>
                      </a:moveTo>
                      <a:lnTo>
                        <a:pt x="30318" y="52047"/>
                      </a:lnTo>
                      <a:lnTo>
                        <a:pt x="32998" y="50570"/>
                      </a:lnTo>
                      <a:lnTo>
                        <a:pt x="34640" y="61819"/>
                      </a:lnTo>
                      <a:lnTo>
                        <a:pt x="26007" y="54424"/>
                      </a:lnTo>
                      <a:lnTo>
                        <a:pt x="28687" y="52947"/>
                      </a:lnTo>
                      <a:lnTo>
                        <a:pt x="0" y="899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1" name="empirical_graph_edge7" descr="Editable line; source id empirical_graph_edge7"/>
                <p:cNvSpPr/>
                <p:nvPr/>
              </p:nvSpPr>
              <p:spPr>
                <a:xfrm>
                  <a:off x="1481601" y="1074993"/>
                  <a:ext cx="370049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130531" h="7983">
                      <a:moveTo>
                        <a:pt x="0" y="3060"/>
                      </a:moveTo>
                      <a:lnTo>
                        <a:pt x="119887" y="3060"/>
                      </a:lnTo>
                      <a:lnTo>
                        <a:pt x="119887" y="0"/>
                      </a:lnTo>
                      <a:lnTo>
                        <a:pt x="130531" y="3991"/>
                      </a:lnTo>
                      <a:lnTo>
                        <a:pt x="119887" y="7983"/>
                      </a:lnTo>
                      <a:lnTo>
                        <a:pt x="119887" y="4922"/>
                      </a:lnTo>
                      <a:lnTo>
                        <a:pt x="0" y="4922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2" name="empirical_graph_edge8" descr="Editable line; source id empirical_graph_edge8"/>
                <p:cNvSpPr/>
                <p:nvPr/>
              </p:nvSpPr>
              <p:spPr>
                <a:xfrm>
                  <a:off x="1987438" y="1074993"/>
                  <a:ext cx="273187" cy="22631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96364" h="7983">
                      <a:moveTo>
                        <a:pt x="0" y="3060"/>
                      </a:moveTo>
                      <a:lnTo>
                        <a:pt x="85720" y="3060"/>
                      </a:lnTo>
                      <a:lnTo>
                        <a:pt x="85720" y="0"/>
                      </a:lnTo>
                      <a:lnTo>
                        <a:pt x="96364" y="3991"/>
                      </a:lnTo>
                      <a:lnTo>
                        <a:pt x="85720" y="7983"/>
                      </a:lnTo>
                      <a:lnTo>
                        <a:pt x="85720" y="4922"/>
                      </a:lnTo>
                      <a:lnTo>
                        <a:pt x="0" y="4922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3" name="empirical_graph_edge9" descr="Editable line; source id empirical_graph_edge9"/>
                <p:cNvSpPr/>
                <p:nvPr/>
              </p:nvSpPr>
              <p:spPr>
                <a:xfrm>
                  <a:off x="2317202" y="861300"/>
                  <a:ext cx="22631" cy="157113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3" h="55420">
                      <a:moveTo>
                        <a:pt x="3061" y="55420"/>
                      </a:moveTo>
                      <a:lnTo>
                        <a:pt x="3061" y="10644"/>
                      </a:lnTo>
                      <a:lnTo>
                        <a:pt x="0" y="10644"/>
                      </a:lnTo>
                      <a:lnTo>
                        <a:pt x="3992" y="0"/>
                      </a:lnTo>
                      <a:lnTo>
                        <a:pt x="7983" y="10644"/>
                      </a:lnTo>
                      <a:lnTo>
                        <a:pt x="4923" y="10644"/>
                      </a:lnTo>
                      <a:lnTo>
                        <a:pt x="4923" y="55420"/>
                      </a:lnTo>
                      <a:close/>
                    </a:path>
                  </a:pathLst>
                </a:custGeom>
                <a:solidFill>
                  <a:srgbClr val="77858D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4" name="empirical_graph_node0" descr="Editable shape; source id empirical_graph_node0"/>
                <p:cNvSpPr/>
                <p:nvPr/>
              </p:nvSpPr>
              <p:spPr>
                <a:xfrm>
                  <a:off x="1196949" y="738085"/>
                  <a:ext cx="110642" cy="110642"/>
                </a:xfrm>
                <a:prstGeom prst="ellipse">
                  <a:avLst/>
                </a:prstGeom>
                <a:solidFill>
                  <a:srgbClr val="FFFFFF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5" name="empirical_graph_node1" descr="Editable shape; source id empirical_graph_node1"/>
                <p:cNvSpPr/>
                <p:nvPr/>
              </p:nvSpPr>
              <p:spPr>
                <a:xfrm>
                  <a:off x="1487536" y="467715"/>
                  <a:ext cx="110642" cy="110642"/>
                </a:xfrm>
                <a:prstGeom prst="ellipse">
                  <a:avLst/>
                </a:prstGeom>
                <a:solidFill>
                  <a:srgbClr val="ECF5F4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6" name="empirical_graph_node2" descr="Editable shape; source id empirical_graph_node2"/>
                <p:cNvSpPr/>
                <p:nvPr/>
              </p:nvSpPr>
              <p:spPr>
                <a:xfrm>
                  <a:off x="1950323" y="467715"/>
                  <a:ext cx="110642" cy="110642"/>
                </a:xfrm>
                <a:prstGeom prst="ellipse">
                  <a:avLst/>
                </a:prstGeom>
                <a:solidFill>
                  <a:srgbClr val="FFFFFF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7" name="empirical_graph_node3" descr="Editable shape; source id empirical_graph_node3"/>
                <p:cNvSpPr/>
                <p:nvPr/>
              </p:nvSpPr>
              <p:spPr>
                <a:xfrm>
                  <a:off x="2273198" y="738085"/>
                  <a:ext cx="110642" cy="110642"/>
                </a:xfrm>
                <a:prstGeom prst="ellipse">
                  <a:avLst/>
                </a:prstGeom>
                <a:solidFill>
                  <a:srgbClr val="ECF5F4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8" name="empirical_graph_node4" descr="Editable shape; source id empirical_graph_node4"/>
                <p:cNvSpPr/>
                <p:nvPr/>
              </p:nvSpPr>
              <p:spPr>
                <a:xfrm>
                  <a:off x="1681261" y="738085"/>
                  <a:ext cx="110642" cy="110642"/>
                </a:xfrm>
                <a:prstGeom prst="ellipse">
                  <a:avLst/>
                </a:prstGeom>
                <a:solidFill>
                  <a:srgbClr val="ECF5F4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49" name="empirical_graph_node5" descr="Editable shape; source id empirical_graph_node5"/>
                <p:cNvSpPr/>
                <p:nvPr/>
              </p:nvSpPr>
              <p:spPr>
                <a:xfrm>
                  <a:off x="1358386" y="1030986"/>
                  <a:ext cx="110642" cy="110642"/>
                </a:xfrm>
                <a:prstGeom prst="ellipse">
                  <a:avLst/>
                </a:prstGeom>
                <a:solidFill>
                  <a:srgbClr val="FFFFFF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0" name="empirical_graph_node6" descr="Editable shape; source id empirical_graph_node6"/>
                <p:cNvSpPr/>
                <p:nvPr/>
              </p:nvSpPr>
              <p:spPr>
                <a:xfrm>
                  <a:off x="1864223" y="1030986"/>
                  <a:ext cx="110642" cy="110642"/>
                </a:xfrm>
                <a:prstGeom prst="ellipse">
                  <a:avLst/>
                </a:prstGeom>
                <a:solidFill>
                  <a:srgbClr val="FFFFFF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51" name="empirical_graph_node7" descr="Editable shape; source id empirical_graph_node7"/>
                <p:cNvSpPr/>
                <p:nvPr/>
              </p:nvSpPr>
              <p:spPr>
                <a:xfrm>
                  <a:off x="2273198" y="1030986"/>
                  <a:ext cx="110642" cy="110642"/>
                </a:xfrm>
                <a:prstGeom prst="ellipse">
                  <a:avLst/>
                </a:prstGeom>
                <a:solidFill>
                  <a:srgbClr val="FFFFFF"/>
                </a:solidFill>
                <a:ln w="4777">
                  <a:solidFill>
                    <a:srgbClr val="007F85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cxnSp>
              <p:nvCxnSpPr>
                <p:cNvPr id="52" name="empirical_graph_hard_a" descr="Editable line; source id empirical_graph_hard_a"/>
                <p:cNvCxnSpPr/>
                <p:nvPr/>
              </p:nvCxnSpPr>
              <p:spPr>
                <a:xfrm>
                  <a:off x="1772552" y="850989"/>
                  <a:ext cx="31532" cy="50479"/>
                </a:xfrm>
                <a:prstGeom prst="line">
                  <a:avLst/>
                </a:prstGeom>
                <a:ln w="4777" cap="rnd">
                  <a:solidFill>
                    <a:srgbClr val="77858D"/>
                  </a:solidFill>
                  <a:custDash>
                    <a:ds d="263158" sp="263158"/>
                  </a:custDash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3" name="empirical_graph_hard_b" descr="Editable line; source id empirical_graph_hard_b"/>
                <p:cNvCxnSpPr/>
                <p:nvPr/>
              </p:nvCxnSpPr>
              <p:spPr>
                <a:xfrm>
                  <a:off x="1852043" y="978245"/>
                  <a:ext cx="31532" cy="50479"/>
                </a:xfrm>
                <a:prstGeom prst="line">
                  <a:avLst/>
                </a:prstGeom>
                <a:ln w="4777" cap="rnd">
                  <a:solidFill>
                    <a:srgbClr val="77858D"/>
                  </a:solidFill>
                  <a:custDash>
                    <a:ds d="263158" sp="263158"/>
                  </a:custDash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4" name="empirical_graph_cross1" descr="Editable line; source id empirical_graph_cross1"/>
                <p:cNvCxnSpPr/>
                <p:nvPr/>
              </p:nvCxnSpPr>
              <p:spPr>
                <a:xfrm>
                  <a:off x="1802917" y="914710"/>
                  <a:ext cx="50292" cy="50292"/>
                </a:xfrm>
                <a:prstGeom prst="line">
                  <a:avLst/>
                </a:prstGeom>
                <a:ln w="7543" cap="rnd">
                  <a:solidFill>
                    <a:srgbClr val="B78129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55" name="empirical_graph_cross2" descr="Editable line; source id empirical_graph_cross2"/>
                <p:cNvCxnSpPr/>
                <p:nvPr/>
              </p:nvCxnSpPr>
              <p:spPr>
                <a:xfrm flipV="1">
                  <a:off x="1802917" y="914710"/>
                  <a:ext cx="50292" cy="50292"/>
                </a:xfrm>
                <a:prstGeom prst="line">
                  <a:avLst/>
                </a:prstGeom>
                <a:ln w="7543" cap="rnd">
                  <a:solidFill>
                    <a:srgbClr val="B78129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grpSp>
              <p:nvGrpSpPr>
                <p:cNvPr id="157" name="empirical_graph_cost1" descr="Editable formula parts and native mathematical delimiters."/>
                <p:cNvGrpSpPr/>
                <p:nvPr/>
              </p:nvGrpSpPr>
              <p:grpSpPr>
                <a:xfrm>
                  <a:off x="1323885" y="523933"/>
                  <a:ext cx="70872" cy="115886"/>
                  <a:chOff x="1323885" y="523933"/>
                  <a:chExt cx="70872" cy="115886"/>
                </a:xfrm>
              </p:grpSpPr>
              <p:sp>
                <p:nvSpPr>
                  <p:cNvPr id="56" name="empirical_graph_cost1_0" descr="Editable text; source id empirical_graph_cost1_0"/>
                  <p:cNvSpPr txBox="1"/>
                  <p:nvPr/>
                </p:nvSpPr>
                <p:spPr>
                  <a:xfrm>
                    <a:off x="1323885" y="523933"/>
                    <a:ext cx="42524" cy="102573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1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73" b="0" i="1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c</a:t>
                    </a:r>
                  </a:p>
                </p:txBody>
              </p:sp>
              <p:sp>
                <p:nvSpPr>
                  <p:cNvPr id="57" name="empirical_graph_cost1_1" descr="Editable text; source id empirical_graph_cost1_1"/>
                  <p:cNvSpPr txBox="1"/>
                  <p:nvPr/>
                </p:nvSpPr>
                <p:spPr>
                  <a:xfrm>
                    <a:off x="1362156" y="570675"/>
                    <a:ext cx="32601" cy="6914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1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44" b="0" i="0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44" b="0" i="0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1</a:t>
                    </a:r>
                  </a:p>
                </p:txBody>
              </p:sp>
            </p:grpSp>
            <p:grpSp>
              <p:nvGrpSpPr>
                <p:cNvPr id="158" name="empirical_graph_cost2" descr="Editable formula parts and native mathematical delimiters."/>
                <p:cNvGrpSpPr/>
                <p:nvPr/>
              </p:nvGrpSpPr>
              <p:grpSpPr>
                <a:xfrm>
                  <a:off x="2184884" y="523933"/>
                  <a:ext cx="70872" cy="115886"/>
                  <a:chOff x="2184884" y="523933"/>
                  <a:chExt cx="70872" cy="115886"/>
                </a:xfrm>
              </p:grpSpPr>
              <p:sp>
                <p:nvSpPr>
                  <p:cNvPr id="58" name="empirical_graph_cost2_0" descr="Editable text; source id empirical_graph_cost2_0"/>
                  <p:cNvSpPr txBox="1"/>
                  <p:nvPr/>
                </p:nvSpPr>
                <p:spPr>
                  <a:xfrm>
                    <a:off x="2184884" y="523933"/>
                    <a:ext cx="42524" cy="102573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1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73" b="0" i="1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c</a:t>
                    </a:r>
                  </a:p>
                </p:txBody>
              </p:sp>
              <p:sp>
                <p:nvSpPr>
                  <p:cNvPr id="59" name="empirical_graph_cost2_1" descr="Editable text; source id empirical_graph_cost2_1"/>
                  <p:cNvSpPr txBox="1"/>
                  <p:nvPr/>
                </p:nvSpPr>
                <p:spPr>
                  <a:xfrm>
                    <a:off x="2223155" y="570675"/>
                    <a:ext cx="32601" cy="6914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1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44" b="0" i="0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44" b="0" i="0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2</a:t>
                    </a:r>
                  </a:p>
                </p:txBody>
              </p:sp>
            </p:grpSp>
            <p:grpSp>
              <p:nvGrpSpPr>
                <p:cNvPr id="159" name="empirical_graph_cost3" descr="Editable formula parts and native mathematical delimiters."/>
                <p:cNvGrpSpPr/>
                <p:nvPr/>
              </p:nvGrpSpPr>
              <p:grpSpPr>
                <a:xfrm>
                  <a:off x="1592947" y="980182"/>
                  <a:ext cx="70873" cy="115886"/>
                  <a:chOff x="1592947" y="980182"/>
                  <a:chExt cx="70873" cy="115886"/>
                </a:xfrm>
              </p:grpSpPr>
              <p:sp>
                <p:nvSpPr>
                  <p:cNvPr id="60" name="empirical_graph_cost3_0" descr="Editable text; source id empirical_graph_cost3_0"/>
                  <p:cNvSpPr txBox="1"/>
                  <p:nvPr/>
                </p:nvSpPr>
                <p:spPr>
                  <a:xfrm>
                    <a:off x="1592947" y="980182"/>
                    <a:ext cx="42524" cy="102573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774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673" b="0" i="1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673" b="0" i="1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c</a:t>
                    </a:r>
                  </a:p>
                </p:txBody>
              </p:sp>
              <p:sp>
                <p:nvSpPr>
                  <p:cNvPr id="61" name="empirical_graph_cost3_1" descr="Editable text; source id empirical_graph_cost3_1"/>
                  <p:cNvSpPr txBox="1"/>
                  <p:nvPr/>
                </p:nvSpPr>
                <p:spPr>
                  <a:xfrm>
                    <a:off x="1631219" y="1026924"/>
                    <a:ext cx="32601" cy="69144"/>
                  </a:xfrm>
                  <a:prstGeom prst="rect">
                    <a:avLst/>
                  </a:prstGeom>
                  <a:noFill/>
                  <a:effectLst/>
                </p:spPr>
                <p:txBody>
                  <a:bodyPr wrap="none" anchor="t" tIns="1417" rIns="0" bIns="0" lIns="1417" anchorCtr="0" vertOverflow="overflow">
                    <a:noAutofit/>
                  </a:bodyPr>
                  <a:lstStyle/>
                  <a:p>
                    <a:pPr algn="l" fontAlgn="base">
                      <a:lnSpc>
                        <a:spcPts val="510"/>
                      </a:lnSpc>
                      <a:spcBef>
                        <a:spcPts val="0"/>
                      </a:spcBef>
                      <a:spcAft>
                        <a:spcPts val="0"/>
                      </a:spcAft>
                      <a:defRPr sz="444" b="0" i="0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defRPr>
                    </a:pPr>
                    <a:r>
                      <a:rPr sz="444" b="0" i="0" lang="zh-CN" dirty="0">
                        <a:solidFill>
                          <a:srgbClr val="B78129"/>
                        </a:solidFill>
                        <a:latin typeface="Liberation Serif"/>
                        <a:ea typeface="Liberation Serif"/>
                        <a:cs typeface="Liberation Serif"/>
                      </a:rPr>
                      <a:t>3</a:t>
                    </a:r>
                  </a:p>
                </p:txBody>
              </p:sp>
            </p:grpSp>
          </p:grpSp>
          <p:sp>
            <p:nvSpPr>
              <p:cNvPr id="62" name="solve_label" descr="Editable text; source id solve_label"/>
              <p:cNvSpPr txBox="1"/>
              <p:nvPr/>
            </p:nvSpPr>
            <p:spPr>
              <a:xfrm>
                <a:off x="1572900" y="1153872"/>
                <a:ext cx="508873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1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1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Solve jointly</a:t>
                </a:r>
              </a:p>
            </p:txBody>
          </p:sp>
          <p:sp>
            <p:nvSpPr>
              <p:cNvPr id="63" name="balance_budgets" descr="Editable text; source id balance_budgets"/>
              <p:cNvSpPr txBox="1"/>
              <p:nvPr/>
            </p:nvSpPr>
            <p:spPr>
              <a:xfrm>
                <a:off x="1341852" y="1274893"/>
                <a:ext cx="970970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Balance · per-step budgets</a:t>
                </a:r>
              </a:p>
            </p:txBody>
          </p:sp>
          <p:sp>
            <p:nvSpPr>
              <p:cNvPr id="64" name="solver_note" descr="Editable text; source id solver_note"/>
              <p:cNvSpPr txBox="1"/>
              <p:nvPr/>
            </p:nvSpPr>
            <p:spPr>
              <a:xfrm>
                <a:off x="1493826" y="1375477"/>
                <a:ext cx="667021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Newton / bisection</a:t>
                </a:r>
              </a:p>
            </p:txBody>
          </p:sp>
          <p:sp>
            <p:nvSpPr>
              <p:cNvPr id="65" name="hard_legend" descr="Editable text; source id hard_legend"/>
              <p:cNvSpPr txBox="1"/>
              <p:nvPr/>
            </p:nvSpPr>
            <p:spPr>
              <a:xfrm>
                <a:off x="2538926" y="1355360"/>
                <a:ext cx="779611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×  hard graph support</a:t>
                </a:r>
              </a:p>
            </p:txBody>
          </p:sp>
        </p:grpSp>
        <p:sp>
          <p:nvSpPr>
            <p:cNvPr id="66" name="graph_to_condition" descr="Editable line; source id graph_to_condition"/>
            <p:cNvSpPr/>
            <p:nvPr/>
          </p:nvSpPr>
          <p:spPr>
            <a:xfrm>
              <a:off x="2406472" y="780785"/>
              <a:ext cx="188595" cy="22629"/>
            </a:xfrm>
            <a:custGeom>
              <a:avLst/>
              <a:gdLst/>
              <a:ahLst/>
              <a:cxnLst/>
              <a:rect l="l" t="t" r="r" b="b"/>
              <a:pathLst>
                <a:path w="66525" h="7982">
                  <a:moveTo>
                    <a:pt x="0" y="2927"/>
                  </a:moveTo>
                  <a:lnTo>
                    <a:pt x="55881" y="2927"/>
                  </a:lnTo>
                  <a:lnTo>
                    <a:pt x="55881" y="0"/>
                  </a:lnTo>
                  <a:lnTo>
                    <a:pt x="66525" y="3991"/>
                  </a:lnTo>
                  <a:lnTo>
                    <a:pt x="55881" y="7982"/>
                  </a:lnTo>
                  <a:lnTo>
                    <a:pt x="55881" y="5055"/>
                  </a:lnTo>
                  <a:lnTo>
                    <a:pt x="0" y="5055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sp>
          <p:nvSpPr>
            <p:cNvPr id="67" name="raw_price_label" descr="Editable text; source id raw_price_label"/>
            <p:cNvSpPr txBox="1"/>
            <p:nvPr/>
          </p:nvSpPr>
          <p:spPr>
            <a:xfrm>
              <a:off x="2457227" y="630903"/>
              <a:ext cx="98104" cy="118027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96"/>
                </a:lnSpc>
                <a:spcBef>
                  <a:spcPts val="0"/>
                </a:spcBef>
                <a:spcAft>
                  <a:spcPts val="0"/>
                </a:spcAft>
                <a:defRPr sz="693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93" b="0" i="0" lang="zh-CN" dirty="0">
                  <a:solidFill>
                    <a:srgbClr val="007F85"/>
                  </a:solidFill>
                  <a:latin typeface="Liberation Sans"/>
                  <a:ea typeface="Liberation Sans"/>
                  <a:cs typeface="Liberation Sans"/>
                </a:rPr>
                <a:t>λ*</a:t>
              </a:r>
            </a:p>
          </p:txBody>
        </p:sp>
        <p:grpSp>
          <p:nvGrpSpPr>
            <p:cNvPr id="163" name="condition_prices" descr="condition prices"/>
            <p:cNvGrpSpPr/>
            <p:nvPr/>
          </p:nvGrpSpPr>
          <p:grpSpPr>
            <a:xfrm>
              <a:off x="2709483" y="293879"/>
              <a:ext cx="1040292" cy="985558"/>
              <a:chOff x="2709483" y="293879"/>
              <a:chExt cx="1040292" cy="985558"/>
            </a:xfrm>
          </p:grpSpPr>
          <p:sp>
            <p:nvSpPr>
              <p:cNvPr id="68" name="condition_title" descr="Editable text; source id condition_title"/>
              <p:cNvSpPr txBox="1"/>
              <p:nvPr/>
            </p:nvSpPr>
            <p:spPr>
              <a:xfrm>
                <a:off x="2924995" y="293879"/>
                <a:ext cx="570743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1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Clip + smooth</a:t>
                </a:r>
              </a:p>
            </p:txBody>
          </p:sp>
          <p:sp>
            <p:nvSpPr>
              <p:cNvPr id="69" name="clip_x" descr="Editable line; source id clip_x"/>
              <p:cNvSpPr/>
              <p:nvPr/>
            </p:nvSpPr>
            <p:spPr>
              <a:xfrm>
                <a:off x="2720797" y="911544"/>
                <a:ext cx="651281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229733" h="7982">
                    <a:moveTo>
                      <a:pt x="0" y="3281"/>
                    </a:moveTo>
                    <a:lnTo>
                      <a:pt x="219089" y="3281"/>
                    </a:lnTo>
                    <a:lnTo>
                      <a:pt x="219089" y="0"/>
                    </a:lnTo>
                    <a:lnTo>
                      <a:pt x="229733" y="3991"/>
                    </a:lnTo>
                    <a:lnTo>
                      <a:pt x="219089" y="7982"/>
                    </a:lnTo>
                    <a:lnTo>
                      <a:pt x="219089" y="4701"/>
                    </a:lnTo>
                    <a:lnTo>
                      <a:pt x="0" y="4701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0" name="clip_y" descr="Editable line; source id clip_y"/>
              <p:cNvSpPr/>
              <p:nvPr/>
            </p:nvSpPr>
            <p:spPr>
              <a:xfrm>
                <a:off x="2709483" y="535610"/>
                <a:ext cx="22631" cy="387248"/>
              </a:xfrm>
              <a:custGeom>
                <a:avLst/>
                <a:gdLst/>
                <a:ahLst/>
                <a:cxnLst/>
                <a:rect l="l" t="t" r="r" b="b"/>
                <a:pathLst>
                  <a:path w="7983" h="136598">
                    <a:moveTo>
                      <a:pt x="3281" y="136598"/>
                    </a:moveTo>
                    <a:lnTo>
                      <a:pt x="3281" y="10644"/>
                    </a:lnTo>
                    <a:lnTo>
                      <a:pt x="0" y="10644"/>
                    </a:lnTo>
                    <a:lnTo>
                      <a:pt x="3991" y="0"/>
                    </a:lnTo>
                    <a:lnTo>
                      <a:pt x="7983" y="10644"/>
                    </a:lnTo>
                    <a:lnTo>
                      <a:pt x="4701" y="10644"/>
                    </a:lnTo>
                    <a:lnTo>
                      <a:pt x="4701" y="136598"/>
                    </a:lnTo>
                    <a:close/>
                  </a:path>
                </a:pathLst>
              </a:custGeom>
              <a:solidFill>
                <a:srgbClr val="77858D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62" name="clip_response" descr="One editable routed connector; fixed endpoints."/>
              <p:cNvGrpSpPr/>
              <p:nvPr/>
            </p:nvGrpSpPr>
            <p:grpSpPr>
              <a:xfrm>
                <a:off x="2738399" y="633679"/>
                <a:ext cx="578358" cy="274091"/>
                <a:chOff x="2738399" y="633679"/>
                <a:chExt cx="578358" cy="274091"/>
              </a:xfrm>
            </p:grpSpPr>
            <p:cxnSp>
              <p:nvCxnSpPr>
                <p:cNvPr id="71" name="clip_response_0" descr="Editable line; source id clip_response_0"/>
                <p:cNvCxnSpPr/>
                <p:nvPr/>
              </p:nvCxnSpPr>
              <p:spPr>
                <a:xfrm flipV="1">
                  <a:off x="2738399" y="633679"/>
                  <a:ext cx="397307" cy="274091"/>
                </a:xfrm>
                <a:prstGeom prst="line">
                  <a:avLst/>
                </a:prstGeom>
                <a:ln w="7543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72" name="clip_response_1" descr="Editable line; source id clip_response_1"/>
                <p:cNvCxnSpPr/>
                <p:nvPr/>
              </p:nvCxnSpPr>
              <p:spPr>
                <a:xfrm>
                  <a:off x="3135706" y="633679"/>
                  <a:ext cx="181051" cy="0"/>
                </a:xfrm>
                <a:prstGeom prst="line">
                  <a:avLst/>
                </a:prstGeom>
                <a:ln w="7543" cap="rnd">
                  <a:solidFill>
                    <a:srgbClr val="007F85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</p:grpSp>
          <p:cxnSp>
            <p:nvCxnSpPr>
              <p:cNvPr id="73" name="clip_cap_mark" descr="Editable line; source id clip_cap_mark"/>
              <p:cNvCxnSpPr/>
              <p:nvPr/>
            </p:nvCxnSpPr>
            <p:spPr>
              <a:xfrm>
                <a:off x="2735884" y="633679"/>
                <a:ext cx="364617" cy="0"/>
              </a:xfrm>
              <a:prstGeom prst="line">
                <a:avLst/>
              </a:prstGeom>
              <a:ln w="3771" cap="rnd">
                <a:solidFill>
                  <a:srgbClr val="B78129"/>
                </a:solidFill>
                <a:custDash>
                  <a:ds d="400000" sp="333333"/>
                </a:custDash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4" name="cap_label" descr="Editable text; source id cap_label"/>
              <p:cNvSpPr txBox="1"/>
              <p:nvPr/>
            </p:nvSpPr>
            <p:spPr>
              <a:xfrm>
                <a:off x="2771975" y="490338"/>
                <a:ext cx="147550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cap</a:t>
                </a:r>
              </a:p>
            </p:txBody>
          </p:sp>
          <p:sp>
            <p:nvSpPr>
              <p:cNvPr id="75" name="condition_output" descr="Editable line; source id condition_output"/>
              <p:cNvSpPr/>
              <p:nvPr/>
            </p:nvSpPr>
            <p:spPr>
              <a:xfrm>
                <a:off x="3402254" y="765697"/>
                <a:ext cx="95555" cy="22629"/>
              </a:xfrm>
              <a:custGeom>
                <a:avLst/>
                <a:gdLst/>
                <a:ahLst/>
                <a:cxnLst/>
                <a:rect l="l" t="t" r="r" b="b"/>
                <a:pathLst>
                  <a:path w="33706" h="7982">
                    <a:moveTo>
                      <a:pt x="0" y="3060"/>
                    </a:moveTo>
                    <a:lnTo>
                      <a:pt x="23062" y="3060"/>
                    </a:lnTo>
                    <a:lnTo>
                      <a:pt x="23062" y="0"/>
                    </a:lnTo>
                    <a:lnTo>
                      <a:pt x="33706" y="3991"/>
                    </a:lnTo>
                    <a:lnTo>
                      <a:pt x="23062" y="7982"/>
                    </a:lnTo>
                    <a:lnTo>
                      <a:pt x="23062" y="4922"/>
                    </a:lnTo>
                    <a:lnTo>
                      <a:pt x="0" y="4922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6" name="filtered_price0_panel" descr="Editable shape; source id filtered_price0_panel"/>
              <p:cNvSpPr/>
              <p:nvPr/>
            </p:nvSpPr>
            <p:spPr>
              <a:xfrm>
                <a:off x="3548100" y="523036"/>
                <a:ext cx="110642" cy="110642"/>
              </a:xfrm>
              <a:prstGeom prst="ellipse">
                <a:avLst/>
              </a:prstGeom>
              <a:solidFill>
                <a:srgbClr val="ECF5F4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7" name="filtered_price1_panel" descr="Editable shape; source id filtered_price1_panel"/>
              <p:cNvSpPr/>
              <p:nvPr/>
            </p:nvSpPr>
            <p:spPr>
              <a:xfrm>
                <a:off x="3548100" y="724204"/>
                <a:ext cx="110642" cy="110642"/>
              </a:xfrm>
              <a:prstGeom prst="ellipse">
                <a:avLst/>
              </a:prstGeom>
              <a:solidFill>
                <a:srgbClr val="ECF5F4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8" name="filtered_price2_panel" descr="Editable shape; source id filtered_price2_panel"/>
              <p:cNvSpPr/>
              <p:nvPr/>
            </p:nvSpPr>
            <p:spPr>
              <a:xfrm>
                <a:off x="3548100" y="925372"/>
                <a:ext cx="110642" cy="110642"/>
              </a:xfrm>
              <a:prstGeom prst="ellipse">
                <a:avLst/>
              </a:prstGeom>
              <a:solidFill>
                <a:srgbClr val="ECF5F4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79" name="filtered_label" descr="Editable text; source id filtered_label"/>
              <p:cNvSpPr txBox="1"/>
              <p:nvPr/>
            </p:nvSpPr>
            <p:spPr>
              <a:xfrm>
                <a:off x="3465572" y="1073725"/>
                <a:ext cx="284203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Filtered</a:t>
                </a:r>
              </a:p>
            </p:txBody>
          </p:sp>
          <p:sp>
            <p:nvSpPr>
              <p:cNvPr id="80" name="filtered_label2" descr="Editable text; source id filtered_label2"/>
              <p:cNvSpPr txBox="1"/>
              <p:nvPr/>
            </p:nvSpPr>
            <p:spPr>
              <a:xfrm>
                <a:off x="3492111" y="1171795"/>
                <a:ext cx="231125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prices</a:t>
                </a:r>
              </a:p>
            </p:txBody>
          </p:sp>
        </p:grpSp>
        <p:grpSp>
          <p:nvGrpSpPr>
            <p:cNvPr id="168" name="cost_feedback" descr="cost feedback"/>
            <p:cNvGrpSpPr/>
            <p:nvPr/>
          </p:nvGrpSpPr>
          <p:grpSpPr>
            <a:xfrm>
              <a:off x="1193794" y="1538606"/>
              <a:ext cx="2223548" cy="444919"/>
              <a:chOff x="1193794" y="1538606"/>
              <a:chExt cx="2223548" cy="444919"/>
            </a:xfrm>
          </p:grpSpPr>
          <p:sp>
            <p:nvSpPr>
              <p:cNvPr id="81" name="feedback_title" descr="Editable text; source id feedback_title"/>
              <p:cNvSpPr txBox="1"/>
              <p:nvPr/>
            </p:nvSpPr>
            <p:spPr>
              <a:xfrm>
                <a:off x="1193794" y="1538606"/>
                <a:ext cx="924193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1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1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Episode-cost feedback</a:t>
                </a:r>
              </a:p>
            </p:txBody>
          </p:sp>
          <p:grpSp>
            <p:nvGrpSpPr>
              <p:cNvPr id="164" name="feedback_budget" descr="feedback budget"/>
              <p:cNvGrpSpPr/>
              <p:nvPr/>
            </p:nvGrpSpPr>
            <p:grpSpPr>
              <a:xfrm>
                <a:off x="1237183" y="1735073"/>
                <a:ext cx="120700" cy="120700"/>
                <a:chOff x="1237183" y="1735073"/>
                <a:chExt cx="120700" cy="120700"/>
              </a:xfrm>
            </p:grpSpPr>
            <p:sp>
              <p:nvSpPr>
                <p:cNvPr id="82" name="feedback_budget_panel" descr="Editable shape; source id feedback_budget_panel"/>
                <p:cNvSpPr/>
                <p:nvPr/>
              </p:nvSpPr>
              <p:spPr>
                <a:xfrm>
                  <a:off x="1237183" y="1735073"/>
                  <a:ext cx="120700" cy="120700"/>
                </a:xfrm>
                <a:prstGeom prst="ellipse">
                  <a:avLst/>
                </a:prstGeom>
                <a:solidFill>
                  <a:srgbClr val="F8F1E4"/>
                </a:solidFill>
                <a:ln w="3771">
                  <a:solidFill>
                    <a:srgbClr val="B78129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3" name="feedback_budget_label" descr="Editable text; source id feedback_budget_label"/>
                <p:cNvSpPr txBox="1"/>
                <p:nvPr/>
              </p:nvSpPr>
              <p:spPr>
                <a:xfrm>
                  <a:off x="1264189" y="1739522"/>
                  <a:ext cx="75192" cy="112093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51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53" b="0" i="0" lang="zh-CN" dirty="0">
                      <a:solidFill>
                        <a:srgbClr val="B78129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53" b="0" i="0" lang="zh-CN" dirty="0">
                      <a:solidFill>
                        <a:srgbClr val="B78129"/>
                      </a:solidFill>
                      <a:latin typeface="Liberation Sans"/>
                      <a:ea typeface="Liberation Sans"/>
                      <a:cs typeface="Liberation Sans"/>
                    </a:rPr>
                    <a:t>B</a:t>
                  </a:r>
                </a:p>
              </p:txBody>
            </p:sp>
          </p:grpSp>
          <p:sp>
            <p:nvSpPr>
              <p:cNvPr id="84" name="budget_to_error" descr="Editable line; source id budget_to_error"/>
              <p:cNvSpPr/>
              <p:nvPr/>
            </p:nvSpPr>
            <p:spPr>
              <a:xfrm>
                <a:off x="1383030" y="1784107"/>
                <a:ext cx="110642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39028" h="7984">
                    <a:moveTo>
                      <a:pt x="0" y="3105"/>
                    </a:moveTo>
                    <a:lnTo>
                      <a:pt x="28384" y="3105"/>
                    </a:lnTo>
                    <a:lnTo>
                      <a:pt x="28384" y="0"/>
                    </a:lnTo>
                    <a:lnTo>
                      <a:pt x="39028" y="3992"/>
                    </a:lnTo>
                    <a:lnTo>
                      <a:pt x="28384" y="7984"/>
                    </a:lnTo>
                    <a:lnTo>
                      <a:pt x="28384" y="4879"/>
                    </a:lnTo>
                    <a:lnTo>
                      <a:pt x="0" y="4879"/>
                    </a:lnTo>
                    <a:close/>
                  </a:path>
                </a:pathLst>
              </a:cu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65" name="error" descr="error"/>
              <p:cNvGrpSpPr/>
              <p:nvPr/>
            </p:nvGrpSpPr>
            <p:grpSpPr>
              <a:xfrm>
                <a:off x="1526362" y="1732559"/>
                <a:ext cx="125730" cy="125730"/>
                <a:chOff x="1526362" y="1732559"/>
                <a:chExt cx="125730" cy="125730"/>
              </a:xfrm>
            </p:grpSpPr>
            <p:sp>
              <p:nvSpPr>
                <p:cNvPr id="85" name="error_panel" descr="Editable shape; source id error_panel"/>
                <p:cNvSpPr/>
                <p:nvPr/>
              </p:nvSpPr>
              <p:spPr>
                <a:xfrm>
                  <a:off x="1526362" y="1732559"/>
                  <a:ext cx="125730" cy="125730"/>
                </a:xfrm>
                <a:prstGeom prst="ellipse">
                  <a:avLst/>
                </a:prstGeom>
                <a:solidFill>
                  <a:srgbClr val="FFFFFF"/>
                </a:solidFill>
                <a:ln w="3771">
                  <a:solidFill>
                    <a:srgbClr val="B78129"/>
                  </a:solidFill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86" name="error_label" descr="Editable text; source id error_label"/>
                <p:cNvSpPr txBox="1"/>
                <p:nvPr/>
              </p:nvSpPr>
              <p:spPr>
                <a:xfrm>
                  <a:off x="1556979" y="1734698"/>
                  <a:ext cx="72999" cy="120994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819"/>
                    </a:lnSpc>
                    <a:spcBef>
                      <a:spcPts val="0"/>
                    </a:spcBef>
                    <a:spcAft>
                      <a:spcPts val="0"/>
                    </a:spcAft>
                    <a:defRPr sz="712" b="0" i="0" lang="zh-CN" dirty="0">
                      <a:solidFill>
                        <a:srgbClr val="B78129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712" b="0" i="0" lang="zh-CN" dirty="0">
                      <a:solidFill>
                        <a:srgbClr val="B78129"/>
                      </a:solidFill>
                      <a:latin typeface="Liberation Sans"/>
                      <a:ea typeface="Liberation Sans"/>
                      <a:cs typeface="Liberation Sans"/>
                    </a:rPr>
                    <a:t>−</a:t>
                  </a:r>
                </a:p>
              </p:txBody>
            </p:sp>
          </p:grpSp>
          <p:sp>
            <p:nvSpPr>
              <p:cNvPr id="87" name="error_to_feedback" descr="Editable line; source id error_to_feedback"/>
              <p:cNvSpPr/>
              <p:nvPr/>
            </p:nvSpPr>
            <p:spPr>
              <a:xfrm>
                <a:off x="1677238" y="1784107"/>
                <a:ext cx="279121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98457" h="7984">
                    <a:moveTo>
                      <a:pt x="0" y="3061"/>
                    </a:moveTo>
                    <a:lnTo>
                      <a:pt x="87813" y="3061"/>
                    </a:lnTo>
                    <a:lnTo>
                      <a:pt x="87813" y="0"/>
                    </a:lnTo>
                    <a:lnTo>
                      <a:pt x="98457" y="3992"/>
                    </a:lnTo>
                    <a:lnTo>
                      <a:pt x="87813" y="7984"/>
                    </a:lnTo>
                    <a:lnTo>
                      <a:pt x="87813" y="4923"/>
                    </a:lnTo>
                    <a:lnTo>
                      <a:pt x="0" y="4923"/>
                    </a:lnTo>
                    <a:close/>
                  </a:path>
                </a:pathLst>
              </a:cu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88" name="cost_error_label" descr="Editable text; source id cost_error_label"/>
              <p:cNvSpPr txBox="1"/>
              <p:nvPr/>
            </p:nvSpPr>
            <p:spPr>
              <a:xfrm>
                <a:off x="1352206" y="1875883"/>
                <a:ext cx="497633" cy="10764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17"/>
                  </a:lnSpc>
                  <a:spcBef>
                    <a:spcPts val="0"/>
                  </a:spcBef>
                  <a:spcAft>
                    <a:spcPts val="0"/>
                  </a:spcAft>
                  <a:defRPr sz="62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23" b="0" i="0" lang="zh-CN" dirty="0">
                    <a:solidFill>
                      <a:srgbClr val="77858D"/>
                    </a:solidFill>
                    <a:latin typeface="Liberation Sans"/>
                    <a:ea typeface="Liberation Sans"/>
                    <a:cs typeface="Liberation Sans"/>
                  </a:rPr>
                  <a:t>cost − budget</a:t>
                </a:r>
              </a:p>
            </p:txBody>
          </p:sp>
          <p:grpSp>
            <p:nvGrpSpPr>
              <p:cNvPr id="166" name="accumulate" descr="accumulate"/>
              <p:cNvGrpSpPr/>
              <p:nvPr/>
            </p:nvGrpSpPr>
            <p:grpSpPr>
              <a:xfrm>
                <a:off x="1996592" y="1707413"/>
                <a:ext cx="583387" cy="178536"/>
                <a:chOff x="1996592" y="1707413"/>
                <a:chExt cx="583387" cy="178536"/>
              </a:xfrm>
            </p:grpSpPr>
            <p:sp>
              <p:nvSpPr>
                <p:cNvPr id="89" name="accumulate_panel" descr="Editable shape; source id accumulate_panel"/>
                <p:cNvSpPr/>
                <p:nvPr/>
              </p:nvSpPr>
              <p:spPr>
                <a:xfrm>
                  <a:off x="1996592" y="1707413"/>
                  <a:ext cx="583387" cy="178536"/>
                </a:xfrm>
                <a:prstGeom prst="roundRect">
                  <a:avLst>
                    <a:gd name="adj" fmla="val 11267"/>
                  </a:avLst>
                </a:prstGeom>
                <a:solidFill>
                  <a:srgbClr val="F8F1E4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  <p:sp>
              <p:nvSpPr>
                <p:cNvPr id="90" name="accumulate_label" descr="Editable text; source id accumulate_label"/>
                <p:cNvSpPr txBox="1"/>
                <p:nvPr/>
              </p:nvSpPr>
              <p:spPr>
                <a:xfrm>
                  <a:off x="2072420" y="1742152"/>
                  <a:ext cx="440236" cy="109126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5669" rIns="0" bIns="0" lIns="5669" anchorCtr="0" vertOverflow="overflow">
                  <a:noAutofit/>
                </a:bodyPr>
                <a:lstStyle/>
                <a:p>
                  <a:pPr algn="l" fontAlgn="base">
                    <a:lnSpc>
                      <a:spcPts val="728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33" b="0" i="0" lang="zh-CN" dirty="0">
                      <a:solidFill>
                        <a:srgbClr val="B78129"/>
                      </a:solidFill>
                      <a:latin typeface="Liberation Sans"/>
                      <a:ea typeface="Liberation Sans"/>
                      <a:cs typeface="Liberation Sans"/>
                    </a:defRPr>
                  </a:pPr>
                  <a:r>
                    <a:rPr sz="633" b="0" i="0" lang="zh-CN" dirty="0">
                      <a:solidFill>
                        <a:srgbClr val="B78129"/>
                      </a:solidFill>
                      <a:latin typeface="Liberation Sans"/>
                      <a:ea typeface="Liberation Sans"/>
                      <a:cs typeface="Liberation Sans"/>
                    </a:rPr>
                    <a:t>Accumulate</a:t>
                  </a:r>
                </a:p>
              </p:txBody>
            </p:sp>
          </p:grpSp>
          <p:grpSp>
            <p:nvGrpSpPr>
              <p:cNvPr id="167" name="feedback_memory" descr="One editable routed connector; fixed endpoints."/>
              <p:cNvGrpSpPr/>
              <p:nvPr/>
            </p:nvGrpSpPr>
            <p:grpSpPr>
              <a:xfrm>
                <a:off x="2083348" y="1898523"/>
                <a:ext cx="396047" cy="42748"/>
                <a:chOff x="2083348" y="1898523"/>
                <a:chExt cx="396047" cy="42748"/>
              </a:xfrm>
            </p:grpSpPr>
            <p:cxnSp>
              <p:nvCxnSpPr>
                <p:cNvPr id="91" name="feedback_memory_0" descr="Editable line; source id feedback_memory_0"/>
                <p:cNvCxnSpPr/>
                <p:nvPr/>
              </p:nvCxnSpPr>
              <p:spPr>
                <a:xfrm>
                  <a:off x="2479395" y="1898523"/>
                  <a:ext cx="0" cy="42748"/>
                </a:xfrm>
                <a:prstGeom prst="line">
                  <a:avLst/>
                </a:prstGeom>
                <a:ln w="4023" cap="rnd">
                  <a:solidFill>
                    <a:srgbClr val="B78129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cxnSp>
              <p:nvCxnSpPr>
                <p:cNvPr id="92" name="feedback_memory_1" descr="Editable line; source id feedback_memory_1"/>
                <p:cNvCxnSpPr/>
                <p:nvPr/>
              </p:nvCxnSpPr>
              <p:spPr>
                <a:xfrm flipH="1">
                  <a:off x="2094661" y="1941271"/>
                  <a:ext cx="384734" cy="0"/>
                </a:xfrm>
                <a:prstGeom prst="line">
                  <a:avLst/>
                </a:prstGeom>
                <a:ln w="4023" cap="rnd">
                  <a:solidFill>
                    <a:srgbClr val="B78129"/>
                  </a:solidFill>
                </a:ln>
                <a:effectLst/>
              </p:spPr>
              <p:style>
                <a:lnRef idx="2">
                  <a:schemeClr val="accent1"/>
                </a:lnRef>
                <a:fillRef idx="0">
                  <a:schemeClr val="accent1"/>
                </a:fillRef>
                <a:effectRef idx="0">
                  <a:schemeClr val="accent1"/>
                </a:effectRef>
                <a:fontRef idx="minor">
                  <a:schemeClr val="tx1"/>
                </a:fontRef>
              </p:style>
            </p:cxnSp>
            <p:sp>
              <p:nvSpPr>
                <p:cNvPr id="93" name="feedback_memory_2" descr="Editable line; source id feedback_memory_2"/>
                <p:cNvSpPr/>
                <p:nvPr/>
              </p:nvSpPr>
              <p:spPr>
                <a:xfrm>
                  <a:off x="2083348" y="1898523"/>
                  <a:ext cx="22629" cy="42748"/>
                </a:xfrm>
                <a:custGeom>
                  <a:avLst/>
                  <a:gdLst/>
                  <a:ahLst/>
                  <a:cxnLst/>
                  <a:rect l="l" t="t" r="r" b="b"/>
                  <a:pathLst>
                    <a:path w="7982" h="15079">
                      <a:moveTo>
                        <a:pt x="3281" y="15079"/>
                      </a:moveTo>
                      <a:lnTo>
                        <a:pt x="3281" y="10644"/>
                      </a:lnTo>
                      <a:lnTo>
                        <a:pt x="0" y="10644"/>
                      </a:lnTo>
                      <a:lnTo>
                        <a:pt x="3991" y="0"/>
                      </a:lnTo>
                      <a:lnTo>
                        <a:pt x="7982" y="10644"/>
                      </a:lnTo>
                      <a:lnTo>
                        <a:pt x="4701" y="10644"/>
                      </a:lnTo>
                      <a:lnTo>
                        <a:pt x="4701" y="15079"/>
                      </a:lnTo>
                      <a:close/>
                    </a:path>
                  </a:pathLst>
                </a:custGeom>
                <a:solidFill>
                  <a:srgbClr val="B78129"/>
                </a:solidFill>
                <a:ln>
                  <a:noFill/>
                </a:ln>
                <a:effectLst/>
              </p:spPr>
              <p:style>
                <a:lnRef idx="1">
                  <a:schemeClr val="accent1"/>
                </a:lnRef>
                <a:fillRef idx="3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</a:p>
              </p:txBody>
            </p:sp>
          </p:grpSp>
          <p:sp>
            <p:nvSpPr>
              <p:cNvPr id="94" name="feedback_to_price" descr="Editable line; source id feedback_to_price"/>
              <p:cNvSpPr/>
              <p:nvPr/>
            </p:nvSpPr>
            <p:spPr>
              <a:xfrm>
                <a:off x="2605126" y="1784107"/>
                <a:ext cx="812216" cy="22634"/>
              </a:xfrm>
              <a:custGeom>
                <a:avLst/>
                <a:gdLst/>
                <a:ahLst/>
                <a:cxnLst/>
                <a:rect l="l" t="t" r="r" b="b"/>
                <a:pathLst>
                  <a:path w="286501" h="7984">
                    <a:moveTo>
                      <a:pt x="0" y="2972"/>
                    </a:moveTo>
                    <a:lnTo>
                      <a:pt x="275857" y="2972"/>
                    </a:lnTo>
                    <a:lnTo>
                      <a:pt x="275857" y="0"/>
                    </a:lnTo>
                    <a:lnTo>
                      <a:pt x="286501" y="3992"/>
                    </a:lnTo>
                    <a:lnTo>
                      <a:pt x="275857" y="7984"/>
                    </a:lnTo>
                    <a:lnTo>
                      <a:pt x="275857" y="5012"/>
                    </a:lnTo>
                    <a:lnTo>
                      <a:pt x="0" y="5012"/>
                    </a:lnTo>
                    <a:close/>
                  </a:path>
                </a:pathLst>
              </a:cu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95" name="feedback_beta" descr="Editable text; source id feedback_beta"/>
              <p:cNvSpPr txBox="1"/>
              <p:nvPr/>
            </p:nvSpPr>
            <p:spPr>
              <a:xfrm>
                <a:off x="2935523" y="1654734"/>
                <a:ext cx="71914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β</a:t>
                </a:r>
              </a:p>
            </p:txBody>
          </p:sp>
        </p:grpSp>
        <p:grpSp>
          <p:nvGrpSpPr>
            <p:cNvPr id="169" name="conditioned_to_sum" descr="One editable routed connector; fixed endpoints."/>
            <p:cNvGrpSpPr/>
            <p:nvPr/>
          </p:nvGrpSpPr>
          <p:grpSpPr>
            <a:xfrm>
              <a:off x="3541813" y="955547"/>
              <a:ext cx="257747" cy="746837"/>
              <a:chOff x="3541813" y="955547"/>
              <a:chExt cx="257747" cy="746837"/>
            </a:xfrm>
          </p:grpSpPr>
          <p:cxnSp>
            <p:nvCxnSpPr>
              <p:cNvPr id="96" name="conditioned_to_sum_0" descr="Editable line; source id conditioned_to_sum_0"/>
              <p:cNvCxnSpPr/>
              <p:nvPr/>
            </p:nvCxnSpPr>
            <p:spPr>
              <a:xfrm>
                <a:off x="3746754" y="955547"/>
                <a:ext cx="52806" cy="0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7" name="conditioned_to_sum_1" descr="Editable line; source id conditioned_to_sum_1"/>
              <p:cNvCxnSpPr/>
              <p:nvPr/>
            </p:nvCxnSpPr>
            <p:spPr>
              <a:xfrm>
                <a:off x="3799560" y="955547"/>
                <a:ext cx="0" cy="671399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8" name="conditioned_to_sum_2" descr="Editable line; source id conditioned_to_sum_2"/>
              <p:cNvCxnSpPr/>
              <p:nvPr/>
            </p:nvCxnSpPr>
            <p:spPr>
              <a:xfrm flipH="1">
                <a:off x="3553129" y="1626946"/>
                <a:ext cx="246431" cy="0"/>
              </a:xfrm>
              <a:prstGeom prst="line">
                <a:avLst/>
              </a:prstGeom>
              <a:ln w="5783" cap="rnd">
                <a:solidFill>
                  <a:srgbClr val="007F85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99" name="conditioned_to_sum_3" descr="Editable line; source id conditioned_to_sum_3"/>
              <p:cNvSpPr/>
              <p:nvPr/>
            </p:nvSpPr>
            <p:spPr>
              <a:xfrm>
                <a:off x="3541813" y="1626946"/>
                <a:ext cx="22631" cy="75438"/>
              </a:xfrm>
              <a:custGeom>
                <a:avLst/>
                <a:gdLst/>
                <a:ahLst/>
                <a:cxnLst/>
                <a:rect l="l" t="t" r="r" b="b"/>
                <a:pathLst>
                  <a:path w="7983" h="26610">
                    <a:moveTo>
                      <a:pt x="5012" y="0"/>
                    </a:moveTo>
                    <a:lnTo>
                      <a:pt x="5012" y="15966"/>
                    </a:lnTo>
                    <a:lnTo>
                      <a:pt x="7983" y="15966"/>
                    </a:lnTo>
                    <a:lnTo>
                      <a:pt x="3992" y="26610"/>
                    </a:lnTo>
                    <a:lnTo>
                      <a:pt x="0" y="15966"/>
                    </a:lnTo>
                    <a:lnTo>
                      <a:pt x="2972" y="15966"/>
                    </a:lnTo>
                    <a:lnTo>
                      <a:pt x="2972" y="0"/>
                    </a:lnTo>
                    <a:close/>
                  </a:path>
                </a:pathLst>
              </a:custGeom>
              <a:solidFill>
                <a:srgbClr val="007F85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grpSp>
          <p:nvGrpSpPr>
            <p:cNvPr id="170" name="price_sum" descr="price sum"/>
            <p:cNvGrpSpPr/>
            <p:nvPr/>
          </p:nvGrpSpPr>
          <p:grpSpPr>
            <a:xfrm>
              <a:off x="3485235" y="1727530"/>
              <a:ext cx="135788" cy="135788"/>
              <a:chOff x="3485235" y="1727530"/>
              <a:chExt cx="135788" cy="135788"/>
            </a:xfrm>
          </p:grpSpPr>
          <p:sp>
            <p:nvSpPr>
              <p:cNvPr id="100" name="price_sum_panel" descr="Editable shape; source id price_sum_panel"/>
              <p:cNvSpPr/>
              <p:nvPr/>
            </p:nvSpPr>
            <p:spPr>
              <a:xfrm>
                <a:off x="3485235" y="1727530"/>
                <a:ext cx="135788" cy="135788"/>
              </a:xfrm>
              <a:prstGeom prst="ellipse">
                <a:avLst/>
              </a:prstGeom>
              <a:solidFill>
                <a:srgbClr val="FFFFFF"/>
              </a:solidFill>
              <a:ln w="3771">
                <a:solidFill>
                  <a:srgbClr val="007F85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01" name="price_sum_label" descr="Editable text; source id price_sum_label"/>
              <p:cNvSpPr txBox="1"/>
              <p:nvPr/>
            </p:nvSpPr>
            <p:spPr>
              <a:xfrm>
                <a:off x="3519464" y="1731246"/>
                <a:ext cx="75834" cy="126929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65"/>
                  </a:lnSpc>
                  <a:spcBef>
                    <a:spcPts val="0"/>
                  </a:spcBef>
                  <a:spcAft>
                    <a:spcPts val="0"/>
                  </a:spcAft>
                  <a:defRPr sz="75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52" b="0" i="0" lang="zh-CN" dirty="0">
                    <a:solidFill>
                      <a:srgbClr val="007F85"/>
                    </a:solidFill>
                    <a:latin typeface="Liberation Sans"/>
                    <a:ea typeface="Liberation Sans"/>
                    <a:cs typeface="Liberation Sans"/>
                  </a:rPr>
                  <a:t>+</a:t>
                </a:r>
              </a:p>
            </p:txBody>
          </p:sp>
        </p:grpSp>
        <p:sp>
          <p:nvSpPr>
            <p:cNvPr id="102" name="sum_to_output" descr="Editable line; source id sum_to_output"/>
            <p:cNvSpPr/>
            <p:nvPr/>
          </p:nvSpPr>
          <p:spPr>
            <a:xfrm>
              <a:off x="3646170" y="1784107"/>
              <a:ext cx="113157" cy="22634"/>
            </a:xfrm>
            <a:custGeom>
              <a:avLst/>
              <a:gdLst/>
              <a:ahLst/>
              <a:cxnLst/>
              <a:rect l="l" t="t" r="r" b="b"/>
              <a:pathLst>
                <a:path w="39915" h="7984">
                  <a:moveTo>
                    <a:pt x="0" y="2972"/>
                  </a:moveTo>
                  <a:lnTo>
                    <a:pt x="29271" y="2972"/>
                  </a:lnTo>
                  <a:lnTo>
                    <a:pt x="29271" y="0"/>
                  </a:lnTo>
                  <a:lnTo>
                    <a:pt x="39915" y="3992"/>
                  </a:lnTo>
                  <a:lnTo>
                    <a:pt x="29271" y="7984"/>
                  </a:lnTo>
                  <a:lnTo>
                    <a:pt x="29271" y="5012"/>
                  </a:lnTo>
                  <a:lnTo>
                    <a:pt x="0" y="5012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03" name="rollout_to_graph" descr="Editable line; source id rollout_to_graph"/>
          <p:cNvSpPr/>
          <p:nvPr/>
        </p:nvSpPr>
        <p:spPr>
          <a:xfrm>
            <a:off x="902741" y="516749"/>
            <a:ext cx="173507" cy="22634"/>
          </a:xfrm>
          <a:custGeom>
            <a:avLst/>
            <a:gdLst/>
            <a:ahLst/>
            <a:cxnLst/>
            <a:rect l="l" t="t" r="r" b="b"/>
            <a:pathLst>
              <a:path w="61203" h="7984">
                <a:moveTo>
                  <a:pt x="0" y="2972"/>
                </a:moveTo>
                <a:lnTo>
                  <a:pt x="50559" y="2972"/>
                </a:lnTo>
                <a:lnTo>
                  <a:pt x="50559" y="0"/>
                </a:lnTo>
                <a:lnTo>
                  <a:pt x="61203" y="3992"/>
                </a:lnTo>
                <a:lnTo>
                  <a:pt x="50559" y="7984"/>
                </a:lnTo>
                <a:lnTo>
                  <a:pt x="50559" y="5012"/>
                </a:lnTo>
                <a:lnTo>
                  <a:pt x="0" y="5012"/>
                </a:lnTo>
                <a:close/>
              </a:path>
            </a:pathLst>
          </a:custGeom>
          <a:solidFill>
            <a:srgbClr val="536F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transition_label" descr="Editable text; source id transition_label"/>
          <p:cNvSpPr txBox="1"/>
          <p:nvPr/>
        </p:nvSpPr>
        <p:spPr>
          <a:xfrm>
            <a:off x="311725" y="583378"/>
            <a:ext cx="380835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transitions</a:t>
            </a:r>
          </a:p>
        </p:txBody>
      </p:sp>
      <p:grpSp>
        <p:nvGrpSpPr>
          <p:cNvPr id="172" name="episode_cost_path" descr="One editable routed connector; fixed endpoints."/>
          <p:cNvGrpSpPr/>
          <p:nvPr/>
        </p:nvGrpSpPr>
        <p:grpSpPr>
          <a:xfrm>
            <a:off x="590931" y="1672209"/>
            <a:ext cx="1009613" cy="35204"/>
            <a:chOff x="590931" y="1672209"/>
            <a:chExt cx="1009613" cy="35204"/>
          </a:xfrm>
        </p:grpSpPr>
        <p:cxnSp>
          <p:nvCxnSpPr>
            <p:cNvPr id="105" name="episode_cost_path_0" descr="Editable line; source id episode_cost_path_0"/>
            <p:cNvCxnSpPr/>
            <p:nvPr/>
          </p:nvCxnSpPr>
          <p:spPr>
            <a:xfrm>
              <a:off x="590931" y="1672209"/>
              <a:ext cx="447598" cy="0"/>
            </a:xfrm>
            <a:prstGeom prst="line">
              <a:avLst/>
            </a:prstGeom>
            <a:ln w="5280" cap="rnd">
              <a:solidFill>
                <a:srgbClr val="B7812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6" name="episode_cost_path_1" descr="Editable line; source id episode_cost_path_1"/>
            <p:cNvCxnSpPr/>
            <p:nvPr/>
          </p:nvCxnSpPr>
          <p:spPr>
            <a:xfrm>
              <a:off x="1038529" y="1672209"/>
              <a:ext cx="550698" cy="0"/>
            </a:xfrm>
            <a:prstGeom prst="line">
              <a:avLst/>
            </a:prstGeom>
            <a:ln w="5280" cap="rnd">
              <a:solidFill>
                <a:srgbClr val="B78129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07" name="episode_cost_path_2" descr="Editable line; source id episode_cost_path_2"/>
            <p:cNvSpPr/>
            <p:nvPr/>
          </p:nvSpPr>
          <p:spPr>
            <a:xfrm>
              <a:off x="1577913" y="1672209"/>
              <a:ext cx="22631" cy="35204"/>
            </a:xfrm>
            <a:custGeom>
              <a:avLst/>
              <a:gdLst/>
              <a:ahLst/>
              <a:cxnLst/>
              <a:rect l="l" t="t" r="r" b="b"/>
              <a:pathLst>
                <a:path w="7983" h="12418">
                  <a:moveTo>
                    <a:pt x="4922" y="0"/>
                  </a:moveTo>
                  <a:lnTo>
                    <a:pt x="4922" y="1774"/>
                  </a:lnTo>
                  <a:lnTo>
                    <a:pt x="7983" y="1774"/>
                  </a:lnTo>
                  <a:lnTo>
                    <a:pt x="3991" y="12418"/>
                  </a:lnTo>
                  <a:lnTo>
                    <a:pt x="0" y="1774"/>
                  </a:lnTo>
                  <a:lnTo>
                    <a:pt x="3060" y="1774"/>
                  </a:lnTo>
                  <a:lnTo>
                    <a:pt x="3060" y="0"/>
                  </a:lnTo>
                  <a:close/>
                </a:path>
              </a:pathLst>
            </a:custGeom>
            <a:solidFill>
              <a:srgbClr val="B7812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4" name="policy_update" descr="policy update"/>
          <p:cNvGrpSpPr/>
          <p:nvPr/>
        </p:nvGrpSpPr>
        <p:grpSpPr>
          <a:xfrm>
            <a:off x="4147923" y="309287"/>
            <a:ext cx="755546" cy="1999115"/>
            <a:chOff x="4147923" y="309287"/>
            <a:chExt cx="755546" cy="1999115"/>
          </a:xfrm>
        </p:grpSpPr>
        <p:sp>
          <p:nvSpPr>
            <p:cNvPr id="108" name="reward_adv_label" descr="Editable text; source id reward_adv_label"/>
            <p:cNvSpPr txBox="1"/>
            <p:nvPr/>
          </p:nvSpPr>
          <p:spPr>
            <a:xfrm>
              <a:off x="4147923" y="309287"/>
              <a:ext cx="684750" cy="107642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17"/>
                </a:lnSpc>
                <a:spcBef>
                  <a:spcPts val="0"/>
                </a:spcBef>
                <a:spcAft>
                  <a:spcPts val="0"/>
                </a:spcAft>
                <a:defRPr sz="62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2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Reward advantage</a:t>
              </a:r>
            </a:p>
          </p:txBody>
        </p:sp>
        <p:grpSp>
          <p:nvGrpSpPr>
            <p:cNvPr id="174" name="reward_adv" descr="reward adv"/>
            <p:cNvGrpSpPr/>
            <p:nvPr/>
          </p:nvGrpSpPr>
          <p:grpSpPr>
            <a:xfrm>
              <a:off x="4259732" y="455142"/>
              <a:ext cx="447598" cy="128836"/>
              <a:chOff x="4259732" y="455142"/>
              <a:chExt cx="447598" cy="128836"/>
            </a:xfrm>
          </p:grpSpPr>
          <p:sp>
            <p:nvSpPr>
              <p:cNvPr id="109" name="reward_adv_panel" descr="Editable shape; source id reward_adv_panel"/>
              <p:cNvSpPr/>
              <p:nvPr/>
            </p:nvSpPr>
            <p:spPr>
              <a:xfrm>
                <a:off x="4259732" y="455142"/>
                <a:ext cx="447598" cy="128244"/>
              </a:xfrm>
              <a:prstGeom prst="roundRect">
                <a:avLst>
                  <a:gd name="adj" fmla="val 15686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73" name="reward_adv_symbol" descr="Editable formula parts and native mathematical delimiters."/>
              <p:cNvGrpSpPr/>
              <p:nvPr/>
            </p:nvGrpSpPr>
            <p:grpSpPr>
              <a:xfrm>
                <a:off x="4436392" y="465580"/>
                <a:ext cx="88093" cy="118398"/>
                <a:chOff x="4436392" y="465580"/>
                <a:chExt cx="88093" cy="118398"/>
              </a:xfrm>
            </p:grpSpPr>
            <p:sp>
              <p:nvSpPr>
                <p:cNvPr id="110" name="reward_adv_symbol_0" descr="Editable text; source id reward_adv_symbol_0"/>
                <p:cNvSpPr txBox="1"/>
                <p:nvPr/>
              </p:nvSpPr>
              <p:spPr>
                <a:xfrm>
                  <a:off x="4436392" y="465580"/>
                  <a:ext cx="68747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6378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11" name="reward_adv_symbol_1" descr="Editable text; source id reward_adv_symbol_1"/>
                <p:cNvSpPr txBox="1"/>
                <p:nvPr/>
              </p:nvSpPr>
              <p:spPr>
                <a:xfrm>
                  <a:off x="4500887" y="512926"/>
                  <a:ext cx="23598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536F8E"/>
                      </a:solidFill>
                      <a:latin typeface="Liberation Serif"/>
                      <a:ea typeface="Liberation Serif"/>
                      <a:cs typeface="Liberation Serif"/>
                    </a:rPr>
                    <a:t>r</a:t>
                  </a:r>
                </a:p>
              </p:txBody>
            </p:sp>
          </p:grpSp>
        </p:grpSp>
        <p:sp>
          <p:nvSpPr>
            <p:cNvPr id="112" name="cost_adv_label" descr="Editable text; source id cost_adv_label"/>
            <p:cNvSpPr txBox="1"/>
            <p:nvPr/>
          </p:nvSpPr>
          <p:spPr>
            <a:xfrm>
              <a:off x="4183061" y="646243"/>
              <a:ext cx="614475" cy="107642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17"/>
                </a:lnSpc>
                <a:spcBef>
                  <a:spcPts val="0"/>
                </a:spcBef>
                <a:spcAft>
                  <a:spcPts val="0"/>
                </a:spcAft>
                <a:defRPr sz="62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23" b="0" i="0" lang="zh-CN" dirty="0">
                  <a:solidFill>
                    <a:srgbClr val="B78129"/>
                  </a:solidFill>
                  <a:latin typeface="Liberation Sans"/>
                  <a:ea typeface="Liberation Sans"/>
                  <a:cs typeface="Liberation Sans"/>
                </a:rPr>
                <a:t>Cost advantages</a:t>
              </a:r>
            </a:p>
          </p:txBody>
        </p:sp>
        <p:grpSp>
          <p:nvGrpSpPr>
            <p:cNvPr id="176" name="cost_adv" descr="cost adv"/>
            <p:cNvGrpSpPr/>
            <p:nvPr/>
          </p:nvGrpSpPr>
          <p:grpSpPr>
            <a:xfrm>
              <a:off x="4259732" y="789584"/>
              <a:ext cx="447598" cy="128836"/>
              <a:chOff x="4259732" y="789584"/>
              <a:chExt cx="447598" cy="128836"/>
            </a:xfrm>
          </p:grpSpPr>
          <p:sp>
            <p:nvSpPr>
              <p:cNvPr id="113" name="cost_adv_panel" descr="Editable shape; source id cost_adv_panel"/>
              <p:cNvSpPr/>
              <p:nvPr/>
            </p:nvSpPr>
            <p:spPr>
              <a:xfrm>
                <a:off x="4259732" y="789584"/>
                <a:ext cx="447598" cy="128244"/>
              </a:xfrm>
              <a:prstGeom prst="roundRect">
                <a:avLst>
                  <a:gd name="adj" fmla="val 15686"/>
                </a:avLst>
              </a:prstGeom>
              <a:solidFill>
                <a:srgbClr val="F8F1E4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grpSp>
            <p:nvGrpSpPr>
              <p:cNvPr id="175" name="cost_adv_symbol" descr="Editable formula parts and native mathematical delimiters."/>
              <p:cNvGrpSpPr/>
              <p:nvPr/>
            </p:nvGrpSpPr>
            <p:grpSpPr>
              <a:xfrm>
                <a:off x="4433175" y="800022"/>
                <a:ext cx="94527" cy="118398"/>
                <a:chOff x="4433175" y="800022"/>
                <a:chExt cx="94527" cy="118398"/>
              </a:xfrm>
            </p:grpSpPr>
            <p:sp>
              <p:nvSpPr>
                <p:cNvPr id="114" name="cost_adv_symbol_0" descr="Editable text; source id cost_adv_symbol_0"/>
                <p:cNvSpPr txBox="1"/>
                <p:nvPr/>
              </p:nvSpPr>
              <p:spPr>
                <a:xfrm>
                  <a:off x="4433175" y="800022"/>
                  <a:ext cx="68747" cy="105465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6378" anchorCtr="0" vertOverflow="overflow">
                  <a:noAutofit/>
                </a:bodyPr>
                <a:lstStyle/>
                <a:p>
                  <a:pPr algn="l" fontAlgn="base">
                    <a:lnSpc>
                      <a:spcPts val="796"/>
                    </a:lnSpc>
                    <a:spcBef>
                      <a:spcPts val="0"/>
                    </a:spcBef>
                    <a:spcAft>
                      <a:spcPts val="0"/>
                    </a:spcAft>
                    <a:def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693" b="0" i="1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A</a:t>
                  </a:r>
                </a:p>
              </p:txBody>
            </p:sp>
            <p:sp>
              <p:nvSpPr>
                <p:cNvPr id="115" name="cost_adv_symbol_1" descr="Editable text; source id cost_adv_symbol_1"/>
                <p:cNvSpPr txBox="1"/>
                <p:nvPr/>
              </p:nvSpPr>
              <p:spPr>
                <a:xfrm>
                  <a:off x="4497670" y="847368"/>
                  <a:ext cx="30032" cy="71052"/>
                </a:xfrm>
                <a:prstGeom prst="rect">
                  <a:avLst/>
                </a:prstGeom>
                <a:noFill/>
                <a:effectLst/>
              </p:spPr>
              <p:txBody>
                <a:bodyPr wrap="none" anchor="t" tIns="1417" rIns="0" bIns="0" lIns="1417" anchorCtr="0" vertOverflow="overflow">
                  <a:noAutofit/>
                </a:bodyPr>
                <a:lstStyle/>
                <a:p>
                  <a:pPr algn="l" fontAlgn="base">
                    <a:lnSpc>
                      <a:spcPts val="525"/>
                    </a:lnSpc>
                    <a:spcBef>
                      <a:spcPts val="0"/>
                    </a:spcBef>
                    <a:spcAft>
                      <a:spcPts val="0"/>
                    </a:spcAft>
                    <a:def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defRPr>
                  </a:pPr>
                  <a:r>
                    <a:rPr sz="457" b="0" i="0" lang="zh-CN" dirty="0">
                      <a:solidFill>
                        <a:srgbClr val="B78129"/>
                      </a:solidFill>
                      <a:latin typeface="Liberation Serif"/>
                      <a:ea typeface="Liberation Serif"/>
                      <a:cs typeface="Liberation Serif"/>
                    </a:rPr>
                    <a:t>c</a:t>
                  </a:r>
                </a:p>
              </p:txBody>
            </p:sp>
          </p:grpSp>
        </p:grpSp>
        <p:grpSp>
          <p:nvGrpSpPr>
            <p:cNvPr id="177" name="weight_gate" descr="weight gate"/>
            <p:cNvGrpSpPr/>
            <p:nvPr/>
          </p:nvGrpSpPr>
          <p:grpSpPr>
            <a:xfrm>
              <a:off x="4418152" y="1078763"/>
              <a:ext cx="135788" cy="135788"/>
              <a:chOff x="4418152" y="1078763"/>
              <a:chExt cx="135788" cy="135788"/>
            </a:xfrm>
          </p:grpSpPr>
          <p:sp>
            <p:nvSpPr>
              <p:cNvPr id="116" name="weight_gate_panel" descr="Editable shape; source id weight_gate_panel"/>
              <p:cNvSpPr/>
              <p:nvPr/>
            </p:nvSpPr>
            <p:spPr>
              <a:xfrm>
                <a:off x="4418152" y="1078763"/>
                <a:ext cx="135788" cy="135788"/>
              </a:xfrm>
              <a:prstGeom prst="ellipse">
                <a:avLst/>
              </a:prstGeom>
              <a:solidFill>
                <a:srgbClr val="FFFFFF"/>
              </a:solidFill>
              <a:ln w="3771">
                <a:solidFill>
                  <a:srgbClr val="B78129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17" name="weight_gate_label" descr="Editable text; source id weight_gate_label"/>
              <p:cNvSpPr txBox="1"/>
              <p:nvPr/>
            </p:nvSpPr>
            <p:spPr>
              <a:xfrm>
                <a:off x="4453798" y="1085931"/>
                <a:ext cx="72999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B78129"/>
                    </a:solidFill>
                    <a:latin typeface="Liberation Sans"/>
                    <a:ea typeface="Liberation Sans"/>
                    <a:cs typeface="Liberation Sans"/>
                  </a:rPr>
                  <a:t>×</a:t>
                </a:r>
              </a:p>
            </p:txBody>
          </p:sp>
        </p:grpSp>
        <p:sp>
          <p:nvSpPr>
            <p:cNvPr id="118" name="cost_to_weight" descr="Editable line; source id cost_to_weight"/>
            <p:cNvSpPr/>
            <p:nvPr/>
          </p:nvSpPr>
          <p:spPr>
            <a:xfrm>
              <a:off x="4474729" y="935431"/>
              <a:ext cx="22634" cy="125730"/>
            </a:xfrm>
            <a:custGeom>
              <a:avLst/>
              <a:gdLst/>
              <a:ahLst/>
              <a:cxnLst/>
              <a:rect l="l" t="t" r="r" b="b"/>
              <a:pathLst>
                <a:path w="7984" h="44350">
                  <a:moveTo>
                    <a:pt x="4968" y="0"/>
                  </a:moveTo>
                  <a:lnTo>
                    <a:pt x="4968" y="33706"/>
                  </a:lnTo>
                  <a:lnTo>
                    <a:pt x="7984" y="33706"/>
                  </a:lnTo>
                  <a:lnTo>
                    <a:pt x="3992" y="44350"/>
                  </a:lnTo>
                  <a:lnTo>
                    <a:pt x="0" y="33706"/>
                  </a:lnTo>
                  <a:lnTo>
                    <a:pt x="3016" y="33706"/>
                  </a:lnTo>
                  <a:lnTo>
                    <a:pt x="3016" y="0"/>
                  </a:lnTo>
                  <a:close/>
                </a:path>
              </a:pathLst>
            </a:custGeom>
            <a:solidFill>
              <a:srgbClr val="B78129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78" name="reward_to_combiner" descr="One editable routed connector; fixed endpoints."/>
            <p:cNvGrpSpPr/>
            <p:nvPr/>
          </p:nvGrpSpPr>
          <p:grpSpPr>
            <a:xfrm>
              <a:off x="4662068" y="520522"/>
              <a:ext cx="206197" cy="883883"/>
              <a:chOff x="4662068" y="520522"/>
              <a:chExt cx="206197" cy="883883"/>
            </a:xfrm>
          </p:grpSpPr>
          <p:cxnSp>
            <p:nvCxnSpPr>
              <p:cNvPr id="119" name="reward_to_combiner_0" descr="Editable line; source id reward_to_combiner_0"/>
              <p:cNvCxnSpPr/>
              <p:nvPr/>
            </p:nvCxnSpPr>
            <p:spPr>
              <a:xfrm>
                <a:off x="4734991" y="520522"/>
                <a:ext cx="133274" cy="0"/>
              </a:xfrm>
              <a:prstGeom prst="line">
                <a:avLst/>
              </a:prstGeom>
              <a:ln w="5532" cap="rnd">
                <a:solidFill>
                  <a:srgbClr val="536F8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0" name="reward_to_combiner_1" descr="Editable line; source id reward_to_combiner_1"/>
              <p:cNvCxnSpPr/>
              <p:nvPr/>
            </p:nvCxnSpPr>
            <p:spPr>
              <a:xfrm>
                <a:off x="4868265" y="520522"/>
                <a:ext cx="0" cy="872566"/>
              </a:xfrm>
              <a:prstGeom prst="line">
                <a:avLst/>
              </a:prstGeom>
              <a:ln w="5532" cap="rnd">
                <a:solidFill>
                  <a:srgbClr val="536F8E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1" name="reward_to_combiner_2" descr="Editable line; source id reward_to_combiner_2"/>
              <p:cNvSpPr/>
              <p:nvPr/>
            </p:nvSpPr>
            <p:spPr>
              <a:xfrm>
                <a:off x="4662068" y="1381774"/>
                <a:ext cx="206197" cy="22631"/>
              </a:xfrm>
              <a:custGeom>
                <a:avLst/>
                <a:gdLst/>
                <a:ahLst/>
                <a:cxnLst/>
                <a:rect l="l" t="t" r="r" b="b"/>
                <a:pathLst>
                  <a:path w="72734" h="7983">
                    <a:moveTo>
                      <a:pt x="72734" y="4967"/>
                    </a:moveTo>
                    <a:lnTo>
                      <a:pt x="10644" y="4967"/>
                    </a:lnTo>
                    <a:lnTo>
                      <a:pt x="10644" y="7983"/>
                    </a:lnTo>
                    <a:lnTo>
                      <a:pt x="0" y="3991"/>
                    </a:lnTo>
                    <a:lnTo>
                      <a:pt x="10644" y="0"/>
                    </a:lnTo>
                    <a:lnTo>
                      <a:pt x="10644" y="3015"/>
                    </a:lnTo>
                    <a:lnTo>
                      <a:pt x="72734" y="3015"/>
                    </a:lnTo>
                    <a:close/>
                  </a:path>
                </a:pathLst>
              </a:custGeom>
              <a:solidFill>
                <a:srgbClr val="536F8E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22" name="reward_plus" descr="Editable text; source id reward_plus"/>
            <p:cNvSpPr txBox="1"/>
            <p:nvPr/>
          </p:nvSpPr>
          <p:spPr>
            <a:xfrm>
              <a:off x="4730974" y="1259097"/>
              <a:ext cx="66831" cy="109126"/>
            </a:xfrm>
            <a:prstGeom prst="rect">
              <a:avLst/>
            </a:prstGeom>
            <a:noFill/>
            <a:effectLst/>
          </p:spPr>
          <p:txBody>
            <a:bodyPr wrap="none" anchor="t" tIns="5669" rIns="0" bIns="0" lIns="5669" anchorCtr="0" vertOverflow="overflow">
              <a:noAutofit/>
            </a:bodyPr>
            <a:lstStyle/>
            <a:p>
              <a:pPr algn="l" fontAlgn="base">
                <a:lnSpc>
                  <a:spcPts val="728"/>
                </a:lnSpc>
                <a:spcBef>
                  <a:spcPts val="0"/>
                </a:spcBef>
                <a:spcAft>
                  <a:spcPts val="0"/>
                </a:spcAft>
                <a:def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defRPr>
              </a:pPr>
              <a:r>
                <a:rPr sz="633" b="0" i="0" lang="zh-CN" dirty="0">
                  <a:solidFill>
                    <a:srgbClr val="536F8E"/>
                  </a:solidFill>
                  <a:latin typeface="Liberation Sans"/>
                  <a:ea typeface="Liberation Sans"/>
                  <a:cs typeface="Liberation Sans"/>
                </a:rPr>
                <a:t>+</a:t>
              </a:r>
            </a:p>
          </p:txBody>
        </p:sp>
        <p:grpSp>
          <p:nvGrpSpPr>
            <p:cNvPr id="179" name="signed_sum" descr="signed sum"/>
            <p:cNvGrpSpPr/>
            <p:nvPr/>
          </p:nvGrpSpPr>
          <p:grpSpPr>
            <a:xfrm>
              <a:off x="4503648" y="1325194"/>
              <a:ext cx="135788" cy="135788"/>
              <a:chOff x="4503648" y="1325194"/>
              <a:chExt cx="135788" cy="135788"/>
            </a:xfrm>
          </p:grpSpPr>
          <p:sp>
            <p:nvSpPr>
              <p:cNvPr id="123" name="signed_sum_panel" descr="Editable shape; source id signed_sum_panel"/>
              <p:cNvSpPr/>
              <p:nvPr/>
            </p:nvSpPr>
            <p:spPr>
              <a:xfrm>
                <a:off x="4503648" y="1325194"/>
                <a:ext cx="135788" cy="135788"/>
              </a:xfrm>
              <a:prstGeom prst="ellipse">
                <a:avLst/>
              </a:prstGeom>
              <a:solidFill>
                <a:srgbClr val="FFFFFF"/>
              </a:solidFill>
              <a:ln w="3771">
                <a:solidFill>
                  <a:srgbClr val="29343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4" name="signed_sum_label" descr="Editable text; source id signed_sum_label"/>
              <p:cNvSpPr txBox="1"/>
              <p:nvPr/>
            </p:nvSpPr>
            <p:spPr>
              <a:xfrm>
                <a:off x="4539295" y="1332362"/>
                <a:ext cx="72999" cy="120994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819"/>
                  </a:lnSpc>
                  <a:spcBef>
                    <a:spcPts val="0"/>
                  </a:spcBef>
                  <a:spcAft>
                    <a:spcPts val="0"/>
                  </a:spcAft>
                  <a:def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712" b="0" i="0" lang="zh-CN" dirty="0">
                    <a:solidFill>
                      <a:srgbClr val="29343E"/>
                    </a:solidFill>
                    <a:latin typeface="Liberation Sans"/>
                    <a:ea typeface="Liberation Sans"/>
                    <a:cs typeface="Liberation Sans"/>
                  </a:rPr>
                  <a:t>−</a:t>
                </a:r>
              </a:p>
            </p:txBody>
          </p:sp>
        </p:grpSp>
        <p:grpSp>
          <p:nvGrpSpPr>
            <p:cNvPr id="180" name="weight_to_combiner" descr="One editable routed connector; fixed endpoints."/>
            <p:cNvGrpSpPr/>
            <p:nvPr/>
          </p:nvGrpSpPr>
          <p:grpSpPr>
            <a:xfrm>
              <a:off x="4486046" y="1237183"/>
              <a:ext cx="96814" cy="62865"/>
              <a:chOff x="4486046" y="1237183"/>
              <a:chExt cx="96814" cy="62865"/>
            </a:xfrm>
          </p:grpSpPr>
          <p:cxnSp>
            <p:nvCxnSpPr>
              <p:cNvPr id="125" name="weight_to_combiner_0" descr="Editable line; source id weight_to_combiner_0"/>
              <p:cNvCxnSpPr/>
              <p:nvPr/>
            </p:nvCxnSpPr>
            <p:spPr>
              <a:xfrm>
                <a:off x="4486046" y="1237183"/>
                <a:ext cx="85496" cy="0"/>
              </a:xfrm>
              <a:prstGeom prst="line">
                <a:avLst/>
              </a:prstGeom>
              <a:ln w="5532" cap="rnd">
                <a:solidFill>
                  <a:srgbClr val="B78129"/>
                </a:solidFill>
              </a:ln>
              <a:effectLst/>
            </p:spPr>
            <p:style>
              <a:lnRef idx="2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126" name="weight_to_combiner_1" descr="Editable line; source id weight_to_combiner_1"/>
              <p:cNvSpPr/>
              <p:nvPr/>
            </p:nvSpPr>
            <p:spPr>
              <a:xfrm>
                <a:off x="4560226" y="1237183"/>
                <a:ext cx="22634" cy="62865"/>
              </a:xfrm>
              <a:custGeom>
                <a:avLst/>
                <a:gdLst/>
                <a:ahLst/>
                <a:cxnLst/>
                <a:rect l="l" t="t" r="r" b="b"/>
                <a:pathLst>
                  <a:path w="7984" h="22175">
                    <a:moveTo>
                      <a:pt x="4968" y="0"/>
                    </a:moveTo>
                    <a:lnTo>
                      <a:pt x="4968" y="11531"/>
                    </a:lnTo>
                    <a:lnTo>
                      <a:pt x="7984" y="11531"/>
                    </a:lnTo>
                    <a:lnTo>
                      <a:pt x="3992" y="22175"/>
                    </a:lnTo>
                    <a:lnTo>
                      <a:pt x="0" y="11531"/>
                    </a:lnTo>
                    <a:lnTo>
                      <a:pt x="3016" y="11531"/>
                    </a:lnTo>
                    <a:lnTo>
                      <a:pt x="3016" y="0"/>
                    </a:lnTo>
                    <a:close/>
                  </a:path>
                </a:pathLst>
              </a:custGeom>
              <a:solidFill>
                <a:srgbClr val="B78129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</p:grpSp>
        <p:sp>
          <p:nvSpPr>
            <p:cNvPr id="127" name="mix_to_normalize" descr="Editable line; source id mix_to_normalize"/>
            <p:cNvSpPr/>
            <p:nvPr/>
          </p:nvSpPr>
          <p:spPr>
            <a:xfrm>
              <a:off x="4560226" y="1483614"/>
              <a:ext cx="22634" cy="75438"/>
            </a:xfrm>
            <a:custGeom>
              <a:avLst/>
              <a:gdLst/>
              <a:ahLst/>
              <a:cxnLst/>
              <a:rect l="l" t="t" r="r" b="b"/>
              <a:pathLst>
                <a:path w="7984" h="26610">
                  <a:moveTo>
                    <a:pt x="4923" y="0"/>
                  </a:moveTo>
                  <a:lnTo>
                    <a:pt x="4923" y="15966"/>
                  </a:lnTo>
                  <a:lnTo>
                    <a:pt x="7984" y="15966"/>
                  </a:lnTo>
                  <a:lnTo>
                    <a:pt x="3992" y="26610"/>
                  </a:lnTo>
                  <a:lnTo>
                    <a:pt x="0" y="15966"/>
                  </a:lnTo>
                  <a:lnTo>
                    <a:pt x="3061" y="15966"/>
                  </a:lnTo>
                  <a:lnTo>
                    <a:pt x="3061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1" name="normalize" descr="normalize"/>
            <p:cNvGrpSpPr/>
            <p:nvPr/>
          </p:nvGrpSpPr>
          <p:grpSpPr>
            <a:xfrm>
              <a:off x="4239615" y="1579168"/>
              <a:ext cx="663854" cy="150875"/>
              <a:chOff x="4239615" y="1579168"/>
              <a:chExt cx="663854" cy="150875"/>
            </a:xfrm>
          </p:grpSpPr>
          <p:sp>
            <p:nvSpPr>
              <p:cNvPr id="128" name="normalize_panel" descr="Editable shape; source id normalize_panel"/>
              <p:cNvSpPr/>
              <p:nvPr/>
            </p:nvSpPr>
            <p:spPr>
              <a:xfrm>
                <a:off x="4239615" y="1579168"/>
                <a:ext cx="663854" cy="150875"/>
              </a:xfrm>
              <a:prstGeom prst="roundRect">
                <a:avLst>
                  <a:gd name="adj" fmla="val 13333"/>
                </a:avLst>
              </a:prstGeom>
              <a:solidFill>
                <a:srgbClr val="EDF1F6"/>
              </a:solidFill>
              <a:ln>
                <a:noFill/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29" name="normalize_label" descr="Editable text; source id normalize_label"/>
              <p:cNvSpPr txBox="1"/>
              <p:nvPr/>
            </p:nvSpPr>
            <p:spPr>
              <a:xfrm>
                <a:off x="4379120" y="1598705"/>
                <a:ext cx="393349" cy="112093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51"/>
                  </a:lnSpc>
                  <a:spcBef>
                    <a:spcPts val="0"/>
                  </a:spcBef>
                  <a:spcAft>
                    <a:spcPts val="0"/>
                  </a:spcAft>
                  <a:defRPr sz="653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53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Normalize</a:t>
                </a:r>
              </a:p>
            </p:txBody>
          </p:sp>
        </p:grpSp>
        <p:sp>
          <p:nvSpPr>
            <p:cNvPr id="130" name="normalize_to_ppo" descr="Editable line; source id normalize_to_ppo"/>
            <p:cNvSpPr/>
            <p:nvPr/>
          </p:nvSpPr>
          <p:spPr>
            <a:xfrm>
              <a:off x="4560226" y="1750162"/>
              <a:ext cx="22634" cy="98069"/>
            </a:xfrm>
            <a:custGeom>
              <a:avLst/>
              <a:gdLst/>
              <a:ahLst/>
              <a:cxnLst/>
              <a:rect l="l" t="t" r="r" b="b"/>
              <a:pathLst>
                <a:path w="7984" h="34593">
                  <a:moveTo>
                    <a:pt x="4923" y="0"/>
                  </a:moveTo>
                  <a:lnTo>
                    <a:pt x="4923" y="23949"/>
                  </a:lnTo>
                  <a:lnTo>
                    <a:pt x="7984" y="23949"/>
                  </a:lnTo>
                  <a:lnTo>
                    <a:pt x="3992" y="34593"/>
                  </a:lnTo>
                  <a:lnTo>
                    <a:pt x="0" y="23949"/>
                  </a:lnTo>
                  <a:lnTo>
                    <a:pt x="3061" y="23949"/>
                  </a:lnTo>
                  <a:lnTo>
                    <a:pt x="3061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2" name="ppo" descr="ppo"/>
            <p:cNvGrpSpPr/>
            <p:nvPr/>
          </p:nvGrpSpPr>
          <p:grpSpPr>
            <a:xfrm>
              <a:off x="4239615" y="1868347"/>
              <a:ext cx="663854" cy="160934"/>
              <a:chOff x="4239615" y="1868347"/>
              <a:chExt cx="663854" cy="160934"/>
            </a:xfrm>
          </p:grpSpPr>
          <p:sp>
            <p:nvSpPr>
              <p:cNvPr id="131" name="ppo_panel" descr="Editable shape; source id ppo_panel"/>
              <p:cNvSpPr/>
              <p:nvPr/>
            </p:nvSpPr>
            <p:spPr>
              <a:xfrm>
                <a:off x="4239615" y="1868347"/>
                <a:ext cx="663854" cy="160934"/>
              </a:xfrm>
              <a:prstGeom prst="roundRect">
                <a:avLst>
                  <a:gd name="adj" fmla="val 12500"/>
                </a:avLst>
              </a:prstGeom>
              <a:solidFill>
                <a:srgbClr val="FFFFFF"/>
              </a:solidFill>
              <a:ln w="3771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2" name="ppo_label" descr="Editable text; source id ppo_label"/>
              <p:cNvSpPr txBox="1"/>
              <p:nvPr/>
            </p:nvSpPr>
            <p:spPr>
              <a:xfrm>
                <a:off x="4322000" y="1890832"/>
                <a:ext cx="507588" cy="115060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774"/>
                  </a:lnSpc>
                  <a:spcBef>
                    <a:spcPts val="0"/>
                  </a:spcBef>
                  <a:spcAft>
                    <a:spcPts val="0"/>
                  </a:spcAft>
                  <a:defRPr sz="673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673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PPO / TRPO</a:t>
                </a:r>
              </a:p>
            </p:txBody>
          </p:sp>
        </p:grpSp>
        <p:sp>
          <p:nvSpPr>
            <p:cNvPr id="133" name="ppo_to_policy" descr="Editable line; source id ppo_to_policy"/>
            <p:cNvSpPr/>
            <p:nvPr/>
          </p:nvSpPr>
          <p:spPr>
            <a:xfrm>
              <a:off x="4560226" y="2046884"/>
              <a:ext cx="22634" cy="75438"/>
            </a:xfrm>
            <a:custGeom>
              <a:avLst/>
              <a:gdLst/>
              <a:ahLst/>
              <a:cxnLst/>
              <a:rect l="l" t="t" r="r" b="b"/>
              <a:pathLst>
                <a:path w="7984" h="26610">
                  <a:moveTo>
                    <a:pt x="4923" y="0"/>
                  </a:moveTo>
                  <a:lnTo>
                    <a:pt x="4923" y="15966"/>
                  </a:lnTo>
                  <a:lnTo>
                    <a:pt x="7984" y="15966"/>
                  </a:lnTo>
                  <a:lnTo>
                    <a:pt x="3992" y="26610"/>
                  </a:lnTo>
                  <a:lnTo>
                    <a:pt x="0" y="15966"/>
                  </a:lnTo>
                  <a:lnTo>
                    <a:pt x="3061" y="15966"/>
                  </a:lnTo>
                  <a:lnTo>
                    <a:pt x="3061" y="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  <p:grpSp>
          <p:nvGrpSpPr>
            <p:cNvPr id="183" name="new_policy" descr="new policy"/>
            <p:cNvGrpSpPr/>
            <p:nvPr/>
          </p:nvGrpSpPr>
          <p:grpSpPr>
            <a:xfrm>
              <a:off x="4488561" y="2142439"/>
              <a:ext cx="165963" cy="165963"/>
              <a:chOff x="4488561" y="2142439"/>
              <a:chExt cx="165963" cy="165963"/>
            </a:xfrm>
          </p:grpSpPr>
          <p:sp>
            <p:nvSpPr>
              <p:cNvPr id="134" name="new_policy_panel" descr="Editable shape; source id new_policy_panel"/>
              <p:cNvSpPr/>
              <p:nvPr/>
            </p:nvSpPr>
            <p:spPr>
              <a:xfrm>
                <a:off x="4488561" y="2142439"/>
                <a:ext cx="165963" cy="165963"/>
              </a:xfrm>
              <a:prstGeom prst="ellipse">
                <a:avLst/>
              </a:prstGeom>
              <a:solidFill>
                <a:srgbClr val="EDF1F6"/>
              </a:solidFill>
              <a:ln w="3771">
                <a:solidFill>
                  <a:srgbClr val="536F8E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</a:p>
            </p:txBody>
          </p:sp>
          <p:sp>
            <p:nvSpPr>
              <p:cNvPr id="135" name="new_policy_label" descr="Editable text; source id new_policy_label"/>
              <p:cNvSpPr txBox="1"/>
              <p:nvPr/>
            </p:nvSpPr>
            <p:spPr>
              <a:xfrm>
                <a:off x="4527601" y="2152303"/>
                <a:ext cx="96388" cy="144732"/>
              </a:xfrm>
              <a:prstGeom prst="rect">
                <a:avLst/>
              </a:prstGeom>
              <a:noFill/>
              <a:effectLst/>
            </p:spPr>
            <p:txBody>
              <a:bodyPr wrap="none" anchor="t" tIns="5669" rIns="0" bIns="0" lIns="5669" anchorCtr="0" vertOverflow="overflow">
                <a:noAutofit/>
              </a:bodyPr>
              <a:lstStyle/>
              <a:p>
                <a:pPr algn="l" fontAlgn="base">
                  <a:lnSpc>
                    <a:spcPts val="1001"/>
                  </a:lnSpc>
                  <a:spcBef>
                    <a:spcPts val="0"/>
                  </a:spcBef>
                  <a:spcAft>
                    <a:spcPts val="0"/>
                  </a:spcAft>
                  <a:defRPr sz="871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defRPr>
                </a:pPr>
                <a:r>
                  <a:rPr sz="871" b="0" i="0" lang="zh-CN" dirty="0">
                    <a:solidFill>
                      <a:srgbClr val="536F8E"/>
                    </a:solidFill>
                    <a:latin typeface="Liberation Sans"/>
                    <a:ea typeface="Liberation Sans"/>
                    <a:cs typeface="Liberation Sans"/>
                  </a:rPr>
                  <a:t>π</a:t>
                </a:r>
              </a:p>
            </p:txBody>
          </p:sp>
        </p:grpSp>
      </p:grpSp>
      <p:grpSp>
        <p:nvGrpSpPr>
          <p:cNvPr id="185" name="price_to_weight" descr="One editable routed connector; fixed endpoints."/>
          <p:cNvGrpSpPr/>
          <p:nvPr/>
        </p:nvGrpSpPr>
        <p:grpSpPr>
          <a:xfrm>
            <a:off x="3910203" y="1135340"/>
            <a:ext cx="485318" cy="660084"/>
            <a:chOff x="3910203" y="1135340"/>
            <a:chExt cx="485318" cy="660084"/>
          </a:xfrm>
        </p:grpSpPr>
        <p:cxnSp>
          <p:nvCxnSpPr>
            <p:cNvPr id="136" name="price_to_weight_0" descr="Editable line; source id price_to_weight_0"/>
            <p:cNvCxnSpPr/>
            <p:nvPr/>
          </p:nvCxnSpPr>
          <p:spPr>
            <a:xfrm>
              <a:off x="3910203" y="1795424"/>
              <a:ext cx="138302" cy="0"/>
            </a:xfrm>
            <a:prstGeom prst="line">
              <a:avLst/>
            </a:prstGeom>
            <a:ln w="6286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37" name="price_to_weight_1" descr="Editable line; source id price_to_weight_1"/>
            <p:cNvCxnSpPr/>
            <p:nvPr/>
          </p:nvCxnSpPr>
          <p:spPr>
            <a:xfrm flipV="1">
              <a:off x="4048505" y="1146657"/>
              <a:ext cx="0" cy="648767"/>
            </a:xfrm>
            <a:prstGeom prst="line">
              <a:avLst/>
            </a:prstGeom>
            <a:ln w="6286" cap="rnd">
              <a:solidFill>
                <a:srgbClr val="007F85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8" name="price_to_weight_2" descr="Editable line; source id price_to_weight_2"/>
            <p:cNvSpPr/>
            <p:nvPr/>
          </p:nvSpPr>
          <p:spPr>
            <a:xfrm>
              <a:off x="4048506" y="1135340"/>
              <a:ext cx="347015" cy="22631"/>
            </a:xfrm>
            <a:custGeom>
              <a:avLst/>
              <a:gdLst/>
              <a:ahLst/>
              <a:cxnLst/>
              <a:rect l="l" t="t" r="r" b="b"/>
              <a:pathLst>
                <a:path w="122406" h="7983">
                  <a:moveTo>
                    <a:pt x="0" y="2883"/>
                  </a:moveTo>
                  <a:lnTo>
                    <a:pt x="111762" y="2883"/>
                  </a:lnTo>
                  <a:lnTo>
                    <a:pt x="111762" y="0"/>
                  </a:lnTo>
                  <a:lnTo>
                    <a:pt x="122406" y="3992"/>
                  </a:lnTo>
                  <a:lnTo>
                    <a:pt x="111762" y="7983"/>
                  </a:lnTo>
                  <a:lnTo>
                    <a:pt x="111762" y="5101"/>
                  </a:lnTo>
                  <a:lnTo>
                    <a:pt x="0" y="5101"/>
                  </a:lnTo>
                  <a:close/>
                </a:path>
              </a:pathLst>
            </a:custGeom>
            <a:solidFill>
              <a:srgbClr val="007F8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39" name="shared_price_label" descr="Editable text; source id shared_price_label"/>
          <p:cNvSpPr txBox="1"/>
          <p:nvPr/>
        </p:nvSpPr>
        <p:spPr>
          <a:xfrm>
            <a:off x="4081094" y="937937"/>
            <a:ext cx="275255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rPr>
              <a:t>Shared</a:t>
            </a:r>
          </a:p>
        </p:txBody>
      </p:sp>
      <p:sp>
        <p:nvSpPr>
          <p:cNvPr id="140" name="shared_price_label2" descr="Editable text; source id shared_price_label2"/>
          <p:cNvSpPr txBox="1"/>
          <p:nvPr/>
        </p:nvSpPr>
        <p:spPr>
          <a:xfrm>
            <a:off x="4103159" y="1030977"/>
            <a:ext cx="231125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007F85"/>
                </a:solidFill>
                <a:latin typeface="Liberation Sans"/>
                <a:ea typeface="Liberation Sans"/>
                <a:cs typeface="Liberation Sans"/>
              </a:rPr>
              <a:t>prices</a:t>
            </a:r>
          </a:p>
        </p:txBody>
      </p:sp>
      <p:grpSp>
        <p:nvGrpSpPr>
          <p:cNvPr id="186" name="gae_lower" descr="One editable routed connector; fixed endpoints."/>
          <p:cNvGrpSpPr/>
          <p:nvPr/>
        </p:nvGrpSpPr>
        <p:grpSpPr>
          <a:xfrm>
            <a:off x="900226" y="1825599"/>
            <a:ext cx="3050210" cy="304267"/>
            <a:chOff x="900226" y="1825599"/>
            <a:chExt cx="3050210" cy="304267"/>
          </a:xfrm>
        </p:grpSpPr>
        <p:cxnSp>
          <p:nvCxnSpPr>
            <p:cNvPr id="141" name="gae_lower_0" descr="Editable line; source id gae_lower_0"/>
            <p:cNvCxnSpPr/>
            <p:nvPr/>
          </p:nvCxnSpPr>
          <p:spPr>
            <a:xfrm>
              <a:off x="900226" y="2129866"/>
              <a:ext cx="3050210" cy="0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2" name="gae_lower_1" descr="Editable line; source id gae_lower_1"/>
            <p:cNvCxnSpPr/>
            <p:nvPr/>
          </p:nvCxnSpPr>
          <p:spPr>
            <a:xfrm flipV="1">
              <a:off x="3950436" y="1825599"/>
              <a:ext cx="0" cy="304267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</p:grpSp>
      <p:grpSp>
        <p:nvGrpSpPr>
          <p:cNvPr id="187" name="gae_to_inputs" descr="One editable routed connector; fixed endpoints."/>
          <p:cNvGrpSpPr/>
          <p:nvPr/>
        </p:nvGrpSpPr>
        <p:grpSpPr>
          <a:xfrm>
            <a:off x="3950436" y="261518"/>
            <a:ext cx="284151" cy="1503731"/>
            <a:chOff x="3950436" y="261518"/>
            <a:chExt cx="284151" cy="1503731"/>
          </a:xfrm>
        </p:grpSpPr>
        <p:cxnSp>
          <p:nvCxnSpPr>
            <p:cNvPr id="143" name="gae_to_inputs_0" descr="Editable line; source id gae_to_inputs_0"/>
            <p:cNvCxnSpPr/>
            <p:nvPr/>
          </p:nvCxnSpPr>
          <p:spPr>
            <a:xfrm flipV="1">
              <a:off x="3950436" y="261518"/>
              <a:ext cx="0" cy="1503731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4" name="gae_to_inputs_1" descr="Editable line; source id gae_to_inputs_1"/>
            <p:cNvCxnSpPr/>
            <p:nvPr/>
          </p:nvCxnSpPr>
          <p:spPr>
            <a:xfrm>
              <a:off x="3950436" y="261518"/>
              <a:ext cx="206197" cy="0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5" name="gae_to_inputs_2" descr="Editable line; source id gae_to_inputs_2"/>
            <p:cNvCxnSpPr/>
            <p:nvPr/>
          </p:nvCxnSpPr>
          <p:spPr>
            <a:xfrm>
              <a:off x="4156633" y="261518"/>
              <a:ext cx="0" cy="259004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6" name="gae_to_inputs_3" descr="Editable line; source id gae_to_inputs_3"/>
            <p:cNvSpPr/>
            <p:nvPr/>
          </p:nvSpPr>
          <p:spPr>
            <a:xfrm>
              <a:off x="4156634" y="509208"/>
              <a:ext cx="77953" cy="22629"/>
            </a:xfrm>
            <a:custGeom>
              <a:avLst/>
              <a:gdLst/>
              <a:ahLst/>
              <a:cxnLst/>
              <a:rect l="l" t="t" r="r" b="b"/>
              <a:pathLst>
                <a:path w="27497" h="7982">
                  <a:moveTo>
                    <a:pt x="0" y="3148"/>
                  </a:moveTo>
                  <a:lnTo>
                    <a:pt x="16853" y="3148"/>
                  </a:lnTo>
                  <a:lnTo>
                    <a:pt x="16853" y="0"/>
                  </a:lnTo>
                  <a:lnTo>
                    <a:pt x="27497" y="3991"/>
                  </a:lnTo>
                  <a:lnTo>
                    <a:pt x="16853" y="7982"/>
                  </a:lnTo>
                  <a:lnTo>
                    <a:pt x="16853" y="4834"/>
                  </a:lnTo>
                  <a:lnTo>
                    <a:pt x="0" y="4834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8" name="gae_cost_fork" descr="One editable routed connector; fixed endpoints."/>
          <p:cNvGrpSpPr/>
          <p:nvPr/>
        </p:nvGrpSpPr>
        <p:grpSpPr>
          <a:xfrm>
            <a:off x="4156633" y="520522"/>
            <a:ext cx="77954" cy="343242"/>
            <a:chOff x="4156633" y="520522"/>
            <a:chExt cx="77954" cy="343242"/>
          </a:xfrm>
        </p:grpSpPr>
        <p:cxnSp>
          <p:nvCxnSpPr>
            <p:cNvPr id="147" name="gae_cost_fork_0" descr="Editable line; source id gae_cost_fork_0"/>
            <p:cNvCxnSpPr/>
            <p:nvPr/>
          </p:nvCxnSpPr>
          <p:spPr>
            <a:xfrm>
              <a:off x="4156633" y="520522"/>
              <a:ext cx="0" cy="331927"/>
            </a:xfrm>
            <a:prstGeom prst="line">
              <a:avLst/>
            </a:prstGeom>
            <a:ln w="4777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48" name="gae_cost_fork_1" descr="Editable line; source id gae_cost_fork_1"/>
            <p:cNvSpPr/>
            <p:nvPr/>
          </p:nvSpPr>
          <p:spPr>
            <a:xfrm>
              <a:off x="4156634" y="841135"/>
              <a:ext cx="77953" cy="22629"/>
            </a:xfrm>
            <a:custGeom>
              <a:avLst/>
              <a:gdLst/>
              <a:ahLst/>
              <a:cxnLst/>
              <a:rect l="l" t="t" r="r" b="b"/>
              <a:pathLst>
                <a:path w="27497" h="7982">
                  <a:moveTo>
                    <a:pt x="0" y="3148"/>
                  </a:moveTo>
                  <a:lnTo>
                    <a:pt x="16853" y="3148"/>
                  </a:lnTo>
                  <a:lnTo>
                    <a:pt x="16853" y="0"/>
                  </a:lnTo>
                  <a:lnTo>
                    <a:pt x="27497" y="3991"/>
                  </a:lnTo>
                  <a:lnTo>
                    <a:pt x="16853" y="7982"/>
                  </a:lnTo>
                  <a:lnTo>
                    <a:pt x="16853" y="4834"/>
                  </a:lnTo>
                  <a:lnTo>
                    <a:pt x="0" y="4834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grpSp>
        <p:nvGrpSpPr>
          <p:cNvPr id="189" name="next_rollout" descr="One editable routed connector; fixed endpoints."/>
          <p:cNvGrpSpPr/>
          <p:nvPr/>
        </p:nvGrpSpPr>
        <p:grpSpPr>
          <a:xfrm>
            <a:off x="50292" y="516749"/>
            <a:ext cx="4521250" cy="1902296"/>
            <a:chOff x="50292" y="516749"/>
            <a:chExt cx="4521250" cy="1902296"/>
          </a:xfrm>
        </p:grpSpPr>
        <p:cxnSp>
          <p:nvCxnSpPr>
            <p:cNvPr id="149" name="next_rollout_0" descr="Editable line; source id next_rollout_0"/>
            <p:cNvCxnSpPr/>
            <p:nvPr/>
          </p:nvCxnSpPr>
          <p:spPr>
            <a:xfrm>
              <a:off x="4571542" y="2326005"/>
              <a:ext cx="0" cy="93040"/>
            </a:xfrm>
            <a:prstGeom prst="line">
              <a:avLst/>
            </a:prstGeom>
            <a:ln w="4526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0" name="next_rollout_1" descr="Editable line; source id next_rollout_1"/>
            <p:cNvCxnSpPr/>
            <p:nvPr/>
          </p:nvCxnSpPr>
          <p:spPr>
            <a:xfrm flipH="1">
              <a:off x="50292" y="2419045"/>
              <a:ext cx="4521250" cy="0"/>
            </a:xfrm>
            <a:prstGeom prst="line">
              <a:avLst/>
            </a:prstGeom>
            <a:ln w="4526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1" name="next_rollout_2" descr="Editable line; source id next_rollout_2"/>
            <p:cNvCxnSpPr/>
            <p:nvPr/>
          </p:nvCxnSpPr>
          <p:spPr>
            <a:xfrm flipV="1">
              <a:off x="50292" y="528066"/>
              <a:ext cx="0" cy="1890979"/>
            </a:xfrm>
            <a:prstGeom prst="line">
              <a:avLst/>
            </a:prstGeom>
            <a:ln w="4526" cap="rnd">
              <a:solidFill>
                <a:srgbClr val="536F8E"/>
              </a:solidFill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52" name="next_rollout_3" descr="Editable line; source id next_rollout_3"/>
            <p:cNvSpPr/>
            <p:nvPr/>
          </p:nvSpPr>
          <p:spPr>
            <a:xfrm>
              <a:off x="50292" y="516749"/>
              <a:ext cx="45263" cy="22634"/>
            </a:xfrm>
            <a:custGeom>
              <a:avLst/>
              <a:gdLst/>
              <a:ahLst/>
              <a:cxnLst/>
              <a:rect l="l" t="t" r="r" b="b"/>
              <a:pathLst>
                <a:path w="15966" h="7984">
                  <a:moveTo>
                    <a:pt x="0" y="3194"/>
                  </a:moveTo>
                  <a:lnTo>
                    <a:pt x="5322" y="3194"/>
                  </a:lnTo>
                  <a:lnTo>
                    <a:pt x="5322" y="0"/>
                  </a:lnTo>
                  <a:lnTo>
                    <a:pt x="15966" y="3992"/>
                  </a:lnTo>
                  <a:lnTo>
                    <a:pt x="5322" y="7984"/>
                  </a:lnTo>
                  <a:lnTo>
                    <a:pt x="5322" y="4790"/>
                  </a:lnTo>
                  <a:lnTo>
                    <a:pt x="0" y="4790"/>
                  </a:lnTo>
                  <a:close/>
                </a:path>
              </a:pathLst>
            </a:custGeom>
            <a:solidFill>
              <a:srgbClr val="536F8E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</a:p>
          </p:txBody>
        </p:sp>
      </p:grpSp>
      <p:sp>
        <p:nvSpPr>
          <p:cNvPr id="153" name="next_rollout_label" descr="Editable text; source id next_rollout_label"/>
          <p:cNvSpPr txBox="1"/>
          <p:nvPr/>
        </p:nvSpPr>
        <p:spPr>
          <a:xfrm>
            <a:off x="2315090" y="2300850"/>
            <a:ext cx="407523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536F8E"/>
                </a:solidFill>
                <a:latin typeface="Liberation Sans"/>
                <a:ea typeface="Liberation Sans"/>
                <a:cs typeface="Liberation Sans"/>
              </a:rPr>
              <a:t>next rollout</a:t>
            </a:r>
          </a:p>
        </p:txBody>
      </p:sp>
      <p:sp>
        <p:nvSpPr>
          <p:cNvPr id="154" name="schematic_note" descr="Editable text; source id schematic_note"/>
          <p:cNvSpPr txBox="1"/>
          <p:nvPr/>
        </p:nvSpPr>
        <p:spPr>
          <a:xfrm>
            <a:off x="99943" y="2248043"/>
            <a:ext cx="389805" cy="107642"/>
          </a:xfrm>
          <a:prstGeom prst="rect">
            <a:avLst/>
          </a:prstGeom>
          <a:noFill/>
          <a:effectLst/>
        </p:spPr>
        <p:txBody>
          <a:bodyPr wrap="none" anchor="t" tIns="5669" rIns="0" bIns="0" lIns="5669" anchorCtr="0" vertOverflow="overflow">
            <a:noAutofit/>
          </a:bodyPr>
          <a:lstStyle/>
          <a:p>
            <a:pPr algn="l" fontAlgn="base">
              <a:lnSpc>
                <a:spcPts val="717"/>
              </a:lnSpc>
              <a:spcBef>
                <a:spcPts val="0"/>
              </a:spcBef>
              <a:spcAft>
                <a:spcPts val="0"/>
              </a:spcAft>
              <a:defRPr sz="62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defRPr>
            </a:pPr>
            <a:r>
              <a:rPr sz="623" b="0" i="0" lang="zh-CN" dirty="0">
                <a:solidFill>
                  <a:srgbClr val="77858D"/>
                </a:solidFill>
                <a:latin typeface="Liberation Sans"/>
                <a:ea typeface="Liberation Sans"/>
                <a:cs typeface="Liberation Sans"/>
              </a:rPr>
              <a:t>Schematic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Editable reconstruction</dc:title>
  <dc:subject>Reconstructed from source images; see validation and font manifest</dc:subject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