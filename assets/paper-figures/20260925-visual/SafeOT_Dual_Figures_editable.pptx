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2" name="penalty_view" descr="penalty view"/>
          <p:cNvGrpSpPr/>
          <p:nvPr/>
        </p:nvGrpSpPr>
        <p:grpSpPr>
          <a:xfrm>
            <a:off x="229078" y="73050"/>
            <a:ext cx="883086" cy="693408"/>
            <a:chOff x="229078" y="73050"/>
            <a:chExt cx="883086" cy="693408"/>
          </a:xfrm>
        </p:grpSpPr>
        <p:sp>
          <p:nvSpPr>
            <p:cNvPr id="2" name="penalty_title" descr="Editable text; source id penalty_title"/>
            <p:cNvSpPr txBox="1"/>
            <p:nvPr/>
          </p:nvSpPr>
          <p:spPr>
            <a:xfrm>
              <a:off x="388898" y="73050"/>
              <a:ext cx="563446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grpSp>
          <p:nvGrpSpPr>
            <p:cNvPr id="161" name="penalty_weights" descr="penalty weights"/>
            <p:cNvGrpSpPr/>
            <p:nvPr/>
          </p:nvGrpSpPr>
          <p:grpSpPr>
            <a:xfrm>
              <a:off x="255419" y="230557"/>
              <a:ext cx="730303" cy="345818"/>
              <a:chOff x="255419" y="230557"/>
              <a:chExt cx="730303" cy="345818"/>
            </a:xfrm>
          </p:grpSpPr>
          <p:grpSp>
            <p:nvGrpSpPr>
              <p:cNvPr id="158" name="penalty_weights_c0" descr="Editable formula parts and native mathematical delimiters."/>
              <p:cNvGrpSpPr/>
              <p:nvPr/>
            </p:nvGrpSpPr>
            <p:grpSpPr>
              <a:xfrm>
                <a:off x="255419" y="230557"/>
                <a:ext cx="66521" cy="109445"/>
                <a:chOff x="255419" y="230557"/>
                <a:chExt cx="66521" cy="109445"/>
              </a:xfrm>
            </p:grpSpPr>
            <p:sp>
              <p:nvSpPr>
                <p:cNvPr id="3" name="penalty_weights_c0_0" descr="Editable text; source id penalty_weights_c0_0"/>
                <p:cNvSpPr txBox="1"/>
                <p:nvPr/>
              </p:nvSpPr>
              <p:spPr>
                <a:xfrm>
                  <a:off x="255419" y="230557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" name="penalty_weights_c0_1" descr="Editable text; source id penalty_weights_c0_1"/>
                <p:cNvSpPr txBox="1"/>
                <p:nvPr/>
              </p:nvSpPr>
              <p:spPr>
                <a:xfrm>
                  <a:off x="291133" y="274675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5" name="penalty_weights_track0" descr="Editable shape; source id penalty_weights_track0"/>
              <p:cNvSpPr/>
              <p:nvPr/>
            </p:nvSpPr>
            <p:spPr>
              <a:xfrm>
                <a:off x="374675" y="266547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penalty_weights_fill0" descr="Editable shape; source id penalty_weights_fill0"/>
              <p:cNvSpPr/>
              <p:nvPr/>
            </p:nvSpPr>
            <p:spPr>
              <a:xfrm>
                <a:off x="374675" y="266547"/>
                <a:ext cx="256640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penalty_weights_knob0" descr="Editable shape; source id penalty_weights_knob0"/>
              <p:cNvSpPr/>
              <p:nvPr/>
            </p:nvSpPr>
            <p:spPr>
              <a:xfrm>
                <a:off x="608684" y="256489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59" name="penalty_weights_c1" descr="Editable formula parts and native mathematical delimiters."/>
              <p:cNvGrpSpPr/>
              <p:nvPr/>
            </p:nvGrpSpPr>
            <p:grpSpPr>
              <a:xfrm>
                <a:off x="255419" y="348744"/>
                <a:ext cx="66521" cy="109445"/>
                <a:chOff x="255419" y="348744"/>
                <a:chExt cx="66521" cy="109445"/>
              </a:xfrm>
            </p:grpSpPr>
            <p:sp>
              <p:nvSpPr>
                <p:cNvPr id="8" name="penalty_weights_c1_0" descr="Editable text; source id penalty_weights_c1_0"/>
                <p:cNvSpPr txBox="1"/>
                <p:nvPr/>
              </p:nvSpPr>
              <p:spPr>
                <a:xfrm>
                  <a:off x="255419" y="348744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" name="penalty_weights_c1_1" descr="Editable text; source id penalty_weights_c1_1"/>
                <p:cNvSpPr txBox="1"/>
                <p:nvPr/>
              </p:nvSpPr>
              <p:spPr>
                <a:xfrm>
                  <a:off x="291133" y="392862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0" name="penalty_weights_track1" descr="Editable shape; source id penalty_weights_track1"/>
              <p:cNvSpPr/>
              <p:nvPr/>
            </p:nvSpPr>
            <p:spPr>
              <a:xfrm>
                <a:off x="374675" y="384733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enalty_weights_fill1" descr="Editable shape; source id penalty_weights_fill1"/>
              <p:cNvSpPr/>
              <p:nvPr/>
            </p:nvSpPr>
            <p:spPr>
              <a:xfrm>
                <a:off x="374675" y="384733"/>
                <a:ext cx="415512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penalty_weights_knob1" descr="Editable shape; source id penalty_weights_knob1"/>
              <p:cNvSpPr/>
              <p:nvPr/>
            </p:nvSpPr>
            <p:spPr>
              <a:xfrm>
                <a:off x="767556" y="374675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0" name="penalty_weights_c2" descr="Editable formula parts and native mathematical delimiters."/>
              <p:cNvGrpSpPr/>
              <p:nvPr/>
            </p:nvGrpSpPr>
            <p:grpSpPr>
              <a:xfrm>
                <a:off x="255419" y="466930"/>
                <a:ext cx="66521" cy="109445"/>
                <a:chOff x="255419" y="466930"/>
                <a:chExt cx="66521" cy="109445"/>
              </a:xfrm>
            </p:grpSpPr>
            <p:sp>
              <p:nvSpPr>
                <p:cNvPr id="13" name="penalty_weights_c2_0" descr="Editable text; source id penalty_weights_c2_0"/>
                <p:cNvSpPr txBox="1"/>
                <p:nvPr/>
              </p:nvSpPr>
              <p:spPr>
                <a:xfrm>
                  <a:off x="255419" y="466930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4" name="penalty_weights_c2_1" descr="Editable text; source id penalty_weights_c2_1"/>
                <p:cNvSpPr txBox="1"/>
                <p:nvPr/>
              </p:nvSpPr>
              <p:spPr>
                <a:xfrm>
                  <a:off x="291133" y="511048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15" name="penalty_weights_track2" descr="Editable shape; source id penalty_weights_track2"/>
              <p:cNvSpPr/>
              <p:nvPr/>
            </p:nvSpPr>
            <p:spPr>
              <a:xfrm>
                <a:off x="374675" y="502920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enalty_weights_fill2" descr="Editable shape; source id penalty_weights_fill2"/>
              <p:cNvSpPr/>
              <p:nvPr/>
            </p:nvSpPr>
            <p:spPr>
              <a:xfrm>
                <a:off x="374675" y="502920"/>
                <a:ext cx="183314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enalty_weights_knob2" descr="Editable shape; source id penalty_weights_knob2"/>
              <p:cNvSpPr/>
              <p:nvPr/>
            </p:nvSpPr>
            <p:spPr>
              <a:xfrm>
                <a:off x="535358" y="492861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penalty_settings" descr="Editable text; source id penalty_settings"/>
            <p:cNvSpPr txBox="1"/>
            <p:nvPr/>
          </p:nvSpPr>
          <p:spPr>
            <a:xfrm>
              <a:off x="229078" y="549980"/>
              <a:ext cx="883086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Fixed / adaptive weights</a:t>
              </a:r>
            </a:p>
          </p:txBody>
        </p:sp>
        <p:sp>
          <p:nvSpPr>
            <p:cNvPr id="19" name="zero_cap_note" descr="Editable text; source id zero_cap_note"/>
            <p:cNvSpPr txBox="1"/>
            <p:nvPr/>
          </p:nvSpPr>
          <p:spPr>
            <a:xfrm>
              <a:off x="293085" y="658816"/>
              <a:ext cx="755071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Zero graph-price cap</a:t>
              </a:r>
            </a:p>
          </p:txBody>
        </p:sp>
      </p:grpSp>
      <p:grpSp>
        <p:nvGrpSpPr>
          <p:cNvPr id="167" name="constraint_view" descr="constraint view"/>
          <p:cNvGrpSpPr/>
          <p:nvPr/>
        </p:nvGrpSpPr>
        <p:grpSpPr>
          <a:xfrm>
            <a:off x="3951881" y="73050"/>
            <a:ext cx="821307" cy="693408"/>
            <a:chOff x="3951881" y="73050"/>
            <a:chExt cx="821307" cy="693408"/>
          </a:xfrm>
        </p:grpSpPr>
        <p:sp>
          <p:nvSpPr>
            <p:cNvPr id="20" name="constraint_title" descr="Editable text; source id constraint_title"/>
            <p:cNvSpPr txBox="1"/>
            <p:nvPr/>
          </p:nvSpPr>
          <p:spPr>
            <a:xfrm>
              <a:off x="4019802" y="73050"/>
              <a:ext cx="694562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grpSp>
          <p:nvGrpSpPr>
            <p:cNvPr id="166" name="joint_budget_view" descr="joint budget view"/>
            <p:cNvGrpSpPr/>
            <p:nvPr/>
          </p:nvGrpSpPr>
          <p:grpSpPr>
            <a:xfrm>
              <a:off x="3951881" y="230557"/>
              <a:ext cx="730303" cy="345818"/>
              <a:chOff x="3951881" y="230557"/>
              <a:chExt cx="730303" cy="345818"/>
            </a:xfrm>
          </p:grpSpPr>
          <p:grpSp>
            <p:nvGrpSpPr>
              <p:cNvPr id="163" name="joint_budget_view_c0" descr="Editable formula parts and native mathematical delimiters."/>
              <p:cNvGrpSpPr/>
              <p:nvPr/>
            </p:nvGrpSpPr>
            <p:grpSpPr>
              <a:xfrm>
                <a:off x="3951881" y="230557"/>
                <a:ext cx="66521" cy="109445"/>
                <a:chOff x="3951881" y="230557"/>
                <a:chExt cx="66521" cy="109445"/>
              </a:xfrm>
            </p:grpSpPr>
            <p:sp>
              <p:nvSpPr>
                <p:cNvPr id="21" name="joint_budget_view_c0_0" descr="Editable text; source id joint_budget_view_c0_0"/>
                <p:cNvSpPr txBox="1"/>
                <p:nvPr/>
              </p:nvSpPr>
              <p:spPr>
                <a:xfrm>
                  <a:off x="3951881" y="230557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2" name="joint_budget_view_c0_1" descr="Editable text; source id joint_budget_view_c0_1"/>
                <p:cNvSpPr txBox="1"/>
                <p:nvPr/>
              </p:nvSpPr>
              <p:spPr>
                <a:xfrm>
                  <a:off x="3987595" y="274675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23" name="joint_budget_view_track0" descr="Editable shape; source id joint_budget_view_track0"/>
              <p:cNvSpPr/>
              <p:nvPr/>
            </p:nvSpPr>
            <p:spPr>
              <a:xfrm>
                <a:off x="4071137" y="266547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joint_budget_view_fill0" descr="Editable shape; source id joint_budget_view_fill0"/>
              <p:cNvSpPr/>
              <p:nvPr/>
            </p:nvSpPr>
            <p:spPr>
              <a:xfrm>
                <a:off x="4071137" y="266547"/>
                <a:ext cx="256640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5" name="joint_budget_view_limit0" descr="Editable line; source id joint_budget_view_limit0"/>
              <p:cNvCxnSpPr/>
              <p:nvPr/>
            </p:nvCxnSpPr>
            <p:spPr>
              <a:xfrm>
                <a:off x="4547754" y="248945"/>
                <a:ext cx="0" cy="60350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joint_budget_view_c1" descr="Editable formula parts and native mathematical delimiters."/>
              <p:cNvGrpSpPr/>
              <p:nvPr/>
            </p:nvGrpSpPr>
            <p:grpSpPr>
              <a:xfrm>
                <a:off x="3951881" y="348744"/>
                <a:ext cx="66521" cy="109445"/>
                <a:chOff x="3951881" y="348744"/>
                <a:chExt cx="66521" cy="109445"/>
              </a:xfrm>
            </p:grpSpPr>
            <p:sp>
              <p:nvSpPr>
                <p:cNvPr id="26" name="joint_budget_view_c1_0" descr="Editable text; source id joint_budget_view_c1_0"/>
                <p:cNvSpPr txBox="1"/>
                <p:nvPr/>
              </p:nvSpPr>
              <p:spPr>
                <a:xfrm>
                  <a:off x="3951881" y="348744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7" name="joint_budget_view_c1_1" descr="Editable text; source id joint_budget_view_c1_1"/>
                <p:cNvSpPr txBox="1"/>
                <p:nvPr/>
              </p:nvSpPr>
              <p:spPr>
                <a:xfrm>
                  <a:off x="3987595" y="392862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28" name="joint_budget_view_track1" descr="Editable shape; source id joint_budget_view_track1"/>
              <p:cNvSpPr/>
              <p:nvPr/>
            </p:nvSpPr>
            <p:spPr>
              <a:xfrm>
                <a:off x="4071137" y="384733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joint_budget_view_fill1" descr="Editable shape; source id joint_budget_view_fill1"/>
              <p:cNvSpPr/>
              <p:nvPr/>
            </p:nvSpPr>
            <p:spPr>
              <a:xfrm>
                <a:off x="4071137" y="384733"/>
                <a:ext cx="415512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0" name="joint_budget_view_limit1" descr="Editable line; source id joint_budget_view_limit1"/>
              <p:cNvCxnSpPr/>
              <p:nvPr/>
            </p:nvCxnSpPr>
            <p:spPr>
              <a:xfrm>
                <a:off x="4547754" y="367131"/>
                <a:ext cx="0" cy="60351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joint_budget_view_c2" descr="Editable formula parts and native mathematical delimiters."/>
              <p:cNvGrpSpPr/>
              <p:nvPr/>
            </p:nvGrpSpPr>
            <p:grpSpPr>
              <a:xfrm>
                <a:off x="3951881" y="466930"/>
                <a:ext cx="66521" cy="109445"/>
                <a:chOff x="3951881" y="466930"/>
                <a:chExt cx="66521" cy="109445"/>
              </a:xfrm>
            </p:grpSpPr>
            <p:sp>
              <p:nvSpPr>
                <p:cNvPr id="31" name="joint_budget_view_c2_0" descr="Editable text; source id joint_budget_view_c2_0"/>
                <p:cNvSpPr txBox="1"/>
                <p:nvPr/>
              </p:nvSpPr>
              <p:spPr>
                <a:xfrm>
                  <a:off x="3951881" y="466930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2" name="joint_budget_view_c2_1" descr="Editable text; source id joint_budget_view_c2_1"/>
                <p:cNvSpPr txBox="1"/>
                <p:nvPr/>
              </p:nvSpPr>
              <p:spPr>
                <a:xfrm>
                  <a:off x="3987595" y="511048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33" name="joint_budget_view_track2" descr="Editable shape; source id joint_budget_view_track2"/>
              <p:cNvSpPr/>
              <p:nvPr/>
            </p:nvSpPr>
            <p:spPr>
              <a:xfrm>
                <a:off x="4071137" y="502920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joint_budget_view_fill2" descr="Editable shape; source id joint_budget_view_fill2"/>
              <p:cNvSpPr/>
              <p:nvPr/>
            </p:nvSpPr>
            <p:spPr>
              <a:xfrm>
                <a:off x="4071137" y="502920"/>
                <a:ext cx="183314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5" name="joint_budget_view_limit2" descr="Editable line; source id joint_budget_view_limit2"/>
              <p:cNvCxnSpPr/>
              <p:nvPr/>
            </p:nvCxnSpPr>
            <p:spPr>
              <a:xfrm>
                <a:off x="4547754" y="485317"/>
                <a:ext cx="0" cy="60351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constraint_budgets" descr="Editable text; source id constraint_budgets"/>
            <p:cNvSpPr txBox="1"/>
            <p:nvPr/>
          </p:nvSpPr>
          <p:spPr>
            <a:xfrm>
              <a:off x="4032863" y="549980"/>
              <a:ext cx="668438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Joint cost budgets</a:t>
              </a:r>
            </a:p>
          </p:txBody>
        </p:sp>
        <p:sp>
          <p:nvSpPr>
            <p:cNvPr id="37" name="conditional_limits" descr="Editable text; source id conditional_limits"/>
            <p:cNvSpPr txBox="1"/>
            <p:nvPr/>
          </p:nvSpPr>
          <p:spPr>
            <a:xfrm>
              <a:off x="3960976" y="658816"/>
              <a:ext cx="812212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Conditional price limits</a:t>
              </a:r>
            </a:p>
          </p:txBody>
        </p:sp>
      </p:grpSp>
      <p:sp>
        <p:nvSpPr>
          <p:cNvPr id="38" name="title" descr="Editable text; source id title"/>
          <p:cNvSpPr txBox="1"/>
          <p:nvPr/>
        </p:nvSpPr>
        <p:spPr>
          <a:xfrm>
            <a:off x="2172523" y="137993"/>
            <a:ext cx="692657" cy="147700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1024"/>
              </a:lnSpc>
              <a:spcBef>
                <a:spcPts val="0"/>
              </a:spcBef>
              <a:spcAft>
                <a:spcPts val="0"/>
              </a:spcAft>
              <a:defRPr sz="891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91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SafeOT-Dual</a:t>
            </a:r>
          </a:p>
        </p:txBody>
      </p:sp>
      <p:sp>
        <p:nvSpPr>
          <p:cNvPr id="39" name="subtitle" descr="Editable text; source id subtitle"/>
          <p:cNvSpPr txBox="1"/>
          <p:nvPr/>
        </p:nvSpPr>
        <p:spPr>
          <a:xfrm>
            <a:off x="2017359" y="298976"/>
            <a:ext cx="1002985" cy="118027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0" lang="zh-CN" dirty="0">
                <a:solidFill>
                  <a:srgbClr val="29343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93" b="0" i="0" lang="zh-CN" dirty="0">
                <a:solidFill>
                  <a:srgbClr val="29343E"/>
                </a:solidFill>
                <a:latin typeface="Liberation Sans"/>
                <a:ea typeface="Liberation Sans"/>
                <a:cs typeface="Liberation Sans"/>
              </a:rPr>
              <a:t>One price rule, two views</a:t>
            </a:r>
          </a:p>
        </p:txBody>
      </p:sp>
      <p:grpSp>
        <p:nvGrpSpPr>
          <p:cNvPr id="168" name="left_view_relation" descr="One editable routed connector; fixed endpoints."/>
          <p:cNvGrpSpPr/>
          <p:nvPr/>
        </p:nvGrpSpPr>
        <p:grpSpPr>
          <a:xfrm>
            <a:off x="1151686" y="392277"/>
            <a:ext cx="191110" cy="409880"/>
            <a:chOff x="1151686" y="392277"/>
            <a:chExt cx="191110" cy="409880"/>
          </a:xfrm>
        </p:grpSpPr>
        <p:cxnSp>
          <p:nvCxnSpPr>
            <p:cNvPr id="40" name="left_view_relation_0" descr="Editable line; source id left_view_relation_0"/>
            <p:cNvCxnSpPr/>
            <p:nvPr/>
          </p:nvCxnSpPr>
          <p:spPr>
            <a:xfrm>
              <a:off x="1151686" y="392277"/>
              <a:ext cx="191110" cy="0"/>
            </a:xfrm>
            <a:prstGeom prst="line">
              <a:avLst/>
            </a:prstGeom>
            <a:ln w="4023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left_view_relation_1" descr="Editable line; source id left_view_relation_1"/>
            <p:cNvCxnSpPr/>
            <p:nvPr/>
          </p:nvCxnSpPr>
          <p:spPr>
            <a:xfrm>
              <a:off x="1342796" y="392277"/>
              <a:ext cx="0" cy="409880"/>
            </a:xfrm>
            <a:prstGeom prst="line">
              <a:avLst/>
            </a:prstGeom>
            <a:ln w="4023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right_view_relation" descr="One editable routed connector; fixed endpoints."/>
          <p:cNvGrpSpPr/>
          <p:nvPr/>
        </p:nvGrpSpPr>
        <p:grpSpPr>
          <a:xfrm>
            <a:off x="3686403" y="392277"/>
            <a:ext cx="191110" cy="409880"/>
            <a:chOff x="3686403" y="392277"/>
            <a:chExt cx="191110" cy="409880"/>
          </a:xfrm>
        </p:grpSpPr>
        <p:cxnSp>
          <p:nvCxnSpPr>
            <p:cNvPr id="42" name="right_view_relation_0" descr="Editable line; source id right_view_relation_0"/>
            <p:cNvCxnSpPr/>
            <p:nvPr/>
          </p:nvCxnSpPr>
          <p:spPr>
            <a:xfrm flipH="1">
              <a:off x="3686403" y="392277"/>
              <a:ext cx="191110" cy="0"/>
            </a:xfrm>
            <a:prstGeom prst="line">
              <a:avLst/>
            </a:prstGeom>
            <a:ln w="4023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right_view_relation_1" descr="Editable line; source id right_view_relation_1"/>
            <p:cNvCxnSpPr/>
            <p:nvPr/>
          </p:nvCxnSpPr>
          <p:spPr>
            <a:xfrm>
              <a:off x="3686403" y="392277"/>
              <a:ext cx="0" cy="409880"/>
            </a:xfrm>
            <a:prstGeom prst="line">
              <a:avLst/>
            </a:prstGeom>
            <a:ln w="4023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shared_construction" descr="shared construction"/>
          <p:cNvGrpSpPr/>
          <p:nvPr/>
        </p:nvGrpSpPr>
        <p:grpSpPr>
          <a:xfrm>
            <a:off x="135788" y="827303"/>
            <a:ext cx="4757623" cy="1521332"/>
            <a:chOff x="135788" y="827303"/>
            <a:chExt cx="4757623" cy="1521332"/>
          </a:xfrm>
        </p:grpSpPr>
        <p:sp>
          <p:nvSpPr>
            <p:cNvPr id="44" name="shared_construction_panel" descr="Editable shape; source id shared_construction_panel"/>
            <p:cNvSpPr/>
            <p:nvPr/>
          </p:nvSpPr>
          <p:spPr>
            <a:xfrm>
              <a:off x="135788" y="827303"/>
              <a:ext cx="4757623" cy="1521332"/>
            </a:xfrm>
            <a:prstGeom prst="roundRect">
              <a:avLst>
                <a:gd name="adj" fmla="val 5619"/>
              </a:avLst>
            </a:prstGeom>
            <a:solidFill>
              <a:srgbClr val="F2F7F7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encode_title" descr="Editable text; source id encode_title"/>
            <p:cNvSpPr txBox="1"/>
            <p:nvPr/>
          </p:nvSpPr>
          <p:spPr>
            <a:xfrm>
              <a:off x="397559" y="884878"/>
              <a:ext cx="621562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Encode jointly</a:t>
              </a:r>
            </a:p>
          </p:txBody>
        </p:sp>
        <p:sp>
          <p:nvSpPr>
            <p:cNvPr id="46" name="graph_title" descr="Editable text; source id graph_title"/>
            <p:cNvSpPr txBox="1"/>
            <p:nvPr/>
          </p:nvSpPr>
          <p:spPr>
            <a:xfrm>
              <a:off x="1833659" y="884878"/>
              <a:ext cx="817174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Price on one graph</a:t>
              </a:r>
            </a:p>
          </p:txBody>
        </p:sp>
        <p:sp>
          <p:nvSpPr>
            <p:cNvPr id="47" name="combine_title" descr="Editable text; source id combine_title"/>
            <p:cNvSpPr txBox="1"/>
            <p:nvPr/>
          </p:nvSpPr>
          <p:spPr>
            <a:xfrm>
              <a:off x="3647184" y="884878"/>
              <a:ext cx="680387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Combine prices</a:t>
              </a:r>
            </a:p>
          </p:txBody>
        </p:sp>
        <p:grpSp>
          <p:nvGrpSpPr>
            <p:cNvPr id="176" name="cost_maps" descr="cost maps"/>
            <p:cNvGrpSpPr/>
            <p:nvPr/>
          </p:nvGrpSpPr>
          <p:grpSpPr>
            <a:xfrm>
              <a:off x="351745" y="1103909"/>
              <a:ext cx="713189" cy="840157"/>
              <a:chOff x="351745" y="1103909"/>
              <a:chExt cx="713189" cy="840157"/>
            </a:xfrm>
          </p:grpSpPr>
          <p:grpSp>
            <p:nvGrpSpPr>
              <p:cNvPr id="170" name="cost_map1" descr="cost map1"/>
              <p:cNvGrpSpPr/>
              <p:nvPr/>
            </p:nvGrpSpPr>
            <p:grpSpPr>
              <a:xfrm>
                <a:off x="417423" y="1103909"/>
                <a:ext cx="361599" cy="155402"/>
                <a:chOff x="417423" y="1103909"/>
                <a:chExt cx="361599" cy="155402"/>
              </a:xfrm>
            </p:grpSpPr>
            <p:sp>
              <p:nvSpPr>
                <p:cNvPr id="48" name="cost_map1_0_0" descr="Editable shape; source id cost_map1_0_0"/>
                <p:cNvSpPr/>
                <p:nvPr/>
              </p:nvSpPr>
              <p:spPr>
                <a:xfrm>
                  <a:off x="417423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cost_map1_0_1" descr="Editable shape; source id cost_map1_0_1"/>
                <p:cNvSpPr/>
                <p:nvPr/>
              </p:nvSpPr>
              <p:spPr>
                <a:xfrm>
                  <a:off x="508577" y="1103909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cost_map1_0_2" descr="Editable shape; source id cost_map1_0_2"/>
                <p:cNvSpPr/>
                <p:nvPr/>
              </p:nvSpPr>
              <p:spPr>
                <a:xfrm>
                  <a:off x="599732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cost_map1_0_3" descr="Editable shape; source id cost_map1_0_3"/>
                <p:cNvSpPr/>
                <p:nvPr/>
              </p:nvSpPr>
              <p:spPr>
                <a:xfrm>
                  <a:off x="690886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cost_map1_1_0" descr="Editable shape; source id cost_map1_1_0"/>
                <p:cNvSpPr/>
                <p:nvPr/>
              </p:nvSpPr>
              <p:spPr>
                <a:xfrm>
                  <a:off x="417423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cost_map1_1_1" descr="Editable shape; source id cost_map1_1_1"/>
                <p:cNvSpPr/>
                <p:nvPr/>
              </p:nvSpPr>
              <p:spPr>
                <a:xfrm>
                  <a:off x="508577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cost_map1_1_2" descr="Editable shape; source id cost_map1_1_2"/>
                <p:cNvSpPr/>
                <p:nvPr/>
              </p:nvSpPr>
              <p:spPr>
                <a:xfrm>
                  <a:off x="599732" y="1156716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cost_map1_1_3" descr="Editable shape; source id cost_map1_1_3"/>
                <p:cNvSpPr/>
                <p:nvPr/>
              </p:nvSpPr>
              <p:spPr>
                <a:xfrm>
                  <a:off x="690886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cost_map1_2_0" descr="Editable shape; source id cost_map1_2_0"/>
                <p:cNvSpPr/>
                <p:nvPr/>
              </p:nvSpPr>
              <p:spPr>
                <a:xfrm>
                  <a:off x="417423" y="1209522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cost_map1_2_1" descr="Editable shape; source id cost_map1_2_1"/>
                <p:cNvSpPr/>
                <p:nvPr/>
              </p:nvSpPr>
              <p:spPr>
                <a:xfrm>
                  <a:off x="508577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cost_map1_2_2" descr="Editable shape; source id cost_map1_2_2"/>
                <p:cNvSpPr/>
                <p:nvPr/>
              </p:nvSpPr>
              <p:spPr>
                <a:xfrm>
                  <a:off x="599732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cost_map1_2_3" descr="Editable shape; source id cost_map1_2_3"/>
                <p:cNvSpPr/>
                <p:nvPr/>
              </p:nvSpPr>
              <p:spPr>
                <a:xfrm>
                  <a:off x="690886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1" name="cost_map_label1" descr="Editable formula parts and native mathematical delimiters."/>
              <p:cNvGrpSpPr/>
              <p:nvPr/>
            </p:nvGrpSpPr>
            <p:grpSpPr>
              <a:xfrm>
                <a:off x="841624" y="1129823"/>
                <a:ext cx="95790" cy="121619"/>
                <a:chOff x="841624" y="1129823"/>
                <a:chExt cx="95790" cy="121619"/>
              </a:xfrm>
            </p:grpSpPr>
            <p:sp>
              <p:nvSpPr>
                <p:cNvPr id="60" name="cost_map_label1_0" descr="Editable text; source id cost_map_label1_0"/>
                <p:cNvSpPr txBox="1"/>
                <p:nvPr/>
              </p:nvSpPr>
              <p:spPr>
                <a:xfrm>
                  <a:off x="841624" y="1129823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61" name="cost_map_label1_1" descr="Editable text; source id cost_map_label1_1"/>
                <p:cNvSpPr txBox="1"/>
                <p:nvPr/>
              </p:nvSpPr>
              <p:spPr>
                <a:xfrm>
                  <a:off x="903284" y="1178481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172" name="cost_map2" descr="cost map2"/>
              <p:cNvGrpSpPr/>
              <p:nvPr/>
            </p:nvGrpSpPr>
            <p:grpSpPr>
              <a:xfrm>
                <a:off x="417423" y="1337767"/>
                <a:ext cx="361599" cy="155402"/>
                <a:chOff x="417423" y="1337767"/>
                <a:chExt cx="361599" cy="155402"/>
              </a:xfrm>
            </p:grpSpPr>
            <p:sp>
              <p:nvSpPr>
                <p:cNvPr id="62" name="cost_map2_0_0" descr="Editable shape; source id cost_map2_0_0"/>
                <p:cNvSpPr/>
                <p:nvPr/>
              </p:nvSpPr>
              <p:spPr>
                <a:xfrm>
                  <a:off x="417423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3" name="cost_map2_0_1" descr="Editable shape; source id cost_map2_0_1"/>
                <p:cNvSpPr/>
                <p:nvPr/>
              </p:nvSpPr>
              <p:spPr>
                <a:xfrm>
                  <a:off x="508577" y="1337767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" name="cost_map2_0_2" descr="Editable shape; source id cost_map2_0_2"/>
                <p:cNvSpPr/>
                <p:nvPr/>
              </p:nvSpPr>
              <p:spPr>
                <a:xfrm>
                  <a:off x="599732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5" name="cost_map2_0_3" descr="Editable shape; source id cost_map2_0_3"/>
                <p:cNvSpPr/>
                <p:nvPr/>
              </p:nvSpPr>
              <p:spPr>
                <a:xfrm>
                  <a:off x="690886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cost_map2_1_0" descr="Editable shape; source id cost_map2_1_0"/>
                <p:cNvSpPr/>
                <p:nvPr/>
              </p:nvSpPr>
              <p:spPr>
                <a:xfrm>
                  <a:off x="417423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cost_map2_1_1" descr="Editable shape; source id cost_map2_1_1"/>
                <p:cNvSpPr/>
                <p:nvPr/>
              </p:nvSpPr>
              <p:spPr>
                <a:xfrm>
                  <a:off x="508577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cost_map2_1_2" descr="Editable shape; source id cost_map2_1_2"/>
                <p:cNvSpPr/>
                <p:nvPr/>
              </p:nvSpPr>
              <p:spPr>
                <a:xfrm>
                  <a:off x="599732" y="1390573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" name="cost_map2_1_3" descr="Editable shape; source id cost_map2_1_3"/>
                <p:cNvSpPr/>
                <p:nvPr/>
              </p:nvSpPr>
              <p:spPr>
                <a:xfrm>
                  <a:off x="690886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" name="cost_map2_2_0" descr="Editable shape; source id cost_map2_2_0"/>
                <p:cNvSpPr/>
                <p:nvPr/>
              </p:nvSpPr>
              <p:spPr>
                <a:xfrm>
                  <a:off x="417423" y="1443380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cost_map2_2_1" descr="Editable shape; source id cost_map2_2_1"/>
                <p:cNvSpPr/>
                <p:nvPr/>
              </p:nvSpPr>
              <p:spPr>
                <a:xfrm>
                  <a:off x="508577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cost_map2_2_2" descr="Editable shape; source id cost_map2_2_2"/>
                <p:cNvSpPr/>
                <p:nvPr/>
              </p:nvSpPr>
              <p:spPr>
                <a:xfrm>
                  <a:off x="599732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cost_map2_2_3" descr="Editable shape; source id cost_map2_2_3"/>
                <p:cNvSpPr/>
                <p:nvPr/>
              </p:nvSpPr>
              <p:spPr>
                <a:xfrm>
                  <a:off x="690886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3" name="cost_map_label2" descr="Editable formula parts and native mathematical delimiters."/>
              <p:cNvGrpSpPr/>
              <p:nvPr/>
            </p:nvGrpSpPr>
            <p:grpSpPr>
              <a:xfrm>
                <a:off x="841624" y="1363681"/>
                <a:ext cx="95790" cy="121619"/>
                <a:chOff x="841624" y="1363681"/>
                <a:chExt cx="95790" cy="121619"/>
              </a:xfrm>
            </p:grpSpPr>
            <p:sp>
              <p:nvSpPr>
                <p:cNvPr id="74" name="cost_map_label2_0" descr="Editable text; source id cost_map_label2_0"/>
                <p:cNvSpPr txBox="1"/>
                <p:nvPr/>
              </p:nvSpPr>
              <p:spPr>
                <a:xfrm>
                  <a:off x="841624" y="1363681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5" name="cost_map_label2_1" descr="Editable text; source id cost_map_label2_1"/>
                <p:cNvSpPr txBox="1"/>
                <p:nvPr/>
              </p:nvSpPr>
              <p:spPr>
                <a:xfrm>
                  <a:off x="903284" y="1412339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174" name="cost_map3" descr="cost map3"/>
              <p:cNvGrpSpPr/>
              <p:nvPr/>
            </p:nvGrpSpPr>
            <p:grpSpPr>
              <a:xfrm>
                <a:off x="417423" y="1571625"/>
                <a:ext cx="361599" cy="155402"/>
                <a:chOff x="417423" y="1571625"/>
                <a:chExt cx="361599" cy="155402"/>
              </a:xfrm>
            </p:grpSpPr>
            <p:sp>
              <p:nvSpPr>
                <p:cNvPr id="76" name="cost_map3_0_0" descr="Editable shape; source id cost_map3_0_0"/>
                <p:cNvSpPr/>
                <p:nvPr/>
              </p:nvSpPr>
              <p:spPr>
                <a:xfrm>
                  <a:off x="417423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cost_map3_0_1" descr="Editable shape; source id cost_map3_0_1"/>
                <p:cNvSpPr/>
                <p:nvPr/>
              </p:nvSpPr>
              <p:spPr>
                <a:xfrm>
                  <a:off x="508577" y="1571625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cost_map3_0_2" descr="Editable shape; source id cost_map3_0_2"/>
                <p:cNvSpPr/>
                <p:nvPr/>
              </p:nvSpPr>
              <p:spPr>
                <a:xfrm>
                  <a:off x="599732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" name="cost_map3_0_3" descr="Editable shape; source id cost_map3_0_3"/>
                <p:cNvSpPr/>
                <p:nvPr/>
              </p:nvSpPr>
              <p:spPr>
                <a:xfrm>
                  <a:off x="690886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cost_map3_1_0" descr="Editable shape; source id cost_map3_1_0"/>
                <p:cNvSpPr/>
                <p:nvPr/>
              </p:nvSpPr>
              <p:spPr>
                <a:xfrm>
                  <a:off x="417423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cost_map3_1_1" descr="Editable shape; source id cost_map3_1_1"/>
                <p:cNvSpPr/>
                <p:nvPr/>
              </p:nvSpPr>
              <p:spPr>
                <a:xfrm>
                  <a:off x="508577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cost_map3_1_2" descr="Editable shape; source id cost_map3_1_2"/>
                <p:cNvSpPr/>
                <p:nvPr/>
              </p:nvSpPr>
              <p:spPr>
                <a:xfrm>
                  <a:off x="599732" y="1624431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cost_map3_1_3" descr="Editable shape; source id cost_map3_1_3"/>
                <p:cNvSpPr/>
                <p:nvPr/>
              </p:nvSpPr>
              <p:spPr>
                <a:xfrm>
                  <a:off x="690886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4" name="cost_map3_2_0" descr="Editable shape; source id cost_map3_2_0"/>
                <p:cNvSpPr/>
                <p:nvPr/>
              </p:nvSpPr>
              <p:spPr>
                <a:xfrm>
                  <a:off x="417423" y="1677238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cost_map3_2_1" descr="Editable shape; source id cost_map3_2_1"/>
                <p:cNvSpPr/>
                <p:nvPr/>
              </p:nvSpPr>
              <p:spPr>
                <a:xfrm>
                  <a:off x="508577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cost_map3_2_2" descr="Editable shape; source id cost_map3_2_2"/>
                <p:cNvSpPr/>
                <p:nvPr/>
              </p:nvSpPr>
              <p:spPr>
                <a:xfrm>
                  <a:off x="599732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cost_map3_2_3" descr="Editable shape; source id cost_map3_2_3"/>
                <p:cNvSpPr/>
                <p:nvPr/>
              </p:nvSpPr>
              <p:spPr>
                <a:xfrm>
                  <a:off x="690886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5" name="cost_map_label3" descr="Editable formula parts and native mathematical delimiters."/>
              <p:cNvGrpSpPr/>
              <p:nvPr/>
            </p:nvGrpSpPr>
            <p:grpSpPr>
              <a:xfrm>
                <a:off x="841624" y="1597539"/>
                <a:ext cx="95790" cy="121619"/>
                <a:chOff x="841624" y="1597539"/>
                <a:chExt cx="95790" cy="121619"/>
              </a:xfrm>
            </p:grpSpPr>
            <p:sp>
              <p:nvSpPr>
                <p:cNvPr id="88" name="cost_map_label3_0" descr="Editable text; source id cost_map_label3_0"/>
                <p:cNvSpPr txBox="1"/>
                <p:nvPr/>
              </p:nvSpPr>
              <p:spPr>
                <a:xfrm>
                  <a:off x="841624" y="1597539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89" name="cost_map_label3_1" descr="Editable text; source id cost_map_label3_1"/>
                <p:cNvSpPr txBox="1"/>
                <p:nvPr/>
              </p:nvSpPr>
              <p:spPr>
                <a:xfrm>
                  <a:off x="903284" y="1646197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90" name="shared_states" descr="Editable text; source id shared_states"/>
              <p:cNvSpPr txBox="1"/>
              <p:nvPr/>
            </p:nvSpPr>
            <p:spPr>
              <a:xfrm>
                <a:off x="351745" y="1834940"/>
                <a:ext cx="71318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Shared state space</a:t>
                </a:r>
              </a:p>
            </p:txBody>
          </p:sp>
        </p:grpSp>
        <p:grpSp>
          <p:nvGrpSpPr>
            <p:cNvPr id="180" name="priced_graph" descr="priced graph"/>
            <p:cNvGrpSpPr/>
            <p:nvPr/>
          </p:nvGrpSpPr>
          <p:grpSpPr>
            <a:xfrm>
              <a:off x="1574139" y="1108938"/>
              <a:ext cx="1289990" cy="686485"/>
              <a:chOff x="1574139" y="1108938"/>
              <a:chExt cx="1289990" cy="686485"/>
            </a:xfrm>
          </p:grpSpPr>
          <p:sp>
            <p:nvSpPr>
              <p:cNvPr id="91" name="priced_graph_edge0" descr="Editable line; source id priced_graph_edge0"/>
              <p:cNvSpPr/>
              <p:nvPr/>
            </p:nvSpPr>
            <p:spPr>
              <a:xfrm>
                <a:off x="1678426" y="1208766"/>
                <a:ext cx="218186" cy="190052"/>
              </a:xfrm>
              <a:custGeom>
                <a:avLst/>
                <a:gdLst/>
                <a:ahLst/>
                <a:cxnLst/>
                <a:rect l="l" t="t" r="r" b="b"/>
                <a:pathLst>
                  <a:path w="76963" h="67039">
                    <a:moveTo>
                      <a:pt x="0" y="65163"/>
                    </a:moveTo>
                    <a:lnTo>
                      <a:pt x="68111" y="6040"/>
                    </a:lnTo>
                    <a:lnTo>
                      <a:pt x="66309" y="3963"/>
                    </a:lnTo>
                    <a:lnTo>
                      <a:pt x="76963" y="0"/>
                    </a:lnTo>
                    <a:lnTo>
                      <a:pt x="71542" y="9992"/>
                    </a:lnTo>
                    <a:lnTo>
                      <a:pt x="69739" y="7915"/>
                    </a:lnTo>
                    <a:lnTo>
                      <a:pt x="1628" y="67039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priced_graph_edge1" descr="Editable line; source id priced_graph_edge1"/>
              <p:cNvSpPr/>
              <p:nvPr/>
            </p:nvSpPr>
            <p:spPr>
              <a:xfrm>
                <a:off x="2015779" y="1152946"/>
                <a:ext cx="371330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130983" h="7982">
                    <a:moveTo>
                      <a:pt x="0" y="2749"/>
                    </a:moveTo>
                    <a:lnTo>
                      <a:pt x="120339" y="2749"/>
                    </a:lnTo>
                    <a:lnTo>
                      <a:pt x="120339" y="0"/>
                    </a:lnTo>
                    <a:lnTo>
                      <a:pt x="130983" y="3991"/>
                    </a:lnTo>
                    <a:lnTo>
                      <a:pt x="120339" y="7982"/>
                    </a:lnTo>
                    <a:lnTo>
                      <a:pt x="120339" y="5233"/>
                    </a:lnTo>
                    <a:lnTo>
                      <a:pt x="0" y="5233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priced_graph_edge2" descr="Editable line; source id priced_graph_edge2"/>
              <p:cNvSpPr/>
              <p:nvPr/>
            </p:nvSpPr>
            <p:spPr>
              <a:xfrm>
                <a:off x="2506339" y="1203283"/>
                <a:ext cx="248965" cy="195583"/>
              </a:xfrm>
              <a:custGeom>
                <a:avLst/>
                <a:gdLst/>
                <a:ahLst/>
                <a:cxnLst/>
                <a:rect l="l" t="t" r="r" b="b"/>
                <a:pathLst>
                  <a:path w="87820" h="68990">
                    <a:moveTo>
                      <a:pt x="1529" y="0"/>
                    </a:moveTo>
                    <a:lnTo>
                      <a:pt x="80197" y="61459"/>
                    </a:lnTo>
                    <a:lnTo>
                      <a:pt x="81890" y="59292"/>
                    </a:lnTo>
                    <a:lnTo>
                      <a:pt x="87820" y="68990"/>
                    </a:lnTo>
                    <a:lnTo>
                      <a:pt x="76975" y="65583"/>
                    </a:lnTo>
                    <a:lnTo>
                      <a:pt x="78668" y="63416"/>
                    </a:lnTo>
                    <a:lnTo>
                      <a:pt x="0" y="195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riced_graph_edge3" descr="Editable line; source id priced_graph_edge3"/>
              <p:cNvSpPr/>
              <p:nvPr/>
            </p:nvSpPr>
            <p:spPr>
              <a:xfrm>
                <a:off x="1697355" y="1429350"/>
                <a:ext cx="39491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7983">
                    <a:moveTo>
                      <a:pt x="0" y="3060"/>
                    </a:moveTo>
                    <a:lnTo>
                      <a:pt x="128659" y="3060"/>
                    </a:lnTo>
                    <a:lnTo>
                      <a:pt x="128659" y="0"/>
                    </a:lnTo>
                    <a:lnTo>
                      <a:pt x="139303" y="3991"/>
                    </a:lnTo>
                    <a:lnTo>
                      <a:pt x="128659" y="7983"/>
                    </a:lnTo>
                    <a:lnTo>
                      <a:pt x="128659" y="4922"/>
                    </a:lnTo>
                    <a:lnTo>
                      <a:pt x="0" y="4922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riced_graph_edge4" descr="Editable line; source id priced_graph_edge4"/>
              <p:cNvSpPr/>
              <p:nvPr/>
            </p:nvSpPr>
            <p:spPr>
              <a:xfrm>
                <a:off x="1987146" y="1216497"/>
                <a:ext cx="131666" cy="170321"/>
              </a:xfrm>
              <a:custGeom>
                <a:avLst/>
                <a:gdLst/>
                <a:ahLst/>
                <a:cxnLst/>
                <a:rect l="l" t="t" r="r" b="b"/>
                <a:pathLst>
                  <a:path w="46444" h="60079">
                    <a:moveTo>
                      <a:pt x="1477" y="0"/>
                    </a:moveTo>
                    <a:lnTo>
                      <a:pt x="40699" y="51070"/>
                    </a:lnTo>
                    <a:lnTo>
                      <a:pt x="43126" y="49206"/>
                    </a:lnTo>
                    <a:lnTo>
                      <a:pt x="46444" y="60079"/>
                    </a:lnTo>
                    <a:lnTo>
                      <a:pt x="36795" y="54069"/>
                    </a:lnTo>
                    <a:lnTo>
                      <a:pt x="39222" y="52205"/>
                    </a:lnTo>
                    <a:lnTo>
                      <a:pt x="0" y="1135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riced_graph_edge5" descr="Editable line; source id priced_graph_edge5"/>
              <p:cNvSpPr/>
              <p:nvPr/>
            </p:nvSpPr>
            <p:spPr>
              <a:xfrm>
                <a:off x="2228060" y="1429350"/>
                <a:ext cx="512854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80904" h="7983">
                    <a:moveTo>
                      <a:pt x="0" y="2749"/>
                    </a:moveTo>
                    <a:lnTo>
                      <a:pt x="170260" y="2749"/>
                    </a:lnTo>
                    <a:lnTo>
                      <a:pt x="170260" y="0"/>
                    </a:lnTo>
                    <a:lnTo>
                      <a:pt x="180904" y="3991"/>
                    </a:lnTo>
                    <a:lnTo>
                      <a:pt x="170260" y="7983"/>
                    </a:lnTo>
                    <a:lnTo>
                      <a:pt x="170260" y="5233"/>
                    </a:lnTo>
                    <a:lnTo>
                      <a:pt x="0" y="5233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priced_graph_edge6" descr="Editable line; source id priced_graph_edge6"/>
              <p:cNvSpPr/>
              <p:nvPr/>
            </p:nvSpPr>
            <p:spPr>
              <a:xfrm>
                <a:off x="1661723" y="1497777"/>
                <a:ext cx="110107" cy="183869"/>
              </a:xfrm>
              <a:custGeom>
                <a:avLst/>
                <a:gdLst/>
                <a:ahLst/>
                <a:cxnLst/>
                <a:rect l="l" t="t" r="r" b="b"/>
                <a:pathLst>
                  <a:path w="38839" h="64858">
                    <a:moveTo>
                      <a:pt x="1603" y="0"/>
                    </a:moveTo>
                    <a:lnTo>
                      <a:pt x="34227" y="55221"/>
                    </a:lnTo>
                    <a:lnTo>
                      <a:pt x="36861" y="53664"/>
                    </a:lnTo>
                    <a:lnTo>
                      <a:pt x="38839" y="64858"/>
                    </a:lnTo>
                    <a:lnTo>
                      <a:pt x="29988" y="57725"/>
                    </a:lnTo>
                    <a:lnTo>
                      <a:pt x="32623" y="56168"/>
                    </a:lnTo>
                    <a:lnTo>
                      <a:pt x="0" y="947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priced_graph_edge7" descr="Editable line; source id priced_graph_edge7"/>
              <p:cNvSpPr/>
              <p:nvPr/>
            </p:nvSpPr>
            <p:spPr>
              <a:xfrm>
                <a:off x="1874256" y="1728786"/>
                <a:ext cx="418507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47624" h="7984">
                    <a:moveTo>
                      <a:pt x="0" y="3061"/>
                    </a:moveTo>
                    <a:lnTo>
                      <a:pt x="136980" y="3061"/>
                    </a:lnTo>
                    <a:lnTo>
                      <a:pt x="136980" y="0"/>
                    </a:lnTo>
                    <a:lnTo>
                      <a:pt x="147624" y="3992"/>
                    </a:lnTo>
                    <a:lnTo>
                      <a:pt x="136980" y="7984"/>
                    </a:lnTo>
                    <a:lnTo>
                      <a:pt x="136980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riced_graph_edge8" descr="Editable line; source id priced_graph_edge8"/>
              <p:cNvSpPr/>
              <p:nvPr/>
            </p:nvSpPr>
            <p:spPr>
              <a:xfrm>
                <a:off x="2428551" y="1728786"/>
                <a:ext cx="312363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10183" h="7984">
                    <a:moveTo>
                      <a:pt x="0" y="3061"/>
                    </a:moveTo>
                    <a:lnTo>
                      <a:pt x="99539" y="3061"/>
                    </a:lnTo>
                    <a:lnTo>
                      <a:pt x="99539" y="0"/>
                    </a:lnTo>
                    <a:lnTo>
                      <a:pt x="110183" y="3992"/>
                    </a:lnTo>
                    <a:lnTo>
                      <a:pt x="99539" y="7984"/>
                    </a:lnTo>
                    <a:lnTo>
                      <a:pt x="99539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riced_graph_edge9" descr="Editable line; source id priced_graph_edge9"/>
              <p:cNvSpPr/>
              <p:nvPr/>
            </p:nvSpPr>
            <p:spPr>
              <a:xfrm>
                <a:off x="2797494" y="1508559"/>
                <a:ext cx="22629" cy="1636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57726">
                    <a:moveTo>
                      <a:pt x="3060" y="57726"/>
                    </a:moveTo>
                    <a:lnTo>
                      <a:pt x="3060" y="10644"/>
                    </a:lnTo>
                    <a:lnTo>
                      <a:pt x="0" y="10644"/>
                    </a:lnTo>
                    <a:lnTo>
                      <a:pt x="3991" y="0"/>
                    </a:lnTo>
                    <a:lnTo>
                      <a:pt x="7982" y="10644"/>
                    </a:lnTo>
                    <a:lnTo>
                      <a:pt x="4922" y="10644"/>
                    </a:lnTo>
                    <a:lnTo>
                      <a:pt x="4922" y="57726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riced_graph_node0" descr="Editable shape; source id priced_graph_node0"/>
              <p:cNvSpPr/>
              <p:nvPr/>
            </p:nvSpPr>
            <p:spPr>
              <a:xfrm>
                <a:off x="1574139" y="1385343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priced_graph_node1" descr="Editable shape; source id priced_graph_node1"/>
              <p:cNvSpPr/>
              <p:nvPr/>
            </p:nvSpPr>
            <p:spPr>
              <a:xfrm>
                <a:off x="1892563" y="1108938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priced_graph_node2" descr="Editable shape; source id priced_graph_node2"/>
              <p:cNvSpPr/>
              <p:nvPr/>
            </p:nvSpPr>
            <p:spPr>
              <a:xfrm>
                <a:off x="2399682" y="1108938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priced_graph_node3" descr="Editable shape; source id priced_graph_node3"/>
              <p:cNvSpPr/>
              <p:nvPr/>
            </p:nvSpPr>
            <p:spPr>
              <a:xfrm>
                <a:off x="2753487" y="1385343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priced_graph_node4" descr="Editable shape; source id priced_graph_node4"/>
              <p:cNvSpPr/>
              <p:nvPr/>
            </p:nvSpPr>
            <p:spPr>
              <a:xfrm>
                <a:off x="2104845" y="1385343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priced_graph_node5" descr="Editable shape; source id priced_graph_node5"/>
              <p:cNvSpPr/>
              <p:nvPr/>
            </p:nvSpPr>
            <p:spPr>
              <a:xfrm>
                <a:off x="1751041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priced_graph_node6" descr="Editable shape; source id priced_graph_node6"/>
              <p:cNvSpPr/>
              <p:nvPr/>
            </p:nvSpPr>
            <p:spPr>
              <a:xfrm>
                <a:off x="2305334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priced_graph_node7" descr="Editable shape; source id priced_graph_node7"/>
              <p:cNvSpPr/>
              <p:nvPr/>
            </p:nvSpPr>
            <p:spPr>
              <a:xfrm>
                <a:off x="2753487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9" name="priced_graph_hard_a" descr="Editable line; source id priced_graph_hard_a"/>
              <p:cNvCxnSpPr/>
              <p:nvPr/>
            </p:nvCxnSpPr>
            <p:spPr>
              <a:xfrm>
                <a:off x="2197940" y="1497080"/>
                <a:ext cx="37289" cy="55693"/>
              </a:xfrm>
              <a:prstGeom prst="line">
                <a:avLst/>
              </a:prstGeom>
              <a:ln w="4777" cap="rnd">
                <a:solidFill>
                  <a:srgbClr val="77858D"/>
                </a:solidFill>
                <a:custDash>
                  <a:ds d="263158" sp="263158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priced_graph_hard_b" descr="Editable line; source id priced_graph_hard_b"/>
              <p:cNvCxnSpPr/>
              <p:nvPr/>
            </p:nvCxnSpPr>
            <p:spPr>
              <a:xfrm>
                <a:off x="2285593" y="1627994"/>
                <a:ext cx="37289" cy="55692"/>
              </a:xfrm>
              <a:prstGeom prst="line">
                <a:avLst/>
              </a:prstGeom>
              <a:ln w="4777" cap="rnd">
                <a:solidFill>
                  <a:srgbClr val="77858D"/>
                </a:solidFill>
                <a:custDash>
                  <a:ds d="263158" sp="263158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priced_graph_cross1" descr="Editable line; source id priced_graph_cross1"/>
              <p:cNvCxnSpPr/>
              <p:nvPr/>
            </p:nvCxnSpPr>
            <p:spPr>
              <a:xfrm>
                <a:off x="2235265" y="1565237"/>
                <a:ext cx="50292" cy="50292"/>
              </a:xfrm>
              <a:prstGeom prst="line">
                <a:avLst/>
              </a:prstGeom>
              <a:ln w="7543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priced_graph_cross2" descr="Editable line; source id priced_graph_cross2"/>
              <p:cNvCxnSpPr/>
              <p:nvPr/>
            </p:nvCxnSpPr>
            <p:spPr>
              <a:xfrm flipV="1">
                <a:off x="2235265" y="1565237"/>
                <a:ext cx="50292" cy="50292"/>
              </a:xfrm>
              <a:prstGeom prst="line">
                <a:avLst/>
              </a:prstGeom>
              <a:ln w="7543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7" name="priced_graph_cost1" descr="Editable formula parts and native mathematical delimiters."/>
              <p:cNvGrpSpPr/>
              <p:nvPr/>
            </p:nvGrpSpPr>
            <p:grpSpPr>
              <a:xfrm>
                <a:off x="1711384" y="1166916"/>
                <a:ext cx="70873" cy="115887"/>
                <a:chOff x="1711384" y="1166916"/>
                <a:chExt cx="70873" cy="115887"/>
              </a:xfrm>
            </p:grpSpPr>
            <p:sp>
              <p:nvSpPr>
                <p:cNvPr id="113" name="priced_graph_cost1_0" descr="Editable text; source id priced_graph_cost1_0"/>
                <p:cNvSpPr txBox="1"/>
                <p:nvPr/>
              </p:nvSpPr>
              <p:spPr>
                <a:xfrm>
                  <a:off x="1711384" y="1166916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4" name="priced_graph_cost1_1" descr="Editable text; source id priced_graph_cost1_1"/>
                <p:cNvSpPr txBox="1"/>
                <p:nvPr/>
              </p:nvSpPr>
              <p:spPr>
                <a:xfrm>
                  <a:off x="1749656" y="1213659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178" name="priced_graph_cost2" descr="Editable formula parts and native mathematical delimiters."/>
              <p:cNvGrpSpPr/>
              <p:nvPr/>
            </p:nvGrpSpPr>
            <p:grpSpPr>
              <a:xfrm>
                <a:off x="2654862" y="1166916"/>
                <a:ext cx="70873" cy="115887"/>
                <a:chOff x="2654862" y="1166916"/>
                <a:chExt cx="70873" cy="115887"/>
              </a:xfrm>
            </p:grpSpPr>
            <p:sp>
              <p:nvSpPr>
                <p:cNvPr id="115" name="priced_graph_cost2_0" descr="Editable text; source id priced_graph_cost2_0"/>
                <p:cNvSpPr txBox="1"/>
                <p:nvPr/>
              </p:nvSpPr>
              <p:spPr>
                <a:xfrm>
                  <a:off x="2654862" y="1166916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6" name="priced_graph_cost2_1" descr="Editable text; source id priced_graph_cost2_1"/>
                <p:cNvSpPr txBox="1"/>
                <p:nvPr/>
              </p:nvSpPr>
              <p:spPr>
                <a:xfrm>
                  <a:off x="2693134" y="1213659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179" name="priced_graph_cost3" descr="Editable formula parts and native mathematical delimiters."/>
              <p:cNvGrpSpPr/>
              <p:nvPr/>
            </p:nvGrpSpPr>
            <p:grpSpPr>
              <a:xfrm>
                <a:off x="2006221" y="1633349"/>
                <a:ext cx="70873" cy="115887"/>
                <a:chOff x="2006221" y="1633349"/>
                <a:chExt cx="70873" cy="115887"/>
              </a:xfrm>
            </p:grpSpPr>
            <p:sp>
              <p:nvSpPr>
                <p:cNvPr id="117" name="priced_graph_cost3_0" descr="Editable text; source id priced_graph_cost3_0"/>
                <p:cNvSpPr txBox="1"/>
                <p:nvPr/>
              </p:nvSpPr>
              <p:spPr>
                <a:xfrm>
                  <a:off x="2006221" y="1633349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8" name="priced_graph_cost3_1" descr="Editable text; source id priced_graph_cost3_1"/>
                <p:cNvSpPr txBox="1"/>
                <p:nvPr/>
              </p:nvSpPr>
              <p:spPr>
                <a:xfrm>
                  <a:off x="2044493" y="1680092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</p:grpSp>
        <p:sp>
          <p:nvSpPr>
            <p:cNvPr id="119" name="graph_constraints" descr="Editable text; source id graph_constraints"/>
            <p:cNvSpPr txBox="1"/>
            <p:nvPr/>
          </p:nvSpPr>
          <p:spPr>
            <a:xfrm>
              <a:off x="1815193" y="1850028"/>
              <a:ext cx="854105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Budgets + flow balance</a:t>
              </a:r>
            </a:p>
          </p:txBody>
        </p:sp>
        <p:sp>
          <p:nvSpPr>
            <p:cNvPr id="120" name="graph_hard" descr="Editable text; source id graph_hard"/>
            <p:cNvSpPr txBox="1"/>
            <p:nvPr/>
          </p:nvSpPr>
          <p:spPr>
            <a:xfrm>
              <a:off x="1817258" y="1961379"/>
              <a:ext cx="849975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×  excluded graph edge</a:t>
              </a:r>
            </a:p>
          </p:txBody>
        </p:sp>
        <p:sp>
          <p:nvSpPr>
            <p:cNvPr id="121" name="maps_to_graph" descr="Editable line; source id maps_to_graph"/>
            <p:cNvSpPr/>
            <p:nvPr/>
          </p:nvSpPr>
          <p:spPr>
            <a:xfrm>
              <a:off x="1136599" y="1432066"/>
              <a:ext cx="369646" cy="22631"/>
            </a:xfrm>
            <a:custGeom>
              <a:avLst/>
              <a:gdLst/>
              <a:ahLst/>
              <a:cxnLst/>
              <a:rect l="l" t="t" r="r" b="b"/>
              <a:pathLst>
                <a:path w="130389" h="7983">
                  <a:moveTo>
                    <a:pt x="0" y="2794"/>
                  </a:moveTo>
                  <a:lnTo>
                    <a:pt x="119745" y="2794"/>
                  </a:lnTo>
                  <a:lnTo>
                    <a:pt x="119745" y="0"/>
                  </a:lnTo>
                  <a:lnTo>
                    <a:pt x="130389" y="3991"/>
                  </a:lnTo>
                  <a:lnTo>
                    <a:pt x="119745" y="7983"/>
                  </a:lnTo>
                  <a:lnTo>
                    <a:pt x="119745" y="5188"/>
                  </a:lnTo>
                  <a:lnTo>
                    <a:pt x="0" y="5188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graph_to_prices" descr="Editable line; source id graph_to_prices"/>
            <p:cNvSpPr/>
            <p:nvPr/>
          </p:nvSpPr>
          <p:spPr>
            <a:xfrm>
              <a:off x="2949626" y="1432066"/>
              <a:ext cx="316840" cy="22631"/>
            </a:xfrm>
            <a:custGeom>
              <a:avLst/>
              <a:gdLst/>
              <a:ahLst/>
              <a:cxnLst/>
              <a:rect l="l" t="t" r="r" b="b"/>
              <a:pathLst>
                <a:path w="111762" h="7983">
                  <a:moveTo>
                    <a:pt x="0" y="2794"/>
                  </a:moveTo>
                  <a:lnTo>
                    <a:pt x="101118" y="2794"/>
                  </a:lnTo>
                  <a:lnTo>
                    <a:pt x="101118" y="0"/>
                  </a:lnTo>
                  <a:lnTo>
                    <a:pt x="111762" y="3991"/>
                  </a:lnTo>
                  <a:lnTo>
                    <a:pt x="101118" y="7983"/>
                  </a:lnTo>
                  <a:lnTo>
                    <a:pt x="101118" y="5188"/>
                  </a:lnTo>
                  <a:lnTo>
                    <a:pt x="0" y="5188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5" name="price_combination" descr="price combination"/>
            <p:cNvGrpSpPr/>
            <p:nvPr/>
          </p:nvGrpSpPr>
          <p:grpSpPr>
            <a:xfrm>
              <a:off x="3402789" y="1045356"/>
              <a:ext cx="1154239" cy="742524"/>
              <a:chOff x="3402789" y="1045356"/>
              <a:chExt cx="1154239" cy="742524"/>
            </a:xfrm>
          </p:grpSpPr>
          <p:sp>
            <p:nvSpPr>
              <p:cNvPr id="123" name="price_head_Graph" descr="Editable text; source id price_head_Graph"/>
              <p:cNvSpPr txBox="1"/>
              <p:nvPr/>
            </p:nvSpPr>
            <p:spPr>
              <a:xfrm>
                <a:off x="3402789" y="1045356"/>
                <a:ext cx="243805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Graph</a:t>
                </a:r>
              </a:p>
            </p:txBody>
          </p:sp>
          <p:sp>
            <p:nvSpPr>
              <p:cNvPr id="124" name="price_head_Feedback" descr="Editable text; source id price_head_Feedback"/>
              <p:cNvSpPr txBox="1"/>
              <p:nvPr/>
            </p:nvSpPr>
            <p:spPr>
              <a:xfrm>
                <a:off x="3714775" y="1045356"/>
                <a:ext cx="374213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Feedback</a:t>
                </a:r>
              </a:p>
            </p:txBody>
          </p:sp>
          <p:sp>
            <p:nvSpPr>
              <p:cNvPr id="125" name="price_head_Shared" descr="Editable text; source id price_head_Shared"/>
              <p:cNvSpPr txBox="1"/>
              <p:nvPr/>
            </p:nvSpPr>
            <p:spPr>
              <a:xfrm>
                <a:off x="4277720" y="1045356"/>
                <a:ext cx="279308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Shared</a:t>
                </a:r>
              </a:p>
            </p:txBody>
          </p:sp>
          <p:sp>
            <p:nvSpPr>
              <p:cNvPr id="126" name="graph_price0_panel" descr="Editable shape; source id graph_price0_panel"/>
              <p:cNvSpPr/>
              <p:nvPr/>
            </p:nvSpPr>
            <p:spPr>
              <a:xfrm>
                <a:off x="3462604" y="1189405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eedback_price0_panel" descr="Editable shape; source id feedback_price0_panel"/>
              <p:cNvSpPr/>
              <p:nvPr/>
            </p:nvSpPr>
            <p:spPr>
              <a:xfrm>
                <a:off x="3839794" y="1189405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lus0" descr="Editable text; source id plus0"/>
              <p:cNvSpPr txBox="1"/>
              <p:nvPr/>
            </p:nvSpPr>
            <p:spPr>
              <a:xfrm>
                <a:off x="3676787" y="1187018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29" name="total_arrow0" descr="Editable line; source id total_arrow0"/>
              <p:cNvSpPr/>
              <p:nvPr/>
            </p:nvSpPr>
            <p:spPr>
              <a:xfrm>
                <a:off x="3998214" y="1235924"/>
                <a:ext cx="21625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4">
                    <a:moveTo>
                      <a:pt x="0" y="3016"/>
                    </a:moveTo>
                    <a:lnTo>
                      <a:pt x="65638" y="3016"/>
                    </a:lnTo>
                    <a:lnTo>
                      <a:pt x="65638" y="0"/>
                    </a:lnTo>
                    <a:lnTo>
                      <a:pt x="76282" y="3992"/>
                    </a:lnTo>
                    <a:lnTo>
                      <a:pt x="65638" y="7984"/>
                    </a:lnTo>
                    <a:lnTo>
                      <a:pt x="65638" y="4968"/>
                    </a:lnTo>
                    <a:lnTo>
                      <a:pt x="0" y="496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1" name="total_price0" descr="total price0"/>
              <p:cNvGrpSpPr/>
              <p:nvPr/>
            </p:nvGrpSpPr>
            <p:grpSpPr>
              <a:xfrm>
                <a:off x="4257217" y="1179347"/>
                <a:ext cx="135788" cy="135788"/>
                <a:chOff x="4257217" y="1179347"/>
                <a:chExt cx="135788" cy="135788"/>
              </a:xfrm>
            </p:grpSpPr>
            <p:sp>
              <p:nvSpPr>
                <p:cNvPr id="130" name="total_price0_panel" descr="Editable shape; source id total_price0_panel"/>
                <p:cNvSpPr/>
                <p:nvPr/>
              </p:nvSpPr>
              <p:spPr>
                <a:xfrm>
                  <a:off x="4257217" y="1179347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" name="total_price0_label" descr="Editable text; source id total_price0_label"/>
                <p:cNvSpPr txBox="1"/>
                <p:nvPr/>
              </p:nvSpPr>
              <p:spPr>
                <a:xfrm>
                  <a:off x="4283645" y="1189259"/>
                  <a:ext cx="91438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λ₁</a:t>
                  </a:r>
                </a:p>
              </p:txBody>
            </p:sp>
          </p:grpSp>
          <p:sp>
            <p:nvSpPr>
              <p:cNvPr id="132" name="graph_price1_panel" descr="Editable shape; source id graph_price1_panel"/>
              <p:cNvSpPr/>
              <p:nvPr/>
            </p:nvSpPr>
            <p:spPr>
              <a:xfrm>
                <a:off x="3462604" y="1425778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eedback_price1_panel" descr="Editable shape; source id feedback_price1_panel"/>
              <p:cNvSpPr/>
              <p:nvPr/>
            </p:nvSpPr>
            <p:spPr>
              <a:xfrm>
                <a:off x="3839794" y="1425778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plus1" descr="Editable text; source id plus1"/>
              <p:cNvSpPr txBox="1"/>
              <p:nvPr/>
            </p:nvSpPr>
            <p:spPr>
              <a:xfrm>
                <a:off x="3676787" y="1423391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35" name="total_arrow1" descr="Editable line; source id total_arrow1"/>
              <p:cNvSpPr/>
              <p:nvPr/>
            </p:nvSpPr>
            <p:spPr>
              <a:xfrm>
                <a:off x="3998214" y="1472300"/>
                <a:ext cx="216256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3">
                    <a:moveTo>
                      <a:pt x="0" y="3015"/>
                    </a:moveTo>
                    <a:lnTo>
                      <a:pt x="65638" y="3015"/>
                    </a:lnTo>
                    <a:lnTo>
                      <a:pt x="65638" y="0"/>
                    </a:lnTo>
                    <a:lnTo>
                      <a:pt x="76282" y="3991"/>
                    </a:lnTo>
                    <a:lnTo>
                      <a:pt x="65638" y="7983"/>
                    </a:lnTo>
                    <a:lnTo>
                      <a:pt x="65638" y="4967"/>
                    </a:lnTo>
                    <a:lnTo>
                      <a:pt x="0" y="496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2" name="total_price1" descr="total price1"/>
              <p:cNvGrpSpPr/>
              <p:nvPr/>
            </p:nvGrpSpPr>
            <p:grpSpPr>
              <a:xfrm>
                <a:off x="4257217" y="1415719"/>
                <a:ext cx="135788" cy="135788"/>
                <a:chOff x="4257217" y="1415719"/>
                <a:chExt cx="135788" cy="135788"/>
              </a:xfrm>
            </p:grpSpPr>
            <p:sp>
              <p:nvSpPr>
                <p:cNvPr id="136" name="total_price1_panel" descr="Editable shape; source id total_price1_panel"/>
                <p:cNvSpPr/>
                <p:nvPr/>
              </p:nvSpPr>
              <p:spPr>
                <a:xfrm>
                  <a:off x="4257217" y="1415719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" name="total_price1_label" descr="Editable text; source id total_price1_label"/>
                <p:cNvSpPr txBox="1"/>
                <p:nvPr/>
              </p:nvSpPr>
              <p:spPr>
                <a:xfrm>
                  <a:off x="4281474" y="1425631"/>
                  <a:ext cx="95779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λ₂</a:t>
                  </a:r>
                </a:p>
              </p:txBody>
            </p:sp>
          </p:grpSp>
          <p:sp>
            <p:nvSpPr>
              <p:cNvPr id="138" name="graph_price2_panel" descr="Editable shape; source id graph_price2_panel"/>
              <p:cNvSpPr/>
              <p:nvPr/>
            </p:nvSpPr>
            <p:spPr>
              <a:xfrm>
                <a:off x="3462604" y="1662150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feedback_price2_panel" descr="Editable shape; source id feedback_price2_panel"/>
              <p:cNvSpPr/>
              <p:nvPr/>
            </p:nvSpPr>
            <p:spPr>
              <a:xfrm>
                <a:off x="3839794" y="1662150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plus2" descr="Editable text; source id plus2"/>
              <p:cNvSpPr txBox="1"/>
              <p:nvPr/>
            </p:nvSpPr>
            <p:spPr>
              <a:xfrm>
                <a:off x="3676787" y="1659763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41" name="total_arrow2" descr="Editable line; source id total_arrow2"/>
              <p:cNvSpPr/>
              <p:nvPr/>
            </p:nvSpPr>
            <p:spPr>
              <a:xfrm>
                <a:off x="3998214" y="1708669"/>
                <a:ext cx="21625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4">
                    <a:moveTo>
                      <a:pt x="0" y="3016"/>
                    </a:moveTo>
                    <a:lnTo>
                      <a:pt x="65638" y="3016"/>
                    </a:lnTo>
                    <a:lnTo>
                      <a:pt x="65638" y="0"/>
                    </a:lnTo>
                    <a:lnTo>
                      <a:pt x="76282" y="3992"/>
                    </a:lnTo>
                    <a:lnTo>
                      <a:pt x="65638" y="7984"/>
                    </a:lnTo>
                    <a:lnTo>
                      <a:pt x="65638" y="4968"/>
                    </a:lnTo>
                    <a:lnTo>
                      <a:pt x="0" y="496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3" name="total_price2" descr="total price2"/>
              <p:cNvGrpSpPr/>
              <p:nvPr/>
            </p:nvGrpSpPr>
            <p:grpSpPr>
              <a:xfrm>
                <a:off x="4257217" y="1652092"/>
                <a:ext cx="135788" cy="135788"/>
                <a:chOff x="4257217" y="1652092"/>
                <a:chExt cx="135788" cy="135788"/>
              </a:xfrm>
            </p:grpSpPr>
            <p:sp>
              <p:nvSpPr>
                <p:cNvPr id="142" name="total_price2_panel" descr="Editable shape; source id total_price2_panel"/>
                <p:cNvSpPr/>
                <p:nvPr/>
              </p:nvSpPr>
              <p:spPr>
                <a:xfrm>
                  <a:off x="4257217" y="1652092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3" name="total_price2_label" descr="Editable text; source id total_price2_label"/>
                <p:cNvSpPr txBox="1"/>
                <p:nvPr/>
              </p:nvSpPr>
              <p:spPr>
                <a:xfrm>
                  <a:off x="4280660" y="1662004"/>
                  <a:ext cx="97407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λ₃</a:t>
                  </a:r>
                </a:p>
              </p:txBody>
            </p:sp>
          </p:grpSp>
          <p:grpSp>
            <p:nvGrpSpPr>
              <p:cNvPr id="184" name="price_vector_bracket" descr="One editable routed connector; fixed endpoints."/>
              <p:cNvGrpSpPr/>
              <p:nvPr/>
            </p:nvGrpSpPr>
            <p:grpSpPr>
              <a:xfrm>
                <a:off x="4488561" y="1201978"/>
                <a:ext cx="65379" cy="565785"/>
                <a:chOff x="4488561" y="1201978"/>
                <a:chExt cx="65379" cy="565785"/>
              </a:xfrm>
            </p:grpSpPr>
            <p:cxnSp>
              <p:nvCxnSpPr>
                <p:cNvPr id="144" name="price_vector_bracket_0" descr="Editable line; source id price_vector_bracket_0"/>
                <p:cNvCxnSpPr/>
                <p:nvPr/>
              </p:nvCxnSpPr>
              <p:spPr>
                <a:xfrm>
                  <a:off x="4488561" y="1201978"/>
                  <a:ext cx="65379" cy="0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price_vector_bracket_1" descr="Editable line; source id price_vector_bracket_1"/>
                <p:cNvCxnSpPr/>
                <p:nvPr/>
              </p:nvCxnSpPr>
              <p:spPr>
                <a:xfrm>
                  <a:off x="4553940" y="1201978"/>
                  <a:ext cx="0" cy="565785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price_vector_bracket_2" descr="Editable line; source id price_vector_bracket_2"/>
                <p:cNvCxnSpPr/>
                <p:nvPr/>
              </p:nvCxnSpPr>
              <p:spPr>
                <a:xfrm flipH="1">
                  <a:off x="4488561" y="1767763"/>
                  <a:ext cx="65379" cy="0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6" name="shared_prices_to_actor" descr="One editable routed connector; fixed endpoints."/>
            <p:cNvGrpSpPr/>
            <p:nvPr/>
          </p:nvGrpSpPr>
          <p:grpSpPr>
            <a:xfrm>
              <a:off x="4107598" y="1825599"/>
              <a:ext cx="446342" cy="236373"/>
              <a:chOff x="4107598" y="1825599"/>
              <a:chExt cx="446342" cy="236373"/>
            </a:xfrm>
          </p:grpSpPr>
          <p:cxnSp>
            <p:nvCxnSpPr>
              <p:cNvPr id="147" name="shared_prices_to_actor_0" descr="Editable line; source id shared_prices_to_actor_0"/>
              <p:cNvCxnSpPr/>
              <p:nvPr/>
            </p:nvCxnSpPr>
            <p:spPr>
              <a:xfrm>
                <a:off x="4553940" y="1825599"/>
                <a:ext cx="0" cy="153391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hared_prices_to_actor_1" descr="Editable line; source id shared_prices_to_actor_1"/>
              <p:cNvCxnSpPr/>
              <p:nvPr/>
            </p:nvCxnSpPr>
            <p:spPr>
              <a:xfrm flipH="1">
                <a:off x="4118914" y="1978990"/>
                <a:ext cx="435026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shared_prices_to_actor_2" descr="Editable line; source id shared_prices_to_actor_2"/>
              <p:cNvSpPr/>
              <p:nvPr/>
            </p:nvSpPr>
            <p:spPr>
              <a:xfrm>
                <a:off x="4107598" y="1978990"/>
                <a:ext cx="22634" cy="82982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9271">
                    <a:moveTo>
                      <a:pt x="5012" y="0"/>
                    </a:moveTo>
                    <a:lnTo>
                      <a:pt x="5012" y="18627"/>
                    </a:lnTo>
                    <a:lnTo>
                      <a:pt x="7984" y="18627"/>
                    </a:lnTo>
                    <a:lnTo>
                      <a:pt x="3992" y="29271"/>
                    </a:lnTo>
                    <a:lnTo>
                      <a:pt x="0" y="18627"/>
                    </a:lnTo>
                    <a:lnTo>
                      <a:pt x="2972" y="18627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shared_policy_update" descr="shared policy update"/>
            <p:cNvGrpSpPr/>
            <p:nvPr/>
          </p:nvGrpSpPr>
          <p:grpSpPr>
            <a:xfrm>
              <a:off x="436869" y="2082088"/>
              <a:ext cx="4302964" cy="186080"/>
              <a:chOff x="436869" y="2082088"/>
              <a:chExt cx="4302964" cy="186080"/>
            </a:xfrm>
          </p:grpSpPr>
          <p:sp>
            <p:nvSpPr>
              <p:cNvPr id="150" name="common_update" descr="Editable text; source id common_update"/>
              <p:cNvSpPr txBox="1"/>
              <p:nvPr/>
            </p:nvSpPr>
            <p:spPr>
              <a:xfrm>
                <a:off x="436869" y="2117420"/>
                <a:ext cx="804461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One policy update</a:t>
                </a:r>
              </a:p>
            </p:txBody>
          </p:sp>
          <p:sp>
            <p:nvSpPr>
              <p:cNvPr id="151" name="reward_cost_label" descr="Editable text; source id reward_cost_label"/>
              <p:cNvSpPr txBox="1"/>
              <p:nvPr/>
            </p:nvSpPr>
            <p:spPr>
              <a:xfrm>
                <a:off x="1697003" y="2127022"/>
                <a:ext cx="1004989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Reward + cost advantages</a:t>
                </a:r>
              </a:p>
            </p:txBody>
          </p:sp>
          <p:sp>
            <p:nvSpPr>
              <p:cNvPr id="152" name="advantages_to_actor" descr="Editable line; source id advantages_to_actor"/>
              <p:cNvSpPr/>
              <p:nvPr/>
            </p:nvSpPr>
            <p:spPr>
              <a:xfrm>
                <a:off x="2967228" y="2163815"/>
                <a:ext cx="90274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8433" h="7982">
                    <a:moveTo>
                      <a:pt x="0" y="2971"/>
                    </a:moveTo>
                    <a:lnTo>
                      <a:pt x="307789" y="2971"/>
                    </a:lnTo>
                    <a:lnTo>
                      <a:pt x="307789" y="0"/>
                    </a:lnTo>
                    <a:lnTo>
                      <a:pt x="318433" y="3991"/>
                    </a:lnTo>
                    <a:lnTo>
                      <a:pt x="307789" y="7982"/>
                    </a:lnTo>
                    <a:lnTo>
                      <a:pt x="307789" y="5011"/>
                    </a:lnTo>
                    <a:lnTo>
                      <a:pt x="0" y="5011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7" name="policy" descr="policy"/>
              <p:cNvGrpSpPr/>
              <p:nvPr/>
            </p:nvGrpSpPr>
            <p:grpSpPr>
              <a:xfrm>
                <a:off x="3922776" y="2082088"/>
                <a:ext cx="186080" cy="186080"/>
                <a:chOff x="3922776" y="2082088"/>
                <a:chExt cx="186080" cy="186080"/>
              </a:xfrm>
            </p:grpSpPr>
            <p:sp>
              <p:nvSpPr>
                <p:cNvPr id="153" name="policy_panel" descr="Editable shape; source id policy_panel"/>
                <p:cNvSpPr/>
                <p:nvPr/>
              </p:nvSpPr>
              <p:spPr>
                <a:xfrm>
                  <a:off x="3922776" y="2082088"/>
                  <a:ext cx="186080" cy="186080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4" name="policy_label" descr="Editable text; source id policy_label"/>
                <p:cNvSpPr txBox="1"/>
                <p:nvPr/>
              </p:nvSpPr>
              <p:spPr>
                <a:xfrm>
                  <a:off x="3968330" y="2095815"/>
                  <a:ext cx="103475" cy="156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109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950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950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rPr>
                    <a:t>π</a:t>
                  </a:r>
                </a:p>
              </p:txBody>
            </p:sp>
          </p:grpSp>
          <p:sp>
            <p:nvSpPr>
              <p:cNvPr id="155" name="ppo" descr="Editable text; source id ppo"/>
              <p:cNvSpPr txBox="1"/>
              <p:nvPr/>
            </p:nvSpPr>
            <p:spPr>
              <a:xfrm>
                <a:off x="4230705" y="2119158"/>
                <a:ext cx="509128" cy="115060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</p:grpSp>
      </p:grpSp>
      <p:sp>
        <p:nvSpPr>
          <p:cNvPr id="156" name="schematic" descr="Editable text; source id schematic"/>
          <p:cNvSpPr txBox="1"/>
          <p:nvPr/>
        </p:nvSpPr>
        <p:spPr>
          <a:xfrm>
            <a:off x="187954" y="2403949"/>
            <a:ext cx="38980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Schematic</a:t>
            </a:r>
          </a:p>
        </p:txBody>
      </p:sp>
      <p:sp>
        <p:nvSpPr>
          <p:cNvPr id="157" name="safety_scope" descr="Editable text; source id safety_scope"/>
          <p:cNvSpPr txBox="1"/>
          <p:nvPr/>
        </p:nvSpPr>
        <p:spPr>
          <a:xfrm>
            <a:off x="3230894" y="2403949"/>
            <a:ext cx="1604680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Graph feasibility does not certify policy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serve_title" descr="Editable text; source id observe_title"/>
          <p:cNvSpPr txBox="1"/>
          <p:nvPr/>
        </p:nvSpPr>
        <p:spPr>
          <a:xfrm>
            <a:off x="300861" y="83177"/>
            <a:ext cx="402562" cy="126929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Observe</a:t>
            </a:r>
          </a:p>
        </p:txBody>
      </p:sp>
      <p:sp>
        <p:nvSpPr>
          <p:cNvPr id="3" name="update_title" descr="Editable text; source id update_title"/>
          <p:cNvSpPr txBox="1"/>
          <p:nvPr/>
        </p:nvSpPr>
        <p:spPr>
          <a:xfrm>
            <a:off x="4169629" y="83177"/>
            <a:ext cx="646368" cy="126929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Update policy</a:t>
            </a:r>
          </a:p>
        </p:txBody>
      </p:sp>
      <p:grpSp>
        <p:nvGrpSpPr>
          <p:cNvPr id="156" name="rollout_inputs" descr="rollout inputs"/>
          <p:cNvGrpSpPr/>
          <p:nvPr/>
        </p:nvGrpSpPr>
        <p:grpSpPr>
          <a:xfrm>
            <a:off x="82341" y="306452"/>
            <a:ext cx="775137" cy="1826209"/>
            <a:chOff x="82341" y="306452"/>
            <a:chExt cx="775137" cy="1826209"/>
          </a:xfrm>
        </p:grpSpPr>
        <p:sp>
          <p:nvSpPr>
            <p:cNvPr id="4" name="rollout_label" descr="Editable text; source id rollout_label"/>
            <p:cNvSpPr txBox="1"/>
            <p:nvPr/>
          </p:nvSpPr>
          <p:spPr>
            <a:xfrm>
              <a:off x="229279" y="306452"/>
              <a:ext cx="545727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Policy rollout</a:t>
              </a:r>
            </a:p>
          </p:txBody>
        </p:sp>
        <p:sp>
          <p:nvSpPr>
            <p:cNvPr id="5" name="rollout_state0_panel" descr="Editable shape; source id rollout_state0_panel"/>
            <p:cNvSpPr/>
            <p:nvPr/>
          </p:nvSpPr>
          <p:spPr>
            <a:xfrm>
              <a:off x="125730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llout_link0" descr="Editable line; source id rollout_link0"/>
            <p:cNvSpPr/>
            <p:nvPr/>
          </p:nvSpPr>
          <p:spPr>
            <a:xfrm>
              <a:off x="231343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llout_state1_panel" descr="Editable shape; source id rollout_state1_panel"/>
            <p:cNvSpPr/>
            <p:nvPr/>
          </p:nvSpPr>
          <p:spPr>
            <a:xfrm>
              <a:off x="339471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llout_link1" descr="Editable line; source id rollout_link1"/>
            <p:cNvSpPr/>
            <p:nvPr/>
          </p:nvSpPr>
          <p:spPr>
            <a:xfrm>
              <a:off x="445084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llout_state2_panel" descr="Editable shape; source id rollout_state2_panel"/>
            <p:cNvSpPr/>
            <p:nvPr/>
          </p:nvSpPr>
          <p:spPr>
            <a:xfrm>
              <a:off x="553212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llout_link2" descr="Editable line; source id rollout_link2"/>
            <p:cNvSpPr/>
            <p:nvPr/>
          </p:nvSpPr>
          <p:spPr>
            <a:xfrm>
              <a:off x="658825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state3_panel" descr="Editable shape; source id rollout_state3_panel"/>
            <p:cNvSpPr/>
            <p:nvPr/>
          </p:nvSpPr>
          <p:spPr>
            <a:xfrm>
              <a:off x="766953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ata_states" descr="Editable text; source id data_states"/>
            <p:cNvSpPr txBox="1"/>
            <p:nvPr/>
          </p:nvSpPr>
          <p:spPr>
            <a:xfrm>
              <a:off x="82341" y="700856"/>
              <a:ext cx="234592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states</a:t>
              </a:r>
            </a:p>
          </p:txBody>
        </p:sp>
        <p:sp>
          <p:nvSpPr>
            <p:cNvPr id="13" name="data_0_0" descr="Editable shape; source id data_0_0"/>
            <p:cNvSpPr/>
            <p:nvPr/>
          </p:nvSpPr>
          <p:spPr>
            <a:xfrm>
              <a:off x="477773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ata_0_1" descr="Editable shape; source id data_0_1"/>
            <p:cNvSpPr/>
            <p:nvPr/>
          </p:nvSpPr>
          <p:spPr>
            <a:xfrm>
              <a:off x="580872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ata_0_2" descr="Editable shape; source id data_0_2"/>
            <p:cNvSpPr/>
            <p:nvPr/>
          </p:nvSpPr>
          <p:spPr>
            <a:xfrm>
              <a:off x="683971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ata_0_3" descr="Editable shape; source id data_0_3"/>
            <p:cNvSpPr/>
            <p:nvPr/>
          </p:nvSpPr>
          <p:spPr>
            <a:xfrm>
              <a:off x="787069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ata_rewards" descr="Editable text; source id data_rewards"/>
            <p:cNvSpPr txBox="1"/>
            <p:nvPr/>
          </p:nvSpPr>
          <p:spPr>
            <a:xfrm>
              <a:off x="82341" y="864305"/>
              <a:ext cx="306174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rewards</a:t>
              </a:r>
            </a:p>
          </p:txBody>
        </p:sp>
        <p:sp>
          <p:nvSpPr>
            <p:cNvPr id="18" name="data_1_0" descr="Editable shape; source id data_1_0"/>
            <p:cNvSpPr/>
            <p:nvPr/>
          </p:nvSpPr>
          <p:spPr>
            <a:xfrm>
              <a:off x="477773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ata_1_1" descr="Editable shape; source id data_1_1"/>
            <p:cNvSpPr/>
            <p:nvPr/>
          </p:nvSpPr>
          <p:spPr>
            <a:xfrm>
              <a:off x="580872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ata_1_2" descr="Editable shape; source id data_1_2"/>
            <p:cNvSpPr/>
            <p:nvPr/>
          </p:nvSpPr>
          <p:spPr>
            <a:xfrm>
              <a:off x="683971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ata_1_3" descr="Editable shape; source id data_1_3"/>
            <p:cNvSpPr/>
            <p:nvPr/>
          </p:nvSpPr>
          <p:spPr>
            <a:xfrm>
              <a:off x="787069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ata_costs" descr="Editable text; source id data_costs"/>
            <p:cNvSpPr txBox="1"/>
            <p:nvPr/>
          </p:nvSpPr>
          <p:spPr>
            <a:xfrm>
              <a:off x="82341" y="1027754"/>
              <a:ext cx="207660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costs</a:t>
              </a:r>
            </a:p>
          </p:txBody>
        </p:sp>
        <p:sp>
          <p:nvSpPr>
            <p:cNvPr id="23" name="data_2_0" descr="Editable shape; source id data_2_0"/>
            <p:cNvSpPr/>
            <p:nvPr/>
          </p:nvSpPr>
          <p:spPr>
            <a:xfrm>
              <a:off x="477773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ata_2_1" descr="Editable shape; source id data_2_1"/>
            <p:cNvSpPr/>
            <p:nvPr/>
          </p:nvSpPr>
          <p:spPr>
            <a:xfrm>
              <a:off x="580872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ata_2_2" descr="Editable shape; source id data_2_2"/>
            <p:cNvSpPr/>
            <p:nvPr/>
          </p:nvSpPr>
          <p:spPr>
            <a:xfrm>
              <a:off x="683971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ata_2_3" descr="Editable shape; source id data_2_3"/>
            <p:cNvSpPr/>
            <p:nvPr/>
          </p:nvSpPr>
          <p:spPr>
            <a:xfrm>
              <a:off x="787069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episodic_label" descr="Editable text; source id episodic_label"/>
            <p:cNvSpPr txBox="1"/>
            <p:nvPr/>
          </p:nvSpPr>
          <p:spPr>
            <a:xfrm>
              <a:off x="223827" y="1443051"/>
              <a:ext cx="536514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Episode costs</a:t>
              </a:r>
            </a:p>
          </p:txBody>
        </p:sp>
        <p:grpSp>
          <p:nvGrpSpPr>
            <p:cNvPr id="155" name="observed_cost" descr="observed cost"/>
            <p:cNvGrpSpPr/>
            <p:nvPr/>
          </p:nvGrpSpPr>
          <p:grpSpPr>
            <a:xfrm>
              <a:off x="402336" y="1586712"/>
              <a:ext cx="170992" cy="170992"/>
              <a:chOff x="402336" y="1586712"/>
              <a:chExt cx="170992" cy="170992"/>
            </a:xfrm>
          </p:grpSpPr>
          <p:sp>
            <p:nvSpPr>
              <p:cNvPr id="28" name="observed_cost_panel" descr="Editable shape; source id observed_cost_panel"/>
              <p:cNvSpPr/>
              <p:nvPr/>
            </p:nvSpPr>
            <p:spPr>
              <a:xfrm>
                <a:off x="402336" y="1586712"/>
                <a:ext cx="170992" cy="170992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bserved_cost_label" descr="Editable text; source id observed_cost_label"/>
              <p:cNvSpPr txBox="1"/>
              <p:nvPr/>
            </p:nvSpPr>
            <p:spPr>
              <a:xfrm>
                <a:off x="458774" y="1610111"/>
                <a:ext cx="66621" cy="12396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3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J̄</a:t>
                </a:r>
              </a:p>
            </p:txBody>
          </p:sp>
        </p:grpSp>
        <p:sp>
          <p:nvSpPr>
            <p:cNvPr id="30" name="gae_label" descr="Editable text; source id gae_label"/>
            <p:cNvSpPr txBox="1"/>
            <p:nvPr/>
          </p:nvSpPr>
          <p:spPr>
            <a:xfrm>
              <a:off x="162433" y="2023535"/>
              <a:ext cx="659302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GAE advantages</a:t>
              </a:r>
            </a:p>
          </p:txBody>
        </p:sp>
      </p:grpSp>
      <p:grpSp>
        <p:nvGrpSpPr>
          <p:cNvPr id="171" name="shared_prices" descr="shared prices"/>
          <p:cNvGrpSpPr/>
          <p:nvPr/>
        </p:nvGrpSpPr>
        <p:grpSpPr>
          <a:xfrm>
            <a:off x="1103909" y="60350"/>
            <a:ext cx="2783662" cy="1936241"/>
            <a:chOff x="1103909" y="60350"/>
            <a:chExt cx="2783662" cy="1936241"/>
          </a:xfrm>
        </p:grpSpPr>
        <p:sp>
          <p:nvSpPr>
            <p:cNvPr id="31" name="shared_prices_panel" descr="Editable shape; source id shared_prices_panel"/>
            <p:cNvSpPr/>
            <p:nvPr/>
          </p:nvSpPr>
          <p:spPr>
            <a:xfrm>
              <a:off x="1103909" y="60350"/>
              <a:ext cx="2783662" cy="1936241"/>
            </a:xfrm>
            <a:prstGeom prst="roundRect">
              <a:avLst>
                <a:gd name="adj" fmla="val 3896"/>
              </a:avLst>
            </a:prstGeom>
            <a:solidFill>
              <a:srgbClr val="F2F7F7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ore_title" descr="Editable text; source id core_title"/>
            <p:cNvSpPr txBox="1"/>
            <p:nvPr/>
          </p:nvSpPr>
          <p:spPr>
            <a:xfrm>
              <a:off x="1173677" y="103294"/>
              <a:ext cx="1119096" cy="126929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Construct shared prices</a:t>
              </a:r>
            </a:p>
          </p:txBody>
        </p:sp>
        <p:grpSp>
          <p:nvGrpSpPr>
            <p:cNvPr id="161" name="joint_graph" descr="joint graph"/>
            <p:cNvGrpSpPr/>
            <p:nvPr/>
          </p:nvGrpSpPr>
          <p:grpSpPr>
            <a:xfrm>
              <a:off x="1196949" y="293879"/>
              <a:ext cx="2121588" cy="1189240"/>
              <a:chOff x="1196949" y="293879"/>
              <a:chExt cx="2121588" cy="1189240"/>
            </a:xfrm>
          </p:grpSpPr>
          <p:sp>
            <p:nvSpPr>
              <p:cNvPr id="33" name="joint_graph_title" descr="Editable text; source id joint_graph_title"/>
              <p:cNvSpPr txBox="1"/>
              <p:nvPr/>
            </p:nvSpPr>
            <p:spPr>
              <a:xfrm>
                <a:off x="1614169" y="293879"/>
                <a:ext cx="471598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graph</a:t>
                </a:r>
              </a:p>
            </p:txBody>
          </p:sp>
          <p:grpSp>
            <p:nvGrpSpPr>
              <p:cNvPr id="160" name="empirical_graph" descr="empirical graph"/>
              <p:cNvGrpSpPr/>
              <p:nvPr/>
            </p:nvGrpSpPr>
            <p:grpSpPr>
              <a:xfrm>
                <a:off x="1196949" y="467715"/>
                <a:ext cx="1186891" cy="673913"/>
                <a:chOff x="1196949" y="467715"/>
                <a:chExt cx="1186891" cy="673913"/>
              </a:xfrm>
            </p:grpSpPr>
            <p:sp>
              <p:nvSpPr>
                <p:cNvPr id="34" name="empirical_graph_edge0" descr="Editable line; source id empirical_graph_edge0"/>
                <p:cNvSpPr/>
                <p:nvPr/>
              </p:nvSpPr>
              <p:spPr>
                <a:xfrm>
                  <a:off x="1299580" y="569286"/>
                  <a:ext cx="193570" cy="18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80" h="63652">
                      <a:moveTo>
                        <a:pt x="0" y="61834"/>
                      </a:moveTo>
                      <a:lnTo>
                        <a:pt x="59642" y="6341"/>
                      </a:lnTo>
                      <a:lnTo>
                        <a:pt x="57769" y="4328"/>
                      </a:lnTo>
                      <a:lnTo>
                        <a:pt x="68280" y="0"/>
                      </a:lnTo>
                      <a:lnTo>
                        <a:pt x="63207" y="10172"/>
                      </a:lnTo>
                      <a:lnTo>
                        <a:pt x="61334" y="8159"/>
                      </a:lnTo>
                      <a:lnTo>
                        <a:pt x="1691" y="63652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" name="empirical_graph_edge1" descr="Editable line; source id empirical_graph_edge1"/>
                <p:cNvSpPr/>
                <p:nvPr/>
              </p:nvSpPr>
              <p:spPr>
                <a:xfrm>
                  <a:off x="1610753" y="511720"/>
                  <a:ext cx="326997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45" h="7984">
                      <a:moveTo>
                        <a:pt x="0" y="2750"/>
                      </a:moveTo>
                      <a:lnTo>
                        <a:pt x="104701" y="2750"/>
                      </a:lnTo>
                      <a:lnTo>
                        <a:pt x="104701" y="0"/>
                      </a:lnTo>
                      <a:lnTo>
                        <a:pt x="115345" y="3992"/>
                      </a:lnTo>
                      <a:lnTo>
                        <a:pt x="104701" y="7984"/>
                      </a:lnTo>
                      <a:lnTo>
                        <a:pt x="104701" y="5234"/>
                      </a:lnTo>
                      <a:lnTo>
                        <a:pt x="0" y="5234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empirical_graph_edge2" descr="Editable line; source id empirical_graph_edge2"/>
                <p:cNvSpPr/>
                <p:nvPr/>
              </p:nvSpPr>
              <p:spPr>
                <a:xfrm>
                  <a:off x="2055437" y="563928"/>
                  <a:ext cx="221027" cy="185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65" h="65571">
                      <a:moveTo>
                        <a:pt x="1595" y="0"/>
                      </a:moveTo>
                      <a:lnTo>
                        <a:pt x="70602" y="57785"/>
                      </a:lnTo>
                      <a:lnTo>
                        <a:pt x="72367" y="55677"/>
                      </a:lnTo>
                      <a:lnTo>
                        <a:pt x="77965" y="65571"/>
                      </a:lnTo>
                      <a:lnTo>
                        <a:pt x="67242" y="61797"/>
                      </a:lnTo>
                      <a:lnTo>
                        <a:pt x="69008" y="59689"/>
                      </a:lnTo>
                      <a:lnTo>
                        <a:pt x="0" y="1904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empirical_graph_edge3" descr="Editable line; source id empirical_graph_edge3"/>
                <p:cNvSpPr/>
                <p:nvPr/>
              </p:nvSpPr>
              <p:spPr>
                <a:xfrm>
                  <a:off x="1320165" y="782092"/>
                  <a:ext cx="348523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38" h="7983">
                      <a:moveTo>
                        <a:pt x="0" y="3060"/>
                      </a:moveTo>
                      <a:lnTo>
                        <a:pt x="112294" y="3060"/>
                      </a:lnTo>
                      <a:lnTo>
                        <a:pt x="112294" y="0"/>
                      </a:lnTo>
                      <a:lnTo>
                        <a:pt x="122938" y="3991"/>
                      </a:lnTo>
                      <a:lnTo>
                        <a:pt x="112294" y="7983"/>
                      </a:lnTo>
                      <a:lnTo>
                        <a:pt x="112294" y="4923"/>
                      </a:lnTo>
                      <a:lnTo>
                        <a:pt x="0" y="4923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empirical_graph_edge4" descr="Editable line; source id empirical_graph_edge4"/>
                <p:cNvSpPr/>
                <p:nvPr/>
              </p:nvSpPr>
              <p:spPr>
                <a:xfrm>
                  <a:off x="1580255" y="576688"/>
                  <a:ext cx="116783" cy="161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94" h="56978">
                      <a:moveTo>
                        <a:pt x="1515" y="0"/>
                      </a:moveTo>
                      <a:lnTo>
                        <a:pt x="35752" y="47783"/>
                      </a:lnTo>
                      <a:lnTo>
                        <a:pt x="38239" y="46001"/>
                      </a:lnTo>
                      <a:lnTo>
                        <a:pt x="41194" y="56978"/>
                      </a:lnTo>
                      <a:lnTo>
                        <a:pt x="31750" y="50650"/>
                      </a:lnTo>
                      <a:lnTo>
                        <a:pt x="34238" y="48868"/>
                      </a:lnTo>
                      <a:lnTo>
                        <a:pt x="0" y="1085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empirical_graph_edge5" descr="Editable line; source id empirical_graph_edge5"/>
                <p:cNvSpPr/>
                <p:nvPr/>
              </p:nvSpPr>
              <p:spPr>
                <a:xfrm>
                  <a:off x="1804476" y="782092"/>
                  <a:ext cx="456149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902" h="7983">
                      <a:moveTo>
                        <a:pt x="0" y="2749"/>
                      </a:moveTo>
                      <a:lnTo>
                        <a:pt x="150258" y="2749"/>
                      </a:lnTo>
                      <a:lnTo>
                        <a:pt x="150258" y="0"/>
                      </a:lnTo>
                      <a:lnTo>
                        <a:pt x="160902" y="3991"/>
                      </a:lnTo>
                      <a:lnTo>
                        <a:pt x="150258" y="7983"/>
                      </a:lnTo>
                      <a:lnTo>
                        <a:pt x="150258" y="5233"/>
                      </a:lnTo>
                      <a:lnTo>
                        <a:pt x="0" y="5233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empirical_graph_edge6" descr="Editable line; source id empirical_graph_edge6"/>
                <p:cNvSpPr/>
                <p:nvPr/>
              </p:nvSpPr>
              <p:spPr>
                <a:xfrm>
                  <a:off x="1282732" y="851593"/>
                  <a:ext cx="98203" cy="175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0" h="61819">
                      <a:moveTo>
                        <a:pt x="1631" y="0"/>
                      </a:moveTo>
                      <a:lnTo>
                        <a:pt x="30318" y="52047"/>
                      </a:lnTo>
                      <a:lnTo>
                        <a:pt x="32998" y="50570"/>
                      </a:lnTo>
                      <a:lnTo>
                        <a:pt x="34640" y="61819"/>
                      </a:lnTo>
                      <a:lnTo>
                        <a:pt x="26007" y="54424"/>
                      </a:lnTo>
                      <a:lnTo>
                        <a:pt x="28687" y="52947"/>
                      </a:lnTo>
                      <a:lnTo>
                        <a:pt x="0" y="899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empirical_graph_edge7" descr="Editable line; source id empirical_graph_edge7"/>
                <p:cNvSpPr/>
                <p:nvPr/>
              </p:nvSpPr>
              <p:spPr>
                <a:xfrm>
                  <a:off x="1481601" y="1074993"/>
                  <a:ext cx="370049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31" h="7983">
                      <a:moveTo>
                        <a:pt x="0" y="3060"/>
                      </a:moveTo>
                      <a:lnTo>
                        <a:pt x="119887" y="3060"/>
                      </a:lnTo>
                      <a:lnTo>
                        <a:pt x="119887" y="0"/>
                      </a:lnTo>
                      <a:lnTo>
                        <a:pt x="130531" y="3991"/>
                      </a:lnTo>
                      <a:lnTo>
                        <a:pt x="119887" y="7983"/>
                      </a:lnTo>
                      <a:lnTo>
                        <a:pt x="119887" y="4922"/>
                      </a:lnTo>
                      <a:lnTo>
                        <a:pt x="0" y="4922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empirical_graph_edge8" descr="Editable line; source id empirical_graph_edge8"/>
                <p:cNvSpPr/>
                <p:nvPr/>
              </p:nvSpPr>
              <p:spPr>
                <a:xfrm>
                  <a:off x="1987438" y="1074993"/>
                  <a:ext cx="273187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64" h="7983">
                      <a:moveTo>
                        <a:pt x="0" y="3060"/>
                      </a:moveTo>
                      <a:lnTo>
                        <a:pt x="85720" y="3060"/>
                      </a:lnTo>
                      <a:lnTo>
                        <a:pt x="85720" y="0"/>
                      </a:lnTo>
                      <a:lnTo>
                        <a:pt x="96364" y="3991"/>
                      </a:lnTo>
                      <a:lnTo>
                        <a:pt x="85720" y="7983"/>
                      </a:lnTo>
                      <a:lnTo>
                        <a:pt x="85720" y="4922"/>
                      </a:lnTo>
                      <a:lnTo>
                        <a:pt x="0" y="4922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empirical_graph_edge9" descr="Editable line; source id empirical_graph_edge9"/>
                <p:cNvSpPr/>
                <p:nvPr/>
              </p:nvSpPr>
              <p:spPr>
                <a:xfrm>
                  <a:off x="2317202" y="861300"/>
                  <a:ext cx="22631" cy="157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55420">
                      <a:moveTo>
                        <a:pt x="3061" y="55420"/>
                      </a:moveTo>
                      <a:lnTo>
                        <a:pt x="3061" y="10644"/>
                      </a:lnTo>
                      <a:lnTo>
                        <a:pt x="0" y="10644"/>
                      </a:lnTo>
                      <a:lnTo>
                        <a:pt x="3992" y="0"/>
                      </a:lnTo>
                      <a:lnTo>
                        <a:pt x="7983" y="10644"/>
                      </a:lnTo>
                      <a:lnTo>
                        <a:pt x="4923" y="10644"/>
                      </a:lnTo>
                      <a:lnTo>
                        <a:pt x="4923" y="5542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empirical_graph_node0" descr="Editable shape; source id empirical_graph_node0"/>
                <p:cNvSpPr/>
                <p:nvPr/>
              </p:nvSpPr>
              <p:spPr>
                <a:xfrm>
                  <a:off x="1196949" y="738085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empirical_graph_node1" descr="Editable shape; source id empirical_graph_node1"/>
                <p:cNvSpPr/>
                <p:nvPr/>
              </p:nvSpPr>
              <p:spPr>
                <a:xfrm>
                  <a:off x="1487536" y="46771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empirical_graph_node2" descr="Editable shape; source id empirical_graph_node2"/>
                <p:cNvSpPr/>
                <p:nvPr/>
              </p:nvSpPr>
              <p:spPr>
                <a:xfrm>
                  <a:off x="1950323" y="467715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empirical_graph_node3" descr="Editable shape; source id empirical_graph_node3"/>
                <p:cNvSpPr/>
                <p:nvPr/>
              </p:nvSpPr>
              <p:spPr>
                <a:xfrm>
                  <a:off x="2273198" y="73808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empirical_graph_node4" descr="Editable shape; source id empirical_graph_node4"/>
                <p:cNvSpPr/>
                <p:nvPr/>
              </p:nvSpPr>
              <p:spPr>
                <a:xfrm>
                  <a:off x="1681261" y="73808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empirical_graph_node5" descr="Editable shape; source id empirical_graph_node5"/>
                <p:cNvSpPr/>
                <p:nvPr/>
              </p:nvSpPr>
              <p:spPr>
                <a:xfrm>
                  <a:off x="1358386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empirical_graph_node6" descr="Editable shape; source id empirical_graph_node6"/>
                <p:cNvSpPr/>
                <p:nvPr/>
              </p:nvSpPr>
              <p:spPr>
                <a:xfrm>
                  <a:off x="1864223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empirical_graph_node7" descr="Editable shape; source id empirical_graph_node7"/>
                <p:cNvSpPr/>
                <p:nvPr/>
              </p:nvSpPr>
              <p:spPr>
                <a:xfrm>
                  <a:off x="2273198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52" name="empirical_graph_hard_a" descr="Editable line; source id empirical_graph_hard_a"/>
                <p:cNvCxnSpPr/>
                <p:nvPr/>
              </p:nvCxnSpPr>
              <p:spPr>
                <a:xfrm>
                  <a:off x="1772552" y="850989"/>
                  <a:ext cx="31532" cy="50479"/>
                </a:xfrm>
                <a:prstGeom prst="line">
                  <a:avLst/>
                </a:prstGeom>
                <a:ln w="4777" cap="rnd">
                  <a:solidFill>
                    <a:srgbClr val="77858D"/>
                  </a:solidFill>
                  <a:custDash>
                    <a:ds d="263158" sp="263158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empirical_graph_hard_b" descr="Editable line; source id empirical_graph_hard_b"/>
                <p:cNvCxnSpPr/>
                <p:nvPr/>
              </p:nvCxnSpPr>
              <p:spPr>
                <a:xfrm>
                  <a:off x="1852043" y="978245"/>
                  <a:ext cx="31532" cy="50479"/>
                </a:xfrm>
                <a:prstGeom prst="line">
                  <a:avLst/>
                </a:prstGeom>
                <a:ln w="4777" cap="rnd">
                  <a:solidFill>
                    <a:srgbClr val="77858D"/>
                  </a:solidFill>
                  <a:custDash>
                    <a:ds d="263158" sp="263158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empirical_graph_cross1" descr="Editable line; source id empirical_graph_cross1"/>
                <p:cNvCxnSpPr/>
                <p:nvPr/>
              </p:nvCxnSpPr>
              <p:spPr>
                <a:xfrm>
                  <a:off x="1802917" y="914710"/>
                  <a:ext cx="50292" cy="50292"/>
                </a:xfrm>
                <a:prstGeom prst="line">
                  <a:avLst/>
                </a:prstGeom>
                <a:ln w="754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empirical_graph_cross2" descr="Editable line; source id empirical_graph_cross2"/>
                <p:cNvCxnSpPr/>
                <p:nvPr/>
              </p:nvCxnSpPr>
              <p:spPr>
                <a:xfrm flipV="1">
                  <a:off x="1802917" y="914710"/>
                  <a:ext cx="50292" cy="50292"/>
                </a:xfrm>
                <a:prstGeom prst="line">
                  <a:avLst/>
                </a:prstGeom>
                <a:ln w="754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7" name="empirical_graph_cost1" descr="Editable formula parts and native mathematical delimiters."/>
                <p:cNvGrpSpPr/>
                <p:nvPr/>
              </p:nvGrpSpPr>
              <p:grpSpPr>
                <a:xfrm>
                  <a:off x="1323885" y="523933"/>
                  <a:ext cx="70872" cy="115886"/>
                  <a:chOff x="1323885" y="523933"/>
                  <a:chExt cx="70872" cy="115886"/>
                </a:xfrm>
              </p:grpSpPr>
              <p:sp>
                <p:nvSpPr>
                  <p:cNvPr id="56" name="empirical_graph_cost1_0" descr="Editable text; source id empirical_graph_cost1_0"/>
                  <p:cNvSpPr txBox="1"/>
                  <p:nvPr/>
                </p:nvSpPr>
                <p:spPr>
                  <a:xfrm>
                    <a:off x="1323885" y="523933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57" name="empirical_graph_cost1_1" descr="Editable text; source id empirical_graph_cost1_1"/>
                  <p:cNvSpPr txBox="1"/>
                  <p:nvPr/>
                </p:nvSpPr>
                <p:spPr>
                  <a:xfrm>
                    <a:off x="1362156" y="570675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  <p:grpSp>
              <p:nvGrpSpPr>
                <p:cNvPr id="158" name="empirical_graph_cost2" descr="Editable formula parts and native mathematical delimiters."/>
                <p:cNvGrpSpPr/>
                <p:nvPr/>
              </p:nvGrpSpPr>
              <p:grpSpPr>
                <a:xfrm>
                  <a:off x="2184884" y="523933"/>
                  <a:ext cx="70872" cy="115886"/>
                  <a:chOff x="2184884" y="523933"/>
                  <a:chExt cx="70872" cy="115886"/>
                </a:xfrm>
              </p:grpSpPr>
              <p:sp>
                <p:nvSpPr>
                  <p:cNvPr id="58" name="empirical_graph_cost2_0" descr="Editable text; source id empirical_graph_cost2_0"/>
                  <p:cNvSpPr txBox="1"/>
                  <p:nvPr/>
                </p:nvSpPr>
                <p:spPr>
                  <a:xfrm>
                    <a:off x="2184884" y="523933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59" name="empirical_graph_cost2_1" descr="Editable text; source id empirical_graph_cost2_1"/>
                  <p:cNvSpPr txBox="1"/>
                  <p:nvPr/>
                </p:nvSpPr>
                <p:spPr>
                  <a:xfrm>
                    <a:off x="2223155" y="570675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2</a:t>
                    </a:r>
                  </a:p>
                </p:txBody>
              </p:sp>
            </p:grpSp>
            <p:grpSp>
              <p:nvGrpSpPr>
                <p:cNvPr id="159" name="empirical_graph_cost3" descr="Editable formula parts and native mathematical delimiters."/>
                <p:cNvGrpSpPr/>
                <p:nvPr/>
              </p:nvGrpSpPr>
              <p:grpSpPr>
                <a:xfrm>
                  <a:off x="1592947" y="980182"/>
                  <a:ext cx="70873" cy="115886"/>
                  <a:chOff x="1592947" y="980182"/>
                  <a:chExt cx="70873" cy="115886"/>
                </a:xfrm>
              </p:grpSpPr>
              <p:sp>
                <p:nvSpPr>
                  <p:cNvPr id="60" name="empirical_graph_cost3_0" descr="Editable text; source id empirical_graph_cost3_0"/>
                  <p:cNvSpPr txBox="1"/>
                  <p:nvPr/>
                </p:nvSpPr>
                <p:spPr>
                  <a:xfrm>
                    <a:off x="1592947" y="980182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61" name="empirical_graph_cost3_1" descr="Editable text; source id empirical_graph_cost3_1"/>
                  <p:cNvSpPr txBox="1"/>
                  <p:nvPr/>
                </p:nvSpPr>
                <p:spPr>
                  <a:xfrm>
                    <a:off x="1631219" y="102692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2" name="solve_label" descr="Editable text; source id solve_label"/>
              <p:cNvSpPr txBox="1"/>
              <p:nvPr/>
            </p:nvSpPr>
            <p:spPr>
              <a:xfrm>
                <a:off x="1572900" y="1153872"/>
                <a:ext cx="50887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Solve jointly</a:t>
                </a:r>
              </a:p>
            </p:txBody>
          </p:sp>
          <p:sp>
            <p:nvSpPr>
              <p:cNvPr id="63" name="balance_budgets" descr="Editable text; source id balance_budgets"/>
              <p:cNvSpPr txBox="1"/>
              <p:nvPr/>
            </p:nvSpPr>
            <p:spPr>
              <a:xfrm>
                <a:off x="1341852" y="1274893"/>
                <a:ext cx="970970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Balance · per-step budgets</a:t>
                </a:r>
              </a:p>
            </p:txBody>
          </p:sp>
          <p:sp>
            <p:nvSpPr>
              <p:cNvPr id="64" name="solver_note" descr="Editable text; source id solver_note"/>
              <p:cNvSpPr txBox="1"/>
              <p:nvPr/>
            </p:nvSpPr>
            <p:spPr>
              <a:xfrm>
                <a:off x="1493826" y="1375477"/>
                <a:ext cx="667021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Newton / bisection</a:t>
                </a:r>
              </a:p>
            </p:txBody>
          </p:sp>
          <p:sp>
            <p:nvSpPr>
              <p:cNvPr id="65" name="hard_legend" descr="Editable text; source id hard_legend"/>
              <p:cNvSpPr txBox="1"/>
              <p:nvPr/>
            </p:nvSpPr>
            <p:spPr>
              <a:xfrm>
                <a:off x="2538926" y="1355360"/>
                <a:ext cx="779611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×  hard graph support</a:t>
                </a:r>
              </a:p>
            </p:txBody>
          </p:sp>
        </p:grpSp>
        <p:sp>
          <p:nvSpPr>
            <p:cNvPr id="66" name="graph_to_condition" descr="Editable line; source id graph_to_condition"/>
            <p:cNvSpPr/>
            <p:nvPr/>
          </p:nvSpPr>
          <p:spPr>
            <a:xfrm>
              <a:off x="2406472" y="780785"/>
              <a:ext cx="188595" cy="22629"/>
            </a:xfrm>
            <a:custGeom>
              <a:avLst/>
              <a:gdLst/>
              <a:ahLst/>
              <a:cxnLst/>
              <a:rect l="l" t="t" r="r" b="b"/>
              <a:pathLst>
                <a:path w="66525" h="7982">
                  <a:moveTo>
                    <a:pt x="0" y="2927"/>
                  </a:moveTo>
                  <a:lnTo>
                    <a:pt x="55881" y="2927"/>
                  </a:lnTo>
                  <a:lnTo>
                    <a:pt x="55881" y="0"/>
                  </a:lnTo>
                  <a:lnTo>
                    <a:pt x="66525" y="3991"/>
                  </a:lnTo>
                  <a:lnTo>
                    <a:pt x="55881" y="7982"/>
                  </a:lnTo>
                  <a:lnTo>
                    <a:pt x="55881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aw_price_label" descr="Editable text; source id raw_price_label"/>
            <p:cNvSpPr txBox="1"/>
            <p:nvPr/>
          </p:nvSpPr>
          <p:spPr>
            <a:xfrm>
              <a:off x="2457227" y="630903"/>
              <a:ext cx="98104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λ*</a:t>
              </a:r>
            </a:p>
          </p:txBody>
        </p:sp>
        <p:grpSp>
          <p:nvGrpSpPr>
            <p:cNvPr id="163" name="condition_prices" descr="condition prices"/>
            <p:cNvGrpSpPr/>
            <p:nvPr/>
          </p:nvGrpSpPr>
          <p:grpSpPr>
            <a:xfrm>
              <a:off x="2709483" y="293879"/>
              <a:ext cx="1040292" cy="985558"/>
              <a:chOff x="2709483" y="293879"/>
              <a:chExt cx="1040292" cy="985558"/>
            </a:xfrm>
          </p:grpSpPr>
          <p:sp>
            <p:nvSpPr>
              <p:cNvPr id="68" name="condition_title" descr="Editable text; source id condition_title"/>
              <p:cNvSpPr txBox="1"/>
              <p:nvPr/>
            </p:nvSpPr>
            <p:spPr>
              <a:xfrm>
                <a:off x="2924995" y="293879"/>
                <a:ext cx="57074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Clip + smooth</a:t>
                </a:r>
              </a:p>
            </p:txBody>
          </p:sp>
          <p:sp>
            <p:nvSpPr>
              <p:cNvPr id="69" name="clip_x" descr="Editable line; source id clip_x"/>
              <p:cNvSpPr/>
              <p:nvPr/>
            </p:nvSpPr>
            <p:spPr>
              <a:xfrm>
                <a:off x="2720797" y="911544"/>
                <a:ext cx="65128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29733" h="7982">
                    <a:moveTo>
                      <a:pt x="0" y="3281"/>
                    </a:moveTo>
                    <a:lnTo>
                      <a:pt x="219089" y="3281"/>
                    </a:lnTo>
                    <a:lnTo>
                      <a:pt x="219089" y="0"/>
                    </a:lnTo>
                    <a:lnTo>
                      <a:pt x="229733" y="3991"/>
                    </a:lnTo>
                    <a:lnTo>
                      <a:pt x="219089" y="7982"/>
                    </a:lnTo>
                    <a:lnTo>
                      <a:pt x="219089" y="4701"/>
                    </a:lnTo>
                    <a:lnTo>
                      <a:pt x="0" y="4701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lip_y" descr="Editable line; source id clip_y"/>
              <p:cNvSpPr/>
              <p:nvPr/>
            </p:nvSpPr>
            <p:spPr>
              <a:xfrm>
                <a:off x="2709483" y="535610"/>
                <a:ext cx="22631" cy="387248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36598">
                    <a:moveTo>
                      <a:pt x="3281" y="136598"/>
                    </a:moveTo>
                    <a:lnTo>
                      <a:pt x="3281" y="10644"/>
                    </a:lnTo>
                    <a:lnTo>
                      <a:pt x="0" y="10644"/>
                    </a:lnTo>
                    <a:lnTo>
                      <a:pt x="3991" y="0"/>
                    </a:lnTo>
                    <a:lnTo>
                      <a:pt x="7983" y="10644"/>
                    </a:lnTo>
                    <a:lnTo>
                      <a:pt x="4701" y="10644"/>
                    </a:lnTo>
                    <a:lnTo>
                      <a:pt x="4701" y="13659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2" name="clip_response" descr="One editable routed connector; fixed endpoints."/>
              <p:cNvGrpSpPr/>
              <p:nvPr/>
            </p:nvGrpSpPr>
            <p:grpSpPr>
              <a:xfrm>
                <a:off x="2738399" y="633679"/>
                <a:ext cx="578358" cy="274091"/>
                <a:chOff x="2738399" y="633679"/>
                <a:chExt cx="578358" cy="274091"/>
              </a:xfrm>
            </p:grpSpPr>
            <p:cxnSp>
              <p:nvCxnSpPr>
                <p:cNvPr id="71" name="clip_response_0" descr="Editable line; source id clip_response_0"/>
                <p:cNvCxnSpPr/>
                <p:nvPr/>
              </p:nvCxnSpPr>
              <p:spPr>
                <a:xfrm flipV="1">
                  <a:off x="2738399" y="633679"/>
                  <a:ext cx="397307" cy="274091"/>
                </a:xfrm>
                <a:prstGeom prst="line">
                  <a:avLst/>
                </a:prstGeom>
                <a:ln w="7543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clip_response_1" descr="Editable line; source id clip_response_1"/>
                <p:cNvCxnSpPr/>
                <p:nvPr/>
              </p:nvCxnSpPr>
              <p:spPr>
                <a:xfrm>
                  <a:off x="3135706" y="633679"/>
                  <a:ext cx="181051" cy="0"/>
                </a:xfrm>
                <a:prstGeom prst="line">
                  <a:avLst/>
                </a:prstGeom>
                <a:ln w="7543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clip_cap_mark" descr="Editable line; source id clip_cap_mark"/>
              <p:cNvCxnSpPr/>
              <p:nvPr/>
            </p:nvCxnSpPr>
            <p:spPr>
              <a:xfrm>
                <a:off x="2735884" y="633679"/>
                <a:ext cx="364617" cy="0"/>
              </a:xfrm>
              <a:prstGeom prst="line">
                <a:avLst/>
              </a:prstGeom>
              <a:ln w="3771" cap="rnd">
                <a:solidFill>
                  <a:srgbClr val="B78129"/>
                </a:solidFill>
                <a:custDash>
                  <a:ds d="400000" sp="333333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cap_label" descr="Editable text; source id cap_label"/>
              <p:cNvSpPr txBox="1"/>
              <p:nvPr/>
            </p:nvSpPr>
            <p:spPr>
              <a:xfrm>
                <a:off x="2771975" y="490338"/>
                <a:ext cx="147550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cap</a:t>
                </a:r>
              </a:p>
            </p:txBody>
          </p:sp>
          <p:sp>
            <p:nvSpPr>
              <p:cNvPr id="75" name="condition_output" descr="Editable line; source id condition_output"/>
              <p:cNvSpPr/>
              <p:nvPr/>
            </p:nvSpPr>
            <p:spPr>
              <a:xfrm>
                <a:off x="3402254" y="765697"/>
                <a:ext cx="95555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3706" h="7982">
                    <a:moveTo>
                      <a:pt x="0" y="3060"/>
                    </a:moveTo>
                    <a:lnTo>
                      <a:pt x="23062" y="3060"/>
                    </a:lnTo>
                    <a:lnTo>
                      <a:pt x="23062" y="0"/>
                    </a:lnTo>
                    <a:lnTo>
                      <a:pt x="33706" y="3991"/>
                    </a:lnTo>
                    <a:lnTo>
                      <a:pt x="23062" y="7982"/>
                    </a:lnTo>
                    <a:lnTo>
                      <a:pt x="23062" y="4922"/>
                    </a:lnTo>
                    <a:lnTo>
                      <a:pt x="0" y="4922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filtered_price0_panel" descr="Editable shape; source id filtered_price0_panel"/>
              <p:cNvSpPr/>
              <p:nvPr/>
            </p:nvSpPr>
            <p:spPr>
              <a:xfrm>
                <a:off x="3548100" y="523036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filtered_price1_panel" descr="Editable shape; source id filtered_price1_panel"/>
              <p:cNvSpPr/>
              <p:nvPr/>
            </p:nvSpPr>
            <p:spPr>
              <a:xfrm>
                <a:off x="3548100" y="724204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filtered_price2_panel" descr="Editable shape; source id filtered_price2_panel"/>
              <p:cNvSpPr/>
              <p:nvPr/>
            </p:nvSpPr>
            <p:spPr>
              <a:xfrm>
                <a:off x="3548100" y="925372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filtered_label" descr="Editable text; source id filtered_label"/>
              <p:cNvSpPr txBox="1"/>
              <p:nvPr/>
            </p:nvSpPr>
            <p:spPr>
              <a:xfrm>
                <a:off x="3465572" y="1073725"/>
                <a:ext cx="284203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Filtered</a:t>
                </a:r>
              </a:p>
            </p:txBody>
          </p:sp>
          <p:sp>
            <p:nvSpPr>
              <p:cNvPr id="80" name="filtered_label2" descr="Editable text; source id filtered_label2"/>
              <p:cNvSpPr txBox="1"/>
              <p:nvPr/>
            </p:nvSpPr>
            <p:spPr>
              <a:xfrm>
                <a:off x="3492111" y="1171795"/>
                <a:ext cx="231125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prices</a:t>
                </a:r>
              </a:p>
            </p:txBody>
          </p:sp>
        </p:grpSp>
        <p:grpSp>
          <p:nvGrpSpPr>
            <p:cNvPr id="168" name="cost_feedback" descr="cost feedback"/>
            <p:cNvGrpSpPr/>
            <p:nvPr/>
          </p:nvGrpSpPr>
          <p:grpSpPr>
            <a:xfrm>
              <a:off x="1193794" y="1538606"/>
              <a:ext cx="2223548" cy="444919"/>
              <a:chOff x="1193794" y="1538606"/>
              <a:chExt cx="2223548" cy="444919"/>
            </a:xfrm>
          </p:grpSpPr>
          <p:sp>
            <p:nvSpPr>
              <p:cNvPr id="81" name="feedback_title" descr="Editable text; source id feedback_title"/>
              <p:cNvSpPr txBox="1"/>
              <p:nvPr/>
            </p:nvSpPr>
            <p:spPr>
              <a:xfrm>
                <a:off x="1193794" y="1538606"/>
                <a:ext cx="92419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Episode-cost feedback</a:t>
                </a:r>
              </a:p>
            </p:txBody>
          </p:sp>
          <p:grpSp>
            <p:nvGrpSpPr>
              <p:cNvPr id="164" name="feedback_budget" descr="feedback budget"/>
              <p:cNvGrpSpPr/>
              <p:nvPr/>
            </p:nvGrpSpPr>
            <p:grpSpPr>
              <a:xfrm>
                <a:off x="1237183" y="1735073"/>
                <a:ext cx="120700" cy="120700"/>
                <a:chOff x="1237183" y="1735073"/>
                <a:chExt cx="120700" cy="120700"/>
              </a:xfrm>
            </p:grpSpPr>
            <p:sp>
              <p:nvSpPr>
                <p:cNvPr id="82" name="feedback_budget_panel" descr="Editable shape; source id feedback_budget_panel"/>
                <p:cNvSpPr/>
                <p:nvPr/>
              </p:nvSpPr>
              <p:spPr>
                <a:xfrm>
                  <a:off x="1237183" y="1735073"/>
                  <a:ext cx="120700" cy="120700"/>
                </a:xfrm>
                <a:prstGeom prst="ellipse">
                  <a:avLst/>
                </a:prstGeom>
                <a:solidFill>
                  <a:srgbClr val="F8F1E4"/>
                </a:solidFill>
                <a:ln w="3771">
                  <a:solidFill>
                    <a:srgbClr val="B78129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feedback_budget_label" descr="Editable text; source id feedback_budget_label"/>
                <p:cNvSpPr txBox="1"/>
                <p:nvPr/>
              </p:nvSpPr>
              <p:spPr>
                <a:xfrm>
                  <a:off x="1264189" y="1739522"/>
                  <a:ext cx="75192" cy="11209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5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B</a:t>
                  </a:r>
                </a:p>
              </p:txBody>
            </p:sp>
          </p:grpSp>
          <p:sp>
            <p:nvSpPr>
              <p:cNvPr id="84" name="budget_to_error" descr="Editable line; source id budget_to_error"/>
              <p:cNvSpPr/>
              <p:nvPr/>
            </p:nvSpPr>
            <p:spPr>
              <a:xfrm>
                <a:off x="1383030" y="1784107"/>
                <a:ext cx="110642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39028" h="7984">
                    <a:moveTo>
                      <a:pt x="0" y="3105"/>
                    </a:moveTo>
                    <a:lnTo>
                      <a:pt x="28384" y="3105"/>
                    </a:lnTo>
                    <a:lnTo>
                      <a:pt x="28384" y="0"/>
                    </a:lnTo>
                    <a:lnTo>
                      <a:pt x="39028" y="3992"/>
                    </a:lnTo>
                    <a:lnTo>
                      <a:pt x="28384" y="7984"/>
                    </a:lnTo>
                    <a:lnTo>
                      <a:pt x="28384" y="4879"/>
                    </a:lnTo>
                    <a:lnTo>
                      <a:pt x="0" y="4879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5" name="error" descr="error"/>
              <p:cNvGrpSpPr/>
              <p:nvPr/>
            </p:nvGrpSpPr>
            <p:grpSpPr>
              <a:xfrm>
                <a:off x="1526362" y="1732559"/>
                <a:ext cx="125730" cy="125730"/>
                <a:chOff x="1526362" y="1732559"/>
                <a:chExt cx="125730" cy="125730"/>
              </a:xfrm>
            </p:grpSpPr>
            <p:sp>
              <p:nvSpPr>
                <p:cNvPr id="85" name="error_panel" descr="Editable shape; source id error_panel"/>
                <p:cNvSpPr/>
                <p:nvPr/>
              </p:nvSpPr>
              <p:spPr>
                <a:xfrm>
                  <a:off x="1526362" y="1732559"/>
                  <a:ext cx="125730" cy="125730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B78129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error_label" descr="Editable text; source id error_label"/>
                <p:cNvSpPr txBox="1"/>
                <p:nvPr/>
              </p:nvSpPr>
              <p:spPr>
                <a:xfrm>
                  <a:off x="1556979" y="1734698"/>
                  <a:ext cx="72999" cy="12099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712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−</a:t>
                  </a:r>
                </a:p>
              </p:txBody>
            </p:sp>
          </p:grpSp>
          <p:sp>
            <p:nvSpPr>
              <p:cNvPr id="87" name="error_to_feedback" descr="Editable line; source id error_to_feedback"/>
              <p:cNvSpPr/>
              <p:nvPr/>
            </p:nvSpPr>
            <p:spPr>
              <a:xfrm>
                <a:off x="1677238" y="1784107"/>
                <a:ext cx="279121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98457" h="7984">
                    <a:moveTo>
                      <a:pt x="0" y="3061"/>
                    </a:moveTo>
                    <a:lnTo>
                      <a:pt x="87813" y="3061"/>
                    </a:lnTo>
                    <a:lnTo>
                      <a:pt x="87813" y="0"/>
                    </a:lnTo>
                    <a:lnTo>
                      <a:pt x="98457" y="3992"/>
                    </a:lnTo>
                    <a:lnTo>
                      <a:pt x="87813" y="7984"/>
                    </a:lnTo>
                    <a:lnTo>
                      <a:pt x="87813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cost_error_label" descr="Editable text; source id cost_error_label"/>
              <p:cNvSpPr txBox="1"/>
              <p:nvPr/>
            </p:nvSpPr>
            <p:spPr>
              <a:xfrm>
                <a:off x="1352206" y="1875883"/>
                <a:ext cx="497633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cost − budget</a:t>
                </a:r>
              </a:p>
            </p:txBody>
          </p:sp>
          <p:grpSp>
            <p:nvGrpSpPr>
              <p:cNvPr id="166" name="accumulate" descr="accumulate"/>
              <p:cNvGrpSpPr/>
              <p:nvPr/>
            </p:nvGrpSpPr>
            <p:grpSpPr>
              <a:xfrm>
                <a:off x="1996592" y="1707413"/>
                <a:ext cx="583387" cy="178536"/>
                <a:chOff x="1996592" y="1707413"/>
                <a:chExt cx="583387" cy="178536"/>
              </a:xfrm>
            </p:grpSpPr>
            <p:sp>
              <p:nvSpPr>
                <p:cNvPr id="89" name="accumulate_panel" descr="Editable shape; source id accumulate_panel"/>
                <p:cNvSpPr/>
                <p:nvPr/>
              </p:nvSpPr>
              <p:spPr>
                <a:xfrm>
                  <a:off x="1996592" y="1707413"/>
                  <a:ext cx="583387" cy="178536"/>
                </a:xfrm>
                <a:prstGeom prst="roundRect">
                  <a:avLst>
                    <a:gd name="adj" fmla="val 11267"/>
                  </a:avLst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" name="accumulate_label" descr="Editable text; source id accumulate_label"/>
                <p:cNvSpPr txBox="1"/>
                <p:nvPr/>
              </p:nvSpPr>
              <p:spPr>
                <a:xfrm>
                  <a:off x="2072420" y="1742152"/>
                  <a:ext cx="440236" cy="1091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3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Accumulate</a:t>
                  </a:r>
                </a:p>
              </p:txBody>
            </p:sp>
          </p:grpSp>
          <p:grpSp>
            <p:nvGrpSpPr>
              <p:cNvPr id="167" name="feedback_memory" descr="One editable routed connector; fixed endpoints."/>
              <p:cNvGrpSpPr/>
              <p:nvPr/>
            </p:nvGrpSpPr>
            <p:grpSpPr>
              <a:xfrm>
                <a:off x="2083348" y="1898523"/>
                <a:ext cx="396047" cy="42748"/>
                <a:chOff x="2083348" y="1898523"/>
                <a:chExt cx="396047" cy="42748"/>
              </a:xfrm>
            </p:grpSpPr>
            <p:cxnSp>
              <p:nvCxnSpPr>
                <p:cNvPr id="91" name="feedback_memory_0" descr="Editable line; source id feedback_memory_0"/>
                <p:cNvCxnSpPr/>
                <p:nvPr/>
              </p:nvCxnSpPr>
              <p:spPr>
                <a:xfrm>
                  <a:off x="2479395" y="1898523"/>
                  <a:ext cx="0" cy="42748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feedback_memory_1" descr="Editable line; source id feedback_memory_1"/>
                <p:cNvCxnSpPr/>
                <p:nvPr/>
              </p:nvCxnSpPr>
              <p:spPr>
                <a:xfrm flipH="1">
                  <a:off x="2094661" y="1941271"/>
                  <a:ext cx="384734" cy="0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feedback_memory_2" descr="Editable line; source id feedback_memory_2"/>
                <p:cNvSpPr/>
                <p:nvPr/>
              </p:nvSpPr>
              <p:spPr>
                <a:xfrm>
                  <a:off x="2083348" y="1898523"/>
                  <a:ext cx="22629" cy="4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2" h="15079">
                      <a:moveTo>
                        <a:pt x="3281" y="15079"/>
                      </a:moveTo>
                      <a:lnTo>
                        <a:pt x="3281" y="10644"/>
                      </a:lnTo>
                      <a:lnTo>
                        <a:pt x="0" y="10644"/>
                      </a:lnTo>
                      <a:lnTo>
                        <a:pt x="3991" y="0"/>
                      </a:lnTo>
                      <a:lnTo>
                        <a:pt x="7982" y="10644"/>
                      </a:lnTo>
                      <a:lnTo>
                        <a:pt x="4701" y="10644"/>
                      </a:lnTo>
                      <a:lnTo>
                        <a:pt x="4701" y="15079"/>
                      </a:lnTo>
                      <a:close/>
                    </a:path>
                  </a:pathLst>
                </a:cu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4" name="feedback_to_price" descr="Editable line; source id feedback_to_price"/>
              <p:cNvSpPr/>
              <p:nvPr/>
            </p:nvSpPr>
            <p:spPr>
              <a:xfrm>
                <a:off x="2605126" y="1784107"/>
                <a:ext cx="81221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286501" h="7984">
                    <a:moveTo>
                      <a:pt x="0" y="2972"/>
                    </a:moveTo>
                    <a:lnTo>
                      <a:pt x="275857" y="2972"/>
                    </a:lnTo>
                    <a:lnTo>
                      <a:pt x="275857" y="0"/>
                    </a:lnTo>
                    <a:lnTo>
                      <a:pt x="286501" y="3992"/>
                    </a:lnTo>
                    <a:lnTo>
                      <a:pt x="275857" y="7984"/>
                    </a:lnTo>
                    <a:lnTo>
                      <a:pt x="275857" y="5012"/>
                    </a:lnTo>
                    <a:lnTo>
                      <a:pt x="0" y="5012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feedback_beta" descr="Editable text; source id feedback_beta"/>
              <p:cNvSpPr txBox="1"/>
              <p:nvPr/>
            </p:nvSpPr>
            <p:spPr>
              <a:xfrm>
                <a:off x="2935523" y="1654734"/>
                <a:ext cx="71914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β</a:t>
                </a:r>
              </a:p>
            </p:txBody>
          </p:sp>
        </p:grpSp>
        <p:grpSp>
          <p:nvGrpSpPr>
            <p:cNvPr id="169" name="conditioned_to_sum" descr="One editable routed connector; fixed endpoints."/>
            <p:cNvGrpSpPr/>
            <p:nvPr/>
          </p:nvGrpSpPr>
          <p:grpSpPr>
            <a:xfrm>
              <a:off x="3541813" y="955547"/>
              <a:ext cx="257747" cy="746837"/>
              <a:chOff x="3541813" y="955547"/>
              <a:chExt cx="257747" cy="746837"/>
            </a:xfrm>
          </p:grpSpPr>
          <p:cxnSp>
            <p:nvCxnSpPr>
              <p:cNvPr id="96" name="conditioned_to_sum_0" descr="Editable line; source id conditioned_to_sum_0"/>
              <p:cNvCxnSpPr/>
              <p:nvPr/>
            </p:nvCxnSpPr>
            <p:spPr>
              <a:xfrm>
                <a:off x="3746754" y="955547"/>
                <a:ext cx="52806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ditioned_to_sum_1" descr="Editable line; source id conditioned_to_sum_1"/>
              <p:cNvCxnSpPr/>
              <p:nvPr/>
            </p:nvCxnSpPr>
            <p:spPr>
              <a:xfrm>
                <a:off x="3799560" y="955547"/>
                <a:ext cx="0" cy="671399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ditioned_to_sum_2" descr="Editable line; source id conditioned_to_sum_2"/>
              <p:cNvCxnSpPr/>
              <p:nvPr/>
            </p:nvCxnSpPr>
            <p:spPr>
              <a:xfrm flipH="1">
                <a:off x="3553129" y="1626946"/>
                <a:ext cx="246431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conditioned_to_sum_3" descr="Editable line; source id conditioned_to_sum_3"/>
              <p:cNvSpPr/>
              <p:nvPr/>
            </p:nvSpPr>
            <p:spPr>
              <a:xfrm>
                <a:off x="3541813" y="1626946"/>
                <a:ext cx="22631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26610">
                    <a:moveTo>
                      <a:pt x="5012" y="0"/>
                    </a:moveTo>
                    <a:lnTo>
                      <a:pt x="5012" y="15966"/>
                    </a:lnTo>
                    <a:lnTo>
                      <a:pt x="7983" y="15966"/>
                    </a:lnTo>
                    <a:lnTo>
                      <a:pt x="3992" y="26610"/>
                    </a:lnTo>
                    <a:lnTo>
                      <a:pt x="0" y="15966"/>
                    </a:lnTo>
                    <a:lnTo>
                      <a:pt x="2972" y="15966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0" name="price_sum" descr="price sum"/>
            <p:cNvGrpSpPr/>
            <p:nvPr/>
          </p:nvGrpSpPr>
          <p:grpSpPr>
            <a:xfrm>
              <a:off x="3485235" y="1727530"/>
              <a:ext cx="135788" cy="135788"/>
              <a:chOff x="3485235" y="1727530"/>
              <a:chExt cx="135788" cy="135788"/>
            </a:xfrm>
          </p:grpSpPr>
          <p:sp>
            <p:nvSpPr>
              <p:cNvPr id="100" name="price_sum_panel" descr="Editable shape; source id price_sum_panel"/>
              <p:cNvSpPr/>
              <p:nvPr/>
            </p:nvSpPr>
            <p:spPr>
              <a:xfrm>
                <a:off x="3485235" y="1727530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rice_sum_label" descr="Editable text; source id price_sum_label"/>
              <p:cNvSpPr txBox="1"/>
              <p:nvPr/>
            </p:nvSpPr>
            <p:spPr>
              <a:xfrm>
                <a:off x="3519464" y="1731246"/>
                <a:ext cx="75834" cy="126929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5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102" name="sum_to_output" descr="Editable line; source id sum_to_output"/>
            <p:cNvSpPr/>
            <p:nvPr/>
          </p:nvSpPr>
          <p:spPr>
            <a:xfrm>
              <a:off x="3646170" y="1784107"/>
              <a:ext cx="113157" cy="22634"/>
            </a:xfrm>
            <a:custGeom>
              <a:avLst/>
              <a:gdLst/>
              <a:ahLst/>
              <a:cxnLst/>
              <a:rect l="l" t="t" r="r" b="b"/>
              <a:pathLst>
                <a:path w="39915" h="7984">
                  <a:moveTo>
                    <a:pt x="0" y="2972"/>
                  </a:moveTo>
                  <a:lnTo>
                    <a:pt x="29271" y="2972"/>
                  </a:lnTo>
                  <a:lnTo>
                    <a:pt x="29271" y="0"/>
                  </a:lnTo>
                  <a:lnTo>
                    <a:pt x="39915" y="3992"/>
                  </a:lnTo>
                  <a:lnTo>
                    <a:pt x="29271" y="7984"/>
                  </a:lnTo>
                  <a:lnTo>
                    <a:pt x="29271" y="5012"/>
                  </a:lnTo>
                  <a:lnTo>
                    <a:pt x="0" y="5012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3" name="rollout_to_graph" descr="Editable line; source id rollout_to_graph"/>
          <p:cNvSpPr/>
          <p:nvPr/>
        </p:nvSpPr>
        <p:spPr>
          <a:xfrm>
            <a:off x="902741" y="516749"/>
            <a:ext cx="173507" cy="22634"/>
          </a:xfrm>
          <a:custGeom>
            <a:avLst/>
            <a:gdLst/>
            <a:ahLst/>
            <a:cxnLst/>
            <a:rect l="l" t="t" r="r" b="b"/>
            <a:pathLst>
              <a:path w="61203" h="7984">
                <a:moveTo>
                  <a:pt x="0" y="2972"/>
                </a:moveTo>
                <a:lnTo>
                  <a:pt x="50559" y="2972"/>
                </a:lnTo>
                <a:lnTo>
                  <a:pt x="50559" y="0"/>
                </a:lnTo>
                <a:lnTo>
                  <a:pt x="61203" y="3992"/>
                </a:lnTo>
                <a:lnTo>
                  <a:pt x="50559" y="7984"/>
                </a:lnTo>
                <a:lnTo>
                  <a:pt x="50559" y="5012"/>
                </a:lnTo>
                <a:lnTo>
                  <a:pt x="0" y="5012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nsition_label" descr="Editable text; source id transition_label"/>
          <p:cNvSpPr txBox="1"/>
          <p:nvPr/>
        </p:nvSpPr>
        <p:spPr>
          <a:xfrm>
            <a:off x="311725" y="583378"/>
            <a:ext cx="38083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transitions</a:t>
            </a:r>
          </a:p>
        </p:txBody>
      </p:sp>
      <p:grpSp>
        <p:nvGrpSpPr>
          <p:cNvPr id="172" name="episode_cost_path" descr="One editable routed connector; fixed endpoints."/>
          <p:cNvGrpSpPr/>
          <p:nvPr/>
        </p:nvGrpSpPr>
        <p:grpSpPr>
          <a:xfrm>
            <a:off x="590931" y="1672209"/>
            <a:ext cx="1009613" cy="35204"/>
            <a:chOff x="590931" y="1672209"/>
            <a:chExt cx="1009613" cy="35204"/>
          </a:xfrm>
        </p:grpSpPr>
        <p:cxnSp>
          <p:nvCxnSpPr>
            <p:cNvPr id="105" name="episode_cost_path_0" descr="Editable line; source id episode_cost_path_0"/>
            <p:cNvCxnSpPr/>
            <p:nvPr/>
          </p:nvCxnSpPr>
          <p:spPr>
            <a:xfrm>
              <a:off x="590931" y="1672209"/>
              <a:ext cx="447598" cy="0"/>
            </a:xfrm>
            <a:prstGeom prst="line">
              <a:avLst/>
            </a:prstGeom>
            <a:ln w="5280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pisode_cost_path_1" descr="Editable line; source id episode_cost_path_1"/>
            <p:cNvCxnSpPr/>
            <p:nvPr/>
          </p:nvCxnSpPr>
          <p:spPr>
            <a:xfrm>
              <a:off x="1038529" y="1672209"/>
              <a:ext cx="550698" cy="0"/>
            </a:xfrm>
            <a:prstGeom prst="line">
              <a:avLst/>
            </a:prstGeom>
            <a:ln w="5280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episode_cost_path_2" descr="Editable line; source id episode_cost_path_2"/>
            <p:cNvSpPr/>
            <p:nvPr/>
          </p:nvSpPr>
          <p:spPr>
            <a:xfrm>
              <a:off x="1577913" y="1672209"/>
              <a:ext cx="22631" cy="35204"/>
            </a:xfrm>
            <a:custGeom>
              <a:avLst/>
              <a:gdLst/>
              <a:ahLst/>
              <a:cxnLst/>
              <a:rect l="l" t="t" r="r" b="b"/>
              <a:pathLst>
                <a:path w="7983" h="12418">
                  <a:moveTo>
                    <a:pt x="4922" y="0"/>
                  </a:moveTo>
                  <a:lnTo>
                    <a:pt x="4922" y="1774"/>
                  </a:lnTo>
                  <a:lnTo>
                    <a:pt x="7983" y="1774"/>
                  </a:lnTo>
                  <a:lnTo>
                    <a:pt x="3991" y="12418"/>
                  </a:lnTo>
                  <a:lnTo>
                    <a:pt x="0" y="1774"/>
                  </a:lnTo>
                  <a:lnTo>
                    <a:pt x="3060" y="1774"/>
                  </a:lnTo>
                  <a:lnTo>
                    <a:pt x="3060" y="0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4" name="policy_update" descr="policy update"/>
          <p:cNvGrpSpPr/>
          <p:nvPr/>
        </p:nvGrpSpPr>
        <p:grpSpPr>
          <a:xfrm>
            <a:off x="4147923" y="309287"/>
            <a:ext cx="755546" cy="1999115"/>
            <a:chOff x="4147923" y="309287"/>
            <a:chExt cx="755546" cy="1999115"/>
          </a:xfrm>
        </p:grpSpPr>
        <p:sp>
          <p:nvSpPr>
            <p:cNvPr id="108" name="reward_adv_label" descr="Editable text; source id reward_adv_label"/>
            <p:cNvSpPr txBox="1"/>
            <p:nvPr/>
          </p:nvSpPr>
          <p:spPr>
            <a:xfrm>
              <a:off x="4147923" y="309287"/>
              <a:ext cx="684750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 advantage</a:t>
              </a:r>
            </a:p>
          </p:txBody>
        </p:sp>
        <p:grpSp>
          <p:nvGrpSpPr>
            <p:cNvPr id="174" name="reward_adv" descr="reward adv"/>
            <p:cNvGrpSpPr/>
            <p:nvPr/>
          </p:nvGrpSpPr>
          <p:grpSpPr>
            <a:xfrm>
              <a:off x="4259732" y="455142"/>
              <a:ext cx="447598" cy="128836"/>
              <a:chOff x="4259732" y="455142"/>
              <a:chExt cx="447598" cy="128836"/>
            </a:xfrm>
          </p:grpSpPr>
          <p:sp>
            <p:nvSpPr>
              <p:cNvPr id="109" name="reward_adv_panel" descr="Editable shape; source id reward_adv_panel"/>
              <p:cNvSpPr/>
              <p:nvPr/>
            </p:nvSpPr>
            <p:spPr>
              <a:xfrm>
                <a:off x="4259732" y="455142"/>
                <a:ext cx="447598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73" name="reward_adv_symbol" descr="Editable formula parts and native mathematical delimiters."/>
              <p:cNvGrpSpPr/>
              <p:nvPr/>
            </p:nvGrpSpPr>
            <p:grpSpPr>
              <a:xfrm>
                <a:off x="4436392" y="465580"/>
                <a:ext cx="88093" cy="118398"/>
                <a:chOff x="4436392" y="465580"/>
                <a:chExt cx="88093" cy="118398"/>
              </a:xfrm>
            </p:grpSpPr>
            <p:sp>
              <p:nvSpPr>
                <p:cNvPr id="110" name="reward_adv_symbol_0" descr="Editable text; source id reward_adv_symbol_0"/>
                <p:cNvSpPr txBox="1"/>
                <p:nvPr/>
              </p:nvSpPr>
              <p:spPr>
                <a:xfrm>
                  <a:off x="4436392" y="465580"/>
                  <a:ext cx="68747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11" name="reward_adv_symbol_1" descr="Editable text; source id reward_adv_symbol_1"/>
                <p:cNvSpPr txBox="1"/>
                <p:nvPr/>
              </p:nvSpPr>
              <p:spPr>
                <a:xfrm>
                  <a:off x="4500887" y="512926"/>
                  <a:ext cx="23598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</p:grpSp>
        </p:grpSp>
        <p:sp>
          <p:nvSpPr>
            <p:cNvPr id="112" name="cost_adv_label" descr="Editable text; source id cost_adv_label"/>
            <p:cNvSpPr txBox="1"/>
            <p:nvPr/>
          </p:nvSpPr>
          <p:spPr>
            <a:xfrm>
              <a:off x="4183061" y="646243"/>
              <a:ext cx="614475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 advantages</a:t>
              </a:r>
            </a:p>
          </p:txBody>
        </p:sp>
        <p:grpSp>
          <p:nvGrpSpPr>
            <p:cNvPr id="176" name="cost_adv" descr="cost adv"/>
            <p:cNvGrpSpPr/>
            <p:nvPr/>
          </p:nvGrpSpPr>
          <p:grpSpPr>
            <a:xfrm>
              <a:off x="4259732" y="789584"/>
              <a:ext cx="447598" cy="128836"/>
              <a:chOff x="4259732" y="789584"/>
              <a:chExt cx="447598" cy="128836"/>
            </a:xfrm>
          </p:grpSpPr>
          <p:sp>
            <p:nvSpPr>
              <p:cNvPr id="113" name="cost_adv_panel" descr="Editable shape; source id cost_adv_panel"/>
              <p:cNvSpPr/>
              <p:nvPr/>
            </p:nvSpPr>
            <p:spPr>
              <a:xfrm>
                <a:off x="4259732" y="789584"/>
                <a:ext cx="447598" cy="128244"/>
              </a:xfrm>
              <a:prstGeom prst="roundRect">
                <a:avLst>
                  <a:gd name="adj" fmla="val 15686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75" name="cost_adv_symbol" descr="Editable formula parts and native mathematical delimiters."/>
              <p:cNvGrpSpPr/>
              <p:nvPr/>
            </p:nvGrpSpPr>
            <p:grpSpPr>
              <a:xfrm>
                <a:off x="4433175" y="800022"/>
                <a:ext cx="94527" cy="118398"/>
                <a:chOff x="4433175" y="800022"/>
                <a:chExt cx="94527" cy="118398"/>
              </a:xfrm>
            </p:grpSpPr>
            <p:sp>
              <p:nvSpPr>
                <p:cNvPr id="114" name="cost_adv_symbol_0" descr="Editable text; source id cost_adv_symbol_0"/>
                <p:cNvSpPr txBox="1"/>
                <p:nvPr/>
              </p:nvSpPr>
              <p:spPr>
                <a:xfrm>
                  <a:off x="4433175" y="800022"/>
                  <a:ext cx="68747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15" name="cost_adv_symbol_1" descr="Editable text; source id cost_adv_symbol_1"/>
                <p:cNvSpPr txBox="1"/>
                <p:nvPr/>
              </p:nvSpPr>
              <p:spPr>
                <a:xfrm>
                  <a:off x="4497670" y="847368"/>
                  <a:ext cx="30032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</p:grpSp>
        </p:grpSp>
        <p:grpSp>
          <p:nvGrpSpPr>
            <p:cNvPr id="177" name="weight_gate" descr="weight gate"/>
            <p:cNvGrpSpPr/>
            <p:nvPr/>
          </p:nvGrpSpPr>
          <p:grpSpPr>
            <a:xfrm>
              <a:off x="4418152" y="1078763"/>
              <a:ext cx="135788" cy="135788"/>
              <a:chOff x="4418152" y="1078763"/>
              <a:chExt cx="135788" cy="135788"/>
            </a:xfrm>
          </p:grpSpPr>
          <p:sp>
            <p:nvSpPr>
              <p:cNvPr id="116" name="weight_gate_panel" descr="Editable shape; source id weight_gate_panel"/>
              <p:cNvSpPr/>
              <p:nvPr/>
            </p:nvSpPr>
            <p:spPr>
              <a:xfrm>
                <a:off x="4418152" y="1078763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weight_gate_label" descr="Editable text; source id weight_gate_label"/>
              <p:cNvSpPr txBox="1"/>
              <p:nvPr/>
            </p:nvSpPr>
            <p:spPr>
              <a:xfrm>
                <a:off x="4453798" y="1085931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×</a:t>
                </a:r>
              </a:p>
            </p:txBody>
          </p:sp>
        </p:grpSp>
        <p:sp>
          <p:nvSpPr>
            <p:cNvPr id="118" name="cost_to_weight" descr="Editable line; source id cost_to_weight"/>
            <p:cNvSpPr/>
            <p:nvPr/>
          </p:nvSpPr>
          <p:spPr>
            <a:xfrm>
              <a:off x="4474729" y="935431"/>
              <a:ext cx="22634" cy="125730"/>
            </a:xfrm>
            <a:custGeom>
              <a:avLst/>
              <a:gdLst/>
              <a:ahLst/>
              <a:cxnLst/>
              <a:rect l="l" t="t" r="r" b="b"/>
              <a:pathLst>
                <a:path w="7984" h="44350">
                  <a:moveTo>
                    <a:pt x="4968" y="0"/>
                  </a:moveTo>
                  <a:lnTo>
                    <a:pt x="4968" y="33706"/>
                  </a:lnTo>
                  <a:lnTo>
                    <a:pt x="7984" y="33706"/>
                  </a:lnTo>
                  <a:lnTo>
                    <a:pt x="3992" y="44350"/>
                  </a:lnTo>
                  <a:lnTo>
                    <a:pt x="0" y="33706"/>
                  </a:lnTo>
                  <a:lnTo>
                    <a:pt x="3016" y="3370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8" name="reward_to_combiner" descr="One editable routed connector; fixed endpoints."/>
            <p:cNvGrpSpPr/>
            <p:nvPr/>
          </p:nvGrpSpPr>
          <p:grpSpPr>
            <a:xfrm>
              <a:off x="4662068" y="520522"/>
              <a:ext cx="206197" cy="883883"/>
              <a:chOff x="4662068" y="520522"/>
              <a:chExt cx="206197" cy="883883"/>
            </a:xfrm>
          </p:grpSpPr>
          <p:cxnSp>
            <p:nvCxnSpPr>
              <p:cNvPr id="119" name="reward_to_combiner_0" descr="Editable line; source id reward_to_combiner_0"/>
              <p:cNvCxnSpPr/>
              <p:nvPr/>
            </p:nvCxnSpPr>
            <p:spPr>
              <a:xfrm>
                <a:off x="4734991" y="520522"/>
                <a:ext cx="133274" cy="0"/>
              </a:xfrm>
              <a:prstGeom prst="line">
                <a:avLst/>
              </a:prstGeom>
              <a:ln w="5532" cap="rnd">
                <a:solidFill>
                  <a:srgbClr val="536F8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reward_to_combiner_1" descr="Editable line; source id reward_to_combiner_1"/>
              <p:cNvCxnSpPr/>
              <p:nvPr/>
            </p:nvCxnSpPr>
            <p:spPr>
              <a:xfrm>
                <a:off x="4868265" y="520522"/>
                <a:ext cx="0" cy="872566"/>
              </a:xfrm>
              <a:prstGeom prst="line">
                <a:avLst/>
              </a:prstGeom>
              <a:ln w="5532" cap="rnd">
                <a:solidFill>
                  <a:srgbClr val="536F8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ward_to_combiner_2" descr="Editable line; source id reward_to_combiner_2"/>
              <p:cNvSpPr/>
              <p:nvPr/>
            </p:nvSpPr>
            <p:spPr>
              <a:xfrm>
                <a:off x="4662068" y="1381774"/>
                <a:ext cx="20619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72734" h="7983">
                    <a:moveTo>
                      <a:pt x="72734" y="4967"/>
                    </a:moveTo>
                    <a:lnTo>
                      <a:pt x="10644" y="4967"/>
                    </a:lnTo>
                    <a:lnTo>
                      <a:pt x="10644" y="7983"/>
                    </a:lnTo>
                    <a:lnTo>
                      <a:pt x="0" y="3991"/>
                    </a:lnTo>
                    <a:lnTo>
                      <a:pt x="10644" y="0"/>
                    </a:lnTo>
                    <a:lnTo>
                      <a:pt x="10644" y="3015"/>
                    </a:lnTo>
                    <a:lnTo>
                      <a:pt x="72734" y="3015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2" name="reward_plus" descr="Editable text; source id reward_plus"/>
            <p:cNvSpPr txBox="1"/>
            <p:nvPr/>
          </p:nvSpPr>
          <p:spPr>
            <a:xfrm>
              <a:off x="4730974" y="1259097"/>
              <a:ext cx="66831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  <p:grpSp>
          <p:nvGrpSpPr>
            <p:cNvPr id="179" name="signed_sum" descr="signed sum"/>
            <p:cNvGrpSpPr/>
            <p:nvPr/>
          </p:nvGrpSpPr>
          <p:grpSpPr>
            <a:xfrm>
              <a:off x="4503648" y="1325194"/>
              <a:ext cx="135788" cy="135788"/>
              <a:chOff x="4503648" y="1325194"/>
              <a:chExt cx="135788" cy="135788"/>
            </a:xfrm>
          </p:grpSpPr>
          <p:sp>
            <p:nvSpPr>
              <p:cNvPr id="123" name="signed_sum_panel" descr="Editable shape; source id signed_sum_panel"/>
              <p:cNvSpPr/>
              <p:nvPr/>
            </p:nvSpPr>
            <p:spPr>
              <a:xfrm>
                <a:off x="4503648" y="1325194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29343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igned_sum_label" descr="Editable text; source id signed_sum_label"/>
              <p:cNvSpPr txBox="1"/>
              <p:nvPr/>
            </p:nvSpPr>
            <p:spPr>
              <a:xfrm>
                <a:off x="4539295" y="1332362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−</a:t>
                </a:r>
              </a:p>
            </p:txBody>
          </p:sp>
        </p:grpSp>
        <p:grpSp>
          <p:nvGrpSpPr>
            <p:cNvPr id="180" name="weight_to_combiner" descr="One editable routed connector; fixed endpoints."/>
            <p:cNvGrpSpPr/>
            <p:nvPr/>
          </p:nvGrpSpPr>
          <p:grpSpPr>
            <a:xfrm>
              <a:off x="4486046" y="1237183"/>
              <a:ext cx="96814" cy="62865"/>
              <a:chOff x="4486046" y="1237183"/>
              <a:chExt cx="96814" cy="62865"/>
            </a:xfrm>
          </p:grpSpPr>
          <p:cxnSp>
            <p:nvCxnSpPr>
              <p:cNvPr id="125" name="weight_to_combiner_0" descr="Editable line; source id weight_to_combiner_0"/>
              <p:cNvCxnSpPr/>
              <p:nvPr/>
            </p:nvCxnSpPr>
            <p:spPr>
              <a:xfrm>
                <a:off x="4486046" y="1237183"/>
                <a:ext cx="85496" cy="0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weight_to_combiner_1" descr="Editable line; source id weight_to_combiner_1"/>
              <p:cNvSpPr/>
              <p:nvPr/>
            </p:nvSpPr>
            <p:spPr>
              <a:xfrm>
                <a:off x="4560226" y="1237183"/>
                <a:ext cx="22634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2175">
                    <a:moveTo>
                      <a:pt x="4968" y="0"/>
                    </a:moveTo>
                    <a:lnTo>
                      <a:pt x="4968" y="11531"/>
                    </a:lnTo>
                    <a:lnTo>
                      <a:pt x="7984" y="11531"/>
                    </a:lnTo>
                    <a:lnTo>
                      <a:pt x="3992" y="22175"/>
                    </a:lnTo>
                    <a:lnTo>
                      <a:pt x="0" y="11531"/>
                    </a:lnTo>
                    <a:lnTo>
                      <a:pt x="3016" y="11531"/>
                    </a:lnTo>
                    <a:lnTo>
                      <a:pt x="3016" y="0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7" name="mix_to_normalize" descr="Editable line; source id mix_to_normalize"/>
            <p:cNvSpPr/>
            <p:nvPr/>
          </p:nvSpPr>
          <p:spPr>
            <a:xfrm>
              <a:off x="4560226" y="1483614"/>
              <a:ext cx="22634" cy="75438"/>
            </a:xfrm>
            <a:custGeom>
              <a:avLst/>
              <a:gdLst/>
              <a:ahLst/>
              <a:cxnLst/>
              <a:rect l="l" t="t" r="r" b="b"/>
              <a:pathLst>
                <a:path w="7984" h="26610">
                  <a:moveTo>
                    <a:pt x="4923" y="0"/>
                  </a:moveTo>
                  <a:lnTo>
                    <a:pt x="4923" y="15966"/>
                  </a:lnTo>
                  <a:lnTo>
                    <a:pt x="7984" y="15966"/>
                  </a:lnTo>
                  <a:lnTo>
                    <a:pt x="3992" y="26610"/>
                  </a:lnTo>
                  <a:lnTo>
                    <a:pt x="0" y="15966"/>
                  </a:lnTo>
                  <a:lnTo>
                    <a:pt x="3061" y="15966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1" name="normalize" descr="normalize"/>
            <p:cNvGrpSpPr/>
            <p:nvPr/>
          </p:nvGrpSpPr>
          <p:grpSpPr>
            <a:xfrm>
              <a:off x="4239615" y="1579168"/>
              <a:ext cx="663854" cy="150875"/>
              <a:chOff x="4239615" y="1579168"/>
              <a:chExt cx="663854" cy="150875"/>
            </a:xfrm>
          </p:grpSpPr>
          <p:sp>
            <p:nvSpPr>
              <p:cNvPr id="128" name="normalize_panel" descr="Editable shape; source id normalize_panel"/>
              <p:cNvSpPr/>
              <p:nvPr/>
            </p:nvSpPr>
            <p:spPr>
              <a:xfrm>
                <a:off x="4239615" y="1579168"/>
                <a:ext cx="663854" cy="150875"/>
              </a:xfrm>
              <a:prstGeom prst="roundRect">
                <a:avLst>
                  <a:gd name="adj" fmla="val 13333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normalize_label" descr="Editable text; source id normalize_label"/>
              <p:cNvSpPr txBox="1"/>
              <p:nvPr/>
            </p:nvSpPr>
            <p:spPr>
              <a:xfrm>
                <a:off x="4379120" y="1598705"/>
                <a:ext cx="393349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Normalize</a:t>
                </a:r>
              </a:p>
            </p:txBody>
          </p:sp>
        </p:grpSp>
        <p:sp>
          <p:nvSpPr>
            <p:cNvPr id="130" name="normalize_to_ppo" descr="Editable line; source id normalize_to_ppo"/>
            <p:cNvSpPr/>
            <p:nvPr/>
          </p:nvSpPr>
          <p:spPr>
            <a:xfrm>
              <a:off x="4560226" y="1750162"/>
              <a:ext cx="22634" cy="98069"/>
            </a:xfrm>
            <a:custGeom>
              <a:avLst/>
              <a:gdLst/>
              <a:ahLst/>
              <a:cxnLst/>
              <a:rect l="l" t="t" r="r" b="b"/>
              <a:pathLst>
                <a:path w="7984" h="34593">
                  <a:moveTo>
                    <a:pt x="4923" y="0"/>
                  </a:moveTo>
                  <a:lnTo>
                    <a:pt x="4923" y="23949"/>
                  </a:lnTo>
                  <a:lnTo>
                    <a:pt x="7984" y="23949"/>
                  </a:lnTo>
                  <a:lnTo>
                    <a:pt x="3992" y="34593"/>
                  </a:lnTo>
                  <a:lnTo>
                    <a:pt x="0" y="23949"/>
                  </a:lnTo>
                  <a:lnTo>
                    <a:pt x="3061" y="23949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2" name="ppo" descr="ppo"/>
            <p:cNvGrpSpPr/>
            <p:nvPr/>
          </p:nvGrpSpPr>
          <p:grpSpPr>
            <a:xfrm>
              <a:off x="4239615" y="1868347"/>
              <a:ext cx="663854" cy="160934"/>
              <a:chOff x="4239615" y="1868347"/>
              <a:chExt cx="663854" cy="160934"/>
            </a:xfrm>
          </p:grpSpPr>
          <p:sp>
            <p:nvSpPr>
              <p:cNvPr id="131" name="ppo_panel" descr="Editable shape; source id ppo_panel"/>
              <p:cNvSpPr/>
              <p:nvPr/>
            </p:nvSpPr>
            <p:spPr>
              <a:xfrm>
                <a:off x="4239615" y="1868347"/>
                <a:ext cx="663854" cy="160934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ppo_label" descr="Editable text; source id ppo_label"/>
              <p:cNvSpPr txBox="1"/>
              <p:nvPr/>
            </p:nvSpPr>
            <p:spPr>
              <a:xfrm>
                <a:off x="4322000" y="1890832"/>
                <a:ext cx="507588" cy="115060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</p:grpSp>
        <p:sp>
          <p:nvSpPr>
            <p:cNvPr id="133" name="ppo_to_policy" descr="Editable line; source id ppo_to_policy"/>
            <p:cNvSpPr/>
            <p:nvPr/>
          </p:nvSpPr>
          <p:spPr>
            <a:xfrm>
              <a:off x="4560226" y="2046884"/>
              <a:ext cx="22634" cy="75438"/>
            </a:xfrm>
            <a:custGeom>
              <a:avLst/>
              <a:gdLst/>
              <a:ahLst/>
              <a:cxnLst/>
              <a:rect l="l" t="t" r="r" b="b"/>
              <a:pathLst>
                <a:path w="7984" h="26610">
                  <a:moveTo>
                    <a:pt x="4923" y="0"/>
                  </a:moveTo>
                  <a:lnTo>
                    <a:pt x="4923" y="15966"/>
                  </a:lnTo>
                  <a:lnTo>
                    <a:pt x="7984" y="15966"/>
                  </a:lnTo>
                  <a:lnTo>
                    <a:pt x="3992" y="26610"/>
                  </a:lnTo>
                  <a:lnTo>
                    <a:pt x="0" y="15966"/>
                  </a:lnTo>
                  <a:lnTo>
                    <a:pt x="3061" y="15966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3" name="new_policy" descr="new policy"/>
            <p:cNvGrpSpPr/>
            <p:nvPr/>
          </p:nvGrpSpPr>
          <p:grpSpPr>
            <a:xfrm>
              <a:off x="4488561" y="2142439"/>
              <a:ext cx="165963" cy="165963"/>
              <a:chOff x="4488561" y="2142439"/>
              <a:chExt cx="165963" cy="165963"/>
            </a:xfrm>
          </p:grpSpPr>
          <p:sp>
            <p:nvSpPr>
              <p:cNvPr id="134" name="new_policy_panel" descr="Editable shape; source id new_policy_panel"/>
              <p:cNvSpPr/>
              <p:nvPr/>
            </p:nvSpPr>
            <p:spPr>
              <a:xfrm>
                <a:off x="4488561" y="2142439"/>
                <a:ext cx="165963" cy="165963"/>
              </a:xfrm>
              <a:prstGeom prst="ellipse">
                <a:avLst/>
              </a:prstGeom>
              <a:solidFill>
                <a:srgbClr val="EDF1F6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new_policy_label" descr="Editable text; source id new_policy_label"/>
              <p:cNvSpPr txBox="1"/>
              <p:nvPr/>
            </p:nvSpPr>
            <p:spPr>
              <a:xfrm>
                <a:off x="4527601" y="2152303"/>
                <a:ext cx="96388" cy="14473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1001"/>
                  </a:lnSpc>
                  <a:spcBef>
                    <a:spcPts val="0"/>
                  </a:spcBef>
                  <a:spcAft>
                    <a:spcPts val="0"/>
                  </a:spcAft>
                  <a:defRPr sz="871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871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π</a:t>
                </a:r>
              </a:p>
            </p:txBody>
          </p:sp>
        </p:grpSp>
      </p:grpSp>
      <p:grpSp>
        <p:nvGrpSpPr>
          <p:cNvPr id="185" name="price_to_weight" descr="One editable routed connector; fixed endpoints."/>
          <p:cNvGrpSpPr/>
          <p:nvPr/>
        </p:nvGrpSpPr>
        <p:grpSpPr>
          <a:xfrm>
            <a:off x="3910203" y="1135340"/>
            <a:ext cx="485318" cy="660084"/>
            <a:chOff x="3910203" y="1135340"/>
            <a:chExt cx="485318" cy="660084"/>
          </a:xfrm>
        </p:grpSpPr>
        <p:cxnSp>
          <p:nvCxnSpPr>
            <p:cNvPr id="136" name="price_to_weight_0" descr="Editable line; source id price_to_weight_0"/>
            <p:cNvCxnSpPr/>
            <p:nvPr/>
          </p:nvCxnSpPr>
          <p:spPr>
            <a:xfrm>
              <a:off x="3910203" y="1795424"/>
              <a:ext cx="138302" cy="0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price_to_weight_1" descr="Editable line; source id price_to_weight_1"/>
            <p:cNvCxnSpPr/>
            <p:nvPr/>
          </p:nvCxnSpPr>
          <p:spPr>
            <a:xfrm flipV="1">
              <a:off x="4048505" y="1146657"/>
              <a:ext cx="0" cy="648767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price_to_weight_2" descr="Editable line; source id price_to_weight_2"/>
            <p:cNvSpPr/>
            <p:nvPr/>
          </p:nvSpPr>
          <p:spPr>
            <a:xfrm>
              <a:off x="4048506" y="1135340"/>
              <a:ext cx="347015" cy="22631"/>
            </a:xfrm>
            <a:custGeom>
              <a:avLst/>
              <a:gdLst/>
              <a:ahLst/>
              <a:cxnLst/>
              <a:rect l="l" t="t" r="r" b="b"/>
              <a:pathLst>
                <a:path w="122406" h="7983">
                  <a:moveTo>
                    <a:pt x="0" y="2883"/>
                  </a:moveTo>
                  <a:lnTo>
                    <a:pt x="111762" y="2883"/>
                  </a:lnTo>
                  <a:lnTo>
                    <a:pt x="111762" y="0"/>
                  </a:lnTo>
                  <a:lnTo>
                    <a:pt x="122406" y="3992"/>
                  </a:lnTo>
                  <a:lnTo>
                    <a:pt x="111762" y="7983"/>
                  </a:lnTo>
                  <a:lnTo>
                    <a:pt x="111762" y="5101"/>
                  </a:lnTo>
                  <a:lnTo>
                    <a:pt x="0" y="5101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9" name="shared_price_label" descr="Editable text; source id shared_price_label"/>
          <p:cNvSpPr txBox="1"/>
          <p:nvPr/>
        </p:nvSpPr>
        <p:spPr>
          <a:xfrm>
            <a:off x="4081094" y="937937"/>
            <a:ext cx="27525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Shared</a:t>
            </a:r>
          </a:p>
        </p:txBody>
      </p:sp>
      <p:sp>
        <p:nvSpPr>
          <p:cNvPr id="140" name="shared_price_label2" descr="Editable text; source id shared_price_label2"/>
          <p:cNvSpPr txBox="1"/>
          <p:nvPr/>
        </p:nvSpPr>
        <p:spPr>
          <a:xfrm>
            <a:off x="4103159" y="1030977"/>
            <a:ext cx="23112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prices</a:t>
            </a:r>
          </a:p>
        </p:txBody>
      </p:sp>
      <p:grpSp>
        <p:nvGrpSpPr>
          <p:cNvPr id="186" name="gae_lower" descr="One editable routed connector; fixed endpoints."/>
          <p:cNvGrpSpPr/>
          <p:nvPr/>
        </p:nvGrpSpPr>
        <p:grpSpPr>
          <a:xfrm>
            <a:off x="900226" y="1825599"/>
            <a:ext cx="3050210" cy="304267"/>
            <a:chOff x="900226" y="1825599"/>
            <a:chExt cx="3050210" cy="304267"/>
          </a:xfrm>
        </p:grpSpPr>
        <p:cxnSp>
          <p:nvCxnSpPr>
            <p:cNvPr id="141" name="gae_lower_0" descr="Editable line; source id gae_lower_0"/>
            <p:cNvCxnSpPr/>
            <p:nvPr/>
          </p:nvCxnSpPr>
          <p:spPr>
            <a:xfrm>
              <a:off x="900226" y="2129866"/>
              <a:ext cx="3050210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ae_lower_1" descr="Editable line; source id gae_lower_1"/>
            <p:cNvCxnSpPr/>
            <p:nvPr/>
          </p:nvCxnSpPr>
          <p:spPr>
            <a:xfrm flipV="1">
              <a:off x="3950436" y="1825599"/>
              <a:ext cx="0" cy="304267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ae_to_inputs" descr="One editable routed connector; fixed endpoints."/>
          <p:cNvGrpSpPr/>
          <p:nvPr/>
        </p:nvGrpSpPr>
        <p:grpSpPr>
          <a:xfrm>
            <a:off x="3950436" y="261518"/>
            <a:ext cx="284151" cy="1503731"/>
            <a:chOff x="3950436" y="261518"/>
            <a:chExt cx="284151" cy="1503731"/>
          </a:xfrm>
        </p:grpSpPr>
        <p:cxnSp>
          <p:nvCxnSpPr>
            <p:cNvPr id="143" name="gae_to_inputs_0" descr="Editable line; source id gae_to_inputs_0"/>
            <p:cNvCxnSpPr/>
            <p:nvPr/>
          </p:nvCxnSpPr>
          <p:spPr>
            <a:xfrm flipV="1">
              <a:off x="3950436" y="261518"/>
              <a:ext cx="0" cy="1503731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ae_to_inputs_1" descr="Editable line; source id gae_to_inputs_1"/>
            <p:cNvCxnSpPr/>
            <p:nvPr/>
          </p:nvCxnSpPr>
          <p:spPr>
            <a:xfrm>
              <a:off x="3950436" y="261518"/>
              <a:ext cx="206197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ae_to_inputs_2" descr="Editable line; source id gae_to_inputs_2"/>
            <p:cNvCxnSpPr/>
            <p:nvPr/>
          </p:nvCxnSpPr>
          <p:spPr>
            <a:xfrm>
              <a:off x="4156633" y="261518"/>
              <a:ext cx="0" cy="259004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gae_to_inputs_3" descr="Editable line; source id gae_to_inputs_3"/>
            <p:cNvSpPr/>
            <p:nvPr/>
          </p:nvSpPr>
          <p:spPr>
            <a:xfrm>
              <a:off x="4156634" y="509208"/>
              <a:ext cx="77953" cy="22629"/>
            </a:xfrm>
            <a:custGeom>
              <a:avLst/>
              <a:gdLst/>
              <a:ahLst/>
              <a:cxnLst/>
              <a:rect l="l" t="t" r="r" b="b"/>
              <a:pathLst>
                <a:path w="27497" h="7982">
                  <a:moveTo>
                    <a:pt x="0" y="3148"/>
                  </a:moveTo>
                  <a:lnTo>
                    <a:pt x="16853" y="3148"/>
                  </a:lnTo>
                  <a:lnTo>
                    <a:pt x="16853" y="0"/>
                  </a:lnTo>
                  <a:lnTo>
                    <a:pt x="27497" y="3991"/>
                  </a:lnTo>
                  <a:lnTo>
                    <a:pt x="16853" y="7982"/>
                  </a:lnTo>
                  <a:lnTo>
                    <a:pt x="16853" y="4834"/>
                  </a:lnTo>
                  <a:lnTo>
                    <a:pt x="0" y="483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8" name="gae_cost_fork" descr="One editable routed connector; fixed endpoints."/>
          <p:cNvGrpSpPr/>
          <p:nvPr/>
        </p:nvGrpSpPr>
        <p:grpSpPr>
          <a:xfrm>
            <a:off x="4156633" y="520522"/>
            <a:ext cx="77954" cy="343242"/>
            <a:chOff x="4156633" y="520522"/>
            <a:chExt cx="77954" cy="343242"/>
          </a:xfrm>
        </p:grpSpPr>
        <p:cxnSp>
          <p:nvCxnSpPr>
            <p:cNvPr id="147" name="gae_cost_fork_0" descr="Editable line; source id gae_cost_fork_0"/>
            <p:cNvCxnSpPr/>
            <p:nvPr/>
          </p:nvCxnSpPr>
          <p:spPr>
            <a:xfrm>
              <a:off x="4156633" y="520522"/>
              <a:ext cx="0" cy="331927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gae_cost_fork_1" descr="Editable line; source id gae_cost_fork_1"/>
            <p:cNvSpPr/>
            <p:nvPr/>
          </p:nvSpPr>
          <p:spPr>
            <a:xfrm>
              <a:off x="4156634" y="841135"/>
              <a:ext cx="77953" cy="22629"/>
            </a:xfrm>
            <a:custGeom>
              <a:avLst/>
              <a:gdLst/>
              <a:ahLst/>
              <a:cxnLst/>
              <a:rect l="l" t="t" r="r" b="b"/>
              <a:pathLst>
                <a:path w="27497" h="7982">
                  <a:moveTo>
                    <a:pt x="0" y="3148"/>
                  </a:moveTo>
                  <a:lnTo>
                    <a:pt x="16853" y="3148"/>
                  </a:lnTo>
                  <a:lnTo>
                    <a:pt x="16853" y="0"/>
                  </a:lnTo>
                  <a:lnTo>
                    <a:pt x="27497" y="3991"/>
                  </a:lnTo>
                  <a:lnTo>
                    <a:pt x="16853" y="7982"/>
                  </a:lnTo>
                  <a:lnTo>
                    <a:pt x="16853" y="4834"/>
                  </a:lnTo>
                  <a:lnTo>
                    <a:pt x="0" y="483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9" name="next_rollout" descr="One editable routed connector; fixed endpoints."/>
          <p:cNvGrpSpPr/>
          <p:nvPr/>
        </p:nvGrpSpPr>
        <p:grpSpPr>
          <a:xfrm>
            <a:off x="50292" y="516749"/>
            <a:ext cx="4521250" cy="1902296"/>
            <a:chOff x="50292" y="516749"/>
            <a:chExt cx="4521250" cy="1902296"/>
          </a:xfrm>
        </p:grpSpPr>
        <p:cxnSp>
          <p:nvCxnSpPr>
            <p:cNvPr id="149" name="next_rollout_0" descr="Editable line; source id next_rollout_0"/>
            <p:cNvCxnSpPr/>
            <p:nvPr/>
          </p:nvCxnSpPr>
          <p:spPr>
            <a:xfrm>
              <a:off x="4571542" y="2326005"/>
              <a:ext cx="0" cy="93040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next_rollout_1" descr="Editable line; source id next_rollout_1"/>
            <p:cNvCxnSpPr/>
            <p:nvPr/>
          </p:nvCxnSpPr>
          <p:spPr>
            <a:xfrm flipH="1">
              <a:off x="50292" y="2419045"/>
              <a:ext cx="4521250" cy="0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next_rollout_2" descr="Editable line; source id next_rollout_2"/>
            <p:cNvCxnSpPr/>
            <p:nvPr/>
          </p:nvCxnSpPr>
          <p:spPr>
            <a:xfrm flipV="1">
              <a:off x="50292" y="528066"/>
              <a:ext cx="0" cy="1890979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next_rollout_3" descr="Editable line; source id next_rollout_3"/>
            <p:cNvSpPr/>
            <p:nvPr/>
          </p:nvSpPr>
          <p:spPr>
            <a:xfrm>
              <a:off x="50292" y="516749"/>
              <a:ext cx="45263" cy="22634"/>
            </a:xfrm>
            <a:custGeom>
              <a:avLst/>
              <a:gdLst/>
              <a:ahLst/>
              <a:cxnLst/>
              <a:rect l="l" t="t" r="r" b="b"/>
              <a:pathLst>
                <a:path w="15966" h="7984">
                  <a:moveTo>
                    <a:pt x="0" y="3194"/>
                  </a:moveTo>
                  <a:lnTo>
                    <a:pt x="5322" y="3194"/>
                  </a:lnTo>
                  <a:lnTo>
                    <a:pt x="5322" y="0"/>
                  </a:lnTo>
                  <a:lnTo>
                    <a:pt x="15966" y="3992"/>
                  </a:lnTo>
                  <a:lnTo>
                    <a:pt x="5322" y="7984"/>
                  </a:lnTo>
                  <a:lnTo>
                    <a:pt x="5322" y="4790"/>
                  </a:lnTo>
                  <a:lnTo>
                    <a:pt x="0" y="479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3" name="next_rollout_label" descr="Editable text; source id next_rollout_label"/>
          <p:cNvSpPr txBox="1"/>
          <p:nvPr/>
        </p:nvSpPr>
        <p:spPr>
          <a:xfrm>
            <a:off x="2315090" y="2300850"/>
            <a:ext cx="407523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  <p:sp>
        <p:nvSpPr>
          <p:cNvPr id="154" name="schematic_note" descr="Editable text; source id schematic_note"/>
          <p:cNvSpPr txBox="1"/>
          <p:nvPr/>
        </p:nvSpPr>
        <p:spPr>
          <a:xfrm>
            <a:off x="99943" y="2248043"/>
            <a:ext cx="38980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Schematic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