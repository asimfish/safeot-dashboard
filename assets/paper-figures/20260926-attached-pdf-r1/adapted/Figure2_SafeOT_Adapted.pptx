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stage1"/>
          <p:cNvGrpSpPr/>
          <p:nvPr/>
        </p:nvGrpSpPr>
        <p:grpSpPr>
          <a:xfrm>
            <a:off x="38100" y="76200"/>
            <a:ext cx="546100" cy="2552700"/>
            <a:chOff x="38100" y="76200"/>
            <a:chExt cx="546100" cy="2552700"/>
          </a:xfrm>
        </p:grpSpPr>
        <p:sp>
          <p:nvSpPr>
            <p:cNvPr id="3" name="stage1_border"/>
            <p:cNvSpPr/>
            <p:nvPr/>
          </p:nvSpPr>
          <p:spPr>
            <a:xfrm>
              <a:off x="38100" y="76200"/>
              <a:ext cx="5461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badge1"/>
            <p:cNvSpPr/>
            <p:nvPr/>
          </p:nvSpPr>
          <p:spPr>
            <a:xfrm>
              <a:off x="88900" y="152400"/>
              <a:ext cx="165100" cy="165100"/>
            </a:xfrm>
            <a:prstGeom prst="ellipse">
              <a:avLst/>
            </a:prstGeom>
            <a:solidFill>
              <a:srgbClr val="6972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number1"/>
            <p:cNvSpPr txBox="1"/>
            <p:nvPr/>
          </p:nvSpPr>
          <p:spPr>
            <a:xfrm>
              <a:off x="88900" y="152400"/>
              <a:ext cx="1651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i="0">
                  <a:solidFill>
                    <a:srgbClr val="FFFFFF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6" name="title1"/>
            <p:cNvSpPr txBox="1"/>
            <p:nvPr/>
          </p:nvSpPr>
          <p:spPr>
            <a:xfrm>
              <a:off x="63500" y="342900"/>
              <a:ext cx="495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69727B"/>
                  </a:solidFill>
                  <a:latin typeface="Liberation Serif"/>
                </a:rPr>
                <a:t>Rollout</a:t>
              </a:r>
            </a:p>
          </p:txBody>
        </p:sp>
        <p:sp>
          <p:nvSpPr>
            <p:cNvPr id="7" name="policy_label"/>
            <p:cNvSpPr txBox="1"/>
            <p:nvPr/>
          </p:nvSpPr>
          <p:spPr>
            <a:xfrm>
              <a:off x="88900" y="558800"/>
              <a:ext cx="4445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policy</a:t>
              </a:r>
            </a:p>
          </p:txBody>
        </p:sp>
        <p:pic>
          <p:nvPicPr>
            <p:cNvPr id="8" name="world" descr="worl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00" y="1041400"/>
              <a:ext cx="165100" cy="190500"/>
            </a:xfrm>
            <a:prstGeom prst="rect">
              <a:avLst/>
            </a:prstGeom>
          </p:spPr>
        </p:pic>
        <p:pic>
          <p:nvPicPr>
            <p:cNvPr id="9" name="robot" descr="robo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2900" y="1016000"/>
              <a:ext cx="152400" cy="292100"/>
            </a:xfrm>
            <a:prstGeom prst="rect">
              <a:avLst/>
            </a:prstGeom>
          </p:spPr>
        </p:pic>
        <p:sp>
          <p:nvSpPr>
            <p:cNvPr id="10" name="rollout_arrow"/>
            <p:cNvSpPr/>
            <p:nvPr/>
          </p:nvSpPr>
          <p:spPr>
            <a:xfrm>
              <a:off x="254000" y="1155700"/>
              <a:ext cx="101600" cy="127"/>
            </a:xfrm>
            <a:custGeom>
              <a:avLst/>
              <a:gdLst/>
              <a:ahLst/>
              <a:cxnLst/>
              <a:rect l="0" t="0" r="r" b="b"/>
              <a:pathLst>
                <a:path w="101600" h="1" fill="none">
                  <a:moveTo>
                    <a:pt x="0" y="0"/>
                  </a:moveTo>
                  <a:lnTo>
                    <a:pt x="101600" y="0"/>
                  </a:lnTo>
                </a:path>
              </a:pathLst>
            </a:custGeom>
            <a:noFill/>
            <a:ln w="10160">
              <a:solidFill>
                <a:srgbClr val="003EA8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llout_text0"/>
            <p:cNvSpPr txBox="1"/>
            <p:nvPr/>
          </p:nvSpPr>
          <p:spPr>
            <a:xfrm>
              <a:off x="63500" y="1485900"/>
              <a:ext cx="495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samples</a:t>
              </a:r>
            </a:p>
          </p:txBody>
        </p:sp>
        <p:sp>
          <p:nvSpPr>
            <p:cNvPr id="12" name="rollout_text1"/>
            <p:cNvSpPr txBox="1"/>
            <p:nvPr/>
          </p:nvSpPr>
          <p:spPr>
            <a:xfrm>
              <a:off x="63500" y="1739900"/>
              <a:ext cx="495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GAE</a:t>
              </a:r>
            </a:p>
          </p:txBody>
        </p:sp>
        <p:sp>
          <p:nvSpPr>
            <p:cNvPr id="13" name="rollout_text2"/>
            <p:cNvSpPr txBox="1"/>
            <p:nvPr/>
          </p:nvSpPr>
          <p:spPr>
            <a:xfrm>
              <a:off x="63500" y="1993900"/>
              <a:ext cx="495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episode cost</a:t>
              </a:r>
            </a:p>
          </p:txBody>
        </p:sp>
        <p:grpSp>
          <p:nvGrpSpPr>
            <p:cNvPr id="14" name="pi_t"/>
            <p:cNvGrpSpPr/>
            <p:nvPr/>
          </p:nvGrpSpPr>
          <p:grpSpPr>
            <a:xfrm>
              <a:off x="254133" y="805779"/>
              <a:ext cx="103109" cy="76124"/>
              <a:chOff x="254133" y="805779"/>
              <a:chExt cx="103109" cy="76124"/>
            </a:xfrm>
          </p:grpSpPr>
          <p:sp>
            <p:nvSpPr>
              <p:cNvPr id="15" name="pi_t_outline_0"/>
              <p:cNvSpPr/>
              <p:nvPr/>
            </p:nvSpPr>
            <p:spPr>
              <a:xfrm>
                <a:off x="254133" y="805779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4"/>
                      <a:pt x="2151" y="16319"/>
                    </a:cubicBezTo>
                    <a:lnTo>
                      <a:pt x="3540" y="16319"/>
                    </a:lnTo>
                    <a:cubicBezTo>
                      <a:pt x="4175" y="15434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pi_t_outline_1"/>
              <p:cNvSpPr/>
              <p:nvPr/>
            </p:nvSpPr>
            <p:spPr>
              <a:xfrm>
                <a:off x="327465" y="823900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" name="advantages"/>
            <p:cNvGrpSpPr/>
            <p:nvPr/>
          </p:nvGrpSpPr>
          <p:grpSpPr>
            <a:xfrm>
              <a:off x="114503" y="2188422"/>
              <a:ext cx="416919" cy="132870"/>
              <a:chOff x="114503" y="2188422"/>
              <a:chExt cx="416919" cy="132870"/>
            </a:xfrm>
          </p:grpSpPr>
          <p:sp>
            <p:nvSpPr>
              <p:cNvPr id="18" name="advantages_outline_0"/>
              <p:cNvSpPr/>
              <p:nvPr/>
            </p:nvSpPr>
            <p:spPr>
              <a:xfrm>
                <a:off x="114503" y="2188422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9" y="0"/>
                    </a:lnTo>
                    <a:lnTo>
                      <a:pt x="50355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9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advantages_outline_1"/>
              <p:cNvSpPr/>
              <p:nvPr/>
            </p:nvSpPr>
            <p:spPr>
              <a:xfrm>
                <a:off x="198933" y="2240963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2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advantages_outline_2"/>
              <p:cNvSpPr/>
              <p:nvPr/>
            </p:nvSpPr>
            <p:spPr>
              <a:xfrm>
                <a:off x="262616" y="2256443"/>
                <a:ext cx="16704" cy="29206"/>
              </a:xfrm>
              <a:custGeom>
                <a:avLst/>
                <a:gdLst/>
                <a:ahLst/>
                <a:cxnLst/>
                <a:rect l="0" t="0" r="r" b="b"/>
                <a:pathLst>
                  <a:path w="16704" h="29206">
                    <a:moveTo>
                      <a:pt x="16704" y="11537"/>
                    </a:moveTo>
                    <a:cubicBezTo>
                      <a:pt x="16704" y="1564"/>
                      <a:pt x="9735" y="0"/>
                      <a:pt x="6969" y="0"/>
                    </a:cubicBezTo>
                    <a:cubicBezTo>
                      <a:pt x="3965" y="0"/>
                      <a:pt x="0" y="1802"/>
                      <a:pt x="0" y="6973"/>
                    </a:cubicBezTo>
                    <a:cubicBezTo>
                      <a:pt x="0" y="11779"/>
                      <a:pt x="4326" y="12982"/>
                      <a:pt x="7449" y="12982"/>
                    </a:cubicBezTo>
                    <a:cubicBezTo>
                      <a:pt x="8291" y="12982"/>
                      <a:pt x="8894" y="12859"/>
                      <a:pt x="9251" y="12740"/>
                    </a:cubicBezTo>
                    <a:cubicBezTo>
                      <a:pt x="9735" y="12621"/>
                      <a:pt x="10093" y="12502"/>
                      <a:pt x="10335" y="12502"/>
                    </a:cubicBezTo>
                    <a:cubicBezTo>
                      <a:pt x="11176" y="12502"/>
                      <a:pt x="12017" y="13101"/>
                      <a:pt x="12017" y="14184"/>
                    </a:cubicBezTo>
                    <a:cubicBezTo>
                      <a:pt x="12017" y="16466"/>
                      <a:pt x="10093" y="21876"/>
                      <a:pt x="2163" y="26920"/>
                    </a:cubicBezTo>
                    <a:lnTo>
                      <a:pt x="3242" y="29206"/>
                    </a:lnTo>
                    <a:cubicBezTo>
                      <a:pt x="6850" y="28004"/>
                      <a:pt x="16704" y="20070"/>
                      <a:pt x="16704" y="1153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advantages_outline_3"/>
              <p:cNvSpPr/>
              <p:nvPr/>
            </p:nvSpPr>
            <p:spPr>
              <a:xfrm>
                <a:off x="340231" y="2188422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8" y="0"/>
                    </a:lnTo>
                    <a:lnTo>
                      <a:pt x="50356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8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advantages_outline_4"/>
              <p:cNvSpPr/>
              <p:nvPr/>
            </p:nvSpPr>
            <p:spPr>
              <a:xfrm>
                <a:off x="425467" y="2240963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advantages_outline_5"/>
              <p:cNvSpPr/>
              <p:nvPr/>
            </p:nvSpPr>
            <p:spPr>
              <a:xfrm>
                <a:off x="480785" y="224928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" name="observed_cost"/>
            <p:cNvGrpSpPr/>
            <p:nvPr/>
          </p:nvGrpSpPr>
          <p:grpSpPr>
            <a:xfrm>
              <a:off x="249939" y="2424227"/>
              <a:ext cx="113900" cy="130326"/>
              <a:chOff x="249939" y="2424227"/>
              <a:chExt cx="113900" cy="130326"/>
            </a:xfrm>
          </p:grpSpPr>
          <p:sp>
            <p:nvSpPr>
              <p:cNvPr id="25" name="observed_cost_outline_0"/>
              <p:cNvSpPr/>
              <p:nvPr/>
            </p:nvSpPr>
            <p:spPr>
              <a:xfrm>
                <a:off x="278976" y="2424227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observed_cost_outline_1"/>
              <p:cNvSpPr/>
              <p:nvPr/>
            </p:nvSpPr>
            <p:spPr>
              <a:xfrm>
                <a:off x="249939" y="2445413"/>
                <a:ext cx="62872" cy="84887"/>
              </a:xfrm>
              <a:custGeom>
                <a:avLst/>
                <a:gdLst/>
                <a:ahLst/>
                <a:cxnLst/>
                <a:rect l="0" t="0" r="r" b="b"/>
                <a:pathLst>
                  <a:path w="62873" h="84888">
                    <a:moveTo>
                      <a:pt x="62873" y="2024"/>
                    </a:moveTo>
                    <a:lnTo>
                      <a:pt x="62873" y="0"/>
                    </a:lnTo>
                    <a:lnTo>
                      <a:pt x="30742" y="0"/>
                    </a:lnTo>
                    <a:lnTo>
                      <a:pt x="30742" y="2024"/>
                    </a:lnTo>
                    <a:cubicBezTo>
                      <a:pt x="38711" y="2782"/>
                      <a:pt x="40481" y="3794"/>
                      <a:pt x="40481" y="7211"/>
                    </a:cubicBezTo>
                    <a:cubicBezTo>
                      <a:pt x="40481" y="9108"/>
                      <a:pt x="39977" y="11640"/>
                      <a:pt x="38965" y="15307"/>
                    </a:cubicBezTo>
                    <a:lnTo>
                      <a:pt x="22392" y="74132"/>
                    </a:lnTo>
                    <a:cubicBezTo>
                      <a:pt x="20999" y="79065"/>
                      <a:pt x="19229" y="80966"/>
                      <a:pt x="16192" y="80966"/>
                    </a:cubicBezTo>
                    <a:cubicBezTo>
                      <a:pt x="13156" y="80966"/>
                      <a:pt x="11763" y="79446"/>
                      <a:pt x="11763" y="75906"/>
                    </a:cubicBezTo>
                    <a:cubicBezTo>
                      <a:pt x="11763" y="75271"/>
                      <a:pt x="11763" y="74640"/>
                      <a:pt x="11890" y="74005"/>
                    </a:cubicBezTo>
                    <a:lnTo>
                      <a:pt x="11890" y="72870"/>
                    </a:lnTo>
                    <a:cubicBezTo>
                      <a:pt x="11890" y="69707"/>
                      <a:pt x="9108" y="66921"/>
                      <a:pt x="5691" y="66921"/>
                    </a:cubicBezTo>
                    <a:cubicBezTo>
                      <a:pt x="2278" y="66921"/>
                      <a:pt x="0" y="69707"/>
                      <a:pt x="0" y="73755"/>
                    </a:cubicBezTo>
                    <a:cubicBezTo>
                      <a:pt x="0" y="80458"/>
                      <a:pt x="5945" y="84888"/>
                      <a:pt x="14799" y="84888"/>
                    </a:cubicBezTo>
                    <a:cubicBezTo>
                      <a:pt x="21253" y="84888"/>
                      <a:pt x="26944" y="82356"/>
                      <a:pt x="30865" y="77676"/>
                    </a:cubicBezTo>
                    <a:cubicBezTo>
                      <a:pt x="34282" y="73628"/>
                      <a:pt x="36814" y="67933"/>
                      <a:pt x="39469" y="58321"/>
                    </a:cubicBezTo>
                    <a:lnTo>
                      <a:pt x="52499" y="11386"/>
                    </a:lnTo>
                    <a:cubicBezTo>
                      <a:pt x="54777" y="3794"/>
                      <a:pt x="55662" y="3036"/>
                      <a:pt x="62873" y="2024"/>
                    </a:cubicBez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observed_cost_outline_2"/>
              <p:cNvSpPr/>
              <p:nvPr/>
            </p:nvSpPr>
            <p:spPr>
              <a:xfrm>
                <a:off x="313202" y="2482541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8" name="module_stage2"/>
          <p:cNvGrpSpPr/>
          <p:nvPr/>
        </p:nvGrpSpPr>
        <p:grpSpPr>
          <a:xfrm>
            <a:off x="647700" y="76200"/>
            <a:ext cx="736600" cy="2552700"/>
            <a:chOff x="647700" y="76200"/>
            <a:chExt cx="736600" cy="2552700"/>
          </a:xfrm>
        </p:grpSpPr>
        <p:sp>
          <p:nvSpPr>
            <p:cNvPr id="29" name="stage2_border"/>
            <p:cNvSpPr/>
            <p:nvPr/>
          </p:nvSpPr>
          <p:spPr>
            <a:xfrm>
              <a:off x="647700" y="76200"/>
              <a:ext cx="7366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6985">
              <a:solidFill>
                <a:srgbClr val="003E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badge2"/>
            <p:cNvSpPr/>
            <p:nvPr/>
          </p:nvSpPr>
          <p:spPr>
            <a:xfrm>
              <a:off x="698500" y="152400"/>
              <a:ext cx="165100" cy="165100"/>
            </a:xfrm>
            <a:prstGeom prst="ellipse">
              <a:avLst/>
            </a:prstGeom>
            <a:solidFill>
              <a:srgbClr val="003EA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umber2"/>
            <p:cNvSpPr txBox="1"/>
            <p:nvPr/>
          </p:nvSpPr>
          <p:spPr>
            <a:xfrm>
              <a:off x="698500" y="152400"/>
              <a:ext cx="1651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i="0">
                  <a:solidFill>
                    <a:srgbClr val="FFFFFF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32" name="title2"/>
            <p:cNvSpPr txBox="1"/>
            <p:nvPr/>
          </p:nvSpPr>
          <p:spPr>
            <a:xfrm>
              <a:off x="889000" y="114300"/>
              <a:ext cx="4699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003EA8"/>
                  </a:solidFill>
                  <a:latin typeface="Liberation Serif"/>
                </a:rPr>
                <a:t>Flow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003EA8"/>
                  </a:solidFill>
                  <a:latin typeface="Liberation Serif"/>
                </a:rPr>
                <a:t>inputs</a:t>
              </a:r>
            </a:p>
          </p:txBody>
        </p:sp>
        <p:sp>
          <p:nvSpPr>
            <p:cNvPr id="33" name="clustered"/>
            <p:cNvSpPr txBox="1"/>
            <p:nvPr/>
          </p:nvSpPr>
          <p:spPr>
            <a:xfrm>
              <a:off x="685800" y="520700"/>
              <a:ext cx="6604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003EA8"/>
                  </a:solidFill>
                  <a:latin typeface="Liberation Serif"/>
                </a:rPr>
                <a:t>state clusters</a:t>
              </a:r>
            </a:p>
          </p:txBody>
        </p:sp>
        <p:sp>
          <p:nvSpPr>
            <p:cNvPr id="34" name="rollout_graph_e0"/>
            <p:cNvSpPr/>
            <p:nvPr/>
          </p:nvSpPr>
          <p:spPr>
            <a:xfrm>
              <a:off x="749046" y="812800"/>
              <a:ext cx="139700" cy="127"/>
            </a:xfrm>
            <a:custGeom>
              <a:avLst/>
              <a:gdLst/>
              <a:ahLst/>
              <a:cxnLst/>
              <a:rect l="0" t="0" r="r" b="b"/>
              <a:pathLst>
                <a:path w="139700" h="1" fill="none">
                  <a:moveTo>
                    <a:pt x="0" y="0"/>
                  </a:moveTo>
                  <a:lnTo>
                    <a:pt x="139700" y="0"/>
                  </a:lnTo>
                </a:path>
              </a:pathLst>
            </a:custGeom>
            <a:noFill/>
            <a:ln w="6604">
              <a:solidFill>
                <a:srgbClr val="003EA8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llout_graph_e1"/>
            <p:cNvSpPr/>
            <p:nvPr/>
          </p:nvSpPr>
          <p:spPr>
            <a:xfrm>
              <a:off x="939038" y="812800"/>
              <a:ext cx="139699" cy="127"/>
            </a:xfrm>
            <a:custGeom>
              <a:avLst/>
              <a:gdLst/>
              <a:ahLst/>
              <a:cxnLst/>
              <a:rect l="0" t="0" r="r" b="b"/>
              <a:pathLst>
                <a:path w="139699" h="1" fill="none">
                  <a:moveTo>
                    <a:pt x="0" y="0"/>
                  </a:moveTo>
                  <a:lnTo>
                    <a:pt x="139699" y="0"/>
                  </a:lnTo>
                </a:path>
              </a:pathLst>
            </a:custGeom>
            <a:noFill/>
            <a:ln w="6604">
              <a:solidFill>
                <a:srgbClr val="003EA8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llout_graph_e2"/>
            <p:cNvSpPr/>
            <p:nvPr/>
          </p:nvSpPr>
          <p:spPr>
            <a:xfrm>
              <a:off x="723900" y="837946"/>
              <a:ext cx="127" cy="146557"/>
            </a:xfrm>
            <a:custGeom>
              <a:avLst/>
              <a:gdLst/>
              <a:ahLst/>
              <a:cxnLst/>
              <a:rect l="0" t="0" r="r" b="b"/>
              <a:pathLst>
                <a:path w="1" h="146557" fill="none">
                  <a:moveTo>
                    <a:pt x="0" y="0"/>
                  </a:moveTo>
                  <a:lnTo>
                    <a:pt x="0" y="146557"/>
                  </a:lnTo>
                </a:path>
              </a:pathLst>
            </a:custGeom>
            <a:noFill/>
            <a:ln w="6604">
              <a:solidFill>
                <a:srgbClr val="003EA8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llout_graph_e3"/>
            <p:cNvSpPr/>
            <p:nvPr/>
          </p:nvSpPr>
          <p:spPr>
            <a:xfrm>
              <a:off x="913892" y="837946"/>
              <a:ext cx="127" cy="146557"/>
            </a:xfrm>
            <a:custGeom>
              <a:avLst/>
              <a:gdLst/>
              <a:ahLst/>
              <a:cxnLst/>
              <a:rect l="0" t="0" r="r" b="b"/>
              <a:pathLst>
                <a:path w="1" h="146557" fill="none">
                  <a:moveTo>
                    <a:pt x="0" y="0"/>
                  </a:moveTo>
                  <a:lnTo>
                    <a:pt x="0" y="146557"/>
                  </a:lnTo>
                </a:path>
              </a:pathLst>
            </a:custGeom>
            <a:noFill/>
            <a:ln w="6604">
              <a:solidFill>
                <a:srgbClr val="003EA8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ollout_graph_e4"/>
            <p:cNvSpPr/>
            <p:nvPr/>
          </p:nvSpPr>
          <p:spPr>
            <a:xfrm>
              <a:off x="1103884" y="837946"/>
              <a:ext cx="127" cy="146557"/>
            </a:xfrm>
            <a:custGeom>
              <a:avLst/>
              <a:gdLst/>
              <a:ahLst/>
              <a:cxnLst/>
              <a:rect l="0" t="0" r="r" b="b"/>
              <a:pathLst>
                <a:path w="1" h="146557" fill="none">
                  <a:moveTo>
                    <a:pt x="0" y="0"/>
                  </a:moveTo>
                  <a:lnTo>
                    <a:pt x="0" y="146557"/>
                  </a:lnTo>
                </a:path>
              </a:pathLst>
            </a:custGeom>
            <a:noFill/>
            <a:ln w="6604">
              <a:solidFill>
                <a:srgbClr val="003EA8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llout_graph_e5"/>
            <p:cNvSpPr/>
            <p:nvPr/>
          </p:nvSpPr>
          <p:spPr>
            <a:xfrm>
              <a:off x="749046" y="1009650"/>
              <a:ext cx="139700" cy="127"/>
            </a:xfrm>
            <a:custGeom>
              <a:avLst/>
              <a:gdLst/>
              <a:ahLst/>
              <a:cxnLst/>
              <a:rect l="0" t="0" r="r" b="b"/>
              <a:pathLst>
                <a:path w="139700" h="1" fill="none">
                  <a:moveTo>
                    <a:pt x="0" y="0"/>
                  </a:moveTo>
                  <a:lnTo>
                    <a:pt x="139700" y="0"/>
                  </a:lnTo>
                </a:path>
              </a:pathLst>
            </a:custGeom>
            <a:noFill/>
            <a:ln w="6604">
              <a:solidFill>
                <a:srgbClr val="003EA8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ollout_graph_e6"/>
            <p:cNvSpPr/>
            <p:nvPr/>
          </p:nvSpPr>
          <p:spPr>
            <a:xfrm>
              <a:off x="939038" y="1009650"/>
              <a:ext cx="139699" cy="127"/>
            </a:xfrm>
            <a:custGeom>
              <a:avLst/>
              <a:gdLst/>
              <a:ahLst/>
              <a:cxnLst/>
              <a:rect l="0" t="0" r="r" b="b"/>
              <a:pathLst>
                <a:path w="139699" h="1" fill="none">
                  <a:moveTo>
                    <a:pt x="0" y="0"/>
                  </a:moveTo>
                  <a:lnTo>
                    <a:pt x="139699" y="0"/>
                  </a:lnTo>
                </a:path>
              </a:pathLst>
            </a:custGeom>
            <a:noFill/>
            <a:ln w="6604">
              <a:solidFill>
                <a:srgbClr val="003EA8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llout_graph_e7"/>
            <p:cNvSpPr/>
            <p:nvPr/>
          </p:nvSpPr>
          <p:spPr>
            <a:xfrm>
              <a:off x="1129030" y="1009650"/>
              <a:ext cx="128523" cy="127"/>
            </a:xfrm>
            <a:custGeom>
              <a:avLst/>
              <a:gdLst/>
              <a:ahLst/>
              <a:cxnLst/>
              <a:rect l="0" t="0" r="r" b="b"/>
              <a:pathLst>
                <a:path w="128523" h="1" fill="none">
                  <a:moveTo>
                    <a:pt x="0" y="0"/>
                  </a:moveTo>
                  <a:lnTo>
                    <a:pt x="128523" y="0"/>
                  </a:lnTo>
                </a:path>
              </a:pathLst>
            </a:custGeom>
            <a:noFill/>
            <a:ln w="6604">
              <a:solidFill>
                <a:srgbClr val="003EA8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ollout_graph_e8"/>
            <p:cNvSpPr/>
            <p:nvPr/>
          </p:nvSpPr>
          <p:spPr>
            <a:xfrm>
              <a:off x="723900" y="1034796"/>
              <a:ext cx="127" cy="146557"/>
            </a:xfrm>
            <a:custGeom>
              <a:avLst/>
              <a:gdLst/>
              <a:ahLst/>
              <a:cxnLst/>
              <a:rect l="0" t="0" r="r" b="b"/>
              <a:pathLst>
                <a:path w="1" h="146557" fill="none">
                  <a:moveTo>
                    <a:pt x="0" y="0"/>
                  </a:moveTo>
                  <a:lnTo>
                    <a:pt x="0" y="146557"/>
                  </a:lnTo>
                </a:path>
              </a:pathLst>
            </a:custGeom>
            <a:noFill/>
            <a:ln w="6604">
              <a:solidFill>
                <a:srgbClr val="003EA8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llout_graph_e9"/>
            <p:cNvSpPr/>
            <p:nvPr/>
          </p:nvSpPr>
          <p:spPr>
            <a:xfrm>
              <a:off x="913892" y="1034796"/>
              <a:ext cx="127" cy="146557"/>
            </a:xfrm>
            <a:custGeom>
              <a:avLst/>
              <a:gdLst/>
              <a:ahLst/>
              <a:cxnLst/>
              <a:rect l="0" t="0" r="r" b="b"/>
              <a:pathLst>
                <a:path w="1" h="146557" fill="none">
                  <a:moveTo>
                    <a:pt x="0" y="0"/>
                  </a:moveTo>
                  <a:lnTo>
                    <a:pt x="0" y="146557"/>
                  </a:lnTo>
                </a:path>
              </a:pathLst>
            </a:custGeom>
            <a:noFill/>
            <a:ln w="6604">
              <a:solidFill>
                <a:srgbClr val="003EA8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ollout_graph_e10"/>
            <p:cNvSpPr/>
            <p:nvPr/>
          </p:nvSpPr>
          <p:spPr>
            <a:xfrm>
              <a:off x="1103884" y="1034796"/>
              <a:ext cx="127" cy="146557"/>
            </a:xfrm>
            <a:custGeom>
              <a:avLst/>
              <a:gdLst/>
              <a:ahLst/>
              <a:cxnLst/>
              <a:rect l="0" t="0" r="r" b="b"/>
              <a:pathLst>
                <a:path w="1" h="146557" fill="none">
                  <a:moveTo>
                    <a:pt x="0" y="0"/>
                  </a:moveTo>
                  <a:lnTo>
                    <a:pt x="0" y="146557"/>
                  </a:lnTo>
                </a:path>
              </a:pathLst>
            </a:custGeom>
            <a:noFill/>
            <a:ln w="6604">
              <a:solidFill>
                <a:srgbClr val="003EA8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llout_graph_e11"/>
            <p:cNvSpPr/>
            <p:nvPr/>
          </p:nvSpPr>
          <p:spPr>
            <a:xfrm>
              <a:off x="931354" y="1027743"/>
              <a:ext cx="155066" cy="160663"/>
            </a:xfrm>
            <a:custGeom>
              <a:avLst/>
              <a:gdLst/>
              <a:ahLst/>
              <a:cxnLst/>
              <a:rect l="0" t="0" r="r" b="b"/>
              <a:pathLst>
                <a:path w="155066" h="160663" fill="none">
                  <a:moveTo>
                    <a:pt x="0" y="160663"/>
                  </a:moveTo>
                  <a:lnTo>
                    <a:pt x="155066" y="0"/>
                  </a:lnTo>
                </a:path>
              </a:pathLst>
            </a:custGeom>
            <a:noFill/>
            <a:ln w="6604">
              <a:solidFill>
                <a:srgbClr val="003EA8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llout_graph_n0"/>
            <p:cNvSpPr/>
            <p:nvPr/>
          </p:nvSpPr>
          <p:spPr>
            <a:xfrm>
              <a:off x="698754" y="7876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003E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ollout_graph_n1"/>
            <p:cNvSpPr/>
            <p:nvPr/>
          </p:nvSpPr>
          <p:spPr>
            <a:xfrm>
              <a:off x="888746" y="7876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003E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ollout_graph_n2"/>
            <p:cNvSpPr/>
            <p:nvPr/>
          </p:nvSpPr>
          <p:spPr>
            <a:xfrm>
              <a:off x="1078738" y="7876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003E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llout_graph_n3"/>
            <p:cNvSpPr/>
            <p:nvPr/>
          </p:nvSpPr>
          <p:spPr>
            <a:xfrm>
              <a:off x="698754" y="98450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003E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ollout_graph_n4"/>
            <p:cNvSpPr/>
            <p:nvPr/>
          </p:nvSpPr>
          <p:spPr>
            <a:xfrm>
              <a:off x="888746" y="98450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003E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ollout_graph_n5"/>
            <p:cNvSpPr/>
            <p:nvPr/>
          </p:nvSpPr>
          <p:spPr>
            <a:xfrm>
              <a:off x="1078738" y="98450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003E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ollout_graph_n6"/>
            <p:cNvSpPr/>
            <p:nvPr/>
          </p:nvSpPr>
          <p:spPr>
            <a:xfrm>
              <a:off x="1257554" y="98450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003E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llout_graph_n7"/>
            <p:cNvSpPr/>
            <p:nvPr/>
          </p:nvSpPr>
          <p:spPr>
            <a:xfrm>
              <a:off x="698754" y="11813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003E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ollout_graph_n8"/>
            <p:cNvSpPr/>
            <p:nvPr/>
          </p:nvSpPr>
          <p:spPr>
            <a:xfrm>
              <a:off x="888746" y="11813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003E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ollout_graph_n9"/>
            <p:cNvSpPr/>
            <p:nvPr/>
          </p:nvSpPr>
          <p:spPr>
            <a:xfrm>
              <a:off x="1078738" y="11813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003E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ransitions"/>
            <p:cNvSpPr txBox="1"/>
            <p:nvPr/>
          </p:nvSpPr>
          <p:spPr>
            <a:xfrm>
              <a:off x="685800" y="1282700"/>
              <a:ext cx="6604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003EA8"/>
                  </a:solidFill>
                  <a:latin typeface="Liberation Serif"/>
                </a:rPr>
                <a:t>transition edges</a:t>
              </a:r>
            </a:p>
          </p:txBody>
        </p:sp>
        <p:sp>
          <p:nvSpPr>
            <p:cNvPr id="57" name="sampled_cell0"/>
            <p:cNvSpPr/>
            <p:nvPr/>
          </p:nvSpPr>
          <p:spPr>
            <a:xfrm>
              <a:off x="723900" y="1600200"/>
              <a:ext cx="63500" cy="63500"/>
            </a:xfrm>
            <a:prstGeom prst="rect">
              <a:avLst/>
            </a:prstGeom>
            <a:solidFill>
              <a:srgbClr val="0043A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inputmatrix0_0_0"/>
            <p:cNvSpPr/>
            <p:nvPr/>
          </p:nvSpPr>
          <p:spPr>
            <a:xfrm>
              <a:off x="711200" y="1600200"/>
              <a:ext cx="59266" cy="59266"/>
            </a:xfrm>
            <a:prstGeom prst="rect">
              <a:avLst/>
            </a:prstGeom>
            <a:solidFill>
              <a:srgbClr val="003EA8"/>
            </a:solidFill>
            <a:ln w="11430">
              <a:solidFill>
                <a:srgbClr val="003E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inputmatrix0_0_1"/>
            <p:cNvSpPr/>
            <p:nvPr/>
          </p:nvSpPr>
          <p:spPr>
            <a:xfrm>
              <a:off x="770466" y="1600200"/>
              <a:ext cx="59266" cy="59266"/>
            </a:xfrm>
            <a:prstGeom prst="rect">
              <a:avLst/>
            </a:prstGeom>
            <a:solidFill>
              <a:srgbClr val="003EA8"/>
            </a:solidFill>
            <a:ln w="11430">
              <a:solidFill>
                <a:srgbClr val="003E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inputmatrix0_0_2"/>
            <p:cNvSpPr/>
            <p:nvPr/>
          </p:nvSpPr>
          <p:spPr>
            <a:xfrm>
              <a:off x="829733" y="1600200"/>
              <a:ext cx="59266" cy="59266"/>
            </a:xfrm>
            <a:prstGeom prst="rect">
              <a:avLst/>
            </a:prstGeom>
            <a:solidFill>
              <a:srgbClr val="F3EDF8"/>
            </a:solidFill>
            <a:ln w="11430">
              <a:solidFill>
                <a:srgbClr val="003E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inputmatrix0_1_0"/>
            <p:cNvSpPr/>
            <p:nvPr/>
          </p:nvSpPr>
          <p:spPr>
            <a:xfrm>
              <a:off x="711200" y="1659466"/>
              <a:ext cx="59266" cy="59266"/>
            </a:xfrm>
            <a:prstGeom prst="rect">
              <a:avLst/>
            </a:prstGeom>
            <a:solidFill>
              <a:srgbClr val="003EA8"/>
            </a:solidFill>
            <a:ln w="11430">
              <a:solidFill>
                <a:srgbClr val="003E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inputmatrix0_1_1"/>
            <p:cNvSpPr/>
            <p:nvPr/>
          </p:nvSpPr>
          <p:spPr>
            <a:xfrm>
              <a:off x="770466" y="1659466"/>
              <a:ext cx="59266" cy="59266"/>
            </a:xfrm>
            <a:prstGeom prst="rect">
              <a:avLst/>
            </a:prstGeom>
            <a:solidFill>
              <a:srgbClr val="003EA8"/>
            </a:solidFill>
            <a:ln w="11430">
              <a:solidFill>
                <a:srgbClr val="003E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inputmatrix0_1_2"/>
            <p:cNvSpPr/>
            <p:nvPr/>
          </p:nvSpPr>
          <p:spPr>
            <a:xfrm>
              <a:off x="829733" y="1659466"/>
              <a:ext cx="59266" cy="59266"/>
            </a:xfrm>
            <a:prstGeom prst="rect">
              <a:avLst/>
            </a:prstGeom>
            <a:solidFill>
              <a:srgbClr val="F3EDF8"/>
            </a:solidFill>
            <a:ln w="11430">
              <a:solidFill>
                <a:srgbClr val="003E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inputmatrix0_2_0"/>
            <p:cNvSpPr/>
            <p:nvPr/>
          </p:nvSpPr>
          <p:spPr>
            <a:xfrm>
              <a:off x="711200" y="1718733"/>
              <a:ext cx="59266" cy="59266"/>
            </a:xfrm>
            <a:prstGeom prst="rect">
              <a:avLst/>
            </a:prstGeom>
            <a:solidFill>
              <a:srgbClr val="F3EDF8"/>
            </a:solidFill>
            <a:ln w="11430">
              <a:solidFill>
                <a:srgbClr val="003E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inputmatrix0_2_1"/>
            <p:cNvSpPr/>
            <p:nvPr/>
          </p:nvSpPr>
          <p:spPr>
            <a:xfrm>
              <a:off x="770466" y="1718733"/>
              <a:ext cx="59266" cy="59266"/>
            </a:xfrm>
            <a:prstGeom prst="rect">
              <a:avLst/>
            </a:prstGeom>
            <a:solidFill>
              <a:srgbClr val="F3EDF8"/>
            </a:solidFill>
            <a:ln w="11430">
              <a:solidFill>
                <a:srgbClr val="003E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inputmatrix0_2_2"/>
            <p:cNvSpPr/>
            <p:nvPr/>
          </p:nvSpPr>
          <p:spPr>
            <a:xfrm>
              <a:off x="829733" y="1718733"/>
              <a:ext cx="59266" cy="59266"/>
            </a:xfrm>
            <a:prstGeom prst="rect">
              <a:avLst/>
            </a:prstGeom>
            <a:solidFill>
              <a:srgbClr val="003EA8"/>
            </a:solidFill>
            <a:ln w="11430">
              <a:solidFill>
                <a:srgbClr val="003E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input_name0"/>
            <p:cNvSpPr txBox="1"/>
            <p:nvPr/>
          </p:nvSpPr>
          <p:spPr>
            <a:xfrm>
              <a:off x="685800" y="1790700"/>
              <a:ext cx="6604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003EA8"/>
                  </a:solidFill>
                  <a:latin typeface="Liberation Serif"/>
                </a:rPr>
                <a:t>flow</a:t>
              </a:r>
            </a:p>
          </p:txBody>
        </p:sp>
        <p:sp>
          <p:nvSpPr>
            <p:cNvPr id="68" name="sampled_cell1"/>
            <p:cNvSpPr/>
            <p:nvPr/>
          </p:nvSpPr>
          <p:spPr>
            <a:xfrm>
              <a:off x="723900" y="1930400"/>
              <a:ext cx="63500" cy="63500"/>
            </a:xfrm>
            <a:prstGeom prst="rect">
              <a:avLst/>
            </a:prstGeom>
            <a:solidFill>
              <a:srgbClr val="521F8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inputmatrix1_0_0"/>
            <p:cNvSpPr/>
            <p:nvPr/>
          </p:nvSpPr>
          <p:spPr>
            <a:xfrm>
              <a:off x="711200" y="1930400"/>
              <a:ext cx="59266" cy="59266"/>
            </a:xfrm>
            <a:prstGeom prst="rect">
              <a:avLst/>
            </a:prstGeom>
            <a:solidFill>
              <a:srgbClr val="50227B"/>
            </a:solidFill>
            <a:ln w="11430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inputmatrix1_0_1"/>
            <p:cNvSpPr/>
            <p:nvPr/>
          </p:nvSpPr>
          <p:spPr>
            <a:xfrm>
              <a:off x="770466" y="1930400"/>
              <a:ext cx="59266" cy="59266"/>
            </a:xfrm>
            <a:prstGeom prst="rect">
              <a:avLst/>
            </a:prstGeom>
            <a:solidFill>
              <a:srgbClr val="50227B"/>
            </a:solidFill>
            <a:ln w="11430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inputmatrix1_0_2"/>
            <p:cNvSpPr/>
            <p:nvPr/>
          </p:nvSpPr>
          <p:spPr>
            <a:xfrm>
              <a:off x="829733" y="1930400"/>
              <a:ext cx="59266" cy="59266"/>
            </a:xfrm>
            <a:prstGeom prst="rect">
              <a:avLst/>
            </a:prstGeom>
            <a:solidFill>
              <a:srgbClr val="F3EDF8"/>
            </a:solidFill>
            <a:ln w="11430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inputmatrix1_1_0"/>
            <p:cNvSpPr/>
            <p:nvPr/>
          </p:nvSpPr>
          <p:spPr>
            <a:xfrm>
              <a:off x="711200" y="1989666"/>
              <a:ext cx="59266" cy="59266"/>
            </a:xfrm>
            <a:prstGeom prst="rect">
              <a:avLst/>
            </a:prstGeom>
            <a:solidFill>
              <a:srgbClr val="50227B"/>
            </a:solidFill>
            <a:ln w="11430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inputmatrix1_1_1"/>
            <p:cNvSpPr/>
            <p:nvPr/>
          </p:nvSpPr>
          <p:spPr>
            <a:xfrm>
              <a:off x="770466" y="1989666"/>
              <a:ext cx="59266" cy="59266"/>
            </a:xfrm>
            <a:prstGeom prst="rect">
              <a:avLst/>
            </a:prstGeom>
            <a:solidFill>
              <a:srgbClr val="50227B"/>
            </a:solidFill>
            <a:ln w="11430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inputmatrix1_1_2"/>
            <p:cNvSpPr/>
            <p:nvPr/>
          </p:nvSpPr>
          <p:spPr>
            <a:xfrm>
              <a:off x="829733" y="1989666"/>
              <a:ext cx="59266" cy="59266"/>
            </a:xfrm>
            <a:prstGeom prst="rect">
              <a:avLst/>
            </a:prstGeom>
            <a:solidFill>
              <a:srgbClr val="F3EDF8"/>
            </a:solidFill>
            <a:ln w="11430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inputmatrix1_2_0"/>
            <p:cNvSpPr/>
            <p:nvPr/>
          </p:nvSpPr>
          <p:spPr>
            <a:xfrm>
              <a:off x="711200" y="2048933"/>
              <a:ext cx="59266" cy="59266"/>
            </a:xfrm>
            <a:prstGeom prst="rect">
              <a:avLst/>
            </a:prstGeom>
            <a:solidFill>
              <a:srgbClr val="F3EDF8"/>
            </a:solidFill>
            <a:ln w="11430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inputmatrix1_2_1"/>
            <p:cNvSpPr/>
            <p:nvPr/>
          </p:nvSpPr>
          <p:spPr>
            <a:xfrm>
              <a:off x="770466" y="2048933"/>
              <a:ext cx="59266" cy="59266"/>
            </a:xfrm>
            <a:prstGeom prst="rect">
              <a:avLst/>
            </a:prstGeom>
            <a:solidFill>
              <a:srgbClr val="F3EDF8"/>
            </a:solidFill>
            <a:ln w="11430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inputmatrix1_2_2"/>
            <p:cNvSpPr/>
            <p:nvPr/>
          </p:nvSpPr>
          <p:spPr>
            <a:xfrm>
              <a:off x="829733" y="2048933"/>
              <a:ext cx="59266" cy="59266"/>
            </a:xfrm>
            <a:prstGeom prst="rect">
              <a:avLst/>
            </a:prstGeom>
            <a:solidFill>
              <a:srgbClr val="50227B"/>
            </a:solidFill>
            <a:ln w="11430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input_name1"/>
            <p:cNvSpPr txBox="1"/>
            <p:nvPr/>
          </p:nvSpPr>
          <p:spPr>
            <a:xfrm>
              <a:off x="685800" y="2120900"/>
              <a:ext cx="6604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50227B"/>
                  </a:solidFill>
                  <a:latin typeface="Liberation Serif"/>
                </a:rPr>
                <a:t>advantage</a:t>
              </a:r>
            </a:p>
          </p:txBody>
        </p:sp>
        <p:sp>
          <p:nvSpPr>
            <p:cNvPr id="79" name="sampled_cell2"/>
            <p:cNvSpPr/>
            <p:nvPr/>
          </p:nvSpPr>
          <p:spPr>
            <a:xfrm>
              <a:off x="723900" y="2260600"/>
              <a:ext cx="63500" cy="63500"/>
            </a:xfrm>
            <a:prstGeom prst="rect">
              <a:avLst/>
            </a:prstGeom>
            <a:solidFill>
              <a:srgbClr val="006E2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inputmatrix2_0_0"/>
            <p:cNvSpPr/>
            <p:nvPr/>
          </p:nvSpPr>
          <p:spPr>
            <a:xfrm>
              <a:off x="711200" y="2260600"/>
              <a:ext cx="59266" cy="59266"/>
            </a:xfrm>
            <a:prstGeom prst="rect">
              <a:avLst/>
            </a:prstGeom>
            <a:solidFill>
              <a:srgbClr val="00621C"/>
            </a:solidFill>
            <a:ln w="11430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inputmatrix2_0_1"/>
            <p:cNvSpPr/>
            <p:nvPr/>
          </p:nvSpPr>
          <p:spPr>
            <a:xfrm>
              <a:off x="770466" y="2260600"/>
              <a:ext cx="59266" cy="59266"/>
            </a:xfrm>
            <a:prstGeom prst="rect">
              <a:avLst/>
            </a:prstGeom>
            <a:solidFill>
              <a:srgbClr val="00621C"/>
            </a:solidFill>
            <a:ln w="11430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inputmatrix2_0_2"/>
            <p:cNvSpPr/>
            <p:nvPr/>
          </p:nvSpPr>
          <p:spPr>
            <a:xfrm>
              <a:off x="829733" y="2260600"/>
              <a:ext cx="59266" cy="59266"/>
            </a:xfrm>
            <a:prstGeom prst="rect">
              <a:avLst/>
            </a:prstGeom>
            <a:solidFill>
              <a:srgbClr val="F1F7F1"/>
            </a:solidFill>
            <a:ln w="11430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inputmatrix2_1_0"/>
            <p:cNvSpPr/>
            <p:nvPr/>
          </p:nvSpPr>
          <p:spPr>
            <a:xfrm>
              <a:off x="711200" y="2319866"/>
              <a:ext cx="59266" cy="59266"/>
            </a:xfrm>
            <a:prstGeom prst="rect">
              <a:avLst/>
            </a:prstGeom>
            <a:solidFill>
              <a:srgbClr val="00621C"/>
            </a:solidFill>
            <a:ln w="11430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inputmatrix2_1_1"/>
            <p:cNvSpPr/>
            <p:nvPr/>
          </p:nvSpPr>
          <p:spPr>
            <a:xfrm>
              <a:off x="770466" y="2319866"/>
              <a:ext cx="59266" cy="59266"/>
            </a:xfrm>
            <a:prstGeom prst="rect">
              <a:avLst/>
            </a:prstGeom>
            <a:solidFill>
              <a:srgbClr val="00621C"/>
            </a:solidFill>
            <a:ln w="11430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inputmatrix2_1_2"/>
            <p:cNvSpPr/>
            <p:nvPr/>
          </p:nvSpPr>
          <p:spPr>
            <a:xfrm>
              <a:off x="829733" y="2319866"/>
              <a:ext cx="59266" cy="59266"/>
            </a:xfrm>
            <a:prstGeom prst="rect">
              <a:avLst/>
            </a:prstGeom>
            <a:solidFill>
              <a:srgbClr val="F1F7F1"/>
            </a:solidFill>
            <a:ln w="11430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inputmatrix2_2_0"/>
            <p:cNvSpPr/>
            <p:nvPr/>
          </p:nvSpPr>
          <p:spPr>
            <a:xfrm>
              <a:off x="711200" y="2379133"/>
              <a:ext cx="59266" cy="59266"/>
            </a:xfrm>
            <a:prstGeom prst="rect">
              <a:avLst/>
            </a:prstGeom>
            <a:solidFill>
              <a:srgbClr val="F1F7F1"/>
            </a:solidFill>
            <a:ln w="11430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inputmatrix2_2_1"/>
            <p:cNvSpPr/>
            <p:nvPr/>
          </p:nvSpPr>
          <p:spPr>
            <a:xfrm>
              <a:off x="770466" y="2379133"/>
              <a:ext cx="59266" cy="59266"/>
            </a:xfrm>
            <a:prstGeom prst="rect">
              <a:avLst/>
            </a:prstGeom>
            <a:solidFill>
              <a:srgbClr val="F1F7F1"/>
            </a:solidFill>
            <a:ln w="11430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inputmatrix2_2_2"/>
            <p:cNvSpPr/>
            <p:nvPr/>
          </p:nvSpPr>
          <p:spPr>
            <a:xfrm>
              <a:off x="829733" y="2379133"/>
              <a:ext cx="59266" cy="59266"/>
            </a:xfrm>
            <a:prstGeom prst="rect">
              <a:avLst/>
            </a:prstGeom>
            <a:solidFill>
              <a:srgbClr val="00621C"/>
            </a:solidFill>
            <a:ln w="11430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input_name2"/>
            <p:cNvSpPr txBox="1"/>
            <p:nvPr/>
          </p:nvSpPr>
          <p:spPr>
            <a:xfrm>
              <a:off x="685800" y="2451100"/>
              <a:ext cx="6604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00621C"/>
                  </a:solidFill>
                  <a:latin typeface="Liberation Serif"/>
                </a:rPr>
                <a:t>costs</a:t>
              </a:r>
            </a:p>
          </p:txBody>
        </p:sp>
        <p:grpSp>
          <p:nvGrpSpPr>
            <p:cNvPr id="90" name="input_symbol0"/>
            <p:cNvGrpSpPr/>
            <p:nvPr/>
          </p:nvGrpSpPr>
          <p:grpSpPr>
            <a:xfrm>
              <a:off x="1071329" y="1633661"/>
              <a:ext cx="80585" cy="111019"/>
              <a:chOff x="1071329" y="1633661"/>
              <a:chExt cx="80585" cy="111019"/>
            </a:xfrm>
          </p:grpSpPr>
          <p:sp>
            <p:nvSpPr>
              <p:cNvPr id="91" name="input_symbol0_outline_0"/>
              <p:cNvSpPr/>
              <p:nvPr/>
            </p:nvSpPr>
            <p:spPr>
              <a:xfrm>
                <a:off x="1105111" y="1633661"/>
                <a:ext cx="39342" cy="21125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21126">
                    <a:moveTo>
                      <a:pt x="39342" y="21126"/>
                    </a:moveTo>
                    <a:lnTo>
                      <a:pt x="23531" y="0"/>
                    </a:lnTo>
                    <a:lnTo>
                      <a:pt x="15685" y="0"/>
                    </a:lnTo>
                    <a:lnTo>
                      <a:pt x="0" y="21126"/>
                    </a:lnTo>
                    <a:lnTo>
                      <a:pt x="4298" y="21126"/>
                    </a:lnTo>
                    <a:lnTo>
                      <a:pt x="19606" y="8096"/>
                    </a:lnTo>
                    <a:lnTo>
                      <a:pt x="35040" y="21126"/>
                    </a:lnTo>
                    <a:lnTo>
                      <a:pt x="39342" y="21126"/>
                    </a:lnTo>
                    <a:close/>
                  </a:path>
                </a:pathLst>
              </a:custGeom>
              <a:solidFill>
                <a:srgbClr val="003EA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input_symbol0_outline_1"/>
              <p:cNvSpPr/>
              <p:nvPr/>
            </p:nvSpPr>
            <p:spPr>
              <a:xfrm>
                <a:off x="1071329" y="166207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003EA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3" name="input_symbol1"/>
            <p:cNvGrpSpPr/>
            <p:nvPr/>
          </p:nvGrpSpPr>
          <p:grpSpPr>
            <a:xfrm>
              <a:off x="1070062" y="1977497"/>
              <a:ext cx="77803" cy="84506"/>
              <a:chOff x="1070062" y="1977497"/>
              <a:chExt cx="77803" cy="84506"/>
            </a:xfrm>
          </p:grpSpPr>
          <p:sp>
            <p:nvSpPr>
              <p:cNvPr id="94" name="input_symbol1_outline_0"/>
              <p:cNvSpPr/>
              <p:nvPr/>
            </p:nvSpPr>
            <p:spPr>
              <a:xfrm>
                <a:off x="1070062" y="1977497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2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2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2"/>
                    </a:lnTo>
                    <a:cubicBezTo>
                      <a:pt x="17205" y="81851"/>
                      <a:pt x="16193" y="81216"/>
                      <a:pt x="16193" y="78053"/>
                    </a:cubicBezTo>
                    <a:cubicBezTo>
                      <a:pt x="16193" y="75652"/>
                      <a:pt x="16574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2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50227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5" name="input_symbol2"/>
            <p:cNvGrpSpPr/>
            <p:nvPr/>
          </p:nvGrpSpPr>
          <p:grpSpPr>
            <a:xfrm>
              <a:off x="1042390" y="2294863"/>
              <a:ext cx="133011" cy="110782"/>
              <a:chOff x="1042390" y="2294863"/>
              <a:chExt cx="133011" cy="110782"/>
            </a:xfrm>
          </p:grpSpPr>
          <p:sp>
            <p:nvSpPr>
              <p:cNvPr id="96" name="input_symbol2_outline_0"/>
              <p:cNvSpPr/>
              <p:nvPr/>
            </p:nvSpPr>
            <p:spPr>
              <a:xfrm>
                <a:off x="1042390" y="2294863"/>
                <a:ext cx="78811" cy="86530"/>
              </a:xfrm>
              <a:custGeom>
                <a:avLst/>
                <a:gdLst/>
                <a:ahLst/>
                <a:cxnLst/>
                <a:rect l="0" t="0" r="r" b="b"/>
                <a:pathLst>
                  <a:path w="78811" h="86531">
                    <a:moveTo>
                      <a:pt x="67556" y="67679"/>
                    </a:moveTo>
                    <a:lnTo>
                      <a:pt x="65405" y="65909"/>
                    </a:lnTo>
                    <a:cubicBezTo>
                      <a:pt x="54019" y="77168"/>
                      <a:pt x="46680" y="80835"/>
                      <a:pt x="36306" y="80835"/>
                    </a:cubicBezTo>
                    <a:cubicBezTo>
                      <a:pt x="22265" y="80835"/>
                      <a:pt x="14168" y="71350"/>
                      <a:pt x="14168" y="54904"/>
                    </a:cubicBezTo>
                    <a:cubicBezTo>
                      <a:pt x="14168" y="39850"/>
                      <a:pt x="20241" y="24543"/>
                      <a:pt x="30107" y="14295"/>
                    </a:cubicBezTo>
                    <a:cubicBezTo>
                      <a:pt x="36179" y="7969"/>
                      <a:pt x="44148" y="4552"/>
                      <a:pt x="52499" y="4552"/>
                    </a:cubicBezTo>
                    <a:cubicBezTo>
                      <a:pt x="64139" y="4552"/>
                      <a:pt x="70592" y="11382"/>
                      <a:pt x="71854" y="25047"/>
                    </a:cubicBezTo>
                    <a:lnTo>
                      <a:pt x="74132" y="25428"/>
                    </a:lnTo>
                    <a:lnTo>
                      <a:pt x="78811" y="250"/>
                    </a:lnTo>
                    <a:lnTo>
                      <a:pt x="76156" y="250"/>
                    </a:lnTo>
                    <a:cubicBezTo>
                      <a:pt x="75144" y="2274"/>
                      <a:pt x="73878" y="3036"/>
                      <a:pt x="71350" y="3036"/>
                    </a:cubicBezTo>
                    <a:cubicBezTo>
                      <a:pt x="70211" y="3036"/>
                      <a:pt x="68818" y="2782"/>
                      <a:pt x="66163" y="2151"/>
                    </a:cubicBezTo>
                    <a:cubicBezTo>
                      <a:pt x="60595" y="758"/>
                      <a:pt x="55535" y="0"/>
                      <a:pt x="51360" y="0"/>
                    </a:cubicBezTo>
                    <a:cubicBezTo>
                      <a:pt x="24289" y="0"/>
                      <a:pt x="0" y="25301"/>
                      <a:pt x="0" y="53511"/>
                    </a:cubicBezTo>
                    <a:cubicBezTo>
                      <a:pt x="0" y="72866"/>
                      <a:pt x="13660" y="86531"/>
                      <a:pt x="33016" y="86531"/>
                    </a:cubicBezTo>
                    <a:cubicBezTo>
                      <a:pt x="46049" y="86531"/>
                      <a:pt x="56170" y="81089"/>
                      <a:pt x="67556" y="67679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input_symbol2_outline_1"/>
              <p:cNvSpPr/>
              <p:nvPr/>
            </p:nvSpPr>
            <p:spPr>
              <a:xfrm>
                <a:off x="1124764" y="233363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98" name="module_stage3"/>
          <p:cNvGrpSpPr/>
          <p:nvPr/>
        </p:nvGrpSpPr>
        <p:grpSpPr>
          <a:xfrm>
            <a:off x="1447800" y="76200"/>
            <a:ext cx="812800" cy="2552700"/>
            <a:chOff x="1447800" y="76200"/>
            <a:chExt cx="812800" cy="2552700"/>
          </a:xfrm>
        </p:grpSpPr>
        <p:sp>
          <p:nvSpPr>
            <p:cNvPr id="99" name="stage3_border"/>
            <p:cNvSpPr/>
            <p:nvPr/>
          </p:nvSpPr>
          <p:spPr>
            <a:xfrm>
              <a:off x="1447800" y="76200"/>
              <a:ext cx="8128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698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badge3"/>
            <p:cNvSpPr/>
            <p:nvPr/>
          </p:nvSpPr>
          <p:spPr>
            <a:xfrm>
              <a:off x="1498600" y="152400"/>
              <a:ext cx="165100" cy="165100"/>
            </a:xfrm>
            <a:prstGeom prst="ellipse">
              <a:avLst/>
            </a:prstGeom>
            <a:solidFill>
              <a:srgbClr val="0062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number3"/>
            <p:cNvSpPr txBox="1"/>
            <p:nvPr/>
          </p:nvSpPr>
          <p:spPr>
            <a:xfrm>
              <a:off x="1498600" y="152400"/>
              <a:ext cx="1651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i="0">
                  <a:solidFill>
                    <a:srgbClr val="FFFFFF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102" name="title3"/>
            <p:cNvSpPr txBox="1"/>
            <p:nvPr/>
          </p:nvSpPr>
          <p:spPr>
            <a:xfrm>
              <a:off x="1689100" y="114300"/>
              <a:ext cx="5461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00621C"/>
                  </a:solidFill>
                  <a:latin typeface="Liberation Serif"/>
                </a:rPr>
                <a:t>Budgets &amp;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00621C"/>
                  </a:solidFill>
                  <a:latin typeface="Liberation Serif"/>
                </a:rPr>
                <a:t>hard edges</a:t>
              </a:r>
            </a:p>
          </p:txBody>
        </p:sp>
        <p:sp>
          <p:nvSpPr>
            <p:cNvPr id="103" name="soft_label"/>
            <p:cNvSpPr txBox="1"/>
            <p:nvPr/>
          </p:nvSpPr>
          <p:spPr>
            <a:xfrm>
              <a:off x="1485900" y="520700"/>
              <a:ext cx="7366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00621C"/>
                  </a:solidFill>
                  <a:latin typeface="Liberation Serif"/>
                </a:rPr>
                <a:t>Soft budgets</a:t>
              </a:r>
            </a:p>
          </p:txBody>
        </p:sp>
        <p:sp>
          <p:nvSpPr>
            <p:cNvPr id="104" name="budgetcard0"/>
            <p:cNvSpPr/>
            <p:nvPr/>
          </p:nvSpPr>
          <p:spPr>
            <a:xfrm>
              <a:off x="1536700" y="1435100"/>
              <a:ext cx="190500" cy="152400"/>
            </a:xfrm>
            <a:prstGeom prst="roundRect">
              <a:avLst>
                <a:gd name="adj" fmla="val 2500"/>
              </a:avLst>
            </a:prstGeom>
            <a:solidFill>
              <a:srgbClr val="F1F7F1"/>
            </a:solidFill>
            <a:ln w="5080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budgetidx0"/>
            <p:cNvSpPr txBox="1"/>
            <p:nvPr/>
          </p:nvSpPr>
          <p:spPr>
            <a:xfrm>
              <a:off x="1536700" y="1435100"/>
              <a:ext cx="1905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00621C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106" name="budgetcard1"/>
            <p:cNvSpPr/>
            <p:nvPr/>
          </p:nvSpPr>
          <p:spPr>
            <a:xfrm>
              <a:off x="1752600" y="1435100"/>
              <a:ext cx="190500" cy="152400"/>
            </a:xfrm>
            <a:prstGeom prst="roundRect">
              <a:avLst>
                <a:gd name="adj" fmla="val 2500"/>
              </a:avLst>
            </a:prstGeom>
            <a:solidFill>
              <a:srgbClr val="F1F7F1"/>
            </a:solidFill>
            <a:ln w="5080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budgetidx1"/>
            <p:cNvSpPr txBox="1"/>
            <p:nvPr/>
          </p:nvSpPr>
          <p:spPr>
            <a:xfrm>
              <a:off x="1752600" y="1435100"/>
              <a:ext cx="1905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00621C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108" name="budgetcard2"/>
            <p:cNvSpPr/>
            <p:nvPr/>
          </p:nvSpPr>
          <p:spPr>
            <a:xfrm>
              <a:off x="1968500" y="1435100"/>
              <a:ext cx="190500" cy="152400"/>
            </a:xfrm>
            <a:prstGeom prst="roundRect">
              <a:avLst>
                <a:gd name="adj" fmla="val 2500"/>
              </a:avLst>
            </a:prstGeom>
            <a:solidFill>
              <a:srgbClr val="F1F7F1"/>
            </a:solidFill>
            <a:ln w="5080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budgetidx2"/>
            <p:cNvSpPr txBox="1"/>
            <p:nvPr/>
          </p:nvSpPr>
          <p:spPr>
            <a:xfrm>
              <a:off x="1968500" y="1435100"/>
              <a:ext cx="1905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00621C"/>
                  </a:solidFill>
                  <a:latin typeface="Liberation Serif"/>
                </a:rPr>
                <a:t>K</a:t>
              </a:r>
            </a:p>
          </p:txBody>
        </p:sp>
        <p:sp>
          <p:nvSpPr>
            <p:cNvPr id="110" name="hard_label"/>
            <p:cNvSpPr txBox="1"/>
            <p:nvPr/>
          </p:nvSpPr>
          <p:spPr>
            <a:xfrm>
              <a:off x="1485900" y="1778000"/>
              <a:ext cx="7366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FF0709"/>
                  </a:solidFill>
                  <a:latin typeface="Liberation Serif"/>
                </a:rPr>
                <a:t>Hard exclusions</a:t>
              </a:r>
            </a:p>
          </p:txBody>
        </p:sp>
        <p:sp>
          <p:nvSpPr>
            <p:cNvPr id="111" name="hard_graph_e0"/>
            <p:cNvSpPr/>
            <p:nvPr/>
          </p:nvSpPr>
          <p:spPr>
            <a:xfrm>
              <a:off x="1587246" y="2082800"/>
              <a:ext cx="139700" cy="127"/>
            </a:xfrm>
            <a:custGeom>
              <a:avLst/>
              <a:gdLst/>
              <a:ahLst/>
              <a:cxnLst/>
              <a:rect l="0" t="0" r="r" b="b"/>
              <a:pathLst>
                <a:path w="139700" h="1" fill="none">
                  <a:moveTo>
                    <a:pt x="0" y="0"/>
                  </a:moveTo>
                  <a:lnTo>
                    <a:pt x="139700" y="0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hard_graph_e1"/>
            <p:cNvSpPr/>
            <p:nvPr/>
          </p:nvSpPr>
          <p:spPr>
            <a:xfrm>
              <a:off x="1777238" y="2082800"/>
              <a:ext cx="139700" cy="127"/>
            </a:xfrm>
            <a:custGeom>
              <a:avLst/>
              <a:gdLst/>
              <a:ahLst/>
              <a:cxnLst/>
              <a:rect l="0" t="0" r="r" b="b"/>
              <a:pathLst>
                <a:path w="139700" h="1" fill="none">
                  <a:moveTo>
                    <a:pt x="0" y="0"/>
                  </a:moveTo>
                  <a:lnTo>
                    <a:pt x="139700" y="0"/>
                  </a:lnTo>
                </a:path>
              </a:pathLst>
            </a:custGeom>
            <a:noFill/>
            <a:ln w="6604">
              <a:solidFill>
                <a:srgbClr val="FF0709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hard_graph_x0"/>
            <p:cNvSpPr/>
            <p:nvPr/>
          </p:nvSpPr>
          <p:spPr>
            <a:xfrm>
              <a:off x="1832000" y="2067712"/>
              <a:ext cx="30175" cy="30175"/>
            </a:xfrm>
            <a:custGeom>
              <a:avLst/>
              <a:gdLst/>
              <a:ahLst/>
              <a:cxnLst/>
              <a:rect l="0" t="0" r="r" b="b"/>
              <a:pathLst>
                <a:path w="30175" h="30175" fill="none">
                  <a:moveTo>
                    <a:pt x="0" y="30175"/>
                  </a:moveTo>
                  <a:lnTo>
                    <a:pt x="30175" y="0"/>
                  </a:lnTo>
                </a:path>
              </a:pathLst>
            </a:custGeom>
            <a:noFill/>
            <a:ln w="8890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hard_graph_x1"/>
            <p:cNvSpPr/>
            <p:nvPr/>
          </p:nvSpPr>
          <p:spPr>
            <a:xfrm>
              <a:off x="1832000" y="2067712"/>
              <a:ext cx="30175" cy="30175"/>
            </a:xfrm>
            <a:custGeom>
              <a:avLst/>
              <a:gdLst/>
              <a:ahLst/>
              <a:cxnLst/>
              <a:rect l="0" t="0" r="r" b="b"/>
              <a:pathLst>
                <a:path w="30175" h="30175" fill="none">
                  <a:moveTo>
                    <a:pt x="0" y="0"/>
                  </a:moveTo>
                  <a:lnTo>
                    <a:pt x="30175" y="30175"/>
                  </a:lnTo>
                </a:path>
              </a:pathLst>
            </a:custGeom>
            <a:noFill/>
            <a:ln w="8890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hard_graph_e2"/>
            <p:cNvSpPr/>
            <p:nvPr/>
          </p:nvSpPr>
          <p:spPr>
            <a:xfrm>
              <a:off x="1562100" y="2107946"/>
              <a:ext cx="127" cy="83058"/>
            </a:xfrm>
            <a:custGeom>
              <a:avLst/>
              <a:gdLst/>
              <a:ahLst/>
              <a:cxnLst/>
              <a:rect l="0" t="0" r="r" b="b"/>
              <a:pathLst>
                <a:path w="1" h="83058" fill="none">
                  <a:moveTo>
                    <a:pt x="0" y="0"/>
                  </a:moveTo>
                  <a:lnTo>
                    <a:pt x="0" y="83058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hard_graph_e3"/>
            <p:cNvSpPr/>
            <p:nvPr/>
          </p:nvSpPr>
          <p:spPr>
            <a:xfrm>
              <a:off x="1752092" y="2107946"/>
              <a:ext cx="127" cy="83058"/>
            </a:xfrm>
            <a:custGeom>
              <a:avLst/>
              <a:gdLst/>
              <a:ahLst/>
              <a:cxnLst/>
              <a:rect l="0" t="0" r="r" b="b"/>
              <a:pathLst>
                <a:path w="1" h="83058" fill="none">
                  <a:moveTo>
                    <a:pt x="0" y="0"/>
                  </a:moveTo>
                  <a:lnTo>
                    <a:pt x="0" y="83058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hard_graph_e4"/>
            <p:cNvSpPr/>
            <p:nvPr/>
          </p:nvSpPr>
          <p:spPr>
            <a:xfrm>
              <a:off x="1942084" y="2107946"/>
              <a:ext cx="127" cy="83058"/>
            </a:xfrm>
            <a:custGeom>
              <a:avLst/>
              <a:gdLst/>
              <a:ahLst/>
              <a:cxnLst/>
              <a:rect l="0" t="0" r="r" b="b"/>
              <a:pathLst>
                <a:path w="1" h="83058" fill="none">
                  <a:moveTo>
                    <a:pt x="0" y="0"/>
                  </a:moveTo>
                  <a:lnTo>
                    <a:pt x="0" y="83058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hard_graph_e5"/>
            <p:cNvSpPr/>
            <p:nvPr/>
          </p:nvSpPr>
          <p:spPr>
            <a:xfrm>
              <a:off x="1587246" y="2216150"/>
              <a:ext cx="139700" cy="127"/>
            </a:xfrm>
            <a:custGeom>
              <a:avLst/>
              <a:gdLst/>
              <a:ahLst/>
              <a:cxnLst/>
              <a:rect l="0" t="0" r="r" b="b"/>
              <a:pathLst>
                <a:path w="139700" h="1" fill="none">
                  <a:moveTo>
                    <a:pt x="0" y="0"/>
                  </a:moveTo>
                  <a:lnTo>
                    <a:pt x="139700" y="0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hard_graph_e6"/>
            <p:cNvSpPr/>
            <p:nvPr/>
          </p:nvSpPr>
          <p:spPr>
            <a:xfrm>
              <a:off x="1777238" y="2216150"/>
              <a:ext cx="139700" cy="127"/>
            </a:xfrm>
            <a:custGeom>
              <a:avLst/>
              <a:gdLst/>
              <a:ahLst/>
              <a:cxnLst/>
              <a:rect l="0" t="0" r="r" b="b"/>
              <a:pathLst>
                <a:path w="139700" h="1" fill="none">
                  <a:moveTo>
                    <a:pt x="0" y="0"/>
                  </a:moveTo>
                  <a:lnTo>
                    <a:pt x="139700" y="0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hard_graph_e7"/>
            <p:cNvSpPr/>
            <p:nvPr/>
          </p:nvSpPr>
          <p:spPr>
            <a:xfrm>
              <a:off x="1967230" y="2216150"/>
              <a:ext cx="128524" cy="127"/>
            </a:xfrm>
            <a:custGeom>
              <a:avLst/>
              <a:gdLst/>
              <a:ahLst/>
              <a:cxnLst/>
              <a:rect l="0" t="0" r="r" b="b"/>
              <a:pathLst>
                <a:path w="128524" h="1" fill="none">
                  <a:moveTo>
                    <a:pt x="0" y="0"/>
                  </a:moveTo>
                  <a:lnTo>
                    <a:pt x="128524" y="0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hard_graph_e8"/>
            <p:cNvSpPr/>
            <p:nvPr/>
          </p:nvSpPr>
          <p:spPr>
            <a:xfrm>
              <a:off x="1562100" y="2241296"/>
              <a:ext cx="127" cy="83058"/>
            </a:xfrm>
            <a:custGeom>
              <a:avLst/>
              <a:gdLst/>
              <a:ahLst/>
              <a:cxnLst/>
              <a:rect l="0" t="0" r="r" b="b"/>
              <a:pathLst>
                <a:path w="1" h="83058" fill="none">
                  <a:moveTo>
                    <a:pt x="0" y="0"/>
                  </a:moveTo>
                  <a:lnTo>
                    <a:pt x="0" y="83058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hard_graph_e9"/>
            <p:cNvSpPr/>
            <p:nvPr/>
          </p:nvSpPr>
          <p:spPr>
            <a:xfrm>
              <a:off x="1752092" y="2241296"/>
              <a:ext cx="127" cy="83058"/>
            </a:xfrm>
            <a:custGeom>
              <a:avLst/>
              <a:gdLst/>
              <a:ahLst/>
              <a:cxnLst/>
              <a:rect l="0" t="0" r="r" b="b"/>
              <a:pathLst>
                <a:path w="1" h="83058" fill="none">
                  <a:moveTo>
                    <a:pt x="0" y="0"/>
                  </a:moveTo>
                  <a:lnTo>
                    <a:pt x="0" y="83058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hard_graph_e10"/>
            <p:cNvSpPr/>
            <p:nvPr/>
          </p:nvSpPr>
          <p:spPr>
            <a:xfrm>
              <a:off x="1942084" y="2241296"/>
              <a:ext cx="127" cy="83058"/>
            </a:xfrm>
            <a:custGeom>
              <a:avLst/>
              <a:gdLst/>
              <a:ahLst/>
              <a:cxnLst/>
              <a:rect l="0" t="0" r="r" b="b"/>
              <a:pathLst>
                <a:path w="1" h="83058" fill="none">
                  <a:moveTo>
                    <a:pt x="0" y="0"/>
                  </a:moveTo>
                  <a:lnTo>
                    <a:pt x="0" y="83058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hard_graph_e11"/>
            <p:cNvSpPr/>
            <p:nvPr/>
          </p:nvSpPr>
          <p:spPr>
            <a:xfrm>
              <a:off x="1772674" y="2230596"/>
              <a:ext cx="148827" cy="104457"/>
            </a:xfrm>
            <a:custGeom>
              <a:avLst/>
              <a:gdLst/>
              <a:ahLst/>
              <a:cxnLst/>
              <a:rect l="0" t="0" r="r" b="b"/>
              <a:pathLst>
                <a:path w="148827" h="104457" fill="none">
                  <a:moveTo>
                    <a:pt x="0" y="104457"/>
                  </a:moveTo>
                  <a:lnTo>
                    <a:pt x="148827" y="0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hard_graph_n0"/>
            <p:cNvSpPr/>
            <p:nvPr/>
          </p:nvSpPr>
          <p:spPr>
            <a:xfrm>
              <a:off x="1536954" y="20576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hard_graph_n1"/>
            <p:cNvSpPr/>
            <p:nvPr/>
          </p:nvSpPr>
          <p:spPr>
            <a:xfrm>
              <a:off x="1726946" y="20576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hard_graph_n2"/>
            <p:cNvSpPr/>
            <p:nvPr/>
          </p:nvSpPr>
          <p:spPr>
            <a:xfrm>
              <a:off x="1916938" y="20576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hard_graph_n3"/>
            <p:cNvSpPr/>
            <p:nvPr/>
          </p:nvSpPr>
          <p:spPr>
            <a:xfrm>
              <a:off x="1536954" y="219100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hard_graph_n4"/>
            <p:cNvSpPr/>
            <p:nvPr/>
          </p:nvSpPr>
          <p:spPr>
            <a:xfrm>
              <a:off x="1726946" y="219100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hard_graph_n5"/>
            <p:cNvSpPr/>
            <p:nvPr/>
          </p:nvSpPr>
          <p:spPr>
            <a:xfrm>
              <a:off x="1916938" y="219100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hard_graph_n6"/>
            <p:cNvSpPr/>
            <p:nvPr/>
          </p:nvSpPr>
          <p:spPr>
            <a:xfrm>
              <a:off x="2095754" y="219100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hard_graph_n7"/>
            <p:cNvSpPr/>
            <p:nvPr/>
          </p:nvSpPr>
          <p:spPr>
            <a:xfrm>
              <a:off x="1536954" y="23243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hard_graph_n8"/>
            <p:cNvSpPr/>
            <p:nvPr/>
          </p:nvSpPr>
          <p:spPr>
            <a:xfrm>
              <a:off x="1726946" y="23243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hard_graph_n9"/>
            <p:cNvSpPr/>
            <p:nvPr/>
          </p:nvSpPr>
          <p:spPr>
            <a:xfrm>
              <a:off x="1916938" y="23243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35" name="budget_conversion"/>
            <p:cNvGrpSpPr/>
            <p:nvPr/>
          </p:nvGrpSpPr>
          <p:grpSpPr>
            <a:xfrm>
              <a:off x="1575194" y="818533"/>
              <a:ext cx="570692" cy="115970"/>
              <a:chOff x="1575194" y="818533"/>
              <a:chExt cx="570692" cy="115970"/>
            </a:xfrm>
          </p:grpSpPr>
          <p:sp>
            <p:nvSpPr>
              <p:cNvPr id="136" name="budget_conversion_outline_0"/>
              <p:cNvSpPr/>
              <p:nvPr/>
            </p:nvSpPr>
            <p:spPr>
              <a:xfrm>
                <a:off x="1575194" y="821569"/>
                <a:ext cx="56927" cy="87796"/>
              </a:xfrm>
              <a:custGeom>
                <a:avLst/>
                <a:gdLst/>
                <a:ahLst/>
                <a:cxnLst/>
                <a:rect l="0" t="0" r="r" b="b"/>
                <a:pathLst>
                  <a:path w="56928" h="87797">
                    <a:moveTo>
                      <a:pt x="56928" y="45795"/>
                    </a:moveTo>
                    <a:cubicBezTo>
                      <a:pt x="56928" y="36941"/>
                      <a:pt x="50728" y="30615"/>
                      <a:pt x="42255" y="30615"/>
                    </a:cubicBezTo>
                    <a:cubicBezTo>
                      <a:pt x="33397" y="30615"/>
                      <a:pt x="26821" y="35802"/>
                      <a:pt x="17840" y="49717"/>
                    </a:cubicBezTo>
                    <a:lnTo>
                      <a:pt x="30996" y="631"/>
                    </a:lnTo>
                    <a:lnTo>
                      <a:pt x="30361" y="0"/>
                    </a:lnTo>
                    <a:cubicBezTo>
                      <a:pt x="24039" y="1139"/>
                      <a:pt x="19483" y="1897"/>
                      <a:pt x="11005" y="2909"/>
                    </a:cubicBezTo>
                    <a:lnTo>
                      <a:pt x="11005" y="5060"/>
                    </a:lnTo>
                    <a:cubicBezTo>
                      <a:pt x="18470" y="5314"/>
                      <a:pt x="19229" y="5691"/>
                      <a:pt x="19229" y="8473"/>
                    </a:cubicBezTo>
                    <a:cubicBezTo>
                      <a:pt x="19229" y="9612"/>
                      <a:pt x="18979" y="11005"/>
                      <a:pt x="18089" y="13915"/>
                    </a:cubicBezTo>
                    <a:lnTo>
                      <a:pt x="17459" y="16320"/>
                    </a:lnTo>
                    <a:lnTo>
                      <a:pt x="17205" y="17205"/>
                    </a:lnTo>
                    <a:lnTo>
                      <a:pt x="0" y="80585"/>
                    </a:lnTo>
                    <a:lnTo>
                      <a:pt x="0" y="81090"/>
                    </a:lnTo>
                    <a:cubicBezTo>
                      <a:pt x="0" y="83999"/>
                      <a:pt x="9616" y="87797"/>
                      <a:pt x="16828" y="87797"/>
                    </a:cubicBezTo>
                    <a:cubicBezTo>
                      <a:pt x="35929" y="87797"/>
                      <a:pt x="56928" y="65782"/>
                      <a:pt x="56928" y="45795"/>
                    </a:cubicBezTo>
                    <a:close/>
                    <a:moveTo>
                      <a:pt x="46176" y="47692"/>
                    </a:moveTo>
                    <a:cubicBezTo>
                      <a:pt x="46176" y="56043"/>
                      <a:pt x="39850" y="69580"/>
                      <a:pt x="32262" y="77422"/>
                    </a:cubicBezTo>
                    <a:cubicBezTo>
                      <a:pt x="27579" y="82229"/>
                      <a:pt x="22138" y="84884"/>
                      <a:pt x="16700" y="84884"/>
                    </a:cubicBezTo>
                    <a:cubicBezTo>
                      <a:pt x="12779" y="84884"/>
                      <a:pt x="10878" y="83495"/>
                      <a:pt x="10878" y="80585"/>
                    </a:cubicBezTo>
                    <a:cubicBezTo>
                      <a:pt x="10878" y="72993"/>
                      <a:pt x="14677" y="60849"/>
                      <a:pt x="19991" y="51360"/>
                    </a:cubicBezTo>
                    <a:cubicBezTo>
                      <a:pt x="25555" y="41620"/>
                      <a:pt x="31246" y="36814"/>
                      <a:pt x="37322" y="36814"/>
                    </a:cubicBezTo>
                    <a:cubicBezTo>
                      <a:pt x="42886" y="36814"/>
                      <a:pt x="46176" y="40989"/>
                      <a:pt x="46176" y="4769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budget_conversion_outline_1"/>
              <p:cNvSpPr/>
              <p:nvPr/>
            </p:nvSpPr>
            <p:spPr>
              <a:xfrm>
                <a:off x="1646562" y="862491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budget_conversion_outline_2"/>
              <p:cNvSpPr/>
              <p:nvPr/>
            </p:nvSpPr>
            <p:spPr>
              <a:xfrm>
                <a:off x="1751222" y="859141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budget_conversion_outline_3"/>
              <p:cNvSpPr/>
              <p:nvPr/>
            </p:nvSpPr>
            <p:spPr>
              <a:xfrm>
                <a:off x="1862916" y="825363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budget_conversion_outline_4"/>
              <p:cNvSpPr/>
              <p:nvPr/>
            </p:nvSpPr>
            <p:spPr>
              <a:xfrm>
                <a:off x="1949470" y="862491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budget_conversion_outline_5"/>
              <p:cNvSpPr/>
              <p:nvPr/>
            </p:nvSpPr>
            <p:spPr>
              <a:xfrm>
                <a:off x="2018988" y="818533"/>
                <a:ext cx="42509" cy="113855"/>
              </a:xfrm>
              <a:custGeom>
                <a:avLst/>
                <a:gdLst/>
                <a:ahLst/>
                <a:cxnLst/>
                <a:rect l="0" t="0" r="r" b="b"/>
                <a:pathLst>
                  <a:path w="42509" h="113856">
                    <a:moveTo>
                      <a:pt x="0" y="113856"/>
                    </a:moveTo>
                    <a:lnTo>
                      <a:pt x="6580" y="113856"/>
                    </a:lnTo>
                    <a:lnTo>
                      <a:pt x="42509" y="0"/>
                    </a:lnTo>
                    <a:lnTo>
                      <a:pt x="35929" y="0"/>
                    </a:lnTo>
                    <a:lnTo>
                      <a:pt x="0" y="113856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budget_conversion_outline_6"/>
              <p:cNvSpPr/>
              <p:nvPr/>
            </p:nvSpPr>
            <p:spPr>
              <a:xfrm>
                <a:off x="2074155" y="825363"/>
                <a:ext cx="71731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1731" h="82610">
                    <a:moveTo>
                      <a:pt x="71731" y="59964"/>
                    </a:moveTo>
                    <a:lnTo>
                      <a:pt x="69199" y="59206"/>
                    </a:lnTo>
                    <a:cubicBezTo>
                      <a:pt x="64770" y="68314"/>
                      <a:pt x="61484" y="72235"/>
                      <a:pt x="55916" y="75017"/>
                    </a:cubicBezTo>
                    <a:cubicBezTo>
                      <a:pt x="51487" y="77295"/>
                      <a:pt x="46303" y="78053"/>
                      <a:pt x="35044" y="78053"/>
                    </a:cubicBezTo>
                    <a:cubicBezTo>
                      <a:pt x="25555" y="78053"/>
                      <a:pt x="22392" y="77041"/>
                      <a:pt x="22392" y="73755"/>
                    </a:cubicBezTo>
                    <a:cubicBezTo>
                      <a:pt x="22392" y="72743"/>
                      <a:pt x="22900" y="70084"/>
                      <a:pt x="23658" y="67429"/>
                    </a:cubicBezTo>
                    <a:lnTo>
                      <a:pt x="39219" y="11386"/>
                    </a:lnTo>
                    <a:cubicBezTo>
                      <a:pt x="41116" y="4933"/>
                      <a:pt x="44402" y="2532"/>
                      <a:pt x="51995" y="2024"/>
                    </a:cubicBezTo>
                    <a:lnTo>
                      <a:pt x="51995" y="0"/>
                    </a:lnTo>
                    <a:lnTo>
                      <a:pt x="17459" y="0"/>
                    </a:lnTo>
                    <a:lnTo>
                      <a:pt x="17459" y="2024"/>
                    </a:lnTo>
                    <a:cubicBezTo>
                      <a:pt x="25428" y="2782"/>
                      <a:pt x="27198" y="3794"/>
                      <a:pt x="27198" y="7465"/>
                    </a:cubicBezTo>
                    <a:cubicBezTo>
                      <a:pt x="27198" y="9362"/>
                      <a:pt x="26821" y="11890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64393" y="82610"/>
                    </a:lnTo>
                    <a:lnTo>
                      <a:pt x="71731" y="5996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3" name="soft_constraints"/>
            <p:cNvGrpSpPr/>
            <p:nvPr/>
          </p:nvGrpSpPr>
          <p:grpSpPr>
            <a:xfrm>
              <a:off x="1541741" y="1139393"/>
              <a:ext cx="637341" cy="109244"/>
              <a:chOff x="1541741" y="1139393"/>
              <a:chExt cx="637341" cy="109244"/>
            </a:xfrm>
          </p:grpSpPr>
          <p:sp>
            <p:nvSpPr>
              <p:cNvPr id="144" name="soft_constraints_outline_0"/>
              <p:cNvSpPr/>
              <p:nvPr/>
            </p:nvSpPr>
            <p:spPr>
              <a:xfrm>
                <a:off x="1541741" y="1139393"/>
                <a:ext cx="28277" cy="96773"/>
              </a:xfrm>
              <a:custGeom>
                <a:avLst/>
                <a:gdLst/>
                <a:ahLst/>
                <a:cxnLst/>
                <a:rect l="0" t="0" r="r" b="b"/>
                <a:pathLst>
                  <a:path w="28277" h="96774">
                    <a:moveTo>
                      <a:pt x="28277" y="96774"/>
                    </a:moveTo>
                    <a:lnTo>
                      <a:pt x="7418" y="48387"/>
                    </a:lnTo>
                    <a:lnTo>
                      <a:pt x="28277" y="0"/>
                    </a:lnTo>
                    <a:lnTo>
                      <a:pt x="23118" y="0"/>
                    </a:lnTo>
                    <a:lnTo>
                      <a:pt x="0" y="48387"/>
                    </a:lnTo>
                    <a:lnTo>
                      <a:pt x="23118" y="96774"/>
                    </a:lnTo>
                    <a:lnTo>
                      <a:pt x="28277" y="9677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soft_constraints_outline_1"/>
              <p:cNvSpPr/>
              <p:nvPr/>
            </p:nvSpPr>
            <p:spPr>
              <a:xfrm>
                <a:off x="1586983" y="1143802"/>
                <a:ext cx="75508" cy="73763"/>
              </a:xfrm>
              <a:custGeom>
                <a:avLst/>
                <a:gdLst/>
                <a:ahLst/>
                <a:cxnLst/>
                <a:rect l="0" t="0" r="r" b="b"/>
                <a:pathLst>
                  <a:path w="75509" h="73763">
                    <a:moveTo>
                      <a:pt x="66369" y="57527"/>
                    </a:moveTo>
                    <a:lnTo>
                      <a:pt x="64218" y="56023"/>
                    </a:lnTo>
                    <a:cubicBezTo>
                      <a:pt x="53466" y="65592"/>
                      <a:pt x="46477" y="68707"/>
                      <a:pt x="36369" y="68707"/>
                    </a:cubicBezTo>
                    <a:cubicBezTo>
                      <a:pt x="22713" y="68707"/>
                      <a:pt x="14648" y="60646"/>
                      <a:pt x="14112" y="46665"/>
                    </a:cubicBezTo>
                    <a:cubicBezTo>
                      <a:pt x="13680" y="33869"/>
                      <a:pt x="19057" y="21074"/>
                      <a:pt x="28305" y="12367"/>
                    </a:cubicBezTo>
                    <a:cubicBezTo>
                      <a:pt x="34004" y="6989"/>
                      <a:pt x="41854" y="4088"/>
                      <a:pt x="50025" y="4088"/>
                    </a:cubicBezTo>
                    <a:cubicBezTo>
                      <a:pt x="61313" y="4088"/>
                      <a:pt x="67659" y="9894"/>
                      <a:pt x="69377" y="21507"/>
                    </a:cubicBezTo>
                    <a:lnTo>
                      <a:pt x="71635" y="21828"/>
                    </a:lnTo>
                    <a:lnTo>
                      <a:pt x="75509" y="214"/>
                    </a:lnTo>
                    <a:lnTo>
                      <a:pt x="72818" y="214"/>
                    </a:lnTo>
                    <a:cubicBezTo>
                      <a:pt x="71850" y="1937"/>
                      <a:pt x="70667" y="2794"/>
                      <a:pt x="68194" y="2794"/>
                    </a:cubicBezTo>
                    <a:cubicBezTo>
                      <a:pt x="67012" y="2794"/>
                      <a:pt x="65829" y="2365"/>
                      <a:pt x="63142" y="1830"/>
                    </a:cubicBezTo>
                    <a:cubicBezTo>
                      <a:pt x="57657" y="647"/>
                      <a:pt x="52712" y="0"/>
                      <a:pt x="48625" y="0"/>
                    </a:cubicBezTo>
                    <a:cubicBezTo>
                      <a:pt x="22173" y="0"/>
                      <a:pt x="-834" y="21721"/>
                      <a:pt x="23" y="45700"/>
                    </a:cubicBezTo>
                    <a:cubicBezTo>
                      <a:pt x="563" y="62151"/>
                      <a:pt x="14219" y="73763"/>
                      <a:pt x="33142" y="73763"/>
                    </a:cubicBezTo>
                    <a:cubicBezTo>
                      <a:pt x="45831" y="73763"/>
                      <a:pt x="55506" y="69140"/>
                      <a:pt x="66369" y="5752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soft_constraints_outline_2"/>
              <p:cNvSpPr/>
              <p:nvPr/>
            </p:nvSpPr>
            <p:spPr>
              <a:xfrm>
                <a:off x="1667435" y="117662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soft_constraints_outline_3"/>
              <p:cNvSpPr/>
              <p:nvPr/>
            </p:nvSpPr>
            <p:spPr>
              <a:xfrm>
                <a:off x="1737723" y="1204449"/>
                <a:ext cx="17093" cy="26447"/>
              </a:xfrm>
              <a:custGeom>
                <a:avLst/>
                <a:gdLst/>
                <a:ahLst/>
                <a:cxnLst/>
                <a:rect l="0" t="0" r="r" b="b"/>
                <a:pathLst>
                  <a:path w="17093" h="26448">
                    <a:moveTo>
                      <a:pt x="17093" y="10319"/>
                    </a:moveTo>
                    <a:cubicBezTo>
                      <a:pt x="17093" y="1397"/>
                      <a:pt x="10104" y="0"/>
                      <a:pt x="7203" y="0"/>
                    </a:cubicBezTo>
                    <a:cubicBezTo>
                      <a:pt x="4084" y="0"/>
                      <a:pt x="0" y="1933"/>
                      <a:pt x="0" y="6556"/>
                    </a:cubicBezTo>
                    <a:cubicBezTo>
                      <a:pt x="0" y="10858"/>
                      <a:pt x="4191" y="11934"/>
                      <a:pt x="7310" y="11934"/>
                    </a:cubicBezTo>
                    <a:cubicBezTo>
                      <a:pt x="8065" y="11934"/>
                      <a:pt x="8707" y="11827"/>
                      <a:pt x="9029" y="11720"/>
                    </a:cubicBezTo>
                    <a:cubicBezTo>
                      <a:pt x="9462" y="11613"/>
                      <a:pt x="9997" y="11501"/>
                      <a:pt x="10212" y="11501"/>
                    </a:cubicBezTo>
                    <a:cubicBezTo>
                      <a:pt x="10966" y="11501"/>
                      <a:pt x="11827" y="12041"/>
                      <a:pt x="11827" y="13010"/>
                    </a:cubicBezTo>
                    <a:cubicBezTo>
                      <a:pt x="11827" y="15053"/>
                      <a:pt x="9890" y="19677"/>
                      <a:pt x="2040" y="24190"/>
                    </a:cubicBezTo>
                    <a:lnTo>
                      <a:pt x="3115" y="26448"/>
                    </a:lnTo>
                    <a:cubicBezTo>
                      <a:pt x="6882" y="25372"/>
                      <a:pt x="17093" y="17955"/>
                      <a:pt x="17093" y="1031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soft_constraints_outline_4"/>
              <p:cNvSpPr/>
              <p:nvPr/>
            </p:nvSpPr>
            <p:spPr>
              <a:xfrm>
                <a:off x="1786955" y="1145199"/>
                <a:ext cx="74945" cy="70215"/>
              </a:xfrm>
              <a:custGeom>
                <a:avLst/>
                <a:gdLst/>
                <a:ahLst/>
                <a:cxnLst/>
                <a:rect l="0" t="0" r="r" b="b"/>
                <a:pathLst>
                  <a:path w="74946" h="70215">
                    <a:moveTo>
                      <a:pt x="71612" y="16450"/>
                    </a:moveTo>
                    <a:lnTo>
                      <a:pt x="74946" y="0"/>
                    </a:lnTo>
                    <a:lnTo>
                      <a:pt x="14621" y="0"/>
                    </a:lnTo>
                    <a:lnTo>
                      <a:pt x="14621" y="1723"/>
                    </a:lnTo>
                    <a:cubicBezTo>
                      <a:pt x="22797" y="2365"/>
                      <a:pt x="24301" y="3012"/>
                      <a:pt x="24408" y="6021"/>
                    </a:cubicBezTo>
                    <a:cubicBezTo>
                      <a:pt x="24408" y="7743"/>
                      <a:pt x="23868" y="10323"/>
                      <a:pt x="23225" y="13010"/>
                    </a:cubicBezTo>
                    <a:lnTo>
                      <a:pt x="9783" y="60539"/>
                    </a:lnTo>
                    <a:cubicBezTo>
                      <a:pt x="7850" y="66989"/>
                      <a:pt x="6989" y="67635"/>
                      <a:pt x="0" y="68497"/>
                    </a:cubicBezTo>
                    <a:lnTo>
                      <a:pt x="107" y="70215"/>
                    </a:lnTo>
                    <a:lnTo>
                      <a:pt x="31182" y="70215"/>
                    </a:lnTo>
                    <a:lnTo>
                      <a:pt x="31075" y="68497"/>
                    </a:lnTo>
                    <a:cubicBezTo>
                      <a:pt x="23979" y="68171"/>
                      <a:pt x="21828" y="66989"/>
                      <a:pt x="21721" y="63762"/>
                    </a:cubicBezTo>
                    <a:cubicBezTo>
                      <a:pt x="21721" y="62798"/>
                      <a:pt x="21828" y="61504"/>
                      <a:pt x="22471" y="58924"/>
                    </a:cubicBezTo>
                    <a:lnTo>
                      <a:pt x="29246" y="35163"/>
                    </a:lnTo>
                    <a:cubicBezTo>
                      <a:pt x="33548" y="35378"/>
                      <a:pt x="36128" y="35485"/>
                      <a:pt x="38707" y="35485"/>
                    </a:cubicBezTo>
                    <a:cubicBezTo>
                      <a:pt x="43224" y="35485"/>
                      <a:pt x="44085" y="35592"/>
                      <a:pt x="45160" y="36020"/>
                    </a:cubicBezTo>
                    <a:cubicBezTo>
                      <a:pt x="46879" y="36775"/>
                      <a:pt x="47847" y="38279"/>
                      <a:pt x="47954" y="40430"/>
                    </a:cubicBezTo>
                    <a:cubicBezTo>
                      <a:pt x="47954" y="42152"/>
                      <a:pt x="47847" y="43335"/>
                      <a:pt x="47740" y="46669"/>
                    </a:cubicBezTo>
                    <a:lnTo>
                      <a:pt x="49784" y="47204"/>
                    </a:lnTo>
                    <a:lnTo>
                      <a:pt x="58277" y="21935"/>
                    </a:lnTo>
                    <a:lnTo>
                      <a:pt x="56773" y="21400"/>
                    </a:lnTo>
                    <a:cubicBezTo>
                      <a:pt x="51614" y="31075"/>
                      <a:pt x="51181" y="31182"/>
                      <a:pt x="30428" y="31397"/>
                    </a:cubicBezTo>
                    <a:lnTo>
                      <a:pt x="37525" y="6346"/>
                    </a:lnTo>
                    <a:cubicBezTo>
                      <a:pt x="38064" y="4195"/>
                      <a:pt x="39783" y="3548"/>
                      <a:pt x="44621" y="3548"/>
                    </a:cubicBezTo>
                    <a:cubicBezTo>
                      <a:pt x="64730" y="3548"/>
                      <a:pt x="68814" y="4949"/>
                      <a:pt x="69032" y="11720"/>
                    </a:cubicBezTo>
                    <a:cubicBezTo>
                      <a:pt x="69140" y="12474"/>
                      <a:pt x="69140" y="12902"/>
                      <a:pt x="69032" y="14196"/>
                    </a:cubicBezTo>
                    <a:cubicBezTo>
                      <a:pt x="68921" y="14946"/>
                      <a:pt x="69032" y="15379"/>
                      <a:pt x="68921" y="16236"/>
                    </a:cubicBezTo>
                    <a:lnTo>
                      <a:pt x="71612" y="1645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soft_constraints_outline_5"/>
              <p:cNvSpPr/>
              <p:nvPr/>
            </p:nvSpPr>
            <p:spPr>
              <a:xfrm>
                <a:off x="1878036" y="1139393"/>
                <a:ext cx="28277" cy="96773"/>
              </a:xfrm>
              <a:custGeom>
                <a:avLst/>
                <a:gdLst/>
                <a:ahLst/>
                <a:cxnLst/>
                <a:rect l="0" t="0" r="r" b="b"/>
                <a:pathLst>
                  <a:path w="28277" h="96774">
                    <a:moveTo>
                      <a:pt x="28277" y="48387"/>
                    </a:moveTo>
                    <a:lnTo>
                      <a:pt x="5159" y="0"/>
                    </a:lnTo>
                    <a:lnTo>
                      <a:pt x="0" y="0"/>
                    </a:lnTo>
                    <a:lnTo>
                      <a:pt x="20860" y="48387"/>
                    </a:lnTo>
                    <a:lnTo>
                      <a:pt x="0" y="96774"/>
                    </a:lnTo>
                    <a:lnTo>
                      <a:pt x="5159" y="96774"/>
                    </a:lnTo>
                    <a:lnTo>
                      <a:pt x="28277" y="48387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soft_constraints_outline_6"/>
              <p:cNvSpPr/>
              <p:nvPr/>
            </p:nvSpPr>
            <p:spPr>
              <a:xfrm>
                <a:off x="1960047" y="1153696"/>
                <a:ext cx="55050" cy="67952"/>
              </a:xfrm>
              <a:custGeom>
                <a:avLst/>
                <a:gdLst/>
                <a:ahLst/>
                <a:cxnLst/>
                <a:rect l="0" t="0" r="r" b="b"/>
                <a:pathLst>
                  <a:path w="55051" h="67953">
                    <a:moveTo>
                      <a:pt x="55051" y="53975"/>
                    </a:moveTo>
                    <a:lnTo>
                      <a:pt x="55051" y="47954"/>
                    </a:lnTo>
                    <a:lnTo>
                      <a:pt x="10323" y="26988"/>
                    </a:lnTo>
                    <a:lnTo>
                      <a:pt x="55051" y="6021"/>
                    </a:lnTo>
                    <a:lnTo>
                      <a:pt x="55051" y="0"/>
                    </a:lnTo>
                    <a:lnTo>
                      <a:pt x="0" y="26019"/>
                    </a:lnTo>
                    <a:lnTo>
                      <a:pt x="0" y="28170"/>
                    </a:lnTo>
                    <a:lnTo>
                      <a:pt x="55051" y="53975"/>
                    </a:lnTo>
                    <a:close/>
                    <a:moveTo>
                      <a:pt x="55051" y="67953"/>
                    </a:moveTo>
                    <a:lnTo>
                      <a:pt x="55051" y="62254"/>
                    </a:lnTo>
                    <a:lnTo>
                      <a:pt x="0" y="62254"/>
                    </a:lnTo>
                    <a:lnTo>
                      <a:pt x="0" y="67953"/>
                    </a:lnTo>
                    <a:lnTo>
                      <a:pt x="55051" y="6795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soft_constraints_outline_7"/>
              <p:cNvSpPr/>
              <p:nvPr/>
            </p:nvSpPr>
            <p:spPr>
              <a:xfrm>
                <a:off x="2062963" y="1141973"/>
                <a:ext cx="54850" cy="74624"/>
              </a:xfrm>
              <a:custGeom>
                <a:avLst/>
                <a:gdLst/>
                <a:ahLst/>
                <a:cxnLst/>
                <a:rect l="0" t="0" r="r" b="b"/>
                <a:pathLst>
                  <a:path w="54851" h="74624">
                    <a:moveTo>
                      <a:pt x="54840" y="38925"/>
                    </a:moveTo>
                    <a:cubicBezTo>
                      <a:pt x="54626" y="31401"/>
                      <a:pt x="48280" y="26023"/>
                      <a:pt x="40001" y="26023"/>
                    </a:cubicBezTo>
                    <a:cubicBezTo>
                      <a:pt x="31397" y="26023"/>
                      <a:pt x="24948" y="30432"/>
                      <a:pt x="16669" y="42259"/>
                    </a:cubicBezTo>
                    <a:lnTo>
                      <a:pt x="28281" y="540"/>
                    </a:lnTo>
                    <a:lnTo>
                      <a:pt x="27420" y="0"/>
                    </a:lnTo>
                    <a:cubicBezTo>
                      <a:pt x="21185" y="968"/>
                      <a:pt x="16883" y="1615"/>
                      <a:pt x="8604" y="2477"/>
                    </a:cubicBezTo>
                    <a:lnTo>
                      <a:pt x="8711" y="4302"/>
                    </a:lnTo>
                    <a:cubicBezTo>
                      <a:pt x="15915" y="4516"/>
                      <a:pt x="16669" y="4842"/>
                      <a:pt x="16776" y="7207"/>
                    </a:cubicBezTo>
                    <a:cubicBezTo>
                      <a:pt x="16776" y="8176"/>
                      <a:pt x="16454" y="9358"/>
                      <a:pt x="15700" y="11831"/>
                    </a:cubicBezTo>
                    <a:lnTo>
                      <a:pt x="15161" y="13871"/>
                    </a:lnTo>
                    <a:lnTo>
                      <a:pt x="14946" y="14625"/>
                    </a:lnTo>
                    <a:lnTo>
                      <a:pt x="0" y="68497"/>
                    </a:lnTo>
                    <a:lnTo>
                      <a:pt x="107" y="68925"/>
                    </a:lnTo>
                    <a:cubicBezTo>
                      <a:pt x="107" y="71398"/>
                      <a:pt x="9680" y="74624"/>
                      <a:pt x="16669" y="74624"/>
                    </a:cubicBezTo>
                    <a:cubicBezTo>
                      <a:pt x="35377" y="74624"/>
                      <a:pt x="55376" y="55916"/>
                      <a:pt x="54840" y="38925"/>
                    </a:cubicBezTo>
                    <a:close/>
                    <a:moveTo>
                      <a:pt x="44303" y="40541"/>
                    </a:moveTo>
                    <a:cubicBezTo>
                      <a:pt x="44517" y="47637"/>
                      <a:pt x="38497" y="59142"/>
                      <a:pt x="31508" y="65806"/>
                    </a:cubicBezTo>
                    <a:cubicBezTo>
                      <a:pt x="26991" y="69894"/>
                      <a:pt x="21828" y="72152"/>
                      <a:pt x="16562" y="72152"/>
                    </a:cubicBezTo>
                    <a:cubicBezTo>
                      <a:pt x="12795" y="72152"/>
                      <a:pt x="10862" y="70969"/>
                      <a:pt x="10755" y="68497"/>
                    </a:cubicBezTo>
                    <a:cubicBezTo>
                      <a:pt x="10537" y="62043"/>
                      <a:pt x="13871" y="51721"/>
                      <a:pt x="18820" y="43656"/>
                    </a:cubicBezTo>
                    <a:cubicBezTo>
                      <a:pt x="23872" y="35377"/>
                      <a:pt x="29357" y="31294"/>
                      <a:pt x="35270" y="31294"/>
                    </a:cubicBezTo>
                    <a:cubicBezTo>
                      <a:pt x="40644" y="31294"/>
                      <a:pt x="44085" y="34842"/>
                      <a:pt x="44303" y="4054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soft_constraints_outline_8"/>
              <p:cNvSpPr/>
              <p:nvPr/>
            </p:nvSpPr>
            <p:spPr>
              <a:xfrm>
                <a:off x="2128445" y="117662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3" name="hard_support"/>
            <p:cNvGrpSpPr/>
            <p:nvPr/>
          </p:nvGrpSpPr>
          <p:grpSpPr>
            <a:xfrm>
              <a:off x="1675818" y="2434802"/>
              <a:ext cx="383792" cy="108683"/>
              <a:chOff x="1675818" y="2434802"/>
              <a:chExt cx="383792" cy="108683"/>
            </a:xfrm>
          </p:grpSpPr>
          <p:sp>
            <p:nvSpPr>
              <p:cNvPr id="154" name="hard_support_outline_0"/>
              <p:cNvSpPr/>
              <p:nvPr/>
            </p:nvSpPr>
            <p:spPr>
              <a:xfrm>
                <a:off x="1675818" y="243771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09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09"/>
                    </a:lnTo>
                    <a:lnTo>
                      <a:pt x="31881" y="82609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5"/>
                    </a:cubicBezTo>
                    <a:cubicBezTo>
                      <a:pt x="51237" y="49340"/>
                      <a:pt x="50983" y="50855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6"/>
                      <a:pt x="74259" y="15180"/>
                      <a:pt x="74132" y="16700"/>
                    </a:cubicBezTo>
                    <a:cubicBezTo>
                      <a:pt x="74005" y="17585"/>
                      <a:pt x="74005" y="18089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hard_support_outline_1"/>
              <p:cNvSpPr/>
              <p:nvPr/>
            </p:nvSpPr>
            <p:spPr>
              <a:xfrm>
                <a:off x="1750078" y="2475731"/>
                <a:ext cx="87991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87991" h="67754">
                    <a:moveTo>
                      <a:pt x="74192" y="67754"/>
                    </a:moveTo>
                    <a:lnTo>
                      <a:pt x="74085" y="66096"/>
                    </a:lnTo>
                    <a:cubicBezTo>
                      <a:pt x="66306" y="65369"/>
                      <a:pt x="64956" y="64643"/>
                      <a:pt x="64853" y="61738"/>
                    </a:cubicBezTo>
                    <a:cubicBezTo>
                      <a:pt x="64853" y="60904"/>
                      <a:pt x="64853" y="60075"/>
                      <a:pt x="65060" y="59245"/>
                    </a:cubicBezTo>
                    <a:lnTo>
                      <a:pt x="78550" y="9338"/>
                    </a:lnTo>
                    <a:cubicBezTo>
                      <a:pt x="80312" y="3318"/>
                      <a:pt x="81351" y="2699"/>
                      <a:pt x="87991" y="1659"/>
                    </a:cubicBezTo>
                    <a:lnTo>
                      <a:pt x="87991" y="0"/>
                    </a:lnTo>
                    <a:lnTo>
                      <a:pt x="58210" y="0"/>
                    </a:lnTo>
                    <a:lnTo>
                      <a:pt x="58210" y="1659"/>
                    </a:lnTo>
                    <a:cubicBezTo>
                      <a:pt x="65060" y="2385"/>
                      <a:pt x="66719" y="3215"/>
                      <a:pt x="66822" y="6120"/>
                    </a:cubicBezTo>
                    <a:cubicBezTo>
                      <a:pt x="66822" y="7675"/>
                      <a:pt x="66306" y="9751"/>
                      <a:pt x="65683" y="12553"/>
                    </a:cubicBezTo>
                    <a:lnTo>
                      <a:pt x="61012" y="29571"/>
                    </a:lnTo>
                    <a:lnTo>
                      <a:pt x="29055" y="29571"/>
                    </a:lnTo>
                    <a:lnTo>
                      <a:pt x="34449" y="9338"/>
                    </a:lnTo>
                    <a:cubicBezTo>
                      <a:pt x="36005" y="4044"/>
                      <a:pt x="39120" y="2076"/>
                      <a:pt x="46176" y="1659"/>
                    </a:cubicBezTo>
                    <a:lnTo>
                      <a:pt x="46176" y="0"/>
                    </a:lnTo>
                    <a:lnTo>
                      <a:pt x="13283" y="0"/>
                    </a:lnTo>
                    <a:lnTo>
                      <a:pt x="13283" y="1659"/>
                    </a:lnTo>
                    <a:cubicBezTo>
                      <a:pt x="20753" y="2282"/>
                      <a:pt x="22622" y="3112"/>
                      <a:pt x="22725" y="6120"/>
                    </a:cubicBezTo>
                    <a:cubicBezTo>
                      <a:pt x="22725" y="7675"/>
                      <a:pt x="22519" y="9751"/>
                      <a:pt x="21582" y="12553"/>
                    </a:cubicBezTo>
                    <a:lnTo>
                      <a:pt x="9446" y="58416"/>
                    </a:lnTo>
                    <a:cubicBezTo>
                      <a:pt x="7576" y="64433"/>
                      <a:pt x="6644" y="65056"/>
                      <a:pt x="0" y="66096"/>
                    </a:cubicBezTo>
                    <a:lnTo>
                      <a:pt x="107" y="67754"/>
                    </a:lnTo>
                    <a:lnTo>
                      <a:pt x="29575" y="67754"/>
                    </a:lnTo>
                    <a:lnTo>
                      <a:pt x="29468" y="66096"/>
                    </a:lnTo>
                    <a:cubicBezTo>
                      <a:pt x="22416" y="65266"/>
                      <a:pt x="21066" y="64540"/>
                      <a:pt x="20963" y="61528"/>
                    </a:cubicBezTo>
                    <a:cubicBezTo>
                      <a:pt x="20963" y="60801"/>
                      <a:pt x="21066" y="59972"/>
                      <a:pt x="21273" y="59245"/>
                    </a:cubicBezTo>
                    <a:lnTo>
                      <a:pt x="27912" y="34135"/>
                    </a:lnTo>
                    <a:lnTo>
                      <a:pt x="59873" y="34135"/>
                    </a:lnTo>
                    <a:lnTo>
                      <a:pt x="53336" y="58416"/>
                    </a:lnTo>
                    <a:cubicBezTo>
                      <a:pt x="51673" y="63814"/>
                      <a:pt x="49288" y="65369"/>
                      <a:pt x="41505" y="66096"/>
                    </a:cubicBezTo>
                    <a:lnTo>
                      <a:pt x="41608" y="67754"/>
                    </a:lnTo>
                    <a:lnTo>
                      <a:pt x="74192" y="67754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hard_support_outline_2"/>
              <p:cNvSpPr/>
              <p:nvPr/>
            </p:nvSpPr>
            <p:spPr>
              <a:xfrm>
                <a:off x="1891626" y="2471489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hard_support_outline_3"/>
              <p:cNvSpPr/>
              <p:nvPr/>
            </p:nvSpPr>
            <p:spPr>
              <a:xfrm>
                <a:off x="2002429" y="2434802"/>
                <a:ext cx="57181" cy="87288"/>
              </a:xfrm>
              <a:custGeom>
                <a:avLst/>
                <a:gdLst/>
                <a:ahLst/>
                <a:cxnLst/>
                <a:rect l="0" t="0" r="r" b="b"/>
                <a:pathLst>
                  <a:path w="57182" h="87289">
                    <a:moveTo>
                      <a:pt x="57182" y="43771"/>
                    </a:moveTo>
                    <a:cubicBezTo>
                      <a:pt x="57182" y="17836"/>
                      <a:pt x="45668" y="0"/>
                      <a:pt x="29095" y="0"/>
                    </a:cubicBezTo>
                    <a:cubicBezTo>
                      <a:pt x="22138" y="0"/>
                      <a:pt x="16828" y="2151"/>
                      <a:pt x="12144" y="6576"/>
                    </a:cubicBezTo>
                    <a:cubicBezTo>
                      <a:pt x="4806" y="13661"/>
                      <a:pt x="0" y="28210"/>
                      <a:pt x="0" y="43013"/>
                    </a:cubicBezTo>
                    <a:cubicBezTo>
                      <a:pt x="0" y="56801"/>
                      <a:pt x="4175" y="71604"/>
                      <a:pt x="10120" y="78688"/>
                    </a:cubicBezTo>
                    <a:cubicBezTo>
                      <a:pt x="14803" y="84253"/>
                      <a:pt x="21253" y="87289"/>
                      <a:pt x="28591" y="87289"/>
                    </a:cubicBezTo>
                    <a:cubicBezTo>
                      <a:pt x="35044" y="87289"/>
                      <a:pt x="40481" y="85138"/>
                      <a:pt x="45037" y="80713"/>
                    </a:cubicBezTo>
                    <a:cubicBezTo>
                      <a:pt x="52376" y="73755"/>
                      <a:pt x="57182" y="59079"/>
                      <a:pt x="57182" y="43771"/>
                    </a:cubicBezTo>
                    <a:close/>
                    <a:moveTo>
                      <a:pt x="45037" y="44025"/>
                    </a:moveTo>
                    <a:cubicBezTo>
                      <a:pt x="45037" y="70465"/>
                      <a:pt x="39469" y="83999"/>
                      <a:pt x="28591" y="83999"/>
                    </a:cubicBezTo>
                    <a:cubicBezTo>
                      <a:pt x="17712" y="83999"/>
                      <a:pt x="12144" y="70465"/>
                      <a:pt x="12144" y="44152"/>
                    </a:cubicBezTo>
                    <a:cubicBezTo>
                      <a:pt x="12144" y="17332"/>
                      <a:pt x="17839" y="3290"/>
                      <a:pt x="28718" y="3290"/>
                    </a:cubicBezTo>
                    <a:cubicBezTo>
                      <a:pt x="39342" y="3290"/>
                      <a:pt x="45037" y="17586"/>
                      <a:pt x="45037" y="44025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58" name="module_stage4"/>
          <p:cNvGrpSpPr/>
          <p:nvPr/>
        </p:nvGrpSpPr>
        <p:grpSpPr>
          <a:xfrm>
            <a:off x="2324100" y="76200"/>
            <a:ext cx="1219200" cy="2552700"/>
            <a:chOff x="2324100" y="76200"/>
            <a:chExt cx="1219200" cy="2552700"/>
          </a:xfrm>
        </p:grpSpPr>
        <p:sp>
          <p:nvSpPr>
            <p:cNvPr id="159" name="stage4_border"/>
            <p:cNvSpPr/>
            <p:nvPr/>
          </p:nvSpPr>
          <p:spPr>
            <a:xfrm>
              <a:off x="2324100" y="76200"/>
              <a:ext cx="12192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698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badge4"/>
            <p:cNvSpPr/>
            <p:nvPr/>
          </p:nvSpPr>
          <p:spPr>
            <a:xfrm>
              <a:off x="2374900" y="152400"/>
              <a:ext cx="165100" cy="165100"/>
            </a:xfrm>
            <a:prstGeom prst="ellipse">
              <a:avLst/>
            </a:prstGeom>
            <a:solidFill>
              <a:srgbClr val="0062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number4"/>
            <p:cNvSpPr txBox="1"/>
            <p:nvPr/>
          </p:nvSpPr>
          <p:spPr>
            <a:xfrm>
              <a:off x="2374900" y="152400"/>
              <a:ext cx="1651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i="0">
                  <a:solidFill>
                    <a:srgbClr val="FFFFFF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162" name="title4"/>
            <p:cNvSpPr txBox="1"/>
            <p:nvPr/>
          </p:nvSpPr>
          <p:spPr>
            <a:xfrm>
              <a:off x="2565400" y="114300"/>
              <a:ext cx="9525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00621C"/>
                  </a:solidFill>
                  <a:latin typeface="Liberation Serif"/>
                </a:rPr>
                <a:t>Entropic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00621C"/>
                  </a:solidFill>
                  <a:latin typeface="Liberation Serif"/>
                </a:rPr>
                <a:t>projection</a:t>
              </a:r>
            </a:p>
          </p:txBody>
        </p:sp>
        <p:sp>
          <p:nvSpPr>
            <p:cNvPr id="163" name="one_projection"/>
            <p:cNvSpPr txBox="1"/>
            <p:nvPr/>
          </p:nvSpPr>
          <p:spPr>
            <a:xfrm>
              <a:off x="2374900" y="508000"/>
              <a:ext cx="11176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1" i="0">
                  <a:solidFill>
                    <a:srgbClr val="00621C"/>
                  </a:solidFill>
                  <a:latin typeface="Liberation Serif"/>
                </a:rPr>
                <a:t>One flow solve</a:t>
              </a:r>
            </a:p>
          </p:txBody>
        </p:sp>
        <p:sp>
          <p:nvSpPr>
            <p:cNvPr id="164" name="observed_graph_e0"/>
            <p:cNvSpPr/>
            <p:nvPr/>
          </p:nvSpPr>
          <p:spPr>
            <a:xfrm>
              <a:off x="2711132" y="787400"/>
              <a:ext cx="174625" cy="127"/>
            </a:xfrm>
            <a:custGeom>
              <a:avLst/>
              <a:gdLst/>
              <a:ahLst/>
              <a:cxnLst/>
              <a:rect l="0" t="0" r="r" b="b"/>
              <a:pathLst>
                <a:path w="174625" h="1" fill="none">
                  <a:moveTo>
                    <a:pt x="0" y="0"/>
                  </a:moveTo>
                  <a:lnTo>
                    <a:pt x="174625" y="0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observed_graph_e1"/>
            <p:cNvSpPr/>
            <p:nvPr/>
          </p:nvSpPr>
          <p:spPr>
            <a:xfrm>
              <a:off x="2948622" y="787400"/>
              <a:ext cx="174625" cy="127"/>
            </a:xfrm>
            <a:custGeom>
              <a:avLst/>
              <a:gdLst/>
              <a:ahLst/>
              <a:cxnLst/>
              <a:rect l="0" t="0" r="r" b="b"/>
              <a:pathLst>
                <a:path w="174625" h="1" fill="none">
                  <a:moveTo>
                    <a:pt x="0" y="0"/>
                  </a:moveTo>
                  <a:lnTo>
                    <a:pt x="174625" y="0"/>
                  </a:lnTo>
                </a:path>
              </a:pathLst>
            </a:custGeom>
            <a:noFill/>
            <a:ln w="6604">
              <a:solidFill>
                <a:srgbClr val="FF0709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observed_graph_x0"/>
            <p:cNvSpPr/>
            <p:nvPr/>
          </p:nvSpPr>
          <p:spPr>
            <a:xfrm>
              <a:off x="3017075" y="768540"/>
              <a:ext cx="37719" cy="37718"/>
            </a:xfrm>
            <a:custGeom>
              <a:avLst/>
              <a:gdLst/>
              <a:ahLst/>
              <a:cxnLst/>
              <a:rect l="0" t="0" r="r" b="b"/>
              <a:pathLst>
                <a:path w="37719" h="37718" fill="none">
                  <a:moveTo>
                    <a:pt x="0" y="37718"/>
                  </a:moveTo>
                  <a:lnTo>
                    <a:pt x="37719" y="0"/>
                  </a:lnTo>
                </a:path>
              </a:pathLst>
            </a:custGeom>
            <a:noFill/>
            <a:ln w="8890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observed_graph_x1"/>
            <p:cNvSpPr/>
            <p:nvPr/>
          </p:nvSpPr>
          <p:spPr>
            <a:xfrm>
              <a:off x="3017075" y="768540"/>
              <a:ext cx="37719" cy="37718"/>
            </a:xfrm>
            <a:custGeom>
              <a:avLst/>
              <a:gdLst/>
              <a:ahLst/>
              <a:cxnLst/>
              <a:rect l="0" t="0" r="r" b="b"/>
              <a:pathLst>
                <a:path w="37719" h="37718" fill="none">
                  <a:moveTo>
                    <a:pt x="0" y="0"/>
                  </a:moveTo>
                  <a:lnTo>
                    <a:pt x="37719" y="37718"/>
                  </a:lnTo>
                </a:path>
              </a:pathLst>
            </a:custGeom>
            <a:noFill/>
            <a:ln w="8890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observed_graph_e2"/>
            <p:cNvSpPr/>
            <p:nvPr/>
          </p:nvSpPr>
          <p:spPr>
            <a:xfrm>
              <a:off x="2679700" y="818832"/>
              <a:ext cx="127" cy="95885"/>
            </a:xfrm>
            <a:custGeom>
              <a:avLst/>
              <a:gdLst/>
              <a:ahLst/>
              <a:cxnLst/>
              <a:rect l="0" t="0" r="r" b="b"/>
              <a:pathLst>
                <a:path w="1" h="95885" fill="none">
                  <a:moveTo>
                    <a:pt x="0" y="0"/>
                  </a:moveTo>
                  <a:lnTo>
                    <a:pt x="0" y="95885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observed_graph_e3"/>
            <p:cNvSpPr/>
            <p:nvPr/>
          </p:nvSpPr>
          <p:spPr>
            <a:xfrm>
              <a:off x="2917190" y="818832"/>
              <a:ext cx="127" cy="95885"/>
            </a:xfrm>
            <a:custGeom>
              <a:avLst/>
              <a:gdLst/>
              <a:ahLst/>
              <a:cxnLst/>
              <a:rect l="0" t="0" r="r" b="b"/>
              <a:pathLst>
                <a:path w="1" h="95885" fill="none">
                  <a:moveTo>
                    <a:pt x="0" y="0"/>
                  </a:moveTo>
                  <a:lnTo>
                    <a:pt x="0" y="95885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observed_graph_e4"/>
            <p:cNvSpPr/>
            <p:nvPr/>
          </p:nvSpPr>
          <p:spPr>
            <a:xfrm>
              <a:off x="3154680" y="818832"/>
              <a:ext cx="127" cy="95885"/>
            </a:xfrm>
            <a:custGeom>
              <a:avLst/>
              <a:gdLst/>
              <a:ahLst/>
              <a:cxnLst/>
              <a:rect l="0" t="0" r="r" b="b"/>
              <a:pathLst>
                <a:path w="1" h="95885" fill="none">
                  <a:moveTo>
                    <a:pt x="0" y="0"/>
                  </a:moveTo>
                  <a:lnTo>
                    <a:pt x="0" y="95885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observed_graph_e5"/>
            <p:cNvSpPr/>
            <p:nvPr/>
          </p:nvSpPr>
          <p:spPr>
            <a:xfrm>
              <a:off x="2711132" y="946150"/>
              <a:ext cx="174625" cy="127"/>
            </a:xfrm>
            <a:custGeom>
              <a:avLst/>
              <a:gdLst/>
              <a:ahLst/>
              <a:cxnLst/>
              <a:rect l="0" t="0" r="r" b="b"/>
              <a:pathLst>
                <a:path w="174625" h="1" fill="none">
                  <a:moveTo>
                    <a:pt x="0" y="0"/>
                  </a:moveTo>
                  <a:lnTo>
                    <a:pt x="174625" y="0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observed_graph_e6"/>
            <p:cNvSpPr/>
            <p:nvPr/>
          </p:nvSpPr>
          <p:spPr>
            <a:xfrm>
              <a:off x="2948622" y="946150"/>
              <a:ext cx="174625" cy="127"/>
            </a:xfrm>
            <a:custGeom>
              <a:avLst/>
              <a:gdLst/>
              <a:ahLst/>
              <a:cxnLst/>
              <a:rect l="0" t="0" r="r" b="b"/>
              <a:pathLst>
                <a:path w="174625" h="1" fill="none">
                  <a:moveTo>
                    <a:pt x="0" y="0"/>
                  </a:moveTo>
                  <a:lnTo>
                    <a:pt x="174625" y="0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observed_graph_e7"/>
            <p:cNvSpPr/>
            <p:nvPr/>
          </p:nvSpPr>
          <p:spPr>
            <a:xfrm>
              <a:off x="3186112" y="946150"/>
              <a:ext cx="160654" cy="127"/>
            </a:xfrm>
            <a:custGeom>
              <a:avLst/>
              <a:gdLst/>
              <a:ahLst/>
              <a:cxnLst/>
              <a:rect l="0" t="0" r="r" b="b"/>
              <a:pathLst>
                <a:path w="160654" h="1" fill="none">
                  <a:moveTo>
                    <a:pt x="0" y="0"/>
                  </a:moveTo>
                  <a:lnTo>
                    <a:pt x="160654" y="0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observed_graph_e8"/>
            <p:cNvSpPr/>
            <p:nvPr/>
          </p:nvSpPr>
          <p:spPr>
            <a:xfrm>
              <a:off x="2679700" y="977582"/>
              <a:ext cx="127" cy="95885"/>
            </a:xfrm>
            <a:custGeom>
              <a:avLst/>
              <a:gdLst/>
              <a:ahLst/>
              <a:cxnLst/>
              <a:rect l="0" t="0" r="r" b="b"/>
              <a:pathLst>
                <a:path w="1" h="95885" fill="none">
                  <a:moveTo>
                    <a:pt x="0" y="0"/>
                  </a:moveTo>
                  <a:lnTo>
                    <a:pt x="0" y="95885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observed_graph_e9"/>
            <p:cNvSpPr/>
            <p:nvPr/>
          </p:nvSpPr>
          <p:spPr>
            <a:xfrm>
              <a:off x="2917190" y="977582"/>
              <a:ext cx="127" cy="95885"/>
            </a:xfrm>
            <a:custGeom>
              <a:avLst/>
              <a:gdLst/>
              <a:ahLst/>
              <a:cxnLst/>
              <a:rect l="0" t="0" r="r" b="b"/>
              <a:pathLst>
                <a:path w="1" h="95885" fill="none">
                  <a:moveTo>
                    <a:pt x="0" y="0"/>
                  </a:moveTo>
                  <a:lnTo>
                    <a:pt x="0" y="95885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observed_graph_e10"/>
            <p:cNvSpPr/>
            <p:nvPr/>
          </p:nvSpPr>
          <p:spPr>
            <a:xfrm>
              <a:off x="3154680" y="977582"/>
              <a:ext cx="127" cy="95885"/>
            </a:xfrm>
            <a:custGeom>
              <a:avLst/>
              <a:gdLst/>
              <a:ahLst/>
              <a:cxnLst/>
              <a:rect l="0" t="0" r="r" b="b"/>
              <a:pathLst>
                <a:path w="1" h="95885" fill="none">
                  <a:moveTo>
                    <a:pt x="0" y="0"/>
                  </a:moveTo>
                  <a:lnTo>
                    <a:pt x="0" y="95885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observed_graph_e11"/>
            <p:cNvSpPr/>
            <p:nvPr/>
          </p:nvSpPr>
          <p:spPr>
            <a:xfrm>
              <a:off x="2943321" y="963617"/>
              <a:ext cx="185226" cy="123814"/>
            </a:xfrm>
            <a:custGeom>
              <a:avLst/>
              <a:gdLst/>
              <a:ahLst/>
              <a:cxnLst/>
              <a:rect l="0" t="0" r="r" b="b"/>
              <a:pathLst>
                <a:path w="185226" h="123814" fill="none">
                  <a:moveTo>
                    <a:pt x="0" y="123814"/>
                  </a:moveTo>
                  <a:lnTo>
                    <a:pt x="185226" y="0"/>
                  </a:lnTo>
                </a:path>
              </a:pathLst>
            </a:custGeom>
            <a:noFill/>
            <a:ln w="6604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observed_graph_n0"/>
            <p:cNvSpPr/>
            <p:nvPr/>
          </p:nvSpPr>
          <p:spPr>
            <a:xfrm>
              <a:off x="2648267" y="755967"/>
              <a:ext cx="62865" cy="62865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observed_graph_n1"/>
            <p:cNvSpPr/>
            <p:nvPr/>
          </p:nvSpPr>
          <p:spPr>
            <a:xfrm>
              <a:off x="2885757" y="755967"/>
              <a:ext cx="62865" cy="62865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observed_graph_n2"/>
            <p:cNvSpPr/>
            <p:nvPr/>
          </p:nvSpPr>
          <p:spPr>
            <a:xfrm>
              <a:off x="3123247" y="755967"/>
              <a:ext cx="62865" cy="62865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observed_graph_n3"/>
            <p:cNvSpPr/>
            <p:nvPr/>
          </p:nvSpPr>
          <p:spPr>
            <a:xfrm>
              <a:off x="2648267" y="914717"/>
              <a:ext cx="62865" cy="62865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observed_graph_n4"/>
            <p:cNvSpPr/>
            <p:nvPr/>
          </p:nvSpPr>
          <p:spPr>
            <a:xfrm>
              <a:off x="2885757" y="914717"/>
              <a:ext cx="62865" cy="62865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observed_graph_n5"/>
            <p:cNvSpPr/>
            <p:nvPr/>
          </p:nvSpPr>
          <p:spPr>
            <a:xfrm>
              <a:off x="3123247" y="914717"/>
              <a:ext cx="62865" cy="62865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observed_graph_n6"/>
            <p:cNvSpPr/>
            <p:nvPr/>
          </p:nvSpPr>
          <p:spPr>
            <a:xfrm>
              <a:off x="3346767" y="914717"/>
              <a:ext cx="62865" cy="62865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observed_graph_n7"/>
            <p:cNvSpPr/>
            <p:nvPr/>
          </p:nvSpPr>
          <p:spPr>
            <a:xfrm>
              <a:off x="2648267" y="1073467"/>
              <a:ext cx="62865" cy="62865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observed_graph_n8"/>
            <p:cNvSpPr/>
            <p:nvPr/>
          </p:nvSpPr>
          <p:spPr>
            <a:xfrm>
              <a:off x="2885757" y="1073467"/>
              <a:ext cx="62865" cy="62865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observed_graph_n9"/>
            <p:cNvSpPr/>
            <p:nvPr/>
          </p:nvSpPr>
          <p:spPr>
            <a:xfrm>
              <a:off x="3123247" y="1073467"/>
              <a:ext cx="62865" cy="62865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reroute_arrow"/>
            <p:cNvSpPr/>
            <p:nvPr/>
          </p:nvSpPr>
          <p:spPr>
            <a:xfrm>
              <a:off x="2984500" y="1155700"/>
              <a:ext cx="127" cy="152400"/>
            </a:xfrm>
            <a:custGeom>
              <a:avLst/>
              <a:gdLst/>
              <a:ahLst/>
              <a:cxnLst/>
              <a:rect l="0" t="0" r="r" b="b"/>
              <a:pathLst>
                <a:path w="1" h="152400" fill="none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5240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target_graph_e0"/>
            <p:cNvSpPr/>
            <p:nvPr/>
          </p:nvSpPr>
          <p:spPr>
            <a:xfrm>
              <a:off x="2711132" y="1397000"/>
              <a:ext cx="174625" cy="127"/>
            </a:xfrm>
            <a:custGeom>
              <a:avLst/>
              <a:gdLst/>
              <a:ahLst/>
              <a:cxnLst/>
              <a:rect l="0" t="0" r="r" b="b"/>
              <a:pathLst>
                <a:path w="174625" h="1" fill="none">
                  <a:moveTo>
                    <a:pt x="0" y="0"/>
                  </a:moveTo>
                  <a:lnTo>
                    <a:pt x="174625" y="0"/>
                  </a:lnTo>
                </a:path>
              </a:pathLst>
            </a:custGeom>
            <a:noFill/>
            <a:ln w="6604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target_graph_e1"/>
            <p:cNvSpPr/>
            <p:nvPr/>
          </p:nvSpPr>
          <p:spPr>
            <a:xfrm>
              <a:off x="2948622" y="1397000"/>
              <a:ext cx="174625" cy="127"/>
            </a:xfrm>
            <a:custGeom>
              <a:avLst/>
              <a:gdLst/>
              <a:ahLst/>
              <a:cxnLst/>
              <a:rect l="0" t="0" r="r" b="b"/>
              <a:pathLst>
                <a:path w="174625" h="1" fill="none">
                  <a:moveTo>
                    <a:pt x="0" y="0"/>
                  </a:moveTo>
                  <a:lnTo>
                    <a:pt x="174625" y="0"/>
                  </a:lnTo>
                </a:path>
              </a:pathLst>
            </a:custGeom>
            <a:noFill/>
            <a:ln w="6604">
              <a:solidFill>
                <a:srgbClr val="FF0709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target_graph_x0"/>
            <p:cNvSpPr/>
            <p:nvPr/>
          </p:nvSpPr>
          <p:spPr>
            <a:xfrm>
              <a:off x="3017075" y="1378140"/>
              <a:ext cx="37719" cy="37718"/>
            </a:xfrm>
            <a:custGeom>
              <a:avLst/>
              <a:gdLst/>
              <a:ahLst/>
              <a:cxnLst/>
              <a:rect l="0" t="0" r="r" b="b"/>
              <a:pathLst>
                <a:path w="37719" h="37718" fill="none">
                  <a:moveTo>
                    <a:pt x="0" y="37718"/>
                  </a:moveTo>
                  <a:lnTo>
                    <a:pt x="37719" y="0"/>
                  </a:lnTo>
                </a:path>
              </a:pathLst>
            </a:custGeom>
            <a:noFill/>
            <a:ln w="8890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target_graph_x1"/>
            <p:cNvSpPr/>
            <p:nvPr/>
          </p:nvSpPr>
          <p:spPr>
            <a:xfrm>
              <a:off x="3017075" y="1378140"/>
              <a:ext cx="37719" cy="37718"/>
            </a:xfrm>
            <a:custGeom>
              <a:avLst/>
              <a:gdLst/>
              <a:ahLst/>
              <a:cxnLst/>
              <a:rect l="0" t="0" r="r" b="b"/>
              <a:pathLst>
                <a:path w="37719" h="37718" fill="none">
                  <a:moveTo>
                    <a:pt x="0" y="0"/>
                  </a:moveTo>
                  <a:lnTo>
                    <a:pt x="37719" y="37718"/>
                  </a:lnTo>
                </a:path>
              </a:pathLst>
            </a:custGeom>
            <a:noFill/>
            <a:ln w="8890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target_graph_e2"/>
            <p:cNvSpPr/>
            <p:nvPr/>
          </p:nvSpPr>
          <p:spPr>
            <a:xfrm>
              <a:off x="2679700" y="1428432"/>
              <a:ext cx="127" cy="95885"/>
            </a:xfrm>
            <a:custGeom>
              <a:avLst/>
              <a:gdLst/>
              <a:ahLst/>
              <a:cxnLst/>
              <a:rect l="0" t="0" r="r" b="b"/>
              <a:pathLst>
                <a:path w="1" h="95885" fill="none">
                  <a:moveTo>
                    <a:pt x="0" y="0"/>
                  </a:moveTo>
                  <a:lnTo>
                    <a:pt x="0" y="95885"/>
                  </a:lnTo>
                </a:path>
              </a:pathLst>
            </a:custGeom>
            <a:noFill/>
            <a:ln w="14223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target_graph_e3"/>
            <p:cNvSpPr/>
            <p:nvPr/>
          </p:nvSpPr>
          <p:spPr>
            <a:xfrm>
              <a:off x="2917190" y="1428432"/>
              <a:ext cx="127" cy="95885"/>
            </a:xfrm>
            <a:custGeom>
              <a:avLst/>
              <a:gdLst/>
              <a:ahLst/>
              <a:cxnLst/>
              <a:rect l="0" t="0" r="r" b="b"/>
              <a:pathLst>
                <a:path w="1" h="95885" fill="none">
                  <a:moveTo>
                    <a:pt x="0" y="0"/>
                  </a:moveTo>
                  <a:lnTo>
                    <a:pt x="0" y="95885"/>
                  </a:lnTo>
                </a:path>
              </a:pathLst>
            </a:custGeom>
            <a:noFill/>
            <a:ln w="6604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target_graph_e4"/>
            <p:cNvSpPr/>
            <p:nvPr/>
          </p:nvSpPr>
          <p:spPr>
            <a:xfrm>
              <a:off x="3154680" y="1428432"/>
              <a:ext cx="127" cy="95885"/>
            </a:xfrm>
            <a:custGeom>
              <a:avLst/>
              <a:gdLst/>
              <a:ahLst/>
              <a:cxnLst/>
              <a:rect l="0" t="0" r="r" b="b"/>
              <a:pathLst>
                <a:path w="1" h="95885" fill="none">
                  <a:moveTo>
                    <a:pt x="0" y="0"/>
                  </a:moveTo>
                  <a:lnTo>
                    <a:pt x="0" y="95885"/>
                  </a:lnTo>
                </a:path>
              </a:pathLst>
            </a:custGeom>
            <a:noFill/>
            <a:ln w="6604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target_graph_e5"/>
            <p:cNvSpPr/>
            <p:nvPr/>
          </p:nvSpPr>
          <p:spPr>
            <a:xfrm>
              <a:off x="2711132" y="1555750"/>
              <a:ext cx="174625" cy="127"/>
            </a:xfrm>
            <a:custGeom>
              <a:avLst/>
              <a:gdLst/>
              <a:ahLst/>
              <a:cxnLst/>
              <a:rect l="0" t="0" r="r" b="b"/>
              <a:pathLst>
                <a:path w="174625" h="1" fill="none">
                  <a:moveTo>
                    <a:pt x="0" y="0"/>
                  </a:moveTo>
                  <a:lnTo>
                    <a:pt x="174625" y="0"/>
                  </a:lnTo>
                </a:path>
              </a:pathLst>
            </a:custGeom>
            <a:noFill/>
            <a:ln w="14223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target_graph_e6"/>
            <p:cNvSpPr/>
            <p:nvPr/>
          </p:nvSpPr>
          <p:spPr>
            <a:xfrm>
              <a:off x="2948622" y="1555750"/>
              <a:ext cx="174625" cy="127"/>
            </a:xfrm>
            <a:custGeom>
              <a:avLst/>
              <a:gdLst/>
              <a:ahLst/>
              <a:cxnLst/>
              <a:rect l="0" t="0" r="r" b="b"/>
              <a:pathLst>
                <a:path w="174625" h="1" fill="none">
                  <a:moveTo>
                    <a:pt x="0" y="0"/>
                  </a:moveTo>
                  <a:lnTo>
                    <a:pt x="174625" y="0"/>
                  </a:lnTo>
                </a:path>
              </a:pathLst>
            </a:custGeom>
            <a:noFill/>
            <a:ln w="14223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target_graph_e7"/>
            <p:cNvSpPr/>
            <p:nvPr/>
          </p:nvSpPr>
          <p:spPr>
            <a:xfrm>
              <a:off x="3186112" y="1555750"/>
              <a:ext cx="160654" cy="127"/>
            </a:xfrm>
            <a:custGeom>
              <a:avLst/>
              <a:gdLst/>
              <a:ahLst/>
              <a:cxnLst/>
              <a:rect l="0" t="0" r="r" b="b"/>
              <a:pathLst>
                <a:path w="160654" h="1" fill="none">
                  <a:moveTo>
                    <a:pt x="0" y="0"/>
                  </a:moveTo>
                  <a:lnTo>
                    <a:pt x="160654" y="0"/>
                  </a:lnTo>
                </a:path>
              </a:pathLst>
            </a:custGeom>
            <a:noFill/>
            <a:ln w="14223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target_graph_e8"/>
            <p:cNvSpPr/>
            <p:nvPr/>
          </p:nvSpPr>
          <p:spPr>
            <a:xfrm>
              <a:off x="2679700" y="1587182"/>
              <a:ext cx="127" cy="95885"/>
            </a:xfrm>
            <a:custGeom>
              <a:avLst/>
              <a:gdLst/>
              <a:ahLst/>
              <a:cxnLst/>
              <a:rect l="0" t="0" r="r" b="b"/>
              <a:pathLst>
                <a:path w="1" h="95885" fill="none">
                  <a:moveTo>
                    <a:pt x="0" y="0"/>
                  </a:moveTo>
                  <a:lnTo>
                    <a:pt x="0" y="95885"/>
                  </a:lnTo>
                </a:path>
              </a:pathLst>
            </a:custGeom>
            <a:noFill/>
            <a:ln w="6604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target_graph_e9"/>
            <p:cNvSpPr/>
            <p:nvPr/>
          </p:nvSpPr>
          <p:spPr>
            <a:xfrm>
              <a:off x="2917190" y="1587182"/>
              <a:ext cx="127" cy="95885"/>
            </a:xfrm>
            <a:custGeom>
              <a:avLst/>
              <a:gdLst/>
              <a:ahLst/>
              <a:cxnLst/>
              <a:rect l="0" t="0" r="r" b="b"/>
              <a:pathLst>
                <a:path w="1" h="95885" fill="none">
                  <a:moveTo>
                    <a:pt x="0" y="0"/>
                  </a:moveTo>
                  <a:lnTo>
                    <a:pt x="0" y="95885"/>
                  </a:lnTo>
                </a:path>
              </a:pathLst>
            </a:custGeom>
            <a:noFill/>
            <a:ln w="6604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target_graph_e10"/>
            <p:cNvSpPr/>
            <p:nvPr/>
          </p:nvSpPr>
          <p:spPr>
            <a:xfrm>
              <a:off x="3154680" y="1587182"/>
              <a:ext cx="127" cy="95885"/>
            </a:xfrm>
            <a:custGeom>
              <a:avLst/>
              <a:gdLst/>
              <a:ahLst/>
              <a:cxnLst/>
              <a:rect l="0" t="0" r="r" b="b"/>
              <a:pathLst>
                <a:path w="1" h="95885" fill="none">
                  <a:moveTo>
                    <a:pt x="0" y="0"/>
                  </a:moveTo>
                  <a:lnTo>
                    <a:pt x="0" y="95885"/>
                  </a:lnTo>
                </a:path>
              </a:pathLst>
            </a:custGeom>
            <a:noFill/>
            <a:ln w="6604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target_graph_e11"/>
            <p:cNvSpPr/>
            <p:nvPr/>
          </p:nvSpPr>
          <p:spPr>
            <a:xfrm>
              <a:off x="2943321" y="1573217"/>
              <a:ext cx="185226" cy="123814"/>
            </a:xfrm>
            <a:custGeom>
              <a:avLst/>
              <a:gdLst/>
              <a:ahLst/>
              <a:cxnLst/>
              <a:rect l="0" t="0" r="r" b="b"/>
              <a:pathLst>
                <a:path w="185226" h="123814" fill="none">
                  <a:moveTo>
                    <a:pt x="0" y="123814"/>
                  </a:moveTo>
                  <a:lnTo>
                    <a:pt x="185226" y="0"/>
                  </a:lnTo>
                </a:path>
              </a:pathLst>
            </a:custGeom>
            <a:noFill/>
            <a:ln w="6604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target_graph_n0"/>
            <p:cNvSpPr/>
            <p:nvPr/>
          </p:nvSpPr>
          <p:spPr>
            <a:xfrm>
              <a:off x="2648267" y="1365567"/>
              <a:ext cx="62865" cy="62865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target_graph_n1"/>
            <p:cNvSpPr/>
            <p:nvPr/>
          </p:nvSpPr>
          <p:spPr>
            <a:xfrm>
              <a:off x="2885757" y="1365567"/>
              <a:ext cx="62865" cy="62865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target_graph_n2"/>
            <p:cNvSpPr/>
            <p:nvPr/>
          </p:nvSpPr>
          <p:spPr>
            <a:xfrm>
              <a:off x="3123247" y="1365567"/>
              <a:ext cx="62865" cy="62865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target_graph_n3"/>
            <p:cNvSpPr/>
            <p:nvPr/>
          </p:nvSpPr>
          <p:spPr>
            <a:xfrm>
              <a:off x="2648267" y="1524317"/>
              <a:ext cx="62865" cy="62865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target_graph_n4"/>
            <p:cNvSpPr/>
            <p:nvPr/>
          </p:nvSpPr>
          <p:spPr>
            <a:xfrm>
              <a:off x="2885757" y="1524317"/>
              <a:ext cx="62865" cy="62865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target_graph_n5"/>
            <p:cNvSpPr/>
            <p:nvPr/>
          </p:nvSpPr>
          <p:spPr>
            <a:xfrm>
              <a:off x="3123247" y="1524317"/>
              <a:ext cx="62865" cy="62865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target_graph_n6"/>
            <p:cNvSpPr/>
            <p:nvPr/>
          </p:nvSpPr>
          <p:spPr>
            <a:xfrm>
              <a:off x="3346767" y="1524317"/>
              <a:ext cx="62865" cy="62865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target_graph_n7"/>
            <p:cNvSpPr/>
            <p:nvPr/>
          </p:nvSpPr>
          <p:spPr>
            <a:xfrm>
              <a:off x="2648267" y="1683067"/>
              <a:ext cx="62865" cy="62865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target_graph_n8"/>
            <p:cNvSpPr/>
            <p:nvPr/>
          </p:nvSpPr>
          <p:spPr>
            <a:xfrm>
              <a:off x="2885757" y="1683067"/>
              <a:ext cx="62865" cy="62865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target_graph_n9"/>
            <p:cNvSpPr/>
            <p:nvPr/>
          </p:nvSpPr>
          <p:spPr>
            <a:xfrm>
              <a:off x="3123247" y="1683067"/>
              <a:ext cx="62865" cy="62865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target_only"/>
            <p:cNvSpPr txBox="1"/>
            <p:nvPr/>
          </p:nvSpPr>
          <p:spPr>
            <a:xfrm>
              <a:off x="2349500" y="1739900"/>
              <a:ext cx="11684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00621C"/>
                  </a:solidFill>
                  <a:latin typeface="Liberation Serif"/>
                </a:rPr>
                <a:t>target only; not executed</a:t>
              </a:r>
            </a:p>
          </p:txBody>
        </p:sp>
        <p:sp>
          <p:nvSpPr>
            <p:cNvPr id="214" name="projection_caption"/>
            <p:cNvSpPr txBox="1"/>
            <p:nvPr/>
          </p:nvSpPr>
          <p:spPr>
            <a:xfrm>
              <a:off x="2349500" y="1905000"/>
              <a:ext cx="1168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00621C"/>
                  </a:solidFill>
                  <a:latin typeface="Liberation Serif"/>
                </a:rPr>
                <a:t>balance · budgets · KL</a:t>
              </a:r>
            </a:p>
          </p:txBody>
        </p:sp>
        <p:grpSp>
          <p:nvGrpSpPr>
            <p:cNvPr id="215" name="observed_F"/>
            <p:cNvGrpSpPr/>
            <p:nvPr/>
          </p:nvGrpSpPr>
          <p:grpSpPr>
            <a:xfrm>
              <a:off x="2436579" y="858961"/>
              <a:ext cx="80585" cy="111019"/>
              <a:chOff x="2436579" y="858961"/>
              <a:chExt cx="80585" cy="111019"/>
            </a:xfrm>
          </p:grpSpPr>
          <p:sp>
            <p:nvSpPr>
              <p:cNvPr id="216" name="observed_F_outline_0"/>
              <p:cNvSpPr/>
              <p:nvPr/>
            </p:nvSpPr>
            <p:spPr>
              <a:xfrm>
                <a:off x="2470361" y="858961"/>
                <a:ext cx="39342" cy="21125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21126">
                    <a:moveTo>
                      <a:pt x="39342" y="21126"/>
                    </a:moveTo>
                    <a:lnTo>
                      <a:pt x="23531" y="0"/>
                    </a:lnTo>
                    <a:lnTo>
                      <a:pt x="15685" y="0"/>
                    </a:lnTo>
                    <a:lnTo>
                      <a:pt x="0" y="21126"/>
                    </a:lnTo>
                    <a:lnTo>
                      <a:pt x="4298" y="21126"/>
                    </a:lnTo>
                    <a:lnTo>
                      <a:pt x="19606" y="8096"/>
                    </a:lnTo>
                    <a:lnTo>
                      <a:pt x="35040" y="21126"/>
                    </a:lnTo>
                    <a:lnTo>
                      <a:pt x="39342" y="21126"/>
                    </a:lnTo>
                    <a:close/>
                  </a:path>
                </a:pathLst>
              </a:custGeom>
              <a:solidFill>
                <a:srgbClr val="69727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observed_F_outline_1"/>
              <p:cNvSpPr/>
              <p:nvPr/>
            </p:nvSpPr>
            <p:spPr>
              <a:xfrm>
                <a:off x="2436579" y="88737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69727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18" name="target_F"/>
            <p:cNvGrpSpPr/>
            <p:nvPr/>
          </p:nvGrpSpPr>
          <p:grpSpPr>
            <a:xfrm>
              <a:off x="2415332" y="1516042"/>
              <a:ext cx="126960" cy="92628"/>
              <a:chOff x="2415332" y="1516042"/>
              <a:chExt cx="126960" cy="92628"/>
            </a:xfrm>
          </p:grpSpPr>
          <p:sp>
            <p:nvSpPr>
              <p:cNvPr id="219" name="target_F_outline_0"/>
              <p:cNvSpPr/>
              <p:nvPr/>
            </p:nvSpPr>
            <p:spPr>
              <a:xfrm>
                <a:off x="2415332" y="152606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target_F_outline_1"/>
              <p:cNvSpPr/>
              <p:nvPr/>
            </p:nvSpPr>
            <p:spPr>
              <a:xfrm>
                <a:off x="2506288" y="1516042"/>
                <a:ext cx="36004" cy="40155"/>
              </a:xfrm>
              <a:custGeom>
                <a:avLst/>
                <a:gdLst/>
                <a:ahLst/>
                <a:cxnLst/>
                <a:rect l="0" t="0" r="r" b="b"/>
                <a:pathLst>
                  <a:path w="36004" h="40156">
                    <a:moveTo>
                      <a:pt x="36004" y="12037"/>
                    </a:moveTo>
                    <a:cubicBezTo>
                      <a:pt x="36004" y="10271"/>
                      <a:pt x="34552" y="8406"/>
                      <a:pt x="32683" y="8406"/>
                    </a:cubicBezTo>
                    <a:cubicBezTo>
                      <a:pt x="30297" y="8406"/>
                      <a:pt x="21788" y="16915"/>
                      <a:pt x="18780" y="18677"/>
                    </a:cubicBezTo>
                    <a:cubicBezTo>
                      <a:pt x="18780" y="12867"/>
                      <a:pt x="21685" y="7057"/>
                      <a:pt x="21685" y="3528"/>
                    </a:cubicBezTo>
                    <a:cubicBezTo>
                      <a:pt x="21685" y="1349"/>
                      <a:pt x="20233" y="0"/>
                      <a:pt x="18054" y="0"/>
                    </a:cubicBezTo>
                    <a:cubicBezTo>
                      <a:pt x="15978" y="0"/>
                      <a:pt x="14732" y="1453"/>
                      <a:pt x="14732" y="3528"/>
                    </a:cubicBezTo>
                    <a:cubicBezTo>
                      <a:pt x="14732" y="7576"/>
                      <a:pt x="17224" y="13073"/>
                      <a:pt x="17224" y="18677"/>
                    </a:cubicBezTo>
                    <a:cubicBezTo>
                      <a:pt x="13903" y="16704"/>
                      <a:pt x="5810" y="7989"/>
                      <a:pt x="3631" y="7989"/>
                    </a:cubicBezTo>
                    <a:cubicBezTo>
                      <a:pt x="1762" y="7989"/>
                      <a:pt x="103" y="9755"/>
                      <a:pt x="103" y="11620"/>
                    </a:cubicBezTo>
                    <a:cubicBezTo>
                      <a:pt x="103" y="15252"/>
                      <a:pt x="12347" y="17744"/>
                      <a:pt x="16395" y="20026"/>
                    </a:cubicBezTo>
                    <a:cubicBezTo>
                      <a:pt x="12037" y="22515"/>
                      <a:pt x="3941" y="23761"/>
                      <a:pt x="1869" y="25110"/>
                    </a:cubicBezTo>
                    <a:cubicBezTo>
                      <a:pt x="829" y="25837"/>
                      <a:pt x="0" y="26769"/>
                      <a:pt x="0" y="28119"/>
                    </a:cubicBezTo>
                    <a:cubicBezTo>
                      <a:pt x="0" y="29988"/>
                      <a:pt x="1453" y="31647"/>
                      <a:pt x="3322" y="31647"/>
                    </a:cubicBezTo>
                    <a:cubicBezTo>
                      <a:pt x="5707" y="31647"/>
                      <a:pt x="14113" y="23241"/>
                      <a:pt x="17224" y="21479"/>
                    </a:cubicBezTo>
                    <a:cubicBezTo>
                      <a:pt x="17224" y="27186"/>
                      <a:pt x="14319" y="32996"/>
                      <a:pt x="14319" y="36628"/>
                    </a:cubicBezTo>
                    <a:cubicBezTo>
                      <a:pt x="14319" y="38703"/>
                      <a:pt x="15875" y="40156"/>
                      <a:pt x="17951" y="40156"/>
                    </a:cubicBezTo>
                    <a:cubicBezTo>
                      <a:pt x="20026" y="40156"/>
                      <a:pt x="21272" y="38600"/>
                      <a:pt x="21272" y="36628"/>
                    </a:cubicBezTo>
                    <a:cubicBezTo>
                      <a:pt x="21272" y="32373"/>
                      <a:pt x="18883" y="26980"/>
                      <a:pt x="18883" y="21479"/>
                    </a:cubicBezTo>
                    <a:cubicBezTo>
                      <a:pt x="22102" y="23348"/>
                      <a:pt x="30297" y="32064"/>
                      <a:pt x="32373" y="32064"/>
                    </a:cubicBezTo>
                    <a:cubicBezTo>
                      <a:pt x="34242" y="32064"/>
                      <a:pt x="35901" y="30298"/>
                      <a:pt x="35901" y="28432"/>
                    </a:cubicBezTo>
                    <a:cubicBezTo>
                      <a:pt x="35901" y="27083"/>
                      <a:pt x="34969" y="26146"/>
                      <a:pt x="33929" y="25527"/>
                    </a:cubicBezTo>
                    <a:cubicBezTo>
                      <a:pt x="31230" y="23761"/>
                      <a:pt x="24071" y="22622"/>
                      <a:pt x="19610" y="20026"/>
                    </a:cubicBezTo>
                    <a:cubicBezTo>
                      <a:pt x="24487" y="17121"/>
                      <a:pt x="31127" y="16704"/>
                      <a:pt x="34135" y="14942"/>
                    </a:cubicBezTo>
                    <a:cubicBezTo>
                      <a:pt x="35278" y="14319"/>
                      <a:pt x="36004" y="13387"/>
                      <a:pt x="36004" y="12037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1" name="objective_line1"/>
            <p:cNvGrpSpPr/>
            <p:nvPr/>
          </p:nvGrpSpPr>
          <p:grpSpPr>
            <a:xfrm>
              <a:off x="2510807" y="2142857"/>
              <a:ext cx="836415" cy="120844"/>
              <a:chOff x="2510807" y="2142857"/>
              <a:chExt cx="836415" cy="120844"/>
            </a:xfrm>
          </p:grpSpPr>
          <p:sp>
            <p:nvSpPr>
              <p:cNvPr id="222" name="objective_line1_outline_0"/>
              <p:cNvSpPr/>
              <p:nvPr/>
            </p:nvSpPr>
            <p:spPr>
              <a:xfrm>
                <a:off x="2510807" y="2145893"/>
                <a:ext cx="192941" cy="86403"/>
              </a:xfrm>
              <a:custGeom>
                <a:avLst/>
                <a:gdLst/>
                <a:ahLst/>
                <a:cxnLst/>
                <a:rect l="0" t="0" r="r" b="b"/>
                <a:pathLst>
                  <a:path w="192941" h="86404">
                    <a:moveTo>
                      <a:pt x="96020" y="86404"/>
                    </a:moveTo>
                    <a:lnTo>
                      <a:pt x="96020" y="84507"/>
                    </a:lnTo>
                    <a:lnTo>
                      <a:pt x="92730" y="84253"/>
                    </a:lnTo>
                    <a:cubicBezTo>
                      <a:pt x="88936" y="83999"/>
                      <a:pt x="87289" y="81725"/>
                      <a:pt x="87289" y="76787"/>
                    </a:cubicBezTo>
                    <a:lnTo>
                      <a:pt x="87289" y="50729"/>
                    </a:lnTo>
                    <a:cubicBezTo>
                      <a:pt x="87289" y="35802"/>
                      <a:pt x="82355" y="28210"/>
                      <a:pt x="72616" y="28210"/>
                    </a:cubicBezTo>
                    <a:cubicBezTo>
                      <a:pt x="65278" y="28210"/>
                      <a:pt x="58825" y="31500"/>
                      <a:pt x="51995" y="38838"/>
                    </a:cubicBezTo>
                    <a:cubicBezTo>
                      <a:pt x="49716" y="31627"/>
                      <a:pt x="45414" y="28210"/>
                      <a:pt x="38584" y="28210"/>
                    </a:cubicBezTo>
                    <a:cubicBezTo>
                      <a:pt x="33020" y="28210"/>
                      <a:pt x="29476" y="29980"/>
                      <a:pt x="18975" y="37953"/>
                    </a:cubicBezTo>
                    <a:lnTo>
                      <a:pt x="18975" y="28464"/>
                    </a:lnTo>
                    <a:lnTo>
                      <a:pt x="18090" y="28210"/>
                    </a:lnTo>
                    <a:cubicBezTo>
                      <a:pt x="11640" y="30615"/>
                      <a:pt x="7338" y="32004"/>
                      <a:pt x="381" y="33905"/>
                    </a:cubicBezTo>
                    <a:lnTo>
                      <a:pt x="381" y="36052"/>
                    </a:lnTo>
                    <a:cubicBezTo>
                      <a:pt x="2024" y="35675"/>
                      <a:pt x="3036" y="35548"/>
                      <a:pt x="4429" y="35548"/>
                    </a:cubicBezTo>
                    <a:cubicBezTo>
                      <a:pt x="7715" y="35548"/>
                      <a:pt x="8854" y="37572"/>
                      <a:pt x="8854" y="43644"/>
                    </a:cubicBezTo>
                    <a:lnTo>
                      <a:pt x="8854" y="75652"/>
                    </a:lnTo>
                    <a:cubicBezTo>
                      <a:pt x="8854" y="82483"/>
                      <a:pt x="7084" y="84380"/>
                      <a:pt x="0" y="84507"/>
                    </a:cubicBezTo>
                    <a:lnTo>
                      <a:pt x="0" y="86404"/>
                    </a:lnTo>
                    <a:lnTo>
                      <a:pt x="28083" y="86404"/>
                    </a:lnTo>
                    <a:lnTo>
                      <a:pt x="28083" y="84507"/>
                    </a:lnTo>
                    <a:cubicBezTo>
                      <a:pt x="21380" y="84253"/>
                      <a:pt x="19483" y="82860"/>
                      <a:pt x="19483" y="77926"/>
                    </a:cubicBezTo>
                    <a:lnTo>
                      <a:pt x="19483" y="42251"/>
                    </a:lnTo>
                    <a:cubicBezTo>
                      <a:pt x="19483" y="42251"/>
                      <a:pt x="20495" y="40735"/>
                      <a:pt x="21380" y="39850"/>
                    </a:cubicBezTo>
                    <a:cubicBezTo>
                      <a:pt x="24543" y="36941"/>
                      <a:pt x="29984" y="34790"/>
                      <a:pt x="34409" y="34790"/>
                    </a:cubicBezTo>
                    <a:cubicBezTo>
                      <a:pt x="39977" y="34790"/>
                      <a:pt x="42759" y="39215"/>
                      <a:pt x="42759" y="48074"/>
                    </a:cubicBezTo>
                    <a:lnTo>
                      <a:pt x="42759" y="75525"/>
                    </a:lnTo>
                    <a:cubicBezTo>
                      <a:pt x="42759" y="82610"/>
                      <a:pt x="41366" y="83999"/>
                      <a:pt x="34159" y="84507"/>
                    </a:cubicBezTo>
                    <a:lnTo>
                      <a:pt x="34159" y="86404"/>
                    </a:lnTo>
                    <a:lnTo>
                      <a:pt x="62496" y="86404"/>
                    </a:lnTo>
                    <a:lnTo>
                      <a:pt x="62496" y="84507"/>
                    </a:lnTo>
                    <a:cubicBezTo>
                      <a:pt x="55285" y="84380"/>
                      <a:pt x="53388" y="82229"/>
                      <a:pt x="53388" y="74386"/>
                    </a:cubicBezTo>
                    <a:lnTo>
                      <a:pt x="53388" y="42505"/>
                    </a:lnTo>
                    <a:cubicBezTo>
                      <a:pt x="57182" y="37064"/>
                      <a:pt x="61357" y="34790"/>
                      <a:pt x="67175" y="34790"/>
                    </a:cubicBezTo>
                    <a:cubicBezTo>
                      <a:pt x="74386" y="34790"/>
                      <a:pt x="76664" y="38203"/>
                      <a:pt x="76664" y="48704"/>
                    </a:cubicBezTo>
                    <a:lnTo>
                      <a:pt x="76664" y="75398"/>
                    </a:lnTo>
                    <a:cubicBezTo>
                      <a:pt x="76664" y="82610"/>
                      <a:pt x="75652" y="83622"/>
                      <a:pt x="68314" y="84507"/>
                    </a:cubicBezTo>
                    <a:lnTo>
                      <a:pt x="68314" y="86404"/>
                    </a:lnTo>
                    <a:lnTo>
                      <a:pt x="96020" y="86404"/>
                    </a:lnTo>
                    <a:close/>
                    <a:moveTo>
                      <a:pt x="128420" y="86404"/>
                    </a:moveTo>
                    <a:lnTo>
                      <a:pt x="128420" y="84507"/>
                    </a:lnTo>
                    <a:cubicBezTo>
                      <a:pt x="120070" y="83872"/>
                      <a:pt x="119058" y="82610"/>
                      <a:pt x="119058" y="73501"/>
                    </a:cubicBezTo>
                    <a:lnTo>
                      <a:pt x="119058" y="28591"/>
                    </a:lnTo>
                    <a:lnTo>
                      <a:pt x="118550" y="28210"/>
                    </a:lnTo>
                    <a:lnTo>
                      <a:pt x="98944" y="35167"/>
                    </a:lnTo>
                    <a:lnTo>
                      <a:pt x="98944" y="37064"/>
                    </a:lnTo>
                    <a:lnTo>
                      <a:pt x="99956" y="36941"/>
                    </a:lnTo>
                    <a:cubicBezTo>
                      <a:pt x="101472" y="36687"/>
                      <a:pt x="103115" y="36560"/>
                      <a:pt x="104254" y="36560"/>
                    </a:cubicBezTo>
                    <a:cubicBezTo>
                      <a:pt x="107290" y="36560"/>
                      <a:pt x="108429" y="38584"/>
                      <a:pt x="108429" y="44148"/>
                    </a:cubicBezTo>
                    <a:lnTo>
                      <a:pt x="108429" y="73501"/>
                    </a:lnTo>
                    <a:cubicBezTo>
                      <a:pt x="108429" y="82610"/>
                      <a:pt x="107163" y="83999"/>
                      <a:pt x="98436" y="84507"/>
                    </a:cubicBezTo>
                    <a:lnTo>
                      <a:pt x="98436" y="86404"/>
                    </a:lnTo>
                    <a:lnTo>
                      <a:pt x="128420" y="86404"/>
                    </a:lnTo>
                    <a:close/>
                    <a:moveTo>
                      <a:pt x="120197" y="6449"/>
                    </a:moveTo>
                    <a:cubicBezTo>
                      <a:pt x="120197" y="2909"/>
                      <a:pt x="117411" y="0"/>
                      <a:pt x="113743" y="0"/>
                    </a:cubicBezTo>
                    <a:cubicBezTo>
                      <a:pt x="110199" y="0"/>
                      <a:pt x="107290" y="2909"/>
                      <a:pt x="107290" y="6449"/>
                    </a:cubicBezTo>
                    <a:cubicBezTo>
                      <a:pt x="107290" y="10120"/>
                      <a:pt x="110199" y="12902"/>
                      <a:pt x="113743" y="12902"/>
                    </a:cubicBezTo>
                    <a:cubicBezTo>
                      <a:pt x="117411" y="12902"/>
                      <a:pt x="120197" y="10120"/>
                      <a:pt x="120197" y="6449"/>
                    </a:cubicBezTo>
                    <a:close/>
                    <a:moveTo>
                      <a:pt x="192941" y="86404"/>
                    </a:moveTo>
                    <a:lnTo>
                      <a:pt x="192941" y="84507"/>
                    </a:lnTo>
                    <a:cubicBezTo>
                      <a:pt x="186742" y="83872"/>
                      <a:pt x="185222" y="82356"/>
                      <a:pt x="185222" y="76156"/>
                    </a:cubicBezTo>
                    <a:lnTo>
                      <a:pt x="185222" y="47185"/>
                    </a:lnTo>
                    <a:cubicBezTo>
                      <a:pt x="185222" y="35294"/>
                      <a:pt x="179658" y="28210"/>
                      <a:pt x="170296" y="28210"/>
                    </a:cubicBezTo>
                    <a:cubicBezTo>
                      <a:pt x="164478" y="28210"/>
                      <a:pt x="160556" y="30361"/>
                      <a:pt x="151952" y="38457"/>
                    </a:cubicBezTo>
                    <a:lnTo>
                      <a:pt x="151952" y="28464"/>
                    </a:lnTo>
                    <a:lnTo>
                      <a:pt x="151068" y="28210"/>
                    </a:lnTo>
                    <a:cubicBezTo>
                      <a:pt x="144868" y="30488"/>
                      <a:pt x="140566" y="31877"/>
                      <a:pt x="133609" y="33905"/>
                    </a:cubicBezTo>
                    <a:lnTo>
                      <a:pt x="133609" y="36052"/>
                    </a:lnTo>
                    <a:cubicBezTo>
                      <a:pt x="134368" y="35675"/>
                      <a:pt x="135632" y="35548"/>
                      <a:pt x="137026" y="35548"/>
                    </a:cubicBezTo>
                    <a:cubicBezTo>
                      <a:pt x="140566" y="35548"/>
                      <a:pt x="141706" y="37445"/>
                      <a:pt x="141706" y="43644"/>
                    </a:cubicBezTo>
                    <a:lnTo>
                      <a:pt x="141706" y="75017"/>
                    </a:lnTo>
                    <a:cubicBezTo>
                      <a:pt x="141706" y="82229"/>
                      <a:pt x="140312" y="83999"/>
                      <a:pt x="133863" y="84507"/>
                    </a:cubicBezTo>
                    <a:lnTo>
                      <a:pt x="133863" y="86404"/>
                    </a:lnTo>
                    <a:lnTo>
                      <a:pt x="160679" y="86404"/>
                    </a:lnTo>
                    <a:lnTo>
                      <a:pt x="160679" y="84507"/>
                    </a:lnTo>
                    <a:cubicBezTo>
                      <a:pt x="154230" y="83999"/>
                      <a:pt x="152333" y="82483"/>
                      <a:pt x="152333" y="77926"/>
                    </a:cubicBezTo>
                    <a:lnTo>
                      <a:pt x="152333" y="42378"/>
                    </a:lnTo>
                    <a:cubicBezTo>
                      <a:pt x="158406" y="36687"/>
                      <a:pt x="161187" y="35167"/>
                      <a:pt x="165363" y="35167"/>
                    </a:cubicBezTo>
                    <a:cubicBezTo>
                      <a:pt x="171562" y="35167"/>
                      <a:pt x="174599" y="39088"/>
                      <a:pt x="174599" y="47439"/>
                    </a:cubicBezTo>
                    <a:lnTo>
                      <a:pt x="174599" y="73878"/>
                    </a:lnTo>
                    <a:cubicBezTo>
                      <a:pt x="174599" y="81848"/>
                      <a:pt x="172951" y="83999"/>
                      <a:pt x="166629" y="84507"/>
                    </a:cubicBezTo>
                    <a:lnTo>
                      <a:pt x="166629" y="86404"/>
                    </a:lnTo>
                    <a:lnTo>
                      <a:pt x="192941" y="86404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objective_line1_outline_1"/>
              <p:cNvSpPr/>
              <p:nvPr/>
            </p:nvSpPr>
            <p:spPr>
              <a:xfrm>
                <a:off x="2709182" y="2189930"/>
                <a:ext cx="72322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72323" h="67755">
                    <a:moveTo>
                      <a:pt x="69104" y="15875"/>
                    </a:moveTo>
                    <a:lnTo>
                      <a:pt x="72323" y="0"/>
                    </a:lnTo>
                    <a:lnTo>
                      <a:pt x="14113" y="0"/>
                    </a:lnTo>
                    <a:lnTo>
                      <a:pt x="14113" y="1659"/>
                    </a:lnTo>
                    <a:cubicBezTo>
                      <a:pt x="21999" y="2282"/>
                      <a:pt x="23451" y="2905"/>
                      <a:pt x="23555" y="5810"/>
                    </a:cubicBezTo>
                    <a:cubicBezTo>
                      <a:pt x="23555" y="7469"/>
                      <a:pt x="23035" y="9962"/>
                      <a:pt x="22412" y="12553"/>
                    </a:cubicBezTo>
                    <a:lnTo>
                      <a:pt x="9442" y="58416"/>
                    </a:lnTo>
                    <a:cubicBezTo>
                      <a:pt x="7576" y="64643"/>
                      <a:pt x="6747" y="65266"/>
                      <a:pt x="0" y="66096"/>
                    </a:cubicBezTo>
                    <a:lnTo>
                      <a:pt x="103" y="67755"/>
                    </a:lnTo>
                    <a:lnTo>
                      <a:pt x="30091" y="67755"/>
                    </a:lnTo>
                    <a:lnTo>
                      <a:pt x="29988" y="66096"/>
                    </a:lnTo>
                    <a:cubicBezTo>
                      <a:pt x="23138" y="65782"/>
                      <a:pt x="21066" y="64643"/>
                      <a:pt x="20959" y="61528"/>
                    </a:cubicBezTo>
                    <a:cubicBezTo>
                      <a:pt x="20959" y="60595"/>
                      <a:pt x="21066" y="59349"/>
                      <a:pt x="21685" y="56860"/>
                    </a:cubicBezTo>
                    <a:lnTo>
                      <a:pt x="28226" y="33929"/>
                    </a:lnTo>
                    <a:cubicBezTo>
                      <a:pt x="32373" y="34135"/>
                      <a:pt x="34865" y="34238"/>
                      <a:pt x="37354" y="34238"/>
                    </a:cubicBezTo>
                    <a:cubicBezTo>
                      <a:pt x="41712" y="34238"/>
                      <a:pt x="42541" y="34346"/>
                      <a:pt x="43581" y="34758"/>
                    </a:cubicBezTo>
                    <a:cubicBezTo>
                      <a:pt x="45240" y="35485"/>
                      <a:pt x="46176" y="36937"/>
                      <a:pt x="46280" y="39013"/>
                    </a:cubicBezTo>
                    <a:cubicBezTo>
                      <a:pt x="46280" y="40672"/>
                      <a:pt x="46176" y="41815"/>
                      <a:pt x="46069" y="45030"/>
                    </a:cubicBezTo>
                    <a:lnTo>
                      <a:pt x="48042" y="45549"/>
                    </a:lnTo>
                    <a:lnTo>
                      <a:pt x="56241" y="21165"/>
                    </a:lnTo>
                    <a:lnTo>
                      <a:pt x="54785" y="20646"/>
                    </a:lnTo>
                    <a:cubicBezTo>
                      <a:pt x="49808" y="29984"/>
                      <a:pt x="49391" y="30091"/>
                      <a:pt x="29365" y="30298"/>
                    </a:cubicBezTo>
                    <a:lnTo>
                      <a:pt x="36215" y="6120"/>
                    </a:lnTo>
                    <a:cubicBezTo>
                      <a:pt x="36731" y="4044"/>
                      <a:pt x="38394" y="3425"/>
                      <a:pt x="43061" y="3425"/>
                    </a:cubicBezTo>
                    <a:cubicBezTo>
                      <a:pt x="62464" y="3425"/>
                      <a:pt x="66409" y="4771"/>
                      <a:pt x="66615" y="11307"/>
                    </a:cubicBezTo>
                    <a:cubicBezTo>
                      <a:pt x="66719" y="12037"/>
                      <a:pt x="66719" y="12450"/>
                      <a:pt x="66615" y="13696"/>
                    </a:cubicBezTo>
                    <a:cubicBezTo>
                      <a:pt x="66512" y="14423"/>
                      <a:pt x="66615" y="14835"/>
                      <a:pt x="66512" y="15669"/>
                    </a:cubicBezTo>
                    <a:lnTo>
                      <a:pt x="69104" y="15875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objective_line1_outline_2"/>
              <p:cNvSpPr/>
              <p:nvPr/>
            </p:nvSpPr>
            <p:spPr>
              <a:xfrm>
                <a:off x="2799353" y="2198126"/>
                <a:ext cx="53125" cy="65575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65576">
                    <a:moveTo>
                      <a:pt x="53126" y="27083"/>
                    </a:moveTo>
                    <a:lnTo>
                      <a:pt x="53126" y="25007"/>
                    </a:lnTo>
                    <a:lnTo>
                      <a:pt x="0" y="0"/>
                    </a:lnTo>
                    <a:lnTo>
                      <a:pt x="0" y="5914"/>
                    </a:lnTo>
                    <a:lnTo>
                      <a:pt x="43164" y="26150"/>
                    </a:lnTo>
                    <a:lnTo>
                      <a:pt x="0" y="46383"/>
                    </a:lnTo>
                    <a:lnTo>
                      <a:pt x="0" y="52193"/>
                    </a:lnTo>
                    <a:lnTo>
                      <a:pt x="53126" y="27083"/>
                    </a:lnTo>
                    <a:close/>
                    <a:moveTo>
                      <a:pt x="53126" y="65576"/>
                    </a:moveTo>
                    <a:lnTo>
                      <a:pt x="53126" y="60079"/>
                    </a:lnTo>
                    <a:lnTo>
                      <a:pt x="0" y="60079"/>
                    </a:lnTo>
                    <a:lnTo>
                      <a:pt x="0" y="65576"/>
                    </a:lnTo>
                    <a:lnTo>
                      <a:pt x="53126" y="65576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objective_line1_outline_3"/>
              <p:cNvSpPr/>
              <p:nvPr/>
            </p:nvSpPr>
            <p:spPr>
              <a:xfrm>
                <a:off x="2867608" y="2187541"/>
                <a:ext cx="46902" cy="71596"/>
              </a:xfrm>
              <a:custGeom>
                <a:avLst/>
                <a:gdLst/>
                <a:ahLst/>
                <a:cxnLst/>
                <a:rect l="0" t="0" r="r" b="b"/>
                <a:pathLst>
                  <a:path w="46903" h="71596">
                    <a:moveTo>
                      <a:pt x="46903" y="35901"/>
                    </a:moveTo>
                    <a:cubicBezTo>
                      <a:pt x="46903" y="14633"/>
                      <a:pt x="37461" y="0"/>
                      <a:pt x="23868" y="0"/>
                    </a:cubicBezTo>
                    <a:cubicBezTo>
                      <a:pt x="18161" y="0"/>
                      <a:pt x="13803" y="1766"/>
                      <a:pt x="9962" y="5397"/>
                    </a:cubicBezTo>
                    <a:cubicBezTo>
                      <a:pt x="3945" y="11208"/>
                      <a:pt x="0" y="23142"/>
                      <a:pt x="0" y="35282"/>
                    </a:cubicBezTo>
                    <a:cubicBezTo>
                      <a:pt x="0" y="46589"/>
                      <a:pt x="3425" y="58730"/>
                      <a:pt x="8303" y="64540"/>
                    </a:cubicBezTo>
                    <a:cubicBezTo>
                      <a:pt x="12140" y="69108"/>
                      <a:pt x="17435" y="71596"/>
                      <a:pt x="23451" y="71596"/>
                    </a:cubicBezTo>
                    <a:cubicBezTo>
                      <a:pt x="28742" y="71596"/>
                      <a:pt x="33207" y="69834"/>
                      <a:pt x="36941" y="66203"/>
                    </a:cubicBezTo>
                    <a:cubicBezTo>
                      <a:pt x="42958" y="60496"/>
                      <a:pt x="46903" y="48458"/>
                      <a:pt x="46903" y="35901"/>
                    </a:cubicBezTo>
                    <a:close/>
                    <a:moveTo>
                      <a:pt x="36941" y="36112"/>
                    </a:moveTo>
                    <a:cubicBezTo>
                      <a:pt x="36941" y="57797"/>
                      <a:pt x="32373" y="68897"/>
                      <a:pt x="23451" y="68897"/>
                    </a:cubicBezTo>
                    <a:cubicBezTo>
                      <a:pt x="14530" y="68897"/>
                      <a:pt x="9962" y="57797"/>
                      <a:pt x="9962" y="36215"/>
                    </a:cubicBezTo>
                    <a:cubicBezTo>
                      <a:pt x="9962" y="14216"/>
                      <a:pt x="14633" y="2699"/>
                      <a:pt x="23555" y="2699"/>
                    </a:cubicBezTo>
                    <a:cubicBezTo>
                      <a:pt x="32270" y="2699"/>
                      <a:pt x="36941" y="14426"/>
                      <a:pt x="36941" y="36112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objective_line1_outline_4"/>
              <p:cNvSpPr/>
              <p:nvPr/>
            </p:nvSpPr>
            <p:spPr>
              <a:xfrm>
                <a:off x="2952260" y="2196241"/>
                <a:ext cx="64773" cy="7084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7084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objective_line1_outline_5"/>
              <p:cNvSpPr/>
              <p:nvPr/>
            </p:nvSpPr>
            <p:spPr>
              <a:xfrm>
                <a:off x="3036272" y="2142857"/>
                <a:ext cx="33269" cy="113855"/>
              </a:xfrm>
              <a:custGeom>
                <a:avLst/>
                <a:gdLst/>
                <a:ahLst/>
                <a:cxnLst/>
                <a:rect l="0" t="0" r="r" b="b"/>
                <a:pathLst>
                  <a:path w="33270" h="113856">
                    <a:moveTo>
                      <a:pt x="33270" y="113856"/>
                    </a:moveTo>
                    <a:lnTo>
                      <a:pt x="8727" y="56928"/>
                    </a:lnTo>
                    <a:lnTo>
                      <a:pt x="33270" y="0"/>
                    </a:lnTo>
                    <a:lnTo>
                      <a:pt x="27198" y="0"/>
                    </a:lnTo>
                    <a:lnTo>
                      <a:pt x="0" y="56928"/>
                    </a:lnTo>
                    <a:lnTo>
                      <a:pt x="27198" y="113856"/>
                    </a:lnTo>
                    <a:lnTo>
                      <a:pt x="33270" y="113856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objective_line1_outline_6"/>
              <p:cNvSpPr/>
              <p:nvPr/>
            </p:nvSpPr>
            <p:spPr>
              <a:xfrm>
                <a:off x="3078909" y="2147790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3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3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3"/>
                    </a:lnTo>
                    <a:cubicBezTo>
                      <a:pt x="17205" y="81851"/>
                      <a:pt x="16192" y="81216"/>
                      <a:pt x="16192" y="78053"/>
                    </a:cubicBezTo>
                    <a:cubicBezTo>
                      <a:pt x="16192" y="75652"/>
                      <a:pt x="16573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3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" name="objective_line1_outline_7"/>
              <p:cNvSpPr/>
              <p:nvPr/>
            </p:nvSpPr>
            <p:spPr>
              <a:xfrm>
                <a:off x="3171383" y="2219395"/>
                <a:ext cx="17585" cy="30742"/>
              </a:xfrm>
              <a:custGeom>
                <a:avLst/>
                <a:gdLst/>
                <a:ahLst/>
                <a:cxnLst/>
                <a:rect l="0" t="0" r="r" b="b"/>
                <a:pathLst>
                  <a:path w="17586" h="30742">
                    <a:moveTo>
                      <a:pt x="17586" y="12144"/>
                    </a:moveTo>
                    <a:cubicBezTo>
                      <a:pt x="17586" y="1643"/>
                      <a:pt x="10247" y="0"/>
                      <a:pt x="7338" y="0"/>
                    </a:cubicBezTo>
                    <a:cubicBezTo>
                      <a:pt x="4175" y="0"/>
                      <a:pt x="0" y="1897"/>
                      <a:pt x="0" y="7334"/>
                    </a:cubicBezTo>
                    <a:cubicBezTo>
                      <a:pt x="0" y="12394"/>
                      <a:pt x="4556" y="13660"/>
                      <a:pt x="7842" y="13660"/>
                    </a:cubicBezTo>
                    <a:cubicBezTo>
                      <a:pt x="8727" y="13660"/>
                      <a:pt x="9362" y="13533"/>
                      <a:pt x="9739" y="13410"/>
                    </a:cubicBezTo>
                    <a:cubicBezTo>
                      <a:pt x="10247" y="13283"/>
                      <a:pt x="10628" y="13156"/>
                      <a:pt x="10878" y="13156"/>
                    </a:cubicBezTo>
                    <a:cubicBezTo>
                      <a:pt x="11767" y="13156"/>
                      <a:pt x="12652" y="13787"/>
                      <a:pt x="12652" y="14927"/>
                    </a:cubicBezTo>
                    <a:cubicBezTo>
                      <a:pt x="12652" y="17332"/>
                      <a:pt x="10628" y="23023"/>
                      <a:pt x="2278" y="28337"/>
                    </a:cubicBezTo>
                    <a:lnTo>
                      <a:pt x="3417" y="30742"/>
                    </a:lnTo>
                    <a:cubicBezTo>
                      <a:pt x="7211" y="29476"/>
                      <a:pt x="17586" y="21126"/>
                      <a:pt x="17586" y="12144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objective_line1_outline_8"/>
              <p:cNvSpPr/>
              <p:nvPr/>
            </p:nvSpPr>
            <p:spPr>
              <a:xfrm>
                <a:off x="3223103" y="2149687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4" y="3544"/>
                      <a:pt x="27324" y="7084"/>
                    </a:cubicBezTo>
                    <a:cubicBezTo>
                      <a:pt x="27324" y="9108"/>
                      <a:pt x="26820" y="12144"/>
                      <a:pt x="25936" y="15308"/>
                    </a:cubicBezTo>
                    <a:lnTo>
                      <a:pt x="10373" y="71223"/>
                    </a:lnTo>
                    <a:cubicBezTo>
                      <a:pt x="8096" y="78815"/>
                      <a:pt x="7211" y="79573"/>
                      <a:pt x="0" y="80586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6"/>
                    </a:lnTo>
                    <a:cubicBezTo>
                      <a:pt x="24543" y="80205"/>
                      <a:pt x="22264" y="78815"/>
                      <a:pt x="22264" y="75017"/>
                    </a:cubicBezTo>
                    <a:cubicBezTo>
                      <a:pt x="22264" y="73882"/>
                      <a:pt x="22518" y="72362"/>
                      <a:pt x="23404" y="69326"/>
                    </a:cubicBezTo>
                    <a:lnTo>
                      <a:pt x="31246" y="41116"/>
                    </a:lnTo>
                    <a:cubicBezTo>
                      <a:pt x="35928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6" y="44783"/>
                      <a:pt x="51236" y="47316"/>
                    </a:cubicBezTo>
                    <a:cubicBezTo>
                      <a:pt x="51236" y="49339"/>
                      <a:pt x="50982" y="50856"/>
                      <a:pt x="50225" y="54777"/>
                    </a:cubicBezTo>
                    <a:lnTo>
                      <a:pt x="52375" y="55412"/>
                    </a:lnTo>
                    <a:lnTo>
                      <a:pt x="61987" y="25809"/>
                    </a:lnTo>
                    <a:lnTo>
                      <a:pt x="59709" y="25174"/>
                    </a:lnTo>
                    <a:cubicBezTo>
                      <a:pt x="54018" y="36560"/>
                      <a:pt x="53637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6" y="4175"/>
                      <a:pt x="48450" y="4175"/>
                    </a:cubicBezTo>
                    <a:cubicBezTo>
                      <a:pt x="69833" y="4175"/>
                      <a:pt x="74259" y="5818"/>
                      <a:pt x="74259" y="13791"/>
                    </a:cubicBezTo>
                    <a:cubicBezTo>
                      <a:pt x="74259" y="14677"/>
                      <a:pt x="74259" y="15181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objective_line1_outline_9"/>
              <p:cNvSpPr/>
              <p:nvPr/>
            </p:nvSpPr>
            <p:spPr>
              <a:xfrm>
                <a:off x="3313952" y="2142857"/>
                <a:ext cx="33270" cy="113855"/>
              </a:xfrm>
              <a:custGeom>
                <a:avLst/>
                <a:gdLst/>
                <a:ahLst/>
                <a:cxnLst/>
                <a:rect l="0" t="0" r="r" b="b"/>
                <a:pathLst>
                  <a:path w="33270" h="113856">
                    <a:moveTo>
                      <a:pt x="33270" y="56928"/>
                    </a:moveTo>
                    <a:lnTo>
                      <a:pt x="6072" y="0"/>
                    </a:lnTo>
                    <a:lnTo>
                      <a:pt x="0" y="0"/>
                    </a:lnTo>
                    <a:lnTo>
                      <a:pt x="24543" y="56928"/>
                    </a:lnTo>
                    <a:lnTo>
                      <a:pt x="0" y="113856"/>
                    </a:lnTo>
                    <a:lnTo>
                      <a:pt x="6072" y="113856"/>
                    </a:lnTo>
                    <a:lnTo>
                      <a:pt x="33270" y="56928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2" name="objective_line2"/>
            <p:cNvGrpSpPr/>
            <p:nvPr/>
          </p:nvGrpSpPr>
          <p:grpSpPr>
            <a:xfrm>
              <a:off x="2595048" y="2376884"/>
              <a:ext cx="660038" cy="136562"/>
              <a:chOff x="2595048" y="2376884"/>
              <a:chExt cx="660038" cy="136562"/>
            </a:xfrm>
          </p:grpSpPr>
          <p:sp>
            <p:nvSpPr>
              <p:cNvPr id="233" name="objective_line2_outline_0"/>
              <p:cNvSpPr/>
              <p:nvPr/>
            </p:nvSpPr>
            <p:spPr>
              <a:xfrm>
                <a:off x="2595048" y="2422868"/>
                <a:ext cx="64773" cy="65023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65024">
                    <a:moveTo>
                      <a:pt x="28214" y="28337"/>
                    </a:moveTo>
                    <a:lnTo>
                      <a:pt x="0" y="28337"/>
                    </a:lnTo>
                    <a:lnTo>
                      <a:pt x="0" y="36687"/>
                    </a:lnTo>
                    <a:lnTo>
                      <a:pt x="28214" y="36687"/>
                    </a:lnTo>
                    <a:lnTo>
                      <a:pt x="28214" y="65024"/>
                    </a:lnTo>
                    <a:lnTo>
                      <a:pt x="36560" y="65024"/>
                    </a:lnTo>
                    <a:lnTo>
                      <a:pt x="36560" y="36687"/>
                    </a:lnTo>
                    <a:lnTo>
                      <a:pt x="64774" y="36687"/>
                    </a:lnTo>
                    <a:lnTo>
                      <a:pt x="64774" y="28337"/>
                    </a:lnTo>
                    <a:lnTo>
                      <a:pt x="36560" y="28337"/>
                    </a:lnTo>
                    <a:lnTo>
                      <a:pt x="36560" y="0"/>
                    </a:lnTo>
                    <a:lnTo>
                      <a:pt x="28214" y="0"/>
                    </a:lnTo>
                    <a:lnTo>
                      <a:pt x="28214" y="28337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objective_line2_outline_1"/>
              <p:cNvSpPr/>
              <p:nvPr/>
            </p:nvSpPr>
            <p:spPr>
              <a:xfrm>
                <a:off x="2670967" y="2432103"/>
                <a:ext cx="58320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58321" h="57182">
                    <a:moveTo>
                      <a:pt x="58321" y="10374"/>
                    </a:moveTo>
                    <a:cubicBezTo>
                      <a:pt x="58321" y="2024"/>
                      <a:pt x="41874" y="0"/>
                      <a:pt x="35294" y="0"/>
                    </a:cubicBezTo>
                    <a:cubicBezTo>
                      <a:pt x="25555" y="0"/>
                      <a:pt x="10374" y="4048"/>
                      <a:pt x="10374" y="15812"/>
                    </a:cubicBezTo>
                    <a:cubicBezTo>
                      <a:pt x="10374" y="21634"/>
                      <a:pt x="15181" y="25301"/>
                      <a:pt x="20749" y="26186"/>
                    </a:cubicBezTo>
                    <a:lnTo>
                      <a:pt x="20749" y="26694"/>
                    </a:lnTo>
                    <a:cubicBezTo>
                      <a:pt x="12017" y="27829"/>
                      <a:pt x="0" y="33270"/>
                      <a:pt x="0" y="43263"/>
                    </a:cubicBezTo>
                    <a:cubicBezTo>
                      <a:pt x="0" y="54904"/>
                      <a:pt x="13537" y="57182"/>
                      <a:pt x="23023" y="57182"/>
                    </a:cubicBezTo>
                    <a:cubicBezTo>
                      <a:pt x="32512" y="57182"/>
                      <a:pt x="43644" y="54269"/>
                      <a:pt x="49717" y="46681"/>
                    </a:cubicBezTo>
                    <a:cubicBezTo>
                      <a:pt x="50983" y="45037"/>
                      <a:pt x="52249" y="43136"/>
                      <a:pt x="52249" y="40989"/>
                    </a:cubicBezTo>
                    <a:cubicBezTo>
                      <a:pt x="52249" y="39469"/>
                      <a:pt x="50856" y="37826"/>
                      <a:pt x="49212" y="37826"/>
                    </a:cubicBezTo>
                    <a:cubicBezTo>
                      <a:pt x="43013" y="37826"/>
                      <a:pt x="41620" y="53765"/>
                      <a:pt x="24416" y="53765"/>
                    </a:cubicBezTo>
                    <a:cubicBezTo>
                      <a:pt x="17713" y="53765"/>
                      <a:pt x="12648" y="51360"/>
                      <a:pt x="12648" y="44275"/>
                    </a:cubicBezTo>
                    <a:cubicBezTo>
                      <a:pt x="12648" y="37445"/>
                      <a:pt x="17078" y="29730"/>
                      <a:pt x="24920" y="29730"/>
                    </a:cubicBezTo>
                    <a:cubicBezTo>
                      <a:pt x="28591" y="29730"/>
                      <a:pt x="32004" y="31119"/>
                      <a:pt x="35675" y="31119"/>
                    </a:cubicBezTo>
                    <a:cubicBezTo>
                      <a:pt x="38584" y="31119"/>
                      <a:pt x="41239" y="30234"/>
                      <a:pt x="41239" y="26944"/>
                    </a:cubicBezTo>
                    <a:cubicBezTo>
                      <a:pt x="41239" y="24035"/>
                      <a:pt x="39469" y="23658"/>
                      <a:pt x="36814" y="23658"/>
                    </a:cubicBezTo>
                    <a:cubicBezTo>
                      <a:pt x="33905" y="23658"/>
                      <a:pt x="31119" y="24035"/>
                      <a:pt x="28337" y="24035"/>
                    </a:cubicBezTo>
                    <a:cubicBezTo>
                      <a:pt x="23658" y="24035"/>
                      <a:pt x="21634" y="22138"/>
                      <a:pt x="21634" y="17582"/>
                    </a:cubicBezTo>
                    <a:cubicBezTo>
                      <a:pt x="21634" y="10497"/>
                      <a:pt x="27325" y="3413"/>
                      <a:pt x="35044" y="3413"/>
                    </a:cubicBezTo>
                    <a:cubicBezTo>
                      <a:pt x="46426" y="3413"/>
                      <a:pt x="45287" y="15308"/>
                      <a:pt x="52880" y="15308"/>
                    </a:cubicBezTo>
                    <a:cubicBezTo>
                      <a:pt x="55916" y="15308"/>
                      <a:pt x="58321" y="13534"/>
                      <a:pt x="58321" y="10374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objective_line2_outline_2"/>
              <p:cNvSpPr/>
              <p:nvPr/>
            </p:nvSpPr>
            <p:spPr>
              <a:xfrm>
                <a:off x="2759490" y="2404143"/>
                <a:ext cx="162700" cy="83748"/>
              </a:xfrm>
              <a:custGeom>
                <a:avLst/>
                <a:gdLst/>
                <a:ahLst/>
                <a:cxnLst/>
                <a:rect l="0" t="0" r="r" b="b"/>
                <a:pathLst>
                  <a:path w="162700" h="83749">
                    <a:moveTo>
                      <a:pt x="87162" y="83749"/>
                    </a:moveTo>
                    <a:lnTo>
                      <a:pt x="87162" y="81344"/>
                    </a:lnTo>
                    <a:cubicBezTo>
                      <a:pt x="80586" y="81217"/>
                      <a:pt x="78811" y="79954"/>
                      <a:pt x="67302" y="67683"/>
                    </a:cubicBezTo>
                    <a:lnTo>
                      <a:pt x="37826" y="36056"/>
                    </a:lnTo>
                    <a:lnTo>
                      <a:pt x="61861" y="12271"/>
                    </a:lnTo>
                    <a:cubicBezTo>
                      <a:pt x="70465" y="4048"/>
                      <a:pt x="72489" y="3036"/>
                      <a:pt x="81089" y="2405"/>
                    </a:cubicBezTo>
                    <a:lnTo>
                      <a:pt x="81089" y="0"/>
                    </a:lnTo>
                    <a:lnTo>
                      <a:pt x="47947" y="0"/>
                    </a:lnTo>
                    <a:lnTo>
                      <a:pt x="47947" y="2405"/>
                    </a:lnTo>
                    <a:cubicBezTo>
                      <a:pt x="49463" y="2532"/>
                      <a:pt x="50729" y="2532"/>
                      <a:pt x="51237" y="2532"/>
                    </a:cubicBezTo>
                    <a:cubicBezTo>
                      <a:pt x="55031" y="2782"/>
                      <a:pt x="56547" y="3794"/>
                      <a:pt x="56547" y="6326"/>
                    </a:cubicBezTo>
                    <a:cubicBezTo>
                      <a:pt x="56547" y="9108"/>
                      <a:pt x="53638" y="12902"/>
                      <a:pt x="46680" y="19356"/>
                    </a:cubicBezTo>
                    <a:lnTo>
                      <a:pt x="24289" y="39723"/>
                    </a:lnTo>
                    <a:lnTo>
                      <a:pt x="24289" y="13791"/>
                    </a:lnTo>
                    <a:cubicBezTo>
                      <a:pt x="24289" y="4556"/>
                      <a:pt x="25682" y="3163"/>
                      <a:pt x="35929" y="2405"/>
                    </a:cubicBezTo>
                    <a:lnTo>
                      <a:pt x="35929" y="0"/>
                    </a:lnTo>
                    <a:lnTo>
                      <a:pt x="0" y="0"/>
                    </a:lnTo>
                    <a:lnTo>
                      <a:pt x="0" y="2405"/>
                    </a:lnTo>
                    <a:cubicBezTo>
                      <a:pt x="9866" y="3163"/>
                      <a:pt x="11386" y="4806"/>
                      <a:pt x="11386" y="13791"/>
                    </a:cubicBezTo>
                    <a:lnTo>
                      <a:pt x="11386" y="68568"/>
                    </a:lnTo>
                    <a:cubicBezTo>
                      <a:pt x="11386" y="79069"/>
                      <a:pt x="9993" y="80713"/>
                      <a:pt x="0" y="81344"/>
                    </a:cubicBezTo>
                    <a:lnTo>
                      <a:pt x="0" y="83749"/>
                    </a:lnTo>
                    <a:lnTo>
                      <a:pt x="35675" y="83749"/>
                    </a:lnTo>
                    <a:lnTo>
                      <a:pt x="35675" y="81344"/>
                    </a:lnTo>
                    <a:cubicBezTo>
                      <a:pt x="25805" y="80713"/>
                      <a:pt x="24289" y="79192"/>
                      <a:pt x="24289" y="69961"/>
                    </a:cubicBezTo>
                    <a:lnTo>
                      <a:pt x="24289" y="46303"/>
                    </a:lnTo>
                    <a:lnTo>
                      <a:pt x="27579" y="43644"/>
                    </a:lnTo>
                    <a:lnTo>
                      <a:pt x="40989" y="56928"/>
                    </a:lnTo>
                    <a:cubicBezTo>
                      <a:pt x="50602" y="66417"/>
                      <a:pt x="57432" y="75398"/>
                      <a:pt x="57432" y="78434"/>
                    </a:cubicBezTo>
                    <a:cubicBezTo>
                      <a:pt x="57432" y="80205"/>
                      <a:pt x="55662" y="81094"/>
                      <a:pt x="52122" y="81217"/>
                    </a:cubicBezTo>
                    <a:cubicBezTo>
                      <a:pt x="51487" y="81217"/>
                      <a:pt x="50098" y="81217"/>
                      <a:pt x="48577" y="81344"/>
                    </a:cubicBezTo>
                    <a:lnTo>
                      <a:pt x="48577" y="83749"/>
                    </a:lnTo>
                    <a:lnTo>
                      <a:pt x="87162" y="83749"/>
                    </a:lnTo>
                    <a:close/>
                    <a:moveTo>
                      <a:pt x="162700" y="61738"/>
                    </a:moveTo>
                    <a:lnTo>
                      <a:pt x="159538" y="61738"/>
                    </a:lnTo>
                    <a:cubicBezTo>
                      <a:pt x="157514" y="66163"/>
                      <a:pt x="155867" y="69072"/>
                      <a:pt x="154096" y="71096"/>
                    </a:cubicBezTo>
                    <a:cubicBezTo>
                      <a:pt x="149671" y="76410"/>
                      <a:pt x="142711" y="78815"/>
                      <a:pt x="131832" y="78815"/>
                    </a:cubicBezTo>
                    <a:lnTo>
                      <a:pt x="123355" y="78815"/>
                    </a:lnTo>
                    <a:cubicBezTo>
                      <a:pt x="114119" y="78815"/>
                      <a:pt x="112476" y="78057"/>
                      <a:pt x="112476" y="73628"/>
                    </a:cubicBezTo>
                    <a:lnTo>
                      <a:pt x="112476" y="13791"/>
                    </a:lnTo>
                    <a:cubicBezTo>
                      <a:pt x="112476" y="4806"/>
                      <a:pt x="114246" y="3036"/>
                      <a:pt x="124244" y="2405"/>
                    </a:cubicBezTo>
                    <a:lnTo>
                      <a:pt x="124244" y="0"/>
                    </a:lnTo>
                    <a:lnTo>
                      <a:pt x="88569" y="0"/>
                    </a:lnTo>
                    <a:lnTo>
                      <a:pt x="88569" y="2405"/>
                    </a:lnTo>
                    <a:cubicBezTo>
                      <a:pt x="97927" y="3163"/>
                      <a:pt x="99574" y="4806"/>
                      <a:pt x="99574" y="13791"/>
                    </a:cubicBezTo>
                    <a:lnTo>
                      <a:pt x="99574" y="69961"/>
                    </a:lnTo>
                    <a:cubicBezTo>
                      <a:pt x="99574" y="78942"/>
                      <a:pt x="97800" y="80713"/>
                      <a:pt x="88569" y="81344"/>
                    </a:cubicBezTo>
                    <a:lnTo>
                      <a:pt x="88569" y="83749"/>
                    </a:lnTo>
                    <a:lnTo>
                      <a:pt x="156629" y="83749"/>
                    </a:lnTo>
                    <a:lnTo>
                      <a:pt x="162700" y="61738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objective_line2_outline_3"/>
              <p:cNvSpPr/>
              <p:nvPr/>
            </p:nvSpPr>
            <p:spPr>
              <a:xfrm>
                <a:off x="2936254" y="2397186"/>
                <a:ext cx="32384" cy="116260"/>
              </a:xfrm>
              <a:custGeom>
                <a:avLst/>
                <a:gdLst/>
                <a:ahLst/>
                <a:cxnLst/>
                <a:rect l="0" t="0" r="r" b="b"/>
                <a:pathLst>
                  <a:path w="32385" h="116260">
                    <a:moveTo>
                      <a:pt x="31246" y="0"/>
                    </a:moveTo>
                    <a:cubicBezTo>
                      <a:pt x="12902" y="11890"/>
                      <a:pt x="0" y="32385"/>
                      <a:pt x="0" y="58194"/>
                    </a:cubicBezTo>
                    <a:cubicBezTo>
                      <a:pt x="0" y="81724"/>
                      <a:pt x="13410" y="105505"/>
                      <a:pt x="30869" y="116260"/>
                    </a:cubicBezTo>
                    <a:lnTo>
                      <a:pt x="32385" y="114237"/>
                    </a:lnTo>
                    <a:cubicBezTo>
                      <a:pt x="15689" y="101080"/>
                      <a:pt x="10878" y="85773"/>
                      <a:pt x="10878" y="57813"/>
                    </a:cubicBezTo>
                    <a:cubicBezTo>
                      <a:pt x="10878" y="29730"/>
                      <a:pt x="16065" y="15180"/>
                      <a:pt x="32385" y="2024"/>
                    </a:cubicBezTo>
                    <a:lnTo>
                      <a:pt x="31246" y="0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objective_line2_outline_4"/>
              <p:cNvSpPr/>
              <p:nvPr/>
            </p:nvSpPr>
            <p:spPr>
              <a:xfrm>
                <a:off x="2982057" y="2405282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6" h="82610">
                    <a:moveTo>
                      <a:pt x="76537" y="19356"/>
                    </a:moveTo>
                    <a:lnTo>
                      <a:pt x="80586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5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89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objective_line2_outline_5"/>
              <p:cNvSpPr/>
              <p:nvPr/>
            </p:nvSpPr>
            <p:spPr>
              <a:xfrm>
                <a:off x="3082000" y="2398452"/>
                <a:ext cx="32384" cy="113855"/>
              </a:xfrm>
              <a:custGeom>
                <a:avLst/>
                <a:gdLst/>
                <a:ahLst/>
                <a:cxnLst/>
                <a:rect l="0" t="0" r="r" b="b"/>
                <a:pathLst>
                  <a:path w="32385" h="113856">
                    <a:moveTo>
                      <a:pt x="32385" y="113856"/>
                    </a:moveTo>
                    <a:lnTo>
                      <a:pt x="32385" y="0"/>
                    </a:lnTo>
                    <a:lnTo>
                      <a:pt x="25301" y="0"/>
                    </a:lnTo>
                    <a:lnTo>
                      <a:pt x="25301" y="113856"/>
                    </a:lnTo>
                    <a:lnTo>
                      <a:pt x="32385" y="113856"/>
                    </a:lnTo>
                    <a:close/>
                    <a:moveTo>
                      <a:pt x="7084" y="113856"/>
                    </a:moveTo>
                    <a:lnTo>
                      <a:pt x="7084" y="0"/>
                    </a:lnTo>
                    <a:lnTo>
                      <a:pt x="0" y="0"/>
                    </a:lnTo>
                    <a:lnTo>
                      <a:pt x="0" y="113856"/>
                    </a:lnTo>
                    <a:lnTo>
                      <a:pt x="7084" y="113856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objective_line2_outline_6"/>
              <p:cNvSpPr/>
              <p:nvPr/>
            </p:nvSpPr>
            <p:spPr>
              <a:xfrm>
                <a:off x="3168302" y="2376884"/>
                <a:ext cx="39342" cy="21125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21126">
                    <a:moveTo>
                      <a:pt x="39342" y="21126"/>
                    </a:moveTo>
                    <a:lnTo>
                      <a:pt x="23531" y="0"/>
                    </a:lnTo>
                    <a:lnTo>
                      <a:pt x="15684" y="0"/>
                    </a:lnTo>
                    <a:lnTo>
                      <a:pt x="0" y="21126"/>
                    </a:lnTo>
                    <a:lnTo>
                      <a:pt x="4298" y="21126"/>
                    </a:lnTo>
                    <a:lnTo>
                      <a:pt x="19606" y="8096"/>
                    </a:lnTo>
                    <a:lnTo>
                      <a:pt x="35040" y="21126"/>
                    </a:lnTo>
                    <a:lnTo>
                      <a:pt x="39342" y="21126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objective_line2_outline_7"/>
              <p:cNvSpPr/>
              <p:nvPr/>
            </p:nvSpPr>
            <p:spPr>
              <a:xfrm>
                <a:off x="3134521" y="2405282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5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89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objective_line2_outline_8"/>
              <p:cNvSpPr/>
              <p:nvPr/>
            </p:nvSpPr>
            <p:spPr>
              <a:xfrm>
                <a:off x="3222698" y="2397186"/>
                <a:ext cx="32388" cy="116260"/>
              </a:xfrm>
              <a:custGeom>
                <a:avLst/>
                <a:gdLst/>
                <a:ahLst/>
                <a:cxnLst/>
                <a:rect l="0" t="0" r="r" b="b"/>
                <a:pathLst>
                  <a:path w="32389" h="116260">
                    <a:moveTo>
                      <a:pt x="1139" y="0"/>
                    </a:moveTo>
                    <a:lnTo>
                      <a:pt x="0" y="2024"/>
                    </a:lnTo>
                    <a:cubicBezTo>
                      <a:pt x="16319" y="15180"/>
                      <a:pt x="21507" y="29730"/>
                      <a:pt x="21507" y="57813"/>
                    </a:cubicBezTo>
                    <a:cubicBezTo>
                      <a:pt x="21507" y="85773"/>
                      <a:pt x="16700" y="101080"/>
                      <a:pt x="0" y="114237"/>
                    </a:cubicBezTo>
                    <a:lnTo>
                      <a:pt x="1520" y="116260"/>
                    </a:lnTo>
                    <a:cubicBezTo>
                      <a:pt x="18979" y="105505"/>
                      <a:pt x="32389" y="81724"/>
                      <a:pt x="32389" y="58194"/>
                    </a:cubicBezTo>
                    <a:cubicBezTo>
                      <a:pt x="32389" y="32385"/>
                      <a:pt x="19483" y="11890"/>
                      <a:pt x="1139" y="0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42" name="module_stage5"/>
          <p:cNvGrpSpPr/>
          <p:nvPr/>
        </p:nvGrpSpPr>
        <p:grpSpPr>
          <a:xfrm>
            <a:off x="3606800" y="76200"/>
            <a:ext cx="1384300" cy="2552700"/>
            <a:chOff x="3606800" y="76200"/>
            <a:chExt cx="1384300" cy="2552700"/>
          </a:xfrm>
        </p:grpSpPr>
        <p:sp>
          <p:nvSpPr>
            <p:cNvPr id="243" name="stage5_border"/>
            <p:cNvSpPr/>
            <p:nvPr/>
          </p:nvSpPr>
          <p:spPr>
            <a:xfrm>
              <a:off x="3606800" y="76200"/>
              <a:ext cx="13843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6985">
              <a:solidFill>
                <a:srgbClr val="697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badge5"/>
            <p:cNvSpPr/>
            <p:nvPr/>
          </p:nvSpPr>
          <p:spPr>
            <a:xfrm>
              <a:off x="3657600" y="152400"/>
              <a:ext cx="165100" cy="165100"/>
            </a:xfrm>
            <a:prstGeom prst="ellipse">
              <a:avLst/>
            </a:prstGeom>
            <a:solidFill>
              <a:srgbClr val="6972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number5"/>
            <p:cNvSpPr txBox="1"/>
            <p:nvPr/>
          </p:nvSpPr>
          <p:spPr>
            <a:xfrm>
              <a:off x="3657600" y="152400"/>
              <a:ext cx="1651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i="0">
                  <a:solidFill>
                    <a:srgbClr val="FFFFFF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246" name="title5"/>
            <p:cNvSpPr txBox="1"/>
            <p:nvPr/>
          </p:nvSpPr>
          <p:spPr>
            <a:xfrm>
              <a:off x="3848100" y="114300"/>
              <a:ext cx="11176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69727B"/>
                  </a:solidFill>
                  <a:latin typeface="Liberation Serif"/>
                </a:rPr>
                <a:t>Priced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69727B"/>
                  </a:solidFill>
                  <a:latin typeface="Liberation Serif"/>
                </a:rPr>
                <a:t>policy update</a:t>
              </a:r>
            </a:p>
          </p:txBody>
        </p:sp>
        <p:sp>
          <p:nvSpPr>
            <p:cNvPr id="247" name="dual_label"/>
            <p:cNvSpPr txBox="1"/>
            <p:nvPr/>
          </p:nvSpPr>
          <p:spPr>
            <a:xfrm>
              <a:off x="3670300" y="520700"/>
              <a:ext cx="12700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00621C"/>
                  </a:solidFill>
                  <a:latin typeface="Liberation Serif"/>
                </a:rPr>
                <a:t>budget duals</a:t>
              </a:r>
            </a:p>
          </p:txBody>
        </p:sp>
        <p:sp>
          <p:nvSpPr>
            <p:cNvPr id="248" name="filter_label"/>
            <p:cNvSpPr txBox="1"/>
            <p:nvPr/>
          </p:nvSpPr>
          <p:spPr>
            <a:xfrm>
              <a:off x="3683000" y="977900"/>
              <a:ext cx="12446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00621C"/>
                  </a:solidFill>
                  <a:latin typeface="Liberation Serif"/>
                </a:rPr>
                <a:t>clip at c + EMA</a:t>
              </a:r>
            </a:p>
          </p:txBody>
        </p:sp>
        <p:sp>
          <p:nvSpPr>
            <p:cNvPr id="249" name="feedback_label"/>
            <p:cNvSpPr txBox="1"/>
            <p:nvPr/>
          </p:nvSpPr>
          <p:spPr>
            <a:xfrm>
              <a:off x="3683000" y="1193800"/>
              <a:ext cx="12446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F45C1A"/>
                  </a:solidFill>
                  <a:latin typeface="Liberation Serif"/>
                </a:rPr>
                <a:t>observed-cost feedback</a:t>
              </a:r>
            </a:p>
          </p:txBody>
        </p:sp>
        <p:sp>
          <p:nvSpPr>
            <p:cNvPr id="250" name="update_label"/>
            <p:cNvSpPr txBox="1"/>
            <p:nvPr/>
          </p:nvSpPr>
          <p:spPr>
            <a:xfrm>
              <a:off x="3683000" y="2425700"/>
              <a:ext cx="711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101010"/>
                  </a:solidFill>
                  <a:latin typeface="Liberation Serif"/>
                </a:rPr>
                <a:t>PPO/TRPO</a:t>
              </a:r>
            </a:p>
          </p:txBody>
        </p:sp>
        <p:sp>
          <p:nvSpPr>
            <p:cNvPr id="251" name="update_pi"/>
            <p:cNvSpPr/>
            <p:nvPr/>
          </p:nvSpPr>
          <p:spPr>
            <a:xfrm>
              <a:off x="4406900" y="2501900"/>
              <a:ext cx="114300" cy="127"/>
            </a:xfrm>
            <a:custGeom>
              <a:avLst/>
              <a:gdLst/>
              <a:ahLst/>
              <a:cxnLst/>
              <a:rect l="0" t="0" r="r" b="b"/>
              <a:pathLst>
                <a:path w="114300" h="1" fill="none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8890">
              <a:solidFill>
                <a:srgbClr val="69727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52" name="dual_filter"/>
            <p:cNvGrpSpPr/>
            <p:nvPr/>
          </p:nvGrpSpPr>
          <p:grpSpPr>
            <a:xfrm>
              <a:off x="4030559" y="759701"/>
              <a:ext cx="526128" cy="157377"/>
              <a:chOff x="4030559" y="759701"/>
              <a:chExt cx="526128" cy="157377"/>
            </a:xfrm>
          </p:grpSpPr>
          <p:sp>
            <p:nvSpPr>
              <p:cNvPr id="253" name="dual_filter_outline_0"/>
              <p:cNvSpPr/>
              <p:nvPr/>
            </p:nvSpPr>
            <p:spPr>
              <a:xfrm>
                <a:off x="4030559" y="780634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2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dual_filter_outline_1"/>
              <p:cNvSpPr/>
              <p:nvPr/>
            </p:nvSpPr>
            <p:spPr>
              <a:xfrm>
                <a:off x="4104996" y="770882"/>
                <a:ext cx="36004" cy="40155"/>
              </a:xfrm>
              <a:custGeom>
                <a:avLst/>
                <a:gdLst/>
                <a:ahLst/>
                <a:cxnLst/>
                <a:rect l="0" t="0" r="r" b="b"/>
                <a:pathLst>
                  <a:path w="36005" h="40156">
                    <a:moveTo>
                      <a:pt x="36005" y="12037"/>
                    </a:moveTo>
                    <a:cubicBezTo>
                      <a:pt x="36005" y="10271"/>
                      <a:pt x="34552" y="8406"/>
                      <a:pt x="32683" y="8406"/>
                    </a:cubicBezTo>
                    <a:cubicBezTo>
                      <a:pt x="30297" y="8406"/>
                      <a:pt x="21788" y="16915"/>
                      <a:pt x="18780" y="18677"/>
                    </a:cubicBezTo>
                    <a:cubicBezTo>
                      <a:pt x="18780" y="12867"/>
                      <a:pt x="21685" y="7057"/>
                      <a:pt x="21685" y="3528"/>
                    </a:cubicBezTo>
                    <a:cubicBezTo>
                      <a:pt x="21685" y="1349"/>
                      <a:pt x="20233" y="0"/>
                      <a:pt x="18054" y="0"/>
                    </a:cubicBezTo>
                    <a:cubicBezTo>
                      <a:pt x="15978" y="0"/>
                      <a:pt x="14732" y="1453"/>
                      <a:pt x="14732" y="3528"/>
                    </a:cubicBezTo>
                    <a:cubicBezTo>
                      <a:pt x="14732" y="7576"/>
                      <a:pt x="17224" y="13073"/>
                      <a:pt x="17224" y="18677"/>
                    </a:cubicBezTo>
                    <a:cubicBezTo>
                      <a:pt x="13903" y="16705"/>
                      <a:pt x="5810" y="7989"/>
                      <a:pt x="3631" y="7989"/>
                    </a:cubicBezTo>
                    <a:cubicBezTo>
                      <a:pt x="1762" y="7989"/>
                      <a:pt x="103" y="9755"/>
                      <a:pt x="103" y="11620"/>
                    </a:cubicBezTo>
                    <a:cubicBezTo>
                      <a:pt x="103" y="15252"/>
                      <a:pt x="12347" y="17744"/>
                      <a:pt x="16395" y="20026"/>
                    </a:cubicBezTo>
                    <a:cubicBezTo>
                      <a:pt x="12037" y="22515"/>
                      <a:pt x="3941" y="23761"/>
                      <a:pt x="1869" y="25110"/>
                    </a:cubicBezTo>
                    <a:cubicBezTo>
                      <a:pt x="829" y="25837"/>
                      <a:pt x="0" y="26769"/>
                      <a:pt x="0" y="28119"/>
                    </a:cubicBezTo>
                    <a:cubicBezTo>
                      <a:pt x="0" y="29988"/>
                      <a:pt x="1453" y="31647"/>
                      <a:pt x="3322" y="31647"/>
                    </a:cubicBezTo>
                    <a:cubicBezTo>
                      <a:pt x="5707" y="31647"/>
                      <a:pt x="14113" y="23241"/>
                      <a:pt x="17224" y="21479"/>
                    </a:cubicBezTo>
                    <a:cubicBezTo>
                      <a:pt x="17224" y="27186"/>
                      <a:pt x="14319" y="32996"/>
                      <a:pt x="14319" y="36628"/>
                    </a:cubicBezTo>
                    <a:cubicBezTo>
                      <a:pt x="14319" y="38703"/>
                      <a:pt x="15875" y="40156"/>
                      <a:pt x="17951" y="40156"/>
                    </a:cubicBezTo>
                    <a:cubicBezTo>
                      <a:pt x="20026" y="40156"/>
                      <a:pt x="21273" y="38600"/>
                      <a:pt x="21273" y="36628"/>
                    </a:cubicBezTo>
                    <a:cubicBezTo>
                      <a:pt x="21273" y="32373"/>
                      <a:pt x="18883" y="26980"/>
                      <a:pt x="18883" y="21479"/>
                    </a:cubicBezTo>
                    <a:cubicBezTo>
                      <a:pt x="22102" y="23348"/>
                      <a:pt x="30297" y="32064"/>
                      <a:pt x="32373" y="32064"/>
                    </a:cubicBezTo>
                    <a:cubicBezTo>
                      <a:pt x="34242" y="32064"/>
                      <a:pt x="35901" y="30298"/>
                      <a:pt x="35901" y="28432"/>
                    </a:cubicBezTo>
                    <a:cubicBezTo>
                      <a:pt x="35901" y="27083"/>
                      <a:pt x="34969" y="26146"/>
                      <a:pt x="33929" y="25527"/>
                    </a:cubicBezTo>
                    <a:cubicBezTo>
                      <a:pt x="31230" y="23761"/>
                      <a:pt x="24070" y="22622"/>
                      <a:pt x="19610" y="20026"/>
                    </a:cubicBezTo>
                    <a:cubicBezTo>
                      <a:pt x="24487" y="17121"/>
                      <a:pt x="31127" y="16705"/>
                      <a:pt x="34135" y="14942"/>
                    </a:cubicBezTo>
                    <a:cubicBezTo>
                      <a:pt x="35278" y="14319"/>
                      <a:pt x="36005" y="13387"/>
                      <a:pt x="36005" y="12037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dual_filter_outline_2"/>
              <p:cNvSpPr/>
              <p:nvPr/>
            </p:nvSpPr>
            <p:spPr>
              <a:xfrm>
                <a:off x="4105708" y="845066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dual_filter_outline_3"/>
              <p:cNvSpPr/>
              <p:nvPr/>
            </p:nvSpPr>
            <p:spPr>
              <a:xfrm>
                <a:off x="4242015" y="805050"/>
                <a:ext cx="113859" cy="51867"/>
              </a:xfrm>
              <a:custGeom>
                <a:avLst/>
                <a:gdLst/>
                <a:ahLst/>
                <a:cxnLst/>
                <a:rect l="0" t="0" r="r" b="b"/>
                <a:pathLst>
                  <a:path w="113859" h="51868">
                    <a:moveTo>
                      <a:pt x="113859" y="25809"/>
                    </a:moveTo>
                    <a:lnTo>
                      <a:pt x="89063" y="0"/>
                    </a:lnTo>
                    <a:lnTo>
                      <a:pt x="85142" y="4175"/>
                    </a:lnTo>
                    <a:lnTo>
                      <a:pt x="100195" y="22392"/>
                    </a:lnTo>
                    <a:lnTo>
                      <a:pt x="0" y="22392"/>
                    </a:lnTo>
                    <a:lnTo>
                      <a:pt x="0" y="29476"/>
                    </a:lnTo>
                    <a:lnTo>
                      <a:pt x="100195" y="29476"/>
                    </a:lnTo>
                    <a:lnTo>
                      <a:pt x="85142" y="47696"/>
                    </a:lnTo>
                    <a:lnTo>
                      <a:pt x="89063" y="51868"/>
                    </a:lnTo>
                    <a:lnTo>
                      <a:pt x="113859" y="25809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dual_filter_outline_4"/>
              <p:cNvSpPr/>
              <p:nvPr/>
            </p:nvSpPr>
            <p:spPr>
              <a:xfrm>
                <a:off x="4453257" y="75970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dual_filter_outline_5"/>
              <p:cNvSpPr/>
              <p:nvPr/>
            </p:nvSpPr>
            <p:spPr>
              <a:xfrm>
                <a:off x="4430889" y="780634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2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7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dual_filter_outline_6"/>
              <p:cNvSpPr/>
              <p:nvPr/>
            </p:nvSpPr>
            <p:spPr>
              <a:xfrm>
                <a:off x="4505325" y="770882"/>
                <a:ext cx="36004" cy="40155"/>
              </a:xfrm>
              <a:custGeom>
                <a:avLst/>
                <a:gdLst/>
                <a:ahLst/>
                <a:cxnLst/>
                <a:rect l="0" t="0" r="r" b="b"/>
                <a:pathLst>
                  <a:path w="36005" h="40156">
                    <a:moveTo>
                      <a:pt x="36005" y="12037"/>
                    </a:moveTo>
                    <a:cubicBezTo>
                      <a:pt x="36005" y="10271"/>
                      <a:pt x="34552" y="8406"/>
                      <a:pt x="32683" y="8406"/>
                    </a:cubicBezTo>
                    <a:cubicBezTo>
                      <a:pt x="30297" y="8406"/>
                      <a:pt x="21788" y="16915"/>
                      <a:pt x="18780" y="18677"/>
                    </a:cubicBezTo>
                    <a:cubicBezTo>
                      <a:pt x="18780" y="12867"/>
                      <a:pt x="21685" y="7057"/>
                      <a:pt x="21685" y="3528"/>
                    </a:cubicBezTo>
                    <a:cubicBezTo>
                      <a:pt x="21685" y="1349"/>
                      <a:pt x="20233" y="0"/>
                      <a:pt x="18054" y="0"/>
                    </a:cubicBezTo>
                    <a:cubicBezTo>
                      <a:pt x="15978" y="0"/>
                      <a:pt x="14732" y="1453"/>
                      <a:pt x="14732" y="3528"/>
                    </a:cubicBezTo>
                    <a:cubicBezTo>
                      <a:pt x="14732" y="7576"/>
                      <a:pt x="17224" y="13073"/>
                      <a:pt x="17224" y="18677"/>
                    </a:cubicBezTo>
                    <a:cubicBezTo>
                      <a:pt x="13903" y="16705"/>
                      <a:pt x="5810" y="7989"/>
                      <a:pt x="3631" y="7989"/>
                    </a:cubicBezTo>
                    <a:cubicBezTo>
                      <a:pt x="1762" y="7989"/>
                      <a:pt x="103" y="9755"/>
                      <a:pt x="103" y="11620"/>
                    </a:cubicBezTo>
                    <a:cubicBezTo>
                      <a:pt x="103" y="15252"/>
                      <a:pt x="12347" y="17744"/>
                      <a:pt x="16395" y="20026"/>
                    </a:cubicBezTo>
                    <a:cubicBezTo>
                      <a:pt x="12037" y="22515"/>
                      <a:pt x="3941" y="23761"/>
                      <a:pt x="1869" y="25110"/>
                    </a:cubicBezTo>
                    <a:cubicBezTo>
                      <a:pt x="829" y="25837"/>
                      <a:pt x="0" y="26769"/>
                      <a:pt x="0" y="28119"/>
                    </a:cubicBezTo>
                    <a:cubicBezTo>
                      <a:pt x="0" y="29988"/>
                      <a:pt x="1453" y="31647"/>
                      <a:pt x="3322" y="31647"/>
                    </a:cubicBezTo>
                    <a:cubicBezTo>
                      <a:pt x="5707" y="31647"/>
                      <a:pt x="14113" y="23241"/>
                      <a:pt x="17224" y="21479"/>
                    </a:cubicBezTo>
                    <a:cubicBezTo>
                      <a:pt x="17224" y="27186"/>
                      <a:pt x="14319" y="32996"/>
                      <a:pt x="14319" y="36628"/>
                    </a:cubicBezTo>
                    <a:cubicBezTo>
                      <a:pt x="14319" y="38703"/>
                      <a:pt x="15875" y="40156"/>
                      <a:pt x="17951" y="40156"/>
                    </a:cubicBezTo>
                    <a:cubicBezTo>
                      <a:pt x="20026" y="40156"/>
                      <a:pt x="21273" y="38600"/>
                      <a:pt x="21273" y="36628"/>
                    </a:cubicBezTo>
                    <a:cubicBezTo>
                      <a:pt x="21273" y="32373"/>
                      <a:pt x="18883" y="26980"/>
                      <a:pt x="18883" y="21479"/>
                    </a:cubicBezTo>
                    <a:cubicBezTo>
                      <a:pt x="22102" y="23348"/>
                      <a:pt x="30297" y="32064"/>
                      <a:pt x="32373" y="32064"/>
                    </a:cubicBezTo>
                    <a:cubicBezTo>
                      <a:pt x="34242" y="32064"/>
                      <a:pt x="35901" y="30298"/>
                      <a:pt x="35901" y="28432"/>
                    </a:cubicBezTo>
                    <a:cubicBezTo>
                      <a:pt x="35901" y="27083"/>
                      <a:pt x="34969" y="26146"/>
                      <a:pt x="33929" y="25527"/>
                    </a:cubicBezTo>
                    <a:cubicBezTo>
                      <a:pt x="31230" y="23761"/>
                      <a:pt x="24070" y="22622"/>
                      <a:pt x="19610" y="20026"/>
                    </a:cubicBezTo>
                    <a:cubicBezTo>
                      <a:pt x="24487" y="17121"/>
                      <a:pt x="31127" y="16705"/>
                      <a:pt x="34135" y="14942"/>
                    </a:cubicBezTo>
                    <a:cubicBezTo>
                      <a:pt x="35278" y="14319"/>
                      <a:pt x="36005" y="13387"/>
                      <a:pt x="36005" y="12037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dual_filter_outline_7"/>
              <p:cNvSpPr/>
              <p:nvPr/>
            </p:nvSpPr>
            <p:spPr>
              <a:xfrm>
                <a:off x="4506050" y="845066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1" name="feedback"/>
            <p:cNvGrpSpPr/>
            <p:nvPr/>
          </p:nvGrpSpPr>
          <p:grpSpPr>
            <a:xfrm>
              <a:off x="3646917" y="1469805"/>
              <a:ext cx="1297131" cy="121459"/>
              <a:chOff x="3646917" y="1469805"/>
              <a:chExt cx="1297131" cy="121459"/>
            </a:xfrm>
          </p:grpSpPr>
          <p:sp>
            <p:nvSpPr>
              <p:cNvPr id="262" name="feedback_outline_0"/>
              <p:cNvSpPr/>
              <p:nvPr/>
            </p:nvSpPr>
            <p:spPr>
              <a:xfrm>
                <a:off x="3646917" y="1487612"/>
                <a:ext cx="72902" cy="92686"/>
              </a:xfrm>
              <a:custGeom>
                <a:avLst/>
                <a:gdLst/>
                <a:ahLst/>
                <a:cxnLst/>
                <a:rect l="0" t="0" r="r" b="b"/>
                <a:pathLst>
                  <a:path w="72902" h="92686">
                    <a:moveTo>
                      <a:pt x="72902" y="12367"/>
                    </a:moveTo>
                    <a:cubicBezTo>
                      <a:pt x="72902" y="3869"/>
                      <a:pt x="64838" y="0"/>
                      <a:pt x="54300" y="0"/>
                    </a:cubicBezTo>
                    <a:cubicBezTo>
                      <a:pt x="40862" y="0"/>
                      <a:pt x="27849" y="7636"/>
                      <a:pt x="24301" y="18494"/>
                    </a:cubicBezTo>
                    <a:lnTo>
                      <a:pt x="7529" y="78494"/>
                    </a:lnTo>
                    <a:cubicBezTo>
                      <a:pt x="5592" y="85269"/>
                      <a:pt x="1183" y="91289"/>
                      <a:pt x="0" y="92686"/>
                    </a:cubicBezTo>
                    <a:lnTo>
                      <a:pt x="11184" y="92686"/>
                    </a:lnTo>
                    <a:cubicBezTo>
                      <a:pt x="11291" y="92686"/>
                      <a:pt x="13228" y="91829"/>
                      <a:pt x="17312" y="78387"/>
                    </a:cubicBezTo>
                    <a:lnTo>
                      <a:pt x="21185" y="64516"/>
                    </a:lnTo>
                    <a:lnTo>
                      <a:pt x="21292" y="64516"/>
                    </a:lnTo>
                    <a:cubicBezTo>
                      <a:pt x="21292" y="64623"/>
                      <a:pt x="25269" y="72259"/>
                      <a:pt x="37207" y="72259"/>
                    </a:cubicBezTo>
                    <a:cubicBezTo>
                      <a:pt x="54947" y="72259"/>
                      <a:pt x="67096" y="60214"/>
                      <a:pt x="67096" y="47847"/>
                    </a:cubicBezTo>
                    <a:cubicBezTo>
                      <a:pt x="67096" y="34409"/>
                      <a:pt x="51614" y="32365"/>
                      <a:pt x="51506" y="32365"/>
                    </a:cubicBezTo>
                    <a:lnTo>
                      <a:pt x="51506" y="31936"/>
                    </a:lnTo>
                    <a:cubicBezTo>
                      <a:pt x="51614" y="31936"/>
                      <a:pt x="72902" y="28063"/>
                      <a:pt x="72902" y="12367"/>
                    </a:cubicBezTo>
                    <a:close/>
                    <a:moveTo>
                      <a:pt x="62258" y="12152"/>
                    </a:moveTo>
                    <a:cubicBezTo>
                      <a:pt x="62258" y="17097"/>
                      <a:pt x="59031" y="29246"/>
                      <a:pt x="49248" y="29246"/>
                    </a:cubicBezTo>
                    <a:cubicBezTo>
                      <a:pt x="46669" y="29246"/>
                      <a:pt x="44518" y="28817"/>
                      <a:pt x="42581" y="28817"/>
                    </a:cubicBezTo>
                    <a:cubicBezTo>
                      <a:pt x="39247" y="28817"/>
                      <a:pt x="36989" y="31290"/>
                      <a:pt x="36989" y="33226"/>
                    </a:cubicBezTo>
                    <a:cubicBezTo>
                      <a:pt x="36989" y="34409"/>
                      <a:pt x="37957" y="35377"/>
                      <a:pt x="40108" y="35377"/>
                    </a:cubicBezTo>
                    <a:cubicBezTo>
                      <a:pt x="43442" y="35377"/>
                      <a:pt x="44303" y="34838"/>
                      <a:pt x="46990" y="34838"/>
                    </a:cubicBezTo>
                    <a:cubicBezTo>
                      <a:pt x="52903" y="34838"/>
                      <a:pt x="55590" y="40644"/>
                      <a:pt x="55590" y="46664"/>
                    </a:cubicBezTo>
                    <a:cubicBezTo>
                      <a:pt x="55590" y="57420"/>
                      <a:pt x="48709" y="67310"/>
                      <a:pt x="36453" y="67310"/>
                    </a:cubicBezTo>
                    <a:cubicBezTo>
                      <a:pt x="28710" y="67310"/>
                      <a:pt x="23765" y="63548"/>
                      <a:pt x="23765" y="57313"/>
                    </a:cubicBezTo>
                    <a:cubicBezTo>
                      <a:pt x="23765" y="56023"/>
                      <a:pt x="23979" y="54622"/>
                      <a:pt x="24408" y="53118"/>
                    </a:cubicBezTo>
                    <a:lnTo>
                      <a:pt x="33980" y="18601"/>
                    </a:lnTo>
                    <a:cubicBezTo>
                      <a:pt x="36131" y="11612"/>
                      <a:pt x="41831" y="3012"/>
                      <a:pt x="52796" y="3012"/>
                    </a:cubicBezTo>
                    <a:cubicBezTo>
                      <a:pt x="59678" y="3012"/>
                      <a:pt x="62258" y="7203"/>
                      <a:pt x="62258" y="12152"/>
                    </a:cubicBez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feedback_outline_1"/>
              <p:cNvSpPr/>
              <p:nvPr/>
            </p:nvSpPr>
            <p:spPr>
              <a:xfrm>
                <a:off x="3725191" y="15192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feedback_outline_2"/>
              <p:cNvSpPr/>
              <p:nvPr/>
            </p:nvSpPr>
            <p:spPr>
              <a:xfrm>
                <a:off x="3823417" y="1508365"/>
                <a:ext cx="96773" cy="44084"/>
              </a:xfrm>
              <a:custGeom>
                <a:avLst/>
                <a:gdLst/>
                <a:ahLst/>
                <a:cxnLst/>
                <a:rect l="0" t="0" r="r" b="b"/>
                <a:pathLst>
                  <a:path w="96774" h="44085">
                    <a:moveTo>
                      <a:pt x="96774" y="25055"/>
                    </a:moveTo>
                    <a:lnTo>
                      <a:pt x="96774" y="19030"/>
                    </a:lnTo>
                    <a:lnTo>
                      <a:pt x="11613" y="19030"/>
                    </a:lnTo>
                    <a:lnTo>
                      <a:pt x="24408" y="3548"/>
                    </a:lnTo>
                    <a:lnTo>
                      <a:pt x="21074" y="0"/>
                    </a:lnTo>
                    <a:lnTo>
                      <a:pt x="0" y="22150"/>
                    </a:lnTo>
                    <a:lnTo>
                      <a:pt x="21074" y="44085"/>
                    </a:lnTo>
                    <a:lnTo>
                      <a:pt x="24408" y="40537"/>
                    </a:lnTo>
                    <a:lnTo>
                      <a:pt x="11613" y="25055"/>
                    </a:lnTo>
                    <a:lnTo>
                      <a:pt x="96774" y="25055"/>
                    </a:ln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feedback_outline_3"/>
              <p:cNvSpPr/>
              <p:nvPr/>
            </p:nvSpPr>
            <p:spPr>
              <a:xfrm>
                <a:off x="3972646" y="1482020"/>
                <a:ext cx="22688" cy="96773"/>
              </a:xfrm>
              <a:custGeom>
                <a:avLst/>
                <a:gdLst/>
                <a:ahLst/>
                <a:cxnLst/>
                <a:rect l="0" t="0" r="r" b="b"/>
                <a:pathLst>
                  <a:path w="22689" h="96774">
                    <a:moveTo>
                      <a:pt x="22689" y="94087"/>
                    </a:moveTo>
                    <a:lnTo>
                      <a:pt x="13442" y="94087"/>
                    </a:lnTo>
                    <a:cubicBezTo>
                      <a:pt x="9893" y="94087"/>
                      <a:pt x="8171" y="92258"/>
                      <a:pt x="8171" y="88495"/>
                    </a:cubicBezTo>
                    <a:lnTo>
                      <a:pt x="8171" y="7422"/>
                    </a:lnTo>
                    <a:cubicBezTo>
                      <a:pt x="8171" y="4088"/>
                      <a:pt x="9568" y="2691"/>
                      <a:pt x="13009" y="2691"/>
                    </a:cubicBezTo>
                    <a:lnTo>
                      <a:pt x="22689" y="2691"/>
                    </a:lnTo>
                    <a:lnTo>
                      <a:pt x="22689" y="0"/>
                    </a:lnTo>
                    <a:lnTo>
                      <a:pt x="0" y="0"/>
                    </a:lnTo>
                    <a:lnTo>
                      <a:pt x="0" y="96774"/>
                    </a:lnTo>
                    <a:lnTo>
                      <a:pt x="22689" y="96774"/>
                    </a:lnTo>
                    <a:lnTo>
                      <a:pt x="22689" y="94087"/>
                    </a:ln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feedback_outline_4"/>
              <p:cNvSpPr/>
              <p:nvPr/>
            </p:nvSpPr>
            <p:spPr>
              <a:xfrm>
                <a:off x="3998580" y="1487612"/>
                <a:ext cx="72902" cy="92686"/>
              </a:xfrm>
              <a:custGeom>
                <a:avLst/>
                <a:gdLst/>
                <a:ahLst/>
                <a:cxnLst/>
                <a:rect l="0" t="0" r="r" b="b"/>
                <a:pathLst>
                  <a:path w="72902" h="92686">
                    <a:moveTo>
                      <a:pt x="72902" y="12367"/>
                    </a:moveTo>
                    <a:cubicBezTo>
                      <a:pt x="72902" y="3869"/>
                      <a:pt x="64838" y="0"/>
                      <a:pt x="54300" y="0"/>
                    </a:cubicBezTo>
                    <a:cubicBezTo>
                      <a:pt x="40862" y="0"/>
                      <a:pt x="27849" y="7636"/>
                      <a:pt x="24301" y="18494"/>
                    </a:cubicBezTo>
                    <a:lnTo>
                      <a:pt x="7529" y="78494"/>
                    </a:lnTo>
                    <a:cubicBezTo>
                      <a:pt x="5592" y="85269"/>
                      <a:pt x="1183" y="91289"/>
                      <a:pt x="0" y="92686"/>
                    </a:cubicBezTo>
                    <a:lnTo>
                      <a:pt x="11184" y="92686"/>
                    </a:lnTo>
                    <a:cubicBezTo>
                      <a:pt x="11291" y="92686"/>
                      <a:pt x="13228" y="91829"/>
                      <a:pt x="17312" y="78387"/>
                    </a:cubicBezTo>
                    <a:lnTo>
                      <a:pt x="21185" y="64516"/>
                    </a:lnTo>
                    <a:lnTo>
                      <a:pt x="21292" y="64516"/>
                    </a:lnTo>
                    <a:cubicBezTo>
                      <a:pt x="21292" y="64623"/>
                      <a:pt x="25269" y="72259"/>
                      <a:pt x="37207" y="72259"/>
                    </a:cubicBezTo>
                    <a:cubicBezTo>
                      <a:pt x="54947" y="72259"/>
                      <a:pt x="67096" y="60214"/>
                      <a:pt x="67096" y="47847"/>
                    </a:cubicBezTo>
                    <a:cubicBezTo>
                      <a:pt x="67096" y="34409"/>
                      <a:pt x="51614" y="32365"/>
                      <a:pt x="51506" y="32365"/>
                    </a:cubicBezTo>
                    <a:lnTo>
                      <a:pt x="51506" y="31936"/>
                    </a:lnTo>
                    <a:cubicBezTo>
                      <a:pt x="51614" y="31936"/>
                      <a:pt x="72902" y="28063"/>
                      <a:pt x="72902" y="12367"/>
                    </a:cubicBezTo>
                    <a:close/>
                    <a:moveTo>
                      <a:pt x="62258" y="12152"/>
                    </a:moveTo>
                    <a:cubicBezTo>
                      <a:pt x="62258" y="17097"/>
                      <a:pt x="59031" y="29246"/>
                      <a:pt x="49248" y="29246"/>
                    </a:cubicBezTo>
                    <a:cubicBezTo>
                      <a:pt x="46669" y="29246"/>
                      <a:pt x="44518" y="28817"/>
                      <a:pt x="42581" y="28817"/>
                    </a:cubicBezTo>
                    <a:cubicBezTo>
                      <a:pt x="39247" y="28817"/>
                      <a:pt x="36989" y="31290"/>
                      <a:pt x="36989" y="33226"/>
                    </a:cubicBezTo>
                    <a:cubicBezTo>
                      <a:pt x="36989" y="34409"/>
                      <a:pt x="37957" y="35377"/>
                      <a:pt x="40108" y="35377"/>
                    </a:cubicBezTo>
                    <a:cubicBezTo>
                      <a:pt x="43442" y="35377"/>
                      <a:pt x="44303" y="34838"/>
                      <a:pt x="46990" y="34838"/>
                    </a:cubicBezTo>
                    <a:cubicBezTo>
                      <a:pt x="52903" y="34838"/>
                      <a:pt x="55590" y="40644"/>
                      <a:pt x="55590" y="46664"/>
                    </a:cubicBezTo>
                    <a:cubicBezTo>
                      <a:pt x="55590" y="57420"/>
                      <a:pt x="48709" y="67310"/>
                      <a:pt x="36453" y="67310"/>
                    </a:cubicBezTo>
                    <a:cubicBezTo>
                      <a:pt x="28710" y="67310"/>
                      <a:pt x="23765" y="63548"/>
                      <a:pt x="23765" y="57313"/>
                    </a:cubicBezTo>
                    <a:cubicBezTo>
                      <a:pt x="23765" y="56023"/>
                      <a:pt x="23979" y="54622"/>
                      <a:pt x="24408" y="53118"/>
                    </a:cubicBezTo>
                    <a:lnTo>
                      <a:pt x="33980" y="18601"/>
                    </a:lnTo>
                    <a:cubicBezTo>
                      <a:pt x="36131" y="11612"/>
                      <a:pt x="41831" y="3012"/>
                      <a:pt x="52796" y="3012"/>
                    </a:cubicBezTo>
                    <a:cubicBezTo>
                      <a:pt x="59678" y="3012"/>
                      <a:pt x="62258" y="7203"/>
                      <a:pt x="62258" y="12152"/>
                    </a:cubicBez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feedback_outline_5"/>
              <p:cNvSpPr/>
              <p:nvPr/>
            </p:nvSpPr>
            <p:spPr>
              <a:xfrm>
                <a:off x="4076853" y="15192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feedback_outline_6"/>
              <p:cNvSpPr/>
              <p:nvPr/>
            </p:nvSpPr>
            <p:spPr>
              <a:xfrm>
                <a:off x="4169099" y="1502773"/>
                <a:ext cx="55050" cy="55268"/>
              </a:xfrm>
              <a:custGeom>
                <a:avLst/>
                <a:gdLst/>
                <a:ahLst/>
                <a:cxnLst/>
                <a:rect l="0" t="0" r="r" b="b"/>
                <a:pathLst>
                  <a:path w="55050" h="55269">
                    <a:moveTo>
                      <a:pt x="23979" y="24086"/>
                    </a:moveTo>
                    <a:lnTo>
                      <a:pt x="0" y="24086"/>
                    </a:lnTo>
                    <a:lnTo>
                      <a:pt x="0" y="31182"/>
                    </a:lnTo>
                    <a:lnTo>
                      <a:pt x="23979" y="31182"/>
                    </a:lnTo>
                    <a:lnTo>
                      <a:pt x="23979" y="55269"/>
                    </a:lnTo>
                    <a:lnTo>
                      <a:pt x="31075" y="55269"/>
                    </a:lnTo>
                    <a:lnTo>
                      <a:pt x="31075" y="31182"/>
                    </a:lnTo>
                    <a:lnTo>
                      <a:pt x="55050" y="31182"/>
                    </a:lnTo>
                    <a:lnTo>
                      <a:pt x="55050" y="24086"/>
                    </a:lnTo>
                    <a:lnTo>
                      <a:pt x="31075" y="24086"/>
                    </a:lnTo>
                    <a:lnTo>
                      <a:pt x="31075" y="0"/>
                    </a:lnTo>
                    <a:lnTo>
                      <a:pt x="23979" y="0"/>
                    </a:lnTo>
                    <a:lnTo>
                      <a:pt x="23979" y="24086"/>
                    </a:ln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feedback_outline_7"/>
              <p:cNvSpPr/>
              <p:nvPr/>
            </p:nvSpPr>
            <p:spPr>
              <a:xfrm>
                <a:off x="4266673" y="1510623"/>
                <a:ext cx="67742" cy="48601"/>
              </a:xfrm>
              <a:custGeom>
                <a:avLst/>
                <a:gdLst/>
                <a:ahLst/>
                <a:cxnLst/>
                <a:rect l="0" t="0" r="r" b="b"/>
                <a:pathLst>
                  <a:path w="67743" h="48601">
                    <a:moveTo>
                      <a:pt x="67743" y="3227"/>
                    </a:moveTo>
                    <a:lnTo>
                      <a:pt x="59785" y="4302"/>
                    </a:lnTo>
                    <a:cubicBezTo>
                      <a:pt x="56666" y="12581"/>
                      <a:pt x="47419" y="25269"/>
                      <a:pt x="47419" y="25376"/>
                    </a:cubicBezTo>
                    <a:lnTo>
                      <a:pt x="47312" y="25376"/>
                    </a:lnTo>
                    <a:cubicBezTo>
                      <a:pt x="47312" y="25269"/>
                      <a:pt x="50109" y="20646"/>
                      <a:pt x="50109" y="14946"/>
                    </a:cubicBezTo>
                    <a:cubicBezTo>
                      <a:pt x="50109" y="7850"/>
                      <a:pt x="47204" y="0"/>
                      <a:pt x="33873" y="0"/>
                    </a:cubicBezTo>
                    <a:cubicBezTo>
                      <a:pt x="12906" y="0"/>
                      <a:pt x="0" y="19030"/>
                      <a:pt x="0" y="32044"/>
                    </a:cubicBezTo>
                    <a:cubicBezTo>
                      <a:pt x="0" y="41184"/>
                      <a:pt x="5271" y="48601"/>
                      <a:pt x="17959" y="48601"/>
                    </a:cubicBezTo>
                    <a:cubicBezTo>
                      <a:pt x="27527" y="48601"/>
                      <a:pt x="34842" y="42041"/>
                      <a:pt x="34842" y="41934"/>
                    </a:cubicBezTo>
                    <a:lnTo>
                      <a:pt x="34949" y="41934"/>
                    </a:lnTo>
                    <a:cubicBezTo>
                      <a:pt x="34949" y="42795"/>
                      <a:pt x="35163" y="48387"/>
                      <a:pt x="44196" y="48387"/>
                    </a:cubicBezTo>
                    <a:cubicBezTo>
                      <a:pt x="53979" y="48387"/>
                      <a:pt x="59785" y="38707"/>
                      <a:pt x="59785" y="36235"/>
                    </a:cubicBezTo>
                    <a:cubicBezTo>
                      <a:pt x="59785" y="35913"/>
                      <a:pt x="59571" y="35699"/>
                      <a:pt x="59357" y="35699"/>
                    </a:cubicBezTo>
                    <a:cubicBezTo>
                      <a:pt x="57848" y="35699"/>
                      <a:pt x="55162" y="44514"/>
                      <a:pt x="48494" y="44514"/>
                    </a:cubicBezTo>
                    <a:cubicBezTo>
                      <a:pt x="45915" y="44514"/>
                      <a:pt x="45272" y="41827"/>
                      <a:pt x="45272" y="39033"/>
                    </a:cubicBezTo>
                    <a:cubicBezTo>
                      <a:pt x="45272" y="36667"/>
                      <a:pt x="45593" y="34195"/>
                      <a:pt x="46022" y="33119"/>
                    </a:cubicBezTo>
                    <a:cubicBezTo>
                      <a:pt x="47637" y="31075"/>
                      <a:pt x="67743" y="3334"/>
                      <a:pt x="67743" y="3227"/>
                    </a:cubicBezTo>
                    <a:close/>
                    <a:moveTo>
                      <a:pt x="40215" y="15700"/>
                    </a:moveTo>
                    <a:cubicBezTo>
                      <a:pt x="40215" y="25912"/>
                      <a:pt x="35163" y="37636"/>
                      <a:pt x="35163" y="37743"/>
                    </a:cubicBezTo>
                    <a:cubicBezTo>
                      <a:pt x="35163" y="37850"/>
                      <a:pt x="29357" y="45914"/>
                      <a:pt x="20645" y="45914"/>
                    </a:cubicBezTo>
                    <a:cubicBezTo>
                      <a:pt x="18173" y="45914"/>
                      <a:pt x="11938" y="45160"/>
                      <a:pt x="11938" y="31397"/>
                    </a:cubicBezTo>
                    <a:cubicBezTo>
                      <a:pt x="11938" y="25912"/>
                      <a:pt x="14839" y="2687"/>
                      <a:pt x="31401" y="2687"/>
                    </a:cubicBezTo>
                    <a:cubicBezTo>
                      <a:pt x="39465" y="2687"/>
                      <a:pt x="40215" y="11827"/>
                      <a:pt x="40215" y="15700"/>
                    </a:cubicBez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feedback_outline_8"/>
              <p:cNvSpPr/>
              <p:nvPr/>
            </p:nvSpPr>
            <p:spPr>
              <a:xfrm>
                <a:off x="4350711" y="1480944"/>
                <a:ext cx="27527" cy="98817"/>
              </a:xfrm>
              <a:custGeom>
                <a:avLst/>
                <a:gdLst/>
                <a:ahLst/>
                <a:cxnLst/>
                <a:rect l="0" t="0" r="r" b="b"/>
                <a:pathLst>
                  <a:path w="27527" h="98818">
                    <a:moveTo>
                      <a:pt x="26559" y="0"/>
                    </a:moveTo>
                    <a:cubicBezTo>
                      <a:pt x="10970" y="10108"/>
                      <a:pt x="0" y="27527"/>
                      <a:pt x="0" y="49462"/>
                    </a:cubicBezTo>
                    <a:cubicBezTo>
                      <a:pt x="0" y="69461"/>
                      <a:pt x="11398" y="89678"/>
                      <a:pt x="26237" y="98818"/>
                    </a:cubicBezTo>
                    <a:lnTo>
                      <a:pt x="27527" y="97095"/>
                    </a:lnTo>
                    <a:cubicBezTo>
                      <a:pt x="13335" y="85915"/>
                      <a:pt x="9247" y="72902"/>
                      <a:pt x="9247" y="49141"/>
                    </a:cubicBezTo>
                    <a:cubicBezTo>
                      <a:pt x="9247" y="25269"/>
                      <a:pt x="13656" y="12902"/>
                      <a:pt x="27527" y="1722"/>
                    </a:cubicBezTo>
                    <a:lnTo>
                      <a:pt x="26559" y="0"/>
                    </a:ln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feedback_outline_9"/>
              <p:cNvSpPr/>
              <p:nvPr/>
            </p:nvSpPr>
            <p:spPr>
              <a:xfrm>
                <a:off x="4421538" y="1469805"/>
                <a:ext cx="33440" cy="5806"/>
              </a:xfrm>
              <a:custGeom>
                <a:avLst/>
                <a:gdLst/>
                <a:ahLst/>
                <a:cxnLst/>
                <a:rect l="0" t="0" r="r" b="b"/>
                <a:pathLst>
                  <a:path w="33441" h="5806">
                    <a:moveTo>
                      <a:pt x="33441" y="5806"/>
                    </a:moveTo>
                    <a:lnTo>
                      <a:pt x="33441" y="0"/>
                    </a:lnTo>
                    <a:lnTo>
                      <a:pt x="0" y="0"/>
                    </a:lnTo>
                    <a:lnTo>
                      <a:pt x="0" y="5806"/>
                    </a:lnTo>
                    <a:lnTo>
                      <a:pt x="33441" y="5806"/>
                    </a:ln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feedback_outline_10"/>
              <p:cNvSpPr/>
              <p:nvPr/>
            </p:nvSpPr>
            <p:spPr>
              <a:xfrm>
                <a:off x="4392338" y="1487826"/>
                <a:ext cx="59253" cy="72151"/>
              </a:xfrm>
              <a:custGeom>
                <a:avLst/>
                <a:gdLst/>
                <a:ahLst/>
                <a:cxnLst/>
                <a:rect l="0" t="0" r="r" b="b"/>
                <a:pathLst>
                  <a:path w="59254" h="72152">
                    <a:moveTo>
                      <a:pt x="59254" y="1723"/>
                    </a:moveTo>
                    <a:lnTo>
                      <a:pt x="59254" y="0"/>
                    </a:lnTo>
                    <a:lnTo>
                      <a:pt x="27960" y="0"/>
                    </a:lnTo>
                    <a:lnTo>
                      <a:pt x="27960" y="1723"/>
                    </a:lnTo>
                    <a:cubicBezTo>
                      <a:pt x="35703" y="2365"/>
                      <a:pt x="37532" y="3227"/>
                      <a:pt x="37640" y="6132"/>
                    </a:cubicBezTo>
                    <a:cubicBezTo>
                      <a:pt x="37640" y="7743"/>
                      <a:pt x="37318" y="9894"/>
                      <a:pt x="36350" y="13010"/>
                    </a:cubicBezTo>
                    <a:lnTo>
                      <a:pt x="21403" y="63012"/>
                    </a:lnTo>
                    <a:cubicBezTo>
                      <a:pt x="20328" y="67203"/>
                      <a:pt x="18713" y="68818"/>
                      <a:pt x="15919" y="68818"/>
                    </a:cubicBezTo>
                    <a:cubicBezTo>
                      <a:pt x="13125" y="68818"/>
                      <a:pt x="11617" y="67528"/>
                      <a:pt x="11509" y="64516"/>
                    </a:cubicBezTo>
                    <a:cubicBezTo>
                      <a:pt x="11509" y="63980"/>
                      <a:pt x="11724" y="63440"/>
                      <a:pt x="11831" y="62905"/>
                    </a:cubicBezTo>
                    <a:lnTo>
                      <a:pt x="11724" y="61936"/>
                    </a:lnTo>
                    <a:cubicBezTo>
                      <a:pt x="11724" y="59249"/>
                      <a:pt x="8608" y="56880"/>
                      <a:pt x="5275" y="56880"/>
                    </a:cubicBezTo>
                    <a:cubicBezTo>
                      <a:pt x="1941" y="56880"/>
                      <a:pt x="-103" y="59249"/>
                      <a:pt x="4" y="62686"/>
                    </a:cubicBezTo>
                    <a:cubicBezTo>
                      <a:pt x="111" y="68386"/>
                      <a:pt x="5917" y="72152"/>
                      <a:pt x="14522" y="72152"/>
                    </a:cubicBezTo>
                    <a:cubicBezTo>
                      <a:pt x="20649" y="72152"/>
                      <a:pt x="26134" y="70001"/>
                      <a:pt x="29790" y="66020"/>
                    </a:cubicBezTo>
                    <a:cubicBezTo>
                      <a:pt x="33016" y="62579"/>
                      <a:pt x="35274" y="57741"/>
                      <a:pt x="37425" y="49570"/>
                    </a:cubicBezTo>
                    <a:lnTo>
                      <a:pt x="49467" y="9680"/>
                    </a:lnTo>
                    <a:cubicBezTo>
                      <a:pt x="51403" y="3227"/>
                      <a:pt x="52372" y="2580"/>
                      <a:pt x="59254" y="1723"/>
                    </a:cubicBez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feedback_outline_11"/>
              <p:cNvSpPr/>
              <p:nvPr/>
            </p:nvSpPr>
            <p:spPr>
              <a:xfrm>
                <a:off x="4451148" y="15192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feedback_outline_12"/>
              <p:cNvSpPr/>
              <p:nvPr/>
            </p:nvSpPr>
            <p:spPr>
              <a:xfrm>
                <a:off x="4547698" y="1527395"/>
                <a:ext cx="55050" cy="6024"/>
              </a:xfrm>
              <a:custGeom>
                <a:avLst/>
                <a:gdLst/>
                <a:ahLst/>
                <a:cxnLst/>
                <a:rect l="0" t="0" r="r" b="b"/>
                <a:pathLst>
                  <a:path w="55051" h="6024">
                    <a:moveTo>
                      <a:pt x="55051" y="6024"/>
                    </a:moveTo>
                    <a:lnTo>
                      <a:pt x="55051" y="0"/>
                    </a:lnTo>
                    <a:lnTo>
                      <a:pt x="0" y="0"/>
                    </a:lnTo>
                    <a:lnTo>
                      <a:pt x="0" y="6024"/>
                    </a:lnTo>
                    <a:lnTo>
                      <a:pt x="55051" y="6024"/>
                    </a:ln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feedback_outline_13"/>
              <p:cNvSpPr/>
              <p:nvPr/>
            </p:nvSpPr>
            <p:spPr>
              <a:xfrm>
                <a:off x="4641829" y="1487826"/>
                <a:ext cx="71509" cy="70215"/>
              </a:xfrm>
              <a:custGeom>
                <a:avLst/>
                <a:gdLst/>
                <a:ahLst/>
                <a:cxnLst/>
                <a:rect l="0" t="0" r="r" b="b"/>
                <a:pathLst>
                  <a:path w="71510" h="70215">
                    <a:moveTo>
                      <a:pt x="66449" y="48708"/>
                    </a:moveTo>
                    <a:cubicBezTo>
                      <a:pt x="66234" y="40862"/>
                      <a:pt x="62258" y="36882"/>
                      <a:pt x="50213" y="32472"/>
                    </a:cubicBezTo>
                    <a:cubicBezTo>
                      <a:pt x="59031" y="30647"/>
                      <a:pt x="62579" y="29357"/>
                      <a:pt x="66560" y="26345"/>
                    </a:cubicBezTo>
                    <a:cubicBezTo>
                      <a:pt x="69890" y="23765"/>
                      <a:pt x="71612" y="20217"/>
                      <a:pt x="71505" y="15808"/>
                    </a:cubicBezTo>
                    <a:cubicBezTo>
                      <a:pt x="71072" y="5592"/>
                      <a:pt x="62472" y="0"/>
                      <a:pt x="46990" y="0"/>
                    </a:cubicBezTo>
                    <a:lnTo>
                      <a:pt x="16022" y="0"/>
                    </a:lnTo>
                    <a:lnTo>
                      <a:pt x="16022" y="1723"/>
                    </a:lnTo>
                    <a:cubicBezTo>
                      <a:pt x="23765" y="2258"/>
                      <a:pt x="25698" y="3012"/>
                      <a:pt x="25805" y="6132"/>
                    </a:cubicBezTo>
                    <a:cubicBezTo>
                      <a:pt x="25805" y="7743"/>
                      <a:pt x="25269" y="10323"/>
                      <a:pt x="24622" y="13010"/>
                    </a:cubicBezTo>
                    <a:lnTo>
                      <a:pt x="9783" y="60539"/>
                    </a:lnTo>
                    <a:cubicBezTo>
                      <a:pt x="7850" y="66774"/>
                      <a:pt x="6882" y="67421"/>
                      <a:pt x="0" y="68497"/>
                    </a:cubicBezTo>
                    <a:lnTo>
                      <a:pt x="107" y="70215"/>
                    </a:lnTo>
                    <a:lnTo>
                      <a:pt x="34731" y="70215"/>
                    </a:lnTo>
                    <a:cubicBezTo>
                      <a:pt x="53872" y="70215"/>
                      <a:pt x="66881" y="61504"/>
                      <a:pt x="66449" y="48708"/>
                    </a:cubicBezTo>
                    <a:close/>
                    <a:moveTo>
                      <a:pt x="52903" y="48494"/>
                    </a:moveTo>
                    <a:cubicBezTo>
                      <a:pt x="53332" y="60107"/>
                      <a:pt x="44732" y="66989"/>
                      <a:pt x="29893" y="66989"/>
                    </a:cubicBezTo>
                    <a:cubicBezTo>
                      <a:pt x="24836" y="66989"/>
                      <a:pt x="22042" y="65484"/>
                      <a:pt x="22042" y="62472"/>
                    </a:cubicBezTo>
                    <a:cubicBezTo>
                      <a:pt x="21935" y="61075"/>
                      <a:pt x="23225" y="56237"/>
                      <a:pt x="25805" y="47633"/>
                    </a:cubicBezTo>
                    <a:lnTo>
                      <a:pt x="29785" y="34838"/>
                    </a:lnTo>
                    <a:cubicBezTo>
                      <a:pt x="37203" y="34838"/>
                      <a:pt x="42366" y="35270"/>
                      <a:pt x="44625" y="36132"/>
                    </a:cubicBezTo>
                    <a:cubicBezTo>
                      <a:pt x="49677" y="37850"/>
                      <a:pt x="52689" y="42581"/>
                      <a:pt x="52903" y="48494"/>
                    </a:cubicBezTo>
                    <a:close/>
                    <a:moveTo>
                      <a:pt x="58710" y="14839"/>
                    </a:moveTo>
                    <a:cubicBezTo>
                      <a:pt x="59138" y="25916"/>
                      <a:pt x="51395" y="31182"/>
                      <a:pt x="34945" y="31182"/>
                    </a:cubicBezTo>
                    <a:lnTo>
                      <a:pt x="30968" y="31182"/>
                    </a:lnTo>
                    <a:lnTo>
                      <a:pt x="38707" y="6239"/>
                    </a:lnTo>
                    <a:cubicBezTo>
                      <a:pt x="39247" y="3873"/>
                      <a:pt x="40751" y="3227"/>
                      <a:pt x="45160" y="3227"/>
                    </a:cubicBezTo>
                    <a:cubicBezTo>
                      <a:pt x="54408" y="3227"/>
                      <a:pt x="58495" y="6882"/>
                      <a:pt x="58710" y="14839"/>
                    </a:cubicBez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feedback_outline_14"/>
              <p:cNvSpPr/>
              <p:nvPr/>
            </p:nvSpPr>
            <p:spPr>
              <a:xfrm>
                <a:off x="4724287" y="15192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9" y="8822"/>
                      <a:pt x="15875" y="11517"/>
                      <a:pt x="14423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5" y="59873"/>
                      <a:pt x="26356" y="63504"/>
                    </a:cubicBezTo>
                    <a:cubicBezTo>
                      <a:pt x="30298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feedback_outline_15"/>
              <p:cNvSpPr/>
              <p:nvPr/>
            </p:nvSpPr>
            <p:spPr>
              <a:xfrm>
                <a:off x="4794467" y="1480944"/>
                <a:ext cx="27527" cy="98817"/>
              </a:xfrm>
              <a:custGeom>
                <a:avLst/>
                <a:gdLst/>
                <a:ahLst/>
                <a:cxnLst/>
                <a:rect l="0" t="0" r="r" b="b"/>
                <a:pathLst>
                  <a:path w="27527" h="98818">
                    <a:moveTo>
                      <a:pt x="968" y="0"/>
                    </a:moveTo>
                    <a:lnTo>
                      <a:pt x="0" y="1722"/>
                    </a:lnTo>
                    <a:cubicBezTo>
                      <a:pt x="13871" y="12902"/>
                      <a:pt x="18280" y="25269"/>
                      <a:pt x="18280" y="49141"/>
                    </a:cubicBezTo>
                    <a:cubicBezTo>
                      <a:pt x="18280" y="72902"/>
                      <a:pt x="14192" y="85915"/>
                      <a:pt x="0" y="97095"/>
                    </a:cubicBezTo>
                    <a:lnTo>
                      <a:pt x="1290" y="98818"/>
                    </a:lnTo>
                    <a:cubicBezTo>
                      <a:pt x="16129" y="89678"/>
                      <a:pt x="27527" y="69461"/>
                      <a:pt x="27527" y="49462"/>
                    </a:cubicBezTo>
                    <a:cubicBezTo>
                      <a:pt x="27527" y="27527"/>
                      <a:pt x="16558" y="10108"/>
                      <a:pt x="968" y="0"/>
                    </a:cubicBez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feedback_outline_16"/>
              <p:cNvSpPr/>
              <p:nvPr/>
            </p:nvSpPr>
            <p:spPr>
              <a:xfrm>
                <a:off x="4845827" y="1482020"/>
                <a:ext cx="22689" cy="96773"/>
              </a:xfrm>
              <a:custGeom>
                <a:avLst/>
                <a:gdLst/>
                <a:ahLst/>
                <a:cxnLst/>
                <a:rect l="0" t="0" r="r" b="b"/>
                <a:pathLst>
                  <a:path w="22689" h="96774">
                    <a:moveTo>
                      <a:pt x="0" y="94087"/>
                    </a:moveTo>
                    <a:lnTo>
                      <a:pt x="0" y="96774"/>
                    </a:lnTo>
                    <a:lnTo>
                      <a:pt x="22689" y="96774"/>
                    </a:lnTo>
                    <a:lnTo>
                      <a:pt x="22689" y="0"/>
                    </a:lnTo>
                    <a:lnTo>
                      <a:pt x="0" y="0"/>
                    </a:lnTo>
                    <a:lnTo>
                      <a:pt x="0" y="2691"/>
                    </a:lnTo>
                    <a:lnTo>
                      <a:pt x="9247" y="2691"/>
                    </a:lnTo>
                    <a:cubicBezTo>
                      <a:pt x="12795" y="2691"/>
                      <a:pt x="14518" y="4517"/>
                      <a:pt x="14518" y="8279"/>
                    </a:cubicBezTo>
                    <a:lnTo>
                      <a:pt x="14518" y="89356"/>
                    </a:lnTo>
                    <a:cubicBezTo>
                      <a:pt x="14518" y="92686"/>
                      <a:pt x="13010" y="94087"/>
                      <a:pt x="9680" y="94087"/>
                    </a:cubicBezTo>
                    <a:lnTo>
                      <a:pt x="0" y="94087"/>
                    </a:ln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" name="feedback_outline_17"/>
              <p:cNvSpPr/>
              <p:nvPr/>
            </p:nvSpPr>
            <p:spPr>
              <a:xfrm>
                <a:off x="4890923" y="1520839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F45C1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0" name="price_rule"/>
            <p:cNvGrpSpPr/>
            <p:nvPr/>
          </p:nvGrpSpPr>
          <p:grpSpPr>
            <a:xfrm>
              <a:off x="3954486" y="1756651"/>
              <a:ext cx="690974" cy="157377"/>
              <a:chOff x="3954486" y="1756651"/>
              <a:chExt cx="690974" cy="157377"/>
            </a:xfrm>
          </p:grpSpPr>
          <p:sp>
            <p:nvSpPr>
              <p:cNvPr id="281" name="price_rule_outline_0"/>
              <p:cNvSpPr/>
              <p:nvPr/>
            </p:nvSpPr>
            <p:spPr>
              <a:xfrm>
                <a:off x="3954486" y="1777584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2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price_rule_outline_1"/>
              <p:cNvSpPr/>
              <p:nvPr/>
            </p:nvSpPr>
            <p:spPr>
              <a:xfrm>
                <a:off x="4029635" y="181496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" name="price_rule_outline_2"/>
              <p:cNvSpPr/>
              <p:nvPr/>
            </p:nvSpPr>
            <p:spPr>
              <a:xfrm>
                <a:off x="4134306" y="1811616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price_rule_outline_3"/>
              <p:cNvSpPr/>
              <p:nvPr/>
            </p:nvSpPr>
            <p:spPr>
              <a:xfrm>
                <a:off x="4264827" y="175665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" name="price_rule_outline_4"/>
              <p:cNvSpPr/>
              <p:nvPr/>
            </p:nvSpPr>
            <p:spPr>
              <a:xfrm>
                <a:off x="4242459" y="1777584"/>
                <a:ext cx="64647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2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" name="price_rule_outline_5"/>
              <p:cNvSpPr/>
              <p:nvPr/>
            </p:nvSpPr>
            <p:spPr>
              <a:xfrm>
                <a:off x="4316895" y="1767832"/>
                <a:ext cx="36004" cy="40155"/>
              </a:xfrm>
              <a:custGeom>
                <a:avLst/>
                <a:gdLst/>
                <a:ahLst/>
                <a:cxnLst/>
                <a:rect l="0" t="0" r="r" b="b"/>
                <a:pathLst>
                  <a:path w="36005" h="40156">
                    <a:moveTo>
                      <a:pt x="36005" y="12037"/>
                    </a:moveTo>
                    <a:cubicBezTo>
                      <a:pt x="36005" y="10271"/>
                      <a:pt x="34552" y="8406"/>
                      <a:pt x="32683" y="8406"/>
                    </a:cubicBezTo>
                    <a:cubicBezTo>
                      <a:pt x="30297" y="8406"/>
                      <a:pt x="21788" y="16915"/>
                      <a:pt x="18780" y="18677"/>
                    </a:cubicBezTo>
                    <a:cubicBezTo>
                      <a:pt x="18780" y="12867"/>
                      <a:pt x="21685" y="7057"/>
                      <a:pt x="21685" y="3528"/>
                    </a:cubicBezTo>
                    <a:cubicBezTo>
                      <a:pt x="21685" y="1349"/>
                      <a:pt x="20233" y="0"/>
                      <a:pt x="18054" y="0"/>
                    </a:cubicBezTo>
                    <a:cubicBezTo>
                      <a:pt x="15978" y="0"/>
                      <a:pt x="14732" y="1453"/>
                      <a:pt x="14732" y="3528"/>
                    </a:cubicBezTo>
                    <a:cubicBezTo>
                      <a:pt x="14732" y="7576"/>
                      <a:pt x="17224" y="13073"/>
                      <a:pt x="17224" y="18677"/>
                    </a:cubicBezTo>
                    <a:cubicBezTo>
                      <a:pt x="13902" y="16705"/>
                      <a:pt x="5810" y="7989"/>
                      <a:pt x="3631" y="7989"/>
                    </a:cubicBezTo>
                    <a:cubicBezTo>
                      <a:pt x="1762" y="7989"/>
                      <a:pt x="103" y="9755"/>
                      <a:pt x="103" y="11620"/>
                    </a:cubicBezTo>
                    <a:cubicBezTo>
                      <a:pt x="103" y="15252"/>
                      <a:pt x="12347" y="17744"/>
                      <a:pt x="16395" y="20026"/>
                    </a:cubicBezTo>
                    <a:cubicBezTo>
                      <a:pt x="12037" y="22515"/>
                      <a:pt x="3941" y="23761"/>
                      <a:pt x="1869" y="25110"/>
                    </a:cubicBezTo>
                    <a:cubicBezTo>
                      <a:pt x="829" y="25837"/>
                      <a:pt x="0" y="26769"/>
                      <a:pt x="0" y="28119"/>
                    </a:cubicBezTo>
                    <a:cubicBezTo>
                      <a:pt x="0" y="29988"/>
                      <a:pt x="1453" y="31647"/>
                      <a:pt x="3322" y="31647"/>
                    </a:cubicBezTo>
                    <a:cubicBezTo>
                      <a:pt x="5707" y="31647"/>
                      <a:pt x="14113" y="23241"/>
                      <a:pt x="17224" y="21479"/>
                    </a:cubicBezTo>
                    <a:cubicBezTo>
                      <a:pt x="17224" y="27186"/>
                      <a:pt x="14319" y="32996"/>
                      <a:pt x="14319" y="36628"/>
                    </a:cubicBezTo>
                    <a:cubicBezTo>
                      <a:pt x="14319" y="38703"/>
                      <a:pt x="15875" y="40156"/>
                      <a:pt x="17951" y="40156"/>
                    </a:cubicBezTo>
                    <a:cubicBezTo>
                      <a:pt x="20026" y="40156"/>
                      <a:pt x="21273" y="38600"/>
                      <a:pt x="21273" y="36628"/>
                    </a:cubicBezTo>
                    <a:cubicBezTo>
                      <a:pt x="21273" y="32373"/>
                      <a:pt x="18883" y="26980"/>
                      <a:pt x="18883" y="21479"/>
                    </a:cubicBezTo>
                    <a:cubicBezTo>
                      <a:pt x="22102" y="23348"/>
                      <a:pt x="30297" y="32064"/>
                      <a:pt x="32373" y="32064"/>
                    </a:cubicBezTo>
                    <a:cubicBezTo>
                      <a:pt x="34242" y="32064"/>
                      <a:pt x="35901" y="30298"/>
                      <a:pt x="35901" y="28432"/>
                    </a:cubicBezTo>
                    <a:cubicBezTo>
                      <a:pt x="35901" y="27083"/>
                      <a:pt x="34969" y="26146"/>
                      <a:pt x="33929" y="25527"/>
                    </a:cubicBezTo>
                    <a:cubicBezTo>
                      <a:pt x="31230" y="23761"/>
                      <a:pt x="24070" y="22622"/>
                      <a:pt x="19610" y="20026"/>
                    </a:cubicBezTo>
                    <a:cubicBezTo>
                      <a:pt x="24487" y="17121"/>
                      <a:pt x="31127" y="16705"/>
                      <a:pt x="34135" y="14942"/>
                    </a:cubicBezTo>
                    <a:cubicBezTo>
                      <a:pt x="35278" y="14319"/>
                      <a:pt x="36005" y="13387"/>
                      <a:pt x="36005" y="12037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price_rule_outline_6"/>
              <p:cNvSpPr/>
              <p:nvPr/>
            </p:nvSpPr>
            <p:spPr>
              <a:xfrm>
                <a:off x="4317620" y="1842016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price_rule_outline_7"/>
              <p:cNvSpPr/>
              <p:nvPr/>
            </p:nvSpPr>
            <p:spPr>
              <a:xfrm>
                <a:off x="4415256" y="1795424"/>
                <a:ext cx="64773" cy="65024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65024">
                    <a:moveTo>
                      <a:pt x="28214" y="28337"/>
                    </a:moveTo>
                    <a:lnTo>
                      <a:pt x="0" y="28337"/>
                    </a:lnTo>
                    <a:lnTo>
                      <a:pt x="0" y="36687"/>
                    </a:lnTo>
                    <a:lnTo>
                      <a:pt x="28214" y="36687"/>
                    </a:lnTo>
                    <a:lnTo>
                      <a:pt x="28214" y="65024"/>
                    </a:lnTo>
                    <a:lnTo>
                      <a:pt x="36560" y="65024"/>
                    </a:lnTo>
                    <a:lnTo>
                      <a:pt x="36560" y="36687"/>
                    </a:lnTo>
                    <a:lnTo>
                      <a:pt x="64774" y="36687"/>
                    </a:lnTo>
                    <a:lnTo>
                      <a:pt x="64774" y="28337"/>
                    </a:lnTo>
                    <a:lnTo>
                      <a:pt x="36560" y="28337"/>
                    </a:lnTo>
                    <a:lnTo>
                      <a:pt x="36560" y="0"/>
                    </a:lnTo>
                    <a:lnTo>
                      <a:pt x="28214" y="0"/>
                    </a:lnTo>
                    <a:lnTo>
                      <a:pt x="28214" y="28337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price_rule_outline_8"/>
              <p:cNvSpPr/>
              <p:nvPr/>
            </p:nvSpPr>
            <p:spPr>
              <a:xfrm>
                <a:off x="4510687" y="1777584"/>
                <a:ext cx="76156" cy="109049"/>
              </a:xfrm>
              <a:custGeom>
                <a:avLst/>
                <a:gdLst/>
                <a:ahLst/>
                <a:cxnLst/>
                <a:rect l="0" t="0" r="r" b="b"/>
                <a:pathLst>
                  <a:path w="76156" h="109049">
                    <a:moveTo>
                      <a:pt x="76156" y="14550"/>
                    </a:moveTo>
                    <a:cubicBezTo>
                      <a:pt x="76156" y="4556"/>
                      <a:pt x="68060" y="0"/>
                      <a:pt x="57563" y="0"/>
                    </a:cubicBezTo>
                    <a:cubicBezTo>
                      <a:pt x="44152" y="0"/>
                      <a:pt x="31123" y="8981"/>
                      <a:pt x="27579" y="21761"/>
                    </a:cubicBezTo>
                    <a:lnTo>
                      <a:pt x="8223" y="92353"/>
                    </a:lnTo>
                    <a:cubicBezTo>
                      <a:pt x="6072" y="100322"/>
                      <a:pt x="1266" y="107406"/>
                      <a:pt x="0" y="109049"/>
                    </a:cubicBezTo>
                    <a:lnTo>
                      <a:pt x="11259" y="109049"/>
                    </a:lnTo>
                    <a:cubicBezTo>
                      <a:pt x="11386" y="109049"/>
                      <a:pt x="13410" y="108037"/>
                      <a:pt x="17586" y="92226"/>
                    </a:cubicBezTo>
                    <a:lnTo>
                      <a:pt x="21888" y="75906"/>
                    </a:lnTo>
                    <a:lnTo>
                      <a:pt x="22011" y="75906"/>
                    </a:lnTo>
                    <a:cubicBezTo>
                      <a:pt x="22011" y="76033"/>
                      <a:pt x="26186" y="85015"/>
                      <a:pt x="38965" y="85015"/>
                    </a:cubicBezTo>
                    <a:cubicBezTo>
                      <a:pt x="57940" y="85015"/>
                      <a:pt x="70719" y="70846"/>
                      <a:pt x="70719" y="56297"/>
                    </a:cubicBezTo>
                    <a:cubicBezTo>
                      <a:pt x="70719" y="40485"/>
                      <a:pt x="56424" y="38080"/>
                      <a:pt x="56297" y="38080"/>
                    </a:cubicBezTo>
                    <a:lnTo>
                      <a:pt x="56297" y="37572"/>
                    </a:lnTo>
                    <a:cubicBezTo>
                      <a:pt x="56424" y="37572"/>
                      <a:pt x="76156" y="33020"/>
                      <a:pt x="76156" y="14550"/>
                    </a:cubicBezTo>
                    <a:close/>
                    <a:moveTo>
                      <a:pt x="66163" y="14296"/>
                    </a:moveTo>
                    <a:cubicBezTo>
                      <a:pt x="66163" y="20118"/>
                      <a:pt x="62873" y="34413"/>
                      <a:pt x="52753" y="34413"/>
                    </a:cubicBezTo>
                    <a:cubicBezTo>
                      <a:pt x="50098" y="34413"/>
                      <a:pt x="48073" y="33905"/>
                      <a:pt x="46049" y="33905"/>
                    </a:cubicBezTo>
                    <a:cubicBezTo>
                      <a:pt x="42632" y="33905"/>
                      <a:pt x="40231" y="36814"/>
                      <a:pt x="40231" y="39092"/>
                    </a:cubicBezTo>
                    <a:cubicBezTo>
                      <a:pt x="40231" y="40485"/>
                      <a:pt x="41243" y="41620"/>
                      <a:pt x="43517" y="41620"/>
                    </a:cubicBezTo>
                    <a:cubicBezTo>
                      <a:pt x="47061" y="41620"/>
                      <a:pt x="47946" y="40989"/>
                      <a:pt x="50856" y="40989"/>
                    </a:cubicBezTo>
                    <a:cubicBezTo>
                      <a:pt x="57182" y="40989"/>
                      <a:pt x="59964" y="47819"/>
                      <a:pt x="59964" y="54904"/>
                    </a:cubicBezTo>
                    <a:cubicBezTo>
                      <a:pt x="59964" y="67556"/>
                      <a:pt x="52376" y="79196"/>
                      <a:pt x="38838" y="79196"/>
                    </a:cubicBezTo>
                    <a:cubicBezTo>
                      <a:pt x="30234" y="79196"/>
                      <a:pt x="24670" y="74767"/>
                      <a:pt x="24670" y="67429"/>
                    </a:cubicBezTo>
                    <a:cubicBezTo>
                      <a:pt x="24670" y="65913"/>
                      <a:pt x="24924" y="64266"/>
                      <a:pt x="25428" y="62496"/>
                    </a:cubicBezTo>
                    <a:lnTo>
                      <a:pt x="36814" y="21888"/>
                    </a:lnTo>
                    <a:cubicBezTo>
                      <a:pt x="39092" y="13664"/>
                      <a:pt x="44910" y="3544"/>
                      <a:pt x="56297" y="3544"/>
                    </a:cubicBezTo>
                    <a:cubicBezTo>
                      <a:pt x="63508" y="3544"/>
                      <a:pt x="66163" y="8477"/>
                      <a:pt x="66163" y="14296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price_rule_outline_9"/>
              <p:cNvSpPr/>
              <p:nvPr/>
            </p:nvSpPr>
            <p:spPr>
              <a:xfrm>
                <a:off x="4594823" y="181496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91" name="priced_advantage"/>
            <p:cNvGrpSpPr/>
            <p:nvPr/>
          </p:nvGrpSpPr>
          <p:grpSpPr>
            <a:xfrm>
              <a:off x="3805673" y="2052815"/>
              <a:ext cx="974421" cy="250836"/>
              <a:chOff x="3805673" y="2052815"/>
              <a:chExt cx="974421" cy="250836"/>
            </a:xfrm>
          </p:grpSpPr>
          <p:sp>
            <p:nvSpPr>
              <p:cNvPr id="292" name="priced_advantage_outline_0"/>
              <p:cNvSpPr/>
              <p:nvPr/>
            </p:nvSpPr>
            <p:spPr>
              <a:xfrm>
                <a:off x="3822563" y="2098168"/>
                <a:ext cx="76664" cy="13156"/>
              </a:xfrm>
              <a:custGeom>
                <a:avLst/>
                <a:gdLst/>
                <a:ahLst/>
                <a:cxnLst/>
                <a:rect l="0" t="0" r="r" b="b"/>
                <a:pathLst>
                  <a:path w="76664" h="13156">
                    <a:moveTo>
                      <a:pt x="76664" y="0"/>
                    </a:moveTo>
                    <a:lnTo>
                      <a:pt x="72870" y="0"/>
                    </a:lnTo>
                    <a:cubicBezTo>
                      <a:pt x="71858" y="3163"/>
                      <a:pt x="68187" y="5945"/>
                      <a:pt x="55666" y="5945"/>
                    </a:cubicBezTo>
                    <a:cubicBezTo>
                      <a:pt x="43644" y="5945"/>
                      <a:pt x="39596" y="381"/>
                      <a:pt x="27960" y="381"/>
                    </a:cubicBezTo>
                    <a:cubicBezTo>
                      <a:pt x="8731" y="381"/>
                      <a:pt x="3290" y="6072"/>
                      <a:pt x="0" y="13156"/>
                    </a:cubicBezTo>
                    <a:lnTo>
                      <a:pt x="3798" y="13156"/>
                    </a:lnTo>
                    <a:cubicBezTo>
                      <a:pt x="4810" y="9993"/>
                      <a:pt x="9362" y="7338"/>
                      <a:pt x="21888" y="7338"/>
                    </a:cubicBezTo>
                    <a:cubicBezTo>
                      <a:pt x="33778" y="7338"/>
                      <a:pt x="37953" y="12902"/>
                      <a:pt x="49593" y="12902"/>
                    </a:cubicBezTo>
                    <a:cubicBezTo>
                      <a:pt x="68822" y="12902"/>
                      <a:pt x="73374" y="7084"/>
                      <a:pt x="76664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priced_advantage_outline_1"/>
              <p:cNvSpPr/>
              <p:nvPr/>
            </p:nvSpPr>
            <p:spPr>
              <a:xfrm>
                <a:off x="3805673" y="2133840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2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2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2"/>
                    </a:lnTo>
                    <a:cubicBezTo>
                      <a:pt x="17205" y="81851"/>
                      <a:pt x="16193" y="81216"/>
                      <a:pt x="16193" y="78053"/>
                    </a:cubicBezTo>
                    <a:cubicBezTo>
                      <a:pt x="16193" y="75652"/>
                      <a:pt x="16574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2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priced_advantage_outline_2"/>
              <p:cNvSpPr/>
              <p:nvPr/>
            </p:nvSpPr>
            <p:spPr>
              <a:xfrm>
                <a:off x="3934066" y="2169515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priced_advantage_outline_3"/>
              <p:cNvSpPr/>
              <p:nvPr/>
            </p:nvSpPr>
            <p:spPr>
              <a:xfrm>
                <a:off x="4060141" y="2056123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4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priced_advantage_outline_4"/>
              <p:cNvSpPr/>
              <p:nvPr/>
            </p:nvSpPr>
            <p:spPr>
              <a:xfrm>
                <a:off x="4141585" y="2095244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3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priced_advantage_outline_5"/>
              <p:cNvSpPr/>
              <p:nvPr/>
            </p:nvSpPr>
            <p:spPr>
              <a:xfrm>
                <a:off x="4209123" y="2095862"/>
                <a:ext cx="53125" cy="5810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810">
                    <a:moveTo>
                      <a:pt x="53126" y="5810"/>
                    </a:moveTo>
                    <a:lnTo>
                      <a:pt x="53126" y="0"/>
                    </a:lnTo>
                    <a:lnTo>
                      <a:pt x="0" y="0"/>
                    </a:lnTo>
                    <a:lnTo>
                      <a:pt x="0" y="5810"/>
                    </a:lnTo>
                    <a:lnTo>
                      <a:pt x="53126" y="581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priced_advantage_outline_6"/>
              <p:cNvSpPr/>
              <p:nvPr/>
            </p:nvSpPr>
            <p:spPr>
              <a:xfrm>
                <a:off x="4277293" y="2052815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6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7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priced_advantage_outline_7"/>
              <p:cNvSpPr/>
              <p:nvPr/>
            </p:nvSpPr>
            <p:spPr>
              <a:xfrm>
                <a:off x="4362985" y="2087990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3"/>
                      <a:pt x="41196" y="66616"/>
                      <a:pt x="39430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priced_advantage_outline_8"/>
              <p:cNvSpPr/>
              <p:nvPr/>
            </p:nvSpPr>
            <p:spPr>
              <a:xfrm>
                <a:off x="4443720" y="2057469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49" y="60182"/>
                    </a:lnTo>
                    <a:cubicBezTo>
                      <a:pt x="57591" y="60182"/>
                      <a:pt x="55618" y="63710"/>
                      <a:pt x="50637" y="63710"/>
                    </a:cubicBezTo>
                    <a:cubicBezTo>
                      <a:pt x="45240" y="63710"/>
                      <a:pt x="43374" y="59976"/>
                      <a:pt x="43374" y="54372"/>
                    </a:cubicBezTo>
                    <a:cubicBezTo>
                      <a:pt x="43374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8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7" y="44621"/>
                      <a:pt x="33207" y="53852"/>
                    </a:cubicBezTo>
                    <a:cubicBezTo>
                      <a:pt x="33207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priced_advantage_outline_9"/>
              <p:cNvSpPr/>
              <p:nvPr/>
            </p:nvSpPr>
            <p:spPr>
              <a:xfrm>
                <a:off x="4509707" y="2087990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3"/>
                      <a:pt x="41196" y="66616"/>
                      <a:pt x="39429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3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" name="priced_advantage_outline_10"/>
              <p:cNvSpPr/>
              <p:nvPr/>
            </p:nvSpPr>
            <p:spPr>
              <a:xfrm>
                <a:off x="4574491" y="2056123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4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" name="priced_advantage_outline_11"/>
              <p:cNvSpPr/>
              <p:nvPr/>
            </p:nvSpPr>
            <p:spPr>
              <a:xfrm>
                <a:off x="4656752" y="2095244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5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" name="priced_advantage_outline_12"/>
              <p:cNvSpPr/>
              <p:nvPr/>
            </p:nvSpPr>
            <p:spPr>
              <a:xfrm>
                <a:off x="4712069" y="210356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" name="priced_advantage_outline_13"/>
              <p:cNvSpPr/>
              <p:nvPr/>
            </p:nvSpPr>
            <p:spPr>
              <a:xfrm>
                <a:off x="4057038" y="2185821"/>
                <a:ext cx="723056" cy="254"/>
              </a:xfrm>
              <a:custGeom>
                <a:avLst/>
                <a:gdLst/>
                <a:ahLst/>
                <a:cxnLst/>
                <a:rect l="0" t="0" r="r" b="b"/>
                <a:pathLst>
                  <a:path w="723056" h="254">
                    <a:moveTo>
                      <a:pt x="0" y="0"/>
                    </a:moveTo>
                    <a:lnTo>
                      <a:pt x="723056" y="0"/>
                    </a:lnTo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" name="priced_advantage_outline_14"/>
              <p:cNvSpPr/>
              <p:nvPr/>
            </p:nvSpPr>
            <p:spPr>
              <a:xfrm>
                <a:off x="4221852" y="2198939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1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priced_advantage_outline_15"/>
              <p:cNvSpPr/>
              <p:nvPr/>
            </p:nvSpPr>
            <p:spPr>
              <a:xfrm>
                <a:off x="4268648" y="2215751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priced_advantage_outline_16"/>
              <p:cNvSpPr/>
              <p:nvPr/>
            </p:nvSpPr>
            <p:spPr>
              <a:xfrm>
                <a:off x="4332665" y="2196465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7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7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" name="priced_advantage_outline_17"/>
              <p:cNvSpPr/>
              <p:nvPr/>
            </p:nvSpPr>
            <p:spPr>
              <a:xfrm>
                <a:off x="4418357" y="2231639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" name="priced_advantage_outline_18"/>
              <p:cNvSpPr/>
              <p:nvPr/>
            </p:nvSpPr>
            <p:spPr>
              <a:xfrm>
                <a:off x="4499092" y="2201118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49" y="60182"/>
                    </a:lnTo>
                    <a:cubicBezTo>
                      <a:pt x="57590" y="60182"/>
                      <a:pt x="55618" y="63710"/>
                      <a:pt x="50637" y="63710"/>
                    </a:cubicBezTo>
                    <a:cubicBezTo>
                      <a:pt x="45240" y="63710"/>
                      <a:pt x="43374" y="59976"/>
                      <a:pt x="43374" y="54372"/>
                    </a:cubicBezTo>
                    <a:cubicBezTo>
                      <a:pt x="43374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7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6" y="44621"/>
                      <a:pt x="33206" y="53852"/>
                    </a:cubicBezTo>
                    <a:cubicBezTo>
                      <a:pt x="33206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priced_advantage_outline_19"/>
              <p:cNvSpPr/>
              <p:nvPr/>
            </p:nvSpPr>
            <p:spPr>
              <a:xfrm>
                <a:off x="4565079" y="2231639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12" name="next_policy"/>
            <p:cNvGrpSpPr/>
            <p:nvPr/>
          </p:nvGrpSpPr>
          <p:grpSpPr>
            <a:xfrm>
              <a:off x="4621155" y="2466272"/>
              <a:ext cx="217856" cy="82537"/>
              <a:chOff x="4621155" y="2466272"/>
              <a:chExt cx="217856" cy="82537"/>
            </a:xfrm>
          </p:grpSpPr>
          <p:sp>
            <p:nvSpPr>
              <p:cNvPr id="313" name="next_policy_outline_0"/>
              <p:cNvSpPr/>
              <p:nvPr/>
            </p:nvSpPr>
            <p:spPr>
              <a:xfrm>
                <a:off x="4621155" y="2466272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5"/>
                      <a:pt x="2151" y="16320"/>
                    </a:cubicBezTo>
                    <a:lnTo>
                      <a:pt x="3540" y="16320"/>
                    </a:lnTo>
                    <a:cubicBezTo>
                      <a:pt x="4175" y="15435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" name="next_policy_outline_1"/>
              <p:cNvSpPr/>
              <p:nvPr/>
            </p:nvSpPr>
            <p:spPr>
              <a:xfrm>
                <a:off x="4694487" y="2490806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" name="next_policy_outline_2"/>
              <p:cNvSpPr/>
              <p:nvPr/>
            </p:nvSpPr>
            <p:spPr>
              <a:xfrm>
                <a:off x="4738586" y="2494128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next_policy_outline_3"/>
              <p:cNvSpPr/>
              <p:nvPr/>
            </p:nvSpPr>
            <p:spPr>
              <a:xfrm>
                <a:off x="4809647" y="247731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317" name="main_arrow0"/>
          <p:cNvSpPr/>
          <p:nvPr/>
        </p:nvSpPr>
        <p:spPr>
          <a:xfrm>
            <a:off x="584200" y="13462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7780">
            <a:solidFill>
              <a:srgbClr val="003EA8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main_arrow1"/>
          <p:cNvSpPr/>
          <p:nvPr/>
        </p:nvSpPr>
        <p:spPr>
          <a:xfrm>
            <a:off x="1384300" y="13462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7780">
            <a:solidFill>
              <a:srgbClr val="003EA8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main_arrow2"/>
          <p:cNvSpPr/>
          <p:nvPr/>
        </p:nvSpPr>
        <p:spPr>
          <a:xfrm>
            <a:off x="2260600" y="13462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7780">
            <a:solidFill>
              <a:srgbClr val="003EA8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dual_to_update"/>
          <p:cNvSpPr/>
          <p:nvPr/>
        </p:nvSpPr>
        <p:spPr>
          <a:xfrm>
            <a:off x="3479800" y="850900"/>
            <a:ext cx="127000" cy="127"/>
          </a:xfrm>
          <a:custGeom>
            <a:avLst/>
            <a:gdLst/>
            <a:ahLst/>
            <a:cxnLst/>
            <a:rect l="0" t="0" r="r" b="b"/>
            <a:pathLst>
              <a:path w="127000" h="1" fill="none">
                <a:moveTo>
                  <a:pt x="0" y="0"/>
                </a:moveTo>
                <a:lnTo>
                  <a:pt x="127000" y="0"/>
                </a:lnTo>
              </a:path>
            </a:pathLst>
          </a:custGeom>
          <a:noFill/>
          <a:ln w="16510">
            <a:solidFill>
              <a:srgbClr val="00621C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bserved_feedback"/>
          <p:cNvSpPr/>
          <p:nvPr/>
        </p:nvSpPr>
        <p:spPr>
          <a:xfrm>
            <a:off x="317500" y="1498600"/>
            <a:ext cx="3314700" cy="1219200"/>
          </a:xfrm>
          <a:custGeom>
            <a:avLst/>
            <a:gdLst/>
            <a:ahLst/>
            <a:cxnLst/>
            <a:rect l="0" t="0" r="r" b="b"/>
            <a:pathLst>
              <a:path w="3314700" h="1219200" fill="none">
                <a:moveTo>
                  <a:pt x="0" y="1092200"/>
                </a:moveTo>
                <a:lnTo>
                  <a:pt x="0" y="1219200"/>
                </a:lnTo>
                <a:lnTo>
                  <a:pt x="3263900" y="1219200"/>
                </a:lnTo>
                <a:lnTo>
                  <a:pt x="3263900" y="0"/>
                </a:lnTo>
                <a:lnTo>
                  <a:pt x="3314700" y="0"/>
                </a:lnTo>
              </a:path>
            </a:pathLst>
          </a:custGeom>
          <a:noFill/>
          <a:ln w="8255">
            <a:solidFill>
              <a:srgbClr val="F45C1A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bserved_label_bg"/>
          <p:cNvSpPr/>
          <p:nvPr/>
        </p:nvSpPr>
        <p:spPr>
          <a:xfrm>
            <a:off x="723900" y="2654300"/>
            <a:ext cx="1346200" cy="12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bserved_route"/>
          <p:cNvSpPr txBox="1"/>
          <p:nvPr/>
        </p:nvSpPr>
        <p:spPr>
          <a:xfrm>
            <a:off x="723900" y="2654300"/>
            <a:ext cx="1333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F45C1A"/>
                </a:solidFill>
                <a:latin typeface="Liberation Serif"/>
              </a:rPr>
              <a:t>observed episode costs</a:t>
            </a:r>
          </a:p>
        </p:txBody>
      </p:sp>
      <p:sp>
        <p:nvSpPr>
          <p:cNvPr id="324" name="gae_route"/>
          <p:cNvSpPr/>
          <p:nvPr/>
        </p:nvSpPr>
        <p:spPr>
          <a:xfrm>
            <a:off x="546100" y="2209800"/>
            <a:ext cx="3086100" cy="635000"/>
          </a:xfrm>
          <a:custGeom>
            <a:avLst/>
            <a:gdLst/>
            <a:ahLst/>
            <a:cxnLst/>
            <a:rect l="0" t="0" r="r" b="b"/>
            <a:pathLst>
              <a:path w="3086100" h="635000" fill="none">
                <a:moveTo>
                  <a:pt x="0" y="76200"/>
                </a:moveTo>
                <a:lnTo>
                  <a:pt x="63500" y="76200"/>
                </a:lnTo>
                <a:lnTo>
                  <a:pt x="63500" y="635000"/>
                </a:lnTo>
                <a:lnTo>
                  <a:pt x="3022600" y="635000"/>
                </a:lnTo>
                <a:lnTo>
                  <a:pt x="3022600" y="0"/>
                </a:lnTo>
                <a:lnTo>
                  <a:pt x="3086100" y="0"/>
                </a:lnTo>
              </a:path>
            </a:pathLst>
          </a:custGeom>
          <a:noFill/>
          <a:ln w="7620">
            <a:solidFill>
              <a:srgbClr val="69727B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gae_label_bg"/>
          <p:cNvSpPr/>
          <p:nvPr/>
        </p:nvSpPr>
        <p:spPr>
          <a:xfrm>
            <a:off x="876300" y="2781300"/>
            <a:ext cx="1054100" cy="13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gae_route_label"/>
          <p:cNvSpPr txBox="1"/>
          <p:nvPr/>
        </p:nvSpPr>
        <p:spPr>
          <a:xfrm>
            <a:off x="876300" y="2781300"/>
            <a:ext cx="10541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9727B"/>
                </a:solidFill>
                <a:latin typeface="Liberation Serif"/>
              </a:rPr>
              <a:t>GAE advantages</a:t>
            </a:r>
          </a:p>
        </p:txBody>
      </p:sp>
      <p:sp>
        <p:nvSpPr>
          <p:cNvPr id="327" name="next_rollout"/>
          <p:cNvSpPr/>
          <p:nvPr/>
        </p:nvSpPr>
        <p:spPr>
          <a:xfrm>
            <a:off x="12700" y="787400"/>
            <a:ext cx="5003800" cy="2197100"/>
          </a:xfrm>
          <a:custGeom>
            <a:avLst/>
            <a:gdLst/>
            <a:ahLst/>
            <a:cxnLst/>
            <a:rect l="0" t="0" r="r" b="b"/>
            <a:pathLst>
              <a:path w="5003800" h="2197100" fill="none">
                <a:moveTo>
                  <a:pt x="4927600" y="1727200"/>
                </a:moveTo>
                <a:lnTo>
                  <a:pt x="5003800" y="1727200"/>
                </a:lnTo>
                <a:lnTo>
                  <a:pt x="5003800" y="2197100"/>
                </a:lnTo>
                <a:lnTo>
                  <a:pt x="0" y="2197100"/>
                </a:lnTo>
                <a:lnTo>
                  <a:pt x="0" y="0"/>
                </a:lnTo>
                <a:lnTo>
                  <a:pt x="101600" y="0"/>
                </a:lnTo>
              </a:path>
            </a:pathLst>
          </a:custGeom>
          <a:noFill/>
          <a:ln w="7620">
            <a:solidFill>
              <a:srgbClr val="69727B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loop_label"/>
          <p:cNvSpPr txBox="1"/>
          <p:nvPr/>
        </p:nvSpPr>
        <p:spPr>
          <a:xfrm>
            <a:off x="2070100" y="2857500"/>
            <a:ext cx="8636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9727B"/>
                </a:solidFill>
                <a:latin typeface="Liberation Serif"/>
              </a:rPr>
              <a:t>next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SafeOT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