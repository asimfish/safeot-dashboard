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184400"/>
            <a:chOff x="25400" y="38100"/>
            <a:chExt cx="1244600" cy="21844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1844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698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title"/>
            <p:cNvSpPr txBox="1"/>
            <p:nvPr/>
          </p:nvSpPr>
          <p:spPr>
            <a:xfrm>
              <a:off x="76200" y="1016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0900FA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5" name="left_sub"/>
            <p:cNvSpPr txBox="1"/>
            <p:nvPr/>
          </p:nvSpPr>
          <p:spPr>
            <a:xfrm>
              <a:off x="76200" y="3175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enter the objective</a:t>
              </a:r>
            </a:p>
          </p:txBody>
        </p:sp>
        <p:sp>
          <p:nvSpPr>
            <p:cNvPr id="6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eakage_label"/>
            <p:cNvSpPr txBox="1"/>
            <p:nvPr/>
          </p:nvSpPr>
          <p:spPr>
            <a:xfrm>
              <a:off x="317500" y="876300"/>
              <a:ext cx="8509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FF0709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1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3" name="left_note"/>
            <p:cNvSpPr txBox="1"/>
            <p:nvPr/>
          </p:nvSpPr>
          <p:spPr>
            <a:xfrm>
              <a:off x="101600" y="1803400"/>
              <a:ext cx="11176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 can leave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a budget violated.</a:t>
              </a:r>
            </a:p>
          </p:txBody>
        </p:sp>
        <p:sp>
          <p:nvSpPr>
            <p:cNvPr id="14" name="left_schematic"/>
            <p:cNvSpPr txBox="1"/>
            <p:nvPr/>
          </p:nvSpPr>
          <p:spPr>
            <a:xfrm>
              <a:off x="114300" y="20701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27B"/>
                  </a:solidFill>
                  <a:latin typeface="Liberation Serif"/>
                </a:rPr>
                <a:t>(schematic)</a:t>
              </a:r>
            </a:p>
          </p:txBody>
        </p:sp>
        <p:grpSp>
          <p:nvGrpSpPr>
            <p:cNvPr id="15" name="objective"/>
            <p:cNvGrpSpPr/>
            <p:nvPr/>
          </p:nvGrpSpPr>
          <p:grpSpPr>
            <a:xfrm>
              <a:off x="235881" y="602221"/>
              <a:ext cx="809294" cy="142112"/>
              <a:chOff x="235881" y="602221"/>
              <a:chExt cx="809294" cy="142112"/>
            </a:xfrm>
          </p:grpSpPr>
          <p:sp>
            <p:nvSpPr>
              <p:cNvPr id="16" name="objective_outline_0"/>
              <p:cNvSpPr/>
              <p:nvPr/>
            </p:nvSpPr>
            <p:spPr>
              <a:xfrm>
                <a:off x="235881" y="606284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objective_outline_1"/>
              <p:cNvSpPr/>
              <p:nvPr/>
            </p:nvSpPr>
            <p:spPr>
              <a:xfrm>
                <a:off x="324537" y="66400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1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objective_outline_2"/>
              <p:cNvSpPr/>
              <p:nvPr/>
            </p:nvSpPr>
            <p:spPr>
              <a:xfrm>
                <a:off x="417449" y="654735"/>
                <a:ext cx="64773" cy="708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7084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objective_outline_3"/>
              <p:cNvSpPr/>
              <p:nvPr/>
            </p:nvSpPr>
            <p:spPr>
              <a:xfrm>
                <a:off x="523633" y="602221"/>
                <a:ext cx="86403" cy="111327"/>
              </a:xfrm>
              <a:custGeom>
                <a:avLst/>
                <a:gdLst/>
                <a:ahLst/>
                <a:cxnLst/>
                <a:rect l="0" t="0" r="r" b="b"/>
                <a:pathLst>
                  <a:path w="86404" h="111327">
                    <a:moveTo>
                      <a:pt x="86404" y="77549"/>
                    </a:moveTo>
                    <a:lnTo>
                      <a:pt x="83749" y="77549"/>
                    </a:lnTo>
                    <a:cubicBezTo>
                      <a:pt x="81216" y="93361"/>
                      <a:pt x="75398" y="100445"/>
                      <a:pt x="66540" y="100445"/>
                    </a:cubicBezTo>
                    <a:lnTo>
                      <a:pt x="16951" y="100445"/>
                    </a:lnTo>
                    <a:lnTo>
                      <a:pt x="53638" y="53388"/>
                    </a:lnTo>
                    <a:lnTo>
                      <a:pt x="20999" y="4933"/>
                    </a:lnTo>
                    <a:lnTo>
                      <a:pt x="61480" y="4933"/>
                    </a:lnTo>
                    <a:cubicBezTo>
                      <a:pt x="70715" y="4933"/>
                      <a:pt x="76537" y="9993"/>
                      <a:pt x="79192" y="26059"/>
                    </a:cubicBezTo>
                    <a:lnTo>
                      <a:pt x="81975" y="26059"/>
                    </a:lnTo>
                    <a:lnTo>
                      <a:pt x="81216" y="0"/>
                    </a:lnTo>
                    <a:lnTo>
                      <a:pt x="5310" y="0"/>
                    </a:lnTo>
                    <a:lnTo>
                      <a:pt x="44021" y="55539"/>
                    </a:lnTo>
                    <a:lnTo>
                      <a:pt x="0" y="111327"/>
                    </a:lnTo>
                    <a:lnTo>
                      <a:pt x="85011" y="111327"/>
                    </a:lnTo>
                    <a:lnTo>
                      <a:pt x="86404" y="7754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objective_outline_4"/>
              <p:cNvSpPr/>
              <p:nvPr/>
            </p:nvSpPr>
            <p:spPr>
              <a:xfrm>
                <a:off x="626747" y="64863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objective_outline_5"/>
              <p:cNvSpPr/>
              <p:nvPr/>
            </p:nvSpPr>
            <p:spPr>
              <a:xfrm>
                <a:off x="709902" y="60792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objective_outline_6"/>
              <p:cNvSpPr/>
              <p:nvPr/>
            </p:nvSpPr>
            <p:spPr>
              <a:xfrm>
                <a:off x="785052" y="64530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objective_outline_7"/>
              <p:cNvSpPr/>
              <p:nvPr/>
            </p:nvSpPr>
            <p:spPr>
              <a:xfrm>
                <a:off x="849774" y="606284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2" y="81216"/>
                      <a:pt x="16192" y="78053"/>
                    </a:cubicBezTo>
                    <a:cubicBezTo>
                      <a:pt x="16192" y="75652"/>
                      <a:pt x="16573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objective_outline_8"/>
              <p:cNvSpPr/>
              <p:nvPr/>
            </p:nvSpPr>
            <p:spPr>
              <a:xfrm>
                <a:off x="939234" y="66400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objective_outline_9"/>
              <p:cNvSpPr/>
              <p:nvPr/>
            </p:nvSpPr>
            <p:spPr>
              <a:xfrm>
                <a:off x="994538" y="67232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27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" name="module_safeot"/>
          <p:cNvGrpSpPr/>
          <p:nvPr/>
        </p:nvGrpSpPr>
        <p:grpSpPr>
          <a:xfrm>
            <a:off x="1333500" y="38100"/>
            <a:ext cx="2362200" cy="2184400"/>
            <a:chOff x="1333500" y="38100"/>
            <a:chExt cx="2362200" cy="2184400"/>
          </a:xfrm>
        </p:grpSpPr>
        <p:sp>
          <p:nvSpPr>
            <p:cNvPr id="30" name="safeot_border"/>
            <p:cNvSpPr/>
            <p:nvPr/>
          </p:nvSpPr>
          <p:spPr>
            <a:xfrm>
              <a:off x="1333500" y="38100"/>
              <a:ext cx="2362200" cy="21844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afeot_title"/>
            <p:cNvSpPr txBox="1"/>
            <p:nvPr/>
          </p:nvSpPr>
          <p:spPr>
            <a:xfrm>
              <a:off x="1714500" y="88900"/>
              <a:ext cx="161290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00621C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32" name="subtitle"/>
            <p:cNvSpPr txBox="1"/>
            <p:nvPr/>
          </p:nvSpPr>
          <p:spPr>
            <a:xfrm>
              <a:off x="1422400" y="3556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i="0">
                  <a:solidFill>
                    <a:srgbClr val="00621C"/>
                  </a:solidFill>
                  <a:latin typeface="Liberation Serif"/>
                </a:rPr>
                <a:t>One flow prices all budgets</a:t>
              </a:r>
            </a:p>
          </p:txBody>
        </p:sp>
        <p:sp>
          <p:nvSpPr>
            <p:cNvPr id="33" name="costs_title"/>
            <p:cNvSpPr txBox="1"/>
            <p:nvPr/>
          </p:nvSpPr>
          <p:spPr>
            <a:xfrm>
              <a:off x="1422400" y="571500"/>
              <a:ext cx="546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i="0">
                  <a:solidFill>
                    <a:srgbClr val="00621C"/>
                  </a:solidFill>
                  <a:latin typeface="Liberation Serif"/>
                </a:rPr>
                <a:t>1. Costs</a:t>
              </a:r>
            </a:p>
          </p:txBody>
        </p:sp>
        <p:sp>
          <p:nvSpPr>
            <p:cNvPr id="34" name="solve_title"/>
            <p:cNvSpPr txBox="1"/>
            <p:nvPr/>
          </p:nvSpPr>
          <p:spPr>
            <a:xfrm>
              <a:off x="2171700" y="571500"/>
              <a:ext cx="1397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i="0">
                  <a:solidFill>
                    <a:srgbClr val="00621C"/>
                  </a:solidFill>
                  <a:latin typeface="Liberation Serif"/>
                </a:rPr>
                <a:t>2. Flow solve</a:t>
              </a:r>
            </a:p>
          </p:txBody>
        </p:sp>
        <p:sp>
          <p:nvSpPr>
            <p:cNvPr id="35" name="costcard0"/>
            <p:cNvSpPr/>
            <p:nvPr/>
          </p:nvSpPr>
          <p:spPr>
            <a:xfrm>
              <a:off x="1422400" y="7747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08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" name="costicon0" descr="costicon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7800" y="787400"/>
              <a:ext cx="127000" cy="190500"/>
            </a:xfrm>
            <a:prstGeom prst="rect">
              <a:avLst/>
            </a:prstGeom>
          </p:spPr>
        </p:pic>
        <p:sp>
          <p:nvSpPr>
            <p:cNvPr id="37" name="costcard1"/>
            <p:cNvSpPr/>
            <p:nvPr/>
          </p:nvSpPr>
          <p:spPr>
            <a:xfrm>
              <a:off x="1422400" y="10160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080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costicon1" descr="costicon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7800" y="1028700"/>
              <a:ext cx="127000" cy="190500"/>
            </a:xfrm>
            <a:prstGeom prst="rect">
              <a:avLst/>
            </a:prstGeom>
          </p:spPr>
        </p:pic>
        <p:sp>
          <p:nvSpPr>
            <p:cNvPr id="39" name="costcard2"/>
            <p:cNvSpPr/>
            <p:nvPr/>
          </p:nvSpPr>
          <p:spPr>
            <a:xfrm>
              <a:off x="1422400" y="12573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080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costicon2" descr="costicon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7800" y="1270000"/>
              <a:ext cx="127000" cy="190500"/>
            </a:xfrm>
            <a:prstGeom prst="rect">
              <a:avLst/>
            </a:prstGeom>
          </p:spPr>
        </p:pic>
        <p:sp>
          <p:nvSpPr>
            <p:cNvPr id="41" name="costcard3"/>
            <p:cNvSpPr/>
            <p:nvPr/>
          </p:nvSpPr>
          <p:spPr>
            <a:xfrm>
              <a:off x="1422400" y="14986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08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2" name="costicon3" descr="costicon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7800" y="1511300"/>
              <a:ext cx="127000" cy="190500"/>
            </a:xfrm>
            <a:prstGeom prst="rect">
              <a:avLst/>
            </a:prstGeom>
          </p:spPr>
        </p:pic>
        <p:sp>
          <p:nvSpPr>
            <p:cNvPr id="43" name="to_solve"/>
            <p:cNvSpPr/>
            <p:nvPr/>
          </p:nvSpPr>
          <p:spPr>
            <a:xfrm>
              <a:off x="1993900" y="11430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22860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low_e0"/>
            <p:cNvSpPr/>
            <p:nvPr/>
          </p:nvSpPr>
          <p:spPr>
            <a:xfrm>
              <a:off x="2265235" y="812800"/>
              <a:ext cx="307975" cy="127"/>
            </a:xfrm>
            <a:custGeom>
              <a:avLst/>
              <a:gdLst/>
              <a:ahLst/>
              <a:cxnLst/>
              <a:rect l="0" t="0" r="r" b="b"/>
              <a:pathLst>
                <a:path w="307975" h="1" fill="none">
                  <a:moveTo>
                    <a:pt x="0" y="0"/>
                  </a:moveTo>
                  <a:lnTo>
                    <a:pt x="307975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low_e1"/>
            <p:cNvSpPr/>
            <p:nvPr/>
          </p:nvSpPr>
          <p:spPr>
            <a:xfrm>
              <a:off x="2684081" y="812800"/>
              <a:ext cx="307974" cy="127"/>
            </a:xfrm>
            <a:custGeom>
              <a:avLst/>
              <a:gdLst/>
              <a:ahLst/>
              <a:cxnLst/>
              <a:rect l="0" t="0" r="r" b="b"/>
              <a:pathLst>
                <a:path w="307974" h="1" fill="none">
                  <a:moveTo>
                    <a:pt x="0" y="0"/>
                  </a:moveTo>
                  <a:lnTo>
                    <a:pt x="307974" y="0"/>
                  </a:lnTo>
                </a:path>
              </a:pathLst>
            </a:custGeom>
            <a:noFill/>
            <a:ln w="6604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low_x0"/>
            <p:cNvSpPr/>
            <p:nvPr/>
          </p:nvSpPr>
          <p:spPr>
            <a:xfrm>
              <a:off x="2804807" y="779538"/>
              <a:ext cx="66522" cy="66522"/>
            </a:xfrm>
            <a:custGeom>
              <a:avLst/>
              <a:gdLst/>
              <a:ahLst/>
              <a:cxnLst/>
              <a:rect l="0" t="0" r="r" b="b"/>
              <a:pathLst>
                <a:path w="66522" h="66522" fill="none">
                  <a:moveTo>
                    <a:pt x="0" y="66522"/>
                  </a:moveTo>
                  <a:lnTo>
                    <a:pt x="66522" y="0"/>
                  </a:lnTo>
                </a:path>
              </a:pathLst>
            </a:custGeom>
            <a:noFill/>
            <a:ln w="889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low_x1"/>
            <p:cNvSpPr/>
            <p:nvPr/>
          </p:nvSpPr>
          <p:spPr>
            <a:xfrm>
              <a:off x="2804807" y="779538"/>
              <a:ext cx="66522" cy="66522"/>
            </a:xfrm>
            <a:custGeom>
              <a:avLst/>
              <a:gdLst/>
              <a:ahLst/>
              <a:cxnLst/>
              <a:rect l="0" t="0" r="r" b="b"/>
              <a:pathLst>
                <a:path w="66522" h="66522" fill="none">
                  <a:moveTo>
                    <a:pt x="0" y="0"/>
                  </a:moveTo>
                  <a:lnTo>
                    <a:pt x="66522" y="66522"/>
                  </a:lnTo>
                </a:path>
              </a:pathLst>
            </a:custGeom>
            <a:noFill/>
            <a:ln w="889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low_e2"/>
            <p:cNvSpPr/>
            <p:nvPr/>
          </p:nvSpPr>
          <p:spPr>
            <a:xfrm>
              <a:off x="2209800" y="868235"/>
              <a:ext cx="127" cy="105029"/>
            </a:xfrm>
            <a:custGeom>
              <a:avLst/>
              <a:gdLst/>
              <a:ahLst/>
              <a:cxnLst/>
              <a:rect l="0" t="0" r="r" b="b"/>
              <a:pathLst>
                <a:path w="1" h="105029" fill="none">
                  <a:moveTo>
                    <a:pt x="0" y="0"/>
                  </a:moveTo>
                  <a:lnTo>
                    <a:pt x="0" y="105029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low_e3"/>
            <p:cNvSpPr/>
            <p:nvPr/>
          </p:nvSpPr>
          <p:spPr>
            <a:xfrm>
              <a:off x="2628646" y="868235"/>
              <a:ext cx="127" cy="105029"/>
            </a:xfrm>
            <a:custGeom>
              <a:avLst/>
              <a:gdLst/>
              <a:ahLst/>
              <a:cxnLst/>
              <a:rect l="0" t="0" r="r" b="b"/>
              <a:pathLst>
                <a:path w="1" h="105029" fill="none">
                  <a:moveTo>
                    <a:pt x="0" y="0"/>
                  </a:moveTo>
                  <a:lnTo>
                    <a:pt x="0" y="105029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low_e4"/>
            <p:cNvSpPr/>
            <p:nvPr/>
          </p:nvSpPr>
          <p:spPr>
            <a:xfrm>
              <a:off x="3047492" y="868235"/>
              <a:ext cx="127" cy="105029"/>
            </a:xfrm>
            <a:custGeom>
              <a:avLst/>
              <a:gdLst/>
              <a:ahLst/>
              <a:cxnLst/>
              <a:rect l="0" t="0" r="r" b="b"/>
              <a:pathLst>
                <a:path w="1" h="105029" fill="none">
                  <a:moveTo>
                    <a:pt x="0" y="0"/>
                  </a:moveTo>
                  <a:lnTo>
                    <a:pt x="0" y="105029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low_e5"/>
            <p:cNvSpPr/>
            <p:nvPr/>
          </p:nvSpPr>
          <p:spPr>
            <a:xfrm>
              <a:off x="2265235" y="1028700"/>
              <a:ext cx="307975" cy="127"/>
            </a:xfrm>
            <a:custGeom>
              <a:avLst/>
              <a:gdLst/>
              <a:ahLst/>
              <a:cxnLst/>
              <a:rect l="0" t="0" r="r" b="b"/>
              <a:pathLst>
                <a:path w="307975" h="1" fill="none">
                  <a:moveTo>
                    <a:pt x="0" y="0"/>
                  </a:moveTo>
                  <a:lnTo>
                    <a:pt x="307975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low_e6"/>
            <p:cNvSpPr/>
            <p:nvPr/>
          </p:nvSpPr>
          <p:spPr>
            <a:xfrm>
              <a:off x="2684081" y="1028700"/>
              <a:ext cx="307974" cy="127"/>
            </a:xfrm>
            <a:custGeom>
              <a:avLst/>
              <a:gdLst/>
              <a:ahLst/>
              <a:cxnLst/>
              <a:rect l="0" t="0" r="r" b="b"/>
              <a:pathLst>
                <a:path w="307974" h="1" fill="none">
                  <a:moveTo>
                    <a:pt x="0" y="0"/>
                  </a:moveTo>
                  <a:lnTo>
                    <a:pt x="307974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low_e7"/>
            <p:cNvSpPr/>
            <p:nvPr/>
          </p:nvSpPr>
          <p:spPr>
            <a:xfrm>
              <a:off x="3102927" y="1028700"/>
              <a:ext cx="283336" cy="127"/>
            </a:xfrm>
            <a:custGeom>
              <a:avLst/>
              <a:gdLst/>
              <a:ahLst/>
              <a:cxnLst/>
              <a:rect l="0" t="0" r="r" b="b"/>
              <a:pathLst>
                <a:path w="283336" h="1" fill="none">
                  <a:moveTo>
                    <a:pt x="0" y="0"/>
                  </a:moveTo>
                  <a:lnTo>
                    <a:pt x="283336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low_e8"/>
            <p:cNvSpPr/>
            <p:nvPr/>
          </p:nvSpPr>
          <p:spPr>
            <a:xfrm>
              <a:off x="2209800" y="1084135"/>
              <a:ext cx="127" cy="105029"/>
            </a:xfrm>
            <a:custGeom>
              <a:avLst/>
              <a:gdLst/>
              <a:ahLst/>
              <a:cxnLst/>
              <a:rect l="0" t="0" r="r" b="b"/>
              <a:pathLst>
                <a:path w="1" h="105029" fill="none">
                  <a:moveTo>
                    <a:pt x="0" y="0"/>
                  </a:moveTo>
                  <a:lnTo>
                    <a:pt x="0" y="105029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low_e9"/>
            <p:cNvSpPr/>
            <p:nvPr/>
          </p:nvSpPr>
          <p:spPr>
            <a:xfrm>
              <a:off x="2628646" y="1084135"/>
              <a:ext cx="127" cy="105029"/>
            </a:xfrm>
            <a:custGeom>
              <a:avLst/>
              <a:gdLst/>
              <a:ahLst/>
              <a:cxnLst/>
              <a:rect l="0" t="0" r="r" b="b"/>
              <a:pathLst>
                <a:path w="1" h="105029" fill="none">
                  <a:moveTo>
                    <a:pt x="0" y="0"/>
                  </a:moveTo>
                  <a:lnTo>
                    <a:pt x="0" y="105029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low_e10"/>
            <p:cNvSpPr/>
            <p:nvPr/>
          </p:nvSpPr>
          <p:spPr>
            <a:xfrm>
              <a:off x="3047492" y="1084135"/>
              <a:ext cx="127" cy="105029"/>
            </a:xfrm>
            <a:custGeom>
              <a:avLst/>
              <a:gdLst/>
              <a:ahLst/>
              <a:cxnLst/>
              <a:rect l="0" t="0" r="r" b="b"/>
              <a:pathLst>
                <a:path w="1" h="105029" fill="none">
                  <a:moveTo>
                    <a:pt x="0" y="0"/>
                  </a:moveTo>
                  <a:lnTo>
                    <a:pt x="0" y="105029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low_e11"/>
            <p:cNvSpPr/>
            <p:nvPr/>
          </p:nvSpPr>
          <p:spPr>
            <a:xfrm>
              <a:off x="2677920" y="1054099"/>
              <a:ext cx="320297" cy="165101"/>
            </a:xfrm>
            <a:custGeom>
              <a:avLst/>
              <a:gdLst/>
              <a:ahLst/>
              <a:cxnLst/>
              <a:rect l="0" t="0" r="r" b="b"/>
              <a:pathLst>
                <a:path w="320297" h="165101" fill="none">
                  <a:moveTo>
                    <a:pt x="0" y="165101"/>
                  </a:moveTo>
                  <a:lnTo>
                    <a:pt x="320297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low_n0"/>
            <p:cNvSpPr/>
            <p:nvPr/>
          </p:nvSpPr>
          <p:spPr>
            <a:xfrm>
              <a:off x="2154364" y="7573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low_n1"/>
            <p:cNvSpPr/>
            <p:nvPr/>
          </p:nvSpPr>
          <p:spPr>
            <a:xfrm>
              <a:off x="2573210" y="7573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flow_n2"/>
            <p:cNvSpPr/>
            <p:nvPr/>
          </p:nvSpPr>
          <p:spPr>
            <a:xfrm>
              <a:off x="2992056" y="7573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flow_n3"/>
            <p:cNvSpPr/>
            <p:nvPr/>
          </p:nvSpPr>
          <p:spPr>
            <a:xfrm>
              <a:off x="2154364" y="9732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low_n4"/>
            <p:cNvSpPr/>
            <p:nvPr/>
          </p:nvSpPr>
          <p:spPr>
            <a:xfrm>
              <a:off x="2573210" y="9732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low_n5"/>
            <p:cNvSpPr/>
            <p:nvPr/>
          </p:nvSpPr>
          <p:spPr>
            <a:xfrm>
              <a:off x="2992056" y="9732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low_n6"/>
            <p:cNvSpPr/>
            <p:nvPr/>
          </p:nvSpPr>
          <p:spPr>
            <a:xfrm>
              <a:off x="3386264" y="9732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low_n7"/>
            <p:cNvSpPr/>
            <p:nvPr/>
          </p:nvSpPr>
          <p:spPr>
            <a:xfrm>
              <a:off x="2154364" y="11891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low_n8"/>
            <p:cNvSpPr/>
            <p:nvPr/>
          </p:nvSpPr>
          <p:spPr>
            <a:xfrm>
              <a:off x="2573210" y="11891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low_n9"/>
            <p:cNvSpPr/>
            <p:nvPr/>
          </p:nvSpPr>
          <p:spPr>
            <a:xfrm>
              <a:off x="2992056" y="1189164"/>
              <a:ext cx="110871" cy="110871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arget0"/>
            <p:cNvSpPr/>
            <p:nvPr/>
          </p:nvSpPr>
          <p:spPr>
            <a:xfrm>
              <a:off x="2209800" y="1056640"/>
              <a:ext cx="419100" cy="127"/>
            </a:xfrm>
            <a:custGeom>
              <a:avLst/>
              <a:gdLst/>
              <a:ahLst/>
              <a:cxnLst/>
              <a:rect l="0" t="0" r="r" b="b"/>
              <a:pathLst>
                <a:path w="419100" h="1" fill="none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0320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arget1"/>
            <p:cNvSpPr/>
            <p:nvPr/>
          </p:nvSpPr>
          <p:spPr>
            <a:xfrm>
              <a:off x="2628900" y="1056640"/>
              <a:ext cx="419100" cy="127"/>
            </a:xfrm>
            <a:custGeom>
              <a:avLst/>
              <a:gdLst/>
              <a:ahLst/>
              <a:cxnLst/>
              <a:rect l="0" t="0" r="r" b="b"/>
              <a:pathLst>
                <a:path w="419100" h="1" fill="none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0320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arget2"/>
            <p:cNvSpPr/>
            <p:nvPr/>
          </p:nvSpPr>
          <p:spPr>
            <a:xfrm>
              <a:off x="3048000" y="1056640"/>
              <a:ext cx="381000" cy="127"/>
            </a:xfrm>
            <a:custGeom>
              <a:avLst/>
              <a:gdLst/>
              <a:ahLst/>
              <a:cxnLst/>
              <a:rect l="0" t="0" r="r" b="b"/>
              <a:pathLst>
                <a:path w="381000" h="1" fill="none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0320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entropy"/>
            <p:cNvSpPr txBox="1"/>
            <p:nvPr/>
          </p:nvSpPr>
          <p:spPr>
            <a:xfrm>
              <a:off x="2082800" y="1549400"/>
              <a:ext cx="1549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flow balance · entropy</a:t>
              </a:r>
            </a:p>
          </p:txBody>
        </p:sp>
        <p:sp>
          <p:nvSpPr>
            <p:cNvPr id="72" name="flow_key"/>
            <p:cNvSpPr txBox="1"/>
            <p:nvPr/>
          </p:nvSpPr>
          <p:spPr>
            <a:xfrm>
              <a:off x="2057400" y="17399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27B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73" name="hard_key"/>
            <p:cNvSpPr txBox="1"/>
            <p:nvPr/>
          </p:nvSpPr>
          <p:spPr>
            <a:xfrm>
              <a:off x="2044700" y="1917700"/>
              <a:ext cx="1587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FF0709"/>
                  </a:solidFill>
                  <a:latin typeface="Liberation Serif"/>
                </a:rPr>
                <a:t>× hard event: excluded edge</a:t>
              </a:r>
            </a:p>
          </p:txBody>
        </p:sp>
        <p:grpSp>
          <p:nvGrpSpPr>
            <p:cNvPr id="74" name="cost0"/>
            <p:cNvGrpSpPr/>
            <p:nvPr/>
          </p:nvGrpSpPr>
          <p:grpSpPr>
            <a:xfrm>
              <a:off x="1720392" y="822051"/>
              <a:ext cx="116922" cy="109651"/>
              <a:chOff x="1720392" y="822051"/>
              <a:chExt cx="116922" cy="109651"/>
            </a:xfrm>
          </p:grpSpPr>
          <p:sp>
            <p:nvSpPr>
              <p:cNvPr id="75" name="cost0_outline_0"/>
              <p:cNvSpPr/>
              <p:nvPr/>
            </p:nvSpPr>
            <p:spPr>
              <a:xfrm>
                <a:off x="1720392" y="822051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cost0_outline_1"/>
              <p:cNvSpPr/>
              <p:nvPr/>
            </p:nvSpPr>
            <p:spPr>
              <a:xfrm>
                <a:off x="1807950" y="86155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7" name="cost1"/>
            <p:cNvGrpSpPr/>
            <p:nvPr/>
          </p:nvGrpSpPr>
          <p:grpSpPr>
            <a:xfrm>
              <a:off x="1720392" y="1063351"/>
              <a:ext cx="125329" cy="109651"/>
              <a:chOff x="1720392" y="1063351"/>
              <a:chExt cx="125329" cy="109651"/>
            </a:xfrm>
          </p:grpSpPr>
          <p:sp>
            <p:nvSpPr>
              <p:cNvPr id="78" name="cost1_outline_0"/>
              <p:cNvSpPr/>
              <p:nvPr/>
            </p:nvSpPr>
            <p:spPr>
              <a:xfrm>
                <a:off x="1720392" y="1063351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cost1_outline_1"/>
              <p:cNvSpPr/>
              <p:nvPr/>
            </p:nvSpPr>
            <p:spPr>
              <a:xfrm>
                <a:off x="1799545" y="1102859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0" name="cost2"/>
            <p:cNvGrpSpPr/>
            <p:nvPr/>
          </p:nvGrpSpPr>
          <p:grpSpPr>
            <a:xfrm>
              <a:off x="1720392" y="1303927"/>
              <a:ext cx="120864" cy="111092"/>
              <a:chOff x="1720392" y="1303927"/>
              <a:chExt cx="120864" cy="111092"/>
            </a:xfrm>
          </p:grpSpPr>
          <p:sp>
            <p:nvSpPr>
              <p:cNvPr id="81" name="cost2_outline_0"/>
              <p:cNvSpPr/>
              <p:nvPr/>
            </p:nvSpPr>
            <p:spPr>
              <a:xfrm>
                <a:off x="1720392" y="1303927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6"/>
                      <a:pt x="36306" y="80836"/>
                    </a:cubicBezTo>
                    <a:cubicBezTo>
                      <a:pt x="22265" y="80836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90"/>
                      <a:pt x="67556" y="6767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cost2_outline_1"/>
              <p:cNvSpPr/>
              <p:nvPr/>
            </p:nvSpPr>
            <p:spPr>
              <a:xfrm>
                <a:off x="1800894" y="1343423"/>
                <a:ext cx="4036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0362" h="71596">
                    <a:moveTo>
                      <a:pt x="40362" y="47419"/>
                    </a:moveTo>
                    <a:cubicBezTo>
                      <a:pt x="40362" y="42128"/>
                      <a:pt x="38703" y="37251"/>
                      <a:pt x="35695" y="34036"/>
                    </a:cubicBezTo>
                    <a:cubicBezTo>
                      <a:pt x="33619" y="31754"/>
                      <a:pt x="31647" y="30508"/>
                      <a:pt x="27083" y="28535"/>
                    </a:cubicBezTo>
                    <a:cubicBezTo>
                      <a:pt x="34242" y="23658"/>
                      <a:pt x="36834" y="19820"/>
                      <a:pt x="36834" y="14216"/>
                    </a:cubicBezTo>
                    <a:cubicBezTo>
                      <a:pt x="36834" y="5814"/>
                      <a:pt x="30194" y="0"/>
                      <a:pt x="20649" y="0"/>
                    </a:cubicBezTo>
                    <a:cubicBezTo>
                      <a:pt x="15462" y="0"/>
                      <a:pt x="10894" y="1766"/>
                      <a:pt x="7160" y="5088"/>
                    </a:cubicBezTo>
                    <a:cubicBezTo>
                      <a:pt x="4048" y="7886"/>
                      <a:pt x="2492" y="10585"/>
                      <a:pt x="206" y="16812"/>
                    </a:cubicBezTo>
                    <a:lnTo>
                      <a:pt x="1766" y="17224"/>
                    </a:lnTo>
                    <a:cubicBezTo>
                      <a:pt x="6021" y="9652"/>
                      <a:pt x="10688" y="6227"/>
                      <a:pt x="17224" y="6227"/>
                    </a:cubicBezTo>
                    <a:cubicBezTo>
                      <a:pt x="23971" y="6227"/>
                      <a:pt x="28639" y="10791"/>
                      <a:pt x="28639" y="17332"/>
                    </a:cubicBezTo>
                    <a:cubicBezTo>
                      <a:pt x="28639" y="21066"/>
                      <a:pt x="27083" y="24801"/>
                      <a:pt x="24487" y="27396"/>
                    </a:cubicBezTo>
                    <a:cubicBezTo>
                      <a:pt x="21376" y="30508"/>
                      <a:pt x="18471" y="32064"/>
                      <a:pt x="11414" y="34556"/>
                    </a:cubicBezTo>
                    <a:lnTo>
                      <a:pt x="11414" y="35901"/>
                    </a:lnTo>
                    <a:cubicBezTo>
                      <a:pt x="17538" y="35901"/>
                      <a:pt x="19923" y="36112"/>
                      <a:pt x="22412" y="37044"/>
                    </a:cubicBezTo>
                    <a:cubicBezTo>
                      <a:pt x="28845" y="39326"/>
                      <a:pt x="32893" y="45240"/>
                      <a:pt x="32893" y="52399"/>
                    </a:cubicBezTo>
                    <a:cubicBezTo>
                      <a:pt x="32893" y="61115"/>
                      <a:pt x="26980" y="67862"/>
                      <a:pt x="19300" y="67862"/>
                    </a:cubicBezTo>
                    <a:cubicBezTo>
                      <a:pt x="16498" y="67862"/>
                      <a:pt x="14422" y="67135"/>
                      <a:pt x="10585" y="64643"/>
                    </a:cubicBezTo>
                    <a:cubicBezTo>
                      <a:pt x="7473" y="62778"/>
                      <a:pt x="5707" y="62051"/>
                      <a:pt x="3945" y="62051"/>
                    </a:cubicBezTo>
                    <a:cubicBezTo>
                      <a:pt x="1556" y="62051"/>
                      <a:pt x="0" y="63504"/>
                      <a:pt x="0" y="65683"/>
                    </a:cubicBezTo>
                    <a:cubicBezTo>
                      <a:pt x="0" y="69314"/>
                      <a:pt x="4461" y="71596"/>
                      <a:pt x="11728" y="71596"/>
                    </a:cubicBezTo>
                    <a:cubicBezTo>
                      <a:pt x="19717" y="71596"/>
                      <a:pt x="27912" y="68897"/>
                      <a:pt x="32790" y="64643"/>
                    </a:cubicBezTo>
                    <a:cubicBezTo>
                      <a:pt x="37667" y="60388"/>
                      <a:pt x="40362" y="54372"/>
                      <a:pt x="40362" y="4741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3" name="cost3"/>
            <p:cNvGrpSpPr/>
            <p:nvPr/>
          </p:nvGrpSpPr>
          <p:grpSpPr>
            <a:xfrm>
              <a:off x="1701304" y="1547068"/>
              <a:ext cx="160809" cy="107417"/>
              <a:chOff x="1701304" y="1547068"/>
              <a:chExt cx="160809" cy="107417"/>
            </a:xfrm>
          </p:grpSpPr>
          <p:sp>
            <p:nvSpPr>
              <p:cNvPr id="84" name="cost3_outline_0"/>
              <p:cNvSpPr/>
              <p:nvPr/>
            </p:nvSpPr>
            <p:spPr>
              <a:xfrm>
                <a:off x="1701304" y="1547068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6"/>
                      <a:pt x="36306" y="80836"/>
                    </a:cubicBezTo>
                    <a:cubicBezTo>
                      <a:pt x="22265" y="80836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6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90"/>
                      <a:pt x="67556" y="67679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cost3_outline_1"/>
              <p:cNvSpPr/>
              <p:nvPr/>
            </p:nvSpPr>
            <p:spPr>
              <a:xfrm>
                <a:off x="1780560" y="1586731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30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4" y="0"/>
                    </a:lnTo>
                    <a:lnTo>
                      <a:pt x="56444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4" y="6433"/>
                      <a:pt x="59245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9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8" y="66096"/>
                    </a:lnTo>
                    <a:cubicBezTo>
                      <a:pt x="22308" y="65369"/>
                      <a:pt x="21269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6" name="budgets"/>
            <p:cNvGrpSpPr/>
            <p:nvPr/>
          </p:nvGrpSpPr>
          <p:grpSpPr>
            <a:xfrm>
              <a:off x="2532533" y="1390033"/>
              <a:ext cx="662974" cy="115970"/>
              <a:chOff x="2532533" y="1390033"/>
              <a:chExt cx="662974" cy="115970"/>
            </a:xfrm>
          </p:grpSpPr>
          <p:sp>
            <p:nvSpPr>
              <p:cNvPr id="87" name="budgets_outline_0"/>
              <p:cNvSpPr/>
              <p:nvPr/>
            </p:nvSpPr>
            <p:spPr>
              <a:xfrm>
                <a:off x="2532533" y="1390033"/>
                <a:ext cx="33269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3270" h="113856">
                    <a:moveTo>
                      <a:pt x="33270" y="113856"/>
                    </a:moveTo>
                    <a:lnTo>
                      <a:pt x="8727" y="56928"/>
                    </a:lnTo>
                    <a:lnTo>
                      <a:pt x="33270" y="0"/>
                    </a:lnTo>
                    <a:lnTo>
                      <a:pt x="27198" y="0"/>
                    </a:lnTo>
                    <a:lnTo>
                      <a:pt x="0" y="56928"/>
                    </a:lnTo>
                    <a:lnTo>
                      <a:pt x="27198" y="113856"/>
                    </a:lnTo>
                    <a:lnTo>
                      <a:pt x="33270" y="11385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budgets_outline_1"/>
              <p:cNvSpPr/>
              <p:nvPr/>
            </p:nvSpPr>
            <p:spPr>
              <a:xfrm>
                <a:off x="2578461" y="1395220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budgets_outline_2"/>
              <p:cNvSpPr/>
              <p:nvPr/>
            </p:nvSpPr>
            <p:spPr>
              <a:xfrm>
                <a:off x="2660835" y="14339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budgets_outline_3"/>
              <p:cNvSpPr/>
              <p:nvPr/>
            </p:nvSpPr>
            <p:spPr>
              <a:xfrm>
                <a:off x="2729595" y="1466570"/>
                <a:ext cx="17585" cy="30742"/>
              </a:xfrm>
              <a:custGeom>
                <a:avLst/>
                <a:gdLst/>
                <a:ahLst/>
                <a:cxnLst/>
                <a:rect l="0" t="0" r="r" b="b"/>
                <a:pathLst>
                  <a:path w="17586" h="30742">
                    <a:moveTo>
                      <a:pt x="17586" y="12144"/>
                    </a:moveTo>
                    <a:cubicBezTo>
                      <a:pt x="17586" y="1643"/>
                      <a:pt x="10247" y="0"/>
                      <a:pt x="7338" y="0"/>
                    </a:cubicBezTo>
                    <a:cubicBezTo>
                      <a:pt x="4175" y="0"/>
                      <a:pt x="0" y="1897"/>
                      <a:pt x="0" y="7334"/>
                    </a:cubicBezTo>
                    <a:cubicBezTo>
                      <a:pt x="0" y="12394"/>
                      <a:pt x="4556" y="13660"/>
                      <a:pt x="7842" y="13660"/>
                    </a:cubicBezTo>
                    <a:cubicBezTo>
                      <a:pt x="8727" y="13660"/>
                      <a:pt x="9362" y="13533"/>
                      <a:pt x="9739" y="13410"/>
                    </a:cubicBezTo>
                    <a:cubicBezTo>
                      <a:pt x="10247" y="13283"/>
                      <a:pt x="10628" y="13156"/>
                      <a:pt x="10878" y="13156"/>
                    </a:cubicBezTo>
                    <a:cubicBezTo>
                      <a:pt x="11767" y="13156"/>
                      <a:pt x="12652" y="13787"/>
                      <a:pt x="12652" y="14926"/>
                    </a:cubicBezTo>
                    <a:cubicBezTo>
                      <a:pt x="12652" y="17332"/>
                      <a:pt x="10628" y="23023"/>
                      <a:pt x="2278" y="28337"/>
                    </a:cubicBezTo>
                    <a:lnTo>
                      <a:pt x="3417" y="30742"/>
                    </a:lnTo>
                    <a:cubicBezTo>
                      <a:pt x="7211" y="29476"/>
                      <a:pt x="17586" y="21126"/>
                      <a:pt x="17586" y="1214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budgets_outline_4"/>
              <p:cNvSpPr/>
              <p:nvPr/>
            </p:nvSpPr>
            <p:spPr>
              <a:xfrm>
                <a:off x="2781315" y="1396863"/>
                <a:ext cx="80584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5" y="0"/>
                    </a:lnTo>
                    <a:lnTo>
                      <a:pt x="17585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4" y="43013"/>
                      <a:pt x="51236" y="44783"/>
                      <a:pt x="51236" y="47316"/>
                    </a:cubicBezTo>
                    <a:cubicBezTo>
                      <a:pt x="51236" y="49339"/>
                      <a:pt x="50982" y="50856"/>
                      <a:pt x="50224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budgets_outline_5"/>
              <p:cNvSpPr/>
              <p:nvPr/>
            </p:nvSpPr>
            <p:spPr>
              <a:xfrm>
                <a:off x="2872144" y="1390033"/>
                <a:ext cx="33270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3270" h="113856">
                    <a:moveTo>
                      <a:pt x="33270" y="56928"/>
                    </a:moveTo>
                    <a:lnTo>
                      <a:pt x="6072" y="0"/>
                    </a:lnTo>
                    <a:lnTo>
                      <a:pt x="0" y="0"/>
                    </a:lnTo>
                    <a:lnTo>
                      <a:pt x="24543" y="56928"/>
                    </a:lnTo>
                    <a:lnTo>
                      <a:pt x="0" y="113856"/>
                    </a:lnTo>
                    <a:lnTo>
                      <a:pt x="6072" y="113856"/>
                    </a:lnTo>
                    <a:lnTo>
                      <a:pt x="33270" y="5692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budgets_outline_6"/>
              <p:cNvSpPr/>
              <p:nvPr/>
            </p:nvSpPr>
            <p:spPr>
              <a:xfrm>
                <a:off x="2959784" y="1406857"/>
                <a:ext cx="64773" cy="7995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79954">
                    <a:moveTo>
                      <a:pt x="64774" y="63508"/>
                    </a:moveTo>
                    <a:lnTo>
                      <a:pt x="64774" y="56424"/>
                    </a:lnTo>
                    <a:lnTo>
                      <a:pt x="12144" y="31754"/>
                    </a:lnTo>
                    <a:lnTo>
                      <a:pt x="64774" y="7084"/>
                    </a:lnTo>
                    <a:lnTo>
                      <a:pt x="64774" y="0"/>
                    </a:lnTo>
                    <a:lnTo>
                      <a:pt x="0" y="30615"/>
                    </a:lnTo>
                    <a:lnTo>
                      <a:pt x="0" y="33147"/>
                    </a:lnTo>
                    <a:lnTo>
                      <a:pt x="64774" y="63508"/>
                    </a:lnTo>
                    <a:close/>
                    <a:moveTo>
                      <a:pt x="64774" y="79954"/>
                    </a:moveTo>
                    <a:lnTo>
                      <a:pt x="64774" y="73247"/>
                    </a:lnTo>
                    <a:lnTo>
                      <a:pt x="0" y="73247"/>
                    </a:lnTo>
                    <a:lnTo>
                      <a:pt x="0" y="79954"/>
                    </a:lnTo>
                    <a:lnTo>
                      <a:pt x="64774" y="79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budgets_outline_7"/>
              <p:cNvSpPr/>
              <p:nvPr/>
            </p:nvSpPr>
            <p:spPr>
              <a:xfrm>
                <a:off x="3073515" y="1393069"/>
                <a:ext cx="56927" cy="87796"/>
              </a:xfrm>
              <a:custGeom>
                <a:avLst/>
                <a:gdLst/>
                <a:ahLst/>
                <a:cxnLst/>
                <a:rect l="0" t="0" r="r" b="b"/>
                <a:pathLst>
                  <a:path w="56928" h="87797">
                    <a:moveTo>
                      <a:pt x="56928" y="45795"/>
                    </a:moveTo>
                    <a:cubicBezTo>
                      <a:pt x="56928" y="36941"/>
                      <a:pt x="50729" y="30615"/>
                      <a:pt x="42255" y="30615"/>
                    </a:cubicBezTo>
                    <a:cubicBezTo>
                      <a:pt x="33397" y="30615"/>
                      <a:pt x="26821" y="35802"/>
                      <a:pt x="17839" y="49717"/>
                    </a:cubicBezTo>
                    <a:lnTo>
                      <a:pt x="30996" y="631"/>
                    </a:lnTo>
                    <a:lnTo>
                      <a:pt x="30361" y="0"/>
                    </a:lnTo>
                    <a:cubicBezTo>
                      <a:pt x="24039" y="1139"/>
                      <a:pt x="19483" y="1897"/>
                      <a:pt x="11005" y="2909"/>
                    </a:cubicBezTo>
                    <a:lnTo>
                      <a:pt x="11005" y="5060"/>
                    </a:lnTo>
                    <a:cubicBezTo>
                      <a:pt x="18471" y="5314"/>
                      <a:pt x="19229" y="5691"/>
                      <a:pt x="19229" y="8473"/>
                    </a:cubicBezTo>
                    <a:cubicBezTo>
                      <a:pt x="19229" y="9612"/>
                      <a:pt x="18979" y="11005"/>
                      <a:pt x="18090" y="13915"/>
                    </a:cubicBezTo>
                    <a:lnTo>
                      <a:pt x="17458" y="16320"/>
                    </a:lnTo>
                    <a:lnTo>
                      <a:pt x="17204" y="17205"/>
                    </a:lnTo>
                    <a:lnTo>
                      <a:pt x="0" y="80585"/>
                    </a:lnTo>
                    <a:lnTo>
                      <a:pt x="0" y="81090"/>
                    </a:lnTo>
                    <a:cubicBezTo>
                      <a:pt x="0" y="83999"/>
                      <a:pt x="9616" y="87797"/>
                      <a:pt x="16828" y="87797"/>
                    </a:cubicBezTo>
                    <a:cubicBezTo>
                      <a:pt x="35929" y="87797"/>
                      <a:pt x="56928" y="65782"/>
                      <a:pt x="56928" y="45795"/>
                    </a:cubicBezTo>
                    <a:close/>
                    <a:moveTo>
                      <a:pt x="46176" y="47692"/>
                    </a:moveTo>
                    <a:cubicBezTo>
                      <a:pt x="46176" y="56043"/>
                      <a:pt x="39850" y="69580"/>
                      <a:pt x="32262" y="77422"/>
                    </a:cubicBezTo>
                    <a:cubicBezTo>
                      <a:pt x="27579" y="82229"/>
                      <a:pt x="22138" y="84884"/>
                      <a:pt x="16701" y="84884"/>
                    </a:cubicBezTo>
                    <a:cubicBezTo>
                      <a:pt x="12779" y="84884"/>
                      <a:pt x="10878" y="83495"/>
                      <a:pt x="10878" y="80585"/>
                    </a:cubicBezTo>
                    <a:cubicBezTo>
                      <a:pt x="10878" y="72993"/>
                      <a:pt x="14676" y="60849"/>
                      <a:pt x="19991" y="51360"/>
                    </a:cubicBezTo>
                    <a:cubicBezTo>
                      <a:pt x="25555" y="41620"/>
                      <a:pt x="31246" y="36814"/>
                      <a:pt x="37322" y="36814"/>
                    </a:cubicBezTo>
                    <a:cubicBezTo>
                      <a:pt x="42886" y="36814"/>
                      <a:pt x="46176" y="40989"/>
                      <a:pt x="46176" y="4769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budgets_outline_8"/>
              <p:cNvSpPr/>
              <p:nvPr/>
            </p:nvSpPr>
            <p:spPr>
              <a:xfrm>
                <a:off x="3144870" y="14339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6" name="module_budget"/>
          <p:cNvGrpSpPr/>
          <p:nvPr/>
        </p:nvGrpSpPr>
        <p:grpSpPr>
          <a:xfrm>
            <a:off x="3759200" y="38100"/>
            <a:ext cx="1244600" cy="2184400"/>
            <a:chOff x="3759200" y="38100"/>
            <a:chExt cx="1244600" cy="2184400"/>
          </a:xfrm>
        </p:grpSpPr>
        <p:sp>
          <p:nvSpPr>
            <p:cNvPr id="97" name="budget_border"/>
            <p:cNvSpPr/>
            <p:nvPr/>
          </p:nvSpPr>
          <p:spPr>
            <a:xfrm>
              <a:off x="3759200" y="38100"/>
              <a:ext cx="1244600" cy="21844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698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right_title"/>
            <p:cNvSpPr txBox="1"/>
            <p:nvPr/>
          </p:nvSpPr>
          <p:spPr>
            <a:xfrm>
              <a:off x="3810000" y="1016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0709"/>
                  </a:solidFill>
                  <a:latin typeface="Liberation Serif"/>
                </a:rPr>
                <a:t>Budget view</a:t>
              </a:r>
            </a:p>
          </p:txBody>
        </p:sp>
        <p:sp>
          <p:nvSpPr>
            <p:cNvPr id="99" name="right_sub"/>
            <p:cNvSpPr txBox="1"/>
            <p:nvPr/>
          </p:nvSpPr>
          <p:spPr>
            <a:xfrm>
              <a:off x="3810000" y="3175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constrain costs</a:t>
              </a:r>
            </a:p>
          </p:txBody>
        </p:sp>
        <p:sp>
          <p:nvSpPr>
            <p:cNvPr id="100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5" name="right_note"/>
            <p:cNvSpPr txBox="1"/>
            <p:nvPr/>
          </p:nvSpPr>
          <p:spPr>
            <a:xfrm>
              <a:off x="3797300" y="1790700"/>
              <a:ext cx="11684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Feedback-only prices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react late and oscillate.</a:t>
              </a:r>
            </a:p>
          </p:txBody>
        </p:sp>
        <p:sp>
          <p:nvSpPr>
            <p:cNvPr id="106" name="right_schematic"/>
            <p:cNvSpPr txBox="1"/>
            <p:nvPr/>
          </p:nvSpPr>
          <p:spPr>
            <a:xfrm>
              <a:off x="3810000" y="20828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27B"/>
                  </a:solidFill>
                  <a:latin typeface="Liberation Serif"/>
                </a:rPr>
                <a:t>(schematic)</a:t>
              </a:r>
            </a:p>
          </p:txBody>
        </p:sp>
        <p:grpSp>
          <p:nvGrpSpPr>
            <p:cNvPr id="107" name="budget_objective"/>
            <p:cNvGrpSpPr/>
            <p:nvPr/>
          </p:nvGrpSpPr>
          <p:grpSpPr>
            <a:xfrm>
              <a:off x="4044426" y="606911"/>
              <a:ext cx="652938" cy="144248"/>
              <a:chOff x="4044426" y="606911"/>
              <a:chExt cx="652938" cy="144248"/>
            </a:xfrm>
          </p:grpSpPr>
          <p:sp>
            <p:nvSpPr>
              <p:cNvPr id="108" name="budget_objective_outline_0"/>
              <p:cNvSpPr/>
              <p:nvPr/>
            </p:nvSpPr>
            <p:spPr>
              <a:xfrm>
                <a:off x="4044426" y="615007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budget_objective_outline_1"/>
              <p:cNvSpPr/>
              <p:nvPr/>
            </p:nvSpPr>
            <p:spPr>
              <a:xfrm>
                <a:off x="4106436" y="670831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budget_objective_outline_2"/>
              <p:cNvSpPr/>
              <p:nvPr/>
            </p:nvSpPr>
            <p:spPr>
              <a:xfrm>
                <a:off x="4161753" y="67914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budget_objective_outline_3"/>
              <p:cNvSpPr/>
              <p:nvPr/>
            </p:nvSpPr>
            <p:spPr>
              <a:xfrm>
                <a:off x="4242150" y="606911"/>
                <a:ext cx="32385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5" h="116261">
                    <a:moveTo>
                      <a:pt x="31246" y="0"/>
                    </a:moveTo>
                    <a:cubicBezTo>
                      <a:pt x="12902" y="11890"/>
                      <a:pt x="0" y="32385"/>
                      <a:pt x="0" y="58194"/>
                    </a:cubicBezTo>
                    <a:cubicBezTo>
                      <a:pt x="0" y="81725"/>
                      <a:pt x="13410" y="105505"/>
                      <a:pt x="30869" y="116261"/>
                    </a:cubicBezTo>
                    <a:lnTo>
                      <a:pt x="32385" y="114237"/>
                    </a:lnTo>
                    <a:cubicBezTo>
                      <a:pt x="15688" y="101080"/>
                      <a:pt x="10878" y="85773"/>
                      <a:pt x="10878" y="57813"/>
                    </a:cubicBezTo>
                    <a:cubicBezTo>
                      <a:pt x="10878" y="29730"/>
                      <a:pt x="16066" y="15180"/>
                      <a:pt x="32385" y="2024"/>
                    </a:cubicBezTo>
                    <a:lnTo>
                      <a:pt x="31246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budget_objective_outline_4"/>
              <p:cNvSpPr/>
              <p:nvPr/>
            </p:nvSpPr>
            <p:spPr>
              <a:xfrm>
                <a:off x="4286561" y="641828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20"/>
                    </a:cubicBezTo>
                    <a:lnTo>
                      <a:pt x="3540" y="16320"/>
                    </a:lnTo>
                    <a:cubicBezTo>
                      <a:pt x="4175" y="15434"/>
                      <a:pt x="8854" y="9235"/>
                      <a:pt x="15431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budget_objective_outline_5"/>
              <p:cNvSpPr/>
              <p:nvPr/>
            </p:nvSpPr>
            <p:spPr>
              <a:xfrm>
                <a:off x="4360700" y="606911"/>
                <a:ext cx="32388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9" h="116261">
                    <a:moveTo>
                      <a:pt x="1139" y="0"/>
                    </a:moveTo>
                    <a:lnTo>
                      <a:pt x="0" y="2024"/>
                    </a:lnTo>
                    <a:cubicBezTo>
                      <a:pt x="16319" y="15180"/>
                      <a:pt x="21507" y="29730"/>
                      <a:pt x="21507" y="57813"/>
                    </a:cubicBezTo>
                    <a:cubicBezTo>
                      <a:pt x="21507" y="85773"/>
                      <a:pt x="16700" y="101080"/>
                      <a:pt x="0" y="114237"/>
                    </a:cubicBezTo>
                    <a:lnTo>
                      <a:pt x="1520" y="116261"/>
                    </a:lnTo>
                    <a:cubicBezTo>
                      <a:pt x="18979" y="105505"/>
                      <a:pt x="32389" y="81725"/>
                      <a:pt x="32389" y="58194"/>
                    </a:cubicBezTo>
                    <a:cubicBezTo>
                      <a:pt x="32389" y="32385"/>
                      <a:pt x="19483" y="11890"/>
                      <a:pt x="1139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budget_objective_outline_6"/>
              <p:cNvSpPr/>
              <p:nvPr/>
            </p:nvSpPr>
            <p:spPr>
              <a:xfrm>
                <a:off x="4448493" y="625001"/>
                <a:ext cx="64773" cy="7995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79954">
                    <a:moveTo>
                      <a:pt x="64774" y="63508"/>
                    </a:moveTo>
                    <a:lnTo>
                      <a:pt x="64774" y="56424"/>
                    </a:lnTo>
                    <a:lnTo>
                      <a:pt x="12144" y="31754"/>
                    </a:lnTo>
                    <a:lnTo>
                      <a:pt x="64774" y="7084"/>
                    </a:lnTo>
                    <a:lnTo>
                      <a:pt x="64774" y="0"/>
                    </a:lnTo>
                    <a:lnTo>
                      <a:pt x="0" y="30615"/>
                    </a:lnTo>
                    <a:lnTo>
                      <a:pt x="0" y="33147"/>
                    </a:lnTo>
                    <a:lnTo>
                      <a:pt x="64774" y="63508"/>
                    </a:lnTo>
                    <a:close/>
                    <a:moveTo>
                      <a:pt x="64774" y="79954"/>
                    </a:moveTo>
                    <a:lnTo>
                      <a:pt x="64774" y="73247"/>
                    </a:lnTo>
                    <a:lnTo>
                      <a:pt x="0" y="73247"/>
                    </a:lnTo>
                    <a:lnTo>
                      <a:pt x="0" y="79954"/>
                    </a:lnTo>
                    <a:lnTo>
                      <a:pt x="64774" y="79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budget_objective_outline_7"/>
              <p:cNvSpPr/>
              <p:nvPr/>
            </p:nvSpPr>
            <p:spPr>
              <a:xfrm>
                <a:off x="4560174" y="61500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budget_objective_outline_8"/>
              <p:cNvSpPr/>
              <p:nvPr/>
            </p:nvSpPr>
            <p:spPr>
              <a:xfrm>
                <a:off x="4646727" y="65213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7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118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20" name="module_price_bridge"/>
          <p:cNvGrpSpPr/>
          <p:nvPr/>
        </p:nvGrpSpPr>
        <p:grpSpPr>
          <a:xfrm>
            <a:off x="50800" y="2260600"/>
            <a:ext cx="4927600" cy="317500"/>
            <a:chOff x="50800" y="2260600"/>
            <a:chExt cx="4927600" cy="317500"/>
          </a:xfrm>
        </p:grpSpPr>
        <p:sp>
          <p:nvSpPr>
            <p:cNvPr id="121" name="price_band"/>
            <p:cNvSpPr/>
            <p:nvPr/>
          </p:nvSpPr>
          <p:spPr>
            <a:xfrm>
              <a:off x="50800" y="2260600"/>
              <a:ext cx="4927600" cy="317500"/>
            </a:xfrm>
            <a:prstGeom prst="roundRect">
              <a:avLst>
                <a:gd name="adj" fmla="val 2500"/>
              </a:avLst>
            </a:prstGeom>
            <a:solidFill>
              <a:srgbClr val="F2F7F1"/>
            </a:solidFill>
            <a:ln w="635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raw_to_filter"/>
            <p:cNvSpPr/>
            <p:nvPr/>
          </p:nvSpPr>
          <p:spPr>
            <a:xfrm>
              <a:off x="342900" y="24257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7620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filter"/>
            <p:cNvSpPr txBox="1"/>
            <p:nvPr/>
          </p:nvSpPr>
          <p:spPr>
            <a:xfrm>
              <a:off x="457200" y="2311400"/>
              <a:ext cx="5842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24" name="filter_to_price"/>
            <p:cNvSpPr/>
            <p:nvPr/>
          </p:nvSpPr>
          <p:spPr>
            <a:xfrm>
              <a:off x="1054100" y="24257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7620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feedback_note"/>
            <p:cNvSpPr txBox="1"/>
            <p:nvPr/>
          </p:nvSpPr>
          <p:spPr>
            <a:xfrm>
              <a:off x="2540000" y="2273300"/>
              <a:ext cx="6604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F45C1A"/>
                  </a:solidFill>
                  <a:latin typeface="Liberation Serif"/>
                </a:rPr>
                <a:t>observed-cost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F45C1A"/>
                  </a:solidFill>
                  <a:latin typeface="Liberation Serif"/>
                </a:rPr>
                <a:t>feedback</a:t>
              </a:r>
            </a:p>
          </p:txBody>
        </p:sp>
        <p:sp>
          <p:nvSpPr>
            <p:cNvPr id="126" name="price_to_actor"/>
            <p:cNvSpPr/>
            <p:nvPr/>
          </p:nvSpPr>
          <p:spPr>
            <a:xfrm>
              <a:off x="3225800" y="24257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8890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actor"/>
            <p:cNvSpPr txBox="1"/>
            <p:nvPr/>
          </p:nvSpPr>
          <p:spPr>
            <a:xfrm>
              <a:off x="3365500" y="2311400"/>
              <a:ext cx="609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1" i="0">
                  <a:solidFill>
                    <a:srgbClr val="101010"/>
                  </a:solidFill>
                  <a:latin typeface="Liberation Serif"/>
                </a:rPr>
                <a:t>priced actor</a:t>
              </a:r>
            </a:p>
          </p:txBody>
        </p:sp>
        <p:sp>
          <p:nvSpPr>
            <p:cNvPr id="128" name="algorithm"/>
            <p:cNvSpPr txBox="1"/>
            <p:nvPr/>
          </p:nvSpPr>
          <p:spPr>
            <a:xfrm>
              <a:off x="4013200" y="2311400"/>
              <a:ext cx="5842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129" name="actor_next"/>
            <p:cNvSpPr/>
            <p:nvPr/>
          </p:nvSpPr>
          <p:spPr>
            <a:xfrm>
              <a:off x="4610100" y="2425700"/>
              <a:ext cx="76200" cy="127"/>
            </a:xfrm>
            <a:custGeom>
              <a:avLst/>
              <a:gdLst/>
              <a:ahLst/>
              <a:cxnLst/>
              <a:rect l="0" t="0" r="r" b="b"/>
              <a:pathLst>
                <a:path w="76200" h="1" fill="none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7620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0" name="raw_duals"/>
            <p:cNvGrpSpPr/>
            <p:nvPr/>
          </p:nvGrpSpPr>
          <p:grpSpPr>
            <a:xfrm>
              <a:off x="147674" y="2346692"/>
              <a:ext cx="125785" cy="146196"/>
              <a:chOff x="147674" y="2346692"/>
              <a:chExt cx="125785" cy="146196"/>
            </a:xfrm>
          </p:grpSpPr>
          <p:sp>
            <p:nvSpPr>
              <p:cNvPr id="131" name="raw_duals_outline_0"/>
              <p:cNvSpPr/>
              <p:nvPr/>
            </p:nvSpPr>
            <p:spPr>
              <a:xfrm>
                <a:off x="147674" y="2356444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2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raw_duals_outline_1"/>
              <p:cNvSpPr/>
              <p:nvPr/>
            </p:nvSpPr>
            <p:spPr>
              <a:xfrm>
                <a:off x="222111" y="2346692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5" h="40156">
                    <a:moveTo>
                      <a:pt x="36005" y="12037"/>
                    </a:moveTo>
                    <a:cubicBezTo>
                      <a:pt x="36005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5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3" y="38600"/>
                      <a:pt x="21273" y="36628"/>
                    </a:cubicBezTo>
                    <a:cubicBezTo>
                      <a:pt x="21273" y="32373"/>
                      <a:pt x="18883" y="26980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5"/>
                      <a:pt x="34135" y="14942"/>
                    </a:cubicBezTo>
                    <a:cubicBezTo>
                      <a:pt x="35278" y="14319"/>
                      <a:pt x="36005" y="13387"/>
                      <a:pt x="36005" y="12037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raw_duals_outline_2"/>
              <p:cNvSpPr/>
              <p:nvPr/>
            </p:nvSpPr>
            <p:spPr>
              <a:xfrm>
                <a:off x="222822" y="242087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4" name="combined"/>
            <p:cNvGrpSpPr/>
            <p:nvPr/>
          </p:nvGrpSpPr>
          <p:grpSpPr>
            <a:xfrm>
              <a:off x="1497036" y="2340851"/>
              <a:ext cx="690974" cy="157377"/>
              <a:chOff x="1497036" y="2340851"/>
              <a:chExt cx="690974" cy="157377"/>
            </a:xfrm>
          </p:grpSpPr>
          <p:sp>
            <p:nvSpPr>
              <p:cNvPr id="135" name="combined_outline_0"/>
              <p:cNvSpPr/>
              <p:nvPr/>
            </p:nvSpPr>
            <p:spPr>
              <a:xfrm>
                <a:off x="1497036" y="2361784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2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combined_outline_1"/>
              <p:cNvSpPr/>
              <p:nvPr/>
            </p:nvSpPr>
            <p:spPr>
              <a:xfrm>
                <a:off x="1572185" y="239916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combined_outline_2"/>
              <p:cNvSpPr/>
              <p:nvPr/>
            </p:nvSpPr>
            <p:spPr>
              <a:xfrm>
                <a:off x="1676856" y="2395816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combined_outline_3"/>
              <p:cNvSpPr/>
              <p:nvPr/>
            </p:nvSpPr>
            <p:spPr>
              <a:xfrm>
                <a:off x="1807377" y="234085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combined_outline_4"/>
              <p:cNvSpPr/>
              <p:nvPr/>
            </p:nvSpPr>
            <p:spPr>
              <a:xfrm>
                <a:off x="1785009" y="2361784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2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combined_outline_5"/>
              <p:cNvSpPr/>
              <p:nvPr/>
            </p:nvSpPr>
            <p:spPr>
              <a:xfrm>
                <a:off x="1859445" y="2352032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5" h="40156">
                    <a:moveTo>
                      <a:pt x="36005" y="12037"/>
                    </a:moveTo>
                    <a:cubicBezTo>
                      <a:pt x="36005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2" y="16705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3" y="38600"/>
                      <a:pt x="21273" y="36628"/>
                    </a:cubicBezTo>
                    <a:cubicBezTo>
                      <a:pt x="21273" y="32373"/>
                      <a:pt x="18883" y="26980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5"/>
                      <a:pt x="34135" y="14942"/>
                    </a:cubicBezTo>
                    <a:cubicBezTo>
                      <a:pt x="35278" y="14319"/>
                      <a:pt x="36005" y="13387"/>
                      <a:pt x="36005" y="12037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combined_outline_6"/>
              <p:cNvSpPr/>
              <p:nvPr/>
            </p:nvSpPr>
            <p:spPr>
              <a:xfrm>
                <a:off x="1860170" y="242621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combined_outline_7"/>
              <p:cNvSpPr/>
              <p:nvPr/>
            </p:nvSpPr>
            <p:spPr>
              <a:xfrm>
                <a:off x="1957806" y="2379624"/>
                <a:ext cx="64773" cy="6502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combined_outline_8"/>
              <p:cNvSpPr/>
              <p:nvPr/>
            </p:nvSpPr>
            <p:spPr>
              <a:xfrm>
                <a:off x="2053237" y="2361784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8" y="34413"/>
                      <a:pt x="48073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6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combined_outline_9"/>
              <p:cNvSpPr/>
              <p:nvPr/>
            </p:nvSpPr>
            <p:spPr>
              <a:xfrm>
                <a:off x="2137373" y="239916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5" name="pi_next"/>
            <p:cNvGrpSpPr/>
            <p:nvPr/>
          </p:nvGrpSpPr>
          <p:grpSpPr>
            <a:xfrm>
              <a:off x="4716405" y="2377372"/>
              <a:ext cx="217856" cy="82537"/>
              <a:chOff x="4716405" y="2377372"/>
              <a:chExt cx="217856" cy="82537"/>
            </a:xfrm>
          </p:grpSpPr>
          <p:sp>
            <p:nvSpPr>
              <p:cNvPr id="146" name="pi_next_outline_0"/>
              <p:cNvSpPr/>
              <p:nvPr/>
            </p:nvSpPr>
            <p:spPr>
              <a:xfrm>
                <a:off x="4716405" y="23773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pi_next_outline_1"/>
              <p:cNvSpPr/>
              <p:nvPr/>
            </p:nvSpPr>
            <p:spPr>
              <a:xfrm>
                <a:off x="4789737" y="24019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pi_next_outline_2"/>
              <p:cNvSpPr/>
              <p:nvPr/>
            </p:nvSpPr>
            <p:spPr>
              <a:xfrm>
                <a:off x="4833836" y="24052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pi_next_outline_3"/>
              <p:cNvSpPr/>
              <p:nvPr/>
            </p:nvSpPr>
            <p:spPr>
              <a:xfrm>
                <a:off x="4904897" y="23884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50" name="module_spectrum"/>
          <p:cNvGrpSpPr/>
          <p:nvPr/>
        </p:nvGrpSpPr>
        <p:grpSpPr>
          <a:xfrm>
            <a:off x="38100" y="2057400"/>
            <a:ext cx="4914900" cy="939711"/>
            <a:chOff x="38100" y="2057400"/>
            <a:chExt cx="4914900" cy="939711"/>
          </a:xfrm>
        </p:grpSpPr>
        <p:sp>
          <p:nvSpPr>
            <p:cNvPr id="151" name="one_rule"/>
            <p:cNvSpPr txBox="1"/>
            <p:nvPr/>
          </p:nvSpPr>
          <p:spPr>
            <a:xfrm>
              <a:off x="38100" y="2578100"/>
              <a:ext cx="825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i="0">
                  <a:solidFill>
                    <a:srgbClr val="00621C"/>
                  </a:solidFill>
                  <a:latin typeface="Liberation Serif"/>
                </a:rPr>
                <a:t>One price rule</a:t>
              </a:r>
            </a:p>
          </p:txBody>
        </p:sp>
        <p:sp>
          <p:nvSpPr>
            <p:cNvPr id="152" name="exact"/>
            <p:cNvSpPr txBox="1"/>
            <p:nvPr/>
          </p:nvSpPr>
          <p:spPr>
            <a:xfrm>
              <a:off x="889000" y="2578100"/>
              <a:ext cx="1346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27B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53" name="limits"/>
            <p:cNvSpPr txBox="1"/>
            <p:nvPr/>
          </p:nvSpPr>
          <p:spPr>
            <a:xfrm>
              <a:off x="3238500" y="2578100"/>
              <a:ext cx="1714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27B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54" name="spectrum_axis0"/>
            <p:cNvSpPr/>
            <p:nvPr/>
          </p:nvSpPr>
          <p:spPr>
            <a:xfrm>
              <a:off x="228600" y="2857500"/>
              <a:ext cx="1397000" cy="127"/>
            </a:xfrm>
            <a:custGeom>
              <a:avLst/>
              <a:gdLst/>
              <a:ahLst/>
              <a:cxnLst/>
              <a:rect l="0" t="0" r="r" b="b"/>
              <a:pathLst>
                <a:path w="1397000" h="1" fill="none">
                  <a:moveTo>
                    <a:pt x="0" y="0"/>
                  </a:moveTo>
                  <a:lnTo>
                    <a:pt x="1397000" y="0"/>
                  </a:lnTo>
                </a:path>
              </a:pathLst>
            </a:custGeom>
            <a:noFill/>
            <a:ln w="952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spectrum_axis1"/>
            <p:cNvSpPr/>
            <p:nvPr/>
          </p:nvSpPr>
          <p:spPr>
            <a:xfrm>
              <a:off x="1625600" y="2857500"/>
              <a:ext cx="952500" cy="127"/>
            </a:xfrm>
            <a:custGeom>
              <a:avLst/>
              <a:gdLst/>
              <a:ahLst/>
              <a:cxnLst/>
              <a:rect l="0" t="0" r="r" b="b"/>
              <a:pathLst>
                <a:path w="952500" h="1" fill="none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spectrum_axis2"/>
            <p:cNvSpPr/>
            <p:nvPr/>
          </p:nvSpPr>
          <p:spPr>
            <a:xfrm>
              <a:off x="2578100" y="2857500"/>
              <a:ext cx="622300" cy="127"/>
            </a:xfrm>
            <a:custGeom>
              <a:avLst/>
              <a:gdLst/>
              <a:ahLst/>
              <a:cxnLst/>
              <a:rect l="0" t="0" r="r" b="b"/>
              <a:pathLst>
                <a:path w="622300" h="1" fill="none">
                  <a:moveTo>
                    <a:pt x="0" y="0"/>
                  </a:moveTo>
                  <a:lnTo>
                    <a:pt x="622300" y="0"/>
                  </a:lnTo>
                </a:path>
              </a:pathLst>
            </a:custGeom>
            <a:noFill/>
            <a:ln w="952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spectrum_axis3"/>
            <p:cNvSpPr/>
            <p:nvPr/>
          </p:nvSpPr>
          <p:spPr>
            <a:xfrm>
              <a:off x="3200400" y="2857500"/>
              <a:ext cx="1625600" cy="127"/>
            </a:xfrm>
            <a:custGeom>
              <a:avLst/>
              <a:gdLst/>
              <a:ahLst/>
              <a:cxnLst/>
              <a:rect l="0" t="0" r="r" b="b"/>
              <a:pathLst>
                <a:path w="1625600" h="1" fill="none">
                  <a:moveTo>
                    <a:pt x="0" y="0"/>
                  </a:moveTo>
                  <a:lnTo>
                    <a:pt x="1625600" y="0"/>
                  </a:lnTo>
                </a:path>
              </a:pathLst>
            </a:custGeom>
            <a:noFill/>
            <a:ln w="952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0062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60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61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62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63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64" name="advance_price"/>
            <p:cNvSpPr txBox="1"/>
            <p:nvPr/>
          </p:nvSpPr>
          <p:spPr>
            <a:xfrm>
              <a:off x="1752600" y="2057400"/>
              <a:ext cx="1816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1" i="0">
                  <a:solidFill>
                    <a:srgbClr val="00621C"/>
                  </a:solidFill>
                  <a:latin typeface="Liberation Serif"/>
                </a:rPr>
                <a:t>can price before violation</a:t>
              </a:r>
            </a:p>
          </p:txBody>
        </p:sp>
        <p:grpSp>
          <p:nvGrpSpPr>
            <p:cNvPr id="165" name="fixed"/>
            <p:cNvGrpSpPr/>
            <p:nvPr/>
          </p:nvGrpSpPr>
          <p:grpSpPr>
            <a:xfrm>
              <a:off x="242375" y="2902979"/>
              <a:ext cx="611567" cy="93452"/>
              <a:chOff x="242375" y="2902979"/>
              <a:chExt cx="611567" cy="93452"/>
            </a:xfrm>
          </p:grpSpPr>
          <p:sp>
            <p:nvSpPr>
              <p:cNvPr id="166" name="fixed_outline_0"/>
              <p:cNvSpPr/>
              <p:nvPr/>
            </p:nvSpPr>
            <p:spPr>
              <a:xfrm>
                <a:off x="242375" y="2928387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2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fixed_outline_1"/>
              <p:cNvSpPr/>
              <p:nvPr/>
            </p:nvSpPr>
            <p:spPr>
              <a:xfrm>
                <a:off x="331883" y="2934162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fixed_outline_2"/>
              <p:cNvSpPr/>
              <p:nvPr/>
            </p:nvSpPr>
            <p:spPr>
              <a:xfrm>
                <a:off x="423855" y="2903714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2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fixed_outline_3"/>
              <p:cNvSpPr/>
              <p:nvPr/>
            </p:nvSpPr>
            <p:spPr>
              <a:xfrm>
                <a:off x="482243" y="2963983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fixed_outline_4"/>
              <p:cNvSpPr/>
              <p:nvPr/>
            </p:nvSpPr>
            <p:spPr>
              <a:xfrm>
                <a:off x="546287" y="2905916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6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8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1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fixed_outline_5"/>
              <p:cNvSpPr/>
              <p:nvPr/>
            </p:nvSpPr>
            <p:spPr>
              <a:xfrm>
                <a:off x="651335" y="2902979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5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5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8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fixed_outline_6"/>
              <p:cNvSpPr/>
              <p:nvPr/>
            </p:nvSpPr>
            <p:spPr>
              <a:xfrm>
                <a:off x="758380" y="2902979"/>
                <a:ext cx="95562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9" y="62476"/>
                      <a:pt x="30662" y="65520"/>
                      <a:pt x="23943" y="65520"/>
                    </a:cubicBezTo>
                    <a:cubicBezTo>
                      <a:pt x="18170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9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8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4" y="27194"/>
                    </a:cubicBezTo>
                    <a:cubicBezTo>
                      <a:pt x="25308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5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6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49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2"/>
                      <a:pt x="68995" y="26352"/>
                    </a:cubicBezTo>
                    <a:cubicBezTo>
                      <a:pt x="74559" y="26352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3" name="lag"/>
            <p:cNvGrpSpPr/>
            <p:nvPr/>
          </p:nvGrpSpPr>
          <p:grpSpPr>
            <a:xfrm>
              <a:off x="1236557" y="2902612"/>
              <a:ext cx="755517" cy="94499"/>
              <a:chOff x="1236557" y="2902612"/>
              <a:chExt cx="755517" cy="94499"/>
            </a:xfrm>
          </p:grpSpPr>
          <p:sp>
            <p:nvSpPr>
              <p:cNvPr id="174" name="lag_outline_0"/>
              <p:cNvSpPr/>
              <p:nvPr/>
            </p:nvSpPr>
            <p:spPr>
              <a:xfrm>
                <a:off x="1236557" y="2928020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8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2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6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lag_outline_1"/>
              <p:cNvSpPr/>
              <p:nvPr/>
            </p:nvSpPr>
            <p:spPr>
              <a:xfrm>
                <a:off x="1326064" y="2933794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lag_outline_2"/>
              <p:cNvSpPr/>
              <p:nvPr/>
            </p:nvSpPr>
            <p:spPr>
              <a:xfrm>
                <a:off x="1418036" y="2903346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49">
                    <a:moveTo>
                      <a:pt x="47462" y="36330"/>
                    </a:moveTo>
                    <a:cubicBezTo>
                      <a:pt x="47462" y="14803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49"/>
                      <a:pt x="23729" y="72449"/>
                    </a:cubicBezTo>
                    <a:cubicBezTo>
                      <a:pt x="29087" y="72449"/>
                      <a:pt x="33599" y="70668"/>
                      <a:pt x="37382" y="66992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lag_outline_3"/>
              <p:cNvSpPr/>
              <p:nvPr/>
            </p:nvSpPr>
            <p:spPr>
              <a:xfrm>
                <a:off x="1476425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lag_outline_4"/>
              <p:cNvSpPr/>
              <p:nvPr/>
            </p:nvSpPr>
            <p:spPr>
              <a:xfrm>
                <a:off x="1540468" y="2905549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7"/>
                    </a:lnTo>
                    <a:cubicBezTo>
                      <a:pt x="50403" y="31187"/>
                      <a:pt x="71192" y="27408"/>
                      <a:pt x="71192" y="12077"/>
                    </a:cubicBezTo>
                    <a:close/>
                    <a:moveTo>
                      <a:pt x="60798" y="11867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2"/>
                      <a:pt x="54289" y="45573"/>
                    </a:cubicBezTo>
                    <a:cubicBezTo>
                      <a:pt x="54289" y="56075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lag_outline_5"/>
              <p:cNvSpPr/>
              <p:nvPr/>
            </p:nvSpPr>
            <p:spPr>
              <a:xfrm>
                <a:off x="1646148" y="2902612"/>
                <a:ext cx="302857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2"/>
                      <a:pt x="6509" y="39692"/>
                    </a:cubicBezTo>
                    <a:cubicBezTo>
                      <a:pt x="9029" y="39692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600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6"/>
                      <a:pt x="8295" y="48403"/>
                      <a:pt x="3778" y="52396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6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2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1" y="26352"/>
                      <a:pt x="67733" y="26352"/>
                    </a:cubicBezTo>
                    <a:cubicBezTo>
                      <a:pt x="73297" y="26352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3" y="66254"/>
                      <a:pt x="138616" y="66782"/>
                      <a:pt x="137040" y="66782"/>
                    </a:cubicBezTo>
                    <a:cubicBezTo>
                      <a:pt x="134623" y="66782"/>
                      <a:pt x="133889" y="65310"/>
                      <a:pt x="133889" y="60690"/>
                    </a:cubicBezTo>
                    <a:lnTo>
                      <a:pt x="133889" y="40215"/>
                    </a:lnTo>
                    <a:cubicBezTo>
                      <a:pt x="133889" y="34858"/>
                      <a:pt x="133364" y="31921"/>
                      <a:pt x="131896" y="29504"/>
                    </a:cubicBezTo>
                    <a:cubicBezTo>
                      <a:pt x="129690" y="25515"/>
                      <a:pt x="125173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2"/>
                      <a:pt x="105643" y="39692"/>
                    </a:cubicBezTo>
                    <a:cubicBezTo>
                      <a:pt x="108163" y="39692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600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4" y="28980"/>
                      <a:pt x="125384" y="34651"/>
                    </a:cubicBezTo>
                    <a:lnTo>
                      <a:pt x="125384" y="41053"/>
                    </a:lnTo>
                    <a:cubicBezTo>
                      <a:pt x="109215" y="47566"/>
                      <a:pt x="107429" y="48403"/>
                      <a:pt x="102913" y="52396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0" y="65099"/>
                    </a:cubicBezTo>
                    <a:cubicBezTo>
                      <a:pt x="126015" y="70664"/>
                      <a:pt x="127903" y="72767"/>
                      <a:pt x="132210" y="72767"/>
                    </a:cubicBezTo>
                    <a:cubicBezTo>
                      <a:pt x="135782" y="72767"/>
                      <a:pt x="137985" y="71505"/>
                      <a:pt x="141660" y="67516"/>
                    </a:cubicBezTo>
                    <a:close/>
                    <a:moveTo>
                      <a:pt x="125384" y="58801"/>
                    </a:moveTo>
                    <a:cubicBezTo>
                      <a:pt x="125384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4" y="43573"/>
                    </a:cubicBezTo>
                    <a:lnTo>
                      <a:pt x="125384" y="58801"/>
                    </a:lnTo>
                    <a:close/>
                    <a:moveTo>
                      <a:pt x="191227" y="45780"/>
                    </a:moveTo>
                    <a:cubicBezTo>
                      <a:pt x="191227" y="32758"/>
                      <a:pt x="183877" y="23416"/>
                      <a:pt x="173693" y="23416"/>
                    </a:cubicBezTo>
                    <a:cubicBezTo>
                      <a:pt x="167812" y="23416"/>
                      <a:pt x="163192" y="26039"/>
                      <a:pt x="158573" y="31710"/>
                    </a:cubicBezTo>
                    <a:lnTo>
                      <a:pt x="158573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1" y="28770"/>
                    </a:cubicBezTo>
                    <a:lnTo>
                      <a:pt x="142821" y="30448"/>
                    </a:lnTo>
                    <a:cubicBezTo>
                      <a:pt x="143764" y="30345"/>
                      <a:pt x="144500" y="30345"/>
                      <a:pt x="145447" y="30345"/>
                    </a:cubicBezTo>
                    <a:cubicBezTo>
                      <a:pt x="149016" y="30345"/>
                      <a:pt x="149750" y="31393"/>
                      <a:pt x="149750" y="36330"/>
                    </a:cubicBezTo>
                    <a:lnTo>
                      <a:pt x="149750" y="85471"/>
                    </a:lnTo>
                    <a:cubicBezTo>
                      <a:pt x="149750" y="90932"/>
                      <a:pt x="148595" y="92087"/>
                      <a:pt x="142399" y="92714"/>
                    </a:cubicBezTo>
                    <a:lnTo>
                      <a:pt x="142399" y="94500"/>
                    </a:lnTo>
                    <a:lnTo>
                      <a:pt x="167812" y="94500"/>
                    </a:lnTo>
                    <a:lnTo>
                      <a:pt x="167812" y="92611"/>
                    </a:lnTo>
                    <a:cubicBezTo>
                      <a:pt x="159938" y="92508"/>
                      <a:pt x="158573" y="91353"/>
                      <a:pt x="158573" y="84737"/>
                    </a:cubicBezTo>
                    <a:lnTo>
                      <a:pt x="158573" y="68251"/>
                    </a:lnTo>
                    <a:cubicBezTo>
                      <a:pt x="162248" y="71715"/>
                      <a:pt x="164768" y="72767"/>
                      <a:pt x="169177" y="72767"/>
                    </a:cubicBezTo>
                    <a:cubicBezTo>
                      <a:pt x="181567" y="72767"/>
                      <a:pt x="191227" y="61004"/>
                      <a:pt x="191227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1" y="69406"/>
                    </a:cubicBezTo>
                    <a:cubicBezTo>
                      <a:pt x="164557" y="69406"/>
                      <a:pt x="158573" y="65623"/>
                      <a:pt x="158573" y="62476"/>
                    </a:cubicBezTo>
                    <a:lnTo>
                      <a:pt x="158573" y="36644"/>
                    </a:lnTo>
                    <a:cubicBezTo>
                      <a:pt x="158573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0" y="64786"/>
                    </a:moveTo>
                    <a:lnTo>
                      <a:pt x="222315" y="63631"/>
                    </a:lnTo>
                    <a:cubicBezTo>
                      <a:pt x="220006" y="66362"/>
                      <a:pt x="218324" y="67306"/>
                      <a:pt x="216013" y="67306"/>
                    </a:cubicBezTo>
                    <a:cubicBezTo>
                      <a:pt x="212127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1" y="27825"/>
                    </a:lnTo>
                    <a:lnTo>
                      <a:pt x="221161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5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3" y="19633"/>
                      <a:pt x="200265" y="23519"/>
                      <a:pt x="197535" y="25094"/>
                    </a:cubicBezTo>
                    <a:cubicBezTo>
                      <a:pt x="196379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5"/>
                      <a:pt x="196170" y="27825"/>
                    </a:cubicBezTo>
                    <a:lnTo>
                      <a:pt x="201734" y="27825"/>
                    </a:lnTo>
                    <a:lnTo>
                      <a:pt x="201734" y="59428"/>
                    </a:lnTo>
                    <a:cubicBezTo>
                      <a:pt x="201734" y="68251"/>
                      <a:pt x="204884" y="72767"/>
                      <a:pt x="210973" y="72767"/>
                    </a:cubicBezTo>
                    <a:cubicBezTo>
                      <a:pt x="216223" y="72767"/>
                      <a:pt x="220212" y="70247"/>
                      <a:pt x="223680" y="64786"/>
                    </a:cubicBezTo>
                    <a:close/>
                    <a:moveTo>
                      <a:pt x="250145" y="71715"/>
                    </a:moveTo>
                    <a:lnTo>
                      <a:pt x="250145" y="70140"/>
                    </a:lnTo>
                    <a:cubicBezTo>
                      <a:pt x="243216" y="69616"/>
                      <a:pt x="242374" y="68564"/>
                      <a:pt x="242374" y="61004"/>
                    </a:cubicBezTo>
                    <a:lnTo>
                      <a:pt x="242374" y="23729"/>
                    </a:lnTo>
                    <a:lnTo>
                      <a:pt x="241953" y="23416"/>
                    </a:lnTo>
                    <a:lnTo>
                      <a:pt x="225677" y="29190"/>
                    </a:lnTo>
                    <a:lnTo>
                      <a:pt x="225677" y="30766"/>
                    </a:lnTo>
                    <a:lnTo>
                      <a:pt x="226519" y="30659"/>
                    </a:lnTo>
                    <a:cubicBezTo>
                      <a:pt x="227776" y="30448"/>
                      <a:pt x="229141" y="30345"/>
                      <a:pt x="230086" y="30345"/>
                    </a:cubicBezTo>
                    <a:cubicBezTo>
                      <a:pt x="232606" y="30345"/>
                      <a:pt x="233551" y="32024"/>
                      <a:pt x="233551" y="36644"/>
                    </a:cubicBezTo>
                    <a:lnTo>
                      <a:pt x="233551" y="61004"/>
                    </a:lnTo>
                    <a:cubicBezTo>
                      <a:pt x="233551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5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6" y="2413"/>
                      <a:pt x="232606" y="5354"/>
                    </a:cubicBezTo>
                    <a:cubicBezTo>
                      <a:pt x="232606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4" y="24463"/>
                    </a:lnTo>
                    <a:lnTo>
                      <a:pt x="288264" y="26039"/>
                    </a:lnTo>
                    <a:cubicBezTo>
                      <a:pt x="291622" y="26352"/>
                      <a:pt x="293198" y="27404"/>
                      <a:pt x="293198" y="29400"/>
                    </a:cubicBezTo>
                    <a:cubicBezTo>
                      <a:pt x="293198" y="30448"/>
                      <a:pt x="292987" y="31500"/>
                      <a:pt x="292566" y="32548"/>
                    </a:cubicBezTo>
                    <a:lnTo>
                      <a:pt x="282173" y="59746"/>
                    </a:lnTo>
                    <a:lnTo>
                      <a:pt x="271460" y="32865"/>
                    </a:lnTo>
                    <a:cubicBezTo>
                      <a:pt x="270833" y="31393"/>
                      <a:pt x="270515" y="29924"/>
                      <a:pt x="270515" y="28980"/>
                    </a:cubicBezTo>
                    <a:cubicBezTo>
                      <a:pt x="270515" y="27091"/>
                      <a:pt x="271671" y="26352"/>
                      <a:pt x="275347" y="26039"/>
                    </a:cubicBezTo>
                    <a:lnTo>
                      <a:pt x="275347" y="24463"/>
                    </a:lnTo>
                    <a:lnTo>
                      <a:pt x="254767" y="24463"/>
                    </a:lnTo>
                    <a:lnTo>
                      <a:pt x="254767" y="26039"/>
                    </a:lnTo>
                    <a:cubicBezTo>
                      <a:pt x="258757" y="26249"/>
                      <a:pt x="259491" y="27301"/>
                      <a:pt x="264320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6" y="69616"/>
                      <a:pt x="277763" y="70457"/>
                    </a:cubicBezTo>
                    <a:cubicBezTo>
                      <a:pt x="278395" y="72346"/>
                      <a:pt x="279021" y="73184"/>
                      <a:pt x="279652" y="73184"/>
                    </a:cubicBezTo>
                    <a:cubicBezTo>
                      <a:pt x="280283" y="73184"/>
                      <a:pt x="281017" y="71819"/>
                      <a:pt x="282593" y="67937"/>
                    </a:cubicBezTo>
                    <a:lnTo>
                      <a:pt x="296031" y="34231"/>
                    </a:lnTo>
                    <a:cubicBezTo>
                      <a:pt x="299079" y="27091"/>
                      <a:pt x="299706" y="26352"/>
                      <a:pt x="302857" y="2603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lag_outline_6"/>
              <p:cNvSpPr/>
              <p:nvPr/>
            </p:nvSpPr>
            <p:spPr>
              <a:xfrm>
                <a:off x="1950177" y="2926028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18" y="31079"/>
                    </a:lnTo>
                    <a:cubicBezTo>
                      <a:pt x="35179" y="39060"/>
                      <a:pt x="30662" y="42105"/>
                      <a:pt x="23943" y="42105"/>
                    </a:cubicBezTo>
                    <a:cubicBezTo>
                      <a:pt x="18169" y="42105"/>
                      <a:pt x="13755" y="39374"/>
                      <a:pt x="10711" y="33703"/>
                    </a:cubicBezTo>
                    <a:cubicBezTo>
                      <a:pt x="8612" y="29611"/>
                      <a:pt x="7770" y="25936"/>
                      <a:pt x="7560" y="19213"/>
                    </a:cubicBezTo>
                    <a:lnTo>
                      <a:pt x="39901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8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0" y="15855"/>
                    </a:lnTo>
                    <a:cubicBezTo>
                      <a:pt x="8926" y="7561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1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182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4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185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8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189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