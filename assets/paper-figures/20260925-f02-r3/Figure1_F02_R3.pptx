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762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4130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unified_graph_edge_0_1.4" descr="Editable line; source id unified_graph_edge_0_1.4"/>
          <p:cNvSpPr/>
          <p:nvPr/>
        </p:nvSpPr>
        <p:spPr>
          <a:xfrm>
            <a:off x="1461552" y="591533"/>
            <a:ext cx="479196" cy="181425"/>
          </a:xfrm>
          <a:custGeom>
            <a:avLst/>
            <a:gdLst/>
            <a:ahLst/>
            <a:cxnLst/>
            <a:rect l="l" t="t" r="r" b="b"/>
            <a:pathLst>
              <a:path w="188660" h="71427">
                <a:moveTo>
                  <a:pt x="0" y="67201"/>
                </a:moveTo>
                <a:lnTo>
                  <a:pt x="171452" y="4461"/>
                </a:lnTo>
                <a:lnTo>
                  <a:pt x="169820" y="0"/>
                </a:lnTo>
                <a:lnTo>
                  <a:pt x="188660" y="560"/>
                </a:lnTo>
                <a:lnTo>
                  <a:pt x="174631" y="13147"/>
                </a:lnTo>
                <a:lnTo>
                  <a:pt x="172999" y="8686"/>
                </a:lnTo>
                <a:lnTo>
                  <a:pt x="1547" y="71427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unified_graph_edge_1_1.4" descr="Editable line; source id unified_graph_edge_1_1.4"/>
          <p:cNvSpPr/>
          <p:nvPr/>
        </p:nvSpPr>
        <p:spPr>
          <a:xfrm>
            <a:off x="2033143" y="5588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4750"/>
                </a:moveTo>
                <a:lnTo>
                  <a:pt x="326600" y="47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unified_graph_edge_2_1.4" descr="Editable line; source id unified_graph_edge_2_1.4"/>
          <p:cNvSpPr/>
          <p:nvPr/>
        </p:nvSpPr>
        <p:spPr>
          <a:xfrm>
            <a:off x="2997589" y="587588"/>
            <a:ext cx="479194" cy="181425"/>
          </a:xfrm>
          <a:custGeom>
            <a:avLst/>
            <a:gdLst/>
            <a:ahLst/>
            <a:cxnLst/>
            <a:rect l="l" t="t" r="r" b="b"/>
            <a:pathLst>
              <a:path w="188659" h="71427">
                <a:moveTo>
                  <a:pt x="1547" y="0"/>
                </a:moveTo>
                <a:lnTo>
                  <a:pt x="172998" y="62740"/>
                </a:lnTo>
                <a:lnTo>
                  <a:pt x="174631" y="58279"/>
                </a:lnTo>
                <a:lnTo>
                  <a:pt x="188659" y="70867"/>
                </a:lnTo>
                <a:lnTo>
                  <a:pt x="169820" y="71427"/>
                </a:lnTo>
                <a:lnTo>
                  <a:pt x="171452" y="66966"/>
                </a:lnTo>
                <a:lnTo>
                  <a:pt x="0" y="4226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2573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7018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event: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Can price before violation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4610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Fstar_legend"/>
          <p:cNvGrpSpPr/>
          <p:nvPr/>
        </p:nvGrpSpPr>
        <p:grpSpPr>
          <a:xfrm>
            <a:off x="1903346" y="408856"/>
            <a:ext cx="135404" cy="97213"/>
            <a:chOff x="1903346" y="408856"/>
            <a:chExt cx="135404" cy="97213"/>
          </a:xfrm>
        </p:grpSpPr>
        <p:sp>
          <p:nvSpPr>
            <p:cNvPr id="446" name="Fstar_legend_outline_0"/>
            <p:cNvSpPr/>
            <p:nvPr/>
          </p:nvSpPr>
          <p:spPr>
            <a:xfrm>
              <a:off x="1903346" y="41519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Fstar_legend_outline_1"/>
            <p:cNvSpPr/>
            <p:nvPr/>
          </p:nvSpPr>
          <p:spPr>
            <a:xfrm>
              <a:off x="2002746" y="40885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raw_dual"/>
          <p:cNvGrpSpPr/>
          <p:nvPr/>
        </p:nvGrpSpPr>
        <p:grpSpPr>
          <a:xfrm>
            <a:off x="2195300" y="1532463"/>
            <a:ext cx="132671" cy="149041"/>
            <a:chOff x="2195300" y="1532463"/>
            <a:chExt cx="132671" cy="149041"/>
          </a:xfrm>
        </p:grpSpPr>
        <p:sp>
          <p:nvSpPr>
            <p:cNvPr id="457" name="raw_dual_outline_0"/>
            <p:cNvSpPr/>
            <p:nvPr/>
          </p:nvSpPr>
          <p:spPr>
            <a:xfrm>
              <a:off x="2195300" y="1538526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aw_dual_outline_1"/>
            <p:cNvSpPr/>
            <p:nvPr/>
          </p:nvSpPr>
          <p:spPr>
            <a:xfrm>
              <a:off x="2276546" y="153246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8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8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aw_dual_outline_2"/>
            <p:cNvSpPr/>
            <p:nvPr/>
          </p:nvSpPr>
          <p:spPr>
            <a:xfrm>
              <a:off x="2277334" y="160949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filter_chain"/>
          <p:cNvGrpSpPr/>
          <p:nvPr/>
        </p:nvGrpSpPr>
        <p:grpSpPr>
          <a:xfrm>
            <a:off x="2004956" y="1769351"/>
            <a:ext cx="998711" cy="157377"/>
            <a:chOff x="2004956" y="1769351"/>
            <a:chExt cx="998711" cy="157377"/>
          </a:xfrm>
        </p:grpSpPr>
        <p:sp>
          <p:nvSpPr>
            <p:cNvPr id="460" name="filter_chain_outline_0"/>
            <p:cNvSpPr/>
            <p:nvPr/>
          </p:nvSpPr>
          <p:spPr>
            <a:xfrm>
              <a:off x="2004956" y="178674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1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filter_chain_outline_1"/>
            <p:cNvSpPr/>
            <p:nvPr/>
          </p:nvSpPr>
          <p:spPr>
            <a:xfrm>
              <a:off x="2228240" y="1810906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filter_chain_outline_2"/>
            <p:cNvSpPr/>
            <p:nvPr/>
          </p:nvSpPr>
          <p:spPr>
            <a:xfrm>
              <a:off x="2327669" y="1787883"/>
              <a:ext cx="277580" cy="85264"/>
            </a:xfrm>
            <a:custGeom>
              <a:avLst/>
              <a:gdLst/>
              <a:ahLst/>
              <a:cxnLst/>
              <a:rect l="0" t="0" r="r" b="b"/>
              <a:pathLst>
                <a:path w="277580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5" y="56043"/>
                  </a:lnTo>
                  <a:lnTo>
                    <a:pt x="60215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4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11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4" y="6072"/>
                    <a:pt x="89574" y="15307"/>
                  </a:cubicBezTo>
                  <a:lnTo>
                    <a:pt x="89574" y="66667"/>
                  </a:lnTo>
                  <a:cubicBezTo>
                    <a:pt x="89574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80" y="85265"/>
                  </a:moveTo>
                  <a:lnTo>
                    <a:pt x="277580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7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1" y="73624"/>
                    <a:pt x="254175" y="76787"/>
                    <a:pt x="254175" y="78684"/>
                  </a:cubicBezTo>
                  <a:cubicBezTo>
                    <a:pt x="254175" y="79823"/>
                    <a:pt x="253418" y="81216"/>
                    <a:pt x="252406" y="81721"/>
                  </a:cubicBezTo>
                  <a:cubicBezTo>
                    <a:pt x="250890" y="82610"/>
                    <a:pt x="249878" y="82860"/>
                    <a:pt x="245322" y="82860"/>
                  </a:cubicBezTo>
                  <a:lnTo>
                    <a:pt x="245322" y="85265"/>
                  </a:lnTo>
                  <a:lnTo>
                    <a:pt x="277580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filter_chain_outline_3"/>
            <p:cNvSpPr/>
            <p:nvPr/>
          </p:nvSpPr>
          <p:spPr>
            <a:xfrm>
              <a:off x="2685478" y="181470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filter_chain_outline_4"/>
            <p:cNvSpPr/>
            <p:nvPr/>
          </p:nvSpPr>
          <p:spPr>
            <a:xfrm>
              <a:off x="2900237" y="17693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filter_chain_outline_5"/>
            <p:cNvSpPr/>
            <p:nvPr/>
          </p:nvSpPr>
          <p:spPr>
            <a:xfrm>
              <a:off x="2877869" y="179028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filter_chain_outline_6"/>
            <p:cNvSpPr/>
            <p:nvPr/>
          </p:nvSpPr>
          <p:spPr>
            <a:xfrm>
              <a:off x="2952306" y="178053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filter_chain_outline_7"/>
            <p:cNvSpPr/>
            <p:nvPr/>
          </p:nvSpPr>
          <p:spPr>
            <a:xfrm>
              <a:off x="2953030" y="185471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2" name="price_sum"/>
          <p:cNvGrpSpPr/>
          <p:nvPr/>
        </p:nvGrpSpPr>
        <p:grpSpPr>
          <a:xfrm>
            <a:off x="1954750" y="2101578"/>
            <a:ext cx="740771" cy="166012"/>
            <a:chOff x="1954750" y="2101578"/>
            <a:chExt cx="740771" cy="166012"/>
          </a:xfrm>
        </p:grpSpPr>
        <p:sp>
          <p:nvSpPr>
            <p:cNvPr id="474" name="price_sum_outline_0"/>
            <p:cNvSpPr/>
            <p:nvPr/>
          </p:nvSpPr>
          <p:spPr>
            <a:xfrm>
              <a:off x="1954750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7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price_sum_outline_1"/>
            <p:cNvSpPr/>
            <p:nvPr/>
          </p:nvSpPr>
          <p:spPr>
            <a:xfrm>
              <a:off x="2036783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price_sum_outline_2"/>
            <p:cNvSpPr/>
            <p:nvPr/>
          </p:nvSpPr>
          <p:spPr>
            <a:xfrm>
              <a:off x="2145758" y="2162045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price_sum_outline_3"/>
            <p:cNvSpPr/>
            <p:nvPr/>
          </p:nvSpPr>
          <p:spPr>
            <a:xfrm>
              <a:off x="2289322" y="2101578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price_sum_outline_4"/>
            <p:cNvSpPr/>
            <p:nvPr/>
          </p:nvSpPr>
          <p:spPr>
            <a:xfrm>
              <a:off x="2264718" y="2124611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price_sum_outline_5"/>
            <p:cNvSpPr/>
            <p:nvPr/>
          </p:nvSpPr>
          <p:spPr>
            <a:xfrm>
              <a:off x="2345964" y="2118549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price_sum_outline_6"/>
            <p:cNvSpPr/>
            <p:nvPr/>
          </p:nvSpPr>
          <p:spPr>
            <a:xfrm>
              <a:off x="2346764" y="219557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price_sum_outline_7"/>
            <p:cNvSpPr/>
            <p:nvPr/>
          </p:nvSpPr>
          <p:spPr>
            <a:xfrm>
              <a:off x="2447993" y="2144233"/>
              <a:ext cx="71251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price_sum_outline_8"/>
            <p:cNvSpPr/>
            <p:nvPr/>
          </p:nvSpPr>
          <p:spPr>
            <a:xfrm>
              <a:off x="2552968" y="2124611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5">
                  <a:moveTo>
                    <a:pt x="83776" y="16002"/>
                  </a:moveTo>
                  <a:cubicBezTo>
                    <a:pt x="83776" y="5008"/>
                    <a:pt x="74867" y="0"/>
                    <a:pt x="63318" y="0"/>
                  </a:cubicBezTo>
                  <a:cubicBezTo>
                    <a:pt x="48566" y="0"/>
                    <a:pt x="34235" y="9878"/>
                    <a:pt x="30337" y="23935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5"/>
                  </a:cubicBezTo>
                  <a:lnTo>
                    <a:pt x="12383" y="119955"/>
                  </a:lnTo>
                  <a:cubicBezTo>
                    <a:pt x="12525" y="119955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7"/>
                    <a:pt x="28805" y="93516"/>
                    <a:pt x="42862" y="93516"/>
                  </a:cubicBezTo>
                  <a:cubicBezTo>
                    <a:pt x="63734" y="93516"/>
                    <a:pt x="77792" y="77930"/>
                    <a:pt x="77792" y="61924"/>
                  </a:cubicBezTo>
                  <a:cubicBezTo>
                    <a:pt x="77792" y="44529"/>
                    <a:pt x="62063" y="41886"/>
                    <a:pt x="61924" y="41886"/>
                  </a:cubicBezTo>
                  <a:lnTo>
                    <a:pt x="61924" y="41330"/>
                  </a:lnTo>
                  <a:cubicBezTo>
                    <a:pt x="62063" y="41330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2" y="40497"/>
                    <a:pt x="44252" y="43001"/>
                  </a:cubicBezTo>
                  <a:cubicBezTo>
                    <a:pt x="44252" y="44529"/>
                    <a:pt x="45367" y="45784"/>
                    <a:pt x="47871" y="45784"/>
                  </a:cubicBezTo>
                  <a:cubicBezTo>
                    <a:pt x="51768" y="45784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6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4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price_sum_outline_9"/>
            <p:cNvSpPr/>
            <p:nvPr/>
          </p:nvSpPr>
          <p:spPr>
            <a:xfrm>
              <a:off x="2644884" y="216582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