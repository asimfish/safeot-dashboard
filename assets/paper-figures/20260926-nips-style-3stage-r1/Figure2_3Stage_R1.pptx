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3774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age1"/>
          <p:cNvSpPr/>
          <p:nvPr/>
        </p:nvSpPr>
        <p:spPr>
          <a:xfrm>
            <a:off x="50800" y="63500"/>
            <a:ext cx="1333500" cy="187960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182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ge2"/>
          <p:cNvSpPr/>
          <p:nvPr/>
        </p:nvSpPr>
        <p:spPr>
          <a:xfrm>
            <a:off x="1473200" y="63500"/>
            <a:ext cx="2209800" cy="1879600"/>
          </a:xfrm>
          <a:prstGeom prst="roundRect">
            <a:avLst/>
          </a:prstGeom>
          <a:solidFill>
            <a:srgbClr val="F7FCF8"/>
          </a:solidFill>
          <a:ln w="19050">
            <a:solidFill>
              <a:srgbClr val="12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ge3"/>
          <p:cNvSpPr/>
          <p:nvPr/>
        </p:nvSpPr>
        <p:spPr>
          <a:xfrm>
            <a:off x="3771900" y="63500"/>
            <a:ext cx="1206500" cy="1879600"/>
          </a:xfrm>
          <a:prstGeom prst="roundRect">
            <a:avLst/>
          </a:prstGeom>
          <a:solidFill>
            <a:srgbClr val="FFF9F2"/>
          </a:solidFill>
          <a:ln w="12700">
            <a:solidFill>
              <a:srgbClr val="E87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1num"/>
          <p:cNvSpPr/>
          <p:nvPr/>
        </p:nvSpPr>
        <p:spPr>
          <a:xfrm>
            <a:off x="139700" y="139700"/>
            <a:ext cx="254000" cy="254000"/>
          </a:xfrm>
          <a:prstGeom prst="ellipse">
            <a:avLst/>
          </a:prstGeom>
          <a:solidFill>
            <a:srgbClr val="1828E6"/>
          </a:solidFill>
          <a:ln w="6350">
            <a:solidFill>
              <a:srgbClr val="182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1num_txt"/>
          <p:cNvSpPr txBox="1"/>
          <p:nvPr/>
        </p:nvSpPr>
        <p:spPr>
          <a:xfrm>
            <a:off x="139700" y="165100"/>
            <a:ext cx="254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Liberation Serif"/>
              </a:rPr>
              <a:t>1</a:t>
            </a:r>
          </a:p>
        </p:txBody>
      </p:sp>
      <p:sp>
        <p:nvSpPr>
          <p:cNvPr id="7" name="s1num_title"/>
          <p:cNvSpPr txBox="1"/>
          <p:nvPr/>
        </p:nvSpPr>
        <p:spPr>
          <a:xfrm>
            <a:off x="457200" y="152400"/>
            <a:ext cx="889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28E6"/>
                </a:solidFill>
                <a:latin typeface="Liberation Serif"/>
              </a:rPr>
              <a:t>Build the graph</a:t>
            </a:r>
          </a:p>
        </p:txBody>
      </p:sp>
      <p:sp>
        <p:nvSpPr>
          <p:cNvPr id="8" name="s2num"/>
          <p:cNvSpPr/>
          <p:nvPr/>
        </p:nvSpPr>
        <p:spPr>
          <a:xfrm>
            <a:off x="1562100" y="139700"/>
            <a:ext cx="254000" cy="254000"/>
          </a:xfrm>
          <a:prstGeom prst="ellipse">
            <a:avLst/>
          </a:prstGeom>
          <a:solidFill>
            <a:srgbClr val="126B35"/>
          </a:solidFill>
          <a:ln w="6350">
            <a:solidFill>
              <a:srgbClr val="12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2num_txt"/>
          <p:cNvSpPr txBox="1"/>
          <p:nvPr/>
        </p:nvSpPr>
        <p:spPr>
          <a:xfrm>
            <a:off x="1562100" y="165100"/>
            <a:ext cx="254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Liberation Serif"/>
              </a:rPr>
              <a:t>2</a:t>
            </a:r>
          </a:p>
        </p:txBody>
      </p:sp>
      <p:sp>
        <p:nvSpPr>
          <p:cNvPr id="10" name="s2num_title"/>
          <p:cNvSpPr txBox="1"/>
          <p:nvPr/>
        </p:nvSpPr>
        <p:spPr>
          <a:xfrm>
            <a:off x="1879600" y="152400"/>
            <a:ext cx="889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26B35"/>
                </a:solidFill>
                <a:latin typeface="Liberation Serif"/>
              </a:rPr>
              <a:t>Project + price</a:t>
            </a:r>
          </a:p>
        </p:txBody>
      </p:sp>
      <p:sp>
        <p:nvSpPr>
          <p:cNvPr id="11" name="s3num"/>
          <p:cNvSpPr/>
          <p:nvPr/>
        </p:nvSpPr>
        <p:spPr>
          <a:xfrm>
            <a:off x="3860800" y="139700"/>
            <a:ext cx="254000" cy="254000"/>
          </a:xfrm>
          <a:prstGeom prst="ellipse">
            <a:avLst/>
          </a:prstGeom>
          <a:solidFill>
            <a:srgbClr val="E8790A"/>
          </a:solidFill>
          <a:ln w="6350">
            <a:solidFill>
              <a:srgbClr val="E87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3num_txt"/>
          <p:cNvSpPr txBox="1"/>
          <p:nvPr/>
        </p:nvSpPr>
        <p:spPr>
          <a:xfrm>
            <a:off x="3860800" y="165100"/>
            <a:ext cx="254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Liberation Serif"/>
              </a:rPr>
              <a:t>3</a:t>
            </a:r>
          </a:p>
        </p:txBody>
      </p:sp>
      <p:sp>
        <p:nvSpPr>
          <p:cNvPr id="13" name="s3num_title"/>
          <p:cNvSpPr txBox="1"/>
          <p:nvPr/>
        </p:nvSpPr>
        <p:spPr>
          <a:xfrm>
            <a:off x="4178300" y="152400"/>
            <a:ext cx="889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790A"/>
                </a:solidFill>
                <a:latin typeface="Liberation Serif"/>
              </a:rPr>
              <a:t>Priced actor</a:t>
            </a:r>
          </a:p>
        </p:txBody>
      </p:sp>
      <p:pic>
        <p:nvPicPr>
          <p:cNvPr id="14" name="stage1_graph_icon" descr="icon_graph_r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44500"/>
            <a:ext cx="304800" cy="304800"/>
          </a:xfrm>
          <a:prstGeom prst="rect">
            <a:avLst/>
          </a:prstGeom>
        </p:spPr>
      </p:pic>
      <p:sp>
        <p:nvSpPr>
          <p:cNvPr id="15" name="rollout_label"/>
          <p:cNvSpPr txBox="1"/>
          <p:nvPr/>
        </p:nvSpPr>
        <p:spPr>
          <a:xfrm>
            <a:off x="508000" y="469900"/>
            <a:ext cx="711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828E6"/>
                </a:solidFill>
                <a:latin typeface="Liberation Serif"/>
              </a:rPr>
              <a:t>rollout π_t</a:t>
            </a:r>
          </a:p>
        </p:txBody>
      </p:sp>
      <p:sp>
        <p:nvSpPr>
          <p:cNvPr id="16" name="cluster_label"/>
          <p:cNvSpPr txBox="1"/>
          <p:nvPr/>
        </p:nvSpPr>
        <p:spPr>
          <a:xfrm>
            <a:off x="177800" y="762000"/>
            <a:ext cx="10922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343D"/>
                </a:solidFill>
                <a:latin typeface="Liberation Serif"/>
              </a:rPr>
              <a:t>k-means · N nodes</a:t>
            </a:r>
          </a:p>
        </p:txBody>
      </p:sp>
      <p:cxnSp>
        <p:nvCxnSpPr>
          <p:cNvPr id="17" name="observed_e0_0"/>
          <p:cNvCxnSpPr/>
          <p:nvPr/>
        </p:nvCxnSpPr>
        <p:spPr>
          <a:xfrm>
            <a:off x="317500" y="990600"/>
            <a:ext cx="393700" cy="0"/>
          </a:xfrm>
          <a:prstGeom prst="line">
            <a:avLst/>
          </a:prstGeom>
          <a:ln w="9525">
            <a:solidFill>
              <a:srgbClr val="AFC4F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observed_e1_0"/>
          <p:cNvCxnSpPr/>
          <p:nvPr/>
        </p:nvCxnSpPr>
        <p:spPr>
          <a:xfrm>
            <a:off x="711200" y="990600"/>
            <a:ext cx="393700" cy="0"/>
          </a:xfrm>
          <a:prstGeom prst="line">
            <a:avLst/>
          </a:prstGeom>
          <a:ln w="9525">
            <a:solidFill>
              <a:srgbClr val="C8212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observed_x1_0"/>
          <p:cNvCxnSpPr/>
          <p:nvPr/>
        </p:nvCxnSpPr>
        <p:spPr>
          <a:xfrm>
            <a:off x="869950" y="952500"/>
            <a:ext cx="76200" cy="76200"/>
          </a:xfrm>
          <a:prstGeom prst="line">
            <a:avLst/>
          </a:prstGeom>
          <a:ln w="13970">
            <a:solidFill>
              <a:srgbClr val="C821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observed_x1b_0"/>
          <p:cNvCxnSpPr/>
          <p:nvPr/>
        </p:nvCxnSpPr>
        <p:spPr>
          <a:xfrm flipV="1">
            <a:off x="869950" y="952500"/>
            <a:ext cx="76200" cy="76200"/>
          </a:xfrm>
          <a:prstGeom prst="line">
            <a:avLst/>
          </a:prstGeom>
          <a:ln w="13970">
            <a:solidFill>
              <a:srgbClr val="C821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observed_e2_0"/>
          <p:cNvCxnSpPr/>
          <p:nvPr/>
        </p:nvCxnSpPr>
        <p:spPr>
          <a:xfrm>
            <a:off x="317500" y="1320800"/>
            <a:ext cx="393700" cy="0"/>
          </a:xfrm>
          <a:prstGeom prst="line">
            <a:avLst/>
          </a:prstGeom>
          <a:ln w="9525">
            <a:solidFill>
              <a:srgbClr val="AFC4F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observed_e3_0"/>
          <p:cNvCxnSpPr/>
          <p:nvPr/>
        </p:nvCxnSpPr>
        <p:spPr>
          <a:xfrm>
            <a:off x="711200" y="1320800"/>
            <a:ext cx="393700" cy="0"/>
          </a:xfrm>
          <a:prstGeom prst="line">
            <a:avLst/>
          </a:prstGeom>
          <a:ln w="9525">
            <a:solidFill>
              <a:srgbClr val="AFC4F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observed_e4_0"/>
          <p:cNvCxnSpPr/>
          <p:nvPr/>
        </p:nvCxnSpPr>
        <p:spPr>
          <a:xfrm>
            <a:off x="317500" y="990600"/>
            <a:ext cx="0" cy="330200"/>
          </a:xfrm>
          <a:prstGeom prst="line">
            <a:avLst/>
          </a:prstGeom>
          <a:ln w="9525">
            <a:solidFill>
              <a:srgbClr val="AFC4F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observed_e5_0"/>
          <p:cNvCxnSpPr/>
          <p:nvPr/>
        </p:nvCxnSpPr>
        <p:spPr>
          <a:xfrm>
            <a:off x="711200" y="990600"/>
            <a:ext cx="0" cy="330200"/>
          </a:xfrm>
          <a:prstGeom prst="line">
            <a:avLst/>
          </a:prstGeom>
          <a:ln w="9525">
            <a:solidFill>
              <a:srgbClr val="AFC4F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observed_e6_0"/>
          <p:cNvCxnSpPr/>
          <p:nvPr/>
        </p:nvCxnSpPr>
        <p:spPr>
          <a:xfrm>
            <a:off x="1104900" y="990600"/>
            <a:ext cx="0" cy="330200"/>
          </a:xfrm>
          <a:prstGeom prst="line">
            <a:avLst/>
          </a:prstGeom>
          <a:ln w="9525">
            <a:solidFill>
              <a:srgbClr val="AFC4F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observed_e7_0"/>
          <p:cNvCxnSpPr/>
          <p:nvPr/>
        </p:nvCxnSpPr>
        <p:spPr>
          <a:xfrm flipH="1">
            <a:off x="317500" y="990600"/>
            <a:ext cx="393700" cy="330200"/>
          </a:xfrm>
          <a:prstGeom prst="line">
            <a:avLst/>
          </a:prstGeom>
          <a:ln w="9525">
            <a:solidFill>
              <a:srgbClr val="AFC4F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bserved_n0"/>
          <p:cNvSpPr/>
          <p:nvPr/>
        </p:nvSpPr>
        <p:spPr>
          <a:xfrm>
            <a:off x="279400" y="9525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F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bserved_n1"/>
          <p:cNvSpPr/>
          <p:nvPr/>
        </p:nvSpPr>
        <p:spPr>
          <a:xfrm>
            <a:off x="673100" y="9525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F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bserved_n2"/>
          <p:cNvSpPr/>
          <p:nvPr/>
        </p:nvSpPr>
        <p:spPr>
          <a:xfrm>
            <a:off x="1066800" y="9525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F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bserved_n3"/>
          <p:cNvSpPr/>
          <p:nvPr/>
        </p:nvSpPr>
        <p:spPr>
          <a:xfrm>
            <a:off x="279400" y="12827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F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bserved_n4"/>
          <p:cNvSpPr/>
          <p:nvPr/>
        </p:nvSpPr>
        <p:spPr>
          <a:xfrm>
            <a:off x="673100" y="12827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F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bserved_n5"/>
          <p:cNvSpPr/>
          <p:nvPr/>
        </p:nvSpPr>
        <p:spPr>
          <a:xfrm>
            <a:off x="1066800" y="12827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F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bserved_graph_label"/>
          <p:cNvSpPr txBox="1"/>
          <p:nvPr/>
        </p:nvSpPr>
        <p:spPr>
          <a:xfrm>
            <a:off x="215900" y="1409700"/>
            <a:ext cx="9906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828E6"/>
                </a:solidFill>
                <a:latin typeface="Liberation Serif"/>
              </a:rPr>
              <a:t>observed graph  F̂</a:t>
            </a:r>
          </a:p>
        </p:txBody>
      </p:sp>
      <p:sp>
        <p:nvSpPr>
          <p:cNvPr id="34" name="chip0"/>
          <p:cNvSpPr/>
          <p:nvPr/>
        </p:nvSpPr>
        <p:spPr>
          <a:xfrm>
            <a:off x="152400" y="1549400"/>
            <a:ext cx="304800" cy="1524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182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ip0txt"/>
          <p:cNvSpPr txBox="1"/>
          <p:nvPr/>
        </p:nvSpPr>
        <p:spPr>
          <a:xfrm>
            <a:off x="152400" y="1574800"/>
            <a:ext cx="3048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828E6"/>
                </a:solidFill>
                <a:latin typeface="Liberation Serif"/>
              </a:rPr>
              <a:t>F̂</a:t>
            </a:r>
          </a:p>
        </p:txBody>
      </p:sp>
      <p:sp>
        <p:nvSpPr>
          <p:cNvPr id="36" name="chip1"/>
          <p:cNvSpPr/>
          <p:nvPr/>
        </p:nvSpPr>
        <p:spPr>
          <a:xfrm>
            <a:off x="495300" y="1549400"/>
            <a:ext cx="304800" cy="1524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563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ip1txt"/>
          <p:cNvSpPr txBox="1"/>
          <p:nvPr/>
        </p:nvSpPr>
        <p:spPr>
          <a:xfrm>
            <a:off x="495300" y="1574800"/>
            <a:ext cx="3048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6318A"/>
                </a:solidFill>
                <a:latin typeface="Liberation Serif"/>
              </a:rPr>
              <a:t>A</a:t>
            </a:r>
          </a:p>
        </p:txBody>
      </p:sp>
      <p:sp>
        <p:nvSpPr>
          <p:cNvPr id="38" name="chip2"/>
          <p:cNvSpPr/>
          <p:nvPr/>
        </p:nvSpPr>
        <p:spPr>
          <a:xfrm>
            <a:off x="838200" y="1549400"/>
            <a:ext cx="304800" cy="1524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12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ip2txt"/>
          <p:cNvSpPr txBox="1"/>
          <p:nvPr/>
        </p:nvSpPr>
        <p:spPr>
          <a:xfrm>
            <a:off x="838200" y="1574800"/>
            <a:ext cx="3048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26B35"/>
                </a:solidFill>
                <a:latin typeface="Liberation Serif"/>
              </a:rPr>
              <a:t>C_k</a:t>
            </a:r>
          </a:p>
        </p:txBody>
      </p:sp>
      <p:grpSp>
        <p:nvGrpSpPr>
          <p:cNvPr id="40" name="formula_f1"/>
          <p:cNvGrpSpPr/>
          <p:nvPr/>
        </p:nvGrpSpPr>
        <p:grpSpPr>
          <a:xfrm>
            <a:off x="235025" y="1744639"/>
            <a:ext cx="957496" cy="105229"/>
            <a:chOff x="235025" y="1744639"/>
            <a:chExt cx="957496" cy="105229"/>
          </a:xfrm>
        </p:grpSpPr>
        <p:sp>
          <p:nvSpPr>
            <p:cNvPr id="41" name="formula_f1_outline_0"/>
            <p:cNvSpPr/>
            <p:nvPr/>
          </p:nvSpPr>
          <p:spPr>
            <a:xfrm>
              <a:off x="235025" y="1744639"/>
              <a:ext cx="25288" cy="86538"/>
            </a:xfrm>
            <a:custGeom>
              <a:avLst/>
              <a:gdLst/>
              <a:ahLst/>
              <a:cxnLst/>
              <a:rect l="0" t="0" r="r" b="b"/>
              <a:pathLst>
                <a:path w="25289" h="86539">
                  <a:moveTo>
                    <a:pt x="25289" y="86539"/>
                  </a:moveTo>
                  <a:lnTo>
                    <a:pt x="6636" y="43271"/>
                  </a:lnTo>
                  <a:lnTo>
                    <a:pt x="25289" y="0"/>
                  </a:lnTo>
                  <a:lnTo>
                    <a:pt x="20673" y="0"/>
                  </a:lnTo>
                  <a:lnTo>
                    <a:pt x="0" y="43271"/>
                  </a:lnTo>
                  <a:lnTo>
                    <a:pt x="20673" y="86539"/>
                  </a:lnTo>
                  <a:lnTo>
                    <a:pt x="25289" y="86539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ormula_f1_outline_1"/>
            <p:cNvSpPr/>
            <p:nvPr/>
          </p:nvSpPr>
          <p:spPr>
            <a:xfrm>
              <a:off x="275482" y="1748584"/>
              <a:ext cx="67521" cy="65960"/>
            </a:xfrm>
            <a:custGeom>
              <a:avLst/>
              <a:gdLst/>
              <a:ahLst/>
              <a:cxnLst/>
              <a:rect l="0" t="0" r="r" b="b"/>
              <a:pathLst>
                <a:path w="67521" h="65961">
                  <a:moveTo>
                    <a:pt x="59350" y="51439"/>
                  </a:moveTo>
                  <a:lnTo>
                    <a:pt x="57425" y="50093"/>
                  </a:lnTo>
                  <a:cubicBezTo>
                    <a:pt x="47809" y="58650"/>
                    <a:pt x="41562" y="61440"/>
                    <a:pt x="32521" y="61440"/>
                  </a:cubicBezTo>
                  <a:cubicBezTo>
                    <a:pt x="20309" y="61440"/>
                    <a:pt x="13098" y="54229"/>
                    <a:pt x="12618" y="41727"/>
                  </a:cubicBezTo>
                  <a:cubicBezTo>
                    <a:pt x="12233" y="30285"/>
                    <a:pt x="17043" y="18844"/>
                    <a:pt x="25310" y="11057"/>
                  </a:cubicBezTo>
                  <a:cubicBezTo>
                    <a:pt x="30405" y="6247"/>
                    <a:pt x="37426" y="3651"/>
                    <a:pt x="44733" y="3651"/>
                  </a:cubicBezTo>
                  <a:cubicBezTo>
                    <a:pt x="54829" y="3651"/>
                    <a:pt x="60501" y="8846"/>
                    <a:pt x="62040" y="19229"/>
                  </a:cubicBezTo>
                  <a:lnTo>
                    <a:pt x="64060" y="19518"/>
                  </a:lnTo>
                  <a:lnTo>
                    <a:pt x="67521" y="191"/>
                  </a:lnTo>
                  <a:lnTo>
                    <a:pt x="65116" y="191"/>
                  </a:lnTo>
                  <a:cubicBezTo>
                    <a:pt x="64251" y="1730"/>
                    <a:pt x="63195" y="2500"/>
                    <a:pt x="60985" y="2500"/>
                  </a:cubicBezTo>
                  <a:cubicBezTo>
                    <a:pt x="59925" y="2500"/>
                    <a:pt x="58869" y="2115"/>
                    <a:pt x="56464" y="1635"/>
                  </a:cubicBezTo>
                  <a:cubicBezTo>
                    <a:pt x="51559" y="575"/>
                    <a:pt x="47138" y="0"/>
                    <a:pt x="43483" y="0"/>
                  </a:cubicBezTo>
                  <a:cubicBezTo>
                    <a:pt x="19829" y="0"/>
                    <a:pt x="-745" y="19423"/>
                    <a:pt x="21" y="40862"/>
                  </a:cubicBezTo>
                  <a:cubicBezTo>
                    <a:pt x="505" y="55574"/>
                    <a:pt x="12713" y="65961"/>
                    <a:pt x="29636" y="65961"/>
                  </a:cubicBezTo>
                  <a:cubicBezTo>
                    <a:pt x="40982" y="65961"/>
                    <a:pt x="49638" y="61825"/>
                    <a:pt x="59350" y="51439"/>
                  </a:cubicBez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ormula_f1_outline_2"/>
            <p:cNvSpPr/>
            <p:nvPr/>
          </p:nvSpPr>
          <p:spPr>
            <a:xfrm>
              <a:off x="348096" y="177785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ormula_f1_outline_3"/>
            <p:cNvSpPr/>
            <p:nvPr/>
          </p:nvSpPr>
          <p:spPr>
            <a:xfrm>
              <a:off x="417460" y="1802813"/>
              <a:ext cx="15287" cy="23653"/>
            </a:xfrm>
            <a:custGeom>
              <a:avLst/>
              <a:gdLst/>
              <a:ahLst/>
              <a:cxnLst/>
              <a:rect l="0" t="0" r="r" b="b"/>
              <a:pathLst>
                <a:path w="15288" h="23654">
                  <a:moveTo>
                    <a:pt x="15288" y="9231"/>
                  </a:moveTo>
                  <a:cubicBezTo>
                    <a:pt x="15288" y="1250"/>
                    <a:pt x="9037" y="0"/>
                    <a:pt x="6441" y="0"/>
                  </a:cubicBezTo>
                  <a:cubicBezTo>
                    <a:pt x="3651" y="0"/>
                    <a:pt x="0" y="1730"/>
                    <a:pt x="0" y="5866"/>
                  </a:cubicBezTo>
                  <a:cubicBezTo>
                    <a:pt x="0" y="9712"/>
                    <a:pt x="3746" y="10672"/>
                    <a:pt x="6537" y="10672"/>
                  </a:cubicBezTo>
                  <a:cubicBezTo>
                    <a:pt x="7211" y="10672"/>
                    <a:pt x="7787" y="10577"/>
                    <a:pt x="8076" y="10481"/>
                  </a:cubicBezTo>
                  <a:cubicBezTo>
                    <a:pt x="8461" y="10382"/>
                    <a:pt x="8942" y="10287"/>
                    <a:pt x="9132" y="10287"/>
                  </a:cubicBezTo>
                  <a:cubicBezTo>
                    <a:pt x="9807" y="10287"/>
                    <a:pt x="10577" y="10767"/>
                    <a:pt x="10577" y="11632"/>
                  </a:cubicBezTo>
                  <a:cubicBezTo>
                    <a:pt x="10577" y="13462"/>
                    <a:pt x="8846" y="17593"/>
                    <a:pt x="1826" y="21634"/>
                  </a:cubicBezTo>
                  <a:lnTo>
                    <a:pt x="2786" y="23654"/>
                  </a:lnTo>
                  <a:cubicBezTo>
                    <a:pt x="6152" y="22689"/>
                    <a:pt x="15288" y="16058"/>
                    <a:pt x="15288" y="9231"/>
                  </a:cubicBez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ormula_f1_outline_4"/>
            <p:cNvSpPr/>
            <p:nvPr/>
          </p:nvSpPr>
          <p:spPr>
            <a:xfrm>
              <a:off x="461454" y="1749834"/>
              <a:ext cx="67016" cy="62785"/>
            </a:xfrm>
            <a:custGeom>
              <a:avLst/>
              <a:gdLst/>
              <a:ahLst/>
              <a:cxnLst/>
              <a:rect l="0" t="0" r="r" b="b"/>
              <a:pathLst>
                <a:path w="67016" h="62786">
                  <a:moveTo>
                    <a:pt x="64036" y="14708"/>
                  </a:moveTo>
                  <a:lnTo>
                    <a:pt x="67016" y="0"/>
                  </a:lnTo>
                  <a:lnTo>
                    <a:pt x="13077" y="0"/>
                  </a:lnTo>
                  <a:lnTo>
                    <a:pt x="13077" y="1536"/>
                  </a:lnTo>
                  <a:cubicBezTo>
                    <a:pt x="20384" y="2115"/>
                    <a:pt x="21729" y="2691"/>
                    <a:pt x="21828" y="5382"/>
                  </a:cubicBezTo>
                  <a:cubicBezTo>
                    <a:pt x="21828" y="6921"/>
                    <a:pt x="21344" y="9227"/>
                    <a:pt x="20768" y="11632"/>
                  </a:cubicBezTo>
                  <a:lnTo>
                    <a:pt x="8751" y="54134"/>
                  </a:lnTo>
                  <a:cubicBezTo>
                    <a:pt x="7021" y="59900"/>
                    <a:pt x="6251" y="60480"/>
                    <a:pt x="0" y="61246"/>
                  </a:cubicBezTo>
                  <a:lnTo>
                    <a:pt x="95" y="62786"/>
                  </a:lnTo>
                  <a:lnTo>
                    <a:pt x="27884" y="62786"/>
                  </a:lnTo>
                  <a:lnTo>
                    <a:pt x="27789" y="61246"/>
                  </a:lnTo>
                  <a:cubicBezTo>
                    <a:pt x="21443" y="60960"/>
                    <a:pt x="19518" y="59900"/>
                    <a:pt x="19423" y="57015"/>
                  </a:cubicBezTo>
                  <a:cubicBezTo>
                    <a:pt x="19423" y="56150"/>
                    <a:pt x="19518" y="54999"/>
                    <a:pt x="20098" y="52689"/>
                  </a:cubicBezTo>
                  <a:lnTo>
                    <a:pt x="26154" y="31441"/>
                  </a:lnTo>
                  <a:cubicBezTo>
                    <a:pt x="30000" y="31631"/>
                    <a:pt x="32306" y="31730"/>
                    <a:pt x="34615" y="31730"/>
                  </a:cubicBezTo>
                  <a:cubicBezTo>
                    <a:pt x="38652" y="31730"/>
                    <a:pt x="39422" y="31825"/>
                    <a:pt x="40382" y="32210"/>
                  </a:cubicBezTo>
                  <a:cubicBezTo>
                    <a:pt x="41922" y="32881"/>
                    <a:pt x="42787" y="34231"/>
                    <a:pt x="42882" y="36151"/>
                  </a:cubicBezTo>
                  <a:cubicBezTo>
                    <a:pt x="42882" y="37691"/>
                    <a:pt x="42787" y="38747"/>
                    <a:pt x="42692" y="41728"/>
                  </a:cubicBezTo>
                  <a:lnTo>
                    <a:pt x="44517" y="42208"/>
                  </a:lnTo>
                  <a:lnTo>
                    <a:pt x="52114" y="19614"/>
                  </a:lnTo>
                  <a:lnTo>
                    <a:pt x="50768" y="19133"/>
                  </a:lnTo>
                  <a:cubicBezTo>
                    <a:pt x="46153" y="27785"/>
                    <a:pt x="45768" y="27885"/>
                    <a:pt x="27210" y="28075"/>
                  </a:cubicBezTo>
                  <a:lnTo>
                    <a:pt x="33556" y="5671"/>
                  </a:lnTo>
                  <a:cubicBezTo>
                    <a:pt x="34036" y="3746"/>
                    <a:pt x="35576" y="3171"/>
                    <a:pt x="39902" y="3171"/>
                  </a:cubicBezTo>
                  <a:cubicBezTo>
                    <a:pt x="57884" y="3171"/>
                    <a:pt x="61535" y="4421"/>
                    <a:pt x="61730" y="10477"/>
                  </a:cubicBezTo>
                  <a:cubicBezTo>
                    <a:pt x="61825" y="11152"/>
                    <a:pt x="61825" y="11537"/>
                    <a:pt x="61730" y="12692"/>
                  </a:cubicBezTo>
                  <a:cubicBezTo>
                    <a:pt x="61635" y="13363"/>
                    <a:pt x="61730" y="13748"/>
                    <a:pt x="61635" y="14518"/>
                  </a:cubicBezTo>
                  <a:lnTo>
                    <a:pt x="64036" y="14708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ormula_f1_outline_5"/>
            <p:cNvSpPr/>
            <p:nvPr/>
          </p:nvSpPr>
          <p:spPr>
            <a:xfrm>
              <a:off x="542911" y="1744639"/>
              <a:ext cx="25288" cy="86538"/>
            </a:xfrm>
            <a:custGeom>
              <a:avLst/>
              <a:gdLst/>
              <a:ahLst/>
              <a:cxnLst/>
              <a:rect l="0" t="0" r="r" b="b"/>
              <a:pathLst>
                <a:path w="25289" h="86539">
                  <a:moveTo>
                    <a:pt x="25289" y="43271"/>
                  </a:moveTo>
                  <a:lnTo>
                    <a:pt x="4616" y="0"/>
                  </a:lnTo>
                  <a:lnTo>
                    <a:pt x="0" y="0"/>
                  </a:lnTo>
                  <a:lnTo>
                    <a:pt x="18653" y="43271"/>
                  </a:lnTo>
                  <a:lnTo>
                    <a:pt x="0" y="86539"/>
                  </a:lnTo>
                  <a:lnTo>
                    <a:pt x="4616" y="86539"/>
                  </a:lnTo>
                  <a:lnTo>
                    <a:pt x="25289" y="43271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ormula_f1_outline_6"/>
            <p:cNvSpPr/>
            <p:nvPr/>
          </p:nvSpPr>
          <p:spPr>
            <a:xfrm>
              <a:off x="616251" y="1757430"/>
              <a:ext cx="49228" cy="60765"/>
            </a:xfrm>
            <a:custGeom>
              <a:avLst/>
              <a:gdLst/>
              <a:ahLst/>
              <a:cxnLst/>
              <a:rect l="0" t="0" r="r" b="b"/>
              <a:pathLst>
                <a:path w="49228" h="60766">
                  <a:moveTo>
                    <a:pt x="49228" y="48268"/>
                  </a:moveTo>
                  <a:lnTo>
                    <a:pt x="49228" y="42882"/>
                  </a:lnTo>
                  <a:lnTo>
                    <a:pt x="9231" y="24134"/>
                  </a:lnTo>
                  <a:lnTo>
                    <a:pt x="49228" y="5382"/>
                  </a:lnTo>
                  <a:lnTo>
                    <a:pt x="49228" y="0"/>
                  </a:lnTo>
                  <a:lnTo>
                    <a:pt x="0" y="23269"/>
                  </a:lnTo>
                  <a:lnTo>
                    <a:pt x="0" y="25190"/>
                  </a:lnTo>
                  <a:lnTo>
                    <a:pt x="49228" y="48268"/>
                  </a:lnTo>
                  <a:close/>
                  <a:moveTo>
                    <a:pt x="49228" y="60766"/>
                  </a:moveTo>
                  <a:lnTo>
                    <a:pt x="49228" y="55670"/>
                  </a:lnTo>
                  <a:lnTo>
                    <a:pt x="0" y="55670"/>
                  </a:lnTo>
                  <a:lnTo>
                    <a:pt x="0" y="60766"/>
                  </a:lnTo>
                  <a:lnTo>
                    <a:pt x="49228" y="60766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ormula_f1_outline_7"/>
            <p:cNvSpPr/>
            <p:nvPr/>
          </p:nvSpPr>
          <p:spPr>
            <a:xfrm>
              <a:off x="708264" y="1746949"/>
              <a:ext cx="49047" cy="66726"/>
            </a:xfrm>
            <a:custGeom>
              <a:avLst/>
              <a:gdLst/>
              <a:ahLst/>
              <a:cxnLst/>
              <a:rect l="0" t="0" r="r" b="b"/>
              <a:pathLst>
                <a:path w="49047" h="66727">
                  <a:moveTo>
                    <a:pt x="49038" y="34806"/>
                  </a:moveTo>
                  <a:cubicBezTo>
                    <a:pt x="48843" y="28075"/>
                    <a:pt x="43172" y="23269"/>
                    <a:pt x="35766" y="23269"/>
                  </a:cubicBezTo>
                  <a:cubicBezTo>
                    <a:pt x="28075" y="23269"/>
                    <a:pt x="22304" y="27210"/>
                    <a:pt x="14903" y="37786"/>
                  </a:cubicBezTo>
                  <a:lnTo>
                    <a:pt x="25285" y="480"/>
                  </a:lnTo>
                  <a:lnTo>
                    <a:pt x="24519" y="0"/>
                  </a:lnTo>
                  <a:cubicBezTo>
                    <a:pt x="18939" y="865"/>
                    <a:pt x="15093" y="1441"/>
                    <a:pt x="7691" y="2211"/>
                  </a:cubicBezTo>
                  <a:lnTo>
                    <a:pt x="7787" y="3846"/>
                  </a:lnTo>
                  <a:cubicBezTo>
                    <a:pt x="14228" y="4036"/>
                    <a:pt x="14903" y="4326"/>
                    <a:pt x="14998" y="6441"/>
                  </a:cubicBezTo>
                  <a:cubicBezTo>
                    <a:pt x="14998" y="7306"/>
                    <a:pt x="14708" y="8366"/>
                    <a:pt x="14037" y="10577"/>
                  </a:cubicBezTo>
                  <a:lnTo>
                    <a:pt x="13557" y="12402"/>
                  </a:lnTo>
                  <a:lnTo>
                    <a:pt x="13363" y="13077"/>
                  </a:lnTo>
                  <a:lnTo>
                    <a:pt x="0" y="61250"/>
                  </a:lnTo>
                  <a:lnTo>
                    <a:pt x="95" y="61631"/>
                  </a:lnTo>
                  <a:cubicBezTo>
                    <a:pt x="95" y="63845"/>
                    <a:pt x="8652" y="66727"/>
                    <a:pt x="14903" y="66727"/>
                  </a:cubicBezTo>
                  <a:cubicBezTo>
                    <a:pt x="31631" y="66727"/>
                    <a:pt x="49518" y="49998"/>
                    <a:pt x="49038" y="34806"/>
                  </a:cubicBezTo>
                  <a:close/>
                  <a:moveTo>
                    <a:pt x="39612" y="36247"/>
                  </a:moveTo>
                  <a:cubicBezTo>
                    <a:pt x="39807" y="42593"/>
                    <a:pt x="34421" y="52884"/>
                    <a:pt x="28170" y="58845"/>
                  </a:cubicBezTo>
                  <a:cubicBezTo>
                    <a:pt x="24134" y="62500"/>
                    <a:pt x="19518" y="64516"/>
                    <a:pt x="14807" y="64516"/>
                  </a:cubicBezTo>
                  <a:cubicBezTo>
                    <a:pt x="11442" y="64516"/>
                    <a:pt x="9712" y="63460"/>
                    <a:pt x="9612" y="61250"/>
                  </a:cubicBezTo>
                  <a:cubicBezTo>
                    <a:pt x="9422" y="55479"/>
                    <a:pt x="12402" y="46248"/>
                    <a:pt x="16824" y="39037"/>
                  </a:cubicBezTo>
                  <a:cubicBezTo>
                    <a:pt x="21344" y="31635"/>
                    <a:pt x="26249" y="27980"/>
                    <a:pt x="31536" y="27980"/>
                  </a:cubicBezTo>
                  <a:cubicBezTo>
                    <a:pt x="36346" y="27980"/>
                    <a:pt x="39422" y="31151"/>
                    <a:pt x="39612" y="36247"/>
                  </a:cubicBez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ormula_f1_outline_8"/>
            <p:cNvSpPr/>
            <p:nvPr/>
          </p:nvSpPr>
          <p:spPr>
            <a:xfrm>
              <a:off x="767474" y="177785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ormula_f1_outline_9"/>
            <p:cNvSpPr/>
            <p:nvPr/>
          </p:nvSpPr>
          <p:spPr>
            <a:xfrm>
              <a:off x="861833" y="1775504"/>
              <a:ext cx="49228" cy="24903"/>
            </a:xfrm>
            <a:custGeom>
              <a:avLst/>
              <a:gdLst/>
              <a:ahLst/>
              <a:cxnLst/>
              <a:rect l="0" t="0" r="r" b="b"/>
              <a:pathLst>
                <a:path w="49228" h="24904">
                  <a:moveTo>
                    <a:pt x="49228" y="5386"/>
                  </a:moveTo>
                  <a:lnTo>
                    <a:pt x="49228" y="0"/>
                  </a:lnTo>
                  <a:lnTo>
                    <a:pt x="0" y="0"/>
                  </a:lnTo>
                  <a:lnTo>
                    <a:pt x="0" y="5386"/>
                  </a:lnTo>
                  <a:lnTo>
                    <a:pt x="49228" y="5386"/>
                  </a:lnTo>
                  <a:close/>
                  <a:moveTo>
                    <a:pt x="49228" y="24904"/>
                  </a:moveTo>
                  <a:lnTo>
                    <a:pt x="49228" y="19518"/>
                  </a:lnTo>
                  <a:lnTo>
                    <a:pt x="0" y="19518"/>
                  </a:lnTo>
                  <a:lnTo>
                    <a:pt x="0" y="24904"/>
                  </a:lnTo>
                  <a:lnTo>
                    <a:pt x="49228" y="24904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ormula_f1_outline_10"/>
            <p:cNvSpPr/>
            <p:nvPr/>
          </p:nvSpPr>
          <p:spPr>
            <a:xfrm>
              <a:off x="947488" y="1749834"/>
              <a:ext cx="63944" cy="62785"/>
            </a:xfrm>
            <a:custGeom>
              <a:avLst/>
              <a:gdLst/>
              <a:ahLst/>
              <a:cxnLst/>
              <a:rect l="0" t="0" r="r" b="b"/>
              <a:pathLst>
                <a:path w="63945" h="62786">
                  <a:moveTo>
                    <a:pt x="59420" y="43557"/>
                  </a:moveTo>
                  <a:cubicBezTo>
                    <a:pt x="59226" y="36536"/>
                    <a:pt x="55670" y="32980"/>
                    <a:pt x="44902" y="29035"/>
                  </a:cubicBezTo>
                  <a:cubicBezTo>
                    <a:pt x="52784" y="27400"/>
                    <a:pt x="55959" y="26249"/>
                    <a:pt x="59515" y="23555"/>
                  </a:cubicBezTo>
                  <a:cubicBezTo>
                    <a:pt x="62496" y="21249"/>
                    <a:pt x="64036" y="18074"/>
                    <a:pt x="63940" y="14133"/>
                  </a:cubicBezTo>
                  <a:cubicBezTo>
                    <a:pt x="63556" y="4997"/>
                    <a:pt x="55864" y="0"/>
                    <a:pt x="42017" y="0"/>
                  </a:cubicBezTo>
                  <a:lnTo>
                    <a:pt x="14323" y="0"/>
                  </a:lnTo>
                  <a:lnTo>
                    <a:pt x="14323" y="1536"/>
                  </a:lnTo>
                  <a:cubicBezTo>
                    <a:pt x="21249" y="2016"/>
                    <a:pt x="22979" y="2691"/>
                    <a:pt x="23074" y="5481"/>
                  </a:cubicBezTo>
                  <a:cubicBezTo>
                    <a:pt x="23074" y="6921"/>
                    <a:pt x="22594" y="9227"/>
                    <a:pt x="22019" y="11632"/>
                  </a:cubicBezTo>
                  <a:lnTo>
                    <a:pt x="8747" y="54134"/>
                  </a:lnTo>
                  <a:cubicBezTo>
                    <a:pt x="7017" y="59710"/>
                    <a:pt x="6152" y="60285"/>
                    <a:pt x="0" y="61246"/>
                  </a:cubicBezTo>
                  <a:lnTo>
                    <a:pt x="95" y="62786"/>
                  </a:lnTo>
                  <a:lnTo>
                    <a:pt x="31056" y="62786"/>
                  </a:lnTo>
                  <a:cubicBezTo>
                    <a:pt x="48169" y="62786"/>
                    <a:pt x="59805" y="54999"/>
                    <a:pt x="59420" y="43557"/>
                  </a:cubicBezTo>
                  <a:close/>
                  <a:moveTo>
                    <a:pt x="47303" y="43363"/>
                  </a:moveTo>
                  <a:cubicBezTo>
                    <a:pt x="47689" y="53749"/>
                    <a:pt x="39997" y="59900"/>
                    <a:pt x="26729" y="59900"/>
                  </a:cubicBezTo>
                  <a:cubicBezTo>
                    <a:pt x="22209" y="59900"/>
                    <a:pt x="19709" y="58555"/>
                    <a:pt x="19709" y="55864"/>
                  </a:cubicBezTo>
                  <a:cubicBezTo>
                    <a:pt x="19614" y="54614"/>
                    <a:pt x="20769" y="50284"/>
                    <a:pt x="23074" y="42593"/>
                  </a:cubicBezTo>
                  <a:lnTo>
                    <a:pt x="26630" y="31151"/>
                  </a:lnTo>
                  <a:cubicBezTo>
                    <a:pt x="33266" y="31151"/>
                    <a:pt x="37882" y="31536"/>
                    <a:pt x="39902" y="32306"/>
                  </a:cubicBezTo>
                  <a:cubicBezTo>
                    <a:pt x="44418" y="33846"/>
                    <a:pt x="47113" y="38076"/>
                    <a:pt x="47303" y="43363"/>
                  </a:cubicBezTo>
                  <a:close/>
                  <a:moveTo>
                    <a:pt x="52499" y="13268"/>
                  </a:moveTo>
                  <a:cubicBezTo>
                    <a:pt x="52880" y="23170"/>
                    <a:pt x="45958" y="27885"/>
                    <a:pt x="31246" y="27885"/>
                  </a:cubicBezTo>
                  <a:lnTo>
                    <a:pt x="27690" y="27885"/>
                  </a:lnTo>
                  <a:lnTo>
                    <a:pt x="34612" y="5576"/>
                  </a:lnTo>
                  <a:cubicBezTo>
                    <a:pt x="35092" y="3461"/>
                    <a:pt x="36441" y="2881"/>
                    <a:pt x="40382" y="2881"/>
                  </a:cubicBezTo>
                  <a:cubicBezTo>
                    <a:pt x="48649" y="2881"/>
                    <a:pt x="52304" y="6152"/>
                    <a:pt x="52499" y="13268"/>
                  </a:cubicBez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ormula_f1_outline_11"/>
            <p:cNvSpPr/>
            <p:nvPr/>
          </p:nvSpPr>
          <p:spPr>
            <a:xfrm>
              <a:off x="1021894" y="177785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ormula_f1_outline_12"/>
            <p:cNvSpPr/>
            <p:nvPr/>
          </p:nvSpPr>
          <p:spPr>
            <a:xfrm>
              <a:off x="1089530" y="1744639"/>
              <a:ext cx="32305" cy="86538"/>
            </a:xfrm>
            <a:custGeom>
              <a:avLst/>
              <a:gdLst/>
              <a:ahLst/>
              <a:cxnLst/>
              <a:rect l="0" t="0" r="r" b="b"/>
              <a:pathLst>
                <a:path w="32306" h="86539">
                  <a:moveTo>
                    <a:pt x="0" y="86539"/>
                  </a:moveTo>
                  <a:lnTo>
                    <a:pt x="5001" y="86539"/>
                  </a:lnTo>
                  <a:lnTo>
                    <a:pt x="32306" y="0"/>
                  </a:lnTo>
                  <a:lnTo>
                    <a:pt x="27309" y="0"/>
                  </a:lnTo>
                  <a:lnTo>
                    <a:pt x="0" y="86539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ormula_f1_outline_13"/>
            <p:cNvSpPr/>
            <p:nvPr/>
          </p:nvSpPr>
          <p:spPr>
            <a:xfrm>
              <a:off x="1131561" y="1749834"/>
              <a:ext cx="60960" cy="62785"/>
            </a:xfrm>
            <a:custGeom>
              <a:avLst/>
              <a:gdLst/>
              <a:ahLst/>
              <a:cxnLst/>
              <a:rect l="0" t="0" r="r" b="b"/>
              <a:pathLst>
                <a:path w="60960" h="62786">
                  <a:moveTo>
                    <a:pt x="60960" y="45573"/>
                  </a:moveTo>
                  <a:lnTo>
                    <a:pt x="58650" y="44998"/>
                  </a:lnTo>
                  <a:cubicBezTo>
                    <a:pt x="55094" y="51919"/>
                    <a:pt x="52399" y="54900"/>
                    <a:pt x="47883" y="57015"/>
                  </a:cubicBezTo>
                  <a:cubicBezTo>
                    <a:pt x="44228" y="58745"/>
                    <a:pt x="39902" y="59325"/>
                    <a:pt x="30381" y="59325"/>
                  </a:cubicBezTo>
                  <a:cubicBezTo>
                    <a:pt x="22400" y="59325"/>
                    <a:pt x="19614" y="58555"/>
                    <a:pt x="19614" y="56055"/>
                  </a:cubicBezTo>
                  <a:cubicBezTo>
                    <a:pt x="19518" y="55285"/>
                    <a:pt x="19999" y="53269"/>
                    <a:pt x="20479" y="51249"/>
                  </a:cubicBezTo>
                  <a:lnTo>
                    <a:pt x="32306" y="8652"/>
                  </a:lnTo>
                  <a:cubicBezTo>
                    <a:pt x="33746" y="3746"/>
                    <a:pt x="36632" y="1921"/>
                    <a:pt x="43172" y="1536"/>
                  </a:cubicBezTo>
                  <a:lnTo>
                    <a:pt x="43172" y="0"/>
                  </a:lnTo>
                  <a:lnTo>
                    <a:pt x="12883" y="0"/>
                  </a:lnTo>
                  <a:lnTo>
                    <a:pt x="12883" y="1536"/>
                  </a:lnTo>
                  <a:cubicBezTo>
                    <a:pt x="19804" y="2115"/>
                    <a:pt x="21534" y="2881"/>
                    <a:pt x="21634" y="5671"/>
                  </a:cubicBezTo>
                  <a:cubicBezTo>
                    <a:pt x="21634" y="7112"/>
                    <a:pt x="21439" y="9037"/>
                    <a:pt x="20574" y="11632"/>
                  </a:cubicBezTo>
                  <a:lnTo>
                    <a:pt x="8747" y="54134"/>
                  </a:lnTo>
                  <a:cubicBezTo>
                    <a:pt x="7017" y="59710"/>
                    <a:pt x="6152" y="60285"/>
                    <a:pt x="0" y="61246"/>
                  </a:cubicBezTo>
                  <a:lnTo>
                    <a:pt x="95" y="62786"/>
                  </a:lnTo>
                  <a:lnTo>
                    <a:pt x="55189" y="62786"/>
                  </a:lnTo>
                  <a:lnTo>
                    <a:pt x="60960" y="45573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5" name="cost_out"/>
          <p:cNvSpPr txBox="1"/>
          <p:nvPr/>
        </p:nvSpPr>
        <p:spPr>
          <a:xfrm>
            <a:off x="952500" y="1803400"/>
            <a:ext cx="3048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E8790A"/>
                </a:solidFill>
                <a:latin typeface="Liberation Serif"/>
              </a:rPr>
              <a:t>J̄_k</a:t>
            </a:r>
          </a:p>
        </p:txBody>
      </p:sp>
      <p:sp>
        <p:nvSpPr>
          <p:cNvPr id="56" name="stage2_subtitle"/>
          <p:cNvSpPr txBox="1"/>
          <p:nvPr/>
        </p:nvSpPr>
        <p:spPr>
          <a:xfrm>
            <a:off x="1651000" y="457200"/>
            <a:ext cx="1841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26B35"/>
                </a:solidFill>
                <a:latin typeface="Liberation Serif"/>
              </a:rPr>
              <a:t>same transition graph, constrained once</a:t>
            </a:r>
          </a:p>
        </p:txBody>
      </p:sp>
      <p:sp>
        <p:nvSpPr>
          <p:cNvPr id="57" name="obs_lbl"/>
          <p:cNvSpPr txBox="1"/>
          <p:nvPr/>
        </p:nvSpPr>
        <p:spPr>
          <a:xfrm>
            <a:off x="1625600" y="622300"/>
            <a:ext cx="7366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828E6"/>
                </a:solidFill>
                <a:latin typeface="Liberation Serif"/>
              </a:rPr>
              <a:t>observed  F̂</a:t>
            </a:r>
          </a:p>
        </p:txBody>
      </p:sp>
      <p:sp>
        <p:nvSpPr>
          <p:cNvPr id="58" name="tar_lbl"/>
          <p:cNvSpPr txBox="1"/>
          <p:nvPr/>
        </p:nvSpPr>
        <p:spPr>
          <a:xfrm>
            <a:off x="2768600" y="622300"/>
            <a:ext cx="7366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087F8C"/>
                </a:solidFill>
                <a:latin typeface="Liberation Serif"/>
              </a:rPr>
              <a:t>target  F★</a:t>
            </a:r>
          </a:p>
        </p:txBody>
      </p:sp>
      <p:cxnSp>
        <p:nvCxnSpPr>
          <p:cNvPr id="59" name="stage2_obs_e0_0"/>
          <p:cNvCxnSpPr/>
          <p:nvPr/>
        </p:nvCxnSpPr>
        <p:spPr>
          <a:xfrm>
            <a:off x="1727200" y="850900"/>
            <a:ext cx="304800" cy="0"/>
          </a:xfrm>
          <a:prstGeom prst="line">
            <a:avLst/>
          </a:prstGeom>
          <a:ln w="9525">
            <a:solidFill>
              <a:srgbClr val="AFC4F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age2_obs_e1_0"/>
          <p:cNvCxnSpPr/>
          <p:nvPr/>
        </p:nvCxnSpPr>
        <p:spPr>
          <a:xfrm>
            <a:off x="2032000" y="850900"/>
            <a:ext cx="304800" cy="0"/>
          </a:xfrm>
          <a:prstGeom prst="line">
            <a:avLst/>
          </a:prstGeom>
          <a:ln w="9525">
            <a:solidFill>
              <a:srgbClr val="C8212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age2_obs_x1_0"/>
          <p:cNvCxnSpPr/>
          <p:nvPr/>
        </p:nvCxnSpPr>
        <p:spPr>
          <a:xfrm>
            <a:off x="2146300" y="812800"/>
            <a:ext cx="76200" cy="76200"/>
          </a:xfrm>
          <a:prstGeom prst="line">
            <a:avLst/>
          </a:prstGeom>
          <a:ln w="13970">
            <a:solidFill>
              <a:srgbClr val="C821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age2_obs_x1b_0"/>
          <p:cNvCxnSpPr/>
          <p:nvPr/>
        </p:nvCxnSpPr>
        <p:spPr>
          <a:xfrm flipV="1">
            <a:off x="2146300" y="812800"/>
            <a:ext cx="76200" cy="76200"/>
          </a:xfrm>
          <a:prstGeom prst="line">
            <a:avLst/>
          </a:prstGeom>
          <a:ln w="13970">
            <a:solidFill>
              <a:srgbClr val="C821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age2_obs_e2_0"/>
          <p:cNvCxnSpPr/>
          <p:nvPr/>
        </p:nvCxnSpPr>
        <p:spPr>
          <a:xfrm>
            <a:off x="1727200" y="1079500"/>
            <a:ext cx="304800" cy="0"/>
          </a:xfrm>
          <a:prstGeom prst="line">
            <a:avLst/>
          </a:prstGeom>
          <a:ln w="9525">
            <a:solidFill>
              <a:srgbClr val="AFC4F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age2_obs_e3_0"/>
          <p:cNvCxnSpPr/>
          <p:nvPr/>
        </p:nvCxnSpPr>
        <p:spPr>
          <a:xfrm>
            <a:off x="2032000" y="1079500"/>
            <a:ext cx="304800" cy="0"/>
          </a:xfrm>
          <a:prstGeom prst="line">
            <a:avLst/>
          </a:prstGeom>
          <a:ln w="9525">
            <a:solidFill>
              <a:srgbClr val="AFC4F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age2_obs_e4_0"/>
          <p:cNvCxnSpPr/>
          <p:nvPr/>
        </p:nvCxnSpPr>
        <p:spPr>
          <a:xfrm>
            <a:off x="1727200" y="850900"/>
            <a:ext cx="0" cy="228600"/>
          </a:xfrm>
          <a:prstGeom prst="line">
            <a:avLst/>
          </a:prstGeom>
          <a:ln w="9525">
            <a:solidFill>
              <a:srgbClr val="AFC4F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age2_obs_e5_0"/>
          <p:cNvCxnSpPr/>
          <p:nvPr/>
        </p:nvCxnSpPr>
        <p:spPr>
          <a:xfrm>
            <a:off x="2032000" y="850900"/>
            <a:ext cx="0" cy="228600"/>
          </a:xfrm>
          <a:prstGeom prst="line">
            <a:avLst/>
          </a:prstGeom>
          <a:ln w="9525">
            <a:solidFill>
              <a:srgbClr val="AFC4F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age2_obs_e6_0"/>
          <p:cNvCxnSpPr/>
          <p:nvPr/>
        </p:nvCxnSpPr>
        <p:spPr>
          <a:xfrm>
            <a:off x="2336800" y="850900"/>
            <a:ext cx="0" cy="228600"/>
          </a:xfrm>
          <a:prstGeom prst="line">
            <a:avLst/>
          </a:prstGeom>
          <a:ln w="9525">
            <a:solidFill>
              <a:srgbClr val="AFC4F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age2_obs_e7_0"/>
          <p:cNvCxnSpPr/>
          <p:nvPr/>
        </p:nvCxnSpPr>
        <p:spPr>
          <a:xfrm flipH="1">
            <a:off x="1727200" y="850900"/>
            <a:ext cx="304800" cy="228600"/>
          </a:xfrm>
          <a:prstGeom prst="line">
            <a:avLst/>
          </a:prstGeom>
          <a:ln w="9525">
            <a:solidFill>
              <a:srgbClr val="AFC4F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stage2_obs_n0"/>
          <p:cNvSpPr/>
          <p:nvPr/>
        </p:nvSpPr>
        <p:spPr>
          <a:xfrm>
            <a:off x="1689100" y="8128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F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tage2_obs_n1"/>
          <p:cNvSpPr/>
          <p:nvPr/>
        </p:nvSpPr>
        <p:spPr>
          <a:xfrm>
            <a:off x="1993900" y="8128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F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tage2_obs_n2"/>
          <p:cNvSpPr/>
          <p:nvPr/>
        </p:nvSpPr>
        <p:spPr>
          <a:xfrm>
            <a:off x="2298700" y="8128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F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tage2_obs_n3"/>
          <p:cNvSpPr/>
          <p:nvPr/>
        </p:nvSpPr>
        <p:spPr>
          <a:xfrm>
            <a:off x="1689100" y="10414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F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tage2_obs_n4"/>
          <p:cNvSpPr/>
          <p:nvPr/>
        </p:nvSpPr>
        <p:spPr>
          <a:xfrm>
            <a:off x="1993900" y="10414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F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tage2_obs_n5"/>
          <p:cNvSpPr/>
          <p:nvPr/>
        </p:nvSpPr>
        <p:spPr>
          <a:xfrm>
            <a:off x="2298700" y="10414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F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arget_frame"/>
          <p:cNvSpPr/>
          <p:nvPr/>
        </p:nvSpPr>
        <p:spPr>
          <a:xfrm>
            <a:off x="2667000" y="736600"/>
            <a:ext cx="9144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stage2_tar_e0_0"/>
          <p:cNvCxnSpPr/>
          <p:nvPr/>
        </p:nvCxnSpPr>
        <p:spPr>
          <a:xfrm>
            <a:off x="2819400" y="850900"/>
            <a:ext cx="304800" cy="0"/>
          </a:xfrm>
          <a:prstGeom prst="line">
            <a:avLst/>
          </a:prstGeom>
          <a:ln w="9525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age2_tar_e1_0"/>
          <p:cNvCxnSpPr/>
          <p:nvPr/>
        </p:nvCxnSpPr>
        <p:spPr>
          <a:xfrm>
            <a:off x="3124200" y="850900"/>
            <a:ext cx="304800" cy="0"/>
          </a:xfrm>
          <a:prstGeom prst="line">
            <a:avLst/>
          </a:prstGeom>
          <a:ln w="9525">
            <a:solidFill>
              <a:srgbClr val="C8212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age2_tar_x1_0"/>
          <p:cNvCxnSpPr/>
          <p:nvPr/>
        </p:nvCxnSpPr>
        <p:spPr>
          <a:xfrm>
            <a:off x="3238500" y="812800"/>
            <a:ext cx="76200" cy="76200"/>
          </a:xfrm>
          <a:prstGeom prst="line">
            <a:avLst/>
          </a:prstGeom>
          <a:ln w="13970">
            <a:solidFill>
              <a:srgbClr val="C821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age2_tar_x1b_0"/>
          <p:cNvCxnSpPr/>
          <p:nvPr/>
        </p:nvCxnSpPr>
        <p:spPr>
          <a:xfrm flipV="1">
            <a:off x="3238500" y="812800"/>
            <a:ext cx="76200" cy="76200"/>
          </a:xfrm>
          <a:prstGeom prst="line">
            <a:avLst/>
          </a:prstGeom>
          <a:ln w="13970">
            <a:solidFill>
              <a:srgbClr val="C821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age2_tar_e2_0"/>
          <p:cNvCxnSpPr/>
          <p:nvPr/>
        </p:nvCxnSpPr>
        <p:spPr>
          <a:xfrm>
            <a:off x="2819400" y="1079500"/>
            <a:ext cx="304800" cy="0"/>
          </a:xfrm>
          <a:prstGeom prst="line">
            <a:avLst/>
          </a:prstGeom>
          <a:ln w="1778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age2_tar_e3_0"/>
          <p:cNvCxnSpPr/>
          <p:nvPr/>
        </p:nvCxnSpPr>
        <p:spPr>
          <a:xfrm>
            <a:off x="3124200" y="1079500"/>
            <a:ext cx="304800" cy="0"/>
          </a:xfrm>
          <a:prstGeom prst="line">
            <a:avLst/>
          </a:prstGeom>
          <a:ln w="1778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age2_tar_e4_0"/>
          <p:cNvCxnSpPr/>
          <p:nvPr/>
        </p:nvCxnSpPr>
        <p:spPr>
          <a:xfrm>
            <a:off x="2819400" y="850900"/>
            <a:ext cx="0" cy="228600"/>
          </a:xfrm>
          <a:prstGeom prst="line">
            <a:avLst/>
          </a:prstGeom>
          <a:ln w="9525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age2_tar_e5_0"/>
          <p:cNvCxnSpPr/>
          <p:nvPr/>
        </p:nvCxnSpPr>
        <p:spPr>
          <a:xfrm>
            <a:off x="3124200" y="850900"/>
            <a:ext cx="0" cy="228600"/>
          </a:xfrm>
          <a:prstGeom prst="line">
            <a:avLst/>
          </a:prstGeom>
          <a:ln w="9525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age2_tar_e6_0"/>
          <p:cNvCxnSpPr/>
          <p:nvPr/>
        </p:nvCxnSpPr>
        <p:spPr>
          <a:xfrm>
            <a:off x="3429000" y="850900"/>
            <a:ext cx="0" cy="228600"/>
          </a:xfrm>
          <a:prstGeom prst="line">
            <a:avLst/>
          </a:prstGeom>
          <a:ln w="9525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age2_tar_e7_0"/>
          <p:cNvCxnSpPr/>
          <p:nvPr/>
        </p:nvCxnSpPr>
        <p:spPr>
          <a:xfrm flipH="1">
            <a:off x="2819400" y="850900"/>
            <a:ext cx="304800" cy="228600"/>
          </a:xfrm>
          <a:prstGeom prst="line">
            <a:avLst/>
          </a:prstGeom>
          <a:ln w="1778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stage2_tar_n0"/>
          <p:cNvSpPr/>
          <p:nvPr/>
        </p:nvSpPr>
        <p:spPr>
          <a:xfrm>
            <a:off x="2781300" y="8128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stage2_tar_n1"/>
          <p:cNvSpPr/>
          <p:nvPr/>
        </p:nvSpPr>
        <p:spPr>
          <a:xfrm>
            <a:off x="3086100" y="8128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tage2_tar_n2"/>
          <p:cNvSpPr/>
          <p:nvPr/>
        </p:nvSpPr>
        <p:spPr>
          <a:xfrm>
            <a:off x="3390900" y="8128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tage2_tar_n3"/>
          <p:cNvSpPr/>
          <p:nvPr/>
        </p:nvSpPr>
        <p:spPr>
          <a:xfrm>
            <a:off x="2781300" y="10414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tage2_tar_n4"/>
          <p:cNvSpPr/>
          <p:nvPr/>
        </p:nvSpPr>
        <p:spPr>
          <a:xfrm>
            <a:off x="3086100" y="10414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stage2_tar_n5"/>
          <p:cNvSpPr/>
          <p:nvPr/>
        </p:nvSpPr>
        <p:spPr>
          <a:xfrm>
            <a:off x="3390900" y="1041400"/>
            <a:ext cx="76200" cy="76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stage2_tar_cost_0"/>
          <p:cNvCxnSpPr/>
          <p:nvPr/>
        </p:nvCxnSpPr>
        <p:spPr>
          <a:xfrm>
            <a:off x="2895600" y="850900"/>
            <a:ext cx="187960" cy="0"/>
          </a:xfrm>
          <a:prstGeom prst="line">
            <a:avLst/>
          </a:prstGeom>
          <a:ln w="29209">
            <a:solidFill>
              <a:srgbClr val="E879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reroute_arrow_0"/>
          <p:cNvCxnSpPr/>
          <p:nvPr/>
        </p:nvCxnSpPr>
        <p:spPr>
          <a:xfrm>
            <a:off x="2476500" y="1016000"/>
            <a:ext cx="165100" cy="0"/>
          </a:xfrm>
          <a:prstGeom prst="line">
            <a:avLst/>
          </a:prstGeom>
          <a:ln w="228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arget_note"/>
          <p:cNvSpPr txBox="1"/>
          <p:nvPr/>
        </p:nvSpPr>
        <p:spPr>
          <a:xfrm>
            <a:off x="2679700" y="1155700"/>
            <a:ext cx="889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47D"/>
                </a:solidFill>
                <a:latin typeface="Liberation Serif"/>
              </a:rPr>
              <a:t>target only · never executed</a:t>
            </a:r>
          </a:p>
        </p:txBody>
      </p:sp>
      <p:sp>
        <p:nvSpPr>
          <p:cNvPr id="95" name="budget_lbl"/>
          <p:cNvSpPr txBox="1"/>
          <p:nvPr/>
        </p:nvSpPr>
        <p:spPr>
          <a:xfrm>
            <a:off x="1638300" y="1524000"/>
            <a:ext cx="8890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26B35"/>
                </a:solidFill>
                <a:latin typeface="Liberation Serif"/>
              </a:rPr>
              <a:t>budget occupancy</a:t>
            </a:r>
          </a:p>
        </p:txBody>
      </p:sp>
      <p:sp>
        <p:nvSpPr>
          <p:cNvPr id="96" name="b1"/>
          <p:cNvSpPr txBox="1"/>
          <p:nvPr/>
        </p:nvSpPr>
        <p:spPr>
          <a:xfrm>
            <a:off x="1625600" y="1663700"/>
            <a:ext cx="2286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47D"/>
                </a:solidFill>
                <a:latin typeface="Liberation Serif"/>
              </a:rPr>
              <a:t>k=1</a:t>
            </a:r>
          </a:p>
        </p:txBody>
      </p:sp>
      <p:sp>
        <p:nvSpPr>
          <p:cNvPr id="97" name="bar1"/>
          <p:cNvSpPr/>
          <p:nvPr/>
        </p:nvSpPr>
        <p:spPr>
          <a:xfrm>
            <a:off x="1866900" y="1663700"/>
            <a:ext cx="533400" cy="76200"/>
          </a:xfrm>
          <a:prstGeom prst="rect">
            <a:avLst/>
          </a:prstGeom>
          <a:solidFill>
            <a:srgbClr val="FFFFFF"/>
          </a:solidFill>
          <a:ln w="5080">
            <a:solidFill>
              <a:srgbClr val="667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bar1fill"/>
          <p:cNvSpPr/>
          <p:nvPr/>
        </p:nvSpPr>
        <p:spPr>
          <a:xfrm>
            <a:off x="1866900" y="1663700"/>
            <a:ext cx="508000" cy="76200"/>
          </a:xfrm>
          <a:prstGeom prst="rect">
            <a:avLst/>
          </a:prstGeom>
          <a:solidFill>
            <a:srgbClr val="126B35"/>
          </a:solidFill>
          <a:ln w="2540">
            <a:solidFill>
              <a:srgbClr val="12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price1"/>
          <p:cNvSpPr txBox="1"/>
          <p:nvPr/>
        </p:nvSpPr>
        <p:spPr>
          <a:xfrm>
            <a:off x="2438400" y="1638300"/>
            <a:ext cx="5334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E8790A"/>
                </a:solidFill>
                <a:latin typeface="Liberation Serif"/>
              </a:rPr>
              <a:t>λ̄★₁ &gt; 0</a:t>
            </a:r>
          </a:p>
        </p:txBody>
      </p:sp>
      <p:sp>
        <p:nvSpPr>
          <p:cNvPr id="100" name="b2"/>
          <p:cNvSpPr txBox="1"/>
          <p:nvPr/>
        </p:nvSpPr>
        <p:spPr>
          <a:xfrm>
            <a:off x="1625600" y="1816100"/>
            <a:ext cx="2286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47D"/>
                </a:solidFill>
                <a:latin typeface="Liberation Serif"/>
              </a:rPr>
              <a:t>k=2</a:t>
            </a:r>
          </a:p>
        </p:txBody>
      </p:sp>
      <p:sp>
        <p:nvSpPr>
          <p:cNvPr id="101" name="bar2"/>
          <p:cNvSpPr/>
          <p:nvPr/>
        </p:nvSpPr>
        <p:spPr>
          <a:xfrm>
            <a:off x="1866900" y="1816100"/>
            <a:ext cx="533400" cy="76200"/>
          </a:xfrm>
          <a:prstGeom prst="rect">
            <a:avLst/>
          </a:prstGeom>
          <a:solidFill>
            <a:srgbClr val="FFFFFF"/>
          </a:solidFill>
          <a:ln w="5080">
            <a:solidFill>
              <a:srgbClr val="667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bar2fill"/>
          <p:cNvSpPr/>
          <p:nvPr/>
        </p:nvSpPr>
        <p:spPr>
          <a:xfrm>
            <a:off x="1866900" y="1816100"/>
            <a:ext cx="292100" cy="76200"/>
          </a:xfrm>
          <a:prstGeom prst="rect">
            <a:avLst/>
          </a:prstGeom>
          <a:solidFill>
            <a:srgbClr val="B9C1C6"/>
          </a:solidFill>
          <a:ln w="2540">
            <a:solidFill>
              <a:srgbClr val="B9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price2"/>
          <p:cNvSpPr txBox="1"/>
          <p:nvPr/>
        </p:nvSpPr>
        <p:spPr>
          <a:xfrm>
            <a:off x="2438400" y="1790700"/>
            <a:ext cx="5334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47D"/>
                </a:solidFill>
                <a:latin typeface="Liberation Serif"/>
              </a:rPr>
              <a:t>λ̄★₂ = 0</a:t>
            </a:r>
          </a:p>
        </p:txBody>
      </p:sp>
      <p:sp>
        <p:nvSpPr>
          <p:cNvPr id="104" name="objective_card"/>
          <p:cNvSpPr/>
          <p:nvPr/>
        </p:nvSpPr>
        <p:spPr>
          <a:xfrm>
            <a:off x="1524000" y="1320800"/>
            <a:ext cx="1422400" cy="190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2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5" name="formula_f2"/>
          <p:cNvGrpSpPr/>
          <p:nvPr/>
        </p:nvGrpSpPr>
        <p:grpSpPr>
          <a:xfrm>
            <a:off x="1662230" y="1360289"/>
            <a:ext cx="1135449" cy="124232"/>
            <a:chOff x="1662230" y="1360289"/>
            <a:chExt cx="1135449" cy="124232"/>
          </a:xfrm>
        </p:grpSpPr>
        <p:sp>
          <p:nvSpPr>
            <p:cNvPr id="106" name="formula_f2_outline_0"/>
            <p:cNvSpPr/>
            <p:nvPr/>
          </p:nvSpPr>
          <p:spPr>
            <a:xfrm>
              <a:off x="1662230" y="1406680"/>
              <a:ext cx="157764" cy="44005"/>
            </a:xfrm>
            <a:custGeom>
              <a:avLst/>
              <a:gdLst/>
              <a:ahLst/>
              <a:cxnLst/>
              <a:rect l="0" t="0" r="r" b="b"/>
              <a:pathLst>
                <a:path w="157764" h="44006">
                  <a:moveTo>
                    <a:pt x="71064" y="43069"/>
                  </a:moveTo>
                  <a:lnTo>
                    <a:pt x="71064" y="41664"/>
                  </a:lnTo>
                  <a:lnTo>
                    <a:pt x="68632" y="41477"/>
                  </a:lnTo>
                  <a:cubicBezTo>
                    <a:pt x="65822" y="41291"/>
                    <a:pt x="64607" y="39604"/>
                    <a:pt x="64607" y="35953"/>
                  </a:cubicBezTo>
                  <a:lnTo>
                    <a:pt x="64607" y="16665"/>
                  </a:lnTo>
                  <a:cubicBezTo>
                    <a:pt x="64607" y="5616"/>
                    <a:pt x="60956" y="0"/>
                    <a:pt x="53745" y="0"/>
                  </a:cubicBezTo>
                  <a:cubicBezTo>
                    <a:pt x="48316" y="0"/>
                    <a:pt x="43541" y="2433"/>
                    <a:pt x="38485" y="7866"/>
                  </a:cubicBezTo>
                  <a:cubicBezTo>
                    <a:pt x="36798" y="2528"/>
                    <a:pt x="33615" y="0"/>
                    <a:pt x="28559" y="0"/>
                  </a:cubicBezTo>
                  <a:cubicBezTo>
                    <a:pt x="24440" y="0"/>
                    <a:pt x="21816" y="1310"/>
                    <a:pt x="14045" y="7207"/>
                  </a:cubicBezTo>
                  <a:lnTo>
                    <a:pt x="14045" y="187"/>
                  </a:lnTo>
                  <a:lnTo>
                    <a:pt x="13391" y="0"/>
                  </a:lnTo>
                  <a:cubicBezTo>
                    <a:pt x="8616" y="1778"/>
                    <a:pt x="5433" y="2810"/>
                    <a:pt x="282" y="4215"/>
                  </a:cubicBezTo>
                  <a:lnTo>
                    <a:pt x="282" y="5806"/>
                  </a:lnTo>
                  <a:cubicBezTo>
                    <a:pt x="1500" y="5524"/>
                    <a:pt x="2250" y="5429"/>
                    <a:pt x="3278" y="5429"/>
                  </a:cubicBezTo>
                  <a:cubicBezTo>
                    <a:pt x="5715" y="5429"/>
                    <a:pt x="6556" y="6930"/>
                    <a:pt x="6556" y="11422"/>
                  </a:cubicBezTo>
                  <a:lnTo>
                    <a:pt x="6556" y="35112"/>
                  </a:lnTo>
                  <a:cubicBezTo>
                    <a:pt x="6556" y="40168"/>
                    <a:pt x="5247" y="41573"/>
                    <a:pt x="0" y="41664"/>
                  </a:cubicBezTo>
                  <a:lnTo>
                    <a:pt x="0" y="43069"/>
                  </a:lnTo>
                  <a:lnTo>
                    <a:pt x="20788" y="43069"/>
                  </a:lnTo>
                  <a:lnTo>
                    <a:pt x="20788" y="41664"/>
                  </a:lnTo>
                  <a:cubicBezTo>
                    <a:pt x="15823" y="41477"/>
                    <a:pt x="14422" y="40446"/>
                    <a:pt x="14422" y="36794"/>
                  </a:cubicBezTo>
                  <a:lnTo>
                    <a:pt x="14422" y="10394"/>
                  </a:lnTo>
                  <a:cubicBezTo>
                    <a:pt x="14422" y="10394"/>
                    <a:pt x="15169" y="9267"/>
                    <a:pt x="15823" y="8612"/>
                  </a:cubicBezTo>
                  <a:cubicBezTo>
                    <a:pt x="18165" y="6461"/>
                    <a:pt x="22193" y="4870"/>
                    <a:pt x="25468" y="4870"/>
                  </a:cubicBezTo>
                  <a:cubicBezTo>
                    <a:pt x="29587" y="4870"/>
                    <a:pt x="31647" y="8144"/>
                    <a:pt x="31647" y="14700"/>
                  </a:cubicBezTo>
                  <a:lnTo>
                    <a:pt x="31647" y="35016"/>
                  </a:lnTo>
                  <a:cubicBezTo>
                    <a:pt x="31647" y="40259"/>
                    <a:pt x="30619" y="41291"/>
                    <a:pt x="25281" y="41664"/>
                  </a:cubicBezTo>
                  <a:lnTo>
                    <a:pt x="25281" y="43069"/>
                  </a:lnTo>
                  <a:lnTo>
                    <a:pt x="46256" y="43069"/>
                  </a:lnTo>
                  <a:lnTo>
                    <a:pt x="46256" y="41664"/>
                  </a:lnTo>
                  <a:cubicBezTo>
                    <a:pt x="40918" y="41573"/>
                    <a:pt x="39513" y="39977"/>
                    <a:pt x="39513" y="34175"/>
                  </a:cubicBezTo>
                  <a:lnTo>
                    <a:pt x="39513" y="10581"/>
                  </a:lnTo>
                  <a:cubicBezTo>
                    <a:pt x="42323" y="6552"/>
                    <a:pt x="45410" y="4870"/>
                    <a:pt x="49720" y="4870"/>
                  </a:cubicBezTo>
                  <a:cubicBezTo>
                    <a:pt x="55054" y="4870"/>
                    <a:pt x="56741" y="7398"/>
                    <a:pt x="56741" y="15169"/>
                  </a:cubicBezTo>
                  <a:lnTo>
                    <a:pt x="56741" y="34925"/>
                  </a:lnTo>
                  <a:cubicBezTo>
                    <a:pt x="56741" y="40259"/>
                    <a:pt x="55991" y="41009"/>
                    <a:pt x="50562" y="41664"/>
                  </a:cubicBezTo>
                  <a:lnTo>
                    <a:pt x="50562" y="43069"/>
                  </a:lnTo>
                  <a:lnTo>
                    <a:pt x="71064" y="43069"/>
                  </a:lnTo>
                  <a:close/>
                  <a:moveTo>
                    <a:pt x="112728" y="39322"/>
                  </a:moveTo>
                  <a:lnTo>
                    <a:pt x="112728" y="36890"/>
                  </a:lnTo>
                  <a:cubicBezTo>
                    <a:pt x="111137" y="38199"/>
                    <a:pt x="110014" y="38668"/>
                    <a:pt x="108609" y="38668"/>
                  </a:cubicBezTo>
                  <a:cubicBezTo>
                    <a:pt x="106458" y="38668"/>
                    <a:pt x="105803" y="37358"/>
                    <a:pt x="105803" y="33238"/>
                  </a:cubicBezTo>
                  <a:lnTo>
                    <a:pt x="105803" y="14982"/>
                  </a:lnTo>
                  <a:cubicBezTo>
                    <a:pt x="105803" y="10204"/>
                    <a:pt x="105335" y="7584"/>
                    <a:pt x="104021" y="5429"/>
                  </a:cubicBezTo>
                  <a:cubicBezTo>
                    <a:pt x="102056" y="1873"/>
                    <a:pt x="98032" y="0"/>
                    <a:pt x="92317" y="0"/>
                  </a:cubicBezTo>
                  <a:cubicBezTo>
                    <a:pt x="87543" y="0"/>
                    <a:pt x="83050" y="1310"/>
                    <a:pt x="80427" y="3465"/>
                  </a:cubicBezTo>
                  <a:cubicBezTo>
                    <a:pt x="78089" y="5429"/>
                    <a:pt x="76589" y="8144"/>
                    <a:pt x="76589" y="10486"/>
                  </a:cubicBezTo>
                  <a:cubicBezTo>
                    <a:pt x="76589" y="12640"/>
                    <a:pt x="78367" y="14514"/>
                    <a:pt x="80617" y="14514"/>
                  </a:cubicBezTo>
                  <a:cubicBezTo>
                    <a:pt x="82864" y="14514"/>
                    <a:pt x="84828" y="12640"/>
                    <a:pt x="84828" y="10581"/>
                  </a:cubicBezTo>
                  <a:cubicBezTo>
                    <a:pt x="84828" y="10204"/>
                    <a:pt x="84737" y="9735"/>
                    <a:pt x="84642" y="9080"/>
                  </a:cubicBezTo>
                  <a:cubicBezTo>
                    <a:pt x="84455" y="8239"/>
                    <a:pt x="84360" y="7489"/>
                    <a:pt x="84360" y="6834"/>
                  </a:cubicBezTo>
                  <a:cubicBezTo>
                    <a:pt x="84360" y="4306"/>
                    <a:pt x="87356" y="2246"/>
                    <a:pt x="91103" y="2246"/>
                  </a:cubicBezTo>
                  <a:cubicBezTo>
                    <a:pt x="95691" y="2246"/>
                    <a:pt x="98219" y="4961"/>
                    <a:pt x="98219" y="10017"/>
                  </a:cubicBezTo>
                  <a:lnTo>
                    <a:pt x="98219" y="15728"/>
                  </a:lnTo>
                  <a:cubicBezTo>
                    <a:pt x="83800" y="21535"/>
                    <a:pt x="82209" y="22285"/>
                    <a:pt x="78180" y="25841"/>
                  </a:cubicBezTo>
                  <a:cubicBezTo>
                    <a:pt x="76121" y="27714"/>
                    <a:pt x="74811" y="30897"/>
                    <a:pt x="74811" y="33988"/>
                  </a:cubicBezTo>
                  <a:cubicBezTo>
                    <a:pt x="74811" y="39886"/>
                    <a:pt x="78835" y="44006"/>
                    <a:pt x="84642" y="44006"/>
                  </a:cubicBezTo>
                  <a:cubicBezTo>
                    <a:pt x="88761" y="44006"/>
                    <a:pt x="92599" y="42037"/>
                    <a:pt x="98310" y="37171"/>
                  </a:cubicBezTo>
                  <a:cubicBezTo>
                    <a:pt x="98778" y="42132"/>
                    <a:pt x="100465" y="44006"/>
                    <a:pt x="104303" y="44006"/>
                  </a:cubicBezTo>
                  <a:cubicBezTo>
                    <a:pt x="107486" y="44006"/>
                    <a:pt x="109454" y="42882"/>
                    <a:pt x="112728" y="39322"/>
                  </a:cubicBezTo>
                  <a:close/>
                  <a:moveTo>
                    <a:pt x="98219" y="31552"/>
                  </a:moveTo>
                  <a:cubicBezTo>
                    <a:pt x="98219" y="34457"/>
                    <a:pt x="97750" y="35298"/>
                    <a:pt x="95782" y="36517"/>
                  </a:cubicBezTo>
                  <a:cubicBezTo>
                    <a:pt x="93535" y="37826"/>
                    <a:pt x="90916" y="38576"/>
                    <a:pt x="88948" y="38576"/>
                  </a:cubicBezTo>
                  <a:cubicBezTo>
                    <a:pt x="85669" y="38576"/>
                    <a:pt x="83050" y="35389"/>
                    <a:pt x="83050" y="31365"/>
                  </a:cubicBezTo>
                  <a:lnTo>
                    <a:pt x="83050" y="30992"/>
                  </a:lnTo>
                  <a:cubicBezTo>
                    <a:pt x="83050" y="25468"/>
                    <a:pt x="86888" y="22098"/>
                    <a:pt x="98219" y="17975"/>
                  </a:cubicBezTo>
                  <a:lnTo>
                    <a:pt x="98219" y="31552"/>
                  </a:lnTo>
                  <a:close/>
                  <a:moveTo>
                    <a:pt x="157764" y="43069"/>
                  </a:moveTo>
                  <a:lnTo>
                    <a:pt x="157764" y="41664"/>
                  </a:lnTo>
                  <a:cubicBezTo>
                    <a:pt x="154862" y="41664"/>
                    <a:pt x="152989" y="40168"/>
                    <a:pt x="150088" y="36048"/>
                  </a:cubicBezTo>
                  <a:lnTo>
                    <a:pt x="138102" y="17697"/>
                  </a:lnTo>
                  <a:lnTo>
                    <a:pt x="145873" y="6461"/>
                  </a:lnTo>
                  <a:cubicBezTo>
                    <a:pt x="147651" y="3933"/>
                    <a:pt x="150462" y="2433"/>
                    <a:pt x="153458" y="2342"/>
                  </a:cubicBezTo>
                  <a:lnTo>
                    <a:pt x="153458" y="937"/>
                  </a:lnTo>
                  <a:lnTo>
                    <a:pt x="138666" y="937"/>
                  </a:lnTo>
                  <a:lnTo>
                    <a:pt x="138666" y="2342"/>
                  </a:lnTo>
                  <a:cubicBezTo>
                    <a:pt x="141471" y="2528"/>
                    <a:pt x="142409" y="3088"/>
                    <a:pt x="142409" y="4401"/>
                  </a:cubicBezTo>
                  <a:cubicBezTo>
                    <a:pt x="142409" y="5524"/>
                    <a:pt x="141286" y="7584"/>
                    <a:pt x="138944" y="10486"/>
                  </a:cubicBezTo>
                  <a:cubicBezTo>
                    <a:pt x="138476" y="11049"/>
                    <a:pt x="137353" y="12732"/>
                    <a:pt x="136137" y="14605"/>
                  </a:cubicBezTo>
                  <a:lnTo>
                    <a:pt x="134824" y="12732"/>
                  </a:lnTo>
                  <a:cubicBezTo>
                    <a:pt x="132206" y="8803"/>
                    <a:pt x="130518" y="5616"/>
                    <a:pt x="130518" y="4401"/>
                  </a:cubicBezTo>
                  <a:cubicBezTo>
                    <a:pt x="130518" y="3088"/>
                    <a:pt x="131737" y="2433"/>
                    <a:pt x="134546" y="2342"/>
                  </a:cubicBezTo>
                  <a:lnTo>
                    <a:pt x="134546" y="937"/>
                  </a:lnTo>
                  <a:lnTo>
                    <a:pt x="115163" y="937"/>
                  </a:lnTo>
                  <a:lnTo>
                    <a:pt x="115163" y="2342"/>
                  </a:lnTo>
                  <a:lnTo>
                    <a:pt x="116009" y="2342"/>
                  </a:lnTo>
                  <a:cubicBezTo>
                    <a:pt x="118814" y="2342"/>
                    <a:pt x="120315" y="3556"/>
                    <a:pt x="123216" y="7957"/>
                  </a:cubicBezTo>
                  <a:lnTo>
                    <a:pt x="132019" y="21439"/>
                  </a:lnTo>
                  <a:lnTo>
                    <a:pt x="121343" y="36890"/>
                  </a:lnTo>
                  <a:cubicBezTo>
                    <a:pt x="118533" y="40727"/>
                    <a:pt x="117600" y="41382"/>
                    <a:pt x="114508" y="41664"/>
                  </a:cubicBezTo>
                  <a:lnTo>
                    <a:pt x="114508" y="43069"/>
                  </a:lnTo>
                  <a:lnTo>
                    <a:pt x="128086" y="43069"/>
                  </a:lnTo>
                  <a:lnTo>
                    <a:pt x="128086" y="41664"/>
                  </a:lnTo>
                  <a:cubicBezTo>
                    <a:pt x="125462" y="41664"/>
                    <a:pt x="124339" y="41196"/>
                    <a:pt x="124339" y="39977"/>
                  </a:cubicBezTo>
                  <a:cubicBezTo>
                    <a:pt x="124339" y="39418"/>
                    <a:pt x="124994" y="38013"/>
                    <a:pt x="126212" y="36139"/>
                  </a:cubicBezTo>
                  <a:lnTo>
                    <a:pt x="133610" y="24622"/>
                  </a:lnTo>
                  <a:lnTo>
                    <a:pt x="142131" y="37731"/>
                  </a:lnTo>
                  <a:cubicBezTo>
                    <a:pt x="142504" y="38295"/>
                    <a:pt x="142691" y="38854"/>
                    <a:pt x="142691" y="39418"/>
                  </a:cubicBezTo>
                  <a:cubicBezTo>
                    <a:pt x="142691" y="41104"/>
                    <a:pt x="142035" y="41477"/>
                    <a:pt x="138944" y="41664"/>
                  </a:cubicBezTo>
                  <a:lnTo>
                    <a:pt x="138944" y="43069"/>
                  </a:lnTo>
                  <a:lnTo>
                    <a:pt x="157764" y="43069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formula_f2_outline_1"/>
            <p:cNvSpPr/>
            <p:nvPr/>
          </p:nvSpPr>
          <p:spPr>
            <a:xfrm>
              <a:off x="1825496" y="1416767"/>
              <a:ext cx="72322" cy="67754"/>
            </a:xfrm>
            <a:custGeom>
              <a:avLst/>
              <a:gdLst/>
              <a:ahLst/>
              <a:cxnLst/>
              <a:rect l="0" t="0" r="r" b="b"/>
              <a:pathLst>
                <a:path w="72323" h="67754">
                  <a:moveTo>
                    <a:pt x="69104" y="15875"/>
                  </a:moveTo>
                  <a:lnTo>
                    <a:pt x="72323" y="0"/>
                  </a:lnTo>
                  <a:lnTo>
                    <a:pt x="14113" y="0"/>
                  </a:lnTo>
                  <a:lnTo>
                    <a:pt x="14113" y="1659"/>
                  </a:lnTo>
                  <a:cubicBezTo>
                    <a:pt x="21999" y="2282"/>
                    <a:pt x="23451" y="2905"/>
                    <a:pt x="23555" y="5810"/>
                  </a:cubicBezTo>
                  <a:cubicBezTo>
                    <a:pt x="23555" y="7469"/>
                    <a:pt x="23035" y="9961"/>
                    <a:pt x="22412" y="12553"/>
                  </a:cubicBezTo>
                  <a:lnTo>
                    <a:pt x="9442" y="58416"/>
                  </a:lnTo>
                  <a:cubicBezTo>
                    <a:pt x="7576" y="64643"/>
                    <a:pt x="6747" y="65266"/>
                    <a:pt x="0" y="66096"/>
                  </a:cubicBezTo>
                  <a:lnTo>
                    <a:pt x="103" y="67754"/>
                  </a:lnTo>
                  <a:lnTo>
                    <a:pt x="30091" y="67754"/>
                  </a:lnTo>
                  <a:lnTo>
                    <a:pt x="29988" y="66096"/>
                  </a:lnTo>
                  <a:cubicBezTo>
                    <a:pt x="23138" y="65782"/>
                    <a:pt x="21066" y="64643"/>
                    <a:pt x="20959" y="61528"/>
                  </a:cubicBezTo>
                  <a:cubicBezTo>
                    <a:pt x="20959" y="60595"/>
                    <a:pt x="21066" y="59349"/>
                    <a:pt x="21685" y="56860"/>
                  </a:cubicBezTo>
                  <a:lnTo>
                    <a:pt x="28226" y="33929"/>
                  </a:lnTo>
                  <a:cubicBezTo>
                    <a:pt x="32373" y="34135"/>
                    <a:pt x="34865" y="34238"/>
                    <a:pt x="37354" y="34238"/>
                  </a:cubicBezTo>
                  <a:cubicBezTo>
                    <a:pt x="41712" y="34238"/>
                    <a:pt x="42541" y="34345"/>
                    <a:pt x="43581" y="34758"/>
                  </a:cubicBezTo>
                  <a:cubicBezTo>
                    <a:pt x="45240" y="35485"/>
                    <a:pt x="46176" y="36937"/>
                    <a:pt x="46280" y="39013"/>
                  </a:cubicBezTo>
                  <a:cubicBezTo>
                    <a:pt x="46280" y="40672"/>
                    <a:pt x="46176" y="41815"/>
                    <a:pt x="46069" y="45029"/>
                  </a:cubicBezTo>
                  <a:lnTo>
                    <a:pt x="48042" y="45549"/>
                  </a:lnTo>
                  <a:lnTo>
                    <a:pt x="56241" y="21165"/>
                  </a:lnTo>
                  <a:lnTo>
                    <a:pt x="54785" y="20645"/>
                  </a:lnTo>
                  <a:cubicBezTo>
                    <a:pt x="49808" y="29984"/>
                    <a:pt x="49391" y="30091"/>
                    <a:pt x="29365" y="30297"/>
                  </a:cubicBezTo>
                  <a:lnTo>
                    <a:pt x="36215" y="6120"/>
                  </a:lnTo>
                  <a:cubicBezTo>
                    <a:pt x="36731" y="4044"/>
                    <a:pt x="38394" y="3425"/>
                    <a:pt x="43061" y="3425"/>
                  </a:cubicBezTo>
                  <a:cubicBezTo>
                    <a:pt x="62464" y="3425"/>
                    <a:pt x="66409" y="4770"/>
                    <a:pt x="66615" y="11307"/>
                  </a:cubicBezTo>
                  <a:cubicBezTo>
                    <a:pt x="66719" y="12037"/>
                    <a:pt x="66719" y="12450"/>
                    <a:pt x="66615" y="13696"/>
                  </a:cubicBezTo>
                  <a:cubicBezTo>
                    <a:pt x="66512" y="14422"/>
                    <a:pt x="66615" y="14835"/>
                    <a:pt x="66512" y="15669"/>
                  </a:cubicBezTo>
                  <a:lnTo>
                    <a:pt x="69104" y="15875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formula_f2_outline_2"/>
            <p:cNvSpPr/>
            <p:nvPr/>
          </p:nvSpPr>
          <p:spPr>
            <a:xfrm>
              <a:off x="1944690" y="1383554"/>
              <a:ext cx="24622" cy="84264"/>
            </a:xfrm>
            <a:custGeom>
              <a:avLst/>
              <a:gdLst/>
              <a:ahLst/>
              <a:cxnLst/>
              <a:rect l="0" t="0" r="r" b="b"/>
              <a:pathLst>
                <a:path w="24622" h="84264">
                  <a:moveTo>
                    <a:pt x="24622" y="84264"/>
                  </a:moveTo>
                  <a:lnTo>
                    <a:pt x="6457" y="42132"/>
                  </a:lnTo>
                  <a:lnTo>
                    <a:pt x="24622" y="0"/>
                  </a:lnTo>
                  <a:lnTo>
                    <a:pt x="20130" y="0"/>
                  </a:lnTo>
                  <a:lnTo>
                    <a:pt x="0" y="42132"/>
                  </a:lnTo>
                  <a:lnTo>
                    <a:pt x="20130" y="84264"/>
                  </a:lnTo>
                  <a:lnTo>
                    <a:pt x="24622" y="84264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formula_f2_outline_3"/>
            <p:cNvSpPr/>
            <p:nvPr/>
          </p:nvSpPr>
          <p:spPr>
            <a:xfrm>
              <a:off x="1981496" y="1387205"/>
              <a:ext cx="64694" cy="62543"/>
            </a:xfrm>
            <a:custGeom>
              <a:avLst/>
              <a:gdLst/>
              <a:ahLst/>
              <a:cxnLst/>
              <a:rect l="0" t="0" r="r" b="b"/>
              <a:pathLst>
                <a:path w="64695" h="62544">
                  <a:moveTo>
                    <a:pt x="64695" y="62544"/>
                  </a:moveTo>
                  <a:lnTo>
                    <a:pt x="64603" y="61047"/>
                  </a:lnTo>
                  <a:cubicBezTo>
                    <a:pt x="58515" y="60579"/>
                    <a:pt x="57674" y="59829"/>
                    <a:pt x="56174" y="52995"/>
                  </a:cubicBezTo>
                  <a:lnTo>
                    <a:pt x="45315" y="0"/>
                  </a:lnTo>
                  <a:lnTo>
                    <a:pt x="42410" y="0"/>
                  </a:lnTo>
                  <a:lnTo>
                    <a:pt x="13200" y="46815"/>
                  </a:lnTo>
                  <a:cubicBezTo>
                    <a:pt x="5243" y="59265"/>
                    <a:pt x="4306" y="60297"/>
                    <a:pt x="0" y="61047"/>
                  </a:cubicBezTo>
                  <a:lnTo>
                    <a:pt x="91" y="62544"/>
                  </a:lnTo>
                  <a:lnTo>
                    <a:pt x="20034" y="62544"/>
                  </a:lnTo>
                  <a:lnTo>
                    <a:pt x="19939" y="61047"/>
                  </a:lnTo>
                  <a:cubicBezTo>
                    <a:pt x="14510" y="60579"/>
                    <a:pt x="13387" y="60111"/>
                    <a:pt x="13295" y="57769"/>
                  </a:cubicBezTo>
                  <a:cubicBezTo>
                    <a:pt x="13295" y="55991"/>
                    <a:pt x="13387" y="55055"/>
                    <a:pt x="15073" y="51963"/>
                  </a:cubicBezTo>
                  <a:lnTo>
                    <a:pt x="21157" y="41291"/>
                  </a:lnTo>
                  <a:lnTo>
                    <a:pt x="43815" y="41382"/>
                  </a:lnTo>
                  <a:lnTo>
                    <a:pt x="46343" y="53650"/>
                  </a:lnTo>
                  <a:cubicBezTo>
                    <a:pt x="46438" y="54491"/>
                    <a:pt x="46530" y="55332"/>
                    <a:pt x="46625" y="56082"/>
                  </a:cubicBezTo>
                  <a:cubicBezTo>
                    <a:pt x="46720" y="59642"/>
                    <a:pt x="45220" y="60484"/>
                    <a:pt x="38386" y="61047"/>
                  </a:cubicBezTo>
                  <a:lnTo>
                    <a:pt x="38481" y="62544"/>
                  </a:lnTo>
                  <a:lnTo>
                    <a:pt x="64695" y="62544"/>
                  </a:lnTo>
                  <a:close/>
                  <a:moveTo>
                    <a:pt x="43160" y="38013"/>
                  </a:moveTo>
                  <a:lnTo>
                    <a:pt x="23217" y="38013"/>
                  </a:lnTo>
                  <a:lnTo>
                    <a:pt x="38199" y="13669"/>
                  </a:lnTo>
                  <a:lnTo>
                    <a:pt x="43160" y="38013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formula_f2_outline_4"/>
            <p:cNvSpPr/>
            <p:nvPr/>
          </p:nvSpPr>
          <p:spPr>
            <a:xfrm>
              <a:off x="2054851" y="1440200"/>
              <a:ext cx="14890" cy="23030"/>
            </a:xfrm>
            <a:custGeom>
              <a:avLst/>
              <a:gdLst/>
              <a:ahLst/>
              <a:cxnLst/>
              <a:rect l="0" t="0" r="r" b="b"/>
              <a:pathLst>
                <a:path w="14891" h="23031">
                  <a:moveTo>
                    <a:pt x="14891" y="8985"/>
                  </a:moveTo>
                  <a:cubicBezTo>
                    <a:pt x="14891" y="1214"/>
                    <a:pt x="8803" y="0"/>
                    <a:pt x="6275" y="0"/>
                  </a:cubicBezTo>
                  <a:cubicBezTo>
                    <a:pt x="3560" y="0"/>
                    <a:pt x="0" y="1683"/>
                    <a:pt x="0" y="5711"/>
                  </a:cubicBezTo>
                  <a:cubicBezTo>
                    <a:pt x="0" y="9454"/>
                    <a:pt x="3655" y="10390"/>
                    <a:pt x="6370" y="10390"/>
                  </a:cubicBezTo>
                  <a:cubicBezTo>
                    <a:pt x="7025" y="10390"/>
                    <a:pt x="7584" y="10299"/>
                    <a:pt x="7866" y="10204"/>
                  </a:cubicBezTo>
                  <a:cubicBezTo>
                    <a:pt x="8243" y="10112"/>
                    <a:pt x="8708" y="10017"/>
                    <a:pt x="8898" y="10017"/>
                  </a:cubicBezTo>
                  <a:cubicBezTo>
                    <a:pt x="9553" y="10017"/>
                    <a:pt x="10303" y="10485"/>
                    <a:pt x="10303" y="11327"/>
                  </a:cubicBezTo>
                  <a:cubicBezTo>
                    <a:pt x="10303" y="13105"/>
                    <a:pt x="8616" y="17133"/>
                    <a:pt x="1782" y="21066"/>
                  </a:cubicBezTo>
                  <a:lnTo>
                    <a:pt x="2719" y="23031"/>
                  </a:lnTo>
                  <a:cubicBezTo>
                    <a:pt x="5993" y="22094"/>
                    <a:pt x="14891" y="15633"/>
                    <a:pt x="14891" y="8985"/>
                  </a:cubicBez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formula_f2_outline_5"/>
            <p:cNvSpPr/>
            <p:nvPr/>
          </p:nvSpPr>
          <p:spPr>
            <a:xfrm>
              <a:off x="2097694" y="1388610"/>
              <a:ext cx="65261" cy="61138"/>
            </a:xfrm>
            <a:custGeom>
              <a:avLst/>
              <a:gdLst/>
              <a:ahLst/>
              <a:cxnLst/>
              <a:rect l="0" t="0" r="r" b="b"/>
              <a:pathLst>
                <a:path w="65262" h="61139">
                  <a:moveTo>
                    <a:pt x="62357" y="14323"/>
                  </a:moveTo>
                  <a:lnTo>
                    <a:pt x="65262" y="0"/>
                  </a:lnTo>
                  <a:lnTo>
                    <a:pt x="12736" y="0"/>
                  </a:lnTo>
                  <a:lnTo>
                    <a:pt x="12736" y="1496"/>
                  </a:lnTo>
                  <a:cubicBezTo>
                    <a:pt x="19852" y="2060"/>
                    <a:pt x="21161" y="2619"/>
                    <a:pt x="21256" y="5243"/>
                  </a:cubicBezTo>
                  <a:cubicBezTo>
                    <a:pt x="21256" y="6739"/>
                    <a:pt x="20788" y="8989"/>
                    <a:pt x="20225" y="11327"/>
                  </a:cubicBezTo>
                  <a:lnTo>
                    <a:pt x="8521" y="52713"/>
                  </a:lnTo>
                  <a:cubicBezTo>
                    <a:pt x="6838" y="58329"/>
                    <a:pt x="6088" y="58892"/>
                    <a:pt x="0" y="59642"/>
                  </a:cubicBezTo>
                  <a:lnTo>
                    <a:pt x="95" y="61139"/>
                  </a:lnTo>
                  <a:lnTo>
                    <a:pt x="27154" y="61139"/>
                  </a:lnTo>
                  <a:lnTo>
                    <a:pt x="27059" y="59642"/>
                  </a:lnTo>
                  <a:cubicBezTo>
                    <a:pt x="20879" y="59361"/>
                    <a:pt x="19006" y="58329"/>
                    <a:pt x="18914" y="55523"/>
                  </a:cubicBezTo>
                  <a:cubicBezTo>
                    <a:pt x="18914" y="54677"/>
                    <a:pt x="19006" y="53554"/>
                    <a:pt x="19570" y="51308"/>
                  </a:cubicBezTo>
                  <a:lnTo>
                    <a:pt x="25468" y="30615"/>
                  </a:lnTo>
                  <a:cubicBezTo>
                    <a:pt x="29214" y="30801"/>
                    <a:pt x="31461" y="30897"/>
                    <a:pt x="33706" y="30897"/>
                  </a:cubicBezTo>
                  <a:cubicBezTo>
                    <a:pt x="37639" y="30897"/>
                    <a:pt x="38390" y="30992"/>
                    <a:pt x="39326" y="31365"/>
                  </a:cubicBezTo>
                  <a:cubicBezTo>
                    <a:pt x="40822" y="32020"/>
                    <a:pt x="41668" y="33330"/>
                    <a:pt x="41759" y="35203"/>
                  </a:cubicBezTo>
                  <a:cubicBezTo>
                    <a:pt x="41759" y="36703"/>
                    <a:pt x="41668" y="37731"/>
                    <a:pt x="41573" y="40632"/>
                  </a:cubicBezTo>
                  <a:lnTo>
                    <a:pt x="43351" y="41100"/>
                  </a:lnTo>
                  <a:lnTo>
                    <a:pt x="50748" y="19098"/>
                  </a:lnTo>
                  <a:lnTo>
                    <a:pt x="49439" y="18629"/>
                  </a:lnTo>
                  <a:cubicBezTo>
                    <a:pt x="44942" y="27059"/>
                    <a:pt x="44568" y="27150"/>
                    <a:pt x="26499" y="27337"/>
                  </a:cubicBezTo>
                  <a:lnTo>
                    <a:pt x="32679" y="5524"/>
                  </a:lnTo>
                  <a:cubicBezTo>
                    <a:pt x="33147" y="3651"/>
                    <a:pt x="34643" y="3088"/>
                    <a:pt x="38859" y="3088"/>
                  </a:cubicBezTo>
                  <a:cubicBezTo>
                    <a:pt x="56364" y="3088"/>
                    <a:pt x="59924" y="4306"/>
                    <a:pt x="60111" y="10204"/>
                  </a:cubicBezTo>
                  <a:cubicBezTo>
                    <a:pt x="60206" y="10858"/>
                    <a:pt x="60206" y="11236"/>
                    <a:pt x="60111" y="12359"/>
                  </a:cubicBezTo>
                  <a:cubicBezTo>
                    <a:pt x="60016" y="13014"/>
                    <a:pt x="60111" y="13387"/>
                    <a:pt x="60016" y="14137"/>
                  </a:cubicBezTo>
                  <a:lnTo>
                    <a:pt x="62357" y="14323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formula_f2_outline_6"/>
            <p:cNvSpPr/>
            <p:nvPr/>
          </p:nvSpPr>
          <p:spPr>
            <a:xfrm>
              <a:off x="2177049" y="1383554"/>
              <a:ext cx="24622" cy="84264"/>
            </a:xfrm>
            <a:custGeom>
              <a:avLst/>
              <a:gdLst/>
              <a:ahLst/>
              <a:cxnLst/>
              <a:rect l="0" t="0" r="r" b="b"/>
              <a:pathLst>
                <a:path w="24622" h="84264">
                  <a:moveTo>
                    <a:pt x="24622" y="42132"/>
                  </a:moveTo>
                  <a:lnTo>
                    <a:pt x="4493" y="0"/>
                  </a:lnTo>
                  <a:lnTo>
                    <a:pt x="0" y="0"/>
                  </a:lnTo>
                  <a:lnTo>
                    <a:pt x="18161" y="42132"/>
                  </a:lnTo>
                  <a:lnTo>
                    <a:pt x="0" y="84264"/>
                  </a:lnTo>
                  <a:lnTo>
                    <a:pt x="4493" y="84264"/>
                  </a:lnTo>
                  <a:lnTo>
                    <a:pt x="24622" y="42132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formula_f2_outline_7"/>
            <p:cNvSpPr/>
            <p:nvPr/>
          </p:nvSpPr>
          <p:spPr>
            <a:xfrm>
              <a:off x="2241367" y="1423063"/>
              <a:ext cx="47938" cy="5246"/>
            </a:xfrm>
            <a:custGeom>
              <a:avLst/>
              <a:gdLst/>
              <a:ahLst/>
              <a:cxnLst/>
              <a:rect l="0" t="0" r="r" b="b"/>
              <a:pathLst>
                <a:path w="47939" h="5247">
                  <a:moveTo>
                    <a:pt x="47939" y="5247"/>
                  </a:moveTo>
                  <a:lnTo>
                    <a:pt x="47939" y="0"/>
                  </a:lnTo>
                  <a:lnTo>
                    <a:pt x="0" y="0"/>
                  </a:lnTo>
                  <a:lnTo>
                    <a:pt x="0" y="5247"/>
                  </a:lnTo>
                  <a:lnTo>
                    <a:pt x="47939" y="5247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formula_f2_outline_8"/>
            <p:cNvSpPr/>
            <p:nvPr/>
          </p:nvSpPr>
          <p:spPr>
            <a:xfrm>
              <a:off x="2330263" y="1408458"/>
              <a:ext cx="49153" cy="42322"/>
            </a:xfrm>
            <a:custGeom>
              <a:avLst/>
              <a:gdLst/>
              <a:ahLst/>
              <a:cxnLst/>
              <a:rect l="0" t="0" r="r" b="b"/>
              <a:pathLst>
                <a:path w="49153" h="42323">
                  <a:moveTo>
                    <a:pt x="49153" y="7680"/>
                  </a:moveTo>
                  <a:cubicBezTo>
                    <a:pt x="49153" y="1500"/>
                    <a:pt x="35671" y="0"/>
                    <a:pt x="30242" y="0"/>
                  </a:cubicBezTo>
                  <a:cubicBezTo>
                    <a:pt x="22189" y="0"/>
                    <a:pt x="9644" y="2996"/>
                    <a:pt x="9644" y="11704"/>
                  </a:cubicBezTo>
                  <a:cubicBezTo>
                    <a:pt x="9644" y="16010"/>
                    <a:pt x="14137" y="18725"/>
                    <a:pt x="19284" y="19383"/>
                  </a:cubicBezTo>
                  <a:lnTo>
                    <a:pt x="19284" y="19757"/>
                  </a:lnTo>
                  <a:cubicBezTo>
                    <a:pt x="11140" y="20598"/>
                    <a:pt x="0" y="24626"/>
                    <a:pt x="0" y="32020"/>
                  </a:cubicBezTo>
                  <a:cubicBezTo>
                    <a:pt x="0" y="40636"/>
                    <a:pt x="11422" y="42323"/>
                    <a:pt x="19566" y="42323"/>
                  </a:cubicBezTo>
                  <a:cubicBezTo>
                    <a:pt x="27714" y="42323"/>
                    <a:pt x="36890" y="40168"/>
                    <a:pt x="42132" y="34548"/>
                  </a:cubicBezTo>
                  <a:cubicBezTo>
                    <a:pt x="43160" y="33334"/>
                    <a:pt x="44379" y="31929"/>
                    <a:pt x="44379" y="30337"/>
                  </a:cubicBezTo>
                  <a:cubicBezTo>
                    <a:pt x="44379" y="29214"/>
                    <a:pt x="43255" y="27996"/>
                    <a:pt x="41946" y="27996"/>
                  </a:cubicBezTo>
                  <a:cubicBezTo>
                    <a:pt x="36794" y="27996"/>
                    <a:pt x="35766" y="39795"/>
                    <a:pt x="21534" y="39795"/>
                  </a:cubicBezTo>
                  <a:cubicBezTo>
                    <a:pt x="16010" y="39795"/>
                    <a:pt x="11795" y="38013"/>
                    <a:pt x="11795" y="32770"/>
                  </a:cubicBezTo>
                  <a:cubicBezTo>
                    <a:pt x="11795" y="27714"/>
                    <a:pt x="15446" y="22003"/>
                    <a:pt x="22094" y="22003"/>
                  </a:cubicBezTo>
                  <a:cubicBezTo>
                    <a:pt x="25186" y="22003"/>
                    <a:pt x="27996" y="23035"/>
                    <a:pt x="31083" y="23035"/>
                  </a:cubicBezTo>
                  <a:cubicBezTo>
                    <a:pt x="33611" y="23035"/>
                    <a:pt x="35671" y="22380"/>
                    <a:pt x="35671" y="19943"/>
                  </a:cubicBezTo>
                  <a:cubicBezTo>
                    <a:pt x="35671" y="17792"/>
                    <a:pt x="34175" y="17510"/>
                    <a:pt x="32115" y="17510"/>
                  </a:cubicBezTo>
                  <a:cubicBezTo>
                    <a:pt x="29774" y="17510"/>
                    <a:pt x="27714" y="17792"/>
                    <a:pt x="25468" y="17792"/>
                  </a:cubicBezTo>
                  <a:cubicBezTo>
                    <a:pt x="21721" y="17792"/>
                    <a:pt x="20129" y="16387"/>
                    <a:pt x="20129" y="13014"/>
                  </a:cubicBezTo>
                  <a:cubicBezTo>
                    <a:pt x="20129" y="7771"/>
                    <a:pt x="24717" y="2528"/>
                    <a:pt x="30802" y="2528"/>
                  </a:cubicBezTo>
                  <a:cubicBezTo>
                    <a:pt x="39791" y="2528"/>
                    <a:pt x="38854" y="11331"/>
                    <a:pt x="44847" y="11331"/>
                  </a:cubicBezTo>
                  <a:cubicBezTo>
                    <a:pt x="47280" y="11331"/>
                    <a:pt x="49153" y="10017"/>
                    <a:pt x="49153" y="7680"/>
                  </a:cubicBez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formula_f2_outline_9"/>
            <p:cNvSpPr/>
            <p:nvPr/>
          </p:nvSpPr>
          <p:spPr>
            <a:xfrm>
              <a:off x="2402651" y="1387765"/>
              <a:ext cx="120406" cy="61983"/>
            </a:xfrm>
            <a:custGeom>
              <a:avLst/>
              <a:gdLst/>
              <a:ahLst/>
              <a:cxnLst/>
              <a:rect l="0" t="0" r="r" b="b"/>
              <a:pathLst>
                <a:path w="120407" h="61984">
                  <a:moveTo>
                    <a:pt x="64512" y="61984"/>
                  </a:moveTo>
                  <a:lnTo>
                    <a:pt x="64512" y="60206"/>
                  </a:lnTo>
                  <a:cubicBezTo>
                    <a:pt x="59642" y="60111"/>
                    <a:pt x="58333" y="59174"/>
                    <a:pt x="49812" y="50094"/>
                  </a:cubicBezTo>
                  <a:lnTo>
                    <a:pt x="27996" y="26686"/>
                  </a:lnTo>
                  <a:lnTo>
                    <a:pt x="45784" y="9084"/>
                  </a:lnTo>
                  <a:cubicBezTo>
                    <a:pt x="52153" y="2996"/>
                    <a:pt x="53650" y="2250"/>
                    <a:pt x="60015" y="1782"/>
                  </a:cubicBezTo>
                  <a:lnTo>
                    <a:pt x="60015" y="0"/>
                  </a:lnTo>
                  <a:lnTo>
                    <a:pt x="35485" y="0"/>
                  </a:lnTo>
                  <a:lnTo>
                    <a:pt x="35485" y="1782"/>
                  </a:lnTo>
                  <a:cubicBezTo>
                    <a:pt x="36608" y="1873"/>
                    <a:pt x="37544" y="1873"/>
                    <a:pt x="37921" y="1873"/>
                  </a:cubicBezTo>
                  <a:cubicBezTo>
                    <a:pt x="40727" y="2060"/>
                    <a:pt x="41854" y="2810"/>
                    <a:pt x="41854" y="4683"/>
                  </a:cubicBezTo>
                  <a:cubicBezTo>
                    <a:pt x="41854" y="6743"/>
                    <a:pt x="39699" y="9553"/>
                    <a:pt x="34548" y="14327"/>
                  </a:cubicBezTo>
                  <a:lnTo>
                    <a:pt x="17978" y="29401"/>
                  </a:lnTo>
                  <a:lnTo>
                    <a:pt x="17978" y="10208"/>
                  </a:lnTo>
                  <a:cubicBezTo>
                    <a:pt x="17978" y="3373"/>
                    <a:pt x="19006" y="2341"/>
                    <a:pt x="26591" y="1782"/>
                  </a:cubicBezTo>
                  <a:lnTo>
                    <a:pt x="26591" y="0"/>
                  </a:lnTo>
                  <a:lnTo>
                    <a:pt x="0" y="0"/>
                  </a:lnTo>
                  <a:lnTo>
                    <a:pt x="0" y="1782"/>
                  </a:lnTo>
                  <a:cubicBezTo>
                    <a:pt x="7303" y="2341"/>
                    <a:pt x="8426" y="3560"/>
                    <a:pt x="8426" y="10208"/>
                  </a:cubicBezTo>
                  <a:lnTo>
                    <a:pt x="8426" y="50748"/>
                  </a:lnTo>
                  <a:cubicBezTo>
                    <a:pt x="8426" y="58519"/>
                    <a:pt x="7398" y="59738"/>
                    <a:pt x="0" y="60206"/>
                  </a:cubicBezTo>
                  <a:lnTo>
                    <a:pt x="0" y="61984"/>
                  </a:lnTo>
                  <a:lnTo>
                    <a:pt x="26404" y="61984"/>
                  </a:lnTo>
                  <a:lnTo>
                    <a:pt x="26404" y="60206"/>
                  </a:lnTo>
                  <a:cubicBezTo>
                    <a:pt x="19102" y="59738"/>
                    <a:pt x="17978" y="58614"/>
                    <a:pt x="17978" y="51780"/>
                  </a:cubicBezTo>
                  <a:lnTo>
                    <a:pt x="17978" y="34270"/>
                  </a:lnTo>
                  <a:lnTo>
                    <a:pt x="20411" y="32302"/>
                  </a:lnTo>
                  <a:lnTo>
                    <a:pt x="30337" y="42136"/>
                  </a:lnTo>
                  <a:cubicBezTo>
                    <a:pt x="37453" y="49157"/>
                    <a:pt x="42509" y="55805"/>
                    <a:pt x="42509" y="58051"/>
                  </a:cubicBezTo>
                  <a:cubicBezTo>
                    <a:pt x="42509" y="59361"/>
                    <a:pt x="41196" y="60019"/>
                    <a:pt x="38576" y="60111"/>
                  </a:cubicBezTo>
                  <a:cubicBezTo>
                    <a:pt x="38108" y="60111"/>
                    <a:pt x="37076" y="60111"/>
                    <a:pt x="35953" y="60206"/>
                  </a:cubicBezTo>
                  <a:lnTo>
                    <a:pt x="35953" y="61984"/>
                  </a:lnTo>
                  <a:lnTo>
                    <a:pt x="64512" y="61984"/>
                  </a:lnTo>
                  <a:close/>
                  <a:moveTo>
                    <a:pt x="120407" y="45692"/>
                  </a:moveTo>
                  <a:lnTo>
                    <a:pt x="118065" y="45692"/>
                  </a:lnTo>
                  <a:cubicBezTo>
                    <a:pt x="116565" y="48970"/>
                    <a:pt x="115351" y="51121"/>
                    <a:pt x="114037" y="52622"/>
                  </a:cubicBezTo>
                  <a:cubicBezTo>
                    <a:pt x="110763" y="56555"/>
                    <a:pt x="105611" y="58333"/>
                    <a:pt x="97559" y="58333"/>
                  </a:cubicBezTo>
                  <a:lnTo>
                    <a:pt x="91288" y="58333"/>
                  </a:lnTo>
                  <a:cubicBezTo>
                    <a:pt x="84454" y="58333"/>
                    <a:pt x="83236" y="57769"/>
                    <a:pt x="83236" y="54495"/>
                  </a:cubicBezTo>
                  <a:lnTo>
                    <a:pt x="83236" y="10208"/>
                  </a:lnTo>
                  <a:cubicBezTo>
                    <a:pt x="83236" y="3560"/>
                    <a:pt x="84545" y="2250"/>
                    <a:pt x="91943" y="1782"/>
                  </a:cubicBezTo>
                  <a:lnTo>
                    <a:pt x="91943" y="0"/>
                  </a:lnTo>
                  <a:lnTo>
                    <a:pt x="65539" y="0"/>
                  </a:lnTo>
                  <a:lnTo>
                    <a:pt x="65539" y="1782"/>
                  </a:lnTo>
                  <a:cubicBezTo>
                    <a:pt x="72468" y="2341"/>
                    <a:pt x="73687" y="3560"/>
                    <a:pt x="73687" y="10208"/>
                  </a:cubicBezTo>
                  <a:lnTo>
                    <a:pt x="73687" y="51780"/>
                  </a:lnTo>
                  <a:cubicBezTo>
                    <a:pt x="73687" y="58428"/>
                    <a:pt x="72373" y="59738"/>
                    <a:pt x="65539" y="60206"/>
                  </a:cubicBezTo>
                  <a:lnTo>
                    <a:pt x="65539" y="61984"/>
                  </a:lnTo>
                  <a:lnTo>
                    <a:pt x="115910" y="61984"/>
                  </a:lnTo>
                  <a:lnTo>
                    <a:pt x="120407" y="45692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formula_f2_outline_10"/>
            <p:cNvSpPr/>
            <p:nvPr/>
          </p:nvSpPr>
          <p:spPr>
            <a:xfrm>
              <a:off x="2536256" y="1382618"/>
              <a:ext cx="23971" cy="86042"/>
            </a:xfrm>
            <a:custGeom>
              <a:avLst/>
              <a:gdLst/>
              <a:ahLst/>
              <a:cxnLst/>
              <a:rect l="0" t="0" r="r" b="b"/>
              <a:pathLst>
                <a:path w="23971" h="86042">
                  <a:moveTo>
                    <a:pt x="23126" y="0"/>
                  </a:moveTo>
                  <a:cubicBezTo>
                    <a:pt x="9553" y="8803"/>
                    <a:pt x="0" y="23967"/>
                    <a:pt x="0" y="43069"/>
                  </a:cubicBezTo>
                  <a:cubicBezTo>
                    <a:pt x="0" y="60484"/>
                    <a:pt x="9926" y="78085"/>
                    <a:pt x="22848" y="86042"/>
                  </a:cubicBezTo>
                  <a:lnTo>
                    <a:pt x="23971" y="84546"/>
                  </a:lnTo>
                  <a:cubicBezTo>
                    <a:pt x="11613" y="74811"/>
                    <a:pt x="8053" y="63480"/>
                    <a:pt x="8053" y="42787"/>
                  </a:cubicBezTo>
                  <a:cubicBezTo>
                    <a:pt x="8053" y="22003"/>
                    <a:pt x="11894" y="11235"/>
                    <a:pt x="23971" y="1496"/>
                  </a:cubicBezTo>
                  <a:lnTo>
                    <a:pt x="23126" y="0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formula_f2_outline_11"/>
            <p:cNvSpPr/>
            <p:nvPr/>
          </p:nvSpPr>
          <p:spPr>
            <a:xfrm>
              <a:off x="2570807" y="1388610"/>
              <a:ext cx="65262" cy="61138"/>
            </a:xfrm>
            <a:custGeom>
              <a:avLst/>
              <a:gdLst/>
              <a:ahLst/>
              <a:cxnLst/>
              <a:rect l="0" t="0" r="r" b="b"/>
              <a:pathLst>
                <a:path w="65262" h="61139">
                  <a:moveTo>
                    <a:pt x="62357" y="14323"/>
                  </a:moveTo>
                  <a:lnTo>
                    <a:pt x="65262" y="0"/>
                  </a:lnTo>
                  <a:lnTo>
                    <a:pt x="12736" y="0"/>
                  </a:lnTo>
                  <a:lnTo>
                    <a:pt x="12736" y="1496"/>
                  </a:lnTo>
                  <a:cubicBezTo>
                    <a:pt x="19852" y="2060"/>
                    <a:pt x="21161" y="2619"/>
                    <a:pt x="21257" y="5243"/>
                  </a:cubicBezTo>
                  <a:cubicBezTo>
                    <a:pt x="21257" y="6739"/>
                    <a:pt x="20788" y="8989"/>
                    <a:pt x="20225" y="11327"/>
                  </a:cubicBezTo>
                  <a:lnTo>
                    <a:pt x="8521" y="52713"/>
                  </a:lnTo>
                  <a:cubicBezTo>
                    <a:pt x="6838" y="58329"/>
                    <a:pt x="6088" y="58892"/>
                    <a:pt x="0" y="59642"/>
                  </a:cubicBezTo>
                  <a:lnTo>
                    <a:pt x="95" y="61139"/>
                  </a:lnTo>
                  <a:lnTo>
                    <a:pt x="27154" y="61139"/>
                  </a:lnTo>
                  <a:lnTo>
                    <a:pt x="27059" y="59642"/>
                  </a:lnTo>
                  <a:cubicBezTo>
                    <a:pt x="20880" y="59361"/>
                    <a:pt x="19006" y="58329"/>
                    <a:pt x="18915" y="55523"/>
                  </a:cubicBezTo>
                  <a:cubicBezTo>
                    <a:pt x="18915" y="54677"/>
                    <a:pt x="19006" y="53554"/>
                    <a:pt x="19570" y="51308"/>
                  </a:cubicBezTo>
                  <a:lnTo>
                    <a:pt x="25467" y="30615"/>
                  </a:lnTo>
                  <a:cubicBezTo>
                    <a:pt x="29214" y="30801"/>
                    <a:pt x="31460" y="30897"/>
                    <a:pt x="33707" y="30897"/>
                  </a:cubicBezTo>
                  <a:cubicBezTo>
                    <a:pt x="37640" y="30897"/>
                    <a:pt x="38390" y="30992"/>
                    <a:pt x="39326" y="31365"/>
                  </a:cubicBezTo>
                  <a:cubicBezTo>
                    <a:pt x="40823" y="32020"/>
                    <a:pt x="41668" y="33330"/>
                    <a:pt x="41759" y="35203"/>
                  </a:cubicBezTo>
                  <a:cubicBezTo>
                    <a:pt x="41759" y="36703"/>
                    <a:pt x="41668" y="37731"/>
                    <a:pt x="41573" y="40632"/>
                  </a:cubicBezTo>
                  <a:lnTo>
                    <a:pt x="43351" y="41100"/>
                  </a:lnTo>
                  <a:lnTo>
                    <a:pt x="50748" y="19098"/>
                  </a:lnTo>
                  <a:lnTo>
                    <a:pt x="49439" y="18629"/>
                  </a:lnTo>
                  <a:cubicBezTo>
                    <a:pt x="44942" y="27059"/>
                    <a:pt x="44569" y="27150"/>
                    <a:pt x="26499" y="27337"/>
                  </a:cubicBezTo>
                  <a:lnTo>
                    <a:pt x="32679" y="5524"/>
                  </a:lnTo>
                  <a:cubicBezTo>
                    <a:pt x="33147" y="3651"/>
                    <a:pt x="34643" y="3088"/>
                    <a:pt x="38858" y="3088"/>
                  </a:cubicBezTo>
                  <a:cubicBezTo>
                    <a:pt x="56364" y="3088"/>
                    <a:pt x="59924" y="4306"/>
                    <a:pt x="60111" y="10204"/>
                  </a:cubicBezTo>
                  <a:cubicBezTo>
                    <a:pt x="60206" y="10858"/>
                    <a:pt x="60206" y="11236"/>
                    <a:pt x="60111" y="12359"/>
                  </a:cubicBezTo>
                  <a:cubicBezTo>
                    <a:pt x="60015" y="13014"/>
                    <a:pt x="60111" y="13387"/>
                    <a:pt x="60015" y="14137"/>
                  </a:cubicBezTo>
                  <a:lnTo>
                    <a:pt x="62357" y="14323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formula_f2_outline_12"/>
            <p:cNvSpPr/>
            <p:nvPr/>
          </p:nvSpPr>
          <p:spPr>
            <a:xfrm>
              <a:off x="2654979" y="1383554"/>
              <a:ext cx="23967" cy="84264"/>
            </a:xfrm>
            <a:custGeom>
              <a:avLst/>
              <a:gdLst/>
              <a:ahLst/>
              <a:cxnLst/>
              <a:rect l="0" t="0" r="r" b="b"/>
              <a:pathLst>
                <a:path w="23967" h="84264">
                  <a:moveTo>
                    <a:pt x="23967" y="84264"/>
                  </a:moveTo>
                  <a:lnTo>
                    <a:pt x="23967" y="0"/>
                  </a:lnTo>
                  <a:lnTo>
                    <a:pt x="18725" y="0"/>
                  </a:lnTo>
                  <a:lnTo>
                    <a:pt x="18725" y="84264"/>
                  </a:lnTo>
                  <a:lnTo>
                    <a:pt x="23967" y="84264"/>
                  </a:lnTo>
                  <a:close/>
                  <a:moveTo>
                    <a:pt x="5243" y="84264"/>
                  </a:moveTo>
                  <a:lnTo>
                    <a:pt x="5243" y="0"/>
                  </a:lnTo>
                  <a:lnTo>
                    <a:pt x="0" y="0"/>
                  </a:lnTo>
                  <a:lnTo>
                    <a:pt x="0" y="84264"/>
                  </a:lnTo>
                  <a:lnTo>
                    <a:pt x="5243" y="84264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formula_f2_outline_13"/>
            <p:cNvSpPr/>
            <p:nvPr/>
          </p:nvSpPr>
          <p:spPr>
            <a:xfrm>
              <a:off x="2715236" y="1360289"/>
              <a:ext cx="52435" cy="14605"/>
            </a:xfrm>
            <a:custGeom>
              <a:avLst/>
              <a:gdLst/>
              <a:ahLst/>
              <a:cxnLst/>
              <a:rect l="0" t="0" r="r" b="b"/>
              <a:pathLst>
                <a:path w="52435" h="14605">
                  <a:moveTo>
                    <a:pt x="52435" y="14605"/>
                  </a:moveTo>
                  <a:lnTo>
                    <a:pt x="52435" y="10486"/>
                  </a:lnTo>
                  <a:lnTo>
                    <a:pt x="26122" y="0"/>
                  </a:lnTo>
                  <a:lnTo>
                    <a:pt x="0" y="10486"/>
                  </a:lnTo>
                  <a:lnTo>
                    <a:pt x="0" y="14605"/>
                  </a:lnTo>
                  <a:lnTo>
                    <a:pt x="26218" y="6366"/>
                  </a:lnTo>
                  <a:lnTo>
                    <a:pt x="52435" y="14605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formula_f2_outline_14"/>
            <p:cNvSpPr/>
            <p:nvPr/>
          </p:nvSpPr>
          <p:spPr>
            <a:xfrm>
              <a:off x="2696359" y="1388610"/>
              <a:ext cx="65262" cy="61138"/>
            </a:xfrm>
            <a:custGeom>
              <a:avLst/>
              <a:gdLst/>
              <a:ahLst/>
              <a:cxnLst/>
              <a:rect l="0" t="0" r="r" b="b"/>
              <a:pathLst>
                <a:path w="65262" h="61139">
                  <a:moveTo>
                    <a:pt x="62357" y="14323"/>
                  </a:moveTo>
                  <a:lnTo>
                    <a:pt x="65262" y="0"/>
                  </a:lnTo>
                  <a:lnTo>
                    <a:pt x="12736" y="0"/>
                  </a:lnTo>
                  <a:lnTo>
                    <a:pt x="12736" y="1496"/>
                  </a:lnTo>
                  <a:cubicBezTo>
                    <a:pt x="19852" y="2060"/>
                    <a:pt x="21161" y="2619"/>
                    <a:pt x="21257" y="5243"/>
                  </a:cubicBezTo>
                  <a:cubicBezTo>
                    <a:pt x="21257" y="6739"/>
                    <a:pt x="20788" y="8989"/>
                    <a:pt x="20225" y="11327"/>
                  </a:cubicBezTo>
                  <a:lnTo>
                    <a:pt x="8521" y="52713"/>
                  </a:lnTo>
                  <a:cubicBezTo>
                    <a:pt x="6838" y="58329"/>
                    <a:pt x="6088" y="58892"/>
                    <a:pt x="0" y="59642"/>
                  </a:cubicBezTo>
                  <a:lnTo>
                    <a:pt x="95" y="61139"/>
                  </a:lnTo>
                  <a:lnTo>
                    <a:pt x="27154" y="61139"/>
                  </a:lnTo>
                  <a:lnTo>
                    <a:pt x="27059" y="59642"/>
                  </a:lnTo>
                  <a:cubicBezTo>
                    <a:pt x="20880" y="59361"/>
                    <a:pt x="19006" y="58329"/>
                    <a:pt x="18915" y="55523"/>
                  </a:cubicBezTo>
                  <a:cubicBezTo>
                    <a:pt x="18915" y="54677"/>
                    <a:pt x="19006" y="53554"/>
                    <a:pt x="19570" y="51308"/>
                  </a:cubicBezTo>
                  <a:lnTo>
                    <a:pt x="25467" y="30615"/>
                  </a:lnTo>
                  <a:cubicBezTo>
                    <a:pt x="29214" y="30801"/>
                    <a:pt x="31460" y="30897"/>
                    <a:pt x="33707" y="30897"/>
                  </a:cubicBezTo>
                  <a:cubicBezTo>
                    <a:pt x="37640" y="30897"/>
                    <a:pt x="38390" y="30992"/>
                    <a:pt x="39326" y="31365"/>
                  </a:cubicBezTo>
                  <a:cubicBezTo>
                    <a:pt x="40823" y="32020"/>
                    <a:pt x="41668" y="33330"/>
                    <a:pt x="41759" y="35203"/>
                  </a:cubicBezTo>
                  <a:cubicBezTo>
                    <a:pt x="41759" y="36703"/>
                    <a:pt x="41668" y="37731"/>
                    <a:pt x="41573" y="40632"/>
                  </a:cubicBezTo>
                  <a:lnTo>
                    <a:pt x="43351" y="41100"/>
                  </a:lnTo>
                  <a:lnTo>
                    <a:pt x="50748" y="19098"/>
                  </a:lnTo>
                  <a:lnTo>
                    <a:pt x="49439" y="18629"/>
                  </a:lnTo>
                  <a:cubicBezTo>
                    <a:pt x="44942" y="27059"/>
                    <a:pt x="44569" y="27150"/>
                    <a:pt x="26499" y="27337"/>
                  </a:cubicBezTo>
                  <a:lnTo>
                    <a:pt x="32679" y="5524"/>
                  </a:lnTo>
                  <a:cubicBezTo>
                    <a:pt x="33147" y="3651"/>
                    <a:pt x="34643" y="3088"/>
                    <a:pt x="38858" y="3088"/>
                  </a:cubicBezTo>
                  <a:cubicBezTo>
                    <a:pt x="56364" y="3088"/>
                    <a:pt x="59924" y="4306"/>
                    <a:pt x="60111" y="10204"/>
                  </a:cubicBezTo>
                  <a:cubicBezTo>
                    <a:pt x="60206" y="10858"/>
                    <a:pt x="60206" y="11236"/>
                    <a:pt x="60111" y="12359"/>
                  </a:cubicBezTo>
                  <a:cubicBezTo>
                    <a:pt x="60015" y="13014"/>
                    <a:pt x="60111" y="13387"/>
                    <a:pt x="60015" y="14137"/>
                  </a:cubicBezTo>
                  <a:lnTo>
                    <a:pt x="62357" y="14323"/>
                  </a:ln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formula_f2_outline_15"/>
            <p:cNvSpPr/>
            <p:nvPr/>
          </p:nvSpPr>
          <p:spPr>
            <a:xfrm>
              <a:off x="2773708" y="1382618"/>
              <a:ext cx="23971" cy="86042"/>
            </a:xfrm>
            <a:custGeom>
              <a:avLst/>
              <a:gdLst/>
              <a:ahLst/>
              <a:cxnLst/>
              <a:rect l="0" t="0" r="r" b="b"/>
              <a:pathLst>
                <a:path w="23971" h="86042">
                  <a:moveTo>
                    <a:pt x="841" y="0"/>
                  </a:moveTo>
                  <a:lnTo>
                    <a:pt x="0" y="1496"/>
                  </a:lnTo>
                  <a:cubicBezTo>
                    <a:pt x="12077" y="11235"/>
                    <a:pt x="15919" y="22003"/>
                    <a:pt x="15919" y="42787"/>
                  </a:cubicBezTo>
                  <a:cubicBezTo>
                    <a:pt x="15919" y="63480"/>
                    <a:pt x="12359" y="74811"/>
                    <a:pt x="0" y="84546"/>
                  </a:cubicBezTo>
                  <a:lnTo>
                    <a:pt x="1123" y="86042"/>
                  </a:lnTo>
                  <a:cubicBezTo>
                    <a:pt x="14045" y="78085"/>
                    <a:pt x="23971" y="60484"/>
                    <a:pt x="23971" y="43069"/>
                  </a:cubicBezTo>
                  <a:cubicBezTo>
                    <a:pt x="23971" y="23967"/>
                    <a:pt x="14418" y="8803"/>
                    <a:pt x="841" y="0"/>
                  </a:cubicBezTo>
                  <a:close/>
                </a:path>
              </a:pathLst>
            </a:custGeom>
            <a:solidFill>
              <a:srgbClr val="126B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2" name="plus_node"/>
          <p:cNvSpPr/>
          <p:nvPr/>
        </p:nvSpPr>
        <p:spPr>
          <a:xfrm>
            <a:off x="3276600" y="1511300"/>
            <a:ext cx="203200" cy="203200"/>
          </a:xfrm>
          <a:prstGeom prst="ellipse">
            <a:avLst/>
          </a:prstGeom>
          <a:solidFill>
            <a:srgbClr val="E8790A"/>
          </a:solidFill>
          <a:ln w="6350">
            <a:solidFill>
              <a:srgbClr val="E87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plus_txt"/>
          <p:cNvSpPr txBox="1"/>
          <p:nvPr/>
        </p:nvSpPr>
        <p:spPr>
          <a:xfrm>
            <a:off x="3276600" y="1524000"/>
            <a:ext cx="203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Liberation Serif"/>
              </a:rPr>
              <a:t>+</a:t>
            </a:r>
          </a:p>
        </p:txBody>
      </p:sp>
      <p:cxnSp>
        <p:nvCxnSpPr>
          <p:cNvPr id="124" name="price_to_plus_0"/>
          <p:cNvCxnSpPr/>
          <p:nvPr/>
        </p:nvCxnSpPr>
        <p:spPr>
          <a:xfrm>
            <a:off x="3073400" y="1511300"/>
            <a:ext cx="203200" cy="101600"/>
          </a:xfrm>
          <a:prstGeom prst="line">
            <a:avLst/>
          </a:prstGeom>
          <a:ln w="1524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formula_f3"/>
          <p:cNvGrpSpPr/>
          <p:nvPr/>
        </p:nvGrpSpPr>
        <p:grpSpPr>
          <a:xfrm>
            <a:off x="3023060" y="1315060"/>
            <a:ext cx="586562" cy="150550"/>
            <a:chOff x="3023060" y="1315060"/>
            <a:chExt cx="586562" cy="150550"/>
          </a:xfrm>
        </p:grpSpPr>
        <p:sp>
          <p:nvSpPr>
            <p:cNvPr id="126" name="formula_f3_outline_0"/>
            <p:cNvSpPr/>
            <p:nvPr/>
          </p:nvSpPr>
          <p:spPr>
            <a:xfrm>
              <a:off x="3023060" y="1344046"/>
              <a:ext cx="54998" cy="64035"/>
            </a:xfrm>
            <a:custGeom>
              <a:avLst/>
              <a:gdLst/>
              <a:ahLst/>
              <a:cxnLst/>
              <a:rect l="0" t="0" r="r" b="b"/>
              <a:pathLst>
                <a:path w="54999" h="64036">
                  <a:moveTo>
                    <a:pt x="54999" y="55959"/>
                  </a:moveTo>
                  <a:lnTo>
                    <a:pt x="54904" y="55769"/>
                  </a:lnTo>
                  <a:cubicBezTo>
                    <a:pt x="53364" y="55769"/>
                    <a:pt x="51538" y="59039"/>
                    <a:pt x="46923" y="59039"/>
                  </a:cubicBezTo>
                  <a:cubicBezTo>
                    <a:pt x="41922" y="59039"/>
                    <a:pt x="40192" y="55578"/>
                    <a:pt x="40192" y="50383"/>
                  </a:cubicBezTo>
                  <a:cubicBezTo>
                    <a:pt x="40192" y="41152"/>
                    <a:pt x="45768" y="26249"/>
                    <a:pt x="45768" y="15097"/>
                  </a:cubicBezTo>
                  <a:cubicBezTo>
                    <a:pt x="45768" y="6441"/>
                    <a:pt x="42597" y="0"/>
                    <a:pt x="31536" y="0"/>
                  </a:cubicBezTo>
                  <a:lnTo>
                    <a:pt x="30385" y="0"/>
                  </a:lnTo>
                  <a:cubicBezTo>
                    <a:pt x="28365" y="0"/>
                    <a:pt x="23558" y="1445"/>
                    <a:pt x="22019" y="2595"/>
                  </a:cubicBezTo>
                  <a:cubicBezTo>
                    <a:pt x="21923" y="2695"/>
                    <a:pt x="22789" y="3560"/>
                    <a:pt x="22884" y="3560"/>
                  </a:cubicBezTo>
                  <a:cubicBezTo>
                    <a:pt x="23364" y="3175"/>
                    <a:pt x="25769" y="2310"/>
                    <a:pt x="28075" y="2310"/>
                  </a:cubicBezTo>
                  <a:cubicBezTo>
                    <a:pt x="35000" y="2310"/>
                    <a:pt x="36151" y="8751"/>
                    <a:pt x="36151" y="14037"/>
                  </a:cubicBezTo>
                  <a:cubicBezTo>
                    <a:pt x="36151" y="16827"/>
                    <a:pt x="35866" y="19328"/>
                    <a:pt x="35866" y="20193"/>
                  </a:cubicBezTo>
                  <a:cubicBezTo>
                    <a:pt x="35961" y="20483"/>
                    <a:pt x="35866" y="20673"/>
                    <a:pt x="35766" y="21058"/>
                  </a:cubicBezTo>
                  <a:cubicBezTo>
                    <a:pt x="33750" y="30000"/>
                    <a:pt x="2500" y="55193"/>
                    <a:pt x="0" y="62980"/>
                  </a:cubicBezTo>
                  <a:lnTo>
                    <a:pt x="10287" y="62980"/>
                  </a:lnTo>
                  <a:cubicBezTo>
                    <a:pt x="10287" y="62020"/>
                    <a:pt x="10382" y="61055"/>
                    <a:pt x="10577" y="60000"/>
                  </a:cubicBezTo>
                  <a:cubicBezTo>
                    <a:pt x="13652" y="47692"/>
                    <a:pt x="34516" y="29039"/>
                    <a:pt x="34516" y="28944"/>
                  </a:cubicBezTo>
                  <a:lnTo>
                    <a:pt x="34615" y="28944"/>
                  </a:lnTo>
                  <a:cubicBezTo>
                    <a:pt x="34230" y="31635"/>
                    <a:pt x="30770" y="41346"/>
                    <a:pt x="30770" y="49903"/>
                  </a:cubicBezTo>
                  <a:cubicBezTo>
                    <a:pt x="30770" y="57404"/>
                    <a:pt x="33171" y="64036"/>
                    <a:pt x="41922" y="64036"/>
                  </a:cubicBezTo>
                  <a:cubicBezTo>
                    <a:pt x="46827" y="64036"/>
                    <a:pt x="54804" y="57114"/>
                    <a:pt x="54999" y="55959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formula_f3_outline_1"/>
            <p:cNvSpPr/>
            <p:nvPr/>
          </p:nvSpPr>
          <p:spPr>
            <a:xfrm>
              <a:off x="3084679" y="13722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4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formula_f3_outline_2"/>
            <p:cNvSpPr/>
            <p:nvPr/>
          </p:nvSpPr>
          <p:spPr>
            <a:xfrm>
              <a:off x="3179037" y="1369910"/>
              <a:ext cx="49228" cy="24903"/>
            </a:xfrm>
            <a:custGeom>
              <a:avLst/>
              <a:gdLst/>
              <a:ahLst/>
              <a:cxnLst/>
              <a:rect l="0" t="0" r="r" b="b"/>
              <a:pathLst>
                <a:path w="49228" h="24904">
                  <a:moveTo>
                    <a:pt x="49228" y="5386"/>
                  </a:moveTo>
                  <a:lnTo>
                    <a:pt x="49228" y="0"/>
                  </a:lnTo>
                  <a:lnTo>
                    <a:pt x="0" y="0"/>
                  </a:lnTo>
                  <a:lnTo>
                    <a:pt x="0" y="5386"/>
                  </a:lnTo>
                  <a:lnTo>
                    <a:pt x="49228" y="5386"/>
                  </a:lnTo>
                  <a:close/>
                  <a:moveTo>
                    <a:pt x="49228" y="24904"/>
                  </a:moveTo>
                  <a:lnTo>
                    <a:pt x="49228" y="19518"/>
                  </a:lnTo>
                  <a:lnTo>
                    <a:pt x="0" y="19518"/>
                  </a:lnTo>
                  <a:lnTo>
                    <a:pt x="0" y="24904"/>
                  </a:lnTo>
                  <a:lnTo>
                    <a:pt x="49228" y="24904"/>
                  </a:ln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formula_f3_outline_3"/>
            <p:cNvSpPr/>
            <p:nvPr/>
          </p:nvSpPr>
          <p:spPr>
            <a:xfrm>
              <a:off x="3281662" y="1328143"/>
              <a:ext cx="29904" cy="5191"/>
            </a:xfrm>
            <a:custGeom>
              <a:avLst/>
              <a:gdLst/>
              <a:ahLst/>
              <a:cxnLst/>
              <a:rect l="0" t="0" r="r" b="b"/>
              <a:pathLst>
                <a:path w="29905" h="5191">
                  <a:moveTo>
                    <a:pt x="29905" y="5191"/>
                  </a:moveTo>
                  <a:lnTo>
                    <a:pt x="29905" y="0"/>
                  </a:lnTo>
                  <a:lnTo>
                    <a:pt x="0" y="0"/>
                  </a:lnTo>
                  <a:lnTo>
                    <a:pt x="0" y="5191"/>
                  </a:lnTo>
                  <a:lnTo>
                    <a:pt x="29905" y="5191"/>
                  </a:ln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formula_f3_outline_4"/>
            <p:cNvSpPr/>
            <p:nvPr/>
          </p:nvSpPr>
          <p:spPr>
            <a:xfrm>
              <a:off x="3262569" y="1344046"/>
              <a:ext cx="54998" cy="64035"/>
            </a:xfrm>
            <a:custGeom>
              <a:avLst/>
              <a:gdLst/>
              <a:ahLst/>
              <a:cxnLst/>
              <a:rect l="0" t="0" r="r" b="b"/>
              <a:pathLst>
                <a:path w="54999" h="64036">
                  <a:moveTo>
                    <a:pt x="54999" y="55959"/>
                  </a:moveTo>
                  <a:lnTo>
                    <a:pt x="54904" y="55769"/>
                  </a:lnTo>
                  <a:cubicBezTo>
                    <a:pt x="53364" y="55769"/>
                    <a:pt x="51538" y="59039"/>
                    <a:pt x="46923" y="59039"/>
                  </a:cubicBezTo>
                  <a:cubicBezTo>
                    <a:pt x="41922" y="59039"/>
                    <a:pt x="40192" y="55578"/>
                    <a:pt x="40192" y="50383"/>
                  </a:cubicBezTo>
                  <a:cubicBezTo>
                    <a:pt x="40192" y="41152"/>
                    <a:pt x="45768" y="26249"/>
                    <a:pt x="45768" y="15097"/>
                  </a:cubicBezTo>
                  <a:cubicBezTo>
                    <a:pt x="45768" y="6441"/>
                    <a:pt x="42597" y="0"/>
                    <a:pt x="31536" y="0"/>
                  </a:cubicBezTo>
                  <a:lnTo>
                    <a:pt x="30385" y="0"/>
                  </a:lnTo>
                  <a:cubicBezTo>
                    <a:pt x="28365" y="0"/>
                    <a:pt x="23559" y="1445"/>
                    <a:pt x="22019" y="2595"/>
                  </a:cubicBezTo>
                  <a:cubicBezTo>
                    <a:pt x="21923" y="2695"/>
                    <a:pt x="22789" y="3560"/>
                    <a:pt x="22884" y="3560"/>
                  </a:cubicBezTo>
                  <a:cubicBezTo>
                    <a:pt x="23364" y="3175"/>
                    <a:pt x="25769" y="2310"/>
                    <a:pt x="28075" y="2310"/>
                  </a:cubicBezTo>
                  <a:cubicBezTo>
                    <a:pt x="35000" y="2310"/>
                    <a:pt x="36151" y="8751"/>
                    <a:pt x="36151" y="14037"/>
                  </a:cubicBezTo>
                  <a:cubicBezTo>
                    <a:pt x="36151" y="16827"/>
                    <a:pt x="35866" y="19328"/>
                    <a:pt x="35866" y="20193"/>
                  </a:cubicBezTo>
                  <a:cubicBezTo>
                    <a:pt x="35961" y="20483"/>
                    <a:pt x="35866" y="20673"/>
                    <a:pt x="35766" y="21058"/>
                  </a:cubicBezTo>
                  <a:cubicBezTo>
                    <a:pt x="33750" y="30000"/>
                    <a:pt x="2500" y="55193"/>
                    <a:pt x="0" y="62980"/>
                  </a:cubicBezTo>
                  <a:lnTo>
                    <a:pt x="10287" y="62980"/>
                  </a:lnTo>
                  <a:cubicBezTo>
                    <a:pt x="10287" y="62020"/>
                    <a:pt x="10382" y="61055"/>
                    <a:pt x="10577" y="60000"/>
                  </a:cubicBezTo>
                  <a:cubicBezTo>
                    <a:pt x="13653" y="47692"/>
                    <a:pt x="34516" y="29039"/>
                    <a:pt x="34516" y="28944"/>
                  </a:cubicBezTo>
                  <a:lnTo>
                    <a:pt x="34615" y="28944"/>
                  </a:lnTo>
                  <a:cubicBezTo>
                    <a:pt x="34230" y="31635"/>
                    <a:pt x="30770" y="41346"/>
                    <a:pt x="30770" y="49903"/>
                  </a:cubicBezTo>
                  <a:cubicBezTo>
                    <a:pt x="30770" y="57404"/>
                    <a:pt x="33171" y="64036"/>
                    <a:pt x="41922" y="64036"/>
                  </a:cubicBezTo>
                  <a:cubicBezTo>
                    <a:pt x="46827" y="64036"/>
                    <a:pt x="54804" y="57114"/>
                    <a:pt x="54999" y="55959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formula_f3_outline_5"/>
            <p:cNvSpPr/>
            <p:nvPr/>
          </p:nvSpPr>
          <p:spPr>
            <a:xfrm>
              <a:off x="3318695" y="1315060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80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formula_f3_outline_6"/>
            <p:cNvSpPr/>
            <p:nvPr/>
          </p:nvSpPr>
          <p:spPr>
            <a:xfrm>
              <a:off x="3324188" y="1393598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formula_f3_outline_7"/>
            <p:cNvSpPr/>
            <p:nvPr/>
          </p:nvSpPr>
          <p:spPr>
            <a:xfrm>
              <a:off x="3417923" y="1357603"/>
              <a:ext cx="49228" cy="49422"/>
            </a:xfrm>
            <a:custGeom>
              <a:avLst/>
              <a:gdLst/>
              <a:ahLst/>
              <a:cxnLst/>
              <a:rect l="0" t="0" r="r" b="b"/>
              <a:pathLst>
                <a:path w="49228" h="49423">
                  <a:moveTo>
                    <a:pt x="21443" y="21538"/>
                  </a:moveTo>
                  <a:lnTo>
                    <a:pt x="0" y="21538"/>
                  </a:lnTo>
                  <a:lnTo>
                    <a:pt x="0" y="27884"/>
                  </a:lnTo>
                  <a:lnTo>
                    <a:pt x="21443" y="27884"/>
                  </a:lnTo>
                  <a:lnTo>
                    <a:pt x="21443" y="49423"/>
                  </a:lnTo>
                  <a:lnTo>
                    <a:pt x="27789" y="49423"/>
                  </a:lnTo>
                  <a:lnTo>
                    <a:pt x="27789" y="27884"/>
                  </a:lnTo>
                  <a:lnTo>
                    <a:pt x="49228" y="27884"/>
                  </a:lnTo>
                  <a:lnTo>
                    <a:pt x="49228" y="21538"/>
                  </a:lnTo>
                  <a:lnTo>
                    <a:pt x="27789" y="21538"/>
                  </a:lnTo>
                  <a:lnTo>
                    <a:pt x="27789" y="0"/>
                  </a:lnTo>
                  <a:lnTo>
                    <a:pt x="21443" y="0"/>
                  </a:lnTo>
                  <a:lnTo>
                    <a:pt x="21443" y="21538"/>
                  </a:ln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formula_f3_outline_8"/>
            <p:cNvSpPr/>
            <p:nvPr/>
          </p:nvSpPr>
          <p:spPr>
            <a:xfrm>
              <a:off x="3488334" y="1344046"/>
              <a:ext cx="65190" cy="82883"/>
            </a:xfrm>
            <a:custGeom>
              <a:avLst/>
              <a:gdLst/>
              <a:ahLst/>
              <a:cxnLst/>
              <a:rect l="0" t="0" r="r" b="b"/>
              <a:pathLst>
                <a:path w="65191" h="82883">
                  <a:moveTo>
                    <a:pt x="65191" y="11057"/>
                  </a:moveTo>
                  <a:cubicBezTo>
                    <a:pt x="65191" y="3461"/>
                    <a:pt x="57979" y="0"/>
                    <a:pt x="48558" y="0"/>
                  </a:cubicBezTo>
                  <a:cubicBezTo>
                    <a:pt x="36540" y="0"/>
                    <a:pt x="24904" y="6826"/>
                    <a:pt x="21733" y="16538"/>
                  </a:cubicBezTo>
                  <a:lnTo>
                    <a:pt x="6731" y="70191"/>
                  </a:lnTo>
                  <a:cubicBezTo>
                    <a:pt x="5001" y="76248"/>
                    <a:pt x="1060" y="81633"/>
                    <a:pt x="0" y="82883"/>
                  </a:cubicBezTo>
                  <a:lnTo>
                    <a:pt x="10001" y="82883"/>
                  </a:lnTo>
                  <a:cubicBezTo>
                    <a:pt x="10096" y="82883"/>
                    <a:pt x="11827" y="82113"/>
                    <a:pt x="15482" y="70096"/>
                  </a:cubicBezTo>
                  <a:lnTo>
                    <a:pt x="18943" y="57694"/>
                  </a:lnTo>
                  <a:lnTo>
                    <a:pt x="19038" y="57694"/>
                  </a:lnTo>
                  <a:cubicBezTo>
                    <a:pt x="19038" y="57789"/>
                    <a:pt x="22598" y="64615"/>
                    <a:pt x="33270" y="64615"/>
                  </a:cubicBezTo>
                  <a:cubicBezTo>
                    <a:pt x="49133" y="64615"/>
                    <a:pt x="60000" y="53844"/>
                    <a:pt x="60000" y="42787"/>
                  </a:cubicBezTo>
                  <a:cubicBezTo>
                    <a:pt x="60000" y="30770"/>
                    <a:pt x="46153" y="28944"/>
                    <a:pt x="46057" y="28944"/>
                  </a:cubicBezTo>
                  <a:lnTo>
                    <a:pt x="46057" y="28559"/>
                  </a:lnTo>
                  <a:cubicBezTo>
                    <a:pt x="46153" y="28559"/>
                    <a:pt x="65191" y="25094"/>
                    <a:pt x="65191" y="11057"/>
                  </a:cubicBezTo>
                  <a:close/>
                  <a:moveTo>
                    <a:pt x="55674" y="10866"/>
                  </a:moveTo>
                  <a:cubicBezTo>
                    <a:pt x="55674" y="15288"/>
                    <a:pt x="52788" y="26154"/>
                    <a:pt x="44037" y="26154"/>
                  </a:cubicBezTo>
                  <a:cubicBezTo>
                    <a:pt x="41731" y="26154"/>
                    <a:pt x="39807" y="25769"/>
                    <a:pt x="38076" y="25769"/>
                  </a:cubicBezTo>
                  <a:cubicBezTo>
                    <a:pt x="35096" y="25769"/>
                    <a:pt x="33080" y="27980"/>
                    <a:pt x="33080" y="29710"/>
                  </a:cubicBezTo>
                  <a:cubicBezTo>
                    <a:pt x="33080" y="30770"/>
                    <a:pt x="33945" y="31635"/>
                    <a:pt x="35866" y="31635"/>
                  </a:cubicBezTo>
                  <a:cubicBezTo>
                    <a:pt x="38846" y="31635"/>
                    <a:pt x="39616" y="31155"/>
                    <a:pt x="42021" y="31155"/>
                  </a:cubicBezTo>
                  <a:cubicBezTo>
                    <a:pt x="47308" y="31155"/>
                    <a:pt x="49713" y="36346"/>
                    <a:pt x="49713" y="41731"/>
                  </a:cubicBezTo>
                  <a:cubicBezTo>
                    <a:pt x="49713" y="51348"/>
                    <a:pt x="43557" y="60190"/>
                    <a:pt x="32595" y="60190"/>
                  </a:cubicBezTo>
                  <a:cubicBezTo>
                    <a:pt x="25674" y="60190"/>
                    <a:pt x="21253" y="56825"/>
                    <a:pt x="21253" y="51248"/>
                  </a:cubicBezTo>
                  <a:cubicBezTo>
                    <a:pt x="21253" y="50097"/>
                    <a:pt x="21443" y="48847"/>
                    <a:pt x="21828" y="47498"/>
                  </a:cubicBezTo>
                  <a:lnTo>
                    <a:pt x="30385" y="16633"/>
                  </a:lnTo>
                  <a:cubicBezTo>
                    <a:pt x="32310" y="10386"/>
                    <a:pt x="37405" y="2695"/>
                    <a:pt x="47212" y="2695"/>
                  </a:cubicBezTo>
                  <a:cubicBezTo>
                    <a:pt x="53364" y="2695"/>
                    <a:pt x="55674" y="6441"/>
                    <a:pt x="55674" y="10866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formula_f3_outline_9"/>
            <p:cNvSpPr/>
            <p:nvPr/>
          </p:nvSpPr>
          <p:spPr>
            <a:xfrm>
              <a:off x="3558985" y="13722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4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6" name="smooth_note"/>
          <p:cNvSpPr txBox="1"/>
          <p:nvPr/>
        </p:nvSpPr>
        <p:spPr>
          <a:xfrm>
            <a:off x="2997200" y="1854200"/>
            <a:ext cx="635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47D"/>
                </a:solidFill>
                <a:latin typeface="Liberation Serif"/>
              </a:rPr>
              <a:t>clip + smooth</a:t>
            </a:r>
          </a:p>
        </p:txBody>
      </p:sp>
      <p:cxnSp>
        <p:nvCxnSpPr>
          <p:cNvPr id="137" name="lambda_out_0"/>
          <p:cNvCxnSpPr/>
          <p:nvPr/>
        </p:nvCxnSpPr>
        <p:spPr>
          <a:xfrm>
            <a:off x="3479800" y="1612900"/>
            <a:ext cx="304800" cy="0"/>
          </a:xfrm>
          <a:prstGeom prst="line">
            <a:avLst/>
          </a:prstGeom>
          <a:ln w="33020">
            <a:solidFill>
              <a:srgbClr val="E8790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gae_label"/>
          <p:cNvSpPr txBox="1"/>
          <p:nvPr/>
        </p:nvSpPr>
        <p:spPr>
          <a:xfrm>
            <a:off x="3898900" y="457200"/>
            <a:ext cx="9652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6747D"/>
                </a:solidFill>
                <a:latin typeface="Liberation Serif"/>
              </a:rPr>
              <a:t>GAE from rollout</a:t>
            </a:r>
          </a:p>
        </p:txBody>
      </p:sp>
      <p:sp>
        <p:nvSpPr>
          <p:cNvPr id="139" name="gae_terms"/>
          <p:cNvSpPr txBox="1"/>
          <p:nvPr/>
        </p:nvSpPr>
        <p:spPr>
          <a:xfrm>
            <a:off x="3898900" y="584200"/>
            <a:ext cx="9652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56318A"/>
                </a:solidFill>
                <a:latin typeface="Liberation Serif"/>
              </a:rPr>
              <a:t>reward Aᵣ · cost A_c</a:t>
            </a:r>
          </a:p>
        </p:txBody>
      </p:sp>
      <p:sp>
        <p:nvSpPr>
          <p:cNvPr id="140" name="adv_card"/>
          <p:cNvSpPr/>
          <p:nvPr/>
        </p:nvSpPr>
        <p:spPr>
          <a:xfrm>
            <a:off x="3848100" y="723900"/>
            <a:ext cx="1054100" cy="53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7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41" name="formula_f4"/>
          <p:cNvGrpSpPr/>
          <p:nvPr/>
        </p:nvGrpSpPr>
        <p:grpSpPr>
          <a:xfrm>
            <a:off x="3913475" y="868331"/>
            <a:ext cx="910917" cy="244892"/>
            <a:chOff x="3913475" y="868331"/>
            <a:chExt cx="910917" cy="244892"/>
          </a:xfrm>
        </p:grpSpPr>
        <p:sp>
          <p:nvSpPr>
            <p:cNvPr id="142" name="formula_f4_outline_0"/>
            <p:cNvSpPr/>
            <p:nvPr/>
          </p:nvSpPr>
          <p:spPr>
            <a:xfrm>
              <a:off x="3928418" y="935247"/>
              <a:ext cx="55209" cy="9473"/>
            </a:xfrm>
            <a:custGeom>
              <a:avLst/>
              <a:gdLst/>
              <a:ahLst/>
              <a:cxnLst/>
              <a:rect l="0" t="0" r="r" b="b"/>
              <a:pathLst>
                <a:path w="55209" h="9473">
                  <a:moveTo>
                    <a:pt x="55209" y="0"/>
                  </a:moveTo>
                  <a:lnTo>
                    <a:pt x="52475" y="0"/>
                  </a:lnTo>
                  <a:cubicBezTo>
                    <a:pt x="51749" y="2278"/>
                    <a:pt x="49105" y="4282"/>
                    <a:pt x="40084" y="4282"/>
                  </a:cubicBezTo>
                  <a:cubicBezTo>
                    <a:pt x="31429" y="4282"/>
                    <a:pt x="28515" y="274"/>
                    <a:pt x="20133" y="274"/>
                  </a:cubicBezTo>
                  <a:cubicBezTo>
                    <a:pt x="6287" y="274"/>
                    <a:pt x="2369" y="4373"/>
                    <a:pt x="0" y="9473"/>
                  </a:cubicBezTo>
                  <a:lnTo>
                    <a:pt x="2730" y="9473"/>
                  </a:lnTo>
                  <a:cubicBezTo>
                    <a:pt x="3461" y="7199"/>
                    <a:pt x="6739" y="5286"/>
                    <a:pt x="15760" y="5286"/>
                  </a:cubicBezTo>
                  <a:cubicBezTo>
                    <a:pt x="24324" y="5286"/>
                    <a:pt x="27329" y="9295"/>
                    <a:pt x="35711" y="9295"/>
                  </a:cubicBezTo>
                  <a:cubicBezTo>
                    <a:pt x="49562" y="9295"/>
                    <a:pt x="52840" y="5104"/>
                    <a:pt x="55209" y="0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formula_f4_outline_1"/>
            <p:cNvSpPr/>
            <p:nvPr/>
          </p:nvSpPr>
          <p:spPr>
            <a:xfrm>
              <a:off x="3913475" y="960940"/>
              <a:ext cx="62952" cy="60856"/>
            </a:xfrm>
            <a:custGeom>
              <a:avLst/>
              <a:gdLst/>
              <a:ahLst/>
              <a:cxnLst/>
              <a:rect l="0" t="0" r="r" b="b"/>
              <a:pathLst>
                <a:path w="62952" h="60857">
                  <a:moveTo>
                    <a:pt x="62952" y="60857"/>
                  </a:moveTo>
                  <a:lnTo>
                    <a:pt x="62861" y="59400"/>
                  </a:lnTo>
                  <a:cubicBezTo>
                    <a:pt x="56940" y="58944"/>
                    <a:pt x="56118" y="58214"/>
                    <a:pt x="54662" y="51566"/>
                  </a:cubicBezTo>
                  <a:lnTo>
                    <a:pt x="44093" y="0"/>
                  </a:lnTo>
                  <a:lnTo>
                    <a:pt x="41271" y="0"/>
                  </a:lnTo>
                  <a:lnTo>
                    <a:pt x="12843" y="45549"/>
                  </a:lnTo>
                  <a:cubicBezTo>
                    <a:pt x="5100" y="57670"/>
                    <a:pt x="4191" y="58670"/>
                    <a:pt x="0" y="59400"/>
                  </a:cubicBezTo>
                  <a:lnTo>
                    <a:pt x="91" y="60857"/>
                  </a:lnTo>
                  <a:lnTo>
                    <a:pt x="19494" y="60857"/>
                  </a:lnTo>
                  <a:lnTo>
                    <a:pt x="19403" y="59400"/>
                  </a:lnTo>
                  <a:cubicBezTo>
                    <a:pt x="14121" y="58944"/>
                    <a:pt x="13025" y="58487"/>
                    <a:pt x="12934" y="56209"/>
                  </a:cubicBezTo>
                  <a:cubicBezTo>
                    <a:pt x="12934" y="54479"/>
                    <a:pt x="13025" y="53570"/>
                    <a:pt x="14668" y="50562"/>
                  </a:cubicBezTo>
                  <a:lnTo>
                    <a:pt x="20590" y="40176"/>
                  </a:lnTo>
                  <a:lnTo>
                    <a:pt x="42636" y="40267"/>
                  </a:lnTo>
                  <a:lnTo>
                    <a:pt x="45097" y="52201"/>
                  </a:lnTo>
                  <a:cubicBezTo>
                    <a:pt x="45188" y="53022"/>
                    <a:pt x="45279" y="53840"/>
                    <a:pt x="45371" y="54570"/>
                  </a:cubicBezTo>
                  <a:cubicBezTo>
                    <a:pt x="45462" y="58031"/>
                    <a:pt x="44002" y="58853"/>
                    <a:pt x="37354" y="59400"/>
                  </a:cubicBezTo>
                  <a:lnTo>
                    <a:pt x="37441" y="60857"/>
                  </a:lnTo>
                  <a:lnTo>
                    <a:pt x="62952" y="60857"/>
                  </a:lnTo>
                  <a:close/>
                  <a:moveTo>
                    <a:pt x="41997" y="36989"/>
                  </a:moveTo>
                  <a:lnTo>
                    <a:pt x="22594" y="36989"/>
                  </a:lnTo>
                  <a:lnTo>
                    <a:pt x="37171" y="13299"/>
                  </a:lnTo>
                  <a:lnTo>
                    <a:pt x="41997" y="36989"/>
                  </a:ln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formula_f4_outline_2"/>
            <p:cNvSpPr/>
            <p:nvPr/>
          </p:nvSpPr>
          <p:spPr>
            <a:xfrm>
              <a:off x="4008560" y="986630"/>
              <a:ext cx="46648" cy="23598"/>
            </a:xfrm>
            <a:custGeom>
              <a:avLst/>
              <a:gdLst/>
              <a:ahLst/>
              <a:cxnLst/>
              <a:rect l="0" t="0" r="r" b="b"/>
              <a:pathLst>
                <a:path w="46649" h="23598">
                  <a:moveTo>
                    <a:pt x="46649" y="5104"/>
                  </a:moveTo>
                  <a:lnTo>
                    <a:pt x="46649" y="0"/>
                  </a:lnTo>
                  <a:lnTo>
                    <a:pt x="0" y="0"/>
                  </a:lnTo>
                  <a:lnTo>
                    <a:pt x="0" y="5104"/>
                  </a:lnTo>
                  <a:lnTo>
                    <a:pt x="46649" y="5104"/>
                  </a:lnTo>
                  <a:close/>
                  <a:moveTo>
                    <a:pt x="46649" y="23598"/>
                  </a:moveTo>
                  <a:lnTo>
                    <a:pt x="46649" y="18494"/>
                  </a:lnTo>
                  <a:lnTo>
                    <a:pt x="0" y="18494"/>
                  </a:lnTo>
                  <a:lnTo>
                    <a:pt x="0" y="23598"/>
                  </a:lnTo>
                  <a:lnTo>
                    <a:pt x="46649" y="23598"/>
                  </a:ln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formula_f4_outline_3"/>
            <p:cNvSpPr/>
            <p:nvPr/>
          </p:nvSpPr>
          <p:spPr>
            <a:xfrm>
              <a:off x="4104445" y="871651"/>
              <a:ext cx="71699" cy="69310"/>
            </a:xfrm>
            <a:custGeom>
              <a:avLst/>
              <a:gdLst/>
              <a:ahLst/>
              <a:cxnLst/>
              <a:rect l="0" t="0" r="r" b="b"/>
              <a:pathLst>
                <a:path w="71699" h="69310">
                  <a:moveTo>
                    <a:pt x="71699" y="69310"/>
                  </a:moveTo>
                  <a:lnTo>
                    <a:pt x="71596" y="67651"/>
                  </a:lnTo>
                  <a:cubicBezTo>
                    <a:pt x="64853" y="67131"/>
                    <a:pt x="63917" y="66302"/>
                    <a:pt x="62258" y="58726"/>
                  </a:cubicBezTo>
                  <a:lnTo>
                    <a:pt x="50221" y="0"/>
                  </a:lnTo>
                  <a:lnTo>
                    <a:pt x="47006" y="0"/>
                  </a:lnTo>
                  <a:lnTo>
                    <a:pt x="14633" y="51880"/>
                  </a:lnTo>
                  <a:cubicBezTo>
                    <a:pt x="5810" y="65679"/>
                    <a:pt x="4774" y="66822"/>
                    <a:pt x="0" y="67651"/>
                  </a:cubicBezTo>
                  <a:lnTo>
                    <a:pt x="103" y="69310"/>
                  </a:lnTo>
                  <a:lnTo>
                    <a:pt x="22205" y="69310"/>
                  </a:lnTo>
                  <a:lnTo>
                    <a:pt x="22102" y="67651"/>
                  </a:lnTo>
                  <a:cubicBezTo>
                    <a:pt x="16085" y="67131"/>
                    <a:pt x="14839" y="66612"/>
                    <a:pt x="14736" y="64020"/>
                  </a:cubicBezTo>
                  <a:cubicBezTo>
                    <a:pt x="14736" y="62048"/>
                    <a:pt x="14839" y="61008"/>
                    <a:pt x="16708" y="57587"/>
                  </a:cubicBezTo>
                  <a:lnTo>
                    <a:pt x="23451" y="45756"/>
                  </a:lnTo>
                  <a:lnTo>
                    <a:pt x="48562" y="45859"/>
                  </a:lnTo>
                  <a:lnTo>
                    <a:pt x="51364" y="59452"/>
                  </a:lnTo>
                  <a:cubicBezTo>
                    <a:pt x="51467" y="60389"/>
                    <a:pt x="51570" y="61321"/>
                    <a:pt x="51673" y="62151"/>
                  </a:cubicBezTo>
                  <a:cubicBezTo>
                    <a:pt x="51776" y="66096"/>
                    <a:pt x="50117" y="67028"/>
                    <a:pt x="42545" y="67651"/>
                  </a:cubicBezTo>
                  <a:lnTo>
                    <a:pt x="42648" y="69310"/>
                  </a:lnTo>
                  <a:lnTo>
                    <a:pt x="71699" y="69310"/>
                  </a:lnTo>
                  <a:close/>
                  <a:moveTo>
                    <a:pt x="47835" y="42124"/>
                  </a:moveTo>
                  <a:lnTo>
                    <a:pt x="25733" y="42124"/>
                  </a:lnTo>
                  <a:lnTo>
                    <a:pt x="42335" y="15149"/>
                  </a:lnTo>
                  <a:lnTo>
                    <a:pt x="47835" y="42124"/>
                  </a:ln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formula_f4_outline_4"/>
            <p:cNvSpPr/>
            <p:nvPr/>
          </p:nvSpPr>
          <p:spPr>
            <a:xfrm>
              <a:off x="4185889" y="910759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2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3"/>
                    <a:pt x="18887" y="14839"/>
                    <a:pt x="17121" y="18991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200"/>
                  </a:cubicBezTo>
                  <a:cubicBezTo>
                    <a:pt x="33826" y="9962"/>
                    <a:pt x="34762" y="10482"/>
                    <a:pt x="37044" y="10482"/>
                  </a:cubicBezTo>
                  <a:cubicBezTo>
                    <a:pt x="40573" y="10482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formula_f4_outline_5"/>
            <p:cNvSpPr/>
            <p:nvPr/>
          </p:nvSpPr>
          <p:spPr>
            <a:xfrm>
              <a:off x="4253427" y="911391"/>
              <a:ext cx="53125" cy="5810"/>
            </a:xfrm>
            <a:custGeom>
              <a:avLst/>
              <a:gdLst/>
              <a:ahLst/>
              <a:cxnLst/>
              <a:rect l="0" t="0" r="r" b="b"/>
              <a:pathLst>
                <a:path w="53126" h="5810">
                  <a:moveTo>
                    <a:pt x="53126" y="5810"/>
                  </a:moveTo>
                  <a:lnTo>
                    <a:pt x="53126" y="0"/>
                  </a:lnTo>
                  <a:lnTo>
                    <a:pt x="0" y="0"/>
                  </a:lnTo>
                  <a:lnTo>
                    <a:pt x="0" y="5810"/>
                  </a:lnTo>
                  <a:lnTo>
                    <a:pt x="53126" y="5810"/>
                  </a:ln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formula_f4_outline_6"/>
            <p:cNvSpPr/>
            <p:nvPr/>
          </p:nvSpPr>
          <p:spPr>
            <a:xfrm>
              <a:off x="4321597" y="868331"/>
              <a:ext cx="70869" cy="91309"/>
            </a:xfrm>
            <a:custGeom>
              <a:avLst/>
              <a:gdLst/>
              <a:ahLst/>
              <a:cxnLst/>
              <a:rect l="0" t="0" r="r" b="b"/>
              <a:pathLst>
                <a:path w="70870" h="91309">
                  <a:moveTo>
                    <a:pt x="70870" y="63603"/>
                  </a:moveTo>
                  <a:lnTo>
                    <a:pt x="68691" y="63603"/>
                  </a:lnTo>
                  <a:cubicBezTo>
                    <a:pt x="66615" y="76573"/>
                    <a:pt x="61841" y="82387"/>
                    <a:pt x="54578" y="82387"/>
                  </a:cubicBezTo>
                  <a:lnTo>
                    <a:pt x="13906" y="82387"/>
                  </a:lnTo>
                  <a:lnTo>
                    <a:pt x="43994" y="43787"/>
                  </a:lnTo>
                  <a:lnTo>
                    <a:pt x="17224" y="4048"/>
                  </a:lnTo>
                  <a:lnTo>
                    <a:pt x="50427" y="4048"/>
                  </a:lnTo>
                  <a:cubicBezTo>
                    <a:pt x="58003" y="4048"/>
                    <a:pt x="62778" y="8195"/>
                    <a:pt x="64957" y="21376"/>
                  </a:cubicBezTo>
                  <a:lnTo>
                    <a:pt x="67239" y="21376"/>
                  </a:lnTo>
                  <a:lnTo>
                    <a:pt x="66615" y="0"/>
                  </a:lnTo>
                  <a:lnTo>
                    <a:pt x="4358" y="0"/>
                  </a:lnTo>
                  <a:lnTo>
                    <a:pt x="36108" y="45549"/>
                  </a:lnTo>
                  <a:lnTo>
                    <a:pt x="0" y="91309"/>
                  </a:lnTo>
                  <a:lnTo>
                    <a:pt x="69727" y="91309"/>
                  </a:lnTo>
                  <a:lnTo>
                    <a:pt x="70870" y="63603"/>
                  </a:ln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formula_f4_outline_7"/>
            <p:cNvSpPr/>
            <p:nvPr/>
          </p:nvSpPr>
          <p:spPr>
            <a:xfrm>
              <a:off x="4407289" y="903518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formula_f4_outline_8"/>
            <p:cNvSpPr/>
            <p:nvPr/>
          </p:nvSpPr>
          <p:spPr>
            <a:xfrm>
              <a:off x="4488024" y="872997"/>
              <a:ext cx="59352" cy="69107"/>
            </a:xfrm>
            <a:custGeom>
              <a:avLst/>
              <a:gdLst/>
              <a:ahLst/>
              <a:cxnLst/>
              <a:rect l="0" t="0" r="r" b="b"/>
              <a:pathLst>
                <a:path w="59353" h="69108">
                  <a:moveTo>
                    <a:pt x="59353" y="60389"/>
                  </a:moveTo>
                  <a:lnTo>
                    <a:pt x="59249" y="60182"/>
                  </a:lnTo>
                  <a:cubicBezTo>
                    <a:pt x="57591" y="60182"/>
                    <a:pt x="55618" y="63710"/>
                    <a:pt x="50637" y="63710"/>
                  </a:cubicBezTo>
                  <a:cubicBezTo>
                    <a:pt x="45240" y="63710"/>
                    <a:pt x="43374" y="59976"/>
                    <a:pt x="43374" y="54372"/>
                  </a:cubicBezTo>
                  <a:cubicBezTo>
                    <a:pt x="43374" y="44410"/>
                    <a:pt x="49391" y="28329"/>
                    <a:pt x="49391" y="16292"/>
                  </a:cubicBezTo>
                  <a:cubicBezTo>
                    <a:pt x="49391" y="6953"/>
                    <a:pt x="45966" y="0"/>
                    <a:pt x="34036" y="0"/>
                  </a:cubicBezTo>
                  <a:lnTo>
                    <a:pt x="32790" y="0"/>
                  </a:lnTo>
                  <a:cubicBezTo>
                    <a:pt x="30611" y="0"/>
                    <a:pt x="25424" y="1560"/>
                    <a:pt x="23761" y="2802"/>
                  </a:cubicBezTo>
                  <a:cubicBezTo>
                    <a:pt x="23658" y="2909"/>
                    <a:pt x="24594" y="3842"/>
                    <a:pt x="24698" y="3842"/>
                  </a:cubicBezTo>
                  <a:cubicBezTo>
                    <a:pt x="25218" y="3425"/>
                    <a:pt x="27809" y="2492"/>
                    <a:pt x="30301" y="2492"/>
                  </a:cubicBezTo>
                  <a:cubicBezTo>
                    <a:pt x="37771" y="2492"/>
                    <a:pt x="39017" y="9446"/>
                    <a:pt x="39017" y="15153"/>
                  </a:cubicBezTo>
                  <a:cubicBezTo>
                    <a:pt x="39017" y="18161"/>
                    <a:pt x="38703" y="20856"/>
                    <a:pt x="38703" y="21792"/>
                  </a:cubicBezTo>
                  <a:cubicBezTo>
                    <a:pt x="38807" y="22102"/>
                    <a:pt x="38703" y="22312"/>
                    <a:pt x="38600" y="22725"/>
                  </a:cubicBezTo>
                  <a:cubicBezTo>
                    <a:pt x="36421" y="32377"/>
                    <a:pt x="2699" y="59559"/>
                    <a:pt x="0" y="67965"/>
                  </a:cubicBezTo>
                  <a:lnTo>
                    <a:pt x="11105" y="67965"/>
                  </a:lnTo>
                  <a:cubicBezTo>
                    <a:pt x="11105" y="66929"/>
                    <a:pt x="11208" y="65889"/>
                    <a:pt x="11414" y="64750"/>
                  </a:cubicBezTo>
                  <a:cubicBezTo>
                    <a:pt x="14736" y="51467"/>
                    <a:pt x="37251" y="31337"/>
                    <a:pt x="37251" y="31234"/>
                  </a:cubicBezTo>
                  <a:lnTo>
                    <a:pt x="37354" y="31234"/>
                  </a:lnTo>
                  <a:cubicBezTo>
                    <a:pt x="36941" y="34139"/>
                    <a:pt x="33207" y="44621"/>
                    <a:pt x="33207" y="53852"/>
                  </a:cubicBezTo>
                  <a:cubicBezTo>
                    <a:pt x="33207" y="61948"/>
                    <a:pt x="35798" y="69108"/>
                    <a:pt x="45240" y="69108"/>
                  </a:cubicBezTo>
                  <a:cubicBezTo>
                    <a:pt x="50534" y="69108"/>
                    <a:pt x="59146" y="61635"/>
                    <a:pt x="59353" y="60389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formula_f4_outline_9"/>
            <p:cNvSpPr/>
            <p:nvPr/>
          </p:nvSpPr>
          <p:spPr>
            <a:xfrm>
              <a:off x="4554011" y="903518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formula_f4_outline_10"/>
            <p:cNvSpPr/>
            <p:nvPr/>
          </p:nvSpPr>
          <p:spPr>
            <a:xfrm>
              <a:off x="4618795" y="871651"/>
              <a:ext cx="71699" cy="69310"/>
            </a:xfrm>
            <a:custGeom>
              <a:avLst/>
              <a:gdLst/>
              <a:ahLst/>
              <a:cxnLst/>
              <a:rect l="0" t="0" r="r" b="b"/>
              <a:pathLst>
                <a:path w="71699" h="69310">
                  <a:moveTo>
                    <a:pt x="71699" y="69310"/>
                  </a:moveTo>
                  <a:lnTo>
                    <a:pt x="71596" y="67651"/>
                  </a:lnTo>
                  <a:cubicBezTo>
                    <a:pt x="64853" y="67131"/>
                    <a:pt x="63917" y="66302"/>
                    <a:pt x="62258" y="58726"/>
                  </a:cubicBezTo>
                  <a:lnTo>
                    <a:pt x="50221" y="0"/>
                  </a:lnTo>
                  <a:lnTo>
                    <a:pt x="47006" y="0"/>
                  </a:lnTo>
                  <a:lnTo>
                    <a:pt x="14633" y="51880"/>
                  </a:lnTo>
                  <a:cubicBezTo>
                    <a:pt x="5810" y="65679"/>
                    <a:pt x="4774" y="66822"/>
                    <a:pt x="0" y="67651"/>
                  </a:cubicBezTo>
                  <a:lnTo>
                    <a:pt x="103" y="69310"/>
                  </a:lnTo>
                  <a:lnTo>
                    <a:pt x="22205" y="69310"/>
                  </a:lnTo>
                  <a:lnTo>
                    <a:pt x="22102" y="67651"/>
                  </a:lnTo>
                  <a:cubicBezTo>
                    <a:pt x="16085" y="67131"/>
                    <a:pt x="14839" y="66612"/>
                    <a:pt x="14736" y="64020"/>
                  </a:cubicBezTo>
                  <a:cubicBezTo>
                    <a:pt x="14736" y="62048"/>
                    <a:pt x="14839" y="61008"/>
                    <a:pt x="16708" y="57587"/>
                  </a:cubicBezTo>
                  <a:lnTo>
                    <a:pt x="23451" y="45756"/>
                  </a:lnTo>
                  <a:lnTo>
                    <a:pt x="48562" y="45859"/>
                  </a:lnTo>
                  <a:lnTo>
                    <a:pt x="51364" y="59452"/>
                  </a:lnTo>
                  <a:cubicBezTo>
                    <a:pt x="51467" y="60389"/>
                    <a:pt x="51570" y="61321"/>
                    <a:pt x="51673" y="62151"/>
                  </a:cubicBezTo>
                  <a:cubicBezTo>
                    <a:pt x="51776" y="66096"/>
                    <a:pt x="50117" y="67028"/>
                    <a:pt x="42545" y="67651"/>
                  </a:cubicBezTo>
                  <a:lnTo>
                    <a:pt x="42648" y="69310"/>
                  </a:lnTo>
                  <a:lnTo>
                    <a:pt x="71699" y="69310"/>
                  </a:lnTo>
                  <a:close/>
                  <a:moveTo>
                    <a:pt x="47835" y="42124"/>
                  </a:moveTo>
                  <a:lnTo>
                    <a:pt x="25733" y="42124"/>
                  </a:lnTo>
                  <a:lnTo>
                    <a:pt x="42335" y="15149"/>
                  </a:lnTo>
                  <a:lnTo>
                    <a:pt x="47835" y="42124"/>
                  </a:ln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formula_f4_outline_11"/>
            <p:cNvSpPr/>
            <p:nvPr/>
          </p:nvSpPr>
          <p:spPr>
            <a:xfrm>
              <a:off x="4701069" y="910759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5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200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formula_f4_outline_12"/>
            <p:cNvSpPr/>
            <p:nvPr/>
          </p:nvSpPr>
          <p:spPr>
            <a:xfrm>
              <a:off x="4756373" y="91907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4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formula_f4_outline_13"/>
            <p:cNvSpPr/>
            <p:nvPr/>
          </p:nvSpPr>
          <p:spPr>
            <a:xfrm>
              <a:off x="4101336" y="998369"/>
              <a:ext cx="723056" cy="254"/>
            </a:xfrm>
            <a:custGeom>
              <a:avLst/>
              <a:gdLst/>
              <a:ahLst/>
              <a:cxnLst/>
              <a:rect l="0" t="0" r="r" b="b"/>
              <a:pathLst>
                <a:path w="723057" h="254">
                  <a:moveTo>
                    <a:pt x="0" y="0"/>
                  </a:moveTo>
                  <a:lnTo>
                    <a:pt x="723057" y="0"/>
                  </a:lnTo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formula_f4_outline_14"/>
            <p:cNvSpPr/>
            <p:nvPr/>
          </p:nvSpPr>
          <p:spPr>
            <a:xfrm>
              <a:off x="4266169" y="1008511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1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formula_f4_outline_15"/>
            <p:cNvSpPr/>
            <p:nvPr/>
          </p:nvSpPr>
          <p:spPr>
            <a:xfrm>
              <a:off x="4312965" y="1025323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formula_f4_outline_16"/>
            <p:cNvSpPr/>
            <p:nvPr/>
          </p:nvSpPr>
          <p:spPr>
            <a:xfrm>
              <a:off x="4376969" y="1006037"/>
              <a:ext cx="70869" cy="91308"/>
            </a:xfrm>
            <a:custGeom>
              <a:avLst/>
              <a:gdLst/>
              <a:ahLst/>
              <a:cxnLst/>
              <a:rect l="0" t="0" r="r" b="b"/>
              <a:pathLst>
                <a:path w="70870" h="91309">
                  <a:moveTo>
                    <a:pt x="70870" y="63603"/>
                  </a:moveTo>
                  <a:lnTo>
                    <a:pt x="68691" y="63603"/>
                  </a:lnTo>
                  <a:cubicBezTo>
                    <a:pt x="66615" y="76573"/>
                    <a:pt x="61841" y="82387"/>
                    <a:pt x="54578" y="82387"/>
                  </a:cubicBezTo>
                  <a:lnTo>
                    <a:pt x="13907" y="82387"/>
                  </a:lnTo>
                  <a:lnTo>
                    <a:pt x="43994" y="43787"/>
                  </a:lnTo>
                  <a:lnTo>
                    <a:pt x="17224" y="4048"/>
                  </a:lnTo>
                  <a:lnTo>
                    <a:pt x="50427" y="4048"/>
                  </a:lnTo>
                  <a:cubicBezTo>
                    <a:pt x="58003" y="4048"/>
                    <a:pt x="62778" y="8195"/>
                    <a:pt x="64957" y="21376"/>
                  </a:cubicBezTo>
                  <a:lnTo>
                    <a:pt x="67239" y="21376"/>
                  </a:lnTo>
                  <a:lnTo>
                    <a:pt x="66615" y="0"/>
                  </a:lnTo>
                  <a:lnTo>
                    <a:pt x="4358" y="0"/>
                  </a:lnTo>
                  <a:lnTo>
                    <a:pt x="36108" y="45549"/>
                  </a:lnTo>
                  <a:lnTo>
                    <a:pt x="0" y="91309"/>
                  </a:lnTo>
                  <a:lnTo>
                    <a:pt x="69727" y="91309"/>
                  </a:lnTo>
                  <a:lnTo>
                    <a:pt x="70870" y="63603"/>
                  </a:ln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formula_f4_outline_17"/>
            <p:cNvSpPr/>
            <p:nvPr/>
          </p:nvSpPr>
          <p:spPr>
            <a:xfrm>
              <a:off x="4462673" y="104121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formula_f4_outline_18"/>
            <p:cNvSpPr/>
            <p:nvPr/>
          </p:nvSpPr>
          <p:spPr>
            <a:xfrm>
              <a:off x="4543396" y="1010690"/>
              <a:ext cx="59352" cy="69107"/>
            </a:xfrm>
            <a:custGeom>
              <a:avLst/>
              <a:gdLst/>
              <a:ahLst/>
              <a:cxnLst/>
              <a:rect l="0" t="0" r="r" b="b"/>
              <a:pathLst>
                <a:path w="59353" h="69108">
                  <a:moveTo>
                    <a:pt x="59353" y="60388"/>
                  </a:moveTo>
                  <a:lnTo>
                    <a:pt x="59249" y="60182"/>
                  </a:lnTo>
                  <a:cubicBezTo>
                    <a:pt x="57591" y="60182"/>
                    <a:pt x="55618" y="63710"/>
                    <a:pt x="50637" y="63710"/>
                  </a:cubicBezTo>
                  <a:cubicBezTo>
                    <a:pt x="45240" y="63710"/>
                    <a:pt x="43374" y="59976"/>
                    <a:pt x="43374" y="54372"/>
                  </a:cubicBezTo>
                  <a:cubicBezTo>
                    <a:pt x="43374" y="44410"/>
                    <a:pt x="49391" y="28329"/>
                    <a:pt x="49391" y="16292"/>
                  </a:cubicBezTo>
                  <a:cubicBezTo>
                    <a:pt x="49391" y="6953"/>
                    <a:pt x="45966" y="0"/>
                    <a:pt x="34036" y="0"/>
                  </a:cubicBezTo>
                  <a:lnTo>
                    <a:pt x="32790" y="0"/>
                  </a:lnTo>
                  <a:cubicBezTo>
                    <a:pt x="30611" y="0"/>
                    <a:pt x="25424" y="1560"/>
                    <a:pt x="23761" y="2802"/>
                  </a:cubicBezTo>
                  <a:cubicBezTo>
                    <a:pt x="23658" y="2909"/>
                    <a:pt x="24594" y="3842"/>
                    <a:pt x="24698" y="3842"/>
                  </a:cubicBezTo>
                  <a:cubicBezTo>
                    <a:pt x="25217" y="3425"/>
                    <a:pt x="27809" y="2492"/>
                    <a:pt x="30301" y="2492"/>
                  </a:cubicBezTo>
                  <a:cubicBezTo>
                    <a:pt x="37771" y="2492"/>
                    <a:pt x="39017" y="9446"/>
                    <a:pt x="39017" y="15153"/>
                  </a:cubicBezTo>
                  <a:cubicBezTo>
                    <a:pt x="39017" y="18161"/>
                    <a:pt x="38703" y="20856"/>
                    <a:pt x="38703" y="21792"/>
                  </a:cubicBezTo>
                  <a:cubicBezTo>
                    <a:pt x="38806" y="22102"/>
                    <a:pt x="38703" y="22312"/>
                    <a:pt x="38600" y="22725"/>
                  </a:cubicBezTo>
                  <a:cubicBezTo>
                    <a:pt x="36421" y="32377"/>
                    <a:pt x="2699" y="59559"/>
                    <a:pt x="0" y="67965"/>
                  </a:cubicBezTo>
                  <a:lnTo>
                    <a:pt x="11105" y="67965"/>
                  </a:lnTo>
                  <a:cubicBezTo>
                    <a:pt x="11105" y="66929"/>
                    <a:pt x="11208" y="65889"/>
                    <a:pt x="11414" y="64750"/>
                  </a:cubicBezTo>
                  <a:cubicBezTo>
                    <a:pt x="14736" y="51467"/>
                    <a:pt x="37251" y="31337"/>
                    <a:pt x="37251" y="31234"/>
                  </a:cubicBezTo>
                  <a:lnTo>
                    <a:pt x="37354" y="31234"/>
                  </a:lnTo>
                  <a:cubicBezTo>
                    <a:pt x="36941" y="34139"/>
                    <a:pt x="33207" y="44621"/>
                    <a:pt x="33207" y="53852"/>
                  </a:cubicBezTo>
                  <a:cubicBezTo>
                    <a:pt x="33207" y="61948"/>
                    <a:pt x="35798" y="69108"/>
                    <a:pt x="45240" y="69108"/>
                  </a:cubicBezTo>
                  <a:cubicBezTo>
                    <a:pt x="50534" y="69108"/>
                    <a:pt x="59146" y="61635"/>
                    <a:pt x="59353" y="60388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formula_f4_outline_19"/>
            <p:cNvSpPr/>
            <p:nvPr/>
          </p:nvSpPr>
          <p:spPr>
            <a:xfrm>
              <a:off x="4609384" y="104121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E8790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2" name="ppo_card"/>
          <p:cNvSpPr/>
          <p:nvPr/>
        </p:nvSpPr>
        <p:spPr>
          <a:xfrm>
            <a:off x="3898900" y="1333500"/>
            <a:ext cx="952500" cy="254000"/>
          </a:xfrm>
          <a:prstGeom prst="roundRect">
            <a:avLst/>
          </a:prstGeom>
          <a:solidFill>
            <a:srgbClr val="FFF1E2"/>
          </a:solidFill>
          <a:ln w="10160">
            <a:solidFill>
              <a:srgbClr val="E87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ppo_label"/>
          <p:cNvSpPr txBox="1"/>
          <p:nvPr/>
        </p:nvSpPr>
        <p:spPr>
          <a:xfrm>
            <a:off x="3898900" y="1397000"/>
            <a:ext cx="952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E8790A"/>
                </a:solidFill>
                <a:latin typeface="Liberation Serif"/>
              </a:rPr>
              <a:t>PPO / TRPO → πₜ₊₁</a:t>
            </a:r>
          </a:p>
        </p:txBody>
      </p:sp>
      <p:pic>
        <p:nvPicPr>
          <p:cNvPr id="164" name="actor_icon" descr="icon_actor_r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900" y="1638300"/>
            <a:ext cx="228600" cy="254000"/>
          </a:xfrm>
          <a:prstGeom prst="rect">
            <a:avLst/>
          </a:prstGeom>
        </p:spPr>
      </p:pic>
      <p:cxnSp>
        <p:nvCxnSpPr>
          <p:cNvPr id="165" name="actor_traj_0"/>
          <p:cNvCxnSpPr/>
          <p:nvPr/>
        </p:nvCxnSpPr>
        <p:spPr>
          <a:xfrm flipV="1">
            <a:off x="4191000" y="1739900"/>
            <a:ext cx="152400" cy="63500"/>
          </a:xfrm>
          <a:prstGeom prst="line">
            <a:avLst/>
          </a:prstGeom>
          <a:ln w="15240">
            <a:solidFill>
              <a:srgbClr val="E879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actor_traj_1"/>
          <p:cNvCxnSpPr/>
          <p:nvPr/>
        </p:nvCxnSpPr>
        <p:spPr>
          <a:xfrm>
            <a:off x="4343400" y="1739900"/>
            <a:ext cx="139700" cy="76200"/>
          </a:xfrm>
          <a:prstGeom prst="line">
            <a:avLst/>
          </a:prstGeom>
          <a:ln w="15240">
            <a:solidFill>
              <a:srgbClr val="E879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actor_traj_2"/>
          <p:cNvCxnSpPr/>
          <p:nvPr/>
        </p:nvCxnSpPr>
        <p:spPr>
          <a:xfrm flipV="1">
            <a:off x="4483100" y="1689100"/>
            <a:ext cx="152400" cy="127000"/>
          </a:xfrm>
          <a:prstGeom prst="line">
            <a:avLst/>
          </a:prstGeom>
          <a:ln w="15240">
            <a:solidFill>
              <a:srgbClr val="E879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actor_traj_3"/>
          <p:cNvCxnSpPr/>
          <p:nvPr/>
        </p:nvCxnSpPr>
        <p:spPr>
          <a:xfrm>
            <a:off x="4635500" y="1689100"/>
            <a:ext cx="165100" cy="50800"/>
          </a:xfrm>
          <a:prstGeom prst="line">
            <a:avLst/>
          </a:prstGeom>
          <a:ln w="15240">
            <a:solidFill>
              <a:srgbClr val="E8790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actor_node0"/>
          <p:cNvSpPr/>
          <p:nvPr/>
        </p:nvSpPr>
        <p:spPr>
          <a:xfrm>
            <a:off x="4165600" y="1778000"/>
            <a:ext cx="50800" cy="50800"/>
          </a:xfrm>
          <a:prstGeom prst="ellipse">
            <a:avLst/>
          </a:prstGeom>
          <a:solidFill>
            <a:srgbClr val="E8790A"/>
          </a:solidFill>
          <a:ln w="6350">
            <a:solidFill>
              <a:srgbClr val="E87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actor_node1"/>
          <p:cNvSpPr/>
          <p:nvPr/>
        </p:nvSpPr>
        <p:spPr>
          <a:xfrm>
            <a:off x="4318000" y="1714500"/>
            <a:ext cx="50800" cy="50800"/>
          </a:xfrm>
          <a:prstGeom prst="ellipse">
            <a:avLst/>
          </a:prstGeom>
          <a:solidFill>
            <a:srgbClr val="E8790A"/>
          </a:solidFill>
          <a:ln w="6350">
            <a:solidFill>
              <a:srgbClr val="E87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actor_node2"/>
          <p:cNvSpPr/>
          <p:nvPr/>
        </p:nvSpPr>
        <p:spPr>
          <a:xfrm>
            <a:off x="4457700" y="1790700"/>
            <a:ext cx="50800" cy="50800"/>
          </a:xfrm>
          <a:prstGeom prst="ellipse">
            <a:avLst/>
          </a:prstGeom>
          <a:solidFill>
            <a:srgbClr val="E8790A"/>
          </a:solidFill>
          <a:ln w="6350">
            <a:solidFill>
              <a:srgbClr val="E87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actor_node3"/>
          <p:cNvSpPr/>
          <p:nvPr/>
        </p:nvSpPr>
        <p:spPr>
          <a:xfrm>
            <a:off x="4610100" y="1663700"/>
            <a:ext cx="50800" cy="50800"/>
          </a:xfrm>
          <a:prstGeom prst="ellipse">
            <a:avLst/>
          </a:prstGeom>
          <a:solidFill>
            <a:srgbClr val="E8790A"/>
          </a:solidFill>
          <a:ln w="6350">
            <a:solidFill>
              <a:srgbClr val="E87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actor_node4"/>
          <p:cNvSpPr/>
          <p:nvPr/>
        </p:nvSpPr>
        <p:spPr>
          <a:xfrm>
            <a:off x="4775200" y="1714500"/>
            <a:ext cx="50800" cy="50800"/>
          </a:xfrm>
          <a:prstGeom prst="ellipse">
            <a:avLst/>
          </a:prstGeom>
          <a:solidFill>
            <a:srgbClr val="E8790A"/>
          </a:solidFill>
          <a:ln w="6350">
            <a:solidFill>
              <a:srgbClr val="E87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feedback_rail_0"/>
          <p:cNvCxnSpPr/>
          <p:nvPr/>
        </p:nvCxnSpPr>
        <p:spPr>
          <a:xfrm flipV="1">
            <a:off x="342900" y="2019300"/>
            <a:ext cx="0" cy="63500"/>
          </a:xfrm>
          <a:prstGeom prst="line">
            <a:avLst/>
          </a:prstGeom>
          <a:ln w="12700">
            <a:solidFill>
              <a:srgbClr val="E8790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feedback_rail_1"/>
          <p:cNvCxnSpPr/>
          <p:nvPr/>
        </p:nvCxnSpPr>
        <p:spPr>
          <a:xfrm>
            <a:off x="342900" y="2019300"/>
            <a:ext cx="2070100" cy="0"/>
          </a:xfrm>
          <a:prstGeom prst="line">
            <a:avLst/>
          </a:prstGeom>
          <a:ln w="12700">
            <a:solidFill>
              <a:srgbClr val="E8790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feedback_rail_2"/>
          <p:cNvCxnSpPr/>
          <p:nvPr/>
        </p:nvCxnSpPr>
        <p:spPr>
          <a:xfrm flipV="1">
            <a:off x="2413000" y="1549400"/>
            <a:ext cx="0" cy="469900"/>
          </a:xfrm>
          <a:prstGeom prst="line">
            <a:avLst/>
          </a:prstGeom>
          <a:ln w="12700">
            <a:solidFill>
              <a:srgbClr val="E8790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feedback_rail_3"/>
          <p:cNvCxnSpPr/>
          <p:nvPr/>
        </p:nvCxnSpPr>
        <p:spPr>
          <a:xfrm>
            <a:off x="2413000" y="1549400"/>
            <a:ext cx="863600" cy="0"/>
          </a:xfrm>
          <a:prstGeom prst="line">
            <a:avLst/>
          </a:prstGeom>
          <a:ln w="12700">
            <a:solidFill>
              <a:srgbClr val="E8790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feedback_rail_label"/>
          <p:cNvSpPr txBox="1"/>
          <p:nvPr/>
        </p:nvSpPr>
        <p:spPr>
          <a:xfrm>
            <a:off x="571500" y="2032000"/>
            <a:ext cx="10541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E8790A"/>
                </a:solidFill>
                <a:latin typeface="Liberation Serif"/>
              </a:rPr>
              <a:t>J̄_k − B_k  →  β_k</a:t>
            </a:r>
          </a:p>
        </p:txBody>
      </p:sp>
      <p:cxnSp>
        <p:nvCxnSpPr>
          <p:cNvPr id="179" name="next_iteration_0"/>
          <p:cNvCxnSpPr/>
          <p:nvPr/>
        </p:nvCxnSpPr>
        <p:spPr>
          <a:xfrm>
            <a:off x="4737100" y="2209800"/>
            <a:ext cx="0" cy="88900"/>
          </a:xfrm>
          <a:prstGeom prst="line">
            <a:avLst/>
          </a:prstGeom>
          <a:ln w="1016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next_iteration_1"/>
          <p:cNvCxnSpPr/>
          <p:nvPr/>
        </p:nvCxnSpPr>
        <p:spPr>
          <a:xfrm flipH="1">
            <a:off x="177800" y="2298700"/>
            <a:ext cx="4559300" cy="0"/>
          </a:xfrm>
          <a:prstGeom prst="line">
            <a:avLst/>
          </a:prstGeom>
          <a:ln w="1016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next_iteration_2"/>
          <p:cNvCxnSpPr/>
          <p:nvPr/>
        </p:nvCxnSpPr>
        <p:spPr>
          <a:xfrm flipV="1">
            <a:off x="177800" y="2209800"/>
            <a:ext cx="0" cy="8890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next_iteration_label"/>
          <p:cNvSpPr txBox="1"/>
          <p:nvPr/>
        </p:nvSpPr>
        <p:spPr>
          <a:xfrm>
            <a:off x="2197100" y="2133600"/>
            <a:ext cx="6604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6747D"/>
                </a:solidFill>
                <a:latin typeface="Liberation Serif"/>
              </a:rPr>
              <a:t>next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2 · three-stage framework</dc:title>
  <dc:subject>Method framework</dc:subject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