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34349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Figure1_unified_price_v02.png. Graphs are schematic with identical eight-edge directed support and budgets. The epsilon-to-zero LP limit is conditional on theory assumptions, and clipping limits its contribution. The large-epsilon regime gives a clipped positive limiting active-set price. These are mechanism regimes, not exact recovery of external CPO/PCPO or empirical safety guarantees. All formulas are native grouped styled text, not OMML. External arrows do not reroute when groups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39" name="constraint_station" descr="Editable station: title, same-support graph, and regime label"/>
          <p:cNvGrpSpPr/>
          <p:nvPr/>
        </p:nvGrpSpPr>
        <p:grpSpPr>
          <a:xfrm>
            <a:off x="462675" y="15057"/>
            <a:ext cx="917137" cy="906049"/>
            <a:chOff x="462675" y="15057"/>
            <a:chExt cx="917137" cy="906049"/>
          </a:xfrm>
        </p:grpSpPr>
        <p:sp>
          <p:nvSpPr>
            <p:cNvPr id="2" name="constraint_title" descr="Editable text; source id constraint_title"/>
            <p:cNvSpPr txBox="1"/>
            <p:nvPr/>
          </p:nvSpPr>
          <p:spPr>
            <a:xfrm>
              <a:off x="511270" y="15057"/>
              <a:ext cx="826792" cy="115258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Constraint-like limit</a:t>
              </a:r>
            </a:p>
          </p:txBody>
        </p:sp>
        <p:grpSp>
          <p:nvGrpSpPr>
            <p:cNvPr id="238" name="constraint_graph" descr="Same eight-edge graph; schematic line widths only"/>
            <p:cNvGrpSpPr/>
            <p:nvPr/>
          </p:nvGrpSpPr>
          <p:grpSpPr>
            <a:xfrm>
              <a:off x="462675" y="156050"/>
              <a:ext cx="917137" cy="550282"/>
              <a:chOff x="462675" y="156050"/>
              <a:chExt cx="917137" cy="550282"/>
            </a:xfrm>
          </p:grpSpPr>
          <p:grpSp>
            <p:nvGrpSpPr>
              <p:cNvPr id="224" name="constraint_edge_1_2" descr="Directed conceptual edge 1 to 2"/>
              <p:cNvGrpSpPr/>
              <p:nvPr/>
            </p:nvGrpSpPr>
            <p:grpSpPr>
              <a:xfrm>
                <a:off x="566571" y="261647"/>
                <a:ext cx="123473" cy="128283"/>
                <a:chOff x="566571" y="261647"/>
                <a:chExt cx="123473" cy="128283"/>
              </a:xfrm>
            </p:grpSpPr>
            <p:cxnSp>
              <p:nvCxnSpPr>
                <p:cNvPr id="3" name="constraint_edge_1_2_shaft" descr="Editable line; source id constraint_edge_1_2_shaft"/>
                <p:cNvCxnSpPr/>
                <p:nvPr/>
              </p:nvCxnSpPr>
              <p:spPr>
                <a:xfrm flipV="1">
                  <a:off x="566571" y="261647"/>
                  <a:ext cx="123473" cy="128283"/>
                </a:xfrm>
                <a:prstGeom prst="line">
                  <a:avLst/>
                </a:prstGeom>
                <a:ln w="21901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" name="constraint_edge_1_2_direction" descr="Editable shape; source id constraint_edge_1_2_direction"/>
                <p:cNvSpPr/>
                <p:nvPr/>
              </p:nvSpPr>
              <p:spPr>
                <a:xfrm>
                  <a:off x="609779" y="30607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0"/>
                      </a:moveTo>
                      <a:lnTo>
                        <a:pt x="9366" y="13874"/>
                      </a:lnTo>
                      <a:lnTo>
                        <a:pt x="0" y="4859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25" name="constraint_edge_2_3" descr="Directed conceptual edge 2 to 3"/>
              <p:cNvGrpSpPr/>
              <p:nvPr/>
            </p:nvGrpSpPr>
            <p:grpSpPr>
              <a:xfrm>
                <a:off x="796677" y="198485"/>
                <a:ext cx="249133" cy="35590"/>
                <a:chOff x="796677" y="198485"/>
                <a:chExt cx="249133" cy="35590"/>
              </a:xfrm>
            </p:grpSpPr>
            <p:cxnSp>
              <p:nvCxnSpPr>
                <p:cNvPr id="5" name="constraint_edge_2_3_shaft" descr="Editable line; source id constraint_edge_2_3_shaft"/>
                <p:cNvCxnSpPr/>
                <p:nvPr/>
              </p:nvCxnSpPr>
              <p:spPr>
                <a:xfrm>
                  <a:off x="796677" y="216280"/>
                  <a:ext cx="249133" cy="0"/>
                </a:xfrm>
                <a:prstGeom prst="line">
                  <a:avLst/>
                </a:prstGeom>
                <a:ln w="21901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constraint_edge_2_3_direction" descr="Editable shape; source id constraint_edge_2_3_direction"/>
                <p:cNvSpPr/>
                <p:nvPr/>
              </p:nvSpPr>
              <p:spPr>
                <a:xfrm>
                  <a:off x="919410" y="1984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13000" y="6500"/>
                      </a:moveTo>
                      <a:lnTo>
                        <a:pt x="0" y="13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26" name="constraint_edge_3_4" descr="Directed conceptual edge 3 to 4"/>
              <p:cNvGrpSpPr/>
              <p:nvPr/>
            </p:nvGrpSpPr>
            <p:grpSpPr>
              <a:xfrm>
                <a:off x="1152444" y="261647"/>
                <a:ext cx="123473" cy="128283"/>
                <a:chOff x="1152444" y="261647"/>
                <a:chExt cx="123473" cy="128283"/>
              </a:xfrm>
            </p:grpSpPr>
            <p:cxnSp>
              <p:nvCxnSpPr>
                <p:cNvPr id="7" name="constraint_edge_3_4_shaft" descr="Editable line; source id constraint_edge_3_4_shaft"/>
                <p:cNvCxnSpPr/>
                <p:nvPr/>
              </p:nvCxnSpPr>
              <p:spPr>
                <a:xfrm>
                  <a:off x="1152444" y="261647"/>
                  <a:ext cx="123473" cy="128283"/>
                </a:xfrm>
                <a:prstGeom prst="line">
                  <a:avLst/>
                </a:prstGeom>
                <a:ln w="21901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constraint_edge_3_4_direction" descr="Editable shape; source id constraint_edge_3_4_direction"/>
                <p:cNvSpPr/>
                <p:nvPr/>
              </p:nvSpPr>
              <p:spPr>
                <a:xfrm>
                  <a:off x="1195652" y="30751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13874"/>
                      </a:moveTo>
                      <a:lnTo>
                        <a:pt x="0" y="9015"/>
                      </a:lnTo>
                      <a:lnTo>
                        <a:pt x="9366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27" name="constraint_edge_1_5" descr="Directed conceptual edge 1 to 5"/>
              <p:cNvGrpSpPr/>
              <p:nvPr/>
            </p:nvGrpSpPr>
            <p:grpSpPr>
              <a:xfrm>
                <a:off x="567430" y="479823"/>
                <a:ext cx="121755" cy="121755"/>
                <a:chOff x="567430" y="479823"/>
                <a:chExt cx="121755" cy="121755"/>
              </a:xfrm>
            </p:grpSpPr>
            <p:cxnSp>
              <p:nvCxnSpPr>
                <p:cNvPr id="9" name="constraint_edge_1_5_shaft" descr="Editable line; source id constraint_edge_1_5_shaft"/>
                <p:cNvCxnSpPr/>
                <p:nvPr/>
              </p:nvCxnSpPr>
              <p:spPr>
                <a:xfrm>
                  <a:off x="567430" y="479823"/>
                  <a:ext cx="121755" cy="121755"/>
                </a:xfrm>
                <a:prstGeom prst="line">
                  <a:avLst/>
                </a:prstGeom>
                <a:ln w="6844" cap="rnd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constraint_edge_1_5_direction" descr="Editable shape; source id constraint_edge_1_5_direction"/>
                <p:cNvSpPr/>
                <p:nvPr/>
              </p:nvSpPr>
              <p:spPr>
                <a:xfrm>
                  <a:off x="616306" y="528698"/>
                  <a:ext cx="30975" cy="3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4" h="11314">
                      <a:moveTo>
                        <a:pt x="11314" y="11314"/>
                      </a:moveTo>
                      <a:lnTo>
                        <a:pt x="0" y="7071"/>
                      </a:lnTo>
                      <a:lnTo>
                        <a:pt x="7071" y="0"/>
                      </a:lnTo>
                      <a:close/>
                    </a:path>
                  </a:pathLst>
                </a:custGeom>
                <a:solidFill>
                  <a:srgbClr val="25323A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28" name="constraint_edge_5_6" descr="Directed conceptual edge 5 to 6"/>
              <p:cNvGrpSpPr/>
              <p:nvPr/>
            </p:nvGrpSpPr>
            <p:grpSpPr>
              <a:xfrm>
                <a:off x="796677" y="632414"/>
                <a:ext cx="249133" cy="27377"/>
                <a:chOff x="796677" y="632414"/>
                <a:chExt cx="249133" cy="27377"/>
              </a:xfrm>
            </p:grpSpPr>
            <p:cxnSp>
              <p:nvCxnSpPr>
                <p:cNvPr id="11" name="constraint_edge_5_6_shaft" descr="Editable line; source id constraint_edge_5_6_shaft"/>
                <p:cNvCxnSpPr/>
                <p:nvPr/>
              </p:nvCxnSpPr>
              <p:spPr>
                <a:xfrm>
                  <a:off x="796677" y="646102"/>
                  <a:ext cx="249133" cy="0"/>
                </a:xfrm>
                <a:prstGeom prst="line">
                  <a:avLst/>
                </a:prstGeom>
                <a:ln w="6844" cap="rnd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constraint_edge_5_6_direction" descr="Editable shape; source id constraint_edge_5_6_direction"/>
                <p:cNvSpPr/>
                <p:nvPr/>
              </p:nvSpPr>
              <p:spPr>
                <a:xfrm>
                  <a:off x="924885" y="632414"/>
                  <a:ext cx="30115" cy="273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0" h="10000">
                      <a:moveTo>
                        <a:pt x="11000" y="5000"/>
                      </a:moveTo>
                      <a:lnTo>
                        <a:pt x="0" y="10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5323A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29" name="constraint_edge_6_4" descr="Directed conceptual edge 6 to 4"/>
              <p:cNvGrpSpPr/>
              <p:nvPr/>
            </p:nvGrpSpPr>
            <p:grpSpPr>
              <a:xfrm>
                <a:off x="1153303" y="479823"/>
                <a:ext cx="121755" cy="121755"/>
                <a:chOff x="1153303" y="479823"/>
                <a:chExt cx="121755" cy="121755"/>
              </a:xfrm>
            </p:grpSpPr>
            <p:cxnSp>
              <p:nvCxnSpPr>
                <p:cNvPr id="13" name="constraint_edge_6_4_shaft" descr="Editable line; source id constraint_edge_6_4_shaft"/>
                <p:cNvCxnSpPr/>
                <p:nvPr/>
              </p:nvCxnSpPr>
              <p:spPr>
                <a:xfrm flipV="1">
                  <a:off x="1153303" y="479823"/>
                  <a:ext cx="121755" cy="121755"/>
                </a:xfrm>
                <a:prstGeom prst="line">
                  <a:avLst/>
                </a:prstGeom>
                <a:ln w="6844" cap="rnd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constraint_edge_6_4_direction" descr="Editable shape; source id constraint_edge_6_4_direction"/>
                <p:cNvSpPr/>
                <p:nvPr/>
              </p:nvSpPr>
              <p:spPr>
                <a:xfrm>
                  <a:off x="1202179" y="521728"/>
                  <a:ext cx="30975" cy="30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4" h="11314">
                      <a:moveTo>
                        <a:pt x="11314" y="0"/>
                      </a:moveTo>
                      <a:lnTo>
                        <a:pt x="7071" y="11314"/>
                      </a:lnTo>
                      <a:lnTo>
                        <a:pt x="0" y="4243"/>
                      </a:lnTo>
                      <a:close/>
                    </a:path>
                  </a:pathLst>
                </a:custGeom>
                <a:solidFill>
                  <a:srgbClr val="25323A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30" name="constraint_edge_2_5" descr="Directed conceptual edge 2 to 5"/>
              <p:cNvGrpSpPr/>
              <p:nvPr/>
            </p:nvGrpSpPr>
            <p:grpSpPr>
              <a:xfrm>
                <a:off x="720022" y="279247"/>
                <a:ext cx="27377" cy="303888"/>
                <a:chOff x="720022" y="279247"/>
                <a:chExt cx="27377" cy="303888"/>
              </a:xfrm>
            </p:grpSpPr>
            <p:cxnSp>
              <p:nvCxnSpPr>
                <p:cNvPr id="15" name="constraint_edge_2_5_shaft" descr="Editable line; source id constraint_edge_2_5_shaft"/>
                <p:cNvCxnSpPr/>
                <p:nvPr/>
              </p:nvCxnSpPr>
              <p:spPr>
                <a:xfrm>
                  <a:off x="733710" y="279247"/>
                  <a:ext cx="0" cy="303888"/>
                </a:xfrm>
                <a:prstGeom prst="line">
                  <a:avLst/>
                </a:prstGeom>
                <a:ln w="6844" cap="rnd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" name="constraint_edge_2_5_direction" descr="Editable shape; source id constraint_edge_2_5_direction"/>
                <p:cNvSpPr/>
                <p:nvPr/>
              </p:nvSpPr>
              <p:spPr>
                <a:xfrm>
                  <a:off x="720022" y="439761"/>
                  <a:ext cx="27377" cy="3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0" h="11000">
                      <a:moveTo>
                        <a:pt x="5000" y="11000"/>
                      </a:moveTo>
                      <a:lnTo>
                        <a:pt x="0" y="0"/>
                      </a:lnTo>
                      <a:lnTo>
                        <a:pt x="10000" y="0"/>
                      </a:lnTo>
                      <a:close/>
                    </a:path>
                  </a:pathLst>
                </a:custGeom>
                <a:solidFill>
                  <a:srgbClr val="25323A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31" name="constraint_edge_3_6" descr="Directed conceptual edge 3 to 6"/>
              <p:cNvGrpSpPr/>
              <p:nvPr/>
            </p:nvGrpSpPr>
            <p:grpSpPr>
              <a:xfrm>
                <a:off x="1095090" y="279247"/>
                <a:ext cx="27377" cy="303888"/>
                <a:chOff x="1095090" y="279247"/>
                <a:chExt cx="27377" cy="303888"/>
              </a:xfrm>
            </p:grpSpPr>
            <p:cxnSp>
              <p:nvCxnSpPr>
                <p:cNvPr id="17" name="constraint_edge_3_6_shaft" descr="Editable line; source id constraint_edge_3_6_shaft"/>
                <p:cNvCxnSpPr/>
                <p:nvPr/>
              </p:nvCxnSpPr>
              <p:spPr>
                <a:xfrm>
                  <a:off x="1108778" y="279247"/>
                  <a:ext cx="0" cy="303888"/>
                </a:xfrm>
                <a:prstGeom prst="line">
                  <a:avLst/>
                </a:prstGeom>
                <a:ln w="6844" cap="rnd">
                  <a:solidFill>
                    <a:srgbClr val="25323A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constraint_edge_3_6_direction" descr="Editable shape; source id constraint_edge_3_6_direction"/>
                <p:cNvSpPr/>
                <p:nvPr/>
              </p:nvSpPr>
              <p:spPr>
                <a:xfrm>
                  <a:off x="1095090" y="439761"/>
                  <a:ext cx="27377" cy="30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0" h="11000">
                      <a:moveTo>
                        <a:pt x="5000" y="11000"/>
                      </a:moveTo>
                      <a:lnTo>
                        <a:pt x="0" y="0"/>
                      </a:lnTo>
                      <a:lnTo>
                        <a:pt x="10000" y="0"/>
                      </a:lnTo>
                      <a:close/>
                    </a:path>
                  </a:pathLst>
                </a:custGeom>
                <a:solidFill>
                  <a:srgbClr val="25323A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32" name="constraint_node_1" descr="Native vertex circle and editable index"/>
              <p:cNvGrpSpPr/>
              <p:nvPr/>
            </p:nvGrpSpPr>
            <p:grpSpPr>
              <a:xfrm>
                <a:off x="462675" y="375068"/>
                <a:ext cx="120459" cy="120459"/>
                <a:chOff x="462675" y="375068"/>
                <a:chExt cx="120459" cy="120459"/>
              </a:xfrm>
            </p:grpSpPr>
            <p:sp>
              <p:nvSpPr>
                <p:cNvPr id="19" name="constraint_node_1_body" descr="Editable shape; source id constraint_node_1_body"/>
                <p:cNvSpPr/>
                <p:nvPr/>
              </p:nvSpPr>
              <p:spPr>
                <a:xfrm>
                  <a:off x="462675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0" name="constraint_node_1_label" descr="Editable text; source id constraint_node_1_label"/>
                <p:cNvSpPr txBox="1"/>
                <p:nvPr/>
              </p:nvSpPr>
              <p:spPr>
                <a:xfrm>
                  <a:off x="496212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33" name="constraint_node_2" descr="Native vertex circle and editable index"/>
              <p:cNvGrpSpPr/>
              <p:nvPr/>
            </p:nvGrpSpPr>
            <p:grpSpPr>
              <a:xfrm>
                <a:off x="673480" y="156050"/>
                <a:ext cx="120459" cy="120459"/>
                <a:chOff x="673480" y="156050"/>
                <a:chExt cx="120459" cy="120459"/>
              </a:xfrm>
            </p:grpSpPr>
            <p:sp>
              <p:nvSpPr>
                <p:cNvPr id="21" name="constraint_node_2_body" descr="Editable shape; source id constraint_node_2_body"/>
                <p:cNvSpPr/>
                <p:nvPr/>
              </p:nvSpPr>
              <p:spPr>
                <a:xfrm>
                  <a:off x="673480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2" name="constraint_node_2_label" descr="Editable text; source id constraint_node_2_label"/>
                <p:cNvSpPr txBox="1"/>
                <p:nvPr/>
              </p:nvSpPr>
              <p:spPr>
                <a:xfrm>
                  <a:off x="707017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34" name="constraint_node_3" descr="Native vertex circle and editable index"/>
              <p:cNvGrpSpPr/>
              <p:nvPr/>
            </p:nvGrpSpPr>
            <p:grpSpPr>
              <a:xfrm>
                <a:off x="1048548" y="156050"/>
                <a:ext cx="120459" cy="120459"/>
                <a:chOff x="1048548" y="156050"/>
                <a:chExt cx="120459" cy="120459"/>
              </a:xfrm>
            </p:grpSpPr>
            <p:sp>
              <p:nvSpPr>
                <p:cNvPr id="23" name="constraint_node_3_body" descr="Editable shape; source id constraint_node_3_body"/>
                <p:cNvSpPr/>
                <p:nvPr/>
              </p:nvSpPr>
              <p:spPr>
                <a:xfrm>
                  <a:off x="1048548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4" name="constraint_node_3_label" descr="Editable text; source id constraint_node_3_label"/>
                <p:cNvSpPr txBox="1"/>
                <p:nvPr/>
              </p:nvSpPr>
              <p:spPr>
                <a:xfrm>
                  <a:off x="1082085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grpSp>
            <p:nvGrpSpPr>
              <p:cNvPr id="235" name="constraint_node_4" descr="Native vertex circle and editable index"/>
              <p:cNvGrpSpPr/>
              <p:nvPr/>
            </p:nvGrpSpPr>
            <p:grpSpPr>
              <a:xfrm>
                <a:off x="1259353" y="375068"/>
                <a:ext cx="120459" cy="120459"/>
                <a:chOff x="1259353" y="375068"/>
                <a:chExt cx="120459" cy="120459"/>
              </a:xfrm>
            </p:grpSpPr>
            <p:sp>
              <p:nvSpPr>
                <p:cNvPr id="25" name="constraint_node_4_body" descr="Editable shape; source id constraint_node_4_body"/>
                <p:cNvSpPr/>
                <p:nvPr/>
              </p:nvSpPr>
              <p:spPr>
                <a:xfrm>
                  <a:off x="1259353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6" name="constraint_node_4_label" descr="Editable text; source id constraint_node_4_label"/>
                <p:cNvSpPr txBox="1"/>
                <p:nvPr/>
              </p:nvSpPr>
              <p:spPr>
                <a:xfrm>
                  <a:off x="1292890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4</a:t>
                  </a:r>
                </a:p>
              </p:txBody>
            </p:sp>
          </p:grpSp>
          <p:grpSp>
            <p:nvGrpSpPr>
              <p:cNvPr id="236" name="constraint_node_5" descr="Native vertex circle and editable index"/>
              <p:cNvGrpSpPr/>
              <p:nvPr/>
            </p:nvGrpSpPr>
            <p:grpSpPr>
              <a:xfrm>
                <a:off x="673480" y="585873"/>
                <a:ext cx="120459" cy="120459"/>
                <a:chOff x="673480" y="585873"/>
                <a:chExt cx="120459" cy="120459"/>
              </a:xfrm>
            </p:grpSpPr>
            <p:sp>
              <p:nvSpPr>
                <p:cNvPr id="27" name="constraint_node_5_body" descr="Editable shape; source id constraint_node_5_body"/>
                <p:cNvSpPr/>
                <p:nvPr/>
              </p:nvSpPr>
              <p:spPr>
                <a:xfrm>
                  <a:off x="673480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28" name="constraint_node_5_label" descr="Editable text; source id constraint_node_5_label"/>
                <p:cNvSpPr txBox="1"/>
                <p:nvPr/>
              </p:nvSpPr>
              <p:spPr>
                <a:xfrm>
                  <a:off x="707017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5</a:t>
                  </a:r>
                </a:p>
              </p:txBody>
            </p:sp>
          </p:grpSp>
          <p:grpSp>
            <p:nvGrpSpPr>
              <p:cNvPr id="237" name="constraint_node_6" descr="Native vertex circle and editable index"/>
              <p:cNvGrpSpPr/>
              <p:nvPr/>
            </p:nvGrpSpPr>
            <p:grpSpPr>
              <a:xfrm>
                <a:off x="1048548" y="585873"/>
                <a:ext cx="120459" cy="120459"/>
                <a:chOff x="1048548" y="585873"/>
                <a:chExt cx="120459" cy="120459"/>
              </a:xfrm>
            </p:grpSpPr>
            <p:sp>
              <p:nvSpPr>
                <p:cNvPr id="29" name="constraint_node_6_body" descr="Editable shape; source id constraint_node_6_body"/>
                <p:cNvSpPr/>
                <p:nvPr/>
              </p:nvSpPr>
              <p:spPr>
                <a:xfrm>
                  <a:off x="1048548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0" name="constraint_node_6_label" descr="Editable text; source id constraint_node_6_label"/>
                <p:cNvSpPr txBox="1"/>
                <p:nvPr/>
              </p:nvSpPr>
              <p:spPr>
                <a:xfrm>
                  <a:off x="1082085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6</a:t>
                  </a:r>
                </a:p>
              </p:txBody>
            </p:sp>
          </p:grpSp>
        </p:grpSp>
        <p:sp>
          <p:nvSpPr>
            <p:cNvPr id="31" name="constraint_epsilon" descr="Editable text; source id constraint_epsilon"/>
            <p:cNvSpPr txBox="1"/>
            <p:nvPr/>
          </p:nvSpPr>
          <p:spPr>
            <a:xfrm>
              <a:off x="805575" y="707701"/>
              <a:ext cx="236813" cy="115258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ε</a:t>
              </a:r>
              <a:r>
                <a:rPr sz="732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 → 0</a:t>
              </a:r>
            </a:p>
          </p:txBody>
        </p:sp>
        <p:sp>
          <p:nvSpPr>
            <p:cNvPr id="32" name="constraint_description" descr="Editable text; source id constraint_description"/>
            <p:cNvSpPr txBox="1"/>
            <p:nvPr/>
          </p:nvSpPr>
          <p:spPr>
            <a:xfrm>
              <a:off x="522055" y="808997"/>
              <a:ext cx="805222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Constrained graph LP</a:t>
              </a:r>
            </a:p>
          </p:txBody>
        </p:sp>
      </p:grpSp>
      <p:grpSp>
        <p:nvGrpSpPr>
          <p:cNvPr id="255" name="entropic_station" descr="Editable station: title, same-support graph, and regime label"/>
          <p:cNvGrpSpPr/>
          <p:nvPr/>
        </p:nvGrpSpPr>
        <p:grpSpPr>
          <a:xfrm>
            <a:off x="2053293" y="15057"/>
            <a:ext cx="917137" cy="826655"/>
            <a:chOff x="2053293" y="15057"/>
            <a:chExt cx="917137" cy="826655"/>
          </a:xfrm>
        </p:grpSpPr>
        <p:sp>
          <p:nvSpPr>
            <p:cNvPr id="33" name="entropic_title" descr="Editable text; source id entropic_title"/>
            <p:cNvSpPr txBox="1"/>
            <p:nvPr/>
          </p:nvSpPr>
          <p:spPr>
            <a:xfrm>
              <a:off x="2093658" y="15057"/>
              <a:ext cx="843251" cy="115258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Entropic graph solve</a:t>
              </a:r>
            </a:p>
          </p:txBody>
        </p:sp>
        <p:grpSp>
          <p:nvGrpSpPr>
            <p:cNvPr id="254" name="entropic_graph" descr="Same eight-edge graph; schematic line widths only"/>
            <p:cNvGrpSpPr/>
            <p:nvPr/>
          </p:nvGrpSpPr>
          <p:grpSpPr>
            <a:xfrm>
              <a:off x="2053293" y="156050"/>
              <a:ext cx="917137" cy="550282"/>
              <a:chOff x="2053293" y="156050"/>
              <a:chExt cx="917137" cy="550282"/>
            </a:xfrm>
          </p:grpSpPr>
          <p:grpSp>
            <p:nvGrpSpPr>
              <p:cNvPr id="240" name="entropic_edge_1_2" descr="Directed conceptual edge 1 to 2"/>
              <p:cNvGrpSpPr/>
              <p:nvPr/>
            </p:nvGrpSpPr>
            <p:grpSpPr>
              <a:xfrm>
                <a:off x="2157189" y="261647"/>
                <a:ext cx="123473" cy="128283"/>
                <a:chOff x="2157189" y="261647"/>
                <a:chExt cx="123473" cy="128283"/>
              </a:xfrm>
            </p:grpSpPr>
            <p:cxnSp>
              <p:nvCxnSpPr>
                <p:cNvPr id="34" name="entropic_edge_1_2_shaft" descr="Editable line; source id entropic_edge_1_2_shaft"/>
                <p:cNvCxnSpPr/>
                <p:nvPr/>
              </p:nvCxnSpPr>
              <p:spPr>
                <a:xfrm flipV="1">
                  <a:off x="2157189" y="261647"/>
                  <a:ext cx="123473" cy="128283"/>
                </a:xfrm>
                <a:prstGeom prst="line">
                  <a:avLst/>
                </a:prstGeom>
                <a:ln w="17795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entropic_edge_1_2_direction" descr="Editable shape; source id entropic_edge_1_2_direction"/>
                <p:cNvSpPr/>
                <p:nvPr/>
              </p:nvSpPr>
              <p:spPr>
                <a:xfrm>
                  <a:off x="2200397" y="30607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0"/>
                      </a:moveTo>
                      <a:lnTo>
                        <a:pt x="9366" y="13874"/>
                      </a:lnTo>
                      <a:lnTo>
                        <a:pt x="0" y="4859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1" name="entropic_edge_2_3" descr="Directed conceptual edge 2 to 3"/>
              <p:cNvGrpSpPr/>
              <p:nvPr/>
            </p:nvGrpSpPr>
            <p:grpSpPr>
              <a:xfrm>
                <a:off x="2387295" y="198485"/>
                <a:ext cx="249133" cy="35590"/>
                <a:chOff x="2387295" y="198485"/>
                <a:chExt cx="249133" cy="35590"/>
              </a:xfrm>
            </p:grpSpPr>
            <p:cxnSp>
              <p:nvCxnSpPr>
                <p:cNvPr id="36" name="entropic_edge_2_3_shaft" descr="Editable line; source id entropic_edge_2_3_shaft"/>
                <p:cNvCxnSpPr/>
                <p:nvPr/>
              </p:nvCxnSpPr>
              <p:spPr>
                <a:xfrm>
                  <a:off x="2387295" y="216280"/>
                  <a:ext cx="249133" cy="0"/>
                </a:xfrm>
                <a:prstGeom prst="line">
                  <a:avLst/>
                </a:prstGeom>
                <a:ln w="17795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entropic_edge_2_3_direction" descr="Editable shape; source id entropic_edge_2_3_direction"/>
                <p:cNvSpPr/>
                <p:nvPr/>
              </p:nvSpPr>
              <p:spPr>
                <a:xfrm>
                  <a:off x="2510028" y="1984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13000" y="6500"/>
                      </a:moveTo>
                      <a:lnTo>
                        <a:pt x="0" y="13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2" name="entropic_edge_3_4" descr="Directed conceptual edge 3 to 4"/>
              <p:cNvGrpSpPr/>
              <p:nvPr/>
            </p:nvGrpSpPr>
            <p:grpSpPr>
              <a:xfrm>
                <a:off x="2743062" y="261647"/>
                <a:ext cx="123473" cy="128283"/>
                <a:chOff x="2743062" y="261647"/>
                <a:chExt cx="123473" cy="128283"/>
              </a:xfrm>
            </p:grpSpPr>
            <p:cxnSp>
              <p:nvCxnSpPr>
                <p:cNvPr id="38" name="entropic_edge_3_4_shaft" descr="Editable line; source id entropic_edge_3_4_shaft"/>
                <p:cNvCxnSpPr/>
                <p:nvPr/>
              </p:nvCxnSpPr>
              <p:spPr>
                <a:xfrm>
                  <a:off x="2743062" y="261647"/>
                  <a:ext cx="123473" cy="128283"/>
                </a:xfrm>
                <a:prstGeom prst="line">
                  <a:avLst/>
                </a:prstGeom>
                <a:ln w="17795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entropic_edge_3_4_direction" descr="Editable shape; source id entropic_edge_3_4_direction"/>
                <p:cNvSpPr/>
                <p:nvPr/>
              </p:nvSpPr>
              <p:spPr>
                <a:xfrm>
                  <a:off x="2786270" y="30751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13874"/>
                      </a:moveTo>
                      <a:lnTo>
                        <a:pt x="0" y="9015"/>
                      </a:lnTo>
                      <a:lnTo>
                        <a:pt x="9366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3" name="entropic_edge_1_5" descr="Directed conceptual edge 1 to 5"/>
              <p:cNvGrpSpPr/>
              <p:nvPr/>
            </p:nvGrpSpPr>
            <p:grpSpPr>
              <a:xfrm>
                <a:off x="2158048" y="479823"/>
                <a:ext cx="121755" cy="121755"/>
                <a:chOff x="2158048" y="479823"/>
                <a:chExt cx="121755" cy="121755"/>
              </a:xfrm>
            </p:grpSpPr>
            <p:cxnSp>
              <p:nvCxnSpPr>
                <p:cNvPr id="40" name="entropic_edge_1_5_shaft" descr="Editable line; source id entropic_edge_1_5_shaft"/>
                <p:cNvCxnSpPr/>
                <p:nvPr/>
              </p:nvCxnSpPr>
              <p:spPr>
                <a:xfrm>
                  <a:off x="2158048" y="479823"/>
                  <a:ext cx="121755" cy="121755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entropic_edge_1_5_direction" descr="Editable shape; source id entropic_edge_1_5_direction"/>
                <p:cNvSpPr/>
                <p:nvPr/>
              </p:nvSpPr>
              <p:spPr>
                <a:xfrm>
                  <a:off x="2200148" y="521923"/>
                  <a:ext cx="37750" cy="3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" h="13789">
                      <a:moveTo>
                        <a:pt x="13789" y="13789"/>
                      </a:moveTo>
                      <a:lnTo>
                        <a:pt x="0" y="9193"/>
                      </a:lnTo>
                      <a:lnTo>
                        <a:pt x="9193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4" name="entropic_edge_5_6" descr="Directed conceptual edge 5 to 6"/>
              <p:cNvGrpSpPr/>
              <p:nvPr/>
            </p:nvGrpSpPr>
            <p:grpSpPr>
              <a:xfrm>
                <a:off x="2387295" y="628308"/>
                <a:ext cx="249133" cy="35590"/>
                <a:chOff x="2387295" y="628308"/>
                <a:chExt cx="249133" cy="35590"/>
              </a:xfrm>
            </p:grpSpPr>
            <p:cxnSp>
              <p:nvCxnSpPr>
                <p:cNvPr id="42" name="entropic_edge_5_6_shaft" descr="Editable line; source id entropic_edge_5_6_shaft"/>
                <p:cNvCxnSpPr/>
                <p:nvPr/>
              </p:nvCxnSpPr>
              <p:spPr>
                <a:xfrm>
                  <a:off x="2387295" y="646102"/>
                  <a:ext cx="249133" cy="0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entropic_edge_5_6_direction" descr="Editable shape; source id entropic_edge_5_6_direction"/>
                <p:cNvSpPr/>
                <p:nvPr/>
              </p:nvSpPr>
              <p:spPr>
                <a:xfrm>
                  <a:off x="2510028" y="628308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13000" y="6500"/>
                      </a:moveTo>
                      <a:lnTo>
                        <a:pt x="0" y="13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5" name="entropic_edge_6_4" descr="Directed conceptual edge 6 to 4"/>
              <p:cNvGrpSpPr/>
              <p:nvPr/>
            </p:nvGrpSpPr>
            <p:grpSpPr>
              <a:xfrm>
                <a:off x="2743921" y="479823"/>
                <a:ext cx="121755" cy="121755"/>
                <a:chOff x="2743921" y="479823"/>
                <a:chExt cx="121755" cy="121755"/>
              </a:xfrm>
            </p:grpSpPr>
            <p:cxnSp>
              <p:nvCxnSpPr>
                <p:cNvPr id="44" name="entropic_edge_6_4_shaft" descr="Editable line; source id entropic_edge_6_4_shaft"/>
                <p:cNvCxnSpPr/>
                <p:nvPr/>
              </p:nvCxnSpPr>
              <p:spPr>
                <a:xfrm flipV="1">
                  <a:off x="2743921" y="479823"/>
                  <a:ext cx="121755" cy="121755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entropic_edge_6_4_direction" descr="Editable shape; source id entropic_edge_6_4_direction"/>
                <p:cNvSpPr/>
                <p:nvPr/>
              </p:nvSpPr>
              <p:spPr>
                <a:xfrm>
                  <a:off x="2786021" y="521728"/>
                  <a:ext cx="37750" cy="3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" h="13789">
                      <a:moveTo>
                        <a:pt x="13789" y="0"/>
                      </a:moveTo>
                      <a:lnTo>
                        <a:pt x="9193" y="13789"/>
                      </a:lnTo>
                      <a:lnTo>
                        <a:pt x="0" y="4596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6" name="entropic_edge_2_5" descr="Directed conceptual edge 2 to 5"/>
              <p:cNvGrpSpPr/>
              <p:nvPr/>
            </p:nvGrpSpPr>
            <p:grpSpPr>
              <a:xfrm>
                <a:off x="2306533" y="279247"/>
                <a:ext cx="35590" cy="303888"/>
                <a:chOff x="2306533" y="279247"/>
                <a:chExt cx="35590" cy="303888"/>
              </a:xfrm>
            </p:grpSpPr>
            <p:cxnSp>
              <p:nvCxnSpPr>
                <p:cNvPr id="46" name="entropic_edge_2_5_shaft" descr="Editable line; source id entropic_edge_2_5_shaft"/>
                <p:cNvCxnSpPr/>
                <p:nvPr/>
              </p:nvCxnSpPr>
              <p:spPr>
                <a:xfrm>
                  <a:off x="2324328" y="279247"/>
                  <a:ext cx="0" cy="303888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entropic_edge_2_5_direction" descr="Editable shape; source id entropic_edge_2_5_direction"/>
                <p:cNvSpPr/>
                <p:nvPr/>
              </p:nvSpPr>
              <p:spPr>
                <a:xfrm>
                  <a:off x="2306533" y="4342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6500" y="13000"/>
                      </a:moveTo>
                      <a:lnTo>
                        <a:pt x="0" y="0"/>
                      </a:lnTo>
                      <a:lnTo>
                        <a:pt x="1300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7" name="entropic_edge_3_6" descr="Directed conceptual edge 3 to 6"/>
              <p:cNvGrpSpPr/>
              <p:nvPr/>
            </p:nvGrpSpPr>
            <p:grpSpPr>
              <a:xfrm>
                <a:off x="2681601" y="279247"/>
                <a:ext cx="35590" cy="303888"/>
                <a:chOff x="2681601" y="279247"/>
                <a:chExt cx="35590" cy="303888"/>
              </a:xfrm>
            </p:grpSpPr>
            <p:cxnSp>
              <p:nvCxnSpPr>
                <p:cNvPr id="48" name="entropic_edge_3_6_shaft" descr="Editable line; source id entropic_edge_3_6_shaft"/>
                <p:cNvCxnSpPr/>
                <p:nvPr/>
              </p:nvCxnSpPr>
              <p:spPr>
                <a:xfrm>
                  <a:off x="2699396" y="279247"/>
                  <a:ext cx="0" cy="303888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entropic_edge_3_6_direction" descr="Editable shape; source id entropic_edge_3_6_direction"/>
                <p:cNvSpPr/>
                <p:nvPr/>
              </p:nvSpPr>
              <p:spPr>
                <a:xfrm>
                  <a:off x="2681601" y="4342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6500" y="13000"/>
                      </a:moveTo>
                      <a:lnTo>
                        <a:pt x="0" y="0"/>
                      </a:lnTo>
                      <a:lnTo>
                        <a:pt x="1300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48" name="entropic_node_1" descr="Native vertex circle and editable index"/>
              <p:cNvGrpSpPr/>
              <p:nvPr/>
            </p:nvGrpSpPr>
            <p:grpSpPr>
              <a:xfrm>
                <a:off x="2053293" y="375068"/>
                <a:ext cx="120459" cy="120459"/>
                <a:chOff x="2053293" y="375068"/>
                <a:chExt cx="120459" cy="120459"/>
              </a:xfrm>
            </p:grpSpPr>
            <p:sp>
              <p:nvSpPr>
                <p:cNvPr id="50" name="entropic_node_1_body" descr="Editable shape; source id entropic_node_1_body"/>
                <p:cNvSpPr/>
                <p:nvPr/>
              </p:nvSpPr>
              <p:spPr>
                <a:xfrm>
                  <a:off x="2053293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" name="entropic_node_1_label" descr="Editable text; source id entropic_node_1_label"/>
                <p:cNvSpPr txBox="1"/>
                <p:nvPr/>
              </p:nvSpPr>
              <p:spPr>
                <a:xfrm>
                  <a:off x="2086830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49" name="entropic_node_2" descr="Native vertex circle and editable index"/>
              <p:cNvGrpSpPr/>
              <p:nvPr/>
            </p:nvGrpSpPr>
            <p:grpSpPr>
              <a:xfrm>
                <a:off x="2264098" y="156050"/>
                <a:ext cx="120459" cy="120459"/>
                <a:chOff x="2264098" y="156050"/>
                <a:chExt cx="120459" cy="120459"/>
              </a:xfrm>
            </p:grpSpPr>
            <p:sp>
              <p:nvSpPr>
                <p:cNvPr id="52" name="entropic_node_2_body" descr="Editable shape; source id entropic_node_2_body"/>
                <p:cNvSpPr/>
                <p:nvPr/>
              </p:nvSpPr>
              <p:spPr>
                <a:xfrm>
                  <a:off x="2264098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" name="entropic_node_2_label" descr="Editable text; source id entropic_node_2_label"/>
                <p:cNvSpPr txBox="1"/>
                <p:nvPr/>
              </p:nvSpPr>
              <p:spPr>
                <a:xfrm>
                  <a:off x="2297635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50" name="entropic_node_3" descr="Native vertex circle and editable index"/>
              <p:cNvGrpSpPr/>
              <p:nvPr/>
            </p:nvGrpSpPr>
            <p:grpSpPr>
              <a:xfrm>
                <a:off x="2639166" y="156050"/>
                <a:ext cx="120459" cy="120459"/>
                <a:chOff x="2639166" y="156050"/>
                <a:chExt cx="120459" cy="120459"/>
              </a:xfrm>
            </p:grpSpPr>
            <p:sp>
              <p:nvSpPr>
                <p:cNvPr id="54" name="entropic_node_3_body" descr="Editable shape; source id entropic_node_3_body"/>
                <p:cNvSpPr/>
                <p:nvPr/>
              </p:nvSpPr>
              <p:spPr>
                <a:xfrm>
                  <a:off x="2639166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entropic_node_3_label" descr="Editable text; source id entropic_node_3_label"/>
                <p:cNvSpPr txBox="1"/>
                <p:nvPr/>
              </p:nvSpPr>
              <p:spPr>
                <a:xfrm>
                  <a:off x="2672703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grpSp>
            <p:nvGrpSpPr>
              <p:cNvPr id="251" name="entropic_node_4" descr="Native vertex circle and editable index"/>
              <p:cNvGrpSpPr/>
              <p:nvPr/>
            </p:nvGrpSpPr>
            <p:grpSpPr>
              <a:xfrm>
                <a:off x="2849971" y="375068"/>
                <a:ext cx="120459" cy="120459"/>
                <a:chOff x="2849971" y="375068"/>
                <a:chExt cx="120459" cy="120459"/>
              </a:xfrm>
            </p:grpSpPr>
            <p:sp>
              <p:nvSpPr>
                <p:cNvPr id="56" name="entropic_node_4_body" descr="Editable shape; source id entropic_node_4_body"/>
                <p:cNvSpPr/>
                <p:nvPr/>
              </p:nvSpPr>
              <p:spPr>
                <a:xfrm>
                  <a:off x="2849971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entropic_node_4_label" descr="Editable text; source id entropic_node_4_label"/>
                <p:cNvSpPr txBox="1"/>
                <p:nvPr/>
              </p:nvSpPr>
              <p:spPr>
                <a:xfrm>
                  <a:off x="2883508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4</a:t>
                  </a:r>
                </a:p>
              </p:txBody>
            </p:sp>
          </p:grpSp>
          <p:grpSp>
            <p:nvGrpSpPr>
              <p:cNvPr id="252" name="entropic_node_5" descr="Native vertex circle and editable index"/>
              <p:cNvGrpSpPr/>
              <p:nvPr/>
            </p:nvGrpSpPr>
            <p:grpSpPr>
              <a:xfrm>
                <a:off x="2264098" y="585873"/>
                <a:ext cx="120459" cy="120459"/>
                <a:chOff x="2264098" y="585873"/>
                <a:chExt cx="120459" cy="120459"/>
              </a:xfrm>
            </p:grpSpPr>
            <p:sp>
              <p:nvSpPr>
                <p:cNvPr id="58" name="entropic_node_5_body" descr="Editable shape; source id entropic_node_5_body"/>
                <p:cNvSpPr/>
                <p:nvPr/>
              </p:nvSpPr>
              <p:spPr>
                <a:xfrm>
                  <a:off x="2264098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entropic_node_5_label" descr="Editable text; source id entropic_node_5_label"/>
                <p:cNvSpPr txBox="1"/>
                <p:nvPr/>
              </p:nvSpPr>
              <p:spPr>
                <a:xfrm>
                  <a:off x="2297635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5</a:t>
                  </a:r>
                </a:p>
              </p:txBody>
            </p:sp>
          </p:grpSp>
          <p:grpSp>
            <p:nvGrpSpPr>
              <p:cNvPr id="253" name="entropic_node_6" descr="Native vertex circle and editable index"/>
              <p:cNvGrpSpPr/>
              <p:nvPr/>
            </p:nvGrpSpPr>
            <p:grpSpPr>
              <a:xfrm>
                <a:off x="2639166" y="585873"/>
                <a:ext cx="120459" cy="120459"/>
                <a:chOff x="2639166" y="585873"/>
                <a:chExt cx="120459" cy="120459"/>
              </a:xfrm>
            </p:grpSpPr>
            <p:sp>
              <p:nvSpPr>
                <p:cNvPr id="60" name="entropic_node_6_body" descr="Editable shape; source id entropic_node_6_body"/>
                <p:cNvSpPr/>
                <p:nvPr/>
              </p:nvSpPr>
              <p:spPr>
                <a:xfrm>
                  <a:off x="2639166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1" name="entropic_node_6_label" descr="Editable text; source id entropic_node_6_label"/>
                <p:cNvSpPr txBox="1"/>
                <p:nvPr/>
              </p:nvSpPr>
              <p:spPr>
                <a:xfrm>
                  <a:off x="2672703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6</a:t>
                  </a:r>
                </a:p>
              </p:txBody>
            </p:sp>
          </p:grpSp>
        </p:grpSp>
        <p:sp>
          <p:nvSpPr>
            <p:cNvPr id="62" name="finite_epsilon" descr="Editable text; source id finite_epsilon"/>
            <p:cNvSpPr txBox="1"/>
            <p:nvPr/>
          </p:nvSpPr>
          <p:spPr>
            <a:xfrm>
              <a:off x="2383183" y="729603"/>
              <a:ext cx="262832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finite </a:t>
              </a:r>
              <a:r>
                <a: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ε</a:t>
              </a:r>
            </a:p>
          </p:txBody>
        </p:sp>
      </p:grpSp>
      <p:grpSp>
        <p:nvGrpSpPr>
          <p:cNvPr id="271" name="penalty_station" descr="Editable station: title, same-support graph, and regime label"/>
          <p:cNvGrpSpPr/>
          <p:nvPr/>
        </p:nvGrpSpPr>
        <p:grpSpPr>
          <a:xfrm>
            <a:off x="3646649" y="15057"/>
            <a:ext cx="917136" cy="906049"/>
            <a:chOff x="3646649" y="15057"/>
            <a:chExt cx="917136" cy="906049"/>
          </a:xfrm>
        </p:grpSpPr>
        <p:sp>
          <p:nvSpPr>
            <p:cNvPr id="63" name="penalty_title" descr="Editable text; source id penalty_title"/>
            <p:cNvSpPr txBox="1"/>
            <p:nvPr/>
          </p:nvSpPr>
          <p:spPr>
            <a:xfrm>
              <a:off x="3759922" y="15057"/>
              <a:ext cx="697435" cy="115258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Penalty-like limit</a:t>
              </a:r>
            </a:p>
          </p:txBody>
        </p:sp>
        <p:grpSp>
          <p:nvGrpSpPr>
            <p:cNvPr id="270" name="penalty_graph" descr="Same eight-edge graph; schematic line widths only"/>
            <p:cNvGrpSpPr/>
            <p:nvPr/>
          </p:nvGrpSpPr>
          <p:grpSpPr>
            <a:xfrm>
              <a:off x="3646649" y="156050"/>
              <a:ext cx="917136" cy="550282"/>
              <a:chOff x="3646649" y="156050"/>
              <a:chExt cx="917136" cy="550282"/>
            </a:xfrm>
          </p:grpSpPr>
          <p:grpSp>
            <p:nvGrpSpPr>
              <p:cNvPr id="256" name="penalty_edge_1_2" descr="Directed conceptual edge 1 to 2"/>
              <p:cNvGrpSpPr/>
              <p:nvPr/>
            </p:nvGrpSpPr>
            <p:grpSpPr>
              <a:xfrm>
                <a:off x="3750545" y="261647"/>
                <a:ext cx="123472" cy="128283"/>
                <a:chOff x="3750545" y="261647"/>
                <a:chExt cx="123472" cy="128283"/>
              </a:xfrm>
            </p:grpSpPr>
            <p:cxnSp>
              <p:nvCxnSpPr>
                <p:cNvPr id="64" name="penalty_edge_1_2_shaft" descr="Editable line; source id penalty_edge_1_2_shaft"/>
                <p:cNvCxnSpPr/>
                <p:nvPr/>
              </p:nvCxnSpPr>
              <p:spPr>
                <a:xfrm flipV="1">
                  <a:off x="3750545" y="261647"/>
                  <a:ext cx="123472" cy="128283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" name="penalty_edge_1_2_direction" descr="Editable shape; source id penalty_edge_1_2_direction"/>
                <p:cNvSpPr/>
                <p:nvPr/>
              </p:nvSpPr>
              <p:spPr>
                <a:xfrm>
                  <a:off x="3793753" y="30607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0"/>
                      </a:moveTo>
                      <a:lnTo>
                        <a:pt x="9366" y="13874"/>
                      </a:lnTo>
                      <a:lnTo>
                        <a:pt x="0" y="4859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7" name="penalty_edge_2_3" descr="Directed conceptual edge 2 to 3"/>
              <p:cNvGrpSpPr/>
              <p:nvPr/>
            </p:nvGrpSpPr>
            <p:grpSpPr>
              <a:xfrm>
                <a:off x="3980651" y="198485"/>
                <a:ext cx="249133" cy="35590"/>
                <a:chOff x="3980651" y="198485"/>
                <a:chExt cx="249133" cy="35590"/>
              </a:xfrm>
            </p:grpSpPr>
            <p:cxnSp>
              <p:nvCxnSpPr>
                <p:cNvPr id="66" name="penalty_edge_2_3_shaft" descr="Editable line; source id penalty_edge_2_3_shaft"/>
                <p:cNvCxnSpPr/>
                <p:nvPr/>
              </p:nvCxnSpPr>
              <p:spPr>
                <a:xfrm>
                  <a:off x="3980651" y="216280"/>
                  <a:ext cx="249133" cy="0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7" name="penalty_edge_2_3_direction" descr="Editable shape; source id penalty_edge_2_3_direction"/>
                <p:cNvSpPr/>
                <p:nvPr/>
              </p:nvSpPr>
              <p:spPr>
                <a:xfrm>
                  <a:off x="4103384" y="1984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13000" y="6500"/>
                      </a:moveTo>
                      <a:lnTo>
                        <a:pt x="0" y="13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8" name="penalty_edge_3_4" descr="Directed conceptual edge 3 to 4"/>
              <p:cNvGrpSpPr/>
              <p:nvPr/>
            </p:nvGrpSpPr>
            <p:grpSpPr>
              <a:xfrm>
                <a:off x="4336418" y="261647"/>
                <a:ext cx="123472" cy="128283"/>
                <a:chOff x="4336418" y="261647"/>
                <a:chExt cx="123472" cy="128283"/>
              </a:xfrm>
            </p:grpSpPr>
            <p:cxnSp>
              <p:nvCxnSpPr>
                <p:cNvPr id="68" name="penalty_edge_3_4_shaft" descr="Editable line; source id penalty_edge_3_4_shaft"/>
                <p:cNvCxnSpPr/>
                <p:nvPr/>
              </p:nvCxnSpPr>
              <p:spPr>
                <a:xfrm>
                  <a:off x="4336418" y="261647"/>
                  <a:ext cx="123472" cy="128283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9" name="penalty_edge_3_4_direction" descr="Editable shape; source id penalty_edge_3_4_direction"/>
                <p:cNvSpPr/>
                <p:nvPr/>
              </p:nvSpPr>
              <p:spPr>
                <a:xfrm>
                  <a:off x="4379626" y="307518"/>
                  <a:ext cx="37501" cy="37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" h="13874">
                      <a:moveTo>
                        <a:pt x="13698" y="13874"/>
                      </a:moveTo>
                      <a:lnTo>
                        <a:pt x="0" y="9015"/>
                      </a:lnTo>
                      <a:lnTo>
                        <a:pt x="9366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59" name="penalty_edge_1_5" descr="Directed conceptual edge 1 to 5"/>
              <p:cNvGrpSpPr/>
              <p:nvPr/>
            </p:nvGrpSpPr>
            <p:grpSpPr>
              <a:xfrm>
                <a:off x="3751403" y="479823"/>
                <a:ext cx="121755" cy="121755"/>
                <a:chOff x="3751403" y="479823"/>
                <a:chExt cx="121755" cy="121755"/>
              </a:xfrm>
            </p:grpSpPr>
            <p:cxnSp>
              <p:nvCxnSpPr>
                <p:cNvPr id="70" name="penalty_edge_1_5_shaft" descr="Editable line; source id penalty_edge_1_5_shaft"/>
                <p:cNvCxnSpPr/>
                <p:nvPr/>
              </p:nvCxnSpPr>
              <p:spPr>
                <a:xfrm>
                  <a:off x="3751403" y="479823"/>
                  <a:ext cx="121755" cy="121755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penalty_edge_1_5_direction" descr="Editable shape; source id penalty_edge_1_5_direction"/>
                <p:cNvSpPr/>
                <p:nvPr/>
              </p:nvSpPr>
              <p:spPr>
                <a:xfrm>
                  <a:off x="3793503" y="521923"/>
                  <a:ext cx="37750" cy="3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" h="13789">
                      <a:moveTo>
                        <a:pt x="13789" y="13789"/>
                      </a:moveTo>
                      <a:lnTo>
                        <a:pt x="0" y="9193"/>
                      </a:lnTo>
                      <a:lnTo>
                        <a:pt x="9193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0" name="penalty_edge_5_6" descr="Directed conceptual edge 5 to 6"/>
              <p:cNvGrpSpPr/>
              <p:nvPr/>
            </p:nvGrpSpPr>
            <p:grpSpPr>
              <a:xfrm>
                <a:off x="3980651" y="628308"/>
                <a:ext cx="249133" cy="35590"/>
                <a:chOff x="3980651" y="628308"/>
                <a:chExt cx="249133" cy="35590"/>
              </a:xfrm>
            </p:grpSpPr>
            <p:cxnSp>
              <p:nvCxnSpPr>
                <p:cNvPr id="72" name="penalty_edge_5_6_shaft" descr="Editable line; source id penalty_edge_5_6_shaft"/>
                <p:cNvCxnSpPr/>
                <p:nvPr/>
              </p:nvCxnSpPr>
              <p:spPr>
                <a:xfrm>
                  <a:off x="3980651" y="646102"/>
                  <a:ext cx="249133" cy="0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penalty_edge_5_6_direction" descr="Editable shape; source id penalty_edge_5_6_direction"/>
                <p:cNvSpPr/>
                <p:nvPr/>
              </p:nvSpPr>
              <p:spPr>
                <a:xfrm>
                  <a:off x="4103384" y="628308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13000" y="6500"/>
                      </a:moveTo>
                      <a:lnTo>
                        <a:pt x="0" y="130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1" name="penalty_edge_6_4" descr="Directed conceptual edge 6 to 4"/>
              <p:cNvGrpSpPr/>
              <p:nvPr/>
            </p:nvGrpSpPr>
            <p:grpSpPr>
              <a:xfrm>
                <a:off x="4337276" y="479823"/>
                <a:ext cx="121756" cy="121755"/>
                <a:chOff x="4337276" y="479823"/>
                <a:chExt cx="121756" cy="121755"/>
              </a:xfrm>
            </p:grpSpPr>
            <p:cxnSp>
              <p:nvCxnSpPr>
                <p:cNvPr id="74" name="penalty_edge_6_4_shaft" descr="Editable line; source id penalty_edge_6_4_shaft"/>
                <p:cNvCxnSpPr/>
                <p:nvPr/>
              </p:nvCxnSpPr>
              <p:spPr>
                <a:xfrm flipV="1">
                  <a:off x="4337276" y="479823"/>
                  <a:ext cx="121756" cy="121755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penalty_edge_6_4_direction" descr="Editable shape; source id penalty_edge_6_4_direction"/>
                <p:cNvSpPr/>
                <p:nvPr/>
              </p:nvSpPr>
              <p:spPr>
                <a:xfrm>
                  <a:off x="4379376" y="521728"/>
                  <a:ext cx="37750" cy="37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9" h="13789">
                      <a:moveTo>
                        <a:pt x="13789" y="0"/>
                      </a:moveTo>
                      <a:lnTo>
                        <a:pt x="9193" y="13789"/>
                      </a:lnTo>
                      <a:lnTo>
                        <a:pt x="0" y="4596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2" name="penalty_edge_2_5" descr="Directed conceptual edge 2 to 5"/>
              <p:cNvGrpSpPr/>
              <p:nvPr/>
            </p:nvGrpSpPr>
            <p:grpSpPr>
              <a:xfrm>
                <a:off x="3899889" y="279247"/>
                <a:ext cx="35590" cy="303888"/>
                <a:chOff x="3899889" y="279247"/>
                <a:chExt cx="35590" cy="303888"/>
              </a:xfrm>
            </p:grpSpPr>
            <p:cxnSp>
              <p:nvCxnSpPr>
                <p:cNvPr id="76" name="penalty_edge_2_5_shaft" descr="Editable line; source id penalty_edge_2_5_shaft"/>
                <p:cNvCxnSpPr/>
                <p:nvPr/>
              </p:nvCxnSpPr>
              <p:spPr>
                <a:xfrm>
                  <a:off x="3917683" y="279247"/>
                  <a:ext cx="0" cy="303888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7" name="penalty_edge_2_5_direction" descr="Editable shape; source id penalty_edge_2_5_direction"/>
                <p:cNvSpPr/>
                <p:nvPr/>
              </p:nvSpPr>
              <p:spPr>
                <a:xfrm>
                  <a:off x="3899889" y="4342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6500" y="13000"/>
                      </a:moveTo>
                      <a:lnTo>
                        <a:pt x="0" y="0"/>
                      </a:lnTo>
                      <a:lnTo>
                        <a:pt x="1300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3" name="penalty_edge_3_6" descr="Directed conceptual edge 3 to 6"/>
              <p:cNvGrpSpPr/>
              <p:nvPr/>
            </p:nvGrpSpPr>
            <p:grpSpPr>
              <a:xfrm>
                <a:off x="4274957" y="279247"/>
                <a:ext cx="35590" cy="303888"/>
                <a:chOff x="4274957" y="279247"/>
                <a:chExt cx="35590" cy="303888"/>
              </a:xfrm>
            </p:grpSpPr>
            <p:cxnSp>
              <p:nvCxnSpPr>
                <p:cNvPr id="78" name="penalty_edge_3_6_shaft" descr="Editable line; source id penalty_edge_3_6_shaft"/>
                <p:cNvCxnSpPr/>
                <p:nvPr/>
              </p:nvCxnSpPr>
              <p:spPr>
                <a:xfrm>
                  <a:off x="4292752" y="279247"/>
                  <a:ext cx="0" cy="303888"/>
                </a:xfrm>
                <a:prstGeom prst="line">
                  <a:avLst/>
                </a:prstGeom>
                <a:ln w="12867" cap="rnd">
                  <a:solidFill>
                    <a:srgbClr val="16868B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9" name="penalty_edge_3_6_direction" descr="Editable shape; source id penalty_edge_3_6_direction"/>
                <p:cNvSpPr/>
                <p:nvPr/>
              </p:nvSpPr>
              <p:spPr>
                <a:xfrm>
                  <a:off x="4274957" y="434285"/>
                  <a:ext cx="35590" cy="35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00" h="13000">
                      <a:moveTo>
                        <a:pt x="6500" y="13000"/>
                      </a:moveTo>
                      <a:lnTo>
                        <a:pt x="0" y="0"/>
                      </a:lnTo>
                      <a:lnTo>
                        <a:pt x="13000" y="0"/>
                      </a:lnTo>
                      <a:close/>
                    </a:path>
                  </a:pathLst>
                </a:custGeom>
                <a:solidFill>
                  <a:srgbClr val="16868B"/>
                </a:solidFill>
                <a:ln>
                  <a:noFill/>
                  <a:round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grpSp>
            <p:nvGrpSpPr>
              <p:cNvPr id="264" name="penalty_node_1" descr="Native vertex circle and editable index"/>
              <p:cNvGrpSpPr/>
              <p:nvPr/>
            </p:nvGrpSpPr>
            <p:grpSpPr>
              <a:xfrm>
                <a:off x="3646649" y="375068"/>
                <a:ext cx="120459" cy="120459"/>
                <a:chOff x="3646649" y="375068"/>
                <a:chExt cx="120459" cy="120459"/>
              </a:xfrm>
            </p:grpSpPr>
            <p:sp>
              <p:nvSpPr>
                <p:cNvPr id="80" name="penalty_node_1_body" descr="Editable shape; source id penalty_node_1_body"/>
                <p:cNvSpPr/>
                <p:nvPr/>
              </p:nvSpPr>
              <p:spPr>
                <a:xfrm>
                  <a:off x="3646649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1" name="penalty_node_1_label" descr="Editable text; source id penalty_node_1_label"/>
                <p:cNvSpPr txBox="1"/>
                <p:nvPr/>
              </p:nvSpPr>
              <p:spPr>
                <a:xfrm>
                  <a:off x="3680186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grpSp>
            <p:nvGrpSpPr>
              <p:cNvPr id="265" name="penalty_node_2" descr="Native vertex circle and editable index"/>
              <p:cNvGrpSpPr/>
              <p:nvPr/>
            </p:nvGrpSpPr>
            <p:grpSpPr>
              <a:xfrm>
                <a:off x="3857453" y="156050"/>
                <a:ext cx="120459" cy="120459"/>
                <a:chOff x="3857453" y="156050"/>
                <a:chExt cx="120459" cy="120459"/>
              </a:xfrm>
            </p:grpSpPr>
            <p:sp>
              <p:nvSpPr>
                <p:cNvPr id="82" name="penalty_node_2_body" descr="Editable shape; source id penalty_node_2_body"/>
                <p:cNvSpPr/>
                <p:nvPr/>
              </p:nvSpPr>
              <p:spPr>
                <a:xfrm>
                  <a:off x="3857453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penalty_node_2_label" descr="Editable text; source id penalty_node_2_label"/>
                <p:cNvSpPr txBox="1"/>
                <p:nvPr/>
              </p:nvSpPr>
              <p:spPr>
                <a:xfrm>
                  <a:off x="3890991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266" name="penalty_node_3" descr="Native vertex circle and editable index"/>
              <p:cNvGrpSpPr/>
              <p:nvPr/>
            </p:nvGrpSpPr>
            <p:grpSpPr>
              <a:xfrm>
                <a:off x="4232522" y="156050"/>
                <a:ext cx="120459" cy="120459"/>
                <a:chOff x="4232522" y="156050"/>
                <a:chExt cx="120459" cy="120459"/>
              </a:xfrm>
            </p:grpSpPr>
            <p:sp>
              <p:nvSpPr>
                <p:cNvPr id="84" name="penalty_node_3_body" descr="Editable shape; source id penalty_node_3_body"/>
                <p:cNvSpPr/>
                <p:nvPr/>
              </p:nvSpPr>
              <p:spPr>
                <a:xfrm>
                  <a:off x="4232522" y="156050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5" name="penalty_node_3_label" descr="Editable text; source id penalty_node_3_label"/>
                <p:cNvSpPr txBox="1"/>
                <p:nvPr/>
              </p:nvSpPr>
              <p:spPr>
                <a:xfrm>
                  <a:off x="4266059" y="157419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3</a:t>
                  </a:r>
                </a:p>
              </p:txBody>
            </p:sp>
          </p:grpSp>
          <p:grpSp>
            <p:nvGrpSpPr>
              <p:cNvPr id="267" name="penalty_node_4" descr="Native vertex circle and editable index"/>
              <p:cNvGrpSpPr/>
              <p:nvPr/>
            </p:nvGrpSpPr>
            <p:grpSpPr>
              <a:xfrm>
                <a:off x="4443326" y="375068"/>
                <a:ext cx="120459" cy="120459"/>
                <a:chOff x="4443326" y="375068"/>
                <a:chExt cx="120459" cy="120459"/>
              </a:xfrm>
            </p:grpSpPr>
            <p:sp>
              <p:nvSpPr>
                <p:cNvPr id="86" name="penalty_node_4_body" descr="Editable shape; source id penalty_node_4_body"/>
                <p:cNvSpPr/>
                <p:nvPr/>
              </p:nvSpPr>
              <p:spPr>
                <a:xfrm>
                  <a:off x="4443326" y="375068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7" name="penalty_node_4_label" descr="Editable text; source id penalty_node_4_label"/>
                <p:cNvSpPr txBox="1"/>
                <p:nvPr/>
              </p:nvSpPr>
              <p:spPr>
                <a:xfrm>
                  <a:off x="4476864" y="376437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4</a:t>
                  </a:r>
                </a:p>
              </p:txBody>
            </p:sp>
          </p:grpSp>
          <p:grpSp>
            <p:nvGrpSpPr>
              <p:cNvPr id="268" name="penalty_node_5" descr="Native vertex circle and editable index"/>
              <p:cNvGrpSpPr/>
              <p:nvPr/>
            </p:nvGrpSpPr>
            <p:grpSpPr>
              <a:xfrm>
                <a:off x="3857453" y="585873"/>
                <a:ext cx="120459" cy="120459"/>
                <a:chOff x="3857453" y="585873"/>
                <a:chExt cx="120459" cy="120459"/>
              </a:xfrm>
            </p:grpSpPr>
            <p:sp>
              <p:nvSpPr>
                <p:cNvPr id="88" name="penalty_node_5_body" descr="Editable shape; source id penalty_node_5_body"/>
                <p:cNvSpPr/>
                <p:nvPr/>
              </p:nvSpPr>
              <p:spPr>
                <a:xfrm>
                  <a:off x="3857453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9" name="penalty_node_5_label" descr="Editable text; source id penalty_node_5_label"/>
                <p:cNvSpPr txBox="1"/>
                <p:nvPr/>
              </p:nvSpPr>
              <p:spPr>
                <a:xfrm>
                  <a:off x="3890991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5</a:t>
                  </a:r>
                </a:p>
              </p:txBody>
            </p:sp>
          </p:grpSp>
          <p:grpSp>
            <p:nvGrpSpPr>
              <p:cNvPr id="269" name="penalty_node_6" descr="Native vertex circle and editable index"/>
              <p:cNvGrpSpPr/>
              <p:nvPr/>
            </p:nvGrpSpPr>
            <p:grpSpPr>
              <a:xfrm>
                <a:off x="4232522" y="585873"/>
                <a:ext cx="120459" cy="120459"/>
                <a:chOff x="4232522" y="585873"/>
                <a:chExt cx="120459" cy="120459"/>
              </a:xfrm>
            </p:grpSpPr>
            <p:sp>
              <p:nvSpPr>
                <p:cNvPr id="90" name="penalty_node_6_body" descr="Editable shape; source id penalty_node_6_body"/>
                <p:cNvSpPr/>
                <p:nvPr/>
              </p:nvSpPr>
              <p:spPr>
                <a:xfrm>
                  <a:off x="4232522" y="585873"/>
                  <a:ext cx="120459" cy="120459"/>
                </a:xfrm>
                <a:prstGeom prst="ellipse">
                  <a:avLst/>
                </a:prstGeom>
                <a:solidFill>
                  <a:srgbClr val="FFFFFF"/>
                </a:solidFill>
                <a:ln w="6296">
                  <a:solidFill>
                    <a:srgbClr val="25323A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1" name="penalty_node_6_label" descr="Editable text; source id penalty_node_6_label"/>
                <p:cNvSpPr txBox="1"/>
                <p:nvPr/>
              </p:nvSpPr>
              <p:spPr>
                <a:xfrm>
                  <a:off x="4266059" y="587241"/>
                  <a:ext cx="57492" cy="1121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2737" rIns="0" bIns="0" lIns="4106" anchorCtr="0" vertOverflow="overflow">
                  <a:noAutofit/>
                </a:bodyPr>
                <a:lstStyle/>
                <a:p>
                  <a:pPr algn="l" fontAlgn="base">
                    <a:lnSpc>
                      <a:spcPts val="81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1" b="0" i="0" lang="zh-CN" dirty="0">
                      <a:solidFill>
                        <a:srgbClr val="25323A"/>
                      </a:solidFill>
                      <a:latin typeface="Liberation Serif"/>
                      <a:ea typeface="Liberation Serif"/>
                      <a:cs typeface="Liberation Serif"/>
                    </a:rPr>
                    <a:t>6</a:t>
                  </a:r>
                </a:p>
              </p:txBody>
            </p:sp>
          </p:grpSp>
        </p:grpSp>
        <p:sp>
          <p:nvSpPr>
            <p:cNvPr id="92" name="penalty_epsilon" descr="Editable text; source id penalty_epsilon"/>
            <p:cNvSpPr txBox="1"/>
            <p:nvPr/>
          </p:nvSpPr>
          <p:spPr>
            <a:xfrm>
              <a:off x="3979624" y="707701"/>
              <a:ext cx="256661" cy="115258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ε</a:t>
              </a:r>
              <a:r>
                <a:rPr sz="732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 → ∞</a:t>
              </a:r>
            </a:p>
          </p:txBody>
        </p:sp>
        <p:sp>
          <p:nvSpPr>
            <p:cNvPr id="93" name="penalty_description" descr="Editable text; source id penalty_description"/>
            <p:cNvSpPr txBox="1"/>
            <p:nvPr/>
          </p:nvSpPr>
          <p:spPr>
            <a:xfrm>
              <a:off x="3673341" y="808997"/>
              <a:ext cx="870596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Clipped active-set price</a:t>
              </a:r>
            </a:p>
          </p:txBody>
        </p:sp>
      </p:grpSp>
      <p:grpSp>
        <p:nvGrpSpPr>
          <p:cNvPr id="272" name="epsilon_parameter_axis" descr="Parameter rail; not a sequential processing arrow"/>
          <p:cNvGrpSpPr/>
          <p:nvPr/>
        </p:nvGrpSpPr>
        <p:grpSpPr>
          <a:xfrm>
            <a:off x="904270" y="886338"/>
            <a:ext cx="4016105" cy="209982"/>
            <a:chOff x="904270" y="886338"/>
            <a:chExt cx="4016105" cy="209982"/>
          </a:xfrm>
        </p:grpSpPr>
        <p:sp>
          <p:nvSpPr>
            <p:cNvPr id="94" name="epsilon_axis" descr="Editable line; source id epsilon_axis"/>
            <p:cNvSpPr/>
            <p:nvPr/>
          </p:nvSpPr>
          <p:spPr>
            <a:xfrm>
              <a:off x="922613" y="936302"/>
              <a:ext cx="3901257" cy="38328"/>
            </a:xfrm>
            <a:custGeom>
              <a:avLst/>
              <a:gdLst/>
              <a:ahLst/>
              <a:cxnLst/>
              <a:rect l="l" t="t" r="r" b="b"/>
              <a:pathLst>
                <a:path w="1425000" h="14000">
                  <a:moveTo>
                    <a:pt x="0" y="5750"/>
                  </a:moveTo>
                  <a:lnTo>
                    <a:pt x="1412000" y="5750"/>
                  </a:lnTo>
                  <a:lnTo>
                    <a:pt x="1412000" y="0"/>
                  </a:lnTo>
                  <a:lnTo>
                    <a:pt x="1425000" y="7000"/>
                  </a:lnTo>
                  <a:lnTo>
                    <a:pt x="1412000" y="14000"/>
                  </a:lnTo>
                  <a:lnTo>
                    <a:pt x="1412000" y="8250"/>
                  </a:lnTo>
                  <a:lnTo>
                    <a:pt x="0" y="8250"/>
                  </a:lnTo>
                  <a:close/>
                </a:path>
              </a:pathLst>
            </a:cu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epsilon_mark_0" descr="Editable shape; source id epsilon_mark_0"/>
            <p:cNvSpPr/>
            <p:nvPr/>
          </p:nvSpPr>
          <p:spPr>
            <a:xfrm>
              <a:off x="904270" y="937123"/>
              <a:ext cx="36685" cy="36685"/>
            </a:xfrm>
            <a:prstGeom prst="ellipse">
              <a:avLst/>
            </a:pr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epsilon_mark_1" descr="Editable shape; source id epsilon_mark_1"/>
            <p:cNvSpPr/>
            <p:nvPr/>
          </p:nvSpPr>
          <p:spPr>
            <a:xfrm>
              <a:off x="2494888" y="937123"/>
              <a:ext cx="36685" cy="36685"/>
            </a:xfrm>
            <a:prstGeom prst="ellipse">
              <a:avLst/>
            </a:pr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epsilon_mark_2" descr="Editable shape; source id epsilon_mark_2"/>
            <p:cNvSpPr/>
            <p:nvPr/>
          </p:nvSpPr>
          <p:spPr>
            <a:xfrm>
              <a:off x="4088244" y="937123"/>
              <a:ext cx="36685" cy="36685"/>
            </a:xfrm>
            <a:prstGeom prst="ellipse">
              <a:avLst/>
            </a:pr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epsilon_axis_symbol" descr="Editable text; source id epsilon_axis_symbol"/>
            <p:cNvSpPr txBox="1"/>
            <p:nvPr/>
          </p:nvSpPr>
          <p:spPr>
            <a:xfrm>
              <a:off x="4869043" y="886338"/>
              <a:ext cx="51332" cy="121554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ε</a:t>
              </a:r>
            </a:p>
          </p:txBody>
        </p:sp>
        <p:sp>
          <p:nvSpPr>
            <p:cNvPr id="99" name="axis_subtitle" descr="Editable text; source id axis_subtitle"/>
            <p:cNvSpPr txBox="1"/>
            <p:nvPr/>
          </p:nvSpPr>
          <p:spPr>
            <a:xfrm>
              <a:off x="1931710" y="984211"/>
              <a:ext cx="1165778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Same graph and budgets; vary </a:t>
              </a:r>
              <a:r>
                <a: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ε</a:t>
              </a:r>
            </a:p>
          </p:txBody>
        </p:sp>
      </p:grpSp>
      <p:grpSp>
        <p:nvGrpSpPr>
          <p:cNvPr id="273" name="shared_interface_brace" descr="Native line segments following the measured source brace"/>
          <p:cNvGrpSpPr/>
          <p:nvPr/>
        </p:nvGrpSpPr>
        <p:grpSpPr>
          <a:xfrm>
            <a:off x="328526" y="1111516"/>
            <a:ext cx="4372147" cy="117722"/>
            <a:chOff x="328526" y="1111516"/>
            <a:chExt cx="4372147" cy="117722"/>
          </a:xfrm>
        </p:grpSpPr>
        <p:cxnSp>
          <p:nvCxnSpPr>
            <p:cNvPr id="100" name="shared_interface_brace_00" descr="Editable line; source id shared_interface_brace_00"/>
            <p:cNvCxnSpPr/>
            <p:nvPr/>
          </p:nvCxnSpPr>
          <p:spPr>
            <a:xfrm>
              <a:off x="328526" y="1111516"/>
              <a:ext cx="2776" cy="1437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hared_interface_brace_01" descr="Editable line; source id shared_interface_brace_01"/>
            <p:cNvCxnSpPr/>
            <p:nvPr/>
          </p:nvCxnSpPr>
          <p:spPr>
            <a:xfrm>
              <a:off x="331302" y="1125894"/>
              <a:ext cx="6079" cy="12357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hared_interface_brace_02" descr="Editable line; source id shared_interface_brace_02"/>
            <p:cNvCxnSpPr/>
            <p:nvPr/>
          </p:nvCxnSpPr>
          <p:spPr>
            <a:xfrm>
              <a:off x="337381" y="1138251"/>
              <a:ext cx="9096" cy="1036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hared_interface_brace_03" descr="Editable line; source id shared_interface_brace_03"/>
            <p:cNvCxnSpPr/>
            <p:nvPr/>
          </p:nvCxnSpPr>
          <p:spPr>
            <a:xfrm>
              <a:off x="346477" y="1148619"/>
              <a:ext cx="11822" cy="841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hared_interface_brace_04" descr="Editable line; source id shared_interface_brace_04"/>
            <p:cNvCxnSpPr/>
            <p:nvPr/>
          </p:nvCxnSpPr>
          <p:spPr>
            <a:xfrm>
              <a:off x="358299" y="1157030"/>
              <a:ext cx="14261" cy="6486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hared_interface_brace_05" descr="Editable line; source id shared_interface_brace_05"/>
            <p:cNvCxnSpPr/>
            <p:nvPr/>
          </p:nvCxnSpPr>
          <p:spPr>
            <a:xfrm>
              <a:off x="372560" y="1163516"/>
              <a:ext cx="16410" cy="4594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hared_interface_brace_06" descr="Editable line; source id shared_interface_brace_06"/>
            <p:cNvCxnSpPr/>
            <p:nvPr/>
          </p:nvCxnSpPr>
          <p:spPr>
            <a:xfrm>
              <a:off x="388970" y="1168110"/>
              <a:ext cx="18271" cy="2732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hared_interface_brace_07" descr="Editable line; source id shared_interface_brace_07"/>
            <p:cNvCxnSpPr/>
            <p:nvPr/>
          </p:nvCxnSpPr>
          <p:spPr>
            <a:xfrm>
              <a:off x="407241" y="1170842"/>
              <a:ext cx="19844" cy="904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hared_interface_brace_08" descr="Editable line; source id shared_interface_brace_08"/>
            <p:cNvCxnSpPr/>
            <p:nvPr/>
          </p:nvCxnSpPr>
          <p:spPr>
            <a:xfrm>
              <a:off x="427085" y="1171746"/>
              <a:ext cx="1982112" cy="0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hared_interface_brace_09" descr="Editable line; source id shared_interface_brace_09"/>
            <p:cNvCxnSpPr/>
            <p:nvPr/>
          </p:nvCxnSpPr>
          <p:spPr>
            <a:xfrm>
              <a:off x="2409197" y="1171746"/>
              <a:ext cx="19854" cy="89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hared_interface_brace_10" descr="Editable line; source id shared_interface_brace_10"/>
            <p:cNvCxnSpPr/>
            <p:nvPr/>
          </p:nvCxnSpPr>
          <p:spPr>
            <a:xfrm>
              <a:off x="2429051" y="1172644"/>
              <a:ext cx="18346" cy="269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hared_interface_brace_11" descr="Editable line; source id shared_interface_brace_11"/>
            <p:cNvCxnSpPr/>
            <p:nvPr/>
          </p:nvCxnSpPr>
          <p:spPr>
            <a:xfrm>
              <a:off x="2447397" y="1175339"/>
              <a:ext cx="16613" cy="449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hared_interface_brace_12" descr="Editable line; source id shared_interface_brace_12"/>
            <p:cNvCxnSpPr/>
            <p:nvPr/>
          </p:nvCxnSpPr>
          <p:spPr>
            <a:xfrm>
              <a:off x="2464010" y="1179830"/>
              <a:ext cx="14657" cy="6289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hared_interface_brace_13" descr="Editable line; source id shared_interface_brace_13"/>
            <p:cNvCxnSpPr/>
            <p:nvPr/>
          </p:nvCxnSpPr>
          <p:spPr>
            <a:xfrm>
              <a:off x="2478667" y="1186119"/>
              <a:ext cx="12475" cy="808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hared_interface_brace_14" descr="Editable line; source id shared_interface_brace_14"/>
            <p:cNvCxnSpPr/>
            <p:nvPr/>
          </p:nvCxnSpPr>
          <p:spPr>
            <a:xfrm>
              <a:off x="2491142" y="1194204"/>
              <a:ext cx="10068" cy="988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hared_interface_brace_15" descr="Editable line; source id shared_interface_brace_15"/>
            <p:cNvCxnSpPr/>
            <p:nvPr/>
          </p:nvCxnSpPr>
          <p:spPr>
            <a:xfrm>
              <a:off x="2501210" y="1204085"/>
              <a:ext cx="7438" cy="1167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hared_interface_brace_16" descr="Editable line; source id shared_interface_brace_16"/>
            <p:cNvCxnSpPr/>
            <p:nvPr/>
          </p:nvCxnSpPr>
          <p:spPr>
            <a:xfrm>
              <a:off x="2508648" y="1215763"/>
              <a:ext cx="4583" cy="1347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hared_interface_brace_17" descr="Editable line; source id shared_interface_brace_17"/>
            <p:cNvCxnSpPr/>
            <p:nvPr/>
          </p:nvCxnSpPr>
          <p:spPr>
            <a:xfrm flipV="1">
              <a:off x="2513231" y="1215763"/>
              <a:ext cx="4582" cy="1347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hared_interface_brace_18" descr="Editable line; source id shared_interface_brace_18"/>
            <p:cNvCxnSpPr/>
            <p:nvPr/>
          </p:nvCxnSpPr>
          <p:spPr>
            <a:xfrm flipV="1">
              <a:off x="2517813" y="1204085"/>
              <a:ext cx="7438" cy="1167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hared_interface_brace_19" descr="Editable line; source id shared_interface_brace_19"/>
            <p:cNvCxnSpPr/>
            <p:nvPr/>
          </p:nvCxnSpPr>
          <p:spPr>
            <a:xfrm flipV="1">
              <a:off x="2525251" y="1194204"/>
              <a:ext cx="10069" cy="988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hared_interface_brace_20" descr="Editable line; source id shared_interface_brace_20"/>
            <p:cNvCxnSpPr/>
            <p:nvPr/>
          </p:nvCxnSpPr>
          <p:spPr>
            <a:xfrm flipV="1">
              <a:off x="2535320" y="1186119"/>
              <a:ext cx="12474" cy="808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hared_interface_brace_21" descr="Editable line; source id shared_interface_brace_21"/>
            <p:cNvCxnSpPr/>
            <p:nvPr/>
          </p:nvCxnSpPr>
          <p:spPr>
            <a:xfrm flipV="1">
              <a:off x="2547794" y="1179830"/>
              <a:ext cx="14657" cy="6289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hared_interface_brace_22" descr="Editable line; source id shared_interface_brace_22"/>
            <p:cNvCxnSpPr/>
            <p:nvPr/>
          </p:nvCxnSpPr>
          <p:spPr>
            <a:xfrm flipV="1">
              <a:off x="2562451" y="1175339"/>
              <a:ext cx="16613" cy="449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hared_interface_brace_23" descr="Editable line; source id shared_interface_brace_23"/>
            <p:cNvCxnSpPr/>
            <p:nvPr/>
          </p:nvCxnSpPr>
          <p:spPr>
            <a:xfrm flipV="1">
              <a:off x="2579064" y="1172644"/>
              <a:ext cx="18346" cy="2695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hared_interface_brace_24" descr="Editable line; source id shared_interface_brace_24"/>
            <p:cNvCxnSpPr/>
            <p:nvPr/>
          </p:nvCxnSpPr>
          <p:spPr>
            <a:xfrm flipV="1">
              <a:off x="2597410" y="1171746"/>
              <a:ext cx="19854" cy="89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hared_interface_brace_25" descr="Editable line; source id shared_interface_brace_25"/>
            <p:cNvCxnSpPr/>
            <p:nvPr/>
          </p:nvCxnSpPr>
          <p:spPr>
            <a:xfrm>
              <a:off x="2617264" y="1171746"/>
              <a:ext cx="1987588" cy="0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hared_interface_brace_26" descr="Editable line; source id shared_interface_brace_26"/>
            <p:cNvCxnSpPr/>
            <p:nvPr/>
          </p:nvCxnSpPr>
          <p:spPr>
            <a:xfrm flipV="1">
              <a:off x="4604852" y="1170842"/>
              <a:ext cx="20512" cy="904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hared_interface_brace_27" descr="Editable line; source id shared_interface_brace_27"/>
            <p:cNvCxnSpPr/>
            <p:nvPr/>
          </p:nvCxnSpPr>
          <p:spPr>
            <a:xfrm flipV="1">
              <a:off x="4625364" y="1168110"/>
              <a:ext cx="18330" cy="2732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hared_interface_brace_28" descr="Editable line; source id shared_interface_brace_28"/>
            <p:cNvCxnSpPr/>
            <p:nvPr/>
          </p:nvCxnSpPr>
          <p:spPr>
            <a:xfrm flipV="1">
              <a:off x="4643694" y="1163516"/>
              <a:ext cx="16020" cy="4594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hared_interface_brace_29" descr="Editable line; source id shared_interface_brace_29"/>
            <p:cNvCxnSpPr/>
            <p:nvPr/>
          </p:nvCxnSpPr>
          <p:spPr>
            <a:xfrm flipV="1">
              <a:off x="4659714" y="1157030"/>
              <a:ext cx="13581" cy="6486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hared_interface_brace_30" descr="Editable line; source id shared_interface_brace_30"/>
            <p:cNvCxnSpPr/>
            <p:nvPr/>
          </p:nvCxnSpPr>
          <p:spPr>
            <a:xfrm flipV="1">
              <a:off x="4673295" y="1148619"/>
              <a:ext cx="11015" cy="8411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hared_interface_brace_31" descr="Editable line; source id shared_interface_brace_31"/>
            <p:cNvCxnSpPr/>
            <p:nvPr/>
          </p:nvCxnSpPr>
          <p:spPr>
            <a:xfrm flipV="1">
              <a:off x="4684310" y="1138251"/>
              <a:ext cx="8320" cy="1036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hared_interface_brace_32" descr="Editable line; source id shared_interface_brace_32"/>
            <p:cNvCxnSpPr/>
            <p:nvPr/>
          </p:nvCxnSpPr>
          <p:spPr>
            <a:xfrm flipV="1">
              <a:off x="4692630" y="1125894"/>
              <a:ext cx="5497" cy="12357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hared_interface_brace_33" descr="Editable line; source id shared_interface_brace_33"/>
            <p:cNvCxnSpPr/>
            <p:nvPr/>
          </p:nvCxnSpPr>
          <p:spPr>
            <a:xfrm flipV="1">
              <a:off x="4698127" y="1111516"/>
              <a:ext cx="2546" cy="14378"/>
            </a:xfrm>
            <a:prstGeom prst="line">
              <a:avLst/>
            </a:prstGeom>
            <a:ln w="8213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shared_policy_update_interface" descr="Band, editable shared price formula, and native explanatory leaders"/>
          <p:cNvGrpSpPr/>
          <p:nvPr/>
        </p:nvGrpSpPr>
        <p:grpSpPr>
          <a:xfrm>
            <a:off x="1149844" y="1256615"/>
            <a:ext cx="2732249" cy="525643"/>
            <a:chOff x="1149844" y="1256615"/>
            <a:chExt cx="2732249" cy="525643"/>
          </a:xfrm>
        </p:grpSpPr>
        <p:sp>
          <p:nvSpPr>
            <p:cNvPr id="134" name="policy_interface_band" descr="Editable shape; source id policy_interface_band"/>
            <p:cNvSpPr/>
            <p:nvPr/>
          </p:nvSpPr>
          <p:spPr>
            <a:xfrm>
              <a:off x="1149844" y="1256615"/>
              <a:ext cx="2732249" cy="525643"/>
            </a:xfrm>
            <a:prstGeom prst="roundRect">
              <a:avLst>
                <a:gd name="adj" fmla="val 6770"/>
              </a:avLst>
            </a:prstGeom>
            <a:solidFill>
              <a:srgbClr val="EDF5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interface_title" descr="Editable text; source id interface_title"/>
            <p:cNvSpPr txBox="1"/>
            <p:nvPr/>
          </p:nvSpPr>
          <p:spPr>
            <a:xfrm>
              <a:off x="1965001" y="1271673"/>
              <a:ext cx="1100565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1" i="0" lang="zh-CN" dirty="0">
                  <a:solidFill>
                    <a:srgbClr val="16868B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1" i="0" lang="zh-CN" dirty="0">
                  <a:solidFill>
                    <a:srgbClr val="16868B"/>
                  </a:solidFill>
                  <a:latin typeface="Liberation Serif"/>
                  <a:ea typeface="Liberation Serif"/>
                  <a:cs typeface="Liberation Serif"/>
                </a:rPr>
                <a:t>SafeOT-Dual: one price rule</a:t>
              </a:r>
            </a:p>
          </p:txBody>
        </p:sp>
        <p:grpSp>
          <p:nvGrpSpPr>
            <p:cNvPr id="274" name="shared_price_formula" descr="Formula parts: move together; enter the group to edit individual styles"/>
            <p:cNvGrpSpPr/>
            <p:nvPr/>
          </p:nvGrpSpPr>
          <p:grpSpPr>
            <a:xfrm>
              <a:off x="1755565" y="1398292"/>
              <a:ext cx="1504380" cy="158404"/>
              <a:chOff x="1755565" y="1398292"/>
              <a:chExt cx="1504380" cy="158404"/>
            </a:xfrm>
          </p:grpSpPr>
          <p:sp>
            <p:nvSpPr>
              <p:cNvPr id="136" name="shared_price_formula_0" descr="Editable text; source id shared_price_formula_0"/>
              <p:cNvSpPr txBox="1"/>
              <p:nvPr/>
            </p:nvSpPr>
            <p:spPr>
              <a:xfrm>
                <a:off x="1755565" y="1405137"/>
                <a:ext cx="63128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791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37" name="shared_price_formula_1" descr="Editable text; source id shared_price_formula_1"/>
              <p:cNvSpPr txBox="1"/>
              <p:nvPr/>
            </p:nvSpPr>
            <p:spPr>
              <a:xfrm>
                <a:off x="1876710" y="1405137"/>
                <a:ext cx="72047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=</a:t>
                </a:r>
              </a:p>
            </p:txBody>
          </p:sp>
          <p:sp>
            <p:nvSpPr>
              <p:cNvPr id="138" name="shared_price_formula_2" descr="Editable text; source id shared_price_formula_2"/>
              <p:cNvSpPr txBox="1"/>
              <p:nvPr/>
            </p:nvSpPr>
            <p:spPr>
              <a:xfrm>
                <a:off x="2010858" y="1405137"/>
                <a:ext cx="602983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filtered clip(</a:t>
                </a:r>
              </a:p>
            </p:txBody>
          </p:sp>
          <p:sp>
            <p:nvSpPr>
              <p:cNvPr id="139" name="shared_price_formula_3" descr="Editable text; source id shared_price_formula_3"/>
              <p:cNvSpPr txBox="1"/>
              <p:nvPr/>
            </p:nvSpPr>
            <p:spPr>
              <a:xfrm>
                <a:off x="2620686" y="1405137"/>
                <a:ext cx="63128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791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40" name="shared_price_formula_4" descr="Editable text; source id shared_price_formula_4"/>
              <p:cNvSpPr txBox="1"/>
              <p:nvPr/>
            </p:nvSpPr>
            <p:spPr>
              <a:xfrm>
                <a:off x="2695289" y="1398292"/>
                <a:ext cx="40381" cy="87223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54"/>
                  </a:lnSpc>
                  <a:spcBef>
                    <a:spcPts val="0"/>
                  </a:spcBef>
                  <a:spcAft>
                    <a:spcPts val="0"/>
                  </a:spcAft>
                  <a:defRPr sz="569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69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141" name="shared_price_formula_5" descr="Editable text; source id shared_price_formula_5"/>
              <p:cNvSpPr txBox="1"/>
              <p:nvPr/>
            </p:nvSpPr>
            <p:spPr>
              <a:xfrm>
                <a:off x="2689814" y="1469473"/>
                <a:ext cx="32852" cy="87223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54"/>
                  </a:lnSpc>
                  <a:spcBef>
                    <a:spcPts val="0"/>
                  </a:spcBef>
                  <a:spcAft>
                    <a:spcPts val="0"/>
                  </a:spcAft>
                  <a:defRPr sz="569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69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ε</a:t>
                </a:r>
              </a:p>
            </p:txBody>
          </p:sp>
          <p:sp>
            <p:nvSpPr>
              <p:cNvPr id="142" name="shared_price_formula_6" descr="Editable text; source id shared_price_formula_6"/>
              <p:cNvSpPr txBox="1"/>
              <p:nvPr/>
            </p:nvSpPr>
            <p:spPr>
              <a:xfrm>
                <a:off x="2739093" y="1405137"/>
                <a:ext cx="154681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, 0,</a:t>
                </a:r>
              </a:p>
            </p:txBody>
          </p:sp>
          <p:sp>
            <p:nvSpPr>
              <p:cNvPr id="143" name="shared_price_formula_7" descr="Editable text; source id shared_price_formula_7"/>
              <p:cNvSpPr txBox="1"/>
              <p:nvPr/>
            </p:nvSpPr>
            <p:spPr>
              <a:xfrm>
                <a:off x="2897881" y="1405137"/>
                <a:ext cx="57577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44" name="shared_price_formula_8" descr="Editable text; source id shared_price_formula_8"/>
              <p:cNvSpPr txBox="1"/>
              <p:nvPr/>
            </p:nvSpPr>
            <p:spPr>
              <a:xfrm>
                <a:off x="2955373" y="1405137"/>
                <a:ext cx="44488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)</a:t>
                </a:r>
              </a:p>
            </p:txBody>
          </p:sp>
          <p:sp>
            <p:nvSpPr>
              <p:cNvPr id="145" name="shared_price_formula_9" descr="Editable text; source id shared_price_formula_9"/>
              <p:cNvSpPr txBox="1"/>
              <p:nvPr/>
            </p:nvSpPr>
            <p:spPr>
              <a:xfrm>
                <a:off x="3056669" y="1405137"/>
                <a:ext cx="72047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0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+</a:t>
                </a:r>
              </a:p>
            </p:txBody>
          </p:sp>
          <p:sp>
            <p:nvSpPr>
              <p:cNvPr id="146" name="shared_price_formula_10" descr="Editable text; source id shared_price_formula_10"/>
              <p:cNvSpPr txBox="1"/>
              <p:nvPr/>
            </p:nvSpPr>
            <p:spPr>
              <a:xfrm>
                <a:off x="3191502" y="1405137"/>
                <a:ext cx="68443" cy="14263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3422" anchorCtr="0" vertOverflow="overflow">
                <a:noAutofit/>
              </a:bodyPr>
              <a:lstStyle/>
              <a:p>
                <a:pPr algn="l" fontAlgn="base">
                  <a:lnSpc>
                    <a:spcPts val="1090"/>
                  </a:lnSpc>
                  <a:spcBef>
                    <a:spcPts val="0"/>
                  </a:spcBef>
                  <a:spcAft>
                    <a:spcPts val="0"/>
                  </a:spcAft>
                  <a:def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48" b="0" i="1" lang="zh-CN" dirty="0">
                    <a:solidFill>
                      <a:srgbClr val="25323A"/>
                    </a:solidFill>
                    <a:latin typeface="Liberation Serif"/>
                    <a:ea typeface="Liberation Serif"/>
                    <a:cs typeface="Liberation Serif"/>
                  </a:rPr>
                  <a:t>β</a:t>
                </a:r>
              </a:p>
            </p:txBody>
          </p:sp>
        </p:grpSp>
        <p:grpSp>
          <p:nvGrpSpPr>
            <p:cNvPr id="275" name="graph_price_underbrace" descr="Native line segments following the measured source brace"/>
            <p:cNvGrpSpPr/>
            <p:nvPr/>
          </p:nvGrpSpPr>
          <p:grpSpPr>
            <a:xfrm>
              <a:off x="2023178" y="1560502"/>
              <a:ext cx="952728" cy="43804"/>
              <a:chOff x="2023178" y="1560502"/>
              <a:chExt cx="952728" cy="43804"/>
            </a:xfrm>
          </p:grpSpPr>
          <p:cxnSp>
            <p:nvCxnSpPr>
              <p:cNvPr id="147" name="graph_price_underbrace_00" descr="Editable line; source id graph_price_underbrace_00"/>
              <p:cNvCxnSpPr/>
              <p:nvPr/>
            </p:nvCxnSpPr>
            <p:spPr>
              <a:xfrm>
                <a:off x="2023178" y="1560502"/>
                <a:ext cx="1533" cy="725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graph_price_underbrace_01" descr="Editable line; source id graph_price_underbrace_01"/>
              <p:cNvCxnSpPr/>
              <p:nvPr/>
            </p:nvCxnSpPr>
            <p:spPr>
              <a:xfrm>
                <a:off x="2024711" y="1567752"/>
                <a:ext cx="4161" cy="541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graph_price_underbrace_02" descr="Editable line; source id graph_price_underbrace_02"/>
              <p:cNvCxnSpPr/>
              <p:nvPr/>
            </p:nvCxnSpPr>
            <p:spPr>
              <a:xfrm>
                <a:off x="2028872" y="1573162"/>
                <a:ext cx="6133" cy="3701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graph_price_underbrace_03" descr="Editable line; source id graph_price_underbrace_03"/>
              <p:cNvCxnSpPr/>
              <p:nvPr/>
            </p:nvCxnSpPr>
            <p:spPr>
              <a:xfrm>
                <a:off x="2035005" y="1576863"/>
                <a:ext cx="7447" cy="212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graph_price_underbrace_04" descr="Editable line; source id graph_price_underbrace_04"/>
              <p:cNvCxnSpPr/>
              <p:nvPr/>
            </p:nvCxnSpPr>
            <p:spPr>
              <a:xfrm>
                <a:off x="2042452" y="1578988"/>
                <a:ext cx="8103" cy="67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graph_price_underbrace_05" descr="Editable line; source id graph_price_underbrace_05"/>
              <p:cNvCxnSpPr/>
              <p:nvPr/>
            </p:nvCxnSpPr>
            <p:spPr>
              <a:xfrm>
                <a:off x="2050555" y="1579667"/>
                <a:ext cx="421610" cy="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graph_price_underbrace_06" descr="Editable line; source id graph_price_underbrace_06"/>
              <p:cNvCxnSpPr/>
              <p:nvPr/>
            </p:nvCxnSpPr>
            <p:spPr>
              <a:xfrm>
                <a:off x="2472165" y="1579667"/>
                <a:ext cx="9155" cy="98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graph_price_underbrace_07" descr="Editable line; source id graph_price_underbrace_07"/>
              <p:cNvCxnSpPr/>
              <p:nvPr/>
            </p:nvCxnSpPr>
            <p:spPr>
              <a:xfrm>
                <a:off x="2481320" y="1580652"/>
                <a:ext cx="7578" cy="2957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graph_price_underbrace_08" descr="Editable line; source id graph_price_underbrace_08"/>
              <p:cNvCxnSpPr/>
              <p:nvPr/>
            </p:nvCxnSpPr>
            <p:spPr>
              <a:xfrm>
                <a:off x="2488898" y="1583609"/>
                <a:ext cx="5738" cy="492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graph_price_underbrace_09" descr="Editable line; source id graph_price_underbrace_09"/>
              <p:cNvCxnSpPr/>
              <p:nvPr/>
            </p:nvCxnSpPr>
            <p:spPr>
              <a:xfrm>
                <a:off x="2494636" y="1588537"/>
                <a:ext cx="3636" cy="689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graph_price_underbrace_10" descr="Editable line; source id graph_price_underbrace_10"/>
              <p:cNvCxnSpPr/>
              <p:nvPr/>
            </p:nvCxnSpPr>
            <p:spPr>
              <a:xfrm>
                <a:off x="2498272" y="1595436"/>
                <a:ext cx="1270" cy="887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graph_price_underbrace_11" descr="Editable line; source id graph_price_underbrace_11"/>
              <p:cNvCxnSpPr/>
              <p:nvPr/>
            </p:nvCxnSpPr>
            <p:spPr>
              <a:xfrm flipV="1">
                <a:off x="2499542" y="1595436"/>
                <a:ext cx="1270" cy="887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graph_price_underbrace_12" descr="Editable line; source id graph_price_underbrace_12"/>
              <p:cNvCxnSpPr/>
              <p:nvPr/>
            </p:nvCxnSpPr>
            <p:spPr>
              <a:xfrm flipV="1">
                <a:off x="2500812" y="1588537"/>
                <a:ext cx="3636" cy="689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graph_price_underbrace_13" descr="Editable line; source id graph_price_underbrace_13"/>
              <p:cNvCxnSpPr/>
              <p:nvPr/>
            </p:nvCxnSpPr>
            <p:spPr>
              <a:xfrm flipV="1">
                <a:off x="2504448" y="1583609"/>
                <a:ext cx="5738" cy="492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graph_price_underbrace_14" descr="Editable line; source id graph_price_underbrace_14"/>
              <p:cNvCxnSpPr/>
              <p:nvPr/>
            </p:nvCxnSpPr>
            <p:spPr>
              <a:xfrm flipV="1">
                <a:off x="2510186" y="1580652"/>
                <a:ext cx="7578" cy="2957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graph_price_underbrace_15" descr="Editable line; source id graph_price_underbrace_15"/>
              <p:cNvCxnSpPr/>
              <p:nvPr/>
            </p:nvCxnSpPr>
            <p:spPr>
              <a:xfrm flipV="1">
                <a:off x="2517764" y="1579667"/>
                <a:ext cx="9155" cy="98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graph_price_underbrace_16" descr="Editable line; source id graph_price_underbrace_16"/>
              <p:cNvCxnSpPr/>
              <p:nvPr/>
            </p:nvCxnSpPr>
            <p:spPr>
              <a:xfrm>
                <a:off x="2526919" y="1579667"/>
                <a:ext cx="421610" cy="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raph_price_underbrace_17" descr="Editable line; source id graph_price_underbrace_17"/>
              <p:cNvCxnSpPr/>
              <p:nvPr/>
            </p:nvCxnSpPr>
            <p:spPr>
              <a:xfrm flipV="1">
                <a:off x="2948529" y="1578988"/>
                <a:ext cx="9155" cy="67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raph_price_underbrace_18" descr="Editable line; source id graph_price_underbrace_18"/>
              <p:cNvCxnSpPr/>
              <p:nvPr/>
            </p:nvCxnSpPr>
            <p:spPr>
              <a:xfrm flipV="1">
                <a:off x="2957684" y="1576863"/>
                <a:ext cx="7578" cy="212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graph_price_underbrace_19" descr="Editable line; source id graph_price_underbrace_19"/>
              <p:cNvCxnSpPr/>
              <p:nvPr/>
            </p:nvCxnSpPr>
            <p:spPr>
              <a:xfrm flipV="1">
                <a:off x="2965262" y="1573162"/>
                <a:ext cx="5738" cy="3701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graph_price_underbrace_20" descr="Editable line; source id graph_price_underbrace_20"/>
              <p:cNvCxnSpPr/>
              <p:nvPr/>
            </p:nvCxnSpPr>
            <p:spPr>
              <a:xfrm flipV="1">
                <a:off x="2971000" y="1567752"/>
                <a:ext cx="3636" cy="541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graph_price_underbrace_21" descr="Editable line; source id graph_price_underbrace_21"/>
              <p:cNvCxnSpPr/>
              <p:nvPr/>
            </p:nvCxnSpPr>
            <p:spPr>
              <a:xfrm flipV="1">
                <a:off x="2974636" y="1560502"/>
                <a:ext cx="1270" cy="725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9" name="graph_price_label" descr="Editable text; source id graph_price_label"/>
            <p:cNvSpPr txBox="1"/>
            <p:nvPr/>
          </p:nvSpPr>
          <p:spPr>
            <a:xfrm>
              <a:off x="2158011" y="1616626"/>
              <a:ext cx="687168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graph-solved price</a:t>
              </a:r>
            </a:p>
          </p:txBody>
        </p:sp>
        <p:sp>
          <p:nvSpPr>
            <p:cNvPr id="170" name="feedback_marker" descr="Editable shape; source id feedback_marker"/>
            <p:cNvSpPr/>
            <p:nvPr/>
          </p:nvSpPr>
          <p:spPr>
            <a:xfrm>
              <a:off x="3211350" y="1555027"/>
              <a:ext cx="27377" cy="27377"/>
            </a:xfrm>
            <a:prstGeom prst="ellipse">
              <a:avLst/>
            </a:prstGeom>
            <a:solidFill>
              <a:srgbClr val="6B78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1" name="feedback_leader" descr="Editable line; source id feedback_leader"/>
            <p:cNvCxnSpPr/>
            <p:nvPr/>
          </p:nvCxnSpPr>
          <p:spPr>
            <a:xfrm>
              <a:off x="3225039" y="1582404"/>
              <a:ext cx="0" cy="43804"/>
            </a:xfrm>
            <a:prstGeom prst="line">
              <a:avLst/>
            </a:prstGeom>
            <a:ln w="4927" cap="rnd">
              <a:solidFill>
                <a:srgbClr val="6B788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2" name="feedback_price_label" descr="Editable text; source id feedback_price_label"/>
            <p:cNvSpPr txBox="1"/>
            <p:nvPr/>
          </p:nvSpPr>
          <p:spPr>
            <a:xfrm>
              <a:off x="3103895" y="1624839"/>
              <a:ext cx="717283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4106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cost-feedback price</a:t>
              </a:r>
            </a:p>
          </p:txBody>
        </p:sp>
      </p:grpSp>
      <p:grpSp>
        <p:nvGrpSpPr>
          <p:cNvPr id="277" name="update_advantage_formula" descr="Formula parts: move together; enter the group to edit individual styles"/>
          <p:cNvGrpSpPr/>
          <p:nvPr/>
        </p:nvGrpSpPr>
        <p:grpSpPr>
          <a:xfrm>
            <a:off x="1769938" y="1822640"/>
            <a:ext cx="1493429" cy="140664"/>
            <a:chOff x="1769938" y="1822640"/>
            <a:chExt cx="1493429" cy="140664"/>
          </a:xfrm>
        </p:grpSpPr>
        <p:sp>
          <p:nvSpPr>
            <p:cNvPr id="173" name="update_advantage_formula_0" descr="Editable text; source id update_advantage_formula_0"/>
            <p:cNvSpPr txBox="1"/>
            <p:nvPr/>
          </p:nvSpPr>
          <p:spPr>
            <a:xfrm>
              <a:off x="1769938" y="1826746"/>
              <a:ext cx="75971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6844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174" name="update_advantage_formula_1" descr="Editable text; source id update_advantage_formula_1"/>
            <p:cNvSpPr txBox="1"/>
            <p:nvPr/>
          </p:nvSpPr>
          <p:spPr>
            <a:xfrm>
              <a:off x="1832906" y="1881501"/>
              <a:ext cx="161728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update</a:t>
              </a:r>
            </a:p>
          </p:txBody>
        </p:sp>
        <p:sp>
          <p:nvSpPr>
            <p:cNvPr id="175" name="update_advantage_formula_2" descr="Editable text; source id update_advantage_formula_2"/>
            <p:cNvSpPr txBox="1"/>
            <p:nvPr/>
          </p:nvSpPr>
          <p:spPr>
            <a:xfrm>
              <a:off x="2032760" y="1826746"/>
              <a:ext cx="59695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=</a:t>
              </a:r>
            </a:p>
          </p:txBody>
        </p:sp>
        <p:sp>
          <p:nvSpPr>
            <p:cNvPr id="176" name="update_advantage_formula_3" descr="Editable text; source id update_advantage_formula_3"/>
            <p:cNvSpPr txBox="1"/>
            <p:nvPr/>
          </p:nvSpPr>
          <p:spPr>
            <a:xfrm>
              <a:off x="2117629" y="1826746"/>
              <a:ext cx="36959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(</a:t>
              </a:r>
            </a:p>
          </p:txBody>
        </p:sp>
        <p:sp>
          <p:nvSpPr>
            <p:cNvPr id="177" name="update_advantage_formula_4" descr="Editable text; source id update_advantage_formula_4"/>
            <p:cNvSpPr txBox="1"/>
            <p:nvPr/>
          </p:nvSpPr>
          <p:spPr>
            <a:xfrm>
              <a:off x="2150482" y="1826746"/>
              <a:ext cx="75971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6844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178" name="update_advantage_formula_5" descr="Editable text; source id update_advantage_formula_5"/>
            <p:cNvSpPr txBox="1"/>
            <p:nvPr/>
          </p:nvSpPr>
          <p:spPr>
            <a:xfrm>
              <a:off x="2218925" y="1884238"/>
              <a:ext cx="27377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r</a:t>
              </a:r>
            </a:p>
          </p:txBody>
        </p:sp>
        <p:sp>
          <p:nvSpPr>
            <p:cNvPr id="179" name="update_advantage_formula_6" descr="Editable text; source id update_advantage_formula_6"/>
            <p:cNvSpPr txBox="1"/>
            <p:nvPr/>
          </p:nvSpPr>
          <p:spPr>
            <a:xfrm>
              <a:off x="2265467" y="1826746"/>
              <a:ext cx="59695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−</a:t>
              </a:r>
            </a:p>
          </p:txBody>
        </p:sp>
        <p:sp>
          <p:nvSpPr>
            <p:cNvPr id="180" name="update_advantage_formula_7" descr="Editable text; source id update_advantage_formula_7"/>
            <p:cNvSpPr txBox="1"/>
            <p:nvPr/>
          </p:nvSpPr>
          <p:spPr>
            <a:xfrm>
              <a:off x="2350336" y="1822640"/>
              <a:ext cx="78025" cy="123115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937"/>
                </a:lnSpc>
                <a:spcBef>
                  <a:spcPts val="0"/>
                </a:spcBef>
                <a:spcAft>
                  <a:spcPts val="0"/>
                </a:spcAft>
                <a:defRPr sz="81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1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∑</a:t>
              </a:r>
            </a:p>
          </p:txBody>
        </p:sp>
        <p:sp>
          <p:nvSpPr>
            <p:cNvPr id="181" name="update_advantage_formula_8" descr="Editable text; source id update_advantage_formula_8"/>
            <p:cNvSpPr txBox="1"/>
            <p:nvPr/>
          </p:nvSpPr>
          <p:spPr>
            <a:xfrm>
              <a:off x="2432468" y="1884238"/>
              <a:ext cx="31483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  <p:sp>
          <p:nvSpPr>
            <p:cNvPr id="182" name="update_advantage_formula_9" descr="Editable text; source id update_advantage_formula_9"/>
            <p:cNvSpPr txBox="1"/>
            <p:nvPr/>
          </p:nvSpPr>
          <p:spPr>
            <a:xfrm>
              <a:off x="2492698" y="1826746"/>
              <a:ext cx="52273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4106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λ</a:t>
              </a:r>
            </a:p>
          </p:txBody>
        </p:sp>
        <p:sp>
          <p:nvSpPr>
            <p:cNvPr id="183" name="update_advantage_formula_10" descr="Editable text; source id update_advantage_formula_10"/>
            <p:cNvSpPr txBox="1"/>
            <p:nvPr/>
          </p:nvSpPr>
          <p:spPr>
            <a:xfrm>
              <a:off x="2547452" y="1884238"/>
              <a:ext cx="31483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  <p:sp>
          <p:nvSpPr>
            <p:cNvPr id="184" name="update_advantage_formula_11" descr="Editable text; source id update_advantage_formula_11"/>
            <p:cNvSpPr txBox="1"/>
            <p:nvPr/>
          </p:nvSpPr>
          <p:spPr>
            <a:xfrm>
              <a:off x="2585780" y="1826746"/>
              <a:ext cx="75971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6844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185" name="update_advantage_formula_12" descr="Editable text; source id update_advantage_formula_12"/>
            <p:cNvSpPr txBox="1"/>
            <p:nvPr/>
          </p:nvSpPr>
          <p:spPr>
            <a:xfrm>
              <a:off x="2654223" y="1884238"/>
              <a:ext cx="30350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  <p:sp>
          <p:nvSpPr>
            <p:cNvPr id="186" name="update_advantage_formula_13" descr="Editable text; source id update_advantage_formula_13"/>
            <p:cNvSpPr txBox="1"/>
            <p:nvPr/>
          </p:nvSpPr>
          <p:spPr>
            <a:xfrm>
              <a:off x="2681601" y="1908194"/>
              <a:ext cx="24639" cy="55110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401"/>
                </a:lnSpc>
                <a:spcBef>
                  <a:spcPts val="0"/>
                </a:spcBef>
                <a:spcAft>
                  <a:spcPts val="0"/>
                </a:spcAft>
                <a:defRPr sz="349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349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  <p:sp>
          <p:nvSpPr>
            <p:cNvPr id="187" name="update_advantage_formula_14" descr="Editable text; source id update_advantage_formula_14"/>
            <p:cNvSpPr txBox="1"/>
            <p:nvPr/>
          </p:nvSpPr>
          <p:spPr>
            <a:xfrm>
              <a:off x="2711716" y="1826746"/>
              <a:ext cx="36959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)</a:t>
              </a:r>
            </a:p>
          </p:txBody>
        </p:sp>
        <p:sp>
          <p:nvSpPr>
            <p:cNvPr id="188" name="update_advantage_formula_15" descr="Editable text; source id update_advantage_formula_15"/>
            <p:cNvSpPr txBox="1"/>
            <p:nvPr/>
          </p:nvSpPr>
          <p:spPr>
            <a:xfrm>
              <a:off x="2760995" y="1826746"/>
              <a:ext cx="32168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/</a:t>
              </a:r>
            </a:p>
          </p:txBody>
        </p:sp>
        <p:sp>
          <p:nvSpPr>
            <p:cNvPr id="189" name="update_advantage_formula_16" descr="Editable text; source id update_advantage_formula_16"/>
            <p:cNvSpPr txBox="1"/>
            <p:nvPr/>
          </p:nvSpPr>
          <p:spPr>
            <a:xfrm>
              <a:off x="2815749" y="1826746"/>
              <a:ext cx="36959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(</a:t>
              </a:r>
            </a:p>
          </p:txBody>
        </p:sp>
        <p:sp>
          <p:nvSpPr>
            <p:cNvPr id="190" name="update_advantage_formula_17" descr="Editable text; source id update_advantage_formula_17"/>
            <p:cNvSpPr txBox="1"/>
            <p:nvPr/>
          </p:nvSpPr>
          <p:spPr>
            <a:xfrm>
              <a:off x="2848602" y="1826746"/>
              <a:ext cx="53385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1</a:t>
              </a:r>
            </a:p>
          </p:txBody>
        </p:sp>
        <p:sp>
          <p:nvSpPr>
            <p:cNvPr id="191" name="update_advantage_formula_18" descr="Editable text; source id update_advantage_formula_18"/>
            <p:cNvSpPr txBox="1"/>
            <p:nvPr/>
          </p:nvSpPr>
          <p:spPr>
            <a:xfrm>
              <a:off x="2914307" y="1826746"/>
              <a:ext cx="59695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+</a:t>
              </a:r>
            </a:p>
          </p:txBody>
        </p:sp>
        <p:sp>
          <p:nvSpPr>
            <p:cNvPr id="192" name="update_advantage_formula_19" descr="Editable text; source id update_advantage_formula_19"/>
            <p:cNvSpPr txBox="1"/>
            <p:nvPr/>
          </p:nvSpPr>
          <p:spPr>
            <a:xfrm>
              <a:off x="2996439" y="1822640"/>
              <a:ext cx="78025" cy="123115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937"/>
                </a:lnSpc>
                <a:spcBef>
                  <a:spcPts val="0"/>
                </a:spcBef>
                <a:spcAft>
                  <a:spcPts val="0"/>
                </a:spcAft>
                <a:defRPr sz="81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14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∑</a:t>
              </a:r>
            </a:p>
          </p:txBody>
        </p:sp>
        <p:sp>
          <p:nvSpPr>
            <p:cNvPr id="193" name="update_advantage_formula_20" descr="Editable text; source id update_advantage_formula_20"/>
            <p:cNvSpPr txBox="1"/>
            <p:nvPr/>
          </p:nvSpPr>
          <p:spPr>
            <a:xfrm>
              <a:off x="3078571" y="1884238"/>
              <a:ext cx="31483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  <p:sp>
          <p:nvSpPr>
            <p:cNvPr id="194" name="update_advantage_formula_21" descr="Editable text; source id update_advantage_formula_21"/>
            <p:cNvSpPr txBox="1"/>
            <p:nvPr/>
          </p:nvSpPr>
          <p:spPr>
            <a:xfrm>
              <a:off x="3133325" y="1826746"/>
              <a:ext cx="52273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4106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λ</a:t>
              </a:r>
            </a:p>
          </p:txBody>
        </p:sp>
        <p:sp>
          <p:nvSpPr>
            <p:cNvPr id="195" name="update_advantage_formula_22" descr="Editable text; source id update_advantage_formula_22"/>
            <p:cNvSpPr txBox="1"/>
            <p:nvPr/>
          </p:nvSpPr>
          <p:spPr>
            <a:xfrm>
              <a:off x="3188080" y="1884238"/>
              <a:ext cx="31483" cy="7211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535"/>
                </a:lnSpc>
                <a:spcBef>
                  <a:spcPts val="0"/>
                </a:spcBef>
                <a:spcAft>
                  <a:spcPts val="0"/>
                </a:spcAft>
                <a:def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65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k</a:t>
              </a:r>
            </a:p>
          </p:txBody>
        </p:sp>
        <p:sp>
          <p:nvSpPr>
            <p:cNvPr id="196" name="update_advantage_formula_23" descr="Editable text; source id update_advantage_formula_23"/>
            <p:cNvSpPr txBox="1"/>
            <p:nvPr/>
          </p:nvSpPr>
          <p:spPr>
            <a:xfrm>
              <a:off x="3226408" y="1826746"/>
              <a:ext cx="36959" cy="117448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92"/>
                </a:lnSpc>
                <a:spcBef>
                  <a:spcPts val="0"/>
                </a:spcBef>
                <a:spcAft>
                  <a:spcPts val="0"/>
                </a:spcAft>
                <a:def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6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)</a:t>
              </a:r>
            </a:p>
          </p:txBody>
        </p:sp>
      </p:grpSp>
      <p:grpSp>
        <p:nvGrpSpPr>
          <p:cNvPr id="280" name="zero_clip_regimes" descr="Zero graph clip gives fixed-penalty or adaptive-Lagrangian price settings"/>
          <p:cNvGrpSpPr/>
          <p:nvPr/>
        </p:nvGrpSpPr>
        <p:grpSpPr>
          <a:xfrm>
            <a:off x="1413548" y="2010858"/>
            <a:ext cx="2288197" cy="287324"/>
            <a:chOff x="1413548" y="2010858"/>
            <a:chExt cx="2288197" cy="287324"/>
          </a:xfrm>
        </p:grpSpPr>
        <p:sp>
          <p:nvSpPr>
            <p:cNvPr id="197" name="zero_clip_marker" descr="Editable shape; source id zero_clip_marker"/>
            <p:cNvSpPr/>
            <p:nvPr/>
          </p:nvSpPr>
          <p:spPr>
            <a:xfrm>
              <a:off x="2498173" y="2010858"/>
              <a:ext cx="30114" cy="30114"/>
            </a:xfrm>
            <a:prstGeom prst="ellipse">
              <a:avLst/>
            </a:prstGeom>
            <a:solidFill>
              <a:srgbClr val="2532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8" name="zero_clip_stem" descr="Editable line; source id zero_clip_stem"/>
            <p:cNvCxnSpPr/>
            <p:nvPr/>
          </p:nvCxnSpPr>
          <p:spPr>
            <a:xfrm>
              <a:off x="2513231" y="2042342"/>
              <a:ext cx="0" cy="71181"/>
            </a:xfrm>
            <a:prstGeom prst="line">
              <a:avLst/>
            </a:prstGeom>
            <a:ln w="5475" cap="rnd">
              <a:solidFill>
                <a:srgbClr val="25323A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zero_clip_label" descr="Editable text; source id zero_clip_label"/>
            <p:cNvSpPr txBox="1"/>
            <p:nvPr/>
          </p:nvSpPr>
          <p:spPr>
            <a:xfrm>
              <a:off x="2548821" y="2010858"/>
              <a:ext cx="195362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 = 0</a:t>
              </a:r>
            </a:p>
          </p:txBody>
        </p:sp>
        <p:grpSp>
          <p:nvGrpSpPr>
            <p:cNvPr id="278" name="fixed_beta_branch" descr="Native line segments following the measured source brace"/>
            <p:cNvGrpSpPr/>
            <p:nvPr/>
          </p:nvGrpSpPr>
          <p:grpSpPr>
            <a:xfrm>
              <a:off x="1908194" y="2113523"/>
              <a:ext cx="605037" cy="54754"/>
              <a:chOff x="1908194" y="2113523"/>
              <a:chExt cx="605037" cy="54754"/>
            </a:xfrm>
          </p:grpSpPr>
          <p:cxnSp>
            <p:nvCxnSpPr>
              <p:cNvPr id="200" name="fixed_beta_branch_00" descr="Editable line; source id fixed_beta_branch_00"/>
              <p:cNvCxnSpPr/>
              <p:nvPr/>
            </p:nvCxnSpPr>
            <p:spPr>
              <a:xfrm flipH="1">
                <a:off x="2511960" y="2113523"/>
                <a:ext cx="1271" cy="887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fixed_beta_branch_01" descr="Editable line; source id fixed_beta_branch_01"/>
              <p:cNvCxnSpPr/>
              <p:nvPr/>
            </p:nvCxnSpPr>
            <p:spPr>
              <a:xfrm flipH="1">
                <a:off x="2508325" y="2122393"/>
                <a:ext cx="3635" cy="689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fixed_beta_branch_02" descr="Editable line; source id fixed_beta_branch_02"/>
              <p:cNvCxnSpPr/>
              <p:nvPr/>
            </p:nvCxnSpPr>
            <p:spPr>
              <a:xfrm flipH="1">
                <a:off x="2502586" y="2129292"/>
                <a:ext cx="5739" cy="492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fixed_beta_branch_03" descr="Editable line; source id fixed_beta_branch_03"/>
              <p:cNvCxnSpPr/>
              <p:nvPr/>
            </p:nvCxnSpPr>
            <p:spPr>
              <a:xfrm flipH="1">
                <a:off x="2495008" y="2134220"/>
                <a:ext cx="7578" cy="2957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fixed_beta_branch_04" descr="Editable line; source id fixed_beta_branch_04"/>
              <p:cNvCxnSpPr/>
              <p:nvPr/>
            </p:nvCxnSpPr>
            <p:spPr>
              <a:xfrm flipH="1">
                <a:off x="2485853" y="2137177"/>
                <a:ext cx="9155" cy="98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fixed_beta_branch_05" descr="Editable line; source id fixed_beta_branch_05"/>
              <p:cNvCxnSpPr/>
              <p:nvPr/>
            </p:nvCxnSpPr>
            <p:spPr>
              <a:xfrm flipH="1">
                <a:off x="1938308" y="2138162"/>
                <a:ext cx="547545" cy="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fixed_beta_branch_06" descr="Editable line; source id fixed_beta_branch_06"/>
              <p:cNvCxnSpPr/>
              <p:nvPr/>
            </p:nvCxnSpPr>
            <p:spPr>
              <a:xfrm flipH="1">
                <a:off x="1927818" y="2138162"/>
                <a:ext cx="10490" cy="1293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fixed_beta_branch_07" descr="Editable line; source id fixed_beta_branch_07"/>
              <p:cNvCxnSpPr/>
              <p:nvPr/>
            </p:nvCxnSpPr>
            <p:spPr>
              <a:xfrm flipH="1">
                <a:off x="1919429" y="2139455"/>
                <a:ext cx="8389" cy="378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fixed_beta_branch_08" descr="Editable line; source id fixed_beta_branch_08"/>
              <p:cNvCxnSpPr/>
              <p:nvPr/>
            </p:nvCxnSpPr>
            <p:spPr>
              <a:xfrm flipH="1">
                <a:off x="1913275" y="2143244"/>
                <a:ext cx="6154" cy="6154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fixed_beta_branch_09" descr="Editable line; source id fixed_beta_branch_09"/>
              <p:cNvCxnSpPr/>
              <p:nvPr/>
            </p:nvCxnSpPr>
            <p:spPr>
              <a:xfrm flipH="1">
                <a:off x="1909486" y="2149398"/>
                <a:ext cx="3789" cy="838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fixed_beta_branch_10" descr="Editable line; source id fixed_beta_branch_10"/>
              <p:cNvCxnSpPr/>
              <p:nvPr/>
            </p:nvCxnSpPr>
            <p:spPr>
              <a:xfrm flipH="1">
                <a:off x="1908194" y="2157786"/>
                <a:ext cx="1292" cy="10491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9" name="adaptive_beta_branch" descr="Native line segments following the measured source brace"/>
            <p:cNvGrpSpPr/>
            <p:nvPr/>
          </p:nvGrpSpPr>
          <p:grpSpPr>
            <a:xfrm>
              <a:off x="2513231" y="2113523"/>
              <a:ext cx="610512" cy="54754"/>
              <a:chOff x="2513231" y="2113523"/>
              <a:chExt cx="610512" cy="54754"/>
            </a:xfrm>
          </p:grpSpPr>
          <p:cxnSp>
            <p:nvCxnSpPr>
              <p:cNvPr id="211" name="adaptive_beta_branch_00" descr="Editable line; source id adaptive_beta_branch_00"/>
              <p:cNvCxnSpPr/>
              <p:nvPr/>
            </p:nvCxnSpPr>
            <p:spPr>
              <a:xfrm>
                <a:off x="2513231" y="2113523"/>
                <a:ext cx="1270" cy="887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adaptive_beta_branch_01" descr="Editable line; source id adaptive_beta_branch_01"/>
              <p:cNvCxnSpPr/>
              <p:nvPr/>
            </p:nvCxnSpPr>
            <p:spPr>
              <a:xfrm>
                <a:off x="2514501" y="2122393"/>
                <a:ext cx="3636" cy="689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adaptive_beta_branch_02" descr="Editable line; source id adaptive_beta_branch_02"/>
              <p:cNvCxnSpPr/>
              <p:nvPr/>
            </p:nvCxnSpPr>
            <p:spPr>
              <a:xfrm>
                <a:off x="2518137" y="2129292"/>
                <a:ext cx="5738" cy="492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adaptive_beta_branch_03" descr="Editable line; source id adaptive_beta_branch_03"/>
              <p:cNvCxnSpPr/>
              <p:nvPr/>
            </p:nvCxnSpPr>
            <p:spPr>
              <a:xfrm>
                <a:off x="2523875" y="2134220"/>
                <a:ext cx="7578" cy="2957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adaptive_beta_branch_04" descr="Editable line; source id adaptive_beta_branch_04"/>
              <p:cNvCxnSpPr/>
              <p:nvPr/>
            </p:nvCxnSpPr>
            <p:spPr>
              <a:xfrm>
                <a:off x="2531453" y="2137177"/>
                <a:ext cx="9155" cy="985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adaptive_beta_branch_05" descr="Editable line; source id adaptive_beta_branch_05"/>
              <p:cNvCxnSpPr/>
              <p:nvPr/>
            </p:nvCxnSpPr>
            <p:spPr>
              <a:xfrm>
                <a:off x="2540608" y="2138162"/>
                <a:ext cx="550283" cy="0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adaptive_beta_branch_06" descr="Editable line; source id adaptive_beta_branch_06"/>
              <p:cNvCxnSpPr/>
              <p:nvPr/>
            </p:nvCxnSpPr>
            <p:spPr>
              <a:xfrm>
                <a:off x="3090891" y="2138162"/>
                <a:ext cx="11826" cy="1293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adaptive_beta_branch_07" descr="Editable line; source id adaptive_beta_branch_07"/>
              <p:cNvCxnSpPr/>
              <p:nvPr/>
            </p:nvCxnSpPr>
            <p:spPr>
              <a:xfrm>
                <a:off x="3102717" y="2139455"/>
                <a:ext cx="9199" cy="3789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adaptive_beta_branch_08" descr="Editable line; source id adaptive_beta_branch_08"/>
              <p:cNvCxnSpPr/>
              <p:nvPr/>
            </p:nvCxnSpPr>
            <p:spPr>
              <a:xfrm>
                <a:off x="3111916" y="2143244"/>
                <a:ext cx="6571" cy="6154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adaptive_beta_branch_09" descr="Editable line; source id adaptive_beta_branch_09"/>
              <p:cNvCxnSpPr/>
              <p:nvPr/>
            </p:nvCxnSpPr>
            <p:spPr>
              <a:xfrm>
                <a:off x="3118487" y="2149398"/>
                <a:ext cx="3942" cy="8388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adaptive_beta_branch_10" descr="Editable line; source id adaptive_beta_branch_10"/>
              <p:cNvCxnSpPr/>
              <p:nvPr/>
            </p:nvCxnSpPr>
            <p:spPr>
              <a:xfrm>
                <a:off x="3122429" y="2157786"/>
                <a:ext cx="1314" cy="10491"/>
              </a:xfrm>
              <a:prstGeom prst="line">
                <a:avLst/>
              </a:prstGeom>
              <a:ln w="5475" cap="rnd">
                <a:solidFill>
                  <a:srgbClr val="25323A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2" name="fixed_beta_label" descr="Editable text; source id fixed_beta_label"/>
            <p:cNvSpPr txBox="1"/>
            <p:nvPr/>
          </p:nvSpPr>
          <p:spPr>
            <a:xfrm>
              <a:off x="1413548" y="2186073"/>
              <a:ext cx="811339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Fixed </a:t>
              </a:r>
              <a:r>
                <a: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β</a:t>
              </a: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: fixed penalty</a:t>
              </a:r>
            </a:p>
          </p:txBody>
        </p:sp>
        <p:sp>
          <p:nvSpPr>
            <p:cNvPr id="223" name="adaptive_beta_label" descr="Editable text; source id adaptive_beta_label"/>
            <p:cNvSpPr txBox="1"/>
            <p:nvPr/>
          </p:nvSpPr>
          <p:spPr>
            <a:xfrm>
              <a:off x="2827727" y="2186073"/>
              <a:ext cx="874018" cy="112109"/>
            </a:xfrm>
            <a:prstGeom prst="rect">
              <a:avLst/>
            </a:prstGeom>
            <a:noFill/>
            <a:effectLst/>
          </p:spPr>
          <p:txBody>
            <a:bodyPr wrap="none" anchor="t" tIns="2737" rIns="0" bIns="0" lIns="5475" anchorCtr="0" vertOverflow="overflow">
              <a:noAutofit/>
            </a:bodyPr>
            <a:lstStyle/>
            <a:p>
              <a:pPr algn="l" fontAlgn="base">
                <a:lnSpc>
                  <a:spcPts val="818"/>
                </a:lnSpc>
                <a:spcBef>
                  <a:spcPts val="0"/>
                </a:spcBef>
                <a:spcAft>
                  <a:spcPts val="0"/>
                </a:spcAft>
                <a:def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Adaptive </a:t>
              </a:r>
              <a:r>
                <a:rPr sz="711" b="0" i="1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β</a:t>
              </a:r>
              <a:r>
                <a:rPr sz="711" b="0" i="0" lang="zh-CN" dirty="0">
                  <a:solidFill>
                    <a:srgbClr val="25323A"/>
                  </a:solidFill>
                  <a:latin typeface="Liberation Serif"/>
                  <a:ea typeface="Liberation Serif"/>
                  <a:cs typeface="Liberation Serif"/>
                </a:rPr>
                <a:t>: Lagrangian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SafeOT-Dual shared price interface — paper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