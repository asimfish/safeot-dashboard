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029200" cy="245436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39" name="constraint_station" descr="Editable station: title, same-support graph, and regime label"/>
          <p:cNvGrpSpPr/>
          <p:nvPr/>
        </p:nvGrpSpPr>
        <p:grpSpPr>
          <a:xfrm>
            <a:off x="462675" y="15057"/>
            <a:ext cx="917137" cy="906049"/>
            <a:chOff x="462675" y="15057"/>
            <a:chExt cx="917137" cy="906049"/>
          </a:xfrm>
        </p:grpSpPr>
        <p:sp>
          <p:nvSpPr>
            <p:cNvPr id="2" name="constraint_title" descr="Editable text; source id constraint_title"/>
            <p:cNvSpPr txBox="1"/>
            <p:nvPr/>
          </p:nvSpPr>
          <p:spPr>
            <a:xfrm>
              <a:off x="511270" y="15057"/>
              <a:ext cx="826792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Constraint-like limit</a:t>
              </a:r>
            </a:p>
          </p:txBody>
        </p:sp>
        <p:grpSp>
          <p:nvGrpSpPr>
            <p:cNvPr id="238" name="constraint_graph" descr="Same eight-edge graph; schematic line widths only"/>
            <p:cNvGrpSpPr/>
            <p:nvPr/>
          </p:nvGrpSpPr>
          <p:grpSpPr>
            <a:xfrm>
              <a:off x="462675" y="156050"/>
              <a:ext cx="917137" cy="550282"/>
              <a:chOff x="462675" y="156050"/>
              <a:chExt cx="917137" cy="550282"/>
            </a:xfrm>
          </p:grpSpPr>
          <p:grpSp>
            <p:nvGrpSpPr>
              <p:cNvPr id="224" name="constraint_edge_1_2" descr="Directed conceptual edge 1 to 2"/>
              <p:cNvGrpSpPr/>
              <p:nvPr/>
            </p:nvGrpSpPr>
            <p:grpSpPr>
              <a:xfrm>
                <a:off x="566571" y="261647"/>
                <a:ext cx="123473" cy="128283"/>
                <a:chOff x="566571" y="261647"/>
                <a:chExt cx="123473" cy="128283"/>
              </a:xfrm>
            </p:grpSpPr>
            <p:cxnSp>
              <p:nvCxnSpPr>
                <p:cNvPr id="3" name="constraint_edge_1_2_shaft" descr="Editable line; source id constraint_edge_1_2_shaft"/>
                <p:cNvCxnSpPr/>
                <p:nvPr/>
              </p:nvCxnSpPr>
              <p:spPr>
                <a:xfrm flipV="1">
                  <a:off x="566571" y="261647"/>
                  <a:ext cx="123473" cy="128283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" name="constraint_edge_1_2_direction" descr="Editable shape; source id constraint_edge_1_2_direction"/>
                <p:cNvSpPr/>
                <p:nvPr/>
              </p:nvSpPr>
              <p:spPr>
                <a:xfrm>
                  <a:off x="609779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5" name="constraint_edge_2_3" descr="Directed conceptual edge 2 to 3"/>
              <p:cNvGrpSpPr/>
              <p:nvPr/>
            </p:nvGrpSpPr>
            <p:grpSpPr>
              <a:xfrm>
                <a:off x="796677" y="198485"/>
                <a:ext cx="249133" cy="35590"/>
                <a:chOff x="796677" y="198485"/>
                <a:chExt cx="249133" cy="35590"/>
              </a:xfrm>
            </p:grpSpPr>
            <p:cxnSp>
              <p:nvCxnSpPr>
                <p:cNvPr id="5" name="constraint_edge_2_3_shaft" descr="Editable line; source id constraint_edge_2_3_shaft"/>
                <p:cNvCxnSpPr/>
                <p:nvPr/>
              </p:nvCxnSpPr>
              <p:spPr>
                <a:xfrm>
                  <a:off x="796677" y="216280"/>
                  <a:ext cx="249133" cy="0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constraint_edge_2_3_direction" descr="Editable shape; source id constraint_edge_2_3_direction"/>
                <p:cNvSpPr/>
                <p:nvPr/>
              </p:nvSpPr>
              <p:spPr>
                <a:xfrm>
                  <a:off x="919410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6" name="constraint_edge_3_4" descr="Directed conceptual edge 3 to 4"/>
              <p:cNvGrpSpPr/>
              <p:nvPr/>
            </p:nvGrpSpPr>
            <p:grpSpPr>
              <a:xfrm>
                <a:off x="1152444" y="261647"/>
                <a:ext cx="123473" cy="128283"/>
                <a:chOff x="1152444" y="261647"/>
                <a:chExt cx="123473" cy="128283"/>
              </a:xfrm>
            </p:grpSpPr>
            <p:cxnSp>
              <p:nvCxnSpPr>
                <p:cNvPr id="7" name="constraint_edge_3_4_shaft" descr="Editable line; source id constraint_edge_3_4_shaft"/>
                <p:cNvCxnSpPr/>
                <p:nvPr/>
              </p:nvCxnSpPr>
              <p:spPr>
                <a:xfrm>
                  <a:off x="1152444" y="261647"/>
                  <a:ext cx="123473" cy="128283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constraint_edge_3_4_direction" descr="Editable shape; source id constraint_edge_3_4_direction"/>
                <p:cNvSpPr/>
                <p:nvPr/>
              </p:nvSpPr>
              <p:spPr>
                <a:xfrm>
                  <a:off x="1195652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7" name="constraint_edge_1_5" descr="Directed conceptual edge 1 to 5"/>
              <p:cNvGrpSpPr/>
              <p:nvPr/>
            </p:nvGrpSpPr>
            <p:grpSpPr>
              <a:xfrm>
                <a:off x="567430" y="479823"/>
                <a:ext cx="121755" cy="121755"/>
                <a:chOff x="567430" y="479823"/>
                <a:chExt cx="121755" cy="121755"/>
              </a:xfrm>
            </p:grpSpPr>
            <p:cxnSp>
              <p:nvCxnSpPr>
                <p:cNvPr id="9" name="constraint_edge_1_5_shaft" descr="Editable line; source id constraint_edge_1_5_shaft"/>
                <p:cNvCxnSpPr/>
                <p:nvPr/>
              </p:nvCxnSpPr>
              <p:spPr>
                <a:xfrm>
                  <a:off x="567430" y="479823"/>
                  <a:ext cx="121755" cy="121755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onstraint_edge_1_5_direction" descr="Editable shape; source id constraint_edge_1_5_direction"/>
                <p:cNvSpPr/>
                <p:nvPr/>
              </p:nvSpPr>
              <p:spPr>
                <a:xfrm>
                  <a:off x="616306" y="528698"/>
                  <a:ext cx="3097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11314">
                      <a:moveTo>
                        <a:pt x="11314" y="11314"/>
                      </a:moveTo>
                      <a:lnTo>
                        <a:pt x="0" y="7071"/>
                      </a:lnTo>
                      <a:lnTo>
                        <a:pt x="7071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8" name="constraint_edge_5_6" descr="Directed conceptual edge 5 to 6"/>
              <p:cNvGrpSpPr/>
              <p:nvPr/>
            </p:nvGrpSpPr>
            <p:grpSpPr>
              <a:xfrm>
                <a:off x="796677" y="632414"/>
                <a:ext cx="249133" cy="27377"/>
                <a:chOff x="796677" y="632414"/>
                <a:chExt cx="249133" cy="27377"/>
              </a:xfrm>
            </p:grpSpPr>
            <p:cxnSp>
              <p:nvCxnSpPr>
                <p:cNvPr id="11" name="constraint_edge_5_6_shaft" descr="Editable line; source id constraint_edge_5_6_shaft"/>
                <p:cNvCxnSpPr/>
                <p:nvPr/>
              </p:nvCxnSpPr>
              <p:spPr>
                <a:xfrm>
                  <a:off x="796677" y="646102"/>
                  <a:ext cx="249133" cy="0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constraint_edge_5_6_direction" descr="Editable shape; source id constraint_edge_5_6_direction"/>
                <p:cNvSpPr/>
                <p:nvPr/>
              </p:nvSpPr>
              <p:spPr>
                <a:xfrm>
                  <a:off x="924885" y="632414"/>
                  <a:ext cx="30115" cy="27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0" h="10000">
                      <a:moveTo>
                        <a:pt x="11000" y="5000"/>
                      </a:moveTo>
                      <a:lnTo>
                        <a:pt x="0" y="10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9" name="constraint_edge_6_4" descr="Directed conceptual edge 6 to 4"/>
              <p:cNvGrpSpPr/>
              <p:nvPr/>
            </p:nvGrpSpPr>
            <p:grpSpPr>
              <a:xfrm>
                <a:off x="1153303" y="479823"/>
                <a:ext cx="121755" cy="121755"/>
                <a:chOff x="1153303" y="479823"/>
                <a:chExt cx="121755" cy="121755"/>
              </a:xfrm>
            </p:grpSpPr>
            <p:cxnSp>
              <p:nvCxnSpPr>
                <p:cNvPr id="13" name="constraint_edge_6_4_shaft" descr="Editable line; source id constraint_edge_6_4_shaft"/>
                <p:cNvCxnSpPr/>
                <p:nvPr/>
              </p:nvCxnSpPr>
              <p:spPr>
                <a:xfrm flipV="1">
                  <a:off x="1153303" y="479823"/>
                  <a:ext cx="121755" cy="121755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constraint_edge_6_4_direction" descr="Editable shape; source id constraint_edge_6_4_direction"/>
                <p:cNvSpPr/>
                <p:nvPr/>
              </p:nvSpPr>
              <p:spPr>
                <a:xfrm>
                  <a:off x="1202179" y="521728"/>
                  <a:ext cx="3097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11314">
                      <a:moveTo>
                        <a:pt x="11314" y="0"/>
                      </a:moveTo>
                      <a:lnTo>
                        <a:pt x="7071" y="11314"/>
                      </a:lnTo>
                      <a:lnTo>
                        <a:pt x="0" y="4243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0" name="constraint_edge_2_5" descr="Directed conceptual edge 2 to 5"/>
              <p:cNvGrpSpPr/>
              <p:nvPr/>
            </p:nvGrpSpPr>
            <p:grpSpPr>
              <a:xfrm>
                <a:off x="720022" y="279247"/>
                <a:ext cx="27377" cy="303888"/>
                <a:chOff x="720022" y="279247"/>
                <a:chExt cx="27377" cy="303888"/>
              </a:xfrm>
            </p:grpSpPr>
            <p:cxnSp>
              <p:nvCxnSpPr>
                <p:cNvPr id="15" name="constraint_edge_2_5_shaft" descr="Editable line; source id constraint_edge_2_5_shaft"/>
                <p:cNvCxnSpPr/>
                <p:nvPr/>
              </p:nvCxnSpPr>
              <p:spPr>
                <a:xfrm>
                  <a:off x="733710" y="279247"/>
                  <a:ext cx="0" cy="303888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constraint_edge_2_5_direction" descr="Editable shape; source id constraint_edge_2_5_direction"/>
                <p:cNvSpPr/>
                <p:nvPr/>
              </p:nvSpPr>
              <p:spPr>
                <a:xfrm>
                  <a:off x="720022" y="439761"/>
                  <a:ext cx="27377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1000">
                      <a:moveTo>
                        <a:pt x="5000" y="11000"/>
                      </a:moveTo>
                      <a:lnTo>
                        <a:pt x="0" y="0"/>
                      </a:lnTo>
                      <a:lnTo>
                        <a:pt x="1000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1" name="constraint_edge_3_6" descr="Directed conceptual edge 3 to 6"/>
              <p:cNvGrpSpPr/>
              <p:nvPr/>
            </p:nvGrpSpPr>
            <p:grpSpPr>
              <a:xfrm>
                <a:off x="1095090" y="279247"/>
                <a:ext cx="27377" cy="303888"/>
                <a:chOff x="1095090" y="279247"/>
                <a:chExt cx="27377" cy="303888"/>
              </a:xfrm>
            </p:grpSpPr>
            <p:cxnSp>
              <p:nvCxnSpPr>
                <p:cNvPr id="17" name="constraint_edge_3_6_shaft" descr="Editable line; source id constraint_edge_3_6_shaft"/>
                <p:cNvCxnSpPr/>
                <p:nvPr/>
              </p:nvCxnSpPr>
              <p:spPr>
                <a:xfrm>
                  <a:off x="1108778" y="279247"/>
                  <a:ext cx="0" cy="303888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straint_edge_3_6_direction" descr="Editable shape; source id constraint_edge_3_6_direction"/>
                <p:cNvSpPr/>
                <p:nvPr/>
              </p:nvSpPr>
              <p:spPr>
                <a:xfrm>
                  <a:off x="1095090" y="439761"/>
                  <a:ext cx="27377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1000">
                      <a:moveTo>
                        <a:pt x="5000" y="11000"/>
                      </a:moveTo>
                      <a:lnTo>
                        <a:pt x="0" y="0"/>
                      </a:lnTo>
                      <a:lnTo>
                        <a:pt x="1000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2" name="constraint_node_1" descr="Native vertex circle and editable index"/>
              <p:cNvGrpSpPr/>
              <p:nvPr/>
            </p:nvGrpSpPr>
            <p:grpSpPr>
              <a:xfrm>
                <a:off x="462675" y="375068"/>
                <a:ext cx="120459" cy="120459"/>
                <a:chOff x="462675" y="375068"/>
                <a:chExt cx="120459" cy="120459"/>
              </a:xfrm>
            </p:grpSpPr>
            <p:sp>
              <p:nvSpPr>
                <p:cNvPr id="19" name="constraint_node_1_body" descr="Editable shape; source id constraint_node_1_body"/>
                <p:cNvSpPr/>
                <p:nvPr/>
              </p:nvSpPr>
              <p:spPr>
                <a:xfrm>
                  <a:off x="462675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" name="constraint_node_1_label" descr="Editable text; source id constraint_node_1_label"/>
                <p:cNvSpPr txBox="1"/>
                <p:nvPr/>
              </p:nvSpPr>
              <p:spPr>
                <a:xfrm>
                  <a:off x="496212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33" name="constraint_node_2" descr="Native vertex circle and editable index"/>
              <p:cNvGrpSpPr/>
              <p:nvPr/>
            </p:nvGrpSpPr>
            <p:grpSpPr>
              <a:xfrm>
                <a:off x="673480" y="156050"/>
                <a:ext cx="120459" cy="120459"/>
                <a:chOff x="673480" y="156050"/>
                <a:chExt cx="120459" cy="120459"/>
              </a:xfrm>
            </p:grpSpPr>
            <p:sp>
              <p:nvSpPr>
                <p:cNvPr id="21" name="constraint_node_2_body" descr="Editable shape; source id constraint_node_2_body"/>
                <p:cNvSpPr/>
                <p:nvPr/>
              </p:nvSpPr>
              <p:spPr>
                <a:xfrm>
                  <a:off x="673480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" name="constraint_node_2_label" descr="Editable text; source id constraint_node_2_label"/>
                <p:cNvSpPr txBox="1"/>
                <p:nvPr/>
              </p:nvSpPr>
              <p:spPr>
                <a:xfrm>
                  <a:off x="707017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34" name="constraint_node_3" descr="Native vertex circle and editable index"/>
              <p:cNvGrpSpPr/>
              <p:nvPr/>
            </p:nvGrpSpPr>
            <p:grpSpPr>
              <a:xfrm>
                <a:off x="1048548" y="156050"/>
                <a:ext cx="120459" cy="120459"/>
                <a:chOff x="1048548" y="156050"/>
                <a:chExt cx="120459" cy="120459"/>
              </a:xfrm>
            </p:grpSpPr>
            <p:sp>
              <p:nvSpPr>
                <p:cNvPr id="23" name="constraint_node_3_body" descr="Editable shape; source id constraint_node_3_body"/>
                <p:cNvSpPr/>
                <p:nvPr/>
              </p:nvSpPr>
              <p:spPr>
                <a:xfrm>
                  <a:off x="1048548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" name="constraint_node_3_label" descr="Editable text; source id constraint_node_3_label"/>
                <p:cNvSpPr txBox="1"/>
                <p:nvPr/>
              </p:nvSpPr>
              <p:spPr>
                <a:xfrm>
                  <a:off x="1082085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35" name="constraint_node_4" descr="Native vertex circle and editable index"/>
              <p:cNvGrpSpPr/>
              <p:nvPr/>
            </p:nvGrpSpPr>
            <p:grpSpPr>
              <a:xfrm>
                <a:off x="1259353" y="375068"/>
                <a:ext cx="120459" cy="120459"/>
                <a:chOff x="1259353" y="375068"/>
                <a:chExt cx="120459" cy="120459"/>
              </a:xfrm>
            </p:grpSpPr>
            <p:sp>
              <p:nvSpPr>
                <p:cNvPr id="25" name="constraint_node_4_body" descr="Editable shape; source id constraint_node_4_body"/>
                <p:cNvSpPr/>
                <p:nvPr/>
              </p:nvSpPr>
              <p:spPr>
                <a:xfrm>
                  <a:off x="1259353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" name="constraint_node_4_label" descr="Editable text; source id constraint_node_4_label"/>
                <p:cNvSpPr txBox="1"/>
                <p:nvPr/>
              </p:nvSpPr>
              <p:spPr>
                <a:xfrm>
                  <a:off x="1292890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36" name="constraint_node_5" descr="Native vertex circle and editable index"/>
              <p:cNvGrpSpPr/>
              <p:nvPr/>
            </p:nvGrpSpPr>
            <p:grpSpPr>
              <a:xfrm>
                <a:off x="673480" y="585873"/>
                <a:ext cx="120459" cy="120459"/>
                <a:chOff x="673480" y="585873"/>
                <a:chExt cx="120459" cy="120459"/>
              </a:xfrm>
            </p:grpSpPr>
            <p:sp>
              <p:nvSpPr>
                <p:cNvPr id="27" name="constraint_node_5_body" descr="Editable shape; source id constraint_node_5_body"/>
                <p:cNvSpPr/>
                <p:nvPr/>
              </p:nvSpPr>
              <p:spPr>
                <a:xfrm>
                  <a:off x="673480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constraint_node_5_label" descr="Editable text; source id constraint_node_5_label"/>
                <p:cNvSpPr txBox="1"/>
                <p:nvPr/>
              </p:nvSpPr>
              <p:spPr>
                <a:xfrm>
                  <a:off x="707017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37" name="constraint_node_6" descr="Native vertex circle and editable index"/>
              <p:cNvGrpSpPr/>
              <p:nvPr/>
            </p:nvGrpSpPr>
            <p:grpSpPr>
              <a:xfrm>
                <a:off x="1048548" y="585873"/>
                <a:ext cx="120459" cy="120459"/>
                <a:chOff x="1048548" y="585873"/>
                <a:chExt cx="120459" cy="120459"/>
              </a:xfrm>
            </p:grpSpPr>
            <p:sp>
              <p:nvSpPr>
                <p:cNvPr id="29" name="constraint_node_6_body" descr="Editable shape; source id constraint_node_6_body"/>
                <p:cNvSpPr/>
                <p:nvPr/>
              </p:nvSpPr>
              <p:spPr>
                <a:xfrm>
                  <a:off x="1048548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0" name="constraint_node_6_label" descr="Editable text; source id constraint_node_6_label"/>
                <p:cNvSpPr txBox="1"/>
                <p:nvPr/>
              </p:nvSpPr>
              <p:spPr>
                <a:xfrm>
                  <a:off x="1082085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31" name="constraint_epsilon" descr="Editable text; source id constraint_epsilon"/>
            <p:cNvSpPr txBox="1"/>
            <p:nvPr/>
          </p:nvSpPr>
          <p:spPr>
            <a:xfrm>
              <a:off x="805575" y="707701"/>
              <a:ext cx="236813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  <a:r>
                <a:rPr sz="732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→ 0</a:t>
              </a:r>
            </a:p>
          </p:txBody>
        </p:sp>
        <p:sp>
          <p:nvSpPr>
            <p:cNvPr id="32" name="constraint_description" descr="Editable text; source id constraint_description"/>
            <p:cNvSpPr txBox="1"/>
            <p:nvPr/>
          </p:nvSpPr>
          <p:spPr>
            <a:xfrm>
              <a:off x="522055" y="808997"/>
              <a:ext cx="80522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Constrained graph LP</a:t>
              </a:r>
            </a:p>
          </p:txBody>
        </p:sp>
      </p:grpSp>
      <p:grpSp>
        <p:nvGrpSpPr>
          <p:cNvPr id="255" name="entropic_station" descr="Editable station: title, same-support graph, and regime label"/>
          <p:cNvGrpSpPr/>
          <p:nvPr/>
        </p:nvGrpSpPr>
        <p:grpSpPr>
          <a:xfrm>
            <a:off x="2053293" y="15057"/>
            <a:ext cx="917137" cy="826655"/>
            <a:chOff x="2053293" y="15057"/>
            <a:chExt cx="917137" cy="826655"/>
          </a:xfrm>
        </p:grpSpPr>
        <p:sp>
          <p:nvSpPr>
            <p:cNvPr id="33" name="entropic_title" descr="Editable text; source id entropic_title"/>
            <p:cNvSpPr txBox="1"/>
            <p:nvPr/>
          </p:nvSpPr>
          <p:spPr>
            <a:xfrm>
              <a:off x="2093658" y="15057"/>
              <a:ext cx="843251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Entropic graph solve</a:t>
              </a:r>
            </a:p>
          </p:txBody>
        </p:sp>
        <p:grpSp>
          <p:nvGrpSpPr>
            <p:cNvPr id="254" name="entropic_graph" descr="Same eight-edge graph; schematic line widths only"/>
            <p:cNvGrpSpPr/>
            <p:nvPr/>
          </p:nvGrpSpPr>
          <p:grpSpPr>
            <a:xfrm>
              <a:off x="2053293" y="156050"/>
              <a:ext cx="917137" cy="550282"/>
              <a:chOff x="2053293" y="156050"/>
              <a:chExt cx="917137" cy="550282"/>
            </a:xfrm>
          </p:grpSpPr>
          <p:grpSp>
            <p:nvGrpSpPr>
              <p:cNvPr id="240" name="entropic_edge_1_2" descr="Directed conceptual edge 1 to 2"/>
              <p:cNvGrpSpPr/>
              <p:nvPr/>
            </p:nvGrpSpPr>
            <p:grpSpPr>
              <a:xfrm>
                <a:off x="2157189" y="261647"/>
                <a:ext cx="123473" cy="128283"/>
                <a:chOff x="2157189" y="261647"/>
                <a:chExt cx="123473" cy="128283"/>
              </a:xfrm>
            </p:grpSpPr>
            <p:cxnSp>
              <p:nvCxnSpPr>
                <p:cNvPr id="34" name="entropic_edge_1_2_shaft" descr="Editable line; source id entropic_edge_1_2_shaft"/>
                <p:cNvCxnSpPr/>
                <p:nvPr/>
              </p:nvCxnSpPr>
              <p:spPr>
                <a:xfrm flipV="1">
                  <a:off x="2157189" y="261647"/>
                  <a:ext cx="123473" cy="128283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entropic_edge_1_2_direction" descr="Editable shape; source id entropic_edge_1_2_direction"/>
                <p:cNvSpPr/>
                <p:nvPr/>
              </p:nvSpPr>
              <p:spPr>
                <a:xfrm>
                  <a:off x="2200397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1" name="entropic_edge_2_3" descr="Directed conceptual edge 2 to 3"/>
              <p:cNvGrpSpPr/>
              <p:nvPr/>
            </p:nvGrpSpPr>
            <p:grpSpPr>
              <a:xfrm>
                <a:off x="2387295" y="198485"/>
                <a:ext cx="249133" cy="35590"/>
                <a:chOff x="2387295" y="198485"/>
                <a:chExt cx="249133" cy="35590"/>
              </a:xfrm>
            </p:grpSpPr>
            <p:cxnSp>
              <p:nvCxnSpPr>
                <p:cNvPr id="36" name="entropic_edge_2_3_shaft" descr="Editable line; source id entropic_edge_2_3_shaft"/>
                <p:cNvCxnSpPr/>
                <p:nvPr/>
              </p:nvCxnSpPr>
              <p:spPr>
                <a:xfrm>
                  <a:off x="2387295" y="216280"/>
                  <a:ext cx="249133" cy="0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entropic_edge_2_3_direction" descr="Editable shape; source id entropic_edge_2_3_direction"/>
                <p:cNvSpPr/>
                <p:nvPr/>
              </p:nvSpPr>
              <p:spPr>
                <a:xfrm>
                  <a:off x="2510028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2" name="entropic_edge_3_4" descr="Directed conceptual edge 3 to 4"/>
              <p:cNvGrpSpPr/>
              <p:nvPr/>
            </p:nvGrpSpPr>
            <p:grpSpPr>
              <a:xfrm>
                <a:off x="2743062" y="261647"/>
                <a:ext cx="123473" cy="128283"/>
                <a:chOff x="2743062" y="261647"/>
                <a:chExt cx="123473" cy="128283"/>
              </a:xfrm>
            </p:grpSpPr>
            <p:cxnSp>
              <p:nvCxnSpPr>
                <p:cNvPr id="38" name="entropic_edge_3_4_shaft" descr="Editable line; source id entropic_edge_3_4_shaft"/>
                <p:cNvCxnSpPr/>
                <p:nvPr/>
              </p:nvCxnSpPr>
              <p:spPr>
                <a:xfrm>
                  <a:off x="2743062" y="261647"/>
                  <a:ext cx="123473" cy="128283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entropic_edge_3_4_direction" descr="Editable shape; source id entropic_edge_3_4_direction"/>
                <p:cNvSpPr/>
                <p:nvPr/>
              </p:nvSpPr>
              <p:spPr>
                <a:xfrm>
                  <a:off x="2786270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3" name="entropic_edge_1_5" descr="Directed conceptual edge 1 to 5"/>
              <p:cNvGrpSpPr/>
              <p:nvPr/>
            </p:nvGrpSpPr>
            <p:grpSpPr>
              <a:xfrm>
                <a:off x="2158048" y="479823"/>
                <a:ext cx="121755" cy="121755"/>
                <a:chOff x="2158048" y="479823"/>
                <a:chExt cx="121755" cy="121755"/>
              </a:xfrm>
            </p:grpSpPr>
            <p:cxnSp>
              <p:nvCxnSpPr>
                <p:cNvPr id="40" name="entropic_edge_1_5_shaft" descr="Editable line; source id entropic_edge_1_5_shaft"/>
                <p:cNvCxnSpPr/>
                <p:nvPr/>
              </p:nvCxnSpPr>
              <p:spPr>
                <a:xfrm>
                  <a:off x="2158048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entropic_edge_1_5_direction" descr="Editable shape; source id entropic_edge_1_5_direction"/>
                <p:cNvSpPr/>
                <p:nvPr/>
              </p:nvSpPr>
              <p:spPr>
                <a:xfrm>
                  <a:off x="2200148" y="521923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13789"/>
                      </a:moveTo>
                      <a:lnTo>
                        <a:pt x="0" y="9193"/>
                      </a:lnTo>
                      <a:lnTo>
                        <a:pt x="9193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4" name="entropic_edge_5_6" descr="Directed conceptual edge 5 to 6"/>
              <p:cNvGrpSpPr/>
              <p:nvPr/>
            </p:nvGrpSpPr>
            <p:grpSpPr>
              <a:xfrm>
                <a:off x="2387295" y="628308"/>
                <a:ext cx="249133" cy="35590"/>
                <a:chOff x="2387295" y="628308"/>
                <a:chExt cx="249133" cy="35590"/>
              </a:xfrm>
            </p:grpSpPr>
            <p:cxnSp>
              <p:nvCxnSpPr>
                <p:cNvPr id="42" name="entropic_edge_5_6_shaft" descr="Editable line; source id entropic_edge_5_6_shaft"/>
                <p:cNvCxnSpPr/>
                <p:nvPr/>
              </p:nvCxnSpPr>
              <p:spPr>
                <a:xfrm>
                  <a:off x="2387295" y="646102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entropic_edge_5_6_direction" descr="Editable shape; source id entropic_edge_5_6_direction"/>
                <p:cNvSpPr/>
                <p:nvPr/>
              </p:nvSpPr>
              <p:spPr>
                <a:xfrm>
                  <a:off x="2510028" y="628308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5" name="entropic_edge_6_4" descr="Directed conceptual edge 6 to 4"/>
              <p:cNvGrpSpPr/>
              <p:nvPr/>
            </p:nvGrpSpPr>
            <p:grpSpPr>
              <a:xfrm>
                <a:off x="2743921" y="479823"/>
                <a:ext cx="121755" cy="121755"/>
                <a:chOff x="2743921" y="479823"/>
                <a:chExt cx="121755" cy="121755"/>
              </a:xfrm>
            </p:grpSpPr>
            <p:cxnSp>
              <p:nvCxnSpPr>
                <p:cNvPr id="44" name="entropic_edge_6_4_shaft" descr="Editable line; source id entropic_edge_6_4_shaft"/>
                <p:cNvCxnSpPr/>
                <p:nvPr/>
              </p:nvCxnSpPr>
              <p:spPr>
                <a:xfrm flipV="1">
                  <a:off x="2743921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entropic_edge_6_4_direction" descr="Editable shape; source id entropic_edge_6_4_direction"/>
                <p:cNvSpPr/>
                <p:nvPr/>
              </p:nvSpPr>
              <p:spPr>
                <a:xfrm>
                  <a:off x="2786021" y="521728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0"/>
                      </a:moveTo>
                      <a:lnTo>
                        <a:pt x="9193" y="13789"/>
                      </a:lnTo>
                      <a:lnTo>
                        <a:pt x="0" y="4596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6" name="entropic_edge_2_5" descr="Directed conceptual edge 2 to 5"/>
              <p:cNvGrpSpPr/>
              <p:nvPr/>
            </p:nvGrpSpPr>
            <p:grpSpPr>
              <a:xfrm>
                <a:off x="2306533" y="279247"/>
                <a:ext cx="35590" cy="303888"/>
                <a:chOff x="2306533" y="279247"/>
                <a:chExt cx="35590" cy="303888"/>
              </a:xfrm>
            </p:grpSpPr>
            <p:cxnSp>
              <p:nvCxnSpPr>
                <p:cNvPr id="46" name="entropic_edge_2_5_shaft" descr="Editable line; source id entropic_edge_2_5_shaft"/>
                <p:cNvCxnSpPr/>
                <p:nvPr/>
              </p:nvCxnSpPr>
              <p:spPr>
                <a:xfrm>
                  <a:off x="2324328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entropic_edge_2_5_direction" descr="Editable shape; source id entropic_edge_2_5_direction"/>
                <p:cNvSpPr/>
                <p:nvPr/>
              </p:nvSpPr>
              <p:spPr>
                <a:xfrm>
                  <a:off x="2306533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7" name="entropic_edge_3_6" descr="Directed conceptual edge 3 to 6"/>
              <p:cNvGrpSpPr/>
              <p:nvPr/>
            </p:nvGrpSpPr>
            <p:grpSpPr>
              <a:xfrm>
                <a:off x="2681601" y="279247"/>
                <a:ext cx="35590" cy="303888"/>
                <a:chOff x="2681601" y="279247"/>
                <a:chExt cx="35590" cy="303888"/>
              </a:xfrm>
            </p:grpSpPr>
            <p:cxnSp>
              <p:nvCxnSpPr>
                <p:cNvPr id="48" name="entropic_edge_3_6_shaft" descr="Editable line; source id entropic_edge_3_6_shaft"/>
                <p:cNvCxnSpPr/>
                <p:nvPr/>
              </p:nvCxnSpPr>
              <p:spPr>
                <a:xfrm>
                  <a:off x="2699396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entropic_edge_3_6_direction" descr="Editable shape; source id entropic_edge_3_6_direction"/>
                <p:cNvSpPr/>
                <p:nvPr/>
              </p:nvSpPr>
              <p:spPr>
                <a:xfrm>
                  <a:off x="2681601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8" name="entropic_node_1" descr="Native vertex circle and editable index"/>
              <p:cNvGrpSpPr/>
              <p:nvPr/>
            </p:nvGrpSpPr>
            <p:grpSpPr>
              <a:xfrm>
                <a:off x="2053293" y="375068"/>
                <a:ext cx="120459" cy="120459"/>
                <a:chOff x="2053293" y="375068"/>
                <a:chExt cx="120459" cy="120459"/>
              </a:xfrm>
            </p:grpSpPr>
            <p:sp>
              <p:nvSpPr>
                <p:cNvPr id="50" name="entropic_node_1_body" descr="Editable shape; source id entropic_node_1_body"/>
                <p:cNvSpPr/>
                <p:nvPr/>
              </p:nvSpPr>
              <p:spPr>
                <a:xfrm>
                  <a:off x="2053293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entropic_node_1_label" descr="Editable text; source id entropic_node_1_label"/>
                <p:cNvSpPr txBox="1"/>
                <p:nvPr/>
              </p:nvSpPr>
              <p:spPr>
                <a:xfrm>
                  <a:off x="2086830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49" name="entropic_node_2" descr="Native vertex circle and editable index"/>
              <p:cNvGrpSpPr/>
              <p:nvPr/>
            </p:nvGrpSpPr>
            <p:grpSpPr>
              <a:xfrm>
                <a:off x="2264098" y="156050"/>
                <a:ext cx="120459" cy="120459"/>
                <a:chOff x="2264098" y="156050"/>
                <a:chExt cx="120459" cy="120459"/>
              </a:xfrm>
            </p:grpSpPr>
            <p:sp>
              <p:nvSpPr>
                <p:cNvPr id="52" name="entropic_node_2_body" descr="Editable shape; source id entropic_node_2_body"/>
                <p:cNvSpPr/>
                <p:nvPr/>
              </p:nvSpPr>
              <p:spPr>
                <a:xfrm>
                  <a:off x="2264098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entropic_node_2_label" descr="Editable text; source id entropic_node_2_label"/>
                <p:cNvSpPr txBox="1"/>
                <p:nvPr/>
              </p:nvSpPr>
              <p:spPr>
                <a:xfrm>
                  <a:off x="2297635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0" name="entropic_node_3" descr="Native vertex circle and editable index"/>
              <p:cNvGrpSpPr/>
              <p:nvPr/>
            </p:nvGrpSpPr>
            <p:grpSpPr>
              <a:xfrm>
                <a:off x="2639166" y="156050"/>
                <a:ext cx="120459" cy="120459"/>
                <a:chOff x="2639166" y="156050"/>
                <a:chExt cx="120459" cy="120459"/>
              </a:xfrm>
            </p:grpSpPr>
            <p:sp>
              <p:nvSpPr>
                <p:cNvPr id="54" name="entropic_node_3_body" descr="Editable shape; source id entropic_node_3_body"/>
                <p:cNvSpPr/>
                <p:nvPr/>
              </p:nvSpPr>
              <p:spPr>
                <a:xfrm>
                  <a:off x="2639166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entropic_node_3_label" descr="Editable text; source id entropic_node_3_label"/>
                <p:cNvSpPr txBox="1"/>
                <p:nvPr/>
              </p:nvSpPr>
              <p:spPr>
                <a:xfrm>
                  <a:off x="2672703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51" name="entropic_node_4" descr="Native vertex circle and editable index"/>
              <p:cNvGrpSpPr/>
              <p:nvPr/>
            </p:nvGrpSpPr>
            <p:grpSpPr>
              <a:xfrm>
                <a:off x="2849971" y="375068"/>
                <a:ext cx="120459" cy="120459"/>
                <a:chOff x="2849971" y="375068"/>
                <a:chExt cx="120459" cy="120459"/>
              </a:xfrm>
            </p:grpSpPr>
            <p:sp>
              <p:nvSpPr>
                <p:cNvPr id="56" name="entropic_node_4_body" descr="Editable shape; source id entropic_node_4_body"/>
                <p:cNvSpPr/>
                <p:nvPr/>
              </p:nvSpPr>
              <p:spPr>
                <a:xfrm>
                  <a:off x="2849971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entropic_node_4_label" descr="Editable text; source id entropic_node_4_label"/>
                <p:cNvSpPr txBox="1"/>
                <p:nvPr/>
              </p:nvSpPr>
              <p:spPr>
                <a:xfrm>
                  <a:off x="2883508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52" name="entropic_node_5" descr="Native vertex circle and editable index"/>
              <p:cNvGrpSpPr/>
              <p:nvPr/>
            </p:nvGrpSpPr>
            <p:grpSpPr>
              <a:xfrm>
                <a:off x="2264098" y="585873"/>
                <a:ext cx="120459" cy="120459"/>
                <a:chOff x="2264098" y="585873"/>
                <a:chExt cx="120459" cy="120459"/>
              </a:xfrm>
            </p:grpSpPr>
            <p:sp>
              <p:nvSpPr>
                <p:cNvPr id="58" name="entropic_node_5_body" descr="Editable shape; source id entropic_node_5_body"/>
                <p:cNvSpPr/>
                <p:nvPr/>
              </p:nvSpPr>
              <p:spPr>
                <a:xfrm>
                  <a:off x="2264098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entropic_node_5_label" descr="Editable text; source id entropic_node_5_label"/>
                <p:cNvSpPr txBox="1"/>
                <p:nvPr/>
              </p:nvSpPr>
              <p:spPr>
                <a:xfrm>
                  <a:off x="2297635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53" name="entropic_node_6" descr="Native vertex circle and editable index"/>
              <p:cNvGrpSpPr/>
              <p:nvPr/>
            </p:nvGrpSpPr>
            <p:grpSpPr>
              <a:xfrm>
                <a:off x="2639166" y="585873"/>
                <a:ext cx="120459" cy="120459"/>
                <a:chOff x="2639166" y="585873"/>
                <a:chExt cx="120459" cy="120459"/>
              </a:xfrm>
            </p:grpSpPr>
            <p:sp>
              <p:nvSpPr>
                <p:cNvPr id="60" name="entropic_node_6_body" descr="Editable shape; source id entropic_node_6_body"/>
                <p:cNvSpPr/>
                <p:nvPr/>
              </p:nvSpPr>
              <p:spPr>
                <a:xfrm>
                  <a:off x="2639166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" name="entropic_node_6_label" descr="Editable text; source id entropic_node_6_label"/>
                <p:cNvSpPr txBox="1"/>
                <p:nvPr/>
              </p:nvSpPr>
              <p:spPr>
                <a:xfrm>
                  <a:off x="2672703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62" name="finite_epsilon" descr="Editable text; source id finite_epsilon"/>
            <p:cNvSpPr txBox="1"/>
            <p:nvPr/>
          </p:nvSpPr>
          <p:spPr>
            <a:xfrm>
              <a:off x="2383183" y="729603"/>
              <a:ext cx="26283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finite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</p:grpSp>
      <p:grpSp>
        <p:nvGrpSpPr>
          <p:cNvPr id="271" name="penalty_station" descr="Editable station: title, same-support graph, and regime label"/>
          <p:cNvGrpSpPr/>
          <p:nvPr/>
        </p:nvGrpSpPr>
        <p:grpSpPr>
          <a:xfrm>
            <a:off x="3646649" y="15057"/>
            <a:ext cx="917136" cy="906049"/>
            <a:chOff x="3646649" y="15057"/>
            <a:chExt cx="917136" cy="906049"/>
          </a:xfrm>
        </p:grpSpPr>
        <p:sp>
          <p:nvSpPr>
            <p:cNvPr id="63" name="penalty_title" descr="Editable text; source id penalty_title"/>
            <p:cNvSpPr txBox="1"/>
            <p:nvPr/>
          </p:nvSpPr>
          <p:spPr>
            <a:xfrm>
              <a:off x="3759922" y="15057"/>
              <a:ext cx="697435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Penalty-like limit</a:t>
              </a:r>
            </a:p>
          </p:txBody>
        </p:sp>
        <p:grpSp>
          <p:nvGrpSpPr>
            <p:cNvPr id="270" name="penalty_graph" descr="Same eight-edge graph; schematic line widths only"/>
            <p:cNvGrpSpPr/>
            <p:nvPr/>
          </p:nvGrpSpPr>
          <p:grpSpPr>
            <a:xfrm>
              <a:off x="3646649" y="156050"/>
              <a:ext cx="917136" cy="550282"/>
              <a:chOff x="3646649" y="156050"/>
              <a:chExt cx="917136" cy="550282"/>
            </a:xfrm>
          </p:grpSpPr>
          <p:grpSp>
            <p:nvGrpSpPr>
              <p:cNvPr id="256" name="penalty_edge_1_2" descr="Directed conceptual edge 1 to 2"/>
              <p:cNvGrpSpPr/>
              <p:nvPr/>
            </p:nvGrpSpPr>
            <p:grpSpPr>
              <a:xfrm>
                <a:off x="3750545" y="261647"/>
                <a:ext cx="123472" cy="128283"/>
                <a:chOff x="3750545" y="261647"/>
                <a:chExt cx="123472" cy="128283"/>
              </a:xfrm>
            </p:grpSpPr>
            <p:cxnSp>
              <p:nvCxnSpPr>
                <p:cNvPr id="64" name="penalty_edge_1_2_shaft" descr="Editable line; source id penalty_edge_1_2_shaft"/>
                <p:cNvCxnSpPr/>
                <p:nvPr/>
              </p:nvCxnSpPr>
              <p:spPr>
                <a:xfrm flipV="1">
                  <a:off x="3750545" y="261647"/>
                  <a:ext cx="123472" cy="128283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penalty_edge_1_2_direction" descr="Editable shape; source id penalty_edge_1_2_direction"/>
                <p:cNvSpPr/>
                <p:nvPr/>
              </p:nvSpPr>
              <p:spPr>
                <a:xfrm>
                  <a:off x="3793753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7" name="penalty_edge_2_3" descr="Directed conceptual edge 2 to 3"/>
              <p:cNvGrpSpPr/>
              <p:nvPr/>
            </p:nvGrpSpPr>
            <p:grpSpPr>
              <a:xfrm>
                <a:off x="3980651" y="198485"/>
                <a:ext cx="249133" cy="35590"/>
                <a:chOff x="3980651" y="198485"/>
                <a:chExt cx="249133" cy="35590"/>
              </a:xfrm>
            </p:grpSpPr>
            <p:cxnSp>
              <p:nvCxnSpPr>
                <p:cNvPr id="66" name="penalty_edge_2_3_shaft" descr="Editable line; source id penalty_edge_2_3_shaft"/>
                <p:cNvCxnSpPr/>
                <p:nvPr/>
              </p:nvCxnSpPr>
              <p:spPr>
                <a:xfrm>
                  <a:off x="3980651" y="216280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penalty_edge_2_3_direction" descr="Editable shape; source id penalty_edge_2_3_direction"/>
                <p:cNvSpPr/>
                <p:nvPr/>
              </p:nvSpPr>
              <p:spPr>
                <a:xfrm>
                  <a:off x="4103384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8" name="penalty_edge_3_4" descr="Directed conceptual edge 3 to 4"/>
              <p:cNvGrpSpPr/>
              <p:nvPr/>
            </p:nvGrpSpPr>
            <p:grpSpPr>
              <a:xfrm>
                <a:off x="4336418" y="261647"/>
                <a:ext cx="123472" cy="128283"/>
                <a:chOff x="4336418" y="261647"/>
                <a:chExt cx="123472" cy="128283"/>
              </a:xfrm>
            </p:grpSpPr>
            <p:cxnSp>
              <p:nvCxnSpPr>
                <p:cNvPr id="68" name="penalty_edge_3_4_shaft" descr="Editable line; source id penalty_edge_3_4_shaft"/>
                <p:cNvCxnSpPr/>
                <p:nvPr/>
              </p:nvCxnSpPr>
              <p:spPr>
                <a:xfrm>
                  <a:off x="4336418" y="261647"/>
                  <a:ext cx="123472" cy="128283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penalty_edge_3_4_direction" descr="Editable shape; source id penalty_edge_3_4_direction"/>
                <p:cNvSpPr/>
                <p:nvPr/>
              </p:nvSpPr>
              <p:spPr>
                <a:xfrm>
                  <a:off x="4379626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9" name="penalty_edge_1_5" descr="Directed conceptual edge 1 to 5"/>
              <p:cNvGrpSpPr/>
              <p:nvPr/>
            </p:nvGrpSpPr>
            <p:grpSpPr>
              <a:xfrm>
                <a:off x="3751403" y="479823"/>
                <a:ext cx="121755" cy="121755"/>
                <a:chOff x="3751403" y="479823"/>
                <a:chExt cx="121755" cy="121755"/>
              </a:xfrm>
            </p:grpSpPr>
            <p:cxnSp>
              <p:nvCxnSpPr>
                <p:cNvPr id="70" name="penalty_edge_1_5_shaft" descr="Editable line; source id penalty_edge_1_5_shaft"/>
                <p:cNvCxnSpPr/>
                <p:nvPr/>
              </p:nvCxnSpPr>
              <p:spPr>
                <a:xfrm>
                  <a:off x="3751403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penalty_edge_1_5_direction" descr="Editable shape; source id penalty_edge_1_5_direction"/>
                <p:cNvSpPr/>
                <p:nvPr/>
              </p:nvSpPr>
              <p:spPr>
                <a:xfrm>
                  <a:off x="3793503" y="521923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13789"/>
                      </a:moveTo>
                      <a:lnTo>
                        <a:pt x="0" y="9193"/>
                      </a:lnTo>
                      <a:lnTo>
                        <a:pt x="9193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0" name="penalty_edge_5_6" descr="Directed conceptual edge 5 to 6"/>
              <p:cNvGrpSpPr/>
              <p:nvPr/>
            </p:nvGrpSpPr>
            <p:grpSpPr>
              <a:xfrm>
                <a:off x="3980651" y="628308"/>
                <a:ext cx="249133" cy="35590"/>
                <a:chOff x="3980651" y="628308"/>
                <a:chExt cx="249133" cy="35590"/>
              </a:xfrm>
            </p:grpSpPr>
            <p:cxnSp>
              <p:nvCxnSpPr>
                <p:cNvPr id="72" name="penalty_edge_5_6_shaft" descr="Editable line; source id penalty_edge_5_6_shaft"/>
                <p:cNvCxnSpPr/>
                <p:nvPr/>
              </p:nvCxnSpPr>
              <p:spPr>
                <a:xfrm>
                  <a:off x="3980651" y="646102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penalty_edge_5_6_direction" descr="Editable shape; source id penalty_edge_5_6_direction"/>
                <p:cNvSpPr/>
                <p:nvPr/>
              </p:nvSpPr>
              <p:spPr>
                <a:xfrm>
                  <a:off x="4103384" y="628308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1" name="penalty_edge_6_4" descr="Directed conceptual edge 6 to 4"/>
              <p:cNvGrpSpPr/>
              <p:nvPr/>
            </p:nvGrpSpPr>
            <p:grpSpPr>
              <a:xfrm>
                <a:off x="4337276" y="479823"/>
                <a:ext cx="121756" cy="121755"/>
                <a:chOff x="4337276" y="479823"/>
                <a:chExt cx="121756" cy="121755"/>
              </a:xfrm>
            </p:grpSpPr>
            <p:cxnSp>
              <p:nvCxnSpPr>
                <p:cNvPr id="74" name="penalty_edge_6_4_shaft" descr="Editable line; source id penalty_edge_6_4_shaft"/>
                <p:cNvCxnSpPr/>
                <p:nvPr/>
              </p:nvCxnSpPr>
              <p:spPr>
                <a:xfrm flipV="1">
                  <a:off x="4337276" y="479823"/>
                  <a:ext cx="121756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penalty_edge_6_4_direction" descr="Editable shape; source id penalty_edge_6_4_direction"/>
                <p:cNvSpPr/>
                <p:nvPr/>
              </p:nvSpPr>
              <p:spPr>
                <a:xfrm>
                  <a:off x="4379376" y="521728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0"/>
                      </a:moveTo>
                      <a:lnTo>
                        <a:pt x="9193" y="13789"/>
                      </a:lnTo>
                      <a:lnTo>
                        <a:pt x="0" y="4596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2" name="penalty_edge_2_5" descr="Directed conceptual edge 2 to 5"/>
              <p:cNvGrpSpPr/>
              <p:nvPr/>
            </p:nvGrpSpPr>
            <p:grpSpPr>
              <a:xfrm>
                <a:off x="3899889" y="279247"/>
                <a:ext cx="35590" cy="303888"/>
                <a:chOff x="3899889" y="279247"/>
                <a:chExt cx="35590" cy="303888"/>
              </a:xfrm>
            </p:grpSpPr>
            <p:cxnSp>
              <p:nvCxnSpPr>
                <p:cNvPr id="76" name="penalty_edge_2_5_shaft" descr="Editable line; source id penalty_edge_2_5_shaft"/>
                <p:cNvCxnSpPr/>
                <p:nvPr/>
              </p:nvCxnSpPr>
              <p:spPr>
                <a:xfrm>
                  <a:off x="3917683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penalty_edge_2_5_direction" descr="Editable shape; source id penalty_edge_2_5_direction"/>
                <p:cNvSpPr/>
                <p:nvPr/>
              </p:nvSpPr>
              <p:spPr>
                <a:xfrm>
                  <a:off x="3899889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3" name="penalty_edge_3_6" descr="Directed conceptual edge 3 to 6"/>
              <p:cNvGrpSpPr/>
              <p:nvPr/>
            </p:nvGrpSpPr>
            <p:grpSpPr>
              <a:xfrm>
                <a:off x="4274957" y="279247"/>
                <a:ext cx="35590" cy="303888"/>
                <a:chOff x="4274957" y="279247"/>
                <a:chExt cx="35590" cy="303888"/>
              </a:xfrm>
            </p:grpSpPr>
            <p:cxnSp>
              <p:nvCxnSpPr>
                <p:cNvPr id="78" name="penalty_edge_3_6_shaft" descr="Editable line; source id penalty_edge_3_6_shaft"/>
                <p:cNvCxnSpPr/>
                <p:nvPr/>
              </p:nvCxnSpPr>
              <p:spPr>
                <a:xfrm>
                  <a:off x="4292752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penalty_edge_3_6_direction" descr="Editable shape; source id penalty_edge_3_6_direction"/>
                <p:cNvSpPr/>
                <p:nvPr/>
              </p:nvSpPr>
              <p:spPr>
                <a:xfrm>
                  <a:off x="4274957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4" name="penalty_node_1" descr="Native vertex circle and editable index"/>
              <p:cNvGrpSpPr/>
              <p:nvPr/>
            </p:nvGrpSpPr>
            <p:grpSpPr>
              <a:xfrm>
                <a:off x="3646649" y="375068"/>
                <a:ext cx="120459" cy="120459"/>
                <a:chOff x="3646649" y="375068"/>
                <a:chExt cx="120459" cy="120459"/>
              </a:xfrm>
            </p:grpSpPr>
            <p:sp>
              <p:nvSpPr>
                <p:cNvPr id="80" name="penalty_node_1_body" descr="Editable shape; source id penalty_node_1_body"/>
                <p:cNvSpPr/>
                <p:nvPr/>
              </p:nvSpPr>
              <p:spPr>
                <a:xfrm>
                  <a:off x="3646649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penalty_node_1_label" descr="Editable text; source id penalty_node_1_label"/>
                <p:cNvSpPr txBox="1"/>
                <p:nvPr/>
              </p:nvSpPr>
              <p:spPr>
                <a:xfrm>
                  <a:off x="3680186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65" name="penalty_node_2" descr="Native vertex circle and editable index"/>
              <p:cNvGrpSpPr/>
              <p:nvPr/>
            </p:nvGrpSpPr>
            <p:grpSpPr>
              <a:xfrm>
                <a:off x="3857453" y="156050"/>
                <a:ext cx="120459" cy="120459"/>
                <a:chOff x="3857453" y="156050"/>
                <a:chExt cx="120459" cy="120459"/>
              </a:xfrm>
            </p:grpSpPr>
            <p:sp>
              <p:nvSpPr>
                <p:cNvPr id="82" name="penalty_node_2_body" descr="Editable shape; source id penalty_node_2_body"/>
                <p:cNvSpPr/>
                <p:nvPr/>
              </p:nvSpPr>
              <p:spPr>
                <a:xfrm>
                  <a:off x="3857453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penalty_node_2_label" descr="Editable text; source id penalty_node_2_label"/>
                <p:cNvSpPr txBox="1"/>
                <p:nvPr/>
              </p:nvSpPr>
              <p:spPr>
                <a:xfrm>
                  <a:off x="3890991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66" name="penalty_node_3" descr="Native vertex circle and editable index"/>
              <p:cNvGrpSpPr/>
              <p:nvPr/>
            </p:nvGrpSpPr>
            <p:grpSpPr>
              <a:xfrm>
                <a:off x="4232522" y="156050"/>
                <a:ext cx="120459" cy="120459"/>
                <a:chOff x="4232522" y="156050"/>
                <a:chExt cx="120459" cy="120459"/>
              </a:xfrm>
            </p:grpSpPr>
            <p:sp>
              <p:nvSpPr>
                <p:cNvPr id="84" name="penalty_node_3_body" descr="Editable shape; source id penalty_node_3_body"/>
                <p:cNvSpPr/>
                <p:nvPr/>
              </p:nvSpPr>
              <p:spPr>
                <a:xfrm>
                  <a:off x="4232522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penalty_node_3_label" descr="Editable text; source id penalty_node_3_label"/>
                <p:cNvSpPr txBox="1"/>
                <p:nvPr/>
              </p:nvSpPr>
              <p:spPr>
                <a:xfrm>
                  <a:off x="4266059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67" name="penalty_node_4" descr="Native vertex circle and editable index"/>
              <p:cNvGrpSpPr/>
              <p:nvPr/>
            </p:nvGrpSpPr>
            <p:grpSpPr>
              <a:xfrm>
                <a:off x="4443326" y="375068"/>
                <a:ext cx="120459" cy="120459"/>
                <a:chOff x="4443326" y="375068"/>
                <a:chExt cx="120459" cy="120459"/>
              </a:xfrm>
            </p:grpSpPr>
            <p:sp>
              <p:nvSpPr>
                <p:cNvPr id="86" name="penalty_node_4_body" descr="Editable shape; source id penalty_node_4_body"/>
                <p:cNvSpPr/>
                <p:nvPr/>
              </p:nvSpPr>
              <p:spPr>
                <a:xfrm>
                  <a:off x="4443326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penalty_node_4_label" descr="Editable text; source id penalty_node_4_label"/>
                <p:cNvSpPr txBox="1"/>
                <p:nvPr/>
              </p:nvSpPr>
              <p:spPr>
                <a:xfrm>
                  <a:off x="4476864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68" name="penalty_node_5" descr="Native vertex circle and editable index"/>
              <p:cNvGrpSpPr/>
              <p:nvPr/>
            </p:nvGrpSpPr>
            <p:grpSpPr>
              <a:xfrm>
                <a:off x="3857453" y="585873"/>
                <a:ext cx="120459" cy="120459"/>
                <a:chOff x="3857453" y="585873"/>
                <a:chExt cx="120459" cy="120459"/>
              </a:xfrm>
            </p:grpSpPr>
            <p:sp>
              <p:nvSpPr>
                <p:cNvPr id="88" name="penalty_node_5_body" descr="Editable shape; source id penalty_node_5_body"/>
                <p:cNvSpPr/>
                <p:nvPr/>
              </p:nvSpPr>
              <p:spPr>
                <a:xfrm>
                  <a:off x="3857453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" name="penalty_node_5_label" descr="Editable text; source id penalty_node_5_label"/>
                <p:cNvSpPr txBox="1"/>
                <p:nvPr/>
              </p:nvSpPr>
              <p:spPr>
                <a:xfrm>
                  <a:off x="3890991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69" name="penalty_node_6" descr="Native vertex circle and editable index"/>
              <p:cNvGrpSpPr/>
              <p:nvPr/>
            </p:nvGrpSpPr>
            <p:grpSpPr>
              <a:xfrm>
                <a:off x="4232522" y="585873"/>
                <a:ext cx="120459" cy="120459"/>
                <a:chOff x="4232522" y="585873"/>
                <a:chExt cx="120459" cy="120459"/>
              </a:xfrm>
            </p:grpSpPr>
            <p:sp>
              <p:nvSpPr>
                <p:cNvPr id="90" name="penalty_node_6_body" descr="Editable shape; source id penalty_node_6_body"/>
                <p:cNvSpPr/>
                <p:nvPr/>
              </p:nvSpPr>
              <p:spPr>
                <a:xfrm>
                  <a:off x="4232522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" name="penalty_node_6_label" descr="Editable text; source id penalty_node_6_label"/>
                <p:cNvSpPr txBox="1"/>
                <p:nvPr/>
              </p:nvSpPr>
              <p:spPr>
                <a:xfrm>
                  <a:off x="4266059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92" name="penalty_epsilon" descr="Editable text; source id penalty_epsilon"/>
            <p:cNvSpPr txBox="1"/>
            <p:nvPr/>
          </p:nvSpPr>
          <p:spPr>
            <a:xfrm>
              <a:off x="3979624" y="707701"/>
              <a:ext cx="256661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  <a:r>
                <a:rPr sz="732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→ ∞</a:t>
              </a:r>
            </a:p>
          </p:txBody>
        </p:sp>
        <p:sp>
          <p:nvSpPr>
            <p:cNvPr id="93" name="penalty_description" descr="Editable text; source id penalty_description"/>
            <p:cNvSpPr txBox="1"/>
            <p:nvPr/>
          </p:nvSpPr>
          <p:spPr>
            <a:xfrm>
              <a:off x="3673341" y="808997"/>
              <a:ext cx="870596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Clipped active-set price</a:t>
              </a:r>
            </a:p>
          </p:txBody>
        </p:sp>
      </p:grpSp>
      <p:grpSp>
        <p:nvGrpSpPr>
          <p:cNvPr id="272" name="epsilon_parameter_axis" descr="Parameter rail; not a sequential processing arrow"/>
          <p:cNvGrpSpPr/>
          <p:nvPr/>
        </p:nvGrpSpPr>
        <p:grpSpPr>
          <a:xfrm>
            <a:off x="904270" y="886338"/>
            <a:ext cx="4016105" cy="209982"/>
            <a:chOff x="904270" y="886338"/>
            <a:chExt cx="4016105" cy="209982"/>
          </a:xfrm>
        </p:grpSpPr>
        <p:sp>
          <p:nvSpPr>
            <p:cNvPr id="94" name="epsilon_axis" descr="Editable line; source id epsilon_axis"/>
            <p:cNvSpPr/>
            <p:nvPr/>
          </p:nvSpPr>
          <p:spPr>
            <a:xfrm>
              <a:off x="922613" y="936302"/>
              <a:ext cx="3901257" cy="38328"/>
            </a:xfrm>
            <a:custGeom>
              <a:avLst/>
              <a:gdLst/>
              <a:ahLst/>
              <a:cxnLst/>
              <a:rect l="l" t="t" r="r" b="b"/>
              <a:pathLst>
                <a:path w="1425000" h="14000">
                  <a:moveTo>
                    <a:pt x="0" y="5750"/>
                  </a:moveTo>
                  <a:lnTo>
                    <a:pt x="1412000" y="5750"/>
                  </a:lnTo>
                  <a:lnTo>
                    <a:pt x="1412000" y="0"/>
                  </a:lnTo>
                  <a:lnTo>
                    <a:pt x="1425000" y="7000"/>
                  </a:lnTo>
                  <a:lnTo>
                    <a:pt x="1412000" y="14000"/>
                  </a:lnTo>
                  <a:lnTo>
                    <a:pt x="14120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psilon_mark_0" descr="Editable shape; source id epsilon_mark_0"/>
            <p:cNvSpPr/>
            <p:nvPr/>
          </p:nvSpPr>
          <p:spPr>
            <a:xfrm>
              <a:off x="904270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psilon_mark_1" descr="Editable shape; source id epsilon_mark_1"/>
            <p:cNvSpPr/>
            <p:nvPr/>
          </p:nvSpPr>
          <p:spPr>
            <a:xfrm>
              <a:off x="2494888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psilon_mark_2" descr="Editable shape; source id epsilon_mark_2"/>
            <p:cNvSpPr/>
            <p:nvPr/>
          </p:nvSpPr>
          <p:spPr>
            <a:xfrm>
              <a:off x="4088244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psilon_axis_symbol" descr="Editable text; source id epsilon_axis_symbol"/>
            <p:cNvSpPr txBox="1"/>
            <p:nvPr/>
          </p:nvSpPr>
          <p:spPr>
            <a:xfrm>
              <a:off x="4869043" y="886338"/>
              <a:ext cx="51332" cy="121554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  <p:sp>
          <p:nvSpPr>
            <p:cNvPr id="99" name="axis_subtitle" descr="Editable text; source id axis_subtitle"/>
            <p:cNvSpPr txBox="1"/>
            <p:nvPr/>
          </p:nvSpPr>
          <p:spPr>
            <a:xfrm>
              <a:off x="1931710" y="984211"/>
              <a:ext cx="116577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Same graph and budgets; vary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</p:grpSp>
      <p:grpSp>
        <p:nvGrpSpPr>
          <p:cNvPr id="273" name="shared_interface_brace" descr="Native line segments following the measured source brace"/>
          <p:cNvGrpSpPr/>
          <p:nvPr/>
        </p:nvGrpSpPr>
        <p:grpSpPr>
          <a:xfrm>
            <a:off x="328526" y="1111516"/>
            <a:ext cx="4372147" cy="117722"/>
            <a:chOff x="328526" y="1111516"/>
            <a:chExt cx="4372147" cy="117722"/>
          </a:xfrm>
        </p:grpSpPr>
        <p:cxnSp>
          <p:nvCxnSpPr>
            <p:cNvPr id="100" name="shared_interface_brace_00" descr="Editable line; source id shared_interface_brace_00"/>
            <p:cNvCxnSpPr/>
            <p:nvPr/>
          </p:nvCxnSpPr>
          <p:spPr>
            <a:xfrm>
              <a:off x="328526" y="1111516"/>
              <a:ext cx="2776" cy="143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hared_interface_brace_01" descr="Editable line; source id shared_interface_brace_01"/>
            <p:cNvCxnSpPr/>
            <p:nvPr/>
          </p:nvCxnSpPr>
          <p:spPr>
            <a:xfrm>
              <a:off x="331302" y="1125894"/>
              <a:ext cx="6079" cy="12357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hared_interface_brace_02" descr="Editable line; source id shared_interface_brace_02"/>
            <p:cNvCxnSpPr/>
            <p:nvPr/>
          </p:nvCxnSpPr>
          <p:spPr>
            <a:xfrm>
              <a:off x="337381" y="1138251"/>
              <a:ext cx="9096" cy="1036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hared_interface_brace_03" descr="Editable line; source id shared_interface_brace_03"/>
            <p:cNvCxnSpPr/>
            <p:nvPr/>
          </p:nvCxnSpPr>
          <p:spPr>
            <a:xfrm>
              <a:off x="346477" y="1148619"/>
              <a:ext cx="11822" cy="841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hared_interface_brace_04" descr="Editable line; source id shared_interface_brace_04"/>
            <p:cNvCxnSpPr/>
            <p:nvPr/>
          </p:nvCxnSpPr>
          <p:spPr>
            <a:xfrm>
              <a:off x="358299" y="1157030"/>
              <a:ext cx="14261" cy="6486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hared_interface_brace_05" descr="Editable line; source id shared_interface_brace_05"/>
            <p:cNvCxnSpPr/>
            <p:nvPr/>
          </p:nvCxnSpPr>
          <p:spPr>
            <a:xfrm>
              <a:off x="372560" y="1163516"/>
              <a:ext cx="16410" cy="459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hared_interface_brace_06" descr="Editable line; source id shared_interface_brace_06"/>
            <p:cNvCxnSpPr/>
            <p:nvPr/>
          </p:nvCxnSpPr>
          <p:spPr>
            <a:xfrm>
              <a:off x="388970" y="1168110"/>
              <a:ext cx="18271" cy="2732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hared_interface_brace_07" descr="Editable line; source id shared_interface_brace_07"/>
            <p:cNvCxnSpPr/>
            <p:nvPr/>
          </p:nvCxnSpPr>
          <p:spPr>
            <a:xfrm>
              <a:off x="407241" y="1170842"/>
              <a:ext cx="19844" cy="90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hared_interface_brace_08" descr="Editable line; source id shared_interface_brace_08"/>
            <p:cNvCxnSpPr/>
            <p:nvPr/>
          </p:nvCxnSpPr>
          <p:spPr>
            <a:xfrm>
              <a:off x="427085" y="1171746"/>
              <a:ext cx="1982112" cy="0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hared_interface_brace_09" descr="Editable line; source id shared_interface_brace_09"/>
            <p:cNvCxnSpPr/>
            <p:nvPr/>
          </p:nvCxnSpPr>
          <p:spPr>
            <a:xfrm>
              <a:off x="2409197" y="1171746"/>
              <a:ext cx="19854" cy="89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hared_interface_brace_10" descr="Editable line; source id shared_interface_brace_10"/>
            <p:cNvCxnSpPr/>
            <p:nvPr/>
          </p:nvCxnSpPr>
          <p:spPr>
            <a:xfrm>
              <a:off x="2429051" y="1172644"/>
              <a:ext cx="18346" cy="269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hared_interface_brace_11" descr="Editable line; source id shared_interface_brace_11"/>
            <p:cNvCxnSpPr/>
            <p:nvPr/>
          </p:nvCxnSpPr>
          <p:spPr>
            <a:xfrm>
              <a:off x="2447397" y="1175339"/>
              <a:ext cx="16613" cy="449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hared_interface_brace_12" descr="Editable line; source id shared_interface_brace_12"/>
            <p:cNvCxnSpPr/>
            <p:nvPr/>
          </p:nvCxnSpPr>
          <p:spPr>
            <a:xfrm>
              <a:off x="2464010" y="1179830"/>
              <a:ext cx="14657" cy="6289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hared_interface_brace_13" descr="Editable line; source id shared_interface_brace_13"/>
            <p:cNvCxnSpPr/>
            <p:nvPr/>
          </p:nvCxnSpPr>
          <p:spPr>
            <a:xfrm>
              <a:off x="2478667" y="1186119"/>
              <a:ext cx="12475" cy="808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hared_interface_brace_14" descr="Editable line; source id shared_interface_brace_14"/>
            <p:cNvCxnSpPr/>
            <p:nvPr/>
          </p:nvCxnSpPr>
          <p:spPr>
            <a:xfrm>
              <a:off x="2491142" y="1194204"/>
              <a:ext cx="10068" cy="988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hared_interface_brace_15" descr="Editable line; source id shared_interface_brace_15"/>
            <p:cNvCxnSpPr/>
            <p:nvPr/>
          </p:nvCxnSpPr>
          <p:spPr>
            <a:xfrm>
              <a:off x="2501210" y="1204085"/>
              <a:ext cx="7438" cy="116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hared_interface_brace_16" descr="Editable line; source id shared_interface_brace_16"/>
            <p:cNvCxnSpPr/>
            <p:nvPr/>
          </p:nvCxnSpPr>
          <p:spPr>
            <a:xfrm>
              <a:off x="2508648" y="1215763"/>
              <a:ext cx="4583" cy="1347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hared_interface_brace_17" descr="Editable line; source id shared_interface_brace_17"/>
            <p:cNvCxnSpPr/>
            <p:nvPr/>
          </p:nvCxnSpPr>
          <p:spPr>
            <a:xfrm flipV="1">
              <a:off x="2513231" y="1215763"/>
              <a:ext cx="4582" cy="1347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hared_interface_brace_18" descr="Editable line; source id shared_interface_brace_18"/>
            <p:cNvCxnSpPr/>
            <p:nvPr/>
          </p:nvCxnSpPr>
          <p:spPr>
            <a:xfrm flipV="1">
              <a:off x="2517813" y="1204085"/>
              <a:ext cx="7438" cy="116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hared_interface_brace_19" descr="Editable line; source id shared_interface_brace_19"/>
            <p:cNvCxnSpPr/>
            <p:nvPr/>
          </p:nvCxnSpPr>
          <p:spPr>
            <a:xfrm flipV="1">
              <a:off x="2525251" y="1194204"/>
              <a:ext cx="10069" cy="988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hared_interface_brace_20" descr="Editable line; source id shared_interface_brace_20"/>
            <p:cNvCxnSpPr/>
            <p:nvPr/>
          </p:nvCxnSpPr>
          <p:spPr>
            <a:xfrm flipV="1">
              <a:off x="2535320" y="1186119"/>
              <a:ext cx="12474" cy="808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hared_interface_brace_21" descr="Editable line; source id shared_interface_brace_21"/>
            <p:cNvCxnSpPr/>
            <p:nvPr/>
          </p:nvCxnSpPr>
          <p:spPr>
            <a:xfrm flipV="1">
              <a:off x="2547794" y="1179830"/>
              <a:ext cx="14657" cy="6289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hared_interface_brace_22" descr="Editable line; source id shared_interface_brace_22"/>
            <p:cNvCxnSpPr/>
            <p:nvPr/>
          </p:nvCxnSpPr>
          <p:spPr>
            <a:xfrm flipV="1">
              <a:off x="2562451" y="1175339"/>
              <a:ext cx="16613" cy="449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hared_interface_brace_23" descr="Editable line; source id shared_interface_brace_23"/>
            <p:cNvCxnSpPr/>
            <p:nvPr/>
          </p:nvCxnSpPr>
          <p:spPr>
            <a:xfrm flipV="1">
              <a:off x="2579064" y="1172644"/>
              <a:ext cx="18346" cy="269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hared_interface_brace_24" descr="Editable line; source id shared_interface_brace_24"/>
            <p:cNvCxnSpPr/>
            <p:nvPr/>
          </p:nvCxnSpPr>
          <p:spPr>
            <a:xfrm flipV="1">
              <a:off x="2597410" y="1171746"/>
              <a:ext cx="19854" cy="89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hared_interface_brace_25" descr="Editable line; source id shared_interface_brace_25"/>
            <p:cNvCxnSpPr/>
            <p:nvPr/>
          </p:nvCxnSpPr>
          <p:spPr>
            <a:xfrm>
              <a:off x="2617264" y="1171746"/>
              <a:ext cx="1987588" cy="0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hared_interface_brace_26" descr="Editable line; source id shared_interface_brace_26"/>
            <p:cNvCxnSpPr/>
            <p:nvPr/>
          </p:nvCxnSpPr>
          <p:spPr>
            <a:xfrm flipV="1">
              <a:off x="4604852" y="1170842"/>
              <a:ext cx="20512" cy="90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hared_interface_brace_27" descr="Editable line; source id shared_interface_brace_27"/>
            <p:cNvCxnSpPr/>
            <p:nvPr/>
          </p:nvCxnSpPr>
          <p:spPr>
            <a:xfrm flipV="1">
              <a:off x="4625364" y="1168110"/>
              <a:ext cx="18330" cy="2732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hared_interface_brace_28" descr="Editable line; source id shared_interface_brace_28"/>
            <p:cNvCxnSpPr/>
            <p:nvPr/>
          </p:nvCxnSpPr>
          <p:spPr>
            <a:xfrm flipV="1">
              <a:off x="4643694" y="1163516"/>
              <a:ext cx="16020" cy="459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hared_interface_brace_29" descr="Editable line; source id shared_interface_brace_29"/>
            <p:cNvCxnSpPr/>
            <p:nvPr/>
          </p:nvCxnSpPr>
          <p:spPr>
            <a:xfrm flipV="1">
              <a:off x="4659714" y="1157030"/>
              <a:ext cx="13581" cy="6486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hared_interface_brace_30" descr="Editable line; source id shared_interface_brace_30"/>
            <p:cNvCxnSpPr/>
            <p:nvPr/>
          </p:nvCxnSpPr>
          <p:spPr>
            <a:xfrm flipV="1">
              <a:off x="4673295" y="1148619"/>
              <a:ext cx="11015" cy="841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hared_interface_brace_31" descr="Editable line; source id shared_interface_brace_31"/>
            <p:cNvCxnSpPr/>
            <p:nvPr/>
          </p:nvCxnSpPr>
          <p:spPr>
            <a:xfrm flipV="1">
              <a:off x="4684310" y="1138251"/>
              <a:ext cx="8320" cy="1036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hared_interface_brace_32" descr="Editable line; source id shared_interface_brace_32"/>
            <p:cNvCxnSpPr/>
            <p:nvPr/>
          </p:nvCxnSpPr>
          <p:spPr>
            <a:xfrm flipV="1">
              <a:off x="4692630" y="1125894"/>
              <a:ext cx="5497" cy="12357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hared_interface_brace_33" descr="Editable line; source id shared_interface_brace_33"/>
            <p:cNvCxnSpPr/>
            <p:nvPr/>
          </p:nvCxnSpPr>
          <p:spPr>
            <a:xfrm flipV="1">
              <a:off x="4698127" y="1111516"/>
              <a:ext cx="2546" cy="143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shared_policy_update_interface" descr="Band, editable shared price formula, and native explanatory leaders"/>
          <p:cNvGrpSpPr/>
          <p:nvPr/>
        </p:nvGrpSpPr>
        <p:grpSpPr>
          <a:xfrm>
            <a:off x="1149844" y="1256615"/>
            <a:ext cx="2732249" cy="525643"/>
            <a:chOff x="1149844" y="1256615"/>
            <a:chExt cx="2732249" cy="525643"/>
          </a:xfrm>
        </p:grpSpPr>
        <p:sp>
          <p:nvSpPr>
            <p:cNvPr id="134" name="policy_interface_band" descr="Editable shape; source id policy_interface_band"/>
            <p:cNvSpPr/>
            <p:nvPr/>
          </p:nvSpPr>
          <p:spPr>
            <a:xfrm>
              <a:off x="1149844" y="1256615"/>
              <a:ext cx="2732249" cy="525643"/>
            </a:xfrm>
            <a:prstGeom prst="roundRect">
              <a:avLst>
                <a:gd name="adj" fmla="val 6770"/>
              </a:avLst>
            </a:prstGeom>
            <a:solidFill>
              <a:srgbClr val="EDF5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interface_title" descr="Editable text; source id interface_title"/>
            <p:cNvSpPr txBox="1"/>
            <p:nvPr/>
          </p:nvSpPr>
          <p:spPr>
            <a:xfrm>
              <a:off x="1965001" y="1271673"/>
              <a:ext cx="1100565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1" i="0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1" i="0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rPr>
                <a:t>SafeOT-Dual: one price rule</a:t>
              </a:r>
            </a:p>
          </p:txBody>
        </p:sp>
        <p:grpSp>
          <p:nvGrpSpPr>
            <p:cNvPr id="274" name="shared_price_formula" descr="Formula parts: move together; enter the group to edit individual styles"/>
            <p:cNvGrpSpPr/>
            <p:nvPr/>
          </p:nvGrpSpPr>
          <p:grpSpPr>
            <a:xfrm>
              <a:off x="1755565" y="1398292"/>
              <a:ext cx="1504380" cy="158404"/>
              <a:chOff x="1755565" y="1398292"/>
              <a:chExt cx="1504380" cy="158404"/>
            </a:xfrm>
          </p:grpSpPr>
          <p:sp>
            <p:nvSpPr>
              <p:cNvPr id="136" name="shared_price_formula_0" descr="Editable text; source id shared_price_formula_0"/>
              <p:cNvSpPr txBox="1"/>
              <p:nvPr/>
            </p:nvSpPr>
            <p:spPr>
              <a:xfrm>
                <a:off x="1755565" y="1405137"/>
                <a:ext cx="6312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91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37" name="shared_price_formula_1" descr="Editable text; source id shared_price_formula_1"/>
              <p:cNvSpPr txBox="1"/>
              <p:nvPr/>
            </p:nvSpPr>
            <p:spPr>
              <a:xfrm>
                <a:off x="1876710" y="1405137"/>
                <a:ext cx="7204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</a:t>
                </a:r>
              </a:p>
            </p:txBody>
          </p:sp>
          <p:sp>
            <p:nvSpPr>
              <p:cNvPr id="138" name="shared_price_formula_2" descr="Editable text; source id shared_price_formula_2"/>
              <p:cNvSpPr txBox="1"/>
              <p:nvPr/>
            </p:nvSpPr>
            <p:spPr>
              <a:xfrm>
                <a:off x="2010858" y="1405137"/>
                <a:ext cx="602983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filtered clip(</a:t>
                </a:r>
              </a:p>
            </p:txBody>
          </p:sp>
          <p:sp>
            <p:nvSpPr>
              <p:cNvPr id="139" name="shared_price_formula_3" descr="Editable text; source id shared_price_formula_3"/>
              <p:cNvSpPr txBox="1"/>
              <p:nvPr/>
            </p:nvSpPr>
            <p:spPr>
              <a:xfrm>
                <a:off x="2620686" y="1405137"/>
                <a:ext cx="6312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91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40" name="shared_price_formula_4" descr="Editable text; source id shared_price_formula_4"/>
              <p:cNvSpPr txBox="1"/>
              <p:nvPr/>
            </p:nvSpPr>
            <p:spPr>
              <a:xfrm>
                <a:off x="2695289" y="1398292"/>
                <a:ext cx="40381" cy="8722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54"/>
                  </a:lnSpc>
                  <a:spcBef>
                    <a:spcPts val="0"/>
                  </a:spcBef>
                  <a:spcAft>
                    <a:spcPts val="0"/>
                  </a:spcAft>
                  <a:defRPr sz="569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9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41" name="shared_price_formula_5" descr="Editable text; source id shared_price_formula_5"/>
              <p:cNvSpPr txBox="1"/>
              <p:nvPr/>
            </p:nvSpPr>
            <p:spPr>
              <a:xfrm>
                <a:off x="2689814" y="1469473"/>
                <a:ext cx="32852" cy="8722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54"/>
                  </a:lnSpc>
                  <a:spcBef>
                    <a:spcPts val="0"/>
                  </a:spcBef>
                  <a:spcAft>
                    <a:spcPts val="0"/>
                  </a:spcAft>
                  <a:defRPr sz="569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9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ε</a:t>
                </a:r>
              </a:p>
            </p:txBody>
          </p:sp>
          <p:sp>
            <p:nvSpPr>
              <p:cNvPr id="142" name="shared_price_formula_6" descr="Editable text; source id shared_price_formula_6"/>
              <p:cNvSpPr txBox="1"/>
              <p:nvPr/>
            </p:nvSpPr>
            <p:spPr>
              <a:xfrm>
                <a:off x="2739093" y="1405137"/>
                <a:ext cx="154681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, 0,</a:t>
                </a:r>
              </a:p>
            </p:txBody>
          </p:sp>
          <p:sp>
            <p:nvSpPr>
              <p:cNvPr id="143" name="shared_price_formula_7" descr="Editable text; source id shared_price_formula_7"/>
              <p:cNvSpPr txBox="1"/>
              <p:nvPr/>
            </p:nvSpPr>
            <p:spPr>
              <a:xfrm>
                <a:off x="2897881" y="1405137"/>
                <a:ext cx="5757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4" name="shared_price_formula_8" descr="Editable text; source id shared_price_formula_8"/>
              <p:cNvSpPr txBox="1"/>
              <p:nvPr/>
            </p:nvSpPr>
            <p:spPr>
              <a:xfrm>
                <a:off x="2955373" y="1405137"/>
                <a:ext cx="4448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  <p:sp>
            <p:nvSpPr>
              <p:cNvPr id="145" name="shared_price_formula_9" descr="Editable text; source id shared_price_formula_9"/>
              <p:cNvSpPr txBox="1"/>
              <p:nvPr/>
            </p:nvSpPr>
            <p:spPr>
              <a:xfrm>
                <a:off x="3056669" y="1405137"/>
                <a:ext cx="7204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  <p:sp>
            <p:nvSpPr>
              <p:cNvPr id="146" name="shared_price_formula_10" descr="Editable text; source id shared_price_formula_10"/>
              <p:cNvSpPr txBox="1"/>
              <p:nvPr/>
            </p:nvSpPr>
            <p:spPr>
              <a:xfrm>
                <a:off x="3191502" y="1405137"/>
                <a:ext cx="68443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2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</p:grpSp>
        <p:grpSp>
          <p:nvGrpSpPr>
            <p:cNvPr id="275" name="graph_price_underbrace" descr="Native line segments following the measured source brace"/>
            <p:cNvGrpSpPr/>
            <p:nvPr/>
          </p:nvGrpSpPr>
          <p:grpSpPr>
            <a:xfrm>
              <a:off x="2023178" y="1560502"/>
              <a:ext cx="952728" cy="43804"/>
              <a:chOff x="2023178" y="1560502"/>
              <a:chExt cx="952728" cy="43804"/>
            </a:xfrm>
          </p:grpSpPr>
          <p:cxnSp>
            <p:nvCxnSpPr>
              <p:cNvPr id="147" name="graph_price_underbrace_00" descr="Editable line; source id graph_price_underbrace_00"/>
              <p:cNvCxnSpPr/>
              <p:nvPr/>
            </p:nvCxnSpPr>
            <p:spPr>
              <a:xfrm>
                <a:off x="2023178" y="1560502"/>
                <a:ext cx="1533" cy="725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raph_price_underbrace_01" descr="Editable line; source id graph_price_underbrace_01"/>
              <p:cNvCxnSpPr/>
              <p:nvPr/>
            </p:nvCxnSpPr>
            <p:spPr>
              <a:xfrm>
                <a:off x="2024711" y="1567752"/>
                <a:ext cx="4161" cy="541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raph_price_underbrace_02" descr="Editable line; source id graph_price_underbrace_02"/>
              <p:cNvCxnSpPr/>
              <p:nvPr/>
            </p:nvCxnSpPr>
            <p:spPr>
              <a:xfrm>
                <a:off x="2028872" y="1573162"/>
                <a:ext cx="6133" cy="370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raph_price_underbrace_03" descr="Editable line; source id graph_price_underbrace_03"/>
              <p:cNvCxnSpPr/>
              <p:nvPr/>
            </p:nvCxnSpPr>
            <p:spPr>
              <a:xfrm>
                <a:off x="2035005" y="1576863"/>
                <a:ext cx="7447" cy="212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raph_price_underbrace_04" descr="Editable line; source id graph_price_underbrace_04"/>
              <p:cNvCxnSpPr/>
              <p:nvPr/>
            </p:nvCxnSpPr>
            <p:spPr>
              <a:xfrm>
                <a:off x="2042452" y="1578988"/>
                <a:ext cx="8103" cy="67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raph_price_underbrace_05" descr="Editable line; source id graph_price_underbrace_05"/>
              <p:cNvCxnSpPr/>
              <p:nvPr/>
            </p:nvCxnSpPr>
            <p:spPr>
              <a:xfrm>
                <a:off x="2050555" y="1579667"/>
                <a:ext cx="421610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raph_price_underbrace_06" descr="Editable line; source id graph_price_underbrace_06"/>
              <p:cNvCxnSpPr/>
              <p:nvPr/>
            </p:nvCxnSpPr>
            <p:spPr>
              <a:xfrm>
                <a:off x="2472165" y="157966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raph_price_underbrace_07" descr="Editable line; source id graph_price_underbrace_07"/>
              <p:cNvCxnSpPr/>
              <p:nvPr/>
            </p:nvCxnSpPr>
            <p:spPr>
              <a:xfrm>
                <a:off x="2481320" y="1580652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raph_price_underbrace_08" descr="Editable line; source id graph_price_underbrace_08"/>
              <p:cNvCxnSpPr/>
              <p:nvPr/>
            </p:nvCxnSpPr>
            <p:spPr>
              <a:xfrm>
                <a:off x="2488898" y="1583609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raph_price_underbrace_09" descr="Editable line; source id graph_price_underbrace_09"/>
              <p:cNvCxnSpPr/>
              <p:nvPr/>
            </p:nvCxnSpPr>
            <p:spPr>
              <a:xfrm>
                <a:off x="2494636" y="1588537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raph_price_underbrace_10" descr="Editable line; source id graph_price_underbrace_10"/>
              <p:cNvCxnSpPr/>
              <p:nvPr/>
            </p:nvCxnSpPr>
            <p:spPr>
              <a:xfrm>
                <a:off x="2498272" y="1595436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raph_price_underbrace_11" descr="Editable line; source id graph_price_underbrace_11"/>
              <p:cNvCxnSpPr/>
              <p:nvPr/>
            </p:nvCxnSpPr>
            <p:spPr>
              <a:xfrm flipV="1">
                <a:off x="2499542" y="1595436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raph_price_underbrace_12" descr="Editable line; source id graph_price_underbrace_12"/>
              <p:cNvCxnSpPr/>
              <p:nvPr/>
            </p:nvCxnSpPr>
            <p:spPr>
              <a:xfrm flipV="1">
                <a:off x="2500812" y="1588537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raph_price_underbrace_13" descr="Editable line; source id graph_price_underbrace_13"/>
              <p:cNvCxnSpPr/>
              <p:nvPr/>
            </p:nvCxnSpPr>
            <p:spPr>
              <a:xfrm flipV="1">
                <a:off x="2504448" y="1583609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raph_price_underbrace_14" descr="Editable line; source id graph_price_underbrace_14"/>
              <p:cNvCxnSpPr/>
              <p:nvPr/>
            </p:nvCxnSpPr>
            <p:spPr>
              <a:xfrm flipV="1">
                <a:off x="2510186" y="1580652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raph_price_underbrace_15" descr="Editable line; source id graph_price_underbrace_15"/>
              <p:cNvCxnSpPr/>
              <p:nvPr/>
            </p:nvCxnSpPr>
            <p:spPr>
              <a:xfrm flipV="1">
                <a:off x="2517764" y="157966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raph_price_underbrace_16" descr="Editable line; source id graph_price_underbrace_16"/>
              <p:cNvCxnSpPr/>
              <p:nvPr/>
            </p:nvCxnSpPr>
            <p:spPr>
              <a:xfrm>
                <a:off x="2526919" y="1579667"/>
                <a:ext cx="421610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raph_price_underbrace_17" descr="Editable line; source id graph_price_underbrace_17"/>
              <p:cNvCxnSpPr/>
              <p:nvPr/>
            </p:nvCxnSpPr>
            <p:spPr>
              <a:xfrm flipV="1">
                <a:off x="2948529" y="1578988"/>
                <a:ext cx="9155" cy="67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raph_price_underbrace_18" descr="Editable line; source id graph_price_underbrace_18"/>
              <p:cNvCxnSpPr/>
              <p:nvPr/>
            </p:nvCxnSpPr>
            <p:spPr>
              <a:xfrm flipV="1">
                <a:off x="2957684" y="1576863"/>
                <a:ext cx="7578" cy="212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raph_price_underbrace_19" descr="Editable line; source id graph_price_underbrace_19"/>
              <p:cNvCxnSpPr/>
              <p:nvPr/>
            </p:nvCxnSpPr>
            <p:spPr>
              <a:xfrm flipV="1">
                <a:off x="2965262" y="1573162"/>
                <a:ext cx="5738" cy="370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raph_price_underbrace_20" descr="Editable line; source id graph_price_underbrace_20"/>
              <p:cNvCxnSpPr/>
              <p:nvPr/>
            </p:nvCxnSpPr>
            <p:spPr>
              <a:xfrm flipV="1">
                <a:off x="2971000" y="1567752"/>
                <a:ext cx="3636" cy="541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raph_price_underbrace_21" descr="Editable line; source id graph_price_underbrace_21"/>
              <p:cNvCxnSpPr/>
              <p:nvPr/>
            </p:nvCxnSpPr>
            <p:spPr>
              <a:xfrm flipV="1">
                <a:off x="2974636" y="1560502"/>
                <a:ext cx="1270" cy="725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graph_price_label" descr="Editable text; source id graph_price_label"/>
            <p:cNvSpPr txBox="1"/>
            <p:nvPr/>
          </p:nvSpPr>
          <p:spPr>
            <a:xfrm>
              <a:off x="2158011" y="1616626"/>
              <a:ext cx="68716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graph-solved price</a:t>
              </a:r>
            </a:p>
          </p:txBody>
        </p:sp>
        <p:sp>
          <p:nvSpPr>
            <p:cNvPr id="170" name="feedback_marker" descr="Editable shape; source id feedback_marker"/>
            <p:cNvSpPr/>
            <p:nvPr/>
          </p:nvSpPr>
          <p:spPr>
            <a:xfrm>
              <a:off x="3211350" y="1555027"/>
              <a:ext cx="27377" cy="27377"/>
            </a:xfrm>
            <a:prstGeom prst="ellipse">
              <a:avLst/>
            </a:pr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1" name="feedback_leader" descr="Editable line; source id feedback_leader"/>
            <p:cNvCxnSpPr/>
            <p:nvPr/>
          </p:nvCxnSpPr>
          <p:spPr>
            <a:xfrm>
              <a:off x="3225039" y="1582404"/>
              <a:ext cx="0" cy="43804"/>
            </a:xfrm>
            <a:prstGeom prst="line">
              <a:avLst/>
            </a:prstGeom>
            <a:ln w="4927" cap="rnd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feedback_price_label" descr="Editable text; source id feedback_price_label"/>
            <p:cNvSpPr txBox="1"/>
            <p:nvPr/>
          </p:nvSpPr>
          <p:spPr>
            <a:xfrm>
              <a:off x="3103895" y="1624839"/>
              <a:ext cx="717283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cost-feedback price</a:t>
              </a:r>
            </a:p>
          </p:txBody>
        </p:sp>
      </p:grpSp>
      <p:grpSp>
        <p:nvGrpSpPr>
          <p:cNvPr id="277" name="update_advantage_formula" descr="Formula parts: move together; enter the group to edit individual styles"/>
          <p:cNvGrpSpPr/>
          <p:nvPr/>
        </p:nvGrpSpPr>
        <p:grpSpPr>
          <a:xfrm>
            <a:off x="1769938" y="1822640"/>
            <a:ext cx="1493429" cy="140664"/>
            <a:chOff x="1769938" y="1822640"/>
            <a:chExt cx="1493429" cy="140664"/>
          </a:xfrm>
        </p:grpSpPr>
        <p:sp>
          <p:nvSpPr>
            <p:cNvPr id="173" name="update_advantage_formula_0" descr="Editable text; source id update_advantage_formula_0"/>
            <p:cNvSpPr txBox="1"/>
            <p:nvPr/>
          </p:nvSpPr>
          <p:spPr>
            <a:xfrm>
              <a:off x="1769938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74" name="update_advantage_formula_1" descr="Editable text; source id update_advantage_formula_1"/>
            <p:cNvSpPr txBox="1"/>
            <p:nvPr/>
          </p:nvSpPr>
          <p:spPr>
            <a:xfrm>
              <a:off x="1832906" y="1881501"/>
              <a:ext cx="161728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update</a:t>
              </a:r>
            </a:p>
          </p:txBody>
        </p:sp>
        <p:sp>
          <p:nvSpPr>
            <p:cNvPr id="175" name="update_advantage_formula_2" descr="Editable text; source id update_advantage_formula_2"/>
            <p:cNvSpPr txBox="1"/>
            <p:nvPr/>
          </p:nvSpPr>
          <p:spPr>
            <a:xfrm>
              <a:off x="2032760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=</a:t>
              </a:r>
            </a:p>
          </p:txBody>
        </p:sp>
        <p:sp>
          <p:nvSpPr>
            <p:cNvPr id="176" name="update_advantage_formula_3" descr="Editable text; source id update_advantage_formula_3"/>
            <p:cNvSpPr txBox="1"/>
            <p:nvPr/>
          </p:nvSpPr>
          <p:spPr>
            <a:xfrm>
              <a:off x="2117629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(</a:t>
              </a:r>
            </a:p>
          </p:txBody>
        </p:sp>
        <p:sp>
          <p:nvSpPr>
            <p:cNvPr id="177" name="update_advantage_formula_4" descr="Editable text; source id update_advantage_formula_4"/>
            <p:cNvSpPr txBox="1"/>
            <p:nvPr/>
          </p:nvSpPr>
          <p:spPr>
            <a:xfrm>
              <a:off x="2150482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78" name="update_advantage_formula_5" descr="Editable text; source id update_advantage_formula_5"/>
            <p:cNvSpPr txBox="1"/>
            <p:nvPr/>
          </p:nvSpPr>
          <p:spPr>
            <a:xfrm>
              <a:off x="2218925" y="1884238"/>
              <a:ext cx="27377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179" name="update_advantage_formula_6" descr="Editable text; source id update_advantage_formula_6"/>
            <p:cNvSpPr txBox="1"/>
            <p:nvPr/>
          </p:nvSpPr>
          <p:spPr>
            <a:xfrm>
              <a:off x="2265467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−</a:t>
              </a:r>
            </a:p>
          </p:txBody>
        </p:sp>
        <p:sp>
          <p:nvSpPr>
            <p:cNvPr id="180" name="update_advantage_formula_7" descr="Editable text; source id update_advantage_formula_7"/>
            <p:cNvSpPr txBox="1"/>
            <p:nvPr/>
          </p:nvSpPr>
          <p:spPr>
            <a:xfrm>
              <a:off x="2350336" y="1822640"/>
              <a:ext cx="78025" cy="123115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37"/>
                </a:lnSpc>
                <a:spcBef>
                  <a:spcPts val="0"/>
                </a:spcBef>
                <a:spcAft>
                  <a:spcPts val="0"/>
                </a:spcAft>
                <a:def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∑</a:t>
              </a:r>
            </a:p>
          </p:txBody>
        </p:sp>
        <p:sp>
          <p:nvSpPr>
            <p:cNvPr id="181" name="update_advantage_formula_8" descr="Editable text; source id update_advantage_formula_8"/>
            <p:cNvSpPr txBox="1"/>
            <p:nvPr/>
          </p:nvSpPr>
          <p:spPr>
            <a:xfrm>
              <a:off x="2432468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2" name="update_advantage_formula_9" descr="Editable text; source id update_advantage_formula_9"/>
            <p:cNvSpPr txBox="1"/>
            <p:nvPr/>
          </p:nvSpPr>
          <p:spPr>
            <a:xfrm>
              <a:off x="2492698" y="1826746"/>
              <a:ext cx="52273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83" name="update_advantage_formula_10" descr="Editable text; source id update_advantage_formula_10"/>
            <p:cNvSpPr txBox="1"/>
            <p:nvPr/>
          </p:nvSpPr>
          <p:spPr>
            <a:xfrm>
              <a:off x="2547452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4" name="update_advantage_formula_11" descr="Editable text; source id update_advantage_formula_11"/>
            <p:cNvSpPr txBox="1"/>
            <p:nvPr/>
          </p:nvSpPr>
          <p:spPr>
            <a:xfrm>
              <a:off x="2585780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85" name="update_advantage_formula_12" descr="Editable text; source id update_advantage_formula_12"/>
            <p:cNvSpPr txBox="1"/>
            <p:nvPr/>
          </p:nvSpPr>
          <p:spPr>
            <a:xfrm>
              <a:off x="2654223" y="1884238"/>
              <a:ext cx="30350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sp>
          <p:nvSpPr>
            <p:cNvPr id="186" name="update_advantage_formula_13" descr="Editable text; source id update_advantage_formula_13"/>
            <p:cNvSpPr txBox="1"/>
            <p:nvPr/>
          </p:nvSpPr>
          <p:spPr>
            <a:xfrm>
              <a:off x="2681601" y="1908194"/>
              <a:ext cx="24639" cy="55110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401"/>
                </a:lnSpc>
                <a:spcBef>
                  <a:spcPts val="0"/>
                </a:spcBef>
                <a:spcAft>
                  <a:spcPts val="0"/>
                </a:spcAft>
                <a:defRPr sz="349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349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7" name="update_advantage_formula_14" descr="Editable text; source id update_advantage_formula_14"/>
            <p:cNvSpPr txBox="1"/>
            <p:nvPr/>
          </p:nvSpPr>
          <p:spPr>
            <a:xfrm>
              <a:off x="2711716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)</a:t>
              </a:r>
            </a:p>
          </p:txBody>
        </p:sp>
        <p:sp>
          <p:nvSpPr>
            <p:cNvPr id="188" name="update_advantage_formula_15" descr="Editable text; source id update_advantage_formula_15"/>
            <p:cNvSpPr txBox="1"/>
            <p:nvPr/>
          </p:nvSpPr>
          <p:spPr>
            <a:xfrm>
              <a:off x="2760995" y="1826746"/>
              <a:ext cx="32168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/</a:t>
              </a:r>
            </a:p>
          </p:txBody>
        </p:sp>
        <p:sp>
          <p:nvSpPr>
            <p:cNvPr id="189" name="update_advantage_formula_16" descr="Editable text; source id update_advantage_formula_16"/>
            <p:cNvSpPr txBox="1"/>
            <p:nvPr/>
          </p:nvSpPr>
          <p:spPr>
            <a:xfrm>
              <a:off x="2815749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(</a:t>
              </a:r>
            </a:p>
          </p:txBody>
        </p:sp>
        <p:sp>
          <p:nvSpPr>
            <p:cNvPr id="190" name="update_advantage_formula_17" descr="Editable text; source id update_advantage_formula_17"/>
            <p:cNvSpPr txBox="1"/>
            <p:nvPr/>
          </p:nvSpPr>
          <p:spPr>
            <a:xfrm>
              <a:off x="2848602" y="1826746"/>
              <a:ext cx="5338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1</a:t>
              </a:r>
            </a:p>
          </p:txBody>
        </p:sp>
        <p:sp>
          <p:nvSpPr>
            <p:cNvPr id="191" name="update_advantage_formula_18" descr="Editable text; source id update_advantage_formula_18"/>
            <p:cNvSpPr txBox="1"/>
            <p:nvPr/>
          </p:nvSpPr>
          <p:spPr>
            <a:xfrm>
              <a:off x="2914307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  <p:sp>
          <p:nvSpPr>
            <p:cNvPr id="192" name="update_advantage_formula_19" descr="Editable text; source id update_advantage_formula_19"/>
            <p:cNvSpPr txBox="1"/>
            <p:nvPr/>
          </p:nvSpPr>
          <p:spPr>
            <a:xfrm>
              <a:off x="2996439" y="1822640"/>
              <a:ext cx="78025" cy="123115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37"/>
                </a:lnSpc>
                <a:spcBef>
                  <a:spcPts val="0"/>
                </a:spcBef>
                <a:spcAft>
                  <a:spcPts val="0"/>
                </a:spcAft>
                <a:def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∑</a:t>
              </a:r>
            </a:p>
          </p:txBody>
        </p:sp>
        <p:sp>
          <p:nvSpPr>
            <p:cNvPr id="193" name="update_advantage_formula_20" descr="Editable text; source id update_advantage_formula_20"/>
            <p:cNvSpPr txBox="1"/>
            <p:nvPr/>
          </p:nvSpPr>
          <p:spPr>
            <a:xfrm>
              <a:off x="3078571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94" name="update_advantage_formula_21" descr="Editable text; source id update_advantage_formula_21"/>
            <p:cNvSpPr txBox="1"/>
            <p:nvPr/>
          </p:nvSpPr>
          <p:spPr>
            <a:xfrm>
              <a:off x="3133325" y="1826746"/>
              <a:ext cx="52273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95" name="update_advantage_formula_22" descr="Editable text; source id update_advantage_formula_22"/>
            <p:cNvSpPr txBox="1"/>
            <p:nvPr/>
          </p:nvSpPr>
          <p:spPr>
            <a:xfrm>
              <a:off x="3188080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96" name="update_advantage_formula_23" descr="Editable text; source id update_advantage_formula_23"/>
            <p:cNvSpPr txBox="1"/>
            <p:nvPr/>
          </p:nvSpPr>
          <p:spPr>
            <a:xfrm>
              <a:off x="3226408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)</a:t>
              </a:r>
            </a:p>
          </p:txBody>
        </p:sp>
      </p:grpSp>
      <p:grpSp>
        <p:nvGrpSpPr>
          <p:cNvPr id="280" name="zero_clip_regimes" descr="Zero graph clip gives fixed-penalty or adaptive-Lagrangian price settings"/>
          <p:cNvGrpSpPr/>
          <p:nvPr/>
        </p:nvGrpSpPr>
        <p:grpSpPr>
          <a:xfrm>
            <a:off x="1413548" y="2010858"/>
            <a:ext cx="2288197" cy="287324"/>
            <a:chOff x="1413548" y="2010858"/>
            <a:chExt cx="2288197" cy="287324"/>
          </a:xfrm>
        </p:grpSpPr>
        <p:sp>
          <p:nvSpPr>
            <p:cNvPr id="197" name="zero_clip_marker" descr="Editable shape; source id zero_clip_marker"/>
            <p:cNvSpPr/>
            <p:nvPr/>
          </p:nvSpPr>
          <p:spPr>
            <a:xfrm>
              <a:off x="2498173" y="2010858"/>
              <a:ext cx="30114" cy="30114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8" name="zero_clip_stem" descr="Editable line; source id zero_clip_stem"/>
            <p:cNvCxnSpPr/>
            <p:nvPr/>
          </p:nvCxnSpPr>
          <p:spPr>
            <a:xfrm>
              <a:off x="2513231" y="2042342"/>
              <a:ext cx="0" cy="71181"/>
            </a:xfrm>
            <a:prstGeom prst="line">
              <a:avLst/>
            </a:prstGeom>
            <a:ln w="5475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zero_clip_label" descr="Editable text; source id zero_clip_label"/>
            <p:cNvSpPr txBox="1"/>
            <p:nvPr/>
          </p:nvSpPr>
          <p:spPr>
            <a:xfrm>
              <a:off x="2548821" y="2010858"/>
              <a:ext cx="19536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= 0</a:t>
              </a:r>
            </a:p>
          </p:txBody>
        </p:sp>
        <p:grpSp>
          <p:nvGrpSpPr>
            <p:cNvPr id="278" name="fixed_beta_branch" descr="Native line segments following the measured source brace"/>
            <p:cNvGrpSpPr/>
            <p:nvPr/>
          </p:nvGrpSpPr>
          <p:grpSpPr>
            <a:xfrm>
              <a:off x="1908194" y="2113523"/>
              <a:ext cx="605037" cy="54754"/>
              <a:chOff x="1908194" y="2113523"/>
              <a:chExt cx="605037" cy="54754"/>
            </a:xfrm>
          </p:grpSpPr>
          <p:cxnSp>
            <p:nvCxnSpPr>
              <p:cNvPr id="200" name="fixed_beta_branch_00" descr="Editable line; source id fixed_beta_branch_00"/>
              <p:cNvCxnSpPr/>
              <p:nvPr/>
            </p:nvCxnSpPr>
            <p:spPr>
              <a:xfrm flipH="1">
                <a:off x="2511960" y="2113523"/>
                <a:ext cx="1271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fixed_beta_branch_01" descr="Editable line; source id fixed_beta_branch_01"/>
              <p:cNvCxnSpPr/>
              <p:nvPr/>
            </p:nvCxnSpPr>
            <p:spPr>
              <a:xfrm flipH="1">
                <a:off x="2508325" y="2122393"/>
                <a:ext cx="3635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fixed_beta_branch_02" descr="Editable line; source id fixed_beta_branch_02"/>
              <p:cNvCxnSpPr/>
              <p:nvPr/>
            </p:nvCxnSpPr>
            <p:spPr>
              <a:xfrm flipH="1">
                <a:off x="2502586" y="2129292"/>
                <a:ext cx="5739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fixed_beta_branch_03" descr="Editable line; source id fixed_beta_branch_03"/>
              <p:cNvCxnSpPr/>
              <p:nvPr/>
            </p:nvCxnSpPr>
            <p:spPr>
              <a:xfrm flipH="1">
                <a:off x="2495008" y="2134220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fixed_beta_branch_04" descr="Editable line; source id fixed_beta_branch_04"/>
              <p:cNvCxnSpPr/>
              <p:nvPr/>
            </p:nvCxnSpPr>
            <p:spPr>
              <a:xfrm flipH="1">
                <a:off x="2485853" y="213717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fixed_beta_branch_05" descr="Editable line; source id fixed_beta_branch_05"/>
              <p:cNvCxnSpPr/>
              <p:nvPr/>
            </p:nvCxnSpPr>
            <p:spPr>
              <a:xfrm flipH="1">
                <a:off x="1938308" y="2138162"/>
                <a:ext cx="547545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fixed_beta_branch_06" descr="Editable line; source id fixed_beta_branch_06"/>
              <p:cNvCxnSpPr/>
              <p:nvPr/>
            </p:nvCxnSpPr>
            <p:spPr>
              <a:xfrm flipH="1">
                <a:off x="1927818" y="2138162"/>
                <a:ext cx="10490" cy="1293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fixed_beta_branch_07" descr="Editable line; source id fixed_beta_branch_07"/>
              <p:cNvCxnSpPr/>
              <p:nvPr/>
            </p:nvCxnSpPr>
            <p:spPr>
              <a:xfrm flipH="1">
                <a:off x="1919429" y="2139455"/>
                <a:ext cx="8389" cy="378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fixed_beta_branch_08" descr="Editable line; source id fixed_beta_branch_08"/>
              <p:cNvCxnSpPr/>
              <p:nvPr/>
            </p:nvCxnSpPr>
            <p:spPr>
              <a:xfrm flipH="1">
                <a:off x="1913275" y="2143244"/>
                <a:ext cx="6154" cy="6154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fixed_beta_branch_09" descr="Editable line; source id fixed_beta_branch_09"/>
              <p:cNvCxnSpPr/>
              <p:nvPr/>
            </p:nvCxnSpPr>
            <p:spPr>
              <a:xfrm flipH="1">
                <a:off x="1909486" y="2149398"/>
                <a:ext cx="3789" cy="838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fixed_beta_branch_10" descr="Editable line; source id fixed_beta_branch_10"/>
              <p:cNvCxnSpPr/>
              <p:nvPr/>
            </p:nvCxnSpPr>
            <p:spPr>
              <a:xfrm flipH="1">
                <a:off x="1908194" y="2157786"/>
                <a:ext cx="1292" cy="1049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9" name="adaptive_beta_branch" descr="Native line segments following the measured source brace"/>
            <p:cNvGrpSpPr/>
            <p:nvPr/>
          </p:nvGrpSpPr>
          <p:grpSpPr>
            <a:xfrm>
              <a:off x="2513231" y="2113523"/>
              <a:ext cx="610512" cy="54754"/>
              <a:chOff x="2513231" y="2113523"/>
              <a:chExt cx="610512" cy="54754"/>
            </a:xfrm>
          </p:grpSpPr>
          <p:cxnSp>
            <p:nvCxnSpPr>
              <p:cNvPr id="211" name="adaptive_beta_branch_00" descr="Editable line; source id adaptive_beta_branch_00"/>
              <p:cNvCxnSpPr/>
              <p:nvPr/>
            </p:nvCxnSpPr>
            <p:spPr>
              <a:xfrm>
                <a:off x="2513231" y="2113523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adaptive_beta_branch_01" descr="Editable line; source id adaptive_beta_branch_01"/>
              <p:cNvCxnSpPr/>
              <p:nvPr/>
            </p:nvCxnSpPr>
            <p:spPr>
              <a:xfrm>
                <a:off x="2514501" y="2122393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adaptive_beta_branch_02" descr="Editable line; source id adaptive_beta_branch_02"/>
              <p:cNvCxnSpPr/>
              <p:nvPr/>
            </p:nvCxnSpPr>
            <p:spPr>
              <a:xfrm>
                <a:off x="2518137" y="2129292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adaptive_beta_branch_03" descr="Editable line; source id adaptive_beta_branch_03"/>
              <p:cNvCxnSpPr/>
              <p:nvPr/>
            </p:nvCxnSpPr>
            <p:spPr>
              <a:xfrm>
                <a:off x="2523875" y="2134220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adaptive_beta_branch_04" descr="Editable line; source id adaptive_beta_branch_04"/>
              <p:cNvCxnSpPr/>
              <p:nvPr/>
            </p:nvCxnSpPr>
            <p:spPr>
              <a:xfrm>
                <a:off x="2531453" y="213717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adaptive_beta_branch_05" descr="Editable line; source id adaptive_beta_branch_05"/>
              <p:cNvCxnSpPr/>
              <p:nvPr/>
            </p:nvCxnSpPr>
            <p:spPr>
              <a:xfrm>
                <a:off x="2540608" y="2138162"/>
                <a:ext cx="550283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adaptive_beta_branch_06" descr="Editable line; source id adaptive_beta_branch_06"/>
              <p:cNvCxnSpPr/>
              <p:nvPr/>
            </p:nvCxnSpPr>
            <p:spPr>
              <a:xfrm>
                <a:off x="3090891" y="2138162"/>
                <a:ext cx="11826" cy="1293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adaptive_beta_branch_07" descr="Editable line; source id adaptive_beta_branch_07"/>
              <p:cNvCxnSpPr/>
              <p:nvPr/>
            </p:nvCxnSpPr>
            <p:spPr>
              <a:xfrm>
                <a:off x="3102717" y="2139455"/>
                <a:ext cx="9199" cy="378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adaptive_beta_branch_08" descr="Editable line; source id adaptive_beta_branch_08"/>
              <p:cNvCxnSpPr/>
              <p:nvPr/>
            </p:nvCxnSpPr>
            <p:spPr>
              <a:xfrm>
                <a:off x="3111916" y="2143244"/>
                <a:ext cx="6571" cy="6154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adaptive_beta_branch_09" descr="Editable line; source id adaptive_beta_branch_09"/>
              <p:cNvCxnSpPr/>
              <p:nvPr/>
            </p:nvCxnSpPr>
            <p:spPr>
              <a:xfrm>
                <a:off x="3118487" y="2149398"/>
                <a:ext cx="3942" cy="838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adaptive_beta_branch_10" descr="Editable line; source id adaptive_beta_branch_10"/>
              <p:cNvCxnSpPr/>
              <p:nvPr/>
            </p:nvCxnSpPr>
            <p:spPr>
              <a:xfrm>
                <a:off x="3122429" y="2157786"/>
                <a:ext cx="1314" cy="1049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fixed_beta_label" descr="Editable text; source id fixed_beta_label"/>
            <p:cNvSpPr txBox="1"/>
            <p:nvPr/>
          </p:nvSpPr>
          <p:spPr>
            <a:xfrm>
              <a:off x="1413548" y="2186073"/>
              <a:ext cx="811339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Fixed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: fixed penalty</a:t>
              </a:r>
            </a:p>
          </p:txBody>
        </p:sp>
        <p:sp>
          <p:nvSpPr>
            <p:cNvPr id="223" name="adaptive_beta_label" descr="Editable text; source id adaptive_beta_label"/>
            <p:cNvSpPr txBox="1"/>
            <p:nvPr/>
          </p:nvSpPr>
          <p:spPr>
            <a:xfrm>
              <a:off x="2827727" y="2186073"/>
              <a:ext cx="87401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Adaptive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: Lagrangian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48" name="rollout_batch" descr="Current policy rollout; state, action, reward and cost samples"/>
          <p:cNvGrpSpPr/>
          <p:nvPr/>
        </p:nvGrpSpPr>
        <p:grpSpPr>
          <a:xfrm>
            <a:off x="56035" y="728463"/>
            <a:ext cx="686436" cy="1120713"/>
            <a:chOff x="56035" y="728463"/>
            <a:chExt cx="686436" cy="1120713"/>
          </a:xfrm>
        </p:grpSpPr>
        <p:sp>
          <p:nvSpPr>
            <p:cNvPr id="2" name="rollout_body" descr="Editable shape; source id rollout_body"/>
            <p:cNvSpPr/>
            <p:nvPr/>
          </p:nvSpPr>
          <p:spPr>
            <a:xfrm>
              <a:off x="56035" y="728463"/>
              <a:ext cx="686436" cy="1120713"/>
            </a:xfrm>
            <a:prstGeom prst="roundRect">
              <a:avLst>
                <a:gd name="adj" fmla="val 4081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llout_title" descr="Editable text; source id rollout_title"/>
            <p:cNvSpPr txBox="1"/>
            <p:nvPr/>
          </p:nvSpPr>
          <p:spPr>
            <a:xfrm>
              <a:off x="105017" y="776794"/>
              <a:ext cx="589873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Rollout batch</a:t>
              </a:r>
            </a:p>
          </p:txBody>
        </p:sp>
        <p:grpSp>
          <p:nvGrpSpPr>
            <p:cNvPr id="243" name="trajectory_1" descr="Native editable semantic group"/>
            <p:cNvGrpSpPr/>
            <p:nvPr/>
          </p:nvGrpSpPr>
          <p:grpSpPr>
            <a:xfrm>
              <a:off x="88256" y="937896"/>
              <a:ext cx="597619" cy="118515"/>
              <a:chOff x="88256" y="937896"/>
              <a:chExt cx="597619" cy="118515"/>
            </a:xfrm>
          </p:grpSpPr>
          <p:grpSp>
            <p:nvGrpSpPr>
              <p:cNvPr id="242" name="tau_1" descr="Native editable mathematical parts; not OMML"/>
              <p:cNvGrpSpPr/>
              <p:nvPr/>
            </p:nvGrpSpPr>
            <p:grpSpPr>
              <a:xfrm>
                <a:off x="88256" y="937896"/>
                <a:ext cx="71445" cy="118515"/>
                <a:chOff x="88256" y="937896"/>
                <a:chExt cx="71445" cy="118515"/>
              </a:xfrm>
            </p:grpSpPr>
            <p:sp>
              <p:nvSpPr>
                <p:cNvPr id="4" name="tau_1_p0" descr="Editable text; source id tau_1_p0"/>
                <p:cNvSpPr txBox="1"/>
                <p:nvPr/>
              </p:nvSpPr>
              <p:spPr>
                <a:xfrm>
                  <a:off x="88256" y="949103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5" name="tau_1_p1" descr="Editable text; source id tau_1_p1"/>
                <p:cNvSpPr txBox="1"/>
                <p:nvPr/>
              </p:nvSpPr>
              <p:spPr>
                <a:xfrm>
                  <a:off x="127481" y="937896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6" name="traj_1_0" descr="Editable shape; source id traj_1_0"/>
              <p:cNvSpPr/>
              <p:nvPr/>
            </p:nvSpPr>
            <p:spPr>
              <a:xfrm>
                <a:off x="185478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traj_edge_1_0" descr="Editable line; source id traj_edge_1_0"/>
              <p:cNvSpPr/>
              <p:nvPr/>
            </p:nvSpPr>
            <p:spPr>
              <a:xfrm>
                <a:off x="254962" y="989029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raj_1_1" descr="Editable shape; source id traj_1_1"/>
              <p:cNvSpPr/>
              <p:nvPr/>
            </p:nvSpPr>
            <p:spPr>
              <a:xfrm>
                <a:off x="333972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traj_edge_1_1" descr="Editable line; source id traj_edge_1_1"/>
              <p:cNvSpPr/>
              <p:nvPr/>
            </p:nvSpPr>
            <p:spPr>
              <a:xfrm>
                <a:off x="403457" y="989029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raj_1_2" descr="Editable shape; source id traj_1_2"/>
              <p:cNvSpPr/>
              <p:nvPr/>
            </p:nvSpPr>
            <p:spPr>
              <a:xfrm>
                <a:off x="476863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traj_edge_1_2" descr="Editable line; source id traj_edge_1_2"/>
              <p:cNvSpPr/>
              <p:nvPr/>
            </p:nvSpPr>
            <p:spPr>
              <a:xfrm>
                <a:off x="546348" y="989029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raj_1_3" descr="Editable shape; source id traj_1_3"/>
              <p:cNvSpPr/>
              <p:nvPr/>
            </p:nvSpPr>
            <p:spPr>
              <a:xfrm>
                <a:off x="625357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5" name="trajectory_2" descr="Native editable semantic group"/>
            <p:cNvGrpSpPr/>
            <p:nvPr/>
          </p:nvGrpSpPr>
          <p:grpSpPr>
            <a:xfrm>
              <a:off x="88256" y="1083589"/>
              <a:ext cx="597619" cy="118515"/>
              <a:chOff x="88256" y="1083589"/>
              <a:chExt cx="597619" cy="118515"/>
            </a:xfrm>
          </p:grpSpPr>
          <p:grpSp>
            <p:nvGrpSpPr>
              <p:cNvPr id="244" name="tau_2" descr="Native editable mathematical parts; not OMML"/>
              <p:cNvGrpSpPr/>
              <p:nvPr/>
            </p:nvGrpSpPr>
            <p:grpSpPr>
              <a:xfrm>
                <a:off x="88256" y="1083589"/>
                <a:ext cx="71445" cy="118515"/>
                <a:chOff x="88256" y="1083589"/>
                <a:chExt cx="71445" cy="118515"/>
              </a:xfrm>
            </p:grpSpPr>
            <p:sp>
              <p:nvSpPr>
                <p:cNvPr id="13" name="tau_2_p0" descr="Editable text; source id tau_2_p0"/>
                <p:cNvSpPr txBox="1"/>
                <p:nvPr/>
              </p:nvSpPr>
              <p:spPr>
                <a:xfrm>
                  <a:off x="88256" y="1094796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14" name="tau_2_p1" descr="Editable text; source id tau_2_p1"/>
                <p:cNvSpPr txBox="1"/>
                <p:nvPr/>
              </p:nvSpPr>
              <p:spPr>
                <a:xfrm>
                  <a:off x="127481" y="1083589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5" name="traj_2_0" descr="Editable shape; source id traj_2_0"/>
              <p:cNvSpPr/>
              <p:nvPr/>
            </p:nvSpPr>
            <p:spPr>
              <a:xfrm>
                <a:off x="185478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raj_edge_2_0" descr="Editable line; source id traj_edge_2_0"/>
              <p:cNvSpPr/>
              <p:nvPr/>
            </p:nvSpPr>
            <p:spPr>
              <a:xfrm>
                <a:off x="254962" y="1134722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raj_2_1" descr="Editable shape; source id traj_2_1"/>
              <p:cNvSpPr/>
              <p:nvPr/>
            </p:nvSpPr>
            <p:spPr>
              <a:xfrm>
                <a:off x="333972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raj_edge_2_1" descr="Editable line; source id traj_edge_2_1"/>
              <p:cNvSpPr/>
              <p:nvPr/>
            </p:nvSpPr>
            <p:spPr>
              <a:xfrm>
                <a:off x="403457" y="1134722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traj_2_2" descr="Editable shape; source id traj_2_2"/>
              <p:cNvSpPr/>
              <p:nvPr/>
            </p:nvSpPr>
            <p:spPr>
              <a:xfrm>
                <a:off x="476863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raj_edge_2_2" descr="Editable line; source id traj_edge_2_2"/>
              <p:cNvSpPr/>
              <p:nvPr/>
            </p:nvSpPr>
            <p:spPr>
              <a:xfrm>
                <a:off x="546348" y="1134722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traj_2_3" descr="Editable shape; source id traj_2_3"/>
              <p:cNvSpPr/>
              <p:nvPr/>
            </p:nvSpPr>
            <p:spPr>
              <a:xfrm>
                <a:off x="625357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7" name="trajectory_3" descr="Native editable semantic group"/>
            <p:cNvGrpSpPr/>
            <p:nvPr/>
          </p:nvGrpSpPr>
          <p:grpSpPr>
            <a:xfrm>
              <a:off x="88256" y="1229282"/>
              <a:ext cx="597619" cy="118515"/>
              <a:chOff x="88256" y="1229282"/>
              <a:chExt cx="597619" cy="118515"/>
            </a:xfrm>
          </p:grpSpPr>
          <p:grpSp>
            <p:nvGrpSpPr>
              <p:cNvPr id="246" name="tau_3" descr="Native editable mathematical parts; not OMML"/>
              <p:cNvGrpSpPr/>
              <p:nvPr/>
            </p:nvGrpSpPr>
            <p:grpSpPr>
              <a:xfrm>
                <a:off x="88256" y="1229282"/>
                <a:ext cx="71445" cy="118515"/>
                <a:chOff x="88256" y="1229282"/>
                <a:chExt cx="71445" cy="118515"/>
              </a:xfrm>
            </p:grpSpPr>
            <p:sp>
              <p:nvSpPr>
                <p:cNvPr id="22" name="tau_3_p0" descr="Editable text; source id tau_3_p0"/>
                <p:cNvSpPr txBox="1"/>
                <p:nvPr/>
              </p:nvSpPr>
              <p:spPr>
                <a:xfrm>
                  <a:off x="88256" y="1240489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23" name="tau_3_p1" descr="Editable text; source id tau_3_p1"/>
                <p:cNvSpPr txBox="1"/>
                <p:nvPr/>
              </p:nvSpPr>
              <p:spPr>
                <a:xfrm>
                  <a:off x="127481" y="1229282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24" name="traj_3_0" descr="Editable shape; source id traj_3_0"/>
              <p:cNvSpPr/>
              <p:nvPr/>
            </p:nvSpPr>
            <p:spPr>
              <a:xfrm>
                <a:off x="185478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raj_edge_3_0" descr="Editable line; source id traj_edge_3_0"/>
              <p:cNvSpPr/>
              <p:nvPr/>
            </p:nvSpPr>
            <p:spPr>
              <a:xfrm>
                <a:off x="254962" y="1280415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traj_3_1" descr="Editable shape; source id traj_3_1"/>
              <p:cNvSpPr/>
              <p:nvPr/>
            </p:nvSpPr>
            <p:spPr>
              <a:xfrm>
                <a:off x="333972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traj_edge_3_1" descr="Editable line; source id traj_edge_3_1"/>
              <p:cNvSpPr/>
              <p:nvPr/>
            </p:nvSpPr>
            <p:spPr>
              <a:xfrm>
                <a:off x="403457" y="1280415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raj_3_2" descr="Editable shape; source id traj_3_2"/>
              <p:cNvSpPr/>
              <p:nvPr/>
            </p:nvSpPr>
            <p:spPr>
              <a:xfrm>
                <a:off x="476863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traj_edge_3_2" descr="Editable line; source id traj_edge_3_2"/>
              <p:cNvSpPr/>
              <p:nvPr/>
            </p:nvSpPr>
            <p:spPr>
              <a:xfrm>
                <a:off x="546348" y="1280415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raj_3_3" descr="Editable shape; source id traj_3_3"/>
              <p:cNvSpPr/>
              <p:nvPr/>
            </p:nvSpPr>
            <p:spPr>
              <a:xfrm>
                <a:off x="625357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" name="trajectory_ellipsis" descr="Editable text; source id trajectory_ellipsis"/>
            <p:cNvSpPr txBox="1"/>
            <p:nvPr/>
          </p:nvSpPr>
          <p:spPr>
            <a:xfrm>
              <a:off x="346020" y="1337150"/>
              <a:ext cx="105066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…</a:t>
              </a:r>
            </a:p>
          </p:txBody>
        </p:sp>
        <p:sp>
          <p:nvSpPr>
            <p:cNvPr id="32" name="rollout_states" descr="Editable text; source id rollout_states"/>
            <p:cNvSpPr txBox="1"/>
            <p:nvPr/>
          </p:nvSpPr>
          <p:spPr>
            <a:xfrm>
              <a:off x="147443" y="1459028"/>
              <a:ext cx="502219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states, actions</a:t>
              </a:r>
            </a:p>
          </p:txBody>
        </p:sp>
        <p:sp>
          <p:nvSpPr>
            <p:cNvPr id="33" name="rollout_rewards" descr="Editable text; source id rollout_rewards"/>
            <p:cNvSpPr txBox="1"/>
            <p:nvPr/>
          </p:nvSpPr>
          <p:spPr>
            <a:xfrm>
              <a:off x="142496" y="1565496"/>
              <a:ext cx="512113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rewards, costs</a:t>
              </a:r>
            </a:p>
          </p:txBody>
        </p:sp>
        <p:sp>
          <p:nvSpPr>
            <p:cNvPr id="34" name="current_policy" descr="Editable text; source id current_policy"/>
            <p:cNvSpPr txBox="1"/>
            <p:nvPr/>
          </p:nvSpPr>
          <p:spPr>
            <a:xfrm>
              <a:off x="137287" y="1671963"/>
              <a:ext cx="522532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under policy π</a:t>
              </a:r>
            </a:p>
          </p:txBody>
        </p:sp>
      </p:grpSp>
      <p:grpSp>
        <p:nvGrpSpPr>
          <p:cNvPr id="262" name="empirical_graph" descr="Empirical graph, transition frequency and edge-cost markers"/>
          <p:cNvGrpSpPr/>
          <p:nvPr/>
        </p:nvGrpSpPr>
        <p:grpSpPr>
          <a:xfrm>
            <a:off x="924588" y="448285"/>
            <a:ext cx="941398" cy="1106704"/>
            <a:chOff x="924588" y="448285"/>
            <a:chExt cx="941398" cy="1106704"/>
          </a:xfrm>
        </p:grpSpPr>
        <p:sp>
          <p:nvSpPr>
            <p:cNvPr id="35" name="empirical_body" descr="Editable shape; source id empirical_body"/>
            <p:cNvSpPr/>
            <p:nvPr/>
          </p:nvSpPr>
          <p:spPr>
            <a:xfrm>
              <a:off x="924588" y="448285"/>
              <a:ext cx="941398" cy="1106704"/>
            </a:xfrm>
            <a:prstGeom prst="roundRect">
              <a:avLst>
                <a:gd name="adj" fmla="val 2976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empirical_title" descr="Editable text; source id empirical_title"/>
            <p:cNvSpPr txBox="1"/>
            <p:nvPr/>
          </p:nvSpPr>
          <p:spPr>
            <a:xfrm>
              <a:off x="1036626" y="488210"/>
              <a:ext cx="718722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Empirical graph</a:t>
              </a:r>
            </a:p>
          </p:txBody>
        </p:sp>
        <p:sp>
          <p:nvSpPr>
            <p:cNvPr id="37" name="empirical_edge_0" descr="Editable line; source id empirical_edge_0"/>
            <p:cNvSpPr/>
            <p:nvPr/>
          </p:nvSpPr>
          <p:spPr>
            <a:xfrm>
              <a:off x="1081188" y="751211"/>
              <a:ext cx="95289" cy="65567"/>
            </a:xfrm>
            <a:custGeom>
              <a:avLst/>
              <a:gdLst/>
              <a:ahLst/>
              <a:cxnLst/>
              <a:rect l="l" t="t" r="r" b="b"/>
              <a:pathLst>
                <a:path w="34010" h="23402">
                  <a:moveTo>
                    <a:pt x="0" y="19215"/>
                  </a:moveTo>
                  <a:lnTo>
                    <a:pt x="22595" y="4466"/>
                  </a:lnTo>
                  <a:lnTo>
                    <a:pt x="20682" y="1535"/>
                  </a:lnTo>
                  <a:lnTo>
                    <a:pt x="34010" y="0"/>
                  </a:lnTo>
                  <a:lnTo>
                    <a:pt x="27241" y="11584"/>
                  </a:lnTo>
                  <a:lnTo>
                    <a:pt x="25328" y="8653"/>
                  </a:lnTo>
                  <a:lnTo>
                    <a:pt x="2733" y="23402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empirical_edge_1" descr="Editable line; source id empirical_edge_1"/>
            <p:cNvSpPr/>
            <p:nvPr/>
          </p:nvSpPr>
          <p:spPr>
            <a:xfrm>
              <a:off x="1297225" y="697644"/>
              <a:ext cx="112071" cy="33621"/>
            </a:xfrm>
            <a:custGeom>
              <a:avLst/>
              <a:gdLst/>
              <a:ahLst/>
              <a:cxnLst/>
              <a:rect l="l" t="t" r="r" b="b"/>
              <a:pathLst>
                <a:path w="40000" h="12000">
                  <a:moveTo>
                    <a:pt x="0" y="4000"/>
                  </a:moveTo>
                  <a:lnTo>
                    <a:pt x="28000" y="4000"/>
                  </a:lnTo>
                  <a:lnTo>
                    <a:pt x="28000" y="0"/>
                  </a:lnTo>
                  <a:lnTo>
                    <a:pt x="40000" y="6000"/>
                  </a:lnTo>
                  <a:lnTo>
                    <a:pt x="28000" y="12000"/>
                  </a:lnTo>
                  <a:lnTo>
                    <a:pt x="28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empirical_edge_2" descr="Editable line; source id empirical_edge_2"/>
            <p:cNvSpPr/>
            <p:nvPr/>
          </p:nvSpPr>
          <p:spPr>
            <a:xfrm>
              <a:off x="1529502" y="741892"/>
              <a:ext cx="155014" cy="92969"/>
            </a:xfrm>
            <a:custGeom>
              <a:avLst/>
              <a:gdLst/>
              <a:ahLst/>
              <a:cxnLst/>
              <a:rect l="l" t="t" r="r" b="b"/>
              <a:pathLst>
                <a:path w="55327" h="33182">
                  <a:moveTo>
                    <a:pt x="2004" y="0"/>
                  </a:moveTo>
                  <a:lnTo>
                    <a:pt x="45944" y="25439"/>
                  </a:lnTo>
                  <a:lnTo>
                    <a:pt x="47948" y="21977"/>
                  </a:lnTo>
                  <a:lnTo>
                    <a:pt x="55327" y="33182"/>
                  </a:lnTo>
                  <a:lnTo>
                    <a:pt x="41935" y="32362"/>
                  </a:lnTo>
                  <a:lnTo>
                    <a:pt x="43940" y="28901"/>
                  </a:lnTo>
                  <a:lnTo>
                    <a:pt x="0" y="3462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empirical_edge_3" descr="Editable line; source id empirical_edge_3"/>
            <p:cNvSpPr/>
            <p:nvPr/>
          </p:nvSpPr>
          <p:spPr>
            <a:xfrm>
              <a:off x="1070090" y="890205"/>
              <a:ext cx="72793" cy="79744"/>
            </a:xfrm>
            <a:custGeom>
              <a:avLst/>
              <a:gdLst/>
              <a:ahLst/>
              <a:cxnLst/>
              <a:rect l="l" t="t" r="r" b="b"/>
              <a:pathLst>
                <a:path w="25981" h="28462">
                  <a:moveTo>
                    <a:pt x="2969" y="0"/>
                  </a:moveTo>
                  <a:lnTo>
                    <a:pt x="19422" y="18216"/>
                  </a:lnTo>
                  <a:lnTo>
                    <a:pt x="22390" y="15535"/>
                  </a:lnTo>
                  <a:lnTo>
                    <a:pt x="25981" y="28462"/>
                  </a:lnTo>
                  <a:lnTo>
                    <a:pt x="13485" y="23578"/>
                  </a:lnTo>
                  <a:lnTo>
                    <a:pt x="16453" y="20897"/>
                  </a:lnTo>
                  <a:lnTo>
                    <a:pt x="0" y="2681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empirical_edge_4" descr="Editable line; source id empirical_edge_4"/>
            <p:cNvSpPr/>
            <p:nvPr/>
          </p:nvSpPr>
          <p:spPr>
            <a:xfrm>
              <a:off x="1252397" y="1003038"/>
              <a:ext cx="123278" cy="33621"/>
            </a:xfrm>
            <a:custGeom>
              <a:avLst/>
              <a:gdLst/>
              <a:ahLst/>
              <a:cxnLst/>
              <a:rect l="l" t="t" r="r" b="b"/>
              <a:pathLst>
                <a:path w="44000" h="12000">
                  <a:moveTo>
                    <a:pt x="0" y="4000"/>
                  </a:moveTo>
                  <a:lnTo>
                    <a:pt x="32000" y="4000"/>
                  </a:lnTo>
                  <a:lnTo>
                    <a:pt x="32000" y="0"/>
                  </a:lnTo>
                  <a:lnTo>
                    <a:pt x="44000" y="6000"/>
                  </a:lnTo>
                  <a:lnTo>
                    <a:pt x="32000" y="12000"/>
                  </a:lnTo>
                  <a:lnTo>
                    <a:pt x="32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empirical_edge_5" descr="Editable line; source id empirical_edge_5"/>
            <p:cNvSpPr/>
            <p:nvPr/>
          </p:nvSpPr>
          <p:spPr>
            <a:xfrm>
              <a:off x="1265851" y="765161"/>
              <a:ext cx="138952" cy="199291"/>
            </a:xfrm>
            <a:custGeom>
              <a:avLst/>
              <a:gdLst/>
              <a:ahLst/>
              <a:cxnLst/>
              <a:rect l="l" t="t" r="r" b="b"/>
              <a:pathLst>
                <a:path w="49594" h="71130">
                  <a:moveTo>
                    <a:pt x="2471" y="0"/>
                  </a:moveTo>
                  <a:lnTo>
                    <a:pt x="44027" y="60394"/>
                  </a:lnTo>
                  <a:lnTo>
                    <a:pt x="47734" y="57843"/>
                  </a:lnTo>
                  <a:lnTo>
                    <a:pt x="49594" y="71130"/>
                  </a:lnTo>
                  <a:lnTo>
                    <a:pt x="37848" y="64646"/>
                  </a:lnTo>
                  <a:lnTo>
                    <a:pt x="41556" y="62095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empirical_edge_6" descr="Editable line; source id empirical_edge_6"/>
            <p:cNvSpPr/>
            <p:nvPr/>
          </p:nvSpPr>
          <p:spPr>
            <a:xfrm>
              <a:off x="1499312" y="898848"/>
              <a:ext cx="183365" cy="94218"/>
            </a:xfrm>
            <a:custGeom>
              <a:avLst/>
              <a:gdLst/>
              <a:ahLst/>
              <a:cxnLst/>
              <a:rect l="l" t="t" r="r" b="b"/>
              <a:pathLst>
                <a:path w="65446" h="33628">
                  <a:moveTo>
                    <a:pt x="0" y="32021"/>
                  </a:moveTo>
                  <a:lnTo>
                    <a:pt x="54327" y="4603"/>
                  </a:lnTo>
                  <a:lnTo>
                    <a:pt x="52030" y="50"/>
                  </a:lnTo>
                  <a:lnTo>
                    <a:pt x="65446" y="0"/>
                  </a:lnTo>
                  <a:lnTo>
                    <a:pt x="57436" y="10763"/>
                  </a:lnTo>
                  <a:lnTo>
                    <a:pt x="55138" y="6210"/>
                  </a:lnTo>
                  <a:lnTo>
                    <a:pt x="811" y="33628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9" name="empirical_node_1_group" descr="Native editable semantic group"/>
            <p:cNvGrpSpPr/>
            <p:nvPr/>
          </p:nvGrpSpPr>
          <p:grpSpPr>
            <a:xfrm>
              <a:off x="972218" y="787300"/>
              <a:ext cx="117674" cy="117674"/>
              <a:chOff x="972218" y="787300"/>
              <a:chExt cx="117674" cy="117674"/>
            </a:xfrm>
          </p:grpSpPr>
          <p:sp>
            <p:nvSpPr>
              <p:cNvPr id="44" name="empirical_node_1" descr="Editable shape; source id empirical_node_1"/>
              <p:cNvSpPr/>
              <p:nvPr/>
            </p:nvSpPr>
            <p:spPr>
              <a:xfrm>
                <a:off x="972218" y="787300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empirical_node_1_label" descr="Editable text; source id empirical_node_1_label"/>
              <p:cNvSpPr txBox="1"/>
              <p:nvPr/>
            </p:nvSpPr>
            <p:spPr>
              <a:xfrm>
                <a:off x="1007240" y="792876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50" name="empirical_node_2_group" descr="Native editable semantic group"/>
            <p:cNvGrpSpPr/>
            <p:nvPr/>
          </p:nvGrpSpPr>
          <p:grpSpPr>
            <a:xfrm>
              <a:off x="1173946" y="655617"/>
              <a:ext cx="117674" cy="117674"/>
              <a:chOff x="1173946" y="655617"/>
              <a:chExt cx="117674" cy="117674"/>
            </a:xfrm>
          </p:grpSpPr>
          <p:sp>
            <p:nvSpPr>
              <p:cNvPr id="46" name="empirical_node_2" descr="Editable shape; source id empirical_node_2"/>
              <p:cNvSpPr/>
              <p:nvPr/>
            </p:nvSpPr>
            <p:spPr>
              <a:xfrm>
                <a:off x="1173946" y="655617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empirical_node_2_label" descr="Editable text; source id empirical_node_2_label"/>
              <p:cNvSpPr txBox="1"/>
              <p:nvPr/>
            </p:nvSpPr>
            <p:spPr>
              <a:xfrm>
                <a:off x="1208969" y="661192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51" name="empirical_node_3_group" descr="Native editable semantic group"/>
            <p:cNvGrpSpPr/>
            <p:nvPr/>
          </p:nvGrpSpPr>
          <p:grpSpPr>
            <a:xfrm>
              <a:off x="1417702" y="655617"/>
              <a:ext cx="117674" cy="117674"/>
              <a:chOff x="1417702" y="655617"/>
              <a:chExt cx="117674" cy="117674"/>
            </a:xfrm>
          </p:grpSpPr>
          <p:sp>
            <p:nvSpPr>
              <p:cNvPr id="48" name="empirical_node_3" descr="Editable shape; source id empirical_node_3"/>
              <p:cNvSpPr/>
              <p:nvPr/>
            </p:nvSpPr>
            <p:spPr>
              <a:xfrm>
                <a:off x="1417702" y="655617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empirical_node_3_label" descr="Editable text; source id empirical_node_3_label"/>
              <p:cNvSpPr txBox="1"/>
              <p:nvPr/>
            </p:nvSpPr>
            <p:spPr>
              <a:xfrm>
                <a:off x="1452724" y="661192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3</a:t>
                </a:r>
              </a:p>
            </p:txBody>
          </p:sp>
        </p:grpSp>
        <p:grpSp>
          <p:nvGrpSpPr>
            <p:cNvPr id="252" name="empirical_node_4_group" descr="Native editable semantic group"/>
            <p:cNvGrpSpPr/>
            <p:nvPr/>
          </p:nvGrpSpPr>
          <p:grpSpPr>
            <a:xfrm>
              <a:off x="1129118" y="961011"/>
              <a:ext cx="117674" cy="117674"/>
              <a:chOff x="1129118" y="961011"/>
              <a:chExt cx="117674" cy="117674"/>
            </a:xfrm>
          </p:grpSpPr>
          <p:sp>
            <p:nvSpPr>
              <p:cNvPr id="50" name="empirical_node_4" descr="Editable shape; source id empirical_node_4"/>
              <p:cNvSpPr/>
              <p:nvPr/>
            </p:nvSpPr>
            <p:spPr>
              <a:xfrm>
                <a:off x="1129118" y="961011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empirical_node_4_label" descr="Editable text; source id empirical_node_4_label"/>
              <p:cNvSpPr txBox="1"/>
              <p:nvPr/>
            </p:nvSpPr>
            <p:spPr>
              <a:xfrm>
                <a:off x="1164140" y="96658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4</a:t>
                </a:r>
              </a:p>
            </p:txBody>
          </p:sp>
        </p:grpSp>
        <p:grpSp>
          <p:nvGrpSpPr>
            <p:cNvPr id="253" name="empirical_node_5_group" descr="Native editable semantic group"/>
            <p:cNvGrpSpPr/>
            <p:nvPr/>
          </p:nvGrpSpPr>
          <p:grpSpPr>
            <a:xfrm>
              <a:off x="1384080" y="961011"/>
              <a:ext cx="117674" cy="117674"/>
              <a:chOff x="1384080" y="961011"/>
              <a:chExt cx="117674" cy="117674"/>
            </a:xfrm>
          </p:grpSpPr>
          <p:sp>
            <p:nvSpPr>
              <p:cNvPr id="52" name="empirical_node_5" descr="Editable shape; source id empirical_node_5"/>
              <p:cNvSpPr/>
              <p:nvPr/>
            </p:nvSpPr>
            <p:spPr>
              <a:xfrm>
                <a:off x="1384080" y="961011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empirical_node_5_label" descr="Editable text; source id empirical_node_5_label"/>
              <p:cNvSpPr txBox="1"/>
              <p:nvPr/>
            </p:nvSpPr>
            <p:spPr>
              <a:xfrm>
                <a:off x="1419102" y="96658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5</a:t>
                </a:r>
              </a:p>
            </p:txBody>
          </p:sp>
        </p:grpSp>
        <p:grpSp>
          <p:nvGrpSpPr>
            <p:cNvPr id="254" name="empirical_node_6_group" descr="Native editable semantic group"/>
            <p:cNvGrpSpPr/>
            <p:nvPr/>
          </p:nvGrpSpPr>
          <p:grpSpPr>
            <a:xfrm>
              <a:off x="1683871" y="809715"/>
              <a:ext cx="117674" cy="117674"/>
              <a:chOff x="1683871" y="809715"/>
              <a:chExt cx="117674" cy="117674"/>
            </a:xfrm>
          </p:grpSpPr>
          <p:sp>
            <p:nvSpPr>
              <p:cNvPr id="54" name="empirical_node_6" descr="Editable shape; source id empirical_node_6"/>
              <p:cNvSpPr/>
              <p:nvPr/>
            </p:nvSpPr>
            <p:spPr>
              <a:xfrm>
                <a:off x="1683871" y="809715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mpirical_node_6_label" descr="Editable text; source id empirical_node_6_label"/>
              <p:cNvSpPr txBox="1"/>
              <p:nvPr/>
            </p:nvSpPr>
            <p:spPr>
              <a:xfrm>
                <a:off x="1718893" y="815290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6</a:t>
                </a:r>
              </a:p>
            </p:txBody>
          </p:sp>
        </p:grpSp>
        <p:grpSp>
          <p:nvGrpSpPr>
            <p:cNvPr id="257" name="edge_width_legend" descr="Native editable semantic group"/>
            <p:cNvGrpSpPr/>
            <p:nvPr/>
          </p:nvGrpSpPr>
          <p:grpSpPr>
            <a:xfrm>
              <a:off x="1105303" y="1078686"/>
              <a:ext cx="397240" cy="130744"/>
              <a:chOff x="1105303" y="1078686"/>
              <a:chExt cx="397240" cy="130744"/>
            </a:xfrm>
          </p:grpSpPr>
          <p:sp>
            <p:nvSpPr>
              <p:cNvPr id="56" name="edgewidth_label" descr="Editable text; source id edgewidth_label"/>
              <p:cNvSpPr txBox="1"/>
              <p:nvPr/>
            </p:nvSpPr>
            <p:spPr>
              <a:xfrm>
                <a:off x="1105303" y="1086391"/>
                <a:ext cx="208732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width</a:t>
                </a:r>
              </a:p>
            </p:txBody>
          </p:sp>
          <p:sp>
            <p:nvSpPr>
              <p:cNvPr id="57" name="edgewidth_prop" descr="Editable text; source id edgewidth_prop"/>
              <p:cNvSpPr txBox="1"/>
              <p:nvPr/>
            </p:nvSpPr>
            <p:spPr>
              <a:xfrm>
                <a:off x="1326644" y="1083589"/>
                <a:ext cx="68249" cy="10926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27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DejaVu Sans"/>
                    <a:ea typeface="DejaVu Sans"/>
                    <a:cs typeface="DejaVu Sans"/>
                  </a:rPr>
                  <a:t>∝</a:t>
                </a:r>
              </a:p>
            </p:txBody>
          </p:sp>
          <p:grpSp>
            <p:nvGrpSpPr>
              <p:cNvPr id="255" name="edgewidth_f" descr="Native editable mathematical parts; not OMML"/>
              <p:cNvGrpSpPr/>
              <p:nvPr/>
            </p:nvGrpSpPr>
            <p:grpSpPr>
              <a:xfrm>
                <a:off x="1409997" y="1078686"/>
                <a:ext cx="92546" cy="130744"/>
                <a:chOff x="1409997" y="1078686"/>
                <a:chExt cx="92546" cy="130744"/>
              </a:xfrm>
            </p:grpSpPr>
            <p:sp>
              <p:nvSpPr>
                <p:cNvPr id="58" name="edgewidth_f_p0" descr="Editable text; source id edgewidth_f_p0"/>
                <p:cNvSpPr txBox="1"/>
                <p:nvPr/>
              </p:nvSpPr>
              <p:spPr>
                <a:xfrm>
                  <a:off x="1409997" y="1078686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59" name="edgewidth_f_p1" descr="Editable text; source id edgewidth_f_p1"/>
                <p:cNvSpPr txBox="1"/>
                <p:nvPr/>
              </p:nvSpPr>
              <p:spPr>
                <a:xfrm>
                  <a:off x="1463931" y="1134021"/>
                  <a:ext cx="38612" cy="754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7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7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ij</a:t>
                  </a:r>
                </a:p>
              </p:txBody>
            </p:sp>
          </p:grpSp>
          <p:grpSp>
            <p:nvGrpSpPr>
              <p:cNvPr id="256" name="edgewidth_hat" descr="Segments of one observed connector; external endpoints do not reroute"/>
              <p:cNvGrpSpPr/>
              <p:nvPr/>
            </p:nvGrpSpPr>
            <p:grpSpPr>
              <a:xfrm>
                <a:off x="1423305" y="1089893"/>
                <a:ext cx="47630" cy="11207"/>
                <a:chOff x="1423305" y="1089893"/>
                <a:chExt cx="47630" cy="11207"/>
              </a:xfrm>
            </p:grpSpPr>
            <p:cxnSp>
              <p:nvCxnSpPr>
                <p:cNvPr id="60" name="edgewidth_hat_0" descr="Editable line; source id edgewidth_hat_0"/>
                <p:cNvCxnSpPr/>
                <p:nvPr/>
              </p:nvCxnSpPr>
              <p:spPr>
                <a:xfrm flipV="1">
                  <a:off x="1423305" y="1089893"/>
                  <a:ext cx="23815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dgewidth_hat_1" descr="Editable line; source id edgewidth_hat_1"/>
                <p:cNvCxnSpPr/>
                <p:nvPr/>
              </p:nvCxnSpPr>
              <p:spPr>
                <a:xfrm>
                  <a:off x="1447120" y="1089893"/>
                  <a:ext cx="23815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8" name="edgecost_header" descr="Native editable mathematical parts; not OMML"/>
            <p:cNvGrpSpPr/>
            <p:nvPr/>
          </p:nvGrpSpPr>
          <p:grpSpPr>
            <a:xfrm>
              <a:off x="987628" y="1195660"/>
              <a:ext cx="266870" cy="121653"/>
              <a:chOff x="987628" y="1195660"/>
              <a:chExt cx="266870" cy="121653"/>
            </a:xfrm>
          </p:grpSpPr>
          <p:sp>
            <p:nvSpPr>
              <p:cNvPr id="62" name="edgecost_header_p0" descr="Editable text; source id edgecost_header_p0"/>
              <p:cNvSpPr txBox="1"/>
              <p:nvPr/>
            </p:nvSpPr>
            <p:spPr>
              <a:xfrm>
                <a:off x="987628" y="1195660"/>
                <a:ext cx="171040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cost </a:t>
                </a:r>
              </a:p>
            </p:txBody>
          </p:sp>
          <p:sp>
            <p:nvSpPr>
              <p:cNvPr id="63" name="edgecost_header_p1" descr="Editable text; source id edgecost_header_p1"/>
              <p:cNvSpPr txBox="1"/>
              <p:nvPr/>
            </p:nvSpPr>
            <p:spPr>
              <a:xfrm>
                <a:off x="1161338" y="1195660"/>
                <a:ext cx="6514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64" name="edgecost_header_p2" descr="Editable text; source id edgecost_header_p2"/>
              <p:cNvSpPr txBox="1"/>
              <p:nvPr/>
            </p:nvSpPr>
            <p:spPr>
              <a:xfrm>
                <a:off x="1222978" y="1246092"/>
                <a:ext cx="31520" cy="71221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7"/>
                  </a:lnSpc>
                  <a:spcBef>
                    <a:spcPts val="0"/>
                  </a:spcBef>
                  <a:spcAft>
                    <a:spcPts val="0"/>
                  </a:spcAft>
                  <a:defRPr sz="45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65" name="cost_node_0" descr="Editable shape; source id cost_node_0"/>
            <p:cNvSpPr/>
            <p:nvPr/>
          </p:nvSpPr>
          <p:spPr>
            <a:xfrm>
              <a:off x="1273410" y="1222978"/>
              <a:ext cx="64441" cy="64441"/>
            </a:xfrm>
            <a:prstGeom prst="ellipse">
              <a:avLst/>
            </a:prstGeom>
            <a:solidFill>
              <a:srgbClr val="EDF0F2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ost_row_edge_0" descr="Editable line; source id cost_row_edge_0"/>
            <p:cNvSpPr/>
            <p:nvPr/>
          </p:nvSpPr>
          <p:spPr>
            <a:xfrm>
              <a:off x="1347657" y="1242591"/>
              <a:ext cx="64441" cy="25216"/>
            </a:xfrm>
            <a:custGeom>
              <a:avLst/>
              <a:gdLst/>
              <a:ahLst/>
              <a:cxnLst/>
              <a:rect l="l" t="t" r="r" b="b"/>
              <a:pathLst>
                <a:path w="23000" h="9000">
                  <a:moveTo>
                    <a:pt x="0" y="3600"/>
                  </a:moveTo>
                  <a:lnTo>
                    <a:pt x="14000" y="3600"/>
                  </a:lnTo>
                  <a:lnTo>
                    <a:pt x="14000" y="0"/>
                  </a:lnTo>
                  <a:lnTo>
                    <a:pt x="23000" y="4500"/>
                  </a:lnTo>
                  <a:lnTo>
                    <a:pt x="14000" y="9000"/>
                  </a:lnTo>
                  <a:lnTo>
                    <a:pt x="14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ost_node_1" descr="Editable shape; source id cost_node_1"/>
            <p:cNvSpPr/>
            <p:nvPr/>
          </p:nvSpPr>
          <p:spPr>
            <a:xfrm>
              <a:off x="1421904" y="1222978"/>
              <a:ext cx="64441" cy="64441"/>
            </a:xfrm>
            <a:prstGeom prst="ellipse">
              <a:avLst/>
            </a:prstGeom>
            <a:solidFill>
              <a:srgbClr val="CFD6DB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ost_row_edge_1" descr="Editable line; source id cost_row_edge_1"/>
            <p:cNvSpPr/>
            <p:nvPr/>
          </p:nvSpPr>
          <p:spPr>
            <a:xfrm>
              <a:off x="1496152" y="1242591"/>
              <a:ext cx="70045" cy="25216"/>
            </a:xfrm>
            <a:custGeom>
              <a:avLst/>
              <a:gdLst/>
              <a:ahLst/>
              <a:cxnLst/>
              <a:rect l="l" t="t" r="r" b="b"/>
              <a:pathLst>
                <a:path w="25000" h="9000">
                  <a:moveTo>
                    <a:pt x="0" y="3600"/>
                  </a:moveTo>
                  <a:lnTo>
                    <a:pt x="16000" y="3600"/>
                  </a:lnTo>
                  <a:lnTo>
                    <a:pt x="16000" y="0"/>
                  </a:lnTo>
                  <a:lnTo>
                    <a:pt x="25000" y="4500"/>
                  </a:lnTo>
                  <a:lnTo>
                    <a:pt x="16000" y="9000"/>
                  </a:lnTo>
                  <a:lnTo>
                    <a:pt x="16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ost_node_2" descr="Editable shape; source id cost_node_2"/>
            <p:cNvSpPr/>
            <p:nvPr/>
          </p:nvSpPr>
          <p:spPr>
            <a:xfrm>
              <a:off x="1576002" y="1222978"/>
              <a:ext cx="64441" cy="64441"/>
            </a:xfrm>
            <a:prstGeom prst="ellipse">
              <a:avLst/>
            </a:prstGeom>
            <a:solidFill>
              <a:srgbClr val="9DA9B1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ost_row_edge_2" descr="Editable line; source id cost_row_edge_2"/>
            <p:cNvSpPr/>
            <p:nvPr/>
          </p:nvSpPr>
          <p:spPr>
            <a:xfrm>
              <a:off x="1650250" y="1242591"/>
              <a:ext cx="67243" cy="25216"/>
            </a:xfrm>
            <a:custGeom>
              <a:avLst/>
              <a:gdLst/>
              <a:ahLst/>
              <a:cxnLst/>
              <a:rect l="l" t="t" r="r" b="b"/>
              <a:pathLst>
                <a:path w="24000" h="9000">
                  <a:moveTo>
                    <a:pt x="0" y="3600"/>
                  </a:moveTo>
                  <a:lnTo>
                    <a:pt x="15000" y="3600"/>
                  </a:lnTo>
                  <a:lnTo>
                    <a:pt x="15000" y="0"/>
                  </a:lnTo>
                  <a:lnTo>
                    <a:pt x="24000" y="4500"/>
                  </a:lnTo>
                  <a:lnTo>
                    <a:pt x="15000" y="9000"/>
                  </a:lnTo>
                  <a:lnTo>
                    <a:pt x="15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cost_node_3" descr="Editable shape; source id cost_node_3"/>
            <p:cNvSpPr/>
            <p:nvPr/>
          </p:nvSpPr>
          <p:spPr>
            <a:xfrm>
              <a:off x="1727299" y="1222978"/>
              <a:ext cx="64441" cy="64441"/>
            </a:xfrm>
            <a:prstGeom prst="ellipse">
              <a:avLst/>
            </a:prstGeom>
            <a:solidFill>
              <a:srgbClr val="6B7882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1" name="empirical_data_tuple" descr="Native editable semantic group"/>
            <p:cNvGrpSpPr/>
            <p:nvPr/>
          </p:nvGrpSpPr>
          <p:grpSpPr>
            <a:xfrm>
              <a:off x="1152933" y="1384080"/>
              <a:ext cx="405765" cy="135953"/>
              <a:chOff x="1152933" y="1384080"/>
              <a:chExt cx="405765" cy="135953"/>
            </a:xfrm>
          </p:grpSpPr>
          <p:grpSp>
            <p:nvGrpSpPr>
              <p:cNvPr id="259" name="empirical_tuple" descr="Native editable mathematical parts; not OMML"/>
              <p:cNvGrpSpPr/>
              <p:nvPr/>
            </p:nvGrpSpPr>
            <p:grpSpPr>
              <a:xfrm>
                <a:off x="1152933" y="1389684"/>
                <a:ext cx="405765" cy="130349"/>
                <a:chOff x="1152933" y="1389684"/>
                <a:chExt cx="405765" cy="130349"/>
              </a:xfrm>
            </p:grpSpPr>
            <p:sp>
              <p:nvSpPr>
                <p:cNvPr id="72" name="empirical_tuple_p0" descr="Editable text; source id empirical_tuple_p0"/>
                <p:cNvSpPr txBox="1"/>
                <p:nvPr/>
              </p:nvSpPr>
              <p:spPr>
                <a:xfrm>
                  <a:off x="1152933" y="138968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(</a:t>
                  </a:r>
                </a:p>
              </p:txBody>
            </p:sp>
            <p:sp>
              <p:nvSpPr>
                <p:cNvPr id="73" name="empirical_tuple_p1" descr="Editable text; source id empirical_tuple_p1"/>
                <p:cNvSpPr txBox="1"/>
                <p:nvPr/>
              </p:nvSpPr>
              <p:spPr>
                <a:xfrm>
                  <a:off x="1188656" y="1389684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74" name="empirical_tuple_p2" descr="Editable text; source id empirical_tuple_p2"/>
                <p:cNvSpPr txBox="1"/>
                <p:nvPr/>
              </p:nvSpPr>
              <p:spPr>
                <a:xfrm>
                  <a:off x="1250995" y="1389684"/>
                  <a:ext cx="2801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75" name="empirical_tuple_p3" descr="Editable text; source id empirical_tuple_p3"/>
                <p:cNvSpPr txBox="1"/>
                <p:nvPr/>
              </p:nvSpPr>
              <p:spPr>
                <a:xfrm>
                  <a:off x="1293022" y="138968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76" name="empirical_tuple_p4" descr="Editable text; source id empirical_tuple_p4"/>
                <p:cNvSpPr txBox="1"/>
                <p:nvPr/>
              </p:nvSpPr>
              <p:spPr>
                <a:xfrm>
                  <a:off x="1374274" y="1389684"/>
                  <a:ext cx="2801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77" name="empirical_tuple_p5" descr="Editable text; source id empirical_tuple_p5"/>
                <p:cNvSpPr txBox="1"/>
                <p:nvPr/>
              </p:nvSpPr>
              <p:spPr>
                <a:xfrm>
                  <a:off x="1416301" y="1389684"/>
                  <a:ext cx="6864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8" name="empirical_tuple_p6" descr="Editable text; source id empirical_tuple_p6"/>
                <p:cNvSpPr txBox="1"/>
                <p:nvPr/>
              </p:nvSpPr>
              <p:spPr>
                <a:xfrm>
                  <a:off x="1480742" y="1445719"/>
                  <a:ext cx="32220" cy="743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5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79" name="empirical_tuple_p7" descr="Editable text; source id empirical_tuple_p7"/>
                <p:cNvSpPr txBox="1"/>
                <p:nvPr/>
              </p:nvSpPr>
              <p:spPr>
                <a:xfrm>
                  <a:off x="1522768" y="138968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</p:grpSp>
          <p:grpSp>
            <p:nvGrpSpPr>
              <p:cNvPr id="260" name="empirical_fhat" descr="Segments of one observed connector; external endpoints do not reroute"/>
              <p:cNvGrpSpPr/>
              <p:nvPr/>
            </p:nvGrpSpPr>
            <p:grpSpPr>
              <a:xfrm>
                <a:off x="1196361" y="1384080"/>
                <a:ext cx="50432" cy="11207"/>
                <a:chOff x="1196361" y="1384080"/>
                <a:chExt cx="50432" cy="11207"/>
              </a:xfrm>
            </p:grpSpPr>
            <p:cxnSp>
              <p:nvCxnSpPr>
                <p:cNvPr id="80" name="empirical_fhat_0" descr="Editable line; source id empirical_fhat_0"/>
                <p:cNvCxnSpPr/>
                <p:nvPr/>
              </p:nvCxnSpPr>
              <p:spPr>
                <a:xfrm flipV="1">
                  <a:off x="1196361" y="1384080"/>
                  <a:ext cx="25216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empirical_fhat_1" descr="Editable line; source id empirical_fhat_1"/>
                <p:cNvCxnSpPr/>
                <p:nvPr/>
              </p:nvCxnSpPr>
              <p:spPr>
                <a:xfrm>
                  <a:off x="1221577" y="1384080"/>
                  <a:ext cx="25216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0" name="joint_budget_pricing" descr="Joint per-step budget graph pricing; flow variable F stays inside"/>
          <p:cNvGrpSpPr/>
          <p:nvPr/>
        </p:nvGrpSpPr>
        <p:grpSpPr>
          <a:xfrm>
            <a:off x="1933230" y="406258"/>
            <a:ext cx="1591412" cy="1148730"/>
            <a:chOff x="1933230" y="406258"/>
            <a:chExt cx="1591412" cy="1148730"/>
          </a:xfrm>
        </p:grpSpPr>
        <p:sp>
          <p:nvSpPr>
            <p:cNvPr id="82" name="pricing_body" descr="Editable shape; source id pricing_body"/>
            <p:cNvSpPr/>
            <p:nvPr/>
          </p:nvSpPr>
          <p:spPr>
            <a:xfrm>
              <a:off x="1933230" y="406258"/>
              <a:ext cx="1591412" cy="1148730"/>
            </a:xfrm>
            <a:prstGeom prst="roundRect">
              <a:avLst>
                <a:gd name="adj" fmla="val 2439"/>
              </a:avLst>
            </a:prstGeom>
            <a:solidFill>
              <a:srgbClr val="EDF5F4"/>
            </a:solidFill>
            <a:ln w="7844">
              <a:solidFill>
                <a:srgbClr val="1686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ricing_title" descr="Editable text; source id pricing_title"/>
            <p:cNvSpPr txBox="1"/>
            <p:nvPr/>
          </p:nvSpPr>
          <p:spPr>
            <a:xfrm>
              <a:off x="2241776" y="441981"/>
              <a:ext cx="975720" cy="133084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1014"/>
                </a:lnSpc>
                <a:spcBef>
                  <a:spcPts val="0"/>
                </a:spcBef>
                <a:spcAft>
                  <a:spcPts val="0"/>
                </a:spcAft>
                <a:defRPr sz="88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8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Joint budget pricing</a:t>
              </a:r>
            </a:p>
          </p:txBody>
        </p:sp>
        <p:sp>
          <p:nvSpPr>
            <p:cNvPr id="84" name="flow_edge_0" descr="Editable line; source id flow_edge_0"/>
            <p:cNvSpPr/>
            <p:nvPr/>
          </p:nvSpPr>
          <p:spPr>
            <a:xfrm>
              <a:off x="2098597" y="708554"/>
              <a:ext cx="77466" cy="61101"/>
            </a:xfrm>
            <a:custGeom>
              <a:avLst/>
              <a:gdLst/>
              <a:ahLst/>
              <a:cxnLst/>
              <a:rect l="l" t="t" r="r" b="b"/>
              <a:pathLst>
                <a:path w="27649" h="21808">
                  <a:moveTo>
                    <a:pt x="0" y="17823"/>
                  </a:moveTo>
                  <a:lnTo>
                    <a:pt x="16576" y="5257"/>
                  </a:lnTo>
                  <a:lnTo>
                    <a:pt x="14462" y="2468"/>
                  </a:lnTo>
                  <a:lnTo>
                    <a:pt x="27649" y="0"/>
                  </a:lnTo>
                  <a:lnTo>
                    <a:pt x="21711" y="12031"/>
                  </a:lnTo>
                  <a:lnTo>
                    <a:pt x="19597" y="9242"/>
                  </a:lnTo>
                  <a:lnTo>
                    <a:pt x="3020" y="21808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low_edge_1" descr="Editable line; source id flow_edge_1"/>
            <p:cNvSpPr/>
            <p:nvPr/>
          </p:nvSpPr>
          <p:spPr>
            <a:xfrm>
              <a:off x="2289056" y="652815"/>
              <a:ext cx="114873" cy="33621"/>
            </a:xfrm>
            <a:custGeom>
              <a:avLst/>
              <a:gdLst/>
              <a:ahLst/>
              <a:cxnLst/>
              <a:rect l="l" t="t" r="r" b="b"/>
              <a:pathLst>
                <a:path w="41000" h="12000">
                  <a:moveTo>
                    <a:pt x="0" y="4000"/>
                  </a:moveTo>
                  <a:lnTo>
                    <a:pt x="29000" y="4000"/>
                  </a:lnTo>
                  <a:lnTo>
                    <a:pt x="29000" y="0"/>
                  </a:lnTo>
                  <a:lnTo>
                    <a:pt x="41000" y="6000"/>
                  </a:lnTo>
                  <a:lnTo>
                    <a:pt x="29000" y="12000"/>
                  </a:lnTo>
                  <a:lnTo>
                    <a:pt x="29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low_edge_2" descr="Editable line; source id flow_edge_2"/>
            <p:cNvSpPr/>
            <p:nvPr/>
          </p:nvSpPr>
          <p:spPr>
            <a:xfrm>
              <a:off x="2515771" y="700227"/>
              <a:ext cx="93022" cy="67086"/>
            </a:xfrm>
            <a:custGeom>
              <a:avLst/>
              <a:gdLst/>
              <a:ahLst/>
              <a:cxnLst/>
              <a:rect l="l" t="t" r="r" b="b"/>
              <a:pathLst>
                <a:path w="33201" h="23944">
                  <a:moveTo>
                    <a:pt x="2284" y="0"/>
                  </a:moveTo>
                  <a:lnTo>
                    <a:pt x="24492" y="15449"/>
                  </a:lnTo>
                  <a:lnTo>
                    <a:pt x="26777" y="12165"/>
                  </a:lnTo>
                  <a:lnTo>
                    <a:pt x="33201" y="23944"/>
                  </a:lnTo>
                  <a:lnTo>
                    <a:pt x="19924" y="22016"/>
                  </a:lnTo>
                  <a:lnTo>
                    <a:pt x="22208" y="18733"/>
                  </a:lnTo>
                  <a:lnTo>
                    <a:pt x="0" y="3283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low_edge_3" descr="Editable line; source id flow_edge_3"/>
            <p:cNvSpPr/>
            <p:nvPr/>
          </p:nvSpPr>
          <p:spPr>
            <a:xfrm>
              <a:off x="2088892" y="843205"/>
              <a:ext cx="54192" cy="60793"/>
            </a:xfrm>
            <a:custGeom>
              <a:avLst/>
              <a:gdLst/>
              <a:ahLst/>
              <a:cxnLst/>
              <a:rect l="l" t="t" r="r" b="b"/>
              <a:pathLst>
                <a:path w="19342" h="21698">
                  <a:moveTo>
                    <a:pt x="3771" y="0"/>
                  </a:moveTo>
                  <a:lnTo>
                    <a:pt x="13349" y="11005"/>
                  </a:lnTo>
                  <a:lnTo>
                    <a:pt x="15989" y="8707"/>
                  </a:lnTo>
                  <a:lnTo>
                    <a:pt x="19342" y="21698"/>
                  </a:lnTo>
                  <a:lnTo>
                    <a:pt x="6938" y="16585"/>
                  </a:lnTo>
                  <a:lnTo>
                    <a:pt x="9578" y="14288"/>
                  </a:lnTo>
                  <a:lnTo>
                    <a:pt x="0" y="3283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low_edge_4" descr="Editable line; source id flow_edge_4"/>
            <p:cNvSpPr/>
            <p:nvPr/>
          </p:nvSpPr>
          <p:spPr>
            <a:xfrm>
              <a:off x="2247030" y="935795"/>
              <a:ext cx="95261" cy="33621"/>
            </a:xfrm>
            <a:custGeom>
              <a:avLst/>
              <a:gdLst/>
              <a:ahLst/>
              <a:cxnLst/>
              <a:rect l="l" t="t" r="r" b="b"/>
              <a:pathLst>
                <a:path w="34000" h="12000">
                  <a:moveTo>
                    <a:pt x="0" y="4000"/>
                  </a:moveTo>
                  <a:lnTo>
                    <a:pt x="22000" y="4000"/>
                  </a:lnTo>
                  <a:lnTo>
                    <a:pt x="22000" y="0"/>
                  </a:lnTo>
                  <a:lnTo>
                    <a:pt x="34000" y="6000"/>
                  </a:lnTo>
                  <a:lnTo>
                    <a:pt x="22000" y="12000"/>
                  </a:lnTo>
                  <a:lnTo>
                    <a:pt x="22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low_edge_5" descr="Editable line; source id flow_edge_5"/>
            <p:cNvSpPr/>
            <p:nvPr/>
          </p:nvSpPr>
          <p:spPr>
            <a:xfrm>
              <a:off x="2256858" y="719442"/>
              <a:ext cx="115380" cy="178731"/>
            </a:xfrm>
            <a:custGeom>
              <a:avLst/>
              <a:gdLst/>
              <a:ahLst/>
              <a:cxnLst/>
              <a:rect l="l" t="t" r="r" b="b"/>
              <a:pathLst>
                <a:path w="41181" h="63792">
                  <a:moveTo>
                    <a:pt x="2535" y="0"/>
                  </a:moveTo>
                  <a:lnTo>
                    <a:pt x="36025" y="52853"/>
                  </a:lnTo>
                  <a:lnTo>
                    <a:pt x="39826" y="50444"/>
                  </a:lnTo>
                  <a:lnTo>
                    <a:pt x="41181" y="63792"/>
                  </a:lnTo>
                  <a:lnTo>
                    <a:pt x="29690" y="56867"/>
                  </a:lnTo>
                  <a:lnTo>
                    <a:pt x="33491" y="54459"/>
                  </a:lnTo>
                  <a:lnTo>
                    <a:pt x="0" y="1606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low_edge_6" descr="Editable line; source id flow_edge_6"/>
            <p:cNvSpPr/>
            <p:nvPr/>
          </p:nvSpPr>
          <p:spPr>
            <a:xfrm>
              <a:off x="2458727" y="836542"/>
              <a:ext cx="147281" cy="87222"/>
            </a:xfrm>
            <a:custGeom>
              <a:avLst/>
              <a:gdLst/>
              <a:ahLst/>
              <a:cxnLst/>
              <a:rect l="l" t="t" r="r" b="b"/>
              <a:pathLst>
                <a:path w="52567" h="31131">
                  <a:moveTo>
                    <a:pt x="0" y="29575"/>
                  </a:moveTo>
                  <a:lnTo>
                    <a:pt x="41745" y="5262"/>
                  </a:lnTo>
                  <a:lnTo>
                    <a:pt x="39178" y="855"/>
                  </a:lnTo>
                  <a:lnTo>
                    <a:pt x="52567" y="0"/>
                  </a:lnTo>
                  <a:lnTo>
                    <a:pt x="45217" y="11225"/>
                  </a:lnTo>
                  <a:lnTo>
                    <a:pt x="42651" y="6818"/>
                  </a:lnTo>
                  <a:lnTo>
                    <a:pt x="906" y="31131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3" name="flow_node_1_group" descr="Native editable semantic group"/>
            <p:cNvGrpSpPr/>
            <p:nvPr/>
          </p:nvGrpSpPr>
          <p:grpSpPr>
            <a:xfrm>
              <a:off x="1997671" y="745274"/>
              <a:ext cx="112071" cy="112071"/>
              <a:chOff x="1997671" y="745274"/>
              <a:chExt cx="112071" cy="112071"/>
            </a:xfrm>
          </p:grpSpPr>
          <p:sp>
            <p:nvSpPr>
              <p:cNvPr id="91" name="flow_node_1" descr="Editable shape; source id flow_node_1"/>
              <p:cNvSpPr/>
              <p:nvPr/>
            </p:nvSpPr>
            <p:spPr>
              <a:xfrm>
                <a:off x="1997671" y="745274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flow_node_1_label" descr="Editable text; source id flow_node_1_label"/>
              <p:cNvSpPr txBox="1"/>
              <p:nvPr/>
            </p:nvSpPr>
            <p:spPr>
              <a:xfrm>
                <a:off x="2029891" y="74804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64" name="flow_node_2_group" descr="Native editable semantic group"/>
            <p:cNvGrpSpPr/>
            <p:nvPr/>
          </p:nvGrpSpPr>
          <p:grpSpPr>
            <a:xfrm>
              <a:off x="2171381" y="613590"/>
              <a:ext cx="112071" cy="112071"/>
              <a:chOff x="2171381" y="613590"/>
              <a:chExt cx="112071" cy="112071"/>
            </a:xfrm>
          </p:grpSpPr>
          <p:sp>
            <p:nvSpPr>
              <p:cNvPr id="93" name="flow_node_2" descr="Editable shape; source id flow_node_2"/>
              <p:cNvSpPr/>
              <p:nvPr/>
            </p:nvSpPr>
            <p:spPr>
              <a:xfrm>
                <a:off x="2171381" y="61359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flow_node_2_label" descr="Editable text; source id flow_node_2_label"/>
              <p:cNvSpPr txBox="1"/>
              <p:nvPr/>
            </p:nvSpPr>
            <p:spPr>
              <a:xfrm>
                <a:off x="2203602" y="61636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65" name="flow_node_3_group" descr="Native editable semantic group"/>
            <p:cNvGrpSpPr/>
            <p:nvPr/>
          </p:nvGrpSpPr>
          <p:grpSpPr>
            <a:xfrm>
              <a:off x="2412334" y="613590"/>
              <a:ext cx="112071" cy="112071"/>
              <a:chOff x="2412334" y="613590"/>
              <a:chExt cx="112071" cy="112071"/>
            </a:xfrm>
          </p:grpSpPr>
          <p:sp>
            <p:nvSpPr>
              <p:cNvPr id="95" name="flow_node_3" descr="Editable shape; source id flow_node_3"/>
              <p:cNvSpPr/>
              <p:nvPr/>
            </p:nvSpPr>
            <p:spPr>
              <a:xfrm>
                <a:off x="2412334" y="61359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flow_node_3_label" descr="Editable text; source id flow_node_3_label"/>
              <p:cNvSpPr txBox="1"/>
              <p:nvPr/>
            </p:nvSpPr>
            <p:spPr>
              <a:xfrm>
                <a:off x="2444555" y="61636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3</a:t>
                </a:r>
              </a:p>
            </p:txBody>
          </p:sp>
        </p:grpSp>
        <p:grpSp>
          <p:nvGrpSpPr>
            <p:cNvPr id="266" name="flow_node_4_group" descr="Native editable semantic group"/>
            <p:cNvGrpSpPr/>
            <p:nvPr/>
          </p:nvGrpSpPr>
          <p:grpSpPr>
            <a:xfrm>
              <a:off x="2129354" y="896570"/>
              <a:ext cx="112071" cy="112071"/>
              <a:chOff x="2129354" y="896570"/>
              <a:chExt cx="112071" cy="112071"/>
            </a:xfrm>
          </p:grpSpPr>
          <p:sp>
            <p:nvSpPr>
              <p:cNvPr id="97" name="flow_node_4" descr="Editable shape; source id flow_node_4"/>
              <p:cNvSpPr/>
              <p:nvPr/>
            </p:nvSpPr>
            <p:spPr>
              <a:xfrm>
                <a:off x="2129354" y="89657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flow_node_4_label" descr="Editable text; source id flow_node_4_label"/>
              <p:cNvSpPr txBox="1"/>
              <p:nvPr/>
            </p:nvSpPr>
            <p:spPr>
              <a:xfrm>
                <a:off x="2161575" y="89934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4</a:t>
                </a:r>
              </a:p>
            </p:txBody>
          </p:sp>
        </p:grpSp>
        <p:grpSp>
          <p:nvGrpSpPr>
            <p:cNvPr id="267" name="flow_node_5_group" descr="Native editable semantic group"/>
            <p:cNvGrpSpPr/>
            <p:nvPr/>
          </p:nvGrpSpPr>
          <p:grpSpPr>
            <a:xfrm>
              <a:off x="2350695" y="896570"/>
              <a:ext cx="112071" cy="112071"/>
              <a:chOff x="2350695" y="896570"/>
              <a:chExt cx="112071" cy="112071"/>
            </a:xfrm>
          </p:grpSpPr>
          <p:sp>
            <p:nvSpPr>
              <p:cNvPr id="99" name="flow_node_5" descr="Editable shape; source id flow_node_5"/>
              <p:cNvSpPr/>
              <p:nvPr/>
            </p:nvSpPr>
            <p:spPr>
              <a:xfrm>
                <a:off x="2350695" y="89657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flow_node_5_label" descr="Editable text; source id flow_node_5_label"/>
              <p:cNvSpPr txBox="1"/>
              <p:nvPr/>
            </p:nvSpPr>
            <p:spPr>
              <a:xfrm>
                <a:off x="2382916" y="89934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5</a:t>
                </a:r>
              </a:p>
            </p:txBody>
          </p:sp>
        </p:grpSp>
        <p:grpSp>
          <p:nvGrpSpPr>
            <p:cNvPr id="268" name="flow_node_6_group" descr="Native editable semantic group"/>
            <p:cNvGrpSpPr/>
            <p:nvPr/>
          </p:nvGrpSpPr>
          <p:grpSpPr>
            <a:xfrm>
              <a:off x="2605657" y="748075"/>
              <a:ext cx="112071" cy="112071"/>
              <a:chOff x="2605657" y="748075"/>
              <a:chExt cx="112071" cy="112071"/>
            </a:xfrm>
          </p:grpSpPr>
          <p:sp>
            <p:nvSpPr>
              <p:cNvPr id="101" name="flow_node_6" descr="Editable shape; source id flow_node_6"/>
              <p:cNvSpPr/>
              <p:nvPr/>
            </p:nvSpPr>
            <p:spPr>
              <a:xfrm>
                <a:off x="2605657" y="748075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flow_node_6_label" descr="Editable text; source id flow_node_6_label"/>
              <p:cNvSpPr txBox="1"/>
              <p:nvPr/>
            </p:nvSpPr>
            <p:spPr>
              <a:xfrm>
                <a:off x="2637878" y="750849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6</a:t>
                </a:r>
              </a:p>
            </p:txBody>
          </p:sp>
        </p:grpSp>
        <p:sp>
          <p:nvSpPr>
            <p:cNvPr id="103" name="flow_variable" descr="Editable text; source id flow_variable"/>
            <p:cNvSpPr txBox="1"/>
            <p:nvPr/>
          </p:nvSpPr>
          <p:spPr>
            <a:xfrm>
              <a:off x="2230919" y="1007941"/>
              <a:ext cx="240953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flow F</a:t>
              </a:r>
            </a:p>
          </p:txBody>
        </p:sp>
        <p:sp>
          <p:nvSpPr>
            <p:cNvPr id="104" name="flow_to_solver" descr="Editable line; source id flow_to_solver"/>
            <p:cNvSpPr/>
            <p:nvPr/>
          </p:nvSpPr>
          <p:spPr>
            <a:xfrm>
              <a:off x="2740144" y="783098"/>
              <a:ext cx="162503" cy="42027"/>
            </a:xfrm>
            <a:custGeom>
              <a:avLst/>
              <a:gdLst/>
              <a:ahLst/>
              <a:cxnLst/>
              <a:rect l="l" t="t" r="r" b="b"/>
              <a:pathLst>
                <a:path w="58000" h="15000">
                  <a:moveTo>
                    <a:pt x="0" y="6200"/>
                  </a:moveTo>
                  <a:lnTo>
                    <a:pt x="43000" y="6200"/>
                  </a:lnTo>
                  <a:lnTo>
                    <a:pt x="43000" y="0"/>
                  </a:lnTo>
                  <a:lnTo>
                    <a:pt x="58000" y="7500"/>
                  </a:lnTo>
                  <a:lnTo>
                    <a:pt x="43000" y="15000"/>
                  </a:lnTo>
                  <a:lnTo>
                    <a:pt x="43000" y="8800"/>
                  </a:lnTo>
                  <a:lnTo>
                    <a:pt x="0" y="88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9" name="solve_for_lambda" descr="Native editable mathematical parts; not OMML"/>
            <p:cNvGrpSpPr/>
            <p:nvPr/>
          </p:nvGrpSpPr>
          <p:grpSpPr>
            <a:xfrm>
              <a:off x="2926462" y="591876"/>
              <a:ext cx="437777" cy="119916"/>
              <a:chOff x="2926462" y="591876"/>
              <a:chExt cx="437777" cy="119916"/>
            </a:xfrm>
          </p:grpSpPr>
          <p:sp>
            <p:nvSpPr>
              <p:cNvPr id="105" name="solve_for_lambda_p0" descr="Editable text; source id solve_for_lambda_p0"/>
              <p:cNvSpPr txBox="1"/>
              <p:nvPr/>
            </p:nvSpPr>
            <p:spPr>
              <a:xfrm>
                <a:off x="2926462" y="604484"/>
                <a:ext cx="335513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Solve for</a:t>
                </a:r>
              </a:p>
            </p:txBody>
          </p:sp>
          <p:sp>
            <p:nvSpPr>
              <p:cNvPr id="106" name="solve_for_lambda_p1" descr="Editable text; source id solve_for_lambda_p1"/>
              <p:cNvSpPr txBox="1"/>
              <p:nvPr/>
            </p:nvSpPr>
            <p:spPr>
              <a:xfrm>
                <a:off x="3279486" y="604484"/>
                <a:ext cx="48637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7" name="solve_for_lambda_p2" descr="Editable text; source id solve_for_lambda_p2"/>
              <p:cNvSpPr txBox="1"/>
              <p:nvPr/>
            </p:nvSpPr>
            <p:spPr>
              <a:xfrm>
                <a:off x="3329918" y="591876"/>
                <a:ext cx="34321" cy="7328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43"/>
                  </a:lnSpc>
                  <a:spcBef>
                    <a:spcPts val="0"/>
                  </a:spcBef>
                  <a:spcAft>
                    <a:spcPts val="0"/>
                  </a:spcAft>
                  <a:defRPr sz="472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2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08" name="solver_body" descr="Editable shape; source id solver_body"/>
            <p:cNvSpPr/>
            <p:nvPr/>
          </p:nvSpPr>
          <p:spPr>
            <a:xfrm>
              <a:off x="2916655" y="742472"/>
              <a:ext cx="540744" cy="271772"/>
            </a:xfrm>
            <a:prstGeom prst="roundRect">
              <a:avLst>
                <a:gd name="adj" fmla="val 10309"/>
              </a:avLst>
            </a:prstGeom>
            <a:solidFill>
              <a:srgbClr val="EDF5F4"/>
            </a:solidFill>
            <a:ln w="6163">
              <a:solidFill>
                <a:srgbClr val="1686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olver_title" descr="Editable text; source id solver_title"/>
            <p:cNvSpPr txBox="1"/>
            <p:nvPr/>
          </p:nvSpPr>
          <p:spPr>
            <a:xfrm>
              <a:off x="2977594" y="825825"/>
              <a:ext cx="42026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Dual solver</a:t>
              </a:r>
            </a:p>
          </p:txBody>
        </p:sp>
        <p:grpSp>
          <p:nvGrpSpPr>
            <p:cNvPr id="274" name="graph_objective" descr="Grouped native text/line objective; min over F, negative advantage and KL"/>
            <p:cNvGrpSpPr/>
            <p:nvPr/>
          </p:nvGrpSpPr>
          <p:grpSpPr>
            <a:xfrm>
              <a:off x="2066314" y="1162739"/>
              <a:ext cx="1125824" cy="175969"/>
              <a:chOff x="2066314" y="1162739"/>
              <a:chExt cx="1125824" cy="175969"/>
            </a:xfrm>
          </p:grpSpPr>
          <p:grpSp>
            <p:nvGrpSpPr>
              <p:cNvPr id="270" name="graph_objective_text" descr="Native editable mathematical parts; not OMML"/>
              <p:cNvGrpSpPr/>
              <p:nvPr/>
            </p:nvGrpSpPr>
            <p:grpSpPr>
              <a:xfrm>
                <a:off x="2066314" y="1171145"/>
                <a:ext cx="1125824" cy="167563"/>
                <a:chOff x="2066314" y="1171145"/>
                <a:chExt cx="1125824" cy="167563"/>
              </a:xfrm>
            </p:grpSpPr>
            <p:sp>
              <p:nvSpPr>
                <p:cNvPr id="110" name="graph_objective_text_p0" descr="Editable text; source id graph_objective_text_p0"/>
                <p:cNvSpPr txBox="1"/>
                <p:nvPr/>
              </p:nvSpPr>
              <p:spPr>
                <a:xfrm>
                  <a:off x="2066314" y="1171145"/>
                  <a:ext cx="15269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111" name="graph_objective_text_p1" descr="Editable text; source id graph_objective_text_p1"/>
                <p:cNvSpPr txBox="1"/>
                <p:nvPr/>
              </p:nvSpPr>
              <p:spPr>
                <a:xfrm>
                  <a:off x="2116046" y="1262203"/>
                  <a:ext cx="44828" cy="765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56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2" name="graph_objective_text_p2" descr="Editable text; source id graph_objective_text_p2"/>
                <p:cNvSpPr txBox="1"/>
                <p:nvPr/>
              </p:nvSpPr>
              <p:spPr>
                <a:xfrm>
                  <a:off x="2268043" y="1171145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13" name="graph_objective_text_p3" descr="Editable text; source id graph_objective_text_p3"/>
                <p:cNvSpPr txBox="1"/>
                <p:nvPr/>
              </p:nvSpPr>
              <p:spPr>
                <a:xfrm>
                  <a:off x="2360501" y="1171145"/>
                  <a:ext cx="180714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A, F</a:t>
                  </a:r>
                </a:p>
              </p:txBody>
            </p:sp>
            <p:sp>
              <p:nvSpPr>
                <p:cNvPr id="114" name="graph_objective_text_p4" descr="Editable text; source id graph_objective_text_p4"/>
                <p:cNvSpPr txBox="1"/>
                <p:nvPr/>
              </p:nvSpPr>
              <p:spPr>
                <a:xfrm>
                  <a:off x="2623869" y="1171145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  <p:sp>
              <p:nvSpPr>
                <p:cNvPr id="115" name="graph_objective_text_p5" descr="Editable text; source id graph_objective_text_p5"/>
                <p:cNvSpPr txBox="1"/>
                <p:nvPr/>
              </p:nvSpPr>
              <p:spPr>
                <a:xfrm>
                  <a:off x="2707923" y="1171145"/>
                  <a:ext cx="4202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ε</a:t>
                  </a:r>
                </a:p>
              </p:txBody>
            </p:sp>
            <p:sp>
              <p:nvSpPr>
                <p:cNvPr id="116" name="graph_objective_text_p6" descr="Editable text; source id graph_objective_text_p6"/>
                <p:cNvSpPr txBox="1"/>
                <p:nvPr/>
              </p:nvSpPr>
              <p:spPr>
                <a:xfrm>
                  <a:off x="2775165" y="1171145"/>
                  <a:ext cx="16320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KL(</a:t>
                  </a:r>
                </a:p>
              </p:txBody>
            </p:sp>
            <p:sp>
              <p:nvSpPr>
                <p:cNvPr id="117" name="graph_objective_text_p7" descr="Editable text; source id graph_objective_text_p7"/>
                <p:cNvSpPr txBox="1"/>
                <p:nvPr/>
              </p:nvSpPr>
              <p:spPr>
                <a:xfrm>
                  <a:off x="2950977" y="1171145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8" name="graph_objective_text_p8" descr="Editable text; source id graph_objective_text_p8"/>
                <p:cNvSpPr txBox="1"/>
                <p:nvPr/>
              </p:nvSpPr>
              <p:spPr>
                <a:xfrm>
                  <a:off x="3027326" y="1171145"/>
                  <a:ext cx="4235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||</a:t>
                  </a:r>
                </a:p>
              </p:txBody>
            </p:sp>
            <p:sp>
              <p:nvSpPr>
                <p:cNvPr id="119" name="graph_objective_text_p9" descr="Editable text; source id graph_objective_text_p9"/>
                <p:cNvSpPr txBox="1"/>
                <p:nvPr/>
              </p:nvSpPr>
              <p:spPr>
                <a:xfrm>
                  <a:off x="3082661" y="1171145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20" name="graph_objective_text_p10" descr="Editable text; source id graph_objective_text_p10"/>
                <p:cNvSpPr txBox="1"/>
                <p:nvPr/>
              </p:nvSpPr>
              <p:spPr>
                <a:xfrm>
                  <a:off x="3156208" y="1171145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</p:grpSp>
          <p:grpSp>
            <p:nvGrpSpPr>
              <p:cNvPr id="271" name="objective_leftangle" descr="Segments of one observed connector; external endpoints do not reroute"/>
              <p:cNvGrpSpPr/>
              <p:nvPr/>
            </p:nvGrpSpPr>
            <p:grpSpPr>
              <a:xfrm>
                <a:off x="2339488" y="1190757"/>
                <a:ext cx="19613" cy="61639"/>
                <a:chOff x="2339488" y="1190757"/>
                <a:chExt cx="19613" cy="61639"/>
              </a:xfrm>
            </p:grpSpPr>
            <p:cxnSp>
              <p:nvCxnSpPr>
                <p:cNvPr id="121" name="objective_leftangle_0" descr="Editable line; source id objective_leftangle_0"/>
                <p:cNvCxnSpPr/>
                <p:nvPr/>
              </p:nvCxnSpPr>
              <p:spPr>
                <a:xfrm flipH="1">
                  <a:off x="2339488" y="1190757"/>
                  <a:ext cx="19613" cy="30820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objective_leftangle_1" descr="Editable line; source id objective_leftangle_1"/>
                <p:cNvCxnSpPr/>
                <p:nvPr/>
              </p:nvCxnSpPr>
              <p:spPr>
                <a:xfrm>
                  <a:off x="2339488" y="1221577"/>
                  <a:ext cx="19613" cy="30819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objective_rightangle" descr="Segments of one observed connector; external endpoints do not reroute"/>
              <p:cNvGrpSpPr/>
              <p:nvPr/>
            </p:nvGrpSpPr>
            <p:grpSpPr>
              <a:xfrm>
                <a:off x="2586045" y="1190757"/>
                <a:ext cx="19612" cy="61639"/>
                <a:chOff x="2586045" y="1190757"/>
                <a:chExt cx="19612" cy="61639"/>
              </a:xfrm>
            </p:grpSpPr>
            <p:cxnSp>
              <p:nvCxnSpPr>
                <p:cNvPr id="123" name="objective_rightangle_0" descr="Editable line; source id objective_rightangle_0"/>
                <p:cNvCxnSpPr/>
                <p:nvPr/>
              </p:nvCxnSpPr>
              <p:spPr>
                <a:xfrm>
                  <a:off x="2586045" y="1190757"/>
                  <a:ext cx="19612" cy="30820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objective_rightangle_1" descr="Editable line; source id objective_rightangle_1"/>
                <p:cNvCxnSpPr/>
                <p:nvPr/>
              </p:nvCxnSpPr>
              <p:spPr>
                <a:xfrm flipH="1">
                  <a:off x="2586045" y="1221577"/>
                  <a:ext cx="19612" cy="30819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objective_fhat" descr="Segments of one observed connector; external endpoints do not reroute"/>
              <p:cNvGrpSpPr/>
              <p:nvPr/>
            </p:nvGrpSpPr>
            <p:grpSpPr>
              <a:xfrm>
                <a:off x="3093168" y="1162739"/>
                <a:ext cx="53234" cy="11207"/>
                <a:chOff x="3093168" y="1162739"/>
                <a:chExt cx="53234" cy="11207"/>
              </a:xfrm>
            </p:grpSpPr>
            <p:cxnSp>
              <p:nvCxnSpPr>
                <p:cNvPr id="125" name="objective_fhat_0" descr="Editable line; source id objective_fhat_0"/>
                <p:cNvCxnSpPr/>
                <p:nvPr/>
              </p:nvCxnSpPr>
              <p:spPr>
                <a:xfrm flipV="1">
                  <a:off x="3093168" y="1162739"/>
                  <a:ext cx="26617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objective_fhat_1" descr="Editable line; source id objective_fhat_1"/>
                <p:cNvCxnSpPr/>
                <p:nvPr/>
              </p:nvCxnSpPr>
              <p:spPr>
                <a:xfrm>
                  <a:off x="3119785" y="1162739"/>
                  <a:ext cx="26617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7" name="flow_balance" descr="Editable text; source id flow_balance"/>
            <p:cNvSpPr txBox="1"/>
            <p:nvPr/>
          </p:nvSpPr>
          <p:spPr>
            <a:xfrm>
              <a:off x="1987864" y="1374974"/>
              <a:ext cx="484708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cxnSp>
          <p:nvCxnSpPr>
            <p:cNvPr id="128" name="constraint_divider_1" descr="Editable line; source id constraint_divider_1"/>
            <p:cNvCxnSpPr/>
            <p:nvPr/>
          </p:nvCxnSpPr>
          <p:spPr>
            <a:xfrm>
              <a:off x="2521604" y="1384080"/>
              <a:ext cx="0" cy="89657"/>
            </a:xfrm>
            <a:prstGeom prst="line">
              <a:avLst/>
            </a:prstGeom>
            <a:ln w="4202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8" name="soft_budget_constraint" descr="Native editable semantic group"/>
            <p:cNvGrpSpPr/>
            <p:nvPr/>
          </p:nvGrpSpPr>
          <p:grpSpPr>
            <a:xfrm>
              <a:off x="2569234" y="1374974"/>
              <a:ext cx="453189" cy="121653"/>
              <a:chOff x="2569234" y="1374974"/>
              <a:chExt cx="453189" cy="121653"/>
            </a:xfrm>
          </p:grpSpPr>
          <p:grpSp>
            <p:nvGrpSpPr>
              <p:cNvPr id="275" name="soft_budget_text" descr="Native editable mathematical parts; not OMML"/>
              <p:cNvGrpSpPr/>
              <p:nvPr/>
            </p:nvGrpSpPr>
            <p:grpSpPr>
              <a:xfrm>
                <a:off x="2601455" y="1374974"/>
                <a:ext cx="420968" cy="121653"/>
                <a:chOff x="2601455" y="1374974"/>
                <a:chExt cx="420968" cy="121653"/>
              </a:xfrm>
            </p:grpSpPr>
            <p:sp>
              <p:nvSpPr>
                <p:cNvPr id="129" name="soft_budget_text_p0" descr="Editable text; source id soft_budget_text_p0"/>
                <p:cNvSpPr txBox="1"/>
                <p:nvPr/>
              </p:nvSpPr>
              <p:spPr>
                <a:xfrm>
                  <a:off x="2601455" y="1374974"/>
                  <a:ext cx="65141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30" name="soft_budget_text_p1" descr="Editable text; source id soft_budget_text_p1"/>
                <p:cNvSpPr txBox="1"/>
                <p:nvPr/>
              </p:nvSpPr>
              <p:spPr>
                <a:xfrm>
                  <a:off x="2657490" y="1425406"/>
                  <a:ext cx="31520" cy="712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1" name="soft_budget_text_p2" descr="Editable text; source id soft_budget_text_p2"/>
                <p:cNvSpPr txBox="1"/>
                <p:nvPr/>
              </p:nvSpPr>
              <p:spPr>
                <a:xfrm>
                  <a:off x="2696715" y="1374974"/>
                  <a:ext cx="26616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132" name="soft_budget_text_p3" descr="Editable text; source id soft_budget_text_p3"/>
                <p:cNvSpPr txBox="1"/>
                <p:nvPr/>
              </p:nvSpPr>
              <p:spPr>
                <a:xfrm>
                  <a:off x="2743645" y="1374974"/>
                  <a:ext cx="61639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33" name="soft_budget_text_p4" descr="Editable text; source id soft_budget_text_p4"/>
                <p:cNvSpPr txBox="1"/>
                <p:nvPr/>
              </p:nvSpPr>
              <p:spPr>
                <a:xfrm>
                  <a:off x="2848012" y="1374974"/>
                  <a:ext cx="53408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≤</a:t>
                  </a:r>
                </a:p>
              </p:txBody>
            </p:sp>
            <p:sp>
              <p:nvSpPr>
                <p:cNvPr id="134" name="soft_budget_text_p5" descr="Editable text; source id soft_budget_text_p5"/>
                <p:cNvSpPr txBox="1"/>
                <p:nvPr/>
              </p:nvSpPr>
              <p:spPr>
                <a:xfrm>
                  <a:off x="2940470" y="1374974"/>
                  <a:ext cx="49031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35" name="soft_budget_text_p6" descr="Editable text; source id soft_budget_text_p6"/>
                <p:cNvSpPr txBox="1"/>
                <p:nvPr/>
              </p:nvSpPr>
              <p:spPr>
                <a:xfrm>
                  <a:off x="2990903" y="1425406"/>
                  <a:ext cx="31520" cy="712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76" name="soft_budget_leftangle" descr="Segments of one observed connector; external endpoints do not reroute"/>
              <p:cNvGrpSpPr/>
              <p:nvPr/>
            </p:nvGrpSpPr>
            <p:grpSpPr>
              <a:xfrm>
                <a:off x="2569234" y="1386882"/>
                <a:ext cx="19613" cy="67243"/>
                <a:chOff x="2569234" y="1386882"/>
                <a:chExt cx="19613" cy="67243"/>
              </a:xfrm>
            </p:grpSpPr>
            <p:cxnSp>
              <p:nvCxnSpPr>
                <p:cNvPr id="136" name="soft_budget_leftangle_0" descr="Editable line; source id soft_budget_leftangle_0"/>
                <p:cNvCxnSpPr/>
                <p:nvPr/>
              </p:nvCxnSpPr>
              <p:spPr>
                <a:xfrm flipH="1">
                  <a:off x="2569234" y="1386882"/>
                  <a:ext cx="19613" cy="33621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oft_budget_leftangle_1" descr="Editable line; source id soft_budget_leftangle_1"/>
                <p:cNvCxnSpPr/>
                <p:nvPr/>
              </p:nvCxnSpPr>
              <p:spPr>
                <a:xfrm>
                  <a:off x="2569234" y="1420503"/>
                  <a:ext cx="19613" cy="33622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soft_budget_rightangle" descr="Segments of one observed connector; external endpoints do not reroute"/>
              <p:cNvGrpSpPr/>
              <p:nvPr/>
            </p:nvGrpSpPr>
            <p:grpSpPr>
              <a:xfrm>
                <a:off x="2810188" y="1386882"/>
                <a:ext cx="19612" cy="67243"/>
                <a:chOff x="2810188" y="1386882"/>
                <a:chExt cx="19612" cy="67243"/>
              </a:xfrm>
            </p:grpSpPr>
            <p:cxnSp>
              <p:nvCxnSpPr>
                <p:cNvPr id="138" name="soft_budget_rightangle_0" descr="Editable line; source id soft_budget_rightangle_0"/>
                <p:cNvCxnSpPr/>
                <p:nvPr/>
              </p:nvCxnSpPr>
              <p:spPr>
                <a:xfrm>
                  <a:off x="2810188" y="1386882"/>
                  <a:ext cx="19612" cy="33621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oft_budget_rightangle_1" descr="Editable line; source id soft_budget_rightangle_1"/>
                <p:cNvCxnSpPr/>
                <p:nvPr/>
              </p:nvCxnSpPr>
              <p:spPr>
                <a:xfrm flipH="1">
                  <a:off x="2810188" y="1420503"/>
                  <a:ext cx="19612" cy="33622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0" name="constraint_divider_2" descr="Editable line; source id constraint_divider_2"/>
            <p:cNvCxnSpPr/>
            <p:nvPr/>
          </p:nvCxnSpPr>
          <p:spPr>
            <a:xfrm>
              <a:off x="3087564" y="1384080"/>
              <a:ext cx="0" cy="89657"/>
            </a:xfrm>
            <a:prstGeom prst="line">
              <a:avLst/>
            </a:prstGeom>
            <a:ln w="4202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hard_support" descr="Native editable mathematical parts; not OMML"/>
            <p:cNvGrpSpPr/>
            <p:nvPr/>
          </p:nvGrpSpPr>
          <p:grpSpPr>
            <a:xfrm>
              <a:off x="3138697" y="1374974"/>
              <a:ext cx="237581" cy="124825"/>
              <a:chOff x="3138697" y="1374974"/>
              <a:chExt cx="237581" cy="124825"/>
            </a:xfrm>
          </p:grpSpPr>
          <p:sp>
            <p:nvSpPr>
              <p:cNvPr id="141" name="hard_support_p0" descr="Editable text; source id hard_support_p0"/>
              <p:cNvSpPr txBox="1"/>
              <p:nvPr/>
            </p:nvSpPr>
            <p:spPr>
              <a:xfrm>
                <a:off x="3138697" y="1374974"/>
                <a:ext cx="61639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1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42" name="hard_support_p1" descr="Editable text; source id hard_support_p1"/>
              <p:cNvSpPr txBox="1"/>
              <p:nvPr/>
            </p:nvSpPr>
            <p:spPr>
              <a:xfrm>
                <a:off x="3191930" y="1429609"/>
                <a:ext cx="49731" cy="7019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1" anchorCtr="0" vertOverflow="overflow">
                <a:noAutofit/>
              </a:bodyPr>
              <a:lstStyle/>
              <a:p>
                <a:pPr algn="l" fontAlgn="base">
                  <a:lnSpc>
                    <a:spcPts val="519"/>
                  </a:lnSpc>
                  <a:spcBef>
                    <a:spcPts val="0"/>
                  </a:spcBef>
                  <a:spcAft>
                    <a:spcPts val="0"/>
                  </a:spcAft>
                  <a:defRPr sz="451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1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143" name="hard_support_p2" descr="Editable text; source id hard_support_p2"/>
              <p:cNvSpPr txBox="1"/>
              <p:nvPr/>
            </p:nvSpPr>
            <p:spPr>
              <a:xfrm>
                <a:off x="3254270" y="1374974"/>
                <a:ext cx="122008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 0</a:t>
                </a:r>
              </a:p>
            </p:txBody>
          </p:sp>
        </p:grpSp>
      </p:grpSp>
      <p:grpSp>
        <p:nvGrpSpPr>
          <p:cNvPr id="281" name="clip_and_smooth" descr="Clipping and smoothing of graph-derived prices"/>
          <p:cNvGrpSpPr/>
          <p:nvPr/>
        </p:nvGrpSpPr>
        <p:grpSpPr>
          <a:xfrm>
            <a:off x="3622705" y="672427"/>
            <a:ext cx="431474" cy="252160"/>
            <a:chOff x="3622705" y="672427"/>
            <a:chExt cx="431474" cy="252160"/>
          </a:xfrm>
        </p:grpSpPr>
        <p:sp>
          <p:nvSpPr>
            <p:cNvPr id="144" name="filter_body" descr="Editable shape; source id filter_body"/>
            <p:cNvSpPr/>
            <p:nvPr/>
          </p:nvSpPr>
          <p:spPr>
            <a:xfrm>
              <a:off x="3622705" y="672427"/>
              <a:ext cx="431474" cy="25216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ilter_clip" descr="Editable text; source id filter_clip"/>
            <p:cNvSpPr txBox="1"/>
            <p:nvPr/>
          </p:nvSpPr>
          <p:spPr>
            <a:xfrm>
              <a:off x="3723219" y="691339"/>
              <a:ext cx="23184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Clip +</a:t>
              </a:r>
            </a:p>
          </p:txBody>
        </p:sp>
        <p:sp>
          <p:nvSpPr>
            <p:cNvPr id="146" name="filter_smooth" descr="Editable text; source id filter_smooth"/>
            <p:cNvSpPr txBox="1"/>
            <p:nvPr/>
          </p:nvSpPr>
          <p:spPr>
            <a:xfrm>
              <a:off x="3705007" y="800609"/>
              <a:ext cx="268270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smooth</a:t>
              </a:r>
            </a:p>
          </p:txBody>
        </p:sp>
      </p:grpSp>
      <p:grpSp>
        <p:nvGrpSpPr>
          <p:cNvPr id="284" name="cost_feedback" descr="Episode-cost integrator and episode budget B"/>
          <p:cNvGrpSpPr/>
          <p:nvPr/>
        </p:nvGrpSpPr>
        <p:grpSpPr>
          <a:xfrm>
            <a:off x="1933230" y="1840771"/>
            <a:ext cx="1154334" cy="355826"/>
            <a:chOff x="1933230" y="1840771"/>
            <a:chExt cx="1154334" cy="355826"/>
          </a:xfrm>
        </p:grpSpPr>
        <p:sp>
          <p:nvSpPr>
            <p:cNvPr id="147" name="feedback_body" descr="Editable shape; source id feedback_body"/>
            <p:cNvSpPr/>
            <p:nvPr/>
          </p:nvSpPr>
          <p:spPr>
            <a:xfrm>
              <a:off x="1933230" y="1840771"/>
              <a:ext cx="1154334" cy="355826"/>
            </a:xfrm>
            <a:prstGeom prst="roundRect">
              <a:avLst>
                <a:gd name="adj" fmla="val 7874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eedback_title" descr="Editable text; source id feedback_title"/>
            <p:cNvSpPr txBox="1"/>
            <p:nvPr/>
          </p:nvSpPr>
          <p:spPr>
            <a:xfrm>
              <a:off x="2205003" y="1880696"/>
              <a:ext cx="612189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Cost feedback</a:t>
              </a:r>
            </a:p>
          </p:txBody>
        </p:sp>
        <p:grpSp>
          <p:nvGrpSpPr>
            <p:cNvPr id="283" name="beta_integrator" descr="Native grouped projected episode-cost integrator"/>
            <p:cNvGrpSpPr/>
            <p:nvPr/>
          </p:nvGrpSpPr>
          <p:grpSpPr>
            <a:xfrm>
              <a:off x="2083825" y="2031292"/>
              <a:ext cx="803411" cy="133546"/>
              <a:chOff x="2083825" y="2031292"/>
              <a:chExt cx="803411" cy="133546"/>
            </a:xfrm>
          </p:grpSpPr>
          <p:grpSp>
            <p:nvGrpSpPr>
              <p:cNvPr id="282" name="beta_integrator_text" descr="Native editable mathematical parts; not OMML"/>
              <p:cNvGrpSpPr/>
              <p:nvPr/>
            </p:nvGrpSpPr>
            <p:grpSpPr>
              <a:xfrm>
                <a:off x="2083825" y="2034094"/>
                <a:ext cx="803411" cy="130744"/>
                <a:chOff x="2083825" y="2034094"/>
                <a:chExt cx="803411" cy="130744"/>
              </a:xfrm>
            </p:grpSpPr>
            <p:sp>
              <p:nvSpPr>
                <p:cNvPr id="149" name="beta_integrator_text_p0" descr="Editable text; source id beta_integrator_text_p0"/>
                <p:cNvSpPr txBox="1"/>
                <p:nvPr/>
              </p:nvSpPr>
              <p:spPr>
                <a:xfrm>
                  <a:off x="2083825" y="2034094"/>
                  <a:ext cx="5603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35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50" name="beta_integrator_text_p1" descr="Editable text; source id beta_integrator_text_p1"/>
                <p:cNvSpPr txBox="1"/>
                <p:nvPr/>
              </p:nvSpPr>
              <p:spPr>
                <a:xfrm>
                  <a:off x="2164377" y="2034094"/>
                  <a:ext cx="9946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←</a:t>
                  </a:r>
                </a:p>
              </p:txBody>
            </p:sp>
            <p:sp>
              <p:nvSpPr>
                <p:cNvPr id="151" name="beta_integrator_text_p2" descr="Editable text; source id beta_integrator_text_p2"/>
                <p:cNvSpPr txBox="1"/>
                <p:nvPr/>
              </p:nvSpPr>
              <p:spPr>
                <a:xfrm>
                  <a:off x="2270844" y="203409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[</a:t>
                  </a:r>
                </a:p>
              </p:txBody>
            </p:sp>
            <p:sp>
              <p:nvSpPr>
                <p:cNvPr id="152" name="beta_integrator_text_p3" descr="Editable text; source id beta_integrator_text_p3"/>
                <p:cNvSpPr txBox="1"/>
                <p:nvPr/>
              </p:nvSpPr>
              <p:spPr>
                <a:xfrm>
                  <a:off x="2305166" y="2034094"/>
                  <a:ext cx="5603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35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53" name="beta_integrator_text_p4" descr="Editable text; source id beta_integrator_text_p4"/>
                <p:cNvSpPr txBox="1"/>
                <p:nvPr/>
              </p:nvSpPr>
              <p:spPr>
                <a:xfrm>
                  <a:off x="2374510" y="203409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  <p:sp>
              <p:nvSpPr>
                <p:cNvPr id="154" name="beta_integrator_text_p5" descr="Editable text; source id beta_integrator_text_p5"/>
                <p:cNvSpPr txBox="1"/>
                <p:nvPr/>
              </p:nvSpPr>
              <p:spPr>
                <a:xfrm>
                  <a:off x="2452960" y="2034094"/>
                  <a:ext cx="5146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η</a:t>
                  </a:r>
                </a:p>
              </p:txBody>
            </p:sp>
            <p:sp>
              <p:nvSpPr>
                <p:cNvPr id="155" name="beta_integrator_text_p6" descr="Editable text; source id beta_integrator_text_p6"/>
                <p:cNvSpPr txBox="1"/>
                <p:nvPr/>
              </p:nvSpPr>
              <p:spPr>
                <a:xfrm>
                  <a:off x="2514600" y="203409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(</a:t>
                  </a:r>
                </a:p>
              </p:txBody>
            </p:sp>
            <p:sp>
              <p:nvSpPr>
                <p:cNvPr id="156" name="beta_integrator_text_p7" descr="Editable text; source id beta_integrator_text_p7"/>
                <p:cNvSpPr txBox="1"/>
                <p:nvPr/>
              </p:nvSpPr>
              <p:spPr>
                <a:xfrm>
                  <a:off x="2553824" y="2034094"/>
                  <a:ext cx="504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157" name="beta_integrator_text_p8" descr="Editable text; source id beta_integrator_text_p8"/>
                <p:cNvSpPr txBox="1"/>
                <p:nvPr/>
              </p:nvSpPr>
              <p:spPr>
                <a:xfrm>
                  <a:off x="2612662" y="203409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58" name="beta_integrator_text_p9" descr="Editable text; source id beta_integrator_text_p9"/>
                <p:cNvSpPr txBox="1"/>
                <p:nvPr/>
              </p:nvSpPr>
              <p:spPr>
                <a:xfrm>
                  <a:off x="2693914" y="2034094"/>
                  <a:ext cx="62394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59" name="beta_integrator_text_p10" descr="Editable text; source id beta_integrator_text_p10"/>
                <p:cNvSpPr txBox="1"/>
                <p:nvPr/>
              </p:nvSpPr>
              <p:spPr>
                <a:xfrm>
                  <a:off x="2766760" y="2034094"/>
                  <a:ext cx="6794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)]</a:t>
                  </a:r>
                </a:p>
              </p:txBody>
            </p:sp>
            <p:sp>
              <p:nvSpPr>
                <p:cNvPr id="160" name="beta_integrator_text_p11" descr="Editable text; source id beta_integrator_text_p11"/>
                <p:cNvSpPr txBox="1"/>
                <p:nvPr/>
              </p:nvSpPr>
              <p:spPr>
                <a:xfrm>
                  <a:off x="2848012" y="2089429"/>
                  <a:ext cx="39224" cy="754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</p:grpSp>
          <p:cxnSp>
            <p:nvCxnSpPr>
              <p:cNvPr id="161" name="episode_jbar_integrator" descr="Editable line; source id episode_jbar_integrator"/>
              <p:cNvCxnSpPr/>
              <p:nvPr/>
            </p:nvCxnSpPr>
            <p:spPr>
              <a:xfrm>
                <a:off x="2560829" y="2031292"/>
                <a:ext cx="47630" cy="0"/>
              </a:xfrm>
              <a:prstGeom prst="line">
                <a:avLst/>
              </a:prstGeom>
              <a:ln w="4482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0" name="priced_policy_update" descr="Normalized priced advantage then PPO/TRPO; next policy generates next rollout"/>
          <p:cNvGrpSpPr/>
          <p:nvPr/>
        </p:nvGrpSpPr>
        <p:grpSpPr>
          <a:xfrm>
            <a:off x="4076593" y="1143127"/>
            <a:ext cx="896570" cy="949804"/>
            <a:chOff x="4076593" y="1143127"/>
            <a:chExt cx="896570" cy="949804"/>
          </a:xfrm>
        </p:grpSpPr>
        <p:sp>
          <p:nvSpPr>
            <p:cNvPr id="162" name="policy_body" descr="Editable shape; source id policy_body"/>
            <p:cNvSpPr/>
            <p:nvPr/>
          </p:nvSpPr>
          <p:spPr>
            <a:xfrm>
              <a:off x="4076593" y="1143127"/>
              <a:ext cx="896570" cy="949804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olicy_title" descr="Editable text; source id policy_title"/>
            <p:cNvSpPr txBox="1"/>
            <p:nvPr/>
          </p:nvSpPr>
          <p:spPr>
            <a:xfrm>
              <a:off x="4132629" y="1183753"/>
              <a:ext cx="784499" cy="240953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0" anchorCtr="0" vertOverflow="overflow">
              <a:noAutofit/>
            </a:bodyPr>
            <a:lstStyle/>
            <a:p>
              <a:pPr algn="ctr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Priced policy</a:t>
              </a:r>
            </a:p>
            <a:p>
              <a:pPr algn="ctr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update</a:t>
              </a:r>
            </a:p>
          </p:txBody>
        </p:sp>
        <p:grpSp>
          <p:nvGrpSpPr>
            <p:cNvPr id="288" name="normalized_priced_advantage" descr="Native editable formula parts; no OMML or raster"/>
            <p:cNvGrpSpPr/>
            <p:nvPr/>
          </p:nvGrpSpPr>
          <p:grpSpPr>
            <a:xfrm>
              <a:off x="4131228" y="1468134"/>
              <a:ext cx="774693" cy="289171"/>
              <a:chOff x="4131228" y="1468134"/>
              <a:chExt cx="774693" cy="289171"/>
            </a:xfrm>
          </p:grpSpPr>
          <p:grpSp>
            <p:nvGrpSpPr>
              <p:cNvPr id="285" name="advantage_lhs" descr="Native editable mathematical parts; not OMML"/>
              <p:cNvGrpSpPr/>
              <p:nvPr/>
            </p:nvGrpSpPr>
            <p:grpSpPr>
              <a:xfrm>
                <a:off x="4131228" y="1546584"/>
                <a:ext cx="144991" cy="113752"/>
                <a:chOff x="4131228" y="1546584"/>
                <a:chExt cx="144991" cy="113752"/>
              </a:xfrm>
            </p:grpSpPr>
            <p:sp>
              <p:nvSpPr>
                <p:cNvPr id="164" name="advantage_lhs_p0" descr="Editable text; source id advantage_lhs_p0"/>
                <p:cNvSpPr txBox="1"/>
                <p:nvPr/>
              </p:nvSpPr>
              <p:spPr>
                <a:xfrm>
                  <a:off x="4131228" y="154658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65" name="advantage_lhs_p1" descr="Editable text; source id advantage_lhs_p1"/>
                <p:cNvSpPr txBox="1"/>
                <p:nvPr/>
              </p:nvSpPr>
              <p:spPr>
                <a:xfrm>
                  <a:off x="4218083" y="154658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=</a:t>
                  </a:r>
                </a:p>
              </p:txBody>
            </p:sp>
          </p:grpSp>
          <p:sp>
            <p:nvSpPr>
              <p:cNvPr id="166" name="advantage_tilde" descr="Editable text; source id advantage_tilde"/>
              <p:cNvSpPr txBox="1"/>
              <p:nvPr/>
            </p:nvSpPr>
            <p:spPr>
              <a:xfrm>
                <a:off x="4153642" y="1487046"/>
                <a:ext cx="52708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~</a:t>
                </a:r>
              </a:p>
            </p:txBody>
          </p:sp>
          <p:grpSp>
            <p:nvGrpSpPr>
              <p:cNvPr id="286" name="advantage_numerator" descr="Native editable mathematical parts; not OMML"/>
              <p:cNvGrpSpPr/>
              <p:nvPr/>
            </p:nvGrpSpPr>
            <p:grpSpPr>
              <a:xfrm>
                <a:off x="4324551" y="1468134"/>
                <a:ext cx="558956" cy="142061"/>
                <a:chOff x="4324551" y="1468134"/>
                <a:chExt cx="558956" cy="142061"/>
              </a:xfrm>
            </p:grpSpPr>
            <p:sp>
              <p:nvSpPr>
                <p:cNvPr id="167" name="advantage_numerator_p0" descr="Editable text; source id advantage_numerator_p0"/>
                <p:cNvSpPr txBox="1"/>
                <p:nvPr/>
              </p:nvSpPr>
              <p:spPr>
                <a:xfrm>
                  <a:off x="4324551" y="146813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68" name="advantage_numerator_p1" descr="Editable text; source id advantage_numerator_p1"/>
                <p:cNvSpPr txBox="1"/>
                <p:nvPr/>
              </p:nvSpPr>
              <p:spPr>
                <a:xfrm>
                  <a:off x="4391794" y="1527672"/>
                  <a:ext cx="27317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  <p:sp>
              <p:nvSpPr>
                <p:cNvPr id="169" name="advantage_numerator_p2" descr="Editable text; source id advantage_numerator_p2"/>
                <p:cNvSpPr txBox="1"/>
                <p:nvPr/>
              </p:nvSpPr>
              <p:spPr>
                <a:xfrm>
                  <a:off x="4445028" y="146813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70" name="advantage_numerator_p3" descr="Editable text; source id advantage_numerator_p3"/>
                <p:cNvSpPr txBox="1"/>
                <p:nvPr/>
              </p:nvSpPr>
              <p:spPr>
                <a:xfrm>
                  <a:off x="4526280" y="1468134"/>
                  <a:ext cx="7214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71" name="advantage_numerator_p4" descr="Editable text; source id advantage_numerator_p4"/>
                <p:cNvSpPr txBox="1"/>
                <p:nvPr/>
              </p:nvSpPr>
              <p:spPr>
                <a:xfrm>
                  <a:off x="4601928" y="1527672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2" name="advantage_numerator_p5" descr="Editable text; source id advantage_numerator_p5"/>
                <p:cNvSpPr txBox="1"/>
                <p:nvPr/>
              </p:nvSpPr>
              <p:spPr>
                <a:xfrm>
                  <a:off x="4655162" y="1468134"/>
                  <a:ext cx="511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73" name="advantage_numerator_p6" descr="Editable text; source id advantage_numerator_p6"/>
                <p:cNvSpPr txBox="1"/>
                <p:nvPr/>
              </p:nvSpPr>
              <p:spPr>
                <a:xfrm>
                  <a:off x="4713999" y="1527672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4" name="advantage_numerator_p7" descr="Editable text; source id advantage_numerator_p7"/>
                <p:cNvSpPr txBox="1"/>
                <p:nvPr/>
              </p:nvSpPr>
              <p:spPr>
                <a:xfrm>
                  <a:off x="4756026" y="146813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75" name="advantage_numerator_p8" descr="Editable text; source id advantage_numerator_p8"/>
                <p:cNvSpPr txBox="1"/>
                <p:nvPr/>
              </p:nvSpPr>
              <p:spPr>
                <a:xfrm>
                  <a:off x="4826070" y="1527672"/>
                  <a:ext cx="29571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76" name="advantage_numerator_p9" descr="Editable text; source id advantage_numerator_p9"/>
                <p:cNvSpPr txBox="1"/>
                <p:nvPr/>
              </p:nvSpPr>
              <p:spPr>
                <a:xfrm>
                  <a:off x="4859692" y="1557791"/>
                  <a:ext cx="23815" cy="524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37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3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3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177" name="advantage_fraction" descr="Editable line; source id advantage_fraction"/>
              <p:cNvCxnSpPr/>
              <p:nvPr/>
            </p:nvCxnSpPr>
            <p:spPr>
              <a:xfrm>
                <a:off x="4328754" y="1619430"/>
                <a:ext cx="577167" cy="0"/>
              </a:xfrm>
              <a:prstGeom prst="line">
                <a:avLst/>
              </a:prstGeom>
              <a:ln w="5043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7" name="advantage_denominator" descr="Native editable mathematical parts; not OMML"/>
              <p:cNvGrpSpPr/>
              <p:nvPr/>
            </p:nvGrpSpPr>
            <p:grpSpPr>
              <a:xfrm>
                <a:off x="4428217" y="1627835"/>
                <a:ext cx="378240" cy="129470"/>
                <a:chOff x="4428217" y="1627835"/>
                <a:chExt cx="378240" cy="129470"/>
              </a:xfrm>
            </p:grpSpPr>
            <p:sp>
              <p:nvSpPr>
                <p:cNvPr id="178" name="advantage_denominator_p0" descr="Editable text; source id advantage_denominator_p0"/>
                <p:cNvSpPr txBox="1"/>
                <p:nvPr/>
              </p:nvSpPr>
              <p:spPr>
                <a:xfrm>
                  <a:off x="4428217" y="1627835"/>
                  <a:ext cx="12958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 +</a:t>
                  </a:r>
                </a:p>
              </p:txBody>
            </p:sp>
            <p:sp>
              <p:nvSpPr>
                <p:cNvPr id="179" name="advantage_denominator_p1" descr="Editable text; source id advantage_denominator_p1"/>
                <p:cNvSpPr txBox="1"/>
                <p:nvPr/>
              </p:nvSpPr>
              <p:spPr>
                <a:xfrm>
                  <a:off x="4573910" y="1627835"/>
                  <a:ext cx="7214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80" name="advantage_denominator_p2" descr="Editable text; source id advantage_denominator_p2"/>
                <p:cNvSpPr txBox="1"/>
                <p:nvPr/>
              </p:nvSpPr>
              <p:spPr>
                <a:xfrm>
                  <a:off x="4652360" y="1687373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1" name="advantage_denominator_p3" descr="Editable text; source id advantage_denominator_p3"/>
                <p:cNvSpPr txBox="1"/>
                <p:nvPr/>
              </p:nvSpPr>
              <p:spPr>
                <a:xfrm>
                  <a:off x="4713999" y="1627835"/>
                  <a:ext cx="511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82" name="advantage_denominator_p4" descr="Editable text; source id advantage_denominator_p4"/>
                <p:cNvSpPr txBox="1"/>
                <p:nvPr/>
              </p:nvSpPr>
              <p:spPr>
                <a:xfrm>
                  <a:off x="4775638" y="1687373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183" name="ppo_body" descr="Editable shape; source id ppo_body"/>
            <p:cNvSpPr/>
            <p:nvPr/>
          </p:nvSpPr>
          <p:spPr>
            <a:xfrm>
              <a:off x="4141034" y="1840771"/>
              <a:ext cx="554752" cy="168106"/>
            </a:xfrm>
            <a:prstGeom prst="roundRect">
              <a:avLst>
                <a:gd name="adj" fmla="val 11666"/>
              </a:avLst>
            </a:prstGeom>
            <a:solidFill>
              <a:srgbClr val="FFFFFF"/>
            </a:solidFill>
            <a:ln w="644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ppo_label" descr="Editable text; source id ppo_label"/>
            <p:cNvSpPr txBox="1"/>
            <p:nvPr/>
          </p:nvSpPr>
          <p:spPr>
            <a:xfrm>
              <a:off x="4171684" y="1865987"/>
              <a:ext cx="494853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  <p:sp>
          <p:nvSpPr>
            <p:cNvPr id="185" name="policy_to_next" descr="Editable line; source id policy_to_next"/>
            <p:cNvSpPr/>
            <p:nvPr/>
          </p:nvSpPr>
          <p:spPr>
            <a:xfrm>
              <a:off x="4704193" y="1906613"/>
              <a:ext cx="86855" cy="42027"/>
            </a:xfrm>
            <a:custGeom>
              <a:avLst/>
              <a:gdLst/>
              <a:ahLst/>
              <a:cxnLst/>
              <a:rect l="l" t="t" r="r" b="b"/>
              <a:pathLst>
                <a:path w="31000" h="15000">
                  <a:moveTo>
                    <a:pt x="0" y="6200"/>
                  </a:moveTo>
                  <a:lnTo>
                    <a:pt x="17000" y="6200"/>
                  </a:lnTo>
                  <a:lnTo>
                    <a:pt x="17000" y="0"/>
                  </a:lnTo>
                  <a:lnTo>
                    <a:pt x="31000" y="7500"/>
                  </a:lnTo>
                  <a:lnTo>
                    <a:pt x="17000" y="15000"/>
                  </a:lnTo>
                  <a:lnTo>
                    <a:pt x="17000" y="8800"/>
                  </a:lnTo>
                  <a:lnTo>
                    <a:pt x="0" y="8800"/>
                  </a:lnTo>
                  <a:close/>
                </a:path>
              </a:pathLst>
            </a:cu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89" name="next_policy" descr="Native editable mathematical parts; not OMML"/>
            <p:cNvGrpSpPr/>
            <p:nvPr/>
          </p:nvGrpSpPr>
          <p:grpSpPr>
            <a:xfrm>
              <a:off x="4798052" y="1873692"/>
              <a:ext cx="153409" cy="113617"/>
              <a:chOff x="4798052" y="1873692"/>
              <a:chExt cx="153409" cy="113617"/>
            </a:xfrm>
          </p:grpSpPr>
          <p:sp>
            <p:nvSpPr>
              <p:cNvPr id="186" name="next_policy_p0" descr="Editable text; source id next_policy_p0"/>
              <p:cNvSpPr txBox="1"/>
              <p:nvPr/>
            </p:nvSpPr>
            <p:spPr>
              <a:xfrm>
                <a:off x="4798052" y="1873692"/>
                <a:ext cx="51832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87" name="next_policy_p1" descr="Editable text; source id next_policy_p1"/>
              <p:cNvSpPr txBox="1"/>
              <p:nvPr/>
            </p:nvSpPr>
            <p:spPr>
              <a:xfrm>
                <a:off x="4848485" y="1917119"/>
                <a:ext cx="102976" cy="7019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9"/>
                  </a:lnSpc>
                  <a:spcBef>
                    <a:spcPts val="0"/>
                  </a:spcBef>
                  <a:spcAft>
                    <a:spcPts val="0"/>
                  </a:spcAft>
                  <a:defRPr sz="451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1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next</a:t>
                </a:r>
              </a:p>
            </p:txBody>
          </p:sp>
        </p:grpSp>
      </p:grpSp>
      <p:grpSp>
        <p:nvGrpSpPr>
          <p:cNvPr id="291" name="price_sum" descr="Exactly two incoming prices and one outgoing shared lambda"/>
          <p:cNvGrpSpPr/>
          <p:nvPr/>
        </p:nvGrpSpPr>
        <p:grpSpPr>
          <a:xfrm>
            <a:off x="3734776" y="1753915"/>
            <a:ext cx="196124" cy="196124"/>
            <a:chOff x="3734776" y="1753915"/>
            <a:chExt cx="196124" cy="196124"/>
          </a:xfrm>
        </p:grpSpPr>
        <p:sp>
          <p:nvSpPr>
            <p:cNvPr id="188" name="price_sum_circle" descr="Editable shape; source id price_sum_circle"/>
            <p:cNvSpPr/>
            <p:nvPr/>
          </p:nvSpPr>
          <p:spPr>
            <a:xfrm>
              <a:off x="3734776" y="1753915"/>
              <a:ext cx="196124" cy="196124"/>
            </a:xfrm>
            <a:prstGeom prst="ellipse">
              <a:avLst/>
            </a:prstGeom>
            <a:solidFill>
              <a:srgbClr val="FFFFFF"/>
            </a:solidFill>
            <a:ln w="644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price_sum_plus" descr="Editable text; source id price_sum_plus"/>
            <p:cNvSpPr txBox="1"/>
            <p:nvPr/>
          </p:nvSpPr>
          <p:spPr>
            <a:xfrm>
              <a:off x="3796672" y="1779832"/>
              <a:ext cx="73732" cy="14597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1116"/>
                </a:lnSpc>
                <a:spcBef>
                  <a:spcPts val="0"/>
                </a:spcBef>
                <a:spcAft>
                  <a:spcPts val="0"/>
                </a:spcAft>
                <a:defRPr sz="97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97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</p:grpSp>
      <p:sp>
        <p:nvSpPr>
          <p:cNvPr id="190" name="rollout_to_graph" descr="Editable line; source id rollout_to_graph"/>
          <p:cNvSpPr/>
          <p:nvPr/>
        </p:nvSpPr>
        <p:spPr>
          <a:xfrm>
            <a:off x="750878" y="777495"/>
            <a:ext cx="165305" cy="42027"/>
          </a:xfrm>
          <a:custGeom>
            <a:avLst/>
            <a:gdLst/>
            <a:ahLst/>
            <a:cxnLst/>
            <a:rect l="l" t="t" r="r" b="b"/>
            <a:pathLst>
              <a:path w="59000" h="15000">
                <a:moveTo>
                  <a:pt x="0" y="6100"/>
                </a:moveTo>
                <a:lnTo>
                  <a:pt x="45000" y="6100"/>
                </a:lnTo>
                <a:lnTo>
                  <a:pt x="45000" y="0"/>
                </a:lnTo>
                <a:lnTo>
                  <a:pt x="59000" y="7500"/>
                </a:lnTo>
                <a:lnTo>
                  <a:pt x="45000" y="15000"/>
                </a:lnTo>
                <a:lnTo>
                  <a:pt x="45000" y="8900"/>
                </a:lnTo>
                <a:lnTo>
                  <a:pt x="0" y="8900"/>
                </a:lnTo>
                <a:close/>
              </a:path>
            </a:pathLst>
          </a:custGeom>
          <a:solidFill>
            <a:srgbClr val="6B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mpirical_to_solver" descr="Editable line; source id empirical_to_solver"/>
          <p:cNvSpPr/>
          <p:nvPr/>
        </p:nvSpPr>
        <p:spPr>
          <a:xfrm>
            <a:off x="1874393" y="820922"/>
            <a:ext cx="50432" cy="39225"/>
          </a:xfrm>
          <a:custGeom>
            <a:avLst/>
            <a:gdLst/>
            <a:ahLst/>
            <a:cxnLst/>
            <a:rect l="l" t="t" r="r" b="b"/>
            <a:pathLst>
              <a:path w="18000" h="14000">
                <a:moveTo>
                  <a:pt x="0" y="5700"/>
                </a:moveTo>
                <a:lnTo>
                  <a:pt x="6000" y="5700"/>
                </a:lnTo>
                <a:lnTo>
                  <a:pt x="6000" y="0"/>
                </a:lnTo>
                <a:lnTo>
                  <a:pt x="18000" y="7000"/>
                </a:lnTo>
                <a:lnTo>
                  <a:pt x="6000" y="14000"/>
                </a:lnTo>
                <a:lnTo>
                  <a:pt x="6000" y="8300"/>
                </a:lnTo>
                <a:lnTo>
                  <a:pt x="0" y="8300"/>
                </a:lnTo>
                <a:close/>
              </a:path>
            </a:pathLst>
          </a:custGeom>
          <a:solidFill>
            <a:srgbClr val="1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93" name="graph_budget_input" descr="Native editable semantic group"/>
          <p:cNvGrpSpPr/>
          <p:nvPr/>
        </p:nvGrpSpPr>
        <p:grpSpPr>
          <a:xfrm>
            <a:off x="2169980" y="42026"/>
            <a:ext cx="592577" cy="355827"/>
            <a:chOff x="2169980" y="42026"/>
            <a:chExt cx="592577" cy="355827"/>
          </a:xfrm>
        </p:grpSpPr>
        <p:grpSp>
          <p:nvGrpSpPr>
            <p:cNvPr id="292" name="per_step_budget_formula" descr="Native editable mathematical parts; not OMML"/>
            <p:cNvGrpSpPr/>
            <p:nvPr/>
          </p:nvGrpSpPr>
          <p:grpSpPr>
            <a:xfrm>
              <a:off x="2254034" y="42026"/>
              <a:ext cx="406553" cy="127943"/>
              <a:chOff x="2254034" y="42026"/>
              <a:chExt cx="406553" cy="127943"/>
            </a:xfrm>
          </p:grpSpPr>
          <p:sp>
            <p:nvSpPr>
              <p:cNvPr id="192" name="per_step_budget_formula_p0" descr="Editable text; source id per_step_budget_formula_p0"/>
              <p:cNvSpPr txBox="1"/>
              <p:nvPr/>
            </p:nvSpPr>
            <p:spPr>
              <a:xfrm>
                <a:off x="2254034" y="42026"/>
                <a:ext cx="518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93" name="per_step_budget_formula_p1" descr="Editable text; source id per_step_budget_formula_p1"/>
              <p:cNvSpPr txBox="1"/>
              <p:nvPr/>
            </p:nvSpPr>
            <p:spPr>
              <a:xfrm>
                <a:off x="2301664" y="94560"/>
                <a:ext cx="32920" cy="7540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60"/>
                  </a:lnSpc>
                  <a:spcBef>
                    <a:spcPts val="0"/>
                  </a:spcBef>
                  <a:spcAft>
                    <a:spcPts val="0"/>
                  </a:spcAft>
                  <a:def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94" name="per_step_budget_formula_p2" descr="Editable text; source id per_step_budget_formula_p2"/>
              <p:cNvSpPr txBox="1"/>
              <p:nvPr/>
            </p:nvSpPr>
            <p:spPr>
              <a:xfrm>
                <a:off x="2360501" y="42026"/>
                <a:ext cx="58136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</a:t>
                </a:r>
              </a:p>
            </p:txBody>
          </p:sp>
          <p:sp>
            <p:nvSpPr>
              <p:cNvPr id="195" name="per_step_budget_formula_p3" descr="Editable text; source id per_step_budget_formula_p3"/>
              <p:cNvSpPr txBox="1"/>
              <p:nvPr/>
            </p:nvSpPr>
            <p:spPr>
              <a:xfrm>
                <a:off x="2444555" y="42026"/>
                <a:ext cx="62394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96" name="per_step_budget_formula_p4" descr="Editable text; source id per_step_budget_formula_p4"/>
              <p:cNvSpPr txBox="1"/>
              <p:nvPr/>
            </p:nvSpPr>
            <p:spPr>
              <a:xfrm>
                <a:off x="2506194" y="94560"/>
                <a:ext cx="32920" cy="7540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60"/>
                  </a:lnSpc>
                  <a:spcBef>
                    <a:spcPts val="0"/>
                  </a:spcBef>
                  <a:spcAft>
                    <a:spcPts val="0"/>
                  </a:spcAft>
                  <a:def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97" name="per_step_budget_formula_p5" descr="Editable text; source id per_step_budget_formula_p5"/>
              <p:cNvSpPr txBox="1"/>
              <p:nvPr/>
            </p:nvSpPr>
            <p:spPr>
              <a:xfrm>
                <a:off x="2543318" y="42026"/>
                <a:ext cx="117269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/ L</a:t>
                </a:r>
              </a:p>
            </p:txBody>
          </p:sp>
        </p:grpSp>
        <p:sp>
          <p:nvSpPr>
            <p:cNvPr id="198" name="per_step_budget_label" descr="Editable text; source id per_step_budget_label"/>
            <p:cNvSpPr txBox="1"/>
            <p:nvPr/>
          </p:nvSpPr>
          <p:spPr>
            <a:xfrm>
              <a:off x="2169980" y="159001"/>
              <a:ext cx="59257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per-step budgets</a:t>
              </a:r>
            </a:p>
          </p:txBody>
        </p:sp>
        <p:sp>
          <p:nvSpPr>
            <p:cNvPr id="199" name="budget_to_graph" descr="Editable line; source id budget_to_graph"/>
            <p:cNvSpPr/>
            <p:nvPr/>
          </p:nvSpPr>
          <p:spPr>
            <a:xfrm>
              <a:off x="2445956" y="271773"/>
              <a:ext cx="39225" cy="126080"/>
            </a:xfrm>
            <a:custGeom>
              <a:avLst/>
              <a:gdLst/>
              <a:ahLst/>
              <a:cxnLst/>
              <a:rect l="l" t="t" r="r" b="b"/>
              <a:pathLst>
                <a:path w="14000" h="45000">
                  <a:moveTo>
                    <a:pt x="8250" y="0"/>
                  </a:moveTo>
                  <a:lnTo>
                    <a:pt x="8250" y="31000"/>
                  </a:lnTo>
                  <a:lnTo>
                    <a:pt x="14000" y="31000"/>
                  </a:lnTo>
                  <a:lnTo>
                    <a:pt x="7000" y="45000"/>
                  </a:lnTo>
                  <a:lnTo>
                    <a:pt x="0" y="31000"/>
                  </a:lnTo>
                  <a:lnTo>
                    <a:pt x="5750" y="3100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4" name="hard_edges_input" descr="Native editable semantic group"/>
          <p:cNvGrpSpPr/>
          <p:nvPr/>
        </p:nvGrpSpPr>
        <p:grpSpPr>
          <a:xfrm>
            <a:off x="2916655" y="44828"/>
            <a:ext cx="528136" cy="353025"/>
            <a:chOff x="2916655" y="44828"/>
            <a:chExt cx="528136" cy="353025"/>
          </a:xfrm>
        </p:grpSpPr>
        <p:sp>
          <p:nvSpPr>
            <p:cNvPr id="200" name="hard_edges_label" descr="Editable text; source id hard_edges_label"/>
            <p:cNvSpPr txBox="1"/>
            <p:nvPr/>
          </p:nvSpPr>
          <p:spPr>
            <a:xfrm>
              <a:off x="2916655" y="44828"/>
              <a:ext cx="528136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Hard edges H</a:t>
              </a:r>
            </a:p>
          </p:txBody>
        </p:sp>
        <p:sp>
          <p:nvSpPr>
            <p:cNvPr id="201" name="hard_edges_zero" descr="Editable text; source id hard_edges_zero"/>
            <p:cNvSpPr txBox="1"/>
            <p:nvPr/>
          </p:nvSpPr>
          <p:spPr>
            <a:xfrm>
              <a:off x="3008063" y="159001"/>
              <a:ext cx="345319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zero flow</a:t>
              </a:r>
            </a:p>
          </p:txBody>
        </p:sp>
        <p:sp>
          <p:nvSpPr>
            <p:cNvPr id="202" name="hard_edges_to_graph" descr="Editable line; source id hard_edges_to_graph"/>
            <p:cNvSpPr/>
            <p:nvPr/>
          </p:nvSpPr>
          <p:spPr>
            <a:xfrm>
              <a:off x="3160411" y="271773"/>
              <a:ext cx="39225" cy="126080"/>
            </a:xfrm>
            <a:custGeom>
              <a:avLst/>
              <a:gdLst/>
              <a:ahLst/>
              <a:cxnLst/>
              <a:rect l="l" t="t" r="r" b="b"/>
              <a:pathLst>
                <a:path w="14000" h="45000">
                  <a:moveTo>
                    <a:pt x="8250" y="0"/>
                  </a:moveTo>
                  <a:lnTo>
                    <a:pt x="8250" y="31000"/>
                  </a:lnTo>
                  <a:lnTo>
                    <a:pt x="14000" y="31000"/>
                  </a:lnTo>
                  <a:lnTo>
                    <a:pt x="7000" y="45000"/>
                  </a:lnTo>
                  <a:lnTo>
                    <a:pt x="0" y="31000"/>
                  </a:lnTo>
                  <a:lnTo>
                    <a:pt x="5750" y="3100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6" name="graph_price_connector" descr="Native editable semantic group"/>
          <p:cNvGrpSpPr/>
          <p:nvPr/>
        </p:nvGrpSpPr>
        <p:grpSpPr>
          <a:xfrm>
            <a:off x="3531647" y="607986"/>
            <a:ext cx="92458" cy="212937"/>
            <a:chOff x="3531647" y="607986"/>
            <a:chExt cx="92458" cy="212937"/>
          </a:xfrm>
        </p:grpSpPr>
        <p:sp>
          <p:nvSpPr>
            <p:cNvPr id="203" name="graph_price_path" descr="Editable line; source id graph_price_path"/>
            <p:cNvSpPr/>
            <p:nvPr/>
          </p:nvSpPr>
          <p:spPr>
            <a:xfrm>
              <a:off x="3533048" y="776094"/>
              <a:ext cx="81252" cy="44829"/>
            </a:xfrm>
            <a:custGeom>
              <a:avLst/>
              <a:gdLst/>
              <a:ahLst/>
              <a:cxnLst/>
              <a:rect l="l" t="t" r="r" b="b"/>
              <a:pathLst>
                <a:path w="29000" h="16000">
                  <a:moveTo>
                    <a:pt x="0" y="6600"/>
                  </a:moveTo>
                  <a:lnTo>
                    <a:pt x="15000" y="6600"/>
                  </a:lnTo>
                  <a:lnTo>
                    <a:pt x="15000" y="0"/>
                  </a:lnTo>
                  <a:lnTo>
                    <a:pt x="29000" y="8000"/>
                  </a:lnTo>
                  <a:lnTo>
                    <a:pt x="15000" y="16000"/>
                  </a:lnTo>
                  <a:lnTo>
                    <a:pt x="15000" y="9400"/>
                  </a:lnTo>
                  <a:lnTo>
                    <a:pt x="0" y="94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5" name="lambda_star_label" descr="Native editable mathematical parts; not OMML"/>
            <p:cNvGrpSpPr/>
            <p:nvPr/>
          </p:nvGrpSpPr>
          <p:grpSpPr>
            <a:xfrm>
              <a:off x="3531647" y="607986"/>
              <a:ext cx="92458" cy="124959"/>
              <a:chOff x="3531647" y="607986"/>
              <a:chExt cx="92458" cy="124959"/>
            </a:xfrm>
          </p:grpSpPr>
          <p:sp>
            <p:nvSpPr>
              <p:cNvPr id="204" name="lambda_star_label_p0" descr="Editable text; source id lambda_star_label_p0"/>
              <p:cNvSpPr txBox="1"/>
              <p:nvPr/>
            </p:nvSpPr>
            <p:spPr>
              <a:xfrm>
                <a:off x="3531647" y="619193"/>
                <a:ext cx="511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5" name="lambda_star_label_p1" descr="Editable text; source id lambda_star_label_p1"/>
              <p:cNvSpPr txBox="1"/>
              <p:nvPr/>
            </p:nvSpPr>
            <p:spPr>
              <a:xfrm>
                <a:off x="3587682" y="607986"/>
                <a:ext cx="36423" cy="776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77"/>
                  </a:lnSpc>
                  <a:spcBef>
                    <a:spcPts val="0"/>
                  </a:spcBef>
                  <a:spcAft>
                    <a:spcPts val="0"/>
                  </a:spcAft>
                  <a:def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grpSp>
        <p:nvGrpSpPr>
          <p:cNvPr id="299" name="filtered_graph_price" descr="Graph price bends toward junction; clear gap at GAE crossing means no junction"/>
          <p:cNvGrpSpPr/>
          <p:nvPr/>
        </p:nvGrpSpPr>
        <p:grpSpPr>
          <a:xfrm>
            <a:off x="3810425" y="624797"/>
            <a:ext cx="383843" cy="1120714"/>
            <a:chOff x="3810425" y="624797"/>
            <a:chExt cx="383843" cy="1120714"/>
          </a:xfrm>
        </p:grpSpPr>
        <p:grpSp>
          <p:nvGrpSpPr>
            <p:cNvPr id="297" name="filtered_price_upper" descr="Segments of one observed connector; external endpoints do not reroute"/>
            <p:cNvGrpSpPr/>
            <p:nvPr/>
          </p:nvGrpSpPr>
          <p:grpSpPr>
            <a:xfrm>
              <a:off x="3832838" y="798508"/>
              <a:ext cx="361430" cy="826525"/>
              <a:chOff x="3832838" y="798508"/>
              <a:chExt cx="361430" cy="826525"/>
            </a:xfrm>
          </p:grpSpPr>
          <p:cxnSp>
            <p:nvCxnSpPr>
              <p:cNvPr id="206" name="filtered_price_upper_0" descr="Editable line; source id filtered_price_upper_0"/>
              <p:cNvCxnSpPr/>
              <p:nvPr/>
            </p:nvCxnSpPr>
            <p:spPr>
              <a:xfrm>
                <a:off x="4062584" y="798508"/>
                <a:ext cx="131684" cy="0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filtered_price_upper_1" descr="Editable line; source id filtered_price_upper_1"/>
              <p:cNvCxnSpPr/>
              <p:nvPr/>
            </p:nvCxnSpPr>
            <p:spPr>
              <a:xfrm>
                <a:off x="4194268" y="798508"/>
                <a:ext cx="0" cy="235349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filtered_price_upper_2" descr="Editable line; source id filtered_price_upper_2"/>
              <p:cNvCxnSpPr/>
              <p:nvPr/>
            </p:nvCxnSpPr>
            <p:spPr>
              <a:xfrm flipH="1">
                <a:off x="3832838" y="1033857"/>
                <a:ext cx="361430" cy="0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filtered_price_upper_3" descr="Editable line; source id filtered_price_upper_3"/>
              <p:cNvCxnSpPr/>
              <p:nvPr/>
            </p:nvCxnSpPr>
            <p:spPr>
              <a:xfrm>
                <a:off x="3832838" y="1033857"/>
                <a:ext cx="0" cy="591176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0" name="filtered_price_lower" descr="Editable line; source id filtered_price_lower"/>
            <p:cNvSpPr/>
            <p:nvPr/>
          </p:nvSpPr>
          <p:spPr>
            <a:xfrm>
              <a:off x="3810425" y="1692277"/>
              <a:ext cx="44829" cy="53234"/>
            </a:xfrm>
            <a:custGeom>
              <a:avLst/>
              <a:gdLst/>
              <a:ahLst/>
              <a:cxnLst/>
              <a:rect l="l" t="t" r="r" b="b"/>
              <a:pathLst>
                <a:path w="16000" h="19000">
                  <a:moveTo>
                    <a:pt x="9500" y="0"/>
                  </a:moveTo>
                  <a:lnTo>
                    <a:pt x="9500" y="5000"/>
                  </a:lnTo>
                  <a:lnTo>
                    <a:pt x="16000" y="5000"/>
                  </a:lnTo>
                  <a:lnTo>
                    <a:pt x="8000" y="19000"/>
                  </a:lnTo>
                  <a:lnTo>
                    <a:pt x="0" y="5000"/>
                  </a:lnTo>
                  <a:lnTo>
                    <a:pt x="6500" y="5000"/>
                  </a:lnTo>
                  <a:lnTo>
                    <a:pt x="650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8" name="lambda_barstar_label" descr="Native editable mathematical parts; not OMML"/>
            <p:cNvGrpSpPr/>
            <p:nvPr/>
          </p:nvGrpSpPr>
          <p:grpSpPr>
            <a:xfrm>
              <a:off x="4080796" y="624797"/>
              <a:ext cx="92459" cy="124959"/>
              <a:chOff x="4080796" y="624797"/>
              <a:chExt cx="92459" cy="124959"/>
            </a:xfrm>
          </p:grpSpPr>
          <p:sp>
            <p:nvSpPr>
              <p:cNvPr id="211" name="lambda_barstar_label_p0" descr="Editable text; source id lambda_barstar_label_p0"/>
              <p:cNvSpPr txBox="1"/>
              <p:nvPr/>
            </p:nvSpPr>
            <p:spPr>
              <a:xfrm>
                <a:off x="4080796" y="636004"/>
                <a:ext cx="511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12" name="lambda_barstar_label_p1" descr="Editable text; source id lambda_barstar_label_p1"/>
              <p:cNvSpPr txBox="1"/>
              <p:nvPr/>
            </p:nvSpPr>
            <p:spPr>
              <a:xfrm>
                <a:off x="4136832" y="624797"/>
                <a:ext cx="36423" cy="776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77"/>
                  </a:lnSpc>
                  <a:spcBef>
                    <a:spcPts val="0"/>
                  </a:spcBef>
                  <a:spcAft>
                    <a:spcPts val="0"/>
                  </a:spcAft>
                  <a:def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cxnSp>
          <p:nvCxnSpPr>
            <p:cNvPr id="213" name="lambda_bar" descr="Editable line; source id lambda_bar"/>
            <p:cNvCxnSpPr/>
            <p:nvPr/>
          </p:nvCxnSpPr>
          <p:spPr>
            <a:xfrm>
              <a:off x="4090602" y="627599"/>
              <a:ext cx="44829" cy="0"/>
            </a:xfrm>
            <a:prstGeom prst="line">
              <a:avLst/>
            </a:prstGeom>
            <a:ln w="4763">
              <a:solidFill>
                <a:srgbClr val="16868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AE_bypass" descr="Independent gray GAE branch enters policy region directly, never the price sum"/>
          <p:cNvGrpSpPr/>
          <p:nvPr/>
        </p:nvGrpSpPr>
        <p:grpSpPr>
          <a:xfrm>
            <a:off x="750877" y="1356063"/>
            <a:ext cx="3317311" cy="314314"/>
            <a:chOff x="750877" y="1356063"/>
            <a:chExt cx="3317311" cy="314314"/>
          </a:xfrm>
        </p:grpSpPr>
        <p:grpSp>
          <p:nvGrpSpPr>
            <p:cNvPr id="300" name="gae_path" descr="Segments of one observed connector; external endpoints do not reroute"/>
            <p:cNvGrpSpPr/>
            <p:nvPr/>
          </p:nvGrpSpPr>
          <p:grpSpPr>
            <a:xfrm>
              <a:off x="750877" y="1356063"/>
              <a:ext cx="3317311" cy="302592"/>
              <a:chOff x="750877" y="1356063"/>
              <a:chExt cx="3317311" cy="302592"/>
            </a:xfrm>
          </p:grpSpPr>
          <p:cxnSp>
            <p:nvCxnSpPr>
              <p:cNvPr id="214" name="gae_path_0" descr="Editable line; source id gae_path_0"/>
              <p:cNvCxnSpPr/>
              <p:nvPr/>
            </p:nvCxnSpPr>
            <p:spPr>
              <a:xfrm>
                <a:off x="750877" y="1434512"/>
                <a:ext cx="70045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gae_path_1" descr="Editable line; source id gae_path_1"/>
              <p:cNvCxnSpPr/>
              <p:nvPr/>
            </p:nvCxnSpPr>
            <p:spPr>
              <a:xfrm>
                <a:off x="820922" y="1434512"/>
                <a:ext cx="0" cy="224143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gae_path_2" descr="Editable line; source id gae_path_2"/>
              <p:cNvCxnSpPr/>
              <p:nvPr/>
            </p:nvCxnSpPr>
            <p:spPr>
              <a:xfrm>
                <a:off x="820922" y="1658655"/>
                <a:ext cx="3157609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gae_path_3" descr="Editable line; source id gae_path_3"/>
              <p:cNvCxnSpPr/>
              <p:nvPr/>
            </p:nvCxnSpPr>
            <p:spPr>
              <a:xfrm flipV="1">
                <a:off x="3978531" y="1378477"/>
                <a:ext cx="0" cy="280178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gae_path_4" descr="Editable line; source id gae_path_4"/>
              <p:cNvSpPr/>
              <p:nvPr/>
            </p:nvSpPr>
            <p:spPr>
              <a:xfrm>
                <a:off x="3978531" y="1356063"/>
                <a:ext cx="89657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32000" h="16000">
                    <a:moveTo>
                      <a:pt x="0" y="6600"/>
                    </a:moveTo>
                    <a:lnTo>
                      <a:pt x="18000" y="6600"/>
                    </a:lnTo>
                    <a:lnTo>
                      <a:pt x="18000" y="0"/>
                    </a:lnTo>
                    <a:lnTo>
                      <a:pt x="32000" y="8000"/>
                    </a:lnTo>
                    <a:lnTo>
                      <a:pt x="18000" y="16000"/>
                    </a:lnTo>
                    <a:lnTo>
                      <a:pt x="18000" y="9400"/>
                    </a:lnTo>
                    <a:lnTo>
                      <a:pt x="0" y="94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1" name="gae_label" descr="Native editable mathematical parts; not OMML"/>
            <p:cNvGrpSpPr/>
            <p:nvPr/>
          </p:nvGrpSpPr>
          <p:grpSpPr>
            <a:xfrm>
              <a:off x="987628" y="1548685"/>
              <a:ext cx="480505" cy="121692"/>
              <a:chOff x="987628" y="1548685"/>
              <a:chExt cx="480505" cy="121692"/>
            </a:xfrm>
          </p:grpSpPr>
          <p:sp>
            <p:nvSpPr>
              <p:cNvPr id="219" name="gae_label_p0" descr="Editable text; source id gae_label_p0"/>
              <p:cNvSpPr txBox="1"/>
              <p:nvPr/>
            </p:nvSpPr>
            <p:spPr>
              <a:xfrm>
                <a:off x="987628" y="1548685"/>
                <a:ext cx="228345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1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1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GAE:</a:t>
                </a:r>
              </a:p>
            </p:txBody>
          </p:sp>
          <p:sp>
            <p:nvSpPr>
              <p:cNvPr id="220" name="gae_label_p1" descr="Editable text; source id gae_label_p1"/>
              <p:cNvSpPr txBox="1"/>
              <p:nvPr/>
            </p:nvSpPr>
            <p:spPr>
              <a:xfrm>
                <a:off x="1218075" y="1548685"/>
                <a:ext cx="69344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21" name="gae_label_p2" descr="Editable text; source id gae_label_p2"/>
              <p:cNvSpPr txBox="1"/>
              <p:nvPr/>
            </p:nvSpPr>
            <p:spPr>
              <a:xfrm>
                <a:off x="1284617" y="1601218"/>
                <a:ext cx="26616" cy="6915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1"/>
                  </a:lnSpc>
                  <a:spcBef>
                    <a:spcPts val="0"/>
                  </a:spcBef>
                  <a:spcAft>
                    <a:spcPts val="0"/>
                  </a:spcAft>
                  <a:def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22" name="gae_label_p3" descr="Editable text; source id gae_label_p3"/>
              <p:cNvSpPr txBox="1"/>
              <p:nvPr/>
            </p:nvSpPr>
            <p:spPr>
              <a:xfrm>
                <a:off x="1323842" y="1548685"/>
                <a:ext cx="26616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,</a:t>
                </a:r>
              </a:p>
            </p:txBody>
          </p:sp>
          <p:sp>
            <p:nvSpPr>
              <p:cNvPr id="223" name="gae_label_p4" descr="Editable text; source id gae_label_p4"/>
              <p:cNvSpPr txBox="1"/>
              <p:nvPr/>
            </p:nvSpPr>
            <p:spPr>
              <a:xfrm>
                <a:off x="1374974" y="1548685"/>
                <a:ext cx="69344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24" name="gae_label_p5" descr="Editable text; source id gae_label_p5"/>
              <p:cNvSpPr txBox="1"/>
              <p:nvPr/>
            </p:nvSpPr>
            <p:spPr>
              <a:xfrm>
                <a:off x="1438715" y="1601218"/>
                <a:ext cx="29418" cy="6915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1"/>
                  </a:lnSpc>
                  <a:spcBef>
                    <a:spcPts val="0"/>
                  </a:spcBef>
                  <a:spcAft>
                    <a:spcPts val="0"/>
                  </a:spcAft>
                  <a:def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</p:grpSp>
      </p:grpSp>
      <p:grpSp>
        <p:nvGrpSpPr>
          <p:cNvPr id="305" name="episode_cost_branch" descr="Native editable semantic group"/>
          <p:cNvGrpSpPr/>
          <p:nvPr/>
        </p:nvGrpSpPr>
        <p:grpSpPr>
          <a:xfrm>
            <a:off x="750877" y="1787537"/>
            <a:ext cx="1173948" cy="294188"/>
            <a:chOff x="750877" y="1787537"/>
            <a:chExt cx="1173948" cy="294188"/>
          </a:xfrm>
        </p:grpSpPr>
        <p:grpSp>
          <p:nvGrpSpPr>
            <p:cNvPr id="303" name="episode_cost_path" descr="Segments of one observed connector; external endpoints do not reroute"/>
            <p:cNvGrpSpPr/>
            <p:nvPr/>
          </p:nvGrpSpPr>
          <p:grpSpPr>
            <a:xfrm>
              <a:off x="750877" y="1787537"/>
              <a:ext cx="1173948" cy="294188"/>
              <a:chOff x="750877" y="1787537"/>
              <a:chExt cx="1173948" cy="294188"/>
            </a:xfrm>
          </p:grpSpPr>
          <p:cxnSp>
            <p:nvCxnSpPr>
              <p:cNvPr id="225" name="episode_cost_path_0" descr="Editable line; source id episode_cost_path_0"/>
              <p:cNvCxnSpPr/>
              <p:nvPr/>
            </p:nvCxnSpPr>
            <p:spPr>
              <a:xfrm>
                <a:off x="750877" y="1787537"/>
                <a:ext cx="72847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episode_cost_path_1" descr="Editable line; source id episode_cost_path_1"/>
              <p:cNvCxnSpPr/>
              <p:nvPr/>
            </p:nvCxnSpPr>
            <p:spPr>
              <a:xfrm>
                <a:off x="823724" y="1787537"/>
                <a:ext cx="0" cy="271773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episode_cost_path_2" descr="Editable line; source id episode_cost_path_2"/>
              <p:cNvSpPr/>
              <p:nvPr/>
            </p:nvSpPr>
            <p:spPr>
              <a:xfrm>
                <a:off x="823724" y="2036896"/>
                <a:ext cx="1101101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393000" h="16000">
                    <a:moveTo>
                      <a:pt x="0" y="6600"/>
                    </a:moveTo>
                    <a:lnTo>
                      <a:pt x="379000" y="6600"/>
                    </a:lnTo>
                    <a:lnTo>
                      <a:pt x="379000" y="0"/>
                    </a:lnTo>
                    <a:lnTo>
                      <a:pt x="393000" y="8000"/>
                    </a:lnTo>
                    <a:lnTo>
                      <a:pt x="379000" y="16000"/>
                    </a:lnTo>
                    <a:lnTo>
                      <a:pt x="379000" y="9400"/>
                    </a:lnTo>
                    <a:lnTo>
                      <a:pt x="0" y="94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4" name="episode_cost_label" descr="Native editable mathematical parts; not OMML"/>
            <p:cNvGrpSpPr/>
            <p:nvPr/>
          </p:nvGrpSpPr>
          <p:grpSpPr>
            <a:xfrm>
              <a:off x="965214" y="1926926"/>
              <a:ext cx="571563" cy="107308"/>
              <a:chOff x="965214" y="1926926"/>
              <a:chExt cx="571563" cy="107308"/>
            </a:xfrm>
          </p:grpSpPr>
          <p:sp>
            <p:nvSpPr>
              <p:cNvPr id="228" name="episode_cost_label_p0" descr="Editable text; source id episode_cost_label_p0"/>
              <p:cNvSpPr txBox="1"/>
              <p:nvPr/>
            </p:nvSpPr>
            <p:spPr>
              <a:xfrm>
                <a:off x="965214" y="1926926"/>
                <a:ext cx="494777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Episode costs</a:t>
                </a:r>
              </a:p>
            </p:txBody>
          </p:sp>
          <p:sp>
            <p:nvSpPr>
              <p:cNvPr id="229" name="episode_cost_label_p1" descr="Editable text; source id episode_cost_label_p1"/>
              <p:cNvSpPr txBox="1"/>
              <p:nvPr/>
            </p:nvSpPr>
            <p:spPr>
              <a:xfrm>
                <a:off x="1489147" y="1926926"/>
                <a:ext cx="47630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</p:grpSp>
        <p:cxnSp>
          <p:nvCxnSpPr>
            <p:cNvPr id="230" name="episode_jbar" descr="Editable line; source id episode_jbar"/>
            <p:cNvCxnSpPr/>
            <p:nvPr/>
          </p:nvCxnSpPr>
          <p:spPr>
            <a:xfrm>
              <a:off x="1498953" y="1919221"/>
              <a:ext cx="44829" cy="0"/>
            </a:xfrm>
            <a:prstGeom prst="line">
              <a:avLst/>
            </a:prstGeom>
            <a:ln w="4482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episode_budget_input" descr="Native editable semantic group"/>
          <p:cNvGrpSpPr/>
          <p:nvPr/>
        </p:nvGrpSpPr>
        <p:grpSpPr>
          <a:xfrm>
            <a:off x="2197648" y="1697179"/>
            <a:ext cx="626898" cy="135187"/>
            <a:chOff x="2197648" y="1697179"/>
            <a:chExt cx="626898" cy="135187"/>
          </a:xfrm>
        </p:grpSpPr>
        <p:sp>
          <p:nvSpPr>
            <p:cNvPr id="231" name="episode_budget_label" descr="Editable text; source id episode_budget_label"/>
            <p:cNvSpPr txBox="1"/>
            <p:nvPr/>
          </p:nvSpPr>
          <p:spPr>
            <a:xfrm>
              <a:off x="2197648" y="1697179"/>
              <a:ext cx="626898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episode budget B</a:t>
              </a:r>
            </a:p>
          </p:txBody>
        </p:sp>
        <p:sp>
          <p:nvSpPr>
            <p:cNvPr id="232" name="episode_budget_to_feedback" descr="Editable line; source id episode_budget_to_feedback"/>
            <p:cNvSpPr/>
            <p:nvPr/>
          </p:nvSpPr>
          <p:spPr>
            <a:xfrm>
              <a:off x="2493587" y="1793141"/>
              <a:ext cx="33621" cy="39225"/>
            </a:xfrm>
            <a:custGeom>
              <a:avLst/>
              <a:gdLst/>
              <a:ahLst/>
              <a:cxnLst/>
              <a:rect l="l" t="t" r="r" b="b"/>
              <a:pathLst>
                <a:path w="12000" h="14000">
                  <a:moveTo>
                    <a:pt x="7250" y="0"/>
                  </a:moveTo>
                  <a:lnTo>
                    <a:pt x="7250" y="4000"/>
                  </a:lnTo>
                  <a:lnTo>
                    <a:pt x="12000" y="4000"/>
                  </a:lnTo>
                  <a:lnTo>
                    <a:pt x="6000" y="14000"/>
                  </a:lnTo>
                  <a:lnTo>
                    <a:pt x="0" y="4000"/>
                  </a:lnTo>
                  <a:lnTo>
                    <a:pt x="4750" y="4000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8" name="episode_price_connector" descr="Native editable semantic group"/>
          <p:cNvGrpSpPr/>
          <p:nvPr/>
        </p:nvGrpSpPr>
        <p:grpSpPr>
          <a:xfrm>
            <a:off x="3095969" y="1922022"/>
            <a:ext cx="759285" cy="137288"/>
            <a:chOff x="3095969" y="1922022"/>
            <a:chExt cx="759285" cy="137288"/>
          </a:xfrm>
        </p:grpSpPr>
        <p:grpSp>
          <p:nvGrpSpPr>
            <p:cNvPr id="307" name="beta_path" descr="Segments of one observed connector; external endpoints do not reroute"/>
            <p:cNvGrpSpPr/>
            <p:nvPr/>
          </p:nvGrpSpPr>
          <p:grpSpPr>
            <a:xfrm>
              <a:off x="3095969" y="1958446"/>
              <a:ext cx="759285" cy="100864"/>
              <a:chOff x="3095969" y="1958446"/>
              <a:chExt cx="759285" cy="100864"/>
            </a:xfrm>
          </p:grpSpPr>
          <p:cxnSp>
            <p:nvCxnSpPr>
              <p:cNvPr id="233" name="beta_path_0" descr="Editable line; source id beta_path_0"/>
              <p:cNvCxnSpPr/>
              <p:nvPr/>
            </p:nvCxnSpPr>
            <p:spPr>
              <a:xfrm>
                <a:off x="3095969" y="2059310"/>
                <a:ext cx="736869" cy="0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beta_path_1" descr="Editable line; source id beta_path_1"/>
              <p:cNvSpPr/>
              <p:nvPr/>
            </p:nvSpPr>
            <p:spPr>
              <a:xfrm>
                <a:off x="3810425" y="1958446"/>
                <a:ext cx="44829" cy="100864"/>
              </a:xfrm>
              <a:custGeom>
                <a:avLst/>
                <a:gdLst/>
                <a:ahLst/>
                <a:cxnLst/>
                <a:rect l="l" t="t" r="r" b="b"/>
                <a:pathLst>
                  <a:path w="16000" h="36000">
                    <a:moveTo>
                      <a:pt x="6500" y="36000"/>
                    </a:moveTo>
                    <a:lnTo>
                      <a:pt x="6500" y="14000"/>
                    </a:lnTo>
                    <a:lnTo>
                      <a:pt x="0" y="14000"/>
                    </a:lnTo>
                    <a:lnTo>
                      <a:pt x="8000" y="0"/>
                    </a:lnTo>
                    <a:lnTo>
                      <a:pt x="16000" y="14000"/>
                    </a:lnTo>
                    <a:lnTo>
                      <a:pt x="9500" y="14000"/>
                    </a:lnTo>
                    <a:lnTo>
                      <a:pt x="9500" y="360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5" name="beta_price_label" descr="Editable text; source id beta_price_label"/>
            <p:cNvSpPr txBox="1"/>
            <p:nvPr/>
          </p:nvSpPr>
          <p:spPr>
            <a:xfrm>
              <a:off x="3409069" y="1922022"/>
              <a:ext cx="56035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3502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1" lang="zh-CN" dirty="0">
                  <a:solidFill>
                    <a:srgbClr val="6B7882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1" lang="zh-CN" dirty="0">
                  <a:solidFill>
                    <a:srgbClr val="6B7882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</p:grpSp>
      <p:grpSp>
        <p:nvGrpSpPr>
          <p:cNvPr id="309" name="shared_price_output" descr="Only shared price lambda transfers into policy update"/>
          <p:cNvGrpSpPr/>
          <p:nvPr/>
        </p:nvGrpSpPr>
        <p:grpSpPr>
          <a:xfrm>
            <a:off x="3939307" y="1725898"/>
            <a:ext cx="128882" cy="149895"/>
            <a:chOff x="3939307" y="1725898"/>
            <a:chExt cx="128882" cy="149895"/>
          </a:xfrm>
        </p:grpSpPr>
        <p:sp>
          <p:nvSpPr>
            <p:cNvPr id="236" name="sum_to_policy" descr="Editable line; source id sum_to_policy"/>
            <p:cNvSpPr/>
            <p:nvPr/>
          </p:nvSpPr>
          <p:spPr>
            <a:xfrm>
              <a:off x="3939307" y="1828163"/>
              <a:ext cx="128882" cy="47630"/>
            </a:xfrm>
            <a:custGeom>
              <a:avLst/>
              <a:gdLst/>
              <a:ahLst/>
              <a:cxnLst/>
              <a:rect l="l" t="t" r="r" b="b"/>
              <a:pathLst>
                <a:path w="46000" h="17000">
                  <a:moveTo>
                    <a:pt x="0" y="7000"/>
                  </a:moveTo>
                  <a:lnTo>
                    <a:pt x="31000" y="7000"/>
                  </a:lnTo>
                  <a:lnTo>
                    <a:pt x="31000" y="0"/>
                  </a:lnTo>
                  <a:lnTo>
                    <a:pt x="46000" y="8500"/>
                  </a:lnTo>
                  <a:lnTo>
                    <a:pt x="31000" y="17000"/>
                  </a:lnTo>
                  <a:lnTo>
                    <a:pt x="31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lambda_to_policy_label" descr="Editable text; source id lambda_to_policy_label"/>
            <p:cNvSpPr txBox="1"/>
            <p:nvPr/>
          </p:nvSpPr>
          <p:spPr>
            <a:xfrm>
              <a:off x="3974328" y="1725898"/>
              <a:ext cx="51132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2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1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1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</p:grpSp>
      <p:grpSp>
        <p:nvGrpSpPr>
          <p:cNvPr id="311" name="next_rollout_feedback" descr="Next policy is the sole origin of the outer rollout feedback loop"/>
          <p:cNvGrpSpPr/>
          <p:nvPr/>
        </p:nvGrpSpPr>
        <p:grpSpPr>
          <a:xfrm>
            <a:off x="353025" y="1860384"/>
            <a:ext cx="4527680" cy="580108"/>
            <a:chOff x="353025" y="1860384"/>
            <a:chExt cx="4527680" cy="580108"/>
          </a:xfrm>
        </p:grpSpPr>
        <p:grpSp>
          <p:nvGrpSpPr>
            <p:cNvPr id="310" name="next_rollout_path" descr="Segments of one observed connector; external endpoints do not reroute"/>
            <p:cNvGrpSpPr/>
            <p:nvPr/>
          </p:nvGrpSpPr>
          <p:grpSpPr>
            <a:xfrm>
              <a:off x="353025" y="1860384"/>
              <a:ext cx="4527680" cy="453889"/>
              <a:chOff x="353025" y="1860384"/>
              <a:chExt cx="4527680" cy="453889"/>
            </a:xfrm>
          </p:grpSpPr>
          <p:cxnSp>
            <p:nvCxnSpPr>
              <p:cNvPr id="238" name="next_rollout_path_0" descr="Editable line; source id next_rollout_path_0"/>
              <p:cNvCxnSpPr/>
              <p:nvPr/>
            </p:nvCxnSpPr>
            <p:spPr>
              <a:xfrm>
                <a:off x="4880705" y="1997671"/>
                <a:ext cx="0" cy="316601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next_rollout_path_1" descr="Editable line; source id next_rollout_path_1"/>
              <p:cNvCxnSpPr/>
              <p:nvPr/>
            </p:nvCxnSpPr>
            <p:spPr>
              <a:xfrm flipH="1">
                <a:off x="378240" y="2314272"/>
                <a:ext cx="4502465" cy="0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next_rollout_path_2" descr="Editable line; source id next_rollout_path_2"/>
              <p:cNvSpPr/>
              <p:nvPr/>
            </p:nvSpPr>
            <p:spPr>
              <a:xfrm>
                <a:off x="353025" y="1860384"/>
                <a:ext cx="50432" cy="453889"/>
              </a:xfrm>
              <a:custGeom>
                <a:avLst/>
                <a:gdLst/>
                <a:ahLst/>
                <a:cxnLst/>
                <a:rect l="l" t="t" r="r" b="b"/>
                <a:pathLst>
                  <a:path w="18000" h="162000">
                    <a:moveTo>
                      <a:pt x="7500" y="162000"/>
                    </a:moveTo>
                    <a:lnTo>
                      <a:pt x="7500" y="17000"/>
                    </a:lnTo>
                    <a:lnTo>
                      <a:pt x="0" y="17000"/>
                    </a:lnTo>
                    <a:lnTo>
                      <a:pt x="9000" y="0"/>
                    </a:lnTo>
                    <a:lnTo>
                      <a:pt x="18000" y="17000"/>
                    </a:lnTo>
                    <a:lnTo>
                      <a:pt x="10500" y="17000"/>
                    </a:lnTo>
                    <a:lnTo>
                      <a:pt x="10500" y="1620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1" name="next_rollout_label" descr="Editable text; source id next_rollout_label"/>
            <p:cNvSpPr txBox="1"/>
            <p:nvPr/>
          </p:nvSpPr>
          <p:spPr>
            <a:xfrm>
              <a:off x="2348594" y="2333184"/>
              <a:ext cx="42026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next rollout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