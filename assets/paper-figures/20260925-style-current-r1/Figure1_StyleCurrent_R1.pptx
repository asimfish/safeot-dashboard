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8" name="module_penalty"/>
          <p:cNvGrpSpPr/>
          <p:nvPr/>
        </p:nvGrpSpPr>
        <p:grpSpPr>
          <a:xfrm>
            <a:off x="38100" y="38100"/>
            <a:ext cx="1104900" cy="2108200"/>
            <a:chOff x="38100" y="38100"/>
            <a:chExt cx="1104900" cy="2108200"/>
          </a:xfrm>
        </p:grpSpPr>
        <p:sp>
          <p:nvSpPr>
            <p:cNvPr id="2" name="penalty" descr="Editable shape; source id penalty"/>
            <p:cNvSpPr/>
            <p:nvPr/>
          </p:nvSpPr>
          <p:spPr>
            <a:xfrm>
              <a:off x="38100" y="38100"/>
              <a:ext cx="1104900" cy="21082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1429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penalty_title" descr="Editable text; source id penalty_title"/>
            <p:cNvSpPr txBox="1"/>
            <p:nvPr/>
          </p:nvSpPr>
          <p:spPr>
            <a:xfrm>
              <a:off x="76200" y="88899"/>
              <a:ext cx="1028699" cy="15024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46"/>
                </a:lnSpc>
                <a:spcBef>
                  <a:spcPts val="0"/>
                </a:spcBef>
                <a:spcAft>
                  <a:spcPts val="0"/>
                </a:spcAft>
                <a:def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Penalty view</a:t>
              </a:r>
            </a:p>
          </p:txBody>
        </p:sp>
        <p:sp>
          <p:nvSpPr>
            <p:cNvPr id="4" name="penalty_sub" descr="Editable text; source id penalty_sub"/>
            <p:cNvSpPr txBox="1"/>
            <p:nvPr/>
          </p:nvSpPr>
          <p:spPr>
            <a:xfrm>
              <a:off x="76200" y="279400"/>
              <a:ext cx="1028699" cy="253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Costs in the objective</a:t>
              </a:r>
            </a:p>
          </p:txBody>
        </p:sp>
        <p:sp>
          <p:nvSpPr>
            <p:cNvPr id="5" name="cost1" descr="Editable shape; source id cost1"/>
            <p:cNvSpPr/>
            <p:nvPr/>
          </p:nvSpPr>
          <p:spPr>
            <a:xfrm>
              <a:off x="127000" y="596899"/>
              <a:ext cx="368299" cy="241299"/>
            </a:xfrm>
            <a:prstGeom prst="roundRect">
              <a:avLst>
                <a:gd name="adj" fmla="val 15789"/>
              </a:avLst>
            </a:prstGeom>
            <a:solidFill>
              <a:srgbClr val="F7F9FA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costweight1_0" descr="Editable line; source id costweight1_0"/>
            <p:cNvSpPr/>
            <p:nvPr/>
          </p:nvSpPr>
          <p:spPr>
            <a:xfrm>
              <a:off x="508000" y="701675"/>
              <a:ext cx="50800" cy="31750"/>
            </a:xfrm>
            <a:custGeom>
              <a:avLst/>
              <a:gdLst/>
              <a:ahLst/>
              <a:cxnLst/>
              <a:rect l="l" t="t" r="r" b="b"/>
              <a:pathLst>
                <a:path w="20000" h="12500">
                  <a:moveTo>
                    <a:pt x="0" y="4625"/>
                  </a:moveTo>
                  <a:lnTo>
                    <a:pt x="7000" y="4625"/>
                  </a:lnTo>
                  <a:lnTo>
                    <a:pt x="7000" y="0"/>
                  </a:lnTo>
                  <a:lnTo>
                    <a:pt x="20000" y="6250"/>
                  </a:lnTo>
                  <a:lnTo>
                    <a:pt x="7000" y="12500"/>
                  </a:lnTo>
                  <a:lnTo>
                    <a:pt x="700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weightmerge1_0" descr="Editable line; source id weightmerge1_0"/>
            <p:cNvCxnSpPr/>
            <p:nvPr/>
          </p:nvCxnSpPr>
          <p:spPr>
            <a:xfrm>
              <a:off x="876300" y="717549"/>
              <a:ext cx="114300" cy="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ost2" descr="Editable shape; source id cost2"/>
            <p:cNvSpPr/>
            <p:nvPr/>
          </p:nvSpPr>
          <p:spPr>
            <a:xfrm>
              <a:off x="127000" y="888999"/>
              <a:ext cx="368299" cy="241299"/>
            </a:xfrm>
            <a:prstGeom prst="roundRect">
              <a:avLst>
                <a:gd name="adj" fmla="val 15789"/>
              </a:avLst>
            </a:prstGeom>
            <a:solidFill>
              <a:srgbClr val="F7F9FA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ostweight2_0" descr="Editable line; source id costweight2_0"/>
            <p:cNvSpPr/>
            <p:nvPr/>
          </p:nvSpPr>
          <p:spPr>
            <a:xfrm>
              <a:off x="508000" y="993775"/>
              <a:ext cx="50800" cy="31750"/>
            </a:xfrm>
            <a:custGeom>
              <a:avLst/>
              <a:gdLst/>
              <a:ahLst/>
              <a:cxnLst/>
              <a:rect l="l" t="t" r="r" b="b"/>
              <a:pathLst>
                <a:path w="20000" h="12500">
                  <a:moveTo>
                    <a:pt x="0" y="4625"/>
                  </a:moveTo>
                  <a:lnTo>
                    <a:pt x="7000" y="4625"/>
                  </a:lnTo>
                  <a:lnTo>
                    <a:pt x="7000" y="0"/>
                  </a:lnTo>
                  <a:lnTo>
                    <a:pt x="20000" y="6250"/>
                  </a:lnTo>
                  <a:lnTo>
                    <a:pt x="7000" y="12500"/>
                  </a:lnTo>
                  <a:lnTo>
                    <a:pt x="700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weightmerge2_0" descr="Editable line; source id weightmerge2_0"/>
            <p:cNvCxnSpPr/>
            <p:nvPr/>
          </p:nvCxnSpPr>
          <p:spPr>
            <a:xfrm>
              <a:off x="876300" y="1009649"/>
              <a:ext cx="114300" cy="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ostK" descr="Editable shape; source id costK"/>
            <p:cNvSpPr/>
            <p:nvPr/>
          </p:nvSpPr>
          <p:spPr>
            <a:xfrm>
              <a:off x="127000" y="1181099"/>
              <a:ext cx="368299" cy="241299"/>
            </a:xfrm>
            <a:prstGeom prst="roundRect">
              <a:avLst>
                <a:gd name="adj" fmla="val 15789"/>
              </a:avLst>
            </a:prstGeom>
            <a:solidFill>
              <a:srgbClr val="F7F9FA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ostweightK_0" descr="Editable line; source id costweightK_0"/>
            <p:cNvSpPr/>
            <p:nvPr/>
          </p:nvSpPr>
          <p:spPr>
            <a:xfrm>
              <a:off x="508000" y="1285875"/>
              <a:ext cx="50800" cy="31750"/>
            </a:xfrm>
            <a:custGeom>
              <a:avLst/>
              <a:gdLst/>
              <a:ahLst/>
              <a:cxnLst/>
              <a:rect l="l" t="t" r="r" b="b"/>
              <a:pathLst>
                <a:path w="20000" h="12500">
                  <a:moveTo>
                    <a:pt x="0" y="4625"/>
                  </a:moveTo>
                  <a:lnTo>
                    <a:pt x="7000" y="4625"/>
                  </a:lnTo>
                  <a:lnTo>
                    <a:pt x="7000" y="0"/>
                  </a:lnTo>
                  <a:lnTo>
                    <a:pt x="20000" y="6250"/>
                  </a:lnTo>
                  <a:lnTo>
                    <a:pt x="7000" y="12500"/>
                  </a:lnTo>
                  <a:lnTo>
                    <a:pt x="700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weightmergeK_0" descr="Editable line; source id weightmergeK_0"/>
            <p:cNvCxnSpPr/>
            <p:nvPr/>
          </p:nvCxnSpPr>
          <p:spPr>
            <a:xfrm>
              <a:off x="876300" y="1301749"/>
              <a:ext cx="114300" cy="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weightbus_0" descr="Editable line; source id weightbus_0"/>
            <p:cNvCxnSpPr/>
            <p:nvPr/>
          </p:nvCxnSpPr>
          <p:spPr>
            <a:xfrm>
              <a:off x="990600" y="717549"/>
              <a:ext cx="0" cy="83185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weightbus_1" descr="Editable line; source id weightbus_1"/>
            <p:cNvCxnSpPr/>
            <p:nvPr/>
          </p:nvCxnSpPr>
          <p:spPr>
            <a:xfrm flipH="1">
              <a:off x="622300" y="1549399"/>
              <a:ext cx="368300" cy="0"/>
            </a:xfrm>
            <a:prstGeom prst="line">
              <a:avLst/>
            </a:prstGeom>
            <a:ln w="8254">
              <a:solidFill>
                <a:srgbClr val="264C7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weightbus_2" descr="Editable line; source id weightbus_2"/>
            <p:cNvSpPr/>
            <p:nvPr/>
          </p:nvSpPr>
          <p:spPr>
            <a:xfrm>
              <a:off x="606425" y="1549400"/>
              <a:ext cx="31750" cy="76200"/>
            </a:xfrm>
            <a:custGeom>
              <a:avLst/>
              <a:gdLst/>
              <a:ahLst/>
              <a:cxnLst/>
              <a:rect l="l" t="t" r="r" b="b"/>
              <a:pathLst>
                <a:path w="12500" h="30000">
                  <a:moveTo>
                    <a:pt x="7875" y="0"/>
                  </a:moveTo>
                  <a:lnTo>
                    <a:pt x="7875" y="13500"/>
                  </a:lnTo>
                  <a:lnTo>
                    <a:pt x="12500" y="13500"/>
                  </a:lnTo>
                  <a:lnTo>
                    <a:pt x="6250" y="30000"/>
                  </a:lnTo>
                  <a:lnTo>
                    <a:pt x="0" y="13500"/>
                  </a:lnTo>
                  <a:lnTo>
                    <a:pt x="4625" y="13500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90" name="C1"/>
            <p:cNvGrpSpPr/>
            <p:nvPr/>
          </p:nvGrpSpPr>
          <p:grpSpPr>
            <a:xfrm>
              <a:off x="245450" y="662337"/>
              <a:ext cx="120722" cy="111631"/>
              <a:chOff x="245450" y="662337"/>
              <a:chExt cx="120722" cy="111631"/>
            </a:xfrm>
          </p:grpSpPr>
          <p:sp>
            <p:nvSpPr>
              <p:cNvPr id="91" name="C1_outline_0"/>
              <p:cNvSpPr/>
              <p:nvPr/>
            </p:nvSpPr>
            <p:spPr>
              <a:xfrm>
                <a:off x="245450" y="662337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4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2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4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C1_outline_1"/>
              <p:cNvSpPr/>
              <p:nvPr/>
            </p:nvSpPr>
            <p:spPr>
              <a:xfrm>
                <a:off x="336808" y="703825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3" name="weight1"/>
            <p:cNvGrpSpPr/>
            <p:nvPr/>
          </p:nvGrpSpPr>
          <p:grpSpPr>
            <a:xfrm>
              <a:off x="646163" y="662369"/>
              <a:ext cx="113151" cy="110171"/>
              <a:chOff x="646163" y="662369"/>
              <a:chExt cx="113151" cy="110171"/>
            </a:xfrm>
          </p:grpSpPr>
          <p:sp>
            <p:nvSpPr>
              <p:cNvPr id="94" name="weight1_outline_0"/>
              <p:cNvSpPr/>
              <p:nvPr/>
            </p:nvSpPr>
            <p:spPr>
              <a:xfrm>
                <a:off x="646163" y="662369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3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weight1_outline_1"/>
              <p:cNvSpPr/>
              <p:nvPr/>
            </p:nvSpPr>
            <p:spPr>
              <a:xfrm>
                <a:off x="729950" y="70239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6" name="C2"/>
            <p:cNvGrpSpPr/>
            <p:nvPr/>
          </p:nvGrpSpPr>
          <p:grpSpPr>
            <a:xfrm>
              <a:off x="245450" y="954437"/>
              <a:ext cx="129128" cy="111631"/>
              <a:chOff x="245450" y="954437"/>
              <a:chExt cx="129128" cy="111631"/>
            </a:xfrm>
          </p:grpSpPr>
          <p:sp>
            <p:nvSpPr>
              <p:cNvPr id="97" name="C2_outline_0"/>
              <p:cNvSpPr/>
              <p:nvPr/>
            </p:nvSpPr>
            <p:spPr>
              <a:xfrm>
                <a:off x="245450" y="954437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4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2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4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C2_outline_1"/>
              <p:cNvSpPr/>
              <p:nvPr/>
            </p:nvSpPr>
            <p:spPr>
              <a:xfrm>
                <a:off x="328402" y="995925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9" name="weight2"/>
            <p:cNvGrpSpPr/>
            <p:nvPr/>
          </p:nvGrpSpPr>
          <p:grpSpPr>
            <a:xfrm>
              <a:off x="646163" y="954469"/>
              <a:ext cx="121557" cy="110171"/>
              <a:chOff x="646163" y="954469"/>
              <a:chExt cx="121557" cy="110171"/>
            </a:xfrm>
          </p:grpSpPr>
          <p:sp>
            <p:nvSpPr>
              <p:cNvPr id="100" name="weight2_outline_0"/>
              <p:cNvSpPr/>
              <p:nvPr/>
            </p:nvSpPr>
            <p:spPr>
              <a:xfrm>
                <a:off x="646163" y="954469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3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weight2_outline_1"/>
              <p:cNvSpPr/>
              <p:nvPr/>
            </p:nvSpPr>
            <p:spPr>
              <a:xfrm>
                <a:off x="721544" y="994497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2" name="CK"/>
            <p:cNvGrpSpPr/>
            <p:nvPr/>
          </p:nvGrpSpPr>
          <p:grpSpPr>
            <a:xfrm>
              <a:off x="226355" y="1247661"/>
              <a:ext cx="164609" cy="109396"/>
              <a:chOff x="226355" y="1247661"/>
              <a:chExt cx="164609" cy="109396"/>
            </a:xfrm>
          </p:grpSpPr>
          <p:sp>
            <p:nvSpPr>
              <p:cNvPr id="103" name="CK_outline_0"/>
              <p:cNvSpPr/>
              <p:nvPr/>
            </p:nvSpPr>
            <p:spPr>
              <a:xfrm>
                <a:off x="226355" y="1247661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4" y="71065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3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90"/>
                    </a:cubicBezTo>
                    <a:cubicBezTo>
                      <a:pt x="0" y="76514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4" y="71065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CK_outline_1"/>
              <p:cNvSpPr/>
              <p:nvPr/>
            </p:nvSpPr>
            <p:spPr>
              <a:xfrm>
                <a:off x="309411" y="1289303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29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4" y="0"/>
                    </a:lnTo>
                    <a:lnTo>
                      <a:pt x="56444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3" y="6433"/>
                      <a:pt x="59246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8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7" y="66096"/>
                    </a:lnTo>
                    <a:cubicBezTo>
                      <a:pt x="22308" y="65369"/>
                      <a:pt x="21268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5" name="weightK"/>
            <p:cNvGrpSpPr/>
            <p:nvPr/>
          </p:nvGrpSpPr>
          <p:grpSpPr>
            <a:xfrm>
              <a:off x="627068" y="1247693"/>
              <a:ext cx="157049" cy="107936"/>
              <a:chOff x="627068" y="1247693"/>
              <a:chExt cx="157049" cy="107936"/>
            </a:xfrm>
          </p:grpSpPr>
          <p:sp>
            <p:nvSpPr>
              <p:cNvPr id="106" name="weightK_outline_0"/>
              <p:cNvSpPr/>
              <p:nvPr/>
            </p:nvSpPr>
            <p:spPr>
              <a:xfrm>
                <a:off x="627068" y="1247693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4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weightK_outline_1"/>
              <p:cNvSpPr/>
              <p:nvPr/>
            </p:nvSpPr>
            <p:spPr>
              <a:xfrm>
                <a:off x="702564" y="1287875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29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3" y="0"/>
                    </a:lnTo>
                    <a:lnTo>
                      <a:pt x="56443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4" y="6433"/>
                      <a:pt x="59246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9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8" y="66096"/>
                    </a:lnTo>
                    <a:cubicBezTo>
                      <a:pt x="22308" y="65369"/>
                      <a:pt x="21269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8" name="objective"/>
            <p:cNvGrpSpPr/>
            <p:nvPr/>
          </p:nvGrpSpPr>
          <p:grpSpPr>
            <a:xfrm>
              <a:off x="166288" y="1748891"/>
              <a:ext cx="834341" cy="147484"/>
              <a:chOff x="166288" y="1748891"/>
              <a:chExt cx="834341" cy="147484"/>
            </a:xfrm>
          </p:grpSpPr>
          <p:sp>
            <p:nvSpPr>
              <p:cNvPr id="109" name="objective_outline_0"/>
              <p:cNvSpPr/>
              <p:nvPr/>
            </p:nvSpPr>
            <p:spPr>
              <a:xfrm>
                <a:off x="166288" y="1753148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objective_outline_1"/>
              <p:cNvSpPr/>
              <p:nvPr/>
            </p:nvSpPr>
            <p:spPr>
              <a:xfrm>
                <a:off x="259151" y="1816047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objective_outline_2"/>
              <p:cNvSpPr/>
              <p:nvPr/>
            </p:nvSpPr>
            <p:spPr>
              <a:xfrm>
                <a:off x="353865" y="1804023"/>
                <a:ext cx="68012" cy="7437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7437">
                    <a:moveTo>
                      <a:pt x="68012" y="7437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7"/>
                    </a:lnTo>
                    <a:lnTo>
                      <a:pt x="68012" y="7437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objective_outline_3"/>
              <p:cNvSpPr/>
              <p:nvPr/>
            </p:nvSpPr>
            <p:spPr>
              <a:xfrm>
                <a:off x="465362" y="1748891"/>
                <a:ext cx="90725" cy="116895"/>
              </a:xfrm>
              <a:custGeom>
                <a:avLst/>
                <a:gdLst/>
                <a:ahLst/>
                <a:cxnLst/>
                <a:rect l="0" t="0" r="r" b="b"/>
                <a:pathLst>
                  <a:path w="90726" h="116896">
                    <a:moveTo>
                      <a:pt x="90726" y="81427"/>
                    </a:moveTo>
                    <a:lnTo>
                      <a:pt x="87936" y="81427"/>
                    </a:lnTo>
                    <a:cubicBezTo>
                      <a:pt x="85280" y="98032"/>
                      <a:pt x="79169" y="105470"/>
                      <a:pt x="69874" y="105470"/>
                    </a:cubicBezTo>
                    <a:lnTo>
                      <a:pt x="17800" y="105470"/>
                    </a:lnTo>
                    <a:lnTo>
                      <a:pt x="56324" y="56055"/>
                    </a:lnTo>
                    <a:lnTo>
                      <a:pt x="22050" y="5179"/>
                    </a:lnTo>
                    <a:lnTo>
                      <a:pt x="64560" y="5179"/>
                    </a:lnTo>
                    <a:cubicBezTo>
                      <a:pt x="74255" y="5179"/>
                      <a:pt x="80367" y="10493"/>
                      <a:pt x="83157" y="27365"/>
                    </a:cubicBezTo>
                    <a:lnTo>
                      <a:pt x="86078" y="27365"/>
                    </a:lnTo>
                    <a:lnTo>
                      <a:pt x="85280" y="0"/>
                    </a:lnTo>
                    <a:lnTo>
                      <a:pt x="5580" y="0"/>
                    </a:lnTo>
                    <a:lnTo>
                      <a:pt x="46228" y="58313"/>
                    </a:lnTo>
                    <a:lnTo>
                      <a:pt x="0" y="116896"/>
                    </a:lnTo>
                    <a:lnTo>
                      <a:pt x="89265" y="116896"/>
                    </a:lnTo>
                    <a:lnTo>
                      <a:pt x="90726" y="81427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objective_outline_4"/>
              <p:cNvSpPr/>
              <p:nvPr/>
            </p:nvSpPr>
            <p:spPr>
              <a:xfrm>
                <a:off x="573324" y="1800906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objective_outline_5"/>
              <p:cNvSpPr/>
              <p:nvPr/>
            </p:nvSpPr>
            <p:spPr>
              <a:xfrm>
                <a:off x="657536" y="1754874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3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objective_outline_6"/>
              <p:cNvSpPr/>
              <p:nvPr/>
            </p:nvSpPr>
            <p:spPr>
              <a:xfrm>
                <a:off x="736138" y="179417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objective_outline_7"/>
              <p:cNvSpPr/>
              <p:nvPr/>
            </p:nvSpPr>
            <p:spPr>
              <a:xfrm>
                <a:off x="801008" y="1753148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objective_outline_8"/>
              <p:cNvSpPr/>
              <p:nvPr/>
            </p:nvSpPr>
            <p:spPr>
              <a:xfrm>
                <a:off x="894688" y="1816047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objective_outline_9"/>
              <p:cNvSpPr/>
              <p:nvPr/>
            </p:nvSpPr>
            <p:spPr>
              <a:xfrm>
                <a:off x="949992" y="182436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09" name="module_safeot"/>
          <p:cNvGrpSpPr/>
          <p:nvPr/>
        </p:nvGrpSpPr>
        <p:grpSpPr>
          <a:xfrm>
            <a:off x="1219200" y="38100"/>
            <a:ext cx="2628899" cy="2108200"/>
            <a:chOff x="1219200" y="38100"/>
            <a:chExt cx="2628899" cy="2108200"/>
          </a:xfrm>
        </p:grpSpPr>
        <p:sp>
          <p:nvSpPr>
            <p:cNvPr id="17" name="safeot" descr="Editable shape; source id safeot"/>
            <p:cNvSpPr/>
            <p:nvPr/>
          </p:nvSpPr>
          <p:spPr>
            <a:xfrm>
              <a:off x="1219200" y="38100"/>
              <a:ext cx="2628899" cy="2108200"/>
            </a:xfrm>
            <a:prstGeom prst="roundRect">
              <a:avLst>
                <a:gd name="adj" fmla="val 1807"/>
              </a:avLst>
            </a:prstGeom>
            <a:solidFill>
              <a:srgbClr val="F0F7F5"/>
            </a:solidFill>
            <a:ln w="12699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afeot_title" descr="Editable text; source id safeot_title"/>
            <p:cNvSpPr txBox="1"/>
            <p:nvPr/>
          </p:nvSpPr>
          <p:spPr>
            <a:xfrm>
              <a:off x="1257300" y="88899"/>
              <a:ext cx="2552700" cy="18161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264"/>
                </a:lnSpc>
                <a:spcBef>
                  <a:spcPts val="0"/>
                </a:spcBef>
                <a:spcAft>
                  <a:spcPts val="0"/>
                </a:spcAft>
                <a:defRPr sz="109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09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SafeOT</a:t>
              </a:r>
            </a:p>
          </p:txBody>
        </p:sp>
        <p:sp>
          <p:nvSpPr>
            <p:cNvPr id="19" name="one_flow" descr="Editable text; source id one_flow"/>
            <p:cNvSpPr txBox="1"/>
            <p:nvPr/>
          </p:nvSpPr>
          <p:spPr>
            <a:xfrm>
              <a:off x="1270000" y="266699"/>
              <a:ext cx="25272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88"/>
                </a:lnSpc>
                <a:spcBef>
                  <a:spcPts val="0"/>
                </a:spcBef>
                <a:spcAft>
                  <a:spcPts val="0"/>
                </a:spcAft>
                <a:defRPr sz="86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6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One flow, all budgets</a:t>
              </a:r>
            </a:p>
          </p:txBody>
        </p:sp>
        <p:sp>
          <p:nvSpPr>
            <p:cNvPr id="20" name="flow_e0_0_0" descr="Editable line; source id flow_e0_0_0"/>
            <p:cNvSpPr/>
            <p:nvPr/>
          </p:nvSpPr>
          <p:spPr>
            <a:xfrm>
              <a:off x="1433599" y="715602"/>
              <a:ext cx="529549" cy="160617"/>
            </a:xfrm>
            <a:custGeom>
              <a:avLst/>
              <a:gdLst/>
              <a:ahLst/>
              <a:cxnLst/>
              <a:rect l="l" t="t" r="r" b="b"/>
              <a:pathLst>
                <a:path w="208484" h="63235">
                  <a:moveTo>
                    <a:pt x="0" y="60113"/>
                  </a:moveTo>
                  <a:lnTo>
                    <a:pt x="192184" y="4443"/>
                  </a:lnTo>
                  <a:lnTo>
                    <a:pt x="190897" y="0"/>
                  </a:lnTo>
                  <a:lnTo>
                    <a:pt x="208484" y="1413"/>
                  </a:lnTo>
                  <a:lnTo>
                    <a:pt x="194375" y="12007"/>
                  </a:lnTo>
                  <a:lnTo>
                    <a:pt x="193088" y="7564"/>
                  </a:lnTo>
                  <a:lnTo>
                    <a:pt x="904" y="63235"/>
                  </a:lnTo>
                  <a:close/>
                </a:path>
              </a:pathLst>
            </a:custGeom>
            <a:solidFill>
              <a:srgbClr val="A5AF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low_e0_1_0" descr="Editable line; source id flow_e0_1_0"/>
            <p:cNvSpPr/>
            <p:nvPr/>
          </p:nvSpPr>
          <p:spPr>
            <a:xfrm>
              <a:off x="1443406" y="749757"/>
              <a:ext cx="529638" cy="160922"/>
            </a:xfrm>
            <a:custGeom>
              <a:avLst/>
              <a:gdLst/>
              <a:ahLst/>
              <a:cxnLst/>
              <a:rect l="l" t="t" r="r" b="b"/>
              <a:pathLst>
                <a:path w="208519" h="63355">
                  <a:moveTo>
                    <a:pt x="0" y="59994"/>
                  </a:moveTo>
                  <a:lnTo>
                    <a:pt x="192183" y="4323"/>
                  </a:lnTo>
                  <a:lnTo>
                    <a:pt x="190931" y="0"/>
                  </a:lnTo>
                  <a:lnTo>
                    <a:pt x="208519" y="1413"/>
                  </a:lnTo>
                  <a:lnTo>
                    <a:pt x="194409" y="12007"/>
                  </a:lnTo>
                  <a:lnTo>
                    <a:pt x="193157" y="7685"/>
                  </a:lnTo>
                  <a:lnTo>
                    <a:pt x="974" y="63355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flow_hard_0" descr="Editable line; source id flow_hard_0"/>
            <p:cNvCxnSpPr/>
            <p:nvPr/>
          </p:nvCxnSpPr>
          <p:spPr>
            <a:xfrm>
              <a:off x="2048891" y="723899"/>
              <a:ext cx="901319" cy="0"/>
            </a:xfrm>
            <a:prstGeom prst="line">
              <a:avLst/>
            </a:prstGeom>
            <a:ln w="9524">
              <a:solidFill>
                <a:srgbClr val="B14747"/>
              </a:solidFill>
              <a:custDash>
                <a:ds d="266667" sp="24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flow_x1_0" descr="Editable line; source id flow_x1_0"/>
            <p:cNvCxnSpPr/>
            <p:nvPr/>
          </p:nvCxnSpPr>
          <p:spPr>
            <a:xfrm>
              <a:off x="2470340" y="694690"/>
              <a:ext cx="58420" cy="58419"/>
            </a:xfrm>
            <a:prstGeom prst="line">
              <a:avLst/>
            </a:prstGeom>
            <a:ln w="15240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flow_x2_0" descr="Editable line; source id flow_x2_0"/>
            <p:cNvCxnSpPr/>
            <p:nvPr/>
          </p:nvCxnSpPr>
          <p:spPr>
            <a:xfrm flipV="1">
              <a:off x="2470340" y="694690"/>
              <a:ext cx="58420" cy="58419"/>
            </a:xfrm>
            <a:prstGeom prst="line">
              <a:avLst/>
            </a:prstGeom>
            <a:ln w="15240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_e2_0_0" descr="Editable line; source id flow_e2_0_0"/>
            <p:cNvSpPr/>
            <p:nvPr/>
          </p:nvSpPr>
          <p:spPr>
            <a:xfrm>
              <a:off x="3034767" y="713915"/>
              <a:ext cx="597007" cy="164155"/>
            </a:xfrm>
            <a:custGeom>
              <a:avLst/>
              <a:gdLst/>
              <a:ahLst/>
              <a:cxnLst/>
              <a:rect l="l" t="t" r="r" b="b"/>
              <a:pathLst>
                <a:path w="235042" h="64628">
                  <a:moveTo>
                    <a:pt x="820" y="0"/>
                  </a:moveTo>
                  <a:lnTo>
                    <a:pt x="219486" y="57008"/>
                  </a:lnTo>
                  <a:lnTo>
                    <a:pt x="220652" y="52532"/>
                  </a:lnTo>
                  <a:lnTo>
                    <a:pt x="235042" y="62743"/>
                  </a:lnTo>
                  <a:lnTo>
                    <a:pt x="217499" y="64628"/>
                  </a:lnTo>
                  <a:lnTo>
                    <a:pt x="218666" y="60152"/>
                  </a:lnTo>
                  <a:lnTo>
                    <a:pt x="0" y="3145"/>
                  </a:lnTo>
                  <a:close/>
                </a:path>
              </a:pathLst>
            </a:custGeom>
            <a:solidFill>
              <a:srgbClr val="A5AF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low_e2_1_0" descr="Editable line; source id flow_e2_1_0"/>
            <p:cNvSpPr/>
            <p:nvPr/>
          </p:nvSpPr>
          <p:spPr>
            <a:xfrm>
              <a:off x="3025717" y="748017"/>
              <a:ext cx="597085" cy="164462"/>
            </a:xfrm>
            <a:custGeom>
              <a:avLst/>
              <a:gdLst/>
              <a:ahLst/>
              <a:cxnLst/>
              <a:rect l="l" t="t" r="r" b="b"/>
              <a:pathLst>
                <a:path w="235073" h="64749">
                  <a:moveTo>
                    <a:pt x="883" y="0"/>
                  </a:moveTo>
                  <a:lnTo>
                    <a:pt x="219548" y="57008"/>
                  </a:lnTo>
                  <a:lnTo>
                    <a:pt x="220684" y="52653"/>
                  </a:lnTo>
                  <a:lnTo>
                    <a:pt x="235073" y="62864"/>
                  </a:lnTo>
                  <a:lnTo>
                    <a:pt x="217530" y="64749"/>
                  </a:lnTo>
                  <a:lnTo>
                    <a:pt x="218665" y="60395"/>
                  </a:lnTo>
                  <a:lnTo>
                    <a:pt x="0" y="3387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low_e3_0_0" descr="Editable line; source id flow_e3_0_0"/>
            <p:cNvSpPr/>
            <p:nvPr/>
          </p:nvSpPr>
          <p:spPr>
            <a:xfrm>
              <a:off x="1443492" y="893026"/>
              <a:ext cx="529552" cy="160617"/>
            </a:xfrm>
            <a:custGeom>
              <a:avLst/>
              <a:gdLst/>
              <a:ahLst/>
              <a:cxnLst/>
              <a:rect l="l" t="t" r="r" b="b"/>
              <a:pathLst>
                <a:path w="208485" h="63235">
                  <a:moveTo>
                    <a:pt x="905" y="0"/>
                  </a:moveTo>
                  <a:lnTo>
                    <a:pt x="193088" y="55671"/>
                  </a:lnTo>
                  <a:lnTo>
                    <a:pt x="194375" y="51228"/>
                  </a:lnTo>
                  <a:lnTo>
                    <a:pt x="208485" y="61822"/>
                  </a:lnTo>
                  <a:lnTo>
                    <a:pt x="190897" y="63235"/>
                  </a:lnTo>
                  <a:lnTo>
                    <a:pt x="192184" y="58792"/>
                  </a:lnTo>
                  <a:lnTo>
                    <a:pt x="0" y="3121"/>
                  </a:lnTo>
                  <a:close/>
                </a:path>
              </a:pathLst>
            </a:custGeom>
            <a:solidFill>
              <a:srgbClr val="A5AF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low_e3_1_0" descr="Editable line; source id flow_e3_1_0"/>
            <p:cNvSpPr/>
            <p:nvPr/>
          </p:nvSpPr>
          <p:spPr>
            <a:xfrm>
              <a:off x="1431834" y="921083"/>
              <a:ext cx="531315" cy="169581"/>
            </a:xfrm>
            <a:custGeom>
              <a:avLst/>
              <a:gdLst/>
              <a:ahLst/>
              <a:cxnLst/>
              <a:rect l="l" t="t" r="r" b="b"/>
              <a:pathLst>
                <a:path w="209179" h="66764">
                  <a:moveTo>
                    <a:pt x="2295" y="0"/>
                  </a:moveTo>
                  <a:lnTo>
                    <a:pt x="194479" y="55670"/>
                  </a:lnTo>
                  <a:lnTo>
                    <a:pt x="195397" y="52501"/>
                  </a:lnTo>
                  <a:lnTo>
                    <a:pt x="209179" y="64223"/>
                  </a:lnTo>
                  <a:lnTo>
                    <a:pt x="191265" y="66764"/>
                  </a:lnTo>
                  <a:lnTo>
                    <a:pt x="192183" y="63595"/>
                  </a:lnTo>
                  <a:lnTo>
                    <a:pt x="0" y="7924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low_e4_0_0" descr="Editable line; source id flow_e4_0_0"/>
            <p:cNvSpPr/>
            <p:nvPr/>
          </p:nvSpPr>
          <p:spPr>
            <a:xfrm>
              <a:off x="2055241" y="1045845"/>
              <a:ext cx="888619" cy="31750"/>
            </a:xfrm>
            <a:custGeom>
              <a:avLst/>
              <a:gdLst/>
              <a:ahLst/>
              <a:cxnLst/>
              <a:rect l="l" t="t" r="r" b="b"/>
              <a:pathLst>
                <a:path w="349850" h="12500">
                  <a:moveTo>
                    <a:pt x="0" y="4625"/>
                  </a:moveTo>
                  <a:lnTo>
                    <a:pt x="333350" y="4625"/>
                  </a:lnTo>
                  <a:lnTo>
                    <a:pt x="333350" y="0"/>
                  </a:lnTo>
                  <a:lnTo>
                    <a:pt x="349850" y="6250"/>
                  </a:lnTo>
                  <a:lnTo>
                    <a:pt x="333350" y="12500"/>
                  </a:lnTo>
                  <a:lnTo>
                    <a:pt x="33335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A5AF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low_e4_1_0" descr="Editable line; source id flow_e4_1_0"/>
            <p:cNvSpPr/>
            <p:nvPr/>
          </p:nvSpPr>
          <p:spPr>
            <a:xfrm>
              <a:off x="2055241" y="1078420"/>
              <a:ext cx="888619" cy="37719"/>
            </a:xfrm>
            <a:custGeom>
              <a:avLst/>
              <a:gdLst/>
              <a:ahLst/>
              <a:cxnLst/>
              <a:rect l="l" t="t" r="r" b="b"/>
              <a:pathLst>
                <a:path w="349850" h="14850">
                  <a:moveTo>
                    <a:pt x="0" y="3300"/>
                  </a:moveTo>
                  <a:lnTo>
                    <a:pt x="333350" y="3300"/>
                  </a:lnTo>
                  <a:lnTo>
                    <a:pt x="333350" y="0"/>
                  </a:lnTo>
                  <a:lnTo>
                    <a:pt x="349850" y="7425"/>
                  </a:lnTo>
                  <a:lnTo>
                    <a:pt x="333350" y="14850"/>
                  </a:lnTo>
                  <a:lnTo>
                    <a:pt x="333350" y="11550"/>
                  </a:lnTo>
                  <a:lnTo>
                    <a:pt x="0" y="1155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low_e5_0_0" descr="Editable line; source id flow_e5_0_0"/>
            <p:cNvSpPr/>
            <p:nvPr/>
          </p:nvSpPr>
          <p:spPr>
            <a:xfrm>
              <a:off x="3025795" y="890920"/>
              <a:ext cx="597007" cy="164155"/>
            </a:xfrm>
            <a:custGeom>
              <a:avLst/>
              <a:gdLst/>
              <a:ahLst/>
              <a:cxnLst/>
              <a:rect l="l" t="t" r="r" b="b"/>
              <a:pathLst>
                <a:path w="235042" h="64628">
                  <a:moveTo>
                    <a:pt x="0" y="61483"/>
                  </a:moveTo>
                  <a:lnTo>
                    <a:pt x="218666" y="4475"/>
                  </a:lnTo>
                  <a:lnTo>
                    <a:pt x="217499" y="0"/>
                  </a:lnTo>
                  <a:lnTo>
                    <a:pt x="235042" y="1885"/>
                  </a:lnTo>
                  <a:lnTo>
                    <a:pt x="220653" y="12096"/>
                  </a:lnTo>
                  <a:lnTo>
                    <a:pt x="219486" y="7620"/>
                  </a:lnTo>
                  <a:lnTo>
                    <a:pt x="820" y="64628"/>
                  </a:lnTo>
                  <a:close/>
                </a:path>
              </a:pathLst>
            </a:custGeom>
            <a:solidFill>
              <a:srgbClr val="A5AF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low_e5_1_0" descr="Editable line; source id flow_e5_1_0"/>
            <p:cNvSpPr/>
            <p:nvPr/>
          </p:nvSpPr>
          <p:spPr>
            <a:xfrm>
              <a:off x="3033164" y="922442"/>
              <a:ext cx="598609" cy="173187"/>
            </a:xfrm>
            <a:custGeom>
              <a:avLst/>
              <a:gdLst/>
              <a:ahLst/>
              <a:cxnLst/>
              <a:rect l="l" t="t" r="r" b="b"/>
              <a:pathLst>
                <a:path w="235673" h="68184">
                  <a:moveTo>
                    <a:pt x="0" y="60201"/>
                  </a:moveTo>
                  <a:lnTo>
                    <a:pt x="218666" y="3193"/>
                  </a:lnTo>
                  <a:lnTo>
                    <a:pt x="217833" y="0"/>
                  </a:lnTo>
                  <a:lnTo>
                    <a:pt x="235673" y="3022"/>
                  </a:lnTo>
                  <a:lnTo>
                    <a:pt x="221580" y="14370"/>
                  </a:lnTo>
                  <a:lnTo>
                    <a:pt x="220747" y="11177"/>
                  </a:lnTo>
                  <a:lnTo>
                    <a:pt x="2082" y="68184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low_e6_0_0" descr="Editable line; source id flow_e6_0_0"/>
            <p:cNvSpPr/>
            <p:nvPr/>
          </p:nvSpPr>
          <p:spPr>
            <a:xfrm>
              <a:off x="2057230" y="718508"/>
              <a:ext cx="895386" cy="329679"/>
            </a:xfrm>
            <a:custGeom>
              <a:avLst/>
              <a:gdLst/>
              <a:ahLst/>
              <a:cxnLst/>
              <a:rect l="l" t="t" r="r" b="b"/>
              <a:pathLst>
                <a:path w="352514" h="129795">
                  <a:moveTo>
                    <a:pt x="1111" y="0"/>
                  </a:moveTo>
                  <a:lnTo>
                    <a:pt x="337564" y="122394"/>
                  </a:lnTo>
                  <a:lnTo>
                    <a:pt x="339145" y="118048"/>
                  </a:lnTo>
                  <a:lnTo>
                    <a:pt x="352514" y="129562"/>
                  </a:lnTo>
                  <a:lnTo>
                    <a:pt x="334872" y="129795"/>
                  </a:lnTo>
                  <a:lnTo>
                    <a:pt x="336453" y="125449"/>
                  </a:lnTo>
                  <a:lnTo>
                    <a:pt x="0" y="3054"/>
                  </a:lnTo>
                  <a:close/>
                </a:path>
              </a:pathLst>
            </a:custGeom>
            <a:solidFill>
              <a:srgbClr val="A5AF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low_e6_1_0" descr="Editable line; source id flow_e6_1_0"/>
            <p:cNvSpPr/>
            <p:nvPr/>
          </p:nvSpPr>
          <p:spPr>
            <a:xfrm>
              <a:off x="2044964" y="751627"/>
              <a:ext cx="895495" cy="329976"/>
            </a:xfrm>
            <a:custGeom>
              <a:avLst/>
              <a:gdLst/>
              <a:ahLst/>
              <a:cxnLst/>
              <a:rect l="l" t="t" r="r" b="b"/>
              <a:pathLst>
                <a:path w="352557" h="129912">
                  <a:moveTo>
                    <a:pt x="1197" y="0"/>
                  </a:moveTo>
                  <a:lnTo>
                    <a:pt x="337650" y="122394"/>
                  </a:lnTo>
                  <a:lnTo>
                    <a:pt x="339188" y="118166"/>
                  </a:lnTo>
                  <a:lnTo>
                    <a:pt x="352557" y="129680"/>
                  </a:lnTo>
                  <a:lnTo>
                    <a:pt x="334915" y="129912"/>
                  </a:lnTo>
                  <a:lnTo>
                    <a:pt x="336453" y="125684"/>
                  </a:lnTo>
                  <a:lnTo>
                    <a:pt x="0" y="3289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low_n0" descr="Editable shape; source id flow_n0"/>
            <p:cNvSpPr/>
            <p:nvPr/>
          </p:nvSpPr>
          <p:spPr>
            <a:xfrm>
              <a:off x="1363980" y="8686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low_n1" descr="Editable shape; source id flow_n1"/>
            <p:cNvSpPr/>
            <p:nvPr/>
          </p:nvSpPr>
          <p:spPr>
            <a:xfrm>
              <a:off x="1977771" y="6908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low_n2" descr="Editable shape; source id flow_n2"/>
            <p:cNvSpPr/>
            <p:nvPr/>
          </p:nvSpPr>
          <p:spPr>
            <a:xfrm>
              <a:off x="2955290" y="6908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low_n3" descr="Editable shape; source id flow_n3"/>
            <p:cNvSpPr/>
            <p:nvPr/>
          </p:nvSpPr>
          <p:spPr>
            <a:xfrm>
              <a:off x="3637280" y="8686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low_n4" descr="Editable shape; source id flow_n4"/>
            <p:cNvSpPr/>
            <p:nvPr/>
          </p:nvSpPr>
          <p:spPr>
            <a:xfrm>
              <a:off x="1977771" y="10464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low_n5" descr="Editable shape; source id flow_n5"/>
            <p:cNvSpPr/>
            <p:nvPr/>
          </p:nvSpPr>
          <p:spPr>
            <a:xfrm>
              <a:off x="2955290" y="10464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bserved_key_0" descr="Editable line; source id observed_key_0"/>
            <p:cNvSpPr/>
            <p:nvPr/>
          </p:nvSpPr>
          <p:spPr>
            <a:xfrm>
              <a:off x="1371600" y="1228725"/>
              <a:ext cx="152400" cy="31750"/>
            </a:xfrm>
            <a:custGeom>
              <a:avLst/>
              <a:gdLst/>
              <a:ahLst/>
              <a:cxnLst/>
              <a:rect l="l" t="t" r="r" b="b"/>
              <a:pathLst>
                <a:path w="60000" h="12500">
                  <a:moveTo>
                    <a:pt x="0" y="4500"/>
                  </a:moveTo>
                  <a:lnTo>
                    <a:pt x="43500" y="4500"/>
                  </a:lnTo>
                  <a:lnTo>
                    <a:pt x="43500" y="0"/>
                  </a:lnTo>
                  <a:lnTo>
                    <a:pt x="60000" y="6250"/>
                  </a:lnTo>
                  <a:lnTo>
                    <a:pt x="43500" y="12500"/>
                  </a:lnTo>
                  <a:lnTo>
                    <a:pt x="435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A5AF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bserved_label" descr="Editable text; source id observed_label"/>
            <p:cNvSpPr txBox="1"/>
            <p:nvPr/>
          </p:nvSpPr>
          <p:spPr>
            <a:xfrm>
              <a:off x="1549400" y="1181099"/>
              <a:ext cx="4825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observed</a:t>
              </a:r>
            </a:p>
          </p:txBody>
        </p:sp>
        <p:sp>
          <p:nvSpPr>
            <p:cNvPr id="43" name="target_key_0" descr="Editable line; source id target_key_0"/>
            <p:cNvSpPr/>
            <p:nvPr/>
          </p:nvSpPr>
          <p:spPr>
            <a:xfrm>
              <a:off x="2082800" y="1226312"/>
              <a:ext cx="152400" cy="36576"/>
            </a:xfrm>
            <a:custGeom>
              <a:avLst/>
              <a:gdLst/>
              <a:ahLst/>
              <a:cxnLst/>
              <a:rect l="l" t="t" r="r" b="b"/>
              <a:pathLst>
                <a:path w="60000" h="14400">
                  <a:moveTo>
                    <a:pt x="0" y="3200"/>
                  </a:moveTo>
                  <a:lnTo>
                    <a:pt x="43500" y="3200"/>
                  </a:lnTo>
                  <a:lnTo>
                    <a:pt x="43500" y="0"/>
                  </a:lnTo>
                  <a:lnTo>
                    <a:pt x="60000" y="7200"/>
                  </a:lnTo>
                  <a:lnTo>
                    <a:pt x="43500" y="14400"/>
                  </a:lnTo>
                  <a:lnTo>
                    <a:pt x="43500" y="11200"/>
                  </a:lnTo>
                  <a:lnTo>
                    <a:pt x="0" y="1120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arget_label" descr="Editable text; source id target_label"/>
            <p:cNvSpPr txBox="1"/>
            <p:nvPr/>
          </p:nvSpPr>
          <p:spPr>
            <a:xfrm>
              <a:off x="2260600" y="1181099"/>
              <a:ext cx="3428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target</a:t>
              </a:r>
            </a:p>
          </p:txBody>
        </p:sp>
        <p:sp>
          <p:nvSpPr>
            <p:cNvPr id="45" name="hard_label" descr="Editable text; source id hard_label"/>
            <p:cNvSpPr txBox="1"/>
            <p:nvPr/>
          </p:nvSpPr>
          <p:spPr>
            <a:xfrm>
              <a:off x="2743200" y="1168400"/>
              <a:ext cx="1015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14747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14747"/>
                  </a:solidFill>
                  <a:latin typeface="Liberation Sans"/>
                  <a:ea typeface="Liberation Sans"/>
                  <a:cs typeface="Liberation Sans"/>
                </a:rPr>
                <a:t>hard edge excluded</a:t>
              </a:r>
            </a:p>
          </p:txBody>
        </p:sp>
        <p:sp>
          <p:nvSpPr>
            <p:cNvPr id="46" name="projection_label" descr="Editable text; source id projection_label"/>
            <p:cNvSpPr txBox="1"/>
            <p:nvPr/>
          </p:nvSpPr>
          <p:spPr>
            <a:xfrm>
              <a:off x="1270000" y="1346200"/>
              <a:ext cx="12445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54"/>
                </a:lnSpc>
                <a:spcBef>
                  <a:spcPts val="0"/>
                </a:spcBef>
                <a:spcAft>
                  <a:spcPts val="0"/>
                </a:spcAft>
                <a:defRPr sz="82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2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Entropic projection</a:t>
              </a:r>
            </a:p>
          </p:txBody>
        </p:sp>
        <p:sp>
          <p:nvSpPr>
            <p:cNvPr id="47" name="pre_violation" descr="Editable text; source id pre_violation"/>
            <p:cNvSpPr txBox="1"/>
            <p:nvPr/>
          </p:nvSpPr>
          <p:spPr>
            <a:xfrm>
              <a:off x="2501900" y="1523999"/>
              <a:ext cx="12953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can price before violation</a:t>
              </a:r>
            </a:p>
          </p:txBody>
        </p:sp>
        <p:sp>
          <p:nvSpPr>
            <p:cNvPr id="48" name="raw_filter_0" descr="Editable line; source id raw_filter_0"/>
            <p:cNvSpPr/>
            <p:nvPr/>
          </p:nvSpPr>
          <p:spPr>
            <a:xfrm>
              <a:off x="2781300" y="1406525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25000" h="12500">
                  <a:moveTo>
                    <a:pt x="0" y="4250"/>
                  </a:moveTo>
                  <a:lnTo>
                    <a:pt x="8750" y="4250"/>
                  </a:lnTo>
                  <a:lnTo>
                    <a:pt x="8750" y="0"/>
                  </a:lnTo>
                  <a:lnTo>
                    <a:pt x="25000" y="6250"/>
                  </a:lnTo>
                  <a:lnTo>
                    <a:pt x="8750" y="12500"/>
                  </a:lnTo>
                  <a:lnTo>
                    <a:pt x="875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ilter_label" descr="Editable text; source id filter_label"/>
            <p:cNvSpPr txBox="1"/>
            <p:nvPr/>
          </p:nvSpPr>
          <p:spPr>
            <a:xfrm>
              <a:off x="2857500" y="1346200"/>
              <a:ext cx="634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clip + EMA</a:t>
              </a:r>
            </a:p>
          </p:txBody>
        </p:sp>
        <p:cxnSp>
          <p:nvCxnSpPr>
            <p:cNvPr id="50" name="filter_bar_0" descr="Editable line; source id filter_bar_0"/>
            <p:cNvCxnSpPr/>
            <p:nvPr/>
          </p:nvCxnSpPr>
          <p:spPr>
            <a:xfrm>
              <a:off x="3530600" y="1422399"/>
              <a:ext cx="279399" cy="0"/>
            </a:xfrm>
            <a:prstGeom prst="line">
              <a:avLst/>
            </a:prstGeom>
            <a:ln w="10160">
              <a:solidFill>
                <a:srgbClr val="126D6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filter_bar_1" descr="Editable line; source id filter_bar_1"/>
            <p:cNvCxnSpPr/>
            <p:nvPr/>
          </p:nvCxnSpPr>
          <p:spPr>
            <a:xfrm>
              <a:off x="3809999" y="1422399"/>
              <a:ext cx="0" cy="317500"/>
            </a:xfrm>
            <a:prstGeom prst="line">
              <a:avLst/>
            </a:prstGeom>
            <a:ln w="10160">
              <a:solidFill>
                <a:srgbClr val="126D6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ilter_bar_2" descr="Editable line; source id filter_bar_2"/>
            <p:cNvSpPr/>
            <p:nvPr/>
          </p:nvSpPr>
          <p:spPr>
            <a:xfrm>
              <a:off x="3505200" y="1724025"/>
              <a:ext cx="304800" cy="31750"/>
            </a:xfrm>
            <a:custGeom>
              <a:avLst/>
              <a:gdLst/>
              <a:ahLst/>
              <a:cxnLst/>
              <a:rect l="l" t="t" r="r" b="b"/>
              <a:pathLst>
                <a:path w="120000" h="12500">
                  <a:moveTo>
                    <a:pt x="120000" y="8250"/>
                  </a:moveTo>
                  <a:lnTo>
                    <a:pt x="16500" y="8250"/>
                  </a:lnTo>
                  <a:lnTo>
                    <a:pt x="16500" y="12500"/>
                  </a:lnTo>
                  <a:lnTo>
                    <a:pt x="0" y="6250"/>
                  </a:lnTo>
                  <a:lnTo>
                    <a:pt x="16500" y="0"/>
                  </a:lnTo>
                  <a:lnTo>
                    <a:pt x="16500" y="4250"/>
                  </a:lnTo>
                  <a:lnTo>
                    <a:pt x="120000" y="425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eedback_label" descr="Editable text; source id feedback_label"/>
            <p:cNvSpPr txBox="1"/>
            <p:nvPr/>
          </p:nvSpPr>
          <p:spPr>
            <a:xfrm>
              <a:off x="1270000" y="1536699"/>
              <a:ext cx="12064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rPr>
                <a:t>observed-cost feedback</a:t>
              </a:r>
            </a:p>
          </p:txBody>
        </p:sp>
        <p:sp>
          <p:nvSpPr>
            <p:cNvPr id="54" name="feedback_to_price_0" descr="Editable line; source id feedback_to_price_0"/>
            <p:cNvSpPr/>
            <p:nvPr/>
          </p:nvSpPr>
          <p:spPr>
            <a:xfrm>
              <a:off x="2197100" y="1762125"/>
              <a:ext cx="127000" cy="31750"/>
            </a:xfrm>
            <a:custGeom>
              <a:avLst/>
              <a:gdLst/>
              <a:ahLst/>
              <a:cxnLst/>
              <a:rect l="l" t="t" r="r" b="b"/>
              <a:pathLst>
                <a:path w="50000" h="12500">
                  <a:moveTo>
                    <a:pt x="0" y="4250"/>
                  </a:moveTo>
                  <a:lnTo>
                    <a:pt x="33500" y="4250"/>
                  </a:lnTo>
                  <a:lnTo>
                    <a:pt x="33500" y="0"/>
                  </a:lnTo>
                  <a:lnTo>
                    <a:pt x="50000" y="6250"/>
                  </a:lnTo>
                  <a:lnTo>
                    <a:pt x="33500" y="12500"/>
                  </a:lnTo>
                  <a:lnTo>
                    <a:pt x="335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B86C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price_actor_0" descr="Editable line; source id price_actor_0"/>
            <p:cNvCxnSpPr/>
            <p:nvPr/>
          </p:nvCxnSpPr>
          <p:spPr>
            <a:xfrm flipH="1">
              <a:off x="1790700" y="1904999"/>
              <a:ext cx="1143000" cy="0"/>
            </a:xfrm>
            <a:prstGeom prst="line">
              <a:avLst/>
            </a:prstGeom>
            <a:ln w="10160">
              <a:solidFill>
                <a:srgbClr val="126D6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price_actor_1" descr="Editable line; source id price_actor_1"/>
            <p:cNvSpPr/>
            <p:nvPr/>
          </p:nvSpPr>
          <p:spPr>
            <a:xfrm>
              <a:off x="1774825" y="1905000"/>
              <a:ext cx="31750" cy="25400"/>
            </a:xfrm>
            <a:custGeom>
              <a:avLst/>
              <a:gdLst/>
              <a:ahLst/>
              <a:cxnLst/>
              <a:rect l="l" t="t" r="r" b="b"/>
              <a:pathLst>
                <a:path w="12500" h="10000">
                  <a:moveTo>
                    <a:pt x="8250" y="0"/>
                  </a:moveTo>
                  <a:lnTo>
                    <a:pt x="8250" y="3500"/>
                  </a:lnTo>
                  <a:lnTo>
                    <a:pt x="12500" y="3500"/>
                  </a:lnTo>
                  <a:lnTo>
                    <a:pt x="6250" y="10000"/>
                  </a:lnTo>
                  <a:lnTo>
                    <a:pt x="0" y="3500"/>
                  </a:lnTo>
                  <a:lnTo>
                    <a:pt x="4250" y="3500"/>
                  </a:lnTo>
                  <a:lnTo>
                    <a:pt x="4250" y="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priced_adv_label" descr="Editable text; source id priced_adv_label"/>
            <p:cNvSpPr txBox="1"/>
            <p:nvPr/>
          </p:nvSpPr>
          <p:spPr>
            <a:xfrm>
              <a:off x="1320800" y="1930399"/>
              <a:ext cx="9397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priced advantage</a:t>
              </a:r>
            </a:p>
          </p:txBody>
        </p:sp>
        <p:sp>
          <p:nvSpPr>
            <p:cNvPr id="58" name="priced_actor_0" descr="Editable line; source id priced_actor_0"/>
            <p:cNvSpPr/>
            <p:nvPr/>
          </p:nvSpPr>
          <p:spPr>
            <a:xfrm>
              <a:off x="2298700" y="1978025"/>
              <a:ext cx="177800" cy="31750"/>
            </a:xfrm>
            <a:custGeom>
              <a:avLst/>
              <a:gdLst/>
              <a:ahLst/>
              <a:cxnLst/>
              <a:rect l="l" t="t" r="r" b="b"/>
              <a:pathLst>
                <a:path w="70000" h="12500">
                  <a:moveTo>
                    <a:pt x="0" y="4250"/>
                  </a:moveTo>
                  <a:lnTo>
                    <a:pt x="53500" y="4250"/>
                  </a:lnTo>
                  <a:lnTo>
                    <a:pt x="53500" y="0"/>
                  </a:lnTo>
                  <a:lnTo>
                    <a:pt x="70000" y="6250"/>
                  </a:lnTo>
                  <a:lnTo>
                    <a:pt x="53500" y="12500"/>
                  </a:lnTo>
                  <a:lnTo>
                    <a:pt x="535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ppo" descr="Editable text; source id ppo"/>
            <p:cNvSpPr txBox="1"/>
            <p:nvPr/>
          </p:nvSpPr>
          <p:spPr>
            <a:xfrm>
              <a:off x="2501900" y="1930399"/>
              <a:ext cx="5968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PPO/TRPO</a:t>
              </a:r>
            </a:p>
          </p:txBody>
        </p:sp>
        <p:sp>
          <p:nvSpPr>
            <p:cNvPr id="60" name="actor_policy_0" descr="Editable line; source id actor_policy_0"/>
            <p:cNvSpPr/>
            <p:nvPr/>
          </p:nvSpPr>
          <p:spPr>
            <a:xfrm>
              <a:off x="3124200" y="1978025"/>
              <a:ext cx="101600" cy="31750"/>
            </a:xfrm>
            <a:custGeom>
              <a:avLst/>
              <a:gdLst/>
              <a:ahLst/>
              <a:cxnLst/>
              <a:rect l="l" t="t" r="r" b="b"/>
              <a:pathLst>
                <a:path w="40000" h="12500">
                  <a:moveTo>
                    <a:pt x="0" y="4250"/>
                  </a:moveTo>
                  <a:lnTo>
                    <a:pt x="23500" y="4250"/>
                  </a:lnTo>
                  <a:lnTo>
                    <a:pt x="23500" y="0"/>
                  </a:lnTo>
                  <a:lnTo>
                    <a:pt x="40000" y="6250"/>
                  </a:lnTo>
                  <a:lnTo>
                    <a:pt x="23500" y="12500"/>
                  </a:lnTo>
                  <a:lnTo>
                    <a:pt x="235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9" name="budget"/>
            <p:cNvGrpSpPr/>
            <p:nvPr/>
          </p:nvGrpSpPr>
          <p:grpSpPr>
            <a:xfrm>
              <a:off x="2061579" y="479778"/>
              <a:ext cx="973121" cy="119550"/>
              <a:chOff x="2061579" y="479778"/>
              <a:chExt cx="973121" cy="119550"/>
            </a:xfrm>
          </p:grpSpPr>
          <p:sp>
            <p:nvSpPr>
              <p:cNvPr id="120" name="budget_outline_0"/>
              <p:cNvSpPr/>
              <p:nvPr/>
            </p:nvSpPr>
            <p:spPr>
              <a:xfrm>
                <a:off x="2061579" y="479778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119551"/>
                    </a:moveTo>
                    <a:lnTo>
                      <a:pt x="9164" y="59773"/>
                    </a:lnTo>
                    <a:lnTo>
                      <a:pt x="34933" y="0"/>
                    </a:lnTo>
                    <a:lnTo>
                      <a:pt x="28559" y="0"/>
                    </a:lnTo>
                    <a:lnTo>
                      <a:pt x="0" y="59773"/>
                    </a:lnTo>
                    <a:lnTo>
                      <a:pt x="28559" y="119551"/>
                    </a:lnTo>
                    <a:lnTo>
                      <a:pt x="34933" y="11955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budget_outline_1"/>
              <p:cNvSpPr/>
              <p:nvPr/>
            </p:nvSpPr>
            <p:spPr>
              <a:xfrm>
                <a:off x="2109804" y="485223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3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2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3" y="71064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budget_outline_2"/>
              <p:cNvSpPr/>
              <p:nvPr/>
            </p:nvSpPr>
            <p:spPr>
              <a:xfrm>
                <a:off x="2195977" y="52598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budget_outline_3"/>
              <p:cNvSpPr/>
              <p:nvPr/>
            </p:nvSpPr>
            <p:spPr>
              <a:xfrm>
                <a:off x="2265091" y="560141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7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1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budget_outline_4"/>
              <p:cNvSpPr/>
              <p:nvPr/>
            </p:nvSpPr>
            <p:spPr>
              <a:xfrm>
                <a:off x="2319405" y="486950"/>
                <a:ext cx="84614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8"/>
                    </a:cubicBezTo>
                    <a:cubicBezTo>
                      <a:pt x="28690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3" y="86741"/>
                    </a:lnTo>
                    <a:lnTo>
                      <a:pt x="33473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4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0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1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2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39" y="17534"/>
                    </a:cubicBezTo>
                    <a:cubicBezTo>
                      <a:pt x="77708" y="18463"/>
                      <a:pt x="77708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budget_outline_5"/>
              <p:cNvSpPr/>
              <p:nvPr/>
            </p:nvSpPr>
            <p:spPr>
              <a:xfrm>
                <a:off x="2414767" y="479778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59773"/>
                    </a:moveTo>
                    <a:lnTo>
                      <a:pt x="6374" y="0"/>
                    </a:lnTo>
                    <a:lnTo>
                      <a:pt x="0" y="0"/>
                    </a:lnTo>
                    <a:lnTo>
                      <a:pt x="25769" y="59773"/>
                    </a:lnTo>
                    <a:lnTo>
                      <a:pt x="0" y="119551"/>
                    </a:lnTo>
                    <a:lnTo>
                      <a:pt x="6374" y="119551"/>
                    </a:lnTo>
                    <a:lnTo>
                      <a:pt x="34933" y="59773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budget_outline_6"/>
              <p:cNvSpPr/>
              <p:nvPr/>
            </p:nvSpPr>
            <p:spPr>
              <a:xfrm>
                <a:off x="2506825" y="497443"/>
                <a:ext cx="68011" cy="83951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83951">
                    <a:moveTo>
                      <a:pt x="68012" y="66683"/>
                    </a:moveTo>
                    <a:lnTo>
                      <a:pt x="68012" y="59246"/>
                    </a:lnTo>
                    <a:lnTo>
                      <a:pt x="12752" y="33342"/>
                    </a:lnTo>
                    <a:lnTo>
                      <a:pt x="68012" y="7438"/>
                    </a:lnTo>
                    <a:lnTo>
                      <a:pt x="68012" y="0"/>
                    </a:lnTo>
                    <a:lnTo>
                      <a:pt x="0" y="32147"/>
                    </a:lnTo>
                    <a:lnTo>
                      <a:pt x="0" y="34802"/>
                    </a:lnTo>
                    <a:lnTo>
                      <a:pt x="68012" y="66683"/>
                    </a:lnTo>
                    <a:close/>
                    <a:moveTo>
                      <a:pt x="68012" y="83951"/>
                    </a:moveTo>
                    <a:lnTo>
                      <a:pt x="68012" y="76910"/>
                    </a:lnTo>
                    <a:lnTo>
                      <a:pt x="0" y="76910"/>
                    </a:lnTo>
                    <a:lnTo>
                      <a:pt x="0" y="83951"/>
                    </a:lnTo>
                    <a:lnTo>
                      <a:pt x="68012" y="8395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budget_outline_7"/>
              <p:cNvSpPr/>
              <p:nvPr/>
            </p:nvSpPr>
            <p:spPr>
              <a:xfrm>
                <a:off x="2626215" y="482965"/>
                <a:ext cx="59773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773" h="92186">
                    <a:moveTo>
                      <a:pt x="59773" y="48085"/>
                    </a:moveTo>
                    <a:cubicBezTo>
                      <a:pt x="59773" y="38787"/>
                      <a:pt x="53265" y="32147"/>
                      <a:pt x="44367" y="32147"/>
                    </a:cubicBezTo>
                    <a:cubicBezTo>
                      <a:pt x="35068" y="32147"/>
                      <a:pt x="28158" y="37592"/>
                      <a:pt x="18729" y="52205"/>
                    </a:cubicBezTo>
                    <a:lnTo>
                      <a:pt x="32544" y="663"/>
                    </a:lnTo>
                    <a:lnTo>
                      <a:pt x="31881" y="0"/>
                    </a:lnTo>
                    <a:cubicBezTo>
                      <a:pt x="25237" y="1195"/>
                      <a:pt x="20455" y="1992"/>
                      <a:pt x="11557" y="3056"/>
                    </a:cubicBezTo>
                    <a:lnTo>
                      <a:pt x="11557" y="5314"/>
                    </a:lnTo>
                    <a:cubicBezTo>
                      <a:pt x="19391" y="5580"/>
                      <a:pt x="20189" y="5977"/>
                      <a:pt x="20189" y="8898"/>
                    </a:cubicBezTo>
                    <a:cubicBezTo>
                      <a:pt x="20189" y="10096"/>
                      <a:pt x="19923" y="11557"/>
                      <a:pt x="18995" y="14613"/>
                    </a:cubicBezTo>
                    <a:lnTo>
                      <a:pt x="18332" y="17137"/>
                    </a:lnTo>
                    <a:lnTo>
                      <a:pt x="18066" y="18066"/>
                    </a:lnTo>
                    <a:lnTo>
                      <a:pt x="0" y="84614"/>
                    </a:lnTo>
                    <a:lnTo>
                      <a:pt x="0" y="85146"/>
                    </a:lnTo>
                    <a:cubicBezTo>
                      <a:pt x="0" y="88202"/>
                      <a:pt x="10097" y="92186"/>
                      <a:pt x="17665" y="92186"/>
                    </a:cubicBezTo>
                    <a:cubicBezTo>
                      <a:pt x="37723" y="92186"/>
                      <a:pt x="59773" y="69072"/>
                      <a:pt x="59773" y="48085"/>
                    </a:cubicBezTo>
                    <a:close/>
                    <a:moveTo>
                      <a:pt x="48482" y="50078"/>
                    </a:moveTo>
                    <a:cubicBezTo>
                      <a:pt x="48482" y="58845"/>
                      <a:pt x="41843" y="73057"/>
                      <a:pt x="33873" y="81296"/>
                    </a:cubicBezTo>
                    <a:cubicBezTo>
                      <a:pt x="28956" y="86340"/>
                      <a:pt x="23245" y="89130"/>
                      <a:pt x="17534" y="89130"/>
                    </a:cubicBezTo>
                    <a:cubicBezTo>
                      <a:pt x="13414" y="89130"/>
                      <a:pt x="11422" y="87670"/>
                      <a:pt x="11422" y="84614"/>
                    </a:cubicBezTo>
                    <a:cubicBezTo>
                      <a:pt x="11422" y="76644"/>
                      <a:pt x="15407" y="63893"/>
                      <a:pt x="20987" y="53931"/>
                    </a:cubicBezTo>
                    <a:cubicBezTo>
                      <a:pt x="26833" y="43704"/>
                      <a:pt x="32810" y="38656"/>
                      <a:pt x="39188" y="38656"/>
                    </a:cubicBezTo>
                    <a:cubicBezTo>
                      <a:pt x="45030" y="38656"/>
                      <a:pt x="48482" y="43037"/>
                      <a:pt x="48482" y="50078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budget_outline_8"/>
              <p:cNvSpPr/>
              <p:nvPr/>
            </p:nvSpPr>
            <p:spPr>
              <a:xfrm>
                <a:off x="2700827" y="52598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budget_outline_9"/>
              <p:cNvSpPr/>
              <p:nvPr/>
            </p:nvSpPr>
            <p:spPr>
              <a:xfrm>
                <a:off x="2896013" y="485620"/>
                <a:ext cx="71330" cy="89931"/>
              </a:xfrm>
              <a:custGeom>
                <a:avLst/>
                <a:gdLst/>
                <a:ahLst/>
                <a:cxnLst/>
                <a:rect l="0" t="0" r="r" b="b"/>
                <a:pathLst>
                  <a:path w="71330" h="89932">
                    <a:moveTo>
                      <a:pt x="71330" y="135"/>
                    </a:moveTo>
                    <a:lnTo>
                      <a:pt x="63496" y="0"/>
                    </a:lnTo>
                    <a:lnTo>
                      <a:pt x="49280" y="35866"/>
                    </a:lnTo>
                    <a:lnTo>
                      <a:pt x="21784" y="35866"/>
                    </a:lnTo>
                    <a:lnTo>
                      <a:pt x="7969" y="135"/>
                    </a:lnTo>
                    <a:lnTo>
                      <a:pt x="0" y="135"/>
                    </a:lnTo>
                    <a:lnTo>
                      <a:pt x="33738" y="89932"/>
                    </a:lnTo>
                    <a:lnTo>
                      <a:pt x="35866" y="89932"/>
                    </a:lnTo>
                    <a:lnTo>
                      <a:pt x="71330" y="135"/>
                    </a:lnTo>
                    <a:close/>
                    <a:moveTo>
                      <a:pt x="46756" y="42640"/>
                    </a:moveTo>
                    <a:lnTo>
                      <a:pt x="35199" y="72263"/>
                    </a:lnTo>
                    <a:lnTo>
                      <a:pt x="24043" y="42640"/>
                    </a:lnTo>
                    <a:lnTo>
                      <a:pt x="46756" y="42640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budget_outline_10"/>
              <p:cNvSpPr/>
              <p:nvPr/>
            </p:nvSpPr>
            <p:spPr>
              <a:xfrm>
                <a:off x="2975324" y="482965"/>
                <a:ext cx="59376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376" h="92186">
                    <a:moveTo>
                      <a:pt x="55126" y="77708"/>
                    </a:moveTo>
                    <a:lnTo>
                      <a:pt x="53134" y="76248"/>
                    </a:lnTo>
                    <a:cubicBezTo>
                      <a:pt x="52467" y="77442"/>
                      <a:pt x="51804" y="78637"/>
                      <a:pt x="51141" y="79700"/>
                    </a:cubicBezTo>
                    <a:cubicBezTo>
                      <a:pt x="48748" y="83820"/>
                      <a:pt x="47153" y="85281"/>
                      <a:pt x="45160" y="85281"/>
                    </a:cubicBezTo>
                    <a:cubicBezTo>
                      <a:pt x="42374" y="85281"/>
                      <a:pt x="39715" y="81030"/>
                      <a:pt x="34401" y="68144"/>
                    </a:cubicBezTo>
                    <a:lnTo>
                      <a:pt x="29488" y="56456"/>
                    </a:lnTo>
                    <a:cubicBezTo>
                      <a:pt x="49014" y="39052"/>
                      <a:pt x="53134" y="36397"/>
                      <a:pt x="59376" y="35997"/>
                    </a:cubicBezTo>
                    <a:lnTo>
                      <a:pt x="59376" y="33873"/>
                    </a:lnTo>
                    <a:lnTo>
                      <a:pt x="35068" y="33873"/>
                    </a:lnTo>
                    <a:lnTo>
                      <a:pt x="35068" y="35997"/>
                    </a:lnTo>
                    <a:lnTo>
                      <a:pt x="37191" y="35997"/>
                    </a:lnTo>
                    <a:cubicBezTo>
                      <a:pt x="40513" y="35997"/>
                      <a:pt x="42374" y="36929"/>
                      <a:pt x="42374" y="38390"/>
                    </a:cubicBezTo>
                    <a:cubicBezTo>
                      <a:pt x="42374" y="41045"/>
                      <a:pt x="35866" y="47423"/>
                      <a:pt x="23376" y="56987"/>
                    </a:cubicBezTo>
                    <a:lnTo>
                      <a:pt x="17665" y="61369"/>
                    </a:lnTo>
                    <a:lnTo>
                      <a:pt x="33607" y="663"/>
                    </a:lnTo>
                    <a:lnTo>
                      <a:pt x="32941" y="0"/>
                    </a:lnTo>
                    <a:cubicBezTo>
                      <a:pt x="25102" y="1726"/>
                      <a:pt x="20058" y="2655"/>
                      <a:pt x="12220" y="3588"/>
                    </a:cubicBezTo>
                    <a:lnTo>
                      <a:pt x="12220" y="5711"/>
                    </a:lnTo>
                    <a:lnTo>
                      <a:pt x="14478" y="5711"/>
                    </a:lnTo>
                    <a:cubicBezTo>
                      <a:pt x="18994" y="5711"/>
                      <a:pt x="20987" y="6640"/>
                      <a:pt x="21253" y="9033"/>
                    </a:cubicBezTo>
                    <a:cubicBezTo>
                      <a:pt x="20987" y="11291"/>
                      <a:pt x="20189" y="14744"/>
                      <a:pt x="18328" y="20987"/>
                    </a:cubicBezTo>
                    <a:lnTo>
                      <a:pt x="17133" y="25372"/>
                    </a:lnTo>
                    <a:lnTo>
                      <a:pt x="16867" y="26567"/>
                    </a:lnTo>
                    <a:lnTo>
                      <a:pt x="0" y="90726"/>
                    </a:lnTo>
                    <a:lnTo>
                      <a:pt x="9962" y="90726"/>
                    </a:lnTo>
                    <a:lnTo>
                      <a:pt x="16335" y="66814"/>
                    </a:lnTo>
                    <a:lnTo>
                      <a:pt x="21915" y="62563"/>
                    </a:lnTo>
                    <a:cubicBezTo>
                      <a:pt x="24043" y="68409"/>
                      <a:pt x="27496" y="76644"/>
                      <a:pt x="29885" y="81296"/>
                    </a:cubicBezTo>
                    <a:cubicBezTo>
                      <a:pt x="34135" y="89662"/>
                      <a:pt x="36528" y="92186"/>
                      <a:pt x="40382" y="92186"/>
                    </a:cubicBezTo>
                    <a:cubicBezTo>
                      <a:pt x="45692" y="92186"/>
                      <a:pt x="49014" y="88864"/>
                      <a:pt x="55126" y="77708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1" name="raw_price"/>
            <p:cNvGrpSpPr/>
            <p:nvPr/>
          </p:nvGrpSpPr>
          <p:grpSpPr>
            <a:xfrm>
              <a:off x="2557250" y="1341963"/>
              <a:ext cx="132671" cy="149041"/>
              <a:chOff x="2557250" y="1341963"/>
              <a:chExt cx="132671" cy="149041"/>
            </a:xfrm>
          </p:grpSpPr>
          <p:sp>
            <p:nvSpPr>
              <p:cNvPr id="132" name="raw_price_outline_0"/>
              <p:cNvSpPr/>
              <p:nvPr/>
            </p:nvSpPr>
            <p:spPr>
              <a:xfrm>
                <a:off x="2557250" y="1348026"/>
                <a:ext cx="71112" cy="92682"/>
              </a:xfrm>
              <a:custGeom>
                <a:avLst/>
                <a:gdLst/>
                <a:ahLst/>
                <a:cxnLst/>
                <a:rect l="0" t="0" r="r" b="b"/>
                <a:pathLst>
                  <a:path w="71112" h="92682">
                    <a:moveTo>
                      <a:pt x="71112" y="80990"/>
                    </a:moveTo>
                    <a:lnTo>
                      <a:pt x="70973" y="80712"/>
                    </a:lnTo>
                    <a:cubicBezTo>
                      <a:pt x="69024" y="80712"/>
                      <a:pt x="66659" y="85443"/>
                      <a:pt x="60813" y="85443"/>
                    </a:cubicBezTo>
                    <a:cubicBezTo>
                      <a:pt x="34512" y="85443"/>
                      <a:pt x="82383" y="0"/>
                      <a:pt x="41469" y="0"/>
                    </a:cubicBezTo>
                    <a:lnTo>
                      <a:pt x="39941" y="0"/>
                    </a:lnTo>
                    <a:cubicBezTo>
                      <a:pt x="37433" y="0"/>
                      <a:pt x="31591" y="2087"/>
                      <a:pt x="29781" y="3758"/>
                    </a:cubicBezTo>
                    <a:cubicBezTo>
                      <a:pt x="29643" y="3897"/>
                      <a:pt x="30754" y="5147"/>
                      <a:pt x="30893" y="5147"/>
                    </a:cubicBezTo>
                    <a:cubicBezTo>
                      <a:pt x="31591" y="4592"/>
                      <a:pt x="34651" y="3338"/>
                      <a:pt x="37433" y="3338"/>
                    </a:cubicBezTo>
                    <a:cubicBezTo>
                      <a:pt x="50935" y="3338"/>
                      <a:pt x="47315" y="25606"/>
                      <a:pt x="47315" y="29222"/>
                    </a:cubicBezTo>
                    <a:cubicBezTo>
                      <a:pt x="47454" y="29643"/>
                      <a:pt x="47315" y="29920"/>
                      <a:pt x="47177" y="30476"/>
                    </a:cubicBezTo>
                    <a:cubicBezTo>
                      <a:pt x="44394" y="43418"/>
                      <a:pt x="3342" y="79879"/>
                      <a:pt x="0" y="91150"/>
                    </a:cubicBezTo>
                    <a:lnTo>
                      <a:pt x="13914" y="91150"/>
                    </a:lnTo>
                    <a:cubicBezTo>
                      <a:pt x="13914" y="89757"/>
                      <a:pt x="14057" y="88368"/>
                      <a:pt x="14335" y="86836"/>
                    </a:cubicBezTo>
                    <a:cubicBezTo>
                      <a:pt x="18371" y="69024"/>
                      <a:pt x="45645" y="42025"/>
                      <a:pt x="45645" y="41886"/>
                    </a:cubicBezTo>
                    <a:lnTo>
                      <a:pt x="45783" y="41886"/>
                    </a:lnTo>
                    <a:cubicBezTo>
                      <a:pt x="44950" y="49125"/>
                      <a:pt x="32425" y="92682"/>
                      <a:pt x="55110" y="92682"/>
                    </a:cubicBezTo>
                    <a:cubicBezTo>
                      <a:pt x="61230" y="92682"/>
                      <a:pt x="70834" y="82661"/>
                      <a:pt x="71112" y="8099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raw_price_outline_1"/>
              <p:cNvSpPr/>
              <p:nvPr/>
            </p:nvSpPr>
            <p:spPr>
              <a:xfrm>
                <a:off x="2638496" y="1341963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8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80"/>
                      <a:pt x="18883" y="21479"/>
                    </a:cubicBezTo>
                    <a:cubicBezTo>
                      <a:pt x="22102" y="23348"/>
                      <a:pt x="30298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raw_price_outline_2"/>
              <p:cNvSpPr/>
              <p:nvPr/>
            </p:nvSpPr>
            <p:spPr>
              <a:xfrm>
                <a:off x="2639284" y="141899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5" name="price_sum"/>
            <p:cNvGrpSpPr/>
            <p:nvPr/>
          </p:nvGrpSpPr>
          <p:grpSpPr>
            <a:xfrm>
              <a:off x="2545300" y="1688828"/>
              <a:ext cx="740771" cy="166012"/>
              <a:chOff x="2545300" y="1688828"/>
              <a:chExt cx="740771" cy="166012"/>
            </a:xfrm>
          </p:grpSpPr>
          <p:sp>
            <p:nvSpPr>
              <p:cNvPr id="136" name="price_sum_outline_0"/>
              <p:cNvSpPr/>
              <p:nvPr/>
            </p:nvSpPr>
            <p:spPr>
              <a:xfrm>
                <a:off x="2545300" y="1711861"/>
                <a:ext cx="71112" cy="92682"/>
              </a:xfrm>
              <a:custGeom>
                <a:avLst/>
                <a:gdLst/>
                <a:ahLst/>
                <a:cxnLst/>
                <a:rect l="0" t="0" r="r" b="b"/>
                <a:pathLst>
                  <a:path w="71112" h="92682">
                    <a:moveTo>
                      <a:pt x="71112" y="80990"/>
                    </a:moveTo>
                    <a:lnTo>
                      <a:pt x="70973" y="80712"/>
                    </a:lnTo>
                    <a:cubicBezTo>
                      <a:pt x="69024" y="80712"/>
                      <a:pt x="66659" y="85443"/>
                      <a:pt x="60813" y="85443"/>
                    </a:cubicBezTo>
                    <a:cubicBezTo>
                      <a:pt x="34512" y="85443"/>
                      <a:pt x="82383" y="0"/>
                      <a:pt x="41469" y="0"/>
                    </a:cubicBezTo>
                    <a:lnTo>
                      <a:pt x="39941" y="0"/>
                    </a:lnTo>
                    <a:cubicBezTo>
                      <a:pt x="37433" y="0"/>
                      <a:pt x="31591" y="2087"/>
                      <a:pt x="29781" y="3758"/>
                    </a:cubicBezTo>
                    <a:cubicBezTo>
                      <a:pt x="29643" y="3897"/>
                      <a:pt x="30754" y="5147"/>
                      <a:pt x="30893" y="5147"/>
                    </a:cubicBezTo>
                    <a:cubicBezTo>
                      <a:pt x="31591" y="4592"/>
                      <a:pt x="34651" y="3338"/>
                      <a:pt x="37433" y="3338"/>
                    </a:cubicBezTo>
                    <a:cubicBezTo>
                      <a:pt x="50935" y="3338"/>
                      <a:pt x="47315" y="25606"/>
                      <a:pt x="47315" y="29222"/>
                    </a:cubicBezTo>
                    <a:cubicBezTo>
                      <a:pt x="47454" y="29643"/>
                      <a:pt x="47315" y="29920"/>
                      <a:pt x="47177" y="30476"/>
                    </a:cubicBezTo>
                    <a:cubicBezTo>
                      <a:pt x="44394" y="43418"/>
                      <a:pt x="3342" y="79879"/>
                      <a:pt x="0" y="91150"/>
                    </a:cubicBezTo>
                    <a:lnTo>
                      <a:pt x="13914" y="91150"/>
                    </a:lnTo>
                    <a:cubicBezTo>
                      <a:pt x="13914" y="89757"/>
                      <a:pt x="14057" y="88368"/>
                      <a:pt x="14335" y="86836"/>
                    </a:cubicBezTo>
                    <a:cubicBezTo>
                      <a:pt x="18371" y="69024"/>
                      <a:pt x="45645" y="42025"/>
                      <a:pt x="45645" y="41886"/>
                    </a:cubicBezTo>
                    <a:lnTo>
                      <a:pt x="45783" y="41886"/>
                    </a:lnTo>
                    <a:cubicBezTo>
                      <a:pt x="44950" y="49125"/>
                      <a:pt x="32425" y="92682"/>
                      <a:pt x="55110" y="92682"/>
                    </a:cubicBezTo>
                    <a:cubicBezTo>
                      <a:pt x="61230" y="92682"/>
                      <a:pt x="70834" y="82661"/>
                      <a:pt x="71112" y="8099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price_sum_outline_1"/>
              <p:cNvSpPr/>
              <p:nvPr/>
            </p:nvSpPr>
            <p:spPr>
              <a:xfrm>
                <a:off x="2627333" y="175307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price_sum_outline_2"/>
              <p:cNvSpPr/>
              <p:nvPr/>
            </p:nvSpPr>
            <p:spPr>
              <a:xfrm>
                <a:off x="2736308" y="1749295"/>
                <a:ext cx="71250" cy="36044"/>
              </a:xfrm>
              <a:custGeom>
                <a:avLst/>
                <a:gdLst/>
                <a:ahLst/>
                <a:cxnLst/>
                <a:rect l="0" t="0" r="r" b="b"/>
                <a:pathLst>
                  <a:path w="71251" h="36044">
                    <a:moveTo>
                      <a:pt x="71251" y="7795"/>
                    </a:moveTo>
                    <a:lnTo>
                      <a:pt x="71251" y="0"/>
                    </a:lnTo>
                    <a:lnTo>
                      <a:pt x="0" y="0"/>
                    </a:lnTo>
                    <a:lnTo>
                      <a:pt x="0" y="7795"/>
                    </a:lnTo>
                    <a:lnTo>
                      <a:pt x="71251" y="7795"/>
                    </a:lnTo>
                    <a:close/>
                    <a:moveTo>
                      <a:pt x="71251" y="36044"/>
                    </a:moveTo>
                    <a:lnTo>
                      <a:pt x="71251" y="28249"/>
                    </a:lnTo>
                    <a:lnTo>
                      <a:pt x="0" y="28249"/>
                    </a:lnTo>
                    <a:lnTo>
                      <a:pt x="0" y="36044"/>
                    </a:lnTo>
                    <a:lnTo>
                      <a:pt x="71251" y="3604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price_sum_outline_3"/>
              <p:cNvSpPr/>
              <p:nvPr/>
            </p:nvSpPr>
            <p:spPr>
              <a:xfrm>
                <a:off x="2879872" y="1688828"/>
                <a:ext cx="43279" cy="7516"/>
              </a:xfrm>
              <a:custGeom>
                <a:avLst/>
                <a:gdLst/>
                <a:ahLst/>
                <a:cxnLst/>
                <a:rect l="0" t="0" r="r" b="b"/>
                <a:pathLst>
                  <a:path w="43279" h="7517">
                    <a:moveTo>
                      <a:pt x="43279" y="7517"/>
                    </a:moveTo>
                    <a:lnTo>
                      <a:pt x="43279" y="0"/>
                    </a:lnTo>
                    <a:lnTo>
                      <a:pt x="0" y="0"/>
                    </a:lnTo>
                    <a:lnTo>
                      <a:pt x="0" y="7517"/>
                    </a:lnTo>
                    <a:lnTo>
                      <a:pt x="43279" y="7517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price_sum_outline_4"/>
              <p:cNvSpPr/>
              <p:nvPr/>
            </p:nvSpPr>
            <p:spPr>
              <a:xfrm>
                <a:off x="2855268" y="1711861"/>
                <a:ext cx="71112" cy="92682"/>
              </a:xfrm>
              <a:custGeom>
                <a:avLst/>
                <a:gdLst/>
                <a:ahLst/>
                <a:cxnLst/>
                <a:rect l="0" t="0" r="r" b="b"/>
                <a:pathLst>
                  <a:path w="71112" h="92682">
                    <a:moveTo>
                      <a:pt x="71112" y="80990"/>
                    </a:moveTo>
                    <a:lnTo>
                      <a:pt x="70973" y="80712"/>
                    </a:lnTo>
                    <a:cubicBezTo>
                      <a:pt x="69025" y="80712"/>
                      <a:pt x="66659" y="85443"/>
                      <a:pt x="60813" y="85443"/>
                    </a:cubicBezTo>
                    <a:cubicBezTo>
                      <a:pt x="34512" y="85443"/>
                      <a:pt x="82383" y="0"/>
                      <a:pt x="41469" y="0"/>
                    </a:cubicBezTo>
                    <a:lnTo>
                      <a:pt x="39942" y="0"/>
                    </a:lnTo>
                    <a:cubicBezTo>
                      <a:pt x="37433" y="0"/>
                      <a:pt x="31591" y="2087"/>
                      <a:pt x="29782" y="3758"/>
                    </a:cubicBezTo>
                    <a:cubicBezTo>
                      <a:pt x="29643" y="3897"/>
                      <a:pt x="30754" y="5147"/>
                      <a:pt x="30893" y="5147"/>
                    </a:cubicBezTo>
                    <a:cubicBezTo>
                      <a:pt x="31591" y="4592"/>
                      <a:pt x="34651" y="3338"/>
                      <a:pt x="37433" y="3338"/>
                    </a:cubicBezTo>
                    <a:cubicBezTo>
                      <a:pt x="50935" y="3338"/>
                      <a:pt x="47315" y="25606"/>
                      <a:pt x="47315" y="29222"/>
                    </a:cubicBezTo>
                    <a:cubicBezTo>
                      <a:pt x="47454" y="29643"/>
                      <a:pt x="47315" y="29920"/>
                      <a:pt x="47176" y="30476"/>
                    </a:cubicBezTo>
                    <a:cubicBezTo>
                      <a:pt x="44394" y="43418"/>
                      <a:pt x="3342" y="79879"/>
                      <a:pt x="0" y="91150"/>
                    </a:cubicBezTo>
                    <a:lnTo>
                      <a:pt x="13914" y="91150"/>
                    </a:lnTo>
                    <a:cubicBezTo>
                      <a:pt x="13914" y="89757"/>
                      <a:pt x="14057" y="88368"/>
                      <a:pt x="14335" y="86836"/>
                    </a:cubicBezTo>
                    <a:cubicBezTo>
                      <a:pt x="18371" y="69024"/>
                      <a:pt x="45645" y="42025"/>
                      <a:pt x="45645" y="41886"/>
                    </a:cubicBezTo>
                    <a:lnTo>
                      <a:pt x="45784" y="41886"/>
                    </a:lnTo>
                    <a:cubicBezTo>
                      <a:pt x="44950" y="49125"/>
                      <a:pt x="32425" y="92682"/>
                      <a:pt x="55110" y="92682"/>
                    </a:cubicBezTo>
                    <a:cubicBezTo>
                      <a:pt x="61230" y="92682"/>
                      <a:pt x="70834" y="82661"/>
                      <a:pt x="71112" y="8099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price_sum_outline_5"/>
              <p:cNvSpPr/>
              <p:nvPr/>
            </p:nvSpPr>
            <p:spPr>
              <a:xfrm>
                <a:off x="2936514" y="1705799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5" h="40156">
                    <a:moveTo>
                      <a:pt x="36005" y="12037"/>
                    </a:moveTo>
                    <a:cubicBezTo>
                      <a:pt x="36005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2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3" y="38600"/>
                      <a:pt x="21273" y="36628"/>
                    </a:cubicBezTo>
                    <a:cubicBezTo>
                      <a:pt x="21273" y="32373"/>
                      <a:pt x="18883" y="26980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1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5" y="13387"/>
                      <a:pt x="36005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price_sum_outline_6"/>
              <p:cNvSpPr/>
              <p:nvPr/>
            </p:nvSpPr>
            <p:spPr>
              <a:xfrm>
                <a:off x="2937314" y="17828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price_sum_outline_7"/>
              <p:cNvSpPr/>
              <p:nvPr/>
            </p:nvSpPr>
            <p:spPr>
              <a:xfrm>
                <a:off x="3038543" y="1731483"/>
                <a:ext cx="71251" cy="71528"/>
              </a:xfrm>
              <a:custGeom>
                <a:avLst/>
                <a:gdLst/>
                <a:ahLst/>
                <a:cxnLst/>
                <a:rect l="0" t="0" r="r" b="b"/>
                <a:pathLst>
                  <a:path w="71251" h="71529">
                    <a:moveTo>
                      <a:pt x="31032" y="31170"/>
                    </a:moveTo>
                    <a:lnTo>
                      <a:pt x="0" y="31170"/>
                    </a:lnTo>
                    <a:lnTo>
                      <a:pt x="0" y="40358"/>
                    </a:lnTo>
                    <a:lnTo>
                      <a:pt x="31032" y="40358"/>
                    </a:lnTo>
                    <a:lnTo>
                      <a:pt x="31032" y="71529"/>
                    </a:lnTo>
                    <a:lnTo>
                      <a:pt x="40219" y="71529"/>
                    </a:lnTo>
                    <a:lnTo>
                      <a:pt x="40219" y="40358"/>
                    </a:lnTo>
                    <a:lnTo>
                      <a:pt x="71251" y="40358"/>
                    </a:lnTo>
                    <a:lnTo>
                      <a:pt x="71251" y="31170"/>
                    </a:lnTo>
                    <a:lnTo>
                      <a:pt x="40219" y="31170"/>
                    </a:lnTo>
                    <a:lnTo>
                      <a:pt x="40219" y="0"/>
                    </a:lnTo>
                    <a:lnTo>
                      <a:pt x="31032" y="0"/>
                    </a:lnTo>
                    <a:lnTo>
                      <a:pt x="31032" y="31170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price_sum_outline_8"/>
              <p:cNvSpPr/>
              <p:nvPr/>
            </p:nvSpPr>
            <p:spPr>
              <a:xfrm>
                <a:off x="3143518" y="1711861"/>
                <a:ext cx="83776" cy="119955"/>
              </a:xfrm>
              <a:custGeom>
                <a:avLst/>
                <a:gdLst/>
                <a:ahLst/>
                <a:cxnLst/>
                <a:rect l="0" t="0" r="r" b="b"/>
                <a:pathLst>
                  <a:path w="83776" h="119955">
                    <a:moveTo>
                      <a:pt x="83776" y="16002"/>
                    </a:moveTo>
                    <a:cubicBezTo>
                      <a:pt x="83776" y="5008"/>
                      <a:pt x="74867" y="0"/>
                      <a:pt x="63318" y="0"/>
                    </a:cubicBezTo>
                    <a:cubicBezTo>
                      <a:pt x="48566" y="0"/>
                      <a:pt x="34235" y="9878"/>
                      <a:pt x="30337" y="23935"/>
                    </a:cubicBezTo>
                    <a:lnTo>
                      <a:pt x="9045" y="101588"/>
                    </a:lnTo>
                    <a:cubicBezTo>
                      <a:pt x="6679" y="110355"/>
                      <a:pt x="1389" y="118150"/>
                      <a:pt x="0" y="119955"/>
                    </a:cubicBezTo>
                    <a:lnTo>
                      <a:pt x="12383" y="119955"/>
                    </a:lnTo>
                    <a:cubicBezTo>
                      <a:pt x="12525" y="119955"/>
                      <a:pt x="14752" y="118844"/>
                      <a:pt x="19344" y="101449"/>
                    </a:cubicBezTo>
                    <a:lnTo>
                      <a:pt x="24074" y="83495"/>
                    </a:lnTo>
                    <a:lnTo>
                      <a:pt x="24213" y="83495"/>
                    </a:lnTo>
                    <a:cubicBezTo>
                      <a:pt x="24213" y="83637"/>
                      <a:pt x="28805" y="93516"/>
                      <a:pt x="42862" y="93516"/>
                    </a:cubicBezTo>
                    <a:cubicBezTo>
                      <a:pt x="63734" y="93516"/>
                      <a:pt x="77792" y="77930"/>
                      <a:pt x="77792" y="61924"/>
                    </a:cubicBezTo>
                    <a:cubicBezTo>
                      <a:pt x="77792" y="44529"/>
                      <a:pt x="62063" y="41886"/>
                      <a:pt x="61924" y="41886"/>
                    </a:cubicBezTo>
                    <a:lnTo>
                      <a:pt x="61924" y="41330"/>
                    </a:lnTo>
                    <a:cubicBezTo>
                      <a:pt x="62063" y="41330"/>
                      <a:pt x="83776" y="36322"/>
                      <a:pt x="83776" y="16002"/>
                    </a:cubicBezTo>
                    <a:close/>
                    <a:moveTo>
                      <a:pt x="72779" y="15724"/>
                    </a:moveTo>
                    <a:cubicBezTo>
                      <a:pt x="72779" y="22126"/>
                      <a:pt x="69163" y="37850"/>
                      <a:pt x="58031" y="37850"/>
                    </a:cubicBezTo>
                    <a:cubicBezTo>
                      <a:pt x="55106" y="37850"/>
                      <a:pt x="52880" y="37294"/>
                      <a:pt x="50653" y="37294"/>
                    </a:cubicBezTo>
                    <a:cubicBezTo>
                      <a:pt x="46895" y="37294"/>
                      <a:pt x="44252" y="40497"/>
                      <a:pt x="44252" y="43001"/>
                    </a:cubicBezTo>
                    <a:cubicBezTo>
                      <a:pt x="44252" y="44529"/>
                      <a:pt x="45367" y="45784"/>
                      <a:pt x="47871" y="45784"/>
                    </a:cubicBezTo>
                    <a:cubicBezTo>
                      <a:pt x="51768" y="45784"/>
                      <a:pt x="52741" y="45089"/>
                      <a:pt x="55944" y="45089"/>
                    </a:cubicBezTo>
                    <a:cubicBezTo>
                      <a:pt x="62901" y="45089"/>
                      <a:pt x="65961" y="52602"/>
                      <a:pt x="65961" y="60396"/>
                    </a:cubicBezTo>
                    <a:cubicBezTo>
                      <a:pt x="65961" y="74311"/>
                      <a:pt x="57610" y="87114"/>
                      <a:pt x="42724" y="87114"/>
                    </a:cubicBezTo>
                    <a:cubicBezTo>
                      <a:pt x="33258" y="87114"/>
                      <a:pt x="27134" y="82244"/>
                      <a:pt x="27134" y="74172"/>
                    </a:cubicBezTo>
                    <a:cubicBezTo>
                      <a:pt x="27134" y="72501"/>
                      <a:pt x="27412" y="70695"/>
                      <a:pt x="27972" y="68747"/>
                    </a:cubicBezTo>
                    <a:lnTo>
                      <a:pt x="40497" y="24074"/>
                    </a:lnTo>
                    <a:cubicBezTo>
                      <a:pt x="43001" y="15030"/>
                      <a:pt x="49403" y="3897"/>
                      <a:pt x="61924" y="3897"/>
                    </a:cubicBezTo>
                    <a:cubicBezTo>
                      <a:pt x="69858" y="3897"/>
                      <a:pt x="72779" y="9323"/>
                      <a:pt x="72779" y="15724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price_sum_outline_9"/>
              <p:cNvSpPr/>
              <p:nvPr/>
            </p:nvSpPr>
            <p:spPr>
              <a:xfrm>
                <a:off x="3235434" y="175307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6" name="feedback_cost"/>
            <p:cNvGrpSpPr/>
            <p:nvPr/>
          </p:nvGrpSpPr>
          <p:grpSpPr>
            <a:xfrm>
              <a:off x="1590887" y="1711541"/>
              <a:ext cx="416643" cy="133291"/>
              <a:chOff x="1590887" y="1711541"/>
              <a:chExt cx="416643" cy="133291"/>
            </a:xfrm>
          </p:grpSpPr>
          <p:sp>
            <p:nvSpPr>
              <p:cNvPr id="147" name="feedback_cost_outline_0"/>
              <p:cNvSpPr/>
              <p:nvPr/>
            </p:nvSpPr>
            <p:spPr>
              <a:xfrm>
                <a:off x="1621377" y="1711541"/>
                <a:ext cx="41310" cy="7171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7172">
                    <a:moveTo>
                      <a:pt x="41311" y="7172"/>
                    </a:moveTo>
                    <a:lnTo>
                      <a:pt x="41311" y="0"/>
                    </a:lnTo>
                    <a:lnTo>
                      <a:pt x="0" y="0"/>
                    </a:lnTo>
                    <a:lnTo>
                      <a:pt x="0" y="7172"/>
                    </a:lnTo>
                    <a:lnTo>
                      <a:pt x="41311" y="7172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feedback_cost_outline_1"/>
              <p:cNvSpPr/>
              <p:nvPr/>
            </p:nvSpPr>
            <p:spPr>
              <a:xfrm>
                <a:off x="1590887" y="1733797"/>
                <a:ext cx="66020" cy="89130"/>
              </a:xfrm>
              <a:custGeom>
                <a:avLst/>
                <a:gdLst/>
                <a:ahLst/>
                <a:cxnLst/>
                <a:rect l="0" t="0" r="r" b="b"/>
                <a:pathLst>
                  <a:path w="66020" h="89130">
                    <a:moveTo>
                      <a:pt x="66020" y="2123"/>
                    </a:moveTo>
                    <a:lnTo>
                      <a:pt x="66020" y="0"/>
                    </a:lnTo>
                    <a:lnTo>
                      <a:pt x="32278" y="0"/>
                    </a:lnTo>
                    <a:lnTo>
                      <a:pt x="32278" y="2123"/>
                    </a:lnTo>
                    <a:cubicBezTo>
                      <a:pt x="40648" y="2921"/>
                      <a:pt x="42509" y="3985"/>
                      <a:pt x="42509" y="7572"/>
                    </a:cubicBezTo>
                    <a:cubicBezTo>
                      <a:pt x="42509" y="9565"/>
                      <a:pt x="41977" y="12220"/>
                      <a:pt x="40914" y="16074"/>
                    </a:cubicBezTo>
                    <a:lnTo>
                      <a:pt x="23511" y="77839"/>
                    </a:lnTo>
                    <a:cubicBezTo>
                      <a:pt x="22050" y="83022"/>
                      <a:pt x="20193" y="85015"/>
                      <a:pt x="17002" y="85015"/>
                    </a:cubicBezTo>
                    <a:cubicBezTo>
                      <a:pt x="13815" y="85015"/>
                      <a:pt x="12355" y="83419"/>
                      <a:pt x="12355" y="79700"/>
                    </a:cubicBezTo>
                    <a:cubicBezTo>
                      <a:pt x="12355" y="79038"/>
                      <a:pt x="12355" y="78371"/>
                      <a:pt x="12486" y="77708"/>
                    </a:cubicBezTo>
                    <a:lnTo>
                      <a:pt x="12486" y="76514"/>
                    </a:lnTo>
                    <a:cubicBezTo>
                      <a:pt x="12486" y="73192"/>
                      <a:pt x="9565" y="70271"/>
                      <a:pt x="5977" y="70271"/>
                    </a:cubicBezTo>
                    <a:cubicBezTo>
                      <a:pt x="2393" y="70271"/>
                      <a:pt x="0" y="73192"/>
                      <a:pt x="0" y="77442"/>
                    </a:cubicBezTo>
                    <a:cubicBezTo>
                      <a:pt x="0" y="84483"/>
                      <a:pt x="6243" y="89130"/>
                      <a:pt x="15542" y="89130"/>
                    </a:cubicBezTo>
                    <a:cubicBezTo>
                      <a:pt x="22316" y="89130"/>
                      <a:pt x="28293" y="86475"/>
                      <a:pt x="32413" y="81562"/>
                    </a:cubicBezTo>
                    <a:cubicBezTo>
                      <a:pt x="36001" y="77311"/>
                      <a:pt x="38656" y="71330"/>
                      <a:pt x="41446" y="61238"/>
                    </a:cubicBezTo>
                    <a:lnTo>
                      <a:pt x="55126" y="11954"/>
                    </a:lnTo>
                    <a:cubicBezTo>
                      <a:pt x="57519" y="3985"/>
                      <a:pt x="58448" y="3187"/>
                      <a:pt x="66020" y="2123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feedback_cost_outline_2"/>
              <p:cNvSpPr/>
              <p:nvPr/>
            </p:nvSpPr>
            <p:spPr>
              <a:xfrm>
                <a:off x="1656996" y="177282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3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feedback_cost_outline_3"/>
              <p:cNvSpPr/>
              <p:nvPr/>
            </p:nvSpPr>
            <p:spPr>
              <a:xfrm>
                <a:off x="1756435" y="1782680"/>
                <a:ext cx="68012" cy="7437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7437">
                    <a:moveTo>
                      <a:pt x="68013" y="7437"/>
                    </a:moveTo>
                    <a:lnTo>
                      <a:pt x="68013" y="0"/>
                    </a:lnTo>
                    <a:lnTo>
                      <a:pt x="0" y="0"/>
                    </a:lnTo>
                    <a:lnTo>
                      <a:pt x="0" y="7437"/>
                    </a:lnTo>
                    <a:lnTo>
                      <a:pt x="68013" y="7437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feedback_cost_outline_4"/>
              <p:cNvSpPr/>
              <p:nvPr/>
            </p:nvSpPr>
            <p:spPr>
              <a:xfrm>
                <a:off x="1866337" y="1733797"/>
                <a:ext cx="79168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79169" h="86741">
                    <a:moveTo>
                      <a:pt x="72660" y="60174"/>
                    </a:moveTo>
                    <a:cubicBezTo>
                      <a:pt x="72660" y="50479"/>
                      <a:pt x="68544" y="45561"/>
                      <a:pt x="55924" y="40116"/>
                    </a:cubicBezTo>
                    <a:cubicBezTo>
                      <a:pt x="65357" y="37858"/>
                      <a:pt x="69207" y="36263"/>
                      <a:pt x="73458" y="32544"/>
                    </a:cubicBezTo>
                    <a:cubicBezTo>
                      <a:pt x="77176" y="29357"/>
                      <a:pt x="79169" y="24971"/>
                      <a:pt x="79169" y="19526"/>
                    </a:cubicBezTo>
                    <a:cubicBezTo>
                      <a:pt x="79169" y="6906"/>
                      <a:pt x="69739" y="0"/>
                      <a:pt x="52602" y="0"/>
                    </a:cubicBezTo>
                    <a:lnTo>
                      <a:pt x="18332" y="0"/>
                    </a:lnTo>
                    <a:lnTo>
                      <a:pt x="18332" y="2123"/>
                    </a:lnTo>
                    <a:cubicBezTo>
                      <a:pt x="26702" y="2790"/>
                      <a:pt x="28559" y="3719"/>
                      <a:pt x="28559" y="7572"/>
                    </a:cubicBezTo>
                    <a:cubicBezTo>
                      <a:pt x="28559" y="9565"/>
                      <a:pt x="28027" y="12752"/>
                      <a:pt x="27099" y="16074"/>
                    </a:cubicBezTo>
                    <a:lnTo>
                      <a:pt x="10759" y="74787"/>
                    </a:lnTo>
                    <a:cubicBezTo>
                      <a:pt x="8370" y="82491"/>
                      <a:pt x="7441" y="83288"/>
                      <a:pt x="0" y="84614"/>
                    </a:cubicBezTo>
                    <a:lnTo>
                      <a:pt x="0" y="86741"/>
                    </a:lnTo>
                    <a:lnTo>
                      <a:pt x="37461" y="86741"/>
                    </a:lnTo>
                    <a:cubicBezTo>
                      <a:pt x="58317" y="86741"/>
                      <a:pt x="72660" y="75982"/>
                      <a:pt x="72660" y="60174"/>
                    </a:cubicBezTo>
                    <a:close/>
                    <a:moveTo>
                      <a:pt x="58317" y="59642"/>
                    </a:moveTo>
                    <a:cubicBezTo>
                      <a:pt x="58317" y="73989"/>
                      <a:pt x="48486" y="82756"/>
                      <a:pt x="32278" y="82756"/>
                    </a:cubicBezTo>
                    <a:cubicBezTo>
                      <a:pt x="26702" y="82756"/>
                      <a:pt x="23777" y="80895"/>
                      <a:pt x="23777" y="77176"/>
                    </a:cubicBezTo>
                    <a:cubicBezTo>
                      <a:pt x="23777" y="75450"/>
                      <a:pt x="25372" y="69207"/>
                      <a:pt x="28428" y="58579"/>
                    </a:cubicBezTo>
                    <a:lnTo>
                      <a:pt x="32679" y="42771"/>
                    </a:lnTo>
                    <a:cubicBezTo>
                      <a:pt x="41049" y="42771"/>
                      <a:pt x="46760" y="43303"/>
                      <a:pt x="49415" y="44367"/>
                    </a:cubicBezTo>
                    <a:cubicBezTo>
                      <a:pt x="54995" y="46494"/>
                      <a:pt x="58317" y="52336"/>
                      <a:pt x="58317" y="59642"/>
                    </a:cubicBezTo>
                    <a:close/>
                    <a:moveTo>
                      <a:pt x="65754" y="18332"/>
                    </a:moveTo>
                    <a:cubicBezTo>
                      <a:pt x="65754" y="32012"/>
                      <a:pt x="56852" y="38521"/>
                      <a:pt x="38525" y="38521"/>
                    </a:cubicBezTo>
                    <a:lnTo>
                      <a:pt x="34008" y="38521"/>
                    </a:lnTo>
                    <a:lnTo>
                      <a:pt x="42640" y="7703"/>
                    </a:lnTo>
                    <a:cubicBezTo>
                      <a:pt x="43438" y="4782"/>
                      <a:pt x="45033" y="3985"/>
                      <a:pt x="50213" y="3985"/>
                    </a:cubicBezTo>
                    <a:cubicBezTo>
                      <a:pt x="60972" y="3985"/>
                      <a:pt x="65754" y="8501"/>
                      <a:pt x="65754" y="1833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feedback_cost_outline_5"/>
              <p:cNvSpPr/>
              <p:nvPr/>
            </p:nvSpPr>
            <p:spPr>
              <a:xfrm>
                <a:off x="1956893" y="177282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3" name="pi_next"/>
            <p:cNvGrpSpPr/>
            <p:nvPr/>
          </p:nvGrpSpPr>
          <p:grpSpPr>
            <a:xfrm>
              <a:off x="3393976" y="1964321"/>
              <a:ext cx="221282" cy="83092"/>
              <a:chOff x="3393976" y="1964321"/>
              <a:chExt cx="221282" cy="83092"/>
            </a:xfrm>
          </p:grpSpPr>
          <p:sp>
            <p:nvSpPr>
              <p:cNvPr id="154" name="pi_next_outline_0"/>
              <p:cNvSpPr/>
              <p:nvPr/>
            </p:nvSpPr>
            <p:spPr>
              <a:xfrm>
                <a:off x="3393976" y="1964321"/>
                <a:ext cx="68810" cy="60039"/>
              </a:xfrm>
              <a:custGeom>
                <a:avLst/>
                <a:gdLst/>
                <a:ahLst/>
                <a:cxnLst/>
                <a:rect l="0" t="0" r="r" b="b"/>
                <a:pathLst>
                  <a:path w="68810" h="60039">
                    <a:moveTo>
                      <a:pt x="68810" y="0"/>
                    </a:moveTo>
                    <a:lnTo>
                      <a:pt x="22848" y="0"/>
                    </a:lnTo>
                    <a:cubicBezTo>
                      <a:pt x="10628" y="0"/>
                      <a:pt x="3322" y="14609"/>
                      <a:pt x="2258" y="17133"/>
                    </a:cubicBezTo>
                    <a:lnTo>
                      <a:pt x="3723" y="17133"/>
                    </a:lnTo>
                    <a:cubicBezTo>
                      <a:pt x="4385" y="16204"/>
                      <a:pt x="9299" y="9696"/>
                      <a:pt x="16208" y="9696"/>
                    </a:cubicBezTo>
                    <a:lnTo>
                      <a:pt x="23114" y="9696"/>
                    </a:lnTo>
                    <a:lnTo>
                      <a:pt x="13815" y="37723"/>
                    </a:lnTo>
                    <a:cubicBezTo>
                      <a:pt x="10894" y="46490"/>
                      <a:pt x="0" y="46891"/>
                      <a:pt x="0" y="55924"/>
                    </a:cubicBezTo>
                    <a:lnTo>
                      <a:pt x="0" y="56586"/>
                    </a:lnTo>
                    <a:cubicBezTo>
                      <a:pt x="0" y="58845"/>
                      <a:pt x="1730" y="60039"/>
                      <a:pt x="4917" y="60039"/>
                    </a:cubicBezTo>
                    <a:cubicBezTo>
                      <a:pt x="9966" y="60039"/>
                      <a:pt x="14748" y="56852"/>
                      <a:pt x="21257" y="37989"/>
                    </a:cubicBezTo>
                    <a:lnTo>
                      <a:pt x="30952" y="9696"/>
                    </a:lnTo>
                    <a:lnTo>
                      <a:pt x="44367" y="9696"/>
                    </a:lnTo>
                    <a:lnTo>
                      <a:pt x="37858" y="38255"/>
                    </a:lnTo>
                    <a:cubicBezTo>
                      <a:pt x="36929" y="42109"/>
                      <a:pt x="36397" y="45426"/>
                      <a:pt x="36397" y="48085"/>
                    </a:cubicBezTo>
                    <a:lnTo>
                      <a:pt x="36397" y="49280"/>
                    </a:lnTo>
                    <a:cubicBezTo>
                      <a:pt x="36397" y="54991"/>
                      <a:pt x="40382" y="60039"/>
                      <a:pt x="46891" y="60039"/>
                    </a:cubicBezTo>
                    <a:cubicBezTo>
                      <a:pt x="49947" y="60039"/>
                      <a:pt x="53534" y="59111"/>
                      <a:pt x="53534" y="54725"/>
                    </a:cubicBezTo>
                    <a:lnTo>
                      <a:pt x="53534" y="54193"/>
                    </a:lnTo>
                    <a:cubicBezTo>
                      <a:pt x="53534" y="46359"/>
                      <a:pt x="45565" y="47423"/>
                      <a:pt x="45565" y="39981"/>
                    </a:cubicBezTo>
                    <a:cubicBezTo>
                      <a:pt x="45565" y="38918"/>
                      <a:pt x="45696" y="37723"/>
                      <a:pt x="46097" y="36262"/>
                    </a:cubicBezTo>
                    <a:lnTo>
                      <a:pt x="52606" y="9696"/>
                    </a:lnTo>
                    <a:lnTo>
                      <a:pt x="66552" y="9696"/>
                    </a:lnTo>
                    <a:lnTo>
                      <a:pt x="68810" y="0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pi_next_outline_1"/>
              <p:cNvSpPr/>
              <p:nvPr/>
            </p:nvSpPr>
            <p:spPr>
              <a:xfrm>
                <a:off x="3470721" y="198941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8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6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8" y="12244"/>
                    </a:lnTo>
                    <a:lnTo>
                      <a:pt x="20233" y="12244"/>
                    </a:lnTo>
                    <a:lnTo>
                      <a:pt x="22932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4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pi_next_outline_2"/>
              <p:cNvSpPr/>
              <p:nvPr/>
            </p:nvSpPr>
            <p:spPr>
              <a:xfrm>
                <a:off x="3514821" y="1992732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pi_next_outline_3"/>
              <p:cNvSpPr/>
              <p:nvPr/>
            </p:nvSpPr>
            <p:spPr>
              <a:xfrm>
                <a:off x="3585894" y="1975921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61" name="objective_view_0" descr="Editable line; source id objective_view_0"/>
          <p:cNvSpPr/>
          <p:nvPr/>
        </p:nvSpPr>
        <p:spPr>
          <a:xfrm>
            <a:off x="1143000" y="1774825"/>
            <a:ext cx="76200" cy="31750"/>
          </a:xfrm>
          <a:custGeom>
            <a:avLst/>
            <a:gdLst/>
            <a:ahLst/>
            <a:cxnLst/>
            <a:rect l="l" t="t" r="r" b="b"/>
            <a:pathLst>
              <a:path w="30000" h="12500">
                <a:moveTo>
                  <a:pt x="30000" y="8250"/>
                </a:moveTo>
                <a:lnTo>
                  <a:pt x="16500" y="8250"/>
                </a:lnTo>
                <a:lnTo>
                  <a:pt x="16500" y="12500"/>
                </a:lnTo>
                <a:lnTo>
                  <a:pt x="0" y="6250"/>
                </a:lnTo>
                <a:lnTo>
                  <a:pt x="16500" y="0"/>
                </a:lnTo>
                <a:lnTo>
                  <a:pt x="16500" y="4250"/>
                </a:lnTo>
                <a:lnTo>
                  <a:pt x="30000" y="4250"/>
                </a:lnTo>
                <a:close/>
              </a:path>
            </a:pathLst>
          </a:custGeom>
          <a:solidFill>
            <a:srgbClr val="126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10" name="module_constraints"/>
          <p:cNvGrpSpPr/>
          <p:nvPr/>
        </p:nvGrpSpPr>
        <p:grpSpPr>
          <a:xfrm>
            <a:off x="3924299" y="38100"/>
            <a:ext cx="1066799" cy="2108200"/>
            <a:chOff x="3924299" y="38100"/>
            <a:chExt cx="1066799" cy="2108200"/>
          </a:xfrm>
        </p:grpSpPr>
        <p:sp>
          <p:nvSpPr>
            <p:cNvPr id="62" name="constraints" descr="Editable shape; source id constraints"/>
            <p:cNvSpPr/>
            <p:nvPr/>
          </p:nvSpPr>
          <p:spPr>
            <a:xfrm>
              <a:off x="3924299" y="38100"/>
              <a:ext cx="1066799" cy="21082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1429">
              <a:solidFill>
                <a:srgbClr val="264C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constraints_title" descr="Editable text; source id constraints_title"/>
            <p:cNvSpPr txBox="1"/>
            <p:nvPr/>
          </p:nvSpPr>
          <p:spPr>
            <a:xfrm>
              <a:off x="3962400" y="88899"/>
              <a:ext cx="990599" cy="15024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46"/>
                </a:lnSpc>
                <a:spcBef>
                  <a:spcPts val="0"/>
                </a:spcBef>
                <a:spcAft>
                  <a:spcPts val="0"/>
                </a:spcAft>
                <a:def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Constraint view</a:t>
              </a:r>
            </a:p>
          </p:txBody>
        </p:sp>
        <p:sp>
          <p:nvSpPr>
            <p:cNvPr id="64" name="constraints_sub" descr="Editable text; source id constraints_sub"/>
            <p:cNvSpPr txBox="1"/>
            <p:nvPr/>
          </p:nvSpPr>
          <p:spPr>
            <a:xfrm>
              <a:off x="3962400" y="279400"/>
              <a:ext cx="990599" cy="253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Budgets bound</a:t>
              </a:r>
            </a:p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flow costs</a:t>
              </a:r>
            </a:p>
          </p:txBody>
        </p:sp>
        <p:sp>
          <p:nvSpPr>
            <p:cNvPr id="65" name="feasible" descr="Editable shape; source id feasible"/>
            <p:cNvSpPr/>
            <p:nvPr/>
          </p:nvSpPr>
          <p:spPr>
            <a:xfrm>
              <a:off x="4178300" y="800099"/>
              <a:ext cx="609600" cy="774699"/>
            </a:xfrm>
            <a:prstGeom prst="rect">
              <a:avLst/>
            </a:prstGeom>
            <a:solidFill>
              <a:srgbClr val="EDF3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axisx_0" descr="Editable line; source id axisx_0"/>
            <p:cNvSpPr/>
            <p:nvPr/>
          </p:nvSpPr>
          <p:spPr>
            <a:xfrm>
              <a:off x="4152900" y="1571625"/>
              <a:ext cx="736600" cy="31750"/>
            </a:xfrm>
            <a:custGeom>
              <a:avLst/>
              <a:gdLst/>
              <a:ahLst/>
              <a:cxnLst/>
              <a:rect l="l" t="t" r="r" b="b"/>
              <a:pathLst>
                <a:path w="290000" h="12500">
                  <a:moveTo>
                    <a:pt x="0" y="4500"/>
                  </a:moveTo>
                  <a:lnTo>
                    <a:pt x="273500" y="4500"/>
                  </a:lnTo>
                  <a:lnTo>
                    <a:pt x="273500" y="0"/>
                  </a:lnTo>
                  <a:lnTo>
                    <a:pt x="290000" y="6250"/>
                  </a:lnTo>
                  <a:lnTo>
                    <a:pt x="273500" y="12500"/>
                  </a:lnTo>
                  <a:lnTo>
                    <a:pt x="2735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axisy_0" descr="Editable line; source id axisy_0"/>
            <p:cNvSpPr/>
            <p:nvPr/>
          </p:nvSpPr>
          <p:spPr>
            <a:xfrm>
              <a:off x="4162425" y="673100"/>
              <a:ext cx="31750" cy="952500"/>
            </a:xfrm>
            <a:custGeom>
              <a:avLst/>
              <a:gdLst/>
              <a:ahLst/>
              <a:cxnLst/>
              <a:rect l="l" t="t" r="r" b="b"/>
              <a:pathLst>
                <a:path w="12500" h="375000">
                  <a:moveTo>
                    <a:pt x="4500" y="375000"/>
                  </a:moveTo>
                  <a:lnTo>
                    <a:pt x="4500" y="16500"/>
                  </a:lnTo>
                  <a:lnTo>
                    <a:pt x="0" y="16500"/>
                  </a:lnTo>
                  <a:lnTo>
                    <a:pt x="6250" y="0"/>
                  </a:lnTo>
                  <a:lnTo>
                    <a:pt x="12500" y="16500"/>
                  </a:lnTo>
                  <a:lnTo>
                    <a:pt x="8000" y="16500"/>
                  </a:lnTo>
                  <a:lnTo>
                    <a:pt x="8000" y="375000"/>
                  </a:lnTo>
                  <a:close/>
                </a:path>
              </a:pathLst>
            </a:custGeom>
            <a:solidFill>
              <a:srgbClr val="264C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boundx_0" descr="Editable line; source id boundx_0"/>
            <p:cNvCxnSpPr/>
            <p:nvPr/>
          </p:nvCxnSpPr>
          <p:spPr>
            <a:xfrm>
              <a:off x="4787900" y="800099"/>
              <a:ext cx="0" cy="787400"/>
            </a:xfrm>
            <a:prstGeom prst="line">
              <a:avLst/>
            </a:prstGeom>
            <a:ln w="8254">
              <a:solidFill>
                <a:srgbClr val="264C70"/>
              </a:solidFill>
              <a:custDash>
                <a:ds d="307692" sp="27692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boundy_0" descr="Editable line; source id boundy_0"/>
            <p:cNvCxnSpPr/>
            <p:nvPr/>
          </p:nvCxnSpPr>
          <p:spPr>
            <a:xfrm>
              <a:off x="4178300" y="800099"/>
              <a:ext cx="609600" cy="0"/>
            </a:xfrm>
            <a:prstGeom prst="line">
              <a:avLst/>
            </a:prstGeom>
            <a:ln w="8254">
              <a:solidFill>
                <a:srgbClr val="264C70"/>
              </a:solidFill>
              <a:custDash>
                <a:ds d="307692" sp="27692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slack" descr="Editable text; source id slack"/>
            <p:cNvSpPr txBox="1"/>
            <p:nvPr/>
          </p:nvSpPr>
          <p:spPr>
            <a:xfrm>
              <a:off x="4381499" y="609600"/>
              <a:ext cx="3555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64717C"/>
                  </a:solidFill>
                  <a:latin typeface="Liberation Sans"/>
                  <a:ea typeface="Liberation Sans"/>
                  <a:cs typeface="Liberation Sans"/>
                </a:rPr>
                <a:t>slack</a:t>
              </a:r>
            </a:p>
          </p:txBody>
        </p:sp>
        <p:sp>
          <p:nvSpPr>
            <p:cNvPr id="71" name="binding" descr="Editable text; source id binding"/>
            <p:cNvSpPr txBox="1"/>
            <p:nvPr/>
          </p:nvSpPr>
          <p:spPr>
            <a:xfrm>
              <a:off x="4368799" y="1269999"/>
              <a:ext cx="419099" cy="1269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binding</a:t>
              </a:r>
            </a:p>
          </p:txBody>
        </p:sp>
        <p:sp>
          <p:nvSpPr>
            <p:cNvPr id="72" name="optimal" descr="Editable shape; source id optimal"/>
            <p:cNvSpPr/>
            <p:nvPr/>
          </p:nvSpPr>
          <p:spPr>
            <a:xfrm>
              <a:off x="4761229" y="1129029"/>
              <a:ext cx="53339" cy="53339"/>
            </a:xfrm>
            <a:prstGeom prst="ellipse">
              <a:avLst/>
            </a:prstGeom>
            <a:solidFill>
              <a:srgbClr val="126D69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58" name="Fstar"/>
            <p:cNvGrpSpPr/>
            <p:nvPr/>
          </p:nvGrpSpPr>
          <p:grpSpPr>
            <a:xfrm>
              <a:off x="4750146" y="975143"/>
              <a:ext cx="131175" cy="94926"/>
              <a:chOff x="4750146" y="975143"/>
              <a:chExt cx="131175" cy="94926"/>
            </a:xfrm>
          </p:grpSpPr>
          <p:sp>
            <p:nvSpPr>
              <p:cNvPr id="159" name="Fstar_outline_0"/>
              <p:cNvSpPr/>
              <p:nvPr/>
            </p:nvSpPr>
            <p:spPr>
              <a:xfrm>
                <a:off x="4750146" y="983329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1"/>
                      <a:pt x="50875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Fstar_outline_1"/>
              <p:cNvSpPr/>
              <p:nvPr/>
            </p:nvSpPr>
            <p:spPr>
              <a:xfrm>
                <a:off x="4845317" y="975143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1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1" name="b1"/>
            <p:cNvGrpSpPr/>
            <p:nvPr/>
          </p:nvGrpSpPr>
          <p:grpSpPr>
            <a:xfrm>
              <a:off x="4759523" y="1644329"/>
              <a:ext cx="109173" cy="113889"/>
              <a:chOff x="4759523" y="1644329"/>
              <a:chExt cx="109173" cy="113889"/>
            </a:xfrm>
          </p:grpSpPr>
          <p:sp>
            <p:nvSpPr>
              <p:cNvPr id="162" name="b1_outline_0"/>
              <p:cNvSpPr/>
              <p:nvPr/>
            </p:nvSpPr>
            <p:spPr>
              <a:xfrm>
                <a:off x="4759523" y="1644329"/>
                <a:ext cx="59773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773" h="92186">
                    <a:moveTo>
                      <a:pt x="59773" y="48085"/>
                    </a:moveTo>
                    <a:cubicBezTo>
                      <a:pt x="59773" y="38787"/>
                      <a:pt x="53265" y="32147"/>
                      <a:pt x="44367" y="32147"/>
                    </a:cubicBezTo>
                    <a:cubicBezTo>
                      <a:pt x="35068" y="32147"/>
                      <a:pt x="28158" y="37592"/>
                      <a:pt x="18728" y="52205"/>
                    </a:cubicBezTo>
                    <a:lnTo>
                      <a:pt x="32544" y="663"/>
                    </a:lnTo>
                    <a:lnTo>
                      <a:pt x="31881" y="0"/>
                    </a:lnTo>
                    <a:cubicBezTo>
                      <a:pt x="25237" y="1195"/>
                      <a:pt x="20455" y="1992"/>
                      <a:pt x="11557" y="3056"/>
                    </a:cubicBezTo>
                    <a:lnTo>
                      <a:pt x="11557" y="5314"/>
                    </a:lnTo>
                    <a:cubicBezTo>
                      <a:pt x="19391" y="5580"/>
                      <a:pt x="20189" y="5977"/>
                      <a:pt x="20189" y="8898"/>
                    </a:cubicBezTo>
                    <a:cubicBezTo>
                      <a:pt x="20189" y="10096"/>
                      <a:pt x="19923" y="11557"/>
                      <a:pt x="18994" y="14613"/>
                    </a:cubicBezTo>
                    <a:lnTo>
                      <a:pt x="18332" y="17137"/>
                    </a:lnTo>
                    <a:lnTo>
                      <a:pt x="18066" y="18066"/>
                    </a:lnTo>
                    <a:lnTo>
                      <a:pt x="0" y="84614"/>
                    </a:lnTo>
                    <a:lnTo>
                      <a:pt x="0" y="85146"/>
                    </a:lnTo>
                    <a:cubicBezTo>
                      <a:pt x="0" y="88202"/>
                      <a:pt x="10097" y="92186"/>
                      <a:pt x="17665" y="92186"/>
                    </a:cubicBezTo>
                    <a:cubicBezTo>
                      <a:pt x="37723" y="92186"/>
                      <a:pt x="59773" y="69072"/>
                      <a:pt x="59773" y="48085"/>
                    </a:cubicBezTo>
                    <a:close/>
                    <a:moveTo>
                      <a:pt x="48482" y="50078"/>
                    </a:moveTo>
                    <a:cubicBezTo>
                      <a:pt x="48482" y="58845"/>
                      <a:pt x="41842" y="73057"/>
                      <a:pt x="33873" y="81296"/>
                    </a:cubicBezTo>
                    <a:cubicBezTo>
                      <a:pt x="28956" y="86340"/>
                      <a:pt x="23245" y="89130"/>
                      <a:pt x="17534" y="89130"/>
                    </a:cubicBezTo>
                    <a:cubicBezTo>
                      <a:pt x="13414" y="89130"/>
                      <a:pt x="11422" y="87670"/>
                      <a:pt x="11422" y="84614"/>
                    </a:cubicBezTo>
                    <a:cubicBezTo>
                      <a:pt x="11422" y="76644"/>
                      <a:pt x="15407" y="63893"/>
                      <a:pt x="20987" y="53931"/>
                    </a:cubicBezTo>
                    <a:cubicBezTo>
                      <a:pt x="26833" y="43704"/>
                      <a:pt x="32810" y="38656"/>
                      <a:pt x="39187" y="38656"/>
                    </a:cubicBezTo>
                    <a:cubicBezTo>
                      <a:pt x="45029" y="38656"/>
                      <a:pt x="48482" y="43037"/>
                      <a:pt x="48482" y="5007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b1_outline_1"/>
              <p:cNvSpPr/>
              <p:nvPr/>
            </p:nvSpPr>
            <p:spPr>
              <a:xfrm>
                <a:off x="4839332" y="1688075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4" name="b2"/>
            <p:cNvGrpSpPr/>
            <p:nvPr/>
          </p:nvGrpSpPr>
          <p:grpSpPr>
            <a:xfrm>
              <a:off x="3997523" y="742629"/>
              <a:ext cx="117580" cy="113889"/>
              <a:chOff x="3997523" y="742629"/>
              <a:chExt cx="117580" cy="113889"/>
            </a:xfrm>
          </p:grpSpPr>
          <p:sp>
            <p:nvSpPr>
              <p:cNvPr id="165" name="b2_outline_0"/>
              <p:cNvSpPr/>
              <p:nvPr/>
            </p:nvSpPr>
            <p:spPr>
              <a:xfrm>
                <a:off x="3997523" y="742629"/>
                <a:ext cx="59773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773" h="92186">
                    <a:moveTo>
                      <a:pt x="59773" y="48085"/>
                    </a:moveTo>
                    <a:cubicBezTo>
                      <a:pt x="59773" y="38787"/>
                      <a:pt x="53265" y="32147"/>
                      <a:pt x="44367" y="32147"/>
                    </a:cubicBezTo>
                    <a:cubicBezTo>
                      <a:pt x="35068" y="32147"/>
                      <a:pt x="28158" y="37592"/>
                      <a:pt x="18728" y="52205"/>
                    </a:cubicBezTo>
                    <a:lnTo>
                      <a:pt x="32544" y="663"/>
                    </a:lnTo>
                    <a:lnTo>
                      <a:pt x="31881" y="0"/>
                    </a:lnTo>
                    <a:cubicBezTo>
                      <a:pt x="25237" y="1195"/>
                      <a:pt x="20455" y="1992"/>
                      <a:pt x="11557" y="3056"/>
                    </a:cubicBezTo>
                    <a:lnTo>
                      <a:pt x="11557" y="5314"/>
                    </a:lnTo>
                    <a:cubicBezTo>
                      <a:pt x="19391" y="5580"/>
                      <a:pt x="20189" y="5977"/>
                      <a:pt x="20189" y="8898"/>
                    </a:cubicBezTo>
                    <a:cubicBezTo>
                      <a:pt x="20189" y="10096"/>
                      <a:pt x="19923" y="11557"/>
                      <a:pt x="18994" y="14613"/>
                    </a:cubicBezTo>
                    <a:lnTo>
                      <a:pt x="18332" y="17137"/>
                    </a:lnTo>
                    <a:lnTo>
                      <a:pt x="18066" y="18066"/>
                    </a:lnTo>
                    <a:lnTo>
                      <a:pt x="0" y="84614"/>
                    </a:lnTo>
                    <a:lnTo>
                      <a:pt x="0" y="85146"/>
                    </a:lnTo>
                    <a:cubicBezTo>
                      <a:pt x="0" y="88202"/>
                      <a:pt x="10097" y="92186"/>
                      <a:pt x="17665" y="92186"/>
                    </a:cubicBezTo>
                    <a:cubicBezTo>
                      <a:pt x="37723" y="92186"/>
                      <a:pt x="59773" y="69072"/>
                      <a:pt x="59773" y="48085"/>
                    </a:cubicBezTo>
                    <a:close/>
                    <a:moveTo>
                      <a:pt x="48482" y="50078"/>
                    </a:moveTo>
                    <a:cubicBezTo>
                      <a:pt x="48482" y="58845"/>
                      <a:pt x="41842" y="73057"/>
                      <a:pt x="33873" y="81296"/>
                    </a:cubicBezTo>
                    <a:cubicBezTo>
                      <a:pt x="28956" y="86340"/>
                      <a:pt x="23245" y="89130"/>
                      <a:pt x="17534" y="89130"/>
                    </a:cubicBezTo>
                    <a:cubicBezTo>
                      <a:pt x="13414" y="89130"/>
                      <a:pt x="11422" y="87670"/>
                      <a:pt x="11422" y="84614"/>
                    </a:cubicBezTo>
                    <a:cubicBezTo>
                      <a:pt x="11422" y="76644"/>
                      <a:pt x="15407" y="63893"/>
                      <a:pt x="20987" y="53931"/>
                    </a:cubicBezTo>
                    <a:cubicBezTo>
                      <a:pt x="26833" y="43704"/>
                      <a:pt x="32810" y="38656"/>
                      <a:pt x="39187" y="38656"/>
                    </a:cubicBezTo>
                    <a:cubicBezTo>
                      <a:pt x="45029" y="38656"/>
                      <a:pt x="48482" y="43037"/>
                      <a:pt x="48482" y="5007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b2_outline_1"/>
              <p:cNvSpPr/>
              <p:nvPr/>
            </p:nvSpPr>
            <p:spPr>
              <a:xfrm>
                <a:off x="4068927" y="786375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7" name="active_dual"/>
            <p:cNvGrpSpPr/>
            <p:nvPr/>
          </p:nvGrpSpPr>
          <p:grpSpPr>
            <a:xfrm>
              <a:off x="4014012" y="1889161"/>
              <a:ext cx="897271" cy="146489"/>
              <a:chOff x="4014012" y="1889161"/>
              <a:chExt cx="897271" cy="146489"/>
            </a:xfrm>
          </p:grpSpPr>
          <p:sp>
            <p:nvSpPr>
              <p:cNvPr id="168" name="active_dual_outline_0"/>
              <p:cNvSpPr/>
              <p:nvPr/>
            </p:nvSpPr>
            <p:spPr>
              <a:xfrm>
                <a:off x="4014012" y="1897069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4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active_dual_outline_1"/>
              <p:cNvSpPr/>
              <p:nvPr/>
            </p:nvSpPr>
            <p:spPr>
              <a:xfrm>
                <a:off x="4091851" y="1889161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1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active_dual_outline_2"/>
              <p:cNvSpPr/>
              <p:nvPr/>
            </p:nvSpPr>
            <p:spPr>
              <a:xfrm>
                <a:off x="4097799" y="196550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active_dual_outline_3"/>
              <p:cNvSpPr/>
              <p:nvPr/>
            </p:nvSpPr>
            <p:spPr>
              <a:xfrm>
                <a:off x="4189627" y="1916595"/>
                <a:ext cx="68012" cy="66682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66683">
                    <a:moveTo>
                      <a:pt x="68012" y="34671"/>
                    </a:moveTo>
                    <a:lnTo>
                      <a:pt x="68012" y="32012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55261" y="33341"/>
                    </a:lnTo>
                    <a:lnTo>
                      <a:pt x="0" y="59246"/>
                    </a:lnTo>
                    <a:lnTo>
                      <a:pt x="0" y="66683"/>
                    </a:lnTo>
                    <a:lnTo>
                      <a:pt x="68012" y="3467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active_dual_outline_4"/>
              <p:cNvSpPr/>
              <p:nvPr/>
            </p:nvSpPr>
            <p:spPr>
              <a:xfrm>
                <a:off x="4305978" y="1894279"/>
                <a:ext cx="60043" cy="91658"/>
              </a:xfrm>
              <a:custGeom>
                <a:avLst/>
                <a:gdLst/>
                <a:ahLst/>
                <a:cxnLst/>
                <a:rect l="0" t="0" r="r" b="b"/>
                <a:pathLst>
                  <a:path w="60043" h="91658">
                    <a:moveTo>
                      <a:pt x="60043" y="45962"/>
                    </a:moveTo>
                    <a:cubicBezTo>
                      <a:pt x="60043" y="18729"/>
                      <a:pt x="47954" y="0"/>
                      <a:pt x="30551" y="0"/>
                    </a:cubicBezTo>
                    <a:cubicBezTo>
                      <a:pt x="23249" y="0"/>
                      <a:pt x="17669" y="2258"/>
                      <a:pt x="12752" y="6910"/>
                    </a:cubicBezTo>
                    <a:cubicBezTo>
                      <a:pt x="5048" y="14347"/>
                      <a:pt x="0" y="29623"/>
                      <a:pt x="0" y="45164"/>
                    </a:cubicBezTo>
                    <a:cubicBezTo>
                      <a:pt x="0" y="59642"/>
                      <a:pt x="4385" y="75184"/>
                      <a:pt x="10628" y="82625"/>
                    </a:cubicBezTo>
                    <a:cubicBezTo>
                      <a:pt x="15542" y="88467"/>
                      <a:pt x="22316" y="91658"/>
                      <a:pt x="30024" y="91658"/>
                    </a:cubicBezTo>
                    <a:cubicBezTo>
                      <a:pt x="36798" y="91658"/>
                      <a:pt x="42509" y="89400"/>
                      <a:pt x="47292" y="84749"/>
                    </a:cubicBezTo>
                    <a:cubicBezTo>
                      <a:pt x="54995" y="77442"/>
                      <a:pt x="60043" y="62036"/>
                      <a:pt x="60043" y="45962"/>
                    </a:cubicBezTo>
                    <a:close/>
                    <a:moveTo>
                      <a:pt x="47292" y="46228"/>
                    </a:moveTo>
                    <a:cubicBezTo>
                      <a:pt x="47292" y="73989"/>
                      <a:pt x="41446" y="88202"/>
                      <a:pt x="30024" y="88202"/>
                    </a:cubicBezTo>
                    <a:cubicBezTo>
                      <a:pt x="18597" y="88202"/>
                      <a:pt x="12752" y="73989"/>
                      <a:pt x="12752" y="46359"/>
                    </a:cubicBezTo>
                    <a:cubicBezTo>
                      <a:pt x="12752" y="18201"/>
                      <a:pt x="18733" y="3453"/>
                      <a:pt x="30154" y="3453"/>
                    </a:cubicBezTo>
                    <a:cubicBezTo>
                      <a:pt x="41315" y="3453"/>
                      <a:pt x="47292" y="18467"/>
                      <a:pt x="47292" y="46228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active_dual_outline_5"/>
              <p:cNvSpPr/>
              <p:nvPr/>
            </p:nvSpPr>
            <p:spPr>
              <a:xfrm>
                <a:off x="4376650" y="1970526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8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1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active_dual_outline_6"/>
              <p:cNvSpPr/>
              <p:nvPr/>
            </p:nvSpPr>
            <p:spPr>
              <a:xfrm>
                <a:off x="4559301" y="1897069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2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0" y="81562"/>
                      <a:pt x="78637" y="0"/>
                      <a:pt x="39585" y="0"/>
                    </a:cubicBezTo>
                    <a:lnTo>
                      <a:pt x="38119" y="0"/>
                    </a:lnTo>
                    <a:cubicBezTo>
                      <a:pt x="35730" y="0"/>
                      <a:pt x="30150" y="1992"/>
                      <a:pt x="28424" y="3588"/>
                    </a:cubicBezTo>
                    <a:cubicBezTo>
                      <a:pt x="28293" y="3719"/>
                      <a:pt x="29352" y="4913"/>
                      <a:pt x="29488" y="4913"/>
                    </a:cubicBezTo>
                    <a:cubicBezTo>
                      <a:pt x="30150" y="4385"/>
                      <a:pt x="33076" y="3187"/>
                      <a:pt x="35730" y="3187"/>
                    </a:cubicBezTo>
                    <a:cubicBezTo>
                      <a:pt x="48617" y="3187"/>
                      <a:pt x="45160" y="24444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6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699" y="39985"/>
                    </a:lnTo>
                    <a:cubicBezTo>
                      <a:pt x="42902" y="46891"/>
                      <a:pt x="30949" y="88467"/>
                      <a:pt x="52602" y="88467"/>
                    </a:cubicBezTo>
                    <a:cubicBezTo>
                      <a:pt x="58444" y="88467"/>
                      <a:pt x="67611" y="78903"/>
                      <a:pt x="67878" y="7731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active_dual_outline_7"/>
              <p:cNvSpPr/>
              <p:nvPr/>
            </p:nvSpPr>
            <p:spPr>
              <a:xfrm>
                <a:off x="4637126" y="1889161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1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active_dual_outline_8"/>
              <p:cNvSpPr/>
              <p:nvPr/>
            </p:nvSpPr>
            <p:spPr>
              <a:xfrm>
                <a:off x="4634667" y="1965507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active_dual_outline_9"/>
              <p:cNvSpPr/>
              <p:nvPr/>
            </p:nvSpPr>
            <p:spPr>
              <a:xfrm>
                <a:off x="4734889" y="1932803"/>
                <a:ext cx="68012" cy="34401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34401">
                    <a:moveTo>
                      <a:pt x="68012" y="7438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68012" y="7438"/>
                    </a:lnTo>
                    <a:close/>
                    <a:moveTo>
                      <a:pt x="68012" y="34401"/>
                    </a:moveTo>
                    <a:lnTo>
                      <a:pt x="68012" y="26964"/>
                    </a:lnTo>
                    <a:lnTo>
                      <a:pt x="0" y="26964"/>
                    </a:lnTo>
                    <a:lnTo>
                      <a:pt x="0" y="34401"/>
                    </a:lnTo>
                    <a:lnTo>
                      <a:pt x="68012" y="3440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active_dual_outline_10"/>
              <p:cNvSpPr/>
              <p:nvPr/>
            </p:nvSpPr>
            <p:spPr>
              <a:xfrm>
                <a:off x="4851240" y="1894279"/>
                <a:ext cx="60043" cy="91658"/>
              </a:xfrm>
              <a:custGeom>
                <a:avLst/>
                <a:gdLst/>
                <a:ahLst/>
                <a:cxnLst/>
                <a:rect l="0" t="0" r="r" b="b"/>
                <a:pathLst>
                  <a:path w="60043" h="91658">
                    <a:moveTo>
                      <a:pt x="60043" y="45962"/>
                    </a:moveTo>
                    <a:cubicBezTo>
                      <a:pt x="60043" y="18729"/>
                      <a:pt x="47954" y="0"/>
                      <a:pt x="30551" y="0"/>
                    </a:cubicBezTo>
                    <a:cubicBezTo>
                      <a:pt x="23249" y="0"/>
                      <a:pt x="17669" y="2258"/>
                      <a:pt x="12752" y="6910"/>
                    </a:cubicBezTo>
                    <a:cubicBezTo>
                      <a:pt x="5048" y="14347"/>
                      <a:pt x="0" y="29623"/>
                      <a:pt x="0" y="45164"/>
                    </a:cubicBezTo>
                    <a:cubicBezTo>
                      <a:pt x="0" y="59642"/>
                      <a:pt x="4385" y="75184"/>
                      <a:pt x="10628" y="82625"/>
                    </a:cubicBezTo>
                    <a:cubicBezTo>
                      <a:pt x="15542" y="88467"/>
                      <a:pt x="22316" y="91658"/>
                      <a:pt x="30024" y="91658"/>
                    </a:cubicBezTo>
                    <a:cubicBezTo>
                      <a:pt x="36798" y="91658"/>
                      <a:pt x="42509" y="89400"/>
                      <a:pt x="47292" y="84749"/>
                    </a:cubicBezTo>
                    <a:cubicBezTo>
                      <a:pt x="54995" y="77442"/>
                      <a:pt x="60043" y="62036"/>
                      <a:pt x="60043" y="45962"/>
                    </a:cubicBezTo>
                    <a:close/>
                    <a:moveTo>
                      <a:pt x="47292" y="46228"/>
                    </a:moveTo>
                    <a:cubicBezTo>
                      <a:pt x="47292" y="73989"/>
                      <a:pt x="41446" y="88202"/>
                      <a:pt x="30024" y="88202"/>
                    </a:cubicBezTo>
                    <a:cubicBezTo>
                      <a:pt x="18598" y="88202"/>
                      <a:pt x="12752" y="73989"/>
                      <a:pt x="12752" y="46359"/>
                    </a:cubicBezTo>
                    <a:cubicBezTo>
                      <a:pt x="12752" y="18201"/>
                      <a:pt x="18732" y="3453"/>
                      <a:pt x="30155" y="3453"/>
                    </a:cubicBezTo>
                    <a:cubicBezTo>
                      <a:pt x="41315" y="3453"/>
                      <a:pt x="47292" y="18467"/>
                      <a:pt x="47292" y="46228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73" name="constraint_view_link_0" descr="Editable line; source id constraint_view_link_0"/>
          <p:cNvSpPr/>
          <p:nvPr/>
        </p:nvSpPr>
        <p:spPr>
          <a:xfrm>
            <a:off x="3848100" y="1774825"/>
            <a:ext cx="76200" cy="31750"/>
          </a:xfrm>
          <a:custGeom>
            <a:avLst/>
            <a:gdLst/>
            <a:ahLst/>
            <a:cxnLst/>
            <a:rect l="l" t="t" r="r" b="b"/>
            <a:pathLst>
              <a:path w="30000" h="12500">
                <a:moveTo>
                  <a:pt x="30000" y="8250"/>
                </a:moveTo>
                <a:lnTo>
                  <a:pt x="16500" y="8250"/>
                </a:lnTo>
                <a:lnTo>
                  <a:pt x="16500" y="12500"/>
                </a:lnTo>
                <a:lnTo>
                  <a:pt x="0" y="6250"/>
                </a:lnTo>
                <a:lnTo>
                  <a:pt x="16500" y="0"/>
                </a:lnTo>
                <a:lnTo>
                  <a:pt x="16500" y="4250"/>
                </a:lnTo>
                <a:lnTo>
                  <a:pt x="30000" y="4250"/>
                </a:lnTo>
                <a:close/>
              </a:path>
            </a:pathLst>
          </a:custGeom>
          <a:solidFill>
            <a:srgbClr val="126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ule_title" descr="Editable text; source id rule_title"/>
          <p:cNvSpPr txBox="1"/>
          <p:nvPr/>
        </p:nvSpPr>
        <p:spPr>
          <a:xfrm>
            <a:off x="38100" y="2209800"/>
            <a:ext cx="4952999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69"/>
              </a:lnSpc>
              <a:spcBef>
                <a:spcPts val="0"/>
              </a:spcBef>
              <a:spcAft>
                <a:spcPts val="0"/>
              </a:spcAft>
              <a:defRPr sz="929" b="1" i="0" lang="zh-CN" dirty="0">
                <a:solidFill>
                  <a:srgbClr val="126D6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29" b="1" i="0" lang="zh-CN" dirty="0">
                <a:solidFill>
                  <a:srgbClr val="126D69"/>
                </a:solidFill>
                <a:latin typeface="Liberation Sans"/>
                <a:ea typeface="Liberation Sans"/>
                <a:cs typeface="Liberation Sans"/>
              </a:rPr>
              <a:t>One price rule</a:t>
            </a:r>
          </a:p>
        </p:txBody>
      </p:sp>
      <p:cxnSp>
        <p:nvCxnSpPr>
          <p:cNvPr id="75" name="exact_bracket_0" descr="Editable line; source id exact_bracket_0"/>
          <p:cNvCxnSpPr/>
          <p:nvPr/>
        </p:nvCxnSpPr>
        <p:spPr>
          <a:xfrm flipV="1">
            <a:off x="127000" y="2489199"/>
            <a:ext cx="0" cy="38100"/>
          </a:xfrm>
          <a:prstGeom prst="line">
            <a:avLst/>
          </a:prstGeom>
          <a:ln w="8254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xact_bracket_1" descr="Editable line; source id exact_bracket_1"/>
          <p:cNvCxnSpPr/>
          <p:nvPr/>
        </p:nvCxnSpPr>
        <p:spPr>
          <a:xfrm>
            <a:off x="127000" y="2489199"/>
            <a:ext cx="1765300" cy="0"/>
          </a:xfrm>
          <a:prstGeom prst="line">
            <a:avLst/>
          </a:prstGeom>
          <a:ln w="8254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xact_bracket_2" descr="Editable line; source id exact_bracket_2"/>
          <p:cNvCxnSpPr/>
          <p:nvPr/>
        </p:nvCxnSpPr>
        <p:spPr>
          <a:xfrm>
            <a:off x="1892300" y="2489199"/>
            <a:ext cx="0" cy="38100"/>
          </a:xfrm>
          <a:prstGeom prst="line">
            <a:avLst/>
          </a:prstGeom>
          <a:ln w="8254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imit_bracket_0" descr="Editable line; source id limit_bracket_0"/>
          <p:cNvCxnSpPr/>
          <p:nvPr/>
        </p:nvCxnSpPr>
        <p:spPr>
          <a:xfrm flipV="1">
            <a:off x="3111500" y="2489199"/>
            <a:ext cx="0" cy="38100"/>
          </a:xfrm>
          <a:prstGeom prst="line">
            <a:avLst/>
          </a:prstGeom>
          <a:ln w="8254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limit_bracket_1" descr="Editable line; source id limit_bracket_1"/>
          <p:cNvCxnSpPr/>
          <p:nvPr/>
        </p:nvCxnSpPr>
        <p:spPr>
          <a:xfrm>
            <a:off x="3111500" y="2489199"/>
            <a:ext cx="1816100" cy="0"/>
          </a:xfrm>
          <a:prstGeom prst="line">
            <a:avLst/>
          </a:prstGeom>
          <a:ln w="8254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limit_bracket_2" descr="Editable line; source id limit_bracket_2"/>
          <p:cNvCxnSpPr/>
          <p:nvPr/>
        </p:nvCxnSpPr>
        <p:spPr>
          <a:xfrm>
            <a:off x="4927600" y="2489199"/>
            <a:ext cx="0" cy="38100"/>
          </a:xfrm>
          <a:prstGeom prst="line">
            <a:avLst/>
          </a:prstGeom>
          <a:ln w="8254">
            <a:solidFill>
              <a:srgbClr val="BA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xact_label" descr="Editable text; source id exact_label"/>
          <p:cNvSpPr txBox="1"/>
          <p:nvPr/>
        </p:nvSpPr>
        <p:spPr>
          <a:xfrm>
            <a:off x="546100" y="2336800"/>
            <a:ext cx="914399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exact settings</a:t>
            </a:r>
          </a:p>
        </p:txBody>
      </p:sp>
      <p:sp>
        <p:nvSpPr>
          <p:cNvPr id="82" name="limit_label" descr="Editable text; source id limit_label"/>
          <p:cNvSpPr txBox="1"/>
          <p:nvPr/>
        </p:nvSpPr>
        <p:spPr>
          <a:xfrm>
            <a:off x="3454400" y="2336800"/>
            <a:ext cx="1079499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conditional limits</a:t>
            </a:r>
          </a:p>
        </p:txBody>
      </p:sp>
      <p:grpSp>
        <p:nvGrpSpPr>
          <p:cNvPr id="211" name="module_ours_band"/>
          <p:cNvGrpSpPr/>
          <p:nvPr/>
        </p:nvGrpSpPr>
        <p:grpSpPr>
          <a:xfrm>
            <a:off x="2057400" y="2489199"/>
            <a:ext cx="914399" cy="495299"/>
            <a:chOff x="2057400" y="2489199"/>
            <a:chExt cx="914399" cy="495299"/>
          </a:xfrm>
        </p:grpSpPr>
        <p:sp>
          <p:nvSpPr>
            <p:cNvPr id="83" name="ours_band" descr="Editable shape; source id ours_band"/>
            <p:cNvSpPr/>
            <p:nvPr/>
          </p:nvSpPr>
          <p:spPr>
            <a:xfrm>
              <a:off x="2057400" y="2489199"/>
              <a:ext cx="914399" cy="495299"/>
            </a:xfrm>
            <a:prstGeom prst="roundRect">
              <a:avLst>
                <a:gd name="adj" fmla="val 7692"/>
              </a:avLst>
            </a:prstGeom>
            <a:solidFill>
              <a:srgbClr val="F0F7F5"/>
            </a:solidFill>
            <a:ln w="8254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setting_ours" descr="Editable text; source id setting_ours"/>
            <p:cNvSpPr txBox="1"/>
            <p:nvPr/>
          </p:nvSpPr>
          <p:spPr>
            <a:xfrm>
              <a:off x="2057400" y="2514599"/>
              <a:ext cx="9143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65"/>
                </a:lnSpc>
                <a:spcBef>
                  <a:spcPts val="0"/>
                </a:spcBef>
                <a:spcAft>
                  <a:spcPts val="0"/>
                </a:spcAft>
                <a:defRPr sz="83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39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SafeOT</a:t>
              </a:r>
            </a:p>
          </p:txBody>
        </p:sp>
        <p:grpSp>
          <p:nvGrpSpPr>
            <p:cNvPr id="197" name="finite"/>
            <p:cNvGrpSpPr/>
            <p:nvPr/>
          </p:nvGrpSpPr>
          <p:grpSpPr>
            <a:xfrm>
              <a:off x="2330664" y="2792733"/>
              <a:ext cx="366932" cy="92186"/>
              <a:chOff x="2330664" y="2792733"/>
              <a:chExt cx="366932" cy="92186"/>
            </a:xfrm>
          </p:grpSpPr>
          <p:sp>
            <p:nvSpPr>
              <p:cNvPr id="198" name="finite_outline_0"/>
              <p:cNvSpPr/>
              <p:nvPr/>
            </p:nvSpPr>
            <p:spPr>
              <a:xfrm>
                <a:off x="2330664" y="2792733"/>
                <a:ext cx="266356" cy="92055"/>
              </a:xfrm>
              <a:custGeom>
                <a:avLst/>
                <a:gdLst/>
                <a:ahLst/>
                <a:cxnLst/>
                <a:rect l="0" t="0" r="r" b="b"/>
                <a:pathLst>
                  <a:path w="266356" h="92055">
                    <a:moveTo>
                      <a:pt x="65088" y="90726"/>
                    </a:moveTo>
                    <a:lnTo>
                      <a:pt x="65088" y="88733"/>
                    </a:lnTo>
                    <a:cubicBezTo>
                      <a:pt x="57650" y="88071"/>
                      <a:pt x="56186" y="86340"/>
                      <a:pt x="56186" y="77839"/>
                    </a:cubicBezTo>
                    <a:lnTo>
                      <a:pt x="56186" y="43037"/>
                    </a:lnTo>
                    <a:lnTo>
                      <a:pt x="56452" y="30020"/>
                    </a:lnTo>
                    <a:lnTo>
                      <a:pt x="55924" y="29623"/>
                    </a:lnTo>
                    <a:cubicBezTo>
                      <a:pt x="50078" y="30552"/>
                      <a:pt x="46224" y="30948"/>
                      <a:pt x="40910" y="30948"/>
                    </a:cubicBezTo>
                    <a:lnTo>
                      <a:pt x="20058" y="30948"/>
                    </a:lnTo>
                    <a:lnTo>
                      <a:pt x="20058" y="25237"/>
                    </a:lnTo>
                    <a:lnTo>
                      <a:pt x="20058" y="24440"/>
                    </a:lnTo>
                    <a:cubicBezTo>
                      <a:pt x="19792" y="18463"/>
                      <a:pt x="20586" y="13414"/>
                      <a:pt x="22316" y="10227"/>
                    </a:cubicBezTo>
                    <a:cubicBezTo>
                      <a:pt x="24575" y="6108"/>
                      <a:pt x="29353" y="3322"/>
                      <a:pt x="34135" y="3322"/>
                    </a:cubicBezTo>
                    <a:cubicBezTo>
                      <a:pt x="37858" y="3322"/>
                      <a:pt x="40382" y="5048"/>
                      <a:pt x="43569" y="9565"/>
                    </a:cubicBezTo>
                    <a:cubicBezTo>
                      <a:pt x="46093" y="13283"/>
                      <a:pt x="47819" y="14478"/>
                      <a:pt x="50078" y="14478"/>
                    </a:cubicBezTo>
                    <a:cubicBezTo>
                      <a:pt x="52868" y="14478"/>
                      <a:pt x="54860" y="12355"/>
                      <a:pt x="54860" y="9299"/>
                    </a:cubicBezTo>
                    <a:cubicBezTo>
                      <a:pt x="54860" y="3588"/>
                      <a:pt x="48216" y="0"/>
                      <a:pt x="37989" y="0"/>
                    </a:cubicBezTo>
                    <a:cubicBezTo>
                      <a:pt x="27892" y="0"/>
                      <a:pt x="20189" y="3322"/>
                      <a:pt x="15407" y="9962"/>
                    </a:cubicBezTo>
                    <a:cubicBezTo>
                      <a:pt x="11422" y="15542"/>
                      <a:pt x="9962" y="20324"/>
                      <a:pt x="9164" y="30948"/>
                    </a:cubicBezTo>
                    <a:lnTo>
                      <a:pt x="0" y="30948"/>
                    </a:lnTo>
                    <a:lnTo>
                      <a:pt x="0" y="35334"/>
                    </a:lnTo>
                    <a:lnTo>
                      <a:pt x="9033" y="35334"/>
                    </a:lnTo>
                    <a:lnTo>
                      <a:pt x="9033" y="78240"/>
                    </a:lnTo>
                    <a:cubicBezTo>
                      <a:pt x="9033" y="86741"/>
                      <a:pt x="7568" y="88467"/>
                      <a:pt x="131" y="88733"/>
                    </a:cubicBezTo>
                    <a:lnTo>
                      <a:pt x="131" y="90726"/>
                    </a:lnTo>
                    <a:lnTo>
                      <a:pt x="29353" y="90726"/>
                    </a:lnTo>
                    <a:lnTo>
                      <a:pt x="29353" y="88733"/>
                    </a:lnTo>
                    <a:cubicBezTo>
                      <a:pt x="21915" y="88202"/>
                      <a:pt x="20189" y="86340"/>
                      <a:pt x="20189" y="79038"/>
                    </a:cubicBezTo>
                    <a:lnTo>
                      <a:pt x="20189" y="35334"/>
                    </a:lnTo>
                    <a:lnTo>
                      <a:pt x="31611" y="35334"/>
                    </a:lnTo>
                    <a:cubicBezTo>
                      <a:pt x="44367" y="35334"/>
                      <a:pt x="45029" y="35731"/>
                      <a:pt x="45029" y="42771"/>
                    </a:cubicBezTo>
                    <a:lnTo>
                      <a:pt x="45029" y="77839"/>
                    </a:lnTo>
                    <a:cubicBezTo>
                      <a:pt x="45029" y="86872"/>
                      <a:pt x="44101" y="88071"/>
                      <a:pt x="35866" y="88733"/>
                    </a:cubicBezTo>
                    <a:lnTo>
                      <a:pt x="35866" y="90726"/>
                    </a:lnTo>
                    <a:lnTo>
                      <a:pt x="65088" y="90726"/>
                    </a:lnTo>
                    <a:close/>
                    <a:moveTo>
                      <a:pt x="134171" y="90726"/>
                    </a:moveTo>
                    <a:lnTo>
                      <a:pt x="134171" y="88733"/>
                    </a:lnTo>
                    <a:cubicBezTo>
                      <a:pt x="127662" y="88071"/>
                      <a:pt x="126067" y="86475"/>
                      <a:pt x="126067" y="79966"/>
                    </a:cubicBezTo>
                    <a:lnTo>
                      <a:pt x="126067" y="49546"/>
                    </a:lnTo>
                    <a:cubicBezTo>
                      <a:pt x="126067" y="37060"/>
                      <a:pt x="120224" y="29623"/>
                      <a:pt x="110394" y="29623"/>
                    </a:cubicBezTo>
                    <a:cubicBezTo>
                      <a:pt x="104282" y="29623"/>
                      <a:pt x="100166" y="31881"/>
                      <a:pt x="91133" y="40382"/>
                    </a:cubicBezTo>
                    <a:lnTo>
                      <a:pt x="91133" y="29889"/>
                    </a:lnTo>
                    <a:lnTo>
                      <a:pt x="90201" y="29623"/>
                    </a:lnTo>
                    <a:cubicBezTo>
                      <a:pt x="83692" y="32012"/>
                      <a:pt x="79176" y="33473"/>
                      <a:pt x="71873" y="35600"/>
                    </a:cubicBezTo>
                    <a:lnTo>
                      <a:pt x="71873" y="37858"/>
                    </a:lnTo>
                    <a:cubicBezTo>
                      <a:pt x="72667" y="37457"/>
                      <a:pt x="73996" y="37326"/>
                      <a:pt x="75457" y="37326"/>
                    </a:cubicBezTo>
                    <a:cubicBezTo>
                      <a:pt x="79176" y="37326"/>
                      <a:pt x="80374" y="39318"/>
                      <a:pt x="80374" y="45827"/>
                    </a:cubicBezTo>
                    <a:lnTo>
                      <a:pt x="80374" y="78772"/>
                    </a:lnTo>
                    <a:cubicBezTo>
                      <a:pt x="80374" y="86340"/>
                      <a:pt x="78910" y="88202"/>
                      <a:pt x="72135" y="88733"/>
                    </a:cubicBezTo>
                    <a:lnTo>
                      <a:pt x="72135" y="90726"/>
                    </a:lnTo>
                    <a:lnTo>
                      <a:pt x="100297" y="90726"/>
                    </a:lnTo>
                    <a:lnTo>
                      <a:pt x="100297" y="88733"/>
                    </a:lnTo>
                    <a:cubicBezTo>
                      <a:pt x="93523" y="88202"/>
                      <a:pt x="91530" y="86606"/>
                      <a:pt x="91530" y="81824"/>
                    </a:cubicBezTo>
                    <a:lnTo>
                      <a:pt x="91530" y="44498"/>
                    </a:lnTo>
                    <a:cubicBezTo>
                      <a:pt x="97908" y="38521"/>
                      <a:pt x="100829" y="36929"/>
                      <a:pt x="105215" y="36929"/>
                    </a:cubicBezTo>
                    <a:cubicBezTo>
                      <a:pt x="111723" y="36929"/>
                      <a:pt x="114910" y="41045"/>
                      <a:pt x="114910" y="49812"/>
                    </a:cubicBezTo>
                    <a:lnTo>
                      <a:pt x="114910" y="77573"/>
                    </a:lnTo>
                    <a:cubicBezTo>
                      <a:pt x="114910" y="85943"/>
                      <a:pt x="113184" y="88202"/>
                      <a:pt x="106540" y="88733"/>
                    </a:cubicBezTo>
                    <a:lnTo>
                      <a:pt x="106540" y="90726"/>
                    </a:lnTo>
                    <a:lnTo>
                      <a:pt x="134171" y="90726"/>
                    </a:lnTo>
                    <a:close/>
                    <a:moveTo>
                      <a:pt x="169779" y="90726"/>
                    </a:moveTo>
                    <a:lnTo>
                      <a:pt x="169779" y="88733"/>
                    </a:lnTo>
                    <a:cubicBezTo>
                      <a:pt x="161012" y="88071"/>
                      <a:pt x="159949" y="86741"/>
                      <a:pt x="159949" y="77176"/>
                    </a:cubicBezTo>
                    <a:lnTo>
                      <a:pt x="159949" y="30020"/>
                    </a:lnTo>
                    <a:lnTo>
                      <a:pt x="159417" y="29623"/>
                    </a:lnTo>
                    <a:lnTo>
                      <a:pt x="138827" y="36929"/>
                    </a:lnTo>
                    <a:lnTo>
                      <a:pt x="138827" y="38922"/>
                    </a:lnTo>
                    <a:lnTo>
                      <a:pt x="139891" y="38787"/>
                    </a:lnTo>
                    <a:cubicBezTo>
                      <a:pt x="141486" y="38521"/>
                      <a:pt x="143212" y="38390"/>
                      <a:pt x="144407" y="38390"/>
                    </a:cubicBezTo>
                    <a:cubicBezTo>
                      <a:pt x="147593" y="38390"/>
                      <a:pt x="148792" y="40513"/>
                      <a:pt x="148792" y="46359"/>
                    </a:cubicBezTo>
                    <a:lnTo>
                      <a:pt x="148792" y="77176"/>
                    </a:lnTo>
                    <a:cubicBezTo>
                      <a:pt x="148792" y="86741"/>
                      <a:pt x="147463" y="88202"/>
                      <a:pt x="138299" y="88733"/>
                    </a:cubicBezTo>
                    <a:lnTo>
                      <a:pt x="138299" y="90726"/>
                    </a:lnTo>
                    <a:lnTo>
                      <a:pt x="169779" y="90726"/>
                    </a:lnTo>
                    <a:close/>
                    <a:moveTo>
                      <a:pt x="161143" y="6775"/>
                    </a:moveTo>
                    <a:cubicBezTo>
                      <a:pt x="161143" y="3056"/>
                      <a:pt x="158222" y="0"/>
                      <a:pt x="154369" y="0"/>
                    </a:cubicBezTo>
                    <a:cubicBezTo>
                      <a:pt x="150650" y="0"/>
                      <a:pt x="147593" y="3056"/>
                      <a:pt x="147593" y="6775"/>
                    </a:cubicBezTo>
                    <a:cubicBezTo>
                      <a:pt x="147593" y="10624"/>
                      <a:pt x="150650" y="13549"/>
                      <a:pt x="154369" y="13549"/>
                    </a:cubicBezTo>
                    <a:cubicBezTo>
                      <a:pt x="158222" y="13549"/>
                      <a:pt x="161143" y="10624"/>
                      <a:pt x="161143" y="6775"/>
                    </a:cubicBezTo>
                    <a:close/>
                    <a:moveTo>
                      <a:pt x="210164" y="81959"/>
                    </a:moveTo>
                    <a:lnTo>
                      <a:pt x="208438" y="80498"/>
                    </a:lnTo>
                    <a:cubicBezTo>
                      <a:pt x="205517" y="83951"/>
                      <a:pt x="203390" y="85146"/>
                      <a:pt x="200469" y="85146"/>
                    </a:cubicBezTo>
                    <a:cubicBezTo>
                      <a:pt x="195551" y="85146"/>
                      <a:pt x="193558" y="81693"/>
                      <a:pt x="193558" y="73192"/>
                    </a:cubicBezTo>
                    <a:lnTo>
                      <a:pt x="193558" y="35199"/>
                    </a:lnTo>
                    <a:lnTo>
                      <a:pt x="206977" y="35199"/>
                    </a:lnTo>
                    <a:lnTo>
                      <a:pt x="206977" y="30948"/>
                    </a:lnTo>
                    <a:lnTo>
                      <a:pt x="193558" y="30948"/>
                    </a:lnTo>
                    <a:lnTo>
                      <a:pt x="193558" y="15542"/>
                    </a:lnTo>
                    <a:cubicBezTo>
                      <a:pt x="193558" y="14212"/>
                      <a:pt x="193293" y="13815"/>
                      <a:pt x="192630" y="13815"/>
                    </a:cubicBezTo>
                    <a:cubicBezTo>
                      <a:pt x="191833" y="15141"/>
                      <a:pt x="190904" y="16339"/>
                      <a:pt x="189975" y="17534"/>
                    </a:cubicBezTo>
                    <a:cubicBezTo>
                      <a:pt x="185058" y="24840"/>
                      <a:pt x="180541" y="29754"/>
                      <a:pt x="177089" y="31746"/>
                    </a:cubicBezTo>
                    <a:cubicBezTo>
                      <a:pt x="175629" y="32679"/>
                      <a:pt x="174830" y="33473"/>
                      <a:pt x="174830" y="34270"/>
                    </a:cubicBezTo>
                    <a:cubicBezTo>
                      <a:pt x="174830" y="34671"/>
                      <a:pt x="174966" y="34937"/>
                      <a:pt x="175362" y="35199"/>
                    </a:cubicBezTo>
                    <a:lnTo>
                      <a:pt x="182403" y="35199"/>
                    </a:lnTo>
                    <a:lnTo>
                      <a:pt x="182403" y="75184"/>
                    </a:lnTo>
                    <a:cubicBezTo>
                      <a:pt x="182403" y="86340"/>
                      <a:pt x="186387" y="92055"/>
                      <a:pt x="194091" y="92055"/>
                    </a:cubicBezTo>
                    <a:cubicBezTo>
                      <a:pt x="200734" y="92055"/>
                      <a:pt x="205782" y="88864"/>
                      <a:pt x="210164" y="81959"/>
                    </a:cubicBezTo>
                    <a:close/>
                    <a:moveTo>
                      <a:pt x="266356" y="69870"/>
                    </a:moveTo>
                    <a:lnTo>
                      <a:pt x="264234" y="68941"/>
                    </a:lnTo>
                    <a:cubicBezTo>
                      <a:pt x="257856" y="79038"/>
                      <a:pt x="252145" y="82887"/>
                      <a:pt x="243643" y="82887"/>
                    </a:cubicBezTo>
                    <a:cubicBezTo>
                      <a:pt x="236337" y="82887"/>
                      <a:pt x="230757" y="79435"/>
                      <a:pt x="226907" y="72263"/>
                    </a:cubicBezTo>
                    <a:cubicBezTo>
                      <a:pt x="224248" y="67080"/>
                      <a:pt x="223189" y="62432"/>
                      <a:pt x="222922" y="53931"/>
                    </a:cubicBezTo>
                    <a:lnTo>
                      <a:pt x="263833" y="53931"/>
                    </a:lnTo>
                    <a:cubicBezTo>
                      <a:pt x="262773" y="45295"/>
                      <a:pt x="261444" y="41446"/>
                      <a:pt x="258121" y="37195"/>
                    </a:cubicBezTo>
                    <a:cubicBezTo>
                      <a:pt x="254137" y="32413"/>
                      <a:pt x="248025" y="29623"/>
                      <a:pt x="241120" y="29623"/>
                    </a:cubicBezTo>
                    <a:cubicBezTo>
                      <a:pt x="224649" y="29623"/>
                      <a:pt x="213358" y="42906"/>
                      <a:pt x="213358" y="62298"/>
                    </a:cubicBezTo>
                    <a:cubicBezTo>
                      <a:pt x="213358" y="80629"/>
                      <a:pt x="222922" y="92055"/>
                      <a:pt x="238199" y="92055"/>
                    </a:cubicBezTo>
                    <a:cubicBezTo>
                      <a:pt x="250950" y="92055"/>
                      <a:pt x="260781" y="84217"/>
                      <a:pt x="266356" y="69870"/>
                    </a:cubicBezTo>
                    <a:close/>
                    <a:moveTo>
                      <a:pt x="250283" y="49681"/>
                    </a:moveTo>
                    <a:lnTo>
                      <a:pt x="223189" y="49681"/>
                    </a:lnTo>
                    <a:cubicBezTo>
                      <a:pt x="224649" y="39188"/>
                      <a:pt x="229165" y="34405"/>
                      <a:pt x="237266" y="34405"/>
                    </a:cubicBezTo>
                    <a:cubicBezTo>
                      <a:pt x="245369" y="34405"/>
                      <a:pt x="248557" y="38124"/>
                      <a:pt x="250283" y="4968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finite_outline_1"/>
              <p:cNvSpPr/>
              <p:nvPr/>
            </p:nvSpPr>
            <p:spPr>
              <a:xfrm>
                <a:off x="2636359" y="2824880"/>
                <a:ext cx="61237" cy="60039"/>
              </a:xfrm>
              <a:custGeom>
                <a:avLst/>
                <a:gdLst/>
                <a:ahLst/>
                <a:cxnLst/>
                <a:rect l="0" t="0" r="r" b="b"/>
                <a:pathLst>
                  <a:path w="61238" h="60039">
                    <a:moveTo>
                      <a:pt x="61238" y="10890"/>
                    </a:moveTo>
                    <a:cubicBezTo>
                      <a:pt x="61238" y="2123"/>
                      <a:pt x="43970" y="0"/>
                      <a:pt x="37060" y="0"/>
                    </a:cubicBezTo>
                    <a:cubicBezTo>
                      <a:pt x="26833" y="0"/>
                      <a:pt x="10894" y="4251"/>
                      <a:pt x="10894" y="16601"/>
                    </a:cubicBezTo>
                    <a:cubicBezTo>
                      <a:pt x="10894" y="22713"/>
                      <a:pt x="15939" y="26567"/>
                      <a:pt x="21784" y="27496"/>
                    </a:cubicBezTo>
                    <a:lnTo>
                      <a:pt x="21784" y="28027"/>
                    </a:lnTo>
                    <a:cubicBezTo>
                      <a:pt x="12621" y="29222"/>
                      <a:pt x="0" y="34933"/>
                      <a:pt x="0" y="45426"/>
                    </a:cubicBezTo>
                    <a:cubicBezTo>
                      <a:pt x="0" y="57650"/>
                      <a:pt x="14212" y="60039"/>
                      <a:pt x="24178" y="60039"/>
                    </a:cubicBezTo>
                    <a:cubicBezTo>
                      <a:pt x="34139" y="60039"/>
                      <a:pt x="45827" y="56983"/>
                      <a:pt x="52205" y="49014"/>
                    </a:cubicBezTo>
                    <a:cubicBezTo>
                      <a:pt x="53531" y="47288"/>
                      <a:pt x="54860" y="45295"/>
                      <a:pt x="54860" y="43037"/>
                    </a:cubicBezTo>
                    <a:cubicBezTo>
                      <a:pt x="54860" y="41442"/>
                      <a:pt x="53400" y="39715"/>
                      <a:pt x="51673" y="39715"/>
                    </a:cubicBezTo>
                    <a:cubicBezTo>
                      <a:pt x="45164" y="39715"/>
                      <a:pt x="43704" y="56452"/>
                      <a:pt x="25638" y="56452"/>
                    </a:cubicBezTo>
                    <a:cubicBezTo>
                      <a:pt x="18598" y="56452"/>
                      <a:pt x="13283" y="53931"/>
                      <a:pt x="13283" y="46490"/>
                    </a:cubicBezTo>
                    <a:cubicBezTo>
                      <a:pt x="13283" y="39318"/>
                      <a:pt x="17931" y="31214"/>
                      <a:pt x="26170" y="31214"/>
                    </a:cubicBezTo>
                    <a:cubicBezTo>
                      <a:pt x="30020" y="31214"/>
                      <a:pt x="33607" y="32675"/>
                      <a:pt x="37461" y="32675"/>
                    </a:cubicBezTo>
                    <a:cubicBezTo>
                      <a:pt x="40513" y="32675"/>
                      <a:pt x="43303" y="31746"/>
                      <a:pt x="43303" y="28293"/>
                    </a:cubicBezTo>
                    <a:cubicBezTo>
                      <a:pt x="43303" y="25237"/>
                      <a:pt x="41446" y="24840"/>
                      <a:pt x="38656" y="24840"/>
                    </a:cubicBezTo>
                    <a:cubicBezTo>
                      <a:pt x="35600" y="24840"/>
                      <a:pt x="32679" y="25237"/>
                      <a:pt x="29754" y="25237"/>
                    </a:cubicBezTo>
                    <a:cubicBezTo>
                      <a:pt x="24840" y="25237"/>
                      <a:pt x="22713" y="23245"/>
                      <a:pt x="22713" y="18463"/>
                    </a:cubicBezTo>
                    <a:cubicBezTo>
                      <a:pt x="22713" y="11025"/>
                      <a:pt x="28694" y="3584"/>
                      <a:pt x="36794" y="3584"/>
                    </a:cubicBezTo>
                    <a:cubicBezTo>
                      <a:pt x="48752" y="3584"/>
                      <a:pt x="47554" y="16074"/>
                      <a:pt x="55527" y="16074"/>
                    </a:cubicBezTo>
                    <a:cubicBezTo>
                      <a:pt x="58714" y="16074"/>
                      <a:pt x="61238" y="14212"/>
                      <a:pt x="61238" y="1089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84" name="setting_fixed" descr="Editable text; source id setting_fixed"/>
          <p:cNvSpPr txBox="1"/>
          <p:nvPr/>
        </p:nvSpPr>
        <p:spPr>
          <a:xfrm>
            <a:off x="50800" y="2514599"/>
            <a:ext cx="9143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defRPr sz="839" b="1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39" b="1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rPr>
              <a:t>Fixed penalty</a:t>
            </a:r>
          </a:p>
        </p:txBody>
      </p:sp>
      <p:sp>
        <p:nvSpPr>
          <p:cNvPr id="85" name="setting_lag" descr="Editable text; source id setting_lag"/>
          <p:cNvSpPr txBox="1"/>
          <p:nvPr/>
        </p:nvSpPr>
        <p:spPr>
          <a:xfrm>
            <a:off x="1054100" y="2514599"/>
            <a:ext cx="9143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defRPr sz="839" b="1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39" b="1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rPr>
              <a:t>Lagrangian</a:t>
            </a:r>
          </a:p>
        </p:txBody>
      </p:sp>
      <p:sp>
        <p:nvSpPr>
          <p:cNvPr id="87" name="setting_lp" descr="Editable text; source id setting_lp"/>
          <p:cNvSpPr txBox="1"/>
          <p:nvPr/>
        </p:nvSpPr>
        <p:spPr>
          <a:xfrm>
            <a:off x="3060700" y="2514599"/>
            <a:ext cx="9143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defRPr sz="839" b="1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39" b="1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rPr>
              <a:t>LP</a:t>
            </a:r>
          </a:p>
        </p:txBody>
      </p:sp>
      <p:sp>
        <p:nvSpPr>
          <p:cNvPr id="88" name="setting_active" descr="Editable text; source id setting_active"/>
          <p:cNvSpPr txBox="1"/>
          <p:nvPr/>
        </p:nvSpPr>
        <p:spPr>
          <a:xfrm>
            <a:off x="4064000" y="2514599"/>
            <a:ext cx="9143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defRPr sz="839" b="1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39" b="1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rPr>
              <a:t>Active-set</a:t>
            </a:r>
          </a:p>
        </p:txBody>
      </p:sp>
      <p:sp>
        <p:nvSpPr>
          <p:cNvPr id="89" name="saturated" descr="Editable text; source id saturated"/>
          <p:cNvSpPr txBox="1"/>
          <p:nvPr/>
        </p:nvSpPr>
        <p:spPr>
          <a:xfrm>
            <a:off x="4064000" y="2844799"/>
            <a:ext cx="914399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263641"/>
                </a:solidFill>
                <a:latin typeface="Liberation Sans"/>
                <a:ea typeface="Liberation Sans"/>
                <a:cs typeface="Liberation Sans"/>
              </a:rPr>
              <a:t>saturated clip</a:t>
            </a:r>
          </a:p>
        </p:txBody>
      </p:sp>
      <p:grpSp>
        <p:nvGrpSpPr>
          <p:cNvPr id="179" name="fixed_c"/>
          <p:cNvGrpSpPr/>
          <p:nvPr/>
        </p:nvGrpSpPr>
        <p:grpSpPr>
          <a:xfrm>
            <a:off x="375522" y="2712196"/>
            <a:ext cx="267092" cy="87288"/>
            <a:chOff x="375522" y="2712196"/>
            <a:chExt cx="267092" cy="87288"/>
          </a:xfrm>
        </p:grpSpPr>
        <p:sp>
          <p:nvSpPr>
            <p:cNvPr id="180" name="fixed_c_outline_0"/>
            <p:cNvSpPr/>
            <p:nvPr/>
          </p:nvSpPr>
          <p:spPr>
            <a:xfrm>
              <a:off x="375522" y="2741925"/>
              <a:ext cx="49970" cy="57181"/>
            </a:xfrm>
            <a:custGeom>
              <a:avLst/>
              <a:gdLst/>
              <a:ahLst/>
              <a:cxnLst/>
              <a:rect l="0" t="0" r="r" b="b"/>
              <a:pathLst>
                <a:path w="49971" h="57182">
                  <a:moveTo>
                    <a:pt x="42509" y="43644"/>
                  </a:moveTo>
                  <a:lnTo>
                    <a:pt x="40485" y="42378"/>
                  </a:lnTo>
                  <a:cubicBezTo>
                    <a:pt x="33524" y="49844"/>
                    <a:pt x="28591" y="52626"/>
                    <a:pt x="22392" y="52626"/>
                  </a:cubicBezTo>
                  <a:cubicBezTo>
                    <a:pt x="15180" y="52626"/>
                    <a:pt x="10882" y="47312"/>
                    <a:pt x="10882" y="38203"/>
                  </a:cubicBezTo>
                  <a:cubicBezTo>
                    <a:pt x="10882" y="27452"/>
                    <a:pt x="15307" y="16193"/>
                    <a:pt x="22392" y="8727"/>
                  </a:cubicBezTo>
                  <a:cubicBezTo>
                    <a:pt x="26063" y="4933"/>
                    <a:pt x="31123" y="2655"/>
                    <a:pt x="36183" y="2655"/>
                  </a:cubicBezTo>
                  <a:cubicBezTo>
                    <a:pt x="39092" y="2655"/>
                    <a:pt x="40862" y="3667"/>
                    <a:pt x="40862" y="5187"/>
                  </a:cubicBezTo>
                  <a:cubicBezTo>
                    <a:pt x="40862" y="5818"/>
                    <a:pt x="40735" y="6449"/>
                    <a:pt x="40104" y="7588"/>
                  </a:cubicBezTo>
                  <a:cubicBezTo>
                    <a:pt x="39219" y="9235"/>
                    <a:pt x="38965" y="9993"/>
                    <a:pt x="38965" y="11259"/>
                  </a:cubicBezTo>
                  <a:cubicBezTo>
                    <a:pt x="38965" y="14296"/>
                    <a:pt x="40862" y="16066"/>
                    <a:pt x="43898" y="16066"/>
                  </a:cubicBezTo>
                  <a:cubicBezTo>
                    <a:pt x="47442" y="16066"/>
                    <a:pt x="49971" y="13661"/>
                    <a:pt x="49971" y="10247"/>
                  </a:cubicBezTo>
                  <a:cubicBezTo>
                    <a:pt x="49971" y="4302"/>
                    <a:pt x="44406" y="0"/>
                    <a:pt x="36687" y="0"/>
                  </a:cubicBezTo>
                  <a:cubicBezTo>
                    <a:pt x="17713" y="0"/>
                    <a:pt x="0" y="18471"/>
                    <a:pt x="0" y="38203"/>
                  </a:cubicBezTo>
                  <a:cubicBezTo>
                    <a:pt x="0" y="50221"/>
                    <a:pt x="6834" y="57182"/>
                    <a:pt x="18598" y="57182"/>
                  </a:cubicBezTo>
                  <a:cubicBezTo>
                    <a:pt x="28087" y="57182"/>
                    <a:pt x="34790" y="53384"/>
                    <a:pt x="42509" y="43644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fixed_c_outline_1"/>
            <p:cNvSpPr/>
            <p:nvPr/>
          </p:nvSpPr>
          <p:spPr>
            <a:xfrm>
              <a:off x="474618" y="2748883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fixed_c_outline_2"/>
            <p:cNvSpPr/>
            <p:nvPr/>
          </p:nvSpPr>
          <p:spPr>
            <a:xfrm>
              <a:off x="585433" y="271219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3" name="fixed_beta"/>
          <p:cNvGrpSpPr/>
          <p:nvPr/>
        </p:nvGrpSpPr>
        <p:grpSpPr>
          <a:xfrm>
            <a:off x="291988" y="2852205"/>
            <a:ext cx="425541" cy="112932"/>
            <a:chOff x="291988" y="2852205"/>
            <a:chExt cx="425541" cy="112932"/>
          </a:xfrm>
        </p:grpSpPr>
        <p:sp>
          <p:nvSpPr>
            <p:cNvPr id="184" name="fixed_beta_outline_0"/>
            <p:cNvSpPr/>
            <p:nvPr/>
          </p:nvSpPr>
          <p:spPr>
            <a:xfrm>
              <a:off x="291988" y="28557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fixed_beta_outline_1"/>
            <p:cNvSpPr/>
            <p:nvPr/>
          </p:nvSpPr>
          <p:spPr>
            <a:xfrm>
              <a:off x="376124" y="28931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fixed_beta_outline_2"/>
            <p:cNvSpPr/>
            <p:nvPr/>
          </p:nvSpPr>
          <p:spPr>
            <a:xfrm>
              <a:off x="473357" y="2852205"/>
              <a:ext cx="127024" cy="86403"/>
            </a:xfrm>
            <a:custGeom>
              <a:avLst/>
              <a:gdLst/>
              <a:ahLst/>
              <a:cxnLst/>
              <a:rect l="0" t="0" r="r" b="b"/>
              <a:pathLst>
                <a:path w="127025" h="86404">
                  <a:moveTo>
                    <a:pt x="61988" y="86404"/>
                  </a:moveTo>
                  <a:lnTo>
                    <a:pt x="61988" y="84507"/>
                  </a:lnTo>
                  <a:cubicBezTo>
                    <a:pt x="54904" y="83872"/>
                    <a:pt x="53515" y="82229"/>
                    <a:pt x="53515" y="74132"/>
                  </a:cubicBezTo>
                  <a:lnTo>
                    <a:pt x="53515" y="40989"/>
                  </a:lnTo>
                  <a:lnTo>
                    <a:pt x="53765" y="28591"/>
                  </a:lnTo>
                  <a:lnTo>
                    <a:pt x="53261" y="28210"/>
                  </a:lnTo>
                  <a:cubicBezTo>
                    <a:pt x="47692" y="29095"/>
                    <a:pt x="44025" y="29476"/>
                    <a:pt x="38965" y="29476"/>
                  </a:cubicBezTo>
                  <a:lnTo>
                    <a:pt x="19102" y="29476"/>
                  </a:lnTo>
                  <a:lnTo>
                    <a:pt x="19102" y="24035"/>
                  </a:lnTo>
                  <a:lnTo>
                    <a:pt x="19102" y="23277"/>
                  </a:lnTo>
                  <a:cubicBezTo>
                    <a:pt x="18852" y="17586"/>
                    <a:pt x="19610" y="12775"/>
                    <a:pt x="21253" y="9739"/>
                  </a:cubicBezTo>
                  <a:cubicBezTo>
                    <a:pt x="23404" y="5818"/>
                    <a:pt x="27960" y="3163"/>
                    <a:pt x="32512" y="3163"/>
                  </a:cubicBezTo>
                  <a:cubicBezTo>
                    <a:pt x="36056" y="3163"/>
                    <a:pt x="38457" y="4806"/>
                    <a:pt x="41493" y="9108"/>
                  </a:cubicBezTo>
                  <a:cubicBezTo>
                    <a:pt x="43898" y="12648"/>
                    <a:pt x="45541" y="13788"/>
                    <a:pt x="47692" y="13788"/>
                  </a:cubicBezTo>
                  <a:cubicBezTo>
                    <a:pt x="50351" y="13788"/>
                    <a:pt x="52249" y="11763"/>
                    <a:pt x="52249" y="8854"/>
                  </a:cubicBezTo>
                  <a:cubicBezTo>
                    <a:pt x="52249" y="3413"/>
                    <a:pt x="45922" y="0"/>
                    <a:pt x="36183" y="0"/>
                  </a:cubicBezTo>
                  <a:cubicBezTo>
                    <a:pt x="26567" y="0"/>
                    <a:pt x="19229" y="3163"/>
                    <a:pt x="14676" y="9485"/>
                  </a:cubicBezTo>
                  <a:cubicBezTo>
                    <a:pt x="10878" y="14799"/>
                    <a:pt x="9489" y="19356"/>
                    <a:pt x="8731" y="29476"/>
                  </a:cubicBezTo>
                  <a:lnTo>
                    <a:pt x="0" y="29476"/>
                  </a:lnTo>
                  <a:lnTo>
                    <a:pt x="0" y="33651"/>
                  </a:lnTo>
                  <a:lnTo>
                    <a:pt x="8604" y="33651"/>
                  </a:lnTo>
                  <a:lnTo>
                    <a:pt x="8604" y="74513"/>
                  </a:lnTo>
                  <a:cubicBezTo>
                    <a:pt x="8604" y="82610"/>
                    <a:pt x="7211" y="84253"/>
                    <a:pt x="127" y="84507"/>
                  </a:cubicBezTo>
                  <a:lnTo>
                    <a:pt x="127" y="86404"/>
                  </a:lnTo>
                  <a:lnTo>
                    <a:pt x="27960" y="86404"/>
                  </a:lnTo>
                  <a:lnTo>
                    <a:pt x="27960" y="84507"/>
                  </a:lnTo>
                  <a:cubicBezTo>
                    <a:pt x="20876" y="83999"/>
                    <a:pt x="19229" y="82229"/>
                    <a:pt x="19229" y="75271"/>
                  </a:cubicBezTo>
                  <a:lnTo>
                    <a:pt x="19229" y="33651"/>
                  </a:lnTo>
                  <a:lnTo>
                    <a:pt x="30111" y="33651"/>
                  </a:lnTo>
                  <a:cubicBezTo>
                    <a:pt x="42255" y="33651"/>
                    <a:pt x="42886" y="34028"/>
                    <a:pt x="42886" y="40735"/>
                  </a:cubicBezTo>
                  <a:lnTo>
                    <a:pt x="42886" y="74132"/>
                  </a:lnTo>
                  <a:cubicBezTo>
                    <a:pt x="42886" y="82737"/>
                    <a:pt x="42001" y="83872"/>
                    <a:pt x="34159" y="84507"/>
                  </a:cubicBezTo>
                  <a:lnTo>
                    <a:pt x="34159" y="86404"/>
                  </a:lnTo>
                  <a:lnTo>
                    <a:pt x="61988" y="86404"/>
                  </a:lnTo>
                  <a:close/>
                  <a:moveTo>
                    <a:pt x="127025" y="86404"/>
                  </a:moveTo>
                  <a:lnTo>
                    <a:pt x="127025" y="84507"/>
                  </a:lnTo>
                  <a:cubicBezTo>
                    <a:pt x="123100" y="84507"/>
                    <a:pt x="120572" y="82483"/>
                    <a:pt x="116650" y="76914"/>
                  </a:cubicBezTo>
                  <a:lnTo>
                    <a:pt x="100458" y="52122"/>
                  </a:lnTo>
                  <a:lnTo>
                    <a:pt x="110955" y="36941"/>
                  </a:lnTo>
                  <a:cubicBezTo>
                    <a:pt x="113360" y="33524"/>
                    <a:pt x="117155" y="31500"/>
                    <a:pt x="121203" y="31373"/>
                  </a:cubicBezTo>
                  <a:lnTo>
                    <a:pt x="121203" y="29476"/>
                  </a:lnTo>
                  <a:lnTo>
                    <a:pt x="101216" y="29476"/>
                  </a:lnTo>
                  <a:lnTo>
                    <a:pt x="101216" y="31373"/>
                  </a:lnTo>
                  <a:cubicBezTo>
                    <a:pt x="105010" y="31627"/>
                    <a:pt x="106276" y="32385"/>
                    <a:pt x="106276" y="34155"/>
                  </a:cubicBezTo>
                  <a:cubicBezTo>
                    <a:pt x="106276" y="35675"/>
                    <a:pt x="104756" y="38457"/>
                    <a:pt x="101597" y="42378"/>
                  </a:cubicBezTo>
                  <a:cubicBezTo>
                    <a:pt x="100962" y="43136"/>
                    <a:pt x="99446" y="45414"/>
                    <a:pt x="97799" y="47946"/>
                  </a:cubicBezTo>
                  <a:lnTo>
                    <a:pt x="96029" y="45414"/>
                  </a:lnTo>
                  <a:cubicBezTo>
                    <a:pt x="92485" y="40100"/>
                    <a:pt x="90211" y="35802"/>
                    <a:pt x="90211" y="34155"/>
                  </a:cubicBezTo>
                  <a:cubicBezTo>
                    <a:pt x="90211" y="32385"/>
                    <a:pt x="91854" y="31500"/>
                    <a:pt x="95648" y="31373"/>
                  </a:cubicBezTo>
                  <a:lnTo>
                    <a:pt x="95648" y="29476"/>
                  </a:lnTo>
                  <a:lnTo>
                    <a:pt x="69462" y="29476"/>
                  </a:lnTo>
                  <a:lnTo>
                    <a:pt x="69462" y="31373"/>
                  </a:lnTo>
                  <a:lnTo>
                    <a:pt x="70601" y="31373"/>
                  </a:lnTo>
                  <a:cubicBezTo>
                    <a:pt x="74395" y="31373"/>
                    <a:pt x="76419" y="33016"/>
                    <a:pt x="80340" y="38965"/>
                  </a:cubicBezTo>
                  <a:lnTo>
                    <a:pt x="92235" y="57182"/>
                  </a:lnTo>
                  <a:lnTo>
                    <a:pt x="77812" y="78053"/>
                  </a:lnTo>
                  <a:cubicBezTo>
                    <a:pt x="74018" y="83241"/>
                    <a:pt x="72752" y="84126"/>
                    <a:pt x="68577" y="84507"/>
                  </a:cubicBezTo>
                  <a:lnTo>
                    <a:pt x="68577" y="86404"/>
                  </a:lnTo>
                  <a:lnTo>
                    <a:pt x="86921" y="86404"/>
                  </a:lnTo>
                  <a:lnTo>
                    <a:pt x="86921" y="84507"/>
                  </a:lnTo>
                  <a:cubicBezTo>
                    <a:pt x="83376" y="84507"/>
                    <a:pt x="81860" y="83872"/>
                    <a:pt x="81860" y="82229"/>
                  </a:cubicBezTo>
                  <a:cubicBezTo>
                    <a:pt x="81860" y="81471"/>
                    <a:pt x="82746" y="79573"/>
                    <a:pt x="84389" y="77041"/>
                  </a:cubicBezTo>
                  <a:lnTo>
                    <a:pt x="94386" y="61480"/>
                  </a:lnTo>
                  <a:lnTo>
                    <a:pt x="105895" y="79192"/>
                  </a:lnTo>
                  <a:cubicBezTo>
                    <a:pt x="106403" y="79950"/>
                    <a:pt x="106657" y="80712"/>
                    <a:pt x="106657" y="81471"/>
                  </a:cubicBezTo>
                  <a:cubicBezTo>
                    <a:pt x="106657" y="83749"/>
                    <a:pt x="105768" y="84253"/>
                    <a:pt x="101597" y="84507"/>
                  </a:cubicBezTo>
                  <a:lnTo>
                    <a:pt x="101597" y="86404"/>
                  </a:lnTo>
                  <a:lnTo>
                    <a:pt x="127025" y="86404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fixed_beta_outline_3"/>
            <p:cNvSpPr/>
            <p:nvPr/>
          </p:nvSpPr>
          <p:spPr>
            <a:xfrm>
              <a:off x="602401" y="2852205"/>
              <a:ext cx="115128" cy="87669"/>
            </a:xfrm>
            <a:custGeom>
              <a:avLst/>
              <a:gdLst/>
              <a:ahLst/>
              <a:cxnLst/>
              <a:rect l="0" t="0" r="r" b="b"/>
              <a:pathLst>
                <a:path w="115128" h="87670">
                  <a:moveTo>
                    <a:pt x="50475" y="66540"/>
                  </a:moveTo>
                  <a:lnTo>
                    <a:pt x="48451" y="65655"/>
                  </a:lnTo>
                  <a:cubicBezTo>
                    <a:pt x="42379" y="75271"/>
                    <a:pt x="36942" y="78938"/>
                    <a:pt x="28846" y="78938"/>
                  </a:cubicBezTo>
                  <a:cubicBezTo>
                    <a:pt x="21883" y="78938"/>
                    <a:pt x="16573" y="75652"/>
                    <a:pt x="12902" y="68818"/>
                  </a:cubicBezTo>
                  <a:cubicBezTo>
                    <a:pt x="10375" y="63885"/>
                    <a:pt x="9362" y="59456"/>
                    <a:pt x="9108" y="51360"/>
                  </a:cubicBezTo>
                  <a:lnTo>
                    <a:pt x="48073" y="51360"/>
                  </a:lnTo>
                  <a:cubicBezTo>
                    <a:pt x="47061" y="43136"/>
                    <a:pt x="45795" y="39469"/>
                    <a:pt x="42633" y="35421"/>
                  </a:cubicBezTo>
                  <a:cubicBezTo>
                    <a:pt x="38838" y="30865"/>
                    <a:pt x="33020" y="28210"/>
                    <a:pt x="26440" y="28210"/>
                  </a:cubicBezTo>
                  <a:cubicBezTo>
                    <a:pt x="10752" y="28210"/>
                    <a:pt x="0" y="40862"/>
                    <a:pt x="0" y="59333"/>
                  </a:cubicBezTo>
                  <a:cubicBezTo>
                    <a:pt x="0" y="76787"/>
                    <a:pt x="9108" y="87670"/>
                    <a:pt x="23658" y="87670"/>
                  </a:cubicBezTo>
                  <a:cubicBezTo>
                    <a:pt x="35803" y="87670"/>
                    <a:pt x="45165" y="80204"/>
                    <a:pt x="50475" y="66540"/>
                  </a:cubicBezTo>
                  <a:close/>
                  <a:moveTo>
                    <a:pt x="35168" y="47311"/>
                  </a:moveTo>
                  <a:lnTo>
                    <a:pt x="9362" y="47311"/>
                  </a:lnTo>
                  <a:cubicBezTo>
                    <a:pt x="10752" y="37318"/>
                    <a:pt x="15053" y="32766"/>
                    <a:pt x="22772" y="32766"/>
                  </a:cubicBezTo>
                  <a:cubicBezTo>
                    <a:pt x="30488" y="32766"/>
                    <a:pt x="33524" y="36306"/>
                    <a:pt x="35168" y="47311"/>
                  </a:cubicBezTo>
                  <a:close/>
                  <a:moveTo>
                    <a:pt x="115128" y="81090"/>
                  </a:moveTo>
                  <a:lnTo>
                    <a:pt x="115128" y="79065"/>
                  </a:lnTo>
                  <a:cubicBezTo>
                    <a:pt x="112851" y="79192"/>
                    <a:pt x="112601" y="79192"/>
                    <a:pt x="112220" y="79192"/>
                  </a:cubicBezTo>
                  <a:cubicBezTo>
                    <a:pt x="107663" y="79192"/>
                    <a:pt x="106651" y="77799"/>
                    <a:pt x="106651" y="71981"/>
                  </a:cubicBezTo>
                  <a:lnTo>
                    <a:pt x="106651" y="254"/>
                  </a:lnTo>
                  <a:lnTo>
                    <a:pt x="106021" y="0"/>
                  </a:lnTo>
                  <a:cubicBezTo>
                    <a:pt x="99948" y="2151"/>
                    <a:pt x="95519" y="3413"/>
                    <a:pt x="87423" y="5564"/>
                  </a:cubicBezTo>
                  <a:lnTo>
                    <a:pt x="87423" y="7588"/>
                  </a:lnTo>
                  <a:cubicBezTo>
                    <a:pt x="88435" y="7461"/>
                    <a:pt x="89197" y="7461"/>
                    <a:pt x="90209" y="7461"/>
                  </a:cubicBezTo>
                  <a:cubicBezTo>
                    <a:pt x="94888" y="7461"/>
                    <a:pt x="96027" y="8727"/>
                    <a:pt x="96027" y="13915"/>
                  </a:cubicBezTo>
                  <a:lnTo>
                    <a:pt x="96027" y="33651"/>
                  </a:lnTo>
                  <a:cubicBezTo>
                    <a:pt x="91220" y="29603"/>
                    <a:pt x="87804" y="28210"/>
                    <a:pt x="82743" y="28210"/>
                  </a:cubicBezTo>
                  <a:cubicBezTo>
                    <a:pt x="68194" y="28210"/>
                    <a:pt x="56431" y="42505"/>
                    <a:pt x="56431" y="60468"/>
                  </a:cubicBezTo>
                  <a:cubicBezTo>
                    <a:pt x="56431" y="76664"/>
                    <a:pt x="65916" y="87670"/>
                    <a:pt x="79835" y="87670"/>
                  </a:cubicBezTo>
                  <a:cubicBezTo>
                    <a:pt x="86919" y="87670"/>
                    <a:pt x="91724" y="85138"/>
                    <a:pt x="96027" y="79192"/>
                  </a:cubicBezTo>
                  <a:lnTo>
                    <a:pt x="96027" y="87289"/>
                  </a:lnTo>
                  <a:lnTo>
                    <a:pt x="96531" y="87670"/>
                  </a:lnTo>
                  <a:lnTo>
                    <a:pt x="115128" y="81090"/>
                  </a:lnTo>
                  <a:close/>
                  <a:moveTo>
                    <a:pt x="96027" y="73501"/>
                  </a:moveTo>
                  <a:cubicBezTo>
                    <a:pt x="96027" y="74386"/>
                    <a:pt x="95142" y="75902"/>
                    <a:pt x="93876" y="77295"/>
                  </a:cubicBezTo>
                  <a:cubicBezTo>
                    <a:pt x="91597" y="79823"/>
                    <a:pt x="88435" y="81090"/>
                    <a:pt x="84767" y="81090"/>
                  </a:cubicBezTo>
                  <a:cubicBezTo>
                    <a:pt x="74266" y="81090"/>
                    <a:pt x="67309" y="70969"/>
                    <a:pt x="67309" y="55408"/>
                  </a:cubicBezTo>
                  <a:cubicBezTo>
                    <a:pt x="67309" y="41112"/>
                    <a:pt x="73508" y="31754"/>
                    <a:pt x="83120" y="31754"/>
                  </a:cubicBezTo>
                  <a:cubicBezTo>
                    <a:pt x="89827" y="31754"/>
                    <a:pt x="96027" y="37699"/>
                    <a:pt x="96027" y="44402"/>
                  </a:cubicBezTo>
                  <a:lnTo>
                    <a:pt x="96027" y="73501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8" name="lag_c"/>
          <p:cNvGrpSpPr/>
          <p:nvPr/>
        </p:nvGrpSpPr>
        <p:grpSpPr>
          <a:xfrm>
            <a:off x="1378822" y="2712196"/>
            <a:ext cx="267092" cy="87288"/>
            <a:chOff x="1378822" y="2712196"/>
            <a:chExt cx="267092" cy="87288"/>
          </a:xfrm>
        </p:grpSpPr>
        <p:sp>
          <p:nvSpPr>
            <p:cNvPr id="189" name="lag_c_outline_0"/>
            <p:cNvSpPr/>
            <p:nvPr/>
          </p:nvSpPr>
          <p:spPr>
            <a:xfrm>
              <a:off x="1378822" y="2741925"/>
              <a:ext cx="49970" cy="57181"/>
            </a:xfrm>
            <a:custGeom>
              <a:avLst/>
              <a:gdLst/>
              <a:ahLst/>
              <a:cxnLst/>
              <a:rect l="0" t="0" r="r" b="b"/>
              <a:pathLst>
                <a:path w="49971" h="57182">
                  <a:moveTo>
                    <a:pt x="42509" y="43644"/>
                  </a:moveTo>
                  <a:lnTo>
                    <a:pt x="40485" y="42378"/>
                  </a:lnTo>
                  <a:cubicBezTo>
                    <a:pt x="33524" y="49844"/>
                    <a:pt x="28591" y="52626"/>
                    <a:pt x="22392" y="52626"/>
                  </a:cubicBezTo>
                  <a:cubicBezTo>
                    <a:pt x="15180" y="52626"/>
                    <a:pt x="10882" y="47312"/>
                    <a:pt x="10882" y="38203"/>
                  </a:cubicBezTo>
                  <a:cubicBezTo>
                    <a:pt x="10882" y="27452"/>
                    <a:pt x="15307" y="16193"/>
                    <a:pt x="22392" y="8727"/>
                  </a:cubicBezTo>
                  <a:cubicBezTo>
                    <a:pt x="26063" y="4933"/>
                    <a:pt x="31123" y="2655"/>
                    <a:pt x="36183" y="2655"/>
                  </a:cubicBezTo>
                  <a:cubicBezTo>
                    <a:pt x="39092" y="2655"/>
                    <a:pt x="40862" y="3667"/>
                    <a:pt x="40862" y="5187"/>
                  </a:cubicBezTo>
                  <a:cubicBezTo>
                    <a:pt x="40862" y="5818"/>
                    <a:pt x="40735" y="6449"/>
                    <a:pt x="40104" y="7588"/>
                  </a:cubicBezTo>
                  <a:cubicBezTo>
                    <a:pt x="39219" y="9235"/>
                    <a:pt x="38965" y="9993"/>
                    <a:pt x="38965" y="11259"/>
                  </a:cubicBezTo>
                  <a:cubicBezTo>
                    <a:pt x="38965" y="14296"/>
                    <a:pt x="40862" y="16066"/>
                    <a:pt x="43898" y="16066"/>
                  </a:cubicBezTo>
                  <a:cubicBezTo>
                    <a:pt x="47442" y="16066"/>
                    <a:pt x="49971" y="13661"/>
                    <a:pt x="49971" y="10247"/>
                  </a:cubicBezTo>
                  <a:cubicBezTo>
                    <a:pt x="49971" y="4302"/>
                    <a:pt x="44406" y="0"/>
                    <a:pt x="36687" y="0"/>
                  </a:cubicBezTo>
                  <a:cubicBezTo>
                    <a:pt x="17713" y="0"/>
                    <a:pt x="0" y="18471"/>
                    <a:pt x="0" y="38203"/>
                  </a:cubicBezTo>
                  <a:cubicBezTo>
                    <a:pt x="0" y="50221"/>
                    <a:pt x="6834" y="57182"/>
                    <a:pt x="18598" y="57182"/>
                  </a:cubicBezTo>
                  <a:cubicBezTo>
                    <a:pt x="28087" y="57182"/>
                    <a:pt x="34790" y="53384"/>
                    <a:pt x="42509" y="43644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lag_c_outline_1"/>
            <p:cNvSpPr/>
            <p:nvPr/>
          </p:nvSpPr>
          <p:spPr>
            <a:xfrm>
              <a:off x="1477918" y="2748883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lag_c_outline_2"/>
            <p:cNvSpPr/>
            <p:nvPr/>
          </p:nvSpPr>
          <p:spPr>
            <a:xfrm>
              <a:off x="1588733" y="271219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2" name="lag_beta"/>
          <p:cNvGrpSpPr/>
          <p:nvPr/>
        </p:nvGrpSpPr>
        <p:grpSpPr>
          <a:xfrm>
            <a:off x="1207798" y="2851729"/>
            <a:ext cx="599074" cy="113855"/>
            <a:chOff x="1207798" y="2851729"/>
            <a:chExt cx="599074" cy="113855"/>
          </a:xfrm>
        </p:grpSpPr>
        <p:sp>
          <p:nvSpPr>
            <p:cNvPr id="193" name="lag_beta_outline_0"/>
            <p:cNvSpPr/>
            <p:nvPr/>
          </p:nvSpPr>
          <p:spPr>
            <a:xfrm>
              <a:off x="1207798" y="2855269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49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49"/>
                  </a:cubicBezTo>
                  <a:close/>
                  <a:moveTo>
                    <a:pt x="66163" y="14295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5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lag_beta_outline_1"/>
            <p:cNvSpPr/>
            <p:nvPr/>
          </p:nvSpPr>
          <p:spPr>
            <a:xfrm>
              <a:off x="1291934" y="2892649"/>
              <a:ext cx="50637" cy="72013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3"/>
                    <a:pt x="41196" y="66616"/>
                    <a:pt x="39430" y="66616"/>
                  </a:cubicBezTo>
                  <a:cubicBezTo>
                    <a:pt x="37044" y="66616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lag_beta_outline_2"/>
            <p:cNvSpPr/>
            <p:nvPr/>
          </p:nvSpPr>
          <p:spPr>
            <a:xfrm>
              <a:off x="1389925" y="2851729"/>
              <a:ext cx="364889" cy="113855"/>
            </a:xfrm>
            <a:custGeom>
              <a:avLst/>
              <a:gdLst/>
              <a:ahLst/>
              <a:cxnLst/>
              <a:rect l="0" t="0" r="r" b="b"/>
              <a:pathLst>
                <a:path w="364889" h="113856">
                  <a:moveTo>
                    <a:pt x="51237" y="81343"/>
                  </a:moveTo>
                  <a:lnTo>
                    <a:pt x="51237" y="78053"/>
                  </a:lnTo>
                  <a:cubicBezTo>
                    <a:pt x="49085" y="79823"/>
                    <a:pt x="47569" y="80458"/>
                    <a:pt x="45672" y="80458"/>
                  </a:cubicBezTo>
                  <a:cubicBezTo>
                    <a:pt x="42759" y="80458"/>
                    <a:pt x="41874" y="78688"/>
                    <a:pt x="41874" y="73120"/>
                  </a:cubicBezTo>
                  <a:lnTo>
                    <a:pt x="41874" y="48450"/>
                  </a:lnTo>
                  <a:cubicBezTo>
                    <a:pt x="41874" y="42001"/>
                    <a:pt x="41243" y="38457"/>
                    <a:pt x="39473" y="35548"/>
                  </a:cubicBezTo>
                  <a:cubicBezTo>
                    <a:pt x="36814" y="30742"/>
                    <a:pt x="31377" y="28210"/>
                    <a:pt x="23658" y="28210"/>
                  </a:cubicBezTo>
                  <a:cubicBezTo>
                    <a:pt x="17208" y="28210"/>
                    <a:pt x="11132" y="29980"/>
                    <a:pt x="7592" y="32889"/>
                  </a:cubicBezTo>
                  <a:cubicBezTo>
                    <a:pt x="4429" y="35548"/>
                    <a:pt x="2405" y="39215"/>
                    <a:pt x="2405" y="42378"/>
                  </a:cubicBezTo>
                  <a:cubicBezTo>
                    <a:pt x="2405" y="45287"/>
                    <a:pt x="4810" y="47819"/>
                    <a:pt x="7846" y="47819"/>
                  </a:cubicBezTo>
                  <a:cubicBezTo>
                    <a:pt x="10882" y="47819"/>
                    <a:pt x="13537" y="45287"/>
                    <a:pt x="13537" y="42505"/>
                  </a:cubicBezTo>
                  <a:cubicBezTo>
                    <a:pt x="13537" y="42001"/>
                    <a:pt x="13410" y="41366"/>
                    <a:pt x="13283" y="40481"/>
                  </a:cubicBezTo>
                  <a:cubicBezTo>
                    <a:pt x="13033" y="39342"/>
                    <a:pt x="12906" y="38330"/>
                    <a:pt x="12906" y="37445"/>
                  </a:cubicBezTo>
                  <a:cubicBezTo>
                    <a:pt x="12906" y="34028"/>
                    <a:pt x="16954" y="31246"/>
                    <a:pt x="22015" y="31246"/>
                  </a:cubicBezTo>
                  <a:cubicBezTo>
                    <a:pt x="28214" y="31246"/>
                    <a:pt x="31627" y="34917"/>
                    <a:pt x="31627" y="41747"/>
                  </a:cubicBezTo>
                  <a:lnTo>
                    <a:pt x="31627" y="49462"/>
                  </a:lnTo>
                  <a:cubicBezTo>
                    <a:pt x="12144" y="57309"/>
                    <a:pt x="9997" y="58321"/>
                    <a:pt x="4556" y="63127"/>
                  </a:cubicBezTo>
                  <a:cubicBezTo>
                    <a:pt x="1774" y="65655"/>
                    <a:pt x="0" y="69957"/>
                    <a:pt x="0" y="74132"/>
                  </a:cubicBezTo>
                  <a:cubicBezTo>
                    <a:pt x="0" y="82101"/>
                    <a:pt x="5441" y="87670"/>
                    <a:pt x="13283" y="87670"/>
                  </a:cubicBezTo>
                  <a:cubicBezTo>
                    <a:pt x="18852" y="87670"/>
                    <a:pt x="24039" y="85011"/>
                    <a:pt x="31754" y="78434"/>
                  </a:cubicBezTo>
                  <a:cubicBezTo>
                    <a:pt x="32389" y="85138"/>
                    <a:pt x="34663" y="87670"/>
                    <a:pt x="39850" y="87670"/>
                  </a:cubicBezTo>
                  <a:cubicBezTo>
                    <a:pt x="44152" y="87670"/>
                    <a:pt x="46807" y="86150"/>
                    <a:pt x="51237" y="81343"/>
                  </a:cubicBezTo>
                  <a:close/>
                  <a:moveTo>
                    <a:pt x="31627" y="70842"/>
                  </a:moveTo>
                  <a:cubicBezTo>
                    <a:pt x="31627" y="74763"/>
                    <a:pt x="30996" y="75902"/>
                    <a:pt x="28341" y="77549"/>
                  </a:cubicBezTo>
                  <a:cubicBezTo>
                    <a:pt x="25305" y="79319"/>
                    <a:pt x="21761" y="80331"/>
                    <a:pt x="19106" y="80331"/>
                  </a:cubicBezTo>
                  <a:cubicBezTo>
                    <a:pt x="14676" y="80331"/>
                    <a:pt x="11132" y="76029"/>
                    <a:pt x="11132" y="70592"/>
                  </a:cubicBezTo>
                  <a:lnTo>
                    <a:pt x="11132" y="70084"/>
                  </a:lnTo>
                  <a:cubicBezTo>
                    <a:pt x="11132" y="62619"/>
                    <a:pt x="16319" y="58067"/>
                    <a:pt x="31627" y="52499"/>
                  </a:cubicBezTo>
                  <a:lnTo>
                    <a:pt x="31627" y="70842"/>
                  </a:lnTo>
                  <a:close/>
                  <a:moveTo>
                    <a:pt x="113612" y="81089"/>
                  </a:moveTo>
                  <a:lnTo>
                    <a:pt x="113612" y="79065"/>
                  </a:lnTo>
                  <a:cubicBezTo>
                    <a:pt x="111334" y="79192"/>
                    <a:pt x="111084" y="79192"/>
                    <a:pt x="110703" y="79192"/>
                  </a:cubicBezTo>
                  <a:cubicBezTo>
                    <a:pt x="106147" y="79192"/>
                    <a:pt x="105135" y="77799"/>
                    <a:pt x="105135" y="71981"/>
                  </a:cubicBezTo>
                  <a:lnTo>
                    <a:pt x="105135" y="254"/>
                  </a:lnTo>
                  <a:lnTo>
                    <a:pt x="104504" y="0"/>
                  </a:lnTo>
                  <a:cubicBezTo>
                    <a:pt x="98432" y="2151"/>
                    <a:pt x="94003" y="3413"/>
                    <a:pt x="85907" y="5564"/>
                  </a:cubicBezTo>
                  <a:lnTo>
                    <a:pt x="85907" y="7588"/>
                  </a:lnTo>
                  <a:cubicBezTo>
                    <a:pt x="86919" y="7461"/>
                    <a:pt x="87681" y="7461"/>
                    <a:pt x="88693" y="7461"/>
                  </a:cubicBezTo>
                  <a:cubicBezTo>
                    <a:pt x="93372" y="7461"/>
                    <a:pt x="94511" y="8727"/>
                    <a:pt x="94511" y="13914"/>
                  </a:cubicBezTo>
                  <a:lnTo>
                    <a:pt x="94511" y="33651"/>
                  </a:lnTo>
                  <a:cubicBezTo>
                    <a:pt x="89705" y="29603"/>
                    <a:pt x="86288" y="28210"/>
                    <a:pt x="81227" y="28210"/>
                  </a:cubicBezTo>
                  <a:cubicBezTo>
                    <a:pt x="66678" y="28210"/>
                    <a:pt x="54915" y="42505"/>
                    <a:pt x="54915" y="60468"/>
                  </a:cubicBezTo>
                  <a:cubicBezTo>
                    <a:pt x="54915" y="76664"/>
                    <a:pt x="64400" y="87670"/>
                    <a:pt x="78318" y="87670"/>
                  </a:cubicBezTo>
                  <a:cubicBezTo>
                    <a:pt x="85403" y="87670"/>
                    <a:pt x="90209" y="85138"/>
                    <a:pt x="94511" y="79192"/>
                  </a:cubicBezTo>
                  <a:lnTo>
                    <a:pt x="94511" y="87289"/>
                  </a:lnTo>
                  <a:lnTo>
                    <a:pt x="95015" y="87670"/>
                  </a:lnTo>
                  <a:lnTo>
                    <a:pt x="113612" y="81089"/>
                  </a:lnTo>
                  <a:close/>
                  <a:moveTo>
                    <a:pt x="94511" y="73501"/>
                  </a:moveTo>
                  <a:cubicBezTo>
                    <a:pt x="94511" y="74386"/>
                    <a:pt x="93626" y="75902"/>
                    <a:pt x="92360" y="77295"/>
                  </a:cubicBezTo>
                  <a:cubicBezTo>
                    <a:pt x="90082" y="79823"/>
                    <a:pt x="86919" y="81089"/>
                    <a:pt x="83252" y="81089"/>
                  </a:cubicBezTo>
                  <a:cubicBezTo>
                    <a:pt x="72750" y="81089"/>
                    <a:pt x="65793" y="70969"/>
                    <a:pt x="65793" y="55408"/>
                  </a:cubicBezTo>
                  <a:cubicBezTo>
                    <a:pt x="65793" y="41112"/>
                    <a:pt x="71992" y="31754"/>
                    <a:pt x="81604" y="31754"/>
                  </a:cubicBezTo>
                  <a:cubicBezTo>
                    <a:pt x="88312" y="31754"/>
                    <a:pt x="94511" y="37699"/>
                    <a:pt x="94511" y="44402"/>
                  </a:cubicBezTo>
                  <a:lnTo>
                    <a:pt x="94511" y="73501"/>
                  </a:lnTo>
                  <a:close/>
                  <a:moveTo>
                    <a:pt x="170675" y="81343"/>
                  </a:moveTo>
                  <a:lnTo>
                    <a:pt x="170675" y="78053"/>
                  </a:lnTo>
                  <a:cubicBezTo>
                    <a:pt x="168525" y="79823"/>
                    <a:pt x="167008" y="80458"/>
                    <a:pt x="165111" y="80458"/>
                  </a:cubicBezTo>
                  <a:cubicBezTo>
                    <a:pt x="162197" y="80458"/>
                    <a:pt x="161312" y="78688"/>
                    <a:pt x="161312" y="73120"/>
                  </a:cubicBezTo>
                  <a:lnTo>
                    <a:pt x="161312" y="48450"/>
                  </a:lnTo>
                  <a:cubicBezTo>
                    <a:pt x="161312" y="42001"/>
                    <a:pt x="160682" y="38457"/>
                    <a:pt x="158912" y="35548"/>
                  </a:cubicBezTo>
                  <a:cubicBezTo>
                    <a:pt x="156253" y="30742"/>
                    <a:pt x="150816" y="28210"/>
                    <a:pt x="143097" y="28210"/>
                  </a:cubicBezTo>
                  <a:cubicBezTo>
                    <a:pt x="136648" y="28210"/>
                    <a:pt x="130571" y="29980"/>
                    <a:pt x="127031" y="32889"/>
                  </a:cubicBezTo>
                  <a:cubicBezTo>
                    <a:pt x="123868" y="35548"/>
                    <a:pt x="121844" y="39215"/>
                    <a:pt x="121844" y="42378"/>
                  </a:cubicBezTo>
                  <a:cubicBezTo>
                    <a:pt x="121844" y="45287"/>
                    <a:pt x="124249" y="47819"/>
                    <a:pt x="127285" y="47819"/>
                  </a:cubicBezTo>
                  <a:cubicBezTo>
                    <a:pt x="130320" y="47819"/>
                    <a:pt x="132976" y="45287"/>
                    <a:pt x="132976" y="42505"/>
                  </a:cubicBezTo>
                  <a:cubicBezTo>
                    <a:pt x="132976" y="42001"/>
                    <a:pt x="132849" y="41366"/>
                    <a:pt x="132722" y="40481"/>
                  </a:cubicBezTo>
                  <a:cubicBezTo>
                    <a:pt x="132472" y="39342"/>
                    <a:pt x="132345" y="38330"/>
                    <a:pt x="132345" y="37445"/>
                  </a:cubicBezTo>
                  <a:cubicBezTo>
                    <a:pt x="132345" y="34028"/>
                    <a:pt x="136394" y="31246"/>
                    <a:pt x="141453" y="31246"/>
                  </a:cubicBezTo>
                  <a:cubicBezTo>
                    <a:pt x="147652" y="31246"/>
                    <a:pt x="151066" y="34917"/>
                    <a:pt x="151066" y="41747"/>
                  </a:cubicBezTo>
                  <a:lnTo>
                    <a:pt x="151066" y="49462"/>
                  </a:lnTo>
                  <a:cubicBezTo>
                    <a:pt x="131583" y="57309"/>
                    <a:pt x="129436" y="58321"/>
                    <a:pt x="123995" y="63127"/>
                  </a:cubicBezTo>
                  <a:cubicBezTo>
                    <a:pt x="121213" y="65655"/>
                    <a:pt x="119439" y="69957"/>
                    <a:pt x="119439" y="74132"/>
                  </a:cubicBezTo>
                  <a:cubicBezTo>
                    <a:pt x="119439" y="82101"/>
                    <a:pt x="124880" y="87670"/>
                    <a:pt x="132722" y="87670"/>
                  </a:cubicBezTo>
                  <a:cubicBezTo>
                    <a:pt x="138290" y="87670"/>
                    <a:pt x="143478" y="85011"/>
                    <a:pt x="151193" y="78434"/>
                  </a:cubicBezTo>
                  <a:cubicBezTo>
                    <a:pt x="151828" y="85138"/>
                    <a:pt x="154101" y="87670"/>
                    <a:pt x="159289" y="87670"/>
                  </a:cubicBezTo>
                  <a:cubicBezTo>
                    <a:pt x="163591" y="87670"/>
                    <a:pt x="166246" y="86150"/>
                    <a:pt x="170675" y="81343"/>
                  </a:cubicBezTo>
                  <a:close/>
                  <a:moveTo>
                    <a:pt x="151066" y="70842"/>
                  </a:moveTo>
                  <a:cubicBezTo>
                    <a:pt x="151066" y="74763"/>
                    <a:pt x="150435" y="75902"/>
                    <a:pt x="147779" y="77549"/>
                  </a:cubicBezTo>
                  <a:cubicBezTo>
                    <a:pt x="144744" y="79319"/>
                    <a:pt x="141199" y="80331"/>
                    <a:pt x="138544" y="80331"/>
                  </a:cubicBezTo>
                  <a:cubicBezTo>
                    <a:pt x="134115" y="80331"/>
                    <a:pt x="130571" y="76029"/>
                    <a:pt x="130571" y="70592"/>
                  </a:cubicBezTo>
                  <a:lnTo>
                    <a:pt x="130571" y="70084"/>
                  </a:lnTo>
                  <a:cubicBezTo>
                    <a:pt x="130571" y="62619"/>
                    <a:pt x="135759" y="58067"/>
                    <a:pt x="151066" y="52499"/>
                  </a:cubicBezTo>
                  <a:lnTo>
                    <a:pt x="151066" y="70842"/>
                  </a:lnTo>
                  <a:close/>
                  <a:moveTo>
                    <a:pt x="230396" y="55158"/>
                  </a:moveTo>
                  <a:cubicBezTo>
                    <a:pt x="230396" y="39469"/>
                    <a:pt x="221538" y="28210"/>
                    <a:pt x="209266" y="28210"/>
                  </a:cubicBezTo>
                  <a:cubicBezTo>
                    <a:pt x="202182" y="28210"/>
                    <a:pt x="196618" y="31373"/>
                    <a:pt x="191049" y="38203"/>
                  </a:cubicBezTo>
                  <a:lnTo>
                    <a:pt x="191049" y="28464"/>
                  </a:lnTo>
                  <a:lnTo>
                    <a:pt x="190291" y="28210"/>
                  </a:lnTo>
                  <a:cubicBezTo>
                    <a:pt x="183461" y="30865"/>
                    <a:pt x="179032" y="32512"/>
                    <a:pt x="172075" y="34663"/>
                  </a:cubicBezTo>
                  <a:lnTo>
                    <a:pt x="172075" y="36687"/>
                  </a:lnTo>
                  <a:cubicBezTo>
                    <a:pt x="173215" y="36560"/>
                    <a:pt x="174099" y="36560"/>
                    <a:pt x="175238" y="36560"/>
                  </a:cubicBezTo>
                  <a:cubicBezTo>
                    <a:pt x="179540" y="36560"/>
                    <a:pt x="180426" y="37826"/>
                    <a:pt x="180426" y="43771"/>
                  </a:cubicBezTo>
                  <a:lnTo>
                    <a:pt x="180426" y="102977"/>
                  </a:lnTo>
                  <a:cubicBezTo>
                    <a:pt x="180426" y="109553"/>
                    <a:pt x="179032" y="110946"/>
                    <a:pt x="171567" y="111704"/>
                  </a:cubicBezTo>
                  <a:lnTo>
                    <a:pt x="171567" y="113856"/>
                  </a:lnTo>
                  <a:lnTo>
                    <a:pt x="202182" y="113856"/>
                  </a:lnTo>
                  <a:lnTo>
                    <a:pt x="202182" y="111577"/>
                  </a:lnTo>
                  <a:cubicBezTo>
                    <a:pt x="192696" y="111450"/>
                    <a:pt x="191049" y="110061"/>
                    <a:pt x="191049" y="102092"/>
                  </a:cubicBezTo>
                  <a:lnTo>
                    <a:pt x="191049" y="82228"/>
                  </a:lnTo>
                  <a:cubicBezTo>
                    <a:pt x="195479" y="86404"/>
                    <a:pt x="198514" y="87670"/>
                    <a:pt x="203829" y="87670"/>
                  </a:cubicBezTo>
                  <a:cubicBezTo>
                    <a:pt x="218756" y="87670"/>
                    <a:pt x="230396" y="73501"/>
                    <a:pt x="230396" y="55158"/>
                  </a:cubicBezTo>
                  <a:close/>
                  <a:moveTo>
                    <a:pt x="219514" y="60091"/>
                  </a:moveTo>
                  <a:cubicBezTo>
                    <a:pt x="219514" y="74132"/>
                    <a:pt x="213315" y="83622"/>
                    <a:pt x="204206" y="83622"/>
                  </a:cubicBezTo>
                  <a:cubicBezTo>
                    <a:pt x="198260" y="83622"/>
                    <a:pt x="191049" y="79065"/>
                    <a:pt x="191049" y="75271"/>
                  </a:cubicBezTo>
                  <a:lnTo>
                    <a:pt x="191049" y="44148"/>
                  </a:lnTo>
                  <a:cubicBezTo>
                    <a:pt x="191049" y="40354"/>
                    <a:pt x="198133" y="35802"/>
                    <a:pt x="203956" y="35802"/>
                  </a:cubicBezTo>
                  <a:cubicBezTo>
                    <a:pt x="213315" y="35802"/>
                    <a:pt x="219514" y="45414"/>
                    <a:pt x="219514" y="60091"/>
                  </a:cubicBezTo>
                  <a:close/>
                  <a:moveTo>
                    <a:pt x="269492" y="78053"/>
                  </a:moveTo>
                  <a:lnTo>
                    <a:pt x="267849" y="76664"/>
                  </a:lnTo>
                  <a:cubicBezTo>
                    <a:pt x="265067" y="79950"/>
                    <a:pt x="263043" y="81089"/>
                    <a:pt x="260257" y="81089"/>
                  </a:cubicBezTo>
                  <a:cubicBezTo>
                    <a:pt x="255578" y="81089"/>
                    <a:pt x="253681" y="77799"/>
                    <a:pt x="253681" y="69703"/>
                  </a:cubicBezTo>
                  <a:lnTo>
                    <a:pt x="253681" y="33524"/>
                  </a:lnTo>
                  <a:lnTo>
                    <a:pt x="266455" y="33524"/>
                  </a:lnTo>
                  <a:lnTo>
                    <a:pt x="266455" y="29476"/>
                  </a:lnTo>
                  <a:lnTo>
                    <a:pt x="253681" y="29476"/>
                  </a:lnTo>
                  <a:lnTo>
                    <a:pt x="253681" y="14799"/>
                  </a:lnTo>
                  <a:cubicBezTo>
                    <a:pt x="253681" y="13533"/>
                    <a:pt x="253427" y="13156"/>
                    <a:pt x="252795" y="13156"/>
                  </a:cubicBezTo>
                  <a:cubicBezTo>
                    <a:pt x="252037" y="14422"/>
                    <a:pt x="251148" y="15557"/>
                    <a:pt x="250263" y="16696"/>
                  </a:cubicBezTo>
                  <a:cubicBezTo>
                    <a:pt x="245584" y="23658"/>
                    <a:pt x="241282" y="28337"/>
                    <a:pt x="237992" y="30234"/>
                  </a:cubicBezTo>
                  <a:cubicBezTo>
                    <a:pt x="236603" y="31119"/>
                    <a:pt x="235841" y="31877"/>
                    <a:pt x="235841" y="32639"/>
                  </a:cubicBezTo>
                  <a:cubicBezTo>
                    <a:pt x="235841" y="33016"/>
                    <a:pt x="235968" y="33270"/>
                    <a:pt x="236349" y="33524"/>
                  </a:cubicBezTo>
                  <a:lnTo>
                    <a:pt x="243052" y="33524"/>
                  </a:lnTo>
                  <a:lnTo>
                    <a:pt x="243052" y="71604"/>
                  </a:lnTo>
                  <a:cubicBezTo>
                    <a:pt x="243052" y="82228"/>
                    <a:pt x="246850" y="87670"/>
                    <a:pt x="254185" y="87670"/>
                  </a:cubicBezTo>
                  <a:cubicBezTo>
                    <a:pt x="260511" y="87670"/>
                    <a:pt x="265316" y="84634"/>
                    <a:pt x="269492" y="78053"/>
                  </a:cubicBezTo>
                  <a:close/>
                  <a:moveTo>
                    <a:pt x="301379" y="86404"/>
                  </a:moveTo>
                  <a:lnTo>
                    <a:pt x="301379" y="84507"/>
                  </a:lnTo>
                  <a:cubicBezTo>
                    <a:pt x="293029" y="83872"/>
                    <a:pt x="292017" y="82609"/>
                    <a:pt x="292017" y="73501"/>
                  </a:cubicBezTo>
                  <a:lnTo>
                    <a:pt x="292017" y="28591"/>
                  </a:lnTo>
                  <a:lnTo>
                    <a:pt x="291509" y="28210"/>
                  </a:lnTo>
                  <a:lnTo>
                    <a:pt x="271903" y="35167"/>
                  </a:lnTo>
                  <a:lnTo>
                    <a:pt x="271903" y="37064"/>
                  </a:lnTo>
                  <a:lnTo>
                    <a:pt x="272915" y="36941"/>
                  </a:lnTo>
                  <a:cubicBezTo>
                    <a:pt x="274431" y="36687"/>
                    <a:pt x="276074" y="36560"/>
                    <a:pt x="277214" y="36560"/>
                  </a:cubicBezTo>
                  <a:cubicBezTo>
                    <a:pt x="280249" y="36560"/>
                    <a:pt x="281388" y="38584"/>
                    <a:pt x="281388" y="44148"/>
                  </a:cubicBezTo>
                  <a:lnTo>
                    <a:pt x="281388" y="73501"/>
                  </a:lnTo>
                  <a:cubicBezTo>
                    <a:pt x="281388" y="82609"/>
                    <a:pt x="280122" y="83999"/>
                    <a:pt x="271395" y="84507"/>
                  </a:cubicBezTo>
                  <a:lnTo>
                    <a:pt x="271395" y="86404"/>
                  </a:lnTo>
                  <a:lnTo>
                    <a:pt x="301379" y="86404"/>
                  </a:lnTo>
                  <a:close/>
                  <a:moveTo>
                    <a:pt x="293156" y="6449"/>
                  </a:moveTo>
                  <a:cubicBezTo>
                    <a:pt x="293156" y="2909"/>
                    <a:pt x="290370" y="0"/>
                    <a:pt x="286703" y="0"/>
                  </a:cubicBezTo>
                  <a:cubicBezTo>
                    <a:pt x="283159" y="0"/>
                    <a:pt x="280249" y="2909"/>
                    <a:pt x="280249" y="6449"/>
                  </a:cubicBezTo>
                  <a:cubicBezTo>
                    <a:pt x="280249" y="10120"/>
                    <a:pt x="283159" y="12902"/>
                    <a:pt x="286703" y="12902"/>
                  </a:cubicBezTo>
                  <a:cubicBezTo>
                    <a:pt x="290370" y="12902"/>
                    <a:pt x="293156" y="10120"/>
                    <a:pt x="293156" y="6449"/>
                  </a:cubicBezTo>
                  <a:close/>
                  <a:moveTo>
                    <a:pt x="364889" y="31373"/>
                  </a:moveTo>
                  <a:lnTo>
                    <a:pt x="364889" y="29476"/>
                  </a:lnTo>
                  <a:lnTo>
                    <a:pt x="347304" y="29476"/>
                  </a:lnTo>
                  <a:lnTo>
                    <a:pt x="347304" y="31373"/>
                  </a:lnTo>
                  <a:cubicBezTo>
                    <a:pt x="351351" y="31754"/>
                    <a:pt x="353249" y="33016"/>
                    <a:pt x="353249" y="35421"/>
                  </a:cubicBezTo>
                  <a:cubicBezTo>
                    <a:pt x="353249" y="36687"/>
                    <a:pt x="352995" y="37953"/>
                    <a:pt x="352490" y="39215"/>
                  </a:cubicBezTo>
                  <a:lnTo>
                    <a:pt x="339966" y="71981"/>
                  </a:lnTo>
                  <a:lnTo>
                    <a:pt x="327062" y="39596"/>
                  </a:lnTo>
                  <a:cubicBezTo>
                    <a:pt x="326304" y="37826"/>
                    <a:pt x="325923" y="36052"/>
                    <a:pt x="325923" y="34917"/>
                  </a:cubicBezTo>
                  <a:cubicBezTo>
                    <a:pt x="325923" y="32639"/>
                    <a:pt x="327316" y="31754"/>
                    <a:pt x="331742" y="31373"/>
                  </a:cubicBezTo>
                  <a:lnTo>
                    <a:pt x="331742" y="29476"/>
                  </a:lnTo>
                  <a:lnTo>
                    <a:pt x="306949" y="29476"/>
                  </a:lnTo>
                  <a:lnTo>
                    <a:pt x="306949" y="31373"/>
                  </a:lnTo>
                  <a:cubicBezTo>
                    <a:pt x="311755" y="31627"/>
                    <a:pt x="312640" y="32889"/>
                    <a:pt x="318458" y="45922"/>
                  </a:cubicBezTo>
                  <a:lnTo>
                    <a:pt x="333638" y="82228"/>
                  </a:lnTo>
                  <a:cubicBezTo>
                    <a:pt x="333892" y="82987"/>
                    <a:pt x="334273" y="83872"/>
                    <a:pt x="334651" y="84884"/>
                  </a:cubicBezTo>
                  <a:cubicBezTo>
                    <a:pt x="335413" y="87162"/>
                    <a:pt x="336171" y="88174"/>
                    <a:pt x="336929" y="88174"/>
                  </a:cubicBezTo>
                  <a:cubicBezTo>
                    <a:pt x="337687" y="88174"/>
                    <a:pt x="338576" y="86531"/>
                    <a:pt x="340474" y="81847"/>
                  </a:cubicBezTo>
                  <a:lnTo>
                    <a:pt x="356666" y="41239"/>
                  </a:lnTo>
                  <a:cubicBezTo>
                    <a:pt x="360333" y="32639"/>
                    <a:pt x="361095" y="31754"/>
                    <a:pt x="364889" y="31373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lag_beta_outline_3"/>
            <p:cNvSpPr/>
            <p:nvPr/>
          </p:nvSpPr>
          <p:spPr>
            <a:xfrm>
              <a:off x="1756398" y="2879938"/>
              <a:ext cx="50474" cy="59459"/>
            </a:xfrm>
            <a:custGeom>
              <a:avLst/>
              <a:gdLst/>
              <a:ahLst/>
              <a:cxnLst/>
              <a:rect l="0" t="0" r="r" b="b"/>
              <a:pathLst>
                <a:path w="50475" h="59460">
                  <a:moveTo>
                    <a:pt x="50475" y="38330"/>
                  </a:moveTo>
                  <a:lnTo>
                    <a:pt x="48450" y="37445"/>
                  </a:lnTo>
                  <a:cubicBezTo>
                    <a:pt x="42379" y="47061"/>
                    <a:pt x="36942" y="50729"/>
                    <a:pt x="28846" y="50729"/>
                  </a:cubicBezTo>
                  <a:cubicBezTo>
                    <a:pt x="21885" y="50729"/>
                    <a:pt x="16573" y="47442"/>
                    <a:pt x="12903" y="40608"/>
                  </a:cubicBezTo>
                  <a:cubicBezTo>
                    <a:pt x="10375" y="35675"/>
                    <a:pt x="9362" y="31246"/>
                    <a:pt x="9108" y="23150"/>
                  </a:cubicBezTo>
                  <a:lnTo>
                    <a:pt x="48073" y="23150"/>
                  </a:lnTo>
                  <a:cubicBezTo>
                    <a:pt x="47061" y="14926"/>
                    <a:pt x="45796" y="11259"/>
                    <a:pt x="42633" y="7211"/>
                  </a:cubicBezTo>
                  <a:cubicBezTo>
                    <a:pt x="38838" y="2655"/>
                    <a:pt x="33020" y="0"/>
                    <a:pt x="26440" y="0"/>
                  </a:cubicBezTo>
                  <a:cubicBezTo>
                    <a:pt x="10752" y="0"/>
                    <a:pt x="0" y="12652"/>
                    <a:pt x="0" y="31123"/>
                  </a:cubicBezTo>
                  <a:cubicBezTo>
                    <a:pt x="0" y="48577"/>
                    <a:pt x="9108" y="59460"/>
                    <a:pt x="23658" y="59460"/>
                  </a:cubicBezTo>
                  <a:cubicBezTo>
                    <a:pt x="35803" y="59460"/>
                    <a:pt x="45165" y="51995"/>
                    <a:pt x="50475" y="38330"/>
                  </a:cubicBezTo>
                  <a:close/>
                  <a:moveTo>
                    <a:pt x="35168" y="19102"/>
                  </a:moveTo>
                  <a:lnTo>
                    <a:pt x="9362" y="19102"/>
                  </a:lnTo>
                  <a:cubicBezTo>
                    <a:pt x="10752" y="9108"/>
                    <a:pt x="15053" y="4556"/>
                    <a:pt x="22772" y="4556"/>
                  </a:cubicBezTo>
                  <a:cubicBezTo>
                    <a:pt x="30488" y="4556"/>
                    <a:pt x="33524" y="8096"/>
                    <a:pt x="35168" y="19102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lp_limit"/>
          <p:cNvGrpSpPr/>
          <p:nvPr/>
        </p:nvGrpSpPr>
        <p:grpSpPr>
          <a:xfrm>
            <a:off x="3348339" y="2792556"/>
            <a:ext cx="339369" cy="91658"/>
            <a:chOff x="3348339" y="2792556"/>
            <a:chExt cx="339369" cy="91658"/>
          </a:xfrm>
        </p:grpSpPr>
        <p:sp>
          <p:nvSpPr>
            <p:cNvPr id="201" name="lp_limit_outline_0"/>
            <p:cNvSpPr/>
            <p:nvPr/>
          </p:nvSpPr>
          <p:spPr>
            <a:xfrm>
              <a:off x="3348339" y="2823774"/>
              <a:ext cx="61237" cy="60039"/>
            </a:xfrm>
            <a:custGeom>
              <a:avLst/>
              <a:gdLst/>
              <a:ahLst/>
              <a:cxnLst/>
              <a:rect l="0" t="0" r="r" b="b"/>
              <a:pathLst>
                <a:path w="61238" h="60039">
                  <a:moveTo>
                    <a:pt x="61238" y="10890"/>
                  </a:moveTo>
                  <a:cubicBezTo>
                    <a:pt x="61238" y="2123"/>
                    <a:pt x="43970" y="0"/>
                    <a:pt x="37060" y="0"/>
                  </a:cubicBezTo>
                  <a:cubicBezTo>
                    <a:pt x="26833" y="0"/>
                    <a:pt x="10894" y="4251"/>
                    <a:pt x="10894" y="16601"/>
                  </a:cubicBezTo>
                  <a:cubicBezTo>
                    <a:pt x="10894" y="22713"/>
                    <a:pt x="15939" y="26567"/>
                    <a:pt x="21784" y="27496"/>
                  </a:cubicBezTo>
                  <a:lnTo>
                    <a:pt x="21784" y="28027"/>
                  </a:lnTo>
                  <a:cubicBezTo>
                    <a:pt x="12621" y="29222"/>
                    <a:pt x="0" y="34933"/>
                    <a:pt x="0" y="45426"/>
                  </a:cubicBezTo>
                  <a:cubicBezTo>
                    <a:pt x="0" y="57650"/>
                    <a:pt x="14212" y="60039"/>
                    <a:pt x="24178" y="60039"/>
                  </a:cubicBezTo>
                  <a:cubicBezTo>
                    <a:pt x="34139" y="60039"/>
                    <a:pt x="45827" y="56983"/>
                    <a:pt x="52205" y="49014"/>
                  </a:cubicBezTo>
                  <a:cubicBezTo>
                    <a:pt x="53531" y="47288"/>
                    <a:pt x="54860" y="45295"/>
                    <a:pt x="54860" y="43037"/>
                  </a:cubicBezTo>
                  <a:cubicBezTo>
                    <a:pt x="54860" y="41442"/>
                    <a:pt x="53400" y="39715"/>
                    <a:pt x="51673" y="39715"/>
                  </a:cubicBezTo>
                  <a:cubicBezTo>
                    <a:pt x="45164" y="39715"/>
                    <a:pt x="43704" y="56451"/>
                    <a:pt x="25638" y="56451"/>
                  </a:cubicBezTo>
                  <a:cubicBezTo>
                    <a:pt x="18598" y="56451"/>
                    <a:pt x="13283" y="53931"/>
                    <a:pt x="13283" y="46490"/>
                  </a:cubicBezTo>
                  <a:cubicBezTo>
                    <a:pt x="13283" y="39318"/>
                    <a:pt x="17931" y="31214"/>
                    <a:pt x="26170" y="31214"/>
                  </a:cubicBezTo>
                  <a:cubicBezTo>
                    <a:pt x="30020" y="31214"/>
                    <a:pt x="33607" y="32675"/>
                    <a:pt x="37461" y="32675"/>
                  </a:cubicBezTo>
                  <a:cubicBezTo>
                    <a:pt x="40513" y="32675"/>
                    <a:pt x="43303" y="31746"/>
                    <a:pt x="43303" y="28293"/>
                  </a:cubicBezTo>
                  <a:cubicBezTo>
                    <a:pt x="43303" y="25237"/>
                    <a:pt x="41446" y="24840"/>
                    <a:pt x="38656" y="24840"/>
                  </a:cubicBezTo>
                  <a:cubicBezTo>
                    <a:pt x="35600" y="24840"/>
                    <a:pt x="32679" y="25237"/>
                    <a:pt x="29754" y="25237"/>
                  </a:cubicBezTo>
                  <a:cubicBezTo>
                    <a:pt x="24840" y="25237"/>
                    <a:pt x="22713" y="23245"/>
                    <a:pt x="22713" y="18463"/>
                  </a:cubicBezTo>
                  <a:cubicBezTo>
                    <a:pt x="22713" y="11025"/>
                    <a:pt x="28694" y="3584"/>
                    <a:pt x="36794" y="3584"/>
                  </a:cubicBezTo>
                  <a:cubicBezTo>
                    <a:pt x="48752" y="3584"/>
                    <a:pt x="47554" y="16073"/>
                    <a:pt x="55527" y="16073"/>
                  </a:cubicBezTo>
                  <a:cubicBezTo>
                    <a:pt x="58714" y="16073"/>
                    <a:pt x="61238" y="14212"/>
                    <a:pt x="61238" y="10890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lp_limit_outline_1"/>
            <p:cNvSpPr/>
            <p:nvPr/>
          </p:nvSpPr>
          <p:spPr>
            <a:xfrm>
              <a:off x="3459777" y="2820984"/>
              <a:ext cx="119550" cy="54463"/>
            </a:xfrm>
            <a:custGeom>
              <a:avLst/>
              <a:gdLst/>
              <a:ahLst/>
              <a:cxnLst/>
              <a:rect l="0" t="0" r="r" b="b"/>
              <a:pathLst>
                <a:path w="119551" h="54463">
                  <a:moveTo>
                    <a:pt x="119551" y="27099"/>
                  </a:moveTo>
                  <a:lnTo>
                    <a:pt x="93516" y="0"/>
                  </a:lnTo>
                  <a:lnTo>
                    <a:pt x="89400" y="4382"/>
                  </a:lnTo>
                  <a:lnTo>
                    <a:pt x="105208" y="23511"/>
                  </a:lnTo>
                  <a:lnTo>
                    <a:pt x="0" y="23511"/>
                  </a:lnTo>
                  <a:lnTo>
                    <a:pt x="0" y="30948"/>
                  </a:lnTo>
                  <a:lnTo>
                    <a:pt x="105208" y="30948"/>
                  </a:lnTo>
                  <a:lnTo>
                    <a:pt x="89400" y="50078"/>
                  </a:lnTo>
                  <a:lnTo>
                    <a:pt x="93516" y="54463"/>
                  </a:lnTo>
                  <a:lnTo>
                    <a:pt x="119551" y="27099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lp_limit_outline_2"/>
            <p:cNvSpPr/>
            <p:nvPr/>
          </p:nvSpPr>
          <p:spPr>
            <a:xfrm>
              <a:off x="3627665" y="2792556"/>
              <a:ext cx="60043" cy="91658"/>
            </a:xfrm>
            <a:custGeom>
              <a:avLst/>
              <a:gdLst/>
              <a:ahLst/>
              <a:cxnLst/>
              <a:rect l="0" t="0" r="r" b="b"/>
              <a:pathLst>
                <a:path w="60043" h="91658">
                  <a:moveTo>
                    <a:pt x="60043" y="45962"/>
                  </a:moveTo>
                  <a:cubicBezTo>
                    <a:pt x="60043" y="18729"/>
                    <a:pt x="47954" y="0"/>
                    <a:pt x="30551" y="0"/>
                  </a:cubicBezTo>
                  <a:cubicBezTo>
                    <a:pt x="23249" y="0"/>
                    <a:pt x="17669" y="2258"/>
                    <a:pt x="12752" y="6910"/>
                  </a:cubicBezTo>
                  <a:cubicBezTo>
                    <a:pt x="5048" y="14347"/>
                    <a:pt x="0" y="29623"/>
                    <a:pt x="0" y="45164"/>
                  </a:cubicBezTo>
                  <a:cubicBezTo>
                    <a:pt x="0" y="59642"/>
                    <a:pt x="4385" y="75184"/>
                    <a:pt x="10628" y="82625"/>
                  </a:cubicBezTo>
                  <a:cubicBezTo>
                    <a:pt x="15542" y="88467"/>
                    <a:pt x="22316" y="91658"/>
                    <a:pt x="30024" y="91658"/>
                  </a:cubicBezTo>
                  <a:cubicBezTo>
                    <a:pt x="36798" y="91658"/>
                    <a:pt x="42509" y="89400"/>
                    <a:pt x="47292" y="84749"/>
                  </a:cubicBezTo>
                  <a:cubicBezTo>
                    <a:pt x="54995" y="77442"/>
                    <a:pt x="60043" y="62036"/>
                    <a:pt x="60043" y="45962"/>
                  </a:cubicBezTo>
                  <a:close/>
                  <a:moveTo>
                    <a:pt x="47292" y="46228"/>
                  </a:moveTo>
                  <a:cubicBezTo>
                    <a:pt x="47292" y="73989"/>
                    <a:pt x="41446" y="88202"/>
                    <a:pt x="30024" y="88202"/>
                  </a:cubicBezTo>
                  <a:cubicBezTo>
                    <a:pt x="18598" y="88202"/>
                    <a:pt x="12752" y="73989"/>
                    <a:pt x="12752" y="46359"/>
                  </a:cubicBezTo>
                  <a:cubicBezTo>
                    <a:pt x="12752" y="18201"/>
                    <a:pt x="18732" y="3453"/>
                    <a:pt x="30155" y="3453"/>
                  </a:cubicBezTo>
                  <a:cubicBezTo>
                    <a:pt x="41315" y="3453"/>
                    <a:pt x="47292" y="18467"/>
                    <a:pt x="47292" y="46228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4" name="active_limit"/>
          <p:cNvGrpSpPr/>
          <p:nvPr/>
        </p:nvGrpSpPr>
        <p:grpSpPr>
          <a:xfrm>
            <a:off x="4328189" y="2724090"/>
            <a:ext cx="382566" cy="62829"/>
            <a:chOff x="4328189" y="2724090"/>
            <a:chExt cx="382566" cy="62829"/>
          </a:xfrm>
        </p:grpSpPr>
        <p:sp>
          <p:nvSpPr>
            <p:cNvPr id="205" name="active_limit_outline_0"/>
            <p:cNvSpPr/>
            <p:nvPr/>
          </p:nvSpPr>
          <p:spPr>
            <a:xfrm>
              <a:off x="4328189" y="2726880"/>
              <a:ext cx="61237" cy="60039"/>
            </a:xfrm>
            <a:custGeom>
              <a:avLst/>
              <a:gdLst/>
              <a:ahLst/>
              <a:cxnLst/>
              <a:rect l="0" t="0" r="r" b="b"/>
              <a:pathLst>
                <a:path w="61238" h="60039">
                  <a:moveTo>
                    <a:pt x="61238" y="10890"/>
                  </a:moveTo>
                  <a:cubicBezTo>
                    <a:pt x="61238" y="2123"/>
                    <a:pt x="43970" y="0"/>
                    <a:pt x="37060" y="0"/>
                  </a:cubicBezTo>
                  <a:cubicBezTo>
                    <a:pt x="26833" y="0"/>
                    <a:pt x="10894" y="4251"/>
                    <a:pt x="10894" y="16601"/>
                  </a:cubicBezTo>
                  <a:cubicBezTo>
                    <a:pt x="10894" y="22713"/>
                    <a:pt x="15939" y="26567"/>
                    <a:pt x="21784" y="27496"/>
                  </a:cubicBezTo>
                  <a:lnTo>
                    <a:pt x="21784" y="28027"/>
                  </a:lnTo>
                  <a:cubicBezTo>
                    <a:pt x="12621" y="29222"/>
                    <a:pt x="0" y="34933"/>
                    <a:pt x="0" y="45426"/>
                  </a:cubicBezTo>
                  <a:cubicBezTo>
                    <a:pt x="0" y="57650"/>
                    <a:pt x="14212" y="60039"/>
                    <a:pt x="24178" y="60039"/>
                  </a:cubicBezTo>
                  <a:cubicBezTo>
                    <a:pt x="34139" y="60039"/>
                    <a:pt x="45827" y="56983"/>
                    <a:pt x="52205" y="49014"/>
                  </a:cubicBezTo>
                  <a:cubicBezTo>
                    <a:pt x="53531" y="47288"/>
                    <a:pt x="54860" y="45295"/>
                    <a:pt x="54860" y="43037"/>
                  </a:cubicBezTo>
                  <a:cubicBezTo>
                    <a:pt x="54860" y="41442"/>
                    <a:pt x="53400" y="39715"/>
                    <a:pt x="51673" y="39715"/>
                  </a:cubicBezTo>
                  <a:cubicBezTo>
                    <a:pt x="45164" y="39715"/>
                    <a:pt x="43704" y="56451"/>
                    <a:pt x="25638" y="56451"/>
                  </a:cubicBezTo>
                  <a:cubicBezTo>
                    <a:pt x="18598" y="56451"/>
                    <a:pt x="13283" y="53931"/>
                    <a:pt x="13283" y="46490"/>
                  </a:cubicBezTo>
                  <a:cubicBezTo>
                    <a:pt x="13283" y="39318"/>
                    <a:pt x="17931" y="31214"/>
                    <a:pt x="26170" y="31214"/>
                  </a:cubicBezTo>
                  <a:cubicBezTo>
                    <a:pt x="30020" y="31214"/>
                    <a:pt x="33607" y="32675"/>
                    <a:pt x="37461" y="32675"/>
                  </a:cubicBezTo>
                  <a:cubicBezTo>
                    <a:pt x="40513" y="32675"/>
                    <a:pt x="43303" y="31746"/>
                    <a:pt x="43303" y="28293"/>
                  </a:cubicBezTo>
                  <a:cubicBezTo>
                    <a:pt x="43303" y="25237"/>
                    <a:pt x="41446" y="24840"/>
                    <a:pt x="38656" y="24840"/>
                  </a:cubicBezTo>
                  <a:cubicBezTo>
                    <a:pt x="35600" y="24840"/>
                    <a:pt x="32679" y="25237"/>
                    <a:pt x="29754" y="25237"/>
                  </a:cubicBezTo>
                  <a:cubicBezTo>
                    <a:pt x="24840" y="25237"/>
                    <a:pt x="22713" y="23245"/>
                    <a:pt x="22713" y="18463"/>
                  </a:cubicBezTo>
                  <a:cubicBezTo>
                    <a:pt x="22713" y="11025"/>
                    <a:pt x="28694" y="3584"/>
                    <a:pt x="36794" y="3584"/>
                  </a:cubicBezTo>
                  <a:cubicBezTo>
                    <a:pt x="48752" y="3584"/>
                    <a:pt x="47554" y="16073"/>
                    <a:pt x="55527" y="16073"/>
                  </a:cubicBezTo>
                  <a:cubicBezTo>
                    <a:pt x="58714" y="16073"/>
                    <a:pt x="61238" y="14212"/>
                    <a:pt x="61238" y="10890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active_limit_outline_1"/>
            <p:cNvSpPr/>
            <p:nvPr/>
          </p:nvSpPr>
          <p:spPr>
            <a:xfrm>
              <a:off x="4439627" y="2724090"/>
              <a:ext cx="119550" cy="54463"/>
            </a:xfrm>
            <a:custGeom>
              <a:avLst/>
              <a:gdLst/>
              <a:ahLst/>
              <a:cxnLst/>
              <a:rect l="0" t="0" r="r" b="b"/>
              <a:pathLst>
                <a:path w="119551" h="54463">
                  <a:moveTo>
                    <a:pt x="119551" y="27099"/>
                  </a:moveTo>
                  <a:lnTo>
                    <a:pt x="93516" y="0"/>
                  </a:lnTo>
                  <a:lnTo>
                    <a:pt x="89400" y="4382"/>
                  </a:lnTo>
                  <a:lnTo>
                    <a:pt x="105208" y="23511"/>
                  </a:lnTo>
                  <a:lnTo>
                    <a:pt x="0" y="23511"/>
                  </a:lnTo>
                  <a:lnTo>
                    <a:pt x="0" y="30948"/>
                  </a:lnTo>
                  <a:lnTo>
                    <a:pt x="105208" y="30948"/>
                  </a:lnTo>
                  <a:lnTo>
                    <a:pt x="89400" y="50078"/>
                  </a:lnTo>
                  <a:lnTo>
                    <a:pt x="93516" y="54463"/>
                  </a:lnTo>
                  <a:lnTo>
                    <a:pt x="119551" y="27099"/>
                  </a:ln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active_limit_outline_2"/>
            <p:cNvSpPr/>
            <p:nvPr/>
          </p:nvSpPr>
          <p:spPr>
            <a:xfrm>
              <a:off x="4611259" y="2727011"/>
              <a:ext cx="99496" cy="50212"/>
            </a:xfrm>
            <a:custGeom>
              <a:avLst/>
              <a:gdLst/>
              <a:ahLst/>
              <a:cxnLst/>
              <a:rect l="0" t="0" r="r" b="b"/>
              <a:pathLst>
                <a:path w="99497" h="50213">
                  <a:moveTo>
                    <a:pt x="99497" y="22582"/>
                  </a:moveTo>
                  <a:cubicBezTo>
                    <a:pt x="99497" y="10493"/>
                    <a:pt x="92988" y="266"/>
                    <a:pt x="79836" y="266"/>
                  </a:cubicBezTo>
                  <a:cubicBezTo>
                    <a:pt x="68810" y="266"/>
                    <a:pt x="58183" y="10759"/>
                    <a:pt x="51543" y="18729"/>
                  </a:cubicBezTo>
                  <a:cubicBezTo>
                    <a:pt x="45963" y="9565"/>
                    <a:pt x="35203" y="0"/>
                    <a:pt x="24047" y="0"/>
                  </a:cubicBezTo>
                  <a:cubicBezTo>
                    <a:pt x="9434" y="0"/>
                    <a:pt x="0" y="14081"/>
                    <a:pt x="0" y="27631"/>
                  </a:cubicBezTo>
                  <a:cubicBezTo>
                    <a:pt x="0" y="39719"/>
                    <a:pt x="6910" y="50078"/>
                    <a:pt x="19928" y="50078"/>
                  </a:cubicBezTo>
                  <a:cubicBezTo>
                    <a:pt x="30420" y="50078"/>
                    <a:pt x="42244" y="39318"/>
                    <a:pt x="48090" y="31218"/>
                  </a:cubicBezTo>
                  <a:cubicBezTo>
                    <a:pt x="54332" y="40382"/>
                    <a:pt x="63898" y="50213"/>
                    <a:pt x="75716" y="50213"/>
                  </a:cubicBezTo>
                  <a:cubicBezTo>
                    <a:pt x="90329" y="50213"/>
                    <a:pt x="99497" y="35866"/>
                    <a:pt x="99497" y="22582"/>
                  </a:cubicBezTo>
                  <a:close/>
                  <a:moveTo>
                    <a:pt x="91924" y="28694"/>
                  </a:moveTo>
                  <a:cubicBezTo>
                    <a:pt x="91924" y="37461"/>
                    <a:pt x="87539" y="44768"/>
                    <a:pt x="77974" y="44768"/>
                  </a:cubicBezTo>
                  <a:cubicBezTo>
                    <a:pt x="68012" y="44768"/>
                    <a:pt x="58980" y="29889"/>
                    <a:pt x="53801" y="22582"/>
                  </a:cubicBezTo>
                  <a:cubicBezTo>
                    <a:pt x="57785" y="16605"/>
                    <a:pt x="68414" y="6775"/>
                    <a:pt x="75851" y="6775"/>
                  </a:cubicBezTo>
                  <a:cubicBezTo>
                    <a:pt x="86479" y="6775"/>
                    <a:pt x="91924" y="19661"/>
                    <a:pt x="91924" y="28694"/>
                  </a:cubicBezTo>
                  <a:close/>
                  <a:moveTo>
                    <a:pt x="45832" y="27496"/>
                  </a:moveTo>
                  <a:cubicBezTo>
                    <a:pt x="41977" y="33476"/>
                    <a:pt x="31083" y="43037"/>
                    <a:pt x="23781" y="43037"/>
                  </a:cubicBezTo>
                  <a:cubicBezTo>
                    <a:pt x="13152" y="43037"/>
                    <a:pt x="7838" y="30155"/>
                    <a:pt x="7838" y="21122"/>
                  </a:cubicBezTo>
                  <a:cubicBezTo>
                    <a:pt x="7838" y="12220"/>
                    <a:pt x="12355" y="4917"/>
                    <a:pt x="22055" y="4917"/>
                  </a:cubicBezTo>
                  <a:cubicBezTo>
                    <a:pt x="30952" y="4917"/>
                    <a:pt x="41977" y="20058"/>
                    <a:pt x="45832" y="27496"/>
                  </a:cubicBezTo>
                  <a:close/>
                </a:path>
              </a:pathLst>
            </a:custGeom>
            <a:solidFill>
              <a:srgbClr val="2636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