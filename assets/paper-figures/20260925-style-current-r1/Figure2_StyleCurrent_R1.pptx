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60" name="module_rollout"/>
          <p:cNvGrpSpPr/>
          <p:nvPr/>
        </p:nvGrpSpPr>
        <p:grpSpPr>
          <a:xfrm>
            <a:off x="38100" y="38100"/>
            <a:ext cx="863599" cy="1765299"/>
            <a:chOff x="38100" y="38100"/>
            <a:chExt cx="863599" cy="1765299"/>
          </a:xfrm>
        </p:grpSpPr>
        <p:sp>
          <p:nvSpPr>
            <p:cNvPr id="2" name="rollout" descr="Editable shape; source id rollout"/>
            <p:cNvSpPr/>
            <p:nvPr/>
          </p:nvSpPr>
          <p:spPr>
            <a:xfrm>
              <a:off x="38100" y="38100"/>
              <a:ext cx="863599" cy="1765299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llout_title" descr="Editable text; source id rollout_title"/>
            <p:cNvSpPr txBox="1"/>
            <p:nvPr/>
          </p:nvSpPr>
          <p:spPr>
            <a:xfrm>
              <a:off x="76200" y="88899"/>
              <a:ext cx="787400" cy="15024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46"/>
                </a:lnSpc>
                <a:spcBef>
                  <a:spcPts val="0"/>
                </a:spcBef>
                <a:spcAft>
                  <a:spcPts val="0"/>
                </a:spcAft>
                <a:def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1  Rollout</a:t>
              </a:r>
            </a:p>
          </p:txBody>
        </p:sp>
        <p:sp>
          <p:nvSpPr>
            <p:cNvPr id="4" name="state0" descr="Editable shape; source id state0"/>
            <p:cNvSpPr/>
            <p:nvPr/>
          </p:nvSpPr>
          <p:spPr>
            <a:xfrm>
              <a:off x="135890" y="669290"/>
              <a:ext cx="83820" cy="8382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ransition0_0" descr="Editable line; source id transition0_0"/>
            <p:cNvSpPr/>
            <p:nvPr/>
          </p:nvSpPr>
          <p:spPr>
            <a:xfrm>
              <a:off x="228600" y="695325"/>
              <a:ext cx="177800" cy="31750"/>
            </a:xfrm>
            <a:custGeom>
              <a:avLst/>
              <a:gdLst/>
              <a:ahLst/>
              <a:cxnLst/>
              <a:rect l="l" t="t" r="r" b="b"/>
              <a:pathLst>
                <a:path w="70000" h="12500">
                  <a:moveTo>
                    <a:pt x="0" y="4250"/>
                  </a:moveTo>
                  <a:lnTo>
                    <a:pt x="53500" y="4250"/>
                  </a:lnTo>
                  <a:lnTo>
                    <a:pt x="53500" y="0"/>
                  </a:lnTo>
                  <a:lnTo>
                    <a:pt x="70000" y="6250"/>
                  </a:lnTo>
                  <a:lnTo>
                    <a:pt x="53500" y="12500"/>
                  </a:lnTo>
                  <a:lnTo>
                    <a:pt x="53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ate1" descr="Editable shape; source id state1"/>
            <p:cNvSpPr/>
            <p:nvPr/>
          </p:nvSpPr>
          <p:spPr>
            <a:xfrm>
              <a:off x="415290" y="669290"/>
              <a:ext cx="83820" cy="8382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nsition1_0" descr="Editable line; source id transition1_0"/>
            <p:cNvSpPr/>
            <p:nvPr/>
          </p:nvSpPr>
          <p:spPr>
            <a:xfrm>
              <a:off x="508000" y="695325"/>
              <a:ext cx="177800" cy="31750"/>
            </a:xfrm>
            <a:custGeom>
              <a:avLst/>
              <a:gdLst/>
              <a:ahLst/>
              <a:cxnLst/>
              <a:rect l="l" t="t" r="r" b="b"/>
              <a:pathLst>
                <a:path w="70000" h="12500">
                  <a:moveTo>
                    <a:pt x="0" y="4250"/>
                  </a:moveTo>
                  <a:lnTo>
                    <a:pt x="53500" y="4250"/>
                  </a:lnTo>
                  <a:lnTo>
                    <a:pt x="53500" y="0"/>
                  </a:lnTo>
                  <a:lnTo>
                    <a:pt x="70000" y="6250"/>
                  </a:lnTo>
                  <a:lnTo>
                    <a:pt x="53500" y="12500"/>
                  </a:lnTo>
                  <a:lnTo>
                    <a:pt x="53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state2" descr="Editable shape; source id state2"/>
            <p:cNvSpPr/>
            <p:nvPr/>
          </p:nvSpPr>
          <p:spPr>
            <a:xfrm>
              <a:off x="694690" y="669290"/>
              <a:ext cx="83820" cy="8382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gae_label" descr="Editable text; source id gae_label"/>
            <p:cNvSpPr txBox="1"/>
            <p:nvPr/>
          </p:nvSpPr>
          <p:spPr>
            <a:xfrm>
              <a:off x="101600" y="939799"/>
              <a:ext cx="736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65"/>
                </a:lnSpc>
                <a:spcBef>
                  <a:spcPts val="0"/>
                </a:spcBef>
                <a:spcAft>
                  <a:spcPts val="0"/>
                </a:spcAft>
                <a:defRPr sz="839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9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GAE</a:t>
              </a:r>
            </a:p>
          </p:txBody>
        </p:sp>
        <p:sp>
          <p:nvSpPr>
            <p:cNvPr id="10" name="observed_label" descr="Editable text; source id observed_label"/>
            <p:cNvSpPr txBox="1"/>
            <p:nvPr/>
          </p:nvSpPr>
          <p:spPr>
            <a:xfrm>
              <a:off x="88900" y="1435099"/>
              <a:ext cx="761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86C2B"/>
                  </a:solidFill>
                  <a:latin typeface="Liberation Sans"/>
                  <a:ea typeface="Liberation Sans"/>
                  <a:cs typeface="Liberation Sans"/>
                </a:rPr>
                <a:t>episode cost</a:t>
              </a:r>
            </a:p>
          </p:txBody>
        </p:sp>
        <p:grpSp>
          <p:nvGrpSpPr>
            <p:cNvPr id="123" name="pi_t"/>
            <p:cNvGrpSpPr/>
            <p:nvPr/>
          </p:nvGrpSpPr>
          <p:grpSpPr>
            <a:xfrm>
              <a:off x="403272" y="370190"/>
              <a:ext cx="109957" cy="83596"/>
              <a:chOff x="403272" y="370190"/>
              <a:chExt cx="109957" cy="83596"/>
            </a:xfrm>
          </p:grpSpPr>
          <p:sp>
            <p:nvSpPr>
              <p:cNvPr id="124" name="pi_t_outline_0"/>
              <p:cNvSpPr/>
              <p:nvPr/>
            </p:nvSpPr>
            <p:spPr>
              <a:xfrm>
                <a:off x="403272" y="370190"/>
                <a:ext cx="72088" cy="62900"/>
              </a:xfrm>
              <a:custGeom>
                <a:avLst/>
                <a:gdLst/>
                <a:ahLst/>
                <a:cxnLst/>
                <a:rect l="0" t="0" r="r" b="b"/>
                <a:pathLst>
                  <a:path w="72088" h="62901">
                    <a:moveTo>
                      <a:pt x="72088" y="0"/>
                    </a:moveTo>
                    <a:lnTo>
                      <a:pt x="23936" y="0"/>
                    </a:lnTo>
                    <a:cubicBezTo>
                      <a:pt x="11132" y="0"/>
                      <a:pt x="3481" y="15307"/>
                      <a:pt x="2365" y="17951"/>
                    </a:cubicBezTo>
                    <a:lnTo>
                      <a:pt x="3897" y="17951"/>
                    </a:lnTo>
                    <a:cubicBezTo>
                      <a:pt x="4592" y="16974"/>
                      <a:pt x="9743" y="10156"/>
                      <a:pt x="16978" y="10156"/>
                    </a:cubicBezTo>
                    <a:lnTo>
                      <a:pt x="24213" y="10156"/>
                    </a:lnTo>
                    <a:lnTo>
                      <a:pt x="14474" y="39521"/>
                    </a:lnTo>
                    <a:cubicBezTo>
                      <a:pt x="11410" y="48704"/>
                      <a:pt x="0" y="49121"/>
                      <a:pt x="0" y="58587"/>
                    </a:cubicBezTo>
                    <a:lnTo>
                      <a:pt x="0" y="59281"/>
                    </a:lnTo>
                    <a:cubicBezTo>
                      <a:pt x="0" y="61647"/>
                      <a:pt x="1810" y="62901"/>
                      <a:pt x="5151" y="62901"/>
                    </a:cubicBezTo>
                    <a:cubicBezTo>
                      <a:pt x="10438" y="62901"/>
                      <a:pt x="15446" y="59559"/>
                      <a:pt x="22269" y="39799"/>
                    </a:cubicBezTo>
                    <a:lnTo>
                      <a:pt x="32425" y="10156"/>
                    </a:lnTo>
                    <a:lnTo>
                      <a:pt x="46482" y="10156"/>
                    </a:lnTo>
                    <a:lnTo>
                      <a:pt x="39664" y="40076"/>
                    </a:lnTo>
                    <a:cubicBezTo>
                      <a:pt x="38687" y="44113"/>
                      <a:pt x="38132" y="47593"/>
                      <a:pt x="38132" y="50375"/>
                    </a:cubicBezTo>
                    <a:lnTo>
                      <a:pt x="38132" y="51625"/>
                    </a:lnTo>
                    <a:cubicBezTo>
                      <a:pt x="38132" y="57610"/>
                      <a:pt x="42307" y="62901"/>
                      <a:pt x="49125" y="62901"/>
                    </a:cubicBezTo>
                    <a:cubicBezTo>
                      <a:pt x="52324" y="62901"/>
                      <a:pt x="56082" y="61924"/>
                      <a:pt x="56082" y="57333"/>
                    </a:cubicBezTo>
                    <a:lnTo>
                      <a:pt x="56082" y="56777"/>
                    </a:lnTo>
                    <a:cubicBezTo>
                      <a:pt x="56082" y="48566"/>
                      <a:pt x="47732" y="49681"/>
                      <a:pt x="47732" y="41886"/>
                    </a:cubicBezTo>
                    <a:cubicBezTo>
                      <a:pt x="47732" y="40771"/>
                      <a:pt x="47871" y="39521"/>
                      <a:pt x="48292" y="37989"/>
                    </a:cubicBezTo>
                    <a:lnTo>
                      <a:pt x="55110" y="10156"/>
                    </a:lnTo>
                    <a:lnTo>
                      <a:pt x="69719" y="10156"/>
                    </a:lnTo>
                    <a:lnTo>
                      <a:pt x="72088" y="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pi_t_outline_1"/>
              <p:cNvSpPr/>
              <p:nvPr/>
            </p:nvSpPr>
            <p:spPr>
              <a:xfrm>
                <a:off x="483452" y="395783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6" name="gae"/>
            <p:cNvGrpSpPr/>
            <p:nvPr/>
          </p:nvGrpSpPr>
          <p:grpSpPr>
            <a:xfrm>
              <a:off x="241478" y="1157900"/>
              <a:ext cx="442674" cy="173909"/>
              <a:chOff x="241478" y="1157900"/>
              <a:chExt cx="442674" cy="173909"/>
            </a:xfrm>
          </p:grpSpPr>
          <p:sp>
            <p:nvSpPr>
              <p:cNvPr id="127" name="gae_outline_0"/>
              <p:cNvSpPr/>
              <p:nvPr/>
            </p:nvSpPr>
            <p:spPr>
              <a:xfrm>
                <a:off x="278809" y="1157900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09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gae_outline_1"/>
              <p:cNvSpPr/>
              <p:nvPr/>
            </p:nvSpPr>
            <p:spPr>
              <a:xfrm>
                <a:off x="241478" y="1188582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gae_outline_2"/>
              <p:cNvSpPr/>
              <p:nvPr/>
            </p:nvSpPr>
            <p:spPr>
              <a:xfrm>
                <a:off x="334341" y="1251481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gae_outline_3"/>
              <p:cNvSpPr/>
              <p:nvPr/>
            </p:nvSpPr>
            <p:spPr>
              <a:xfrm>
                <a:off x="398730" y="1263766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gae_outline_4"/>
              <p:cNvSpPr/>
              <p:nvPr/>
            </p:nvSpPr>
            <p:spPr>
              <a:xfrm>
                <a:off x="521849" y="1157900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09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gae_outline_5"/>
              <p:cNvSpPr/>
              <p:nvPr/>
            </p:nvSpPr>
            <p:spPr>
              <a:xfrm>
                <a:off x="484518" y="1188582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5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gae_outline_6"/>
              <p:cNvSpPr/>
              <p:nvPr/>
            </p:nvSpPr>
            <p:spPr>
              <a:xfrm>
                <a:off x="578197" y="1251481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5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5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gae_outline_7"/>
              <p:cNvSpPr/>
              <p:nvPr/>
            </p:nvSpPr>
            <p:spPr>
              <a:xfrm>
                <a:off x="633515" y="125979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5" name="observed_cost"/>
            <p:cNvGrpSpPr/>
            <p:nvPr/>
          </p:nvGrpSpPr>
          <p:grpSpPr>
            <a:xfrm>
              <a:off x="394629" y="1616291"/>
              <a:ext cx="116746" cy="133291"/>
              <a:chOff x="394629" y="1616291"/>
              <a:chExt cx="116746" cy="133291"/>
            </a:xfrm>
          </p:grpSpPr>
          <p:sp>
            <p:nvSpPr>
              <p:cNvPr id="136" name="observed_cost_outline_0"/>
              <p:cNvSpPr/>
              <p:nvPr/>
            </p:nvSpPr>
            <p:spPr>
              <a:xfrm>
                <a:off x="425120" y="1616291"/>
                <a:ext cx="41310" cy="7171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7172">
                    <a:moveTo>
                      <a:pt x="41311" y="7172"/>
                    </a:moveTo>
                    <a:lnTo>
                      <a:pt x="41311" y="0"/>
                    </a:lnTo>
                    <a:lnTo>
                      <a:pt x="0" y="0"/>
                    </a:lnTo>
                    <a:lnTo>
                      <a:pt x="0" y="7172"/>
                    </a:lnTo>
                    <a:lnTo>
                      <a:pt x="41311" y="7172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observed_cost_outline_1"/>
              <p:cNvSpPr/>
              <p:nvPr/>
            </p:nvSpPr>
            <p:spPr>
              <a:xfrm>
                <a:off x="394629" y="1638547"/>
                <a:ext cx="66020" cy="89130"/>
              </a:xfrm>
              <a:custGeom>
                <a:avLst/>
                <a:gdLst/>
                <a:ahLst/>
                <a:cxnLst/>
                <a:rect l="0" t="0" r="r" b="b"/>
                <a:pathLst>
                  <a:path w="66020" h="89130">
                    <a:moveTo>
                      <a:pt x="66020" y="2123"/>
                    </a:moveTo>
                    <a:lnTo>
                      <a:pt x="66020" y="0"/>
                    </a:lnTo>
                    <a:lnTo>
                      <a:pt x="32278" y="0"/>
                    </a:lnTo>
                    <a:lnTo>
                      <a:pt x="32278" y="2123"/>
                    </a:lnTo>
                    <a:cubicBezTo>
                      <a:pt x="40648" y="2921"/>
                      <a:pt x="42509" y="3985"/>
                      <a:pt x="42509" y="7572"/>
                    </a:cubicBezTo>
                    <a:cubicBezTo>
                      <a:pt x="42509" y="9565"/>
                      <a:pt x="41977" y="12220"/>
                      <a:pt x="40914" y="16074"/>
                    </a:cubicBezTo>
                    <a:lnTo>
                      <a:pt x="23511" y="77839"/>
                    </a:lnTo>
                    <a:cubicBezTo>
                      <a:pt x="22050" y="83022"/>
                      <a:pt x="20193" y="85015"/>
                      <a:pt x="17002" y="85015"/>
                    </a:cubicBezTo>
                    <a:cubicBezTo>
                      <a:pt x="13815" y="85015"/>
                      <a:pt x="12355" y="83419"/>
                      <a:pt x="12355" y="79700"/>
                    </a:cubicBezTo>
                    <a:cubicBezTo>
                      <a:pt x="12355" y="79038"/>
                      <a:pt x="12355" y="78371"/>
                      <a:pt x="12486" y="77708"/>
                    </a:cubicBezTo>
                    <a:lnTo>
                      <a:pt x="12486" y="76514"/>
                    </a:lnTo>
                    <a:cubicBezTo>
                      <a:pt x="12486" y="73192"/>
                      <a:pt x="9565" y="70271"/>
                      <a:pt x="5977" y="70271"/>
                    </a:cubicBezTo>
                    <a:cubicBezTo>
                      <a:pt x="2393" y="70271"/>
                      <a:pt x="0" y="73192"/>
                      <a:pt x="0" y="77442"/>
                    </a:cubicBezTo>
                    <a:cubicBezTo>
                      <a:pt x="0" y="84483"/>
                      <a:pt x="6243" y="89130"/>
                      <a:pt x="15542" y="89130"/>
                    </a:cubicBezTo>
                    <a:cubicBezTo>
                      <a:pt x="22316" y="89130"/>
                      <a:pt x="28293" y="86475"/>
                      <a:pt x="32413" y="81562"/>
                    </a:cubicBezTo>
                    <a:cubicBezTo>
                      <a:pt x="36001" y="77311"/>
                      <a:pt x="38656" y="71330"/>
                      <a:pt x="41446" y="61238"/>
                    </a:cubicBezTo>
                    <a:lnTo>
                      <a:pt x="55126" y="11954"/>
                    </a:lnTo>
                    <a:cubicBezTo>
                      <a:pt x="57519" y="3985"/>
                      <a:pt x="58448" y="3187"/>
                      <a:pt x="66020" y="2123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observed_cost_outline_2"/>
              <p:cNvSpPr/>
              <p:nvPr/>
            </p:nvSpPr>
            <p:spPr>
              <a:xfrm>
                <a:off x="460738" y="167757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3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61" name="module_inputs"/>
          <p:cNvGrpSpPr/>
          <p:nvPr/>
        </p:nvGrpSpPr>
        <p:grpSpPr>
          <a:xfrm>
            <a:off x="990600" y="38100"/>
            <a:ext cx="850899" cy="1765299"/>
            <a:chOff x="990600" y="38100"/>
            <a:chExt cx="850899" cy="1765299"/>
          </a:xfrm>
        </p:grpSpPr>
        <p:sp>
          <p:nvSpPr>
            <p:cNvPr id="11" name="inputs" descr="Editable shape; source id inputs"/>
            <p:cNvSpPr/>
            <p:nvPr/>
          </p:nvSpPr>
          <p:spPr>
            <a:xfrm>
              <a:off x="990600" y="38100"/>
              <a:ext cx="850899" cy="1765299"/>
            </a:xfrm>
            <a:prstGeom prst="roundRect">
              <a:avLst>
                <a:gd name="adj" fmla="val 4477"/>
              </a:avLst>
            </a:prstGeom>
            <a:solidFill>
              <a:srgbClr val="FFFFFF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nputs_title" descr="Editable text; source id inputs_title"/>
            <p:cNvSpPr txBox="1"/>
            <p:nvPr/>
          </p:nvSpPr>
          <p:spPr>
            <a:xfrm>
              <a:off x="1028700" y="88899"/>
              <a:ext cx="774699" cy="15024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46"/>
                </a:lnSpc>
                <a:spcBef>
                  <a:spcPts val="0"/>
                </a:spcBef>
                <a:spcAft>
                  <a:spcPts val="0"/>
                </a:spcAft>
                <a:def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2  Flow inputs</a:t>
              </a:r>
            </a:p>
          </p:txBody>
        </p:sp>
        <p:sp>
          <p:nvSpPr>
            <p:cNvPr id="13" name="cluster_label" descr="Editable text; source id cluster_label"/>
            <p:cNvSpPr txBox="1"/>
            <p:nvPr/>
          </p:nvSpPr>
          <p:spPr>
            <a:xfrm>
              <a:off x="1028700" y="317499"/>
              <a:ext cx="7746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clustered states</a:t>
              </a:r>
            </a:p>
          </p:txBody>
        </p:sp>
        <p:sp>
          <p:nvSpPr>
            <p:cNvPr id="14" name="inputgraph_e0_0_0" descr="Editable line; source id inputgraph_e0_0_0"/>
            <p:cNvSpPr/>
            <p:nvPr/>
          </p:nvSpPr>
          <p:spPr>
            <a:xfrm>
              <a:off x="1130247" y="630999"/>
              <a:ext cx="110734" cy="131298"/>
            </a:xfrm>
            <a:custGeom>
              <a:avLst/>
              <a:gdLst/>
              <a:ahLst/>
              <a:cxnLst/>
              <a:rect l="l" t="t" r="r" b="b"/>
              <a:pathLst>
                <a:path w="43596" h="51692">
                  <a:moveTo>
                    <a:pt x="0" y="49607"/>
                  </a:moveTo>
                  <a:lnTo>
                    <a:pt x="31765" y="11616"/>
                  </a:lnTo>
                  <a:lnTo>
                    <a:pt x="28217" y="8650"/>
                  </a:lnTo>
                  <a:lnTo>
                    <a:pt x="43596" y="0"/>
                  </a:lnTo>
                  <a:lnTo>
                    <a:pt x="37807" y="16668"/>
                  </a:lnTo>
                  <a:lnTo>
                    <a:pt x="34258" y="13701"/>
                  </a:lnTo>
                  <a:lnTo>
                    <a:pt x="2493" y="5169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nputgraph_e1_0_0" descr="Editable line; source id inputgraph_e1_0_0"/>
            <p:cNvSpPr/>
            <p:nvPr/>
          </p:nvSpPr>
          <p:spPr>
            <a:xfrm>
              <a:off x="1313942" y="581025"/>
              <a:ext cx="173228" cy="31750"/>
            </a:xfrm>
            <a:custGeom>
              <a:avLst/>
              <a:gdLst/>
              <a:ahLst/>
              <a:cxnLst/>
              <a:rect l="l" t="t" r="r" b="b"/>
              <a:pathLst>
                <a:path w="68200" h="12500">
                  <a:moveTo>
                    <a:pt x="0" y="4625"/>
                  </a:moveTo>
                  <a:lnTo>
                    <a:pt x="51700" y="4625"/>
                  </a:lnTo>
                  <a:lnTo>
                    <a:pt x="51700" y="0"/>
                  </a:lnTo>
                  <a:lnTo>
                    <a:pt x="68200" y="6250"/>
                  </a:lnTo>
                  <a:lnTo>
                    <a:pt x="51700" y="12500"/>
                  </a:lnTo>
                  <a:lnTo>
                    <a:pt x="517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nputgraph_e2_0_0" descr="Editable line; source id inputgraph_e2_0_0"/>
            <p:cNvSpPr/>
            <p:nvPr/>
          </p:nvSpPr>
          <p:spPr>
            <a:xfrm>
              <a:off x="1558851" y="626656"/>
              <a:ext cx="125395" cy="134529"/>
            </a:xfrm>
            <a:custGeom>
              <a:avLst/>
              <a:gdLst/>
              <a:ahLst/>
              <a:cxnLst/>
              <a:rect l="l" t="t" r="r" b="b"/>
              <a:pathLst>
                <a:path w="49368" h="52964">
                  <a:moveTo>
                    <a:pt x="2381" y="0"/>
                  </a:moveTo>
                  <a:lnTo>
                    <a:pt x="39328" y="39770"/>
                  </a:lnTo>
                  <a:lnTo>
                    <a:pt x="42716" y="36622"/>
                  </a:lnTo>
                  <a:lnTo>
                    <a:pt x="49368" y="52964"/>
                  </a:lnTo>
                  <a:lnTo>
                    <a:pt x="33559" y="45130"/>
                  </a:lnTo>
                  <a:lnTo>
                    <a:pt x="36947" y="41982"/>
                  </a:lnTo>
                  <a:lnTo>
                    <a:pt x="0" y="221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nputgraph_e3_0_0" descr="Editable line; source id inputgraph_e3_0_0"/>
            <p:cNvSpPr/>
            <p:nvPr/>
          </p:nvSpPr>
          <p:spPr>
            <a:xfrm>
              <a:off x="1130247" y="825203"/>
              <a:ext cx="110734" cy="131298"/>
            </a:xfrm>
            <a:custGeom>
              <a:avLst/>
              <a:gdLst/>
              <a:ahLst/>
              <a:cxnLst/>
              <a:rect l="l" t="t" r="r" b="b"/>
              <a:pathLst>
                <a:path w="43596" h="51692">
                  <a:moveTo>
                    <a:pt x="2493" y="0"/>
                  </a:moveTo>
                  <a:lnTo>
                    <a:pt x="34258" y="37991"/>
                  </a:lnTo>
                  <a:lnTo>
                    <a:pt x="37807" y="35024"/>
                  </a:lnTo>
                  <a:lnTo>
                    <a:pt x="43596" y="51692"/>
                  </a:lnTo>
                  <a:lnTo>
                    <a:pt x="28217" y="43042"/>
                  </a:lnTo>
                  <a:lnTo>
                    <a:pt x="31765" y="40076"/>
                  </a:lnTo>
                  <a:lnTo>
                    <a:pt x="0" y="208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nputgraph_e4_0_0" descr="Editable line; source id inputgraph_e4_0_0"/>
            <p:cNvSpPr/>
            <p:nvPr/>
          </p:nvSpPr>
          <p:spPr>
            <a:xfrm>
              <a:off x="1313942" y="974725"/>
              <a:ext cx="173228" cy="31750"/>
            </a:xfrm>
            <a:custGeom>
              <a:avLst/>
              <a:gdLst/>
              <a:ahLst/>
              <a:cxnLst/>
              <a:rect l="l" t="t" r="r" b="b"/>
              <a:pathLst>
                <a:path w="68200" h="12500">
                  <a:moveTo>
                    <a:pt x="0" y="4625"/>
                  </a:moveTo>
                  <a:lnTo>
                    <a:pt x="51700" y="4625"/>
                  </a:lnTo>
                  <a:lnTo>
                    <a:pt x="51700" y="0"/>
                  </a:lnTo>
                  <a:lnTo>
                    <a:pt x="68200" y="6250"/>
                  </a:lnTo>
                  <a:lnTo>
                    <a:pt x="51700" y="12500"/>
                  </a:lnTo>
                  <a:lnTo>
                    <a:pt x="517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inputgraph_e5_0_0" descr="Editable line; source id inputgraph_e5_0_0"/>
            <p:cNvSpPr/>
            <p:nvPr/>
          </p:nvSpPr>
          <p:spPr>
            <a:xfrm>
              <a:off x="1558851" y="826315"/>
              <a:ext cx="125395" cy="134529"/>
            </a:xfrm>
            <a:custGeom>
              <a:avLst/>
              <a:gdLst/>
              <a:ahLst/>
              <a:cxnLst/>
              <a:rect l="l" t="t" r="r" b="b"/>
              <a:pathLst>
                <a:path w="49368" h="52964">
                  <a:moveTo>
                    <a:pt x="0" y="50752"/>
                  </a:moveTo>
                  <a:lnTo>
                    <a:pt x="36947" y="10982"/>
                  </a:lnTo>
                  <a:lnTo>
                    <a:pt x="33559" y="7834"/>
                  </a:lnTo>
                  <a:lnTo>
                    <a:pt x="49368" y="0"/>
                  </a:lnTo>
                  <a:lnTo>
                    <a:pt x="42716" y="16342"/>
                  </a:lnTo>
                  <a:lnTo>
                    <a:pt x="39328" y="13194"/>
                  </a:lnTo>
                  <a:lnTo>
                    <a:pt x="2381" y="52964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nputgraph_e6_0_0" descr="Editable line; source id inputgraph_e6_0_0"/>
            <p:cNvSpPr/>
            <p:nvPr/>
          </p:nvSpPr>
          <p:spPr>
            <a:xfrm>
              <a:off x="1290691" y="631612"/>
              <a:ext cx="216294" cy="321988"/>
            </a:xfrm>
            <a:custGeom>
              <a:avLst/>
              <a:gdLst/>
              <a:ahLst/>
              <a:cxnLst/>
              <a:rect l="l" t="t" r="r" b="b"/>
              <a:pathLst>
                <a:path w="85155" h="126767">
                  <a:moveTo>
                    <a:pt x="2705" y="0"/>
                  </a:moveTo>
                  <a:lnTo>
                    <a:pt x="77364" y="112132"/>
                  </a:lnTo>
                  <a:lnTo>
                    <a:pt x="81213" y="109569"/>
                  </a:lnTo>
                  <a:lnTo>
                    <a:pt x="85155" y="126767"/>
                  </a:lnTo>
                  <a:lnTo>
                    <a:pt x="70809" y="116497"/>
                  </a:lnTo>
                  <a:lnTo>
                    <a:pt x="74658" y="113934"/>
                  </a:lnTo>
                  <a:lnTo>
                    <a:pt x="0" y="1801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nputgraph_n0" descr="Editable shape; source id inputgraph_n0"/>
            <p:cNvSpPr/>
            <p:nvPr/>
          </p:nvSpPr>
          <p:spPr>
            <a:xfrm>
              <a:off x="1071880" y="76072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nputgraph_n1" descr="Editable shape; source id inputgraph_n1"/>
            <p:cNvSpPr/>
            <p:nvPr/>
          </p:nvSpPr>
          <p:spPr>
            <a:xfrm>
              <a:off x="1236472" y="5638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nputgraph_n2" descr="Editable shape; source id inputgraph_n2"/>
            <p:cNvSpPr/>
            <p:nvPr/>
          </p:nvSpPr>
          <p:spPr>
            <a:xfrm>
              <a:off x="1498600" y="5638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nputgraph_n3" descr="Editable shape; source id inputgraph_n3"/>
            <p:cNvSpPr/>
            <p:nvPr/>
          </p:nvSpPr>
          <p:spPr>
            <a:xfrm>
              <a:off x="1681480" y="76072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inputgraph_n4" descr="Editable shape; source id inputgraph_n4"/>
            <p:cNvSpPr/>
            <p:nvPr/>
          </p:nvSpPr>
          <p:spPr>
            <a:xfrm>
              <a:off x="1236472" y="9575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inputgraph_n5" descr="Editable shape; source id inputgraph_n5"/>
            <p:cNvSpPr/>
            <p:nvPr/>
          </p:nvSpPr>
          <p:spPr>
            <a:xfrm>
              <a:off x="1498600" y="9575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edge_label" descr="Editable text; source id edge_label"/>
            <p:cNvSpPr txBox="1"/>
            <p:nvPr/>
          </p:nvSpPr>
          <p:spPr>
            <a:xfrm>
              <a:off x="1028700" y="1117600"/>
              <a:ext cx="7746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edge attributes</a:t>
              </a:r>
            </a:p>
          </p:txBody>
        </p:sp>
        <p:sp>
          <p:nvSpPr>
            <p:cNvPr id="28" name="attributes" descr="Editable shape; source id attributes"/>
            <p:cNvSpPr/>
            <p:nvPr/>
          </p:nvSpPr>
          <p:spPr>
            <a:xfrm>
              <a:off x="1066800" y="1397000"/>
              <a:ext cx="685799" cy="304800"/>
            </a:xfrm>
            <a:prstGeom prst="rect">
              <a:avLst/>
            </a:prstGeom>
            <a:solidFill>
              <a:srgbClr val="F7F9FA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attrsep1_0" descr="Editable line; source id attrsep1_0"/>
            <p:cNvCxnSpPr/>
            <p:nvPr/>
          </p:nvCxnSpPr>
          <p:spPr>
            <a:xfrm>
              <a:off x="1295400" y="1397000"/>
              <a:ext cx="0" cy="304799"/>
            </a:xfrm>
            <a:prstGeom prst="line">
              <a:avLst/>
            </a:prstGeom>
            <a:ln w="6349">
              <a:solidFill>
                <a:srgbClr val="BAC4C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attrsep2_0" descr="Editable line; source id attrsep2_0"/>
            <p:cNvCxnSpPr/>
            <p:nvPr/>
          </p:nvCxnSpPr>
          <p:spPr>
            <a:xfrm>
              <a:off x="1524000" y="1397000"/>
              <a:ext cx="0" cy="304799"/>
            </a:xfrm>
            <a:prstGeom prst="line">
              <a:avLst/>
            </a:prstGeom>
            <a:ln w="6349">
              <a:solidFill>
                <a:srgbClr val="BAC4C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attributes_labels"/>
            <p:cNvGrpSpPr/>
            <p:nvPr/>
          </p:nvGrpSpPr>
          <p:grpSpPr>
            <a:xfrm>
              <a:off x="1111259" y="1472867"/>
              <a:ext cx="590754" cy="140863"/>
              <a:chOff x="1111259" y="1472867"/>
              <a:chExt cx="590754" cy="140863"/>
            </a:xfrm>
          </p:grpSpPr>
          <p:sp>
            <p:nvSpPr>
              <p:cNvPr id="140" name="attributes_labels_outline_0"/>
              <p:cNvSpPr/>
              <p:nvPr/>
            </p:nvSpPr>
            <p:spPr>
              <a:xfrm>
                <a:off x="1146721" y="1472867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10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attributes_labels_outline_1"/>
              <p:cNvSpPr/>
              <p:nvPr/>
            </p:nvSpPr>
            <p:spPr>
              <a:xfrm>
                <a:off x="1111259" y="1502695"/>
                <a:ext cx="84613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attributes_labels_outline_2"/>
              <p:cNvSpPr/>
              <p:nvPr/>
            </p:nvSpPr>
            <p:spPr>
              <a:xfrm>
                <a:off x="1336033" y="1500702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1" y="85943"/>
                      <a:pt x="73191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3" y="84086"/>
                      <a:pt x="5315" y="85546"/>
                      <a:pt x="0" y="86606"/>
                    </a:cubicBezTo>
                    <a:lnTo>
                      <a:pt x="0" y="88733"/>
                    </a:lnTo>
                    <a:lnTo>
                      <a:pt x="24841" y="88733"/>
                    </a:lnTo>
                    <a:lnTo>
                      <a:pt x="24841" y="86606"/>
                    </a:lnTo>
                    <a:cubicBezTo>
                      <a:pt x="18066" y="85943"/>
                      <a:pt x="17003" y="85280"/>
                      <a:pt x="17003" y="81959"/>
                    </a:cubicBezTo>
                    <a:cubicBezTo>
                      <a:pt x="17003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5" y="77311"/>
                      <a:pt x="59376" y="78506"/>
                      <a:pt x="59376" y="79569"/>
                    </a:cubicBezTo>
                    <a:cubicBezTo>
                      <a:pt x="59376" y="84614"/>
                      <a:pt x="57520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attributes_labels_outline_3"/>
              <p:cNvSpPr/>
              <p:nvPr/>
            </p:nvSpPr>
            <p:spPr>
              <a:xfrm>
                <a:off x="1565189" y="1500968"/>
                <a:ext cx="82755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3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3" y="84880"/>
                    </a:cubicBezTo>
                    <a:cubicBezTo>
                      <a:pt x="23379" y="84880"/>
                      <a:pt x="14878" y="74918"/>
                      <a:pt x="14878" y="57650"/>
                    </a:cubicBezTo>
                    <a:cubicBezTo>
                      <a:pt x="14878" y="41842"/>
                      <a:pt x="21252" y="25769"/>
                      <a:pt x="31614" y="15010"/>
                    </a:cubicBezTo>
                    <a:cubicBezTo>
                      <a:pt x="37992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49" y="26301"/>
                    </a:cubicBezTo>
                    <a:lnTo>
                      <a:pt x="77842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7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2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79" y="85146"/>
                      <a:pt x="70933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attributes_labels_outline_4"/>
              <p:cNvSpPr/>
              <p:nvPr/>
            </p:nvSpPr>
            <p:spPr>
              <a:xfrm>
                <a:off x="1651376" y="154171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62" name="module_budgets"/>
          <p:cNvGrpSpPr/>
          <p:nvPr/>
        </p:nvGrpSpPr>
        <p:grpSpPr>
          <a:xfrm>
            <a:off x="1930400" y="38100"/>
            <a:ext cx="990599" cy="1765299"/>
            <a:chOff x="1930400" y="38100"/>
            <a:chExt cx="990599" cy="1765299"/>
          </a:xfrm>
        </p:grpSpPr>
        <p:sp>
          <p:nvSpPr>
            <p:cNvPr id="31" name="budgets" descr="Editable shape; source id budgets"/>
            <p:cNvSpPr/>
            <p:nvPr/>
          </p:nvSpPr>
          <p:spPr>
            <a:xfrm>
              <a:off x="1930400" y="38100"/>
              <a:ext cx="990599" cy="1765299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budgets_title" descr="Editable text; source id budgets_title"/>
            <p:cNvSpPr txBox="1"/>
            <p:nvPr/>
          </p:nvSpPr>
          <p:spPr>
            <a:xfrm>
              <a:off x="1968500" y="88899"/>
              <a:ext cx="914399" cy="15024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46"/>
                </a:lnSpc>
                <a:spcBef>
                  <a:spcPts val="0"/>
                </a:spcBef>
                <a:spcAft>
                  <a:spcPts val="0"/>
                </a:spcAft>
                <a:def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10" b="1" i="0" lang="zh-CN" dirty="0">
                  <a:solidFill>
                    <a:srgbClr val="264C70"/>
                  </a:solidFill>
                  <a:latin typeface="Liberation Sans"/>
                  <a:ea typeface="Liberation Sans"/>
                  <a:cs typeface="Liberation Sans"/>
                </a:rPr>
                <a:t>3  Constraints</a:t>
              </a:r>
            </a:p>
          </p:txBody>
        </p:sp>
        <p:sp>
          <p:nvSpPr>
            <p:cNvPr id="33" name="soft" descr="Editable text; source id soft"/>
            <p:cNvSpPr txBox="1"/>
            <p:nvPr/>
          </p:nvSpPr>
          <p:spPr>
            <a:xfrm>
              <a:off x="1981200" y="304800"/>
              <a:ext cx="888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65"/>
                </a:lnSpc>
                <a:spcBef>
                  <a:spcPts val="0"/>
                </a:spcBef>
                <a:spcAft>
                  <a:spcPts val="0"/>
                </a:spcAft>
                <a:defRPr sz="839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9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soft budgets</a:t>
              </a:r>
            </a:p>
          </p:txBody>
        </p:sp>
        <p:sp>
          <p:nvSpPr>
            <p:cNvPr id="34" name="hard_label" descr="Editable text; source id hard_label"/>
            <p:cNvSpPr txBox="1"/>
            <p:nvPr/>
          </p:nvSpPr>
          <p:spPr>
            <a:xfrm>
              <a:off x="1981200" y="1092199"/>
              <a:ext cx="8889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B14747"/>
                  </a:solidFill>
                  <a:latin typeface="Liberation Sans"/>
                  <a:ea typeface="Liberation Sans"/>
                  <a:cs typeface="Liberation Sans"/>
                </a:rPr>
                <a:t>hard exclusions</a:t>
              </a:r>
            </a:p>
          </p:txBody>
        </p:sp>
        <p:sp>
          <p:nvSpPr>
            <p:cNvPr id="35" name="hardgraph_e0_0_0" descr="Editable line; source id hardgraph_e0_0_0"/>
            <p:cNvSpPr/>
            <p:nvPr/>
          </p:nvSpPr>
          <p:spPr>
            <a:xfrm>
              <a:off x="2092020" y="1307455"/>
              <a:ext cx="127343" cy="87269"/>
            </a:xfrm>
            <a:custGeom>
              <a:avLst/>
              <a:gdLst/>
              <a:ahLst/>
              <a:cxnLst/>
              <a:rect l="l" t="t" r="r" b="b"/>
              <a:pathLst>
                <a:path w="50135" h="34358">
                  <a:moveTo>
                    <a:pt x="0" y="31659"/>
                  </a:moveTo>
                  <a:lnTo>
                    <a:pt x="35525" y="7839"/>
                  </a:lnTo>
                  <a:lnTo>
                    <a:pt x="32950" y="3998"/>
                  </a:lnTo>
                  <a:lnTo>
                    <a:pt x="50135" y="0"/>
                  </a:lnTo>
                  <a:lnTo>
                    <a:pt x="39911" y="14380"/>
                  </a:lnTo>
                  <a:lnTo>
                    <a:pt x="37335" y="10538"/>
                  </a:lnTo>
                  <a:lnTo>
                    <a:pt x="1810" y="34358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hardgraph_hard_0" descr="Editable line; source id hardgraph_hard_0"/>
            <p:cNvCxnSpPr/>
            <p:nvPr/>
          </p:nvCxnSpPr>
          <p:spPr>
            <a:xfrm>
              <a:off x="2294382" y="1282700"/>
              <a:ext cx="240538" cy="0"/>
            </a:xfrm>
            <a:prstGeom prst="line">
              <a:avLst/>
            </a:prstGeom>
            <a:ln w="9524">
              <a:solidFill>
                <a:srgbClr val="B14747"/>
              </a:solidFill>
              <a:custDash>
                <a:ds d="266667" sp="24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hardgraph_x1_0" descr="Editable line; source id hardgraph_x1_0"/>
            <p:cNvCxnSpPr/>
            <p:nvPr/>
          </p:nvCxnSpPr>
          <p:spPr>
            <a:xfrm>
              <a:off x="2385440" y="1253489"/>
              <a:ext cx="58421" cy="58420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hardgraph_x2_0" descr="Editable line; source id hardgraph_x2_0"/>
            <p:cNvCxnSpPr/>
            <p:nvPr/>
          </p:nvCxnSpPr>
          <p:spPr>
            <a:xfrm flipV="1">
              <a:off x="2385440" y="1253489"/>
              <a:ext cx="58421" cy="58420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hardgraph_e2_0_0" descr="Editable line; source id hardgraph_e2_0_0"/>
            <p:cNvSpPr/>
            <p:nvPr/>
          </p:nvSpPr>
          <p:spPr>
            <a:xfrm>
              <a:off x="2608946" y="1302131"/>
              <a:ext cx="146997" cy="90952"/>
            </a:xfrm>
            <a:custGeom>
              <a:avLst/>
              <a:gdLst/>
              <a:ahLst/>
              <a:cxnLst/>
              <a:rect l="l" t="t" r="r" b="b"/>
              <a:pathLst>
                <a:path w="57873" h="35808">
                  <a:moveTo>
                    <a:pt x="1679" y="0"/>
                  </a:moveTo>
                  <a:lnTo>
                    <a:pt x="44585" y="25892"/>
                  </a:lnTo>
                  <a:lnTo>
                    <a:pt x="46975" y="21932"/>
                  </a:lnTo>
                  <a:lnTo>
                    <a:pt x="57873" y="35808"/>
                  </a:lnTo>
                  <a:lnTo>
                    <a:pt x="40516" y="32635"/>
                  </a:lnTo>
                  <a:lnTo>
                    <a:pt x="42906" y="28675"/>
                  </a:lnTo>
                  <a:lnTo>
                    <a:pt x="0" y="2783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hardgraph_e3_0_0" descr="Editable line; source id hardgraph_e3_0_0"/>
            <p:cNvSpPr/>
            <p:nvPr/>
          </p:nvSpPr>
          <p:spPr>
            <a:xfrm>
              <a:off x="2092020" y="1437376"/>
              <a:ext cx="127343" cy="87269"/>
            </a:xfrm>
            <a:custGeom>
              <a:avLst/>
              <a:gdLst/>
              <a:ahLst/>
              <a:cxnLst/>
              <a:rect l="l" t="t" r="r" b="b"/>
              <a:pathLst>
                <a:path w="50135" h="34358">
                  <a:moveTo>
                    <a:pt x="1810" y="0"/>
                  </a:moveTo>
                  <a:lnTo>
                    <a:pt x="37335" y="23820"/>
                  </a:lnTo>
                  <a:lnTo>
                    <a:pt x="39911" y="19978"/>
                  </a:lnTo>
                  <a:lnTo>
                    <a:pt x="50135" y="34358"/>
                  </a:lnTo>
                  <a:lnTo>
                    <a:pt x="32950" y="30360"/>
                  </a:lnTo>
                  <a:lnTo>
                    <a:pt x="35525" y="26519"/>
                  </a:lnTo>
                  <a:lnTo>
                    <a:pt x="0" y="2699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hardgraph_e4_0_0" descr="Editable line; source id hardgraph_e4_0_0"/>
            <p:cNvSpPr/>
            <p:nvPr/>
          </p:nvSpPr>
          <p:spPr>
            <a:xfrm>
              <a:off x="2300732" y="1533525"/>
              <a:ext cx="227838" cy="31750"/>
            </a:xfrm>
            <a:custGeom>
              <a:avLst/>
              <a:gdLst/>
              <a:ahLst/>
              <a:cxnLst/>
              <a:rect l="l" t="t" r="r" b="b"/>
              <a:pathLst>
                <a:path w="89700" h="12500">
                  <a:moveTo>
                    <a:pt x="0" y="4625"/>
                  </a:moveTo>
                  <a:lnTo>
                    <a:pt x="73200" y="4625"/>
                  </a:lnTo>
                  <a:lnTo>
                    <a:pt x="73200" y="0"/>
                  </a:lnTo>
                  <a:lnTo>
                    <a:pt x="89700" y="6250"/>
                  </a:lnTo>
                  <a:lnTo>
                    <a:pt x="73200" y="12500"/>
                  </a:lnTo>
                  <a:lnTo>
                    <a:pt x="732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hardgraph_e5_0_0" descr="Editable line; source id hardgraph_e5_0_0"/>
            <p:cNvSpPr/>
            <p:nvPr/>
          </p:nvSpPr>
          <p:spPr>
            <a:xfrm>
              <a:off x="2608946" y="1439017"/>
              <a:ext cx="146997" cy="90952"/>
            </a:xfrm>
            <a:custGeom>
              <a:avLst/>
              <a:gdLst/>
              <a:ahLst/>
              <a:cxnLst/>
              <a:rect l="l" t="t" r="r" b="b"/>
              <a:pathLst>
                <a:path w="57873" h="35808">
                  <a:moveTo>
                    <a:pt x="0" y="33025"/>
                  </a:moveTo>
                  <a:lnTo>
                    <a:pt x="42906" y="7133"/>
                  </a:lnTo>
                  <a:lnTo>
                    <a:pt x="40516" y="3173"/>
                  </a:lnTo>
                  <a:lnTo>
                    <a:pt x="57873" y="0"/>
                  </a:lnTo>
                  <a:lnTo>
                    <a:pt x="46975" y="13876"/>
                  </a:lnTo>
                  <a:lnTo>
                    <a:pt x="44585" y="9916"/>
                  </a:lnTo>
                  <a:lnTo>
                    <a:pt x="1679" y="35808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hardgraph_e6_0_0" descr="Editable line; source id hardgraph_e6_0_0"/>
            <p:cNvSpPr/>
            <p:nvPr/>
          </p:nvSpPr>
          <p:spPr>
            <a:xfrm>
              <a:off x="2287626" y="1308174"/>
              <a:ext cx="251391" cy="212595"/>
            </a:xfrm>
            <a:custGeom>
              <a:avLst/>
              <a:gdLst/>
              <a:ahLst/>
              <a:cxnLst/>
              <a:rect l="l" t="t" r="r" b="b"/>
              <a:pathLst>
                <a:path w="98973" h="83699">
                  <a:moveTo>
                    <a:pt x="2093" y="0"/>
                  </a:moveTo>
                  <a:lnTo>
                    <a:pt x="87399" y="71829"/>
                  </a:lnTo>
                  <a:lnTo>
                    <a:pt x="90378" y="68291"/>
                  </a:lnTo>
                  <a:lnTo>
                    <a:pt x="98973" y="83699"/>
                  </a:lnTo>
                  <a:lnTo>
                    <a:pt x="82326" y="77853"/>
                  </a:lnTo>
                  <a:lnTo>
                    <a:pt x="85305" y="74315"/>
                  </a:lnTo>
                  <a:lnTo>
                    <a:pt x="0" y="2486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hardgraph_n0" descr="Editable shape; source id hardgraph_n0"/>
            <p:cNvSpPr/>
            <p:nvPr/>
          </p:nvSpPr>
          <p:spPr>
            <a:xfrm>
              <a:off x="2024380" y="138302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hardgraph_n1" descr="Editable shape; source id hardgraph_n1"/>
            <p:cNvSpPr/>
            <p:nvPr/>
          </p:nvSpPr>
          <p:spPr>
            <a:xfrm>
              <a:off x="2223262" y="12496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hardgraph_n2" descr="Editable shape; source id hardgraph_n2"/>
            <p:cNvSpPr/>
            <p:nvPr/>
          </p:nvSpPr>
          <p:spPr>
            <a:xfrm>
              <a:off x="2540000" y="12496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hardgraph_n3" descr="Editable shape; source id hardgraph_n3"/>
            <p:cNvSpPr/>
            <p:nvPr/>
          </p:nvSpPr>
          <p:spPr>
            <a:xfrm>
              <a:off x="2760980" y="138302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hardgraph_n4" descr="Editable shape; source id hardgraph_n4"/>
            <p:cNvSpPr/>
            <p:nvPr/>
          </p:nvSpPr>
          <p:spPr>
            <a:xfrm>
              <a:off x="2223262" y="1516380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hardgraph_n5" descr="Editable shape; source id hardgraph_n5"/>
            <p:cNvSpPr/>
            <p:nvPr/>
          </p:nvSpPr>
          <p:spPr>
            <a:xfrm>
              <a:off x="2540000" y="1516380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5" name="budget"/>
            <p:cNvGrpSpPr/>
            <p:nvPr/>
          </p:nvGrpSpPr>
          <p:grpSpPr>
            <a:xfrm>
              <a:off x="2081220" y="555978"/>
              <a:ext cx="689885" cy="119550"/>
              <a:chOff x="2081220" y="555978"/>
              <a:chExt cx="689885" cy="119550"/>
            </a:xfrm>
          </p:grpSpPr>
          <p:sp>
            <p:nvSpPr>
              <p:cNvPr id="146" name="budget_outline_0"/>
              <p:cNvSpPr/>
              <p:nvPr/>
            </p:nvSpPr>
            <p:spPr>
              <a:xfrm>
                <a:off x="2081220" y="55597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119551"/>
                    </a:moveTo>
                    <a:lnTo>
                      <a:pt x="9164" y="59773"/>
                    </a:lnTo>
                    <a:lnTo>
                      <a:pt x="34933" y="0"/>
                    </a:lnTo>
                    <a:lnTo>
                      <a:pt x="28559" y="0"/>
                    </a:lnTo>
                    <a:lnTo>
                      <a:pt x="0" y="59773"/>
                    </a:lnTo>
                    <a:lnTo>
                      <a:pt x="28559" y="119551"/>
                    </a:lnTo>
                    <a:lnTo>
                      <a:pt x="34933" y="1195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budget_outline_1"/>
              <p:cNvSpPr/>
              <p:nvPr/>
            </p:nvSpPr>
            <p:spPr>
              <a:xfrm>
                <a:off x="2129445" y="561423"/>
                <a:ext cx="82756" cy="90856"/>
              </a:xfrm>
              <a:custGeom>
                <a:avLst/>
                <a:gdLst/>
                <a:ahLst/>
                <a:cxnLst/>
                <a:rect l="0" t="0" r="r" b="b"/>
                <a:pathLst>
                  <a:path w="82756" h="90857">
                    <a:moveTo>
                      <a:pt x="70933" y="71064"/>
                    </a:moveTo>
                    <a:lnTo>
                      <a:pt x="68675" y="69207"/>
                    </a:lnTo>
                    <a:cubicBezTo>
                      <a:pt x="56721" y="81030"/>
                      <a:pt x="49018" y="84880"/>
                      <a:pt x="38124" y="84880"/>
                    </a:cubicBezTo>
                    <a:cubicBezTo>
                      <a:pt x="23380" y="84880"/>
                      <a:pt x="14879" y="74918"/>
                      <a:pt x="14879" y="57650"/>
                    </a:cubicBezTo>
                    <a:cubicBezTo>
                      <a:pt x="14879" y="41842"/>
                      <a:pt x="21253" y="25769"/>
                      <a:pt x="31615" y="15010"/>
                    </a:cubicBezTo>
                    <a:cubicBezTo>
                      <a:pt x="37993" y="8366"/>
                      <a:pt x="46359" y="4782"/>
                      <a:pt x="55126" y="4782"/>
                    </a:cubicBezTo>
                    <a:cubicBezTo>
                      <a:pt x="67346" y="4782"/>
                      <a:pt x="74120" y="11954"/>
                      <a:pt x="75450" y="26301"/>
                    </a:cubicBezTo>
                    <a:lnTo>
                      <a:pt x="77843" y="26698"/>
                    </a:lnTo>
                    <a:lnTo>
                      <a:pt x="82756" y="266"/>
                    </a:lnTo>
                    <a:lnTo>
                      <a:pt x="79966" y="266"/>
                    </a:lnTo>
                    <a:cubicBezTo>
                      <a:pt x="78903" y="2389"/>
                      <a:pt x="77577" y="3187"/>
                      <a:pt x="74918" y="3187"/>
                    </a:cubicBezTo>
                    <a:cubicBezTo>
                      <a:pt x="73724" y="3187"/>
                      <a:pt x="72263" y="2921"/>
                      <a:pt x="69473" y="2258"/>
                    </a:cubicBezTo>
                    <a:cubicBezTo>
                      <a:pt x="63627" y="798"/>
                      <a:pt x="58313" y="0"/>
                      <a:pt x="53931" y="0"/>
                    </a:cubicBezTo>
                    <a:cubicBezTo>
                      <a:pt x="25503" y="0"/>
                      <a:pt x="0" y="26567"/>
                      <a:pt x="0" y="56189"/>
                    </a:cubicBezTo>
                    <a:cubicBezTo>
                      <a:pt x="0" y="76513"/>
                      <a:pt x="14347" y="90857"/>
                      <a:pt x="34671" y="90857"/>
                    </a:cubicBezTo>
                    <a:cubicBezTo>
                      <a:pt x="48351" y="90857"/>
                      <a:pt x="58980" y="85146"/>
                      <a:pt x="70933" y="7106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budget_outline_2"/>
              <p:cNvSpPr/>
              <p:nvPr/>
            </p:nvSpPr>
            <p:spPr>
              <a:xfrm>
                <a:off x="2215618" y="6021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budget_outline_3"/>
              <p:cNvSpPr/>
              <p:nvPr/>
            </p:nvSpPr>
            <p:spPr>
              <a:xfrm>
                <a:off x="2284732" y="636341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1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budget_outline_4"/>
              <p:cNvSpPr/>
              <p:nvPr/>
            </p:nvSpPr>
            <p:spPr>
              <a:xfrm>
                <a:off x="2339046" y="563150"/>
                <a:ext cx="84614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3" y="86741"/>
                    </a:lnTo>
                    <a:lnTo>
                      <a:pt x="33473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4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0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1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2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budget_outline_5"/>
              <p:cNvSpPr/>
              <p:nvPr/>
            </p:nvSpPr>
            <p:spPr>
              <a:xfrm>
                <a:off x="2434407" y="555978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59773"/>
                    </a:moveTo>
                    <a:lnTo>
                      <a:pt x="6374" y="0"/>
                    </a:lnTo>
                    <a:lnTo>
                      <a:pt x="0" y="0"/>
                    </a:lnTo>
                    <a:lnTo>
                      <a:pt x="25769" y="59773"/>
                    </a:lnTo>
                    <a:lnTo>
                      <a:pt x="0" y="119551"/>
                    </a:lnTo>
                    <a:lnTo>
                      <a:pt x="6374" y="119551"/>
                    </a:lnTo>
                    <a:lnTo>
                      <a:pt x="34933" y="5977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budget_outline_6"/>
              <p:cNvSpPr/>
              <p:nvPr/>
            </p:nvSpPr>
            <p:spPr>
              <a:xfrm>
                <a:off x="2526465" y="573643"/>
                <a:ext cx="68011" cy="8395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83951">
                    <a:moveTo>
                      <a:pt x="68012" y="66683"/>
                    </a:moveTo>
                    <a:lnTo>
                      <a:pt x="68012" y="59246"/>
                    </a:lnTo>
                    <a:lnTo>
                      <a:pt x="12752" y="33342"/>
                    </a:lnTo>
                    <a:lnTo>
                      <a:pt x="68012" y="7438"/>
                    </a:lnTo>
                    <a:lnTo>
                      <a:pt x="68012" y="0"/>
                    </a:lnTo>
                    <a:lnTo>
                      <a:pt x="0" y="32147"/>
                    </a:lnTo>
                    <a:lnTo>
                      <a:pt x="0" y="34802"/>
                    </a:lnTo>
                    <a:lnTo>
                      <a:pt x="68012" y="66683"/>
                    </a:lnTo>
                    <a:close/>
                    <a:moveTo>
                      <a:pt x="68012" y="83951"/>
                    </a:moveTo>
                    <a:lnTo>
                      <a:pt x="68012" y="76910"/>
                    </a:lnTo>
                    <a:lnTo>
                      <a:pt x="0" y="76910"/>
                    </a:lnTo>
                    <a:lnTo>
                      <a:pt x="0" y="83951"/>
                    </a:lnTo>
                    <a:lnTo>
                      <a:pt x="68012" y="839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budget_outline_7"/>
              <p:cNvSpPr/>
              <p:nvPr/>
            </p:nvSpPr>
            <p:spPr>
              <a:xfrm>
                <a:off x="2645855" y="559165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9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5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3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8" y="38656"/>
                    </a:cubicBezTo>
                    <a:cubicBezTo>
                      <a:pt x="45030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budget_outline_8"/>
              <p:cNvSpPr/>
              <p:nvPr/>
            </p:nvSpPr>
            <p:spPr>
              <a:xfrm>
                <a:off x="2720468" y="6021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5" name="step_budget"/>
            <p:cNvGrpSpPr/>
            <p:nvPr/>
          </p:nvGrpSpPr>
          <p:grpSpPr>
            <a:xfrm>
              <a:off x="2129480" y="835378"/>
              <a:ext cx="592419" cy="119550"/>
              <a:chOff x="2129480" y="835378"/>
              <a:chExt cx="592419" cy="119550"/>
            </a:xfrm>
          </p:grpSpPr>
          <p:sp>
            <p:nvSpPr>
              <p:cNvPr id="156" name="step_budget_outline_0"/>
              <p:cNvSpPr/>
              <p:nvPr/>
            </p:nvSpPr>
            <p:spPr>
              <a:xfrm>
                <a:off x="2129480" y="838565"/>
                <a:ext cx="59773" cy="92186"/>
              </a:xfrm>
              <a:custGeom>
                <a:avLst/>
                <a:gdLst/>
                <a:ahLst/>
                <a:cxnLst/>
                <a:rect l="0" t="0" r="r" b="b"/>
                <a:pathLst>
                  <a:path w="59773" h="92186">
                    <a:moveTo>
                      <a:pt x="59773" y="48085"/>
                    </a:moveTo>
                    <a:cubicBezTo>
                      <a:pt x="59773" y="38787"/>
                      <a:pt x="53265" y="32147"/>
                      <a:pt x="44367" y="32147"/>
                    </a:cubicBezTo>
                    <a:cubicBezTo>
                      <a:pt x="35068" y="32147"/>
                      <a:pt x="28158" y="37592"/>
                      <a:pt x="18728" y="52205"/>
                    </a:cubicBezTo>
                    <a:lnTo>
                      <a:pt x="32544" y="663"/>
                    </a:lnTo>
                    <a:lnTo>
                      <a:pt x="31881" y="0"/>
                    </a:lnTo>
                    <a:cubicBezTo>
                      <a:pt x="25237" y="1195"/>
                      <a:pt x="20455" y="1992"/>
                      <a:pt x="11557" y="3056"/>
                    </a:cubicBezTo>
                    <a:lnTo>
                      <a:pt x="11557" y="5314"/>
                    </a:lnTo>
                    <a:cubicBezTo>
                      <a:pt x="19391" y="5580"/>
                      <a:pt x="20189" y="5977"/>
                      <a:pt x="20189" y="8898"/>
                    </a:cubicBezTo>
                    <a:cubicBezTo>
                      <a:pt x="20189" y="10096"/>
                      <a:pt x="19923" y="11557"/>
                      <a:pt x="18994" y="14613"/>
                    </a:cubicBezTo>
                    <a:lnTo>
                      <a:pt x="18332" y="17137"/>
                    </a:lnTo>
                    <a:lnTo>
                      <a:pt x="18066" y="18066"/>
                    </a:lnTo>
                    <a:lnTo>
                      <a:pt x="0" y="84614"/>
                    </a:lnTo>
                    <a:lnTo>
                      <a:pt x="0" y="85146"/>
                    </a:lnTo>
                    <a:cubicBezTo>
                      <a:pt x="0" y="88202"/>
                      <a:pt x="10097" y="92186"/>
                      <a:pt x="17665" y="92186"/>
                    </a:cubicBezTo>
                    <a:cubicBezTo>
                      <a:pt x="37723" y="92186"/>
                      <a:pt x="59773" y="69072"/>
                      <a:pt x="59773" y="48085"/>
                    </a:cubicBezTo>
                    <a:close/>
                    <a:moveTo>
                      <a:pt x="48482" y="50078"/>
                    </a:moveTo>
                    <a:cubicBezTo>
                      <a:pt x="48482" y="58845"/>
                      <a:pt x="41842" y="73057"/>
                      <a:pt x="33873" y="81296"/>
                    </a:cubicBezTo>
                    <a:cubicBezTo>
                      <a:pt x="28956" y="86340"/>
                      <a:pt x="23245" y="89130"/>
                      <a:pt x="17534" y="89130"/>
                    </a:cubicBezTo>
                    <a:cubicBezTo>
                      <a:pt x="13414" y="89130"/>
                      <a:pt x="11422" y="87670"/>
                      <a:pt x="11422" y="84614"/>
                    </a:cubicBezTo>
                    <a:cubicBezTo>
                      <a:pt x="11422" y="76644"/>
                      <a:pt x="15407" y="63893"/>
                      <a:pt x="20987" y="53931"/>
                    </a:cubicBezTo>
                    <a:cubicBezTo>
                      <a:pt x="26833" y="43704"/>
                      <a:pt x="32810" y="38656"/>
                      <a:pt x="39187" y="38656"/>
                    </a:cubicBezTo>
                    <a:cubicBezTo>
                      <a:pt x="45029" y="38656"/>
                      <a:pt x="48482" y="43037"/>
                      <a:pt x="48482" y="5007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step_budget_outline_1"/>
              <p:cNvSpPr/>
              <p:nvPr/>
            </p:nvSpPr>
            <p:spPr>
              <a:xfrm>
                <a:off x="2204092" y="8815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step_budget_outline_2"/>
              <p:cNvSpPr/>
              <p:nvPr/>
            </p:nvSpPr>
            <p:spPr>
              <a:xfrm>
                <a:off x="2310910" y="878018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34401">
                    <a:moveTo>
                      <a:pt x="68012" y="7437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2" y="7437"/>
                    </a:lnTo>
                    <a:close/>
                    <a:moveTo>
                      <a:pt x="68012" y="34401"/>
                    </a:moveTo>
                    <a:lnTo>
                      <a:pt x="68012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2" y="3440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step_budget_outline_3"/>
              <p:cNvSpPr/>
              <p:nvPr/>
            </p:nvSpPr>
            <p:spPr>
              <a:xfrm>
                <a:off x="2428192" y="842550"/>
                <a:ext cx="79168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79169" h="86741">
                    <a:moveTo>
                      <a:pt x="72660" y="60174"/>
                    </a:moveTo>
                    <a:cubicBezTo>
                      <a:pt x="72660" y="50479"/>
                      <a:pt x="68544" y="45561"/>
                      <a:pt x="55924" y="40116"/>
                    </a:cubicBezTo>
                    <a:cubicBezTo>
                      <a:pt x="65357" y="37858"/>
                      <a:pt x="69207" y="36263"/>
                      <a:pt x="73458" y="32544"/>
                    </a:cubicBezTo>
                    <a:cubicBezTo>
                      <a:pt x="77176" y="29357"/>
                      <a:pt x="79169" y="24971"/>
                      <a:pt x="79169" y="19526"/>
                    </a:cubicBezTo>
                    <a:cubicBezTo>
                      <a:pt x="79169" y="6906"/>
                      <a:pt x="69739" y="0"/>
                      <a:pt x="52602" y="0"/>
                    </a:cubicBez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790"/>
                      <a:pt x="28559" y="3719"/>
                      <a:pt x="28559" y="7572"/>
                    </a:cubicBezTo>
                    <a:cubicBezTo>
                      <a:pt x="28559" y="9565"/>
                      <a:pt x="28027" y="12752"/>
                      <a:pt x="27099" y="16074"/>
                    </a:cubicBezTo>
                    <a:lnTo>
                      <a:pt x="10759" y="74787"/>
                    </a:lnTo>
                    <a:cubicBezTo>
                      <a:pt x="8370" y="82491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37461" y="86741"/>
                    </a:lnTo>
                    <a:cubicBezTo>
                      <a:pt x="58317" y="86741"/>
                      <a:pt x="72660" y="75982"/>
                      <a:pt x="72660" y="60174"/>
                    </a:cubicBezTo>
                    <a:close/>
                    <a:moveTo>
                      <a:pt x="58317" y="59642"/>
                    </a:moveTo>
                    <a:cubicBezTo>
                      <a:pt x="58317" y="73989"/>
                      <a:pt x="48486" y="82756"/>
                      <a:pt x="32278" y="82756"/>
                    </a:cubicBezTo>
                    <a:cubicBezTo>
                      <a:pt x="26702" y="82756"/>
                      <a:pt x="23777" y="80895"/>
                      <a:pt x="23777" y="77176"/>
                    </a:cubicBezTo>
                    <a:cubicBezTo>
                      <a:pt x="23777" y="75450"/>
                      <a:pt x="25372" y="69207"/>
                      <a:pt x="28428" y="58579"/>
                    </a:cubicBezTo>
                    <a:lnTo>
                      <a:pt x="32679" y="42771"/>
                    </a:lnTo>
                    <a:cubicBezTo>
                      <a:pt x="41049" y="42771"/>
                      <a:pt x="46760" y="43303"/>
                      <a:pt x="49415" y="44367"/>
                    </a:cubicBezTo>
                    <a:cubicBezTo>
                      <a:pt x="54995" y="46494"/>
                      <a:pt x="58317" y="52336"/>
                      <a:pt x="58317" y="59642"/>
                    </a:cubicBezTo>
                    <a:close/>
                    <a:moveTo>
                      <a:pt x="65754" y="18332"/>
                    </a:moveTo>
                    <a:cubicBezTo>
                      <a:pt x="65754" y="32012"/>
                      <a:pt x="56852" y="38521"/>
                      <a:pt x="38525" y="38521"/>
                    </a:cubicBezTo>
                    <a:lnTo>
                      <a:pt x="34008" y="38521"/>
                    </a:lnTo>
                    <a:lnTo>
                      <a:pt x="42640" y="7703"/>
                    </a:lnTo>
                    <a:cubicBezTo>
                      <a:pt x="43438" y="4782"/>
                      <a:pt x="45033" y="3985"/>
                      <a:pt x="50213" y="3985"/>
                    </a:cubicBezTo>
                    <a:cubicBezTo>
                      <a:pt x="60972" y="3985"/>
                      <a:pt x="65754" y="8501"/>
                      <a:pt x="65754" y="1833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step_budget_outline_4"/>
              <p:cNvSpPr/>
              <p:nvPr/>
            </p:nvSpPr>
            <p:spPr>
              <a:xfrm>
                <a:off x="2518748" y="88158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step_budget_outline_5"/>
              <p:cNvSpPr/>
              <p:nvPr/>
            </p:nvSpPr>
            <p:spPr>
              <a:xfrm>
                <a:off x="2588659" y="835378"/>
                <a:ext cx="446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44633" h="119551">
                    <a:moveTo>
                      <a:pt x="0" y="119551"/>
                    </a:moveTo>
                    <a:lnTo>
                      <a:pt x="6910" y="119551"/>
                    </a:lnTo>
                    <a:lnTo>
                      <a:pt x="44633" y="0"/>
                    </a:lnTo>
                    <a:lnTo>
                      <a:pt x="37727" y="0"/>
                    </a:lnTo>
                    <a:lnTo>
                      <a:pt x="0" y="11955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step_budget_outline_6"/>
              <p:cNvSpPr/>
              <p:nvPr/>
            </p:nvSpPr>
            <p:spPr>
              <a:xfrm>
                <a:off x="2646581" y="842550"/>
                <a:ext cx="75318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75319" h="86741">
                    <a:moveTo>
                      <a:pt x="75319" y="62964"/>
                    </a:moveTo>
                    <a:lnTo>
                      <a:pt x="72660" y="62167"/>
                    </a:lnTo>
                    <a:cubicBezTo>
                      <a:pt x="68012" y="71731"/>
                      <a:pt x="64560" y="75847"/>
                      <a:pt x="58714" y="78772"/>
                    </a:cubicBezTo>
                    <a:cubicBezTo>
                      <a:pt x="54066" y="81161"/>
                      <a:pt x="48617" y="81959"/>
                      <a:pt x="36794" y="81959"/>
                    </a:cubicBezTo>
                    <a:cubicBezTo>
                      <a:pt x="26833" y="81959"/>
                      <a:pt x="23511" y="80895"/>
                      <a:pt x="23511" y="77442"/>
                    </a:cubicBezTo>
                    <a:cubicBezTo>
                      <a:pt x="23511" y="76379"/>
                      <a:pt x="24043" y="73589"/>
                      <a:pt x="24840" y="70802"/>
                    </a:cubicBezTo>
                    <a:lnTo>
                      <a:pt x="41180" y="11954"/>
                    </a:lnTo>
                    <a:cubicBezTo>
                      <a:pt x="43172" y="5179"/>
                      <a:pt x="46625" y="2655"/>
                      <a:pt x="54594" y="2123"/>
                    </a:cubicBezTo>
                    <a:lnTo>
                      <a:pt x="54594" y="0"/>
                    </a:ln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921"/>
                      <a:pt x="28559" y="3985"/>
                      <a:pt x="28559" y="7838"/>
                    </a:cubicBezTo>
                    <a:cubicBezTo>
                      <a:pt x="28559" y="9831"/>
                      <a:pt x="28162" y="12486"/>
                      <a:pt x="27099" y="16074"/>
                    </a:cubicBezTo>
                    <a:lnTo>
                      <a:pt x="10759" y="74787"/>
                    </a:lnTo>
                    <a:cubicBezTo>
                      <a:pt x="8370" y="82491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67616" y="86741"/>
                    </a:lnTo>
                    <a:lnTo>
                      <a:pt x="75319" y="6296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3" name="hard_eq"/>
            <p:cNvGrpSpPr/>
            <p:nvPr/>
          </p:nvGrpSpPr>
          <p:grpSpPr>
            <a:xfrm>
              <a:off x="2221271" y="1640031"/>
              <a:ext cx="397878" cy="110726"/>
              <a:chOff x="2221271" y="1640031"/>
              <a:chExt cx="397878" cy="110726"/>
            </a:xfrm>
          </p:grpSpPr>
          <p:sp>
            <p:nvSpPr>
              <p:cNvPr id="164" name="hard_eq_outline_0"/>
              <p:cNvSpPr/>
              <p:nvPr/>
            </p:nvSpPr>
            <p:spPr>
              <a:xfrm>
                <a:off x="2221271" y="1643087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hard_eq_outline_1"/>
              <p:cNvSpPr/>
              <p:nvPr/>
            </p:nvSpPr>
            <p:spPr>
              <a:xfrm>
                <a:off x="2299049" y="1683003"/>
                <a:ext cx="87991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7991" h="67754">
                    <a:moveTo>
                      <a:pt x="74192" y="67754"/>
                    </a:moveTo>
                    <a:lnTo>
                      <a:pt x="74085" y="66096"/>
                    </a:lnTo>
                    <a:cubicBezTo>
                      <a:pt x="66306" y="65369"/>
                      <a:pt x="64957" y="64643"/>
                      <a:pt x="64853" y="61738"/>
                    </a:cubicBezTo>
                    <a:cubicBezTo>
                      <a:pt x="64853" y="60904"/>
                      <a:pt x="64853" y="60075"/>
                      <a:pt x="65060" y="59245"/>
                    </a:cubicBezTo>
                    <a:lnTo>
                      <a:pt x="78549" y="9338"/>
                    </a:lnTo>
                    <a:cubicBezTo>
                      <a:pt x="80312" y="3318"/>
                      <a:pt x="81351" y="2699"/>
                      <a:pt x="87991" y="1659"/>
                    </a:cubicBezTo>
                    <a:lnTo>
                      <a:pt x="87991" y="0"/>
                    </a:lnTo>
                    <a:lnTo>
                      <a:pt x="58210" y="0"/>
                    </a:lnTo>
                    <a:lnTo>
                      <a:pt x="58210" y="1659"/>
                    </a:lnTo>
                    <a:cubicBezTo>
                      <a:pt x="65060" y="2385"/>
                      <a:pt x="66719" y="3215"/>
                      <a:pt x="66822" y="6120"/>
                    </a:cubicBezTo>
                    <a:cubicBezTo>
                      <a:pt x="66822" y="7675"/>
                      <a:pt x="66306" y="9751"/>
                      <a:pt x="65683" y="12553"/>
                    </a:cubicBezTo>
                    <a:lnTo>
                      <a:pt x="61012" y="29571"/>
                    </a:lnTo>
                    <a:lnTo>
                      <a:pt x="29055" y="29571"/>
                    </a:lnTo>
                    <a:lnTo>
                      <a:pt x="34449" y="9338"/>
                    </a:lnTo>
                    <a:cubicBezTo>
                      <a:pt x="36004" y="4044"/>
                      <a:pt x="39120" y="2076"/>
                      <a:pt x="46176" y="1659"/>
                    </a:cubicBezTo>
                    <a:lnTo>
                      <a:pt x="46176" y="0"/>
                    </a:lnTo>
                    <a:lnTo>
                      <a:pt x="13283" y="0"/>
                    </a:lnTo>
                    <a:lnTo>
                      <a:pt x="13283" y="1659"/>
                    </a:lnTo>
                    <a:cubicBezTo>
                      <a:pt x="20753" y="2282"/>
                      <a:pt x="22622" y="3112"/>
                      <a:pt x="22725" y="6120"/>
                    </a:cubicBezTo>
                    <a:cubicBezTo>
                      <a:pt x="22725" y="7675"/>
                      <a:pt x="22519" y="9751"/>
                      <a:pt x="21582" y="12553"/>
                    </a:cubicBezTo>
                    <a:lnTo>
                      <a:pt x="9446" y="58416"/>
                    </a:lnTo>
                    <a:cubicBezTo>
                      <a:pt x="7576" y="64433"/>
                      <a:pt x="6644" y="65056"/>
                      <a:pt x="0" y="66096"/>
                    </a:cubicBezTo>
                    <a:lnTo>
                      <a:pt x="107" y="67754"/>
                    </a:lnTo>
                    <a:lnTo>
                      <a:pt x="29575" y="67754"/>
                    </a:lnTo>
                    <a:lnTo>
                      <a:pt x="29468" y="66096"/>
                    </a:lnTo>
                    <a:cubicBezTo>
                      <a:pt x="22415" y="65266"/>
                      <a:pt x="21066" y="64540"/>
                      <a:pt x="20963" y="61528"/>
                    </a:cubicBezTo>
                    <a:cubicBezTo>
                      <a:pt x="20963" y="60801"/>
                      <a:pt x="21066" y="59972"/>
                      <a:pt x="21272" y="59245"/>
                    </a:cubicBezTo>
                    <a:lnTo>
                      <a:pt x="27912" y="34135"/>
                    </a:lnTo>
                    <a:lnTo>
                      <a:pt x="59873" y="34135"/>
                    </a:lnTo>
                    <a:lnTo>
                      <a:pt x="53336" y="58416"/>
                    </a:lnTo>
                    <a:cubicBezTo>
                      <a:pt x="51673" y="63814"/>
                      <a:pt x="49288" y="65369"/>
                      <a:pt x="41505" y="66096"/>
                    </a:cubicBezTo>
                    <a:lnTo>
                      <a:pt x="41608" y="67754"/>
                    </a:lnTo>
                    <a:lnTo>
                      <a:pt x="74192" y="67754"/>
                    </a:ln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hard_eq_outline_2"/>
              <p:cNvSpPr/>
              <p:nvPr/>
            </p:nvSpPr>
            <p:spPr>
              <a:xfrm>
                <a:off x="2442755" y="1678556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34401">
                    <a:moveTo>
                      <a:pt x="68013" y="7438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3" y="7438"/>
                    </a:lnTo>
                    <a:close/>
                    <a:moveTo>
                      <a:pt x="68013" y="34401"/>
                    </a:moveTo>
                    <a:lnTo>
                      <a:pt x="68013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3" y="34401"/>
                    </a:ln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hard_eq_outline_3"/>
              <p:cNvSpPr/>
              <p:nvPr/>
            </p:nvSpPr>
            <p:spPr>
              <a:xfrm>
                <a:off x="2559106" y="1640031"/>
                <a:ext cx="60043" cy="91658"/>
              </a:xfrm>
              <a:custGeom>
                <a:avLst/>
                <a:gdLst/>
                <a:ahLst/>
                <a:cxnLst/>
                <a:rect l="0" t="0" r="r" b="b"/>
                <a:pathLst>
                  <a:path w="60043" h="91658">
                    <a:moveTo>
                      <a:pt x="60043" y="45962"/>
                    </a:moveTo>
                    <a:cubicBezTo>
                      <a:pt x="60043" y="18729"/>
                      <a:pt x="47954" y="0"/>
                      <a:pt x="30551" y="0"/>
                    </a:cubicBezTo>
                    <a:cubicBezTo>
                      <a:pt x="23249" y="0"/>
                      <a:pt x="17669" y="2258"/>
                      <a:pt x="12752" y="6910"/>
                    </a:cubicBezTo>
                    <a:cubicBezTo>
                      <a:pt x="5048" y="14347"/>
                      <a:pt x="0" y="29623"/>
                      <a:pt x="0" y="45164"/>
                    </a:cubicBezTo>
                    <a:cubicBezTo>
                      <a:pt x="0" y="59642"/>
                      <a:pt x="4385" y="75184"/>
                      <a:pt x="10628" y="82625"/>
                    </a:cubicBezTo>
                    <a:cubicBezTo>
                      <a:pt x="15542" y="88467"/>
                      <a:pt x="22316" y="91658"/>
                      <a:pt x="30024" y="91658"/>
                    </a:cubicBezTo>
                    <a:cubicBezTo>
                      <a:pt x="36798" y="91658"/>
                      <a:pt x="42509" y="89400"/>
                      <a:pt x="47292" y="84749"/>
                    </a:cubicBezTo>
                    <a:cubicBezTo>
                      <a:pt x="54995" y="77442"/>
                      <a:pt x="60043" y="62036"/>
                      <a:pt x="60043" y="45962"/>
                    </a:cubicBezTo>
                    <a:close/>
                    <a:moveTo>
                      <a:pt x="47292" y="46228"/>
                    </a:moveTo>
                    <a:cubicBezTo>
                      <a:pt x="47292" y="73989"/>
                      <a:pt x="41446" y="88202"/>
                      <a:pt x="30024" y="88202"/>
                    </a:cubicBezTo>
                    <a:cubicBezTo>
                      <a:pt x="18598" y="88202"/>
                      <a:pt x="12752" y="73989"/>
                      <a:pt x="12752" y="46359"/>
                    </a:cubicBezTo>
                    <a:cubicBezTo>
                      <a:pt x="12752" y="18201"/>
                      <a:pt x="18732" y="3453"/>
                      <a:pt x="30155" y="3453"/>
                    </a:cubicBezTo>
                    <a:cubicBezTo>
                      <a:pt x="41315" y="3453"/>
                      <a:pt x="47292" y="18467"/>
                      <a:pt x="47292" y="46228"/>
                    </a:cubicBezTo>
                    <a:close/>
                  </a:path>
                </a:pathLst>
              </a:custGeom>
              <a:solidFill>
                <a:srgbClr val="B147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63" name="module_projection"/>
          <p:cNvGrpSpPr/>
          <p:nvPr/>
        </p:nvGrpSpPr>
        <p:grpSpPr>
          <a:xfrm>
            <a:off x="3009900" y="38100"/>
            <a:ext cx="1981199" cy="1765299"/>
            <a:chOff x="3009900" y="38100"/>
            <a:chExt cx="1981199" cy="1765299"/>
          </a:xfrm>
        </p:grpSpPr>
        <p:sp>
          <p:nvSpPr>
            <p:cNvPr id="50" name="projection" descr="Editable shape; source id projection"/>
            <p:cNvSpPr/>
            <p:nvPr/>
          </p:nvSpPr>
          <p:spPr>
            <a:xfrm>
              <a:off x="3009900" y="38100"/>
              <a:ext cx="1981199" cy="1765299"/>
            </a:xfrm>
            <a:prstGeom prst="roundRect">
              <a:avLst>
                <a:gd name="adj" fmla="val 2158"/>
              </a:avLst>
            </a:prstGeom>
            <a:solidFill>
              <a:srgbClr val="F0F7F5"/>
            </a:solidFill>
            <a:ln w="8254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projection_title" descr="Editable text; source id projection_title"/>
            <p:cNvSpPr txBox="1"/>
            <p:nvPr/>
          </p:nvSpPr>
          <p:spPr>
            <a:xfrm>
              <a:off x="3048000" y="88899"/>
              <a:ext cx="1904999" cy="15024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046"/>
                </a:lnSpc>
                <a:spcBef>
                  <a:spcPts val="0"/>
                </a:spcBef>
                <a:spcAft>
                  <a:spcPts val="0"/>
                </a:spcAft>
                <a:defRPr sz="9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9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4  Entropic projection</a:t>
              </a:r>
            </a:p>
          </p:txBody>
        </p:sp>
        <p:sp>
          <p:nvSpPr>
            <p:cNvPr id="52" name="st" descr="Editable text; source id st"/>
            <p:cNvSpPr txBox="1"/>
            <p:nvPr/>
          </p:nvSpPr>
          <p:spPr>
            <a:xfrm>
              <a:off x="3060700" y="660399"/>
              <a:ext cx="1879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s.t. flow balance + constraints</a:t>
              </a:r>
            </a:p>
          </p:txBody>
        </p:sp>
        <p:sp>
          <p:nvSpPr>
            <p:cNvPr id="53" name="before_e0_0_0" descr="Editable line; source id before_e0_0_0"/>
            <p:cNvSpPr/>
            <p:nvPr/>
          </p:nvSpPr>
          <p:spPr>
            <a:xfrm>
              <a:off x="3165358" y="1187178"/>
              <a:ext cx="104752" cy="105057"/>
            </a:xfrm>
            <a:custGeom>
              <a:avLst/>
              <a:gdLst/>
              <a:ahLst/>
              <a:cxnLst/>
              <a:rect l="l" t="t" r="r" b="b"/>
              <a:pathLst>
                <a:path w="41241" h="41361">
                  <a:moveTo>
                    <a:pt x="0" y="39066"/>
                  </a:moveTo>
                  <a:lnTo>
                    <a:pt x="28441" y="10538"/>
                  </a:lnTo>
                  <a:lnTo>
                    <a:pt x="25165" y="7273"/>
                  </a:lnTo>
                  <a:lnTo>
                    <a:pt x="41241" y="0"/>
                  </a:lnTo>
                  <a:lnTo>
                    <a:pt x="34018" y="16098"/>
                  </a:lnTo>
                  <a:lnTo>
                    <a:pt x="30742" y="12833"/>
                  </a:lnTo>
                  <a:lnTo>
                    <a:pt x="2302" y="41361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before_hard_0" descr="Editable line; source id before_hard_0"/>
            <p:cNvCxnSpPr/>
            <p:nvPr/>
          </p:nvCxnSpPr>
          <p:spPr>
            <a:xfrm>
              <a:off x="3339592" y="1155700"/>
              <a:ext cx="185928" cy="0"/>
            </a:xfrm>
            <a:prstGeom prst="line">
              <a:avLst/>
            </a:prstGeom>
            <a:ln w="9524">
              <a:solidFill>
                <a:srgbClr val="B14747"/>
              </a:solidFill>
              <a:custDash>
                <a:ds d="266667" sp="24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before_x1_0" descr="Editable line; source id before_x1_0"/>
            <p:cNvCxnSpPr/>
            <p:nvPr/>
          </p:nvCxnSpPr>
          <p:spPr>
            <a:xfrm>
              <a:off x="3403345" y="1126489"/>
              <a:ext cx="58421" cy="58420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efore_x2_0" descr="Editable line; source id before_x2_0"/>
            <p:cNvCxnSpPr/>
            <p:nvPr/>
          </p:nvCxnSpPr>
          <p:spPr>
            <a:xfrm flipV="1">
              <a:off x="3403345" y="1126489"/>
              <a:ext cx="58421" cy="58420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before_e2_0_0" descr="Editable line; source id before_e2_0_0"/>
            <p:cNvSpPr/>
            <p:nvPr/>
          </p:nvSpPr>
          <p:spPr>
            <a:xfrm>
              <a:off x="3593849" y="1182423"/>
              <a:ext cx="119657" cy="108590"/>
            </a:xfrm>
            <a:custGeom>
              <a:avLst/>
              <a:gdLst/>
              <a:ahLst/>
              <a:cxnLst/>
              <a:rect l="l" t="t" r="r" b="b"/>
              <a:pathLst>
                <a:path w="47109" h="42752">
                  <a:moveTo>
                    <a:pt x="2178" y="0"/>
                  </a:moveTo>
                  <a:lnTo>
                    <a:pt x="35951" y="30489"/>
                  </a:lnTo>
                  <a:lnTo>
                    <a:pt x="39050" y="27056"/>
                  </a:lnTo>
                  <a:lnTo>
                    <a:pt x="47109" y="42752"/>
                  </a:lnTo>
                  <a:lnTo>
                    <a:pt x="30674" y="36335"/>
                  </a:lnTo>
                  <a:lnTo>
                    <a:pt x="33773" y="32902"/>
                  </a:lnTo>
                  <a:lnTo>
                    <a:pt x="0" y="241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before_e3_0_0" descr="Editable line; source id before_e3_0_0"/>
            <p:cNvSpPr/>
            <p:nvPr/>
          </p:nvSpPr>
          <p:spPr>
            <a:xfrm>
              <a:off x="3165358" y="1349365"/>
              <a:ext cx="104752" cy="105057"/>
            </a:xfrm>
            <a:custGeom>
              <a:avLst/>
              <a:gdLst/>
              <a:ahLst/>
              <a:cxnLst/>
              <a:rect l="l" t="t" r="r" b="b"/>
              <a:pathLst>
                <a:path w="41241" h="41361">
                  <a:moveTo>
                    <a:pt x="2302" y="0"/>
                  </a:moveTo>
                  <a:lnTo>
                    <a:pt x="30742" y="28528"/>
                  </a:lnTo>
                  <a:lnTo>
                    <a:pt x="34018" y="25263"/>
                  </a:lnTo>
                  <a:lnTo>
                    <a:pt x="41241" y="41361"/>
                  </a:lnTo>
                  <a:lnTo>
                    <a:pt x="25165" y="34088"/>
                  </a:lnTo>
                  <a:lnTo>
                    <a:pt x="28441" y="30823"/>
                  </a:lnTo>
                  <a:lnTo>
                    <a:pt x="0" y="229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before_e4_0_0" descr="Editable line; source id before_e4_0_0"/>
            <p:cNvSpPr/>
            <p:nvPr/>
          </p:nvSpPr>
          <p:spPr>
            <a:xfrm>
              <a:off x="3345942" y="1470025"/>
              <a:ext cx="173228" cy="31750"/>
            </a:xfrm>
            <a:custGeom>
              <a:avLst/>
              <a:gdLst/>
              <a:ahLst/>
              <a:cxnLst/>
              <a:rect l="l" t="t" r="r" b="b"/>
              <a:pathLst>
                <a:path w="68200" h="12500">
                  <a:moveTo>
                    <a:pt x="0" y="4625"/>
                  </a:moveTo>
                  <a:lnTo>
                    <a:pt x="51700" y="4625"/>
                  </a:lnTo>
                  <a:lnTo>
                    <a:pt x="51700" y="0"/>
                  </a:lnTo>
                  <a:lnTo>
                    <a:pt x="68200" y="6250"/>
                  </a:lnTo>
                  <a:lnTo>
                    <a:pt x="51700" y="12500"/>
                  </a:lnTo>
                  <a:lnTo>
                    <a:pt x="51700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before_e5_0_0" descr="Editable line; source id before_e5_0_0"/>
            <p:cNvSpPr/>
            <p:nvPr/>
          </p:nvSpPr>
          <p:spPr>
            <a:xfrm>
              <a:off x="3593849" y="1350587"/>
              <a:ext cx="119657" cy="108590"/>
            </a:xfrm>
            <a:custGeom>
              <a:avLst/>
              <a:gdLst/>
              <a:ahLst/>
              <a:cxnLst/>
              <a:rect l="l" t="t" r="r" b="b"/>
              <a:pathLst>
                <a:path w="47109" h="42752">
                  <a:moveTo>
                    <a:pt x="0" y="40340"/>
                  </a:moveTo>
                  <a:lnTo>
                    <a:pt x="33773" y="9850"/>
                  </a:lnTo>
                  <a:lnTo>
                    <a:pt x="30674" y="6417"/>
                  </a:lnTo>
                  <a:lnTo>
                    <a:pt x="47109" y="0"/>
                  </a:lnTo>
                  <a:lnTo>
                    <a:pt x="39050" y="15696"/>
                  </a:lnTo>
                  <a:lnTo>
                    <a:pt x="35951" y="12263"/>
                  </a:lnTo>
                  <a:lnTo>
                    <a:pt x="2178" y="42752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before_e6_0_0" descr="Editable line; source id before_e6_0_0"/>
            <p:cNvSpPr/>
            <p:nvPr/>
          </p:nvSpPr>
          <p:spPr>
            <a:xfrm>
              <a:off x="3325896" y="1187948"/>
              <a:ext cx="210086" cy="263139"/>
            </a:xfrm>
            <a:custGeom>
              <a:avLst/>
              <a:gdLst/>
              <a:ahLst/>
              <a:cxnLst/>
              <a:rect l="l" t="t" r="r" b="b"/>
              <a:pathLst>
                <a:path w="82711" h="103598">
                  <a:moveTo>
                    <a:pt x="2545" y="0"/>
                  </a:moveTo>
                  <a:lnTo>
                    <a:pt x="73725" y="89664"/>
                  </a:lnTo>
                  <a:lnTo>
                    <a:pt x="77348" y="86789"/>
                  </a:lnTo>
                  <a:lnTo>
                    <a:pt x="82711" y="103598"/>
                  </a:lnTo>
                  <a:lnTo>
                    <a:pt x="67557" y="94561"/>
                  </a:lnTo>
                  <a:lnTo>
                    <a:pt x="71180" y="91685"/>
                  </a:lnTo>
                  <a:lnTo>
                    <a:pt x="0" y="2021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before_n0" descr="Editable shape; source id before_n0"/>
            <p:cNvSpPr/>
            <p:nvPr/>
          </p:nvSpPr>
          <p:spPr>
            <a:xfrm>
              <a:off x="3103880" y="1287780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before_n1" descr="Editable shape; source id before_n1"/>
            <p:cNvSpPr/>
            <p:nvPr/>
          </p:nvSpPr>
          <p:spPr>
            <a:xfrm>
              <a:off x="3268471" y="11226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before_n2" descr="Editable shape; source id before_n2"/>
            <p:cNvSpPr/>
            <p:nvPr/>
          </p:nvSpPr>
          <p:spPr>
            <a:xfrm>
              <a:off x="3530600" y="1122679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before_n3" descr="Editable shape; source id before_n3"/>
            <p:cNvSpPr/>
            <p:nvPr/>
          </p:nvSpPr>
          <p:spPr>
            <a:xfrm>
              <a:off x="3713480" y="1287780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before_n4" descr="Editable shape; source id before_n4"/>
            <p:cNvSpPr/>
            <p:nvPr/>
          </p:nvSpPr>
          <p:spPr>
            <a:xfrm>
              <a:off x="3268471" y="1452880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before_n5" descr="Editable shape; source id before_n5"/>
            <p:cNvSpPr/>
            <p:nvPr/>
          </p:nvSpPr>
          <p:spPr>
            <a:xfrm>
              <a:off x="3530600" y="1452880"/>
              <a:ext cx="66040" cy="6604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route_0" descr="Editable line; source id reroute_0"/>
            <p:cNvSpPr/>
            <p:nvPr/>
          </p:nvSpPr>
          <p:spPr>
            <a:xfrm>
              <a:off x="3860800" y="1304925"/>
              <a:ext cx="292100" cy="31750"/>
            </a:xfrm>
            <a:custGeom>
              <a:avLst/>
              <a:gdLst/>
              <a:ahLst/>
              <a:cxnLst/>
              <a:rect l="l" t="t" r="r" b="b"/>
              <a:pathLst>
                <a:path w="115000" h="12500">
                  <a:moveTo>
                    <a:pt x="0" y="3500"/>
                  </a:moveTo>
                  <a:lnTo>
                    <a:pt x="98500" y="3500"/>
                  </a:lnTo>
                  <a:lnTo>
                    <a:pt x="98500" y="0"/>
                  </a:lnTo>
                  <a:lnTo>
                    <a:pt x="115000" y="6250"/>
                  </a:lnTo>
                  <a:lnTo>
                    <a:pt x="98500" y="12500"/>
                  </a:lnTo>
                  <a:lnTo>
                    <a:pt x="98500" y="9000"/>
                  </a:lnTo>
                  <a:lnTo>
                    <a:pt x="0" y="900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after_e0_0_0" descr="Editable line; source id after_e0_0_0"/>
            <p:cNvSpPr/>
            <p:nvPr/>
          </p:nvSpPr>
          <p:spPr>
            <a:xfrm>
              <a:off x="4282958" y="1187178"/>
              <a:ext cx="104752" cy="105057"/>
            </a:xfrm>
            <a:custGeom>
              <a:avLst/>
              <a:gdLst/>
              <a:ahLst/>
              <a:cxnLst/>
              <a:rect l="l" t="t" r="r" b="b"/>
              <a:pathLst>
                <a:path w="41241" h="41361">
                  <a:moveTo>
                    <a:pt x="0" y="39066"/>
                  </a:moveTo>
                  <a:lnTo>
                    <a:pt x="28441" y="10538"/>
                  </a:lnTo>
                  <a:lnTo>
                    <a:pt x="25165" y="7273"/>
                  </a:lnTo>
                  <a:lnTo>
                    <a:pt x="41241" y="0"/>
                  </a:lnTo>
                  <a:lnTo>
                    <a:pt x="34018" y="16098"/>
                  </a:lnTo>
                  <a:lnTo>
                    <a:pt x="30742" y="12833"/>
                  </a:lnTo>
                  <a:lnTo>
                    <a:pt x="2302" y="41361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after_hard_0" descr="Editable line; source id after_hard_0"/>
            <p:cNvCxnSpPr/>
            <p:nvPr/>
          </p:nvCxnSpPr>
          <p:spPr>
            <a:xfrm>
              <a:off x="4457192" y="1155700"/>
              <a:ext cx="185928" cy="0"/>
            </a:xfrm>
            <a:prstGeom prst="line">
              <a:avLst/>
            </a:prstGeom>
            <a:ln w="9524">
              <a:solidFill>
                <a:srgbClr val="B14747"/>
              </a:solidFill>
              <a:custDash>
                <a:ds d="266667" sp="24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after_x1_0" descr="Editable line; source id after_x1_0"/>
            <p:cNvCxnSpPr/>
            <p:nvPr/>
          </p:nvCxnSpPr>
          <p:spPr>
            <a:xfrm>
              <a:off x="4520945" y="1126489"/>
              <a:ext cx="58420" cy="58420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after_x2_0" descr="Editable line; source id after_x2_0"/>
            <p:cNvCxnSpPr/>
            <p:nvPr/>
          </p:nvCxnSpPr>
          <p:spPr>
            <a:xfrm flipV="1">
              <a:off x="4520945" y="1126489"/>
              <a:ext cx="58420" cy="58420"/>
            </a:xfrm>
            <a:prstGeom prst="line">
              <a:avLst/>
            </a:prstGeom>
            <a:ln w="15240">
              <a:solidFill>
                <a:srgbClr val="B147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after_e2_0_0" descr="Editable line; source id after_e2_0_0"/>
            <p:cNvSpPr/>
            <p:nvPr/>
          </p:nvSpPr>
          <p:spPr>
            <a:xfrm>
              <a:off x="4711449" y="1182423"/>
              <a:ext cx="119657" cy="108590"/>
            </a:xfrm>
            <a:custGeom>
              <a:avLst/>
              <a:gdLst/>
              <a:ahLst/>
              <a:cxnLst/>
              <a:rect l="l" t="t" r="r" b="b"/>
              <a:pathLst>
                <a:path w="47109" h="42752">
                  <a:moveTo>
                    <a:pt x="2178" y="0"/>
                  </a:moveTo>
                  <a:lnTo>
                    <a:pt x="35951" y="30489"/>
                  </a:lnTo>
                  <a:lnTo>
                    <a:pt x="39050" y="27056"/>
                  </a:lnTo>
                  <a:lnTo>
                    <a:pt x="47109" y="42752"/>
                  </a:lnTo>
                  <a:lnTo>
                    <a:pt x="30674" y="36335"/>
                  </a:lnTo>
                  <a:lnTo>
                    <a:pt x="33773" y="32902"/>
                  </a:lnTo>
                  <a:lnTo>
                    <a:pt x="0" y="241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after_e3_0_0" descr="Editable line; source id after_e3_0_0"/>
            <p:cNvSpPr/>
            <p:nvPr/>
          </p:nvSpPr>
          <p:spPr>
            <a:xfrm>
              <a:off x="4278912" y="1345331"/>
              <a:ext cx="108798" cy="109090"/>
            </a:xfrm>
            <a:custGeom>
              <a:avLst/>
              <a:gdLst/>
              <a:ahLst/>
              <a:cxnLst/>
              <a:rect l="l" t="t" r="r" b="b"/>
              <a:pathLst>
                <a:path w="42834" h="42949">
                  <a:moveTo>
                    <a:pt x="5489" y="0"/>
                  </a:moveTo>
                  <a:lnTo>
                    <a:pt x="33929" y="28528"/>
                  </a:lnTo>
                  <a:lnTo>
                    <a:pt x="36124" y="26339"/>
                  </a:lnTo>
                  <a:lnTo>
                    <a:pt x="42834" y="42949"/>
                  </a:lnTo>
                  <a:lnTo>
                    <a:pt x="26245" y="36188"/>
                  </a:lnTo>
                  <a:lnTo>
                    <a:pt x="28440" y="33999"/>
                  </a:lnTo>
                  <a:lnTo>
                    <a:pt x="0" y="5471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after_e4_0_0" descr="Editable line; source id after_e4_0_0"/>
            <p:cNvSpPr/>
            <p:nvPr/>
          </p:nvSpPr>
          <p:spPr>
            <a:xfrm>
              <a:off x="4463542" y="1468183"/>
              <a:ext cx="173228" cy="35433"/>
            </a:xfrm>
            <a:custGeom>
              <a:avLst/>
              <a:gdLst/>
              <a:ahLst/>
              <a:cxnLst/>
              <a:rect l="l" t="t" r="r" b="b"/>
              <a:pathLst>
                <a:path w="68200" h="13950">
                  <a:moveTo>
                    <a:pt x="0" y="3100"/>
                  </a:moveTo>
                  <a:lnTo>
                    <a:pt x="51700" y="3100"/>
                  </a:lnTo>
                  <a:lnTo>
                    <a:pt x="51700" y="0"/>
                  </a:lnTo>
                  <a:lnTo>
                    <a:pt x="68200" y="6975"/>
                  </a:lnTo>
                  <a:lnTo>
                    <a:pt x="51700" y="13950"/>
                  </a:lnTo>
                  <a:lnTo>
                    <a:pt x="51700" y="10850"/>
                  </a:lnTo>
                  <a:lnTo>
                    <a:pt x="0" y="10850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after_e5_0_0" descr="Editable line; source id after_e5_0_0"/>
            <p:cNvSpPr/>
            <p:nvPr/>
          </p:nvSpPr>
          <p:spPr>
            <a:xfrm>
              <a:off x="4707618" y="1350587"/>
              <a:ext cx="123487" cy="112832"/>
            </a:xfrm>
            <a:custGeom>
              <a:avLst/>
              <a:gdLst/>
              <a:ahLst/>
              <a:cxnLst/>
              <a:rect l="l" t="t" r="r" b="b"/>
              <a:pathLst>
                <a:path w="48617" h="44422">
                  <a:moveTo>
                    <a:pt x="0" y="38670"/>
                  </a:moveTo>
                  <a:lnTo>
                    <a:pt x="33773" y="8180"/>
                  </a:lnTo>
                  <a:lnTo>
                    <a:pt x="31696" y="5879"/>
                  </a:lnTo>
                  <a:lnTo>
                    <a:pt x="48617" y="0"/>
                  </a:lnTo>
                  <a:lnTo>
                    <a:pt x="41044" y="16234"/>
                  </a:lnTo>
                  <a:lnTo>
                    <a:pt x="38967" y="13933"/>
                  </a:lnTo>
                  <a:lnTo>
                    <a:pt x="5193" y="4442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after_e6_0_0" descr="Editable line; source id after_e6_0_0"/>
            <p:cNvSpPr/>
            <p:nvPr/>
          </p:nvSpPr>
          <p:spPr>
            <a:xfrm>
              <a:off x="4443496" y="1187948"/>
              <a:ext cx="210086" cy="263139"/>
            </a:xfrm>
            <a:custGeom>
              <a:avLst/>
              <a:gdLst/>
              <a:ahLst/>
              <a:cxnLst/>
              <a:rect l="l" t="t" r="r" b="b"/>
              <a:pathLst>
                <a:path w="82711" h="103598">
                  <a:moveTo>
                    <a:pt x="2545" y="0"/>
                  </a:moveTo>
                  <a:lnTo>
                    <a:pt x="73725" y="89664"/>
                  </a:lnTo>
                  <a:lnTo>
                    <a:pt x="77348" y="86789"/>
                  </a:lnTo>
                  <a:lnTo>
                    <a:pt x="82711" y="103598"/>
                  </a:lnTo>
                  <a:lnTo>
                    <a:pt x="67557" y="94561"/>
                  </a:lnTo>
                  <a:lnTo>
                    <a:pt x="71180" y="91685"/>
                  </a:lnTo>
                  <a:lnTo>
                    <a:pt x="0" y="2021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after_n0" descr="Editable shape; source id after_n0"/>
            <p:cNvSpPr/>
            <p:nvPr/>
          </p:nvSpPr>
          <p:spPr>
            <a:xfrm>
              <a:off x="4221480" y="1287780"/>
              <a:ext cx="66040" cy="66040"/>
            </a:xfrm>
            <a:prstGeom prst="ellipse">
              <a:avLst/>
            </a:prstGeom>
            <a:solidFill>
              <a:srgbClr val="F1F7F6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after_n1" descr="Editable shape; source id after_n1"/>
            <p:cNvSpPr/>
            <p:nvPr/>
          </p:nvSpPr>
          <p:spPr>
            <a:xfrm>
              <a:off x="4386071" y="1122679"/>
              <a:ext cx="66040" cy="66040"/>
            </a:xfrm>
            <a:prstGeom prst="ellipse">
              <a:avLst/>
            </a:prstGeom>
            <a:solidFill>
              <a:srgbClr val="F1F7F6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after_n2" descr="Editable shape; source id after_n2"/>
            <p:cNvSpPr/>
            <p:nvPr/>
          </p:nvSpPr>
          <p:spPr>
            <a:xfrm>
              <a:off x="4648200" y="1122679"/>
              <a:ext cx="66040" cy="66040"/>
            </a:xfrm>
            <a:prstGeom prst="ellipse">
              <a:avLst/>
            </a:prstGeom>
            <a:solidFill>
              <a:srgbClr val="F1F7F6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after_n3" descr="Editable shape; source id after_n3"/>
            <p:cNvSpPr/>
            <p:nvPr/>
          </p:nvSpPr>
          <p:spPr>
            <a:xfrm>
              <a:off x="4831080" y="1287780"/>
              <a:ext cx="66040" cy="66040"/>
            </a:xfrm>
            <a:prstGeom prst="ellipse">
              <a:avLst/>
            </a:prstGeom>
            <a:solidFill>
              <a:srgbClr val="F1F7F6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after_n4" descr="Editable shape; source id after_n4"/>
            <p:cNvSpPr/>
            <p:nvPr/>
          </p:nvSpPr>
          <p:spPr>
            <a:xfrm>
              <a:off x="4386071" y="1452880"/>
              <a:ext cx="66040" cy="66040"/>
            </a:xfrm>
            <a:prstGeom prst="ellipse">
              <a:avLst/>
            </a:prstGeom>
            <a:solidFill>
              <a:srgbClr val="F1F7F6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after_n5" descr="Editable shape; source id after_n5"/>
            <p:cNvSpPr/>
            <p:nvPr/>
          </p:nvSpPr>
          <p:spPr>
            <a:xfrm>
              <a:off x="4648200" y="1452880"/>
              <a:ext cx="66040" cy="66040"/>
            </a:xfrm>
            <a:prstGeom prst="ellipse">
              <a:avLst/>
            </a:prstGeom>
            <a:solidFill>
              <a:srgbClr val="F1F7F6"/>
            </a:solidFill>
            <a:ln w="8890">
              <a:solidFill>
                <a:srgbClr val="126D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arget_only" descr="Editable text; source id target_only"/>
            <p:cNvSpPr txBox="1"/>
            <p:nvPr/>
          </p:nvSpPr>
          <p:spPr>
            <a:xfrm>
              <a:off x="3060700" y="1600199"/>
              <a:ext cx="1879599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126D69"/>
                  </a:solidFill>
                  <a:latin typeface="Liberation Sans"/>
                  <a:ea typeface="Liberation Sans"/>
                  <a:cs typeface="Liberation Sans"/>
                </a:rPr>
                <a:t>Target flow is not executed</a:t>
              </a:r>
            </a:p>
          </p:txBody>
        </p:sp>
        <p:grpSp>
          <p:nvGrpSpPr>
            <p:cNvPr id="168" name="objective"/>
            <p:cNvGrpSpPr/>
            <p:nvPr/>
          </p:nvGrpSpPr>
          <p:grpSpPr>
            <a:xfrm>
              <a:off x="3097930" y="381620"/>
              <a:ext cx="1783613" cy="160264"/>
              <a:chOff x="3097930" y="381620"/>
              <a:chExt cx="1783613" cy="160264"/>
            </a:xfrm>
          </p:grpSpPr>
          <p:sp>
            <p:nvSpPr>
              <p:cNvPr id="169" name="objective_outline_0"/>
              <p:cNvSpPr/>
              <p:nvPr/>
            </p:nvSpPr>
            <p:spPr>
              <a:xfrm>
                <a:off x="3097930" y="407463"/>
                <a:ext cx="202587" cy="90725"/>
              </a:xfrm>
              <a:custGeom>
                <a:avLst/>
                <a:gdLst/>
                <a:ahLst/>
                <a:cxnLst/>
                <a:rect l="0" t="0" r="r" b="b"/>
                <a:pathLst>
                  <a:path w="202588" h="90726">
                    <a:moveTo>
                      <a:pt x="100818" y="90726"/>
                    </a:moveTo>
                    <a:lnTo>
                      <a:pt x="100818" y="88733"/>
                    </a:lnTo>
                    <a:lnTo>
                      <a:pt x="97365" y="88467"/>
                    </a:lnTo>
                    <a:cubicBezTo>
                      <a:pt x="93381" y="88202"/>
                      <a:pt x="91654" y="85812"/>
                      <a:pt x="91654" y="80629"/>
                    </a:cubicBezTo>
                    <a:lnTo>
                      <a:pt x="91654" y="53265"/>
                    </a:lnTo>
                    <a:cubicBezTo>
                      <a:pt x="91654" y="37592"/>
                      <a:pt x="86475" y="29623"/>
                      <a:pt x="76244" y="29623"/>
                    </a:cubicBezTo>
                    <a:cubicBezTo>
                      <a:pt x="68540" y="29623"/>
                      <a:pt x="61766" y="33076"/>
                      <a:pt x="54594" y="40779"/>
                    </a:cubicBezTo>
                    <a:cubicBezTo>
                      <a:pt x="52201" y="33207"/>
                      <a:pt x="47685" y="29623"/>
                      <a:pt x="40513" y="29623"/>
                    </a:cubicBezTo>
                    <a:cubicBezTo>
                      <a:pt x="34667" y="29623"/>
                      <a:pt x="30948" y="31480"/>
                      <a:pt x="19923" y="39850"/>
                    </a:cubicBezTo>
                    <a:lnTo>
                      <a:pt x="19923" y="29889"/>
                    </a:lnTo>
                    <a:lnTo>
                      <a:pt x="18994" y="29623"/>
                    </a:lnTo>
                    <a:cubicBezTo>
                      <a:pt x="12220" y="32147"/>
                      <a:pt x="7703" y="33607"/>
                      <a:pt x="397" y="35600"/>
                    </a:cubicBezTo>
                    <a:lnTo>
                      <a:pt x="397" y="37858"/>
                    </a:lnTo>
                    <a:cubicBezTo>
                      <a:pt x="2123" y="37457"/>
                      <a:pt x="3187" y="37326"/>
                      <a:pt x="4647" y="37326"/>
                    </a:cubicBezTo>
                    <a:cubicBezTo>
                      <a:pt x="8100" y="37326"/>
                      <a:pt x="9295" y="39453"/>
                      <a:pt x="9295" y="45827"/>
                    </a:cubicBezTo>
                    <a:lnTo>
                      <a:pt x="9295" y="79435"/>
                    </a:lnTo>
                    <a:cubicBezTo>
                      <a:pt x="9295" y="86606"/>
                      <a:pt x="7437" y="88598"/>
                      <a:pt x="0" y="88733"/>
                    </a:cubicBezTo>
                    <a:lnTo>
                      <a:pt x="0" y="90726"/>
                    </a:lnTo>
                    <a:lnTo>
                      <a:pt x="29488" y="90726"/>
                    </a:lnTo>
                    <a:lnTo>
                      <a:pt x="29488" y="88733"/>
                    </a:lnTo>
                    <a:cubicBezTo>
                      <a:pt x="22447" y="88467"/>
                      <a:pt x="20455" y="87007"/>
                      <a:pt x="20455" y="81824"/>
                    </a:cubicBezTo>
                    <a:lnTo>
                      <a:pt x="20455" y="44367"/>
                    </a:lnTo>
                    <a:cubicBezTo>
                      <a:pt x="20455" y="44367"/>
                      <a:pt x="21519" y="42771"/>
                      <a:pt x="22447" y="41843"/>
                    </a:cubicBezTo>
                    <a:cubicBezTo>
                      <a:pt x="25769" y="38787"/>
                      <a:pt x="31480" y="36528"/>
                      <a:pt x="36128" y="36528"/>
                    </a:cubicBezTo>
                    <a:cubicBezTo>
                      <a:pt x="41973" y="36528"/>
                      <a:pt x="44894" y="41180"/>
                      <a:pt x="44894" y="50479"/>
                    </a:cubicBezTo>
                    <a:lnTo>
                      <a:pt x="44894" y="79304"/>
                    </a:lnTo>
                    <a:cubicBezTo>
                      <a:pt x="44894" y="86741"/>
                      <a:pt x="43434" y="88202"/>
                      <a:pt x="35862" y="88733"/>
                    </a:cubicBezTo>
                    <a:lnTo>
                      <a:pt x="35862" y="90726"/>
                    </a:lnTo>
                    <a:lnTo>
                      <a:pt x="65619" y="90726"/>
                    </a:lnTo>
                    <a:lnTo>
                      <a:pt x="65619" y="88733"/>
                    </a:lnTo>
                    <a:cubicBezTo>
                      <a:pt x="58047" y="88598"/>
                      <a:pt x="56055" y="86340"/>
                      <a:pt x="56055" y="78105"/>
                    </a:cubicBezTo>
                    <a:lnTo>
                      <a:pt x="56055" y="44633"/>
                    </a:lnTo>
                    <a:cubicBezTo>
                      <a:pt x="60039" y="38922"/>
                      <a:pt x="64425" y="36528"/>
                      <a:pt x="70533" y="36528"/>
                    </a:cubicBezTo>
                    <a:cubicBezTo>
                      <a:pt x="78105" y="36528"/>
                      <a:pt x="80494" y="40116"/>
                      <a:pt x="80494" y="51141"/>
                    </a:cubicBezTo>
                    <a:lnTo>
                      <a:pt x="80494" y="79169"/>
                    </a:lnTo>
                    <a:cubicBezTo>
                      <a:pt x="80494" y="86741"/>
                      <a:pt x="79435" y="87805"/>
                      <a:pt x="71727" y="88733"/>
                    </a:cubicBezTo>
                    <a:lnTo>
                      <a:pt x="71727" y="90726"/>
                    </a:lnTo>
                    <a:lnTo>
                      <a:pt x="100818" y="90726"/>
                    </a:lnTo>
                    <a:close/>
                    <a:moveTo>
                      <a:pt x="134838" y="90726"/>
                    </a:moveTo>
                    <a:lnTo>
                      <a:pt x="134838" y="88733"/>
                    </a:lnTo>
                    <a:cubicBezTo>
                      <a:pt x="126072" y="88071"/>
                      <a:pt x="125007" y="86741"/>
                      <a:pt x="125007" y="77176"/>
                    </a:cubicBezTo>
                    <a:lnTo>
                      <a:pt x="125007" y="30020"/>
                    </a:lnTo>
                    <a:lnTo>
                      <a:pt x="124476" y="29623"/>
                    </a:lnTo>
                    <a:lnTo>
                      <a:pt x="103886" y="36929"/>
                    </a:lnTo>
                    <a:lnTo>
                      <a:pt x="103886" y="38922"/>
                    </a:lnTo>
                    <a:lnTo>
                      <a:pt x="104950" y="38787"/>
                    </a:lnTo>
                    <a:cubicBezTo>
                      <a:pt x="106545" y="38521"/>
                      <a:pt x="108271" y="38390"/>
                      <a:pt x="109466" y="38390"/>
                    </a:cubicBezTo>
                    <a:cubicBezTo>
                      <a:pt x="112653" y="38390"/>
                      <a:pt x="113852" y="40513"/>
                      <a:pt x="113852" y="46359"/>
                    </a:cubicBezTo>
                    <a:lnTo>
                      <a:pt x="113852" y="77176"/>
                    </a:lnTo>
                    <a:cubicBezTo>
                      <a:pt x="113852" y="86741"/>
                      <a:pt x="112522" y="88202"/>
                      <a:pt x="103358" y="88733"/>
                    </a:cubicBezTo>
                    <a:lnTo>
                      <a:pt x="103358" y="90726"/>
                    </a:lnTo>
                    <a:lnTo>
                      <a:pt x="134838" y="90726"/>
                    </a:lnTo>
                    <a:close/>
                    <a:moveTo>
                      <a:pt x="126202" y="6775"/>
                    </a:moveTo>
                    <a:cubicBezTo>
                      <a:pt x="126202" y="3056"/>
                      <a:pt x="123281" y="0"/>
                      <a:pt x="119428" y="0"/>
                    </a:cubicBezTo>
                    <a:cubicBezTo>
                      <a:pt x="115709" y="0"/>
                      <a:pt x="112653" y="3056"/>
                      <a:pt x="112653" y="6775"/>
                    </a:cubicBezTo>
                    <a:cubicBezTo>
                      <a:pt x="112653" y="10624"/>
                      <a:pt x="115709" y="13549"/>
                      <a:pt x="119428" y="13549"/>
                    </a:cubicBezTo>
                    <a:cubicBezTo>
                      <a:pt x="123281" y="13549"/>
                      <a:pt x="126202" y="10624"/>
                      <a:pt x="126202" y="6775"/>
                    </a:cubicBezTo>
                    <a:close/>
                    <a:moveTo>
                      <a:pt x="202588" y="90726"/>
                    </a:moveTo>
                    <a:lnTo>
                      <a:pt x="202588" y="88733"/>
                    </a:lnTo>
                    <a:cubicBezTo>
                      <a:pt x="196079" y="88071"/>
                      <a:pt x="194484" y="86475"/>
                      <a:pt x="194484" y="79966"/>
                    </a:cubicBezTo>
                    <a:lnTo>
                      <a:pt x="194484" y="49546"/>
                    </a:lnTo>
                    <a:cubicBezTo>
                      <a:pt x="194484" y="37060"/>
                      <a:pt x="188642" y="29623"/>
                      <a:pt x="178811" y="29623"/>
                    </a:cubicBezTo>
                    <a:cubicBezTo>
                      <a:pt x="172700" y="29623"/>
                      <a:pt x="168584" y="31881"/>
                      <a:pt x="159550" y="40382"/>
                    </a:cubicBezTo>
                    <a:lnTo>
                      <a:pt x="159550" y="29889"/>
                    </a:lnTo>
                    <a:lnTo>
                      <a:pt x="158618" y="29623"/>
                    </a:lnTo>
                    <a:cubicBezTo>
                      <a:pt x="152109" y="32012"/>
                      <a:pt x="147593" y="33473"/>
                      <a:pt x="140291" y="35600"/>
                    </a:cubicBezTo>
                    <a:lnTo>
                      <a:pt x="140291" y="37858"/>
                    </a:lnTo>
                    <a:cubicBezTo>
                      <a:pt x="141084" y="37457"/>
                      <a:pt x="142414" y="37326"/>
                      <a:pt x="143874" y="37326"/>
                    </a:cubicBezTo>
                    <a:cubicBezTo>
                      <a:pt x="147593" y="37326"/>
                      <a:pt x="148792" y="39318"/>
                      <a:pt x="148792" y="45827"/>
                    </a:cubicBezTo>
                    <a:lnTo>
                      <a:pt x="148792" y="78772"/>
                    </a:lnTo>
                    <a:cubicBezTo>
                      <a:pt x="148792" y="86340"/>
                      <a:pt x="147326" y="88202"/>
                      <a:pt x="140552" y="88733"/>
                    </a:cubicBezTo>
                    <a:lnTo>
                      <a:pt x="140552" y="90726"/>
                    </a:lnTo>
                    <a:lnTo>
                      <a:pt x="168714" y="90726"/>
                    </a:lnTo>
                    <a:lnTo>
                      <a:pt x="168714" y="88733"/>
                    </a:lnTo>
                    <a:cubicBezTo>
                      <a:pt x="161940" y="88202"/>
                      <a:pt x="159948" y="86606"/>
                      <a:pt x="159948" y="81824"/>
                    </a:cubicBezTo>
                    <a:lnTo>
                      <a:pt x="159948" y="44498"/>
                    </a:lnTo>
                    <a:cubicBezTo>
                      <a:pt x="166326" y="38521"/>
                      <a:pt x="169247" y="36929"/>
                      <a:pt x="173632" y="36929"/>
                    </a:cubicBezTo>
                    <a:cubicBezTo>
                      <a:pt x="180141" y="36929"/>
                      <a:pt x="183327" y="41045"/>
                      <a:pt x="183327" y="49812"/>
                    </a:cubicBezTo>
                    <a:lnTo>
                      <a:pt x="183327" y="77573"/>
                    </a:lnTo>
                    <a:cubicBezTo>
                      <a:pt x="183327" y="85943"/>
                      <a:pt x="181601" y="88202"/>
                      <a:pt x="174958" y="88733"/>
                    </a:cubicBezTo>
                    <a:lnTo>
                      <a:pt x="174958" y="90726"/>
                    </a:lnTo>
                    <a:lnTo>
                      <a:pt x="202588" y="90726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objective_outline_1"/>
              <p:cNvSpPr/>
              <p:nvPr/>
            </p:nvSpPr>
            <p:spPr>
              <a:xfrm>
                <a:off x="3306044" y="453599"/>
                <a:ext cx="72322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72323" h="67754">
                    <a:moveTo>
                      <a:pt x="69104" y="15875"/>
                    </a:moveTo>
                    <a:lnTo>
                      <a:pt x="72323" y="0"/>
                    </a:lnTo>
                    <a:lnTo>
                      <a:pt x="14113" y="0"/>
                    </a:lnTo>
                    <a:lnTo>
                      <a:pt x="14113" y="1659"/>
                    </a:lnTo>
                    <a:cubicBezTo>
                      <a:pt x="21999" y="2282"/>
                      <a:pt x="23451" y="2905"/>
                      <a:pt x="23555" y="5810"/>
                    </a:cubicBezTo>
                    <a:cubicBezTo>
                      <a:pt x="23555" y="7469"/>
                      <a:pt x="23035" y="9961"/>
                      <a:pt x="22412" y="12553"/>
                    </a:cubicBezTo>
                    <a:lnTo>
                      <a:pt x="9442" y="58416"/>
                    </a:lnTo>
                    <a:cubicBezTo>
                      <a:pt x="7576" y="64643"/>
                      <a:pt x="6747" y="65266"/>
                      <a:pt x="0" y="66095"/>
                    </a:cubicBezTo>
                    <a:lnTo>
                      <a:pt x="103" y="67754"/>
                    </a:lnTo>
                    <a:lnTo>
                      <a:pt x="30091" y="67754"/>
                    </a:lnTo>
                    <a:lnTo>
                      <a:pt x="29988" y="66095"/>
                    </a:lnTo>
                    <a:cubicBezTo>
                      <a:pt x="23138" y="65782"/>
                      <a:pt x="21066" y="64643"/>
                      <a:pt x="20959" y="61527"/>
                    </a:cubicBezTo>
                    <a:cubicBezTo>
                      <a:pt x="20959" y="60595"/>
                      <a:pt x="21066" y="59349"/>
                      <a:pt x="21685" y="56860"/>
                    </a:cubicBezTo>
                    <a:lnTo>
                      <a:pt x="28226" y="33929"/>
                    </a:lnTo>
                    <a:cubicBezTo>
                      <a:pt x="32373" y="34135"/>
                      <a:pt x="34865" y="34238"/>
                      <a:pt x="37354" y="34238"/>
                    </a:cubicBezTo>
                    <a:cubicBezTo>
                      <a:pt x="41712" y="34238"/>
                      <a:pt x="42541" y="34345"/>
                      <a:pt x="43581" y="34758"/>
                    </a:cubicBezTo>
                    <a:cubicBezTo>
                      <a:pt x="45240" y="35485"/>
                      <a:pt x="46176" y="36937"/>
                      <a:pt x="46280" y="39013"/>
                    </a:cubicBezTo>
                    <a:cubicBezTo>
                      <a:pt x="46280" y="40672"/>
                      <a:pt x="46176" y="41815"/>
                      <a:pt x="46069" y="45029"/>
                    </a:cubicBezTo>
                    <a:lnTo>
                      <a:pt x="48042" y="45549"/>
                    </a:lnTo>
                    <a:lnTo>
                      <a:pt x="56241" y="21165"/>
                    </a:lnTo>
                    <a:lnTo>
                      <a:pt x="54785" y="20645"/>
                    </a:lnTo>
                    <a:cubicBezTo>
                      <a:pt x="49808" y="29984"/>
                      <a:pt x="49391" y="30091"/>
                      <a:pt x="29365" y="30297"/>
                    </a:cubicBezTo>
                    <a:lnTo>
                      <a:pt x="36215" y="6120"/>
                    </a:lnTo>
                    <a:cubicBezTo>
                      <a:pt x="36731" y="4044"/>
                      <a:pt x="38394" y="3425"/>
                      <a:pt x="43061" y="3425"/>
                    </a:cubicBezTo>
                    <a:cubicBezTo>
                      <a:pt x="62464" y="3425"/>
                      <a:pt x="66409" y="4770"/>
                      <a:pt x="66615" y="11307"/>
                    </a:cubicBezTo>
                    <a:cubicBezTo>
                      <a:pt x="66719" y="12037"/>
                      <a:pt x="66719" y="12450"/>
                      <a:pt x="66615" y="13696"/>
                    </a:cubicBezTo>
                    <a:cubicBezTo>
                      <a:pt x="66512" y="14422"/>
                      <a:pt x="66615" y="14835"/>
                      <a:pt x="66512" y="15669"/>
                    </a:cubicBezTo>
                    <a:lnTo>
                      <a:pt x="69104" y="15875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objective_outline_2"/>
              <p:cNvSpPr/>
              <p:nvPr/>
            </p:nvSpPr>
            <p:spPr>
              <a:xfrm>
                <a:off x="3396215" y="461795"/>
                <a:ext cx="53125" cy="65575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65576">
                    <a:moveTo>
                      <a:pt x="53126" y="27083"/>
                    </a:moveTo>
                    <a:lnTo>
                      <a:pt x="53126" y="25007"/>
                    </a:lnTo>
                    <a:lnTo>
                      <a:pt x="0" y="0"/>
                    </a:lnTo>
                    <a:lnTo>
                      <a:pt x="0" y="5913"/>
                    </a:lnTo>
                    <a:lnTo>
                      <a:pt x="43164" y="26150"/>
                    </a:lnTo>
                    <a:lnTo>
                      <a:pt x="0" y="46383"/>
                    </a:lnTo>
                    <a:lnTo>
                      <a:pt x="0" y="52193"/>
                    </a:lnTo>
                    <a:lnTo>
                      <a:pt x="53126" y="27083"/>
                    </a:lnTo>
                    <a:close/>
                    <a:moveTo>
                      <a:pt x="53126" y="65576"/>
                    </a:moveTo>
                    <a:lnTo>
                      <a:pt x="53126" y="60079"/>
                    </a:lnTo>
                    <a:lnTo>
                      <a:pt x="0" y="60079"/>
                    </a:lnTo>
                    <a:lnTo>
                      <a:pt x="0" y="65576"/>
                    </a:lnTo>
                    <a:lnTo>
                      <a:pt x="53126" y="65576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objective_outline_3"/>
              <p:cNvSpPr/>
              <p:nvPr/>
            </p:nvSpPr>
            <p:spPr>
              <a:xfrm>
                <a:off x="3464470" y="451210"/>
                <a:ext cx="4690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6903" h="71596">
                    <a:moveTo>
                      <a:pt x="46903" y="35901"/>
                    </a:moveTo>
                    <a:cubicBezTo>
                      <a:pt x="46903" y="14633"/>
                      <a:pt x="37461" y="0"/>
                      <a:pt x="23868" y="0"/>
                    </a:cubicBezTo>
                    <a:cubicBezTo>
                      <a:pt x="18161" y="0"/>
                      <a:pt x="13803" y="1766"/>
                      <a:pt x="9962" y="5398"/>
                    </a:cubicBezTo>
                    <a:cubicBezTo>
                      <a:pt x="3945" y="11208"/>
                      <a:pt x="0" y="23142"/>
                      <a:pt x="0" y="35282"/>
                    </a:cubicBezTo>
                    <a:cubicBezTo>
                      <a:pt x="0" y="46589"/>
                      <a:pt x="3425" y="58730"/>
                      <a:pt x="8303" y="64540"/>
                    </a:cubicBezTo>
                    <a:cubicBezTo>
                      <a:pt x="12140" y="69108"/>
                      <a:pt x="17435" y="71596"/>
                      <a:pt x="23451" y="71596"/>
                    </a:cubicBezTo>
                    <a:cubicBezTo>
                      <a:pt x="28742" y="71596"/>
                      <a:pt x="33207" y="69834"/>
                      <a:pt x="36941" y="66203"/>
                    </a:cubicBezTo>
                    <a:cubicBezTo>
                      <a:pt x="42958" y="60496"/>
                      <a:pt x="46903" y="48459"/>
                      <a:pt x="46903" y="35901"/>
                    </a:cubicBezTo>
                    <a:close/>
                    <a:moveTo>
                      <a:pt x="36941" y="36112"/>
                    </a:moveTo>
                    <a:cubicBezTo>
                      <a:pt x="36941" y="57797"/>
                      <a:pt x="32373" y="68898"/>
                      <a:pt x="23451" y="68898"/>
                    </a:cubicBezTo>
                    <a:cubicBezTo>
                      <a:pt x="14530" y="68898"/>
                      <a:pt x="9962" y="57797"/>
                      <a:pt x="9962" y="36215"/>
                    </a:cubicBezTo>
                    <a:cubicBezTo>
                      <a:pt x="9962" y="14216"/>
                      <a:pt x="14633" y="2699"/>
                      <a:pt x="23555" y="2699"/>
                    </a:cubicBezTo>
                    <a:cubicBezTo>
                      <a:pt x="32270" y="2699"/>
                      <a:pt x="36941" y="14426"/>
                      <a:pt x="36941" y="3611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objective_outline_4"/>
              <p:cNvSpPr/>
              <p:nvPr/>
            </p:nvSpPr>
            <p:spPr>
              <a:xfrm>
                <a:off x="3565973" y="382483"/>
                <a:ext cx="28031" cy="159401"/>
              </a:xfrm>
              <a:custGeom>
                <a:avLst/>
                <a:gdLst/>
                <a:ahLst/>
                <a:cxnLst/>
                <a:rect l="0" t="0" r="r" b="b"/>
                <a:pathLst>
                  <a:path w="28031" h="159401">
                    <a:moveTo>
                      <a:pt x="28031" y="159401"/>
                    </a:moveTo>
                    <a:lnTo>
                      <a:pt x="28031" y="156079"/>
                    </a:lnTo>
                    <a:lnTo>
                      <a:pt x="16339" y="156079"/>
                    </a:lnTo>
                    <a:cubicBezTo>
                      <a:pt x="13018" y="156079"/>
                      <a:pt x="10231" y="153821"/>
                      <a:pt x="10231" y="150500"/>
                    </a:cubicBezTo>
                    <a:lnTo>
                      <a:pt x="10231" y="8767"/>
                    </a:lnTo>
                    <a:cubicBezTo>
                      <a:pt x="10231" y="5445"/>
                      <a:pt x="13018" y="3187"/>
                      <a:pt x="16339" y="3187"/>
                    </a:cubicBezTo>
                    <a:lnTo>
                      <a:pt x="28031" y="3187"/>
                    </a:lnTo>
                    <a:lnTo>
                      <a:pt x="28031" y="0"/>
                    </a:lnTo>
                    <a:lnTo>
                      <a:pt x="0" y="0"/>
                    </a:lnTo>
                    <a:lnTo>
                      <a:pt x="0" y="159401"/>
                    </a:lnTo>
                    <a:lnTo>
                      <a:pt x="28031" y="15940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objective_outline_5"/>
              <p:cNvSpPr/>
              <p:nvPr/>
            </p:nvSpPr>
            <p:spPr>
              <a:xfrm>
                <a:off x="3638936" y="460331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7438">
                    <a:moveTo>
                      <a:pt x="68013" y="7438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3" y="7438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objective_outline_6"/>
              <p:cNvSpPr/>
              <p:nvPr/>
            </p:nvSpPr>
            <p:spPr>
              <a:xfrm>
                <a:off x="3756637" y="404276"/>
                <a:ext cx="34933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119551"/>
                    </a:moveTo>
                    <a:lnTo>
                      <a:pt x="9164" y="59773"/>
                    </a:lnTo>
                    <a:lnTo>
                      <a:pt x="34933" y="0"/>
                    </a:lnTo>
                    <a:lnTo>
                      <a:pt x="28559" y="0"/>
                    </a:lnTo>
                    <a:lnTo>
                      <a:pt x="0" y="59773"/>
                    </a:lnTo>
                    <a:lnTo>
                      <a:pt x="28559" y="119551"/>
                    </a:lnTo>
                    <a:lnTo>
                      <a:pt x="34933" y="11955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objective_outline_7"/>
              <p:cNvSpPr/>
              <p:nvPr/>
            </p:nvSpPr>
            <p:spPr>
              <a:xfrm>
                <a:off x="3801447" y="409456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0"/>
                      <a:pt x="17002" y="81959"/>
                    </a:cubicBezTo>
                    <a:cubicBezTo>
                      <a:pt x="17002" y="79434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objective_outline_8"/>
              <p:cNvSpPr/>
              <p:nvPr/>
            </p:nvSpPr>
            <p:spPr>
              <a:xfrm>
                <a:off x="3898547" y="484640"/>
                <a:ext cx="18466" cy="32277"/>
              </a:xfrm>
              <a:custGeom>
                <a:avLst/>
                <a:gdLst/>
                <a:ahLst/>
                <a:cxnLst/>
                <a:rect l="0" t="0" r="r" b="b"/>
                <a:pathLst>
                  <a:path w="18467" h="32278">
                    <a:moveTo>
                      <a:pt x="18467" y="12752"/>
                    </a:moveTo>
                    <a:cubicBezTo>
                      <a:pt x="18467" y="1726"/>
                      <a:pt x="10759" y="0"/>
                      <a:pt x="7707" y="0"/>
                    </a:cubicBezTo>
                    <a:cubicBezTo>
                      <a:pt x="4385" y="0"/>
                      <a:pt x="0" y="1992"/>
                      <a:pt x="0" y="7703"/>
                    </a:cubicBezTo>
                    <a:cubicBezTo>
                      <a:pt x="0" y="13017"/>
                      <a:pt x="4782" y="14347"/>
                      <a:pt x="8235" y="14347"/>
                    </a:cubicBezTo>
                    <a:cubicBezTo>
                      <a:pt x="9168" y="14347"/>
                      <a:pt x="9831" y="14212"/>
                      <a:pt x="10232" y="14081"/>
                    </a:cubicBezTo>
                    <a:cubicBezTo>
                      <a:pt x="10759" y="13946"/>
                      <a:pt x="11160" y="13815"/>
                      <a:pt x="11426" y="13815"/>
                    </a:cubicBezTo>
                    <a:cubicBezTo>
                      <a:pt x="12355" y="13815"/>
                      <a:pt x="13283" y="14478"/>
                      <a:pt x="13283" y="15677"/>
                    </a:cubicBezTo>
                    <a:cubicBezTo>
                      <a:pt x="13283" y="18197"/>
                      <a:pt x="11160" y="24178"/>
                      <a:pt x="2393" y="29754"/>
                    </a:cubicBezTo>
                    <a:lnTo>
                      <a:pt x="3588" y="32278"/>
                    </a:lnTo>
                    <a:cubicBezTo>
                      <a:pt x="7572" y="30952"/>
                      <a:pt x="18467" y="22185"/>
                      <a:pt x="18467" y="1275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objective_outline_9"/>
              <p:cNvSpPr/>
              <p:nvPr/>
            </p:nvSpPr>
            <p:spPr>
              <a:xfrm>
                <a:off x="3952862" y="411448"/>
                <a:ext cx="84613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1" y="3719"/>
                      <a:pt x="28691" y="7438"/>
                    </a:cubicBezTo>
                    <a:cubicBezTo>
                      <a:pt x="28691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3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70" y="84217"/>
                      <a:pt x="23381" y="82756"/>
                      <a:pt x="23381" y="78772"/>
                    </a:cubicBezTo>
                    <a:cubicBezTo>
                      <a:pt x="23381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9" y="43569"/>
                      <a:pt x="49547" y="43704"/>
                      <a:pt x="50876" y="44236"/>
                    </a:cubicBezTo>
                    <a:cubicBezTo>
                      <a:pt x="52733" y="45164"/>
                      <a:pt x="53797" y="47022"/>
                      <a:pt x="53797" y="49681"/>
                    </a:cubicBezTo>
                    <a:cubicBezTo>
                      <a:pt x="53797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9" y="26436"/>
                    </a:lnTo>
                    <a:cubicBezTo>
                      <a:pt x="56722" y="38390"/>
                      <a:pt x="56321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6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40" y="17534"/>
                    </a:cubicBezTo>
                    <a:cubicBezTo>
                      <a:pt x="77709" y="18463"/>
                      <a:pt x="77709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objective_outline_10"/>
              <p:cNvSpPr/>
              <p:nvPr/>
            </p:nvSpPr>
            <p:spPr>
              <a:xfrm>
                <a:off x="4048241" y="404276"/>
                <a:ext cx="34932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933" h="119551">
                    <a:moveTo>
                      <a:pt x="34933" y="59773"/>
                    </a:moveTo>
                    <a:lnTo>
                      <a:pt x="6374" y="0"/>
                    </a:lnTo>
                    <a:lnTo>
                      <a:pt x="0" y="0"/>
                    </a:lnTo>
                    <a:lnTo>
                      <a:pt x="25769" y="59773"/>
                    </a:lnTo>
                    <a:lnTo>
                      <a:pt x="0" y="119551"/>
                    </a:lnTo>
                    <a:lnTo>
                      <a:pt x="6374" y="119551"/>
                    </a:lnTo>
                    <a:lnTo>
                      <a:pt x="34933" y="59773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objective_outline_11"/>
              <p:cNvSpPr/>
              <p:nvPr/>
            </p:nvSpPr>
            <p:spPr>
              <a:xfrm>
                <a:off x="4132859" y="429911"/>
                <a:ext cx="68011" cy="68278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68278">
                    <a:moveTo>
                      <a:pt x="29623" y="29758"/>
                    </a:moveTo>
                    <a:lnTo>
                      <a:pt x="0" y="29758"/>
                    </a:lnTo>
                    <a:lnTo>
                      <a:pt x="0" y="38525"/>
                    </a:lnTo>
                    <a:lnTo>
                      <a:pt x="29623" y="38525"/>
                    </a:lnTo>
                    <a:lnTo>
                      <a:pt x="29623" y="68278"/>
                    </a:lnTo>
                    <a:lnTo>
                      <a:pt x="38389" y="68278"/>
                    </a:lnTo>
                    <a:lnTo>
                      <a:pt x="38389" y="38525"/>
                    </a:lnTo>
                    <a:lnTo>
                      <a:pt x="68012" y="38525"/>
                    </a:lnTo>
                    <a:lnTo>
                      <a:pt x="68012" y="29758"/>
                    </a:lnTo>
                    <a:lnTo>
                      <a:pt x="38389" y="29758"/>
                    </a:lnTo>
                    <a:lnTo>
                      <a:pt x="38389" y="0"/>
                    </a:lnTo>
                    <a:lnTo>
                      <a:pt x="29623" y="0"/>
                    </a:lnTo>
                    <a:lnTo>
                      <a:pt x="29623" y="29758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objective_outline_12"/>
              <p:cNvSpPr/>
              <p:nvPr/>
            </p:nvSpPr>
            <p:spPr>
              <a:xfrm>
                <a:off x="4242127" y="439610"/>
                <a:ext cx="61237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1238" h="60039">
                    <a:moveTo>
                      <a:pt x="61238" y="10890"/>
                    </a:moveTo>
                    <a:cubicBezTo>
                      <a:pt x="61238" y="2123"/>
                      <a:pt x="43970" y="0"/>
                      <a:pt x="37060" y="0"/>
                    </a:cubicBezTo>
                    <a:cubicBezTo>
                      <a:pt x="26833" y="0"/>
                      <a:pt x="10894" y="4251"/>
                      <a:pt x="10894" y="16601"/>
                    </a:cubicBezTo>
                    <a:cubicBezTo>
                      <a:pt x="10894" y="22713"/>
                      <a:pt x="15939" y="26567"/>
                      <a:pt x="21785" y="27495"/>
                    </a:cubicBezTo>
                    <a:lnTo>
                      <a:pt x="21785" y="28027"/>
                    </a:lnTo>
                    <a:cubicBezTo>
                      <a:pt x="12621" y="29222"/>
                      <a:pt x="0" y="34933"/>
                      <a:pt x="0" y="45426"/>
                    </a:cubicBezTo>
                    <a:cubicBezTo>
                      <a:pt x="0" y="57650"/>
                      <a:pt x="14212" y="60039"/>
                      <a:pt x="24178" y="60039"/>
                    </a:cubicBezTo>
                    <a:cubicBezTo>
                      <a:pt x="34139" y="60039"/>
                      <a:pt x="45827" y="56983"/>
                      <a:pt x="52205" y="49014"/>
                    </a:cubicBezTo>
                    <a:cubicBezTo>
                      <a:pt x="53531" y="47288"/>
                      <a:pt x="54860" y="45295"/>
                      <a:pt x="54860" y="43037"/>
                    </a:cubicBezTo>
                    <a:cubicBezTo>
                      <a:pt x="54860" y="41442"/>
                      <a:pt x="53399" y="39715"/>
                      <a:pt x="51673" y="39715"/>
                    </a:cubicBezTo>
                    <a:cubicBezTo>
                      <a:pt x="45164" y="39715"/>
                      <a:pt x="43704" y="56452"/>
                      <a:pt x="25638" y="56452"/>
                    </a:cubicBezTo>
                    <a:cubicBezTo>
                      <a:pt x="18598" y="56452"/>
                      <a:pt x="13283" y="53931"/>
                      <a:pt x="13283" y="46490"/>
                    </a:cubicBezTo>
                    <a:cubicBezTo>
                      <a:pt x="13283" y="39318"/>
                      <a:pt x="17931" y="31214"/>
                      <a:pt x="26170" y="31214"/>
                    </a:cubicBezTo>
                    <a:cubicBezTo>
                      <a:pt x="30020" y="31214"/>
                      <a:pt x="33607" y="32675"/>
                      <a:pt x="37461" y="32675"/>
                    </a:cubicBezTo>
                    <a:cubicBezTo>
                      <a:pt x="40513" y="32675"/>
                      <a:pt x="43303" y="31746"/>
                      <a:pt x="43303" y="28293"/>
                    </a:cubicBezTo>
                    <a:cubicBezTo>
                      <a:pt x="43303" y="25237"/>
                      <a:pt x="41446" y="24840"/>
                      <a:pt x="38656" y="24840"/>
                    </a:cubicBezTo>
                    <a:cubicBezTo>
                      <a:pt x="35600" y="24840"/>
                      <a:pt x="32679" y="25237"/>
                      <a:pt x="29754" y="25237"/>
                    </a:cubicBezTo>
                    <a:cubicBezTo>
                      <a:pt x="24840" y="25237"/>
                      <a:pt x="22713" y="23245"/>
                      <a:pt x="22713" y="18463"/>
                    </a:cubicBezTo>
                    <a:cubicBezTo>
                      <a:pt x="22713" y="11025"/>
                      <a:pt x="28694" y="3584"/>
                      <a:pt x="36794" y="3584"/>
                    </a:cubicBezTo>
                    <a:cubicBezTo>
                      <a:pt x="48752" y="3584"/>
                      <a:pt x="47554" y="16074"/>
                      <a:pt x="55527" y="16074"/>
                    </a:cubicBezTo>
                    <a:cubicBezTo>
                      <a:pt x="58714" y="16074"/>
                      <a:pt x="61238" y="14212"/>
                      <a:pt x="61238" y="1089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objective_outline_13"/>
              <p:cNvSpPr/>
              <p:nvPr/>
            </p:nvSpPr>
            <p:spPr>
              <a:xfrm>
                <a:off x="4312940" y="410253"/>
                <a:ext cx="170836" cy="87935"/>
              </a:xfrm>
              <a:custGeom>
                <a:avLst/>
                <a:gdLst/>
                <a:ahLst/>
                <a:cxnLst/>
                <a:rect l="0" t="0" r="r" b="b"/>
                <a:pathLst>
                  <a:path w="170837" h="87936">
                    <a:moveTo>
                      <a:pt x="91523" y="87936"/>
                    </a:moveTo>
                    <a:lnTo>
                      <a:pt x="91523" y="85411"/>
                    </a:lnTo>
                    <a:cubicBezTo>
                      <a:pt x="84614" y="85280"/>
                      <a:pt x="82756" y="83951"/>
                      <a:pt x="70668" y="71064"/>
                    </a:cubicBezTo>
                    <a:lnTo>
                      <a:pt x="39719" y="37858"/>
                    </a:lnTo>
                    <a:lnTo>
                      <a:pt x="64956" y="12882"/>
                    </a:lnTo>
                    <a:cubicBezTo>
                      <a:pt x="73989" y="4251"/>
                      <a:pt x="76113" y="3187"/>
                      <a:pt x="85146" y="2524"/>
                    </a:cubicBezTo>
                    <a:lnTo>
                      <a:pt x="85146" y="0"/>
                    </a:lnTo>
                    <a:lnTo>
                      <a:pt x="50344" y="0"/>
                    </a:lnTo>
                    <a:lnTo>
                      <a:pt x="50344" y="2524"/>
                    </a:lnTo>
                    <a:cubicBezTo>
                      <a:pt x="51939" y="2655"/>
                      <a:pt x="53269" y="2655"/>
                      <a:pt x="53796" y="2655"/>
                    </a:cubicBezTo>
                    <a:cubicBezTo>
                      <a:pt x="57785" y="2921"/>
                      <a:pt x="59376" y="3985"/>
                      <a:pt x="59376" y="6640"/>
                    </a:cubicBezTo>
                    <a:cubicBezTo>
                      <a:pt x="59376" y="9565"/>
                      <a:pt x="56320" y="13549"/>
                      <a:pt x="49014" y="20324"/>
                    </a:cubicBezTo>
                    <a:lnTo>
                      <a:pt x="25503" y="41708"/>
                    </a:lnTo>
                    <a:lnTo>
                      <a:pt x="25503" y="14478"/>
                    </a:lnTo>
                    <a:cubicBezTo>
                      <a:pt x="25503" y="4782"/>
                      <a:pt x="26964" y="3318"/>
                      <a:pt x="37727" y="2524"/>
                    </a:cubicBezTo>
                    <a:lnTo>
                      <a:pt x="37727" y="0"/>
                    </a:lnTo>
                    <a:lnTo>
                      <a:pt x="0" y="0"/>
                    </a:lnTo>
                    <a:lnTo>
                      <a:pt x="0" y="2524"/>
                    </a:lnTo>
                    <a:cubicBezTo>
                      <a:pt x="10362" y="3318"/>
                      <a:pt x="11954" y="5048"/>
                      <a:pt x="11954" y="14478"/>
                    </a:cubicBezTo>
                    <a:lnTo>
                      <a:pt x="11954" y="71997"/>
                    </a:lnTo>
                    <a:cubicBezTo>
                      <a:pt x="11954" y="83022"/>
                      <a:pt x="10493" y="84749"/>
                      <a:pt x="0" y="85411"/>
                    </a:cubicBezTo>
                    <a:lnTo>
                      <a:pt x="0" y="87936"/>
                    </a:lnTo>
                    <a:lnTo>
                      <a:pt x="37461" y="87936"/>
                    </a:lnTo>
                    <a:lnTo>
                      <a:pt x="37461" y="85411"/>
                    </a:lnTo>
                    <a:cubicBezTo>
                      <a:pt x="27099" y="84749"/>
                      <a:pt x="25503" y="83153"/>
                      <a:pt x="25503" y="73458"/>
                    </a:cubicBezTo>
                    <a:lnTo>
                      <a:pt x="25503" y="48617"/>
                    </a:lnTo>
                    <a:lnTo>
                      <a:pt x="28956" y="45827"/>
                    </a:lnTo>
                    <a:lnTo>
                      <a:pt x="43037" y="59773"/>
                    </a:lnTo>
                    <a:cubicBezTo>
                      <a:pt x="53134" y="69739"/>
                      <a:pt x="60305" y="79169"/>
                      <a:pt x="60305" y="82356"/>
                    </a:cubicBezTo>
                    <a:cubicBezTo>
                      <a:pt x="60305" y="84217"/>
                      <a:pt x="58448" y="85146"/>
                      <a:pt x="54729" y="85280"/>
                    </a:cubicBezTo>
                    <a:cubicBezTo>
                      <a:pt x="54062" y="85280"/>
                      <a:pt x="52602" y="85280"/>
                      <a:pt x="51010" y="85411"/>
                    </a:cubicBezTo>
                    <a:lnTo>
                      <a:pt x="51010" y="87936"/>
                    </a:lnTo>
                    <a:lnTo>
                      <a:pt x="91523" y="87936"/>
                    </a:lnTo>
                    <a:close/>
                    <a:moveTo>
                      <a:pt x="170837" y="64822"/>
                    </a:moveTo>
                    <a:lnTo>
                      <a:pt x="167516" y="64822"/>
                    </a:lnTo>
                    <a:cubicBezTo>
                      <a:pt x="165392" y="69473"/>
                      <a:pt x="163665" y="72525"/>
                      <a:pt x="161804" y="74652"/>
                    </a:cubicBezTo>
                    <a:cubicBezTo>
                      <a:pt x="157156" y="80232"/>
                      <a:pt x="149850" y="82756"/>
                      <a:pt x="138424" y="82756"/>
                    </a:cubicBezTo>
                    <a:lnTo>
                      <a:pt x="129526" y="82756"/>
                    </a:lnTo>
                    <a:cubicBezTo>
                      <a:pt x="119831" y="82756"/>
                      <a:pt x="118104" y="81959"/>
                      <a:pt x="118104" y="77307"/>
                    </a:cubicBezTo>
                    <a:lnTo>
                      <a:pt x="118104" y="14478"/>
                    </a:lnTo>
                    <a:cubicBezTo>
                      <a:pt x="118104" y="5048"/>
                      <a:pt x="119961" y="3187"/>
                      <a:pt x="130454" y="2524"/>
                    </a:cubicBezTo>
                    <a:lnTo>
                      <a:pt x="130454" y="0"/>
                    </a:lnTo>
                    <a:lnTo>
                      <a:pt x="92998" y="0"/>
                    </a:lnTo>
                    <a:lnTo>
                      <a:pt x="92998" y="2524"/>
                    </a:lnTo>
                    <a:cubicBezTo>
                      <a:pt x="102824" y="3318"/>
                      <a:pt x="104555" y="5048"/>
                      <a:pt x="104555" y="14478"/>
                    </a:cubicBezTo>
                    <a:lnTo>
                      <a:pt x="104555" y="73458"/>
                    </a:lnTo>
                    <a:cubicBezTo>
                      <a:pt x="104555" y="82887"/>
                      <a:pt x="102693" y="84749"/>
                      <a:pt x="92998" y="85411"/>
                    </a:cubicBezTo>
                    <a:lnTo>
                      <a:pt x="92998" y="87936"/>
                    </a:lnTo>
                    <a:lnTo>
                      <a:pt x="164463" y="87936"/>
                    </a:lnTo>
                    <a:lnTo>
                      <a:pt x="170837" y="64822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objective_outline_14"/>
              <p:cNvSpPr/>
              <p:nvPr/>
            </p:nvSpPr>
            <p:spPr>
              <a:xfrm>
                <a:off x="4498532" y="402947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32810" y="0"/>
                    </a:moveTo>
                    <a:cubicBezTo>
                      <a:pt x="13549" y="12486"/>
                      <a:pt x="0" y="34004"/>
                      <a:pt x="0" y="61103"/>
                    </a:cubicBezTo>
                    <a:cubicBezTo>
                      <a:pt x="0" y="85812"/>
                      <a:pt x="14077" y="110784"/>
                      <a:pt x="32409" y="122075"/>
                    </a:cubicBezTo>
                    <a:lnTo>
                      <a:pt x="34004" y="119947"/>
                    </a:lnTo>
                    <a:cubicBezTo>
                      <a:pt x="16470" y="106136"/>
                      <a:pt x="11422" y="90063"/>
                      <a:pt x="11422" y="60706"/>
                    </a:cubicBezTo>
                    <a:cubicBezTo>
                      <a:pt x="11422" y="31214"/>
                      <a:pt x="16867" y="15938"/>
                      <a:pt x="34004" y="2123"/>
                    </a:cubicBezTo>
                    <a:lnTo>
                      <a:pt x="32810" y="0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objective_outline_15"/>
              <p:cNvSpPr/>
              <p:nvPr/>
            </p:nvSpPr>
            <p:spPr>
              <a:xfrm>
                <a:off x="4546635" y="411448"/>
                <a:ext cx="84613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objective_outline_16"/>
              <p:cNvSpPr/>
              <p:nvPr/>
            </p:nvSpPr>
            <p:spPr>
              <a:xfrm>
                <a:off x="4651580" y="404276"/>
                <a:ext cx="34004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19551">
                    <a:moveTo>
                      <a:pt x="34004" y="119551"/>
                    </a:moveTo>
                    <a:lnTo>
                      <a:pt x="34004" y="0"/>
                    </a:lnTo>
                    <a:lnTo>
                      <a:pt x="26567" y="0"/>
                    </a:lnTo>
                    <a:lnTo>
                      <a:pt x="26567" y="119551"/>
                    </a:lnTo>
                    <a:lnTo>
                      <a:pt x="34004" y="119551"/>
                    </a:lnTo>
                    <a:close/>
                    <a:moveTo>
                      <a:pt x="7437" y="119551"/>
                    </a:moveTo>
                    <a:lnTo>
                      <a:pt x="7437" y="0"/>
                    </a:lnTo>
                    <a:lnTo>
                      <a:pt x="0" y="0"/>
                    </a:lnTo>
                    <a:lnTo>
                      <a:pt x="0" y="119551"/>
                    </a:lnTo>
                    <a:lnTo>
                      <a:pt x="7437" y="11955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objective_outline_17"/>
              <p:cNvSpPr/>
              <p:nvPr/>
            </p:nvSpPr>
            <p:spPr>
              <a:xfrm>
                <a:off x="4742179" y="381620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09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objective_outline_18"/>
              <p:cNvSpPr/>
              <p:nvPr/>
            </p:nvSpPr>
            <p:spPr>
              <a:xfrm>
                <a:off x="4706718" y="411448"/>
                <a:ext cx="84613" cy="86741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8"/>
                    </a:cubicBezTo>
                    <a:cubicBezTo>
                      <a:pt x="28690" y="9565"/>
                      <a:pt x="28158" y="12752"/>
                      <a:pt x="27230" y="16074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2"/>
                      <a:pt x="50875" y="4382"/>
                    </a:cubicBezTo>
                    <a:cubicBezTo>
                      <a:pt x="73323" y="4382"/>
                      <a:pt x="77974" y="6112"/>
                      <a:pt x="77974" y="14478"/>
                    </a:cubicBezTo>
                    <a:cubicBezTo>
                      <a:pt x="77974" y="15411"/>
                      <a:pt x="77974" y="15939"/>
                      <a:pt x="77839" y="17534"/>
                    </a:cubicBezTo>
                    <a:cubicBezTo>
                      <a:pt x="77708" y="18463"/>
                      <a:pt x="77708" y="18995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objective_outline_19"/>
              <p:cNvSpPr/>
              <p:nvPr/>
            </p:nvSpPr>
            <p:spPr>
              <a:xfrm>
                <a:off x="4799310" y="402947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1195" y="0"/>
                    </a:moveTo>
                    <a:lnTo>
                      <a:pt x="0" y="2123"/>
                    </a:lnTo>
                    <a:cubicBezTo>
                      <a:pt x="17133" y="15938"/>
                      <a:pt x="22582" y="31214"/>
                      <a:pt x="22582" y="60706"/>
                    </a:cubicBezTo>
                    <a:cubicBezTo>
                      <a:pt x="22582" y="90063"/>
                      <a:pt x="17534" y="106136"/>
                      <a:pt x="0" y="119947"/>
                    </a:cubicBezTo>
                    <a:lnTo>
                      <a:pt x="1591" y="122075"/>
                    </a:lnTo>
                    <a:cubicBezTo>
                      <a:pt x="19923" y="110784"/>
                      <a:pt x="34004" y="85812"/>
                      <a:pt x="34004" y="61103"/>
                    </a:cubicBezTo>
                    <a:cubicBezTo>
                      <a:pt x="34004" y="34004"/>
                      <a:pt x="20455" y="12486"/>
                      <a:pt x="1195" y="0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objective_outline_20"/>
              <p:cNvSpPr/>
              <p:nvPr/>
            </p:nvSpPr>
            <p:spPr>
              <a:xfrm>
                <a:off x="4853516" y="382483"/>
                <a:ext cx="28027" cy="159401"/>
              </a:xfrm>
              <a:custGeom>
                <a:avLst/>
                <a:gdLst/>
                <a:ahLst/>
                <a:cxnLst/>
                <a:rect l="0" t="0" r="r" b="b"/>
                <a:pathLst>
                  <a:path w="28027" h="159401">
                    <a:moveTo>
                      <a:pt x="28027" y="159401"/>
                    </a:moveTo>
                    <a:lnTo>
                      <a:pt x="28027" y="0"/>
                    </a:lnTo>
                    <a:lnTo>
                      <a:pt x="0" y="0"/>
                    </a:lnTo>
                    <a:lnTo>
                      <a:pt x="0" y="3187"/>
                    </a:lnTo>
                    <a:lnTo>
                      <a:pt x="11688" y="3187"/>
                    </a:lnTo>
                    <a:cubicBezTo>
                      <a:pt x="15010" y="3187"/>
                      <a:pt x="17800" y="5445"/>
                      <a:pt x="17800" y="8767"/>
                    </a:cubicBezTo>
                    <a:lnTo>
                      <a:pt x="17800" y="150500"/>
                    </a:lnTo>
                    <a:cubicBezTo>
                      <a:pt x="17800" y="153821"/>
                      <a:pt x="15010" y="156079"/>
                      <a:pt x="11688" y="156079"/>
                    </a:cubicBezTo>
                    <a:lnTo>
                      <a:pt x="0" y="156079"/>
                    </a:lnTo>
                    <a:lnTo>
                      <a:pt x="0" y="159401"/>
                    </a:lnTo>
                    <a:lnTo>
                      <a:pt x="28027" y="159401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0" name="before_label"/>
            <p:cNvGrpSpPr/>
            <p:nvPr/>
          </p:nvGrpSpPr>
          <p:grpSpPr>
            <a:xfrm>
              <a:off x="3355343" y="887937"/>
              <a:ext cx="84613" cy="116568"/>
              <a:chOff x="3355343" y="887937"/>
              <a:chExt cx="84613" cy="116568"/>
            </a:xfrm>
          </p:grpSpPr>
          <p:sp>
            <p:nvSpPr>
              <p:cNvPr id="191" name="before_label_outline_0"/>
              <p:cNvSpPr/>
              <p:nvPr/>
            </p:nvSpPr>
            <p:spPr>
              <a:xfrm>
                <a:off x="3390805" y="887937"/>
                <a:ext cx="41310" cy="22185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22185">
                    <a:moveTo>
                      <a:pt x="41311" y="22185"/>
                    </a:moveTo>
                    <a:lnTo>
                      <a:pt x="24710" y="0"/>
                    </a:lnTo>
                    <a:lnTo>
                      <a:pt x="16470" y="0"/>
                    </a:lnTo>
                    <a:lnTo>
                      <a:pt x="0" y="22185"/>
                    </a:lnTo>
                    <a:lnTo>
                      <a:pt x="4516" y="22185"/>
                    </a:lnTo>
                    <a:lnTo>
                      <a:pt x="20590" y="8501"/>
                    </a:lnTo>
                    <a:lnTo>
                      <a:pt x="36794" y="22185"/>
                    </a:lnTo>
                    <a:lnTo>
                      <a:pt x="41311" y="22185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before_label_outline_1"/>
              <p:cNvSpPr/>
              <p:nvPr/>
            </p:nvSpPr>
            <p:spPr>
              <a:xfrm>
                <a:off x="3355343" y="917765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3" name="after_label"/>
            <p:cNvGrpSpPr/>
            <p:nvPr/>
          </p:nvGrpSpPr>
          <p:grpSpPr>
            <a:xfrm>
              <a:off x="4534246" y="898943"/>
              <a:ext cx="131175" cy="94926"/>
              <a:chOff x="4534246" y="898943"/>
              <a:chExt cx="131175" cy="94926"/>
            </a:xfrm>
          </p:grpSpPr>
          <p:sp>
            <p:nvSpPr>
              <p:cNvPr id="194" name="after_label_outline_0"/>
              <p:cNvSpPr/>
              <p:nvPr/>
            </p:nvSpPr>
            <p:spPr>
              <a:xfrm>
                <a:off x="4534246" y="907129"/>
                <a:ext cx="84613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84614" h="86741">
                    <a:moveTo>
                      <a:pt x="80363" y="20324"/>
                    </a:moveTo>
                    <a:lnTo>
                      <a:pt x="84614" y="0"/>
                    </a:lnTo>
                    <a:lnTo>
                      <a:pt x="18463" y="0"/>
                    </a:lnTo>
                    <a:lnTo>
                      <a:pt x="18463" y="2123"/>
                    </a:lnTo>
                    <a:cubicBezTo>
                      <a:pt x="27230" y="2921"/>
                      <a:pt x="28690" y="3719"/>
                      <a:pt x="28690" y="7437"/>
                    </a:cubicBezTo>
                    <a:cubicBezTo>
                      <a:pt x="28690" y="9565"/>
                      <a:pt x="28158" y="12752"/>
                      <a:pt x="27230" y="16073"/>
                    </a:cubicBezTo>
                    <a:lnTo>
                      <a:pt x="10890" y="74787"/>
                    </a:lnTo>
                    <a:cubicBezTo>
                      <a:pt x="8501" y="82756"/>
                      <a:pt x="7572" y="83554"/>
                      <a:pt x="0" y="84614"/>
                    </a:cubicBezTo>
                    <a:lnTo>
                      <a:pt x="0" y="86741"/>
                    </a:lnTo>
                    <a:lnTo>
                      <a:pt x="33472" y="86741"/>
                    </a:lnTo>
                    <a:lnTo>
                      <a:pt x="33472" y="84614"/>
                    </a:lnTo>
                    <a:cubicBezTo>
                      <a:pt x="25769" y="84217"/>
                      <a:pt x="23380" y="82756"/>
                      <a:pt x="23380" y="78772"/>
                    </a:cubicBezTo>
                    <a:cubicBezTo>
                      <a:pt x="23380" y="77577"/>
                      <a:pt x="23642" y="75982"/>
                      <a:pt x="24575" y="72795"/>
                    </a:cubicBezTo>
                    <a:lnTo>
                      <a:pt x="32810" y="43172"/>
                    </a:lnTo>
                    <a:cubicBezTo>
                      <a:pt x="37723" y="43438"/>
                      <a:pt x="40648" y="43569"/>
                      <a:pt x="43569" y="43569"/>
                    </a:cubicBezTo>
                    <a:cubicBezTo>
                      <a:pt x="48748" y="43569"/>
                      <a:pt x="49546" y="43704"/>
                      <a:pt x="50875" y="44236"/>
                    </a:cubicBezTo>
                    <a:cubicBezTo>
                      <a:pt x="52733" y="45164"/>
                      <a:pt x="53796" y="47022"/>
                      <a:pt x="53796" y="49681"/>
                    </a:cubicBezTo>
                    <a:cubicBezTo>
                      <a:pt x="53796" y="51804"/>
                      <a:pt x="53531" y="53400"/>
                      <a:pt x="52733" y="57519"/>
                    </a:cubicBezTo>
                    <a:lnTo>
                      <a:pt x="54991" y="58182"/>
                    </a:lnTo>
                    <a:lnTo>
                      <a:pt x="65088" y="27099"/>
                    </a:lnTo>
                    <a:lnTo>
                      <a:pt x="62698" y="26436"/>
                    </a:lnTo>
                    <a:cubicBezTo>
                      <a:pt x="56721" y="38390"/>
                      <a:pt x="56320" y="38521"/>
                      <a:pt x="34004" y="38787"/>
                    </a:cubicBezTo>
                    <a:lnTo>
                      <a:pt x="42771" y="7838"/>
                    </a:lnTo>
                    <a:cubicBezTo>
                      <a:pt x="43569" y="5179"/>
                      <a:pt x="45430" y="4381"/>
                      <a:pt x="50875" y="4381"/>
                    </a:cubicBezTo>
                    <a:cubicBezTo>
                      <a:pt x="73323" y="4381"/>
                      <a:pt x="77974" y="6112"/>
                      <a:pt x="77974" y="14478"/>
                    </a:cubicBezTo>
                    <a:cubicBezTo>
                      <a:pt x="77974" y="15411"/>
                      <a:pt x="77974" y="15938"/>
                      <a:pt x="77839" y="17534"/>
                    </a:cubicBezTo>
                    <a:cubicBezTo>
                      <a:pt x="77708" y="18463"/>
                      <a:pt x="77708" y="18994"/>
                      <a:pt x="77573" y="20058"/>
                    </a:cubicBezTo>
                    <a:lnTo>
                      <a:pt x="80363" y="20324"/>
                    </a:ln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after_label_outline_1"/>
              <p:cNvSpPr/>
              <p:nvPr/>
            </p:nvSpPr>
            <p:spPr>
              <a:xfrm>
                <a:off x="4629417" y="898943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6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2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6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79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7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85" name="samples_0" descr="Editable line; source id samples_0"/>
          <p:cNvSpPr/>
          <p:nvPr/>
        </p:nvSpPr>
        <p:spPr>
          <a:xfrm>
            <a:off x="901700" y="835025"/>
            <a:ext cx="88900" cy="31750"/>
          </a:xfrm>
          <a:custGeom>
            <a:avLst/>
            <a:gdLst/>
            <a:ahLst/>
            <a:cxnLst/>
            <a:rect l="l" t="t" r="r" b="b"/>
            <a:pathLst>
              <a:path w="35000" h="12500">
                <a:moveTo>
                  <a:pt x="0" y="4250"/>
                </a:moveTo>
                <a:lnTo>
                  <a:pt x="18500" y="4250"/>
                </a:lnTo>
                <a:lnTo>
                  <a:pt x="18500" y="0"/>
                </a:lnTo>
                <a:lnTo>
                  <a:pt x="35000" y="6250"/>
                </a:lnTo>
                <a:lnTo>
                  <a:pt x="18500" y="12500"/>
                </a:lnTo>
                <a:lnTo>
                  <a:pt x="18500" y="8250"/>
                </a:lnTo>
                <a:lnTo>
                  <a:pt x="0" y="825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nputs_constraints_0" descr="Editable line; source id inputs_constraints_0"/>
          <p:cNvSpPr/>
          <p:nvPr/>
        </p:nvSpPr>
        <p:spPr>
          <a:xfrm>
            <a:off x="1841500" y="835025"/>
            <a:ext cx="88900" cy="31750"/>
          </a:xfrm>
          <a:custGeom>
            <a:avLst/>
            <a:gdLst/>
            <a:ahLst/>
            <a:cxnLst/>
            <a:rect l="l" t="t" r="r" b="b"/>
            <a:pathLst>
              <a:path w="35000" h="12500">
                <a:moveTo>
                  <a:pt x="0" y="4250"/>
                </a:moveTo>
                <a:lnTo>
                  <a:pt x="18500" y="4250"/>
                </a:lnTo>
                <a:lnTo>
                  <a:pt x="18500" y="0"/>
                </a:lnTo>
                <a:lnTo>
                  <a:pt x="35000" y="6250"/>
                </a:lnTo>
                <a:lnTo>
                  <a:pt x="18500" y="12500"/>
                </a:lnTo>
                <a:lnTo>
                  <a:pt x="18500" y="8250"/>
                </a:lnTo>
                <a:lnTo>
                  <a:pt x="0" y="825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onstraints_solve_0" descr="Editable line; source id constraints_solve_0"/>
          <p:cNvSpPr/>
          <p:nvPr/>
        </p:nvSpPr>
        <p:spPr>
          <a:xfrm>
            <a:off x="2921000" y="835025"/>
            <a:ext cx="88900" cy="31750"/>
          </a:xfrm>
          <a:custGeom>
            <a:avLst/>
            <a:gdLst/>
            <a:ahLst/>
            <a:cxnLst/>
            <a:rect l="l" t="t" r="r" b="b"/>
            <a:pathLst>
              <a:path w="35000" h="12500">
                <a:moveTo>
                  <a:pt x="0" y="4250"/>
                </a:moveTo>
                <a:lnTo>
                  <a:pt x="18500" y="4250"/>
                </a:lnTo>
                <a:lnTo>
                  <a:pt x="18500" y="0"/>
                </a:lnTo>
                <a:lnTo>
                  <a:pt x="35000" y="6250"/>
                </a:lnTo>
                <a:lnTo>
                  <a:pt x="18500" y="12500"/>
                </a:lnTo>
                <a:lnTo>
                  <a:pt x="18500" y="8250"/>
                </a:lnTo>
                <a:lnTo>
                  <a:pt x="0" y="825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udget_duals" descr="Editable text; source id budget_duals"/>
          <p:cNvSpPr txBox="1"/>
          <p:nvPr/>
        </p:nvSpPr>
        <p:spPr>
          <a:xfrm>
            <a:off x="3873499" y="1854200"/>
            <a:ext cx="952499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126D6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126D69"/>
                </a:solidFill>
                <a:latin typeface="Liberation Sans"/>
                <a:ea typeface="Liberation Sans"/>
                <a:cs typeface="Liberation Sans"/>
              </a:rPr>
              <a:t>budget duals</a:t>
            </a:r>
          </a:p>
        </p:txBody>
      </p:sp>
      <p:cxnSp>
        <p:nvCxnSpPr>
          <p:cNvPr id="89" name="duals_drop_0" descr="Editable line; source id duals_drop_0"/>
          <p:cNvCxnSpPr/>
          <p:nvPr/>
        </p:nvCxnSpPr>
        <p:spPr>
          <a:xfrm>
            <a:off x="4025900" y="1803400"/>
            <a:ext cx="0" cy="38100"/>
          </a:xfrm>
          <a:prstGeom prst="line">
            <a:avLst/>
          </a:prstGeom>
          <a:ln w="10160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duals_drop_1" descr="Editable line; source id duals_drop_1"/>
          <p:cNvCxnSpPr/>
          <p:nvPr/>
        </p:nvCxnSpPr>
        <p:spPr>
          <a:xfrm flipH="1">
            <a:off x="3886200" y="1841500"/>
            <a:ext cx="139700" cy="0"/>
          </a:xfrm>
          <a:prstGeom prst="line">
            <a:avLst/>
          </a:prstGeom>
          <a:ln w="10160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duals_drop_2" descr="Editable line; source id duals_drop_2"/>
          <p:cNvCxnSpPr/>
          <p:nvPr/>
        </p:nvCxnSpPr>
        <p:spPr>
          <a:xfrm>
            <a:off x="3886200" y="1841500"/>
            <a:ext cx="0" cy="190499"/>
          </a:xfrm>
          <a:prstGeom prst="line">
            <a:avLst/>
          </a:prstGeom>
          <a:ln w="10160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duals_drop_3" descr="Editable line; source id duals_drop_3"/>
          <p:cNvSpPr/>
          <p:nvPr/>
        </p:nvSpPr>
        <p:spPr>
          <a:xfrm>
            <a:off x="3835400" y="2016125"/>
            <a:ext cx="50800" cy="31750"/>
          </a:xfrm>
          <a:custGeom>
            <a:avLst/>
            <a:gdLst/>
            <a:ahLst/>
            <a:cxnLst/>
            <a:rect l="l" t="t" r="r" b="b"/>
            <a:pathLst>
              <a:path w="20000" h="12500">
                <a:moveTo>
                  <a:pt x="20000" y="8250"/>
                </a:moveTo>
                <a:lnTo>
                  <a:pt x="13000" y="8250"/>
                </a:lnTo>
                <a:lnTo>
                  <a:pt x="13000" y="12500"/>
                </a:lnTo>
                <a:lnTo>
                  <a:pt x="0" y="6250"/>
                </a:lnTo>
                <a:lnTo>
                  <a:pt x="13000" y="0"/>
                </a:lnTo>
                <a:lnTo>
                  <a:pt x="13000" y="4250"/>
                </a:lnTo>
                <a:lnTo>
                  <a:pt x="20000" y="4250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price_to_sum_0" descr="Editable line; source id price_to_sum_0"/>
          <p:cNvCxnSpPr/>
          <p:nvPr/>
        </p:nvCxnSpPr>
        <p:spPr>
          <a:xfrm flipH="1">
            <a:off x="1892300" y="2044699"/>
            <a:ext cx="139700" cy="0"/>
          </a:xfrm>
          <a:prstGeom prst="line">
            <a:avLst/>
          </a:prstGeom>
          <a:ln w="10160">
            <a:solidFill>
              <a:srgbClr val="126D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ae_bypass_0" descr="Editable line; source id gae_bypass_0"/>
          <p:cNvCxnSpPr/>
          <p:nvPr/>
        </p:nvCxnSpPr>
        <p:spPr>
          <a:xfrm>
            <a:off x="774700" y="1282700"/>
            <a:ext cx="1524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ae_bypass_1" descr="Editable line; source id gae_bypass_1"/>
          <p:cNvCxnSpPr/>
          <p:nvPr/>
        </p:nvCxnSpPr>
        <p:spPr>
          <a:xfrm>
            <a:off x="927100" y="1282700"/>
            <a:ext cx="0" cy="609599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ae_bypass_2" descr="Editable line; source id gae_bypass_2"/>
          <p:cNvCxnSpPr/>
          <p:nvPr/>
        </p:nvCxnSpPr>
        <p:spPr>
          <a:xfrm>
            <a:off x="927100" y="1892299"/>
            <a:ext cx="8763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ae_bypass_3" descr="Editable line; source id gae_bypass_3"/>
          <p:cNvCxnSpPr/>
          <p:nvPr/>
        </p:nvCxnSpPr>
        <p:spPr>
          <a:xfrm>
            <a:off x="1803400" y="1892299"/>
            <a:ext cx="0" cy="317501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ae_bypass_4" descr="Editable line; source id gae_bypass_4"/>
          <p:cNvCxnSpPr/>
          <p:nvPr/>
        </p:nvCxnSpPr>
        <p:spPr>
          <a:xfrm>
            <a:off x="1803400" y="2209800"/>
            <a:ext cx="508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ae_overpass_0" descr="Editable line; source id gae_overpass_0"/>
          <p:cNvCxnSpPr/>
          <p:nvPr/>
        </p:nvCxnSpPr>
        <p:spPr>
          <a:xfrm>
            <a:off x="1930400" y="2209800"/>
            <a:ext cx="1282700" cy="0"/>
          </a:xfrm>
          <a:prstGeom prst="line">
            <a:avLst/>
          </a:prstGeom>
          <a:ln w="8254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dvantages" descr="Editable text; source id advantages"/>
          <p:cNvSpPr txBox="1"/>
          <p:nvPr/>
        </p:nvSpPr>
        <p:spPr>
          <a:xfrm>
            <a:off x="1041400" y="1930399"/>
            <a:ext cx="673100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advantages</a:t>
            </a:r>
          </a:p>
        </p:txBody>
      </p:sp>
      <p:cxnSp>
        <p:nvCxnSpPr>
          <p:cNvPr id="103" name="observed_feedback_0" descr="Editable line; source id observed_feedback_0"/>
          <p:cNvCxnSpPr/>
          <p:nvPr/>
        </p:nvCxnSpPr>
        <p:spPr>
          <a:xfrm>
            <a:off x="457200" y="1777999"/>
            <a:ext cx="0" cy="215900"/>
          </a:xfrm>
          <a:prstGeom prst="line">
            <a:avLst/>
          </a:prstGeom>
          <a:ln w="8890">
            <a:solidFill>
              <a:srgbClr val="B86C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observed_feedback_1" descr="Editable line; source id observed_feedback_1"/>
          <p:cNvCxnSpPr/>
          <p:nvPr/>
        </p:nvCxnSpPr>
        <p:spPr>
          <a:xfrm flipH="1">
            <a:off x="76200" y="1993899"/>
            <a:ext cx="381000" cy="0"/>
          </a:xfrm>
          <a:prstGeom prst="line">
            <a:avLst/>
          </a:prstGeom>
          <a:ln w="8890">
            <a:solidFill>
              <a:srgbClr val="B86C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loop_start_0" descr="Editable line; source id loop_start_0"/>
          <p:cNvCxnSpPr/>
          <p:nvPr/>
        </p:nvCxnSpPr>
        <p:spPr>
          <a:xfrm>
            <a:off x="4838699" y="2832099"/>
            <a:ext cx="0" cy="127000"/>
          </a:xfrm>
          <a:prstGeom prst="line">
            <a:avLst/>
          </a:prstGeom>
          <a:ln w="8890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4" name="module_update"/>
          <p:cNvGrpSpPr/>
          <p:nvPr/>
        </p:nvGrpSpPr>
        <p:grpSpPr>
          <a:xfrm>
            <a:off x="38100" y="2273299"/>
            <a:ext cx="4952999" cy="558800"/>
            <a:chOff x="38100" y="2273299"/>
            <a:chExt cx="4952999" cy="558800"/>
          </a:xfrm>
        </p:grpSpPr>
        <p:sp>
          <p:nvSpPr>
            <p:cNvPr id="107" name="update" descr="Editable shape; source id update"/>
            <p:cNvSpPr/>
            <p:nvPr/>
          </p:nvSpPr>
          <p:spPr>
            <a:xfrm>
              <a:off x="38100" y="2273299"/>
              <a:ext cx="4952999" cy="5588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8254">
              <a:solidFill>
                <a:srgbClr val="BAC4C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bserved_feedback_3" descr="Editable line; source id observed_feedback_3"/>
            <p:cNvSpPr/>
            <p:nvPr/>
          </p:nvSpPr>
          <p:spPr>
            <a:xfrm>
              <a:off x="76200" y="2625725"/>
              <a:ext cx="38100" cy="31750"/>
            </a:xfrm>
            <a:custGeom>
              <a:avLst/>
              <a:gdLst/>
              <a:ahLst/>
              <a:cxnLst/>
              <a:rect l="l" t="t" r="r" b="b"/>
              <a:pathLst>
                <a:path w="15000" h="12500">
                  <a:moveTo>
                    <a:pt x="0" y="4500"/>
                  </a:moveTo>
                  <a:lnTo>
                    <a:pt x="5250" y="4500"/>
                  </a:lnTo>
                  <a:lnTo>
                    <a:pt x="5250" y="0"/>
                  </a:lnTo>
                  <a:lnTo>
                    <a:pt x="15000" y="6250"/>
                  </a:lnTo>
                  <a:lnTo>
                    <a:pt x="5250" y="12500"/>
                  </a:lnTo>
                  <a:lnTo>
                    <a:pt x="525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update_title" descr="Editable text; source id update_title"/>
            <p:cNvSpPr txBox="1"/>
            <p:nvPr/>
          </p:nvSpPr>
          <p:spPr>
            <a:xfrm>
              <a:off x="127000" y="2311400"/>
              <a:ext cx="1625600" cy="1397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977"/>
                </a:lnSpc>
                <a:spcBef>
                  <a:spcPts val="0"/>
                </a:spcBef>
                <a:spcAft>
                  <a:spcPts val="0"/>
                </a:spcAft>
                <a:defRPr sz="85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5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5  Priced policy update</a:t>
              </a:r>
            </a:p>
          </p:txBody>
        </p:sp>
        <p:sp>
          <p:nvSpPr>
            <p:cNvPr id="109" name="beta_sum_0" descr="Editable line; source id beta_sum_0"/>
            <p:cNvSpPr/>
            <p:nvPr/>
          </p:nvSpPr>
          <p:spPr>
            <a:xfrm>
              <a:off x="1739900" y="2625725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25000" h="12500">
                  <a:moveTo>
                    <a:pt x="0" y="4250"/>
                  </a:moveTo>
                  <a:lnTo>
                    <a:pt x="8750" y="4250"/>
                  </a:lnTo>
                  <a:lnTo>
                    <a:pt x="8750" y="0"/>
                  </a:lnTo>
                  <a:lnTo>
                    <a:pt x="25000" y="6250"/>
                  </a:lnTo>
                  <a:lnTo>
                    <a:pt x="8750" y="12500"/>
                  </a:lnTo>
                  <a:lnTo>
                    <a:pt x="875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B86C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um" descr="Editable shape; source id sum"/>
            <p:cNvSpPr/>
            <p:nvPr/>
          </p:nvSpPr>
          <p:spPr>
            <a:xfrm>
              <a:off x="1816100" y="25654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471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um_sign" descr="Editable text; source id sum_sign"/>
            <p:cNvSpPr txBox="1"/>
            <p:nvPr/>
          </p:nvSpPr>
          <p:spPr>
            <a:xfrm>
              <a:off x="1816100" y="2565400"/>
              <a:ext cx="152400" cy="152400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9"/>
                </a:lnSpc>
                <a:spcBef>
                  <a:spcPts val="0"/>
                </a:spcBef>
                <a:spcAft>
                  <a:spcPts val="0"/>
                </a:spcAft>
                <a:defRPr sz="100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1000" b="0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+</a:t>
              </a:r>
            </a:p>
          </p:txBody>
        </p:sp>
        <p:sp>
          <p:nvSpPr>
            <p:cNvPr id="112" name="sum_lambda_0" descr="Editable line; source id sum_lambda_0"/>
            <p:cNvSpPr/>
            <p:nvPr/>
          </p:nvSpPr>
          <p:spPr>
            <a:xfrm>
              <a:off x="1981200" y="2625725"/>
              <a:ext cx="50800" cy="31750"/>
            </a:xfrm>
            <a:custGeom>
              <a:avLst/>
              <a:gdLst/>
              <a:ahLst/>
              <a:cxnLst/>
              <a:rect l="l" t="t" r="r" b="b"/>
              <a:pathLst>
                <a:path w="20000" h="12500">
                  <a:moveTo>
                    <a:pt x="0" y="4250"/>
                  </a:moveTo>
                  <a:lnTo>
                    <a:pt x="7000" y="4250"/>
                  </a:lnTo>
                  <a:lnTo>
                    <a:pt x="7000" y="0"/>
                  </a:lnTo>
                  <a:lnTo>
                    <a:pt x="20000" y="6250"/>
                  </a:lnTo>
                  <a:lnTo>
                    <a:pt x="7000" y="12500"/>
                  </a:lnTo>
                  <a:lnTo>
                    <a:pt x="70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lambda_adv_0" descr="Editable line; source id lambda_adv_0"/>
            <p:cNvSpPr/>
            <p:nvPr/>
          </p:nvSpPr>
          <p:spPr>
            <a:xfrm>
              <a:off x="2336800" y="2625725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35000" h="12500">
                  <a:moveTo>
                    <a:pt x="0" y="4250"/>
                  </a:moveTo>
                  <a:lnTo>
                    <a:pt x="18500" y="4250"/>
                  </a:lnTo>
                  <a:lnTo>
                    <a:pt x="18500" y="0"/>
                  </a:lnTo>
                  <a:lnTo>
                    <a:pt x="35000" y="6250"/>
                  </a:lnTo>
                  <a:lnTo>
                    <a:pt x="18500" y="12500"/>
                  </a:lnTo>
                  <a:lnTo>
                    <a:pt x="18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adv_ppo_0" descr="Editable line; source id adv_ppo_0"/>
            <p:cNvSpPr/>
            <p:nvPr/>
          </p:nvSpPr>
          <p:spPr>
            <a:xfrm>
              <a:off x="3835400" y="2625725"/>
              <a:ext cx="76200" cy="31750"/>
            </a:xfrm>
            <a:custGeom>
              <a:avLst/>
              <a:gdLst/>
              <a:ahLst/>
              <a:cxnLst/>
              <a:rect l="l" t="t" r="r" b="b"/>
              <a:pathLst>
                <a:path w="30000" h="12500">
                  <a:moveTo>
                    <a:pt x="0" y="4250"/>
                  </a:moveTo>
                  <a:lnTo>
                    <a:pt x="13500" y="4250"/>
                  </a:lnTo>
                  <a:lnTo>
                    <a:pt x="13500" y="0"/>
                  </a:lnTo>
                  <a:lnTo>
                    <a:pt x="30000" y="6250"/>
                  </a:lnTo>
                  <a:lnTo>
                    <a:pt x="13500" y="12500"/>
                  </a:lnTo>
                  <a:lnTo>
                    <a:pt x="135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ppo" descr="Editable text; source id ppo"/>
            <p:cNvSpPr txBox="1"/>
            <p:nvPr/>
          </p:nvSpPr>
          <p:spPr>
            <a:xfrm>
              <a:off x="3924299" y="2552700"/>
              <a:ext cx="596899" cy="177799"/>
            </a:xfrm>
            <a:prstGeom prst="rect">
              <a:avLst/>
            </a:prstGeom>
            <a:noFill/>
            <a:effectLst/>
          </p:spPr>
          <p:txBody>
            <a:bodyPr wrap="none" anchor="ctr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931"/>
                </a:lnSpc>
                <a:spcBef>
                  <a:spcPts val="0"/>
                </a:spcBef>
                <a:spcAft>
                  <a:spcPts val="0"/>
                </a:spcAft>
                <a:def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10" b="1" i="0" lang="zh-CN" dirty="0">
                  <a:solidFill>
                    <a:srgbClr val="263641"/>
                  </a:solidFill>
                  <a:latin typeface="Liberation Sans"/>
                  <a:ea typeface="Liberation Sans"/>
                  <a:cs typeface="Liberation Sans"/>
                </a:rPr>
                <a:t>PPO/TRPO</a:t>
              </a:r>
            </a:p>
          </p:txBody>
        </p:sp>
        <p:sp>
          <p:nvSpPr>
            <p:cNvPr id="116" name="actor_next_0" descr="Editable line; source id actor_next_0"/>
            <p:cNvSpPr/>
            <p:nvPr/>
          </p:nvSpPr>
          <p:spPr>
            <a:xfrm>
              <a:off x="4533900" y="2625725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25000" h="12500">
                  <a:moveTo>
                    <a:pt x="0" y="4250"/>
                  </a:moveTo>
                  <a:lnTo>
                    <a:pt x="8750" y="4250"/>
                  </a:lnTo>
                  <a:lnTo>
                    <a:pt x="8750" y="0"/>
                  </a:lnTo>
                  <a:lnTo>
                    <a:pt x="25000" y="6250"/>
                  </a:lnTo>
                  <a:lnTo>
                    <a:pt x="8750" y="12500"/>
                  </a:lnTo>
                  <a:lnTo>
                    <a:pt x="875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6471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10" name="feedback_update"/>
            <p:cNvGrpSpPr/>
            <p:nvPr/>
          </p:nvGrpSpPr>
          <p:grpSpPr>
            <a:xfrm>
              <a:off x="200542" y="2573185"/>
              <a:ext cx="1422088" cy="136493"/>
              <a:chOff x="200542" y="2573185"/>
              <a:chExt cx="1422088" cy="136493"/>
            </a:xfrm>
          </p:grpSpPr>
          <p:sp>
            <p:nvSpPr>
              <p:cNvPr id="211" name="feedback_update_outline_0"/>
              <p:cNvSpPr/>
              <p:nvPr/>
            </p:nvSpPr>
            <p:spPr>
              <a:xfrm>
                <a:off x="200542" y="2595176"/>
                <a:ext cx="79966" cy="114502"/>
              </a:xfrm>
              <a:custGeom>
                <a:avLst/>
                <a:gdLst/>
                <a:ahLst/>
                <a:cxnLst/>
                <a:rect l="0" t="0" r="r" b="b"/>
                <a:pathLst>
                  <a:path w="79966" h="114502">
                    <a:moveTo>
                      <a:pt x="79966" y="15276"/>
                    </a:moveTo>
                    <a:cubicBezTo>
                      <a:pt x="79966" y="4782"/>
                      <a:pt x="71465" y="0"/>
                      <a:pt x="60440" y="0"/>
                    </a:cubicBezTo>
                    <a:cubicBezTo>
                      <a:pt x="46359" y="0"/>
                      <a:pt x="32679" y="9430"/>
                      <a:pt x="28960" y="22848"/>
                    </a:cubicBezTo>
                    <a:lnTo>
                      <a:pt x="8636" y="96969"/>
                    </a:lnTo>
                    <a:cubicBezTo>
                      <a:pt x="6378" y="105339"/>
                      <a:pt x="1330" y="112776"/>
                      <a:pt x="0" y="114502"/>
                    </a:cubicBezTo>
                    <a:lnTo>
                      <a:pt x="11823" y="114502"/>
                    </a:lnTo>
                    <a:cubicBezTo>
                      <a:pt x="11958" y="114502"/>
                      <a:pt x="14081" y="113443"/>
                      <a:pt x="18467" y="96838"/>
                    </a:cubicBezTo>
                    <a:lnTo>
                      <a:pt x="22983" y="79700"/>
                    </a:lnTo>
                    <a:lnTo>
                      <a:pt x="23114" y="79700"/>
                    </a:lnTo>
                    <a:cubicBezTo>
                      <a:pt x="23114" y="79835"/>
                      <a:pt x="27499" y="89265"/>
                      <a:pt x="40914" y="89265"/>
                    </a:cubicBezTo>
                    <a:cubicBezTo>
                      <a:pt x="60841" y="89265"/>
                      <a:pt x="74255" y="74386"/>
                      <a:pt x="74255" y="59111"/>
                    </a:cubicBezTo>
                    <a:cubicBezTo>
                      <a:pt x="74255" y="42505"/>
                      <a:pt x="59245" y="39985"/>
                      <a:pt x="59115" y="39985"/>
                    </a:cubicBezTo>
                    <a:lnTo>
                      <a:pt x="59115" y="39453"/>
                    </a:lnTo>
                    <a:cubicBezTo>
                      <a:pt x="59245" y="39453"/>
                      <a:pt x="79966" y="34671"/>
                      <a:pt x="79966" y="15276"/>
                    </a:cubicBezTo>
                    <a:close/>
                    <a:moveTo>
                      <a:pt x="69473" y="15010"/>
                    </a:moveTo>
                    <a:cubicBezTo>
                      <a:pt x="69473" y="21122"/>
                      <a:pt x="66020" y="36132"/>
                      <a:pt x="55392" y="36132"/>
                    </a:cubicBezTo>
                    <a:cubicBezTo>
                      <a:pt x="52606" y="36132"/>
                      <a:pt x="50479" y="35600"/>
                      <a:pt x="48355" y="35600"/>
                    </a:cubicBezTo>
                    <a:cubicBezTo>
                      <a:pt x="44768" y="35600"/>
                      <a:pt x="42243" y="38656"/>
                      <a:pt x="42243" y="41045"/>
                    </a:cubicBezTo>
                    <a:cubicBezTo>
                      <a:pt x="42243" y="42505"/>
                      <a:pt x="43307" y="43704"/>
                      <a:pt x="45696" y="43704"/>
                    </a:cubicBezTo>
                    <a:cubicBezTo>
                      <a:pt x="49415" y="43704"/>
                      <a:pt x="50347" y="43037"/>
                      <a:pt x="53400" y="43037"/>
                    </a:cubicBezTo>
                    <a:cubicBezTo>
                      <a:pt x="60043" y="43037"/>
                      <a:pt x="62964" y="50213"/>
                      <a:pt x="62964" y="57650"/>
                    </a:cubicBezTo>
                    <a:cubicBezTo>
                      <a:pt x="62964" y="70934"/>
                      <a:pt x="54995" y="83153"/>
                      <a:pt x="40783" y="83153"/>
                    </a:cubicBezTo>
                    <a:cubicBezTo>
                      <a:pt x="31750" y="83153"/>
                      <a:pt x="25904" y="78506"/>
                      <a:pt x="25904" y="70802"/>
                    </a:cubicBezTo>
                    <a:cubicBezTo>
                      <a:pt x="25904" y="69207"/>
                      <a:pt x="26170" y="67481"/>
                      <a:pt x="26702" y="65619"/>
                    </a:cubicBezTo>
                    <a:lnTo>
                      <a:pt x="38656" y="22979"/>
                    </a:lnTo>
                    <a:cubicBezTo>
                      <a:pt x="41049" y="14347"/>
                      <a:pt x="47157" y="3719"/>
                      <a:pt x="59115" y="3719"/>
                    </a:cubicBezTo>
                    <a:cubicBezTo>
                      <a:pt x="66683" y="3719"/>
                      <a:pt x="69473" y="8902"/>
                      <a:pt x="69473" y="15010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feedback_update_outline_1"/>
              <p:cNvSpPr/>
              <p:nvPr/>
            </p:nvSpPr>
            <p:spPr>
              <a:xfrm>
                <a:off x="288571" y="26344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feedback_update_outline_2"/>
              <p:cNvSpPr/>
              <p:nvPr/>
            </p:nvSpPr>
            <p:spPr>
              <a:xfrm>
                <a:off x="395388" y="2620814"/>
                <a:ext cx="119551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119551" h="54463">
                    <a:moveTo>
                      <a:pt x="119551" y="30948"/>
                    </a:moveTo>
                    <a:lnTo>
                      <a:pt x="119551" y="23511"/>
                    </a:lnTo>
                    <a:lnTo>
                      <a:pt x="14347" y="23511"/>
                    </a:lnTo>
                    <a:lnTo>
                      <a:pt x="30155" y="4381"/>
                    </a:lnTo>
                    <a:lnTo>
                      <a:pt x="26035" y="0"/>
                    </a:lnTo>
                    <a:lnTo>
                      <a:pt x="0" y="27365"/>
                    </a:lnTo>
                    <a:lnTo>
                      <a:pt x="26035" y="54463"/>
                    </a:lnTo>
                    <a:lnTo>
                      <a:pt x="30155" y="50078"/>
                    </a:lnTo>
                    <a:lnTo>
                      <a:pt x="14347" y="30948"/>
                    </a:lnTo>
                    <a:lnTo>
                      <a:pt x="119551" y="30948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feedback_update_outline_3"/>
              <p:cNvSpPr/>
              <p:nvPr/>
            </p:nvSpPr>
            <p:spPr>
              <a:xfrm>
                <a:off x="579774" y="2588270"/>
                <a:ext cx="28031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28031" h="119551">
                    <a:moveTo>
                      <a:pt x="28031" y="116229"/>
                    </a:moveTo>
                    <a:lnTo>
                      <a:pt x="16605" y="116229"/>
                    </a:lnTo>
                    <a:cubicBezTo>
                      <a:pt x="12224" y="116229"/>
                      <a:pt x="10097" y="113971"/>
                      <a:pt x="10097" y="109323"/>
                    </a:cubicBezTo>
                    <a:lnTo>
                      <a:pt x="10097" y="9164"/>
                    </a:lnTo>
                    <a:cubicBezTo>
                      <a:pt x="10097" y="5044"/>
                      <a:pt x="11822" y="3318"/>
                      <a:pt x="16073" y="3318"/>
                    </a:cubicBezTo>
                    <a:lnTo>
                      <a:pt x="28031" y="3318"/>
                    </a:lnTo>
                    <a:lnTo>
                      <a:pt x="28031" y="0"/>
                    </a:lnTo>
                    <a:lnTo>
                      <a:pt x="0" y="0"/>
                    </a:lnTo>
                    <a:lnTo>
                      <a:pt x="0" y="119551"/>
                    </a:lnTo>
                    <a:lnTo>
                      <a:pt x="28031" y="119551"/>
                    </a:lnTo>
                    <a:lnTo>
                      <a:pt x="28031" y="116229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feedback_update_outline_4"/>
              <p:cNvSpPr/>
              <p:nvPr/>
            </p:nvSpPr>
            <p:spPr>
              <a:xfrm>
                <a:off x="610714" y="2595176"/>
                <a:ext cx="79966" cy="114502"/>
              </a:xfrm>
              <a:custGeom>
                <a:avLst/>
                <a:gdLst/>
                <a:ahLst/>
                <a:cxnLst/>
                <a:rect l="0" t="0" r="r" b="b"/>
                <a:pathLst>
                  <a:path w="79966" h="114502">
                    <a:moveTo>
                      <a:pt x="79966" y="15276"/>
                    </a:moveTo>
                    <a:cubicBezTo>
                      <a:pt x="79966" y="4782"/>
                      <a:pt x="71465" y="0"/>
                      <a:pt x="60440" y="0"/>
                    </a:cubicBezTo>
                    <a:cubicBezTo>
                      <a:pt x="46359" y="0"/>
                      <a:pt x="32679" y="9430"/>
                      <a:pt x="28960" y="22848"/>
                    </a:cubicBezTo>
                    <a:lnTo>
                      <a:pt x="8636" y="96969"/>
                    </a:lnTo>
                    <a:cubicBezTo>
                      <a:pt x="6378" y="105339"/>
                      <a:pt x="1329" y="112776"/>
                      <a:pt x="0" y="114502"/>
                    </a:cubicBezTo>
                    <a:lnTo>
                      <a:pt x="11823" y="114502"/>
                    </a:lnTo>
                    <a:cubicBezTo>
                      <a:pt x="11958" y="114502"/>
                      <a:pt x="14081" y="113443"/>
                      <a:pt x="18467" y="96838"/>
                    </a:cubicBezTo>
                    <a:lnTo>
                      <a:pt x="22983" y="79700"/>
                    </a:lnTo>
                    <a:lnTo>
                      <a:pt x="23114" y="79700"/>
                    </a:lnTo>
                    <a:cubicBezTo>
                      <a:pt x="23114" y="79835"/>
                      <a:pt x="27499" y="89265"/>
                      <a:pt x="40914" y="89265"/>
                    </a:cubicBezTo>
                    <a:cubicBezTo>
                      <a:pt x="60841" y="89265"/>
                      <a:pt x="74255" y="74386"/>
                      <a:pt x="74255" y="59111"/>
                    </a:cubicBezTo>
                    <a:cubicBezTo>
                      <a:pt x="74255" y="42505"/>
                      <a:pt x="59245" y="39985"/>
                      <a:pt x="59114" y="39985"/>
                    </a:cubicBezTo>
                    <a:lnTo>
                      <a:pt x="59114" y="39453"/>
                    </a:lnTo>
                    <a:cubicBezTo>
                      <a:pt x="59245" y="39453"/>
                      <a:pt x="79966" y="34671"/>
                      <a:pt x="79966" y="15276"/>
                    </a:cubicBezTo>
                    <a:close/>
                    <a:moveTo>
                      <a:pt x="69473" y="15010"/>
                    </a:moveTo>
                    <a:cubicBezTo>
                      <a:pt x="69473" y="21122"/>
                      <a:pt x="66020" y="36132"/>
                      <a:pt x="55392" y="36132"/>
                    </a:cubicBezTo>
                    <a:cubicBezTo>
                      <a:pt x="52606" y="36132"/>
                      <a:pt x="50478" y="35600"/>
                      <a:pt x="48355" y="35600"/>
                    </a:cubicBezTo>
                    <a:cubicBezTo>
                      <a:pt x="44767" y="35600"/>
                      <a:pt x="42243" y="38656"/>
                      <a:pt x="42243" y="41045"/>
                    </a:cubicBezTo>
                    <a:cubicBezTo>
                      <a:pt x="42243" y="42505"/>
                      <a:pt x="43307" y="43704"/>
                      <a:pt x="45696" y="43704"/>
                    </a:cubicBezTo>
                    <a:cubicBezTo>
                      <a:pt x="49415" y="43704"/>
                      <a:pt x="50347" y="43037"/>
                      <a:pt x="53399" y="43037"/>
                    </a:cubicBezTo>
                    <a:cubicBezTo>
                      <a:pt x="60043" y="43037"/>
                      <a:pt x="62964" y="50213"/>
                      <a:pt x="62964" y="57650"/>
                    </a:cubicBezTo>
                    <a:cubicBezTo>
                      <a:pt x="62964" y="70934"/>
                      <a:pt x="54995" y="83153"/>
                      <a:pt x="40783" y="83153"/>
                    </a:cubicBezTo>
                    <a:cubicBezTo>
                      <a:pt x="31750" y="83153"/>
                      <a:pt x="25904" y="78506"/>
                      <a:pt x="25904" y="70802"/>
                    </a:cubicBezTo>
                    <a:cubicBezTo>
                      <a:pt x="25904" y="69207"/>
                      <a:pt x="26170" y="67481"/>
                      <a:pt x="26702" y="65619"/>
                    </a:cubicBezTo>
                    <a:lnTo>
                      <a:pt x="38656" y="22979"/>
                    </a:lnTo>
                    <a:cubicBezTo>
                      <a:pt x="41049" y="14347"/>
                      <a:pt x="47157" y="3719"/>
                      <a:pt x="59114" y="3719"/>
                    </a:cubicBezTo>
                    <a:cubicBezTo>
                      <a:pt x="66683" y="3719"/>
                      <a:pt x="69473" y="8902"/>
                      <a:pt x="69473" y="15010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feedback_update_outline_5"/>
              <p:cNvSpPr/>
              <p:nvPr/>
            </p:nvSpPr>
            <p:spPr>
              <a:xfrm>
                <a:off x="698743" y="26344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3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feedback_update_outline_6"/>
              <p:cNvSpPr/>
              <p:nvPr/>
            </p:nvSpPr>
            <p:spPr>
              <a:xfrm>
                <a:off x="798181" y="2613904"/>
                <a:ext cx="68012" cy="68278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68278">
                    <a:moveTo>
                      <a:pt x="29623" y="29758"/>
                    </a:moveTo>
                    <a:lnTo>
                      <a:pt x="0" y="29758"/>
                    </a:lnTo>
                    <a:lnTo>
                      <a:pt x="0" y="38525"/>
                    </a:lnTo>
                    <a:lnTo>
                      <a:pt x="29623" y="38525"/>
                    </a:lnTo>
                    <a:lnTo>
                      <a:pt x="29623" y="68278"/>
                    </a:lnTo>
                    <a:lnTo>
                      <a:pt x="38390" y="68278"/>
                    </a:lnTo>
                    <a:lnTo>
                      <a:pt x="38390" y="38525"/>
                    </a:lnTo>
                    <a:lnTo>
                      <a:pt x="68013" y="38525"/>
                    </a:lnTo>
                    <a:lnTo>
                      <a:pt x="68013" y="29758"/>
                    </a:lnTo>
                    <a:lnTo>
                      <a:pt x="38390" y="29758"/>
                    </a:lnTo>
                    <a:lnTo>
                      <a:pt x="38390" y="0"/>
                    </a:lnTo>
                    <a:lnTo>
                      <a:pt x="29623" y="0"/>
                    </a:lnTo>
                    <a:lnTo>
                      <a:pt x="29623" y="29758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feedback_update_outline_7"/>
              <p:cNvSpPr/>
              <p:nvPr/>
            </p:nvSpPr>
            <p:spPr>
              <a:xfrm>
                <a:off x="906875" y="2623604"/>
                <a:ext cx="60309" cy="86074"/>
              </a:xfrm>
              <a:custGeom>
                <a:avLst/>
                <a:gdLst/>
                <a:ahLst/>
                <a:cxnLst/>
                <a:rect l="0" t="0" r="r" b="b"/>
                <a:pathLst>
                  <a:path w="60309" h="86074">
                    <a:moveTo>
                      <a:pt x="60309" y="10624"/>
                    </a:moveTo>
                    <a:cubicBezTo>
                      <a:pt x="60309" y="3453"/>
                      <a:pt x="56590" y="0"/>
                      <a:pt x="49149" y="0"/>
                    </a:cubicBezTo>
                    <a:cubicBezTo>
                      <a:pt x="36929" y="0"/>
                      <a:pt x="24575" y="10890"/>
                      <a:pt x="24443" y="10890"/>
                    </a:cubicBezTo>
                    <a:cubicBezTo>
                      <a:pt x="24443" y="10890"/>
                      <a:pt x="24709" y="10359"/>
                      <a:pt x="24709" y="8632"/>
                    </a:cubicBezTo>
                    <a:cubicBezTo>
                      <a:pt x="24709" y="5310"/>
                      <a:pt x="23249" y="0"/>
                      <a:pt x="13950" y="0"/>
                    </a:cubicBezTo>
                    <a:cubicBezTo>
                      <a:pt x="4651" y="0"/>
                      <a:pt x="933" y="8501"/>
                      <a:pt x="933" y="11557"/>
                    </a:cubicBezTo>
                    <a:cubicBezTo>
                      <a:pt x="933" y="12351"/>
                      <a:pt x="1064" y="12752"/>
                      <a:pt x="1464" y="12752"/>
                    </a:cubicBezTo>
                    <a:cubicBezTo>
                      <a:pt x="4516" y="12752"/>
                      <a:pt x="3056" y="4782"/>
                      <a:pt x="11291" y="4782"/>
                    </a:cubicBezTo>
                    <a:cubicBezTo>
                      <a:pt x="13418" y="4782"/>
                      <a:pt x="14347" y="6374"/>
                      <a:pt x="14347" y="8898"/>
                    </a:cubicBezTo>
                    <a:cubicBezTo>
                      <a:pt x="14347" y="12486"/>
                      <a:pt x="12752" y="17800"/>
                      <a:pt x="10894" y="24705"/>
                    </a:cubicBezTo>
                    <a:lnTo>
                      <a:pt x="5314" y="45164"/>
                    </a:lnTo>
                    <a:cubicBezTo>
                      <a:pt x="3191" y="52733"/>
                      <a:pt x="798" y="57249"/>
                      <a:pt x="0" y="58579"/>
                    </a:cubicBezTo>
                    <a:lnTo>
                      <a:pt x="12490" y="58579"/>
                    </a:lnTo>
                    <a:cubicBezTo>
                      <a:pt x="12752" y="57384"/>
                      <a:pt x="13684" y="52602"/>
                      <a:pt x="15807" y="45164"/>
                    </a:cubicBezTo>
                    <a:lnTo>
                      <a:pt x="23781" y="16867"/>
                    </a:lnTo>
                    <a:cubicBezTo>
                      <a:pt x="24309" y="15141"/>
                      <a:pt x="33211" y="6243"/>
                      <a:pt x="41446" y="6243"/>
                    </a:cubicBezTo>
                    <a:cubicBezTo>
                      <a:pt x="47423" y="6243"/>
                      <a:pt x="49284" y="8767"/>
                      <a:pt x="49284" y="12617"/>
                    </a:cubicBezTo>
                    <a:cubicBezTo>
                      <a:pt x="49284" y="14875"/>
                      <a:pt x="48617" y="17800"/>
                      <a:pt x="47823" y="20721"/>
                    </a:cubicBezTo>
                    <a:lnTo>
                      <a:pt x="34671" y="67346"/>
                    </a:lnTo>
                    <a:cubicBezTo>
                      <a:pt x="32679" y="74386"/>
                      <a:pt x="31218" y="84483"/>
                      <a:pt x="30952" y="86074"/>
                    </a:cubicBezTo>
                    <a:lnTo>
                      <a:pt x="42640" y="86074"/>
                    </a:lnTo>
                    <a:lnTo>
                      <a:pt x="42640" y="85543"/>
                    </a:lnTo>
                    <a:cubicBezTo>
                      <a:pt x="42640" y="83419"/>
                      <a:pt x="42640" y="76644"/>
                      <a:pt x="45299" y="67481"/>
                    </a:cubicBezTo>
                    <a:lnTo>
                      <a:pt x="58714" y="20189"/>
                    </a:lnTo>
                    <a:cubicBezTo>
                      <a:pt x="59777" y="16470"/>
                      <a:pt x="60309" y="13283"/>
                      <a:pt x="60309" y="10624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feedback_update_outline_8"/>
              <p:cNvSpPr/>
              <p:nvPr/>
            </p:nvSpPr>
            <p:spPr>
              <a:xfrm>
                <a:off x="986455" y="2586940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32810" y="0"/>
                    </a:moveTo>
                    <a:cubicBezTo>
                      <a:pt x="13549" y="12486"/>
                      <a:pt x="0" y="34004"/>
                      <a:pt x="0" y="61103"/>
                    </a:cubicBezTo>
                    <a:cubicBezTo>
                      <a:pt x="0" y="85812"/>
                      <a:pt x="14077" y="110784"/>
                      <a:pt x="32409" y="122075"/>
                    </a:cubicBezTo>
                    <a:lnTo>
                      <a:pt x="34004" y="119947"/>
                    </a:lnTo>
                    <a:cubicBezTo>
                      <a:pt x="16470" y="106136"/>
                      <a:pt x="11422" y="90063"/>
                      <a:pt x="11422" y="60706"/>
                    </a:cubicBezTo>
                    <a:cubicBezTo>
                      <a:pt x="11422" y="31214"/>
                      <a:pt x="16867" y="15938"/>
                      <a:pt x="34004" y="2123"/>
                    </a:cubicBezTo>
                    <a:lnTo>
                      <a:pt x="32810" y="0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feedback_update_outline_9"/>
              <p:cNvSpPr/>
              <p:nvPr/>
            </p:nvSpPr>
            <p:spPr>
              <a:xfrm>
                <a:off x="1062780" y="2573185"/>
                <a:ext cx="41310" cy="7171"/>
              </a:xfrm>
              <a:custGeom>
                <a:avLst/>
                <a:gdLst/>
                <a:ahLst/>
                <a:cxnLst/>
                <a:rect l="0" t="0" r="r" b="b"/>
                <a:pathLst>
                  <a:path w="41311" h="7172">
                    <a:moveTo>
                      <a:pt x="41311" y="7172"/>
                    </a:moveTo>
                    <a:lnTo>
                      <a:pt x="41311" y="0"/>
                    </a:lnTo>
                    <a:lnTo>
                      <a:pt x="0" y="0"/>
                    </a:lnTo>
                    <a:lnTo>
                      <a:pt x="0" y="7172"/>
                    </a:lnTo>
                    <a:lnTo>
                      <a:pt x="41311" y="7172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feedback_update_outline_10"/>
              <p:cNvSpPr/>
              <p:nvPr/>
            </p:nvSpPr>
            <p:spPr>
              <a:xfrm>
                <a:off x="1032290" y="2595441"/>
                <a:ext cx="66020" cy="89130"/>
              </a:xfrm>
              <a:custGeom>
                <a:avLst/>
                <a:gdLst/>
                <a:ahLst/>
                <a:cxnLst/>
                <a:rect l="0" t="0" r="r" b="b"/>
                <a:pathLst>
                  <a:path w="66020" h="89130">
                    <a:moveTo>
                      <a:pt x="66020" y="2123"/>
                    </a:moveTo>
                    <a:lnTo>
                      <a:pt x="66020" y="0"/>
                    </a:lnTo>
                    <a:lnTo>
                      <a:pt x="32278" y="0"/>
                    </a:lnTo>
                    <a:lnTo>
                      <a:pt x="32278" y="2123"/>
                    </a:lnTo>
                    <a:cubicBezTo>
                      <a:pt x="40648" y="2921"/>
                      <a:pt x="42509" y="3985"/>
                      <a:pt x="42509" y="7572"/>
                    </a:cubicBezTo>
                    <a:cubicBezTo>
                      <a:pt x="42509" y="9565"/>
                      <a:pt x="41978" y="12220"/>
                      <a:pt x="40914" y="16074"/>
                    </a:cubicBezTo>
                    <a:lnTo>
                      <a:pt x="23511" y="77839"/>
                    </a:lnTo>
                    <a:cubicBezTo>
                      <a:pt x="22050" y="83022"/>
                      <a:pt x="20193" y="85015"/>
                      <a:pt x="17002" y="85015"/>
                    </a:cubicBezTo>
                    <a:cubicBezTo>
                      <a:pt x="13815" y="85015"/>
                      <a:pt x="12355" y="83419"/>
                      <a:pt x="12355" y="79700"/>
                    </a:cubicBezTo>
                    <a:cubicBezTo>
                      <a:pt x="12355" y="79038"/>
                      <a:pt x="12355" y="78371"/>
                      <a:pt x="12486" y="77708"/>
                    </a:cubicBezTo>
                    <a:lnTo>
                      <a:pt x="12486" y="76514"/>
                    </a:lnTo>
                    <a:cubicBezTo>
                      <a:pt x="12486" y="73192"/>
                      <a:pt x="9565" y="70271"/>
                      <a:pt x="5977" y="70271"/>
                    </a:cubicBezTo>
                    <a:cubicBezTo>
                      <a:pt x="2393" y="70271"/>
                      <a:pt x="0" y="73192"/>
                      <a:pt x="0" y="77442"/>
                    </a:cubicBezTo>
                    <a:cubicBezTo>
                      <a:pt x="0" y="84483"/>
                      <a:pt x="6243" y="89130"/>
                      <a:pt x="15542" y="89130"/>
                    </a:cubicBezTo>
                    <a:cubicBezTo>
                      <a:pt x="22316" y="89130"/>
                      <a:pt x="28293" y="86475"/>
                      <a:pt x="32413" y="81562"/>
                    </a:cubicBezTo>
                    <a:cubicBezTo>
                      <a:pt x="36001" y="77311"/>
                      <a:pt x="38656" y="71330"/>
                      <a:pt x="41446" y="61238"/>
                    </a:cubicBezTo>
                    <a:lnTo>
                      <a:pt x="55126" y="11954"/>
                    </a:lnTo>
                    <a:cubicBezTo>
                      <a:pt x="57519" y="3985"/>
                      <a:pt x="58448" y="3187"/>
                      <a:pt x="66020" y="2123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feedback_update_outline_11"/>
              <p:cNvSpPr/>
              <p:nvPr/>
            </p:nvSpPr>
            <p:spPr>
              <a:xfrm>
                <a:off x="1098399" y="26344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feedback_update_outline_12"/>
              <p:cNvSpPr/>
              <p:nvPr/>
            </p:nvSpPr>
            <p:spPr>
              <a:xfrm>
                <a:off x="1197838" y="2644325"/>
                <a:ext cx="68012" cy="7437"/>
              </a:xfrm>
              <a:custGeom>
                <a:avLst/>
                <a:gdLst/>
                <a:ahLst/>
                <a:cxnLst/>
                <a:rect l="0" t="0" r="r" b="b"/>
                <a:pathLst>
                  <a:path w="68012" h="7438">
                    <a:moveTo>
                      <a:pt x="68012" y="7438"/>
                    </a:moveTo>
                    <a:lnTo>
                      <a:pt x="68012" y="0"/>
                    </a:lnTo>
                    <a:lnTo>
                      <a:pt x="0" y="0"/>
                    </a:lnTo>
                    <a:lnTo>
                      <a:pt x="0" y="7438"/>
                    </a:lnTo>
                    <a:lnTo>
                      <a:pt x="68012" y="7438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feedback_update_outline_13"/>
              <p:cNvSpPr/>
              <p:nvPr/>
            </p:nvSpPr>
            <p:spPr>
              <a:xfrm>
                <a:off x="1307740" y="2595441"/>
                <a:ext cx="79168" cy="86740"/>
              </a:xfrm>
              <a:custGeom>
                <a:avLst/>
                <a:gdLst/>
                <a:ahLst/>
                <a:cxnLst/>
                <a:rect l="0" t="0" r="r" b="b"/>
                <a:pathLst>
                  <a:path w="79169" h="86741">
                    <a:moveTo>
                      <a:pt x="72660" y="60174"/>
                    </a:moveTo>
                    <a:cubicBezTo>
                      <a:pt x="72660" y="50479"/>
                      <a:pt x="68544" y="45561"/>
                      <a:pt x="55924" y="40116"/>
                    </a:cubicBezTo>
                    <a:cubicBezTo>
                      <a:pt x="65357" y="37858"/>
                      <a:pt x="69207" y="36262"/>
                      <a:pt x="73458" y="32544"/>
                    </a:cubicBezTo>
                    <a:cubicBezTo>
                      <a:pt x="77176" y="29357"/>
                      <a:pt x="79169" y="24971"/>
                      <a:pt x="79169" y="19526"/>
                    </a:cubicBezTo>
                    <a:cubicBezTo>
                      <a:pt x="79169" y="6906"/>
                      <a:pt x="69739" y="0"/>
                      <a:pt x="52602" y="0"/>
                    </a:cubicBezTo>
                    <a:lnTo>
                      <a:pt x="18332" y="0"/>
                    </a:lnTo>
                    <a:lnTo>
                      <a:pt x="18332" y="2123"/>
                    </a:lnTo>
                    <a:cubicBezTo>
                      <a:pt x="26702" y="2790"/>
                      <a:pt x="28559" y="3719"/>
                      <a:pt x="28559" y="7572"/>
                    </a:cubicBezTo>
                    <a:cubicBezTo>
                      <a:pt x="28559" y="9565"/>
                      <a:pt x="28027" y="12752"/>
                      <a:pt x="27099" y="16074"/>
                    </a:cubicBezTo>
                    <a:lnTo>
                      <a:pt x="10759" y="74787"/>
                    </a:lnTo>
                    <a:cubicBezTo>
                      <a:pt x="8370" y="82490"/>
                      <a:pt x="7441" y="83288"/>
                      <a:pt x="0" y="84614"/>
                    </a:cubicBezTo>
                    <a:lnTo>
                      <a:pt x="0" y="86741"/>
                    </a:lnTo>
                    <a:lnTo>
                      <a:pt x="37461" y="86741"/>
                    </a:lnTo>
                    <a:cubicBezTo>
                      <a:pt x="58317" y="86741"/>
                      <a:pt x="72660" y="75982"/>
                      <a:pt x="72660" y="60174"/>
                    </a:cubicBezTo>
                    <a:close/>
                    <a:moveTo>
                      <a:pt x="58317" y="59642"/>
                    </a:moveTo>
                    <a:cubicBezTo>
                      <a:pt x="58317" y="73989"/>
                      <a:pt x="48486" y="82756"/>
                      <a:pt x="32278" y="82756"/>
                    </a:cubicBezTo>
                    <a:cubicBezTo>
                      <a:pt x="26702" y="82756"/>
                      <a:pt x="23777" y="80895"/>
                      <a:pt x="23777" y="77176"/>
                    </a:cubicBezTo>
                    <a:cubicBezTo>
                      <a:pt x="23777" y="75450"/>
                      <a:pt x="25372" y="69207"/>
                      <a:pt x="28428" y="58579"/>
                    </a:cubicBezTo>
                    <a:lnTo>
                      <a:pt x="32679" y="42771"/>
                    </a:lnTo>
                    <a:cubicBezTo>
                      <a:pt x="41049" y="42771"/>
                      <a:pt x="46760" y="43303"/>
                      <a:pt x="49415" y="44367"/>
                    </a:cubicBezTo>
                    <a:cubicBezTo>
                      <a:pt x="54995" y="46494"/>
                      <a:pt x="58317" y="52336"/>
                      <a:pt x="58317" y="59642"/>
                    </a:cubicBezTo>
                    <a:close/>
                    <a:moveTo>
                      <a:pt x="65754" y="18332"/>
                    </a:moveTo>
                    <a:cubicBezTo>
                      <a:pt x="65754" y="32012"/>
                      <a:pt x="56852" y="38521"/>
                      <a:pt x="38525" y="38521"/>
                    </a:cubicBezTo>
                    <a:lnTo>
                      <a:pt x="34008" y="38521"/>
                    </a:lnTo>
                    <a:lnTo>
                      <a:pt x="42640" y="7703"/>
                    </a:lnTo>
                    <a:cubicBezTo>
                      <a:pt x="43438" y="4782"/>
                      <a:pt x="45033" y="3985"/>
                      <a:pt x="50213" y="3985"/>
                    </a:cubicBezTo>
                    <a:cubicBezTo>
                      <a:pt x="60972" y="3985"/>
                      <a:pt x="65754" y="8501"/>
                      <a:pt x="65754" y="1833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feedback_update_outline_14"/>
              <p:cNvSpPr/>
              <p:nvPr/>
            </p:nvSpPr>
            <p:spPr>
              <a:xfrm>
                <a:off x="1398297" y="263447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feedback_update_outline_15"/>
              <p:cNvSpPr/>
              <p:nvPr/>
            </p:nvSpPr>
            <p:spPr>
              <a:xfrm>
                <a:off x="1463827" y="2586940"/>
                <a:ext cx="34004" cy="122074"/>
              </a:xfrm>
              <a:custGeom>
                <a:avLst/>
                <a:gdLst/>
                <a:ahLst/>
                <a:cxnLst/>
                <a:rect l="0" t="0" r="r" b="b"/>
                <a:pathLst>
                  <a:path w="34004" h="122075">
                    <a:moveTo>
                      <a:pt x="1195" y="0"/>
                    </a:moveTo>
                    <a:lnTo>
                      <a:pt x="0" y="2123"/>
                    </a:lnTo>
                    <a:cubicBezTo>
                      <a:pt x="17133" y="15938"/>
                      <a:pt x="22582" y="31214"/>
                      <a:pt x="22582" y="60706"/>
                    </a:cubicBezTo>
                    <a:cubicBezTo>
                      <a:pt x="22582" y="90063"/>
                      <a:pt x="17534" y="106136"/>
                      <a:pt x="0" y="119947"/>
                    </a:cubicBezTo>
                    <a:lnTo>
                      <a:pt x="1591" y="122075"/>
                    </a:lnTo>
                    <a:cubicBezTo>
                      <a:pt x="19923" y="110784"/>
                      <a:pt x="34004" y="85812"/>
                      <a:pt x="34004" y="61103"/>
                    </a:cubicBezTo>
                    <a:cubicBezTo>
                      <a:pt x="34004" y="34004"/>
                      <a:pt x="20455" y="12486"/>
                      <a:pt x="1195" y="0"/>
                    </a:cubicBez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feedback_update_outline_16"/>
              <p:cNvSpPr/>
              <p:nvPr/>
            </p:nvSpPr>
            <p:spPr>
              <a:xfrm>
                <a:off x="1515334" y="2588270"/>
                <a:ext cx="28027" cy="119550"/>
              </a:xfrm>
              <a:custGeom>
                <a:avLst/>
                <a:gdLst/>
                <a:ahLst/>
                <a:cxnLst/>
                <a:rect l="0" t="0" r="r" b="b"/>
                <a:pathLst>
                  <a:path w="28027" h="119551">
                    <a:moveTo>
                      <a:pt x="0" y="116229"/>
                    </a:moveTo>
                    <a:lnTo>
                      <a:pt x="0" y="119551"/>
                    </a:lnTo>
                    <a:lnTo>
                      <a:pt x="28027" y="119551"/>
                    </a:lnTo>
                    <a:lnTo>
                      <a:pt x="28027" y="0"/>
                    </a:lnTo>
                    <a:lnTo>
                      <a:pt x="0" y="0"/>
                    </a:lnTo>
                    <a:lnTo>
                      <a:pt x="0" y="3318"/>
                    </a:lnTo>
                    <a:lnTo>
                      <a:pt x="11422" y="3318"/>
                    </a:lnTo>
                    <a:cubicBezTo>
                      <a:pt x="15808" y="3318"/>
                      <a:pt x="17931" y="5576"/>
                      <a:pt x="17931" y="10227"/>
                    </a:cubicBezTo>
                    <a:lnTo>
                      <a:pt x="17931" y="110383"/>
                    </a:lnTo>
                    <a:cubicBezTo>
                      <a:pt x="17931" y="114502"/>
                      <a:pt x="16074" y="116229"/>
                      <a:pt x="11954" y="116229"/>
                    </a:cubicBezTo>
                    <a:lnTo>
                      <a:pt x="0" y="116229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feedback_update_outline_17"/>
              <p:cNvSpPr/>
              <p:nvPr/>
            </p:nvSpPr>
            <p:spPr>
              <a:xfrm>
                <a:off x="1569505" y="2648777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B86C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lambda"/>
            <p:cNvGrpSpPr/>
            <p:nvPr/>
          </p:nvGrpSpPr>
          <p:grpSpPr>
            <a:xfrm>
              <a:off x="2114460" y="2586037"/>
              <a:ext cx="129239" cy="111302"/>
              <a:chOff x="2114460" y="2586037"/>
              <a:chExt cx="129239" cy="111302"/>
            </a:xfrm>
          </p:grpSpPr>
          <p:sp>
            <p:nvSpPr>
              <p:cNvPr id="230" name="lambda_outline_0"/>
              <p:cNvSpPr/>
              <p:nvPr/>
            </p:nvSpPr>
            <p:spPr>
              <a:xfrm>
                <a:off x="2114460" y="2586037"/>
                <a:ext cx="67877" cy="88467"/>
              </a:xfrm>
              <a:custGeom>
                <a:avLst/>
                <a:gdLst/>
                <a:ahLst/>
                <a:cxnLst/>
                <a:rect l="0" t="0" r="r" b="b"/>
                <a:pathLst>
                  <a:path w="67878" h="88467">
                    <a:moveTo>
                      <a:pt x="67878" y="77311"/>
                    </a:moveTo>
                    <a:lnTo>
                      <a:pt x="67743" y="77045"/>
                    </a:lnTo>
                    <a:cubicBezTo>
                      <a:pt x="65885" y="77045"/>
                      <a:pt x="63627" y="81562"/>
                      <a:pt x="58047" y="81562"/>
                    </a:cubicBezTo>
                    <a:cubicBezTo>
                      <a:pt x="32941" y="81562"/>
                      <a:pt x="78637" y="0"/>
                      <a:pt x="39584" y="0"/>
                    </a:cubicBezTo>
                    <a:lnTo>
                      <a:pt x="38120" y="0"/>
                    </a:lnTo>
                    <a:cubicBezTo>
                      <a:pt x="35731" y="0"/>
                      <a:pt x="30151" y="1992"/>
                      <a:pt x="28424" y="3588"/>
                    </a:cubicBezTo>
                    <a:cubicBezTo>
                      <a:pt x="28293" y="3719"/>
                      <a:pt x="29353" y="4913"/>
                      <a:pt x="29488" y="4913"/>
                    </a:cubicBezTo>
                    <a:cubicBezTo>
                      <a:pt x="30151" y="4385"/>
                      <a:pt x="33076" y="3187"/>
                      <a:pt x="35731" y="3187"/>
                    </a:cubicBezTo>
                    <a:cubicBezTo>
                      <a:pt x="48617" y="3187"/>
                      <a:pt x="45160" y="24443"/>
                      <a:pt x="45160" y="27896"/>
                    </a:cubicBezTo>
                    <a:cubicBezTo>
                      <a:pt x="45295" y="28293"/>
                      <a:pt x="45160" y="28559"/>
                      <a:pt x="45029" y="29091"/>
                    </a:cubicBezTo>
                    <a:cubicBezTo>
                      <a:pt x="42374" y="41446"/>
                      <a:pt x="3187" y="76248"/>
                      <a:pt x="0" y="87007"/>
                    </a:cubicBezTo>
                    <a:lnTo>
                      <a:pt x="13283" y="87007"/>
                    </a:lnTo>
                    <a:cubicBezTo>
                      <a:pt x="13283" y="85677"/>
                      <a:pt x="13414" y="84352"/>
                      <a:pt x="13680" y="82887"/>
                    </a:cubicBezTo>
                    <a:cubicBezTo>
                      <a:pt x="17534" y="65885"/>
                      <a:pt x="43569" y="40116"/>
                      <a:pt x="43569" y="39985"/>
                    </a:cubicBezTo>
                    <a:lnTo>
                      <a:pt x="43700" y="39985"/>
                    </a:lnTo>
                    <a:cubicBezTo>
                      <a:pt x="42902" y="46891"/>
                      <a:pt x="30948" y="88467"/>
                      <a:pt x="52602" y="88467"/>
                    </a:cubicBezTo>
                    <a:cubicBezTo>
                      <a:pt x="58444" y="88467"/>
                      <a:pt x="67612" y="78903"/>
                      <a:pt x="67878" y="77311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lambda_outline_1"/>
              <p:cNvSpPr/>
              <p:nvPr/>
            </p:nvSpPr>
            <p:spPr>
              <a:xfrm>
                <a:off x="2193062" y="262532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26D6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2" name="priced_advantage"/>
            <p:cNvGrpSpPr/>
            <p:nvPr/>
          </p:nvGrpSpPr>
          <p:grpSpPr>
            <a:xfrm>
              <a:off x="2637803" y="2499194"/>
              <a:ext cx="986165" cy="272560"/>
              <a:chOff x="2637803" y="2499194"/>
              <a:chExt cx="986165" cy="272560"/>
            </a:xfrm>
          </p:grpSpPr>
          <p:sp>
            <p:nvSpPr>
              <p:cNvPr id="233" name="priced_advantage_outline_0"/>
              <p:cNvSpPr/>
              <p:nvPr/>
            </p:nvSpPr>
            <p:spPr>
              <a:xfrm>
                <a:off x="2655534" y="2561353"/>
                <a:ext cx="80498" cy="13815"/>
              </a:xfrm>
              <a:custGeom>
                <a:avLst/>
                <a:gdLst/>
                <a:ahLst/>
                <a:cxnLst/>
                <a:rect l="0" t="0" r="r" b="b"/>
                <a:pathLst>
                  <a:path w="80498" h="13815">
                    <a:moveTo>
                      <a:pt x="80498" y="0"/>
                    </a:moveTo>
                    <a:lnTo>
                      <a:pt x="76514" y="0"/>
                    </a:lnTo>
                    <a:cubicBezTo>
                      <a:pt x="75450" y="3322"/>
                      <a:pt x="71600" y="6243"/>
                      <a:pt x="58448" y="6243"/>
                    </a:cubicBezTo>
                    <a:cubicBezTo>
                      <a:pt x="45827" y="6243"/>
                      <a:pt x="41577" y="401"/>
                      <a:pt x="29357" y="401"/>
                    </a:cubicBezTo>
                    <a:cubicBezTo>
                      <a:pt x="9168" y="401"/>
                      <a:pt x="3453" y="6378"/>
                      <a:pt x="0" y="13815"/>
                    </a:cubicBezTo>
                    <a:lnTo>
                      <a:pt x="3985" y="13815"/>
                    </a:lnTo>
                    <a:cubicBezTo>
                      <a:pt x="5048" y="10493"/>
                      <a:pt x="9831" y="7703"/>
                      <a:pt x="22979" y="7703"/>
                    </a:cubicBezTo>
                    <a:cubicBezTo>
                      <a:pt x="35469" y="7703"/>
                      <a:pt x="39850" y="13549"/>
                      <a:pt x="52070" y="13549"/>
                    </a:cubicBezTo>
                    <a:cubicBezTo>
                      <a:pt x="72263" y="13549"/>
                      <a:pt x="77045" y="7438"/>
                      <a:pt x="80498" y="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priced_advantage_outline_1"/>
              <p:cNvSpPr/>
              <p:nvPr/>
            </p:nvSpPr>
            <p:spPr>
              <a:xfrm>
                <a:off x="2637803" y="2598809"/>
                <a:ext cx="81692" cy="88733"/>
              </a:xfrm>
              <a:custGeom>
                <a:avLst/>
                <a:gdLst/>
                <a:ahLst/>
                <a:cxnLst/>
                <a:rect l="0" t="0" r="r" b="b"/>
                <a:pathLst>
                  <a:path w="81693" h="88733">
                    <a:moveTo>
                      <a:pt x="81693" y="88733"/>
                    </a:moveTo>
                    <a:lnTo>
                      <a:pt x="81693" y="86606"/>
                    </a:lnTo>
                    <a:cubicBezTo>
                      <a:pt x="74120" y="85943"/>
                      <a:pt x="73192" y="84880"/>
                      <a:pt x="71596" y="75184"/>
                    </a:cubicBezTo>
                    <a:lnTo>
                      <a:pt x="59111" y="0"/>
                    </a:lnTo>
                    <a:lnTo>
                      <a:pt x="55658" y="0"/>
                    </a:lnTo>
                    <a:lnTo>
                      <a:pt x="17137" y="66417"/>
                    </a:lnTo>
                    <a:cubicBezTo>
                      <a:pt x="6644" y="84086"/>
                      <a:pt x="5314" y="85546"/>
                      <a:pt x="0" y="86606"/>
                    </a:cubicBezTo>
                    <a:lnTo>
                      <a:pt x="0" y="88733"/>
                    </a:lnTo>
                    <a:lnTo>
                      <a:pt x="24840" y="88733"/>
                    </a:lnTo>
                    <a:lnTo>
                      <a:pt x="24840" y="86606"/>
                    </a:lnTo>
                    <a:cubicBezTo>
                      <a:pt x="18066" y="85943"/>
                      <a:pt x="17002" y="85281"/>
                      <a:pt x="17002" y="81959"/>
                    </a:cubicBezTo>
                    <a:cubicBezTo>
                      <a:pt x="17002" y="79435"/>
                      <a:pt x="17403" y="78240"/>
                      <a:pt x="19661" y="73724"/>
                    </a:cubicBezTo>
                    <a:lnTo>
                      <a:pt x="27230" y="58714"/>
                    </a:lnTo>
                    <a:lnTo>
                      <a:pt x="56455" y="58714"/>
                    </a:lnTo>
                    <a:lnTo>
                      <a:pt x="59111" y="76113"/>
                    </a:lnTo>
                    <a:cubicBezTo>
                      <a:pt x="59246" y="77311"/>
                      <a:pt x="59376" y="78506"/>
                      <a:pt x="59376" y="79569"/>
                    </a:cubicBezTo>
                    <a:cubicBezTo>
                      <a:pt x="59376" y="84614"/>
                      <a:pt x="57519" y="85812"/>
                      <a:pt x="49018" y="86606"/>
                    </a:cubicBezTo>
                    <a:lnTo>
                      <a:pt x="49018" y="88733"/>
                    </a:lnTo>
                    <a:lnTo>
                      <a:pt x="81693" y="88733"/>
                    </a:lnTo>
                    <a:close/>
                    <a:moveTo>
                      <a:pt x="55789" y="53931"/>
                    </a:moveTo>
                    <a:lnTo>
                      <a:pt x="30020" y="53931"/>
                    </a:lnTo>
                    <a:lnTo>
                      <a:pt x="49947" y="19395"/>
                    </a:lnTo>
                    <a:lnTo>
                      <a:pt x="55789" y="5393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priced_advantage_outline_2"/>
              <p:cNvSpPr/>
              <p:nvPr/>
            </p:nvSpPr>
            <p:spPr>
              <a:xfrm>
                <a:off x="2772612" y="2636270"/>
                <a:ext cx="68012" cy="34401"/>
              </a:xfrm>
              <a:custGeom>
                <a:avLst/>
                <a:gdLst/>
                <a:ahLst/>
                <a:cxnLst/>
                <a:rect l="0" t="0" r="r" b="b"/>
                <a:pathLst>
                  <a:path w="68013" h="34401">
                    <a:moveTo>
                      <a:pt x="68013" y="7437"/>
                    </a:moveTo>
                    <a:lnTo>
                      <a:pt x="68013" y="0"/>
                    </a:lnTo>
                    <a:lnTo>
                      <a:pt x="0" y="0"/>
                    </a:lnTo>
                    <a:lnTo>
                      <a:pt x="0" y="7437"/>
                    </a:lnTo>
                    <a:lnTo>
                      <a:pt x="68013" y="7437"/>
                    </a:lnTo>
                    <a:close/>
                    <a:moveTo>
                      <a:pt x="68013" y="34401"/>
                    </a:moveTo>
                    <a:lnTo>
                      <a:pt x="68013" y="26964"/>
                    </a:lnTo>
                    <a:lnTo>
                      <a:pt x="0" y="26964"/>
                    </a:lnTo>
                    <a:lnTo>
                      <a:pt x="0" y="34401"/>
                    </a:lnTo>
                    <a:lnTo>
                      <a:pt x="68013" y="3440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priced_advantage_outline_3"/>
              <p:cNvSpPr/>
              <p:nvPr/>
            </p:nvSpPr>
            <p:spPr>
              <a:xfrm>
                <a:off x="2936386" y="2499194"/>
                <a:ext cx="32265" cy="17327"/>
              </a:xfrm>
              <a:custGeom>
                <a:avLst/>
                <a:gdLst/>
                <a:ahLst/>
                <a:cxnLst/>
                <a:rect l="0" t="0" r="r" b="b"/>
                <a:pathLst>
                  <a:path w="32266" h="17327">
                    <a:moveTo>
                      <a:pt x="32266" y="17327"/>
                    </a:moveTo>
                    <a:lnTo>
                      <a:pt x="19296" y="0"/>
                    </a:lnTo>
                    <a:lnTo>
                      <a:pt x="12863" y="0"/>
                    </a:lnTo>
                    <a:lnTo>
                      <a:pt x="0" y="17327"/>
                    </a:lnTo>
                    <a:lnTo>
                      <a:pt x="3524" y="17327"/>
                    </a:lnTo>
                    <a:lnTo>
                      <a:pt x="16081" y="6640"/>
                    </a:lnTo>
                    <a:lnTo>
                      <a:pt x="28742" y="17327"/>
                    </a:lnTo>
                    <a:lnTo>
                      <a:pt x="32266" y="17327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priced_advantage_outline_4"/>
              <p:cNvSpPr/>
              <p:nvPr/>
            </p:nvSpPr>
            <p:spPr>
              <a:xfrm>
                <a:off x="2904073" y="2523171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3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priced_advantage_outline_5"/>
              <p:cNvSpPr/>
              <p:nvPr/>
            </p:nvSpPr>
            <p:spPr>
              <a:xfrm>
                <a:off x="2985517" y="2562280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1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3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priced_advantage_outline_6"/>
              <p:cNvSpPr/>
              <p:nvPr/>
            </p:nvSpPr>
            <p:spPr>
              <a:xfrm>
                <a:off x="3053055" y="2562911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priced_advantage_outline_7"/>
              <p:cNvSpPr/>
              <p:nvPr/>
            </p:nvSpPr>
            <p:spPr>
              <a:xfrm>
                <a:off x="3121212" y="2519851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priced_advantage_outline_8"/>
              <p:cNvSpPr/>
              <p:nvPr/>
            </p:nvSpPr>
            <p:spPr>
              <a:xfrm>
                <a:off x="3206916" y="2555038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50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priced_advantage_outline_9"/>
              <p:cNvSpPr/>
              <p:nvPr/>
            </p:nvSpPr>
            <p:spPr>
              <a:xfrm>
                <a:off x="3287651" y="2524517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priced_advantage_outline_10"/>
              <p:cNvSpPr/>
              <p:nvPr/>
            </p:nvSpPr>
            <p:spPr>
              <a:xfrm>
                <a:off x="3353626" y="2555038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50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priced_advantage_outline_11"/>
              <p:cNvSpPr/>
              <p:nvPr/>
            </p:nvSpPr>
            <p:spPr>
              <a:xfrm>
                <a:off x="3450748" y="2499194"/>
                <a:ext cx="32265" cy="17327"/>
              </a:xfrm>
              <a:custGeom>
                <a:avLst/>
                <a:gdLst/>
                <a:ahLst/>
                <a:cxnLst/>
                <a:rect l="0" t="0" r="r" b="b"/>
                <a:pathLst>
                  <a:path w="32266" h="17327">
                    <a:moveTo>
                      <a:pt x="32266" y="17327"/>
                    </a:moveTo>
                    <a:lnTo>
                      <a:pt x="19296" y="0"/>
                    </a:lnTo>
                    <a:lnTo>
                      <a:pt x="12863" y="0"/>
                    </a:lnTo>
                    <a:lnTo>
                      <a:pt x="0" y="17327"/>
                    </a:lnTo>
                    <a:lnTo>
                      <a:pt x="3524" y="17327"/>
                    </a:lnTo>
                    <a:lnTo>
                      <a:pt x="16081" y="6640"/>
                    </a:lnTo>
                    <a:lnTo>
                      <a:pt x="28742" y="17327"/>
                    </a:lnTo>
                    <a:lnTo>
                      <a:pt x="32266" y="17327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priced_advantage_outline_12"/>
              <p:cNvSpPr/>
              <p:nvPr/>
            </p:nvSpPr>
            <p:spPr>
              <a:xfrm>
                <a:off x="3418423" y="2523171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3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priced_advantage_outline_13"/>
              <p:cNvSpPr/>
              <p:nvPr/>
            </p:nvSpPr>
            <p:spPr>
              <a:xfrm>
                <a:off x="3500683" y="2562280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priced_advantage_outline_14"/>
              <p:cNvSpPr/>
              <p:nvPr/>
            </p:nvSpPr>
            <p:spPr>
              <a:xfrm>
                <a:off x="3556001" y="257059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priced_advantage_outline_15"/>
              <p:cNvSpPr/>
              <p:nvPr/>
            </p:nvSpPr>
            <p:spPr>
              <a:xfrm>
                <a:off x="2900962" y="2653428"/>
                <a:ext cx="72300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07" h="254">
                    <a:moveTo>
                      <a:pt x="0" y="0"/>
                    </a:moveTo>
                    <a:lnTo>
                      <a:pt x="723007" y="0"/>
                    </a:lnTo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priced_advantage_outline_16"/>
              <p:cNvSpPr/>
              <p:nvPr/>
            </p:nvSpPr>
            <p:spPr>
              <a:xfrm>
                <a:off x="3065784" y="2667042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6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priced_advantage_outline_17"/>
              <p:cNvSpPr/>
              <p:nvPr/>
            </p:nvSpPr>
            <p:spPr>
              <a:xfrm>
                <a:off x="3112580" y="2683854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priced_advantage_outline_18"/>
              <p:cNvSpPr/>
              <p:nvPr/>
            </p:nvSpPr>
            <p:spPr>
              <a:xfrm>
                <a:off x="3176596" y="2664568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6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priced_advantage_outline_19"/>
              <p:cNvSpPr/>
              <p:nvPr/>
            </p:nvSpPr>
            <p:spPr>
              <a:xfrm>
                <a:off x="3262288" y="269974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priced_advantage_outline_20"/>
              <p:cNvSpPr/>
              <p:nvPr/>
            </p:nvSpPr>
            <p:spPr>
              <a:xfrm>
                <a:off x="3343023" y="2669221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50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5" y="59976"/>
                      <a:pt x="43375" y="54372"/>
                    </a:cubicBezTo>
                    <a:cubicBezTo>
                      <a:pt x="43375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priced_advantage_outline_21"/>
              <p:cNvSpPr/>
              <p:nvPr/>
            </p:nvSpPr>
            <p:spPr>
              <a:xfrm>
                <a:off x="3409012" y="269974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5" name="next_pi"/>
            <p:cNvGrpSpPr/>
            <p:nvPr/>
          </p:nvGrpSpPr>
          <p:grpSpPr>
            <a:xfrm>
              <a:off x="4663976" y="2605671"/>
              <a:ext cx="221282" cy="83092"/>
              <a:chOff x="4663976" y="2605671"/>
              <a:chExt cx="221282" cy="83092"/>
            </a:xfrm>
          </p:grpSpPr>
          <p:sp>
            <p:nvSpPr>
              <p:cNvPr id="256" name="next_pi_outline_0"/>
              <p:cNvSpPr/>
              <p:nvPr/>
            </p:nvSpPr>
            <p:spPr>
              <a:xfrm>
                <a:off x="4663976" y="2605671"/>
                <a:ext cx="68810" cy="60039"/>
              </a:xfrm>
              <a:custGeom>
                <a:avLst/>
                <a:gdLst/>
                <a:ahLst/>
                <a:cxnLst/>
                <a:rect l="0" t="0" r="r" b="b"/>
                <a:pathLst>
                  <a:path w="68810" h="60039">
                    <a:moveTo>
                      <a:pt x="68810" y="0"/>
                    </a:moveTo>
                    <a:lnTo>
                      <a:pt x="22848" y="0"/>
                    </a:lnTo>
                    <a:cubicBezTo>
                      <a:pt x="10628" y="0"/>
                      <a:pt x="3322" y="14609"/>
                      <a:pt x="2258" y="17133"/>
                    </a:cubicBezTo>
                    <a:lnTo>
                      <a:pt x="3723" y="17133"/>
                    </a:lnTo>
                    <a:cubicBezTo>
                      <a:pt x="4385" y="16204"/>
                      <a:pt x="9299" y="9696"/>
                      <a:pt x="16208" y="9696"/>
                    </a:cubicBezTo>
                    <a:lnTo>
                      <a:pt x="23114" y="9696"/>
                    </a:lnTo>
                    <a:lnTo>
                      <a:pt x="13815" y="37723"/>
                    </a:lnTo>
                    <a:cubicBezTo>
                      <a:pt x="10894" y="46490"/>
                      <a:pt x="0" y="46891"/>
                      <a:pt x="0" y="55924"/>
                    </a:cubicBezTo>
                    <a:lnTo>
                      <a:pt x="0" y="56586"/>
                    </a:lnTo>
                    <a:cubicBezTo>
                      <a:pt x="0" y="58845"/>
                      <a:pt x="1730" y="60039"/>
                      <a:pt x="4917" y="60039"/>
                    </a:cubicBezTo>
                    <a:cubicBezTo>
                      <a:pt x="9966" y="60039"/>
                      <a:pt x="14748" y="56852"/>
                      <a:pt x="21257" y="37989"/>
                    </a:cubicBezTo>
                    <a:lnTo>
                      <a:pt x="30952" y="9696"/>
                    </a:lnTo>
                    <a:lnTo>
                      <a:pt x="44367" y="9696"/>
                    </a:lnTo>
                    <a:lnTo>
                      <a:pt x="37858" y="38255"/>
                    </a:lnTo>
                    <a:cubicBezTo>
                      <a:pt x="36929" y="42109"/>
                      <a:pt x="36397" y="45426"/>
                      <a:pt x="36397" y="48085"/>
                    </a:cubicBezTo>
                    <a:lnTo>
                      <a:pt x="36397" y="49280"/>
                    </a:lnTo>
                    <a:cubicBezTo>
                      <a:pt x="36397" y="54991"/>
                      <a:pt x="40382" y="60039"/>
                      <a:pt x="46891" y="60039"/>
                    </a:cubicBezTo>
                    <a:cubicBezTo>
                      <a:pt x="49947" y="60039"/>
                      <a:pt x="53534" y="59111"/>
                      <a:pt x="53534" y="54725"/>
                    </a:cubicBezTo>
                    <a:lnTo>
                      <a:pt x="53534" y="54193"/>
                    </a:lnTo>
                    <a:cubicBezTo>
                      <a:pt x="53534" y="46359"/>
                      <a:pt x="45565" y="47423"/>
                      <a:pt x="45565" y="39981"/>
                    </a:cubicBezTo>
                    <a:cubicBezTo>
                      <a:pt x="45565" y="38918"/>
                      <a:pt x="45696" y="37723"/>
                      <a:pt x="46097" y="36262"/>
                    </a:cubicBezTo>
                    <a:lnTo>
                      <a:pt x="52606" y="9696"/>
                    </a:lnTo>
                    <a:lnTo>
                      <a:pt x="66552" y="9696"/>
                    </a:lnTo>
                    <a:lnTo>
                      <a:pt x="68810" y="0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next_pi_outline_1"/>
              <p:cNvSpPr/>
              <p:nvPr/>
            </p:nvSpPr>
            <p:spPr>
              <a:xfrm>
                <a:off x="4740721" y="263076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8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6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8" y="12244"/>
                    </a:lnTo>
                    <a:lnTo>
                      <a:pt x="20233" y="12244"/>
                    </a:lnTo>
                    <a:lnTo>
                      <a:pt x="22932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4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next_pi_outline_2"/>
              <p:cNvSpPr/>
              <p:nvPr/>
            </p:nvSpPr>
            <p:spPr>
              <a:xfrm>
                <a:off x="4784821" y="2634082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next_pi_outline_3"/>
              <p:cNvSpPr/>
              <p:nvPr/>
            </p:nvSpPr>
            <p:spPr>
              <a:xfrm>
                <a:off x="4855894" y="2617271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636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18" name="loop_start_1" descr="Editable line; source id loop_start_1"/>
          <p:cNvCxnSpPr/>
          <p:nvPr/>
        </p:nvCxnSpPr>
        <p:spPr>
          <a:xfrm flipH="1">
            <a:off x="2933700" y="2959099"/>
            <a:ext cx="1904999" cy="0"/>
          </a:xfrm>
          <a:prstGeom prst="line">
            <a:avLst/>
          </a:prstGeom>
          <a:ln w="8890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loop_end_0" descr="Editable line; source id loop_end_0"/>
          <p:cNvCxnSpPr/>
          <p:nvPr/>
        </p:nvCxnSpPr>
        <p:spPr>
          <a:xfrm flipH="1">
            <a:off x="12700" y="2959099"/>
            <a:ext cx="2032000" cy="0"/>
          </a:xfrm>
          <a:prstGeom prst="line">
            <a:avLst/>
          </a:prstGeom>
          <a:ln w="8890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loop_end_1" descr="Editable line; source id loop_end_1"/>
          <p:cNvCxnSpPr/>
          <p:nvPr/>
        </p:nvCxnSpPr>
        <p:spPr>
          <a:xfrm flipV="1">
            <a:off x="12700" y="800099"/>
            <a:ext cx="0" cy="2159000"/>
          </a:xfrm>
          <a:prstGeom prst="line">
            <a:avLst/>
          </a:prstGeom>
          <a:ln w="8890">
            <a:solidFill>
              <a:srgbClr val="6471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loop_end_2" descr="Editable line; source id loop_end_2"/>
          <p:cNvSpPr/>
          <p:nvPr/>
        </p:nvSpPr>
        <p:spPr>
          <a:xfrm>
            <a:off x="12700" y="784225"/>
            <a:ext cx="25400" cy="31750"/>
          </a:xfrm>
          <a:custGeom>
            <a:avLst/>
            <a:gdLst/>
            <a:ahLst/>
            <a:cxnLst/>
            <a:rect l="l" t="t" r="r" b="b"/>
            <a:pathLst>
              <a:path w="10000" h="12500">
                <a:moveTo>
                  <a:pt x="0" y="4500"/>
                </a:moveTo>
                <a:lnTo>
                  <a:pt x="3500" y="4500"/>
                </a:lnTo>
                <a:lnTo>
                  <a:pt x="3500" y="0"/>
                </a:lnTo>
                <a:lnTo>
                  <a:pt x="10000" y="6250"/>
                </a:lnTo>
                <a:lnTo>
                  <a:pt x="3500" y="12500"/>
                </a:lnTo>
                <a:lnTo>
                  <a:pt x="3500" y="8000"/>
                </a:lnTo>
                <a:lnTo>
                  <a:pt x="0" y="800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loop_label" descr="Editable text; source id loop_label"/>
          <p:cNvSpPr txBox="1"/>
          <p:nvPr/>
        </p:nvSpPr>
        <p:spPr>
          <a:xfrm>
            <a:off x="2082800" y="2870199"/>
            <a:ext cx="812800" cy="126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31"/>
              </a:lnSpc>
              <a:spcBef>
                <a:spcPts val="0"/>
              </a:spcBef>
              <a:spcAft>
                <a:spcPts val="0"/>
              </a:spcAft>
              <a:def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10" b="0" i="0" lang="zh-CN" dirty="0">
                <a:solidFill>
                  <a:srgbClr val="64717C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  <p:grpSp>
        <p:nvGrpSpPr>
          <p:cNvPr id="196" name="filter_chain"/>
          <p:cNvGrpSpPr/>
          <p:nvPr/>
        </p:nvGrpSpPr>
        <p:grpSpPr>
          <a:xfrm>
            <a:off x="2159501" y="1951330"/>
            <a:ext cx="1525058" cy="161701"/>
            <a:chOff x="2159501" y="1951330"/>
            <a:chExt cx="1525058" cy="161701"/>
          </a:xfrm>
        </p:grpSpPr>
        <p:sp>
          <p:nvSpPr>
            <p:cNvPr id="197" name="filter_chain_outline_0"/>
            <p:cNvSpPr/>
            <p:nvPr/>
          </p:nvSpPr>
          <p:spPr>
            <a:xfrm>
              <a:off x="2182990" y="1951330"/>
              <a:ext cx="41310" cy="7171"/>
            </a:xfrm>
            <a:custGeom>
              <a:avLst/>
              <a:gdLst/>
              <a:ahLst/>
              <a:cxnLst/>
              <a:rect l="0" t="0" r="r" b="b"/>
              <a:pathLst>
                <a:path w="41311" h="7172">
                  <a:moveTo>
                    <a:pt x="41311" y="7172"/>
                  </a:moveTo>
                  <a:lnTo>
                    <a:pt x="41311" y="0"/>
                  </a:lnTo>
                  <a:lnTo>
                    <a:pt x="0" y="0"/>
                  </a:lnTo>
                  <a:lnTo>
                    <a:pt x="0" y="7172"/>
                  </a:lnTo>
                  <a:lnTo>
                    <a:pt x="41311" y="717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ilter_chain_outline_1"/>
            <p:cNvSpPr/>
            <p:nvPr/>
          </p:nvSpPr>
          <p:spPr>
            <a:xfrm>
              <a:off x="2159501" y="1973320"/>
              <a:ext cx="67877" cy="88467"/>
            </a:xfrm>
            <a:custGeom>
              <a:avLst/>
              <a:gdLst/>
              <a:ahLst/>
              <a:cxnLst/>
              <a:rect l="0" t="0" r="r" b="b"/>
              <a:pathLst>
                <a:path w="67878" h="88467">
                  <a:moveTo>
                    <a:pt x="67878" y="77311"/>
                  </a:moveTo>
                  <a:lnTo>
                    <a:pt x="67743" y="77045"/>
                  </a:lnTo>
                  <a:cubicBezTo>
                    <a:pt x="65885" y="77045"/>
                    <a:pt x="63627" y="81562"/>
                    <a:pt x="58047" y="81562"/>
                  </a:cubicBezTo>
                  <a:cubicBezTo>
                    <a:pt x="32941" y="81562"/>
                    <a:pt x="78637" y="0"/>
                    <a:pt x="39584" y="0"/>
                  </a:cubicBezTo>
                  <a:lnTo>
                    <a:pt x="38120" y="0"/>
                  </a:lnTo>
                  <a:cubicBezTo>
                    <a:pt x="35731" y="0"/>
                    <a:pt x="30151" y="1992"/>
                    <a:pt x="28424" y="3588"/>
                  </a:cubicBezTo>
                  <a:cubicBezTo>
                    <a:pt x="28293" y="3719"/>
                    <a:pt x="29353" y="4913"/>
                    <a:pt x="29488" y="4913"/>
                  </a:cubicBezTo>
                  <a:cubicBezTo>
                    <a:pt x="30151" y="4385"/>
                    <a:pt x="33076" y="3187"/>
                    <a:pt x="35731" y="3187"/>
                  </a:cubicBezTo>
                  <a:cubicBezTo>
                    <a:pt x="48617" y="3187"/>
                    <a:pt x="45160" y="24444"/>
                    <a:pt x="45160" y="27896"/>
                  </a:cubicBezTo>
                  <a:cubicBezTo>
                    <a:pt x="45295" y="28293"/>
                    <a:pt x="45160" y="28559"/>
                    <a:pt x="45029" y="29091"/>
                  </a:cubicBezTo>
                  <a:cubicBezTo>
                    <a:pt x="42374" y="41446"/>
                    <a:pt x="3187" y="76248"/>
                    <a:pt x="0" y="87007"/>
                  </a:cubicBezTo>
                  <a:lnTo>
                    <a:pt x="13283" y="87007"/>
                  </a:lnTo>
                  <a:cubicBezTo>
                    <a:pt x="13283" y="85677"/>
                    <a:pt x="13414" y="84352"/>
                    <a:pt x="13680" y="82887"/>
                  </a:cubicBezTo>
                  <a:cubicBezTo>
                    <a:pt x="17534" y="65885"/>
                    <a:pt x="43569" y="40116"/>
                    <a:pt x="43569" y="39985"/>
                  </a:cubicBezTo>
                  <a:lnTo>
                    <a:pt x="43700" y="39985"/>
                  </a:lnTo>
                  <a:cubicBezTo>
                    <a:pt x="42902" y="46891"/>
                    <a:pt x="30948" y="88467"/>
                    <a:pt x="52602" y="88467"/>
                  </a:cubicBezTo>
                  <a:cubicBezTo>
                    <a:pt x="58444" y="88467"/>
                    <a:pt x="67612" y="78903"/>
                    <a:pt x="67878" y="77311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ilter_chain_outline_2"/>
            <p:cNvSpPr/>
            <p:nvPr/>
          </p:nvSpPr>
          <p:spPr>
            <a:xfrm>
              <a:off x="2237340" y="196541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6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2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1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6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79"/>
                    <a:pt x="18883" y="21479"/>
                  </a:cubicBezTo>
                  <a:cubicBezTo>
                    <a:pt x="22102" y="23348"/>
                    <a:pt x="30297" y="32063"/>
                    <a:pt x="32373" y="32063"/>
                  </a:cubicBezTo>
                  <a:cubicBezTo>
                    <a:pt x="34242" y="32063"/>
                    <a:pt x="35901" y="30297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filter_chain_outline_3"/>
            <p:cNvSpPr/>
            <p:nvPr/>
          </p:nvSpPr>
          <p:spPr>
            <a:xfrm>
              <a:off x="2238103" y="204101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filter_chain_outline_4"/>
            <p:cNvSpPr/>
            <p:nvPr/>
          </p:nvSpPr>
          <p:spPr>
            <a:xfrm>
              <a:off x="2378131" y="1998958"/>
              <a:ext cx="119551" cy="54463"/>
            </a:xfrm>
            <a:custGeom>
              <a:avLst/>
              <a:gdLst/>
              <a:ahLst/>
              <a:cxnLst/>
              <a:rect l="0" t="0" r="r" b="b"/>
              <a:pathLst>
                <a:path w="119551" h="54463">
                  <a:moveTo>
                    <a:pt x="119551" y="30948"/>
                  </a:moveTo>
                  <a:lnTo>
                    <a:pt x="119551" y="23511"/>
                  </a:lnTo>
                  <a:lnTo>
                    <a:pt x="14347" y="23511"/>
                  </a:lnTo>
                  <a:lnTo>
                    <a:pt x="30155" y="4382"/>
                  </a:lnTo>
                  <a:lnTo>
                    <a:pt x="26035" y="0"/>
                  </a:lnTo>
                  <a:lnTo>
                    <a:pt x="0" y="27365"/>
                  </a:lnTo>
                  <a:lnTo>
                    <a:pt x="26035" y="54463"/>
                  </a:lnTo>
                  <a:lnTo>
                    <a:pt x="30155" y="50078"/>
                  </a:lnTo>
                  <a:lnTo>
                    <a:pt x="14347" y="30948"/>
                  </a:lnTo>
                  <a:lnTo>
                    <a:pt x="119551" y="3094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filter_chain_outline_5"/>
            <p:cNvSpPr/>
            <p:nvPr/>
          </p:nvSpPr>
          <p:spPr>
            <a:xfrm>
              <a:off x="2579377" y="1969601"/>
              <a:ext cx="191960" cy="119550"/>
            </a:xfrm>
            <a:custGeom>
              <a:avLst/>
              <a:gdLst/>
              <a:ahLst/>
              <a:cxnLst/>
              <a:rect l="0" t="0" r="r" b="b"/>
              <a:pathLst>
                <a:path w="191961" h="119551">
                  <a:moveTo>
                    <a:pt x="51407" y="71199"/>
                  </a:moveTo>
                  <a:lnTo>
                    <a:pt x="49546" y="70005"/>
                  </a:lnTo>
                  <a:cubicBezTo>
                    <a:pt x="43172" y="79304"/>
                    <a:pt x="38390" y="82490"/>
                    <a:pt x="30817" y="82490"/>
                  </a:cubicBezTo>
                  <a:cubicBezTo>
                    <a:pt x="18598" y="82490"/>
                    <a:pt x="10228" y="71862"/>
                    <a:pt x="10228" y="56586"/>
                  </a:cubicBezTo>
                  <a:cubicBezTo>
                    <a:pt x="10228" y="42771"/>
                    <a:pt x="17534" y="33472"/>
                    <a:pt x="28293" y="33472"/>
                  </a:cubicBezTo>
                  <a:cubicBezTo>
                    <a:pt x="33076" y="33472"/>
                    <a:pt x="34802" y="34937"/>
                    <a:pt x="36132" y="39850"/>
                  </a:cubicBezTo>
                  <a:lnTo>
                    <a:pt x="36925" y="42771"/>
                  </a:lnTo>
                  <a:cubicBezTo>
                    <a:pt x="37989" y="46625"/>
                    <a:pt x="40382" y="48883"/>
                    <a:pt x="43303" y="48883"/>
                  </a:cubicBezTo>
                  <a:cubicBezTo>
                    <a:pt x="46756" y="48883"/>
                    <a:pt x="49546" y="46359"/>
                    <a:pt x="49546" y="43303"/>
                  </a:cubicBezTo>
                  <a:cubicBezTo>
                    <a:pt x="49546" y="35866"/>
                    <a:pt x="40247" y="29623"/>
                    <a:pt x="29091" y="29623"/>
                  </a:cubicBezTo>
                  <a:cubicBezTo>
                    <a:pt x="22848" y="29623"/>
                    <a:pt x="16470" y="32012"/>
                    <a:pt x="11156" y="36397"/>
                  </a:cubicBezTo>
                  <a:cubicBezTo>
                    <a:pt x="3985" y="42374"/>
                    <a:pt x="0" y="51538"/>
                    <a:pt x="0" y="62563"/>
                  </a:cubicBezTo>
                  <a:cubicBezTo>
                    <a:pt x="0" y="79700"/>
                    <a:pt x="10493" y="92055"/>
                    <a:pt x="25237" y="92055"/>
                  </a:cubicBezTo>
                  <a:cubicBezTo>
                    <a:pt x="30948" y="92055"/>
                    <a:pt x="35997" y="90194"/>
                    <a:pt x="40513" y="86475"/>
                  </a:cubicBezTo>
                  <a:cubicBezTo>
                    <a:pt x="44498" y="83288"/>
                    <a:pt x="47157" y="79434"/>
                    <a:pt x="51407" y="71199"/>
                  </a:cubicBezTo>
                  <a:close/>
                  <a:moveTo>
                    <a:pt x="89803" y="90726"/>
                  </a:moveTo>
                  <a:lnTo>
                    <a:pt x="89803" y="88733"/>
                  </a:lnTo>
                  <a:cubicBezTo>
                    <a:pt x="81302" y="88201"/>
                    <a:pt x="79841" y="86872"/>
                    <a:pt x="79841" y="79569"/>
                  </a:cubicBezTo>
                  <a:lnTo>
                    <a:pt x="79841" y="266"/>
                  </a:lnTo>
                  <a:lnTo>
                    <a:pt x="79310" y="0"/>
                  </a:lnTo>
                  <a:cubicBezTo>
                    <a:pt x="72400" y="2258"/>
                    <a:pt x="67352" y="3588"/>
                    <a:pt x="58188" y="5846"/>
                  </a:cubicBezTo>
                  <a:lnTo>
                    <a:pt x="58188" y="7969"/>
                  </a:lnTo>
                  <a:lnTo>
                    <a:pt x="58986" y="7969"/>
                  </a:lnTo>
                  <a:cubicBezTo>
                    <a:pt x="60446" y="7838"/>
                    <a:pt x="62041" y="7703"/>
                    <a:pt x="63101" y="7703"/>
                  </a:cubicBezTo>
                  <a:cubicBezTo>
                    <a:pt x="67352" y="7703"/>
                    <a:pt x="68681" y="9565"/>
                    <a:pt x="68681" y="15807"/>
                  </a:cubicBezTo>
                  <a:lnTo>
                    <a:pt x="68681" y="79169"/>
                  </a:lnTo>
                  <a:cubicBezTo>
                    <a:pt x="68681" y="86340"/>
                    <a:pt x="66820" y="88070"/>
                    <a:pt x="58454" y="88733"/>
                  </a:cubicBezTo>
                  <a:lnTo>
                    <a:pt x="58454" y="90726"/>
                  </a:lnTo>
                  <a:lnTo>
                    <a:pt x="89803" y="90726"/>
                  </a:lnTo>
                  <a:close/>
                  <a:moveTo>
                    <a:pt x="126204" y="90726"/>
                  </a:moveTo>
                  <a:lnTo>
                    <a:pt x="126204" y="88733"/>
                  </a:lnTo>
                  <a:cubicBezTo>
                    <a:pt x="117436" y="88070"/>
                    <a:pt x="116373" y="86741"/>
                    <a:pt x="116373" y="77176"/>
                  </a:cubicBezTo>
                  <a:lnTo>
                    <a:pt x="116373" y="30020"/>
                  </a:lnTo>
                  <a:lnTo>
                    <a:pt x="115841" y="29623"/>
                  </a:lnTo>
                  <a:lnTo>
                    <a:pt x="95251" y="36929"/>
                  </a:lnTo>
                  <a:lnTo>
                    <a:pt x="95251" y="38921"/>
                  </a:lnTo>
                  <a:lnTo>
                    <a:pt x="96315" y="38787"/>
                  </a:lnTo>
                  <a:cubicBezTo>
                    <a:pt x="97910" y="38521"/>
                    <a:pt x="99637" y="38390"/>
                    <a:pt x="100831" y="38390"/>
                  </a:cubicBezTo>
                  <a:cubicBezTo>
                    <a:pt x="104018" y="38390"/>
                    <a:pt x="105217" y="40513"/>
                    <a:pt x="105217" y="46359"/>
                  </a:cubicBezTo>
                  <a:lnTo>
                    <a:pt x="105217" y="77176"/>
                  </a:lnTo>
                  <a:cubicBezTo>
                    <a:pt x="105217" y="86741"/>
                    <a:pt x="103887" y="88201"/>
                    <a:pt x="94723" y="88733"/>
                  </a:cubicBezTo>
                  <a:lnTo>
                    <a:pt x="94723" y="90726"/>
                  </a:lnTo>
                  <a:lnTo>
                    <a:pt x="126204" y="90726"/>
                  </a:lnTo>
                  <a:close/>
                  <a:moveTo>
                    <a:pt x="117567" y="6775"/>
                  </a:moveTo>
                  <a:cubicBezTo>
                    <a:pt x="117567" y="3056"/>
                    <a:pt x="114646" y="0"/>
                    <a:pt x="110793" y="0"/>
                  </a:cubicBezTo>
                  <a:cubicBezTo>
                    <a:pt x="107074" y="0"/>
                    <a:pt x="104018" y="3056"/>
                    <a:pt x="104018" y="6775"/>
                  </a:cubicBezTo>
                  <a:cubicBezTo>
                    <a:pt x="104018" y="10624"/>
                    <a:pt x="107074" y="13549"/>
                    <a:pt x="110793" y="13549"/>
                  </a:cubicBezTo>
                  <a:cubicBezTo>
                    <a:pt x="114646" y="13549"/>
                    <a:pt x="117567" y="10624"/>
                    <a:pt x="117567" y="6775"/>
                  </a:cubicBezTo>
                  <a:close/>
                  <a:moveTo>
                    <a:pt x="191961" y="57916"/>
                  </a:moveTo>
                  <a:cubicBezTo>
                    <a:pt x="191961" y="41446"/>
                    <a:pt x="182662" y="29623"/>
                    <a:pt x="169775" y="29623"/>
                  </a:cubicBezTo>
                  <a:cubicBezTo>
                    <a:pt x="162338" y="29623"/>
                    <a:pt x="156492" y="32941"/>
                    <a:pt x="150650" y="40116"/>
                  </a:cubicBezTo>
                  <a:lnTo>
                    <a:pt x="150650" y="29889"/>
                  </a:lnTo>
                  <a:lnTo>
                    <a:pt x="149853" y="29623"/>
                  </a:lnTo>
                  <a:cubicBezTo>
                    <a:pt x="142681" y="32413"/>
                    <a:pt x="138029" y="34139"/>
                    <a:pt x="130723" y="36397"/>
                  </a:cubicBezTo>
                  <a:lnTo>
                    <a:pt x="130723" y="38521"/>
                  </a:lnTo>
                  <a:cubicBezTo>
                    <a:pt x="131918" y="38390"/>
                    <a:pt x="132850" y="38390"/>
                    <a:pt x="134045" y="38390"/>
                  </a:cubicBezTo>
                  <a:cubicBezTo>
                    <a:pt x="138561" y="38390"/>
                    <a:pt x="139489" y="39715"/>
                    <a:pt x="139489" y="45962"/>
                  </a:cubicBezTo>
                  <a:lnTo>
                    <a:pt x="139489" y="108129"/>
                  </a:lnTo>
                  <a:cubicBezTo>
                    <a:pt x="139489" y="115034"/>
                    <a:pt x="138029" y="116495"/>
                    <a:pt x="130190" y="117292"/>
                  </a:cubicBezTo>
                  <a:lnTo>
                    <a:pt x="130190" y="119551"/>
                  </a:lnTo>
                  <a:lnTo>
                    <a:pt x="162338" y="119551"/>
                  </a:lnTo>
                  <a:lnTo>
                    <a:pt x="162338" y="117161"/>
                  </a:lnTo>
                  <a:cubicBezTo>
                    <a:pt x="152376" y="117026"/>
                    <a:pt x="150650" y="115566"/>
                    <a:pt x="150650" y="107196"/>
                  </a:cubicBezTo>
                  <a:lnTo>
                    <a:pt x="150650" y="86340"/>
                  </a:lnTo>
                  <a:cubicBezTo>
                    <a:pt x="155297" y="90726"/>
                    <a:pt x="158489" y="92055"/>
                    <a:pt x="164064" y="92055"/>
                  </a:cubicBezTo>
                  <a:cubicBezTo>
                    <a:pt x="179741" y="92055"/>
                    <a:pt x="191961" y="77176"/>
                    <a:pt x="191961" y="57916"/>
                  </a:cubicBezTo>
                  <a:close/>
                  <a:moveTo>
                    <a:pt x="180538" y="63095"/>
                  </a:moveTo>
                  <a:cubicBezTo>
                    <a:pt x="180538" y="77839"/>
                    <a:pt x="174030" y="87805"/>
                    <a:pt x="164465" y="87805"/>
                  </a:cubicBezTo>
                  <a:cubicBezTo>
                    <a:pt x="158222" y="87805"/>
                    <a:pt x="150650" y="83022"/>
                    <a:pt x="150650" y="79038"/>
                  </a:cubicBezTo>
                  <a:lnTo>
                    <a:pt x="150650" y="46359"/>
                  </a:lnTo>
                  <a:cubicBezTo>
                    <a:pt x="150650" y="42374"/>
                    <a:pt x="158087" y="37592"/>
                    <a:pt x="164198" y="37592"/>
                  </a:cubicBezTo>
                  <a:cubicBezTo>
                    <a:pt x="174030" y="37592"/>
                    <a:pt x="180538" y="47689"/>
                    <a:pt x="180538" y="63095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ilter_chain_outline_6"/>
            <p:cNvSpPr/>
            <p:nvPr/>
          </p:nvSpPr>
          <p:spPr>
            <a:xfrm>
              <a:off x="2780396" y="2048591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7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ilter_chain_outline_7"/>
            <p:cNvSpPr/>
            <p:nvPr/>
          </p:nvSpPr>
          <p:spPr>
            <a:xfrm>
              <a:off x="2877673" y="1992049"/>
              <a:ext cx="68012" cy="68278"/>
            </a:xfrm>
            <a:custGeom>
              <a:avLst/>
              <a:gdLst/>
              <a:ahLst/>
              <a:cxnLst/>
              <a:rect l="0" t="0" r="r" b="b"/>
              <a:pathLst>
                <a:path w="68012" h="68278">
                  <a:moveTo>
                    <a:pt x="29623" y="29758"/>
                  </a:moveTo>
                  <a:lnTo>
                    <a:pt x="0" y="29758"/>
                  </a:lnTo>
                  <a:lnTo>
                    <a:pt x="0" y="38525"/>
                  </a:lnTo>
                  <a:lnTo>
                    <a:pt x="29623" y="38525"/>
                  </a:lnTo>
                  <a:lnTo>
                    <a:pt x="29623" y="68278"/>
                  </a:lnTo>
                  <a:lnTo>
                    <a:pt x="38390" y="68278"/>
                  </a:lnTo>
                  <a:lnTo>
                    <a:pt x="38390" y="38525"/>
                  </a:lnTo>
                  <a:lnTo>
                    <a:pt x="68012" y="38525"/>
                  </a:lnTo>
                  <a:lnTo>
                    <a:pt x="68012" y="29758"/>
                  </a:lnTo>
                  <a:lnTo>
                    <a:pt x="38390" y="29758"/>
                  </a:lnTo>
                  <a:lnTo>
                    <a:pt x="38390" y="0"/>
                  </a:lnTo>
                  <a:lnTo>
                    <a:pt x="29623" y="0"/>
                  </a:lnTo>
                  <a:lnTo>
                    <a:pt x="29623" y="2975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ilter_chain_outline_8"/>
            <p:cNvSpPr/>
            <p:nvPr/>
          </p:nvSpPr>
          <p:spPr>
            <a:xfrm>
              <a:off x="2985041" y="1970796"/>
              <a:ext cx="291463" cy="89531"/>
            </a:xfrm>
            <a:custGeom>
              <a:avLst/>
              <a:gdLst/>
              <a:ahLst/>
              <a:cxnLst/>
              <a:rect l="0" t="0" r="r" b="b"/>
              <a:pathLst>
                <a:path w="291463" h="89531">
                  <a:moveTo>
                    <a:pt x="77708" y="67084"/>
                  </a:moveTo>
                  <a:lnTo>
                    <a:pt x="73989" y="67084"/>
                  </a:lnTo>
                  <a:cubicBezTo>
                    <a:pt x="67346" y="81427"/>
                    <a:pt x="61635" y="84618"/>
                    <a:pt x="42640" y="84618"/>
                  </a:cubicBezTo>
                  <a:lnTo>
                    <a:pt x="39053" y="84618"/>
                  </a:lnTo>
                  <a:cubicBezTo>
                    <a:pt x="32675" y="84618"/>
                    <a:pt x="27365" y="84086"/>
                    <a:pt x="26166" y="83153"/>
                  </a:cubicBezTo>
                  <a:cubicBezTo>
                    <a:pt x="25368" y="82625"/>
                    <a:pt x="25106" y="81427"/>
                    <a:pt x="25106" y="78903"/>
                  </a:cubicBezTo>
                  <a:lnTo>
                    <a:pt x="25106" y="46093"/>
                  </a:lnTo>
                  <a:lnTo>
                    <a:pt x="45561" y="46093"/>
                  </a:lnTo>
                  <a:cubicBezTo>
                    <a:pt x="56452" y="46093"/>
                    <a:pt x="58448" y="47819"/>
                    <a:pt x="60174" y="58845"/>
                  </a:cubicBezTo>
                  <a:lnTo>
                    <a:pt x="63226" y="58845"/>
                  </a:lnTo>
                  <a:lnTo>
                    <a:pt x="63226" y="28027"/>
                  </a:lnTo>
                  <a:lnTo>
                    <a:pt x="60174" y="28027"/>
                  </a:lnTo>
                  <a:cubicBezTo>
                    <a:pt x="58448" y="38922"/>
                    <a:pt x="56321" y="40648"/>
                    <a:pt x="45561" y="40648"/>
                  </a:cubicBezTo>
                  <a:lnTo>
                    <a:pt x="25106" y="40648"/>
                  </a:lnTo>
                  <a:lnTo>
                    <a:pt x="25106" y="11160"/>
                  </a:lnTo>
                  <a:cubicBezTo>
                    <a:pt x="25106" y="7437"/>
                    <a:pt x="25900" y="6644"/>
                    <a:pt x="29488" y="6644"/>
                  </a:cubicBezTo>
                  <a:lnTo>
                    <a:pt x="47419" y="6644"/>
                  </a:lnTo>
                  <a:cubicBezTo>
                    <a:pt x="62432" y="6644"/>
                    <a:pt x="65353" y="8636"/>
                    <a:pt x="67612" y="20590"/>
                  </a:cubicBezTo>
                  <a:lnTo>
                    <a:pt x="70933" y="20590"/>
                  </a:lnTo>
                  <a:lnTo>
                    <a:pt x="70533" y="1595"/>
                  </a:lnTo>
                  <a:lnTo>
                    <a:pt x="0" y="1595"/>
                  </a:lnTo>
                  <a:lnTo>
                    <a:pt x="0" y="4119"/>
                  </a:lnTo>
                  <a:cubicBezTo>
                    <a:pt x="9827" y="4913"/>
                    <a:pt x="11557" y="6644"/>
                    <a:pt x="11557" y="16073"/>
                  </a:cubicBezTo>
                  <a:lnTo>
                    <a:pt x="11557" y="75053"/>
                  </a:lnTo>
                  <a:cubicBezTo>
                    <a:pt x="11557" y="84483"/>
                    <a:pt x="9696" y="86344"/>
                    <a:pt x="0" y="87007"/>
                  </a:cubicBezTo>
                  <a:lnTo>
                    <a:pt x="0" y="89531"/>
                  </a:lnTo>
                  <a:lnTo>
                    <a:pt x="71731" y="89531"/>
                  </a:lnTo>
                  <a:lnTo>
                    <a:pt x="77708" y="67084"/>
                  </a:lnTo>
                  <a:close/>
                  <a:moveTo>
                    <a:pt x="194214" y="89531"/>
                  </a:moveTo>
                  <a:lnTo>
                    <a:pt x="194214" y="87007"/>
                  </a:lnTo>
                  <a:cubicBezTo>
                    <a:pt x="184514" y="86344"/>
                    <a:pt x="182657" y="84483"/>
                    <a:pt x="182657" y="75053"/>
                  </a:cubicBezTo>
                  <a:lnTo>
                    <a:pt x="182657" y="16073"/>
                  </a:lnTo>
                  <a:cubicBezTo>
                    <a:pt x="182657" y="6644"/>
                    <a:pt x="184383" y="4913"/>
                    <a:pt x="194214" y="4119"/>
                  </a:cubicBezTo>
                  <a:lnTo>
                    <a:pt x="194214" y="1595"/>
                  </a:lnTo>
                  <a:lnTo>
                    <a:pt x="167778" y="1595"/>
                  </a:lnTo>
                  <a:lnTo>
                    <a:pt x="138420" y="68675"/>
                  </a:lnTo>
                  <a:lnTo>
                    <a:pt x="107739" y="1595"/>
                  </a:lnTo>
                  <a:lnTo>
                    <a:pt x="81438" y="1595"/>
                  </a:lnTo>
                  <a:lnTo>
                    <a:pt x="81438" y="4119"/>
                  </a:lnTo>
                  <a:cubicBezTo>
                    <a:pt x="92328" y="4782"/>
                    <a:pt x="94054" y="6378"/>
                    <a:pt x="94054" y="16073"/>
                  </a:cubicBezTo>
                  <a:lnTo>
                    <a:pt x="94054" y="70005"/>
                  </a:lnTo>
                  <a:cubicBezTo>
                    <a:pt x="94054" y="83685"/>
                    <a:pt x="92197" y="86209"/>
                    <a:pt x="81172" y="87007"/>
                  </a:cubicBezTo>
                  <a:lnTo>
                    <a:pt x="81172" y="89531"/>
                  </a:lnTo>
                  <a:lnTo>
                    <a:pt x="112386" y="89531"/>
                  </a:lnTo>
                  <a:lnTo>
                    <a:pt x="112386" y="87007"/>
                  </a:lnTo>
                  <a:cubicBezTo>
                    <a:pt x="102159" y="86475"/>
                    <a:pt x="99900" y="83419"/>
                    <a:pt x="99900" y="70005"/>
                  </a:cubicBezTo>
                  <a:lnTo>
                    <a:pt x="99900" y="16470"/>
                  </a:lnTo>
                  <a:lnTo>
                    <a:pt x="133241" y="89531"/>
                  </a:lnTo>
                  <a:lnTo>
                    <a:pt x="135103" y="89531"/>
                  </a:lnTo>
                  <a:lnTo>
                    <a:pt x="169107" y="13418"/>
                  </a:lnTo>
                  <a:lnTo>
                    <a:pt x="169107" y="73593"/>
                  </a:lnTo>
                  <a:cubicBezTo>
                    <a:pt x="169107" y="84618"/>
                    <a:pt x="167512" y="86344"/>
                    <a:pt x="157018" y="87007"/>
                  </a:cubicBezTo>
                  <a:lnTo>
                    <a:pt x="157018" y="89531"/>
                  </a:lnTo>
                  <a:lnTo>
                    <a:pt x="194214" y="89531"/>
                  </a:lnTo>
                  <a:close/>
                  <a:moveTo>
                    <a:pt x="291463" y="89531"/>
                  </a:moveTo>
                  <a:lnTo>
                    <a:pt x="291463" y="87007"/>
                  </a:lnTo>
                  <a:cubicBezTo>
                    <a:pt x="285486" y="86610"/>
                    <a:pt x="284157" y="85280"/>
                    <a:pt x="279509" y="75450"/>
                  </a:cubicBezTo>
                  <a:lnTo>
                    <a:pt x="246434" y="0"/>
                  </a:lnTo>
                  <a:lnTo>
                    <a:pt x="243775" y="0"/>
                  </a:lnTo>
                  <a:lnTo>
                    <a:pt x="216144" y="65222"/>
                  </a:lnTo>
                  <a:cubicBezTo>
                    <a:pt x="207643" y="84618"/>
                    <a:pt x="206052" y="86610"/>
                    <a:pt x="199674" y="87007"/>
                  </a:cubicBezTo>
                  <a:lnTo>
                    <a:pt x="199674" y="89531"/>
                  </a:lnTo>
                  <a:lnTo>
                    <a:pt x="225974" y="89531"/>
                  </a:lnTo>
                  <a:lnTo>
                    <a:pt x="225974" y="87007"/>
                  </a:lnTo>
                  <a:cubicBezTo>
                    <a:pt x="219601" y="87007"/>
                    <a:pt x="216942" y="85280"/>
                    <a:pt x="216942" y="81562"/>
                  </a:cubicBezTo>
                  <a:cubicBezTo>
                    <a:pt x="216942" y="79966"/>
                    <a:pt x="217342" y="78109"/>
                    <a:pt x="218005" y="76379"/>
                  </a:cubicBezTo>
                  <a:lnTo>
                    <a:pt x="224118" y="60837"/>
                  </a:lnTo>
                  <a:lnTo>
                    <a:pt x="258919" y="60837"/>
                  </a:lnTo>
                  <a:lnTo>
                    <a:pt x="264364" y="73593"/>
                  </a:lnTo>
                  <a:cubicBezTo>
                    <a:pt x="265960" y="77311"/>
                    <a:pt x="266889" y="80629"/>
                    <a:pt x="266889" y="82625"/>
                  </a:cubicBezTo>
                  <a:cubicBezTo>
                    <a:pt x="266889" y="83820"/>
                    <a:pt x="266091" y="85280"/>
                    <a:pt x="265027" y="85812"/>
                  </a:cubicBezTo>
                  <a:cubicBezTo>
                    <a:pt x="263435" y="86741"/>
                    <a:pt x="262372" y="87007"/>
                    <a:pt x="257590" y="87007"/>
                  </a:cubicBezTo>
                  <a:lnTo>
                    <a:pt x="257590" y="89531"/>
                  </a:lnTo>
                  <a:lnTo>
                    <a:pt x="291463" y="89531"/>
                  </a:lnTo>
                  <a:close/>
                  <a:moveTo>
                    <a:pt x="257058" y="55392"/>
                  </a:moveTo>
                  <a:lnTo>
                    <a:pt x="226376" y="55392"/>
                  </a:lnTo>
                  <a:lnTo>
                    <a:pt x="241651" y="18863"/>
                  </a:lnTo>
                  <a:lnTo>
                    <a:pt x="257058" y="55392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ilter_chain_outline_9"/>
            <p:cNvSpPr/>
            <p:nvPr/>
          </p:nvSpPr>
          <p:spPr>
            <a:xfrm>
              <a:off x="3356997" y="1998958"/>
              <a:ext cx="119550" cy="54463"/>
            </a:xfrm>
            <a:custGeom>
              <a:avLst/>
              <a:gdLst/>
              <a:ahLst/>
              <a:cxnLst/>
              <a:rect l="0" t="0" r="r" b="b"/>
              <a:pathLst>
                <a:path w="119550" h="54463">
                  <a:moveTo>
                    <a:pt x="119550" y="30948"/>
                  </a:moveTo>
                  <a:lnTo>
                    <a:pt x="119550" y="23511"/>
                  </a:lnTo>
                  <a:lnTo>
                    <a:pt x="14347" y="23511"/>
                  </a:lnTo>
                  <a:lnTo>
                    <a:pt x="30155" y="4382"/>
                  </a:lnTo>
                  <a:lnTo>
                    <a:pt x="26035" y="0"/>
                  </a:lnTo>
                  <a:lnTo>
                    <a:pt x="0" y="27365"/>
                  </a:lnTo>
                  <a:lnTo>
                    <a:pt x="26035" y="54463"/>
                  </a:lnTo>
                  <a:lnTo>
                    <a:pt x="30155" y="50078"/>
                  </a:lnTo>
                  <a:lnTo>
                    <a:pt x="14347" y="30948"/>
                  </a:lnTo>
                  <a:lnTo>
                    <a:pt x="119550" y="30948"/>
                  </a:ln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ilter_chain_outline_10"/>
            <p:cNvSpPr/>
            <p:nvPr/>
          </p:nvSpPr>
          <p:spPr>
            <a:xfrm>
              <a:off x="3555320" y="1973320"/>
              <a:ext cx="67877" cy="88467"/>
            </a:xfrm>
            <a:custGeom>
              <a:avLst/>
              <a:gdLst/>
              <a:ahLst/>
              <a:cxnLst/>
              <a:rect l="0" t="0" r="r" b="b"/>
              <a:pathLst>
                <a:path w="67878" h="88467">
                  <a:moveTo>
                    <a:pt x="67878" y="77311"/>
                  </a:moveTo>
                  <a:lnTo>
                    <a:pt x="67743" y="77045"/>
                  </a:lnTo>
                  <a:cubicBezTo>
                    <a:pt x="65885" y="77045"/>
                    <a:pt x="63627" y="81562"/>
                    <a:pt x="58047" y="81562"/>
                  </a:cubicBezTo>
                  <a:cubicBezTo>
                    <a:pt x="32941" y="81562"/>
                    <a:pt x="78637" y="0"/>
                    <a:pt x="39584" y="0"/>
                  </a:cubicBezTo>
                  <a:lnTo>
                    <a:pt x="38120" y="0"/>
                  </a:lnTo>
                  <a:cubicBezTo>
                    <a:pt x="35731" y="0"/>
                    <a:pt x="30151" y="1992"/>
                    <a:pt x="28424" y="3588"/>
                  </a:cubicBezTo>
                  <a:cubicBezTo>
                    <a:pt x="28293" y="3719"/>
                    <a:pt x="29353" y="4913"/>
                    <a:pt x="29488" y="4913"/>
                  </a:cubicBezTo>
                  <a:cubicBezTo>
                    <a:pt x="30151" y="4385"/>
                    <a:pt x="33076" y="3187"/>
                    <a:pt x="35731" y="3187"/>
                  </a:cubicBezTo>
                  <a:cubicBezTo>
                    <a:pt x="48617" y="3187"/>
                    <a:pt x="45160" y="24444"/>
                    <a:pt x="45160" y="27896"/>
                  </a:cubicBezTo>
                  <a:cubicBezTo>
                    <a:pt x="45295" y="28293"/>
                    <a:pt x="45160" y="28559"/>
                    <a:pt x="45029" y="29091"/>
                  </a:cubicBezTo>
                  <a:cubicBezTo>
                    <a:pt x="42374" y="41446"/>
                    <a:pt x="3187" y="76248"/>
                    <a:pt x="0" y="87007"/>
                  </a:cubicBezTo>
                  <a:lnTo>
                    <a:pt x="13283" y="87007"/>
                  </a:lnTo>
                  <a:cubicBezTo>
                    <a:pt x="13283" y="85677"/>
                    <a:pt x="13414" y="84352"/>
                    <a:pt x="13680" y="82887"/>
                  </a:cubicBezTo>
                  <a:cubicBezTo>
                    <a:pt x="17534" y="65885"/>
                    <a:pt x="43569" y="40116"/>
                    <a:pt x="43569" y="39985"/>
                  </a:cubicBezTo>
                  <a:lnTo>
                    <a:pt x="43700" y="39985"/>
                  </a:lnTo>
                  <a:cubicBezTo>
                    <a:pt x="42902" y="46891"/>
                    <a:pt x="30948" y="88467"/>
                    <a:pt x="52602" y="88467"/>
                  </a:cubicBezTo>
                  <a:cubicBezTo>
                    <a:pt x="58444" y="88467"/>
                    <a:pt x="67612" y="78903"/>
                    <a:pt x="67878" y="77311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ilter_chain_outline_11"/>
            <p:cNvSpPr/>
            <p:nvPr/>
          </p:nvSpPr>
          <p:spPr>
            <a:xfrm>
              <a:off x="3633160" y="1965413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6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2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4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1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6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79"/>
                    <a:pt x="18883" y="21479"/>
                  </a:cubicBezTo>
                  <a:cubicBezTo>
                    <a:pt x="22102" y="23348"/>
                    <a:pt x="30297" y="32063"/>
                    <a:pt x="32373" y="32063"/>
                  </a:cubicBezTo>
                  <a:cubicBezTo>
                    <a:pt x="34242" y="32063"/>
                    <a:pt x="35901" y="30297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4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ilter_chain_outline_12"/>
            <p:cNvSpPr/>
            <p:nvPr/>
          </p:nvSpPr>
          <p:spPr>
            <a:xfrm>
              <a:off x="3633922" y="204101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D6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4" name="price_to_sum_1" descr="Editable line; source id price_to_sum_1"/>
          <p:cNvSpPr/>
          <p:nvPr/>
        </p:nvSpPr>
        <p:spPr>
          <a:xfrm>
            <a:off x="1876425" y="2044700"/>
            <a:ext cx="31750" cy="495300"/>
          </a:xfrm>
          <a:custGeom>
            <a:avLst/>
            <a:gdLst/>
            <a:ahLst/>
            <a:cxnLst/>
            <a:rect l="l" t="t" r="r" b="b"/>
            <a:pathLst>
              <a:path w="12500" h="195000">
                <a:moveTo>
                  <a:pt x="8250" y="0"/>
                </a:moveTo>
                <a:lnTo>
                  <a:pt x="8250" y="178500"/>
                </a:lnTo>
                <a:lnTo>
                  <a:pt x="12500" y="178500"/>
                </a:lnTo>
                <a:lnTo>
                  <a:pt x="6250" y="195000"/>
                </a:lnTo>
                <a:lnTo>
                  <a:pt x="0" y="178500"/>
                </a:lnTo>
                <a:lnTo>
                  <a:pt x="4250" y="178500"/>
                </a:lnTo>
                <a:lnTo>
                  <a:pt x="4250" y="0"/>
                </a:lnTo>
                <a:close/>
              </a:path>
            </a:pathLst>
          </a:custGeom>
          <a:solidFill>
            <a:srgbClr val="126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ae_drop_0" descr="Editable line; source id gae_drop_0"/>
          <p:cNvSpPr/>
          <p:nvPr/>
        </p:nvSpPr>
        <p:spPr>
          <a:xfrm>
            <a:off x="3197225" y="2209800"/>
            <a:ext cx="31750" cy="241300"/>
          </a:xfrm>
          <a:custGeom>
            <a:avLst/>
            <a:gdLst/>
            <a:ahLst/>
            <a:cxnLst/>
            <a:rect l="l" t="t" r="r" b="b"/>
            <a:pathLst>
              <a:path w="12500" h="95000">
                <a:moveTo>
                  <a:pt x="7875" y="0"/>
                </a:moveTo>
                <a:lnTo>
                  <a:pt x="7875" y="78500"/>
                </a:lnTo>
                <a:lnTo>
                  <a:pt x="12500" y="78500"/>
                </a:lnTo>
                <a:lnTo>
                  <a:pt x="6250" y="95000"/>
                </a:lnTo>
                <a:lnTo>
                  <a:pt x="0" y="78500"/>
                </a:lnTo>
                <a:lnTo>
                  <a:pt x="4625" y="78500"/>
                </a:lnTo>
                <a:lnTo>
                  <a:pt x="4625" y="0"/>
                </a:lnTo>
                <a:close/>
              </a:path>
            </a:pathLst>
          </a:custGeom>
          <a:solidFill>
            <a:srgbClr val="647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observed_feedback_2" descr="Editable line; source id observed_feedback_2"/>
          <p:cNvCxnSpPr/>
          <p:nvPr/>
        </p:nvCxnSpPr>
        <p:spPr>
          <a:xfrm>
            <a:off x="76200" y="1993899"/>
            <a:ext cx="0" cy="647700"/>
          </a:xfrm>
          <a:prstGeom prst="line">
            <a:avLst/>
          </a:prstGeom>
          <a:ln w="8890">
            <a:solidFill>
              <a:srgbClr val="B86C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