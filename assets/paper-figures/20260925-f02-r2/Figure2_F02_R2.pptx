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029200" cy="30175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Semantic redraw of selected F02. Original raster preserved separately. Module layout retained; mentor 14:25Z corrections applied. No experiment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llout" descr="Editable shape; source id rollout"/>
          <p:cNvSpPr/>
          <p:nvPr/>
        </p:nvSpPr>
        <p:spPr>
          <a:xfrm>
            <a:off x="38100" y="38100"/>
            <a:ext cx="977900" cy="1727200"/>
          </a:xfrm>
          <a:prstGeom prst="roundRect">
            <a:avLst>
              <a:gd name="adj" fmla="val 3896"/>
            </a:avLst>
          </a:prstGeom>
          <a:solidFill>
            <a:srgbClr val="F3F5F6"/>
          </a:solidFill>
          <a:ln w="7620">
            <a:solidFill>
              <a:srgbClr val="A6B1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llout_title" descr="Editable text; source id rollout_title"/>
          <p:cNvSpPr txBox="1"/>
          <p:nvPr/>
        </p:nvSpPr>
        <p:spPr>
          <a:xfrm>
            <a:off x="101600" y="76200"/>
            <a:ext cx="850900" cy="1524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035"/>
              </a:lnSpc>
              <a:spcBef>
                <a:spcPts val="0"/>
              </a:spcBef>
              <a:spcAft>
                <a:spcPts val="0"/>
              </a:spcAft>
              <a:defRPr sz="900" b="1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900" b="1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1. Rollout</a:t>
            </a:r>
          </a:p>
        </p:txBody>
      </p:sp>
      <p:sp>
        <p:nvSpPr>
          <p:cNvPr id="4" name="rollout_graph_edge_0" descr="Editable line; source id rollout_graph_edge_0"/>
          <p:cNvSpPr/>
          <p:nvPr/>
        </p:nvSpPr>
        <p:spPr>
          <a:xfrm>
            <a:off x="234861" y="659221"/>
            <a:ext cx="101468" cy="107010"/>
          </a:xfrm>
          <a:custGeom>
            <a:avLst/>
            <a:gdLst/>
            <a:ahLst/>
            <a:cxnLst/>
            <a:rect l="l" t="t" r="r" b="b"/>
            <a:pathLst>
              <a:path w="39948" h="42130">
                <a:moveTo>
                  <a:pt x="0" y="39726"/>
                </a:moveTo>
                <a:lnTo>
                  <a:pt x="26657" y="11517"/>
                </a:lnTo>
                <a:lnTo>
                  <a:pt x="22841" y="7912"/>
                </a:lnTo>
                <a:lnTo>
                  <a:pt x="39948" y="0"/>
                </a:lnTo>
                <a:lnTo>
                  <a:pt x="33016" y="17527"/>
                </a:lnTo>
                <a:lnTo>
                  <a:pt x="29201" y="13921"/>
                </a:lnTo>
                <a:lnTo>
                  <a:pt x="2544" y="4213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llout_graph_edge_1" descr="Editable line; source id rollout_graph_edge_1"/>
          <p:cNvSpPr/>
          <p:nvPr/>
        </p:nvSpPr>
        <p:spPr>
          <a:xfrm>
            <a:off x="422021" y="604520"/>
            <a:ext cx="184658" cy="35560"/>
          </a:xfrm>
          <a:custGeom>
            <a:avLst/>
            <a:gdLst/>
            <a:ahLst/>
            <a:cxnLst/>
            <a:rect l="l" t="t" r="r" b="b"/>
            <a:pathLst>
              <a:path w="72700" h="14000">
                <a:moveTo>
                  <a:pt x="0" y="5250"/>
                </a:moveTo>
                <a:lnTo>
                  <a:pt x="55200" y="5250"/>
                </a:lnTo>
                <a:lnTo>
                  <a:pt x="55200" y="0"/>
                </a:lnTo>
                <a:lnTo>
                  <a:pt x="72700" y="7000"/>
                </a:lnTo>
                <a:lnTo>
                  <a:pt x="55200" y="14000"/>
                </a:lnTo>
                <a:lnTo>
                  <a:pt x="55200" y="8750"/>
                </a:lnTo>
                <a:lnTo>
                  <a:pt x="0" y="875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llout_graph_edge_2" descr="Editable line; source id rollout_graph_edge_2"/>
          <p:cNvSpPr/>
          <p:nvPr/>
        </p:nvSpPr>
        <p:spPr>
          <a:xfrm>
            <a:off x="689140" y="656168"/>
            <a:ext cx="101468" cy="107010"/>
          </a:xfrm>
          <a:custGeom>
            <a:avLst/>
            <a:gdLst/>
            <a:ahLst/>
            <a:cxnLst/>
            <a:rect l="l" t="t" r="r" b="b"/>
            <a:pathLst>
              <a:path w="39948" h="42130">
                <a:moveTo>
                  <a:pt x="2544" y="0"/>
                </a:moveTo>
                <a:lnTo>
                  <a:pt x="29201" y="28209"/>
                </a:lnTo>
                <a:lnTo>
                  <a:pt x="33016" y="24603"/>
                </a:lnTo>
                <a:lnTo>
                  <a:pt x="39948" y="42130"/>
                </a:lnTo>
                <a:lnTo>
                  <a:pt x="22841" y="34218"/>
                </a:lnTo>
                <a:lnTo>
                  <a:pt x="26657" y="30613"/>
                </a:lnTo>
                <a:lnTo>
                  <a:pt x="0" y="2404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llout_graph_edge_3" descr="Editable line; source id rollout_graph_edge_3"/>
          <p:cNvSpPr/>
          <p:nvPr/>
        </p:nvSpPr>
        <p:spPr>
          <a:xfrm>
            <a:off x="234861" y="833968"/>
            <a:ext cx="101468" cy="107010"/>
          </a:xfrm>
          <a:custGeom>
            <a:avLst/>
            <a:gdLst/>
            <a:ahLst/>
            <a:cxnLst/>
            <a:rect l="l" t="t" r="r" b="b"/>
            <a:pathLst>
              <a:path w="39948" h="42130">
                <a:moveTo>
                  <a:pt x="2544" y="0"/>
                </a:moveTo>
                <a:lnTo>
                  <a:pt x="29201" y="28209"/>
                </a:lnTo>
                <a:lnTo>
                  <a:pt x="33016" y="24603"/>
                </a:lnTo>
                <a:lnTo>
                  <a:pt x="39948" y="42130"/>
                </a:lnTo>
                <a:lnTo>
                  <a:pt x="22841" y="34218"/>
                </a:lnTo>
                <a:lnTo>
                  <a:pt x="26657" y="30613"/>
                </a:lnTo>
                <a:lnTo>
                  <a:pt x="0" y="2404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llout_graph_edge_4" descr="Editable line; source id rollout_graph_edge_4"/>
          <p:cNvSpPr/>
          <p:nvPr/>
        </p:nvSpPr>
        <p:spPr>
          <a:xfrm>
            <a:off x="422021" y="960120"/>
            <a:ext cx="184658" cy="35560"/>
          </a:xfrm>
          <a:custGeom>
            <a:avLst/>
            <a:gdLst/>
            <a:ahLst/>
            <a:cxnLst/>
            <a:rect l="l" t="t" r="r" b="b"/>
            <a:pathLst>
              <a:path w="72700" h="14000">
                <a:moveTo>
                  <a:pt x="0" y="5250"/>
                </a:moveTo>
                <a:lnTo>
                  <a:pt x="55200" y="5250"/>
                </a:lnTo>
                <a:lnTo>
                  <a:pt x="55200" y="0"/>
                </a:lnTo>
                <a:lnTo>
                  <a:pt x="72700" y="7000"/>
                </a:lnTo>
                <a:lnTo>
                  <a:pt x="55200" y="14000"/>
                </a:lnTo>
                <a:lnTo>
                  <a:pt x="55200" y="8750"/>
                </a:lnTo>
                <a:lnTo>
                  <a:pt x="0" y="875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llout_graph_edge_5" descr="Editable line; source id rollout_graph_edge_5"/>
          <p:cNvSpPr/>
          <p:nvPr/>
        </p:nvSpPr>
        <p:spPr>
          <a:xfrm>
            <a:off x="689140" y="837021"/>
            <a:ext cx="101468" cy="107010"/>
          </a:xfrm>
          <a:custGeom>
            <a:avLst/>
            <a:gdLst/>
            <a:ahLst/>
            <a:cxnLst/>
            <a:rect l="l" t="t" r="r" b="b"/>
            <a:pathLst>
              <a:path w="39948" h="42130">
                <a:moveTo>
                  <a:pt x="0" y="39726"/>
                </a:moveTo>
                <a:lnTo>
                  <a:pt x="26657" y="11517"/>
                </a:lnTo>
                <a:lnTo>
                  <a:pt x="22841" y="7912"/>
                </a:lnTo>
                <a:lnTo>
                  <a:pt x="39948" y="0"/>
                </a:lnTo>
                <a:lnTo>
                  <a:pt x="33016" y="17527"/>
                </a:lnTo>
                <a:lnTo>
                  <a:pt x="29201" y="13921"/>
                </a:lnTo>
                <a:lnTo>
                  <a:pt x="2544" y="4213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llout_graph_node0" descr="Editable shape; source id rollout_graph_node0"/>
          <p:cNvSpPr/>
          <p:nvPr/>
        </p:nvSpPr>
        <p:spPr>
          <a:xfrm>
            <a:off x="158750" y="7556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llout_graph_node1" descr="Editable shape; source id rollout_graph_node1"/>
          <p:cNvSpPr/>
          <p:nvPr/>
        </p:nvSpPr>
        <p:spPr>
          <a:xfrm>
            <a:off x="326771" y="5778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llout_graph_node2" descr="Editable shape; source id rollout_graph_node2"/>
          <p:cNvSpPr/>
          <p:nvPr/>
        </p:nvSpPr>
        <p:spPr>
          <a:xfrm>
            <a:off x="613028" y="5778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llout_graph_node3" descr="Editable shape; source id rollout_graph_node3"/>
          <p:cNvSpPr/>
          <p:nvPr/>
        </p:nvSpPr>
        <p:spPr>
          <a:xfrm>
            <a:off x="781050" y="7556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llout_graph_node4" descr="Editable shape; source id rollout_graph_node4"/>
          <p:cNvSpPr/>
          <p:nvPr/>
        </p:nvSpPr>
        <p:spPr>
          <a:xfrm>
            <a:off x="613028" y="9334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llout_graph_node5" descr="Editable shape; source id rollout_graph_node5"/>
          <p:cNvSpPr/>
          <p:nvPr/>
        </p:nvSpPr>
        <p:spPr>
          <a:xfrm>
            <a:off x="326771" y="9334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nputs" descr="Editable shape; source id inputs"/>
          <p:cNvSpPr/>
          <p:nvPr/>
        </p:nvSpPr>
        <p:spPr>
          <a:xfrm>
            <a:off x="1079500" y="38100"/>
            <a:ext cx="977900" cy="1727200"/>
          </a:xfrm>
          <a:prstGeom prst="roundRect">
            <a:avLst>
              <a:gd name="adj" fmla="val 3896"/>
            </a:avLst>
          </a:prstGeom>
          <a:solidFill>
            <a:srgbClr val="F3F5F6"/>
          </a:solidFill>
          <a:ln w="7620">
            <a:solidFill>
              <a:srgbClr val="A6B1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inputs_title" descr="Editable text; source id inputs_title"/>
          <p:cNvSpPr txBox="1"/>
          <p:nvPr/>
        </p:nvSpPr>
        <p:spPr>
          <a:xfrm>
            <a:off x="1143000" y="76200"/>
            <a:ext cx="850900" cy="1524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035"/>
              </a:lnSpc>
              <a:spcBef>
                <a:spcPts val="0"/>
              </a:spcBef>
              <a:spcAft>
                <a:spcPts val="0"/>
              </a:spcAft>
              <a:defRPr sz="900" b="1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900" b="1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2. Flow inputs</a:t>
            </a:r>
          </a:p>
        </p:txBody>
      </p:sp>
      <p:sp>
        <p:nvSpPr>
          <p:cNvPr id="20" name="inputs_graph_edge_0" descr="Editable line; source id inputs_graph_edge_0"/>
          <p:cNvSpPr/>
          <p:nvPr/>
        </p:nvSpPr>
        <p:spPr>
          <a:xfrm>
            <a:off x="1264420" y="607657"/>
            <a:ext cx="113533" cy="114958"/>
          </a:xfrm>
          <a:custGeom>
            <a:avLst/>
            <a:gdLst/>
            <a:ahLst/>
            <a:cxnLst/>
            <a:rect l="l" t="t" r="r" b="b"/>
            <a:pathLst>
              <a:path w="44698" h="45259">
                <a:moveTo>
                  <a:pt x="0" y="42801"/>
                </a:moveTo>
                <a:lnTo>
                  <a:pt x="31160" y="11227"/>
                </a:lnTo>
                <a:lnTo>
                  <a:pt x="27424" y="7539"/>
                </a:lnTo>
                <a:lnTo>
                  <a:pt x="44698" y="0"/>
                </a:lnTo>
                <a:lnTo>
                  <a:pt x="37388" y="17373"/>
                </a:lnTo>
                <a:lnTo>
                  <a:pt x="33652" y="13685"/>
                </a:lnTo>
                <a:lnTo>
                  <a:pt x="2491" y="45259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inputs_graph_edge_1" descr="Editable line; source id inputs_graph_edge_1"/>
          <p:cNvSpPr/>
          <p:nvPr/>
        </p:nvSpPr>
        <p:spPr>
          <a:xfrm>
            <a:off x="1464437" y="553720"/>
            <a:ext cx="208026" cy="35560"/>
          </a:xfrm>
          <a:custGeom>
            <a:avLst/>
            <a:gdLst/>
            <a:ahLst/>
            <a:cxnLst/>
            <a:rect l="l" t="t" r="r" b="b"/>
            <a:pathLst>
              <a:path w="81900" h="14000">
                <a:moveTo>
                  <a:pt x="0" y="5250"/>
                </a:moveTo>
                <a:lnTo>
                  <a:pt x="64400" y="5250"/>
                </a:lnTo>
                <a:lnTo>
                  <a:pt x="64400" y="0"/>
                </a:lnTo>
                <a:lnTo>
                  <a:pt x="81900" y="7000"/>
                </a:lnTo>
                <a:lnTo>
                  <a:pt x="64400" y="14000"/>
                </a:lnTo>
                <a:lnTo>
                  <a:pt x="64400" y="8750"/>
                </a:lnTo>
                <a:lnTo>
                  <a:pt x="0" y="875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inputs_graph_edge_2" descr="Editable line; source id inputs_graph_edge_2"/>
          <p:cNvSpPr/>
          <p:nvPr/>
        </p:nvSpPr>
        <p:spPr>
          <a:xfrm>
            <a:off x="1755783" y="604535"/>
            <a:ext cx="113533" cy="114958"/>
          </a:xfrm>
          <a:custGeom>
            <a:avLst/>
            <a:gdLst/>
            <a:ahLst/>
            <a:cxnLst/>
            <a:rect l="l" t="t" r="r" b="b"/>
            <a:pathLst>
              <a:path w="44698" h="45259">
                <a:moveTo>
                  <a:pt x="2491" y="0"/>
                </a:moveTo>
                <a:lnTo>
                  <a:pt x="33652" y="31574"/>
                </a:lnTo>
                <a:lnTo>
                  <a:pt x="37388" y="27886"/>
                </a:lnTo>
                <a:lnTo>
                  <a:pt x="44698" y="45259"/>
                </a:lnTo>
                <a:lnTo>
                  <a:pt x="27424" y="37720"/>
                </a:lnTo>
                <a:lnTo>
                  <a:pt x="31160" y="34032"/>
                </a:lnTo>
                <a:lnTo>
                  <a:pt x="0" y="2458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inputs_graph_edge_3" descr="Editable line; source id inputs_graph_edge_3"/>
          <p:cNvSpPr/>
          <p:nvPr/>
        </p:nvSpPr>
        <p:spPr>
          <a:xfrm>
            <a:off x="1264420" y="788685"/>
            <a:ext cx="113533" cy="114958"/>
          </a:xfrm>
          <a:custGeom>
            <a:avLst/>
            <a:gdLst/>
            <a:ahLst/>
            <a:cxnLst/>
            <a:rect l="l" t="t" r="r" b="b"/>
            <a:pathLst>
              <a:path w="44698" h="45259">
                <a:moveTo>
                  <a:pt x="2491" y="0"/>
                </a:moveTo>
                <a:lnTo>
                  <a:pt x="33652" y="31574"/>
                </a:lnTo>
                <a:lnTo>
                  <a:pt x="37388" y="27886"/>
                </a:lnTo>
                <a:lnTo>
                  <a:pt x="44698" y="45259"/>
                </a:lnTo>
                <a:lnTo>
                  <a:pt x="27424" y="37720"/>
                </a:lnTo>
                <a:lnTo>
                  <a:pt x="31160" y="34032"/>
                </a:lnTo>
                <a:lnTo>
                  <a:pt x="0" y="2458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inputs_graph_edge_4" descr="Editable line; source id inputs_graph_edge_4"/>
          <p:cNvSpPr/>
          <p:nvPr/>
        </p:nvSpPr>
        <p:spPr>
          <a:xfrm>
            <a:off x="1464437" y="922020"/>
            <a:ext cx="208026" cy="35560"/>
          </a:xfrm>
          <a:custGeom>
            <a:avLst/>
            <a:gdLst/>
            <a:ahLst/>
            <a:cxnLst/>
            <a:rect l="l" t="t" r="r" b="b"/>
            <a:pathLst>
              <a:path w="81900" h="14000">
                <a:moveTo>
                  <a:pt x="0" y="5250"/>
                </a:moveTo>
                <a:lnTo>
                  <a:pt x="64400" y="5250"/>
                </a:lnTo>
                <a:lnTo>
                  <a:pt x="64400" y="0"/>
                </a:lnTo>
                <a:lnTo>
                  <a:pt x="81900" y="7000"/>
                </a:lnTo>
                <a:lnTo>
                  <a:pt x="64400" y="14000"/>
                </a:lnTo>
                <a:lnTo>
                  <a:pt x="64400" y="8750"/>
                </a:lnTo>
                <a:lnTo>
                  <a:pt x="0" y="875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nputs_graph_edge_5" descr="Editable line; source id inputs_graph_edge_5"/>
          <p:cNvSpPr/>
          <p:nvPr/>
        </p:nvSpPr>
        <p:spPr>
          <a:xfrm>
            <a:off x="1755783" y="791807"/>
            <a:ext cx="113533" cy="114958"/>
          </a:xfrm>
          <a:custGeom>
            <a:avLst/>
            <a:gdLst/>
            <a:ahLst/>
            <a:cxnLst/>
            <a:rect l="l" t="t" r="r" b="b"/>
            <a:pathLst>
              <a:path w="44698" h="45259">
                <a:moveTo>
                  <a:pt x="0" y="42801"/>
                </a:moveTo>
                <a:lnTo>
                  <a:pt x="31160" y="11227"/>
                </a:lnTo>
                <a:lnTo>
                  <a:pt x="27424" y="7539"/>
                </a:lnTo>
                <a:lnTo>
                  <a:pt x="44698" y="0"/>
                </a:lnTo>
                <a:lnTo>
                  <a:pt x="37388" y="17373"/>
                </a:lnTo>
                <a:lnTo>
                  <a:pt x="33652" y="13685"/>
                </a:lnTo>
                <a:lnTo>
                  <a:pt x="2491" y="45259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inputs_graph_node0" descr="Editable shape; source id inputs_graph_node0"/>
          <p:cNvSpPr/>
          <p:nvPr/>
        </p:nvSpPr>
        <p:spPr>
          <a:xfrm>
            <a:off x="1187450" y="71120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inputs_graph_node1" descr="Editable shape; source id inputs_graph_node1"/>
          <p:cNvSpPr/>
          <p:nvPr/>
        </p:nvSpPr>
        <p:spPr>
          <a:xfrm>
            <a:off x="1369187" y="5270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inputs_graph_node2" descr="Editable shape; source id inputs_graph_node2"/>
          <p:cNvSpPr/>
          <p:nvPr/>
        </p:nvSpPr>
        <p:spPr>
          <a:xfrm>
            <a:off x="1678813" y="5270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nputs_graph_node3" descr="Editable shape; source id inputs_graph_node3"/>
          <p:cNvSpPr/>
          <p:nvPr/>
        </p:nvSpPr>
        <p:spPr>
          <a:xfrm>
            <a:off x="1860550" y="71120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nputs_graph_node4" descr="Editable shape; source id inputs_graph_node4"/>
          <p:cNvSpPr/>
          <p:nvPr/>
        </p:nvSpPr>
        <p:spPr>
          <a:xfrm>
            <a:off x="1678813" y="8953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inputs_graph_node5" descr="Editable shape; source id inputs_graph_node5"/>
          <p:cNvSpPr/>
          <p:nvPr/>
        </p:nvSpPr>
        <p:spPr>
          <a:xfrm>
            <a:off x="1369187" y="8953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input_nodes" descr="Editable text; source id input_nodes"/>
          <p:cNvSpPr txBox="1"/>
          <p:nvPr/>
        </p:nvSpPr>
        <p:spPr>
          <a:xfrm>
            <a:off x="1130300" y="1016000"/>
            <a:ext cx="876300" cy="1397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862"/>
              </a:lnSpc>
              <a:spcBef>
                <a:spcPts val="0"/>
              </a:spcBef>
              <a:spcAft>
                <a:spcPts val="0"/>
              </a:spcAft>
              <a:defRPr sz="75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75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Clustered states</a:t>
            </a:r>
          </a:p>
        </p:txBody>
      </p:sp>
      <p:sp>
        <p:nvSpPr>
          <p:cNvPr id="33" name="input_edges" descr="Editable text; source id input_edges"/>
          <p:cNvSpPr txBox="1"/>
          <p:nvPr/>
        </p:nvSpPr>
        <p:spPr>
          <a:xfrm>
            <a:off x="1130300" y="1155700"/>
            <a:ext cx="876300" cy="1397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862"/>
              </a:lnSpc>
              <a:spcBef>
                <a:spcPts val="0"/>
              </a:spcBef>
              <a:spcAft>
                <a:spcPts val="0"/>
              </a:spcAft>
              <a:defRPr sz="75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75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Transition flow</a:t>
            </a:r>
          </a:p>
        </p:txBody>
      </p:sp>
      <p:sp>
        <p:nvSpPr>
          <p:cNvPr id="34" name="budgets" descr="Editable shape; source id budgets"/>
          <p:cNvSpPr/>
          <p:nvPr/>
        </p:nvSpPr>
        <p:spPr>
          <a:xfrm>
            <a:off x="2120900" y="38100"/>
            <a:ext cx="1054100" cy="1727200"/>
          </a:xfrm>
          <a:prstGeom prst="roundRect">
            <a:avLst>
              <a:gd name="adj" fmla="val 3614"/>
            </a:avLst>
          </a:prstGeom>
          <a:solidFill>
            <a:srgbClr val="F3F5F6"/>
          </a:solidFill>
          <a:ln w="7620">
            <a:solidFill>
              <a:srgbClr val="A6B1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budgets_title" descr="Editable text; source id budgets_title"/>
          <p:cNvSpPr txBox="1"/>
          <p:nvPr/>
        </p:nvSpPr>
        <p:spPr>
          <a:xfrm>
            <a:off x="2184400" y="76200"/>
            <a:ext cx="927100" cy="1524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defRPr sz="870" b="1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870" b="1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3. Constraints</a:t>
            </a:r>
          </a:p>
        </p:txBody>
      </p:sp>
      <p:sp>
        <p:nvSpPr>
          <p:cNvPr id="36" name="soft_title" descr="Editable text; source id soft_title"/>
          <p:cNvSpPr txBox="1"/>
          <p:nvPr/>
        </p:nvSpPr>
        <p:spPr>
          <a:xfrm>
            <a:off x="2197100" y="304800"/>
            <a:ext cx="901700" cy="1397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920"/>
              </a:lnSpc>
              <a:spcBef>
                <a:spcPts val="0"/>
              </a:spcBef>
              <a:spcAft>
                <a:spcPts val="0"/>
              </a:spcAft>
              <a:defRPr sz="800" b="1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800" b="1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Soft budgets</a:t>
            </a:r>
          </a:p>
        </p:txBody>
      </p:sp>
      <p:sp>
        <p:nvSpPr>
          <p:cNvPr id="37" name="excluded_graph_edge_0" descr="Editable line; source id excluded_graph_edge_0"/>
          <p:cNvSpPr/>
          <p:nvPr/>
        </p:nvSpPr>
        <p:spPr>
          <a:xfrm>
            <a:off x="2331585" y="1013722"/>
            <a:ext cx="116261" cy="115659"/>
          </a:xfrm>
          <a:custGeom>
            <a:avLst/>
            <a:gdLst/>
            <a:ahLst/>
            <a:cxnLst/>
            <a:rect l="l" t="t" r="r" b="b"/>
            <a:pathLst>
              <a:path w="45772" h="45535">
                <a:moveTo>
                  <a:pt x="0" y="43053"/>
                </a:moveTo>
                <a:lnTo>
                  <a:pt x="32130" y="11100"/>
                </a:lnTo>
                <a:lnTo>
                  <a:pt x="28428" y="7377"/>
                </a:lnTo>
                <a:lnTo>
                  <a:pt x="45772" y="0"/>
                </a:lnTo>
                <a:lnTo>
                  <a:pt x="38300" y="17304"/>
                </a:lnTo>
                <a:lnTo>
                  <a:pt x="34598" y="13581"/>
                </a:lnTo>
                <a:lnTo>
                  <a:pt x="2468" y="45535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xcluded_graph_edge_1" descr="Editable line; source id excluded_graph_edge_1"/>
          <p:cNvSpPr/>
          <p:nvPr/>
        </p:nvSpPr>
        <p:spPr>
          <a:xfrm>
            <a:off x="2534666" y="960120"/>
            <a:ext cx="213868" cy="35560"/>
          </a:xfrm>
          <a:custGeom>
            <a:avLst/>
            <a:gdLst/>
            <a:ahLst/>
            <a:cxnLst/>
            <a:rect l="l" t="t" r="r" b="b"/>
            <a:pathLst>
              <a:path w="84200" h="14000">
                <a:moveTo>
                  <a:pt x="0" y="5250"/>
                </a:moveTo>
                <a:lnTo>
                  <a:pt x="66700" y="5250"/>
                </a:lnTo>
                <a:lnTo>
                  <a:pt x="66700" y="0"/>
                </a:lnTo>
                <a:lnTo>
                  <a:pt x="84200" y="7000"/>
                </a:lnTo>
                <a:lnTo>
                  <a:pt x="66700" y="14000"/>
                </a:lnTo>
                <a:lnTo>
                  <a:pt x="66700" y="8750"/>
                </a:lnTo>
                <a:lnTo>
                  <a:pt x="0" y="875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xcluded_graph_edge_2" descr="Editable line; source id excluded_graph_edge_2"/>
          <p:cNvSpPr/>
          <p:nvPr/>
        </p:nvSpPr>
        <p:spPr>
          <a:xfrm>
            <a:off x="2832219" y="1010569"/>
            <a:ext cx="116261" cy="115659"/>
          </a:xfrm>
          <a:custGeom>
            <a:avLst/>
            <a:gdLst/>
            <a:ahLst/>
            <a:cxnLst/>
            <a:rect l="l" t="t" r="r" b="b"/>
            <a:pathLst>
              <a:path w="45772" h="45535">
                <a:moveTo>
                  <a:pt x="2468" y="0"/>
                </a:moveTo>
                <a:lnTo>
                  <a:pt x="34598" y="31954"/>
                </a:lnTo>
                <a:lnTo>
                  <a:pt x="38300" y="28231"/>
                </a:lnTo>
                <a:lnTo>
                  <a:pt x="45772" y="45535"/>
                </a:lnTo>
                <a:lnTo>
                  <a:pt x="28428" y="38158"/>
                </a:lnTo>
                <a:lnTo>
                  <a:pt x="32130" y="34435"/>
                </a:lnTo>
                <a:lnTo>
                  <a:pt x="0" y="2482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xcluded_graph_edge_3" descr="Editable line; source id excluded_graph_edge_3"/>
          <p:cNvSpPr/>
          <p:nvPr/>
        </p:nvSpPr>
        <p:spPr>
          <a:xfrm>
            <a:off x="2331585" y="1194719"/>
            <a:ext cx="116261" cy="115659"/>
          </a:xfrm>
          <a:custGeom>
            <a:avLst/>
            <a:gdLst/>
            <a:ahLst/>
            <a:cxnLst/>
            <a:rect l="l" t="t" r="r" b="b"/>
            <a:pathLst>
              <a:path w="45772" h="45535">
                <a:moveTo>
                  <a:pt x="2468" y="0"/>
                </a:moveTo>
                <a:lnTo>
                  <a:pt x="34598" y="31954"/>
                </a:lnTo>
                <a:lnTo>
                  <a:pt x="38300" y="28231"/>
                </a:lnTo>
                <a:lnTo>
                  <a:pt x="45772" y="45535"/>
                </a:lnTo>
                <a:lnTo>
                  <a:pt x="28428" y="38158"/>
                </a:lnTo>
                <a:lnTo>
                  <a:pt x="32130" y="34435"/>
                </a:lnTo>
                <a:lnTo>
                  <a:pt x="0" y="2482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xcluded_graph_edge_4" descr="Editable line; source id excluded_graph_edge_4"/>
          <p:cNvSpPr/>
          <p:nvPr/>
        </p:nvSpPr>
        <p:spPr>
          <a:xfrm>
            <a:off x="2534666" y="1328420"/>
            <a:ext cx="213868" cy="35560"/>
          </a:xfrm>
          <a:custGeom>
            <a:avLst/>
            <a:gdLst/>
            <a:ahLst/>
            <a:cxnLst/>
            <a:rect l="l" t="t" r="r" b="b"/>
            <a:pathLst>
              <a:path w="84200" h="14000">
                <a:moveTo>
                  <a:pt x="0" y="5250"/>
                </a:moveTo>
                <a:lnTo>
                  <a:pt x="66700" y="5250"/>
                </a:lnTo>
                <a:lnTo>
                  <a:pt x="66700" y="0"/>
                </a:lnTo>
                <a:lnTo>
                  <a:pt x="84200" y="7000"/>
                </a:lnTo>
                <a:lnTo>
                  <a:pt x="66700" y="14000"/>
                </a:lnTo>
                <a:lnTo>
                  <a:pt x="66700" y="8750"/>
                </a:lnTo>
                <a:lnTo>
                  <a:pt x="0" y="875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xcluded_graph_edge_5" descr="Editable line; source id excluded_graph_edge_5"/>
          <p:cNvSpPr/>
          <p:nvPr/>
        </p:nvSpPr>
        <p:spPr>
          <a:xfrm>
            <a:off x="2832219" y="1197872"/>
            <a:ext cx="116261" cy="115659"/>
          </a:xfrm>
          <a:custGeom>
            <a:avLst/>
            <a:gdLst/>
            <a:ahLst/>
            <a:cxnLst/>
            <a:rect l="l" t="t" r="r" b="b"/>
            <a:pathLst>
              <a:path w="45772" h="45535">
                <a:moveTo>
                  <a:pt x="0" y="43053"/>
                </a:moveTo>
                <a:lnTo>
                  <a:pt x="32130" y="11100"/>
                </a:lnTo>
                <a:lnTo>
                  <a:pt x="28428" y="7377"/>
                </a:lnTo>
                <a:lnTo>
                  <a:pt x="45772" y="0"/>
                </a:lnTo>
                <a:lnTo>
                  <a:pt x="38300" y="17304"/>
                </a:lnTo>
                <a:lnTo>
                  <a:pt x="34598" y="13581"/>
                </a:lnTo>
                <a:lnTo>
                  <a:pt x="2468" y="45535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projection" descr="Editable shape; source id projection"/>
          <p:cNvSpPr/>
          <p:nvPr/>
        </p:nvSpPr>
        <p:spPr>
          <a:xfrm>
            <a:off x="3238500" y="38100"/>
            <a:ext cx="1752600" cy="1727200"/>
          </a:xfrm>
          <a:prstGeom prst="roundRect">
            <a:avLst>
              <a:gd name="adj" fmla="val 2439"/>
            </a:avLst>
          </a:prstGeom>
          <a:solidFill>
            <a:srgbClr val="EAF6F5"/>
          </a:solidFill>
          <a:ln w="7620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projection_title" descr="Editable text; source id projection_title"/>
          <p:cNvSpPr txBox="1"/>
          <p:nvPr/>
        </p:nvSpPr>
        <p:spPr>
          <a:xfrm>
            <a:off x="3302000" y="76200"/>
            <a:ext cx="1625600" cy="1524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035"/>
              </a:lnSpc>
              <a:spcBef>
                <a:spcPts val="0"/>
              </a:spcBef>
              <a:spcAft>
                <a:spcPts val="0"/>
              </a:spcAft>
              <a:defRPr sz="900" b="1" i="0" lang="zh-CN" dirty="0">
                <a:solidFill>
                  <a:srgbClr val="087F8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900" b="1" i="0" lang="zh-CN" dirty="0">
                <a:solidFill>
                  <a:srgbClr val="087F8C"/>
                </a:solidFill>
                <a:latin typeface="Liberation Serif"/>
                <a:ea typeface="Liberation Serif"/>
                <a:cs typeface="Liberation Serif"/>
              </a:rPr>
              <a:t>4. SafeOT projection</a:t>
            </a:r>
          </a:p>
        </p:txBody>
      </p:sp>
      <p:sp>
        <p:nvSpPr>
          <p:cNvPr id="55" name="before_edge_0" descr="Editable line; source id before_edge_0"/>
          <p:cNvSpPr/>
          <p:nvPr/>
        </p:nvSpPr>
        <p:spPr>
          <a:xfrm>
            <a:off x="3436181" y="772701"/>
            <a:ext cx="82555" cy="83325"/>
          </a:xfrm>
          <a:custGeom>
            <a:avLst/>
            <a:gdLst/>
            <a:ahLst/>
            <a:cxnLst/>
            <a:rect l="l" t="t" r="r" b="b"/>
            <a:pathLst>
              <a:path w="32502" h="32805">
                <a:moveTo>
                  <a:pt x="0" y="30343"/>
                </a:moveTo>
                <a:lnTo>
                  <a:pt x="18946" y="11205"/>
                </a:lnTo>
                <a:lnTo>
                  <a:pt x="15216" y="7512"/>
                </a:lnTo>
                <a:lnTo>
                  <a:pt x="32502" y="0"/>
                </a:lnTo>
                <a:lnTo>
                  <a:pt x="25165" y="17361"/>
                </a:lnTo>
                <a:lnTo>
                  <a:pt x="21434" y="13668"/>
                </a:lnTo>
                <a:lnTo>
                  <a:pt x="2488" y="32805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before_edge_1" descr="Editable line; source id before_edge_1"/>
          <p:cNvSpPr/>
          <p:nvPr/>
        </p:nvSpPr>
        <p:spPr>
          <a:xfrm>
            <a:off x="3605276" y="718820"/>
            <a:ext cx="155448" cy="35560"/>
          </a:xfrm>
          <a:custGeom>
            <a:avLst/>
            <a:gdLst/>
            <a:ahLst/>
            <a:cxnLst/>
            <a:rect l="l" t="t" r="r" b="b"/>
            <a:pathLst>
              <a:path w="61200" h="14000">
                <a:moveTo>
                  <a:pt x="0" y="5250"/>
                </a:moveTo>
                <a:lnTo>
                  <a:pt x="43700" y="5250"/>
                </a:lnTo>
                <a:lnTo>
                  <a:pt x="43700" y="0"/>
                </a:lnTo>
                <a:lnTo>
                  <a:pt x="61200" y="7000"/>
                </a:lnTo>
                <a:lnTo>
                  <a:pt x="43700" y="14000"/>
                </a:lnTo>
                <a:lnTo>
                  <a:pt x="43700" y="8750"/>
                </a:lnTo>
                <a:lnTo>
                  <a:pt x="0" y="875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before_edge_2" descr="Editable line; source id before_edge_2"/>
          <p:cNvSpPr/>
          <p:nvPr/>
        </p:nvSpPr>
        <p:spPr>
          <a:xfrm>
            <a:off x="3844105" y="769574"/>
            <a:ext cx="82555" cy="83325"/>
          </a:xfrm>
          <a:custGeom>
            <a:avLst/>
            <a:gdLst/>
            <a:ahLst/>
            <a:cxnLst/>
            <a:rect l="l" t="t" r="r" b="b"/>
            <a:pathLst>
              <a:path w="32502" h="32805">
                <a:moveTo>
                  <a:pt x="2488" y="0"/>
                </a:moveTo>
                <a:lnTo>
                  <a:pt x="21434" y="19137"/>
                </a:lnTo>
                <a:lnTo>
                  <a:pt x="25165" y="15444"/>
                </a:lnTo>
                <a:lnTo>
                  <a:pt x="32502" y="32805"/>
                </a:lnTo>
                <a:lnTo>
                  <a:pt x="15216" y="25293"/>
                </a:lnTo>
                <a:lnTo>
                  <a:pt x="18946" y="21600"/>
                </a:lnTo>
                <a:lnTo>
                  <a:pt x="0" y="2462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before_edge_3" descr="Editable line; source id before_edge_3"/>
          <p:cNvSpPr/>
          <p:nvPr/>
        </p:nvSpPr>
        <p:spPr>
          <a:xfrm>
            <a:off x="3436181" y="921974"/>
            <a:ext cx="82555" cy="83325"/>
          </a:xfrm>
          <a:custGeom>
            <a:avLst/>
            <a:gdLst/>
            <a:ahLst/>
            <a:cxnLst/>
            <a:rect l="l" t="t" r="r" b="b"/>
            <a:pathLst>
              <a:path w="32502" h="32805">
                <a:moveTo>
                  <a:pt x="2488" y="0"/>
                </a:moveTo>
                <a:lnTo>
                  <a:pt x="21434" y="19137"/>
                </a:lnTo>
                <a:lnTo>
                  <a:pt x="25165" y="15444"/>
                </a:lnTo>
                <a:lnTo>
                  <a:pt x="32502" y="32805"/>
                </a:lnTo>
                <a:lnTo>
                  <a:pt x="15216" y="25293"/>
                </a:lnTo>
                <a:lnTo>
                  <a:pt x="18946" y="21600"/>
                </a:lnTo>
                <a:lnTo>
                  <a:pt x="0" y="2462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before_edge_4" descr="Editable line; source id before_edge_4"/>
          <p:cNvSpPr/>
          <p:nvPr/>
        </p:nvSpPr>
        <p:spPr>
          <a:xfrm>
            <a:off x="3605276" y="1023620"/>
            <a:ext cx="155448" cy="35560"/>
          </a:xfrm>
          <a:custGeom>
            <a:avLst/>
            <a:gdLst/>
            <a:ahLst/>
            <a:cxnLst/>
            <a:rect l="l" t="t" r="r" b="b"/>
            <a:pathLst>
              <a:path w="61200" h="14000">
                <a:moveTo>
                  <a:pt x="0" y="5250"/>
                </a:moveTo>
                <a:lnTo>
                  <a:pt x="43700" y="5250"/>
                </a:lnTo>
                <a:lnTo>
                  <a:pt x="43700" y="0"/>
                </a:lnTo>
                <a:lnTo>
                  <a:pt x="61200" y="7000"/>
                </a:lnTo>
                <a:lnTo>
                  <a:pt x="43700" y="14000"/>
                </a:lnTo>
                <a:lnTo>
                  <a:pt x="43700" y="8750"/>
                </a:lnTo>
                <a:lnTo>
                  <a:pt x="0" y="875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before_edge_5" descr="Editable line; source id before_edge_5"/>
          <p:cNvSpPr/>
          <p:nvPr/>
        </p:nvSpPr>
        <p:spPr>
          <a:xfrm>
            <a:off x="3844105" y="925101"/>
            <a:ext cx="82555" cy="83325"/>
          </a:xfrm>
          <a:custGeom>
            <a:avLst/>
            <a:gdLst/>
            <a:ahLst/>
            <a:cxnLst/>
            <a:rect l="l" t="t" r="r" b="b"/>
            <a:pathLst>
              <a:path w="32502" h="32805">
                <a:moveTo>
                  <a:pt x="0" y="30343"/>
                </a:moveTo>
                <a:lnTo>
                  <a:pt x="18946" y="11205"/>
                </a:lnTo>
                <a:lnTo>
                  <a:pt x="15216" y="7512"/>
                </a:lnTo>
                <a:lnTo>
                  <a:pt x="32502" y="0"/>
                </a:lnTo>
                <a:lnTo>
                  <a:pt x="25165" y="17361"/>
                </a:lnTo>
                <a:lnTo>
                  <a:pt x="21434" y="13668"/>
                </a:lnTo>
                <a:lnTo>
                  <a:pt x="2488" y="32805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before_node0" descr="Editable shape; source id before_node0"/>
          <p:cNvSpPr/>
          <p:nvPr/>
        </p:nvSpPr>
        <p:spPr>
          <a:xfrm>
            <a:off x="3359150" y="8445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before_node1" descr="Editable shape; source id before_node1"/>
          <p:cNvSpPr/>
          <p:nvPr/>
        </p:nvSpPr>
        <p:spPr>
          <a:xfrm>
            <a:off x="3510026" y="6921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before_node2" descr="Editable shape; source id before_node2"/>
          <p:cNvSpPr/>
          <p:nvPr/>
        </p:nvSpPr>
        <p:spPr>
          <a:xfrm>
            <a:off x="3767074" y="6921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before_node3" descr="Editable shape; source id before_node3"/>
          <p:cNvSpPr/>
          <p:nvPr/>
        </p:nvSpPr>
        <p:spPr>
          <a:xfrm>
            <a:off x="3917950" y="8445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before_node4" descr="Editable shape; source id before_node4"/>
          <p:cNvSpPr/>
          <p:nvPr/>
        </p:nvSpPr>
        <p:spPr>
          <a:xfrm>
            <a:off x="3767074" y="9969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before_node5" descr="Editable shape; source id before_node5"/>
          <p:cNvSpPr/>
          <p:nvPr/>
        </p:nvSpPr>
        <p:spPr>
          <a:xfrm>
            <a:off x="3510026" y="9969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after_edge_0" descr="Editable line; source id after_edge_0"/>
          <p:cNvSpPr/>
          <p:nvPr/>
        </p:nvSpPr>
        <p:spPr>
          <a:xfrm>
            <a:off x="4299781" y="772701"/>
            <a:ext cx="82555" cy="83325"/>
          </a:xfrm>
          <a:custGeom>
            <a:avLst/>
            <a:gdLst/>
            <a:ahLst/>
            <a:cxnLst/>
            <a:rect l="l" t="t" r="r" b="b"/>
            <a:pathLst>
              <a:path w="32502" h="32805">
                <a:moveTo>
                  <a:pt x="0" y="30343"/>
                </a:moveTo>
                <a:lnTo>
                  <a:pt x="18946" y="11205"/>
                </a:lnTo>
                <a:lnTo>
                  <a:pt x="15216" y="7512"/>
                </a:lnTo>
                <a:lnTo>
                  <a:pt x="32502" y="0"/>
                </a:lnTo>
                <a:lnTo>
                  <a:pt x="25165" y="17361"/>
                </a:lnTo>
                <a:lnTo>
                  <a:pt x="21434" y="13668"/>
                </a:lnTo>
                <a:lnTo>
                  <a:pt x="2488" y="32805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after_edge_1" descr="Editable line; source id after_edge_1"/>
          <p:cNvSpPr/>
          <p:nvPr/>
        </p:nvSpPr>
        <p:spPr>
          <a:xfrm>
            <a:off x="4468876" y="718820"/>
            <a:ext cx="155448" cy="35560"/>
          </a:xfrm>
          <a:custGeom>
            <a:avLst/>
            <a:gdLst/>
            <a:ahLst/>
            <a:cxnLst/>
            <a:rect l="l" t="t" r="r" b="b"/>
            <a:pathLst>
              <a:path w="61200" h="14000">
                <a:moveTo>
                  <a:pt x="0" y="5250"/>
                </a:moveTo>
                <a:lnTo>
                  <a:pt x="43700" y="5250"/>
                </a:lnTo>
                <a:lnTo>
                  <a:pt x="43700" y="0"/>
                </a:lnTo>
                <a:lnTo>
                  <a:pt x="61200" y="7000"/>
                </a:lnTo>
                <a:lnTo>
                  <a:pt x="43700" y="14000"/>
                </a:lnTo>
                <a:lnTo>
                  <a:pt x="43700" y="8750"/>
                </a:lnTo>
                <a:lnTo>
                  <a:pt x="0" y="875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after_edge_2" descr="Editable line; source id after_edge_2"/>
          <p:cNvSpPr/>
          <p:nvPr/>
        </p:nvSpPr>
        <p:spPr>
          <a:xfrm>
            <a:off x="4707705" y="769574"/>
            <a:ext cx="82555" cy="83325"/>
          </a:xfrm>
          <a:custGeom>
            <a:avLst/>
            <a:gdLst/>
            <a:ahLst/>
            <a:cxnLst/>
            <a:rect l="l" t="t" r="r" b="b"/>
            <a:pathLst>
              <a:path w="32502" h="32805">
                <a:moveTo>
                  <a:pt x="2488" y="0"/>
                </a:moveTo>
                <a:lnTo>
                  <a:pt x="21434" y="19137"/>
                </a:lnTo>
                <a:lnTo>
                  <a:pt x="25165" y="15444"/>
                </a:lnTo>
                <a:lnTo>
                  <a:pt x="32502" y="32805"/>
                </a:lnTo>
                <a:lnTo>
                  <a:pt x="15216" y="25293"/>
                </a:lnTo>
                <a:lnTo>
                  <a:pt x="18946" y="21600"/>
                </a:lnTo>
                <a:lnTo>
                  <a:pt x="0" y="2462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after_edge_3" descr="Editable line; source id after_edge_3"/>
          <p:cNvSpPr/>
          <p:nvPr/>
        </p:nvSpPr>
        <p:spPr>
          <a:xfrm>
            <a:off x="4294817" y="917059"/>
            <a:ext cx="87518" cy="88240"/>
          </a:xfrm>
          <a:custGeom>
            <a:avLst/>
            <a:gdLst/>
            <a:ahLst/>
            <a:cxnLst/>
            <a:rect l="l" t="t" r="r" b="b"/>
            <a:pathLst>
              <a:path w="34456" h="34740">
                <a:moveTo>
                  <a:pt x="6396" y="0"/>
                </a:moveTo>
                <a:lnTo>
                  <a:pt x="25342" y="19138"/>
                </a:lnTo>
                <a:lnTo>
                  <a:pt x="27119" y="17379"/>
                </a:lnTo>
                <a:lnTo>
                  <a:pt x="34456" y="34740"/>
                </a:lnTo>
                <a:lnTo>
                  <a:pt x="17170" y="27228"/>
                </a:lnTo>
                <a:lnTo>
                  <a:pt x="18946" y="25470"/>
                </a:lnTo>
                <a:lnTo>
                  <a:pt x="0" y="6332"/>
                </a:lnTo>
                <a:close/>
              </a:path>
            </a:pathLst>
          </a:cu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after_edge_4" descr="Editable line; source id after_edge_4"/>
          <p:cNvSpPr/>
          <p:nvPr/>
        </p:nvSpPr>
        <p:spPr>
          <a:xfrm>
            <a:off x="4468876" y="1023620"/>
            <a:ext cx="155448" cy="35560"/>
          </a:xfrm>
          <a:custGeom>
            <a:avLst/>
            <a:gdLst/>
            <a:ahLst/>
            <a:cxnLst/>
            <a:rect l="l" t="t" r="r" b="b"/>
            <a:pathLst>
              <a:path w="61200" h="14000">
                <a:moveTo>
                  <a:pt x="0" y="2500"/>
                </a:moveTo>
                <a:lnTo>
                  <a:pt x="43700" y="2500"/>
                </a:lnTo>
                <a:lnTo>
                  <a:pt x="43700" y="0"/>
                </a:lnTo>
                <a:lnTo>
                  <a:pt x="61200" y="7000"/>
                </a:lnTo>
                <a:lnTo>
                  <a:pt x="43700" y="14000"/>
                </a:lnTo>
                <a:lnTo>
                  <a:pt x="43700" y="11500"/>
                </a:lnTo>
                <a:lnTo>
                  <a:pt x="0" y="11500"/>
                </a:lnTo>
                <a:close/>
              </a:path>
            </a:pathLst>
          </a:cu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after_edge_5" descr="Editable line; source id after_edge_5"/>
          <p:cNvSpPr/>
          <p:nvPr/>
        </p:nvSpPr>
        <p:spPr>
          <a:xfrm>
            <a:off x="4702741" y="925101"/>
            <a:ext cx="87518" cy="88240"/>
          </a:xfrm>
          <a:custGeom>
            <a:avLst/>
            <a:gdLst/>
            <a:ahLst/>
            <a:cxnLst/>
            <a:rect l="l" t="t" r="r" b="b"/>
            <a:pathLst>
              <a:path w="34456" h="34740">
                <a:moveTo>
                  <a:pt x="0" y="28408"/>
                </a:moveTo>
                <a:lnTo>
                  <a:pt x="18946" y="9270"/>
                </a:lnTo>
                <a:lnTo>
                  <a:pt x="17170" y="7512"/>
                </a:lnTo>
                <a:lnTo>
                  <a:pt x="34456" y="0"/>
                </a:lnTo>
                <a:lnTo>
                  <a:pt x="27119" y="17361"/>
                </a:lnTo>
                <a:lnTo>
                  <a:pt x="25342" y="15602"/>
                </a:lnTo>
                <a:lnTo>
                  <a:pt x="6396" y="34740"/>
                </a:lnTo>
                <a:close/>
              </a:path>
            </a:pathLst>
          </a:cu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route" descr="Editable line; source id reroute"/>
          <p:cNvSpPr/>
          <p:nvPr/>
        </p:nvSpPr>
        <p:spPr>
          <a:xfrm>
            <a:off x="3987800" y="871220"/>
            <a:ext cx="203200" cy="35560"/>
          </a:xfrm>
          <a:custGeom>
            <a:avLst/>
            <a:gdLst/>
            <a:ahLst/>
            <a:cxnLst/>
            <a:rect l="l" t="t" r="r" b="b"/>
            <a:pathLst>
              <a:path w="80000" h="14000">
                <a:moveTo>
                  <a:pt x="0" y="4750"/>
                </a:moveTo>
                <a:lnTo>
                  <a:pt x="62500" y="4750"/>
                </a:lnTo>
                <a:lnTo>
                  <a:pt x="62500" y="0"/>
                </a:lnTo>
                <a:lnTo>
                  <a:pt x="80000" y="7000"/>
                </a:lnTo>
                <a:lnTo>
                  <a:pt x="62500" y="14000"/>
                </a:lnTo>
                <a:lnTo>
                  <a:pt x="62500" y="9250"/>
                </a:lnTo>
                <a:lnTo>
                  <a:pt x="0" y="9250"/>
                </a:lnTo>
                <a:close/>
              </a:path>
            </a:pathLst>
          </a:cu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op_a" descr="Editable line; source id top_a"/>
          <p:cNvSpPr/>
          <p:nvPr/>
        </p:nvSpPr>
        <p:spPr>
          <a:xfrm>
            <a:off x="1022350" y="795020"/>
            <a:ext cx="50800" cy="35560"/>
          </a:xfrm>
          <a:custGeom>
            <a:avLst/>
            <a:gdLst/>
            <a:ahLst/>
            <a:cxnLst/>
            <a:rect l="l" t="t" r="r" b="b"/>
            <a:pathLst>
              <a:path w="20000" h="14000">
                <a:moveTo>
                  <a:pt x="0" y="5000"/>
                </a:moveTo>
                <a:lnTo>
                  <a:pt x="4000" y="5000"/>
                </a:lnTo>
                <a:lnTo>
                  <a:pt x="4000" y="0"/>
                </a:lnTo>
                <a:lnTo>
                  <a:pt x="20000" y="7000"/>
                </a:lnTo>
                <a:lnTo>
                  <a:pt x="4000" y="14000"/>
                </a:lnTo>
                <a:lnTo>
                  <a:pt x="4000" y="9000"/>
                </a:lnTo>
                <a:lnTo>
                  <a:pt x="0" y="900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op_b" descr="Editable line; source id top_b"/>
          <p:cNvSpPr/>
          <p:nvPr/>
        </p:nvSpPr>
        <p:spPr>
          <a:xfrm>
            <a:off x="2063750" y="795020"/>
            <a:ext cx="50800" cy="35560"/>
          </a:xfrm>
          <a:custGeom>
            <a:avLst/>
            <a:gdLst/>
            <a:ahLst/>
            <a:cxnLst/>
            <a:rect l="l" t="t" r="r" b="b"/>
            <a:pathLst>
              <a:path w="20000" h="14000">
                <a:moveTo>
                  <a:pt x="0" y="5000"/>
                </a:moveTo>
                <a:lnTo>
                  <a:pt x="4000" y="5000"/>
                </a:lnTo>
                <a:lnTo>
                  <a:pt x="4000" y="0"/>
                </a:lnTo>
                <a:lnTo>
                  <a:pt x="20000" y="7000"/>
                </a:lnTo>
                <a:lnTo>
                  <a:pt x="4000" y="14000"/>
                </a:lnTo>
                <a:lnTo>
                  <a:pt x="4000" y="9000"/>
                </a:lnTo>
                <a:lnTo>
                  <a:pt x="0" y="900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op_c" descr="Editable line; source id top_c"/>
          <p:cNvSpPr/>
          <p:nvPr/>
        </p:nvSpPr>
        <p:spPr>
          <a:xfrm>
            <a:off x="3181350" y="795020"/>
            <a:ext cx="50800" cy="35560"/>
          </a:xfrm>
          <a:custGeom>
            <a:avLst/>
            <a:gdLst/>
            <a:ahLst/>
            <a:cxnLst/>
            <a:rect l="l" t="t" r="r" b="b"/>
            <a:pathLst>
              <a:path w="20000" h="14000">
                <a:moveTo>
                  <a:pt x="0" y="5000"/>
                </a:moveTo>
                <a:lnTo>
                  <a:pt x="4000" y="5000"/>
                </a:lnTo>
                <a:lnTo>
                  <a:pt x="4000" y="0"/>
                </a:lnTo>
                <a:lnTo>
                  <a:pt x="20000" y="7000"/>
                </a:lnTo>
                <a:lnTo>
                  <a:pt x="4000" y="14000"/>
                </a:lnTo>
                <a:lnTo>
                  <a:pt x="4000" y="9000"/>
                </a:lnTo>
                <a:lnTo>
                  <a:pt x="0" y="900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update" descr="Editable shape; source id update"/>
          <p:cNvSpPr/>
          <p:nvPr/>
        </p:nvSpPr>
        <p:spPr>
          <a:xfrm>
            <a:off x="38100" y="2209800"/>
            <a:ext cx="4953000" cy="685800"/>
          </a:xfrm>
          <a:prstGeom prst="roundRect">
            <a:avLst>
              <a:gd name="adj" fmla="val 5084"/>
            </a:avLst>
          </a:prstGeom>
          <a:solidFill>
            <a:srgbClr val="F3F5F6"/>
          </a:solidFill>
          <a:ln w="7620">
            <a:solidFill>
              <a:srgbClr val="A6B1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sum" descr="Editable shape; source id sum"/>
          <p:cNvSpPr/>
          <p:nvPr/>
        </p:nvSpPr>
        <p:spPr>
          <a:xfrm>
            <a:off x="1663700" y="2527300"/>
            <a:ext cx="152400" cy="1524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actor_step" descr="Editable shape; source id actor_step"/>
          <p:cNvSpPr/>
          <p:nvPr/>
        </p:nvSpPr>
        <p:spPr>
          <a:xfrm>
            <a:off x="3975100" y="2476500"/>
            <a:ext cx="546100" cy="279400"/>
          </a:xfrm>
          <a:prstGeom prst="roundRect">
            <a:avLst>
              <a:gd name="adj" fmla="val 13043"/>
            </a:avLst>
          </a:prstGeom>
          <a:solidFill>
            <a:srgbClr val="F3F5F6"/>
          </a:solidFill>
          <a:ln w="7620">
            <a:solidFill>
              <a:srgbClr val="A6B1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filter_box" descr="Editable shape; source id filter_box"/>
          <p:cNvSpPr/>
          <p:nvPr/>
        </p:nvSpPr>
        <p:spPr>
          <a:xfrm>
            <a:off x="1828800" y="1917700"/>
            <a:ext cx="1917700" cy="228600"/>
          </a:xfrm>
          <a:prstGeom prst="roundRect">
            <a:avLst>
              <a:gd name="adj" fmla="val 23076"/>
            </a:avLst>
          </a:prstGeom>
          <a:solidFill>
            <a:srgbClr val="EAF6F5"/>
          </a:solidFill>
          <a:ln w="7620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GAE_label"/>
          <p:cNvSpPr txBox="1"/>
          <p:nvPr/>
        </p:nvSpPr>
        <p:spPr>
          <a:xfrm>
            <a:off x="101600" y="1117600"/>
            <a:ext cx="8509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24343D"/>
                </a:solidFill>
                <a:latin typeface="Liberation Serif"/>
              </a:rPr>
              <a:t>Rollout + GAE</a:t>
            </a:r>
          </a:p>
        </p:txBody>
      </p:sp>
      <p:sp>
        <p:nvSpPr>
          <p:cNvPr id="124" name="observed_J_label"/>
          <p:cNvSpPr txBox="1"/>
          <p:nvPr/>
        </p:nvSpPr>
        <p:spPr>
          <a:xfrm>
            <a:off x="368300" y="1524000"/>
            <a:ext cx="596900" cy="241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BA5B20"/>
                </a:solidFill>
                <a:latin typeface="Liberation Serif"/>
              </a:rPr>
              <a:t>observed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BA5B20"/>
                </a:solidFill>
                <a:latin typeface="Liberation Serif"/>
              </a:rPr>
              <a:t>episode cost</a:t>
            </a:r>
          </a:p>
        </p:txBody>
      </p:sp>
      <p:cxnSp>
        <p:nvCxnSpPr>
          <p:cNvPr id="125" name="excluded_graph_hard_0"/>
          <p:cNvCxnSpPr/>
          <p:nvPr/>
        </p:nvCxnSpPr>
        <p:spPr>
          <a:xfrm>
            <a:off x="2483866" y="977900"/>
            <a:ext cx="315468" cy="368300"/>
          </a:xfrm>
          <a:prstGeom prst="line">
            <a:avLst/>
          </a:prstGeom>
          <a:ln w="10160">
            <a:solidFill>
              <a:srgbClr val="AD3C3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excluded_graph_x1_0"/>
          <p:cNvCxnSpPr/>
          <p:nvPr/>
        </p:nvCxnSpPr>
        <p:spPr>
          <a:xfrm>
            <a:off x="2611120" y="1131570"/>
            <a:ext cx="60960" cy="60960"/>
          </a:xfrm>
          <a:prstGeom prst="line">
            <a:avLst/>
          </a:prstGeom>
          <a:ln w="15240">
            <a:solidFill>
              <a:srgbClr val="AD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excluded_graph_x2_0"/>
          <p:cNvCxnSpPr/>
          <p:nvPr/>
        </p:nvCxnSpPr>
        <p:spPr>
          <a:xfrm flipV="1">
            <a:off x="2611120" y="1131570"/>
            <a:ext cx="60960" cy="60960"/>
          </a:xfrm>
          <a:prstGeom prst="line">
            <a:avLst/>
          </a:prstGeom>
          <a:ln w="15240">
            <a:solidFill>
              <a:srgbClr val="AD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excluded_graph_node0" descr="Editable shape; source id excluded_graph_node0"/>
          <p:cNvSpPr/>
          <p:nvPr/>
        </p:nvSpPr>
        <p:spPr>
          <a:xfrm>
            <a:off x="2254250" y="111760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excluded_graph_node1" descr="Editable shape; source id excluded_graph_node1"/>
          <p:cNvSpPr/>
          <p:nvPr/>
        </p:nvSpPr>
        <p:spPr>
          <a:xfrm>
            <a:off x="2439416" y="9334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xcluded_graph_node2" descr="Editable shape; source id excluded_graph_node2"/>
          <p:cNvSpPr/>
          <p:nvPr/>
        </p:nvSpPr>
        <p:spPr>
          <a:xfrm>
            <a:off x="2754884" y="9334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excluded_graph_node3" descr="Editable shape; source id excluded_graph_node3"/>
          <p:cNvSpPr/>
          <p:nvPr/>
        </p:nvSpPr>
        <p:spPr>
          <a:xfrm>
            <a:off x="2940050" y="111760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excluded_graph_node4" descr="Editable shape; source id excluded_graph_node4"/>
          <p:cNvSpPr/>
          <p:nvPr/>
        </p:nvSpPr>
        <p:spPr>
          <a:xfrm>
            <a:off x="2754884" y="13017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excluded_graph_node5" descr="Editable shape; source id excluded_graph_node5"/>
          <p:cNvSpPr/>
          <p:nvPr/>
        </p:nvSpPr>
        <p:spPr>
          <a:xfrm>
            <a:off x="2439416" y="13017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8" name="after_hard_0"/>
          <p:cNvCxnSpPr/>
          <p:nvPr/>
        </p:nvCxnSpPr>
        <p:spPr>
          <a:xfrm>
            <a:off x="4418076" y="736600"/>
            <a:ext cx="257048" cy="304800"/>
          </a:xfrm>
          <a:prstGeom prst="line">
            <a:avLst/>
          </a:prstGeom>
          <a:ln w="10160">
            <a:solidFill>
              <a:srgbClr val="AD3C3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after_x1_0"/>
          <p:cNvCxnSpPr/>
          <p:nvPr/>
        </p:nvCxnSpPr>
        <p:spPr>
          <a:xfrm>
            <a:off x="4516120" y="858519"/>
            <a:ext cx="60960" cy="60961"/>
          </a:xfrm>
          <a:prstGeom prst="line">
            <a:avLst/>
          </a:prstGeom>
          <a:ln w="15240">
            <a:solidFill>
              <a:srgbClr val="AD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after_x2_0"/>
          <p:cNvCxnSpPr/>
          <p:nvPr/>
        </p:nvCxnSpPr>
        <p:spPr>
          <a:xfrm flipV="1">
            <a:off x="4516120" y="858519"/>
            <a:ext cx="60960" cy="60961"/>
          </a:xfrm>
          <a:prstGeom prst="line">
            <a:avLst/>
          </a:prstGeom>
          <a:ln w="15240">
            <a:solidFill>
              <a:srgbClr val="AD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after_node0" descr="Editable shape; source id after_node0"/>
          <p:cNvSpPr/>
          <p:nvPr/>
        </p:nvSpPr>
        <p:spPr>
          <a:xfrm>
            <a:off x="4222750" y="8445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after_node1" descr="Editable shape; source id after_node1"/>
          <p:cNvSpPr/>
          <p:nvPr/>
        </p:nvSpPr>
        <p:spPr>
          <a:xfrm>
            <a:off x="4373626" y="6921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after_node2" descr="Editable shape; source id after_node2"/>
          <p:cNvSpPr/>
          <p:nvPr/>
        </p:nvSpPr>
        <p:spPr>
          <a:xfrm>
            <a:off x="4630674" y="6921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after_node3" descr="Editable shape; source id after_node3"/>
          <p:cNvSpPr/>
          <p:nvPr/>
        </p:nvSpPr>
        <p:spPr>
          <a:xfrm>
            <a:off x="4781550" y="8445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after_node4" descr="Editable shape; source id after_node4"/>
          <p:cNvSpPr/>
          <p:nvPr/>
        </p:nvSpPr>
        <p:spPr>
          <a:xfrm>
            <a:off x="4630674" y="9969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after_node5" descr="Editable shape; source id after_node5"/>
          <p:cNvSpPr/>
          <p:nvPr/>
        </p:nvSpPr>
        <p:spPr>
          <a:xfrm>
            <a:off x="4373626" y="9969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hard_label"/>
          <p:cNvSpPr txBox="1"/>
          <p:nvPr/>
        </p:nvSpPr>
        <p:spPr>
          <a:xfrm>
            <a:off x="2197100" y="1612900"/>
            <a:ext cx="90170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24343D"/>
                </a:solidFill>
                <a:latin typeface="Liberation Serif"/>
              </a:rPr>
              <a:t>Hard exclusions</a:t>
            </a:r>
          </a:p>
        </p:txBody>
      </p:sp>
      <p:sp>
        <p:nvSpPr>
          <p:cNvPr id="132" name="flow_balance"/>
          <p:cNvSpPr txBox="1"/>
          <p:nvPr/>
        </p:nvSpPr>
        <p:spPr>
          <a:xfrm>
            <a:off x="3302000" y="546100"/>
            <a:ext cx="165100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24343D"/>
                </a:solidFill>
                <a:latin typeface="Liberation Serif"/>
              </a:rPr>
              <a:t>s.t. flow balance + constraints</a:t>
            </a:r>
          </a:p>
        </p:txBody>
      </p:sp>
      <p:sp>
        <p:nvSpPr>
          <p:cNvPr id="133" name="target_only"/>
          <p:cNvSpPr txBox="1"/>
          <p:nvPr/>
        </p:nvSpPr>
        <p:spPr>
          <a:xfrm>
            <a:off x="3289300" y="1435100"/>
            <a:ext cx="16510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087F8C"/>
                </a:solidFill>
                <a:latin typeface="Liberation Serif"/>
              </a:rPr>
              <a:t>Target flow is not executed</a:t>
            </a:r>
          </a:p>
        </p:txBody>
      </p:sp>
      <p:sp>
        <p:nvSpPr>
          <p:cNvPr id="134" name="update_title"/>
          <p:cNvSpPr txBox="1"/>
          <p:nvPr/>
        </p:nvSpPr>
        <p:spPr>
          <a:xfrm>
            <a:off x="101600" y="2247900"/>
            <a:ext cx="11557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4343D"/>
                </a:solidFill>
                <a:latin typeface="Liberation Serif"/>
              </a:rPr>
              <a:t>5. Priced update</a:t>
            </a:r>
          </a:p>
        </p:txBody>
      </p:sp>
      <p:sp>
        <p:nvSpPr>
          <p:cNvPr id="135" name="sum_sign"/>
          <p:cNvSpPr txBox="1"/>
          <p:nvPr/>
        </p:nvSpPr>
        <p:spPr>
          <a:xfrm>
            <a:off x="1676400" y="2540000"/>
            <a:ext cx="12700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4343D"/>
                </a:solidFill>
                <a:latin typeface="Liberation Serif"/>
              </a:rPr>
              <a:t>+</a:t>
            </a:r>
          </a:p>
        </p:txBody>
      </p:sp>
      <p:cxnSp>
        <p:nvCxnSpPr>
          <p:cNvPr id="136" name="beta_to_sum_0"/>
          <p:cNvCxnSpPr/>
          <p:nvPr/>
        </p:nvCxnSpPr>
        <p:spPr>
          <a:xfrm>
            <a:off x="1574800" y="2603500"/>
            <a:ext cx="63500" cy="0"/>
          </a:xfrm>
          <a:prstGeom prst="line">
            <a:avLst/>
          </a:prstGeom>
          <a:ln w="10160">
            <a:solidFill>
              <a:srgbClr val="BA5B2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um_to_price_0"/>
          <p:cNvCxnSpPr/>
          <p:nvPr/>
        </p:nvCxnSpPr>
        <p:spPr>
          <a:xfrm>
            <a:off x="1841500" y="2603500"/>
            <a:ext cx="63500" cy="0"/>
          </a:xfrm>
          <a:prstGeom prst="line">
            <a:avLst/>
          </a:prstGeom>
          <a:ln w="10160">
            <a:solidFill>
              <a:srgbClr val="66747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price_to_adv_0"/>
          <p:cNvCxnSpPr/>
          <p:nvPr/>
        </p:nvCxnSpPr>
        <p:spPr>
          <a:xfrm>
            <a:off x="2247900" y="2603500"/>
            <a:ext cx="88900" cy="0"/>
          </a:xfrm>
          <a:prstGeom prst="line">
            <a:avLst/>
          </a:prstGeom>
          <a:ln w="10160">
            <a:solidFill>
              <a:srgbClr val="66747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adv_to_actor_0"/>
          <p:cNvCxnSpPr/>
          <p:nvPr/>
        </p:nvCxnSpPr>
        <p:spPr>
          <a:xfrm>
            <a:off x="3822700" y="2603500"/>
            <a:ext cx="127000" cy="0"/>
          </a:xfrm>
          <a:prstGeom prst="line">
            <a:avLst/>
          </a:prstGeom>
          <a:ln w="10160">
            <a:solidFill>
              <a:srgbClr val="66747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actor_step_text"/>
          <p:cNvSpPr txBox="1"/>
          <p:nvPr/>
        </p:nvSpPr>
        <p:spPr>
          <a:xfrm>
            <a:off x="3987800" y="2540000"/>
            <a:ext cx="5207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24343D"/>
                </a:solidFill>
                <a:latin typeface="Liberation Serif"/>
              </a:rPr>
              <a:t>PPO/TRPO</a:t>
            </a:r>
          </a:p>
        </p:txBody>
      </p:sp>
      <p:cxnSp>
        <p:nvCxnSpPr>
          <p:cNvPr id="141" name="actor_to_policy_0"/>
          <p:cNvCxnSpPr/>
          <p:nvPr/>
        </p:nvCxnSpPr>
        <p:spPr>
          <a:xfrm>
            <a:off x="4533900" y="2603500"/>
            <a:ext cx="63500" cy="0"/>
          </a:xfrm>
          <a:prstGeom prst="line">
            <a:avLst/>
          </a:prstGeom>
          <a:ln w="10160">
            <a:solidFill>
              <a:srgbClr val="66747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gae_route_0"/>
          <p:cNvCxnSpPr/>
          <p:nvPr/>
        </p:nvCxnSpPr>
        <p:spPr>
          <a:xfrm>
            <a:off x="825500" y="1447800"/>
            <a:ext cx="215900" cy="0"/>
          </a:xfrm>
          <a:prstGeom prst="line">
            <a:avLst/>
          </a:prstGeom>
          <a:ln w="8890">
            <a:solidFill>
              <a:srgbClr val="667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gae_route_1"/>
          <p:cNvCxnSpPr/>
          <p:nvPr/>
        </p:nvCxnSpPr>
        <p:spPr>
          <a:xfrm>
            <a:off x="1041400" y="1447800"/>
            <a:ext cx="0" cy="393700"/>
          </a:xfrm>
          <a:prstGeom prst="line">
            <a:avLst/>
          </a:prstGeom>
          <a:ln w="8890">
            <a:solidFill>
              <a:srgbClr val="667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gae_route_2"/>
          <p:cNvCxnSpPr/>
          <p:nvPr/>
        </p:nvCxnSpPr>
        <p:spPr>
          <a:xfrm>
            <a:off x="1041400" y="1841500"/>
            <a:ext cx="2768600" cy="0"/>
          </a:xfrm>
          <a:prstGeom prst="line">
            <a:avLst/>
          </a:prstGeom>
          <a:ln w="8890">
            <a:solidFill>
              <a:srgbClr val="667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gae_route_3"/>
          <p:cNvCxnSpPr/>
          <p:nvPr/>
        </p:nvCxnSpPr>
        <p:spPr>
          <a:xfrm>
            <a:off x="3810000" y="1841500"/>
            <a:ext cx="0" cy="508000"/>
          </a:xfrm>
          <a:prstGeom prst="line">
            <a:avLst/>
          </a:prstGeom>
          <a:ln w="8890">
            <a:solidFill>
              <a:srgbClr val="667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gae_route_4"/>
          <p:cNvCxnSpPr/>
          <p:nvPr/>
        </p:nvCxnSpPr>
        <p:spPr>
          <a:xfrm flipH="1">
            <a:off x="3581400" y="2349500"/>
            <a:ext cx="228600" cy="0"/>
          </a:xfrm>
          <a:prstGeom prst="line">
            <a:avLst/>
          </a:prstGeom>
          <a:ln w="8890">
            <a:solidFill>
              <a:srgbClr val="667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gae_route_5"/>
          <p:cNvCxnSpPr/>
          <p:nvPr/>
        </p:nvCxnSpPr>
        <p:spPr>
          <a:xfrm>
            <a:off x="3581400" y="2349500"/>
            <a:ext cx="0" cy="50800"/>
          </a:xfrm>
          <a:prstGeom prst="line">
            <a:avLst/>
          </a:prstGeom>
          <a:ln w="8890">
            <a:solidFill>
              <a:srgbClr val="66747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gae_arrow_label"/>
          <p:cNvSpPr txBox="1"/>
          <p:nvPr/>
        </p:nvSpPr>
        <p:spPr>
          <a:xfrm>
            <a:off x="1155700" y="1778000"/>
            <a:ext cx="609600" cy="127000"/>
          </a:xfrm>
          <a:prstGeom prst="rect">
            <a:avLst/>
          </a:prstGeom>
          <a:solidFill>
            <a:srgbClr val="FFFFFF"/>
          </a:solidFill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66747D"/>
                </a:solidFill>
                <a:latin typeface="Liberation Serif"/>
              </a:rPr>
              <a:t>advantages</a:t>
            </a:r>
          </a:p>
        </p:txBody>
      </p:sp>
      <p:cxnSp>
        <p:nvCxnSpPr>
          <p:cNvPr id="149" name="dual_in_0"/>
          <p:cNvCxnSpPr/>
          <p:nvPr/>
        </p:nvCxnSpPr>
        <p:spPr>
          <a:xfrm>
            <a:off x="4140200" y="1778000"/>
            <a:ext cx="0" cy="254000"/>
          </a:xfrm>
          <a:prstGeom prst="line">
            <a:avLst/>
          </a:prstGeom>
          <a:ln w="1016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dual_in_1"/>
          <p:cNvCxnSpPr/>
          <p:nvPr/>
        </p:nvCxnSpPr>
        <p:spPr>
          <a:xfrm flipH="1">
            <a:off x="3771900" y="2032000"/>
            <a:ext cx="368300" cy="0"/>
          </a:xfrm>
          <a:prstGeom prst="line">
            <a:avLst/>
          </a:prstGeom>
          <a:ln w="10160">
            <a:solidFill>
              <a:srgbClr val="087F8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dual_label"/>
          <p:cNvSpPr txBox="1"/>
          <p:nvPr/>
        </p:nvSpPr>
        <p:spPr>
          <a:xfrm>
            <a:off x="4216400" y="1930400"/>
            <a:ext cx="7366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087F8C"/>
                </a:solidFill>
                <a:latin typeface="Liberation Serif"/>
              </a:rPr>
              <a:t>budget duals</a:t>
            </a:r>
          </a:p>
        </p:txBody>
      </p:sp>
      <p:cxnSp>
        <p:nvCxnSpPr>
          <p:cNvPr id="152" name="processed_to_sum_0"/>
          <p:cNvCxnSpPr/>
          <p:nvPr/>
        </p:nvCxnSpPr>
        <p:spPr>
          <a:xfrm flipH="1">
            <a:off x="1739900" y="2032000"/>
            <a:ext cx="88900" cy="0"/>
          </a:xfrm>
          <a:prstGeom prst="line">
            <a:avLst/>
          </a:prstGeom>
          <a:ln w="1016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processed_to_sum_1"/>
          <p:cNvCxnSpPr/>
          <p:nvPr/>
        </p:nvCxnSpPr>
        <p:spPr>
          <a:xfrm>
            <a:off x="1739900" y="2032000"/>
            <a:ext cx="0" cy="469900"/>
          </a:xfrm>
          <a:prstGeom prst="line">
            <a:avLst/>
          </a:prstGeom>
          <a:ln w="10160">
            <a:solidFill>
              <a:srgbClr val="087F8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cost_route_0"/>
          <p:cNvCxnSpPr/>
          <p:nvPr/>
        </p:nvCxnSpPr>
        <p:spPr>
          <a:xfrm>
            <a:off x="228600" y="1752600"/>
            <a:ext cx="0" cy="317500"/>
          </a:xfrm>
          <a:prstGeom prst="line">
            <a:avLst/>
          </a:prstGeom>
          <a:ln w="8890">
            <a:solidFill>
              <a:srgbClr val="BA5B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cost_route_1"/>
          <p:cNvCxnSpPr/>
          <p:nvPr/>
        </p:nvCxnSpPr>
        <p:spPr>
          <a:xfrm flipH="1">
            <a:off x="88900" y="2070100"/>
            <a:ext cx="139700" cy="0"/>
          </a:xfrm>
          <a:prstGeom prst="line">
            <a:avLst/>
          </a:prstGeom>
          <a:ln w="8890">
            <a:solidFill>
              <a:srgbClr val="BA5B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cost_route_2"/>
          <p:cNvCxnSpPr/>
          <p:nvPr/>
        </p:nvCxnSpPr>
        <p:spPr>
          <a:xfrm>
            <a:off x="88900" y="2070100"/>
            <a:ext cx="0" cy="406400"/>
          </a:xfrm>
          <a:prstGeom prst="line">
            <a:avLst/>
          </a:prstGeom>
          <a:ln w="8890">
            <a:solidFill>
              <a:srgbClr val="BA5B2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next_rollout_0"/>
          <p:cNvCxnSpPr/>
          <p:nvPr/>
        </p:nvCxnSpPr>
        <p:spPr>
          <a:xfrm>
            <a:off x="4813300" y="2755900"/>
            <a:ext cx="0" cy="215900"/>
          </a:xfrm>
          <a:prstGeom prst="line">
            <a:avLst/>
          </a:prstGeom>
          <a:ln w="8890">
            <a:solidFill>
              <a:srgbClr val="667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next_rollout_1"/>
          <p:cNvCxnSpPr/>
          <p:nvPr/>
        </p:nvCxnSpPr>
        <p:spPr>
          <a:xfrm flipH="1">
            <a:off x="12700" y="2971800"/>
            <a:ext cx="4800600" cy="0"/>
          </a:xfrm>
          <a:prstGeom prst="line">
            <a:avLst/>
          </a:prstGeom>
          <a:ln w="8890">
            <a:solidFill>
              <a:srgbClr val="667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next_rollout_2"/>
          <p:cNvCxnSpPr/>
          <p:nvPr/>
        </p:nvCxnSpPr>
        <p:spPr>
          <a:xfrm flipV="1">
            <a:off x="12700" y="812800"/>
            <a:ext cx="0" cy="2159000"/>
          </a:xfrm>
          <a:prstGeom prst="line">
            <a:avLst/>
          </a:prstGeom>
          <a:ln w="8890">
            <a:solidFill>
              <a:srgbClr val="667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next_rollout_3"/>
          <p:cNvCxnSpPr/>
          <p:nvPr/>
        </p:nvCxnSpPr>
        <p:spPr>
          <a:xfrm>
            <a:off x="12700" y="812800"/>
            <a:ext cx="25400" cy="0"/>
          </a:xfrm>
          <a:prstGeom prst="line">
            <a:avLst/>
          </a:prstGeom>
          <a:ln w="8890">
            <a:solidFill>
              <a:srgbClr val="66747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next_label"/>
          <p:cNvSpPr txBox="1"/>
          <p:nvPr/>
        </p:nvSpPr>
        <p:spPr>
          <a:xfrm>
            <a:off x="2184400" y="2870200"/>
            <a:ext cx="736600" cy="127000"/>
          </a:xfrm>
          <a:prstGeom prst="rect">
            <a:avLst/>
          </a:prstGeom>
          <a:solidFill>
            <a:srgbClr val="FFFFFF"/>
          </a:solidFill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66747D"/>
                </a:solidFill>
                <a:latin typeface="Liberation Serif"/>
              </a:rPr>
              <a:t>next rollout</a:t>
            </a:r>
          </a:p>
        </p:txBody>
      </p:sp>
      <p:grpSp>
        <p:nvGrpSpPr>
          <p:cNvPr id="16" name="pi_t"/>
          <p:cNvGrpSpPr/>
          <p:nvPr/>
        </p:nvGrpSpPr>
        <p:grpSpPr>
          <a:xfrm>
            <a:off x="447722" y="344790"/>
            <a:ext cx="109957" cy="83596"/>
            <a:chOff x="447722" y="344790"/>
            <a:chExt cx="109957" cy="83596"/>
          </a:xfrm>
        </p:grpSpPr>
        <p:sp>
          <p:nvSpPr>
            <p:cNvPr id="162" name="pi_t_outline_0"/>
            <p:cNvSpPr/>
            <p:nvPr/>
          </p:nvSpPr>
          <p:spPr>
            <a:xfrm>
              <a:off x="447722" y="344790"/>
              <a:ext cx="72088" cy="62900"/>
            </a:xfrm>
            <a:custGeom>
              <a:avLst/>
              <a:gdLst/>
              <a:ahLst/>
              <a:cxnLst/>
              <a:rect l="0" t="0" r="r" b="b"/>
              <a:pathLst>
                <a:path w="72088" h="62901">
                  <a:moveTo>
                    <a:pt x="72088" y="0"/>
                  </a:moveTo>
                  <a:lnTo>
                    <a:pt x="23936" y="0"/>
                  </a:lnTo>
                  <a:cubicBezTo>
                    <a:pt x="11132" y="0"/>
                    <a:pt x="3481" y="15307"/>
                    <a:pt x="2365" y="17951"/>
                  </a:cubicBezTo>
                  <a:lnTo>
                    <a:pt x="3897" y="17951"/>
                  </a:lnTo>
                  <a:cubicBezTo>
                    <a:pt x="4592" y="16974"/>
                    <a:pt x="9743" y="10156"/>
                    <a:pt x="16978" y="10156"/>
                  </a:cubicBezTo>
                  <a:lnTo>
                    <a:pt x="24213" y="10156"/>
                  </a:lnTo>
                  <a:lnTo>
                    <a:pt x="14474" y="39521"/>
                  </a:lnTo>
                  <a:cubicBezTo>
                    <a:pt x="11410" y="48704"/>
                    <a:pt x="0" y="49121"/>
                    <a:pt x="0" y="58587"/>
                  </a:cubicBezTo>
                  <a:lnTo>
                    <a:pt x="0" y="59281"/>
                  </a:lnTo>
                  <a:cubicBezTo>
                    <a:pt x="0" y="61647"/>
                    <a:pt x="1810" y="62901"/>
                    <a:pt x="5151" y="62901"/>
                  </a:cubicBezTo>
                  <a:cubicBezTo>
                    <a:pt x="10438" y="62901"/>
                    <a:pt x="15446" y="59559"/>
                    <a:pt x="22269" y="39799"/>
                  </a:cubicBezTo>
                  <a:lnTo>
                    <a:pt x="32425" y="10156"/>
                  </a:lnTo>
                  <a:lnTo>
                    <a:pt x="46482" y="10156"/>
                  </a:lnTo>
                  <a:lnTo>
                    <a:pt x="39664" y="40076"/>
                  </a:lnTo>
                  <a:cubicBezTo>
                    <a:pt x="38687" y="44113"/>
                    <a:pt x="38132" y="47593"/>
                    <a:pt x="38132" y="50375"/>
                  </a:cubicBezTo>
                  <a:lnTo>
                    <a:pt x="38132" y="51625"/>
                  </a:lnTo>
                  <a:cubicBezTo>
                    <a:pt x="38132" y="57610"/>
                    <a:pt x="42307" y="62901"/>
                    <a:pt x="49125" y="62901"/>
                  </a:cubicBezTo>
                  <a:cubicBezTo>
                    <a:pt x="52324" y="62901"/>
                    <a:pt x="56082" y="61924"/>
                    <a:pt x="56082" y="57333"/>
                  </a:cubicBezTo>
                  <a:lnTo>
                    <a:pt x="56082" y="56777"/>
                  </a:lnTo>
                  <a:cubicBezTo>
                    <a:pt x="56082" y="48566"/>
                    <a:pt x="47732" y="49681"/>
                    <a:pt x="47732" y="41886"/>
                  </a:cubicBezTo>
                  <a:cubicBezTo>
                    <a:pt x="47732" y="40771"/>
                    <a:pt x="47871" y="39521"/>
                    <a:pt x="48292" y="37989"/>
                  </a:cubicBezTo>
                  <a:lnTo>
                    <a:pt x="55110" y="10156"/>
                  </a:lnTo>
                  <a:lnTo>
                    <a:pt x="69719" y="10156"/>
                  </a:lnTo>
                  <a:lnTo>
                    <a:pt x="72088" y="0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3" name="pi_t_outline_1"/>
            <p:cNvSpPr/>
            <p:nvPr/>
          </p:nvSpPr>
          <p:spPr>
            <a:xfrm>
              <a:off x="527902" y="370383"/>
              <a:ext cx="29777" cy="58003"/>
            </a:xfrm>
            <a:custGeom>
              <a:avLst/>
              <a:gdLst/>
              <a:ahLst/>
              <a:cxnLst/>
              <a:rect l="0" t="0" r="r" b="b"/>
              <a:pathLst>
                <a:path w="29777" h="58003">
                  <a:moveTo>
                    <a:pt x="22205" y="45240"/>
                  </a:moveTo>
                  <a:lnTo>
                    <a:pt x="20649" y="44513"/>
                  </a:lnTo>
                  <a:cubicBezTo>
                    <a:pt x="15045" y="51050"/>
                    <a:pt x="13283" y="52713"/>
                    <a:pt x="11414" y="52713"/>
                  </a:cubicBezTo>
                  <a:cubicBezTo>
                    <a:pt x="9858" y="52713"/>
                    <a:pt x="9029" y="51467"/>
                    <a:pt x="9648" y="50117"/>
                  </a:cubicBezTo>
                  <a:lnTo>
                    <a:pt x="19300" y="15772"/>
                  </a:lnTo>
                  <a:lnTo>
                    <a:pt x="29262" y="15772"/>
                  </a:lnTo>
                  <a:lnTo>
                    <a:pt x="29777" y="12244"/>
                  </a:lnTo>
                  <a:lnTo>
                    <a:pt x="20233" y="12244"/>
                  </a:lnTo>
                  <a:lnTo>
                    <a:pt x="22931" y="1556"/>
                  </a:lnTo>
                  <a:lnTo>
                    <a:pt x="21896" y="0"/>
                  </a:lnTo>
                  <a:lnTo>
                    <a:pt x="21582" y="0"/>
                  </a:lnTo>
                  <a:cubicBezTo>
                    <a:pt x="21165" y="0"/>
                    <a:pt x="20649" y="314"/>
                    <a:pt x="20233" y="937"/>
                  </a:cubicBezTo>
                  <a:cubicBezTo>
                    <a:pt x="15875" y="6124"/>
                    <a:pt x="8715" y="11728"/>
                    <a:pt x="4981" y="12557"/>
                  </a:cubicBezTo>
                  <a:cubicBezTo>
                    <a:pt x="2179" y="13387"/>
                    <a:pt x="1246" y="14010"/>
                    <a:pt x="1246" y="15149"/>
                  </a:cubicBezTo>
                  <a:cubicBezTo>
                    <a:pt x="1246" y="15149"/>
                    <a:pt x="1246" y="15462"/>
                    <a:pt x="1453" y="15772"/>
                  </a:cubicBezTo>
                  <a:lnTo>
                    <a:pt x="10271" y="15772"/>
                  </a:lnTo>
                  <a:lnTo>
                    <a:pt x="1766" y="46280"/>
                  </a:lnTo>
                  <a:cubicBezTo>
                    <a:pt x="623" y="49701"/>
                    <a:pt x="0" y="53126"/>
                    <a:pt x="0" y="54165"/>
                  </a:cubicBezTo>
                  <a:cubicBezTo>
                    <a:pt x="103" y="56344"/>
                    <a:pt x="2492" y="58003"/>
                    <a:pt x="5707" y="58003"/>
                  </a:cubicBezTo>
                  <a:cubicBezTo>
                    <a:pt x="11105" y="58003"/>
                    <a:pt x="14942" y="55098"/>
                    <a:pt x="22205" y="45240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7" name="gae"/>
          <p:cNvGrpSpPr/>
          <p:nvPr/>
        </p:nvGrpSpPr>
        <p:grpSpPr>
          <a:xfrm>
            <a:off x="285911" y="1307839"/>
            <a:ext cx="455544" cy="191401"/>
            <a:chOff x="285911" y="1307839"/>
            <a:chExt cx="455544" cy="191401"/>
          </a:xfrm>
        </p:grpSpPr>
        <p:sp>
          <p:nvSpPr>
            <p:cNvPr id="164" name="gae_outline_0"/>
            <p:cNvSpPr/>
            <p:nvPr/>
          </p:nvSpPr>
          <p:spPr>
            <a:xfrm>
              <a:off x="307697" y="1307839"/>
              <a:ext cx="77934" cy="21709"/>
            </a:xfrm>
            <a:custGeom>
              <a:avLst/>
              <a:gdLst/>
              <a:ahLst/>
              <a:cxnLst/>
              <a:rect l="0" t="0" r="r" b="b"/>
              <a:pathLst>
                <a:path w="77934" h="21709">
                  <a:moveTo>
                    <a:pt x="77934" y="21709"/>
                  </a:moveTo>
                  <a:lnTo>
                    <a:pt x="77934" y="15585"/>
                  </a:lnTo>
                  <a:lnTo>
                    <a:pt x="38826" y="0"/>
                  </a:lnTo>
                  <a:lnTo>
                    <a:pt x="0" y="15585"/>
                  </a:lnTo>
                  <a:lnTo>
                    <a:pt x="0" y="21709"/>
                  </a:lnTo>
                  <a:lnTo>
                    <a:pt x="38965" y="9461"/>
                  </a:lnTo>
                  <a:lnTo>
                    <a:pt x="77934" y="21709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5" name="gae_outline_1"/>
            <p:cNvSpPr/>
            <p:nvPr/>
          </p:nvSpPr>
          <p:spPr>
            <a:xfrm>
              <a:off x="285911" y="1350832"/>
              <a:ext cx="85582" cy="92960"/>
            </a:xfrm>
            <a:custGeom>
              <a:avLst/>
              <a:gdLst/>
              <a:ahLst/>
              <a:cxnLst/>
              <a:rect l="0" t="0" r="r" b="b"/>
              <a:pathLst>
                <a:path w="85582" h="92960">
                  <a:moveTo>
                    <a:pt x="85582" y="92960"/>
                  </a:moveTo>
                  <a:lnTo>
                    <a:pt x="85582" y="90734"/>
                  </a:lnTo>
                  <a:cubicBezTo>
                    <a:pt x="77653" y="90039"/>
                    <a:pt x="76676" y="88924"/>
                    <a:pt x="75005" y="78764"/>
                  </a:cubicBezTo>
                  <a:lnTo>
                    <a:pt x="61924" y="0"/>
                  </a:lnTo>
                  <a:lnTo>
                    <a:pt x="58309" y="0"/>
                  </a:lnTo>
                  <a:lnTo>
                    <a:pt x="17951" y="69580"/>
                  </a:lnTo>
                  <a:cubicBezTo>
                    <a:pt x="6957" y="88090"/>
                    <a:pt x="5564" y="89618"/>
                    <a:pt x="0" y="90734"/>
                  </a:cubicBezTo>
                  <a:lnTo>
                    <a:pt x="0" y="92960"/>
                  </a:lnTo>
                  <a:lnTo>
                    <a:pt x="26023" y="92960"/>
                  </a:lnTo>
                  <a:lnTo>
                    <a:pt x="26023" y="90734"/>
                  </a:lnTo>
                  <a:cubicBezTo>
                    <a:pt x="18923" y="90039"/>
                    <a:pt x="17812" y="89341"/>
                    <a:pt x="17812" y="85864"/>
                  </a:cubicBezTo>
                  <a:cubicBezTo>
                    <a:pt x="17812" y="83217"/>
                    <a:pt x="18228" y="81967"/>
                    <a:pt x="20594" y="77236"/>
                  </a:cubicBezTo>
                  <a:lnTo>
                    <a:pt x="28527" y="61508"/>
                  </a:lnTo>
                  <a:lnTo>
                    <a:pt x="59142" y="61508"/>
                  </a:lnTo>
                  <a:lnTo>
                    <a:pt x="61924" y="79740"/>
                  </a:lnTo>
                  <a:cubicBezTo>
                    <a:pt x="62063" y="80990"/>
                    <a:pt x="62206" y="82244"/>
                    <a:pt x="62206" y="83360"/>
                  </a:cubicBezTo>
                  <a:cubicBezTo>
                    <a:pt x="62206" y="88646"/>
                    <a:pt x="60258" y="89900"/>
                    <a:pt x="51352" y="90734"/>
                  </a:cubicBezTo>
                  <a:lnTo>
                    <a:pt x="51352" y="92960"/>
                  </a:lnTo>
                  <a:lnTo>
                    <a:pt x="85582" y="92960"/>
                  </a:lnTo>
                  <a:close/>
                  <a:moveTo>
                    <a:pt x="58448" y="56499"/>
                  </a:moveTo>
                  <a:lnTo>
                    <a:pt x="31448" y="56499"/>
                  </a:lnTo>
                  <a:lnTo>
                    <a:pt x="52324" y="20316"/>
                  </a:lnTo>
                  <a:lnTo>
                    <a:pt x="58448" y="56499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6" name="gae_outline_2"/>
            <p:cNvSpPr/>
            <p:nvPr/>
          </p:nvSpPr>
          <p:spPr>
            <a:xfrm>
              <a:off x="382995" y="1418911"/>
              <a:ext cx="42338" cy="45759"/>
            </a:xfrm>
            <a:custGeom>
              <a:avLst/>
              <a:gdLst/>
              <a:ahLst/>
              <a:cxnLst/>
              <a:rect l="0" t="0" r="r" b="b"/>
              <a:pathLst>
                <a:path w="42339" h="45760">
                  <a:moveTo>
                    <a:pt x="42335" y="5294"/>
                  </a:moveTo>
                  <a:cubicBezTo>
                    <a:pt x="42231" y="2179"/>
                    <a:pt x="39949" y="0"/>
                    <a:pt x="36731" y="0"/>
                  </a:cubicBezTo>
                  <a:cubicBezTo>
                    <a:pt x="34036" y="0"/>
                    <a:pt x="30817" y="1560"/>
                    <a:pt x="27912" y="4358"/>
                  </a:cubicBezTo>
                  <a:cubicBezTo>
                    <a:pt x="23348" y="8822"/>
                    <a:pt x="18887" y="14839"/>
                    <a:pt x="17121" y="18990"/>
                  </a:cubicBezTo>
                  <a:lnTo>
                    <a:pt x="15565" y="22725"/>
                  </a:lnTo>
                  <a:lnTo>
                    <a:pt x="21169" y="210"/>
                  </a:lnTo>
                  <a:lnTo>
                    <a:pt x="20026" y="0"/>
                  </a:lnTo>
                  <a:lnTo>
                    <a:pt x="1869" y="2802"/>
                  </a:lnTo>
                  <a:lnTo>
                    <a:pt x="1869" y="4568"/>
                  </a:lnTo>
                  <a:lnTo>
                    <a:pt x="4774" y="4568"/>
                  </a:lnTo>
                  <a:cubicBezTo>
                    <a:pt x="7576" y="4568"/>
                    <a:pt x="10172" y="4774"/>
                    <a:pt x="10172" y="6953"/>
                  </a:cubicBezTo>
                  <a:cubicBezTo>
                    <a:pt x="10275" y="8406"/>
                    <a:pt x="10172" y="8406"/>
                    <a:pt x="8509" y="15462"/>
                  </a:cubicBezTo>
                  <a:lnTo>
                    <a:pt x="0" y="45760"/>
                  </a:lnTo>
                  <a:lnTo>
                    <a:pt x="9132" y="45760"/>
                  </a:lnTo>
                  <a:cubicBezTo>
                    <a:pt x="14633" y="28329"/>
                    <a:pt x="16498" y="24178"/>
                    <a:pt x="21376" y="16498"/>
                  </a:cubicBezTo>
                  <a:cubicBezTo>
                    <a:pt x="25321" y="10172"/>
                    <a:pt x="28742" y="6747"/>
                    <a:pt x="30817" y="6747"/>
                  </a:cubicBezTo>
                  <a:cubicBezTo>
                    <a:pt x="31544" y="6747"/>
                    <a:pt x="32167" y="7160"/>
                    <a:pt x="32790" y="8199"/>
                  </a:cubicBezTo>
                  <a:cubicBezTo>
                    <a:pt x="33826" y="9961"/>
                    <a:pt x="34762" y="10481"/>
                    <a:pt x="37044" y="10481"/>
                  </a:cubicBezTo>
                  <a:cubicBezTo>
                    <a:pt x="40573" y="10481"/>
                    <a:pt x="42438" y="8612"/>
                    <a:pt x="42335" y="5294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7" name="gae_outline_3"/>
            <p:cNvSpPr/>
            <p:nvPr/>
          </p:nvSpPr>
          <p:spPr>
            <a:xfrm>
              <a:off x="447754" y="1429596"/>
              <a:ext cx="19343" cy="33817"/>
            </a:xfrm>
            <a:custGeom>
              <a:avLst/>
              <a:gdLst/>
              <a:ahLst/>
              <a:cxnLst/>
              <a:rect l="0" t="0" r="r" b="b"/>
              <a:pathLst>
                <a:path w="19344" h="33818">
                  <a:moveTo>
                    <a:pt x="19344" y="13363"/>
                  </a:moveTo>
                  <a:cubicBezTo>
                    <a:pt x="19344" y="1810"/>
                    <a:pt x="11271" y="0"/>
                    <a:pt x="8068" y="0"/>
                  </a:cubicBezTo>
                  <a:cubicBezTo>
                    <a:pt x="4592" y="0"/>
                    <a:pt x="0" y="2088"/>
                    <a:pt x="0" y="8072"/>
                  </a:cubicBezTo>
                  <a:cubicBezTo>
                    <a:pt x="0" y="13641"/>
                    <a:pt x="5009" y="15030"/>
                    <a:pt x="8628" y="15030"/>
                  </a:cubicBezTo>
                  <a:cubicBezTo>
                    <a:pt x="9600" y="15030"/>
                    <a:pt x="10295" y="14891"/>
                    <a:pt x="10716" y="14752"/>
                  </a:cubicBezTo>
                  <a:cubicBezTo>
                    <a:pt x="11271" y="14613"/>
                    <a:pt x="11688" y="14474"/>
                    <a:pt x="11966" y="14474"/>
                  </a:cubicBezTo>
                  <a:cubicBezTo>
                    <a:pt x="12942" y="14474"/>
                    <a:pt x="13914" y="15169"/>
                    <a:pt x="13914" y="16423"/>
                  </a:cubicBezTo>
                  <a:cubicBezTo>
                    <a:pt x="13914" y="19066"/>
                    <a:pt x="11688" y="25329"/>
                    <a:pt x="2504" y="31175"/>
                  </a:cubicBezTo>
                  <a:lnTo>
                    <a:pt x="3754" y="33818"/>
                  </a:lnTo>
                  <a:cubicBezTo>
                    <a:pt x="7930" y="32425"/>
                    <a:pt x="19344" y="23241"/>
                    <a:pt x="19344" y="13363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8" name="gae_outline_4"/>
            <p:cNvSpPr/>
            <p:nvPr/>
          </p:nvSpPr>
          <p:spPr>
            <a:xfrm>
              <a:off x="559385" y="1307839"/>
              <a:ext cx="77934" cy="21709"/>
            </a:xfrm>
            <a:custGeom>
              <a:avLst/>
              <a:gdLst/>
              <a:ahLst/>
              <a:cxnLst/>
              <a:rect l="0" t="0" r="r" b="b"/>
              <a:pathLst>
                <a:path w="77934" h="21709">
                  <a:moveTo>
                    <a:pt x="77934" y="21709"/>
                  </a:moveTo>
                  <a:lnTo>
                    <a:pt x="77934" y="15585"/>
                  </a:lnTo>
                  <a:lnTo>
                    <a:pt x="38826" y="0"/>
                  </a:lnTo>
                  <a:lnTo>
                    <a:pt x="0" y="15585"/>
                  </a:lnTo>
                  <a:lnTo>
                    <a:pt x="0" y="21709"/>
                  </a:lnTo>
                  <a:lnTo>
                    <a:pt x="38965" y="9461"/>
                  </a:lnTo>
                  <a:lnTo>
                    <a:pt x="77934" y="21709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9" name="gae_outline_5"/>
            <p:cNvSpPr/>
            <p:nvPr/>
          </p:nvSpPr>
          <p:spPr>
            <a:xfrm>
              <a:off x="537613" y="1350832"/>
              <a:ext cx="85582" cy="92960"/>
            </a:xfrm>
            <a:custGeom>
              <a:avLst/>
              <a:gdLst/>
              <a:ahLst/>
              <a:cxnLst/>
              <a:rect l="0" t="0" r="r" b="b"/>
              <a:pathLst>
                <a:path w="85582" h="92960">
                  <a:moveTo>
                    <a:pt x="85582" y="92960"/>
                  </a:moveTo>
                  <a:lnTo>
                    <a:pt x="85582" y="90734"/>
                  </a:lnTo>
                  <a:cubicBezTo>
                    <a:pt x="77653" y="90039"/>
                    <a:pt x="76676" y="88924"/>
                    <a:pt x="75005" y="78764"/>
                  </a:cubicBezTo>
                  <a:lnTo>
                    <a:pt x="61924" y="0"/>
                  </a:lnTo>
                  <a:lnTo>
                    <a:pt x="58309" y="0"/>
                  </a:lnTo>
                  <a:lnTo>
                    <a:pt x="17951" y="69580"/>
                  </a:lnTo>
                  <a:cubicBezTo>
                    <a:pt x="6957" y="88090"/>
                    <a:pt x="5564" y="89618"/>
                    <a:pt x="0" y="90734"/>
                  </a:cubicBezTo>
                  <a:lnTo>
                    <a:pt x="0" y="92960"/>
                  </a:lnTo>
                  <a:lnTo>
                    <a:pt x="26023" y="92960"/>
                  </a:lnTo>
                  <a:lnTo>
                    <a:pt x="26023" y="90734"/>
                  </a:lnTo>
                  <a:cubicBezTo>
                    <a:pt x="18923" y="90039"/>
                    <a:pt x="17812" y="89341"/>
                    <a:pt x="17812" y="85864"/>
                  </a:cubicBezTo>
                  <a:cubicBezTo>
                    <a:pt x="17812" y="83217"/>
                    <a:pt x="18228" y="81967"/>
                    <a:pt x="20594" y="77236"/>
                  </a:cubicBezTo>
                  <a:lnTo>
                    <a:pt x="28527" y="61508"/>
                  </a:lnTo>
                  <a:lnTo>
                    <a:pt x="59142" y="61508"/>
                  </a:lnTo>
                  <a:lnTo>
                    <a:pt x="61924" y="79740"/>
                  </a:lnTo>
                  <a:cubicBezTo>
                    <a:pt x="62063" y="80990"/>
                    <a:pt x="62206" y="82244"/>
                    <a:pt x="62206" y="83360"/>
                  </a:cubicBezTo>
                  <a:cubicBezTo>
                    <a:pt x="62206" y="88646"/>
                    <a:pt x="60258" y="89900"/>
                    <a:pt x="51352" y="90734"/>
                  </a:cubicBezTo>
                  <a:lnTo>
                    <a:pt x="51352" y="92960"/>
                  </a:lnTo>
                  <a:lnTo>
                    <a:pt x="85582" y="92960"/>
                  </a:lnTo>
                  <a:close/>
                  <a:moveTo>
                    <a:pt x="58448" y="56499"/>
                  </a:moveTo>
                  <a:lnTo>
                    <a:pt x="31448" y="56499"/>
                  </a:lnTo>
                  <a:lnTo>
                    <a:pt x="52324" y="20316"/>
                  </a:lnTo>
                  <a:lnTo>
                    <a:pt x="58448" y="56499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0" name="gae_outline_6"/>
            <p:cNvSpPr/>
            <p:nvPr/>
          </p:nvSpPr>
          <p:spPr>
            <a:xfrm>
              <a:off x="635513" y="1418911"/>
              <a:ext cx="46604" cy="46902"/>
            </a:xfrm>
            <a:custGeom>
              <a:avLst/>
              <a:gdLst/>
              <a:ahLst/>
              <a:cxnLst/>
              <a:rect l="0" t="0" r="r" b="b"/>
              <a:pathLst>
                <a:path w="46604" h="46903">
                  <a:moveTo>
                    <a:pt x="40374" y="35798"/>
                  </a:moveTo>
                  <a:lnTo>
                    <a:pt x="38406" y="34762"/>
                  </a:lnTo>
                  <a:cubicBezTo>
                    <a:pt x="32076" y="40882"/>
                    <a:pt x="27615" y="43164"/>
                    <a:pt x="21697" y="43164"/>
                  </a:cubicBezTo>
                  <a:cubicBezTo>
                    <a:pt x="14954" y="43164"/>
                    <a:pt x="10700" y="38806"/>
                    <a:pt x="10390" y="31337"/>
                  </a:cubicBezTo>
                  <a:cubicBezTo>
                    <a:pt x="10077" y="22519"/>
                    <a:pt x="14022" y="13283"/>
                    <a:pt x="20455" y="7160"/>
                  </a:cubicBezTo>
                  <a:cubicBezTo>
                    <a:pt x="23773" y="4048"/>
                    <a:pt x="28444" y="2179"/>
                    <a:pt x="33215" y="2179"/>
                  </a:cubicBezTo>
                  <a:cubicBezTo>
                    <a:pt x="36017" y="2179"/>
                    <a:pt x="37680" y="3012"/>
                    <a:pt x="37680" y="4254"/>
                  </a:cubicBezTo>
                  <a:cubicBezTo>
                    <a:pt x="37783" y="4774"/>
                    <a:pt x="37680" y="5294"/>
                    <a:pt x="37160" y="6227"/>
                  </a:cubicBezTo>
                  <a:cubicBezTo>
                    <a:pt x="36227" y="7576"/>
                    <a:pt x="36120" y="8199"/>
                    <a:pt x="36120" y="9235"/>
                  </a:cubicBezTo>
                  <a:cubicBezTo>
                    <a:pt x="36227" y="11728"/>
                    <a:pt x="37989" y="13180"/>
                    <a:pt x="40894" y="13180"/>
                  </a:cubicBezTo>
                  <a:cubicBezTo>
                    <a:pt x="44216" y="13180"/>
                    <a:pt x="46704" y="11208"/>
                    <a:pt x="46601" y="8406"/>
                  </a:cubicBezTo>
                  <a:cubicBezTo>
                    <a:pt x="46395" y="3528"/>
                    <a:pt x="41101" y="0"/>
                    <a:pt x="33735" y="0"/>
                  </a:cubicBezTo>
                  <a:cubicBezTo>
                    <a:pt x="15784" y="0"/>
                    <a:pt x="-508" y="15149"/>
                    <a:pt x="12" y="31337"/>
                  </a:cubicBezTo>
                  <a:cubicBezTo>
                    <a:pt x="326" y="41196"/>
                    <a:pt x="7069" y="46903"/>
                    <a:pt x="18169" y="46903"/>
                  </a:cubicBezTo>
                  <a:cubicBezTo>
                    <a:pt x="27198" y="46903"/>
                    <a:pt x="33215" y="43787"/>
                    <a:pt x="40374" y="35798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1" name="gae_outline_7"/>
            <p:cNvSpPr/>
            <p:nvPr/>
          </p:nvSpPr>
          <p:spPr>
            <a:xfrm>
              <a:off x="690818" y="1427228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4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4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3"/>
                    <a:pt x="30817" y="35592"/>
                    <a:pt x="20233" y="44101"/>
                  </a:cubicBezTo>
                  <a:lnTo>
                    <a:pt x="15149" y="47938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2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3" name="observed_J"/>
          <p:cNvGrpSpPr/>
          <p:nvPr/>
        </p:nvGrpSpPr>
        <p:grpSpPr>
          <a:xfrm>
            <a:off x="173739" y="1579677"/>
            <a:ext cx="113900" cy="130326"/>
            <a:chOff x="173739" y="1579677"/>
            <a:chExt cx="113900" cy="130326"/>
          </a:xfrm>
        </p:grpSpPr>
        <p:sp>
          <p:nvSpPr>
            <p:cNvPr id="172" name="observed_J_outline_0"/>
            <p:cNvSpPr/>
            <p:nvPr/>
          </p:nvSpPr>
          <p:spPr>
            <a:xfrm>
              <a:off x="202776" y="1579677"/>
              <a:ext cx="39342" cy="6830"/>
            </a:xfrm>
            <a:custGeom>
              <a:avLst/>
              <a:gdLst/>
              <a:ahLst/>
              <a:cxnLst/>
              <a:rect l="0" t="0" r="r" b="b"/>
              <a:pathLst>
                <a:path w="39342" h="6830">
                  <a:moveTo>
                    <a:pt x="39342" y="6830"/>
                  </a:moveTo>
                  <a:lnTo>
                    <a:pt x="39342" y="0"/>
                  </a:lnTo>
                  <a:lnTo>
                    <a:pt x="0" y="0"/>
                  </a:lnTo>
                  <a:lnTo>
                    <a:pt x="0" y="6830"/>
                  </a:lnTo>
                  <a:lnTo>
                    <a:pt x="39342" y="6830"/>
                  </a:ln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3" name="observed_J_outline_1"/>
            <p:cNvSpPr/>
            <p:nvPr/>
          </p:nvSpPr>
          <p:spPr>
            <a:xfrm>
              <a:off x="173739" y="1600863"/>
              <a:ext cx="62872" cy="84887"/>
            </a:xfrm>
            <a:custGeom>
              <a:avLst/>
              <a:gdLst/>
              <a:ahLst/>
              <a:cxnLst/>
              <a:rect l="0" t="0" r="r" b="b"/>
              <a:pathLst>
                <a:path w="62873" h="84888">
                  <a:moveTo>
                    <a:pt x="62873" y="2024"/>
                  </a:moveTo>
                  <a:lnTo>
                    <a:pt x="62873" y="0"/>
                  </a:lnTo>
                  <a:lnTo>
                    <a:pt x="30742" y="0"/>
                  </a:lnTo>
                  <a:lnTo>
                    <a:pt x="30742" y="2024"/>
                  </a:lnTo>
                  <a:cubicBezTo>
                    <a:pt x="38711" y="2782"/>
                    <a:pt x="40481" y="3794"/>
                    <a:pt x="40481" y="7211"/>
                  </a:cubicBezTo>
                  <a:cubicBezTo>
                    <a:pt x="40481" y="9108"/>
                    <a:pt x="39977" y="11640"/>
                    <a:pt x="38965" y="15307"/>
                  </a:cubicBezTo>
                  <a:lnTo>
                    <a:pt x="22392" y="74132"/>
                  </a:lnTo>
                  <a:cubicBezTo>
                    <a:pt x="20999" y="79065"/>
                    <a:pt x="19229" y="80966"/>
                    <a:pt x="16192" y="80966"/>
                  </a:cubicBezTo>
                  <a:cubicBezTo>
                    <a:pt x="13156" y="80966"/>
                    <a:pt x="11763" y="79446"/>
                    <a:pt x="11763" y="75906"/>
                  </a:cubicBezTo>
                  <a:cubicBezTo>
                    <a:pt x="11763" y="75271"/>
                    <a:pt x="11763" y="74640"/>
                    <a:pt x="11890" y="74005"/>
                  </a:cubicBezTo>
                  <a:lnTo>
                    <a:pt x="11890" y="72870"/>
                  </a:lnTo>
                  <a:cubicBezTo>
                    <a:pt x="11890" y="69707"/>
                    <a:pt x="9108" y="66921"/>
                    <a:pt x="5691" y="66921"/>
                  </a:cubicBezTo>
                  <a:cubicBezTo>
                    <a:pt x="2278" y="66921"/>
                    <a:pt x="0" y="69707"/>
                    <a:pt x="0" y="73755"/>
                  </a:cubicBezTo>
                  <a:cubicBezTo>
                    <a:pt x="0" y="80458"/>
                    <a:pt x="5945" y="84888"/>
                    <a:pt x="14799" y="84888"/>
                  </a:cubicBezTo>
                  <a:cubicBezTo>
                    <a:pt x="21253" y="84888"/>
                    <a:pt x="26944" y="82356"/>
                    <a:pt x="30865" y="77676"/>
                  </a:cubicBezTo>
                  <a:cubicBezTo>
                    <a:pt x="34282" y="73628"/>
                    <a:pt x="36814" y="67933"/>
                    <a:pt x="39469" y="58321"/>
                  </a:cubicBezTo>
                  <a:lnTo>
                    <a:pt x="52499" y="11386"/>
                  </a:lnTo>
                  <a:cubicBezTo>
                    <a:pt x="54777" y="3794"/>
                    <a:pt x="55662" y="3036"/>
                    <a:pt x="62873" y="2024"/>
                  </a:cubicBez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" name="observed_J_outline_2"/>
            <p:cNvSpPr/>
            <p:nvPr/>
          </p:nvSpPr>
          <p:spPr>
            <a:xfrm>
              <a:off x="237002" y="1637991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3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4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3"/>
                    <a:pt x="30817" y="35592"/>
                    <a:pt x="20233" y="44101"/>
                  </a:cubicBezTo>
                  <a:lnTo>
                    <a:pt x="15149" y="47938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2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7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4" name="edge_inputs"/>
          <p:cNvGrpSpPr/>
          <p:nvPr/>
        </p:nvGrpSpPr>
        <p:grpSpPr>
          <a:xfrm>
            <a:off x="1308624" y="1408562"/>
            <a:ext cx="526453" cy="155041"/>
            <a:chOff x="1308624" y="1408562"/>
            <a:chExt cx="526453" cy="155041"/>
          </a:xfrm>
        </p:grpSpPr>
        <p:sp>
          <p:nvSpPr>
            <p:cNvPr id="175" name="edge_inputs_outline_0"/>
            <p:cNvSpPr/>
            <p:nvPr/>
          </p:nvSpPr>
          <p:spPr>
            <a:xfrm>
              <a:off x="1328459" y="1408562"/>
              <a:ext cx="77934" cy="21709"/>
            </a:xfrm>
            <a:custGeom>
              <a:avLst/>
              <a:gdLst/>
              <a:ahLst/>
              <a:cxnLst/>
              <a:rect l="0" t="0" r="r" b="b"/>
              <a:pathLst>
                <a:path w="77934" h="21709">
                  <a:moveTo>
                    <a:pt x="77934" y="21709"/>
                  </a:moveTo>
                  <a:lnTo>
                    <a:pt x="77934" y="15585"/>
                  </a:lnTo>
                  <a:lnTo>
                    <a:pt x="38826" y="0"/>
                  </a:lnTo>
                  <a:lnTo>
                    <a:pt x="0" y="15585"/>
                  </a:lnTo>
                  <a:lnTo>
                    <a:pt x="0" y="21709"/>
                  </a:lnTo>
                  <a:lnTo>
                    <a:pt x="38965" y="9462"/>
                  </a:lnTo>
                  <a:lnTo>
                    <a:pt x="77934" y="21709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6" name="edge_inputs_outline_1"/>
            <p:cNvSpPr/>
            <p:nvPr/>
          </p:nvSpPr>
          <p:spPr>
            <a:xfrm>
              <a:off x="1308624" y="1450659"/>
              <a:ext cx="88645" cy="90872"/>
            </a:xfrm>
            <a:custGeom>
              <a:avLst/>
              <a:gdLst/>
              <a:ahLst/>
              <a:cxnLst/>
              <a:rect l="0" t="0" r="r" b="b"/>
              <a:pathLst>
                <a:path w="88646" h="90872">
                  <a:moveTo>
                    <a:pt x="84193" y="21292"/>
                  </a:moveTo>
                  <a:lnTo>
                    <a:pt x="88646" y="0"/>
                  </a:lnTo>
                  <a:lnTo>
                    <a:pt x="19340" y="0"/>
                  </a:lnTo>
                  <a:lnTo>
                    <a:pt x="19340" y="2226"/>
                  </a:lnTo>
                  <a:cubicBezTo>
                    <a:pt x="28527" y="3060"/>
                    <a:pt x="30055" y="3897"/>
                    <a:pt x="30055" y="7795"/>
                  </a:cubicBezTo>
                  <a:cubicBezTo>
                    <a:pt x="30055" y="10021"/>
                    <a:pt x="29500" y="13359"/>
                    <a:pt x="28527" y="16839"/>
                  </a:cubicBezTo>
                  <a:lnTo>
                    <a:pt x="11410" y="78347"/>
                  </a:lnTo>
                  <a:cubicBezTo>
                    <a:pt x="8906" y="86697"/>
                    <a:pt x="7930" y="87531"/>
                    <a:pt x="0" y="88646"/>
                  </a:cubicBezTo>
                  <a:lnTo>
                    <a:pt x="0" y="90872"/>
                  </a:lnTo>
                  <a:lnTo>
                    <a:pt x="35068" y="90872"/>
                  </a:lnTo>
                  <a:lnTo>
                    <a:pt x="35068" y="88646"/>
                  </a:lnTo>
                  <a:cubicBezTo>
                    <a:pt x="26995" y="88229"/>
                    <a:pt x="24491" y="86697"/>
                    <a:pt x="24491" y="82522"/>
                  </a:cubicBezTo>
                  <a:cubicBezTo>
                    <a:pt x="24491" y="81272"/>
                    <a:pt x="24769" y="79601"/>
                    <a:pt x="25741" y="76259"/>
                  </a:cubicBezTo>
                  <a:lnTo>
                    <a:pt x="34369" y="45228"/>
                  </a:lnTo>
                  <a:cubicBezTo>
                    <a:pt x="39521" y="45506"/>
                    <a:pt x="42581" y="45645"/>
                    <a:pt x="45645" y="45645"/>
                  </a:cubicBezTo>
                  <a:cubicBezTo>
                    <a:pt x="51070" y="45645"/>
                    <a:pt x="51907" y="45784"/>
                    <a:pt x="53296" y="46339"/>
                  </a:cubicBezTo>
                  <a:cubicBezTo>
                    <a:pt x="55245" y="47315"/>
                    <a:pt x="56360" y="49264"/>
                    <a:pt x="56360" y="52046"/>
                  </a:cubicBezTo>
                  <a:cubicBezTo>
                    <a:pt x="56360" y="54273"/>
                    <a:pt x="56078" y="55944"/>
                    <a:pt x="55245" y="60257"/>
                  </a:cubicBezTo>
                  <a:lnTo>
                    <a:pt x="57610" y="60952"/>
                  </a:lnTo>
                  <a:lnTo>
                    <a:pt x="68187" y="28388"/>
                  </a:lnTo>
                  <a:lnTo>
                    <a:pt x="65683" y="27694"/>
                  </a:lnTo>
                  <a:cubicBezTo>
                    <a:pt x="59420" y="40219"/>
                    <a:pt x="59003" y="40358"/>
                    <a:pt x="35623" y="40636"/>
                  </a:cubicBezTo>
                  <a:lnTo>
                    <a:pt x="44807" y="8211"/>
                  </a:lnTo>
                  <a:cubicBezTo>
                    <a:pt x="45645" y="5425"/>
                    <a:pt x="47593" y="4592"/>
                    <a:pt x="53296" y="4592"/>
                  </a:cubicBezTo>
                  <a:cubicBezTo>
                    <a:pt x="76815" y="4592"/>
                    <a:pt x="81685" y="6402"/>
                    <a:pt x="81685" y="15168"/>
                  </a:cubicBezTo>
                  <a:cubicBezTo>
                    <a:pt x="81685" y="16141"/>
                    <a:pt x="81685" y="16701"/>
                    <a:pt x="81546" y="18367"/>
                  </a:cubicBezTo>
                  <a:cubicBezTo>
                    <a:pt x="81407" y="19344"/>
                    <a:pt x="81407" y="19899"/>
                    <a:pt x="81268" y="21014"/>
                  </a:cubicBezTo>
                  <a:lnTo>
                    <a:pt x="84193" y="21292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7" name="edge_inputs_outline_2"/>
            <p:cNvSpPr/>
            <p:nvPr/>
          </p:nvSpPr>
          <p:spPr>
            <a:xfrm>
              <a:off x="1409380" y="1527335"/>
              <a:ext cx="19343" cy="33817"/>
            </a:xfrm>
            <a:custGeom>
              <a:avLst/>
              <a:gdLst/>
              <a:ahLst/>
              <a:cxnLst/>
              <a:rect l="0" t="0" r="r" b="b"/>
              <a:pathLst>
                <a:path w="19344" h="33818">
                  <a:moveTo>
                    <a:pt x="19344" y="13363"/>
                  </a:moveTo>
                  <a:cubicBezTo>
                    <a:pt x="19344" y="1810"/>
                    <a:pt x="11271" y="0"/>
                    <a:pt x="8068" y="0"/>
                  </a:cubicBezTo>
                  <a:cubicBezTo>
                    <a:pt x="4592" y="0"/>
                    <a:pt x="0" y="2088"/>
                    <a:pt x="0" y="8072"/>
                  </a:cubicBezTo>
                  <a:cubicBezTo>
                    <a:pt x="0" y="13641"/>
                    <a:pt x="5008" y="15030"/>
                    <a:pt x="8628" y="15030"/>
                  </a:cubicBezTo>
                  <a:cubicBezTo>
                    <a:pt x="9600" y="15030"/>
                    <a:pt x="10295" y="14891"/>
                    <a:pt x="10716" y="14752"/>
                  </a:cubicBezTo>
                  <a:cubicBezTo>
                    <a:pt x="11271" y="14613"/>
                    <a:pt x="11688" y="14474"/>
                    <a:pt x="11966" y="14474"/>
                  </a:cubicBezTo>
                  <a:cubicBezTo>
                    <a:pt x="12942" y="14474"/>
                    <a:pt x="13914" y="15169"/>
                    <a:pt x="13914" y="16423"/>
                  </a:cubicBezTo>
                  <a:cubicBezTo>
                    <a:pt x="13914" y="19066"/>
                    <a:pt x="11688" y="25329"/>
                    <a:pt x="2504" y="31174"/>
                  </a:cubicBezTo>
                  <a:lnTo>
                    <a:pt x="3754" y="33818"/>
                  </a:lnTo>
                  <a:cubicBezTo>
                    <a:pt x="7929" y="32425"/>
                    <a:pt x="19344" y="23241"/>
                    <a:pt x="19344" y="13363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8" name="edge_inputs_outline_3"/>
            <p:cNvSpPr/>
            <p:nvPr/>
          </p:nvSpPr>
          <p:spPr>
            <a:xfrm>
              <a:off x="1499273" y="1448572"/>
              <a:ext cx="85582" cy="92960"/>
            </a:xfrm>
            <a:custGeom>
              <a:avLst/>
              <a:gdLst/>
              <a:ahLst/>
              <a:cxnLst/>
              <a:rect l="0" t="0" r="r" b="b"/>
              <a:pathLst>
                <a:path w="85583" h="92960">
                  <a:moveTo>
                    <a:pt x="85583" y="92960"/>
                  </a:moveTo>
                  <a:lnTo>
                    <a:pt x="85583" y="90734"/>
                  </a:lnTo>
                  <a:cubicBezTo>
                    <a:pt x="77653" y="90039"/>
                    <a:pt x="76676" y="88924"/>
                    <a:pt x="75005" y="78764"/>
                  </a:cubicBezTo>
                  <a:lnTo>
                    <a:pt x="61924" y="0"/>
                  </a:lnTo>
                  <a:lnTo>
                    <a:pt x="58310" y="0"/>
                  </a:lnTo>
                  <a:lnTo>
                    <a:pt x="17950" y="69580"/>
                  </a:lnTo>
                  <a:cubicBezTo>
                    <a:pt x="6957" y="88090"/>
                    <a:pt x="5564" y="89618"/>
                    <a:pt x="0" y="90734"/>
                  </a:cubicBezTo>
                  <a:lnTo>
                    <a:pt x="0" y="92960"/>
                  </a:lnTo>
                  <a:lnTo>
                    <a:pt x="26024" y="92960"/>
                  </a:lnTo>
                  <a:lnTo>
                    <a:pt x="26024" y="90734"/>
                  </a:lnTo>
                  <a:cubicBezTo>
                    <a:pt x="18923" y="90039"/>
                    <a:pt x="17812" y="89341"/>
                    <a:pt x="17812" y="85864"/>
                  </a:cubicBezTo>
                  <a:cubicBezTo>
                    <a:pt x="17812" y="83217"/>
                    <a:pt x="18228" y="81967"/>
                    <a:pt x="20594" y="77236"/>
                  </a:cubicBezTo>
                  <a:lnTo>
                    <a:pt x="28528" y="61508"/>
                  </a:lnTo>
                  <a:lnTo>
                    <a:pt x="59143" y="61508"/>
                  </a:lnTo>
                  <a:lnTo>
                    <a:pt x="61924" y="79740"/>
                  </a:lnTo>
                  <a:cubicBezTo>
                    <a:pt x="62064" y="80990"/>
                    <a:pt x="62206" y="82244"/>
                    <a:pt x="62206" y="83360"/>
                  </a:cubicBezTo>
                  <a:cubicBezTo>
                    <a:pt x="62206" y="88646"/>
                    <a:pt x="60258" y="89900"/>
                    <a:pt x="51351" y="90734"/>
                  </a:cubicBezTo>
                  <a:lnTo>
                    <a:pt x="51351" y="92960"/>
                  </a:lnTo>
                  <a:lnTo>
                    <a:pt x="85583" y="92960"/>
                  </a:lnTo>
                  <a:close/>
                  <a:moveTo>
                    <a:pt x="58448" y="56499"/>
                  </a:moveTo>
                  <a:lnTo>
                    <a:pt x="31449" y="56499"/>
                  </a:lnTo>
                  <a:lnTo>
                    <a:pt x="52324" y="20316"/>
                  </a:lnTo>
                  <a:lnTo>
                    <a:pt x="58448" y="56499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9" name="edge_inputs_outline_4"/>
            <p:cNvSpPr/>
            <p:nvPr/>
          </p:nvSpPr>
          <p:spPr>
            <a:xfrm>
              <a:off x="1601003" y="1527335"/>
              <a:ext cx="19343" cy="33817"/>
            </a:xfrm>
            <a:custGeom>
              <a:avLst/>
              <a:gdLst/>
              <a:ahLst/>
              <a:cxnLst/>
              <a:rect l="0" t="0" r="r" b="b"/>
              <a:pathLst>
                <a:path w="19343" h="33818">
                  <a:moveTo>
                    <a:pt x="19343" y="13363"/>
                  </a:moveTo>
                  <a:cubicBezTo>
                    <a:pt x="19343" y="1810"/>
                    <a:pt x="11271" y="0"/>
                    <a:pt x="8068" y="0"/>
                  </a:cubicBezTo>
                  <a:cubicBezTo>
                    <a:pt x="4592" y="0"/>
                    <a:pt x="0" y="2088"/>
                    <a:pt x="0" y="8072"/>
                  </a:cubicBezTo>
                  <a:cubicBezTo>
                    <a:pt x="0" y="13641"/>
                    <a:pt x="5009" y="15030"/>
                    <a:pt x="8628" y="15030"/>
                  </a:cubicBezTo>
                  <a:cubicBezTo>
                    <a:pt x="9601" y="15030"/>
                    <a:pt x="10295" y="14891"/>
                    <a:pt x="10716" y="14752"/>
                  </a:cubicBezTo>
                  <a:cubicBezTo>
                    <a:pt x="11271" y="14613"/>
                    <a:pt x="11688" y="14474"/>
                    <a:pt x="11966" y="14474"/>
                  </a:cubicBezTo>
                  <a:cubicBezTo>
                    <a:pt x="12943" y="14474"/>
                    <a:pt x="13914" y="15169"/>
                    <a:pt x="13914" y="16423"/>
                  </a:cubicBezTo>
                  <a:cubicBezTo>
                    <a:pt x="13914" y="19066"/>
                    <a:pt x="11688" y="25329"/>
                    <a:pt x="2504" y="31174"/>
                  </a:cubicBezTo>
                  <a:lnTo>
                    <a:pt x="3754" y="33818"/>
                  </a:lnTo>
                  <a:cubicBezTo>
                    <a:pt x="7930" y="32425"/>
                    <a:pt x="19343" y="23241"/>
                    <a:pt x="19343" y="13363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0" name="edge_inputs_outline_5"/>
            <p:cNvSpPr/>
            <p:nvPr/>
          </p:nvSpPr>
          <p:spPr>
            <a:xfrm>
              <a:off x="1694370" y="1448849"/>
              <a:ext cx="86697" cy="95186"/>
            </a:xfrm>
            <a:custGeom>
              <a:avLst/>
              <a:gdLst/>
              <a:ahLst/>
              <a:cxnLst/>
              <a:rect l="0" t="0" r="r" b="b"/>
              <a:pathLst>
                <a:path w="86698" h="95186">
                  <a:moveTo>
                    <a:pt x="74315" y="74454"/>
                  </a:moveTo>
                  <a:lnTo>
                    <a:pt x="71949" y="72505"/>
                  </a:lnTo>
                  <a:cubicBezTo>
                    <a:pt x="59425" y="84888"/>
                    <a:pt x="51352" y="88924"/>
                    <a:pt x="39941" y="88924"/>
                  </a:cubicBezTo>
                  <a:cubicBezTo>
                    <a:pt x="24496" y="88924"/>
                    <a:pt x="15585" y="78486"/>
                    <a:pt x="15585" y="60396"/>
                  </a:cubicBezTo>
                  <a:cubicBezTo>
                    <a:pt x="15585" y="43835"/>
                    <a:pt x="22269" y="26999"/>
                    <a:pt x="33124" y="15724"/>
                  </a:cubicBezTo>
                  <a:cubicBezTo>
                    <a:pt x="39803" y="8767"/>
                    <a:pt x="48570" y="5008"/>
                    <a:pt x="57753" y="5008"/>
                  </a:cubicBezTo>
                  <a:cubicBezTo>
                    <a:pt x="70557" y="5008"/>
                    <a:pt x="77653" y="12525"/>
                    <a:pt x="79046" y="27555"/>
                  </a:cubicBezTo>
                  <a:lnTo>
                    <a:pt x="81551" y="27972"/>
                  </a:lnTo>
                  <a:lnTo>
                    <a:pt x="86698" y="278"/>
                  </a:lnTo>
                  <a:lnTo>
                    <a:pt x="83777" y="278"/>
                  </a:lnTo>
                  <a:cubicBezTo>
                    <a:pt x="82666" y="2504"/>
                    <a:pt x="81272" y="3342"/>
                    <a:pt x="78490" y="3342"/>
                  </a:cubicBezTo>
                  <a:cubicBezTo>
                    <a:pt x="77236" y="3342"/>
                    <a:pt x="75705" y="3060"/>
                    <a:pt x="72784" y="2365"/>
                  </a:cubicBezTo>
                  <a:cubicBezTo>
                    <a:pt x="66660" y="833"/>
                    <a:pt x="61096" y="0"/>
                    <a:pt x="56500" y="0"/>
                  </a:cubicBezTo>
                  <a:cubicBezTo>
                    <a:pt x="26722" y="0"/>
                    <a:pt x="0" y="27833"/>
                    <a:pt x="0" y="58865"/>
                  </a:cubicBezTo>
                  <a:cubicBezTo>
                    <a:pt x="0" y="80157"/>
                    <a:pt x="15030" y="95186"/>
                    <a:pt x="36322" y="95186"/>
                  </a:cubicBezTo>
                  <a:cubicBezTo>
                    <a:pt x="50658" y="95186"/>
                    <a:pt x="61789" y="89202"/>
                    <a:pt x="74315" y="74454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1" name="edge_inputs_outline_6"/>
            <p:cNvSpPr/>
            <p:nvPr/>
          </p:nvSpPr>
          <p:spPr>
            <a:xfrm>
              <a:off x="1784440" y="1491591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3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4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3"/>
                    <a:pt x="30817" y="35592"/>
                    <a:pt x="20233" y="44101"/>
                  </a:cubicBezTo>
                  <a:lnTo>
                    <a:pt x="15149" y="47938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2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5" name="soft_eq"/>
          <p:cNvGrpSpPr/>
          <p:nvPr/>
        </p:nvGrpSpPr>
        <p:grpSpPr>
          <a:xfrm>
            <a:off x="2290302" y="476914"/>
            <a:ext cx="716776" cy="125245"/>
            <a:chOff x="2290302" y="476914"/>
            <a:chExt cx="716776" cy="125245"/>
          </a:xfrm>
        </p:grpSpPr>
        <p:sp>
          <p:nvSpPr>
            <p:cNvPr id="182" name="soft_eq_outline_0"/>
            <p:cNvSpPr/>
            <p:nvPr/>
          </p:nvSpPr>
          <p:spPr>
            <a:xfrm>
              <a:off x="2290302" y="476914"/>
              <a:ext cx="36599" cy="125245"/>
            </a:xfrm>
            <a:custGeom>
              <a:avLst/>
              <a:gdLst/>
              <a:ahLst/>
              <a:cxnLst/>
              <a:rect l="0" t="0" r="r" b="b"/>
              <a:pathLst>
                <a:path w="36600" h="125246">
                  <a:moveTo>
                    <a:pt x="36600" y="125246"/>
                  </a:moveTo>
                  <a:lnTo>
                    <a:pt x="9604" y="62623"/>
                  </a:lnTo>
                  <a:lnTo>
                    <a:pt x="36600" y="0"/>
                  </a:lnTo>
                  <a:lnTo>
                    <a:pt x="29920" y="0"/>
                  </a:lnTo>
                  <a:lnTo>
                    <a:pt x="0" y="62623"/>
                  </a:lnTo>
                  <a:lnTo>
                    <a:pt x="29920" y="125246"/>
                  </a:lnTo>
                  <a:lnTo>
                    <a:pt x="36600" y="125246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3" name="soft_eq_outline_1"/>
            <p:cNvSpPr/>
            <p:nvPr/>
          </p:nvSpPr>
          <p:spPr>
            <a:xfrm>
              <a:off x="2340815" y="482621"/>
              <a:ext cx="86697" cy="95186"/>
            </a:xfrm>
            <a:custGeom>
              <a:avLst/>
              <a:gdLst/>
              <a:ahLst/>
              <a:cxnLst/>
              <a:rect l="0" t="0" r="r" b="b"/>
              <a:pathLst>
                <a:path w="86697" h="95186">
                  <a:moveTo>
                    <a:pt x="74315" y="74454"/>
                  </a:moveTo>
                  <a:lnTo>
                    <a:pt x="71949" y="72505"/>
                  </a:lnTo>
                  <a:cubicBezTo>
                    <a:pt x="59424" y="84888"/>
                    <a:pt x="51352" y="88924"/>
                    <a:pt x="39941" y="88924"/>
                  </a:cubicBezTo>
                  <a:cubicBezTo>
                    <a:pt x="24495" y="88924"/>
                    <a:pt x="15585" y="78486"/>
                    <a:pt x="15585" y="60396"/>
                  </a:cubicBezTo>
                  <a:cubicBezTo>
                    <a:pt x="15585" y="43835"/>
                    <a:pt x="22269" y="26999"/>
                    <a:pt x="33123" y="15724"/>
                  </a:cubicBezTo>
                  <a:cubicBezTo>
                    <a:pt x="39803" y="8767"/>
                    <a:pt x="48570" y="5008"/>
                    <a:pt x="57753" y="5008"/>
                  </a:cubicBezTo>
                  <a:cubicBezTo>
                    <a:pt x="70556" y="5008"/>
                    <a:pt x="77653" y="12525"/>
                    <a:pt x="79046" y="27555"/>
                  </a:cubicBezTo>
                  <a:lnTo>
                    <a:pt x="81550" y="27972"/>
                  </a:lnTo>
                  <a:lnTo>
                    <a:pt x="86697" y="278"/>
                  </a:lnTo>
                  <a:lnTo>
                    <a:pt x="83776" y="278"/>
                  </a:lnTo>
                  <a:cubicBezTo>
                    <a:pt x="82665" y="2504"/>
                    <a:pt x="81272" y="3342"/>
                    <a:pt x="78490" y="3342"/>
                  </a:cubicBezTo>
                  <a:cubicBezTo>
                    <a:pt x="77236" y="3342"/>
                    <a:pt x="75704" y="3060"/>
                    <a:pt x="72783" y="2365"/>
                  </a:cubicBezTo>
                  <a:cubicBezTo>
                    <a:pt x="66659" y="833"/>
                    <a:pt x="61095" y="0"/>
                    <a:pt x="56499" y="0"/>
                  </a:cubicBezTo>
                  <a:cubicBezTo>
                    <a:pt x="26722" y="0"/>
                    <a:pt x="0" y="27833"/>
                    <a:pt x="0" y="58864"/>
                  </a:cubicBezTo>
                  <a:cubicBezTo>
                    <a:pt x="0" y="80157"/>
                    <a:pt x="15030" y="95186"/>
                    <a:pt x="36322" y="95186"/>
                  </a:cubicBezTo>
                  <a:cubicBezTo>
                    <a:pt x="50657" y="95186"/>
                    <a:pt x="61789" y="89202"/>
                    <a:pt x="74315" y="74454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4" name="soft_eq_outline_2"/>
            <p:cNvSpPr/>
            <p:nvPr/>
          </p:nvSpPr>
          <p:spPr>
            <a:xfrm>
              <a:off x="2430800" y="525362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4" y="62258"/>
                  </a:cubicBezTo>
                  <a:cubicBezTo>
                    <a:pt x="42541" y="65472"/>
                    <a:pt x="41196" y="66615"/>
                    <a:pt x="39429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3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4"/>
                    <a:pt x="30817" y="35592"/>
                    <a:pt x="20233" y="44101"/>
                  </a:cubicBezTo>
                  <a:lnTo>
                    <a:pt x="15149" y="47939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3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5" name="soft_eq_outline_3"/>
            <p:cNvSpPr/>
            <p:nvPr/>
          </p:nvSpPr>
          <p:spPr>
            <a:xfrm>
              <a:off x="2500271" y="561107"/>
              <a:ext cx="19343" cy="33817"/>
            </a:xfrm>
            <a:custGeom>
              <a:avLst/>
              <a:gdLst/>
              <a:ahLst/>
              <a:cxnLst/>
              <a:rect l="0" t="0" r="r" b="b"/>
              <a:pathLst>
                <a:path w="19344" h="33818">
                  <a:moveTo>
                    <a:pt x="19344" y="13363"/>
                  </a:moveTo>
                  <a:cubicBezTo>
                    <a:pt x="19344" y="1810"/>
                    <a:pt x="11271" y="0"/>
                    <a:pt x="8068" y="0"/>
                  </a:cubicBezTo>
                  <a:cubicBezTo>
                    <a:pt x="4592" y="0"/>
                    <a:pt x="0" y="2088"/>
                    <a:pt x="0" y="8072"/>
                  </a:cubicBezTo>
                  <a:cubicBezTo>
                    <a:pt x="0" y="13641"/>
                    <a:pt x="5009" y="15030"/>
                    <a:pt x="8628" y="15030"/>
                  </a:cubicBezTo>
                  <a:cubicBezTo>
                    <a:pt x="9600" y="15030"/>
                    <a:pt x="10295" y="14891"/>
                    <a:pt x="10716" y="14752"/>
                  </a:cubicBezTo>
                  <a:cubicBezTo>
                    <a:pt x="11271" y="14613"/>
                    <a:pt x="11688" y="14474"/>
                    <a:pt x="11966" y="14474"/>
                  </a:cubicBezTo>
                  <a:cubicBezTo>
                    <a:pt x="12942" y="14474"/>
                    <a:pt x="13914" y="15169"/>
                    <a:pt x="13914" y="16423"/>
                  </a:cubicBezTo>
                  <a:cubicBezTo>
                    <a:pt x="13914" y="19066"/>
                    <a:pt x="11688" y="25329"/>
                    <a:pt x="2504" y="31175"/>
                  </a:cubicBezTo>
                  <a:lnTo>
                    <a:pt x="3754" y="33818"/>
                  </a:lnTo>
                  <a:cubicBezTo>
                    <a:pt x="7930" y="32425"/>
                    <a:pt x="19344" y="23241"/>
                    <a:pt x="19344" y="13363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6" name="soft_eq_outline_4"/>
            <p:cNvSpPr/>
            <p:nvPr/>
          </p:nvSpPr>
          <p:spPr>
            <a:xfrm>
              <a:off x="2557178" y="484431"/>
              <a:ext cx="88645" cy="90872"/>
            </a:xfrm>
            <a:custGeom>
              <a:avLst/>
              <a:gdLst/>
              <a:ahLst/>
              <a:cxnLst/>
              <a:rect l="0" t="0" r="r" b="b"/>
              <a:pathLst>
                <a:path w="88646" h="90872">
                  <a:moveTo>
                    <a:pt x="84193" y="21292"/>
                  </a:moveTo>
                  <a:lnTo>
                    <a:pt x="88646" y="0"/>
                  </a:lnTo>
                  <a:lnTo>
                    <a:pt x="19340" y="0"/>
                  </a:lnTo>
                  <a:lnTo>
                    <a:pt x="19340" y="2226"/>
                  </a:lnTo>
                  <a:cubicBezTo>
                    <a:pt x="28527" y="3060"/>
                    <a:pt x="30055" y="3897"/>
                    <a:pt x="30055" y="7795"/>
                  </a:cubicBezTo>
                  <a:cubicBezTo>
                    <a:pt x="30055" y="10021"/>
                    <a:pt x="29500" y="13359"/>
                    <a:pt x="28527" y="16839"/>
                  </a:cubicBezTo>
                  <a:lnTo>
                    <a:pt x="11410" y="78347"/>
                  </a:lnTo>
                  <a:cubicBezTo>
                    <a:pt x="8906" y="86697"/>
                    <a:pt x="7929" y="87531"/>
                    <a:pt x="0" y="88646"/>
                  </a:cubicBezTo>
                  <a:lnTo>
                    <a:pt x="0" y="90872"/>
                  </a:lnTo>
                  <a:lnTo>
                    <a:pt x="35068" y="90872"/>
                  </a:lnTo>
                  <a:lnTo>
                    <a:pt x="35068" y="88646"/>
                  </a:lnTo>
                  <a:cubicBezTo>
                    <a:pt x="26995" y="88229"/>
                    <a:pt x="24491" y="86697"/>
                    <a:pt x="24491" y="82522"/>
                  </a:cubicBezTo>
                  <a:cubicBezTo>
                    <a:pt x="24491" y="81272"/>
                    <a:pt x="24769" y="79601"/>
                    <a:pt x="25741" y="76260"/>
                  </a:cubicBezTo>
                  <a:lnTo>
                    <a:pt x="34369" y="45228"/>
                  </a:lnTo>
                  <a:cubicBezTo>
                    <a:pt x="39521" y="45506"/>
                    <a:pt x="42581" y="45645"/>
                    <a:pt x="45645" y="45645"/>
                  </a:cubicBezTo>
                  <a:cubicBezTo>
                    <a:pt x="51070" y="45645"/>
                    <a:pt x="51907" y="45783"/>
                    <a:pt x="53296" y="46339"/>
                  </a:cubicBezTo>
                  <a:cubicBezTo>
                    <a:pt x="55245" y="47315"/>
                    <a:pt x="56360" y="49264"/>
                    <a:pt x="56360" y="52046"/>
                  </a:cubicBezTo>
                  <a:cubicBezTo>
                    <a:pt x="56360" y="54273"/>
                    <a:pt x="56078" y="55943"/>
                    <a:pt x="55245" y="60258"/>
                  </a:cubicBezTo>
                  <a:lnTo>
                    <a:pt x="57610" y="60952"/>
                  </a:lnTo>
                  <a:lnTo>
                    <a:pt x="68187" y="28388"/>
                  </a:lnTo>
                  <a:lnTo>
                    <a:pt x="65683" y="27694"/>
                  </a:lnTo>
                  <a:cubicBezTo>
                    <a:pt x="59420" y="40219"/>
                    <a:pt x="59003" y="40358"/>
                    <a:pt x="35624" y="40636"/>
                  </a:cubicBezTo>
                  <a:lnTo>
                    <a:pt x="44807" y="8211"/>
                  </a:lnTo>
                  <a:cubicBezTo>
                    <a:pt x="45645" y="5425"/>
                    <a:pt x="47593" y="4592"/>
                    <a:pt x="53296" y="4592"/>
                  </a:cubicBezTo>
                  <a:cubicBezTo>
                    <a:pt x="76816" y="4592"/>
                    <a:pt x="81685" y="6402"/>
                    <a:pt x="81685" y="15168"/>
                  </a:cubicBezTo>
                  <a:cubicBezTo>
                    <a:pt x="81685" y="16141"/>
                    <a:pt x="81685" y="16700"/>
                    <a:pt x="81546" y="18367"/>
                  </a:cubicBezTo>
                  <a:cubicBezTo>
                    <a:pt x="81407" y="19344"/>
                    <a:pt x="81407" y="19899"/>
                    <a:pt x="81268" y="21015"/>
                  </a:cubicBezTo>
                  <a:lnTo>
                    <a:pt x="84193" y="21292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7" name="soft_eq_outline_5"/>
            <p:cNvSpPr/>
            <p:nvPr/>
          </p:nvSpPr>
          <p:spPr>
            <a:xfrm>
              <a:off x="2657065" y="476914"/>
              <a:ext cx="36599" cy="125245"/>
            </a:xfrm>
            <a:custGeom>
              <a:avLst/>
              <a:gdLst/>
              <a:ahLst/>
              <a:cxnLst/>
              <a:rect l="0" t="0" r="r" b="b"/>
              <a:pathLst>
                <a:path w="36600" h="125246">
                  <a:moveTo>
                    <a:pt x="36600" y="62623"/>
                  </a:moveTo>
                  <a:lnTo>
                    <a:pt x="6679" y="0"/>
                  </a:lnTo>
                  <a:lnTo>
                    <a:pt x="0" y="0"/>
                  </a:lnTo>
                  <a:lnTo>
                    <a:pt x="26999" y="62623"/>
                  </a:lnTo>
                  <a:lnTo>
                    <a:pt x="0" y="125246"/>
                  </a:lnTo>
                  <a:lnTo>
                    <a:pt x="6679" y="125246"/>
                  </a:lnTo>
                  <a:lnTo>
                    <a:pt x="36600" y="62623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8" name="soft_eq_outline_6"/>
            <p:cNvSpPr/>
            <p:nvPr/>
          </p:nvSpPr>
          <p:spPr>
            <a:xfrm>
              <a:off x="2753497" y="495424"/>
              <a:ext cx="71250" cy="87951"/>
            </a:xfrm>
            <a:custGeom>
              <a:avLst/>
              <a:gdLst/>
              <a:ahLst/>
              <a:cxnLst/>
              <a:rect l="0" t="0" r="r" b="b"/>
              <a:pathLst>
                <a:path w="71250" h="87952">
                  <a:moveTo>
                    <a:pt x="71250" y="69858"/>
                  </a:moveTo>
                  <a:lnTo>
                    <a:pt x="71250" y="62067"/>
                  </a:lnTo>
                  <a:lnTo>
                    <a:pt x="13359" y="34929"/>
                  </a:lnTo>
                  <a:lnTo>
                    <a:pt x="71250" y="7795"/>
                  </a:lnTo>
                  <a:lnTo>
                    <a:pt x="71250" y="0"/>
                  </a:lnTo>
                  <a:lnTo>
                    <a:pt x="0" y="33679"/>
                  </a:lnTo>
                  <a:lnTo>
                    <a:pt x="0" y="36461"/>
                  </a:lnTo>
                  <a:lnTo>
                    <a:pt x="71250" y="69858"/>
                  </a:lnTo>
                  <a:close/>
                  <a:moveTo>
                    <a:pt x="71250" y="87952"/>
                  </a:moveTo>
                  <a:lnTo>
                    <a:pt x="71250" y="80574"/>
                  </a:lnTo>
                  <a:lnTo>
                    <a:pt x="0" y="80574"/>
                  </a:lnTo>
                  <a:lnTo>
                    <a:pt x="0" y="87952"/>
                  </a:lnTo>
                  <a:lnTo>
                    <a:pt x="71250" y="87952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9" name="soft_eq_outline_7"/>
            <p:cNvSpPr/>
            <p:nvPr/>
          </p:nvSpPr>
          <p:spPr>
            <a:xfrm>
              <a:off x="2878580" y="480256"/>
              <a:ext cx="62622" cy="96579"/>
            </a:xfrm>
            <a:custGeom>
              <a:avLst/>
              <a:gdLst/>
              <a:ahLst/>
              <a:cxnLst/>
              <a:rect l="0" t="0" r="r" b="b"/>
              <a:pathLst>
                <a:path w="62623" h="96580">
                  <a:moveTo>
                    <a:pt x="62623" y="50375"/>
                  </a:moveTo>
                  <a:cubicBezTo>
                    <a:pt x="62623" y="40636"/>
                    <a:pt x="55805" y="33679"/>
                    <a:pt x="46482" y="33679"/>
                  </a:cubicBezTo>
                  <a:cubicBezTo>
                    <a:pt x="36743" y="33679"/>
                    <a:pt x="29504" y="39382"/>
                    <a:pt x="19625" y="54689"/>
                  </a:cubicBezTo>
                  <a:lnTo>
                    <a:pt x="34096" y="695"/>
                  </a:lnTo>
                  <a:lnTo>
                    <a:pt x="33401" y="0"/>
                  </a:lnTo>
                  <a:cubicBezTo>
                    <a:pt x="26444" y="1254"/>
                    <a:pt x="21431" y="2087"/>
                    <a:pt x="12109" y="3199"/>
                  </a:cubicBezTo>
                  <a:lnTo>
                    <a:pt x="12109" y="5568"/>
                  </a:lnTo>
                  <a:cubicBezTo>
                    <a:pt x="20320" y="5846"/>
                    <a:pt x="21153" y="6263"/>
                    <a:pt x="21153" y="9323"/>
                  </a:cubicBezTo>
                  <a:cubicBezTo>
                    <a:pt x="21153" y="10577"/>
                    <a:pt x="20876" y="12109"/>
                    <a:pt x="19903" y="15307"/>
                  </a:cubicBezTo>
                  <a:lnTo>
                    <a:pt x="19205" y="17951"/>
                  </a:lnTo>
                  <a:lnTo>
                    <a:pt x="18927" y="18927"/>
                  </a:lnTo>
                  <a:lnTo>
                    <a:pt x="0" y="88646"/>
                  </a:lnTo>
                  <a:lnTo>
                    <a:pt x="0" y="89202"/>
                  </a:lnTo>
                  <a:cubicBezTo>
                    <a:pt x="0" y="92404"/>
                    <a:pt x="10577" y="96580"/>
                    <a:pt x="18510" y="96580"/>
                  </a:cubicBezTo>
                  <a:cubicBezTo>
                    <a:pt x="39525" y="96580"/>
                    <a:pt x="62623" y="72362"/>
                    <a:pt x="62623" y="50375"/>
                  </a:cubicBezTo>
                  <a:close/>
                  <a:moveTo>
                    <a:pt x="50796" y="52463"/>
                  </a:moveTo>
                  <a:cubicBezTo>
                    <a:pt x="50796" y="61650"/>
                    <a:pt x="43839" y="76537"/>
                    <a:pt x="35489" y="85165"/>
                  </a:cubicBezTo>
                  <a:cubicBezTo>
                    <a:pt x="30341" y="90456"/>
                    <a:pt x="24356" y="93377"/>
                    <a:pt x="18371" y="93377"/>
                  </a:cubicBezTo>
                  <a:cubicBezTo>
                    <a:pt x="14057" y="93377"/>
                    <a:pt x="11970" y="91849"/>
                    <a:pt x="11970" y="88646"/>
                  </a:cubicBezTo>
                  <a:cubicBezTo>
                    <a:pt x="11970" y="80296"/>
                    <a:pt x="16145" y="66937"/>
                    <a:pt x="21991" y="56499"/>
                  </a:cubicBezTo>
                  <a:cubicBezTo>
                    <a:pt x="28115" y="45783"/>
                    <a:pt x="34373" y="40497"/>
                    <a:pt x="41057" y="40497"/>
                  </a:cubicBezTo>
                  <a:cubicBezTo>
                    <a:pt x="47177" y="40497"/>
                    <a:pt x="50796" y="45089"/>
                    <a:pt x="50796" y="52463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0" name="soft_eq_outline_8"/>
            <p:cNvSpPr/>
            <p:nvPr/>
          </p:nvSpPr>
          <p:spPr>
            <a:xfrm>
              <a:off x="2956441" y="525362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4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4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4"/>
                    <a:pt x="30817" y="35592"/>
                    <a:pt x="20233" y="44101"/>
                  </a:cubicBezTo>
                  <a:lnTo>
                    <a:pt x="15149" y="47939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3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2" name="budget_scale"/>
          <p:cNvGrpSpPr/>
          <p:nvPr/>
        </p:nvGrpSpPr>
        <p:grpSpPr>
          <a:xfrm>
            <a:off x="2362594" y="704233"/>
            <a:ext cx="570692" cy="115970"/>
            <a:chOff x="2362594" y="704233"/>
            <a:chExt cx="570692" cy="115970"/>
          </a:xfrm>
        </p:grpSpPr>
        <p:sp>
          <p:nvSpPr>
            <p:cNvPr id="191" name="budget_scale_outline_0"/>
            <p:cNvSpPr/>
            <p:nvPr/>
          </p:nvSpPr>
          <p:spPr>
            <a:xfrm>
              <a:off x="2362594" y="707269"/>
              <a:ext cx="56927" cy="87796"/>
            </a:xfrm>
            <a:custGeom>
              <a:avLst/>
              <a:gdLst/>
              <a:ahLst/>
              <a:cxnLst/>
              <a:rect l="0" t="0" r="r" b="b"/>
              <a:pathLst>
                <a:path w="56928" h="87797">
                  <a:moveTo>
                    <a:pt x="56928" y="45795"/>
                  </a:moveTo>
                  <a:cubicBezTo>
                    <a:pt x="56928" y="36941"/>
                    <a:pt x="50728" y="30615"/>
                    <a:pt x="42255" y="30615"/>
                  </a:cubicBezTo>
                  <a:cubicBezTo>
                    <a:pt x="33397" y="30615"/>
                    <a:pt x="26821" y="35802"/>
                    <a:pt x="17840" y="49717"/>
                  </a:cubicBezTo>
                  <a:lnTo>
                    <a:pt x="30996" y="631"/>
                  </a:lnTo>
                  <a:lnTo>
                    <a:pt x="30361" y="0"/>
                  </a:lnTo>
                  <a:cubicBezTo>
                    <a:pt x="24039" y="1139"/>
                    <a:pt x="19483" y="1897"/>
                    <a:pt x="11005" y="2909"/>
                  </a:cubicBezTo>
                  <a:lnTo>
                    <a:pt x="11005" y="5060"/>
                  </a:lnTo>
                  <a:cubicBezTo>
                    <a:pt x="18470" y="5314"/>
                    <a:pt x="19229" y="5691"/>
                    <a:pt x="19229" y="8473"/>
                  </a:cubicBezTo>
                  <a:cubicBezTo>
                    <a:pt x="19229" y="9612"/>
                    <a:pt x="18979" y="11005"/>
                    <a:pt x="18089" y="13915"/>
                  </a:cubicBezTo>
                  <a:lnTo>
                    <a:pt x="17459" y="16320"/>
                  </a:lnTo>
                  <a:lnTo>
                    <a:pt x="17205" y="17205"/>
                  </a:lnTo>
                  <a:lnTo>
                    <a:pt x="0" y="80585"/>
                  </a:lnTo>
                  <a:lnTo>
                    <a:pt x="0" y="81090"/>
                  </a:lnTo>
                  <a:cubicBezTo>
                    <a:pt x="0" y="83999"/>
                    <a:pt x="9616" y="87797"/>
                    <a:pt x="16828" y="87797"/>
                  </a:cubicBezTo>
                  <a:cubicBezTo>
                    <a:pt x="35929" y="87797"/>
                    <a:pt x="56928" y="65782"/>
                    <a:pt x="56928" y="45795"/>
                  </a:cubicBezTo>
                  <a:close/>
                  <a:moveTo>
                    <a:pt x="46176" y="47692"/>
                  </a:moveTo>
                  <a:cubicBezTo>
                    <a:pt x="46176" y="56043"/>
                    <a:pt x="39850" y="69580"/>
                    <a:pt x="32262" y="77422"/>
                  </a:cubicBezTo>
                  <a:cubicBezTo>
                    <a:pt x="27579" y="82229"/>
                    <a:pt x="22138" y="84884"/>
                    <a:pt x="16700" y="84884"/>
                  </a:cubicBezTo>
                  <a:cubicBezTo>
                    <a:pt x="12779" y="84884"/>
                    <a:pt x="10878" y="83495"/>
                    <a:pt x="10878" y="80585"/>
                  </a:cubicBezTo>
                  <a:cubicBezTo>
                    <a:pt x="10878" y="72993"/>
                    <a:pt x="14677" y="60849"/>
                    <a:pt x="19991" y="51360"/>
                  </a:cubicBezTo>
                  <a:cubicBezTo>
                    <a:pt x="25555" y="41620"/>
                    <a:pt x="31246" y="36814"/>
                    <a:pt x="37322" y="36814"/>
                  </a:cubicBezTo>
                  <a:cubicBezTo>
                    <a:pt x="42886" y="36814"/>
                    <a:pt x="46176" y="40989"/>
                    <a:pt x="46176" y="4769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2" name="budget_scale_outline_1"/>
            <p:cNvSpPr/>
            <p:nvPr/>
          </p:nvSpPr>
          <p:spPr>
            <a:xfrm>
              <a:off x="2433962" y="748191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4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3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3"/>
                    <a:pt x="30817" y="35592"/>
                    <a:pt x="20233" y="44101"/>
                  </a:cubicBezTo>
                  <a:lnTo>
                    <a:pt x="15149" y="47938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2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3" name="budget_scale_outline_2"/>
            <p:cNvSpPr/>
            <p:nvPr/>
          </p:nvSpPr>
          <p:spPr>
            <a:xfrm>
              <a:off x="2538622" y="744841"/>
              <a:ext cx="64773" cy="32766"/>
            </a:xfrm>
            <a:custGeom>
              <a:avLst/>
              <a:gdLst/>
              <a:ahLst/>
              <a:cxnLst/>
              <a:rect l="0" t="0" r="r" b="b"/>
              <a:pathLst>
                <a:path w="64774" h="32766">
                  <a:moveTo>
                    <a:pt x="64774" y="7084"/>
                  </a:moveTo>
                  <a:lnTo>
                    <a:pt x="64774" y="0"/>
                  </a:lnTo>
                  <a:lnTo>
                    <a:pt x="0" y="0"/>
                  </a:lnTo>
                  <a:lnTo>
                    <a:pt x="0" y="7084"/>
                  </a:lnTo>
                  <a:lnTo>
                    <a:pt x="64774" y="7084"/>
                  </a:lnTo>
                  <a:close/>
                  <a:moveTo>
                    <a:pt x="64774" y="32766"/>
                  </a:moveTo>
                  <a:lnTo>
                    <a:pt x="64774" y="25682"/>
                  </a:lnTo>
                  <a:lnTo>
                    <a:pt x="0" y="25682"/>
                  </a:lnTo>
                  <a:lnTo>
                    <a:pt x="0" y="32766"/>
                  </a:lnTo>
                  <a:lnTo>
                    <a:pt x="64774" y="32766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4" name="budget_scale_outline_3"/>
            <p:cNvSpPr/>
            <p:nvPr/>
          </p:nvSpPr>
          <p:spPr>
            <a:xfrm>
              <a:off x="2650316" y="711063"/>
              <a:ext cx="75398" cy="82609"/>
            </a:xfrm>
            <a:custGeom>
              <a:avLst/>
              <a:gdLst/>
              <a:ahLst/>
              <a:cxnLst/>
              <a:rect l="0" t="0" r="r" b="b"/>
              <a:pathLst>
                <a:path w="75398" h="82610">
                  <a:moveTo>
                    <a:pt x="69199" y="57309"/>
                  </a:moveTo>
                  <a:cubicBezTo>
                    <a:pt x="69199" y="48073"/>
                    <a:pt x="65278" y="43390"/>
                    <a:pt x="53261" y="38207"/>
                  </a:cubicBezTo>
                  <a:cubicBezTo>
                    <a:pt x="62242" y="36056"/>
                    <a:pt x="65909" y="34536"/>
                    <a:pt x="69957" y="30996"/>
                  </a:cubicBezTo>
                  <a:cubicBezTo>
                    <a:pt x="73501" y="27960"/>
                    <a:pt x="75398" y="23785"/>
                    <a:pt x="75398" y="18598"/>
                  </a:cubicBezTo>
                  <a:cubicBezTo>
                    <a:pt x="75398" y="6580"/>
                    <a:pt x="66417" y="0"/>
                    <a:pt x="50097" y="0"/>
                  </a:cubicBezTo>
                  <a:lnTo>
                    <a:pt x="17458" y="0"/>
                  </a:lnTo>
                  <a:lnTo>
                    <a:pt x="17458" y="2024"/>
                  </a:lnTo>
                  <a:cubicBezTo>
                    <a:pt x="25428" y="2655"/>
                    <a:pt x="27198" y="3544"/>
                    <a:pt x="27198" y="7211"/>
                  </a:cubicBezTo>
                  <a:cubicBezTo>
                    <a:pt x="27198" y="9108"/>
                    <a:pt x="26694" y="12144"/>
                    <a:pt x="25809" y="15307"/>
                  </a:cubicBezTo>
                  <a:lnTo>
                    <a:pt x="10247" y="71223"/>
                  </a:lnTo>
                  <a:cubicBezTo>
                    <a:pt x="7969" y="78561"/>
                    <a:pt x="7084" y="79319"/>
                    <a:pt x="0" y="80585"/>
                  </a:cubicBezTo>
                  <a:lnTo>
                    <a:pt x="0" y="82610"/>
                  </a:lnTo>
                  <a:lnTo>
                    <a:pt x="35675" y="82610"/>
                  </a:lnTo>
                  <a:cubicBezTo>
                    <a:pt x="55539" y="82610"/>
                    <a:pt x="69199" y="72362"/>
                    <a:pt x="69199" y="57309"/>
                  </a:cubicBezTo>
                  <a:close/>
                  <a:moveTo>
                    <a:pt x="55539" y="56801"/>
                  </a:moveTo>
                  <a:cubicBezTo>
                    <a:pt x="55539" y="70465"/>
                    <a:pt x="46176" y="78815"/>
                    <a:pt x="30742" y="78815"/>
                  </a:cubicBezTo>
                  <a:cubicBezTo>
                    <a:pt x="25428" y="78815"/>
                    <a:pt x="22646" y="77041"/>
                    <a:pt x="22646" y="73501"/>
                  </a:cubicBezTo>
                  <a:cubicBezTo>
                    <a:pt x="22646" y="71858"/>
                    <a:pt x="24162" y="65909"/>
                    <a:pt x="27071" y="55789"/>
                  </a:cubicBezTo>
                  <a:lnTo>
                    <a:pt x="31119" y="40735"/>
                  </a:lnTo>
                  <a:cubicBezTo>
                    <a:pt x="39092" y="40735"/>
                    <a:pt x="44529" y="41243"/>
                    <a:pt x="47061" y="42255"/>
                  </a:cubicBezTo>
                  <a:cubicBezTo>
                    <a:pt x="52376" y="44279"/>
                    <a:pt x="55539" y="49844"/>
                    <a:pt x="55539" y="56801"/>
                  </a:cubicBezTo>
                  <a:close/>
                  <a:moveTo>
                    <a:pt x="62623" y="17459"/>
                  </a:moveTo>
                  <a:cubicBezTo>
                    <a:pt x="62623" y="30488"/>
                    <a:pt x="54146" y="36687"/>
                    <a:pt x="36687" y="36687"/>
                  </a:cubicBezTo>
                  <a:lnTo>
                    <a:pt x="32385" y="36687"/>
                  </a:lnTo>
                  <a:lnTo>
                    <a:pt x="40608" y="7338"/>
                  </a:lnTo>
                  <a:cubicBezTo>
                    <a:pt x="41366" y="4556"/>
                    <a:pt x="42886" y="3794"/>
                    <a:pt x="47819" y="3794"/>
                  </a:cubicBezTo>
                  <a:cubicBezTo>
                    <a:pt x="58067" y="3794"/>
                    <a:pt x="62623" y="8096"/>
                    <a:pt x="62623" y="17459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5" name="budget_scale_outline_4"/>
            <p:cNvSpPr/>
            <p:nvPr/>
          </p:nvSpPr>
          <p:spPr>
            <a:xfrm>
              <a:off x="2736870" y="748191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4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4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3"/>
                    <a:pt x="30817" y="35592"/>
                    <a:pt x="20233" y="44101"/>
                  </a:cubicBezTo>
                  <a:lnTo>
                    <a:pt x="15149" y="47938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2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6" name="budget_scale_outline_5"/>
            <p:cNvSpPr/>
            <p:nvPr/>
          </p:nvSpPr>
          <p:spPr>
            <a:xfrm>
              <a:off x="2806388" y="704233"/>
              <a:ext cx="42509" cy="113855"/>
            </a:xfrm>
            <a:custGeom>
              <a:avLst/>
              <a:gdLst/>
              <a:ahLst/>
              <a:cxnLst/>
              <a:rect l="0" t="0" r="r" b="b"/>
              <a:pathLst>
                <a:path w="42509" h="113856">
                  <a:moveTo>
                    <a:pt x="0" y="113856"/>
                  </a:moveTo>
                  <a:lnTo>
                    <a:pt x="6580" y="113856"/>
                  </a:lnTo>
                  <a:lnTo>
                    <a:pt x="42509" y="0"/>
                  </a:lnTo>
                  <a:lnTo>
                    <a:pt x="35929" y="0"/>
                  </a:lnTo>
                  <a:lnTo>
                    <a:pt x="0" y="113856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7" name="budget_scale_outline_6"/>
            <p:cNvSpPr/>
            <p:nvPr/>
          </p:nvSpPr>
          <p:spPr>
            <a:xfrm>
              <a:off x="2861555" y="711063"/>
              <a:ext cx="71731" cy="82609"/>
            </a:xfrm>
            <a:custGeom>
              <a:avLst/>
              <a:gdLst/>
              <a:ahLst/>
              <a:cxnLst/>
              <a:rect l="0" t="0" r="r" b="b"/>
              <a:pathLst>
                <a:path w="71731" h="82610">
                  <a:moveTo>
                    <a:pt x="71731" y="59964"/>
                  </a:moveTo>
                  <a:lnTo>
                    <a:pt x="69199" y="59206"/>
                  </a:lnTo>
                  <a:cubicBezTo>
                    <a:pt x="64770" y="68314"/>
                    <a:pt x="61484" y="72235"/>
                    <a:pt x="55916" y="75017"/>
                  </a:cubicBezTo>
                  <a:cubicBezTo>
                    <a:pt x="51487" y="77295"/>
                    <a:pt x="46303" y="78053"/>
                    <a:pt x="35044" y="78053"/>
                  </a:cubicBezTo>
                  <a:cubicBezTo>
                    <a:pt x="25555" y="78053"/>
                    <a:pt x="22392" y="77041"/>
                    <a:pt x="22392" y="73755"/>
                  </a:cubicBezTo>
                  <a:cubicBezTo>
                    <a:pt x="22392" y="72743"/>
                    <a:pt x="22900" y="70084"/>
                    <a:pt x="23658" y="67429"/>
                  </a:cubicBezTo>
                  <a:lnTo>
                    <a:pt x="39219" y="11386"/>
                  </a:lnTo>
                  <a:cubicBezTo>
                    <a:pt x="41116" y="4933"/>
                    <a:pt x="44402" y="2532"/>
                    <a:pt x="51995" y="2024"/>
                  </a:cubicBezTo>
                  <a:lnTo>
                    <a:pt x="51995" y="0"/>
                  </a:lnTo>
                  <a:lnTo>
                    <a:pt x="17459" y="0"/>
                  </a:lnTo>
                  <a:lnTo>
                    <a:pt x="17459" y="2024"/>
                  </a:lnTo>
                  <a:cubicBezTo>
                    <a:pt x="25428" y="2782"/>
                    <a:pt x="27198" y="3794"/>
                    <a:pt x="27198" y="7465"/>
                  </a:cubicBezTo>
                  <a:cubicBezTo>
                    <a:pt x="27198" y="9362"/>
                    <a:pt x="26821" y="11890"/>
                    <a:pt x="25809" y="15307"/>
                  </a:cubicBezTo>
                  <a:lnTo>
                    <a:pt x="10247" y="71223"/>
                  </a:lnTo>
                  <a:cubicBezTo>
                    <a:pt x="7969" y="78561"/>
                    <a:pt x="7084" y="79319"/>
                    <a:pt x="0" y="80585"/>
                  </a:cubicBezTo>
                  <a:lnTo>
                    <a:pt x="0" y="82610"/>
                  </a:lnTo>
                  <a:lnTo>
                    <a:pt x="64393" y="82610"/>
                  </a:lnTo>
                  <a:lnTo>
                    <a:pt x="71731" y="59964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3" name="hard_eq"/>
          <p:cNvGrpSpPr/>
          <p:nvPr/>
        </p:nvGrpSpPr>
        <p:grpSpPr>
          <a:xfrm>
            <a:off x="2430167" y="1466462"/>
            <a:ext cx="411964" cy="114954"/>
            <a:chOff x="2430167" y="1466462"/>
            <a:chExt cx="411964" cy="114954"/>
          </a:xfrm>
        </p:grpSpPr>
        <p:sp>
          <p:nvSpPr>
            <p:cNvPr id="198" name="hard_eq_outline_0"/>
            <p:cNvSpPr/>
            <p:nvPr/>
          </p:nvSpPr>
          <p:spPr>
            <a:xfrm>
              <a:off x="2430167" y="1469665"/>
              <a:ext cx="88645" cy="90872"/>
            </a:xfrm>
            <a:custGeom>
              <a:avLst/>
              <a:gdLst/>
              <a:ahLst/>
              <a:cxnLst/>
              <a:rect l="0" t="0" r="r" b="b"/>
              <a:pathLst>
                <a:path w="88646" h="90872">
                  <a:moveTo>
                    <a:pt x="84193" y="21292"/>
                  </a:moveTo>
                  <a:lnTo>
                    <a:pt x="88646" y="0"/>
                  </a:lnTo>
                  <a:lnTo>
                    <a:pt x="19340" y="0"/>
                  </a:lnTo>
                  <a:lnTo>
                    <a:pt x="19340" y="2226"/>
                  </a:lnTo>
                  <a:cubicBezTo>
                    <a:pt x="28527" y="3060"/>
                    <a:pt x="30055" y="3897"/>
                    <a:pt x="30055" y="7795"/>
                  </a:cubicBezTo>
                  <a:cubicBezTo>
                    <a:pt x="30055" y="10021"/>
                    <a:pt x="29500" y="13359"/>
                    <a:pt x="28527" y="16839"/>
                  </a:cubicBezTo>
                  <a:lnTo>
                    <a:pt x="11410" y="78347"/>
                  </a:lnTo>
                  <a:cubicBezTo>
                    <a:pt x="8906" y="86697"/>
                    <a:pt x="7930" y="87531"/>
                    <a:pt x="0" y="88646"/>
                  </a:cubicBezTo>
                  <a:lnTo>
                    <a:pt x="0" y="90872"/>
                  </a:lnTo>
                  <a:lnTo>
                    <a:pt x="35068" y="90872"/>
                  </a:lnTo>
                  <a:lnTo>
                    <a:pt x="35068" y="88646"/>
                  </a:lnTo>
                  <a:cubicBezTo>
                    <a:pt x="26995" y="88229"/>
                    <a:pt x="24491" y="86697"/>
                    <a:pt x="24491" y="82522"/>
                  </a:cubicBezTo>
                  <a:cubicBezTo>
                    <a:pt x="24491" y="81272"/>
                    <a:pt x="24769" y="79601"/>
                    <a:pt x="25741" y="76259"/>
                  </a:cubicBezTo>
                  <a:lnTo>
                    <a:pt x="34369" y="45228"/>
                  </a:lnTo>
                  <a:cubicBezTo>
                    <a:pt x="39521" y="45506"/>
                    <a:pt x="42581" y="45645"/>
                    <a:pt x="45645" y="45645"/>
                  </a:cubicBezTo>
                  <a:cubicBezTo>
                    <a:pt x="51070" y="45645"/>
                    <a:pt x="51907" y="45784"/>
                    <a:pt x="53296" y="46339"/>
                  </a:cubicBezTo>
                  <a:cubicBezTo>
                    <a:pt x="55245" y="47315"/>
                    <a:pt x="56360" y="49264"/>
                    <a:pt x="56360" y="52046"/>
                  </a:cubicBezTo>
                  <a:cubicBezTo>
                    <a:pt x="56360" y="54273"/>
                    <a:pt x="56078" y="55944"/>
                    <a:pt x="55245" y="60257"/>
                  </a:cubicBezTo>
                  <a:lnTo>
                    <a:pt x="57610" y="60952"/>
                  </a:lnTo>
                  <a:lnTo>
                    <a:pt x="68187" y="28388"/>
                  </a:lnTo>
                  <a:lnTo>
                    <a:pt x="65683" y="27694"/>
                  </a:lnTo>
                  <a:cubicBezTo>
                    <a:pt x="59420" y="40219"/>
                    <a:pt x="59003" y="40358"/>
                    <a:pt x="35623" y="40636"/>
                  </a:cubicBezTo>
                  <a:lnTo>
                    <a:pt x="44807" y="8211"/>
                  </a:lnTo>
                  <a:cubicBezTo>
                    <a:pt x="45645" y="5425"/>
                    <a:pt x="47593" y="4592"/>
                    <a:pt x="53296" y="4592"/>
                  </a:cubicBezTo>
                  <a:cubicBezTo>
                    <a:pt x="76815" y="4592"/>
                    <a:pt x="81685" y="6402"/>
                    <a:pt x="81685" y="15168"/>
                  </a:cubicBezTo>
                  <a:cubicBezTo>
                    <a:pt x="81685" y="16141"/>
                    <a:pt x="81685" y="16700"/>
                    <a:pt x="81546" y="18367"/>
                  </a:cubicBezTo>
                  <a:cubicBezTo>
                    <a:pt x="81407" y="19344"/>
                    <a:pt x="81407" y="19899"/>
                    <a:pt x="81268" y="21014"/>
                  </a:cubicBezTo>
                  <a:lnTo>
                    <a:pt x="84193" y="21292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9" name="hard_eq_outline_1"/>
            <p:cNvSpPr/>
            <p:nvPr/>
          </p:nvSpPr>
          <p:spPr>
            <a:xfrm>
              <a:off x="2511488" y="1513662"/>
              <a:ext cx="87991" cy="67754"/>
            </a:xfrm>
            <a:custGeom>
              <a:avLst/>
              <a:gdLst/>
              <a:ahLst/>
              <a:cxnLst/>
              <a:rect l="0" t="0" r="r" b="b"/>
              <a:pathLst>
                <a:path w="87991" h="67754">
                  <a:moveTo>
                    <a:pt x="74192" y="67754"/>
                  </a:moveTo>
                  <a:lnTo>
                    <a:pt x="74085" y="66096"/>
                  </a:lnTo>
                  <a:cubicBezTo>
                    <a:pt x="66306" y="65369"/>
                    <a:pt x="64957" y="64643"/>
                    <a:pt x="64853" y="61738"/>
                  </a:cubicBezTo>
                  <a:cubicBezTo>
                    <a:pt x="64853" y="60904"/>
                    <a:pt x="64853" y="60075"/>
                    <a:pt x="65060" y="59245"/>
                  </a:cubicBezTo>
                  <a:lnTo>
                    <a:pt x="78549" y="9338"/>
                  </a:lnTo>
                  <a:cubicBezTo>
                    <a:pt x="80312" y="3318"/>
                    <a:pt x="81351" y="2699"/>
                    <a:pt x="87991" y="1659"/>
                  </a:cubicBezTo>
                  <a:lnTo>
                    <a:pt x="87991" y="0"/>
                  </a:lnTo>
                  <a:lnTo>
                    <a:pt x="58210" y="0"/>
                  </a:lnTo>
                  <a:lnTo>
                    <a:pt x="58210" y="1659"/>
                  </a:lnTo>
                  <a:cubicBezTo>
                    <a:pt x="65060" y="2385"/>
                    <a:pt x="66719" y="3215"/>
                    <a:pt x="66822" y="6120"/>
                  </a:cubicBezTo>
                  <a:cubicBezTo>
                    <a:pt x="66822" y="7675"/>
                    <a:pt x="66306" y="9751"/>
                    <a:pt x="65683" y="12553"/>
                  </a:cubicBezTo>
                  <a:lnTo>
                    <a:pt x="61012" y="29571"/>
                  </a:lnTo>
                  <a:lnTo>
                    <a:pt x="29055" y="29571"/>
                  </a:lnTo>
                  <a:lnTo>
                    <a:pt x="34449" y="9338"/>
                  </a:lnTo>
                  <a:cubicBezTo>
                    <a:pt x="36004" y="4044"/>
                    <a:pt x="39120" y="2076"/>
                    <a:pt x="46176" y="1659"/>
                  </a:cubicBezTo>
                  <a:lnTo>
                    <a:pt x="46176" y="0"/>
                  </a:lnTo>
                  <a:lnTo>
                    <a:pt x="13283" y="0"/>
                  </a:lnTo>
                  <a:lnTo>
                    <a:pt x="13283" y="1659"/>
                  </a:lnTo>
                  <a:cubicBezTo>
                    <a:pt x="20753" y="2282"/>
                    <a:pt x="22622" y="3112"/>
                    <a:pt x="22725" y="6120"/>
                  </a:cubicBezTo>
                  <a:cubicBezTo>
                    <a:pt x="22725" y="7675"/>
                    <a:pt x="22519" y="9751"/>
                    <a:pt x="21582" y="12553"/>
                  </a:cubicBezTo>
                  <a:lnTo>
                    <a:pt x="9446" y="58416"/>
                  </a:lnTo>
                  <a:cubicBezTo>
                    <a:pt x="7576" y="64433"/>
                    <a:pt x="6644" y="65056"/>
                    <a:pt x="0" y="66096"/>
                  </a:cubicBezTo>
                  <a:lnTo>
                    <a:pt x="107" y="67754"/>
                  </a:lnTo>
                  <a:lnTo>
                    <a:pt x="29575" y="67754"/>
                  </a:lnTo>
                  <a:lnTo>
                    <a:pt x="29468" y="66096"/>
                  </a:lnTo>
                  <a:cubicBezTo>
                    <a:pt x="22415" y="65266"/>
                    <a:pt x="21066" y="64540"/>
                    <a:pt x="20963" y="61528"/>
                  </a:cubicBezTo>
                  <a:cubicBezTo>
                    <a:pt x="20963" y="60801"/>
                    <a:pt x="21066" y="59972"/>
                    <a:pt x="21272" y="59245"/>
                  </a:cubicBezTo>
                  <a:lnTo>
                    <a:pt x="27912" y="34135"/>
                  </a:lnTo>
                  <a:lnTo>
                    <a:pt x="59873" y="34135"/>
                  </a:lnTo>
                  <a:lnTo>
                    <a:pt x="53336" y="58416"/>
                  </a:lnTo>
                  <a:cubicBezTo>
                    <a:pt x="51673" y="63814"/>
                    <a:pt x="49288" y="65369"/>
                    <a:pt x="41505" y="66096"/>
                  </a:cubicBezTo>
                  <a:lnTo>
                    <a:pt x="41608" y="67754"/>
                  </a:lnTo>
                  <a:lnTo>
                    <a:pt x="74192" y="67754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0" name="hard_eq_outline_2"/>
            <p:cNvSpPr/>
            <p:nvPr/>
          </p:nvSpPr>
          <p:spPr>
            <a:xfrm>
              <a:off x="2657339" y="1506820"/>
              <a:ext cx="71250" cy="36044"/>
            </a:xfrm>
            <a:custGeom>
              <a:avLst/>
              <a:gdLst/>
              <a:ahLst/>
              <a:cxnLst/>
              <a:rect l="0" t="0" r="r" b="b"/>
              <a:pathLst>
                <a:path w="71251" h="36044">
                  <a:moveTo>
                    <a:pt x="71251" y="7795"/>
                  </a:moveTo>
                  <a:lnTo>
                    <a:pt x="71251" y="0"/>
                  </a:lnTo>
                  <a:lnTo>
                    <a:pt x="0" y="0"/>
                  </a:lnTo>
                  <a:lnTo>
                    <a:pt x="0" y="7795"/>
                  </a:lnTo>
                  <a:lnTo>
                    <a:pt x="71251" y="7795"/>
                  </a:lnTo>
                  <a:close/>
                  <a:moveTo>
                    <a:pt x="71251" y="36044"/>
                  </a:moveTo>
                  <a:lnTo>
                    <a:pt x="71251" y="28249"/>
                  </a:lnTo>
                  <a:lnTo>
                    <a:pt x="0" y="28249"/>
                  </a:lnTo>
                  <a:lnTo>
                    <a:pt x="0" y="36044"/>
                  </a:lnTo>
                  <a:lnTo>
                    <a:pt x="71251" y="36044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1" name="hard_eq_outline_3"/>
            <p:cNvSpPr/>
            <p:nvPr/>
          </p:nvSpPr>
          <p:spPr>
            <a:xfrm>
              <a:off x="2779231" y="1466462"/>
              <a:ext cx="62900" cy="96023"/>
            </a:xfrm>
            <a:custGeom>
              <a:avLst/>
              <a:gdLst/>
              <a:ahLst/>
              <a:cxnLst/>
              <a:rect l="0" t="0" r="r" b="b"/>
              <a:pathLst>
                <a:path w="62901" h="96024">
                  <a:moveTo>
                    <a:pt x="62901" y="48153"/>
                  </a:moveTo>
                  <a:cubicBezTo>
                    <a:pt x="62901" y="19625"/>
                    <a:pt x="50236" y="0"/>
                    <a:pt x="32004" y="0"/>
                  </a:cubicBezTo>
                  <a:cubicBezTo>
                    <a:pt x="24352" y="0"/>
                    <a:pt x="18506" y="2369"/>
                    <a:pt x="13359" y="7239"/>
                  </a:cubicBezTo>
                  <a:cubicBezTo>
                    <a:pt x="5286" y="15030"/>
                    <a:pt x="0" y="31036"/>
                    <a:pt x="0" y="47315"/>
                  </a:cubicBezTo>
                  <a:cubicBezTo>
                    <a:pt x="0" y="62484"/>
                    <a:pt x="4592" y="78768"/>
                    <a:pt x="11132" y="86562"/>
                  </a:cubicBezTo>
                  <a:cubicBezTo>
                    <a:pt x="16280" y="92682"/>
                    <a:pt x="23376" y="96024"/>
                    <a:pt x="31448" y="96024"/>
                  </a:cubicBezTo>
                  <a:cubicBezTo>
                    <a:pt x="38545" y="96024"/>
                    <a:pt x="44529" y="93658"/>
                    <a:pt x="49538" y="88789"/>
                  </a:cubicBezTo>
                  <a:cubicBezTo>
                    <a:pt x="57610" y="81133"/>
                    <a:pt x="62901" y="64992"/>
                    <a:pt x="62901" y="48153"/>
                  </a:cubicBezTo>
                  <a:close/>
                  <a:moveTo>
                    <a:pt x="49538" y="48431"/>
                  </a:moveTo>
                  <a:cubicBezTo>
                    <a:pt x="49538" y="77514"/>
                    <a:pt x="43418" y="92404"/>
                    <a:pt x="31448" y="92404"/>
                  </a:cubicBezTo>
                  <a:cubicBezTo>
                    <a:pt x="19483" y="92404"/>
                    <a:pt x="13359" y="77514"/>
                    <a:pt x="13359" y="48569"/>
                  </a:cubicBezTo>
                  <a:cubicBezTo>
                    <a:pt x="13359" y="19066"/>
                    <a:pt x="19622" y="3620"/>
                    <a:pt x="31587" y="3620"/>
                  </a:cubicBezTo>
                  <a:cubicBezTo>
                    <a:pt x="43279" y="3620"/>
                    <a:pt x="49538" y="19344"/>
                    <a:pt x="49538" y="48431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4" name="objective"/>
          <p:cNvGrpSpPr/>
          <p:nvPr/>
        </p:nvGrpSpPr>
        <p:grpSpPr>
          <a:xfrm>
            <a:off x="3334192" y="374498"/>
            <a:ext cx="1550832" cy="152293"/>
            <a:chOff x="3334192" y="374498"/>
            <a:chExt cx="1550832" cy="152293"/>
          </a:xfrm>
        </p:grpSpPr>
        <p:sp>
          <p:nvSpPr>
            <p:cNvPr id="202" name="objective_outline_0"/>
            <p:cNvSpPr/>
            <p:nvPr/>
          </p:nvSpPr>
          <p:spPr>
            <a:xfrm>
              <a:off x="3334192" y="408984"/>
              <a:ext cx="192941" cy="86403"/>
            </a:xfrm>
            <a:custGeom>
              <a:avLst/>
              <a:gdLst/>
              <a:ahLst/>
              <a:cxnLst/>
              <a:rect l="0" t="0" r="r" b="b"/>
              <a:pathLst>
                <a:path w="192941" h="86404">
                  <a:moveTo>
                    <a:pt x="96020" y="86404"/>
                  </a:moveTo>
                  <a:lnTo>
                    <a:pt x="96020" y="84507"/>
                  </a:lnTo>
                  <a:lnTo>
                    <a:pt x="92730" y="84253"/>
                  </a:lnTo>
                  <a:cubicBezTo>
                    <a:pt x="88936" y="83999"/>
                    <a:pt x="87289" y="81725"/>
                    <a:pt x="87289" y="76787"/>
                  </a:cubicBezTo>
                  <a:lnTo>
                    <a:pt x="87289" y="50729"/>
                  </a:lnTo>
                  <a:cubicBezTo>
                    <a:pt x="87289" y="35802"/>
                    <a:pt x="82355" y="28210"/>
                    <a:pt x="72616" y="28210"/>
                  </a:cubicBezTo>
                  <a:cubicBezTo>
                    <a:pt x="65278" y="28210"/>
                    <a:pt x="58825" y="31500"/>
                    <a:pt x="51995" y="38838"/>
                  </a:cubicBezTo>
                  <a:cubicBezTo>
                    <a:pt x="49716" y="31627"/>
                    <a:pt x="45414" y="28210"/>
                    <a:pt x="38584" y="28210"/>
                  </a:cubicBezTo>
                  <a:cubicBezTo>
                    <a:pt x="33020" y="28210"/>
                    <a:pt x="29476" y="29980"/>
                    <a:pt x="18975" y="37953"/>
                  </a:cubicBezTo>
                  <a:lnTo>
                    <a:pt x="18975" y="28464"/>
                  </a:lnTo>
                  <a:lnTo>
                    <a:pt x="18090" y="28210"/>
                  </a:lnTo>
                  <a:cubicBezTo>
                    <a:pt x="11640" y="30615"/>
                    <a:pt x="7338" y="32004"/>
                    <a:pt x="381" y="33905"/>
                  </a:cubicBezTo>
                  <a:lnTo>
                    <a:pt x="381" y="36052"/>
                  </a:lnTo>
                  <a:cubicBezTo>
                    <a:pt x="2024" y="35675"/>
                    <a:pt x="3036" y="35548"/>
                    <a:pt x="4429" y="35548"/>
                  </a:cubicBezTo>
                  <a:cubicBezTo>
                    <a:pt x="7715" y="35548"/>
                    <a:pt x="8854" y="37572"/>
                    <a:pt x="8854" y="43644"/>
                  </a:cubicBezTo>
                  <a:lnTo>
                    <a:pt x="8854" y="75652"/>
                  </a:lnTo>
                  <a:cubicBezTo>
                    <a:pt x="8854" y="82483"/>
                    <a:pt x="7084" y="84380"/>
                    <a:pt x="0" y="84507"/>
                  </a:cubicBezTo>
                  <a:lnTo>
                    <a:pt x="0" y="86404"/>
                  </a:lnTo>
                  <a:lnTo>
                    <a:pt x="28083" y="86404"/>
                  </a:lnTo>
                  <a:lnTo>
                    <a:pt x="28083" y="84507"/>
                  </a:lnTo>
                  <a:cubicBezTo>
                    <a:pt x="21380" y="84253"/>
                    <a:pt x="19483" y="82860"/>
                    <a:pt x="19483" y="77926"/>
                  </a:cubicBezTo>
                  <a:lnTo>
                    <a:pt x="19483" y="42251"/>
                  </a:lnTo>
                  <a:cubicBezTo>
                    <a:pt x="19483" y="42251"/>
                    <a:pt x="20495" y="40735"/>
                    <a:pt x="21380" y="39850"/>
                  </a:cubicBezTo>
                  <a:cubicBezTo>
                    <a:pt x="24543" y="36941"/>
                    <a:pt x="29984" y="34790"/>
                    <a:pt x="34409" y="34790"/>
                  </a:cubicBezTo>
                  <a:cubicBezTo>
                    <a:pt x="39977" y="34790"/>
                    <a:pt x="42759" y="39215"/>
                    <a:pt x="42759" y="48074"/>
                  </a:cubicBezTo>
                  <a:lnTo>
                    <a:pt x="42759" y="75525"/>
                  </a:lnTo>
                  <a:cubicBezTo>
                    <a:pt x="42759" y="82610"/>
                    <a:pt x="41366" y="83999"/>
                    <a:pt x="34159" y="84507"/>
                  </a:cubicBezTo>
                  <a:lnTo>
                    <a:pt x="34159" y="86404"/>
                  </a:lnTo>
                  <a:lnTo>
                    <a:pt x="62496" y="86404"/>
                  </a:lnTo>
                  <a:lnTo>
                    <a:pt x="62496" y="84507"/>
                  </a:lnTo>
                  <a:cubicBezTo>
                    <a:pt x="55285" y="84380"/>
                    <a:pt x="53388" y="82229"/>
                    <a:pt x="53388" y="74386"/>
                  </a:cubicBezTo>
                  <a:lnTo>
                    <a:pt x="53388" y="42505"/>
                  </a:lnTo>
                  <a:cubicBezTo>
                    <a:pt x="57182" y="37064"/>
                    <a:pt x="61357" y="34790"/>
                    <a:pt x="67175" y="34790"/>
                  </a:cubicBezTo>
                  <a:cubicBezTo>
                    <a:pt x="74386" y="34790"/>
                    <a:pt x="76664" y="38203"/>
                    <a:pt x="76664" y="48704"/>
                  </a:cubicBezTo>
                  <a:lnTo>
                    <a:pt x="76664" y="75398"/>
                  </a:lnTo>
                  <a:cubicBezTo>
                    <a:pt x="76664" y="82610"/>
                    <a:pt x="75652" y="83622"/>
                    <a:pt x="68314" y="84507"/>
                  </a:cubicBezTo>
                  <a:lnTo>
                    <a:pt x="68314" y="86404"/>
                  </a:lnTo>
                  <a:lnTo>
                    <a:pt x="96020" y="86404"/>
                  </a:lnTo>
                  <a:close/>
                  <a:moveTo>
                    <a:pt x="128420" y="86404"/>
                  </a:moveTo>
                  <a:lnTo>
                    <a:pt x="128420" y="84507"/>
                  </a:lnTo>
                  <a:cubicBezTo>
                    <a:pt x="120070" y="83872"/>
                    <a:pt x="119058" y="82610"/>
                    <a:pt x="119058" y="73501"/>
                  </a:cubicBezTo>
                  <a:lnTo>
                    <a:pt x="119058" y="28591"/>
                  </a:lnTo>
                  <a:lnTo>
                    <a:pt x="118550" y="28210"/>
                  </a:lnTo>
                  <a:lnTo>
                    <a:pt x="98944" y="35167"/>
                  </a:lnTo>
                  <a:lnTo>
                    <a:pt x="98944" y="37064"/>
                  </a:lnTo>
                  <a:lnTo>
                    <a:pt x="99956" y="36941"/>
                  </a:lnTo>
                  <a:cubicBezTo>
                    <a:pt x="101472" y="36687"/>
                    <a:pt x="103115" y="36560"/>
                    <a:pt x="104254" y="36560"/>
                  </a:cubicBezTo>
                  <a:cubicBezTo>
                    <a:pt x="107290" y="36560"/>
                    <a:pt x="108429" y="38584"/>
                    <a:pt x="108429" y="44148"/>
                  </a:cubicBezTo>
                  <a:lnTo>
                    <a:pt x="108429" y="73501"/>
                  </a:lnTo>
                  <a:cubicBezTo>
                    <a:pt x="108429" y="82610"/>
                    <a:pt x="107163" y="83999"/>
                    <a:pt x="98436" y="84507"/>
                  </a:cubicBezTo>
                  <a:lnTo>
                    <a:pt x="98436" y="86404"/>
                  </a:lnTo>
                  <a:lnTo>
                    <a:pt x="128420" y="86404"/>
                  </a:lnTo>
                  <a:close/>
                  <a:moveTo>
                    <a:pt x="120197" y="6449"/>
                  </a:moveTo>
                  <a:cubicBezTo>
                    <a:pt x="120197" y="2909"/>
                    <a:pt x="117411" y="0"/>
                    <a:pt x="113743" y="0"/>
                  </a:cubicBezTo>
                  <a:cubicBezTo>
                    <a:pt x="110199" y="0"/>
                    <a:pt x="107290" y="2909"/>
                    <a:pt x="107290" y="6449"/>
                  </a:cubicBezTo>
                  <a:cubicBezTo>
                    <a:pt x="107290" y="10120"/>
                    <a:pt x="110199" y="12902"/>
                    <a:pt x="113743" y="12902"/>
                  </a:cubicBezTo>
                  <a:cubicBezTo>
                    <a:pt x="117411" y="12902"/>
                    <a:pt x="120197" y="10120"/>
                    <a:pt x="120197" y="6449"/>
                  </a:cubicBezTo>
                  <a:close/>
                  <a:moveTo>
                    <a:pt x="192941" y="86404"/>
                  </a:moveTo>
                  <a:lnTo>
                    <a:pt x="192941" y="84507"/>
                  </a:lnTo>
                  <a:cubicBezTo>
                    <a:pt x="186742" y="83872"/>
                    <a:pt x="185222" y="82356"/>
                    <a:pt x="185222" y="76156"/>
                  </a:cubicBezTo>
                  <a:lnTo>
                    <a:pt x="185222" y="47185"/>
                  </a:lnTo>
                  <a:cubicBezTo>
                    <a:pt x="185222" y="35294"/>
                    <a:pt x="179658" y="28210"/>
                    <a:pt x="170296" y="28210"/>
                  </a:cubicBezTo>
                  <a:cubicBezTo>
                    <a:pt x="164478" y="28210"/>
                    <a:pt x="160556" y="30361"/>
                    <a:pt x="151952" y="38457"/>
                  </a:cubicBezTo>
                  <a:lnTo>
                    <a:pt x="151952" y="28464"/>
                  </a:lnTo>
                  <a:lnTo>
                    <a:pt x="151068" y="28210"/>
                  </a:lnTo>
                  <a:cubicBezTo>
                    <a:pt x="144868" y="30488"/>
                    <a:pt x="140566" y="31877"/>
                    <a:pt x="133609" y="33905"/>
                  </a:cubicBezTo>
                  <a:lnTo>
                    <a:pt x="133609" y="36052"/>
                  </a:lnTo>
                  <a:cubicBezTo>
                    <a:pt x="134368" y="35675"/>
                    <a:pt x="135632" y="35548"/>
                    <a:pt x="137026" y="35548"/>
                  </a:cubicBezTo>
                  <a:cubicBezTo>
                    <a:pt x="140566" y="35548"/>
                    <a:pt x="141706" y="37445"/>
                    <a:pt x="141706" y="43644"/>
                  </a:cubicBezTo>
                  <a:lnTo>
                    <a:pt x="141706" y="75017"/>
                  </a:lnTo>
                  <a:cubicBezTo>
                    <a:pt x="141706" y="82229"/>
                    <a:pt x="140312" y="83999"/>
                    <a:pt x="133863" y="84507"/>
                  </a:cubicBezTo>
                  <a:lnTo>
                    <a:pt x="133863" y="86404"/>
                  </a:lnTo>
                  <a:lnTo>
                    <a:pt x="160679" y="86404"/>
                  </a:lnTo>
                  <a:lnTo>
                    <a:pt x="160679" y="84507"/>
                  </a:lnTo>
                  <a:cubicBezTo>
                    <a:pt x="154230" y="83999"/>
                    <a:pt x="152333" y="82483"/>
                    <a:pt x="152333" y="77926"/>
                  </a:cubicBezTo>
                  <a:lnTo>
                    <a:pt x="152333" y="42378"/>
                  </a:lnTo>
                  <a:cubicBezTo>
                    <a:pt x="158406" y="36687"/>
                    <a:pt x="161187" y="35167"/>
                    <a:pt x="165363" y="35167"/>
                  </a:cubicBezTo>
                  <a:cubicBezTo>
                    <a:pt x="171562" y="35167"/>
                    <a:pt x="174599" y="39088"/>
                    <a:pt x="174599" y="47439"/>
                  </a:cubicBezTo>
                  <a:lnTo>
                    <a:pt x="174599" y="73878"/>
                  </a:lnTo>
                  <a:cubicBezTo>
                    <a:pt x="174599" y="81848"/>
                    <a:pt x="172951" y="83999"/>
                    <a:pt x="166629" y="84507"/>
                  </a:cubicBezTo>
                  <a:lnTo>
                    <a:pt x="166629" y="86404"/>
                  </a:lnTo>
                  <a:lnTo>
                    <a:pt x="192941" y="86404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3" name="objective_outline_1"/>
            <p:cNvSpPr/>
            <p:nvPr/>
          </p:nvSpPr>
          <p:spPr>
            <a:xfrm>
              <a:off x="3532568" y="453021"/>
              <a:ext cx="72322" cy="67754"/>
            </a:xfrm>
            <a:custGeom>
              <a:avLst/>
              <a:gdLst/>
              <a:ahLst/>
              <a:cxnLst/>
              <a:rect l="0" t="0" r="r" b="b"/>
              <a:pathLst>
                <a:path w="72323" h="67755">
                  <a:moveTo>
                    <a:pt x="69104" y="15875"/>
                  </a:moveTo>
                  <a:lnTo>
                    <a:pt x="72323" y="0"/>
                  </a:lnTo>
                  <a:lnTo>
                    <a:pt x="14113" y="0"/>
                  </a:lnTo>
                  <a:lnTo>
                    <a:pt x="14113" y="1659"/>
                  </a:lnTo>
                  <a:cubicBezTo>
                    <a:pt x="21999" y="2282"/>
                    <a:pt x="23451" y="2905"/>
                    <a:pt x="23555" y="5810"/>
                  </a:cubicBezTo>
                  <a:cubicBezTo>
                    <a:pt x="23555" y="7469"/>
                    <a:pt x="23035" y="9962"/>
                    <a:pt x="22412" y="12553"/>
                  </a:cubicBezTo>
                  <a:lnTo>
                    <a:pt x="9442" y="58416"/>
                  </a:lnTo>
                  <a:cubicBezTo>
                    <a:pt x="7576" y="64643"/>
                    <a:pt x="6747" y="65266"/>
                    <a:pt x="0" y="66096"/>
                  </a:cubicBezTo>
                  <a:lnTo>
                    <a:pt x="103" y="67755"/>
                  </a:lnTo>
                  <a:lnTo>
                    <a:pt x="30091" y="67755"/>
                  </a:lnTo>
                  <a:lnTo>
                    <a:pt x="29988" y="66096"/>
                  </a:lnTo>
                  <a:cubicBezTo>
                    <a:pt x="23138" y="65782"/>
                    <a:pt x="21066" y="64643"/>
                    <a:pt x="20959" y="61528"/>
                  </a:cubicBezTo>
                  <a:cubicBezTo>
                    <a:pt x="20959" y="60595"/>
                    <a:pt x="21066" y="59349"/>
                    <a:pt x="21685" y="56860"/>
                  </a:cubicBezTo>
                  <a:lnTo>
                    <a:pt x="28226" y="33929"/>
                  </a:lnTo>
                  <a:cubicBezTo>
                    <a:pt x="32373" y="34135"/>
                    <a:pt x="34865" y="34238"/>
                    <a:pt x="37354" y="34238"/>
                  </a:cubicBezTo>
                  <a:cubicBezTo>
                    <a:pt x="41712" y="34238"/>
                    <a:pt x="42541" y="34346"/>
                    <a:pt x="43581" y="34758"/>
                  </a:cubicBezTo>
                  <a:cubicBezTo>
                    <a:pt x="45240" y="35485"/>
                    <a:pt x="46176" y="36937"/>
                    <a:pt x="46280" y="39013"/>
                  </a:cubicBezTo>
                  <a:cubicBezTo>
                    <a:pt x="46280" y="40672"/>
                    <a:pt x="46176" y="41815"/>
                    <a:pt x="46069" y="45030"/>
                  </a:cubicBezTo>
                  <a:lnTo>
                    <a:pt x="48042" y="45549"/>
                  </a:lnTo>
                  <a:lnTo>
                    <a:pt x="56241" y="21165"/>
                  </a:lnTo>
                  <a:lnTo>
                    <a:pt x="54785" y="20646"/>
                  </a:lnTo>
                  <a:cubicBezTo>
                    <a:pt x="49808" y="29984"/>
                    <a:pt x="49391" y="30091"/>
                    <a:pt x="29365" y="30298"/>
                  </a:cubicBezTo>
                  <a:lnTo>
                    <a:pt x="36215" y="6120"/>
                  </a:lnTo>
                  <a:cubicBezTo>
                    <a:pt x="36731" y="4044"/>
                    <a:pt x="38394" y="3425"/>
                    <a:pt x="43061" y="3425"/>
                  </a:cubicBezTo>
                  <a:cubicBezTo>
                    <a:pt x="62464" y="3425"/>
                    <a:pt x="66409" y="4771"/>
                    <a:pt x="66615" y="11307"/>
                  </a:cubicBezTo>
                  <a:cubicBezTo>
                    <a:pt x="66719" y="12037"/>
                    <a:pt x="66719" y="12450"/>
                    <a:pt x="66615" y="13696"/>
                  </a:cubicBezTo>
                  <a:cubicBezTo>
                    <a:pt x="66512" y="14423"/>
                    <a:pt x="66615" y="14835"/>
                    <a:pt x="66512" y="15669"/>
                  </a:cubicBezTo>
                  <a:lnTo>
                    <a:pt x="69104" y="15875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4" name="objective_outline_2"/>
            <p:cNvSpPr/>
            <p:nvPr/>
          </p:nvSpPr>
          <p:spPr>
            <a:xfrm>
              <a:off x="3622738" y="461216"/>
              <a:ext cx="53125" cy="65575"/>
            </a:xfrm>
            <a:custGeom>
              <a:avLst/>
              <a:gdLst/>
              <a:ahLst/>
              <a:cxnLst/>
              <a:rect l="0" t="0" r="r" b="b"/>
              <a:pathLst>
                <a:path w="53126" h="65576">
                  <a:moveTo>
                    <a:pt x="53126" y="27083"/>
                  </a:moveTo>
                  <a:lnTo>
                    <a:pt x="53126" y="25007"/>
                  </a:lnTo>
                  <a:lnTo>
                    <a:pt x="0" y="0"/>
                  </a:lnTo>
                  <a:lnTo>
                    <a:pt x="0" y="5914"/>
                  </a:lnTo>
                  <a:lnTo>
                    <a:pt x="43164" y="26150"/>
                  </a:lnTo>
                  <a:lnTo>
                    <a:pt x="0" y="46383"/>
                  </a:lnTo>
                  <a:lnTo>
                    <a:pt x="0" y="52193"/>
                  </a:lnTo>
                  <a:lnTo>
                    <a:pt x="53126" y="27083"/>
                  </a:lnTo>
                  <a:close/>
                  <a:moveTo>
                    <a:pt x="53126" y="65576"/>
                  </a:moveTo>
                  <a:lnTo>
                    <a:pt x="53126" y="60079"/>
                  </a:lnTo>
                  <a:lnTo>
                    <a:pt x="0" y="60079"/>
                  </a:lnTo>
                  <a:lnTo>
                    <a:pt x="0" y="65576"/>
                  </a:lnTo>
                  <a:lnTo>
                    <a:pt x="53126" y="65576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5" name="objective_outline_3"/>
            <p:cNvSpPr/>
            <p:nvPr/>
          </p:nvSpPr>
          <p:spPr>
            <a:xfrm>
              <a:off x="3690994" y="450632"/>
              <a:ext cx="46902" cy="71596"/>
            </a:xfrm>
            <a:custGeom>
              <a:avLst/>
              <a:gdLst/>
              <a:ahLst/>
              <a:cxnLst/>
              <a:rect l="0" t="0" r="r" b="b"/>
              <a:pathLst>
                <a:path w="46903" h="71596">
                  <a:moveTo>
                    <a:pt x="46903" y="35901"/>
                  </a:moveTo>
                  <a:cubicBezTo>
                    <a:pt x="46903" y="14633"/>
                    <a:pt x="37461" y="0"/>
                    <a:pt x="23868" y="0"/>
                  </a:cubicBezTo>
                  <a:cubicBezTo>
                    <a:pt x="18161" y="0"/>
                    <a:pt x="13803" y="1766"/>
                    <a:pt x="9962" y="5397"/>
                  </a:cubicBezTo>
                  <a:cubicBezTo>
                    <a:pt x="3945" y="11208"/>
                    <a:pt x="0" y="23142"/>
                    <a:pt x="0" y="35282"/>
                  </a:cubicBezTo>
                  <a:cubicBezTo>
                    <a:pt x="0" y="46589"/>
                    <a:pt x="3425" y="58730"/>
                    <a:pt x="8303" y="64540"/>
                  </a:cubicBezTo>
                  <a:cubicBezTo>
                    <a:pt x="12140" y="69108"/>
                    <a:pt x="17435" y="71596"/>
                    <a:pt x="23451" y="71596"/>
                  </a:cubicBezTo>
                  <a:cubicBezTo>
                    <a:pt x="28742" y="71596"/>
                    <a:pt x="33207" y="69834"/>
                    <a:pt x="36941" y="66203"/>
                  </a:cubicBezTo>
                  <a:cubicBezTo>
                    <a:pt x="42958" y="60496"/>
                    <a:pt x="46903" y="48458"/>
                    <a:pt x="46903" y="35901"/>
                  </a:cubicBezTo>
                  <a:close/>
                  <a:moveTo>
                    <a:pt x="36941" y="36112"/>
                  </a:moveTo>
                  <a:cubicBezTo>
                    <a:pt x="36941" y="57797"/>
                    <a:pt x="32373" y="68897"/>
                    <a:pt x="23451" y="68897"/>
                  </a:cubicBezTo>
                  <a:cubicBezTo>
                    <a:pt x="14530" y="68897"/>
                    <a:pt x="9962" y="57797"/>
                    <a:pt x="9962" y="36215"/>
                  </a:cubicBezTo>
                  <a:cubicBezTo>
                    <a:pt x="9962" y="14216"/>
                    <a:pt x="14633" y="2699"/>
                    <a:pt x="23555" y="2699"/>
                  </a:cubicBezTo>
                  <a:cubicBezTo>
                    <a:pt x="32270" y="2699"/>
                    <a:pt x="36941" y="14426"/>
                    <a:pt x="36941" y="3611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6" name="objective_outline_4"/>
            <p:cNvSpPr/>
            <p:nvPr/>
          </p:nvSpPr>
          <p:spPr>
            <a:xfrm>
              <a:off x="3754551" y="459332"/>
              <a:ext cx="64774" cy="7084"/>
            </a:xfrm>
            <a:custGeom>
              <a:avLst/>
              <a:gdLst/>
              <a:ahLst/>
              <a:cxnLst/>
              <a:rect l="0" t="0" r="r" b="b"/>
              <a:pathLst>
                <a:path w="64774" h="7084">
                  <a:moveTo>
                    <a:pt x="64774" y="7084"/>
                  </a:moveTo>
                  <a:lnTo>
                    <a:pt x="64774" y="0"/>
                  </a:lnTo>
                  <a:lnTo>
                    <a:pt x="0" y="0"/>
                  </a:lnTo>
                  <a:lnTo>
                    <a:pt x="0" y="7084"/>
                  </a:lnTo>
                  <a:lnTo>
                    <a:pt x="64774" y="7084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7" name="objective_outline_5"/>
            <p:cNvSpPr/>
            <p:nvPr/>
          </p:nvSpPr>
          <p:spPr>
            <a:xfrm>
              <a:off x="3838563" y="405948"/>
              <a:ext cx="33270" cy="113855"/>
            </a:xfrm>
            <a:custGeom>
              <a:avLst/>
              <a:gdLst/>
              <a:ahLst/>
              <a:cxnLst/>
              <a:rect l="0" t="0" r="r" b="b"/>
              <a:pathLst>
                <a:path w="33270" h="113856">
                  <a:moveTo>
                    <a:pt x="33270" y="113856"/>
                  </a:moveTo>
                  <a:lnTo>
                    <a:pt x="8727" y="56928"/>
                  </a:lnTo>
                  <a:lnTo>
                    <a:pt x="33270" y="0"/>
                  </a:lnTo>
                  <a:lnTo>
                    <a:pt x="27198" y="0"/>
                  </a:lnTo>
                  <a:lnTo>
                    <a:pt x="0" y="56928"/>
                  </a:lnTo>
                  <a:lnTo>
                    <a:pt x="27198" y="113856"/>
                  </a:lnTo>
                  <a:lnTo>
                    <a:pt x="33270" y="113856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8" name="objective_outline_6"/>
            <p:cNvSpPr/>
            <p:nvPr/>
          </p:nvSpPr>
          <p:spPr>
            <a:xfrm>
              <a:off x="3881213" y="410881"/>
              <a:ext cx="77803" cy="84506"/>
            </a:xfrm>
            <a:custGeom>
              <a:avLst/>
              <a:gdLst/>
              <a:ahLst/>
              <a:cxnLst/>
              <a:rect l="0" t="0" r="r" b="b"/>
              <a:pathLst>
                <a:path w="77803" h="84507">
                  <a:moveTo>
                    <a:pt x="77803" y="84507"/>
                  </a:moveTo>
                  <a:lnTo>
                    <a:pt x="77803" y="82483"/>
                  </a:lnTo>
                  <a:cubicBezTo>
                    <a:pt x="70592" y="81851"/>
                    <a:pt x="69707" y="80839"/>
                    <a:pt x="68187" y="71604"/>
                  </a:cubicBezTo>
                  <a:lnTo>
                    <a:pt x="56297" y="0"/>
                  </a:lnTo>
                  <a:lnTo>
                    <a:pt x="53007" y="0"/>
                  </a:lnTo>
                  <a:lnTo>
                    <a:pt x="16319" y="63254"/>
                  </a:lnTo>
                  <a:cubicBezTo>
                    <a:pt x="6326" y="80077"/>
                    <a:pt x="5060" y="81470"/>
                    <a:pt x="0" y="82483"/>
                  </a:cubicBezTo>
                  <a:lnTo>
                    <a:pt x="0" y="84507"/>
                  </a:lnTo>
                  <a:lnTo>
                    <a:pt x="23658" y="84507"/>
                  </a:lnTo>
                  <a:lnTo>
                    <a:pt x="23658" y="82483"/>
                  </a:lnTo>
                  <a:cubicBezTo>
                    <a:pt x="17205" y="81851"/>
                    <a:pt x="16192" y="81216"/>
                    <a:pt x="16192" y="78053"/>
                  </a:cubicBezTo>
                  <a:cubicBezTo>
                    <a:pt x="16192" y="75652"/>
                    <a:pt x="16573" y="74513"/>
                    <a:pt x="18725" y="70211"/>
                  </a:cubicBezTo>
                  <a:lnTo>
                    <a:pt x="25936" y="55916"/>
                  </a:lnTo>
                  <a:lnTo>
                    <a:pt x="53769" y="55916"/>
                  </a:lnTo>
                  <a:lnTo>
                    <a:pt x="56297" y="72489"/>
                  </a:lnTo>
                  <a:cubicBezTo>
                    <a:pt x="56424" y="73628"/>
                    <a:pt x="56551" y="74767"/>
                    <a:pt x="56551" y="75779"/>
                  </a:cubicBezTo>
                  <a:cubicBezTo>
                    <a:pt x="56551" y="80585"/>
                    <a:pt x="54781" y="81724"/>
                    <a:pt x="46684" y="82483"/>
                  </a:cubicBezTo>
                  <a:lnTo>
                    <a:pt x="46684" y="84507"/>
                  </a:lnTo>
                  <a:lnTo>
                    <a:pt x="77803" y="84507"/>
                  </a:lnTo>
                  <a:close/>
                  <a:moveTo>
                    <a:pt x="53134" y="51363"/>
                  </a:moveTo>
                  <a:lnTo>
                    <a:pt x="28591" y="51363"/>
                  </a:lnTo>
                  <a:lnTo>
                    <a:pt x="47569" y="18470"/>
                  </a:lnTo>
                  <a:lnTo>
                    <a:pt x="53134" y="51363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9" name="objective_outline_7"/>
            <p:cNvSpPr/>
            <p:nvPr/>
          </p:nvSpPr>
          <p:spPr>
            <a:xfrm>
              <a:off x="3973687" y="482485"/>
              <a:ext cx="17585" cy="30742"/>
            </a:xfrm>
            <a:custGeom>
              <a:avLst/>
              <a:gdLst/>
              <a:ahLst/>
              <a:cxnLst/>
              <a:rect l="0" t="0" r="r" b="b"/>
              <a:pathLst>
                <a:path w="17586" h="30742">
                  <a:moveTo>
                    <a:pt x="17586" y="12144"/>
                  </a:moveTo>
                  <a:cubicBezTo>
                    <a:pt x="17586" y="1643"/>
                    <a:pt x="10247" y="0"/>
                    <a:pt x="7338" y="0"/>
                  </a:cubicBezTo>
                  <a:cubicBezTo>
                    <a:pt x="4175" y="0"/>
                    <a:pt x="0" y="1897"/>
                    <a:pt x="0" y="7334"/>
                  </a:cubicBezTo>
                  <a:cubicBezTo>
                    <a:pt x="0" y="12394"/>
                    <a:pt x="4556" y="13660"/>
                    <a:pt x="7842" y="13660"/>
                  </a:cubicBezTo>
                  <a:cubicBezTo>
                    <a:pt x="8727" y="13660"/>
                    <a:pt x="9362" y="13533"/>
                    <a:pt x="9739" y="13410"/>
                  </a:cubicBezTo>
                  <a:cubicBezTo>
                    <a:pt x="10247" y="13283"/>
                    <a:pt x="10628" y="13156"/>
                    <a:pt x="10878" y="13156"/>
                  </a:cubicBezTo>
                  <a:cubicBezTo>
                    <a:pt x="11767" y="13156"/>
                    <a:pt x="12652" y="13787"/>
                    <a:pt x="12652" y="14927"/>
                  </a:cubicBezTo>
                  <a:cubicBezTo>
                    <a:pt x="12652" y="17332"/>
                    <a:pt x="10628" y="23023"/>
                    <a:pt x="2278" y="28337"/>
                  </a:cubicBezTo>
                  <a:lnTo>
                    <a:pt x="3417" y="30742"/>
                  </a:lnTo>
                  <a:cubicBezTo>
                    <a:pt x="7211" y="29476"/>
                    <a:pt x="17586" y="21126"/>
                    <a:pt x="17586" y="12144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0" name="objective_outline_8"/>
            <p:cNvSpPr/>
            <p:nvPr/>
          </p:nvSpPr>
          <p:spPr>
            <a:xfrm>
              <a:off x="4025407" y="412778"/>
              <a:ext cx="80585" cy="82609"/>
            </a:xfrm>
            <a:custGeom>
              <a:avLst/>
              <a:gdLst/>
              <a:ahLst/>
              <a:cxnLst/>
              <a:rect l="0" t="0" r="r" b="b"/>
              <a:pathLst>
                <a:path w="80585" h="82610">
                  <a:moveTo>
                    <a:pt x="76537" y="19356"/>
                  </a:moveTo>
                  <a:lnTo>
                    <a:pt x="80585" y="0"/>
                  </a:lnTo>
                  <a:lnTo>
                    <a:pt x="17586" y="0"/>
                  </a:lnTo>
                  <a:lnTo>
                    <a:pt x="17586" y="2024"/>
                  </a:lnTo>
                  <a:cubicBezTo>
                    <a:pt x="25936" y="2782"/>
                    <a:pt x="27324" y="3544"/>
                    <a:pt x="27324" y="7084"/>
                  </a:cubicBezTo>
                  <a:cubicBezTo>
                    <a:pt x="27324" y="9108"/>
                    <a:pt x="26820" y="12144"/>
                    <a:pt x="25936" y="15308"/>
                  </a:cubicBezTo>
                  <a:lnTo>
                    <a:pt x="10373" y="71223"/>
                  </a:lnTo>
                  <a:cubicBezTo>
                    <a:pt x="8096" y="78815"/>
                    <a:pt x="7211" y="79573"/>
                    <a:pt x="0" y="80586"/>
                  </a:cubicBezTo>
                  <a:lnTo>
                    <a:pt x="0" y="82610"/>
                  </a:lnTo>
                  <a:lnTo>
                    <a:pt x="31881" y="82610"/>
                  </a:lnTo>
                  <a:lnTo>
                    <a:pt x="31881" y="80586"/>
                  </a:lnTo>
                  <a:cubicBezTo>
                    <a:pt x="24543" y="80205"/>
                    <a:pt x="22264" y="78815"/>
                    <a:pt x="22264" y="75017"/>
                  </a:cubicBezTo>
                  <a:cubicBezTo>
                    <a:pt x="22264" y="73882"/>
                    <a:pt x="22518" y="72362"/>
                    <a:pt x="23404" y="69326"/>
                  </a:cubicBezTo>
                  <a:lnTo>
                    <a:pt x="31246" y="41116"/>
                  </a:lnTo>
                  <a:cubicBezTo>
                    <a:pt x="35928" y="41366"/>
                    <a:pt x="38711" y="41493"/>
                    <a:pt x="41493" y="41493"/>
                  </a:cubicBezTo>
                  <a:cubicBezTo>
                    <a:pt x="46426" y="41493"/>
                    <a:pt x="47188" y="41620"/>
                    <a:pt x="48451" y="42128"/>
                  </a:cubicBezTo>
                  <a:cubicBezTo>
                    <a:pt x="50225" y="43013"/>
                    <a:pt x="51236" y="44783"/>
                    <a:pt x="51236" y="47316"/>
                  </a:cubicBezTo>
                  <a:cubicBezTo>
                    <a:pt x="51236" y="49339"/>
                    <a:pt x="50982" y="50856"/>
                    <a:pt x="50225" y="54777"/>
                  </a:cubicBezTo>
                  <a:lnTo>
                    <a:pt x="52375" y="55412"/>
                  </a:lnTo>
                  <a:lnTo>
                    <a:pt x="61987" y="25809"/>
                  </a:lnTo>
                  <a:lnTo>
                    <a:pt x="59709" y="25174"/>
                  </a:lnTo>
                  <a:cubicBezTo>
                    <a:pt x="54018" y="36560"/>
                    <a:pt x="53637" y="36687"/>
                    <a:pt x="32385" y="36941"/>
                  </a:cubicBezTo>
                  <a:lnTo>
                    <a:pt x="40735" y="7465"/>
                  </a:lnTo>
                  <a:cubicBezTo>
                    <a:pt x="41493" y="4933"/>
                    <a:pt x="43266" y="4175"/>
                    <a:pt x="48451" y="4175"/>
                  </a:cubicBezTo>
                  <a:cubicBezTo>
                    <a:pt x="69833" y="4175"/>
                    <a:pt x="74259" y="5818"/>
                    <a:pt x="74259" y="13791"/>
                  </a:cubicBezTo>
                  <a:cubicBezTo>
                    <a:pt x="74259" y="14677"/>
                    <a:pt x="74259" y="15181"/>
                    <a:pt x="74132" y="16700"/>
                  </a:cubicBezTo>
                  <a:cubicBezTo>
                    <a:pt x="74005" y="17586"/>
                    <a:pt x="74005" y="18090"/>
                    <a:pt x="73882" y="19102"/>
                  </a:cubicBezTo>
                  <a:lnTo>
                    <a:pt x="76537" y="19356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1" name="objective_outline_9"/>
            <p:cNvSpPr/>
            <p:nvPr/>
          </p:nvSpPr>
          <p:spPr>
            <a:xfrm>
              <a:off x="4116256" y="405948"/>
              <a:ext cx="33270" cy="113855"/>
            </a:xfrm>
            <a:custGeom>
              <a:avLst/>
              <a:gdLst/>
              <a:ahLst/>
              <a:cxnLst/>
              <a:rect l="0" t="0" r="r" b="b"/>
              <a:pathLst>
                <a:path w="33270" h="113856">
                  <a:moveTo>
                    <a:pt x="33270" y="56928"/>
                  </a:moveTo>
                  <a:lnTo>
                    <a:pt x="6072" y="0"/>
                  </a:lnTo>
                  <a:lnTo>
                    <a:pt x="0" y="0"/>
                  </a:lnTo>
                  <a:lnTo>
                    <a:pt x="24543" y="56928"/>
                  </a:lnTo>
                  <a:lnTo>
                    <a:pt x="0" y="113856"/>
                  </a:lnTo>
                  <a:lnTo>
                    <a:pt x="6072" y="113856"/>
                  </a:lnTo>
                  <a:lnTo>
                    <a:pt x="33270" y="56928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2" name="objective_outline_10"/>
            <p:cNvSpPr/>
            <p:nvPr/>
          </p:nvSpPr>
          <p:spPr>
            <a:xfrm>
              <a:off x="4196809" y="430364"/>
              <a:ext cx="64774" cy="65024"/>
            </a:xfrm>
            <a:custGeom>
              <a:avLst/>
              <a:gdLst/>
              <a:ahLst/>
              <a:cxnLst/>
              <a:rect l="0" t="0" r="r" b="b"/>
              <a:pathLst>
                <a:path w="64774" h="65024">
                  <a:moveTo>
                    <a:pt x="28214" y="28337"/>
                  </a:moveTo>
                  <a:lnTo>
                    <a:pt x="0" y="28337"/>
                  </a:lnTo>
                  <a:lnTo>
                    <a:pt x="0" y="36687"/>
                  </a:lnTo>
                  <a:lnTo>
                    <a:pt x="28214" y="36687"/>
                  </a:lnTo>
                  <a:lnTo>
                    <a:pt x="28214" y="65024"/>
                  </a:lnTo>
                  <a:lnTo>
                    <a:pt x="36560" y="65024"/>
                  </a:lnTo>
                  <a:lnTo>
                    <a:pt x="36560" y="36687"/>
                  </a:lnTo>
                  <a:lnTo>
                    <a:pt x="64774" y="36687"/>
                  </a:lnTo>
                  <a:lnTo>
                    <a:pt x="64774" y="28337"/>
                  </a:lnTo>
                  <a:lnTo>
                    <a:pt x="36560" y="28337"/>
                  </a:lnTo>
                  <a:lnTo>
                    <a:pt x="36560" y="0"/>
                  </a:lnTo>
                  <a:lnTo>
                    <a:pt x="28214" y="0"/>
                  </a:lnTo>
                  <a:lnTo>
                    <a:pt x="28214" y="28337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3" name="objective_outline_11"/>
            <p:cNvSpPr/>
            <p:nvPr/>
          </p:nvSpPr>
          <p:spPr>
            <a:xfrm>
              <a:off x="4300904" y="439599"/>
              <a:ext cx="58320" cy="57181"/>
            </a:xfrm>
            <a:custGeom>
              <a:avLst/>
              <a:gdLst/>
              <a:ahLst/>
              <a:cxnLst/>
              <a:rect l="0" t="0" r="r" b="b"/>
              <a:pathLst>
                <a:path w="58321" h="57182">
                  <a:moveTo>
                    <a:pt x="58321" y="10374"/>
                  </a:moveTo>
                  <a:cubicBezTo>
                    <a:pt x="58321" y="2024"/>
                    <a:pt x="41874" y="0"/>
                    <a:pt x="35294" y="0"/>
                  </a:cubicBezTo>
                  <a:cubicBezTo>
                    <a:pt x="25555" y="0"/>
                    <a:pt x="10374" y="4048"/>
                    <a:pt x="10374" y="15812"/>
                  </a:cubicBezTo>
                  <a:cubicBezTo>
                    <a:pt x="10374" y="21634"/>
                    <a:pt x="15181" y="25301"/>
                    <a:pt x="20749" y="26186"/>
                  </a:cubicBezTo>
                  <a:lnTo>
                    <a:pt x="20749" y="26694"/>
                  </a:lnTo>
                  <a:cubicBezTo>
                    <a:pt x="12017" y="27829"/>
                    <a:pt x="0" y="33270"/>
                    <a:pt x="0" y="43263"/>
                  </a:cubicBezTo>
                  <a:cubicBezTo>
                    <a:pt x="0" y="54904"/>
                    <a:pt x="13537" y="57182"/>
                    <a:pt x="23023" y="57182"/>
                  </a:cubicBezTo>
                  <a:cubicBezTo>
                    <a:pt x="32512" y="57182"/>
                    <a:pt x="43644" y="54269"/>
                    <a:pt x="49717" y="46680"/>
                  </a:cubicBezTo>
                  <a:cubicBezTo>
                    <a:pt x="50983" y="45037"/>
                    <a:pt x="52249" y="43136"/>
                    <a:pt x="52249" y="40989"/>
                  </a:cubicBezTo>
                  <a:cubicBezTo>
                    <a:pt x="52249" y="39469"/>
                    <a:pt x="50856" y="37826"/>
                    <a:pt x="49212" y="37826"/>
                  </a:cubicBezTo>
                  <a:cubicBezTo>
                    <a:pt x="43013" y="37826"/>
                    <a:pt x="41620" y="53765"/>
                    <a:pt x="24416" y="53765"/>
                  </a:cubicBezTo>
                  <a:cubicBezTo>
                    <a:pt x="17713" y="53765"/>
                    <a:pt x="12648" y="51360"/>
                    <a:pt x="12648" y="44275"/>
                  </a:cubicBezTo>
                  <a:cubicBezTo>
                    <a:pt x="12648" y="37445"/>
                    <a:pt x="17078" y="29730"/>
                    <a:pt x="24920" y="29730"/>
                  </a:cubicBezTo>
                  <a:cubicBezTo>
                    <a:pt x="28591" y="29730"/>
                    <a:pt x="32004" y="31119"/>
                    <a:pt x="35675" y="31119"/>
                  </a:cubicBezTo>
                  <a:cubicBezTo>
                    <a:pt x="38584" y="31119"/>
                    <a:pt x="41239" y="30234"/>
                    <a:pt x="41239" y="26944"/>
                  </a:cubicBezTo>
                  <a:cubicBezTo>
                    <a:pt x="41239" y="24035"/>
                    <a:pt x="39469" y="23658"/>
                    <a:pt x="36814" y="23658"/>
                  </a:cubicBezTo>
                  <a:cubicBezTo>
                    <a:pt x="33905" y="23658"/>
                    <a:pt x="31119" y="24035"/>
                    <a:pt x="28337" y="24035"/>
                  </a:cubicBezTo>
                  <a:cubicBezTo>
                    <a:pt x="23658" y="24035"/>
                    <a:pt x="21634" y="22138"/>
                    <a:pt x="21634" y="17581"/>
                  </a:cubicBezTo>
                  <a:cubicBezTo>
                    <a:pt x="21634" y="10497"/>
                    <a:pt x="27325" y="3413"/>
                    <a:pt x="35044" y="3413"/>
                  </a:cubicBezTo>
                  <a:cubicBezTo>
                    <a:pt x="46426" y="3413"/>
                    <a:pt x="45287" y="15307"/>
                    <a:pt x="52880" y="15307"/>
                  </a:cubicBezTo>
                  <a:cubicBezTo>
                    <a:pt x="55916" y="15307"/>
                    <a:pt x="58321" y="13533"/>
                    <a:pt x="58321" y="10374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4" name="objective_outline_12"/>
            <p:cNvSpPr/>
            <p:nvPr/>
          </p:nvSpPr>
          <p:spPr>
            <a:xfrm>
              <a:off x="4389428" y="411639"/>
              <a:ext cx="162700" cy="83748"/>
            </a:xfrm>
            <a:custGeom>
              <a:avLst/>
              <a:gdLst/>
              <a:ahLst/>
              <a:cxnLst/>
              <a:rect l="0" t="0" r="r" b="b"/>
              <a:pathLst>
                <a:path w="162700" h="83749">
                  <a:moveTo>
                    <a:pt x="87162" y="83749"/>
                  </a:moveTo>
                  <a:lnTo>
                    <a:pt x="87162" y="81343"/>
                  </a:lnTo>
                  <a:cubicBezTo>
                    <a:pt x="80586" y="81216"/>
                    <a:pt x="78811" y="79954"/>
                    <a:pt x="67302" y="67683"/>
                  </a:cubicBezTo>
                  <a:lnTo>
                    <a:pt x="37826" y="36056"/>
                  </a:lnTo>
                  <a:lnTo>
                    <a:pt x="61861" y="12271"/>
                  </a:lnTo>
                  <a:cubicBezTo>
                    <a:pt x="70465" y="4048"/>
                    <a:pt x="72489" y="3036"/>
                    <a:pt x="81089" y="2405"/>
                  </a:cubicBezTo>
                  <a:lnTo>
                    <a:pt x="81089" y="0"/>
                  </a:lnTo>
                  <a:lnTo>
                    <a:pt x="47947" y="0"/>
                  </a:lnTo>
                  <a:lnTo>
                    <a:pt x="47947" y="2405"/>
                  </a:lnTo>
                  <a:cubicBezTo>
                    <a:pt x="49462" y="2532"/>
                    <a:pt x="50729" y="2532"/>
                    <a:pt x="51237" y="2532"/>
                  </a:cubicBezTo>
                  <a:cubicBezTo>
                    <a:pt x="55031" y="2782"/>
                    <a:pt x="56547" y="3794"/>
                    <a:pt x="56547" y="6326"/>
                  </a:cubicBezTo>
                  <a:cubicBezTo>
                    <a:pt x="56547" y="9108"/>
                    <a:pt x="53638" y="12902"/>
                    <a:pt x="46680" y="19356"/>
                  </a:cubicBezTo>
                  <a:lnTo>
                    <a:pt x="24289" y="39723"/>
                  </a:lnTo>
                  <a:lnTo>
                    <a:pt x="24289" y="13791"/>
                  </a:lnTo>
                  <a:cubicBezTo>
                    <a:pt x="24289" y="4556"/>
                    <a:pt x="25682" y="3163"/>
                    <a:pt x="35929" y="2405"/>
                  </a:cubicBezTo>
                  <a:lnTo>
                    <a:pt x="35929" y="0"/>
                  </a:lnTo>
                  <a:lnTo>
                    <a:pt x="0" y="0"/>
                  </a:lnTo>
                  <a:lnTo>
                    <a:pt x="0" y="2405"/>
                  </a:lnTo>
                  <a:cubicBezTo>
                    <a:pt x="9866" y="3163"/>
                    <a:pt x="11386" y="4806"/>
                    <a:pt x="11386" y="13791"/>
                  </a:cubicBezTo>
                  <a:lnTo>
                    <a:pt x="11386" y="68568"/>
                  </a:lnTo>
                  <a:cubicBezTo>
                    <a:pt x="11386" y="79069"/>
                    <a:pt x="9993" y="80712"/>
                    <a:pt x="0" y="81343"/>
                  </a:cubicBezTo>
                  <a:lnTo>
                    <a:pt x="0" y="83749"/>
                  </a:lnTo>
                  <a:lnTo>
                    <a:pt x="35675" y="83749"/>
                  </a:lnTo>
                  <a:lnTo>
                    <a:pt x="35675" y="81343"/>
                  </a:lnTo>
                  <a:cubicBezTo>
                    <a:pt x="25805" y="80712"/>
                    <a:pt x="24289" y="79192"/>
                    <a:pt x="24289" y="69961"/>
                  </a:cubicBezTo>
                  <a:lnTo>
                    <a:pt x="24289" y="46303"/>
                  </a:lnTo>
                  <a:lnTo>
                    <a:pt x="27579" y="43644"/>
                  </a:lnTo>
                  <a:lnTo>
                    <a:pt x="40989" y="56928"/>
                  </a:lnTo>
                  <a:cubicBezTo>
                    <a:pt x="50602" y="66417"/>
                    <a:pt x="57432" y="75398"/>
                    <a:pt x="57432" y="78434"/>
                  </a:cubicBezTo>
                  <a:cubicBezTo>
                    <a:pt x="57432" y="80204"/>
                    <a:pt x="55662" y="81093"/>
                    <a:pt x="52122" y="81216"/>
                  </a:cubicBezTo>
                  <a:cubicBezTo>
                    <a:pt x="51487" y="81216"/>
                    <a:pt x="50097" y="81216"/>
                    <a:pt x="48577" y="81343"/>
                  </a:cubicBezTo>
                  <a:lnTo>
                    <a:pt x="48577" y="83749"/>
                  </a:lnTo>
                  <a:lnTo>
                    <a:pt x="87162" y="83749"/>
                  </a:lnTo>
                  <a:close/>
                  <a:moveTo>
                    <a:pt x="162700" y="61738"/>
                  </a:moveTo>
                  <a:lnTo>
                    <a:pt x="159538" y="61738"/>
                  </a:lnTo>
                  <a:cubicBezTo>
                    <a:pt x="157514" y="66163"/>
                    <a:pt x="155866" y="69072"/>
                    <a:pt x="154096" y="71096"/>
                  </a:cubicBezTo>
                  <a:cubicBezTo>
                    <a:pt x="149671" y="76410"/>
                    <a:pt x="142710" y="78815"/>
                    <a:pt x="131832" y="78815"/>
                  </a:cubicBezTo>
                  <a:lnTo>
                    <a:pt x="123354" y="78815"/>
                  </a:lnTo>
                  <a:cubicBezTo>
                    <a:pt x="114119" y="78815"/>
                    <a:pt x="112476" y="78057"/>
                    <a:pt x="112476" y="73628"/>
                  </a:cubicBezTo>
                  <a:lnTo>
                    <a:pt x="112476" y="13791"/>
                  </a:lnTo>
                  <a:cubicBezTo>
                    <a:pt x="112476" y="4806"/>
                    <a:pt x="114246" y="3036"/>
                    <a:pt x="124243" y="2405"/>
                  </a:cubicBezTo>
                  <a:lnTo>
                    <a:pt x="124243" y="0"/>
                  </a:lnTo>
                  <a:lnTo>
                    <a:pt x="88569" y="0"/>
                  </a:lnTo>
                  <a:lnTo>
                    <a:pt x="88569" y="2405"/>
                  </a:lnTo>
                  <a:cubicBezTo>
                    <a:pt x="97927" y="3163"/>
                    <a:pt x="99574" y="4806"/>
                    <a:pt x="99574" y="13791"/>
                  </a:cubicBezTo>
                  <a:lnTo>
                    <a:pt x="99574" y="69961"/>
                  </a:lnTo>
                  <a:cubicBezTo>
                    <a:pt x="99574" y="78942"/>
                    <a:pt x="97800" y="80712"/>
                    <a:pt x="88569" y="81343"/>
                  </a:cubicBezTo>
                  <a:lnTo>
                    <a:pt x="88569" y="83749"/>
                  </a:lnTo>
                  <a:lnTo>
                    <a:pt x="156628" y="83749"/>
                  </a:lnTo>
                  <a:lnTo>
                    <a:pt x="162700" y="61738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5" name="objective_outline_13"/>
            <p:cNvSpPr/>
            <p:nvPr/>
          </p:nvSpPr>
          <p:spPr>
            <a:xfrm>
              <a:off x="4566178" y="404682"/>
              <a:ext cx="32385" cy="116260"/>
            </a:xfrm>
            <a:custGeom>
              <a:avLst/>
              <a:gdLst/>
              <a:ahLst/>
              <a:cxnLst/>
              <a:rect l="0" t="0" r="r" b="b"/>
              <a:pathLst>
                <a:path w="32385" h="116261">
                  <a:moveTo>
                    <a:pt x="31246" y="0"/>
                  </a:moveTo>
                  <a:cubicBezTo>
                    <a:pt x="12902" y="11890"/>
                    <a:pt x="0" y="32385"/>
                    <a:pt x="0" y="58194"/>
                  </a:cubicBezTo>
                  <a:cubicBezTo>
                    <a:pt x="0" y="81725"/>
                    <a:pt x="13410" y="105505"/>
                    <a:pt x="30869" y="116261"/>
                  </a:cubicBezTo>
                  <a:lnTo>
                    <a:pt x="32385" y="114237"/>
                  </a:lnTo>
                  <a:cubicBezTo>
                    <a:pt x="15688" y="101080"/>
                    <a:pt x="10878" y="85773"/>
                    <a:pt x="10878" y="57813"/>
                  </a:cubicBezTo>
                  <a:cubicBezTo>
                    <a:pt x="10878" y="29730"/>
                    <a:pt x="16066" y="15181"/>
                    <a:pt x="32385" y="2024"/>
                  </a:cubicBezTo>
                  <a:lnTo>
                    <a:pt x="31246" y="0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6" name="objective_outline_14"/>
            <p:cNvSpPr/>
            <p:nvPr/>
          </p:nvSpPr>
          <p:spPr>
            <a:xfrm>
              <a:off x="4611981" y="412778"/>
              <a:ext cx="80585" cy="82609"/>
            </a:xfrm>
            <a:custGeom>
              <a:avLst/>
              <a:gdLst/>
              <a:ahLst/>
              <a:cxnLst/>
              <a:rect l="0" t="0" r="r" b="b"/>
              <a:pathLst>
                <a:path w="80585" h="82610">
                  <a:moveTo>
                    <a:pt x="76537" y="19356"/>
                  </a:moveTo>
                  <a:lnTo>
                    <a:pt x="80585" y="0"/>
                  </a:lnTo>
                  <a:lnTo>
                    <a:pt x="17586" y="0"/>
                  </a:lnTo>
                  <a:lnTo>
                    <a:pt x="17586" y="2024"/>
                  </a:lnTo>
                  <a:cubicBezTo>
                    <a:pt x="25936" y="2782"/>
                    <a:pt x="27325" y="3544"/>
                    <a:pt x="27325" y="7084"/>
                  </a:cubicBezTo>
                  <a:cubicBezTo>
                    <a:pt x="27325" y="9108"/>
                    <a:pt x="26821" y="12144"/>
                    <a:pt x="25936" y="15308"/>
                  </a:cubicBezTo>
                  <a:lnTo>
                    <a:pt x="10374" y="71223"/>
                  </a:lnTo>
                  <a:cubicBezTo>
                    <a:pt x="8096" y="78815"/>
                    <a:pt x="7211" y="79573"/>
                    <a:pt x="0" y="80586"/>
                  </a:cubicBezTo>
                  <a:lnTo>
                    <a:pt x="0" y="82610"/>
                  </a:lnTo>
                  <a:lnTo>
                    <a:pt x="31881" y="82610"/>
                  </a:lnTo>
                  <a:lnTo>
                    <a:pt x="31881" y="80586"/>
                  </a:lnTo>
                  <a:cubicBezTo>
                    <a:pt x="24543" y="80205"/>
                    <a:pt x="22265" y="78815"/>
                    <a:pt x="22265" y="75017"/>
                  </a:cubicBezTo>
                  <a:cubicBezTo>
                    <a:pt x="22265" y="73882"/>
                    <a:pt x="22519" y="72362"/>
                    <a:pt x="23404" y="69326"/>
                  </a:cubicBezTo>
                  <a:lnTo>
                    <a:pt x="31246" y="41116"/>
                  </a:lnTo>
                  <a:cubicBezTo>
                    <a:pt x="35929" y="41366"/>
                    <a:pt x="38711" y="41493"/>
                    <a:pt x="41493" y="41493"/>
                  </a:cubicBezTo>
                  <a:cubicBezTo>
                    <a:pt x="46426" y="41493"/>
                    <a:pt x="47188" y="41620"/>
                    <a:pt x="48451" y="42128"/>
                  </a:cubicBezTo>
                  <a:cubicBezTo>
                    <a:pt x="50225" y="43013"/>
                    <a:pt x="51237" y="44783"/>
                    <a:pt x="51237" y="47316"/>
                  </a:cubicBezTo>
                  <a:cubicBezTo>
                    <a:pt x="51237" y="49339"/>
                    <a:pt x="50983" y="50856"/>
                    <a:pt x="50225" y="54777"/>
                  </a:cubicBezTo>
                  <a:lnTo>
                    <a:pt x="52376" y="55412"/>
                  </a:lnTo>
                  <a:lnTo>
                    <a:pt x="61988" y="25809"/>
                  </a:lnTo>
                  <a:lnTo>
                    <a:pt x="59710" y="25174"/>
                  </a:lnTo>
                  <a:cubicBezTo>
                    <a:pt x="54019" y="36560"/>
                    <a:pt x="53638" y="36687"/>
                    <a:pt x="32385" y="36941"/>
                  </a:cubicBezTo>
                  <a:lnTo>
                    <a:pt x="40735" y="7465"/>
                  </a:lnTo>
                  <a:cubicBezTo>
                    <a:pt x="41493" y="4933"/>
                    <a:pt x="43267" y="4175"/>
                    <a:pt x="48451" y="4175"/>
                  </a:cubicBezTo>
                  <a:cubicBezTo>
                    <a:pt x="69834" y="4175"/>
                    <a:pt x="74259" y="5818"/>
                    <a:pt x="74259" y="13791"/>
                  </a:cubicBezTo>
                  <a:cubicBezTo>
                    <a:pt x="74259" y="14677"/>
                    <a:pt x="74259" y="15181"/>
                    <a:pt x="74132" y="16700"/>
                  </a:cubicBezTo>
                  <a:cubicBezTo>
                    <a:pt x="74005" y="17586"/>
                    <a:pt x="74005" y="18090"/>
                    <a:pt x="73882" y="19102"/>
                  </a:cubicBezTo>
                  <a:lnTo>
                    <a:pt x="76537" y="19356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7" name="objective_outline_15"/>
            <p:cNvSpPr/>
            <p:nvPr/>
          </p:nvSpPr>
          <p:spPr>
            <a:xfrm>
              <a:off x="4711937" y="405948"/>
              <a:ext cx="32384" cy="113855"/>
            </a:xfrm>
            <a:custGeom>
              <a:avLst/>
              <a:gdLst/>
              <a:ahLst/>
              <a:cxnLst/>
              <a:rect l="0" t="0" r="r" b="b"/>
              <a:pathLst>
                <a:path w="32385" h="113856">
                  <a:moveTo>
                    <a:pt x="32385" y="113856"/>
                  </a:moveTo>
                  <a:lnTo>
                    <a:pt x="32385" y="0"/>
                  </a:lnTo>
                  <a:lnTo>
                    <a:pt x="25301" y="0"/>
                  </a:lnTo>
                  <a:lnTo>
                    <a:pt x="25301" y="113856"/>
                  </a:lnTo>
                  <a:lnTo>
                    <a:pt x="32385" y="113856"/>
                  </a:lnTo>
                  <a:close/>
                  <a:moveTo>
                    <a:pt x="7084" y="113856"/>
                  </a:moveTo>
                  <a:lnTo>
                    <a:pt x="7084" y="0"/>
                  </a:lnTo>
                  <a:lnTo>
                    <a:pt x="0" y="0"/>
                  </a:lnTo>
                  <a:lnTo>
                    <a:pt x="0" y="113856"/>
                  </a:lnTo>
                  <a:lnTo>
                    <a:pt x="7084" y="113856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8" name="objective_outline_16"/>
            <p:cNvSpPr/>
            <p:nvPr/>
          </p:nvSpPr>
          <p:spPr>
            <a:xfrm>
              <a:off x="4782480" y="374498"/>
              <a:ext cx="70846" cy="19736"/>
            </a:xfrm>
            <a:custGeom>
              <a:avLst/>
              <a:gdLst/>
              <a:ahLst/>
              <a:cxnLst/>
              <a:rect l="0" t="0" r="r" b="b"/>
              <a:pathLst>
                <a:path w="70846" h="19737">
                  <a:moveTo>
                    <a:pt x="70846" y="19737"/>
                  </a:moveTo>
                  <a:lnTo>
                    <a:pt x="70846" y="14168"/>
                  </a:lnTo>
                  <a:lnTo>
                    <a:pt x="35298" y="0"/>
                  </a:lnTo>
                  <a:lnTo>
                    <a:pt x="0" y="14168"/>
                  </a:lnTo>
                  <a:lnTo>
                    <a:pt x="0" y="19737"/>
                  </a:lnTo>
                  <a:lnTo>
                    <a:pt x="35425" y="8604"/>
                  </a:lnTo>
                  <a:lnTo>
                    <a:pt x="70846" y="19737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9" name="objective_outline_17"/>
            <p:cNvSpPr/>
            <p:nvPr/>
          </p:nvSpPr>
          <p:spPr>
            <a:xfrm>
              <a:off x="4764445" y="412778"/>
              <a:ext cx="80585" cy="82609"/>
            </a:xfrm>
            <a:custGeom>
              <a:avLst/>
              <a:gdLst/>
              <a:ahLst/>
              <a:cxnLst/>
              <a:rect l="0" t="0" r="r" b="b"/>
              <a:pathLst>
                <a:path w="80586" h="82610">
                  <a:moveTo>
                    <a:pt x="76537" y="19356"/>
                  </a:moveTo>
                  <a:lnTo>
                    <a:pt x="80586" y="0"/>
                  </a:lnTo>
                  <a:lnTo>
                    <a:pt x="17586" y="0"/>
                  </a:lnTo>
                  <a:lnTo>
                    <a:pt x="17586" y="2024"/>
                  </a:lnTo>
                  <a:cubicBezTo>
                    <a:pt x="25936" y="2782"/>
                    <a:pt x="27325" y="3544"/>
                    <a:pt x="27325" y="7084"/>
                  </a:cubicBezTo>
                  <a:cubicBezTo>
                    <a:pt x="27325" y="9108"/>
                    <a:pt x="26821" y="12144"/>
                    <a:pt x="25936" y="15308"/>
                  </a:cubicBezTo>
                  <a:lnTo>
                    <a:pt x="10374" y="71223"/>
                  </a:lnTo>
                  <a:cubicBezTo>
                    <a:pt x="8096" y="78815"/>
                    <a:pt x="7211" y="79573"/>
                    <a:pt x="0" y="80586"/>
                  </a:cubicBezTo>
                  <a:lnTo>
                    <a:pt x="0" y="82610"/>
                  </a:lnTo>
                  <a:lnTo>
                    <a:pt x="31881" y="82610"/>
                  </a:lnTo>
                  <a:lnTo>
                    <a:pt x="31881" y="80586"/>
                  </a:lnTo>
                  <a:cubicBezTo>
                    <a:pt x="24543" y="80205"/>
                    <a:pt x="22265" y="78815"/>
                    <a:pt x="22265" y="75017"/>
                  </a:cubicBezTo>
                  <a:cubicBezTo>
                    <a:pt x="22265" y="73882"/>
                    <a:pt x="22519" y="72362"/>
                    <a:pt x="23404" y="69326"/>
                  </a:cubicBezTo>
                  <a:lnTo>
                    <a:pt x="31246" y="41116"/>
                  </a:lnTo>
                  <a:cubicBezTo>
                    <a:pt x="35929" y="41366"/>
                    <a:pt x="38711" y="41493"/>
                    <a:pt x="41493" y="41493"/>
                  </a:cubicBezTo>
                  <a:cubicBezTo>
                    <a:pt x="46426" y="41493"/>
                    <a:pt x="47188" y="41620"/>
                    <a:pt x="48450" y="42128"/>
                  </a:cubicBezTo>
                  <a:cubicBezTo>
                    <a:pt x="50225" y="43013"/>
                    <a:pt x="51237" y="44783"/>
                    <a:pt x="51237" y="47316"/>
                  </a:cubicBezTo>
                  <a:cubicBezTo>
                    <a:pt x="51237" y="49339"/>
                    <a:pt x="50983" y="50856"/>
                    <a:pt x="50225" y="54777"/>
                  </a:cubicBezTo>
                  <a:lnTo>
                    <a:pt x="52376" y="55412"/>
                  </a:lnTo>
                  <a:lnTo>
                    <a:pt x="61988" y="25809"/>
                  </a:lnTo>
                  <a:lnTo>
                    <a:pt x="59710" y="25174"/>
                  </a:lnTo>
                  <a:cubicBezTo>
                    <a:pt x="54019" y="36560"/>
                    <a:pt x="53638" y="36687"/>
                    <a:pt x="32385" y="36941"/>
                  </a:cubicBezTo>
                  <a:lnTo>
                    <a:pt x="40735" y="7465"/>
                  </a:lnTo>
                  <a:cubicBezTo>
                    <a:pt x="41493" y="4933"/>
                    <a:pt x="43267" y="4175"/>
                    <a:pt x="48450" y="4175"/>
                  </a:cubicBezTo>
                  <a:cubicBezTo>
                    <a:pt x="69834" y="4175"/>
                    <a:pt x="74259" y="5818"/>
                    <a:pt x="74259" y="13791"/>
                  </a:cubicBezTo>
                  <a:cubicBezTo>
                    <a:pt x="74259" y="14677"/>
                    <a:pt x="74259" y="15181"/>
                    <a:pt x="74132" y="16700"/>
                  </a:cubicBezTo>
                  <a:cubicBezTo>
                    <a:pt x="74005" y="17586"/>
                    <a:pt x="74005" y="18090"/>
                    <a:pt x="73882" y="19102"/>
                  </a:cubicBezTo>
                  <a:lnTo>
                    <a:pt x="76537" y="19356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0" name="objective_outline_18"/>
            <p:cNvSpPr/>
            <p:nvPr/>
          </p:nvSpPr>
          <p:spPr>
            <a:xfrm>
              <a:off x="4852635" y="404682"/>
              <a:ext cx="32389" cy="116260"/>
            </a:xfrm>
            <a:custGeom>
              <a:avLst/>
              <a:gdLst/>
              <a:ahLst/>
              <a:cxnLst/>
              <a:rect l="0" t="0" r="r" b="b"/>
              <a:pathLst>
                <a:path w="32389" h="116261">
                  <a:moveTo>
                    <a:pt x="1139" y="0"/>
                  </a:moveTo>
                  <a:lnTo>
                    <a:pt x="0" y="2024"/>
                  </a:lnTo>
                  <a:cubicBezTo>
                    <a:pt x="16319" y="15181"/>
                    <a:pt x="21507" y="29730"/>
                    <a:pt x="21507" y="57813"/>
                  </a:cubicBezTo>
                  <a:cubicBezTo>
                    <a:pt x="21507" y="85773"/>
                    <a:pt x="16700" y="101080"/>
                    <a:pt x="0" y="114237"/>
                  </a:cubicBezTo>
                  <a:lnTo>
                    <a:pt x="1520" y="116261"/>
                  </a:lnTo>
                  <a:cubicBezTo>
                    <a:pt x="18979" y="105505"/>
                    <a:pt x="32389" y="81725"/>
                    <a:pt x="32389" y="58194"/>
                  </a:cubicBezTo>
                  <a:cubicBezTo>
                    <a:pt x="32389" y="32385"/>
                    <a:pt x="19483" y="11890"/>
                    <a:pt x="1139" y="0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5" name="before_F"/>
          <p:cNvGrpSpPr/>
          <p:nvPr/>
        </p:nvGrpSpPr>
        <p:grpSpPr>
          <a:xfrm>
            <a:off x="3581936" y="1159078"/>
            <a:ext cx="97770" cy="132968"/>
            <a:chOff x="3581936" y="1159078"/>
            <a:chExt cx="97770" cy="132968"/>
          </a:xfrm>
        </p:grpSpPr>
        <p:sp>
          <p:nvSpPr>
            <p:cNvPr id="221" name="before_F_outline_0"/>
            <p:cNvSpPr/>
            <p:nvPr/>
          </p:nvSpPr>
          <p:spPr>
            <a:xfrm>
              <a:off x="3601772" y="1159078"/>
              <a:ext cx="77934" cy="21708"/>
            </a:xfrm>
            <a:custGeom>
              <a:avLst/>
              <a:gdLst/>
              <a:ahLst/>
              <a:cxnLst/>
              <a:rect l="0" t="0" r="r" b="b"/>
              <a:pathLst>
                <a:path w="77934" h="21709">
                  <a:moveTo>
                    <a:pt x="77934" y="21709"/>
                  </a:moveTo>
                  <a:lnTo>
                    <a:pt x="77934" y="15585"/>
                  </a:lnTo>
                  <a:lnTo>
                    <a:pt x="38826" y="0"/>
                  </a:lnTo>
                  <a:lnTo>
                    <a:pt x="0" y="15585"/>
                  </a:lnTo>
                  <a:lnTo>
                    <a:pt x="0" y="21709"/>
                  </a:lnTo>
                  <a:lnTo>
                    <a:pt x="38965" y="9462"/>
                  </a:lnTo>
                  <a:lnTo>
                    <a:pt x="77934" y="21709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2" name="before_F_outline_1"/>
            <p:cNvSpPr/>
            <p:nvPr/>
          </p:nvSpPr>
          <p:spPr>
            <a:xfrm>
              <a:off x="3581936" y="1201174"/>
              <a:ext cx="88645" cy="90872"/>
            </a:xfrm>
            <a:custGeom>
              <a:avLst/>
              <a:gdLst/>
              <a:ahLst/>
              <a:cxnLst/>
              <a:rect l="0" t="0" r="r" b="b"/>
              <a:pathLst>
                <a:path w="88646" h="90872">
                  <a:moveTo>
                    <a:pt x="84193" y="21292"/>
                  </a:moveTo>
                  <a:lnTo>
                    <a:pt x="88646" y="0"/>
                  </a:lnTo>
                  <a:lnTo>
                    <a:pt x="19340" y="0"/>
                  </a:lnTo>
                  <a:lnTo>
                    <a:pt x="19340" y="2226"/>
                  </a:lnTo>
                  <a:cubicBezTo>
                    <a:pt x="28527" y="3060"/>
                    <a:pt x="30055" y="3897"/>
                    <a:pt x="30055" y="7795"/>
                  </a:cubicBezTo>
                  <a:cubicBezTo>
                    <a:pt x="30055" y="10021"/>
                    <a:pt x="29500" y="13359"/>
                    <a:pt x="28527" y="16839"/>
                  </a:cubicBezTo>
                  <a:lnTo>
                    <a:pt x="11410" y="78347"/>
                  </a:lnTo>
                  <a:cubicBezTo>
                    <a:pt x="8906" y="86697"/>
                    <a:pt x="7930" y="87531"/>
                    <a:pt x="0" y="88646"/>
                  </a:cubicBezTo>
                  <a:lnTo>
                    <a:pt x="0" y="90872"/>
                  </a:lnTo>
                  <a:lnTo>
                    <a:pt x="35068" y="90872"/>
                  </a:lnTo>
                  <a:lnTo>
                    <a:pt x="35068" y="88646"/>
                  </a:lnTo>
                  <a:cubicBezTo>
                    <a:pt x="26995" y="88229"/>
                    <a:pt x="24491" y="86697"/>
                    <a:pt x="24491" y="82522"/>
                  </a:cubicBezTo>
                  <a:cubicBezTo>
                    <a:pt x="24491" y="81272"/>
                    <a:pt x="24769" y="79601"/>
                    <a:pt x="25741" y="76259"/>
                  </a:cubicBezTo>
                  <a:lnTo>
                    <a:pt x="34369" y="45228"/>
                  </a:lnTo>
                  <a:cubicBezTo>
                    <a:pt x="39521" y="45506"/>
                    <a:pt x="42581" y="45645"/>
                    <a:pt x="45645" y="45645"/>
                  </a:cubicBezTo>
                  <a:cubicBezTo>
                    <a:pt x="51070" y="45645"/>
                    <a:pt x="51907" y="45784"/>
                    <a:pt x="53296" y="46339"/>
                  </a:cubicBezTo>
                  <a:cubicBezTo>
                    <a:pt x="55245" y="47315"/>
                    <a:pt x="56360" y="49264"/>
                    <a:pt x="56360" y="52046"/>
                  </a:cubicBezTo>
                  <a:cubicBezTo>
                    <a:pt x="56360" y="54273"/>
                    <a:pt x="56078" y="55944"/>
                    <a:pt x="55245" y="60257"/>
                  </a:cubicBezTo>
                  <a:lnTo>
                    <a:pt x="57610" y="60952"/>
                  </a:lnTo>
                  <a:lnTo>
                    <a:pt x="68187" y="28388"/>
                  </a:lnTo>
                  <a:lnTo>
                    <a:pt x="65683" y="27694"/>
                  </a:lnTo>
                  <a:cubicBezTo>
                    <a:pt x="59420" y="40219"/>
                    <a:pt x="59003" y="40358"/>
                    <a:pt x="35623" y="40636"/>
                  </a:cubicBezTo>
                  <a:lnTo>
                    <a:pt x="44807" y="8211"/>
                  </a:lnTo>
                  <a:cubicBezTo>
                    <a:pt x="45645" y="5425"/>
                    <a:pt x="47593" y="4592"/>
                    <a:pt x="53296" y="4592"/>
                  </a:cubicBezTo>
                  <a:cubicBezTo>
                    <a:pt x="76815" y="4592"/>
                    <a:pt x="81685" y="6402"/>
                    <a:pt x="81685" y="15168"/>
                  </a:cubicBezTo>
                  <a:cubicBezTo>
                    <a:pt x="81685" y="16141"/>
                    <a:pt x="81685" y="16701"/>
                    <a:pt x="81546" y="18367"/>
                  </a:cubicBezTo>
                  <a:cubicBezTo>
                    <a:pt x="81407" y="19344"/>
                    <a:pt x="81407" y="19899"/>
                    <a:pt x="81268" y="21014"/>
                  </a:cubicBezTo>
                  <a:lnTo>
                    <a:pt x="84193" y="21292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3" name="after_F"/>
          <p:cNvGrpSpPr/>
          <p:nvPr/>
        </p:nvGrpSpPr>
        <p:grpSpPr>
          <a:xfrm>
            <a:off x="4456046" y="1177206"/>
            <a:ext cx="135404" cy="97213"/>
            <a:chOff x="4456046" y="1177206"/>
            <a:chExt cx="135404" cy="97213"/>
          </a:xfrm>
        </p:grpSpPr>
        <p:sp>
          <p:nvSpPr>
            <p:cNvPr id="223" name="after_F_outline_0"/>
            <p:cNvSpPr/>
            <p:nvPr/>
          </p:nvSpPr>
          <p:spPr>
            <a:xfrm>
              <a:off x="4456046" y="1183547"/>
              <a:ext cx="88645" cy="90872"/>
            </a:xfrm>
            <a:custGeom>
              <a:avLst/>
              <a:gdLst/>
              <a:ahLst/>
              <a:cxnLst/>
              <a:rect l="0" t="0" r="r" b="b"/>
              <a:pathLst>
                <a:path w="88646" h="90872">
                  <a:moveTo>
                    <a:pt x="84193" y="21292"/>
                  </a:moveTo>
                  <a:lnTo>
                    <a:pt x="88646" y="0"/>
                  </a:lnTo>
                  <a:lnTo>
                    <a:pt x="19340" y="0"/>
                  </a:lnTo>
                  <a:lnTo>
                    <a:pt x="19340" y="2226"/>
                  </a:lnTo>
                  <a:cubicBezTo>
                    <a:pt x="28527" y="3060"/>
                    <a:pt x="30055" y="3897"/>
                    <a:pt x="30055" y="7795"/>
                  </a:cubicBezTo>
                  <a:cubicBezTo>
                    <a:pt x="30055" y="10021"/>
                    <a:pt x="29500" y="13359"/>
                    <a:pt x="28527" y="16839"/>
                  </a:cubicBezTo>
                  <a:lnTo>
                    <a:pt x="11410" y="78347"/>
                  </a:lnTo>
                  <a:cubicBezTo>
                    <a:pt x="8906" y="86697"/>
                    <a:pt x="7930" y="87531"/>
                    <a:pt x="0" y="88646"/>
                  </a:cubicBezTo>
                  <a:lnTo>
                    <a:pt x="0" y="90872"/>
                  </a:lnTo>
                  <a:lnTo>
                    <a:pt x="35068" y="90872"/>
                  </a:lnTo>
                  <a:lnTo>
                    <a:pt x="35068" y="88646"/>
                  </a:lnTo>
                  <a:cubicBezTo>
                    <a:pt x="26995" y="88229"/>
                    <a:pt x="24491" y="86697"/>
                    <a:pt x="24491" y="82522"/>
                  </a:cubicBezTo>
                  <a:cubicBezTo>
                    <a:pt x="24491" y="81272"/>
                    <a:pt x="24769" y="79601"/>
                    <a:pt x="25741" y="76259"/>
                  </a:cubicBezTo>
                  <a:lnTo>
                    <a:pt x="34369" y="45228"/>
                  </a:lnTo>
                  <a:cubicBezTo>
                    <a:pt x="39521" y="45506"/>
                    <a:pt x="42581" y="45645"/>
                    <a:pt x="45645" y="45645"/>
                  </a:cubicBezTo>
                  <a:cubicBezTo>
                    <a:pt x="51070" y="45645"/>
                    <a:pt x="51907" y="45784"/>
                    <a:pt x="53296" y="46339"/>
                  </a:cubicBezTo>
                  <a:cubicBezTo>
                    <a:pt x="55245" y="47315"/>
                    <a:pt x="56360" y="49264"/>
                    <a:pt x="56360" y="52046"/>
                  </a:cubicBezTo>
                  <a:cubicBezTo>
                    <a:pt x="56360" y="54273"/>
                    <a:pt x="56078" y="55944"/>
                    <a:pt x="55245" y="60257"/>
                  </a:cubicBezTo>
                  <a:lnTo>
                    <a:pt x="57610" y="60952"/>
                  </a:lnTo>
                  <a:lnTo>
                    <a:pt x="68187" y="28388"/>
                  </a:lnTo>
                  <a:lnTo>
                    <a:pt x="65683" y="27694"/>
                  </a:lnTo>
                  <a:cubicBezTo>
                    <a:pt x="59420" y="40219"/>
                    <a:pt x="59003" y="40358"/>
                    <a:pt x="35623" y="40636"/>
                  </a:cubicBezTo>
                  <a:lnTo>
                    <a:pt x="44807" y="8211"/>
                  </a:lnTo>
                  <a:cubicBezTo>
                    <a:pt x="45645" y="5425"/>
                    <a:pt x="47593" y="4592"/>
                    <a:pt x="53296" y="4592"/>
                  </a:cubicBezTo>
                  <a:cubicBezTo>
                    <a:pt x="76815" y="4592"/>
                    <a:pt x="81685" y="6402"/>
                    <a:pt x="81685" y="15168"/>
                  </a:cubicBezTo>
                  <a:cubicBezTo>
                    <a:pt x="81685" y="16141"/>
                    <a:pt x="81685" y="16701"/>
                    <a:pt x="81546" y="18367"/>
                  </a:cubicBezTo>
                  <a:cubicBezTo>
                    <a:pt x="81407" y="19344"/>
                    <a:pt x="81407" y="19899"/>
                    <a:pt x="81268" y="21014"/>
                  </a:cubicBezTo>
                  <a:lnTo>
                    <a:pt x="84193" y="21292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4" name="after_F_outline_1"/>
            <p:cNvSpPr/>
            <p:nvPr/>
          </p:nvSpPr>
          <p:spPr>
            <a:xfrm>
              <a:off x="4555446" y="1177206"/>
              <a:ext cx="36004" cy="40155"/>
            </a:xfrm>
            <a:custGeom>
              <a:avLst/>
              <a:gdLst/>
              <a:ahLst/>
              <a:cxnLst/>
              <a:rect l="0" t="0" r="r" b="b"/>
              <a:pathLst>
                <a:path w="36005" h="40156">
                  <a:moveTo>
                    <a:pt x="36005" y="12037"/>
                  </a:moveTo>
                  <a:cubicBezTo>
                    <a:pt x="36005" y="10271"/>
                    <a:pt x="34552" y="8406"/>
                    <a:pt x="32683" y="8406"/>
                  </a:cubicBezTo>
                  <a:cubicBezTo>
                    <a:pt x="30297" y="8406"/>
                    <a:pt x="21788" y="16915"/>
                    <a:pt x="18780" y="18677"/>
                  </a:cubicBezTo>
                  <a:cubicBezTo>
                    <a:pt x="18780" y="12867"/>
                    <a:pt x="21685" y="7057"/>
                    <a:pt x="21685" y="3528"/>
                  </a:cubicBezTo>
                  <a:cubicBezTo>
                    <a:pt x="21685" y="1349"/>
                    <a:pt x="20233" y="0"/>
                    <a:pt x="18054" y="0"/>
                  </a:cubicBezTo>
                  <a:cubicBezTo>
                    <a:pt x="15978" y="0"/>
                    <a:pt x="14732" y="1453"/>
                    <a:pt x="14732" y="3528"/>
                  </a:cubicBezTo>
                  <a:cubicBezTo>
                    <a:pt x="14732" y="7576"/>
                    <a:pt x="17224" y="13073"/>
                    <a:pt x="17224" y="18677"/>
                  </a:cubicBezTo>
                  <a:cubicBezTo>
                    <a:pt x="13902" y="16705"/>
                    <a:pt x="5810" y="7989"/>
                    <a:pt x="3631" y="7989"/>
                  </a:cubicBezTo>
                  <a:cubicBezTo>
                    <a:pt x="1762" y="7989"/>
                    <a:pt x="103" y="9755"/>
                    <a:pt x="103" y="11620"/>
                  </a:cubicBezTo>
                  <a:cubicBezTo>
                    <a:pt x="103" y="15252"/>
                    <a:pt x="12347" y="17744"/>
                    <a:pt x="16395" y="20026"/>
                  </a:cubicBezTo>
                  <a:cubicBezTo>
                    <a:pt x="12037" y="22515"/>
                    <a:pt x="3941" y="23761"/>
                    <a:pt x="1869" y="25110"/>
                  </a:cubicBezTo>
                  <a:cubicBezTo>
                    <a:pt x="829" y="25837"/>
                    <a:pt x="0" y="26769"/>
                    <a:pt x="0" y="28119"/>
                  </a:cubicBezTo>
                  <a:cubicBezTo>
                    <a:pt x="0" y="29988"/>
                    <a:pt x="1453" y="31647"/>
                    <a:pt x="3322" y="31647"/>
                  </a:cubicBezTo>
                  <a:cubicBezTo>
                    <a:pt x="5707" y="31647"/>
                    <a:pt x="14113" y="23241"/>
                    <a:pt x="17224" y="21479"/>
                  </a:cubicBezTo>
                  <a:cubicBezTo>
                    <a:pt x="17224" y="27186"/>
                    <a:pt x="14319" y="32996"/>
                    <a:pt x="14319" y="36628"/>
                  </a:cubicBezTo>
                  <a:cubicBezTo>
                    <a:pt x="14319" y="38703"/>
                    <a:pt x="15875" y="40156"/>
                    <a:pt x="17951" y="40156"/>
                  </a:cubicBezTo>
                  <a:cubicBezTo>
                    <a:pt x="20026" y="40156"/>
                    <a:pt x="21273" y="38600"/>
                    <a:pt x="21273" y="36628"/>
                  </a:cubicBezTo>
                  <a:cubicBezTo>
                    <a:pt x="21273" y="32373"/>
                    <a:pt x="18883" y="26980"/>
                    <a:pt x="18883" y="21479"/>
                  </a:cubicBezTo>
                  <a:cubicBezTo>
                    <a:pt x="22102" y="23348"/>
                    <a:pt x="30297" y="32064"/>
                    <a:pt x="32373" y="32064"/>
                  </a:cubicBezTo>
                  <a:cubicBezTo>
                    <a:pt x="34242" y="32064"/>
                    <a:pt x="35901" y="30298"/>
                    <a:pt x="35901" y="28432"/>
                  </a:cubicBezTo>
                  <a:cubicBezTo>
                    <a:pt x="35901" y="27083"/>
                    <a:pt x="34969" y="26146"/>
                    <a:pt x="33929" y="25527"/>
                  </a:cubicBezTo>
                  <a:cubicBezTo>
                    <a:pt x="31230" y="23761"/>
                    <a:pt x="24070" y="22622"/>
                    <a:pt x="19610" y="20026"/>
                  </a:cubicBezTo>
                  <a:cubicBezTo>
                    <a:pt x="24487" y="17121"/>
                    <a:pt x="31127" y="16705"/>
                    <a:pt x="34135" y="14942"/>
                  </a:cubicBezTo>
                  <a:cubicBezTo>
                    <a:pt x="35278" y="14319"/>
                    <a:pt x="36005" y="13387"/>
                    <a:pt x="36005" y="12037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4" name="filter_chain"/>
          <p:cNvGrpSpPr/>
          <p:nvPr/>
        </p:nvGrpSpPr>
        <p:grpSpPr>
          <a:xfrm>
            <a:off x="2015678" y="1940801"/>
            <a:ext cx="1520590" cy="157377"/>
            <a:chOff x="2015678" y="1940801"/>
            <a:chExt cx="1520590" cy="157377"/>
          </a:xfrm>
        </p:grpSpPr>
        <p:sp>
          <p:nvSpPr>
            <p:cNvPr id="225" name="filter_chain_outline_0"/>
            <p:cNvSpPr/>
            <p:nvPr/>
          </p:nvSpPr>
          <p:spPr>
            <a:xfrm>
              <a:off x="2038034" y="1940801"/>
              <a:ext cx="39342" cy="6830"/>
            </a:xfrm>
            <a:custGeom>
              <a:avLst/>
              <a:gdLst/>
              <a:ahLst/>
              <a:cxnLst/>
              <a:rect l="0" t="0" r="r" b="b"/>
              <a:pathLst>
                <a:path w="39342" h="6830">
                  <a:moveTo>
                    <a:pt x="39342" y="6830"/>
                  </a:moveTo>
                  <a:lnTo>
                    <a:pt x="39342" y="0"/>
                  </a:lnTo>
                  <a:lnTo>
                    <a:pt x="0" y="0"/>
                  </a:lnTo>
                  <a:lnTo>
                    <a:pt x="0" y="6830"/>
                  </a:lnTo>
                  <a:lnTo>
                    <a:pt x="39342" y="6830"/>
                  </a:ln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6" name="filter_chain_outline_1"/>
            <p:cNvSpPr/>
            <p:nvPr/>
          </p:nvSpPr>
          <p:spPr>
            <a:xfrm>
              <a:off x="2015678" y="1961734"/>
              <a:ext cx="64646" cy="84256"/>
            </a:xfrm>
            <a:custGeom>
              <a:avLst/>
              <a:gdLst/>
              <a:ahLst/>
              <a:cxnLst/>
              <a:rect l="0" t="0" r="r" b="b"/>
              <a:pathLst>
                <a:path w="64647" h="84257">
                  <a:moveTo>
                    <a:pt x="64647" y="73628"/>
                  </a:moveTo>
                  <a:lnTo>
                    <a:pt x="64520" y="73374"/>
                  </a:lnTo>
                  <a:cubicBezTo>
                    <a:pt x="62746" y="73374"/>
                    <a:pt x="60599" y="77676"/>
                    <a:pt x="55285" y="77676"/>
                  </a:cubicBezTo>
                  <a:cubicBezTo>
                    <a:pt x="31373" y="77676"/>
                    <a:pt x="74894" y="0"/>
                    <a:pt x="37699" y="0"/>
                  </a:cubicBezTo>
                  <a:lnTo>
                    <a:pt x="36306" y="0"/>
                  </a:lnTo>
                  <a:cubicBezTo>
                    <a:pt x="34032" y="0"/>
                    <a:pt x="28718" y="1897"/>
                    <a:pt x="27071" y="3417"/>
                  </a:cubicBezTo>
                  <a:cubicBezTo>
                    <a:pt x="26948" y="3544"/>
                    <a:pt x="27960" y="4683"/>
                    <a:pt x="28083" y="4683"/>
                  </a:cubicBezTo>
                  <a:cubicBezTo>
                    <a:pt x="28718" y="4175"/>
                    <a:pt x="31500" y="3036"/>
                    <a:pt x="34032" y="3036"/>
                  </a:cubicBezTo>
                  <a:cubicBezTo>
                    <a:pt x="46303" y="3036"/>
                    <a:pt x="43013" y="23277"/>
                    <a:pt x="43013" y="26567"/>
                  </a:cubicBezTo>
                  <a:cubicBezTo>
                    <a:pt x="43140" y="26948"/>
                    <a:pt x="43013" y="27202"/>
                    <a:pt x="42886" y="27706"/>
                  </a:cubicBezTo>
                  <a:cubicBezTo>
                    <a:pt x="40354" y="39473"/>
                    <a:pt x="3036" y="72616"/>
                    <a:pt x="0" y="82864"/>
                  </a:cubicBezTo>
                  <a:lnTo>
                    <a:pt x="12652" y="82864"/>
                  </a:lnTo>
                  <a:cubicBezTo>
                    <a:pt x="12652" y="81598"/>
                    <a:pt x="12775" y="80332"/>
                    <a:pt x="13029" y="78942"/>
                  </a:cubicBezTo>
                  <a:cubicBezTo>
                    <a:pt x="16701" y="62750"/>
                    <a:pt x="41493" y="38207"/>
                    <a:pt x="41493" y="38080"/>
                  </a:cubicBezTo>
                  <a:lnTo>
                    <a:pt x="41620" y="38080"/>
                  </a:lnTo>
                  <a:cubicBezTo>
                    <a:pt x="40862" y="44656"/>
                    <a:pt x="29476" y="84257"/>
                    <a:pt x="50098" y="84257"/>
                  </a:cubicBezTo>
                  <a:cubicBezTo>
                    <a:pt x="55662" y="84257"/>
                    <a:pt x="64393" y="75148"/>
                    <a:pt x="64647" y="73628"/>
                  </a:cubicBez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7" name="filter_chain_outline_2"/>
            <p:cNvSpPr/>
            <p:nvPr/>
          </p:nvSpPr>
          <p:spPr>
            <a:xfrm>
              <a:off x="2090116" y="1951982"/>
              <a:ext cx="36004" cy="40155"/>
            </a:xfrm>
            <a:custGeom>
              <a:avLst/>
              <a:gdLst/>
              <a:ahLst/>
              <a:cxnLst/>
              <a:rect l="0" t="0" r="r" b="b"/>
              <a:pathLst>
                <a:path w="36005" h="40156">
                  <a:moveTo>
                    <a:pt x="36005" y="12037"/>
                  </a:moveTo>
                  <a:cubicBezTo>
                    <a:pt x="36005" y="10271"/>
                    <a:pt x="34552" y="8406"/>
                    <a:pt x="32683" y="8406"/>
                  </a:cubicBezTo>
                  <a:cubicBezTo>
                    <a:pt x="30297" y="8406"/>
                    <a:pt x="21788" y="16915"/>
                    <a:pt x="18780" y="18677"/>
                  </a:cubicBezTo>
                  <a:cubicBezTo>
                    <a:pt x="18780" y="12867"/>
                    <a:pt x="21685" y="7057"/>
                    <a:pt x="21685" y="3528"/>
                  </a:cubicBezTo>
                  <a:cubicBezTo>
                    <a:pt x="21685" y="1349"/>
                    <a:pt x="20233" y="0"/>
                    <a:pt x="18054" y="0"/>
                  </a:cubicBezTo>
                  <a:cubicBezTo>
                    <a:pt x="15978" y="0"/>
                    <a:pt x="14732" y="1453"/>
                    <a:pt x="14732" y="3528"/>
                  </a:cubicBezTo>
                  <a:cubicBezTo>
                    <a:pt x="14732" y="7576"/>
                    <a:pt x="17224" y="13073"/>
                    <a:pt x="17224" y="18677"/>
                  </a:cubicBezTo>
                  <a:cubicBezTo>
                    <a:pt x="13903" y="16705"/>
                    <a:pt x="5810" y="7989"/>
                    <a:pt x="3631" y="7989"/>
                  </a:cubicBezTo>
                  <a:cubicBezTo>
                    <a:pt x="1762" y="7989"/>
                    <a:pt x="103" y="9755"/>
                    <a:pt x="103" y="11620"/>
                  </a:cubicBezTo>
                  <a:cubicBezTo>
                    <a:pt x="103" y="15252"/>
                    <a:pt x="12347" y="17744"/>
                    <a:pt x="16395" y="20026"/>
                  </a:cubicBezTo>
                  <a:cubicBezTo>
                    <a:pt x="12037" y="22515"/>
                    <a:pt x="3941" y="23761"/>
                    <a:pt x="1869" y="25110"/>
                  </a:cubicBezTo>
                  <a:cubicBezTo>
                    <a:pt x="829" y="25837"/>
                    <a:pt x="0" y="26769"/>
                    <a:pt x="0" y="28119"/>
                  </a:cubicBezTo>
                  <a:cubicBezTo>
                    <a:pt x="0" y="29988"/>
                    <a:pt x="1453" y="31647"/>
                    <a:pt x="3322" y="31647"/>
                  </a:cubicBezTo>
                  <a:cubicBezTo>
                    <a:pt x="5707" y="31647"/>
                    <a:pt x="14113" y="23241"/>
                    <a:pt x="17224" y="21479"/>
                  </a:cubicBezTo>
                  <a:cubicBezTo>
                    <a:pt x="17224" y="27186"/>
                    <a:pt x="14319" y="32996"/>
                    <a:pt x="14319" y="36628"/>
                  </a:cubicBezTo>
                  <a:cubicBezTo>
                    <a:pt x="14319" y="38703"/>
                    <a:pt x="15875" y="40156"/>
                    <a:pt x="17951" y="40156"/>
                  </a:cubicBezTo>
                  <a:cubicBezTo>
                    <a:pt x="20026" y="40156"/>
                    <a:pt x="21273" y="38600"/>
                    <a:pt x="21273" y="36628"/>
                  </a:cubicBezTo>
                  <a:cubicBezTo>
                    <a:pt x="21273" y="32373"/>
                    <a:pt x="18883" y="26980"/>
                    <a:pt x="18883" y="21479"/>
                  </a:cubicBezTo>
                  <a:cubicBezTo>
                    <a:pt x="22102" y="23348"/>
                    <a:pt x="30297" y="32064"/>
                    <a:pt x="32373" y="32064"/>
                  </a:cubicBezTo>
                  <a:cubicBezTo>
                    <a:pt x="34242" y="32064"/>
                    <a:pt x="35901" y="30298"/>
                    <a:pt x="35901" y="28432"/>
                  </a:cubicBezTo>
                  <a:cubicBezTo>
                    <a:pt x="35901" y="27083"/>
                    <a:pt x="34969" y="26146"/>
                    <a:pt x="33929" y="25527"/>
                  </a:cubicBezTo>
                  <a:cubicBezTo>
                    <a:pt x="31230" y="23761"/>
                    <a:pt x="24070" y="22622"/>
                    <a:pt x="19610" y="20026"/>
                  </a:cubicBezTo>
                  <a:cubicBezTo>
                    <a:pt x="24487" y="17121"/>
                    <a:pt x="31127" y="16705"/>
                    <a:pt x="34135" y="14942"/>
                  </a:cubicBezTo>
                  <a:cubicBezTo>
                    <a:pt x="35278" y="14319"/>
                    <a:pt x="36005" y="13387"/>
                    <a:pt x="36005" y="12037"/>
                  </a:cubicBez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8" name="filter_chain_outline_3"/>
            <p:cNvSpPr/>
            <p:nvPr/>
          </p:nvSpPr>
          <p:spPr>
            <a:xfrm>
              <a:off x="2090827" y="2026166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4" y="62258"/>
                  </a:cubicBezTo>
                  <a:cubicBezTo>
                    <a:pt x="42541" y="65472"/>
                    <a:pt x="41196" y="66615"/>
                    <a:pt x="39429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3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3"/>
                    <a:pt x="30817" y="35592"/>
                    <a:pt x="20233" y="44101"/>
                  </a:cubicBezTo>
                  <a:lnTo>
                    <a:pt x="15149" y="47938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2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7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9" name="filter_chain_outline_4"/>
            <p:cNvSpPr/>
            <p:nvPr/>
          </p:nvSpPr>
          <p:spPr>
            <a:xfrm>
              <a:off x="2227135" y="1986150"/>
              <a:ext cx="113859" cy="51867"/>
            </a:xfrm>
            <a:custGeom>
              <a:avLst/>
              <a:gdLst/>
              <a:ahLst/>
              <a:cxnLst/>
              <a:rect l="0" t="0" r="r" b="b"/>
              <a:pathLst>
                <a:path w="113859" h="51868">
                  <a:moveTo>
                    <a:pt x="113859" y="29476"/>
                  </a:moveTo>
                  <a:lnTo>
                    <a:pt x="113859" y="22392"/>
                  </a:lnTo>
                  <a:lnTo>
                    <a:pt x="13664" y="22392"/>
                  </a:lnTo>
                  <a:lnTo>
                    <a:pt x="28718" y="4175"/>
                  </a:lnTo>
                  <a:lnTo>
                    <a:pt x="24797" y="0"/>
                  </a:lnTo>
                  <a:lnTo>
                    <a:pt x="0" y="26063"/>
                  </a:lnTo>
                  <a:lnTo>
                    <a:pt x="24797" y="51868"/>
                  </a:lnTo>
                  <a:lnTo>
                    <a:pt x="28718" y="47696"/>
                  </a:lnTo>
                  <a:lnTo>
                    <a:pt x="13664" y="29476"/>
                  </a:lnTo>
                  <a:lnTo>
                    <a:pt x="113859" y="29476"/>
                  </a:ln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0" name="filter_chain_outline_5"/>
            <p:cNvSpPr/>
            <p:nvPr/>
          </p:nvSpPr>
          <p:spPr>
            <a:xfrm>
              <a:off x="2339078" y="2008542"/>
              <a:ext cx="64774" cy="7084"/>
            </a:xfrm>
            <a:custGeom>
              <a:avLst/>
              <a:gdLst/>
              <a:ahLst/>
              <a:cxnLst/>
              <a:rect l="0" t="0" r="r" b="b"/>
              <a:pathLst>
                <a:path w="64775" h="7084">
                  <a:moveTo>
                    <a:pt x="64775" y="7084"/>
                  </a:moveTo>
                  <a:lnTo>
                    <a:pt x="64775" y="0"/>
                  </a:lnTo>
                  <a:lnTo>
                    <a:pt x="0" y="0"/>
                  </a:lnTo>
                  <a:lnTo>
                    <a:pt x="0" y="7084"/>
                  </a:lnTo>
                  <a:lnTo>
                    <a:pt x="64775" y="7084"/>
                  </a:ln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1" name="filter_chain_outline_6"/>
            <p:cNvSpPr/>
            <p:nvPr/>
          </p:nvSpPr>
          <p:spPr>
            <a:xfrm>
              <a:off x="2481689" y="1958194"/>
              <a:ext cx="182819" cy="113855"/>
            </a:xfrm>
            <a:custGeom>
              <a:avLst/>
              <a:gdLst/>
              <a:ahLst/>
              <a:cxnLst/>
              <a:rect l="0" t="0" r="r" b="b"/>
              <a:pathLst>
                <a:path w="182819" h="113856">
                  <a:moveTo>
                    <a:pt x="48959" y="67806"/>
                  </a:moveTo>
                  <a:lnTo>
                    <a:pt x="47188" y="66667"/>
                  </a:lnTo>
                  <a:cubicBezTo>
                    <a:pt x="41116" y="75525"/>
                    <a:pt x="36560" y="78561"/>
                    <a:pt x="29349" y="78561"/>
                  </a:cubicBezTo>
                  <a:cubicBezTo>
                    <a:pt x="17712" y="78561"/>
                    <a:pt x="9739" y="68441"/>
                    <a:pt x="9739" y="53892"/>
                  </a:cubicBezTo>
                  <a:cubicBezTo>
                    <a:pt x="9739" y="40735"/>
                    <a:pt x="16701" y="31877"/>
                    <a:pt x="26944" y="31877"/>
                  </a:cubicBezTo>
                  <a:cubicBezTo>
                    <a:pt x="31500" y="31877"/>
                    <a:pt x="33143" y="33270"/>
                    <a:pt x="34409" y="37953"/>
                  </a:cubicBezTo>
                  <a:lnTo>
                    <a:pt x="35167" y="40735"/>
                  </a:lnTo>
                  <a:cubicBezTo>
                    <a:pt x="36179" y="44402"/>
                    <a:pt x="38457" y="46554"/>
                    <a:pt x="41239" y="46554"/>
                  </a:cubicBezTo>
                  <a:cubicBezTo>
                    <a:pt x="44529" y="46554"/>
                    <a:pt x="47188" y="44148"/>
                    <a:pt x="47188" y="41239"/>
                  </a:cubicBezTo>
                  <a:cubicBezTo>
                    <a:pt x="47188" y="34155"/>
                    <a:pt x="38330" y="28210"/>
                    <a:pt x="27706" y="28210"/>
                  </a:cubicBezTo>
                  <a:cubicBezTo>
                    <a:pt x="21761" y="28210"/>
                    <a:pt x="15688" y="30488"/>
                    <a:pt x="10624" y="34663"/>
                  </a:cubicBezTo>
                  <a:cubicBezTo>
                    <a:pt x="3794" y="40354"/>
                    <a:pt x="0" y="49085"/>
                    <a:pt x="0" y="59583"/>
                  </a:cubicBezTo>
                  <a:cubicBezTo>
                    <a:pt x="0" y="75902"/>
                    <a:pt x="9993" y="87670"/>
                    <a:pt x="24035" y="87670"/>
                  </a:cubicBezTo>
                  <a:cubicBezTo>
                    <a:pt x="29476" y="87670"/>
                    <a:pt x="34282" y="85896"/>
                    <a:pt x="38584" y="82356"/>
                  </a:cubicBezTo>
                  <a:cubicBezTo>
                    <a:pt x="42378" y="79319"/>
                    <a:pt x="44910" y="75652"/>
                    <a:pt x="48959" y="67806"/>
                  </a:cubicBezTo>
                  <a:close/>
                  <a:moveTo>
                    <a:pt x="85526" y="86404"/>
                  </a:moveTo>
                  <a:lnTo>
                    <a:pt x="85526" y="84507"/>
                  </a:lnTo>
                  <a:cubicBezTo>
                    <a:pt x="77429" y="83999"/>
                    <a:pt x="76036" y="82737"/>
                    <a:pt x="76036" y="75775"/>
                  </a:cubicBezTo>
                  <a:lnTo>
                    <a:pt x="76036" y="254"/>
                  </a:lnTo>
                  <a:lnTo>
                    <a:pt x="75532" y="0"/>
                  </a:lnTo>
                  <a:cubicBezTo>
                    <a:pt x="68952" y="2151"/>
                    <a:pt x="64146" y="3413"/>
                    <a:pt x="55419" y="5564"/>
                  </a:cubicBezTo>
                  <a:lnTo>
                    <a:pt x="55419" y="7588"/>
                  </a:lnTo>
                  <a:lnTo>
                    <a:pt x="56177" y="7588"/>
                  </a:lnTo>
                  <a:cubicBezTo>
                    <a:pt x="57570" y="7461"/>
                    <a:pt x="59086" y="7338"/>
                    <a:pt x="60098" y="7338"/>
                  </a:cubicBezTo>
                  <a:cubicBezTo>
                    <a:pt x="64146" y="7338"/>
                    <a:pt x="65412" y="9108"/>
                    <a:pt x="65412" y="15054"/>
                  </a:cubicBezTo>
                  <a:lnTo>
                    <a:pt x="65412" y="75398"/>
                  </a:lnTo>
                  <a:cubicBezTo>
                    <a:pt x="65412" y="82229"/>
                    <a:pt x="63642" y="83872"/>
                    <a:pt x="55669" y="84507"/>
                  </a:cubicBezTo>
                  <a:lnTo>
                    <a:pt x="55669" y="86404"/>
                  </a:lnTo>
                  <a:lnTo>
                    <a:pt x="85526" y="86404"/>
                  </a:lnTo>
                  <a:close/>
                  <a:moveTo>
                    <a:pt x="120195" y="86404"/>
                  </a:moveTo>
                  <a:lnTo>
                    <a:pt x="120195" y="84507"/>
                  </a:lnTo>
                  <a:cubicBezTo>
                    <a:pt x="111844" y="83872"/>
                    <a:pt x="110832" y="82610"/>
                    <a:pt x="110832" y="73501"/>
                  </a:cubicBezTo>
                  <a:lnTo>
                    <a:pt x="110832" y="28591"/>
                  </a:lnTo>
                  <a:lnTo>
                    <a:pt x="110324" y="28210"/>
                  </a:lnTo>
                  <a:lnTo>
                    <a:pt x="90719" y="35167"/>
                  </a:lnTo>
                  <a:lnTo>
                    <a:pt x="90719" y="37064"/>
                  </a:lnTo>
                  <a:lnTo>
                    <a:pt x="91731" y="36941"/>
                  </a:lnTo>
                  <a:cubicBezTo>
                    <a:pt x="93247" y="36687"/>
                    <a:pt x="94890" y="36560"/>
                    <a:pt x="96029" y="36560"/>
                  </a:cubicBezTo>
                  <a:cubicBezTo>
                    <a:pt x="99065" y="36560"/>
                    <a:pt x="100204" y="38584"/>
                    <a:pt x="100204" y="44148"/>
                  </a:cubicBezTo>
                  <a:lnTo>
                    <a:pt x="100204" y="73501"/>
                  </a:lnTo>
                  <a:cubicBezTo>
                    <a:pt x="100204" y="82610"/>
                    <a:pt x="98938" y="83999"/>
                    <a:pt x="90211" y="84507"/>
                  </a:cubicBezTo>
                  <a:lnTo>
                    <a:pt x="90211" y="86404"/>
                  </a:lnTo>
                  <a:lnTo>
                    <a:pt x="120195" y="86404"/>
                  </a:lnTo>
                  <a:close/>
                  <a:moveTo>
                    <a:pt x="111971" y="6449"/>
                  </a:moveTo>
                  <a:cubicBezTo>
                    <a:pt x="111971" y="2909"/>
                    <a:pt x="109185" y="0"/>
                    <a:pt x="105518" y="0"/>
                  </a:cubicBezTo>
                  <a:cubicBezTo>
                    <a:pt x="101974" y="0"/>
                    <a:pt x="99065" y="2909"/>
                    <a:pt x="99065" y="6449"/>
                  </a:cubicBezTo>
                  <a:cubicBezTo>
                    <a:pt x="99065" y="10120"/>
                    <a:pt x="101974" y="12902"/>
                    <a:pt x="105518" y="12902"/>
                  </a:cubicBezTo>
                  <a:cubicBezTo>
                    <a:pt x="109185" y="12902"/>
                    <a:pt x="111971" y="10120"/>
                    <a:pt x="111971" y="6449"/>
                  </a:cubicBezTo>
                  <a:close/>
                  <a:moveTo>
                    <a:pt x="182819" y="55158"/>
                  </a:moveTo>
                  <a:cubicBezTo>
                    <a:pt x="182819" y="39469"/>
                    <a:pt x="173961" y="28210"/>
                    <a:pt x="161690" y="28210"/>
                  </a:cubicBezTo>
                  <a:cubicBezTo>
                    <a:pt x="154606" y="28210"/>
                    <a:pt x="149041" y="31373"/>
                    <a:pt x="143473" y="38203"/>
                  </a:cubicBezTo>
                  <a:lnTo>
                    <a:pt x="143473" y="28464"/>
                  </a:lnTo>
                  <a:lnTo>
                    <a:pt x="142715" y="28210"/>
                  </a:lnTo>
                  <a:cubicBezTo>
                    <a:pt x="135885" y="30865"/>
                    <a:pt x="131456" y="32512"/>
                    <a:pt x="124498" y="34663"/>
                  </a:cubicBezTo>
                  <a:lnTo>
                    <a:pt x="124498" y="36687"/>
                  </a:lnTo>
                  <a:cubicBezTo>
                    <a:pt x="125637" y="36560"/>
                    <a:pt x="126523" y="36560"/>
                    <a:pt x="127662" y="36560"/>
                  </a:cubicBezTo>
                  <a:cubicBezTo>
                    <a:pt x="131964" y="36560"/>
                    <a:pt x="132848" y="37826"/>
                    <a:pt x="132848" y="43771"/>
                  </a:cubicBezTo>
                  <a:lnTo>
                    <a:pt x="132848" y="102977"/>
                  </a:lnTo>
                  <a:cubicBezTo>
                    <a:pt x="132848" y="109553"/>
                    <a:pt x="131456" y="110946"/>
                    <a:pt x="123990" y="111705"/>
                  </a:cubicBezTo>
                  <a:lnTo>
                    <a:pt x="123990" y="113856"/>
                  </a:lnTo>
                  <a:lnTo>
                    <a:pt x="154606" y="113856"/>
                  </a:lnTo>
                  <a:lnTo>
                    <a:pt x="154606" y="111578"/>
                  </a:lnTo>
                  <a:cubicBezTo>
                    <a:pt x="145120" y="111451"/>
                    <a:pt x="143473" y="110061"/>
                    <a:pt x="143473" y="102092"/>
                  </a:cubicBezTo>
                  <a:lnTo>
                    <a:pt x="143473" y="82229"/>
                  </a:lnTo>
                  <a:cubicBezTo>
                    <a:pt x="147903" y="86404"/>
                    <a:pt x="150938" y="87670"/>
                    <a:pt x="156253" y="87670"/>
                  </a:cubicBezTo>
                  <a:cubicBezTo>
                    <a:pt x="171180" y="87670"/>
                    <a:pt x="182819" y="73501"/>
                    <a:pt x="182819" y="55158"/>
                  </a:cubicBezTo>
                  <a:close/>
                  <a:moveTo>
                    <a:pt x="171938" y="60091"/>
                  </a:moveTo>
                  <a:cubicBezTo>
                    <a:pt x="171938" y="74132"/>
                    <a:pt x="165738" y="83622"/>
                    <a:pt x="156629" y="83622"/>
                  </a:cubicBezTo>
                  <a:cubicBezTo>
                    <a:pt x="150684" y="83622"/>
                    <a:pt x="143473" y="79065"/>
                    <a:pt x="143473" y="75271"/>
                  </a:cubicBezTo>
                  <a:lnTo>
                    <a:pt x="143473" y="44148"/>
                  </a:lnTo>
                  <a:cubicBezTo>
                    <a:pt x="143473" y="40354"/>
                    <a:pt x="150557" y="35802"/>
                    <a:pt x="156380" y="35802"/>
                  </a:cubicBezTo>
                  <a:cubicBezTo>
                    <a:pt x="165738" y="35802"/>
                    <a:pt x="171938" y="45414"/>
                    <a:pt x="171938" y="60091"/>
                  </a:cubicBez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2" name="filter_chain_outline_7"/>
            <p:cNvSpPr/>
            <p:nvPr/>
          </p:nvSpPr>
          <p:spPr>
            <a:xfrm>
              <a:off x="2704972" y="1982356"/>
              <a:ext cx="61230" cy="61229"/>
            </a:xfrm>
            <a:custGeom>
              <a:avLst/>
              <a:gdLst/>
              <a:ahLst/>
              <a:cxnLst/>
              <a:rect l="0" t="0" r="r" b="b"/>
              <a:pathLst>
                <a:path w="61231" h="61230">
                  <a:moveTo>
                    <a:pt x="61231" y="34790"/>
                  </a:moveTo>
                  <a:lnTo>
                    <a:pt x="61231" y="26440"/>
                  </a:lnTo>
                  <a:lnTo>
                    <a:pt x="34790" y="26440"/>
                  </a:lnTo>
                  <a:lnTo>
                    <a:pt x="34790" y="0"/>
                  </a:lnTo>
                  <a:lnTo>
                    <a:pt x="26440" y="0"/>
                  </a:lnTo>
                  <a:lnTo>
                    <a:pt x="26440" y="26440"/>
                  </a:lnTo>
                  <a:lnTo>
                    <a:pt x="0" y="26440"/>
                  </a:lnTo>
                  <a:lnTo>
                    <a:pt x="0" y="34790"/>
                  </a:lnTo>
                  <a:lnTo>
                    <a:pt x="26440" y="34790"/>
                  </a:lnTo>
                  <a:lnTo>
                    <a:pt x="26440" y="61230"/>
                  </a:lnTo>
                  <a:lnTo>
                    <a:pt x="34790" y="61230"/>
                  </a:lnTo>
                  <a:lnTo>
                    <a:pt x="34790" y="34790"/>
                  </a:lnTo>
                  <a:lnTo>
                    <a:pt x="61231" y="34790"/>
                  </a:ln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3" name="filter_chain_outline_8"/>
            <p:cNvSpPr/>
            <p:nvPr/>
          </p:nvSpPr>
          <p:spPr>
            <a:xfrm>
              <a:off x="2804402" y="1959333"/>
              <a:ext cx="277578" cy="85264"/>
            </a:xfrm>
            <a:custGeom>
              <a:avLst/>
              <a:gdLst/>
              <a:ahLst/>
              <a:cxnLst/>
              <a:rect l="0" t="0" r="r" b="b"/>
              <a:pathLst>
                <a:path w="277579" h="85265">
                  <a:moveTo>
                    <a:pt x="74005" y="63885"/>
                  </a:moveTo>
                  <a:lnTo>
                    <a:pt x="70461" y="63885"/>
                  </a:lnTo>
                  <a:cubicBezTo>
                    <a:pt x="64139" y="77549"/>
                    <a:pt x="58697" y="80585"/>
                    <a:pt x="40608" y="80585"/>
                  </a:cubicBezTo>
                  <a:lnTo>
                    <a:pt x="37191" y="80585"/>
                  </a:lnTo>
                  <a:cubicBezTo>
                    <a:pt x="31119" y="80585"/>
                    <a:pt x="26058" y="80077"/>
                    <a:pt x="24920" y="79192"/>
                  </a:cubicBezTo>
                  <a:cubicBezTo>
                    <a:pt x="24162" y="78684"/>
                    <a:pt x="23908" y="77549"/>
                    <a:pt x="23908" y="75144"/>
                  </a:cubicBezTo>
                  <a:lnTo>
                    <a:pt x="23908" y="43898"/>
                  </a:lnTo>
                  <a:lnTo>
                    <a:pt x="43390" y="43898"/>
                  </a:lnTo>
                  <a:cubicBezTo>
                    <a:pt x="53764" y="43898"/>
                    <a:pt x="55662" y="45541"/>
                    <a:pt x="57305" y="56043"/>
                  </a:cubicBezTo>
                  <a:lnTo>
                    <a:pt x="60213" y="56043"/>
                  </a:lnTo>
                  <a:lnTo>
                    <a:pt x="60213" y="26690"/>
                  </a:lnTo>
                  <a:lnTo>
                    <a:pt x="57305" y="26690"/>
                  </a:lnTo>
                  <a:cubicBezTo>
                    <a:pt x="55662" y="37064"/>
                    <a:pt x="53637" y="38711"/>
                    <a:pt x="43390" y="38711"/>
                  </a:cubicBezTo>
                  <a:lnTo>
                    <a:pt x="23908" y="38711"/>
                  </a:lnTo>
                  <a:lnTo>
                    <a:pt x="23908" y="10624"/>
                  </a:lnTo>
                  <a:cubicBezTo>
                    <a:pt x="23908" y="7084"/>
                    <a:pt x="24666" y="6322"/>
                    <a:pt x="28082" y="6322"/>
                  </a:cubicBezTo>
                  <a:lnTo>
                    <a:pt x="45160" y="6322"/>
                  </a:lnTo>
                  <a:cubicBezTo>
                    <a:pt x="59455" y="6322"/>
                    <a:pt x="62238" y="8223"/>
                    <a:pt x="64389" y="19606"/>
                  </a:cubicBezTo>
                  <a:lnTo>
                    <a:pt x="67551" y="19606"/>
                  </a:lnTo>
                  <a:lnTo>
                    <a:pt x="67174" y="1516"/>
                  </a:lnTo>
                  <a:lnTo>
                    <a:pt x="0" y="1516"/>
                  </a:lnTo>
                  <a:lnTo>
                    <a:pt x="0" y="3921"/>
                  </a:lnTo>
                  <a:cubicBezTo>
                    <a:pt x="9357" y="4679"/>
                    <a:pt x="11005" y="6322"/>
                    <a:pt x="11005" y="15307"/>
                  </a:cubicBezTo>
                  <a:lnTo>
                    <a:pt x="11005" y="71477"/>
                  </a:lnTo>
                  <a:cubicBezTo>
                    <a:pt x="11005" y="80458"/>
                    <a:pt x="9230" y="82229"/>
                    <a:pt x="0" y="82860"/>
                  </a:cubicBezTo>
                  <a:lnTo>
                    <a:pt x="0" y="85265"/>
                  </a:lnTo>
                  <a:lnTo>
                    <a:pt x="68309" y="85265"/>
                  </a:lnTo>
                  <a:lnTo>
                    <a:pt x="74005" y="63885"/>
                  </a:lnTo>
                  <a:close/>
                  <a:moveTo>
                    <a:pt x="184962" y="85265"/>
                  </a:moveTo>
                  <a:lnTo>
                    <a:pt x="184962" y="82860"/>
                  </a:lnTo>
                  <a:cubicBezTo>
                    <a:pt x="175727" y="82229"/>
                    <a:pt x="173957" y="80458"/>
                    <a:pt x="173957" y="71477"/>
                  </a:cubicBezTo>
                  <a:lnTo>
                    <a:pt x="173957" y="15307"/>
                  </a:lnTo>
                  <a:cubicBezTo>
                    <a:pt x="173957" y="6322"/>
                    <a:pt x="175600" y="4679"/>
                    <a:pt x="184962" y="3921"/>
                  </a:cubicBezTo>
                  <a:lnTo>
                    <a:pt x="184962" y="1516"/>
                  </a:lnTo>
                  <a:lnTo>
                    <a:pt x="159789" y="1516"/>
                  </a:lnTo>
                  <a:lnTo>
                    <a:pt x="131829" y="65401"/>
                  </a:lnTo>
                  <a:lnTo>
                    <a:pt x="102607" y="1516"/>
                  </a:lnTo>
                  <a:lnTo>
                    <a:pt x="77556" y="1516"/>
                  </a:lnTo>
                  <a:lnTo>
                    <a:pt x="77556" y="3921"/>
                  </a:lnTo>
                  <a:cubicBezTo>
                    <a:pt x="87930" y="4552"/>
                    <a:pt x="89573" y="6072"/>
                    <a:pt x="89573" y="15307"/>
                  </a:cubicBezTo>
                  <a:lnTo>
                    <a:pt x="89573" y="66667"/>
                  </a:lnTo>
                  <a:cubicBezTo>
                    <a:pt x="89573" y="79696"/>
                    <a:pt x="87803" y="82102"/>
                    <a:pt x="77306" y="82860"/>
                  </a:cubicBezTo>
                  <a:lnTo>
                    <a:pt x="77306" y="85265"/>
                  </a:lnTo>
                  <a:lnTo>
                    <a:pt x="107032" y="85265"/>
                  </a:lnTo>
                  <a:lnTo>
                    <a:pt x="107032" y="82860"/>
                  </a:lnTo>
                  <a:cubicBezTo>
                    <a:pt x="97292" y="82356"/>
                    <a:pt x="95142" y="79446"/>
                    <a:pt x="95142" y="66667"/>
                  </a:cubicBezTo>
                  <a:lnTo>
                    <a:pt x="95142" y="15684"/>
                  </a:lnTo>
                  <a:lnTo>
                    <a:pt x="126896" y="85265"/>
                  </a:lnTo>
                  <a:lnTo>
                    <a:pt x="128665" y="85265"/>
                  </a:lnTo>
                  <a:lnTo>
                    <a:pt x="161050" y="12775"/>
                  </a:lnTo>
                  <a:lnTo>
                    <a:pt x="161050" y="70084"/>
                  </a:lnTo>
                  <a:cubicBezTo>
                    <a:pt x="161050" y="80585"/>
                    <a:pt x="159535" y="82229"/>
                    <a:pt x="149541" y="82860"/>
                  </a:cubicBezTo>
                  <a:lnTo>
                    <a:pt x="149541" y="85265"/>
                  </a:lnTo>
                  <a:lnTo>
                    <a:pt x="184962" y="85265"/>
                  </a:lnTo>
                  <a:close/>
                  <a:moveTo>
                    <a:pt x="277579" y="85265"/>
                  </a:moveTo>
                  <a:lnTo>
                    <a:pt x="277579" y="82860"/>
                  </a:lnTo>
                  <a:cubicBezTo>
                    <a:pt x="271888" y="82483"/>
                    <a:pt x="270622" y="81216"/>
                    <a:pt x="266197" y="71854"/>
                  </a:cubicBezTo>
                  <a:lnTo>
                    <a:pt x="234692" y="0"/>
                  </a:lnTo>
                  <a:lnTo>
                    <a:pt x="232165" y="0"/>
                  </a:lnTo>
                  <a:lnTo>
                    <a:pt x="205852" y="62115"/>
                  </a:lnTo>
                  <a:cubicBezTo>
                    <a:pt x="197756" y="80585"/>
                    <a:pt x="196235" y="82483"/>
                    <a:pt x="190163" y="82860"/>
                  </a:cubicBezTo>
                  <a:lnTo>
                    <a:pt x="190163" y="85265"/>
                  </a:lnTo>
                  <a:lnTo>
                    <a:pt x="215214" y="85265"/>
                  </a:lnTo>
                  <a:lnTo>
                    <a:pt x="215214" y="82860"/>
                  </a:lnTo>
                  <a:cubicBezTo>
                    <a:pt x="209142" y="82860"/>
                    <a:pt x="206610" y="81216"/>
                    <a:pt x="206610" y="77672"/>
                  </a:cubicBezTo>
                  <a:cubicBezTo>
                    <a:pt x="206610" y="76156"/>
                    <a:pt x="206991" y="74386"/>
                    <a:pt x="207622" y="72739"/>
                  </a:cubicBezTo>
                  <a:lnTo>
                    <a:pt x="213440" y="57940"/>
                  </a:lnTo>
                  <a:lnTo>
                    <a:pt x="246587" y="57940"/>
                  </a:lnTo>
                  <a:lnTo>
                    <a:pt x="251774" y="70084"/>
                  </a:lnTo>
                  <a:cubicBezTo>
                    <a:pt x="253290" y="73624"/>
                    <a:pt x="254175" y="76787"/>
                    <a:pt x="254175" y="78684"/>
                  </a:cubicBezTo>
                  <a:cubicBezTo>
                    <a:pt x="254175" y="79823"/>
                    <a:pt x="253417" y="81216"/>
                    <a:pt x="252405" y="81721"/>
                  </a:cubicBezTo>
                  <a:cubicBezTo>
                    <a:pt x="250888" y="82610"/>
                    <a:pt x="249878" y="82860"/>
                    <a:pt x="245321" y="82860"/>
                  </a:cubicBezTo>
                  <a:lnTo>
                    <a:pt x="245321" y="85265"/>
                  </a:lnTo>
                  <a:lnTo>
                    <a:pt x="277579" y="85265"/>
                  </a:lnTo>
                  <a:close/>
                  <a:moveTo>
                    <a:pt x="244817" y="52753"/>
                  </a:moveTo>
                  <a:lnTo>
                    <a:pt x="215591" y="52753"/>
                  </a:lnTo>
                  <a:lnTo>
                    <a:pt x="230141" y="17962"/>
                  </a:lnTo>
                  <a:lnTo>
                    <a:pt x="244817" y="52753"/>
                  </a:ln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4" name="filter_chain_outline_9"/>
            <p:cNvSpPr/>
            <p:nvPr/>
          </p:nvSpPr>
          <p:spPr>
            <a:xfrm>
              <a:off x="3158693" y="1986150"/>
              <a:ext cx="113859" cy="51867"/>
            </a:xfrm>
            <a:custGeom>
              <a:avLst/>
              <a:gdLst/>
              <a:ahLst/>
              <a:cxnLst/>
              <a:rect l="0" t="0" r="r" b="b"/>
              <a:pathLst>
                <a:path w="113860" h="51868">
                  <a:moveTo>
                    <a:pt x="113860" y="29476"/>
                  </a:moveTo>
                  <a:lnTo>
                    <a:pt x="113860" y="22392"/>
                  </a:lnTo>
                  <a:lnTo>
                    <a:pt x="13664" y="22392"/>
                  </a:lnTo>
                  <a:lnTo>
                    <a:pt x="28718" y="4175"/>
                  </a:lnTo>
                  <a:lnTo>
                    <a:pt x="24797" y="0"/>
                  </a:lnTo>
                  <a:lnTo>
                    <a:pt x="0" y="26063"/>
                  </a:lnTo>
                  <a:lnTo>
                    <a:pt x="24797" y="51868"/>
                  </a:lnTo>
                  <a:lnTo>
                    <a:pt x="28718" y="47696"/>
                  </a:lnTo>
                  <a:lnTo>
                    <a:pt x="13664" y="29476"/>
                  </a:lnTo>
                  <a:lnTo>
                    <a:pt x="113860" y="29476"/>
                  </a:ln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5" name="filter_chain_outline_10"/>
            <p:cNvSpPr/>
            <p:nvPr/>
          </p:nvSpPr>
          <p:spPr>
            <a:xfrm>
              <a:off x="3270636" y="2008542"/>
              <a:ext cx="64774" cy="7084"/>
            </a:xfrm>
            <a:custGeom>
              <a:avLst/>
              <a:gdLst/>
              <a:ahLst/>
              <a:cxnLst/>
              <a:rect l="0" t="0" r="r" b="b"/>
              <a:pathLst>
                <a:path w="64774" h="7084">
                  <a:moveTo>
                    <a:pt x="64774" y="7084"/>
                  </a:moveTo>
                  <a:lnTo>
                    <a:pt x="64774" y="0"/>
                  </a:lnTo>
                  <a:lnTo>
                    <a:pt x="0" y="0"/>
                  </a:lnTo>
                  <a:lnTo>
                    <a:pt x="0" y="7084"/>
                  </a:lnTo>
                  <a:lnTo>
                    <a:pt x="64774" y="7084"/>
                  </a:ln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6" name="filter_chain_outline_11"/>
            <p:cNvSpPr/>
            <p:nvPr/>
          </p:nvSpPr>
          <p:spPr>
            <a:xfrm>
              <a:off x="3410468" y="1961734"/>
              <a:ext cx="64647" cy="84256"/>
            </a:xfrm>
            <a:custGeom>
              <a:avLst/>
              <a:gdLst/>
              <a:ahLst/>
              <a:cxnLst/>
              <a:rect l="0" t="0" r="r" b="b"/>
              <a:pathLst>
                <a:path w="64647" h="84257">
                  <a:moveTo>
                    <a:pt x="64647" y="73628"/>
                  </a:moveTo>
                  <a:lnTo>
                    <a:pt x="64520" y="73374"/>
                  </a:lnTo>
                  <a:cubicBezTo>
                    <a:pt x="62746" y="73374"/>
                    <a:pt x="60599" y="77676"/>
                    <a:pt x="55285" y="77676"/>
                  </a:cubicBezTo>
                  <a:cubicBezTo>
                    <a:pt x="31373" y="77676"/>
                    <a:pt x="74894" y="0"/>
                    <a:pt x="37699" y="0"/>
                  </a:cubicBezTo>
                  <a:lnTo>
                    <a:pt x="36306" y="0"/>
                  </a:lnTo>
                  <a:cubicBezTo>
                    <a:pt x="34032" y="0"/>
                    <a:pt x="28718" y="1897"/>
                    <a:pt x="27071" y="3417"/>
                  </a:cubicBezTo>
                  <a:cubicBezTo>
                    <a:pt x="26948" y="3544"/>
                    <a:pt x="27960" y="4683"/>
                    <a:pt x="28083" y="4683"/>
                  </a:cubicBezTo>
                  <a:cubicBezTo>
                    <a:pt x="28718" y="4175"/>
                    <a:pt x="31500" y="3036"/>
                    <a:pt x="34032" y="3036"/>
                  </a:cubicBezTo>
                  <a:cubicBezTo>
                    <a:pt x="46303" y="3036"/>
                    <a:pt x="43013" y="23277"/>
                    <a:pt x="43013" y="26567"/>
                  </a:cubicBezTo>
                  <a:cubicBezTo>
                    <a:pt x="43140" y="26948"/>
                    <a:pt x="43013" y="27202"/>
                    <a:pt x="42886" y="27706"/>
                  </a:cubicBezTo>
                  <a:cubicBezTo>
                    <a:pt x="40354" y="39473"/>
                    <a:pt x="3036" y="72616"/>
                    <a:pt x="0" y="82864"/>
                  </a:cubicBezTo>
                  <a:lnTo>
                    <a:pt x="12652" y="82864"/>
                  </a:lnTo>
                  <a:cubicBezTo>
                    <a:pt x="12652" y="81598"/>
                    <a:pt x="12775" y="80332"/>
                    <a:pt x="13029" y="78942"/>
                  </a:cubicBezTo>
                  <a:cubicBezTo>
                    <a:pt x="16700" y="62750"/>
                    <a:pt x="41493" y="38207"/>
                    <a:pt x="41493" y="38080"/>
                  </a:cubicBezTo>
                  <a:lnTo>
                    <a:pt x="41620" y="38080"/>
                  </a:lnTo>
                  <a:cubicBezTo>
                    <a:pt x="40862" y="44656"/>
                    <a:pt x="29476" y="84257"/>
                    <a:pt x="50098" y="84257"/>
                  </a:cubicBezTo>
                  <a:cubicBezTo>
                    <a:pt x="55662" y="84257"/>
                    <a:pt x="64393" y="75148"/>
                    <a:pt x="64647" y="73628"/>
                  </a:cubicBez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7" name="filter_chain_outline_12"/>
            <p:cNvSpPr/>
            <p:nvPr/>
          </p:nvSpPr>
          <p:spPr>
            <a:xfrm>
              <a:off x="3484906" y="1951982"/>
              <a:ext cx="36004" cy="40155"/>
            </a:xfrm>
            <a:custGeom>
              <a:avLst/>
              <a:gdLst/>
              <a:ahLst/>
              <a:cxnLst/>
              <a:rect l="0" t="0" r="r" b="b"/>
              <a:pathLst>
                <a:path w="36004" h="40156">
                  <a:moveTo>
                    <a:pt x="36004" y="12037"/>
                  </a:moveTo>
                  <a:cubicBezTo>
                    <a:pt x="36004" y="10271"/>
                    <a:pt x="34552" y="8406"/>
                    <a:pt x="32683" y="8406"/>
                  </a:cubicBezTo>
                  <a:cubicBezTo>
                    <a:pt x="30297" y="8406"/>
                    <a:pt x="21788" y="16915"/>
                    <a:pt x="18780" y="18677"/>
                  </a:cubicBezTo>
                  <a:cubicBezTo>
                    <a:pt x="18780" y="12867"/>
                    <a:pt x="21685" y="7057"/>
                    <a:pt x="21685" y="3528"/>
                  </a:cubicBezTo>
                  <a:cubicBezTo>
                    <a:pt x="21685" y="1349"/>
                    <a:pt x="20233" y="0"/>
                    <a:pt x="18054" y="0"/>
                  </a:cubicBezTo>
                  <a:cubicBezTo>
                    <a:pt x="15978" y="0"/>
                    <a:pt x="14732" y="1453"/>
                    <a:pt x="14732" y="3528"/>
                  </a:cubicBezTo>
                  <a:cubicBezTo>
                    <a:pt x="14732" y="7576"/>
                    <a:pt x="17224" y="13073"/>
                    <a:pt x="17224" y="18677"/>
                  </a:cubicBezTo>
                  <a:cubicBezTo>
                    <a:pt x="13903" y="16705"/>
                    <a:pt x="5810" y="7989"/>
                    <a:pt x="3631" y="7989"/>
                  </a:cubicBezTo>
                  <a:cubicBezTo>
                    <a:pt x="1762" y="7989"/>
                    <a:pt x="103" y="9755"/>
                    <a:pt x="103" y="11620"/>
                  </a:cubicBezTo>
                  <a:cubicBezTo>
                    <a:pt x="103" y="15252"/>
                    <a:pt x="12347" y="17744"/>
                    <a:pt x="16395" y="20026"/>
                  </a:cubicBezTo>
                  <a:cubicBezTo>
                    <a:pt x="12037" y="22515"/>
                    <a:pt x="3941" y="23761"/>
                    <a:pt x="1869" y="25110"/>
                  </a:cubicBezTo>
                  <a:cubicBezTo>
                    <a:pt x="829" y="25837"/>
                    <a:pt x="0" y="26769"/>
                    <a:pt x="0" y="28119"/>
                  </a:cubicBezTo>
                  <a:cubicBezTo>
                    <a:pt x="0" y="29988"/>
                    <a:pt x="1453" y="31647"/>
                    <a:pt x="3322" y="31647"/>
                  </a:cubicBezTo>
                  <a:cubicBezTo>
                    <a:pt x="5707" y="31647"/>
                    <a:pt x="14113" y="23241"/>
                    <a:pt x="17224" y="21479"/>
                  </a:cubicBezTo>
                  <a:cubicBezTo>
                    <a:pt x="17224" y="27186"/>
                    <a:pt x="14319" y="32996"/>
                    <a:pt x="14319" y="36628"/>
                  </a:cubicBezTo>
                  <a:cubicBezTo>
                    <a:pt x="14319" y="38703"/>
                    <a:pt x="15875" y="40156"/>
                    <a:pt x="17951" y="40156"/>
                  </a:cubicBezTo>
                  <a:cubicBezTo>
                    <a:pt x="20026" y="40156"/>
                    <a:pt x="21272" y="38600"/>
                    <a:pt x="21272" y="36628"/>
                  </a:cubicBezTo>
                  <a:cubicBezTo>
                    <a:pt x="21272" y="32373"/>
                    <a:pt x="18883" y="26980"/>
                    <a:pt x="18883" y="21479"/>
                  </a:cubicBezTo>
                  <a:cubicBezTo>
                    <a:pt x="22102" y="23348"/>
                    <a:pt x="30297" y="32064"/>
                    <a:pt x="32373" y="32064"/>
                  </a:cubicBezTo>
                  <a:cubicBezTo>
                    <a:pt x="34242" y="32064"/>
                    <a:pt x="35901" y="30298"/>
                    <a:pt x="35901" y="28432"/>
                  </a:cubicBezTo>
                  <a:cubicBezTo>
                    <a:pt x="35901" y="27083"/>
                    <a:pt x="34969" y="26146"/>
                    <a:pt x="33929" y="25527"/>
                  </a:cubicBezTo>
                  <a:cubicBezTo>
                    <a:pt x="31230" y="23761"/>
                    <a:pt x="24071" y="22622"/>
                    <a:pt x="19610" y="20026"/>
                  </a:cubicBezTo>
                  <a:cubicBezTo>
                    <a:pt x="24487" y="17121"/>
                    <a:pt x="31127" y="16705"/>
                    <a:pt x="34135" y="14942"/>
                  </a:cubicBezTo>
                  <a:cubicBezTo>
                    <a:pt x="35278" y="14319"/>
                    <a:pt x="36004" y="13387"/>
                    <a:pt x="36004" y="12037"/>
                  </a:cubicBez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8" name="filter_chain_outline_13"/>
            <p:cNvSpPr/>
            <p:nvPr/>
          </p:nvSpPr>
          <p:spPr>
            <a:xfrm>
              <a:off x="3485631" y="2026166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4" y="62258"/>
                  </a:cubicBezTo>
                  <a:cubicBezTo>
                    <a:pt x="42541" y="65472"/>
                    <a:pt x="41196" y="66615"/>
                    <a:pt x="39429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3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3"/>
                    <a:pt x="30817" y="35592"/>
                    <a:pt x="20233" y="44101"/>
                  </a:cubicBezTo>
                  <a:lnTo>
                    <a:pt x="15149" y="47938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2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9" name="beta_update"/>
          <p:cNvGrpSpPr/>
          <p:nvPr/>
        </p:nvGrpSpPr>
        <p:grpSpPr>
          <a:xfrm>
            <a:off x="150440" y="2532000"/>
            <a:ext cx="1370151" cy="130337"/>
            <a:chOff x="150440" y="2532000"/>
            <a:chExt cx="1370151" cy="130337"/>
          </a:xfrm>
        </p:grpSpPr>
        <p:sp>
          <p:nvSpPr>
            <p:cNvPr id="239" name="beta_update_outline_0"/>
            <p:cNvSpPr/>
            <p:nvPr/>
          </p:nvSpPr>
          <p:spPr>
            <a:xfrm>
              <a:off x="150440" y="2552945"/>
              <a:ext cx="76156" cy="109049"/>
            </a:xfrm>
            <a:custGeom>
              <a:avLst/>
              <a:gdLst/>
              <a:ahLst/>
              <a:cxnLst/>
              <a:rect l="0" t="0" r="r" b="b"/>
              <a:pathLst>
                <a:path w="76156" h="109049">
                  <a:moveTo>
                    <a:pt x="76156" y="14550"/>
                  </a:moveTo>
                  <a:cubicBezTo>
                    <a:pt x="76156" y="4556"/>
                    <a:pt x="68060" y="0"/>
                    <a:pt x="57563" y="0"/>
                  </a:cubicBezTo>
                  <a:cubicBezTo>
                    <a:pt x="44152" y="0"/>
                    <a:pt x="31123" y="8981"/>
                    <a:pt x="27579" y="21761"/>
                  </a:cubicBezTo>
                  <a:lnTo>
                    <a:pt x="8223" y="92353"/>
                  </a:lnTo>
                  <a:cubicBezTo>
                    <a:pt x="6072" y="100322"/>
                    <a:pt x="1266" y="107406"/>
                    <a:pt x="0" y="109049"/>
                  </a:cubicBezTo>
                  <a:lnTo>
                    <a:pt x="11259" y="109049"/>
                  </a:lnTo>
                  <a:cubicBezTo>
                    <a:pt x="11386" y="109049"/>
                    <a:pt x="13410" y="108037"/>
                    <a:pt x="17586" y="92226"/>
                  </a:cubicBezTo>
                  <a:lnTo>
                    <a:pt x="21888" y="75906"/>
                  </a:lnTo>
                  <a:lnTo>
                    <a:pt x="22011" y="75906"/>
                  </a:lnTo>
                  <a:cubicBezTo>
                    <a:pt x="22011" y="76033"/>
                    <a:pt x="26186" y="85015"/>
                    <a:pt x="38965" y="85015"/>
                  </a:cubicBezTo>
                  <a:cubicBezTo>
                    <a:pt x="57940" y="85015"/>
                    <a:pt x="70719" y="70846"/>
                    <a:pt x="70719" y="56297"/>
                  </a:cubicBezTo>
                  <a:cubicBezTo>
                    <a:pt x="70719" y="40485"/>
                    <a:pt x="56424" y="38080"/>
                    <a:pt x="56297" y="38080"/>
                  </a:cubicBezTo>
                  <a:lnTo>
                    <a:pt x="56297" y="37572"/>
                  </a:lnTo>
                  <a:cubicBezTo>
                    <a:pt x="56424" y="37572"/>
                    <a:pt x="76156" y="33020"/>
                    <a:pt x="76156" y="14550"/>
                  </a:cubicBezTo>
                  <a:close/>
                  <a:moveTo>
                    <a:pt x="66163" y="14296"/>
                  </a:moveTo>
                  <a:cubicBezTo>
                    <a:pt x="66163" y="20118"/>
                    <a:pt x="62873" y="34413"/>
                    <a:pt x="52753" y="34413"/>
                  </a:cubicBezTo>
                  <a:cubicBezTo>
                    <a:pt x="50098" y="34413"/>
                    <a:pt x="48073" y="33905"/>
                    <a:pt x="46049" y="33905"/>
                  </a:cubicBezTo>
                  <a:cubicBezTo>
                    <a:pt x="42632" y="33905"/>
                    <a:pt x="40231" y="36814"/>
                    <a:pt x="40231" y="39092"/>
                  </a:cubicBezTo>
                  <a:cubicBezTo>
                    <a:pt x="40231" y="40485"/>
                    <a:pt x="41243" y="41620"/>
                    <a:pt x="43517" y="41620"/>
                  </a:cubicBezTo>
                  <a:cubicBezTo>
                    <a:pt x="47061" y="41620"/>
                    <a:pt x="47946" y="40989"/>
                    <a:pt x="50856" y="40989"/>
                  </a:cubicBezTo>
                  <a:cubicBezTo>
                    <a:pt x="57182" y="40989"/>
                    <a:pt x="59964" y="47819"/>
                    <a:pt x="59964" y="54904"/>
                  </a:cubicBezTo>
                  <a:cubicBezTo>
                    <a:pt x="59964" y="67556"/>
                    <a:pt x="52376" y="79196"/>
                    <a:pt x="38838" y="79196"/>
                  </a:cubicBezTo>
                  <a:cubicBezTo>
                    <a:pt x="30234" y="79196"/>
                    <a:pt x="24670" y="74767"/>
                    <a:pt x="24670" y="67429"/>
                  </a:cubicBezTo>
                  <a:cubicBezTo>
                    <a:pt x="24670" y="65913"/>
                    <a:pt x="24924" y="64266"/>
                    <a:pt x="25428" y="62496"/>
                  </a:cubicBezTo>
                  <a:lnTo>
                    <a:pt x="36814" y="21888"/>
                  </a:lnTo>
                  <a:cubicBezTo>
                    <a:pt x="39092" y="13664"/>
                    <a:pt x="44910" y="3544"/>
                    <a:pt x="56297" y="3544"/>
                  </a:cubicBezTo>
                  <a:cubicBezTo>
                    <a:pt x="63508" y="3544"/>
                    <a:pt x="66163" y="8477"/>
                    <a:pt x="66163" y="14296"/>
                  </a:cubicBez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0" name="beta_update_outline_1"/>
            <p:cNvSpPr/>
            <p:nvPr/>
          </p:nvSpPr>
          <p:spPr>
            <a:xfrm>
              <a:off x="234576" y="2590325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3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4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4"/>
                    <a:pt x="30817" y="35592"/>
                    <a:pt x="20233" y="44101"/>
                  </a:cubicBezTo>
                  <a:lnTo>
                    <a:pt x="15149" y="47939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3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1" name="beta_update_outline_2"/>
            <p:cNvSpPr/>
            <p:nvPr/>
          </p:nvSpPr>
          <p:spPr>
            <a:xfrm>
              <a:off x="339249" y="2577361"/>
              <a:ext cx="113859" cy="51867"/>
            </a:xfrm>
            <a:custGeom>
              <a:avLst/>
              <a:gdLst/>
              <a:ahLst/>
              <a:cxnLst/>
              <a:rect l="0" t="0" r="r" b="b"/>
              <a:pathLst>
                <a:path w="113860" h="51868">
                  <a:moveTo>
                    <a:pt x="113860" y="29476"/>
                  </a:moveTo>
                  <a:lnTo>
                    <a:pt x="113860" y="22392"/>
                  </a:lnTo>
                  <a:lnTo>
                    <a:pt x="13664" y="22392"/>
                  </a:lnTo>
                  <a:lnTo>
                    <a:pt x="28718" y="4175"/>
                  </a:lnTo>
                  <a:lnTo>
                    <a:pt x="24797" y="0"/>
                  </a:lnTo>
                  <a:lnTo>
                    <a:pt x="0" y="26063"/>
                  </a:lnTo>
                  <a:lnTo>
                    <a:pt x="24797" y="51868"/>
                  </a:lnTo>
                  <a:lnTo>
                    <a:pt x="28718" y="47696"/>
                  </a:lnTo>
                  <a:lnTo>
                    <a:pt x="13664" y="29476"/>
                  </a:lnTo>
                  <a:lnTo>
                    <a:pt x="113860" y="29476"/>
                  </a:ln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2" name="beta_update_outline_3"/>
            <p:cNvSpPr/>
            <p:nvPr/>
          </p:nvSpPr>
          <p:spPr>
            <a:xfrm>
              <a:off x="514833" y="2546369"/>
              <a:ext cx="26694" cy="113855"/>
            </a:xfrm>
            <a:custGeom>
              <a:avLst/>
              <a:gdLst/>
              <a:ahLst/>
              <a:cxnLst/>
              <a:rect l="0" t="0" r="r" b="b"/>
              <a:pathLst>
                <a:path w="26694" h="113856">
                  <a:moveTo>
                    <a:pt x="26694" y="110692"/>
                  </a:moveTo>
                  <a:lnTo>
                    <a:pt x="15817" y="110692"/>
                  </a:lnTo>
                  <a:cubicBezTo>
                    <a:pt x="11641" y="110692"/>
                    <a:pt x="9616" y="108541"/>
                    <a:pt x="9616" y="104116"/>
                  </a:cubicBezTo>
                  <a:lnTo>
                    <a:pt x="9616" y="8727"/>
                  </a:lnTo>
                  <a:cubicBezTo>
                    <a:pt x="9616" y="4806"/>
                    <a:pt x="11260" y="3163"/>
                    <a:pt x="15309" y="3163"/>
                  </a:cubicBezTo>
                  <a:lnTo>
                    <a:pt x="26694" y="3163"/>
                  </a:lnTo>
                  <a:lnTo>
                    <a:pt x="26694" y="0"/>
                  </a:lnTo>
                  <a:lnTo>
                    <a:pt x="0" y="0"/>
                  </a:lnTo>
                  <a:lnTo>
                    <a:pt x="0" y="113856"/>
                  </a:lnTo>
                  <a:lnTo>
                    <a:pt x="26694" y="113856"/>
                  </a:lnTo>
                  <a:lnTo>
                    <a:pt x="26694" y="110692"/>
                  </a:ln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3" name="beta_update_outline_4"/>
            <p:cNvSpPr/>
            <p:nvPr/>
          </p:nvSpPr>
          <p:spPr>
            <a:xfrm>
              <a:off x="544318" y="2552945"/>
              <a:ext cx="76156" cy="109049"/>
            </a:xfrm>
            <a:custGeom>
              <a:avLst/>
              <a:gdLst/>
              <a:ahLst/>
              <a:cxnLst/>
              <a:rect l="0" t="0" r="r" b="b"/>
              <a:pathLst>
                <a:path w="76156" h="109049">
                  <a:moveTo>
                    <a:pt x="76156" y="14550"/>
                  </a:moveTo>
                  <a:cubicBezTo>
                    <a:pt x="76156" y="4556"/>
                    <a:pt x="68060" y="0"/>
                    <a:pt x="57563" y="0"/>
                  </a:cubicBezTo>
                  <a:cubicBezTo>
                    <a:pt x="44152" y="0"/>
                    <a:pt x="31123" y="8981"/>
                    <a:pt x="27579" y="21761"/>
                  </a:cubicBezTo>
                  <a:lnTo>
                    <a:pt x="8223" y="92353"/>
                  </a:lnTo>
                  <a:cubicBezTo>
                    <a:pt x="6072" y="100322"/>
                    <a:pt x="1266" y="107406"/>
                    <a:pt x="0" y="109049"/>
                  </a:cubicBezTo>
                  <a:lnTo>
                    <a:pt x="11259" y="109049"/>
                  </a:lnTo>
                  <a:cubicBezTo>
                    <a:pt x="11386" y="109049"/>
                    <a:pt x="13410" y="108037"/>
                    <a:pt x="17586" y="92226"/>
                  </a:cubicBezTo>
                  <a:lnTo>
                    <a:pt x="21888" y="75906"/>
                  </a:lnTo>
                  <a:lnTo>
                    <a:pt x="22011" y="75906"/>
                  </a:lnTo>
                  <a:cubicBezTo>
                    <a:pt x="22011" y="76033"/>
                    <a:pt x="26186" y="85015"/>
                    <a:pt x="38965" y="85015"/>
                  </a:cubicBezTo>
                  <a:cubicBezTo>
                    <a:pt x="57940" y="85015"/>
                    <a:pt x="70719" y="70846"/>
                    <a:pt x="70719" y="56297"/>
                  </a:cubicBezTo>
                  <a:cubicBezTo>
                    <a:pt x="70719" y="40485"/>
                    <a:pt x="56424" y="38080"/>
                    <a:pt x="56297" y="38080"/>
                  </a:cubicBezTo>
                  <a:lnTo>
                    <a:pt x="56297" y="37572"/>
                  </a:lnTo>
                  <a:cubicBezTo>
                    <a:pt x="56424" y="37572"/>
                    <a:pt x="76156" y="33020"/>
                    <a:pt x="76156" y="14550"/>
                  </a:cubicBezTo>
                  <a:close/>
                  <a:moveTo>
                    <a:pt x="66163" y="14296"/>
                  </a:moveTo>
                  <a:cubicBezTo>
                    <a:pt x="66163" y="20118"/>
                    <a:pt x="62873" y="34413"/>
                    <a:pt x="52753" y="34413"/>
                  </a:cubicBezTo>
                  <a:cubicBezTo>
                    <a:pt x="50098" y="34413"/>
                    <a:pt x="48073" y="33905"/>
                    <a:pt x="46049" y="33905"/>
                  </a:cubicBezTo>
                  <a:cubicBezTo>
                    <a:pt x="42632" y="33905"/>
                    <a:pt x="40231" y="36814"/>
                    <a:pt x="40231" y="39092"/>
                  </a:cubicBezTo>
                  <a:cubicBezTo>
                    <a:pt x="40231" y="40485"/>
                    <a:pt x="41243" y="41620"/>
                    <a:pt x="43517" y="41620"/>
                  </a:cubicBezTo>
                  <a:cubicBezTo>
                    <a:pt x="47061" y="41620"/>
                    <a:pt x="47946" y="40989"/>
                    <a:pt x="50856" y="40989"/>
                  </a:cubicBezTo>
                  <a:cubicBezTo>
                    <a:pt x="57182" y="40989"/>
                    <a:pt x="59964" y="47819"/>
                    <a:pt x="59964" y="54904"/>
                  </a:cubicBezTo>
                  <a:cubicBezTo>
                    <a:pt x="59964" y="67556"/>
                    <a:pt x="52376" y="79196"/>
                    <a:pt x="38838" y="79196"/>
                  </a:cubicBezTo>
                  <a:cubicBezTo>
                    <a:pt x="30234" y="79196"/>
                    <a:pt x="24670" y="74767"/>
                    <a:pt x="24670" y="67429"/>
                  </a:cubicBezTo>
                  <a:cubicBezTo>
                    <a:pt x="24670" y="65913"/>
                    <a:pt x="24924" y="64266"/>
                    <a:pt x="25428" y="62496"/>
                  </a:cubicBezTo>
                  <a:lnTo>
                    <a:pt x="36814" y="21888"/>
                  </a:lnTo>
                  <a:cubicBezTo>
                    <a:pt x="39092" y="13664"/>
                    <a:pt x="44910" y="3544"/>
                    <a:pt x="56297" y="3544"/>
                  </a:cubicBezTo>
                  <a:cubicBezTo>
                    <a:pt x="63508" y="3544"/>
                    <a:pt x="66163" y="8477"/>
                    <a:pt x="66163" y="14296"/>
                  </a:cubicBez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4" name="beta_update_outline_5"/>
            <p:cNvSpPr/>
            <p:nvPr/>
          </p:nvSpPr>
          <p:spPr>
            <a:xfrm>
              <a:off x="628454" y="2590325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3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4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4"/>
                    <a:pt x="30817" y="35592"/>
                    <a:pt x="20233" y="44101"/>
                  </a:cubicBezTo>
                  <a:lnTo>
                    <a:pt x="15149" y="47939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3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7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5" name="beta_update_outline_6"/>
            <p:cNvSpPr/>
            <p:nvPr/>
          </p:nvSpPr>
          <p:spPr>
            <a:xfrm>
              <a:off x="726090" y="2570785"/>
              <a:ext cx="64774" cy="65023"/>
            </a:xfrm>
            <a:custGeom>
              <a:avLst/>
              <a:gdLst/>
              <a:ahLst/>
              <a:cxnLst/>
              <a:rect l="0" t="0" r="r" b="b"/>
              <a:pathLst>
                <a:path w="64774" h="65024">
                  <a:moveTo>
                    <a:pt x="28214" y="28337"/>
                  </a:moveTo>
                  <a:lnTo>
                    <a:pt x="0" y="28337"/>
                  </a:lnTo>
                  <a:lnTo>
                    <a:pt x="0" y="36687"/>
                  </a:lnTo>
                  <a:lnTo>
                    <a:pt x="28214" y="36687"/>
                  </a:lnTo>
                  <a:lnTo>
                    <a:pt x="28214" y="65024"/>
                  </a:lnTo>
                  <a:lnTo>
                    <a:pt x="36560" y="65024"/>
                  </a:lnTo>
                  <a:lnTo>
                    <a:pt x="36560" y="36687"/>
                  </a:lnTo>
                  <a:lnTo>
                    <a:pt x="64774" y="36687"/>
                  </a:lnTo>
                  <a:lnTo>
                    <a:pt x="64774" y="28337"/>
                  </a:lnTo>
                  <a:lnTo>
                    <a:pt x="36560" y="28337"/>
                  </a:lnTo>
                  <a:lnTo>
                    <a:pt x="36560" y="0"/>
                  </a:lnTo>
                  <a:lnTo>
                    <a:pt x="28214" y="0"/>
                  </a:lnTo>
                  <a:lnTo>
                    <a:pt x="28214" y="28337"/>
                  </a:ln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6" name="beta_update_outline_7"/>
            <p:cNvSpPr/>
            <p:nvPr/>
          </p:nvSpPr>
          <p:spPr>
            <a:xfrm>
              <a:off x="829628" y="2580020"/>
              <a:ext cx="57435" cy="81974"/>
            </a:xfrm>
            <a:custGeom>
              <a:avLst/>
              <a:gdLst/>
              <a:ahLst/>
              <a:cxnLst/>
              <a:rect l="0" t="0" r="r" b="b"/>
              <a:pathLst>
                <a:path w="57436" h="81974">
                  <a:moveTo>
                    <a:pt x="57436" y="10120"/>
                  </a:moveTo>
                  <a:cubicBezTo>
                    <a:pt x="57436" y="3290"/>
                    <a:pt x="53892" y="0"/>
                    <a:pt x="46807" y="0"/>
                  </a:cubicBezTo>
                  <a:cubicBezTo>
                    <a:pt x="35171" y="0"/>
                    <a:pt x="23404" y="10374"/>
                    <a:pt x="23277" y="10374"/>
                  </a:cubicBezTo>
                  <a:cubicBezTo>
                    <a:pt x="23277" y="10374"/>
                    <a:pt x="23531" y="9866"/>
                    <a:pt x="23531" y="8223"/>
                  </a:cubicBezTo>
                  <a:cubicBezTo>
                    <a:pt x="23531" y="5060"/>
                    <a:pt x="22142" y="0"/>
                    <a:pt x="13283" y="0"/>
                  </a:cubicBezTo>
                  <a:cubicBezTo>
                    <a:pt x="4429" y="0"/>
                    <a:pt x="885" y="8096"/>
                    <a:pt x="885" y="11005"/>
                  </a:cubicBezTo>
                  <a:cubicBezTo>
                    <a:pt x="885" y="11763"/>
                    <a:pt x="1012" y="12144"/>
                    <a:pt x="1393" y="12144"/>
                  </a:cubicBezTo>
                  <a:cubicBezTo>
                    <a:pt x="4302" y="12144"/>
                    <a:pt x="2909" y="4552"/>
                    <a:pt x="10755" y="4552"/>
                  </a:cubicBezTo>
                  <a:cubicBezTo>
                    <a:pt x="12779" y="4552"/>
                    <a:pt x="13664" y="6072"/>
                    <a:pt x="13664" y="8473"/>
                  </a:cubicBezTo>
                  <a:cubicBezTo>
                    <a:pt x="13664" y="11890"/>
                    <a:pt x="12144" y="16950"/>
                    <a:pt x="10374" y="23531"/>
                  </a:cubicBezTo>
                  <a:lnTo>
                    <a:pt x="5060" y="43013"/>
                  </a:lnTo>
                  <a:cubicBezTo>
                    <a:pt x="3036" y="50221"/>
                    <a:pt x="762" y="54523"/>
                    <a:pt x="0" y="55789"/>
                  </a:cubicBezTo>
                  <a:lnTo>
                    <a:pt x="11894" y="55789"/>
                  </a:lnTo>
                  <a:cubicBezTo>
                    <a:pt x="12144" y="54650"/>
                    <a:pt x="13029" y="50097"/>
                    <a:pt x="15057" y="43013"/>
                  </a:cubicBezTo>
                  <a:lnTo>
                    <a:pt x="22646" y="16065"/>
                  </a:lnTo>
                  <a:cubicBezTo>
                    <a:pt x="23154" y="14422"/>
                    <a:pt x="31627" y="5945"/>
                    <a:pt x="39473" y="5945"/>
                  </a:cubicBezTo>
                  <a:cubicBezTo>
                    <a:pt x="45164" y="5945"/>
                    <a:pt x="46934" y="8350"/>
                    <a:pt x="46934" y="12017"/>
                  </a:cubicBezTo>
                  <a:cubicBezTo>
                    <a:pt x="46934" y="14168"/>
                    <a:pt x="46303" y="16950"/>
                    <a:pt x="45545" y="19733"/>
                  </a:cubicBezTo>
                  <a:lnTo>
                    <a:pt x="33020" y="64139"/>
                  </a:lnTo>
                  <a:cubicBezTo>
                    <a:pt x="31123" y="70842"/>
                    <a:pt x="29730" y="80458"/>
                    <a:pt x="29476" y="81974"/>
                  </a:cubicBezTo>
                  <a:lnTo>
                    <a:pt x="40608" y="81974"/>
                  </a:lnTo>
                  <a:lnTo>
                    <a:pt x="40608" y="81470"/>
                  </a:lnTo>
                  <a:cubicBezTo>
                    <a:pt x="40608" y="79446"/>
                    <a:pt x="40608" y="72993"/>
                    <a:pt x="43140" y="64266"/>
                  </a:cubicBezTo>
                  <a:lnTo>
                    <a:pt x="55916" y="19229"/>
                  </a:lnTo>
                  <a:cubicBezTo>
                    <a:pt x="56928" y="15685"/>
                    <a:pt x="57436" y="12648"/>
                    <a:pt x="57436" y="10120"/>
                  </a:cubicBez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7" name="beta_update_outline_8"/>
            <p:cNvSpPr/>
            <p:nvPr/>
          </p:nvSpPr>
          <p:spPr>
            <a:xfrm>
              <a:off x="905410" y="2545103"/>
              <a:ext cx="32384" cy="116260"/>
            </a:xfrm>
            <a:custGeom>
              <a:avLst/>
              <a:gdLst/>
              <a:ahLst/>
              <a:cxnLst/>
              <a:rect l="0" t="0" r="r" b="b"/>
              <a:pathLst>
                <a:path w="32385" h="116261">
                  <a:moveTo>
                    <a:pt x="31246" y="0"/>
                  </a:moveTo>
                  <a:cubicBezTo>
                    <a:pt x="12902" y="11890"/>
                    <a:pt x="0" y="32385"/>
                    <a:pt x="0" y="58194"/>
                  </a:cubicBezTo>
                  <a:cubicBezTo>
                    <a:pt x="0" y="81725"/>
                    <a:pt x="13410" y="105505"/>
                    <a:pt x="30869" y="116261"/>
                  </a:cubicBezTo>
                  <a:lnTo>
                    <a:pt x="32385" y="114237"/>
                  </a:lnTo>
                  <a:cubicBezTo>
                    <a:pt x="15689" y="101080"/>
                    <a:pt x="10878" y="85773"/>
                    <a:pt x="10878" y="57813"/>
                  </a:cubicBezTo>
                  <a:cubicBezTo>
                    <a:pt x="10878" y="29730"/>
                    <a:pt x="16065" y="15180"/>
                    <a:pt x="32385" y="2024"/>
                  </a:cubicBezTo>
                  <a:lnTo>
                    <a:pt x="31246" y="0"/>
                  </a:ln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8" name="beta_update_outline_9"/>
            <p:cNvSpPr/>
            <p:nvPr/>
          </p:nvSpPr>
          <p:spPr>
            <a:xfrm>
              <a:off x="978098" y="2532000"/>
              <a:ext cx="39342" cy="6830"/>
            </a:xfrm>
            <a:custGeom>
              <a:avLst/>
              <a:gdLst/>
              <a:ahLst/>
              <a:cxnLst/>
              <a:rect l="0" t="0" r="r" b="b"/>
              <a:pathLst>
                <a:path w="39342" h="6830">
                  <a:moveTo>
                    <a:pt x="39342" y="6830"/>
                  </a:moveTo>
                  <a:lnTo>
                    <a:pt x="39342" y="0"/>
                  </a:lnTo>
                  <a:lnTo>
                    <a:pt x="0" y="0"/>
                  </a:lnTo>
                  <a:lnTo>
                    <a:pt x="0" y="6830"/>
                  </a:lnTo>
                  <a:lnTo>
                    <a:pt x="39342" y="6830"/>
                  </a:ln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9" name="beta_update_outline_10"/>
            <p:cNvSpPr/>
            <p:nvPr/>
          </p:nvSpPr>
          <p:spPr>
            <a:xfrm>
              <a:off x="949061" y="2553199"/>
              <a:ext cx="62872" cy="84887"/>
            </a:xfrm>
            <a:custGeom>
              <a:avLst/>
              <a:gdLst/>
              <a:ahLst/>
              <a:cxnLst/>
              <a:rect l="0" t="0" r="r" b="b"/>
              <a:pathLst>
                <a:path w="62873" h="84888">
                  <a:moveTo>
                    <a:pt x="62873" y="2024"/>
                  </a:moveTo>
                  <a:lnTo>
                    <a:pt x="62873" y="0"/>
                  </a:lnTo>
                  <a:lnTo>
                    <a:pt x="30742" y="0"/>
                  </a:lnTo>
                  <a:lnTo>
                    <a:pt x="30742" y="2024"/>
                  </a:lnTo>
                  <a:cubicBezTo>
                    <a:pt x="38711" y="2782"/>
                    <a:pt x="40481" y="3794"/>
                    <a:pt x="40481" y="7211"/>
                  </a:cubicBezTo>
                  <a:cubicBezTo>
                    <a:pt x="40481" y="9108"/>
                    <a:pt x="39977" y="11640"/>
                    <a:pt x="38965" y="15307"/>
                  </a:cubicBezTo>
                  <a:lnTo>
                    <a:pt x="22392" y="74132"/>
                  </a:lnTo>
                  <a:cubicBezTo>
                    <a:pt x="20999" y="79065"/>
                    <a:pt x="19229" y="80966"/>
                    <a:pt x="16192" y="80966"/>
                  </a:cubicBezTo>
                  <a:cubicBezTo>
                    <a:pt x="13156" y="80966"/>
                    <a:pt x="11763" y="79446"/>
                    <a:pt x="11763" y="75906"/>
                  </a:cubicBezTo>
                  <a:cubicBezTo>
                    <a:pt x="11763" y="75271"/>
                    <a:pt x="11763" y="74640"/>
                    <a:pt x="11890" y="74005"/>
                  </a:cubicBezTo>
                  <a:lnTo>
                    <a:pt x="11890" y="72870"/>
                  </a:lnTo>
                  <a:cubicBezTo>
                    <a:pt x="11890" y="69707"/>
                    <a:pt x="9108" y="66921"/>
                    <a:pt x="5691" y="66921"/>
                  </a:cubicBezTo>
                  <a:cubicBezTo>
                    <a:pt x="2278" y="66921"/>
                    <a:pt x="0" y="69707"/>
                    <a:pt x="0" y="73755"/>
                  </a:cubicBezTo>
                  <a:cubicBezTo>
                    <a:pt x="0" y="80458"/>
                    <a:pt x="5945" y="84888"/>
                    <a:pt x="14800" y="84888"/>
                  </a:cubicBezTo>
                  <a:cubicBezTo>
                    <a:pt x="21253" y="84888"/>
                    <a:pt x="26944" y="82356"/>
                    <a:pt x="30865" y="77676"/>
                  </a:cubicBezTo>
                  <a:cubicBezTo>
                    <a:pt x="34282" y="73628"/>
                    <a:pt x="36814" y="67933"/>
                    <a:pt x="39469" y="58321"/>
                  </a:cubicBezTo>
                  <a:lnTo>
                    <a:pt x="52499" y="11386"/>
                  </a:lnTo>
                  <a:cubicBezTo>
                    <a:pt x="54777" y="3794"/>
                    <a:pt x="55662" y="3036"/>
                    <a:pt x="62873" y="2024"/>
                  </a:cubicBez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0" name="beta_update_outline_11"/>
            <p:cNvSpPr/>
            <p:nvPr/>
          </p:nvSpPr>
          <p:spPr>
            <a:xfrm>
              <a:off x="1012325" y="2590325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4" y="62258"/>
                  </a:cubicBezTo>
                  <a:cubicBezTo>
                    <a:pt x="42541" y="65472"/>
                    <a:pt x="41196" y="66615"/>
                    <a:pt x="39429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3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4"/>
                    <a:pt x="30817" y="35592"/>
                    <a:pt x="20233" y="44101"/>
                  </a:cubicBezTo>
                  <a:lnTo>
                    <a:pt x="15149" y="47939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3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7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1" name="beta_update_outline_12"/>
            <p:cNvSpPr/>
            <p:nvPr/>
          </p:nvSpPr>
          <p:spPr>
            <a:xfrm>
              <a:off x="1109960" y="2599752"/>
              <a:ext cx="64774" cy="7084"/>
            </a:xfrm>
            <a:custGeom>
              <a:avLst/>
              <a:gdLst/>
              <a:ahLst/>
              <a:cxnLst/>
              <a:rect l="0" t="0" r="r" b="b"/>
              <a:pathLst>
                <a:path w="64774" h="7084">
                  <a:moveTo>
                    <a:pt x="64774" y="7084"/>
                  </a:moveTo>
                  <a:lnTo>
                    <a:pt x="64774" y="0"/>
                  </a:lnTo>
                  <a:lnTo>
                    <a:pt x="0" y="0"/>
                  </a:lnTo>
                  <a:lnTo>
                    <a:pt x="0" y="7084"/>
                  </a:lnTo>
                  <a:lnTo>
                    <a:pt x="64774" y="7084"/>
                  </a:ln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2" name="beta_update_outline_13"/>
            <p:cNvSpPr/>
            <p:nvPr/>
          </p:nvSpPr>
          <p:spPr>
            <a:xfrm>
              <a:off x="1214632" y="2553199"/>
              <a:ext cx="75398" cy="82609"/>
            </a:xfrm>
            <a:custGeom>
              <a:avLst/>
              <a:gdLst/>
              <a:ahLst/>
              <a:cxnLst/>
              <a:rect l="0" t="0" r="r" b="b"/>
              <a:pathLst>
                <a:path w="75398" h="82610">
                  <a:moveTo>
                    <a:pt x="69199" y="57309"/>
                  </a:moveTo>
                  <a:cubicBezTo>
                    <a:pt x="69199" y="48073"/>
                    <a:pt x="65278" y="43390"/>
                    <a:pt x="53261" y="38207"/>
                  </a:cubicBezTo>
                  <a:cubicBezTo>
                    <a:pt x="62242" y="36056"/>
                    <a:pt x="65909" y="34536"/>
                    <a:pt x="69957" y="30996"/>
                  </a:cubicBezTo>
                  <a:cubicBezTo>
                    <a:pt x="73501" y="27960"/>
                    <a:pt x="75398" y="23785"/>
                    <a:pt x="75398" y="18598"/>
                  </a:cubicBezTo>
                  <a:cubicBezTo>
                    <a:pt x="75398" y="6580"/>
                    <a:pt x="66417" y="0"/>
                    <a:pt x="50097" y="0"/>
                  </a:cubicBezTo>
                  <a:lnTo>
                    <a:pt x="17458" y="0"/>
                  </a:lnTo>
                  <a:lnTo>
                    <a:pt x="17458" y="2024"/>
                  </a:lnTo>
                  <a:cubicBezTo>
                    <a:pt x="25428" y="2655"/>
                    <a:pt x="27198" y="3544"/>
                    <a:pt x="27198" y="7211"/>
                  </a:cubicBezTo>
                  <a:cubicBezTo>
                    <a:pt x="27198" y="9108"/>
                    <a:pt x="26694" y="12144"/>
                    <a:pt x="25809" y="15307"/>
                  </a:cubicBezTo>
                  <a:lnTo>
                    <a:pt x="10247" y="71223"/>
                  </a:lnTo>
                  <a:cubicBezTo>
                    <a:pt x="7969" y="78561"/>
                    <a:pt x="7084" y="79319"/>
                    <a:pt x="0" y="80585"/>
                  </a:cubicBezTo>
                  <a:lnTo>
                    <a:pt x="0" y="82610"/>
                  </a:lnTo>
                  <a:lnTo>
                    <a:pt x="35675" y="82610"/>
                  </a:lnTo>
                  <a:cubicBezTo>
                    <a:pt x="55539" y="82610"/>
                    <a:pt x="69199" y="72362"/>
                    <a:pt x="69199" y="57309"/>
                  </a:cubicBezTo>
                  <a:close/>
                  <a:moveTo>
                    <a:pt x="55539" y="56801"/>
                  </a:moveTo>
                  <a:cubicBezTo>
                    <a:pt x="55539" y="70465"/>
                    <a:pt x="46176" y="78815"/>
                    <a:pt x="30742" y="78815"/>
                  </a:cubicBezTo>
                  <a:cubicBezTo>
                    <a:pt x="25428" y="78815"/>
                    <a:pt x="22646" y="77041"/>
                    <a:pt x="22646" y="73501"/>
                  </a:cubicBezTo>
                  <a:cubicBezTo>
                    <a:pt x="22646" y="71858"/>
                    <a:pt x="24162" y="65909"/>
                    <a:pt x="27071" y="55789"/>
                  </a:cubicBezTo>
                  <a:lnTo>
                    <a:pt x="31119" y="40735"/>
                  </a:lnTo>
                  <a:cubicBezTo>
                    <a:pt x="39092" y="40735"/>
                    <a:pt x="44529" y="41243"/>
                    <a:pt x="47061" y="42255"/>
                  </a:cubicBezTo>
                  <a:cubicBezTo>
                    <a:pt x="52376" y="44279"/>
                    <a:pt x="55539" y="49844"/>
                    <a:pt x="55539" y="56801"/>
                  </a:cubicBezTo>
                  <a:close/>
                  <a:moveTo>
                    <a:pt x="62623" y="17459"/>
                  </a:moveTo>
                  <a:cubicBezTo>
                    <a:pt x="62623" y="30488"/>
                    <a:pt x="54146" y="36687"/>
                    <a:pt x="36687" y="36687"/>
                  </a:cubicBezTo>
                  <a:lnTo>
                    <a:pt x="32385" y="36687"/>
                  </a:lnTo>
                  <a:lnTo>
                    <a:pt x="40608" y="7338"/>
                  </a:lnTo>
                  <a:cubicBezTo>
                    <a:pt x="41366" y="4556"/>
                    <a:pt x="42886" y="3794"/>
                    <a:pt x="47820" y="3794"/>
                  </a:cubicBezTo>
                  <a:cubicBezTo>
                    <a:pt x="58067" y="3794"/>
                    <a:pt x="62623" y="8096"/>
                    <a:pt x="62623" y="17459"/>
                  </a:cubicBez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3" name="beta_update_outline_14"/>
            <p:cNvSpPr/>
            <p:nvPr/>
          </p:nvSpPr>
          <p:spPr>
            <a:xfrm>
              <a:off x="1301173" y="2590325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4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4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4"/>
                    <a:pt x="30817" y="35592"/>
                    <a:pt x="20233" y="44101"/>
                  </a:cubicBezTo>
                  <a:lnTo>
                    <a:pt x="15149" y="47939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3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4" name="beta_update_outline_15"/>
            <p:cNvSpPr/>
            <p:nvPr/>
          </p:nvSpPr>
          <p:spPr>
            <a:xfrm>
              <a:off x="1366516" y="2545103"/>
              <a:ext cx="32388" cy="116260"/>
            </a:xfrm>
            <a:custGeom>
              <a:avLst/>
              <a:gdLst/>
              <a:ahLst/>
              <a:cxnLst/>
              <a:rect l="0" t="0" r="r" b="b"/>
              <a:pathLst>
                <a:path w="32389" h="116261">
                  <a:moveTo>
                    <a:pt x="1139" y="0"/>
                  </a:moveTo>
                  <a:lnTo>
                    <a:pt x="0" y="2024"/>
                  </a:lnTo>
                  <a:cubicBezTo>
                    <a:pt x="16320" y="15180"/>
                    <a:pt x="21507" y="29730"/>
                    <a:pt x="21507" y="57813"/>
                  </a:cubicBezTo>
                  <a:cubicBezTo>
                    <a:pt x="21507" y="85773"/>
                    <a:pt x="16701" y="101080"/>
                    <a:pt x="0" y="114237"/>
                  </a:cubicBezTo>
                  <a:lnTo>
                    <a:pt x="1520" y="116261"/>
                  </a:lnTo>
                  <a:cubicBezTo>
                    <a:pt x="18979" y="105505"/>
                    <a:pt x="32389" y="81725"/>
                    <a:pt x="32389" y="58194"/>
                  </a:cubicBezTo>
                  <a:cubicBezTo>
                    <a:pt x="32389" y="32385"/>
                    <a:pt x="19483" y="11890"/>
                    <a:pt x="1139" y="0"/>
                  </a:cubicBez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5" name="beta_update_outline_16"/>
            <p:cNvSpPr/>
            <p:nvPr/>
          </p:nvSpPr>
          <p:spPr>
            <a:xfrm>
              <a:off x="1415596" y="2546369"/>
              <a:ext cx="26693" cy="113855"/>
            </a:xfrm>
            <a:custGeom>
              <a:avLst/>
              <a:gdLst/>
              <a:ahLst/>
              <a:cxnLst/>
              <a:rect l="0" t="0" r="r" b="b"/>
              <a:pathLst>
                <a:path w="26694" h="113856">
                  <a:moveTo>
                    <a:pt x="0" y="110692"/>
                  </a:moveTo>
                  <a:lnTo>
                    <a:pt x="0" y="113856"/>
                  </a:lnTo>
                  <a:lnTo>
                    <a:pt x="26694" y="113856"/>
                  </a:lnTo>
                  <a:lnTo>
                    <a:pt x="26694" y="0"/>
                  </a:lnTo>
                  <a:lnTo>
                    <a:pt x="0" y="0"/>
                  </a:lnTo>
                  <a:lnTo>
                    <a:pt x="0" y="3163"/>
                  </a:lnTo>
                  <a:lnTo>
                    <a:pt x="10878" y="3163"/>
                  </a:lnTo>
                  <a:cubicBezTo>
                    <a:pt x="15053" y="3163"/>
                    <a:pt x="17078" y="5314"/>
                    <a:pt x="17078" y="9739"/>
                  </a:cubicBezTo>
                  <a:lnTo>
                    <a:pt x="17078" y="105128"/>
                  </a:lnTo>
                  <a:cubicBezTo>
                    <a:pt x="17078" y="109049"/>
                    <a:pt x="15307" y="110692"/>
                    <a:pt x="11386" y="110692"/>
                  </a:cubicBezTo>
                  <a:lnTo>
                    <a:pt x="0" y="110692"/>
                  </a:ln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6" name="beta_update_outline_17"/>
            <p:cNvSpPr/>
            <p:nvPr/>
          </p:nvSpPr>
          <p:spPr>
            <a:xfrm>
              <a:off x="1467466" y="2601450"/>
              <a:ext cx="53125" cy="53332"/>
            </a:xfrm>
            <a:custGeom>
              <a:avLst/>
              <a:gdLst/>
              <a:ahLst/>
              <a:cxnLst/>
              <a:rect l="0" t="0" r="r" b="b"/>
              <a:pathLst>
                <a:path w="53126" h="53332">
                  <a:moveTo>
                    <a:pt x="23138" y="23241"/>
                  </a:moveTo>
                  <a:lnTo>
                    <a:pt x="0" y="23241"/>
                  </a:lnTo>
                  <a:lnTo>
                    <a:pt x="0" y="30091"/>
                  </a:lnTo>
                  <a:lnTo>
                    <a:pt x="23138" y="30091"/>
                  </a:lnTo>
                  <a:lnTo>
                    <a:pt x="23138" y="53332"/>
                  </a:lnTo>
                  <a:lnTo>
                    <a:pt x="29988" y="53332"/>
                  </a:lnTo>
                  <a:lnTo>
                    <a:pt x="29988" y="30091"/>
                  </a:lnTo>
                  <a:lnTo>
                    <a:pt x="53126" y="30091"/>
                  </a:lnTo>
                  <a:lnTo>
                    <a:pt x="53126" y="23241"/>
                  </a:lnTo>
                  <a:lnTo>
                    <a:pt x="29988" y="23241"/>
                  </a:lnTo>
                  <a:lnTo>
                    <a:pt x="29988" y="0"/>
                  </a:lnTo>
                  <a:lnTo>
                    <a:pt x="23138" y="0"/>
                  </a:lnTo>
                  <a:lnTo>
                    <a:pt x="23138" y="23241"/>
                  </a:ln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0" name="lambda_out"/>
          <p:cNvGrpSpPr/>
          <p:nvPr/>
        </p:nvGrpSpPr>
        <p:grpSpPr>
          <a:xfrm>
            <a:off x="1998450" y="2534263"/>
            <a:ext cx="132671" cy="113222"/>
            <a:chOff x="1998450" y="2534263"/>
            <a:chExt cx="132671" cy="113222"/>
          </a:xfrm>
        </p:grpSpPr>
        <p:sp>
          <p:nvSpPr>
            <p:cNvPr id="257" name="lambda_out_outline_0"/>
            <p:cNvSpPr/>
            <p:nvPr/>
          </p:nvSpPr>
          <p:spPr>
            <a:xfrm>
              <a:off x="1998450" y="2534263"/>
              <a:ext cx="71112" cy="92682"/>
            </a:xfrm>
            <a:custGeom>
              <a:avLst/>
              <a:gdLst/>
              <a:ahLst/>
              <a:cxnLst/>
              <a:rect l="0" t="0" r="r" b="b"/>
              <a:pathLst>
                <a:path w="71112" h="92682">
                  <a:moveTo>
                    <a:pt x="71112" y="80990"/>
                  </a:moveTo>
                  <a:lnTo>
                    <a:pt x="70973" y="80712"/>
                  </a:lnTo>
                  <a:cubicBezTo>
                    <a:pt x="69024" y="80712"/>
                    <a:pt x="66659" y="85443"/>
                    <a:pt x="60813" y="85443"/>
                  </a:cubicBezTo>
                  <a:cubicBezTo>
                    <a:pt x="34512" y="85443"/>
                    <a:pt x="82383" y="0"/>
                    <a:pt x="41469" y="0"/>
                  </a:cubicBezTo>
                  <a:lnTo>
                    <a:pt x="39941" y="0"/>
                  </a:lnTo>
                  <a:cubicBezTo>
                    <a:pt x="37433" y="0"/>
                    <a:pt x="31591" y="2088"/>
                    <a:pt x="29781" y="3758"/>
                  </a:cubicBezTo>
                  <a:cubicBezTo>
                    <a:pt x="29643" y="3897"/>
                    <a:pt x="30754" y="5147"/>
                    <a:pt x="30893" y="5147"/>
                  </a:cubicBezTo>
                  <a:cubicBezTo>
                    <a:pt x="31591" y="4592"/>
                    <a:pt x="34651" y="3338"/>
                    <a:pt x="37433" y="3338"/>
                  </a:cubicBezTo>
                  <a:cubicBezTo>
                    <a:pt x="50935" y="3338"/>
                    <a:pt x="47315" y="25606"/>
                    <a:pt x="47315" y="29222"/>
                  </a:cubicBezTo>
                  <a:cubicBezTo>
                    <a:pt x="47454" y="29643"/>
                    <a:pt x="47315" y="29920"/>
                    <a:pt x="47177" y="30476"/>
                  </a:cubicBezTo>
                  <a:cubicBezTo>
                    <a:pt x="44394" y="43418"/>
                    <a:pt x="3342" y="79879"/>
                    <a:pt x="0" y="91150"/>
                  </a:cubicBezTo>
                  <a:lnTo>
                    <a:pt x="13914" y="91150"/>
                  </a:lnTo>
                  <a:cubicBezTo>
                    <a:pt x="13914" y="89757"/>
                    <a:pt x="14057" y="88368"/>
                    <a:pt x="14335" y="86836"/>
                  </a:cubicBezTo>
                  <a:cubicBezTo>
                    <a:pt x="18371" y="69024"/>
                    <a:pt x="45645" y="42025"/>
                    <a:pt x="45645" y="41886"/>
                  </a:cubicBezTo>
                  <a:lnTo>
                    <a:pt x="45783" y="41886"/>
                  </a:lnTo>
                  <a:cubicBezTo>
                    <a:pt x="44950" y="49125"/>
                    <a:pt x="32425" y="92682"/>
                    <a:pt x="55110" y="92682"/>
                  </a:cubicBezTo>
                  <a:cubicBezTo>
                    <a:pt x="61230" y="92682"/>
                    <a:pt x="70834" y="82661"/>
                    <a:pt x="71112" y="80990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8" name="lambda_out_outline_1"/>
            <p:cNvSpPr/>
            <p:nvPr/>
          </p:nvSpPr>
          <p:spPr>
            <a:xfrm>
              <a:off x="2080484" y="2575473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3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4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3"/>
                    <a:pt x="30817" y="35592"/>
                    <a:pt x="20233" y="44101"/>
                  </a:cubicBezTo>
                  <a:lnTo>
                    <a:pt x="15149" y="47938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2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7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1" name="advantage"/>
          <p:cNvGrpSpPr/>
          <p:nvPr/>
        </p:nvGrpSpPr>
        <p:grpSpPr>
          <a:xfrm>
            <a:off x="2496289" y="2406440"/>
            <a:ext cx="1155086" cy="381786"/>
            <a:chOff x="2496289" y="2406440"/>
            <a:chExt cx="1155086" cy="381786"/>
          </a:xfrm>
        </p:grpSpPr>
        <p:sp>
          <p:nvSpPr>
            <p:cNvPr id="259" name="advantage_outline_0"/>
            <p:cNvSpPr/>
            <p:nvPr/>
          </p:nvSpPr>
          <p:spPr>
            <a:xfrm>
              <a:off x="2514876" y="2528330"/>
              <a:ext cx="84331" cy="14474"/>
            </a:xfrm>
            <a:custGeom>
              <a:avLst/>
              <a:gdLst/>
              <a:ahLst/>
              <a:cxnLst/>
              <a:rect l="0" t="0" r="r" b="b"/>
              <a:pathLst>
                <a:path w="84332" h="14474">
                  <a:moveTo>
                    <a:pt x="84332" y="0"/>
                  </a:moveTo>
                  <a:lnTo>
                    <a:pt x="80157" y="0"/>
                  </a:lnTo>
                  <a:cubicBezTo>
                    <a:pt x="79046" y="3481"/>
                    <a:pt x="75009" y="6540"/>
                    <a:pt x="61230" y="6540"/>
                  </a:cubicBezTo>
                  <a:cubicBezTo>
                    <a:pt x="48010" y="6540"/>
                    <a:pt x="43557" y="417"/>
                    <a:pt x="30754" y="417"/>
                  </a:cubicBezTo>
                  <a:cubicBezTo>
                    <a:pt x="9600" y="417"/>
                    <a:pt x="3619" y="6679"/>
                    <a:pt x="0" y="14474"/>
                  </a:cubicBezTo>
                  <a:lnTo>
                    <a:pt x="4175" y="14474"/>
                  </a:lnTo>
                  <a:cubicBezTo>
                    <a:pt x="5286" y="10993"/>
                    <a:pt x="10299" y="8072"/>
                    <a:pt x="24074" y="8072"/>
                  </a:cubicBezTo>
                  <a:cubicBezTo>
                    <a:pt x="37155" y="8072"/>
                    <a:pt x="41747" y="14196"/>
                    <a:pt x="54550" y="14196"/>
                  </a:cubicBezTo>
                  <a:cubicBezTo>
                    <a:pt x="75704" y="14196"/>
                    <a:pt x="80712" y="7795"/>
                    <a:pt x="84332" y="0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0" name="advantage_outline_1"/>
            <p:cNvSpPr/>
            <p:nvPr/>
          </p:nvSpPr>
          <p:spPr>
            <a:xfrm>
              <a:off x="2496289" y="2567581"/>
              <a:ext cx="85582" cy="92960"/>
            </a:xfrm>
            <a:custGeom>
              <a:avLst/>
              <a:gdLst/>
              <a:ahLst/>
              <a:cxnLst/>
              <a:rect l="0" t="0" r="r" b="b"/>
              <a:pathLst>
                <a:path w="85582" h="92960">
                  <a:moveTo>
                    <a:pt x="85582" y="92960"/>
                  </a:moveTo>
                  <a:lnTo>
                    <a:pt x="85582" y="90734"/>
                  </a:lnTo>
                  <a:cubicBezTo>
                    <a:pt x="77653" y="90039"/>
                    <a:pt x="76676" y="88924"/>
                    <a:pt x="75005" y="78764"/>
                  </a:cubicBezTo>
                  <a:lnTo>
                    <a:pt x="61924" y="0"/>
                  </a:lnTo>
                  <a:lnTo>
                    <a:pt x="58309" y="0"/>
                  </a:lnTo>
                  <a:lnTo>
                    <a:pt x="17951" y="69580"/>
                  </a:lnTo>
                  <a:cubicBezTo>
                    <a:pt x="6957" y="88090"/>
                    <a:pt x="5564" y="89618"/>
                    <a:pt x="0" y="90734"/>
                  </a:cubicBezTo>
                  <a:lnTo>
                    <a:pt x="0" y="92960"/>
                  </a:lnTo>
                  <a:lnTo>
                    <a:pt x="26023" y="92960"/>
                  </a:lnTo>
                  <a:lnTo>
                    <a:pt x="26023" y="90734"/>
                  </a:lnTo>
                  <a:cubicBezTo>
                    <a:pt x="18923" y="90039"/>
                    <a:pt x="17812" y="89341"/>
                    <a:pt x="17812" y="85864"/>
                  </a:cubicBezTo>
                  <a:cubicBezTo>
                    <a:pt x="17812" y="83217"/>
                    <a:pt x="18228" y="81967"/>
                    <a:pt x="20594" y="77236"/>
                  </a:cubicBezTo>
                  <a:lnTo>
                    <a:pt x="28527" y="61508"/>
                  </a:lnTo>
                  <a:lnTo>
                    <a:pt x="59142" y="61508"/>
                  </a:lnTo>
                  <a:lnTo>
                    <a:pt x="61924" y="79740"/>
                  </a:lnTo>
                  <a:cubicBezTo>
                    <a:pt x="62063" y="80990"/>
                    <a:pt x="62206" y="82244"/>
                    <a:pt x="62206" y="83360"/>
                  </a:cubicBezTo>
                  <a:cubicBezTo>
                    <a:pt x="62206" y="88646"/>
                    <a:pt x="60258" y="89900"/>
                    <a:pt x="51352" y="90734"/>
                  </a:cubicBezTo>
                  <a:lnTo>
                    <a:pt x="51352" y="92960"/>
                  </a:lnTo>
                  <a:lnTo>
                    <a:pt x="85582" y="92960"/>
                  </a:lnTo>
                  <a:close/>
                  <a:moveTo>
                    <a:pt x="58448" y="56499"/>
                  </a:moveTo>
                  <a:lnTo>
                    <a:pt x="31448" y="56499"/>
                  </a:lnTo>
                  <a:lnTo>
                    <a:pt x="52324" y="20316"/>
                  </a:lnTo>
                  <a:lnTo>
                    <a:pt x="58448" y="56499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1" name="advantage_outline_2"/>
            <p:cNvSpPr/>
            <p:nvPr/>
          </p:nvSpPr>
          <p:spPr>
            <a:xfrm>
              <a:off x="2637527" y="2606824"/>
              <a:ext cx="71250" cy="36044"/>
            </a:xfrm>
            <a:custGeom>
              <a:avLst/>
              <a:gdLst/>
              <a:ahLst/>
              <a:cxnLst/>
              <a:rect l="0" t="0" r="r" b="b"/>
              <a:pathLst>
                <a:path w="71251" h="36044">
                  <a:moveTo>
                    <a:pt x="71251" y="7795"/>
                  </a:moveTo>
                  <a:lnTo>
                    <a:pt x="71251" y="0"/>
                  </a:lnTo>
                  <a:lnTo>
                    <a:pt x="0" y="0"/>
                  </a:lnTo>
                  <a:lnTo>
                    <a:pt x="0" y="7795"/>
                  </a:lnTo>
                  <a:lnTo>
                    <a:pt x="71251" y="7795"/>
                  </a:lnTo>
                  <a:close/>
                  <a:moveTo>
                    <a:pt x="71251" y="36044"/>
                  </a:moveTo>
                  <a:lnTo>
                    <a:pt x="71251" y="28250"/>
                  </a:lnTo>
                  <a:lnTo>
                    <a:pt x="0" y="28250"/>
                  </a:lnTo>
                  <a:lnTo>
                    <a:pt x="0" y="36044"/>
                  </a:lnTo>
                  <a:lnTo>
                    <a:pt x="71251" y="36044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2" name="advantage_outline_3"/>
            <p:cNvSpPr/>
            <p:nvPr/>
          </p:nvSpPr>
          <p:spPr>
            <a:xfrm>
              <a:off x="2796370" y="2406440"/>
              <a:ext cx="77934" cy="21708"/>
            </a:xfrm>
            <a:custGeom>
              <a:avLst/>
              <a:gdLst/>
              <a:ahLst/>
              <a:cxnLst/>
              <a:rect l="0" t="0" r="r" b="b"/>
              <a:pathLst>
                <a:path w="77934" h="21709">
                  <a:moveTo>
                    <a:pt x="77934" y="21709"/>
                  </a:moveTo>
                  <a:lnTo>
                    <a:pt x="77934" y="15585"/>
                  </a:lnTo>
                  <a:lnTo>
                    <a:pt x="38826" y="0"/>
                  </a:lnTo>
                  <a:lnTo>
                    <a:pt x="0" y="15585"/>
                  </a:lnTo>
                  <a:lnTo>
                    <a:pt x="0" y="21709"/>
                  </a:lnTo>
                  <a:lnTo>
                    <a:pt x="38965" y="9461"/>
                  </a:lnTo>
                  <a:lnTo>
                    <a:pt x="77934" y="21709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3" name="advantage_outline_4"/>
            <p:cNvSpPr/>
            <p:nvPr/>
          </p:nvSpPr>
          <p:spPr>
            <a:xfrm>
              <a:off x="2774597" y="2449446"/>
              <a:ext cx="85582" cy="92960"/>
            </a:xfrm>
            <a:custGeom>
              <a:avLst/>
              <a:gdLst/>
              <a:ahLst/>
              <a:cxnLst/>
              <a:rect l="0" t="0" r="r" b="b"/>
              <a:pathLst>
                <a:path w="85582" h="92960">
                  <a:moveTo>
                    <a:pt x="85582" y="92960"/>
                  </a:moveTo>
                  <a:lnTo>
                    <a:pt x="85582" y="90734"/>
                  </a:lnTo>
                  <a:cubicBezTo>
                    <a:pt x="77653" y="90039"/>
                    <a:pt x="76676" y="88924"/>
                    <a:pt x="75005" y="78764"/>
                  </a:cubicBezTo>
                  <a:lnTo>
                    <a:pt x="61924" y="0"/>
                  </a:lnTo>
                  <a:lnTo>
                    <a:pt x="58309" y="0"/>
                  </a:lnTo>
                  <a:lnTo>
                    <a:pt x="17951" y="69580"/>
                  </a:lnTo>
                  <a:cubicBezTo>
                    <a:pt x="6957" y="88090"/>
                    <a:pt x="5564" y="89618"/>
                    <a:pt x="0" y="90734"/>
                  </a:cubicBezTo>
                  <a:lnTo>
                    <a:pt x="0" y="92960"/>
                  </a:lnTo>
                  <a:lnTo>
                    <a:pt x="26023" y="92960"/>
                  </a:lnTo>
                  <a:lnTo>
                    <a:pt x="26023" y="90734"/>
                  </a:lnTo>
                  <a:cubicBezTo>
                    <a:pt x="18923" y="90039"/>
                    <a:pt x="17812" y="89341"/>
                    <a:pt x="17812" y="85864"/>
                  </a:cubicBezTo>
                  <a:cubicBezTo>
                    <a:pt x="17812" y="83217"/>
                    <a:pt x="18228" y="81967"/>
                    <a:pt x="20594" y="77236"/>
                  </a:cubicBezTo>
                  <a:lnTo>
                    <a:pt x="28527" y="61508"/>
                  </a:lnTo>
                  <a:lnTo>
                    <a:pt x="59142" y="61508"/>
                  </a:lnTo>
                  <a:lnTo>
                    <a:pt x="61924" y="79740"/>
                  </a:lnTo>
                  <a:cubicBezTo>
                    <a:pt x="62063" y="80990"/>
                    <a:pt x="62206" y="82244"/>
                    <a:pt x="62206" y="83360"/>
                  </a:cubicBezTo>
                  <a:cubicBezTo>
                    <a:pt x="62206" y="88646"/>
                    <a:pt x="60258" y="89900"/>
                    <a:pt x="51352" y="90734"/>
                  </a:cubicBezTo>
                  <a:lnTo>
                    <a:pt x="51352" y="92960"/>
                  </a:lnTo>
                  <a:lnTo>
                    <a:pt x="85582" y="92960"/>
                  </a:lnTo>
                  <a:close/>
                  <a:moveTo>
                    <a:pt x="58448" y="56499"/>
                  </a:moveTo>
                  <a:lnTo>
                    <a:pt x="31448" y="56499"/>
                  </a:lnTo>
                  <a:lnTo>
                    <a:pt x="52324" y="20316"/>
                  </a:lnTo>
                  <a:lnTo>
                    <a:pt x="58448" y="56499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4" name="advantage_outline_5"/>
            <p:cNvSpPr/>
            <p:nvPr/>
          </p:nvSpPr>
          <p:spPr>
            <a:xfrm>
              <a:off x="2871680" y="2517525"/>
              <a:ext cx="42338" cy="45759"/>
            </a:xfrm>
            <a:custGeom>
              <a:avLst/>
              <a:gdLst/>
              <a:ahLst/>
              <a:cxnLst/>
              <a:rect l="0" t="0" r="r" b="b"/>
              <a:pathLst>
                <a:path w="42339" h="45760">
                  <a:moveTo>
                    <a:pt x="42335" y="5294"/>
                  </a:moveTo>
                  <a:cubicBezTo>
                    <a:pt x="42231" y="2179"/>
                    <a:pt x="39949" y="0"/>
                    <a:pt x="36731" y="0"/>
                  </a:cubicBezTo>
                  <a:cubicBezTo>
                    <a:pt x="34036" y="0"/>
                    <a:pt x="30817" y="1560"/>
                    <a:pt x="27912" y="4358"/>
                  </a:cubicBezTo>
                  <a:cubicBezTo>
                    <a:pt x="23348" y="8823"/>
                    <a:pt x="18887" y="14839"/>
                    <a:pt x="17121" y="18990"/>
                  </a:cubicBezTo>
                  <a:lnTo>
                    <a:pt x="15565" y="22725"/>
                  </a:lnTo>
                  <a:lnTo>
                    <a:pt x="21169" y="210"/>
                  </a:lnTo>
                  <a:lnTo>
                    <a:pt x="20026" y="0"/>
                  </a:lnTo>
                  <a:lnTo>
                    <a:pt x="1869" y="2802"/>
                  </a:lnTo>
                  <a:lnTo>
                    <a:pt x="1869" y="4568"/>
                  </a:lnTo>
                  <a:lnTo>
                    <a:pt x="4774" y="4568"/>
                  </a:lnTo>
                  <a:cubicBezTo>
                    <a:pt x="7576" y="4568"/>
                    <a:pt x="10172" y="4774"/>
                    <a:pt x="10172" y="6953"/>
                  </a:cubicBezTo>
                  <a:cubicBezTo>
                    <a:pt x="10275" y="8406"/>
                    <a:pt x="10172" y="8406"/>
                    <a:pt x="8509" y="15462"/>
                  </a:cubicBezTo>
                  <a:lnTo>
                    <a:pt x="0" y="45760"/>
                  </a:lnTo>
                  <a:lnTo>
                    <a:pt x="9132" y="45760"/>
                  </a:lnTo>
                  <a:cubicBezTo>
                    <a:pt x="14633" y="28329"/>
                    <a:pt x="16498" y="24178"/>
                    <a:pt x="21376" y="16498"/>
                  </a:cubicBezTo>
                  <a:cubicBezTo>
                    <a:pt x="25321" y="10172"/>
                    <a:pt x="28742" y="6747"/>
                    <a:pt x="30817" y="6747"/>
                  </a:cubicBezTo>
                  <a:cubicBezTo>
                    <a:pt x="31544" y="6747"/>
                    <a:pt x="32167" y="7160"/>
                    <a:pt x="32790" y="8200"/>
                  </a:cubicBezTo>
                  <a:cubicBezTo>
                    <a:pt x="33826" y="9962"/>
                    <a:pt x="34762" y="10481"/>
                    <a:pt x="37044" y="10481"/>
                  </a:cubicBezTo>
                  <a:cubicBezTo>
                    <a:pt x="40573" y="10481"/>
                    <a:pt x="42438" y="8612"/>
                    <a:pt x="42335" y="5294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5" name="advantage_outline_6"/>
            <p:cNvSpPr/>
            <p:nvPr/>
          </p:nvSpPr>
          <p:spPr>
            <a:xfrm>
              <a:off x="2968198" y="2502746"/>
              <a:ext cx="71250" cy="7790"/>
            </a:xfrm>
            <a:custGeom>
              <a:avLst/>
              <a:gdLst/>
              <a:ahLst/>
              <a:cxnLst/>
              <a:rect l="0" t="0" r="r" b="b"/>
              <a:pathLst>
                <a:path w="71251" h="7791">
                  <a:moveTo>
                    <a:pt x="71251" y="7791"/>
                  </a:moveTo>
                  <a:lnTo>
                    <a:pt x="71251" y="0"/>
                  </a:lnTo>
                  <a:lnTo>
                    <a:pt x="0" y="0"/>
                  </a:lnTo>
                  <a:lnTo>
                    <a:pt x="0" y="7791"/>
                  </a:lnTo>
                  <a:lnTo>
                    <a:pt x="71251" y="7791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6" name="advantage_outline_7"/>
            <p:cNvSpPr/>
            <p:nvPr/>
          </p:nvSpPr>
          <p:spPr>
            <a:xfrm>
              <a:off x="3084998" y="2444984"/>
              <a:ext cx="95047" cy="122463"/>
            </a:xfrm>
            <a:custGeom>
              <a:avLst/>
              <a:gdLst/>
              <a:ahLst/>
              <a:cxnLst/>
              <a:rect l="0" t="0" r="r" b="b"/>
              <a:pathLst>
                <a:path w="95048" h="122464">
                  <a:moveTo>
                    <a:pt x="95048" y="85308"/>
                  </a:moveTo>
                  <a:lnTo>
                    <a:pt x="92123" y="85308"/>
                  </a:lnTo>
                  <a:cubicBezTo>
                    <a:pt x="89341" y="102703"/>
                    <a:pt x="82939" y="110494"/>
                    <a:pt x="73200" y="110494"/>
                  </a:cubicBezTo>
                  <a:lnTo>
                    <a:pt x="18645" y="110494"/>
                  </a:lnTo>
                  <a:lnTo>
                    <a:pt x="59003" y="58726"/>
                  </a:lnTo>
                  <a:lnTo>
                    <a:pt x="23098" y="5429"/>
                  </a:lnTo>
                  <a:lnTo>
                    <a:pt x="67631" y="5429"/>
                  </a:lnTo>
                  <a:cubicBezTo>
                    <a:pt x="77791" y="5429"/>
                    <a:pt x="84193" y="10993"/>
                    <a:pt x="87114" y="28666"/>
                  </a:cubicBezTo>
                  <a:lnTo>
                    <a:pt x="90178" y="28666"/>
                  </a:lnTo>
                  <a:lnTo>
                    <a:pt x="89341" y="0"/>
                  </a:lnTo>
                  <a:lnTo>
                    <a:pt x="5842" y="0"/>
                  </a:lnTo>
                  <a:lnTo>
                    <a:pt x="48427" y="61091"/>
                  </a:lnTo>
                  <a:lnTo>
                    <a:pt x="0" y="122464"/>
                  </a:lnTo>
                  <a:lnTo>
                    <a:pt x="93516" y="122464"/>
                  </a:lnTo>
                  <a:lnTo>
                    <a:pt x="95048" y="85308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7" name="advantage_outline_8"/>
            <p:cNvSpPr/>
            <p:nvPr/>
          </p:nvSpPr>
          <p:spPr>
            <a:xfrm>
              <a:off x="3197791" y="2502613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3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4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4"/>
                    <a:pt x="30817" y="35592"/>
                    <a:pt x="20233" y="44101"/>
                  </a:cubicBezTo>
                  <a:lnTo>
                    <a:pt x="15149" y="47939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3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8" name="advantage_outline_9"/>
            <p:cNvSpPr/>
            <p:nvPr/>
          </p:nvSpPr>
          <p:spPr>
            <a:xfrm>
              <a:off x="3283080" y="2451256"/>
              <a:ext cx="71112" cy="92682"/>
            </a:xfrm>
            <a:custGeom>
              <a:avLst/>
              <a:gdLst/>
              <a:ahLst/>
              <a:cxnLst/>
              <a:rect l="0" t="0" r="r" b="b"/>
              <a:pathLst>
                <a:path w="71112" h="92682">
                  <a:moveTo>
                    <a:pt x="71112" y="80990"/>
                  </a:moveTo>
                  <a:lnTo>
                    <a:pt x="70973" y="80712"/>
                  </a:lnTo>
                  <a:cubicBezTo>
                    <a:pt x="69025" y="80712"/>
                    <a:pt x="66659" y="85443"/>
                    <a:pt x="60813" y="85443"/>
                  </a:cubicBezTo>
                  <a:cubicBezTo>
                    <a:pt x="34512" y="85443"/>
                    <a:pt x="82383" y="0"/>
                    <a:pt x="41469" y="0"/>
                  </a:cubicBezTo>
                  <a:lnTo>
                    <a:pt x="39942" y="0"/>
                  </a:lnTo>
                  <a:cubicBezTo>
                    <a:pt x="37433" y="0"/>
                    <a:pt x="31591" y="2087"/>
                    <a:pt x="29782" y="3758"/>
                  </a:cubicBezTo>
                  <a:cubicBezTo>
                    <a:pt x="29643" y="3897"/>
                    <a:pt x="30754" y="5147"/>
                    <a:pt x="30893" y="5147"/>
                  </a:cubicBezTo>
                  <a:cubicBezTo>
                    <a:pt x="31591" y="4592"/>
                    <a:pt x="34651" y="3338"/>
                    <a:pt x="37433" y="3338"/>
                  </a:cubicBezTo>
                  <a:cubicBezTo>
                    <a:pt x="50935" y="3338"/>
                    <a:pt x="47315" y="25606"/>
                    <a:pt x="47315" y="29222"/>
                  </a:cubicBezTo>
                  <a:cubicBezTo>
                    <a:pt x="47454" y="29643"/>
                    <a:pt x="47315" y="29920"/>
                    <a:pt x="47176" y="30476"/>
                  </a:cubicBezTo>
                  <a:cubicBezTo>
                    <a:pt x="44394" y="43418"/>
                    <a:pt x="3342" y="79879"/>
                    <a:pt x="0" y="91150"/>
                  </a:cubicBezTo>
                  <a:lnTo>
                    <a:pt x="13914" y="91150"/>
                  </a:lnTo>
                  <a:cubicBezTo>
                    <a:pt x="13914" y="89757"/>
                    <a:pt x="14057" y="88368"/>
                    <a:pt x="14335" y="86836"/>
                  </a:cubicBezTo>
                  <a:cubicBezTo>
                    <a:pt x="18371" y="69025"/>
                    <a:pt x="45645" y="42025"/>
                    <a:pt x="45645" y="41886"/>
                  </a:cubicBezTo>
                  <a:lnTo>
                    <a:pt x="45784" y="41886"/>
                  </a:lnTo>
                  <a:cubicBezTo>
                    <a:pt x="44950" y="49125"/>
                    <a:pt x="32425" y="92682"/>
                    <a:pt x="55110" y="92682"/>
                  </a:cubicBezTo>
                  <a:cubicBezTo>
                    <a:pt x="61230" y="92682"/>
                    <a:pt x="70834" y="82661"/>
                    <a:pt x="71112" y="80990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9" name="advantage_outline_10"/>
            <p:cNvSpPr/>
            <p:nvPr/>
          </p:nvSpPr>
          <p:spPr>
            <a:xfrm>
              <a:off x="3365126" y="2492466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4" y="62258"/>
                  </a:cubicBezTo>
                  <a:cubicBezTo>
                    <a:pt x="42541" y="65472"/>
                    <a:pt x="41196" y="66615"/>
                    <a:pt x="39429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3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3"/>
                  </a:lnTo>
                  <a:lnTo>
                    <a:pt x="32063" y="28123"/>
                  </a:lnTo>
                  <a:cubicBezTo>
                    <a:pt x="35072" y="28123"/>
                    <a:pt x="36318" y="28849"/>
                    <a:pt x="36421" y="29988"/>
                  </a:cubicBezTo>
                  <a:cubicBezTo>
                    <a:pt x="36421" y="32064"/>
                    <a:pt x="30817" y="35592"/>
                    <a:pt x="20233" y="44101"/>
                  </a:cubicBezTo>
                  <a:lnTo>
                    <a:pt x="15149" y="47939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7"/>
                  </a:cubicBezTo>
                  <a:cubicBezTo>
                    <a:pt x="16708" y="8823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1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0" name="advantage_outline_11"/>
            <p:cNvSpPr/>
            <p:nvPr/>
          </p:nvSpPr>
          <p:spPr>
            <a:xfrm>
              <a:off x="3451918" y="2406440"/>
              <a:ext cx="77934" cy="21708"/>
            </a:xfrm>
            <a:custGeom>
              <a:avLst/>
              <a:gdLst/>
              <a:ahLst/>
              <a:cxnLst/>
              <a:rect l="0" t="0" r="r" b="b"/>
              <a:pathLst>
                <a:path w="77934" h="21709">
                  <a:moveTo>
                    <a:pt x="77934" y="21709"/>
                  </a:moveTo>
                  <a:lnTo>
                    <a:pt x="77934" y="15585"/>
                  </a:lnTo>
                  <a:lnTo>
                    <a:pt x="38826" y="0"/>
                  </a:lnTo>
                  <a:lnTo>
                    <a:pt x="0" y="15585"/>
                  </a:lnTo>
                  <a:lnTo>
                    <a:pt x="0" y="21709"/>
                  </a:lnTo>
                  <a:lnTo>
                    <a:pt x="38965" y="9461"/>
                  </a:lnTo>
                  <a:lnTo>
                    <a:pt x="77934" y="21709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1" name="advantage_outline_12"/>
            <p:cNvSpPr/>
            <p:nvPr/>
          </p:nvSpPr>
          <p:spPr>
            <a:xfrm>
              <a:off x="3430146" y="2449446"/>
              <a:ext cx="85582" cy="92960"/>
            </a:xfrm>
            <a:custGeom>
              <a:avLst/>
              <a:gdLst/>
              <a:ahLst/>
              <a:cxnLst/>
              <a:rect l="0" t="0" r="r" b="b"/>
              <a:pathLst>
                <a:path w="85582" h="92960">
                  <a:moveTo>
                    <a:pt x="85582" y="92960"/>
                  </a:moveTo>
                  <a:lnTo>
                    <a:pt x="85582" y="90734"/>
                  </a:lnTo>
                  <a:cubicBezTo>
                    <a:pt x="77653" y="90039"/>
                    <a:pt x="76676" y="88924"/>
                    <a:pt x="75005" y="78764"/>
                  </a:cubicBezTo>
                  <a:lnTo>
                    <a:pt x="61924" y="0"/>
                  </a:lnTo>
                  <a:lnTo>
                    <a:pt x="58309" y="0"/>
                  </a:lnTo>
                  <a:lnTo>
                    <a:pt x="17951" y="69580"/>
                  </a:lnTo>
                  <a:cubicBezTo>
                    <a:pt x="6957" y="88090"/>
                    <a:pt x="5564" y="89618"/>
                    <a:pt x="0" y="90734"/>
                  </a:cubicBezTo>
                  <a:lnTo>
                    <a:pt x="0" y="92960"/>
                  </a:lnTo>
                  <a:lnTo>
                    <a:pt x="26023" y="92960"/>
                  </a:lnTo>
                  <a:lnTo>
                    <a:pt x="26023" y="90734"/>
                  </a:lnTo>
                  <a:cubicBezTo>
                    <a:pt x="18923" y="90039"/>
                    <a:pt x="17812" y="89341"/>
                    <a:pt x="17812" y="85864"/>
                  </a:cubicBezTo>
                  <a:cubicBezTo>
                    <a:pt x="17812" y="83217"/>
                    <a:pt x="18228" y="81967"/>
                    <a:pt x="20594" y="77236"/>
                  </a:cubicBezTo>
                  <a:lnTo>
                    <a:pt x="28527" y="61508"/>
                  </a:lnTo>
                  <a:lnTo>
                    <a:pt x="59142" y="61508"/>
                  </a:lnTo>
                  <a:lnTo>
                    <a:pt x="61924" y="79740"/>
                  </a:lnTo>
                  <a:cubicBezTo>
                    <a:pt x="62063" y="80990"/>
                    <a:pt x="62206" y="82244"/>
                    <a:pt x="62206" y="83360"/>
                  </a:cubicBezTo>
                  <a:cubicBezTo>
                    <a:pt x="62206" y="88646"/>
                    <a:pt x="60258" y="89900"/>
                    <a:pt x="51352" y="90734"/>
                  </a:cubicBezTo>
                  <a:lnTo>
                    <a:pt x="51352" y="92960"/>
                  </a:lnTo>
                  <a:lnTo>
                    <a:pt x="85582" y="92960"/>
                  </a:lnTo>
                  <a:close/>
                  <a:moveTo>
                    <a:pt x="58448" y="56499"/>
                  </a:moveTo>
                  <a:lnTo>
                    <a:pt x="31448" y="56499"/>
                  </a:lnTo>
                  <a:lnTo>
                    <a:pt x="52324" y="20316"/>
                  </a:lnTo>
                  <a:lnTo>
                    <a:pt x="58448" y="56499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2" name="advantage_outline_13"/>
            <p:cNvSpPr/>
            <p:nvPr/>
          </p:nvSpPr>
          <p:spPr>
            <a:xfrm>
              <a:off x="3528046" y="2517525"/>
              <a:ext cx="46604" cy="46902"/>
            </a:xfrm>
            <a:custGeom>
              <a:avLst/>
              <a:gdLst/>
              <a:ahLst/>
              <a:cxnLst/>
              <a:rect l="0" t="0" r="r" b="b"/>
              <a:pathLst>
                <a:path w="46604" h="46903">
                  <a:moveTo>
                    <a:pt x="40374" y="35798"/>
                  </a:moveTo>
                  <a:lnTo>
                    <a:pt x="38406" y="34762"/>
                  </a:lnTo>
                  <a:cubicBezTo>
                    <a:pt x="32076" y="40882"/>
                    <a:pt x="27615" y="43164"/>
                    <a:pt x="21697" y="43164"/>
                  </a:cubicBezTo>
                  <a:cubicBezTo>
                    <a:pt x="14954" y="43164"/>
                    <a:pt x="10700" y="38806"/>
                    <a:pt x="10390" y="31337"/>
                  </a:cubicBezTo>
                  <a:cubicBezTo>
                    <a:pt x="10077" y="22519"/>
                    <a:pt x="14022" y="13283"/>
                    <a:pt x="20455" y="7160"/>
                  </a:cubicBezTo>
                  <a:cubicBezTo>
                    <a:pt x="23773" y="4048"/>
                    <a:pt x="28444" y="2179"/>
                    <a:pt x="33215" y="2179"/>
                  </a:cubicBezTo>
                  <a:cubicBezTo>
                    <a:pt x="36017" y="2179"/>
                    <a:pt x="37679" y="3012"/>
                    <a:pt x="37679" y="4255"/>
                  </a:cubicBezTo>
                  <a:cubicBezTo>
                    <a:pt x="37783" y="4774"/>
                    <a:pt x="37679" y="5294"/>
                    <a:pt x="37160" y="6227"/>
                  </a:cubicBezTo>
                  <a:cubicBezTo>
                    <a:pt x="36227" y="7576"/>
                    <a:pt x="36120" y="8200"/>
                    <a:pt x="36120" y="9235"/>
                  </a:cubicBezTo>
                  <a:cubicBezTo>
                    <a:pt x="36227" y="11728"/>
                    <a:pt x="37989" y="13180"/>
                    <a:pt x="40894" y="13180"/>
                  </a:cubicBezTo>
                  <a:cubicBezTo>
                    <a:pt x="44216" y="13180"/>
                    <a:pt x="46704" y="11208"/>
                    <a:pt x="46601" y="8406"/>
                  </a:cubicBezTo>
                  <a:cubicBezTo>
                    <a:pt x="46395" y="3528"/>
                    <a:pt x="41101" y="0"/>
                    <a:pt x="33735" y="0"/>
                  </a:cubicBezTo>
                  <a:cubicBezTo>
                    <a:pt x="15784" y="0"/>
                    <a:pt x="-508" y="15149"/>
                    <a:pt x="12" y="31337"/>
                  </a:cubicBezTo>
                  <a:cubicBezTo>
                    <a:pt x="326" y="41196"/>
                    <a:pt x="7069" y="46903"/>
                    <a:pt x="18169" y="46903"/>
                  </a:cubicBezTo>
                  <a:cubicBezTo>
                    <a:pt x="27198" y="46903"/>
                    <a:pt x="33215" y="43787"/>
                    <a:pt x="40374" y="35798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3" name="advantage_outline_14"/>
            <p:cNvSpPr/>
            <p:nvPr/>
          </p:nvSpPr>
          <p:spPr>
            <a:xfrm>
              <a:off x="3583364" y="2525842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4" y="62258"/>
                  </a:cubicBezTo>
                  <a:cubicBezTo>
                    <a:pt x="42541" y="65472"/>
                    <a:pt x="41196" y="66615"/>
                    <a:pt x="39429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3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4"/>
                    <a:pt x="30817" y="35592"/>
                    <a:pt x="20233" y="44101"/>
                  </a:cubicBezTo>
                  <a:lnTo>
                    <a:pt x="15149" y="47939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7"/>
                  </a:cubicBezTo>
                  <a:cubicBezTo>
                    <a:pt x="16708" y="8823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4" name="advantage_outline_15"/>
            <p:cNvSpPr/>
            <p:nvPr/>
          </p:nvSpPr>
          <p:spPr>
            <a:xfrm>
              <a:off x="2771256" y="2624755"/>
              <a:ext cx="880119" cy="254"/>
            </a:xfrm>
            <a:custGeom>
              <a:avLst/>
              <a:gdLst/>
              <a:ahLst/>
              <a:cxnLst/>
              <a:rect l="0" t="0" r="r" b="b"/>
              <a:pathLst>
                <a:path w="880119" h="254">
                  <a:moveTo>
                    <a:pt x="0" y="0"/>
                  </a:moveTo>
                  <a:lnTo>
                    <a:pt x="880119" y="0"/>
                  </a:lnTo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5" name="advantage_outline_16"/>
            <p:cNvSpPr/>
            <p:nvPr/>
          </p:nvSpPr>
          <p:spPr>
            <a:xfrm>
              <a:off x="2942872" y="2661945"/>
              <a:ext cx="39381" cy="94075"/>
            </a:xfrm>
            <a:custGeom>
              <a:avLst/>
              <a:gdLst/>
              <a:ahLst/>
              <a:cxnLst/>
              <a:rect l="0" t="0" r="r" b="b"/>
              <a:pathLst>
                <a:path w="39382" h="94075">
                  <a:moveTo>
                    <a:pt x="39382" y="94075"/>
                  </a:moveTo>
                  <a:lnTo>
                    <a:pt x="39382" y="91988"/>
                  </a:lnTo>
                  <a:cubicBezTo>
                    <a:pt x="28388" y="91849"/>
                    <a:pt x="26162" y="90456"/>
                    <a:pt x="26162" y="83776"/>
                  </a:cubicBezTo>
                  <a:lnTo>
                    <a:pt x="26162" y="282"/>
                  </a:lnTo>
                  <a:lnTo>
                    <a:pt x="25051" y="0"/>
                  </a:lnTo>
                  <a:lnTo>
                    <a:pt x="0" y="12664"/>
                  </a:lnTo>
                  <a:lnTo>
                    <a:pt x="0" y="14613"/>
                  </a:lnTo>
                  <a:cubicBezTo>
                    <a:pt x="1671" y="13918"/>
                    <a:pt x="3203" y="13363"/>
                    <a:pt x="3758" y="13081"/>
                  </a:cubicBezTo>
                  <a:cubicBezTo>
                    <a:pt x="6263" y="12109"/>
                    <a:pt x="8628" y="11553"/>
                    <a:pt x="10021" y="11553"/>
                  </a:cubicBezTo>
                  <a:cubicBezTo>
                    <a:pt x="12942" y="11553"/>
                    <a:pt x="14196" y="13641"/>
                    <a:pt x="14196" y="18094"/>
                  </a:cubicBezTo>
                  <a:lnTo>
                    <a:pt x="14196" y="81133"/>
                  </a:lnTo>
                  <a:cubicBezTo>
                    <a:pt x="14196" y="85725"/>
                    <a:pt x="13081" y="88928"/>
                    <a:pt x="10855" y="90178"/>
                  </a:cubicBezTo>
                  <a:cubicBezTo>
                    <a:pt x="8767" y="91432"/>
                    <a:pt x="6818" y="91849"/>
                    <a:pt x="976" y="91988"/>
                  </a:cubicBezTo>
                  <a:lnTo>
                    <a:pt x="976" y="94075"/>
                  </a:lnTo>
                  <a:lnTo>
                    <a:pt x="39382" y="94075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6" name="advantage_outline_17"/>
            <p:cNvSpPr/>
            <p:nvPr/>
          </p:nvSpPr>
          <p:spPr>
            <a:xfrm>
              <a:off x="3036574" y="2684491"/>
              <a:ext cx="71250" cy="71528"/>
            </a:xfrm>
            <a:custGeom>
              <a:avLst/>
              <a:gdLst/>
              <a:ahLst/>
              <a:cxnLst/>
              <a:rect l="0" t="0" r="r" b="b"/>
              <a:pathLst>
                <a:path w="71251" h="71529">
                  <a:moveTo>
                    <a:pt x="31032" y="31171"/>
                  </a:moveTo>
                  <a:lnTo>
                    <a:pt x="0" y="31171"/>
                  </a:lnTo>
                  <a:lnTo>
                    <a:pt x="0" y="40358"/>
                  </a:lnTo>
                  <a:lnTo>
                    <a:pt x="31032" y="40358"/>
                  </a:lnTo>
                  <a:lnTo>
                    <a:pt x="31032" y="71529"/>
                  </a:lnTo>
                  <a:lnTo>
                    <a:pt x="40219" y="71529"/>
                  </a:lnTo>
                  <a:lnTo>
                    <a:pt x="40219" y="40358"/>
                  </a:lnTo>
                  <a:lnTo>
                    <a:pt x="71251" y="40358"/>
                  </a:lnTo>
                  <a:lnTo>
                    <a:pt x="71251" y="31171"/>
                  </a:lnTo>
                  <a:lnTo>
                    <a:pt x="40219" y="31171"/>
                  </a:lnTo>
                  <a:lnTo>
                    <a:pt x="40219" y="0"/>
                  </a:lnTo>
                  <a:lnTo>
                    <a:pt x="31032" y="0"/>
                  </a:lnTo>
                  <a:lnTo>
                    <a:pt x="31032" y="31171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7" name="advantage_outline_18"/>
            <p:cNvSpPr/>
            <p:nvPr/>
          </p:nvSpPr>
          <p:spPr>
            <a:xfrm>
              <a:off x="3153375" y="2658586"/>
              <a:ext cx="95047" cy="122463"/>
            </a:xfrm>
            <a:custGeom>
              <a:avLst/>
              <a:gdLst/>
              <a:ahLst/>
              <a:cxnLst/>
              <a:rect l="0" t="0" r="r" b="b"/>
              <a:pathLst>
                <a:path w="95048" h="122464">
                  <a:moveTo>
                    <a:pt x="95048" y="85308"/>
                  </a:moveTo>
                  <a:lnTo>
                    <a:pt x="92123" y="85308"/>
                  </a:lnTo>
                  <a:cubicBezTo>
                    <a:pt x="89340" y="102703"/>
                    <a:pt x="82939" y="110494"/>
                    <a:pt x="73200" y="110494"/>
                  </a:cubicBezTo>
                  <a:lnTo>
                    <a:pt x="18645" y="110494"/>
                  </a:lnTo>
                  <a:lnTo>
                    <a:pt x="59003" y="58726"/>
                  </a:lnTo>
                  <a:lnTo>
                    <a:pt x="23098" y="5429"/>
                  </a:lnTo>
                  <a:lnTo>
                    <a:pt x="67631" y="5429"/>
                  </a:lnTo>
                  <a:cubicBezTo>
                    <a:pt x="77791" y="5429"/>
                    <a:pt x="84193" y="10993"/>
                    <a:pt x="87114" y="28666"/>
                  </a:cubicBezTo>
                  <a:lnTo>
                    <a:pt x="90178" y="28666"/>
                  </a:lnTo>
                  <a:lnTo>
                    <a:pt x="89340" y="0"/>
                  </a:lnTo>
                  <a:lnTo>
                    <a:pt x="5842" y="0"/>
                  </a:lnTo>
                  <a:lnTo>
                    <a:pt x="48427" y="61091"/>
                  </a:lnTo>
                  <a:lnTo>
                    <a:pt x="0" y="122464"/>
                  </a:lnTo>
                  <a:lnTo>
                    <a:pt x="93516" y="122464"/>
                  </a:lnTo>
                  <a:lnTo>
                    <a:pt x="95048" y="85308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8" name="advantage_outline_19"/>
            <p:cNvSpPr/>
            <p:nvPr/>
          </p:nvSpPr>
          <p:spPr>
            <a:xfrm>
              <a:off x="3266181" y="2716214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3" y="62258"/>
                  </a:cubicBezTo>
                  <a:cubicBezTo>
                    <a:pt x="42541" y="65472"/>
                    <a:pt x="41196" y="66615"/>
                    <a:pt x="39429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3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3"/>
                    <a:pt x="30817" y="35592"/>
                    <a:pt x="20233" y="44101"/>
                  </a:cubicBezTo>
                  <a:lnTo>
                    <a:pt x="15149" y="47938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2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7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9" name="advantage_outline_20"/>
            <p:cNvSpPr/>
            <p:nvPr/>
          </p:nvSpPr>
          <p:spPr>
            <a:xfrm>
              <a:off x="3351470" y="2664870"/>
              <a:ext cx="71111" cy="92682"/>
            </a:xfrm>
            <a:custGeom>
              <a:avLst/>
              <a:gdLst/>
              <a:ahLst/>
              <a:cxnLst/>
              <a:rect l="0" t="0" r="r" b="b"/>
              <a:pathLst>
                <a:path w="71112" h="92682">
                  <a:moveTo>
                    <a:pt x="71112" y="80990"/>
                  </a:moveTo>
                  <a:lnTo>
                    <a:pt x="70973" y="80713"/>
                  </a:lnTo>
                  <a:cubicBezTo>
                    <a:pt x="69025" y="80713"/>
                    <a:pt x="66659" y="85443"/>
                    <a:pt x="60813" y="85443"/>
                  </a:cubicBezTo>
                  <a:cubicBezTo>
                    <a:pt x="34512" y="85443"/>
                    <a:pt x="82383" y="0"/>
                    <a:pt x="41469" y="0"/>
                  </a:cubicBezTo>
                  <a:lnTo>
                    <a:pt x="39942" y="0"/>
                  </a:lnTo>
                  <a:cubicBezTo>
                    <a:pt x="37433" y="0"/>
                    <a:pt x="31591" y="2088"/>
                    <a:pt x="29781" y="3758"/>
                  </a:cubicBezTo>
                  <a:cubicBezTo>
                    <a:pt x="29643" y="3897"/>
                    <a:pt x="30754" y="5148"/>
                    <a:pt x="30893" y="5148"/>
                  </a:cubicBezTo>
                  <a:cubicBezTo>
                    <a:pt x="31591" y="4592"/>
                    <a:pt x="34651" y="3338"/>
                    <a:pt x="37433" y="3338"/>
                  </a:cubicBezTo>
                  <a:cubicBezTo>
                    <a:pt x="50935" y="3338"/>
                    <a:pt x="47315" y="25606"/>
                    <a:pt x="47315" y="29222"/>
                  </a:cubicBezTo>
                  <a:cubicBezTo>
                    <a:pt x="47454" y="29643"/>
                    <a:pt x="47315" y="29920"/>
                    <a:pt x="47177" y="30476"/>
                  </a:cubicBezTo>
                  <a:cubicBezTo>
                    <a:pt x="44394" y="43418"/>
                    <a:pt x="3342" y="79879"/>
                    <a:pt x="0" y="91150"/>
                  </a:cubicBezTo>
                  <a:lnTo>
                    <a:pt x="13915" y="91150"/>
                  </a:lnTo>
                  <a:cubicBezTo>
                    <a:pt x="13915" y="89757"/>
                    <a:pt x="14057" y="88368"/>
                    <a:pt x="14335" y="86836"/>
                  </a:cubicBezTo>
                  <a:cubicBezTo>
                    <a:pt x="18371" y="69024"/>
                    <a:pt x="45645" y="42025"/>
                    <a:pt x="45645" y="41886"/>
                  </a:cubicBezTo>
                  <a:lnTo>
                    <a:pt x="45784" y="41886"/>
                  </a:lnTo>
                  <a:cubicBezTo>
                    <a:pt x="44950" y="49125"/>
                    <a:pt x="32425" y="92682"/>
                    <a:pt x="55110" y="92682"/>
                  </a:cubicBezTo>
                  <a:cubicBezTo>
                    <a:pt x="61230" y="92682"/>
                    <a:pt x="70834" y="82661"/>
                    <a:pt x="71112" y="80990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0" name="advantage_outline_21"/>
            <p:cNvSpPr/>
            <p:nvPr/>
          </p:nvSpPr>
          <p:spPr>
            <a:xfrm>
              <a:off x="3433503" y="2706080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3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4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4"/>
                    <a:pt x="30817" y="35592"/>
                    <a:pt x="20233" y="44101"/>
                  </a:cubicBezTo>
                  <a:lnTo>
                    <a:pt x="15149" y="47939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3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3" name="pi_next"/>
          <p:cNvGrpSpPr/>
          <p:nvPr/>
        </p:nvGrpSpPr>
        <p:grpSpPr>
          <a:xfrm>
            <a:off x="4675044" y="2548221"/>
            <a:ext cx="224704" cy="83646"/>
            <a:chOff x="4675044" y="2548221"/>
            <a:chExt cx="224704" cy="83646"/>
          </a:xfrm>
        </p:grpSpPr>
        <p:sp>
          <p:nvSpPr>
            <p:cNvPr id="281" name="pi_next_outline_0"/>
            <p:cNvSpPr/>
            <p:nvPr/>
          </p:nvSpPr>
          <p:spPr>
            <a:xfrm>
              <a:off x="4675044" y="2548221"/>
              <a:ext cx="72088" cy="62900"/>
            </a:xfrm>
            <a:custGeom>
              <a:avLst/>
              <a:gdLst/>
              <a:ahLst/>
              <a:cxnLst/>
              <a:rect l="0" t="0" r="r" b="b"/>
              <a:pathLst>
                <a:path w="72088" h="62901">
                  <a:moveTo>
                    <a:pt x="72088" y="0"/>
                  </a:moveTo>
                  <a:lnTo>
                    <a:pt x="23936" y="0"/>
                  </a:lnTo>
                  <a:cubicBezTo>
                    <a:pt x="11132" y="0"/>
                    <a:pt x="3481" y="15307"/>
                    <a:pt x="2365" y="17951"/>
                  </a:cubicBezTo>
                  <a:lnTo>
                    <a:pt x="3897" y="17951"/>
                  </a:lnTo>
                  <a:cubicBezTo>
                    <a:pt x="4592" y="16974"/>
                    <a:pt x="9743" y="10156"/>
                    <a:pt x="16978" y="10156"/>
                  </a:cubicBezTo>
                  <a:lnTo>
                    <a:pt x="24213" y="10156"/>
                  </a:lnTo>
                  <a:lnTo>
                    <a:pt x="14474" y="39521"/>
                  </a:lnTo>
                  <a:cubicBezTo>
                    <a:pt x="11410" y="48704"/>
                    <a:pt x="0" y="49121"/>
                    <a:pt x="0" y="58587"/>
                  </a:cubicBezTo>
                  <a:lnTo>
                    <a:pt x="0" y="59281"/>
                  </a:lnTo>
                  <a:cubicBezTo>
                    <a:pt x="0" y="61647"/>
                    <a:pt x="1810" y="62901"/>
                    <a:pt x="5151" y="62901"/>
                  </a:cubicBezTo>
                  <a:cubicBezTo>
                    <a:pt x="10438" y="62901"/>
                    <a:pt x="15446" y="59559"/>
                    <a:pt x="22269" y="39799"/>
                  </a:cubicBezTo>
                  <a:lnTo>
                    <a:pt x="32425" y="10156"/>
                  </a:lnTo>
                  <a:lnTo>
                    <a:pt x="46482" y="10156"/>
                  </a:lnTo>
                  <a:lnTo>
                    <a:pt x="39664" y="40076"/>
                  </a:lnTo>
                  <a:cubicBezTo>
                    <a:pt x="38687" y="44113"/>
                    <a:pt x="38132" y="47593"/>
                    <a:pt x="38132" y="50375"/>
                  </a:cubicBezTo>
                  <a:lnTo>
                    <a:pt x="38132" y="51625"/>
                  </a:lnTo>
                  <a:cubicBezTo>
                    <a:pt x="38132" y="57610"/>
                    <a:pt x="42307" y="62901"/>
                    <a:pt x="49125" y="62901"/>
                  </a:cubicBezTo>
                  <a:cubicBezTo>
                    <a:pt x="52324" y="62901"/>
                    <a:pt x="56082" y="61924"/>
                    <a:pt x="56082" y="57333"/>
                  </a:cubicBezTo>
                  <a:lnTo>
                    <a:pt x="56082" y="56777"/>
                  </a:lnTo>
                  <a:cubicBezTo>
                    <a:pt x="56082" y="48566"/>
                    <a:pt x="47732" y="49681"/>
                    <a:pt x="47732" y="41886"/>
                  </a:cubicBezTo>
                  <a:cubicBezTo>
                    <a:pt x="47732" y="40771"/>
                    <a:pt x="47871" y="39521"/>
                    <a:pt x="48292" y="37989"/>
                  </a:cubicBezTo>
                  <a:lnTo>
                    <a:pt x="55110" y="10156"/>
                  </a:lnTo>
                  <a:lnTo>
                    <a:pt x="69719" y="10156"/>
                  </a:lnTo>
                  <a:lnTo>
                    <a:pt x="72088" y="0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2" name="pi_next_outline_1"/>
            <p:cNvSpPr/>
            <p:nvPr/>
          </p:nvSpPr>
          <p:spPr>
            <a:xfrm>
              <a:off x="4755224" y="2573864"/>
              <a:ext cx="29777" cy="58003"/>
            </a:xfrm>
            <a:custGeom>
              <a:avLst/>
              <a:gdLst/>
              <a:ahLst/>
              <a:cxnLst/>
              <a:rect l="0" t="0" r="r" b="b"/>
              <a:pathLst>
                <a:path w="29777" h="58003">
                  <a:moveTo>
                    <a:pt x="22205" y="45240"/>
                  </a:moveTo>
                  <a:lnTo>
                    <a:pt x="20649" y="44513"/>
                  </a:lnTo>
                  <a:cubicBezTo>
                    <a:pt x="15045" y="51050"/>
                    <a:pt x="13283" y="52713"/>
                    <a:pt x="11414" y="52713"/>
                  </a:cubicBezTo>
                  <a:cubicBezTo>
                    <a:pt x="9858" y="52713"/>
                    <a:pt x="9029" y="51467"/>
                    <a:pt x="9648" y="50117"/>
                  </a:cubicBezTo>
                  <a:lnTo>
                    <a:pt x="19300" y="15772"/>
                  </a:lnTo>
                  <a:lnTo>
                    <a:pt x="29262" y="15772"/>
                  </a:lnTo>
                  <a:lnTo>
                    <a:pt x="29777" y="12244"/>
                  </a:lnTo>
                  <a:lnTo>
                    <a:pt x="20233" y="12244"/>
                  </a:lnTo>
                  <a:lnTo>
                    <a:pt x="22931" y="1556"/>
                  </a:lnTo>
                  <a:lnTo>
                    <a:pt x="21896" y="0"/>
                  </a:lnTo>
                  <a:lnTo>
                    <a:pt x="21582" y="0"/>
                  </a:lnTo>
                  <a:cubicBezTo>
                    <a:pt x="21165" y="0"/>
                    <a:pt x="20649" y="314"/>
                    <a:pt x="20233" y="937"/>
                  </a:cubicBezTo>
                  <a:cubicBezTo>
                    <a:pt x="15875" y="6124"/>
                    <a:pt x="8715" y="11728"/>
                    <a:pt x="4981" y="12557"/>
                  </a:cubicBezTo>
                  <a:cubicBezTo>
                    <a:pt x="2179" y="13387"/>
                    <a:pt x="1246" y="14010"/>
                    <a:pt x="1246" y="15149"/>
                  </a:cubicBezTo>
                  <a:cubicBezTo>
                    <a:pt x="1246" y="15149"/>
                    <a:pt x="1246" y="15462"/>
                    <a:pt x="1453" y="15772"/>
                  </a:cubicBezTo>
                  <a:lnTo>
                    <a:pt x="10271" y="15772"/>
                  </a:lnTo>
                  <a:lnTo>
                    <a:pt x="1766" y="46280"/>
                  </a:lnTo>
                  <a:cubicBezTo>
                    <a:pt x="623" y="49701"/>
                    <a:pt x="0" y="53126"/>
                    <a:pt x="0" y="54165"/>
                  </a:cubicBezTo>
                  <a:cubicBezTo>
                    <a:pt x="103" y="56344"/>
                    <a:pt x="2492" y="58003"/>
                    <a:pt x="5707" y="58003"/>
                  </a:cubicBezTo>
                  <a:cubicBezTo>
                    <a:pt x="11105" y="58003"/>
                    <a:pt x="14942" y="55098"/>
                    <a:pt x="22205" y="45240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3" name="pi_next_outline_2"/>
            <p:cNvSpPr/>
            <p:nvPr/>
          </p:nvSpPr>
          <p:spPr>
            <a:xfrm>
              <a:off x="4799311" y="2577186"/>
              <a:ext cx="53125" cy="53332"/>
            </a:xfrm>
            <a:custGeom>
              <a:avLst/>
              <a:gdLst/>
              <a:ahLst/>
              <a:cxnLst/>
              <a:rect l="0" t="0" r="r" b="b"/>
              <a:pathLst>
                <a:path w="53126" h="53332">
                  <a:moveTo>
                    <a:pt x="23138" y="23241"/>
                  </a:moveTo>
                  <a:lnTo>
                    <a:pt x="0" y="23241"/>
                  </a:lnTo>
                  <a:lnTo>
                    <a:pt x="0" y="30091"/>
                  </a:lnTo>
                  <a:lnTo>
                    <a:pt x="23138" y="30091"/>
                  </a:lnTo>
                  <a:lnTo>
                    <a:pt x="23138" y="53332"/>
                  </a:lnTo>
                  <a:lnTo>
                    <a:pt x="29988" y="53332"/>
                  </a:lnTo>
                  <a:lnTo>
                    <a:pt x="29988" y="30091"/>
                  </a:lnTo>
                  <a:lnTo>
                    <a:pt x="53126" y="30091"/>
                  </a:lnTo>
                  <a:lnTo>
                    <a:pt x="53126" y="23241"/>
                  </a:lnTo>
                  <a:lnTo>
                    <a:pt x="29988" y="23241"/>
                  </a:lnTo>
                  <a:lnTo>
                    <a:pt x="29988" y="0"/>
                  </a:lnTo>
                  <a:lnTo>
                    <a:pt x="23138" y="0"/>
                  </a:lnTo>
                  <a:lnTo>
                    <a:pt x="23138" y="23241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4" name="pi_next_outline_3"/>
            <p:cNvSpPr/>
            <p:nvPr/>
          </p:nvSpPr>
          <p:spPr>
            <a:xfrm>
              <a:off x="4870384" y="2560375"/>
              <a:ext cx="29364" cy="70143"/>
            </a:xfrm>
            <a:custGeom>
              <a:avLst/>
              <a:gdLst/>
              <a:ahLst/>
              <a:cxnLst/>
              <a:rect l="0" t="0" r="r" b="b"/>
              <a:pathLst>
                <a:path w="29365" h="70144">
                  <a:moveTo>
                    <a:pt x="29365" y="70144"/>
                  </a:moveTo>
                  <a:lnTo>
                    <a:pt x="29365" y="68588"/>
                  </a:lnTo>
                  <a:cubicBezTo>
                    <a:pt x="21165" y="68485"/>
                    <a:pt x="19506" y="67445"/>
                    <a:pt x="19506" y="62464"/>
                  </a:cubicBezTo>
                  <a:lnTo>
                    <a:pt x="19506" y="210"/>
                  </a:lnTo>
                  <a:lnTo>
                    <a:pt x="18677" y="0"/>
                  </a:lnTo>
                  <a:lnTo>
                    <a:pt x="0" y="9446"/>
                  </a:lnTo>
                  <a:lnTo>
                    <a:pt x="0" y="10898"/>
                  </a:lnTo>
                  <a:cubicBezTo>
                    <a:pt x="1246" y="10378"/>
                    <a:pt x="2385" y="9962"/>
                    <a:pt x="2802" y="9755"/>
                  </a:cubicBezTo>
                  <a:cubicBezTo>
                    <a:pt x="4671" y="9029"/>
                    <a:pt x="6433" y="8612"/>
                    <a:pt x="7469" y="8612"/>
                  </a:cubicBezTo>
                  <a:cubicBezTo>
                    <a:pt x="9648" y="8612"/>
                    <a:pt x="10585" y="10172"/>
                    <a:pt x="10585" y="13490"/>
                  </a:cubicBezTo>
                  <a:lnTo>
                    <a:pt x="10585" y="60496"/>
                  </a:lnTo>
                  <a:cubicBezTo>
                    <a:pt x="10585" y="63917"/>
                    <a:pt x="9755" y="66306"/>
                    <a:pt x="8092" y="67239"/>
                  </a:cubicBezTo>
                  <a:cubicBezTo>
                    <a:pt x="6537" y="68171"/>
                    <a:pt x="5084" y="68485"/>
                    <a:pt x="726" y="68588"/>
                  </a:cubicBezTo>
                  <a:lnTo>
                    <a:pt x="726" y="70144"/>
                  </a:lnTo>
                  <a:lnTo>
                    <a:pt x="29365" y="70144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SafeOT Figure 2 R2</dc:title>
  <dc:subject/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