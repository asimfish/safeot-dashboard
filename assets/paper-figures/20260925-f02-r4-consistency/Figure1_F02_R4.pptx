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508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0955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2573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7018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constraint: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Prices before violations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4610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Fstar_legend"/>
          <p:cNvGrpSpPr/>
          <p:nvPr/>
        </p:nvGrpSpPr>
        <p:grpSpPr>
          <a:xfrm>
            <a:off x="1894576" y="402914"/>
            <a:ext cx="158655" cy="107587"/>
            <a:chOff x="1894576" y="402914"/>
            <a:chExt cx="158655" cy="107587"/>
          </a:xfrm>
        </p:grpSpPr>
        <p:sp>
          <p:nvSpPr>
            <p:cNvPr id="516" name="Fstar_legend_outline_0"/>
            <p:cNvSpPr/>
            <p:nvPr/>
          </p:nvSpPr>
          <p:spPr>
            <a:xfrm>
              <a:off x="1894576" y="41962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Fstar_legend_outline_1"/>
            <p:cNvSpPr/>
            <p:nvPr/>
          </p:nvSpPr>
          <p:spPr>
            <a:xfrm>
              <a:off x="1988382" y="40291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3" name="raw_dual"/>
          <p:cNvGrpSpPr/>
          <p:nvPr/>
        </p:nvGrpSpPr>
        <p:grpSpPr>
          <a:xfrm>
            <a:off x="2193395" y="1526140"/>
            <a:ext cx="140487" cy="160190"/>
            <a:chOff x="2193395" y="1526140"/>
            <a:chExt cx="140487" cy="160190"/>
          </a:xfrm>
        </p:grpSpPr>
        <p:sp>
          <p:nvSpPr>
            <p:cNvPr id="518" name="raw_dual_outline_0"/>
            <p:cNvSpPr/>
            <p:nvPr/>
          </p:nvSpPr>
          <p:spPr>
            <a:xfrm>
              <a:off x="2193395" y="15425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aw_dual_outline_1"/>
            <p:cNvSpPr/>
            <p:nvPr/>
          </p:nvSpPr>
          <p:spPr>
            <a:xfrm>
              <a:off x="2269033" y="1526140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aw_dual_outline_2"/>
            <p:cNvSpPr/>
            <p:nvPr/>
          </p:nvSpPr>
          <p:spPr>
            <a:xfrm>
              <a:off x="2275429" y="16143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filter_chain"/>
          <p:cNvGrpSpPr/>
          <p:nvPr/>
        </p:nvGrpSpPr>
        <p:grpSpPr>
          <a:xfrm>
            <a:off x="2003006" y="1768951"/>
            <a:ext cx="1006605" cy="158164"/>
            <a:chOff x="2003006" y="1768951"/>
            <a:chExt cx="1006605" cy="158164"/>
          </a:xfrm>
        </p:grpSpPr>
        <p:sp>
          <p:nvSpPr>
            <p:cNvPr id="521" name="filter_chain_outline_0"/>
            <p:cNvSpPr/>
            <p:nvPr/>
          </p:nvSpPr>
          <p:spPr>
            <a:xfrm>
              <a:off x="2003006" y="178635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1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ilter_chain_outline_1"/>
            <p:cNvSpPr/>
            <p:nvPr/>
          </p:nvSpPr>
          <p:spPr>
            <a:xfrm>
              <a:off x="2226290" y="1810519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ilter_chain_outline_2"/>
            <p:cNvSpPr/>
            <p:nvPr/>
          </p:nvSpPr>
          <p:spPr>
            <a:xfrm>
              <a:off x="2325720" y="1787496"/>
              <a:ext cx="277580" cy="85264"/>
            </a:xfrm>
            <a:custGeom>
              <a:avLst/>
              <a:gdLst/>
              <a:ahLst/>
              <a:cxnLst/>
              <a:rect l="0" t="0" r="r" b="b"/>
              <a:pathLst>
                <a:path w="277580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5" y="56043"/>
                  </a:lnTo>
                  <a:lnTo>
                    <a:pt x="60215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4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11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4" y="6072"/>
                    <a:pt x="89574" y="15307"/>
                  </a:cubicBezTo>
                  <a:lnTo>
                    <a:pt x="89574" y="66667"/>
                  </a:lnTo>
                  <a:cubicBezTo>
                    <a:pt x="89574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80" y="85265"/>
                  </a:moveTo>
                  <a:lnTo>
                    <a:pt x="277580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7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1" y="73624"/>
                    <a:pt x="254175" y="76787"/>
                    <a:pt x="254175" y="78684"/>
                  </a:cubicBezTo>
                  <a:cubicBezTo>
                    <a:pt x="254175" y="79823"/>
                    <a:pt x="253418" y="81216"/>
                    <a:pt x="252406" y="81721"/>
                  </a:cubicBezTo>
                  <a:cubicBezTo>
                    <a:pt x="250890" y="82610"/>
                    <a:pt x="249878" y="82860"/>
                    <a:pt x="245322" y="82860"/>
                  </a:cubicBezTo>
                  <a:lnTo>
                    <a:pt x="245322" y="85265"/>
                  </a:lnTo>
                  <a:lnTo>
                    <a:pt x="277580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ilter_chain_outline_3"/>
            <p:cNvSpPr/>
            <p:nvPr/>
          </p:nvSpPr>
          <p:spPr>
            <a:xfrm>
              <a:off x="2683528" y="181431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ilter_chain_outline_4"/>
            <p:cNvSpPr/>
            <p:nvPr/>
          </p:nvSpPr>
          <p:spPr>
            <a:xfrm>
              <a:off x="2898288" y="17689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ilter_chain_outline_5"/>
            <p:cNvSpPr/>
            <p:nvPr/>
          </p:nvSpPr>
          <p:spPr>
            <a:xfrm>
              <a:off x="2875920" y="178989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ilter_chain_outline_6"/>
            <p:cNvSpPr/>
            <p:nvPr/>
          </p:nvSpPr>
          <p:spPr>
            <a:xfrm>
              <a:off x="2944762" y="176975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ilter_chain_outline_7"/>
            <p:cNvSpPr/>
            <p:nvPr/>
          </p:nvSpPr>
          <p:spPr>
            <a:xfrm>
              <a:off x="2951081" y="185510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price_sum"/>
          <p:cNvGrpSpPr/>
          <p:nvPr/>
        </p:nvGrpSpPr>
        <p:grpSpPr>
          <a:xfrm>
            <a:off x="1952845" y="2101190"/>
            <a:ext cx="744593" cy="166787"/>
            <a:chOff x="1952845" y="2101190"/>
            <a:chExt cx="744593" cy="166787"/>
          </a:xfrm>
        </p:grpSpPr>
        <p:sp>
          <p:nvSpPr>
            <p:cNvPr id="529" name="price_sum_outline_0"/>
            <p:cNvSpPr/>
            <p:nvPr/>
          </p:nvSpPr>
          <p:spPr>
            <a:xfrm>
              <a:off x="1952845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price_sum_outline_1"/>
            <p:cNvSpPr/>
            <p:nvPr/>
          </p:nvSpPr>
          <p:spPr>
            <a:xfrm>
              <a:off x="2034878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price_sum_outline_2"/>
            <p:cNvSpPr/>
            <p:nvPr/>
          </p:nvSpPr>
          <p:spPr>
            <a:xfrm>
              <a:off x="2143853" y="2161658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4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4"/>
                  </a:lnTo>
                  <a:lnTo>
                    <a:pt x="71251" y="7794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price_sum_outline_3"/>
            <p:cNvSpPr/>
            <p:nvPr/>
          </p:nvSpPr>
          <p:spPr>
            <a:xfrm>
              <a:off x="2287417" y="2101190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price_sum_outline_4"/>
            <p:cNvSpPr/>
            <p:nvPr/>
          </p:nvSpPr>
          <p:spPr>
            <a:xfrm>
              <a:off x="2262813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2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price_sum_outline_5"/>
            <p:cNvSpPr/>
            <p:nvPr/>
          </p:nvSpPr>
          <p:spPr>
            <a:xfrm>
              <a:off x="2338451" y="2107787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price_sum_outline_6"/>
            <p:cNvSpPr/>
            <p:nvPr/>
          </p:nvSpPr>
          <p:spPr>
            <a:xfrm>
              <a:off x="2344859" y="219596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price_sum_outline_7"/>
            <p:cNvSpPr/>
            <p:nvPr/>
          </p:nvSpPr>
          <p:spPr>
            <a:xfrm>
              <a:off x="2449910" y="2143846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price_sum_outline_8"/>
            <p:cNvSpPr/>
            <p:nvPr/>
          </p:nvSpPr>
          <p:spPr>
            <a:xfrm>
              <a:off x="2554886" y="2124225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6">
                  <a:moveTo>
                    <a:pt x="83776" y="16002"/>
                  </a:moveTo>
                  <a:cubicBezTo>
                    <a:pt x="83776" y="5009"/>
                    <a:pt x="74866" y="0"/>
                    <a:pt x="63317" y="0"/>
                  </a:cubicBezTo>
                  <a:cubicBezTo>
                    <a:pt x="48566" y="0"/>
                    <a:pt x="34234" y="9878"/>
                    <a:pt x="30337" y="23936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6"/>
                  </a:cubicBezTo>
                  <a:lnTo>
                    <a:pt x="12382" y="119956"/>
                  </a:lnTo>
                  <a:cubicBezTo>
                    <a:pt x="12525" y="119956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8"/>
                    <a:pt x="28805" y="93516"/>
                    <a:pt x="42862" y="93516"/>
                  </a:cubicBezTo>
                  <a:cubicBezTo>
                    <a:pt x="63734" y="93516"/>
                    <a:pt x="77791" y="77930"/>
                    <a:pt x="77791" y="61924"/>
                  </a:cubicBezTo>
                  <a:cubicBezTo>
                    <a:pt x="77791" y="44530"/>
                    <a:pt x="62063" y="41886"/>
                    <a:pt x="61924" y="41886"/>
                  </a:cubicBezTo>
                  <a:lnTo>
                    <a:pt x="61924" y="41331"/>
                  </a:lnTo>
                  <a:cubicBezTo>
                    <a:pt x="62063" y="41331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1" y="40497"/>
                    <a:pt x="44251" y="43001"/>
                  </a:cubicBezTo>
                  <a:cubicBezTo>
                    <a:pt x="44251" y="44530"/>
                    <a:pt x="45367" y="45783"/>
                    <a:pt x="47871" y="45783"/>
                  </a:cubicBezTo>
                  <a:cubicBezTo>
                    <a:pt x="51768" y="45783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7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5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price_sum_outline_9"/>
            <p:cNvSpPr/>
            <p:nvPr/>
          </p:nvSpPr>
          <p:spPr>
            <a:xfrm>
              <a:off x="2646801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