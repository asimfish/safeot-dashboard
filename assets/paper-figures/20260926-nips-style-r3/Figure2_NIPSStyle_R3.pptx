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304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3086" y="192505"/>
            <a:ext cx="782052" cy="2409323"/>
            <a:chOff x="33086" y="192505"/>
            <a:chExt cx="782052" cy="2409323"/>
          </a:xfrm>
        </p:grpSpPr>
        <p:sp>
          <p:nvSpPr>
            <p:cNvPr id="3" name="stage1_border"/>
            <p:cNvSpPr/>
            <p:nvPr/>
          </p:nvSpPr>
          <p:spPr>
            <a:xfrm>
              <a:off x="33086" y="192505"/>
              <a:ext cx="78205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141371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141371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333876" y="300789"/>
              <a:ext cx="448176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Rollout</a:t>
              </a:r>
            </a:p>
          </p:txBody>
        </p:sp>
        <p:pic>
          <p:nvPicPr>
            <p:cNvPr id="7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42" y="1058778"/>
              <a:ext cx="147386" cy="171450"/>
            </a:xfrm>
            <a:prstGeom prst="rect">
              <a:avLst/>
            </a:prstGeom>
          </p:spPr>
        </p:pic>
        <p:pic>
          <p:nvPicPr>
            <p:cNvPr id="8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07" y="1028700"/>
              <a:ext cx="111292" cy="228600"/>
            </a:xfrm>
            <a:prstGeom prst="rect">
              <a:avLst/>
            </a:prstGeom>
          </p:spPr>
        </p:pic>
        <p:sp>
          <p:nvSpPr>
            <p:cNvPr id="9" name="trajnode0"/>
            <p:cNvSpPr/>
            <p:nvPr/>
          </p:nvSpPr>
          <p:spPr>
            <a:xfrm>
              <a:off x="231607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node1"/>
            <p:cNvSpPr/>
            <p:nvPr/>
          </p:nvSpPr>
          <p:spPr>
            <a:xfrm>
              <a:off x="363955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jnode2"/>
            <p:cNvSpPr/>
            <p:nvPr/>
          </p:nvSpPr>
          <p:spPr>
            <a:xfrm>
              <a:off x="496302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"/>
            <p:cNvSpPr/>
            <p:nvPr/>
          </p:nvSpPr>
          <p:spPr>
            <a:xfrm>
              <a:off x="252663" y="1139992"/>
              <a:ext cx="418097" cy="30"/>
            </a:xfrm>
            <a:custGeom>
              <a:avLst/>
              <a:gdLst/>
              <a:ahLst/>
              <a:cxnLst/>
              <a:rect l="0" t="0" r="r" b="b"/>
              <a:pathLst>
                <a:path w="418097" h="1" fill="none">
                  <a:moveTo>
                    <a:pt x="0" y="0"/>
                  </a:moveTo>
                  <a:lnTo>
                    <a:pt x="418097" y="0"/>
                  </a:lnTo>
                </a:path>
              </a:pathLst>
            </a:custGeom>
            <a:noFill/>
            <a:ln w="6015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jectory_dots"/>
            <p:cNvSpPr txBox="1"/>
            <p:nvPr/>
          </p:nvSpPr>
          <p:spPr>
            <a:xfrm>
              <a:off x="562476" y="1076826"/>
              <a:ext cx="99260" cy="1082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002EAA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4" name="collect"/>
            <p:cNvSpPr txBox="1"/>
            <p:nvPr/>
          </p:nvSpPr>
          <p:spPr>
            <a:xfrm>
              <a:off x="123323" y="1870910"/>
              <a:ext cx="613610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42837"/>
                  </a:solidFill>
                  <a:latin typeface="Times New Roman"/>
                </a:rPr>
                <a:t>Collect transitions
(sₜ, aₜ, rₜ, cₖ,ₜ, sₜ₊₁)</a:t>
              </a:r>
            </a:p>
          </p:txBody>
        </p:sp>
        <p:grpSp>
          <p:nvGrpSpPr>
            <p:cNvPr id="15" name="samples"/>
            <p:cNvGrpSpPr/>
            <p:nvPr/>
          </p:nvGrpSpPr>
          <p:grpSpPr>
            <a:xfrm>
              <a:off x="153402" y="914599"/>
              <a:ext cx="537348" cy="62342"/>
              <a:chOff x="169474" y="926438"/>
              <a:chExt cx="630107" cy="62342"/>
            </a:xfrm>
          </p:grpSpPr>
          <p:sp>
            <p:nvSpPr>
              <p:cNvPr id="16" name="samples_outline_0"/>
              <p:cNvSpPr/>
              <p:nvPr/>
            </p:nvSpPr>
            <p:spPr>
              <a:xfrm>
                <a:off x="169474" y="926438"/>
                <a:ext cx="3470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34703" h="40902">
                    <a:moveTo>
                      <a:pt x="29397" y="29035"/>
                    </a:moveTo>
                    <a:cubicBezTo>
                      <a:pt x="29305" y="25531"/>
                      <a:pt x="26972" y="21665"/>
                      <a:pt x="21935" y="16451"/>
                    </a:cubicBezTo>
                    <a:cubicBezTo>
                      <a:pt x="17891" y="12224"/>
                      <a:pt x="16002" y="9438"/>
                      <a:pt x="16002" y="7009"/>
                    </a:cubicBezTo>
                    <a:cubicBezTo>
                      <a:pt x="15823" y="3953"/>
                      <a:pt x="17978" y="2155"/>
                      <a:pt x="21665" y="2155"/>
                    </a:cubicBezTo>
                    <a:cubicBezTo>
                      <a:pt x="27059" y="2155"/>
                      <a:pt x="30206" y="5481"/>
                      <a:pt x="31556" y="12494"/>
                    </a:cubicBezTo>
                    <a:lnTo>
                      <a:pt x="33175" y="12494"/>
                    </a:lnTo>
                    <a:lnTo>
                      <a:pt x="34703" y="0"/>
                    </a:lnTo>
                    <a:lnTo>
                      <a:pt x="33262" y="0"/>
                    </a:lnTo>
                    <a:cubicBezTo>
                      <a:pt x="32365" y="1258"/>
                      <a:pt x="31825" y="1615"/>
                      <a:pt x="30297" y="1615"/>
                    </a:cubicBezTo>
                    <a:cubicBezTo>
                      <a:pt x="29397" y="1615"/>
                      <a:pt x="28317" y="1437"/>
                      <a:pt x="26432" y="988"/>
                    </a:cubicBezTo>
                    <a:cubicBezTo>
                      <a:pt x="23824" y="270"/>
                      <a:pt x="22384" y="87"/>
                      <a:pt x="20677" y="87"/>
                    </a:cubicBezTo>
                    <a:cubicBezTo>
                      <a:pt x="12946" y="87"/>
                      <a:pt x="8180" y="3953"/>
                      <a:pt x="8449" y="9978"/>
                    </a:cubicBezTo>
                    <a:cubicBezTo>
                      <a:pt x="8541" y="12855"/>
                      <a:pt x="10878" y="16720"/>
                      <a:pt x="15371" y="21574"/>
                    </a:cubicBezTo>
                    <a:cubicBezTo>
                      <a:pt x="19598" y="26158"/>
                      <a:pt x="21396" y="29305"/>
                      <a:pt x="21487" y="31913"/>
                    </a:cubicBezTo>
                    <a:cubicBezTo>
                      <a:pt x="21665" y="36048"/>
                      <a:pt x="18697" y="38834"/>
                      <a:pt x="14204" y="38834"/>
                    </a:cubicBezTo>
                    <a:cubicBezTo>
                      <a:pt x="8449" y="38834"/>
                      <a:pt x="5032" y="35151"/>
                      <a:pt x="3147" y="26611"/>
                    </a:cubicBezTo>
                    <a:lnTo>
                      <a:pt x="1528" y="26611"/>
                    </a:lnTo>
                    <a:lnTo>
                      <a:pt x="0" y="40902"/>
                    </a:lnTo>
                    <a:lnTo>
                      <a:pt x="1615" y="40902"/>
                    </a:lnTo>
                    <a:cubicBezTo>
                      <a:pt x="2607" y="39374"/>
                      <a:pt x="2965" y="39017"/>
                      <a:pt x="4135" y="39017"/>
                    </a:cubicBezTo>
                    <a:cubicBezTo>
                      <a:pt x="5302" y="39017"/>
                      <a:pt x="7100" y="39374"/>
                      <a:pt x="9168" y="39826"/>
                    </a:cubicBezTo>
                    <a:cubicBezTo>
                      <a:pt x="11597" y="40454"/>
                      <a:pt x="13125" y="40723"/>
                      <a:pt x="14831" y="40723"/>
                    </a:cubicBezTo>
                    <a:cubicBezTo>
                      <a:pt x="23555" y="40723"/>
                      <a:pt x="29666" y="35870"/>
                      <a:pt x="29397" y="2903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amples_outline_1"/>
              <p:cNvSpPr/>
              <p:nvPr/>
            </p:nvSpPr>
            <p:spPr>
              <a:xfrm>
                <a:off x="209242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amples_outline_2"/>
              <p:cNvSpPr/>
              <p:nvPr/>
            </p:nvSpPr>
            <p:spPr>
              <a:xfrm>
                <a:off x="334937" y="926526"/>
                <a:ext cx="47575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7575" h="40636">
                    <a:moveTo>
                      <a:pt x="47575" y="30659"/>
                    </a:moveTo>
                    <a:lnTo>
                      <a:pt x="46226" y="29758"/>
                    </a:lnTo>
                    <a:lnTo>
                      <a:pt x="43527" y="32274"/>
                    </a:lnTo>
                    <a:cubicBezTo>
                      <a:pt x="40471" y="35151"/>
                      <a:pt x="39304" y="35961"/>
                      <a:pt x="38312" y="35961"/>
                    </a:cubicBezTo>
                    <a:cubicBezTo>
                      <a:pt x="37415" y="35961"/>
                      <a:pt x="36784" y="35421"/>
                      <a:pt x="36784" y="34794"/>
                    </a:cubicBezTo>
                    <a:cubicBezTo>
                      <a:pt x="36697" y="32996"/>
                      <a:pt x="40562" y="17530"/>
                      <a:pt x="44876" y="2159"/>
                    </a:cubicBezTo>
                    <a:cubicBezTo>
                      <a:pt x="45055" y="1258"/>
                      <a:pt x="45146" y="1079"/>
                      <a:pt x="45325" y="270"/>
                    </a:cubicBezTo>
                    <a:lnTo>
                      <a:pt x="44698" y="0"/>
                    </a:lnTo>
                    <a:lnTo>
                      <a:pt x="38403" y="631"/>
                    </a:lnTo>
                    <a:lnTo>
                      <a:pt x="38133" y="901"/>
                    </a:lnTo>
                    <a:lnTo>
                      <a:pt x="37145" y="5215"/>
                    </a:lnTo>
                    <a:cubicBezTo>
                      <a:pt x="36157" y="1889"/>
                      <a:pt x="33101" y="0"/>
                      <a:pt x="28696" y="0"/>
                    </a:cubicBezTo>
                    <a:cubicBezTo>
                      <a:pt x="14849" y="0"/>
                      <a:pt x="-522" y="16363"/>
                      <a:pt x="14" y="30659"/>
                    </a:cubicBezTo>
                    <a:cubicBezTo>
                      <a:pt x="196" y="36949"/>
                      <a:pt x="4240" y="40636"/>
                      <a:pt x="10892" y="40636"/>
                    </a:cubicBezTo>
                    <a:cubicBezTo>
                      <a:pt x="18087" y="40636"/>
                      <a:pt x="23211" y="38029"/>
                      <a:pt x="31303" y="26523"/>
                    </a:cubicBezTo>
                    <a:cubicBezTo>
                      <a:pt x="29323" y="33893"/>
                      <a:pt x="29144" y="34611"/>
                      <a:pt x="29235" y="36862"/>
                    </a:cubicBezTo>
                    <a:cubicBezTo>
                      <a:pt x="29323" y="39469"/>
                      <a:pt x="30581" y="40549"/>
                      <a:pt x="33458" y="40549"/>
                    </a:cubicBezTo>
                    <a:cubicBezTo>
                      <a:pt x="37594" y="40549"/>
                      <a:pt x="40110" y="38838"/>
                      <a:pt x="47575" y="30659"/>
                    </a:cubicBezTo>
                    <a:close/>
                    <a:moveTo>
                      <a:pt x="35439" y="7461"/>
                    </a:moveTo>
                    <a:cubicBezTo>
                      <a:pt x="35705" y="15014"/>
                      <a:pt x="30764" y="25622"/>
                      <a:pt x="23929" y="32274"/>
                    </a:cubicBezTo>
                    <a:cubicBezTo>
                      <a:pt x="21500" y="34703"/>
                      <a:pt x="17996" y="36231"/>
                      <a:pt x="15027" y="36231"/>
                    </a:cubicBezTo>
                    <a:cubicBezTo>
                      <a:pt x="11253" y="36231"/>
                      <a:pt x="8916" y="33715"/>
                      <a:pt x="8737" y="29579"/>
                    </a:cubicBezTo>
                    <a:cubicBezTo>
                      <a:pt x="8554" y="24725"/>
                      <a:pt x="11971" y="15915"/>
                      <a:pt x="16107" y="10251"/>
                    </a:cubicBezTo>
                    <a:cubicBezTo>
                      <a:pt x="20064" y="5036"/>
                      <a:pt x="24648" y="1980"/>
                      <a:pt x="28874" y="1980"/>
                    </a:cubicBezTo>
                    <a:lnTo>
                      <a:pt x="29414" y="1980"/>
                    </a:lnTo>
                    <a:cubicBezTo>
                      <a:pt x="33010" y="2159"/>
                      <a:pt x="35347" y="4318"/>
                      <a:pt x="35439" y="74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amples_outline_3"/>
              <p:cNvSpPr/>
              <p:nvPr/>
            </p:nvSpPr>
            <p:spPr>
              <a:xfrm>
                <a:off x="388477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samples_outline_4"/>
              <p:cNvSpPr/>
              <p:nvPr/>
            </p:nvSpPr>
            <p:spPr>
              <a:xfrm>
                <a:off x="513294" y="926526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4"/>
                    </a:cubicBezTo>
                    <a:lnTo>
                      <a:pt x="13486" y="19689"/>
                    </a:lnTo>
                    <a:lnTo>
                      <a:pt x="18340" y="182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5"/>
                      <a:pt x="8811" y="6024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5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0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samples_outline_5"/>
              <p:cNvSpPr/>
              <p:nvPr/>
            </p:nvSpPr>
            <p:spPr>
              <a:xfrm>
                <a:off x="550186" y="945327"/>
                <a:ext cx="19934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amples_outline_6"/>
              <p:cNvSpPr/>
              <p:nvPr/>
            </p:nvSpPr>
            <p:spPr>
              <a:xfrm>
                <a:off x="675709" y="926526"/>
                <a:ext cx="40379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0379" h="40636">
                    <a:moveTo>
                      <a:pt x="34983" y="31016"/>
                    </a:moveTo>
                    <a:lnTo>
                      <a:pt x="33272" y="30119"/>
                    </a:lnTo>
                    <a:cubicBezTo>
                      <a:pt x="27792" y="35421"/>
                      <a:pt x="23922" y="37401"/>
                      <a:pt x="18799" y="37401"/>
                    </a:cubicBezTo>
                    <a:cubicBezTo>
                      <a:pt x="12957" y="37401"/>
                      <a:pt x="9270" y="33623"/>
                      <a:pt x="9000" y="27150"/>
                    </a:cubicBezTo>
                    <a:cubicBezTo>
                      <a:pt x="8730" y="19510"/>
                      <a:pt x="12147" y="11509"/>
                      <a:pt x="17719" y="6203"/>
                    </a:cubicBezTo>
                    <a:cubicBezTo>
                      <a:pt x="20596" y="3508"/>
                      <a:pt x="24644" y="1889"/>
                      <a:pt x="28780" y="1889"/>
                    </a:cubicBezTo>
                    <a:cubicBezTo>
                      <a:pt x="31205" y="1889"/>
                      <a:pt x="32645" y="2607"/>
                      <a:pt x="32645" y="3687"/>
                    </a:cubicBezTo>
                    <a:cubicBezTo>
                      <a:pt x="32733" y="4135"/>
                      <a:pt x="32645" y="4588"/>
                      <a:pt x="32197" y="5394"/>
                    </a:cubicBezTo>
                    <a:cubicBezTo>
                      <a:pt x="31387" y="6564"/>
                      <a:pt x="31296" y="7104"/>
                      <a:pt x="31296" y="8001"/>
                    </a:cubicBezTo>
                    <a:cubicBezTo>
                      <a:pt x="31387" y="10160"/>
                      <a:pt x="32915" y="11418"/>
                      <a:pt x="35431" y="11418"/>
                    </a:cubicBezTo>
                    <a:cubicBezTo>
                      <a:pt x="38309" y="11418"/>
                      <a:pt x="40468" y="9712"/>
                      <a:pt x="40377" y="7283"/>
                    </a:cubicBezTo>
                    <a:cubicBezTo>
                      <a:pt x="40198" y="3056"/>
                      <a:pt x="35610" y="0"/>
                      <a:pt x="29228" y="0"/>
                    </a:cubicBezTo>
                    <a:cubicBezTo>
                      <a:pt x="13675" y="0"/>
                      <a:pt x="-438" y="13129"/>
                      <a:pt x="10" y="27150"/>
                    </a:cubicBezTo>
                    <a:cubicBezTo>
                      <a:pt x="280" y="35691"/>
                      <a:pt x="6122" y="40636"/>
                      <a:pt x="15743" y="40636"/>
                    </a:cubicBezTo>
                    <a:cubicBezTo>
                      <a:pt x="23565" y="40636"/>
                      <a:pt x="28780" y="37941"/>
                      <a:pt x="34983" y="310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s_outline_7"/>
              <p:cNvSpPr/>
              <p:nvPr/>
            </p:nvSpPr>
            <p:spPr>
              <a:xfrm>
                <a:off x="720724" y="951864"/>
                <a:ext cx="27289" cy="28614"/>
              </a:xfrm>
              <a:custGeom>
                <a:avLst/>
                <a:gdLst/>
                <a:ahLst/>
                <a:cxnLst/>
                <a:rect l="0" t="0" r="r" b="b"/>
                <a:pathLst>
                  <a:path w="27289" h="28615">
                    <a:moveTo>
                      <a:pt x="23642" y="20312"/>
                    </a:moveTo>
                    <a:cubicBezTo>
                      <a:pt x="23455" y="17859"/>
                      <a:pt x="21570" y="15157"/>
                      <a:pt x="17355" y="11509"/>
                    </a:cubicBezTo>
                    <a:cubicBezTo>
                      <a:pt x="13835" y="8493"/>
                      <a:pt x="12200" y="6604"/>
                      <a:pt x="12200" y="4655"/>
                    </a:cubicBezTo>
                    <a:cubicBezTo>
                      <a:pt x="12200" y="2643"/>
                      <a:pt x="13958" y="1512"/>
                      <a:pt x="16788" y="1512"/>
                    </a:cubicBezTo>
                    <a:cubicBezTo>
                      <a:pt x="21193" y="1512"/>
                      <a:pt x="23705" y="3838"/>
                      <a:pt x="24963" y="8743"/>
                    </a:cubicBezTo>
                    <a:lnTo>
                      <a:pt x="26285" y="8743"/>
                    </a:lnTo>
                    <a:lnTo>
                      <a:pt x="27289" y="0"/>
                    </a:lnTo>
                    <a:lnTo>
                      <a:pt x="26158" y="0"/>
                    </a:lnTo>
                    <a:cubicBezTo>
                      <a:pt x="25467" y="881"/>
                      <a:pt x="24900" y="1135"/>
                      <a:pt x="23705" y="1135"/>
                    </a:cubicBezTo>
                    <a:cubicBezTo>
                      <a:pt x="22951" y="1135"/>
                      <a:pt x="22261" y="1008"/>
                      <a:pt x="20689" y="695"/>
                    </a:cubicBezTo>
                    <a:cubicBezTo>
                      <a:pt x="18550" y="190"/>
                      <a:pt x="17292" y="63"/>
                      <a:pt x="15911" y="63"/>
                    </a:cubicBezTo>
                    <a:cubicBezTo>
                      <a:pt x="9870" y="63"/>
                      <a:pt x="6163" y="2580"/>
                      <a:pt x="6163" y="6540"/>
                    </a:cubicBezTo>
                    <a:cubicBezTo>
                      <a:pt x="6163" y="6667"/>
                      <a:pt x="6163" y="6858"/>
                      <a:pt x="6163" y="6981"/>
                    </a:cubicBezTo>
                    <a:cubicBezTo>
                      <a:pt x="6287" y="8993"/>
                      <a:pt x="8299" y="11700"/>
                      <a:pt x="12073" y="15093"/>
                    </a:cubicBezTo>
                    <a:cubicBezTo>
                      <a:pt x="15593" y="18300"/>
                      <a:pt x="17105" y="20503"/>
                      <a:pt x="17228" y="22324"/>
                    </a:cubicBezTo>
                    <a:cubicBezTo>
                      <a:pt x="17228" y="22451"/>
                      <a:pt x="17228" y="22578"/>
                      <a:pt x="17228" y="22705"/>
                    </a:cubicBezTo>
                    <a:cubicBezTo>
                      <a:pt x="17228" y="25408"/>
                      <a:pt x="15030" y="27170"/>
                      <a:pt x="11505" y="27170"/>
                    </a:cubicBezTo>
                    <a:cubicBezTo>
                      <a:pt x="6854" y="27170"/>
                      <a:pt x="3897" y="24590"/>
                      <a:pt x="2262" y="18617"/>
                    </a:cubicBezTo>
                    <a:lnTo>
                      <a:pt x="941" y="18617"/>
                    </a:lnTo>
                    <a:lnTo>
                      <a:pt x="0" y="28615"/>
                    </a:lnTo>
                    <a:lnTo>
                      <a:pt x="1381" y="28615"/>
                    </a:lnTo>
                    <a:cubicBezTo>
                      <a:pt x="2135" y="27547"/>
                      <a:pt x="2326" y="27293"/>
                      <a:pt x="3270" y="27293"/>
                    </a:cubicBezTo>
                    <a:cubicBezTo>
                      <a:pt x="4211" y="27293"/>
                      <a:pt x="5723" y="27547"/>
                      <a:pt x="7418" y="27861"/>
                    </a:cubicBezTo>
                    <a:cubicBezTo>
                      <a:pt x="9434" y="28301"/>
                      <a:pt x="10688" y="28488"/>
                      <a:pt x="12073" y="28488"/>
                    </a:cubicBezTo>
                    <a:cubicBezTo>
                      <a:pt x="18927" y="28488"/>
                      <a:pt x="23642" y="25281"/>
                      <a:pt x="23642" y="20753"/>
                    </a:cubicBezTo>
                    <a:cubicBezTo>
                      <a:pt x="23642" y="20630"/>
                      <a:pt x="23642" y="20439"/>
                      <a:pt x="23642" y="203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s_outline_8"/>
              <p:cNvSpPr/>
              <p:nvPr/>
            </p:nvSpPr>
            <p:spPr>
              <a:xfrm>
                <a:off x="759231" y="973247"/>
                <a:ext cx="10755" cy="15533"/>
              </a:xfrm>
              <a:custGeom>
                <a:avLst/>
                <a:gdLst/>
                <a:ahLst/>
                <a:cxnLst/>
                <a:rect l="0" t="0" r="r" b="b"/>
                <a:pathLst>
                  <a:path w="10755" h="15534">
                    <a:moveTo>
                      <a:pt x="10755" y="6036"/>
                    </a:moveTo>
                    <a:cubicBezTo>
                      <a:pt x="10755" y="818"/>
                      <a:pt x="6350" y="0"/>
                      <a:pt x="4528" y="0"/>
                    </a:cubicBezTo>
                    <a:cubicBezTo>
                      <a:pt x="2580" y="0"/>
                      <a:pt x="0" y="1195"/>
                      <a:pt x="0" y="3897"/>
                    </a:cubicBezTo>
                    <a:cubicBezTo>
                      <a:pt x="0" y="6414"/>
                      <a:pt x="2643" y="7041"/>
                      <a:pt x="4592" y="7041"/>
                    </a:cubicBezTo>
                    <a:cubicBezTo>
                      <a:pt x="5096" y="7041"/>
                      <a:pt x="5473" y="6981"/>
                      <a:pt x="5660" y="6918"/>
                    </a:cubicBezTo>
                    <a:cubicBezTo>
                      <a:pt x="5914" y="6854"/>
                      <a:pt x="6290" y="6791"/>
                      <a:pt x="6414" y="6791"/>
                    </a:cubicBezTo>
                    <a:cubicBezTo>
                      <a:pt x="6918" y="6791"/>
                      <a:pt x="7422" y="7104"/>
                      <a:pt x="7422" y="7672"/>
                    </a:cubicBezTo>
                    <a:cubicBezTo>
                      <a:pt x="7422" y="8866"/>
                      <a:pt x="6227" y="11505"/>
                      <a:pt x="1322" y="14149"/>
                    </a:cubicBezTo>
                    <a:lnTo>
                      <a:pt x="1949" y="15534"/>
                    </a:lnTo>
                    <a:cubicBezTo>
                      <a:pt x="4338" y="14903"/>
                      <a:pt x="10755" y="10501"/>
                      <a:pt x="10755" y="6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s_outline_9"/>
              <p:cNvSpPr/>
              <p:nvPr/>
            </p:nvSpPr>
            <p:spPr>
              <a:xfrm>
                <a:off x="779646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extstate"/>
            <p:cNvGrpSpPr/>
            <p:nvPr/>
          </p:nvGrpSpPr>
          <p:grpSpPr>
            <a:xfrm>
              <a:off x="316614" y="1293735"/>
              <a:ext cx="133828" cy="55965"/>
              <a:chOff x="332801" y="1305548"/>
              <a:chExt cx="133828" cy="55965"/>
            </a:xfrm>
          </p:grpSpPr>
          <p:sp>
            <p:nvSpPr>
              <p:cNvPr id="27" name="nextstate_outline_0"/>
              <p:cNvSpPr/>
              <p:nvPr/>
            </p:nvSpPr>
            <p:spPr>
              <a:xfrm>
                <a:off x="332801" y="1305548"/>
                <a:ext cx="35857" cy="42263"/>
              </a:xfrm>
              <a:custGeom>
                <a:avLst/>
                <a:gdLst/>
                <a:ahLst/>
                <a:cxnLst/>
                <a:rect l="0" t="0" r="r" b="b"/>
                <a:pathLst>
                  <a:path w="35858" h="42263">
                    <a:moveTo>
                      <a:pt x="30377" y="30004"/>
                    </a:moveTo>
                    <a:cubicBezTo>
                      <a:pt x="30286" y="26380"/>
                      <a:pt x="27869" y="22384"/>
                      <a:pt x="22666" y="16998"/>
                    </a:cubicBezTo>
                    <a:cubicBezTo>
                      <a:pt x="18486" y="12633"/>
                      <a:pt x="16538" y="9751"/>
                      <a:pt x="16538" y="7243"/>
                    </a:cubicBezTo>
                    <a:cubicBezTo>
                      <a:pt x="16351" y="4088"/>
                      <a:pt x="18578" y="2227"/>
                      <a:pt x="22388" y="2227"/>
                    </a:cubicBezTo>
                    <a:cubicBezTo>
                      <a:pt x="27960" y="2227"/>
                      <a:pt x="31214" y="5663"/>
                      <a:pt x="32607" y="12910"/>
                    </a:cubicBezTo>
                    <a:lnTo>
                      <a:pt x="34278" y="12910"/>
                    </a:lnTo>
                    <a:lnTo>
                      <a:pt x="35858" y="0"/>
                    </a:lnTo>
                    <a:lnTo>
                      <a:pt x="34369" y="0"/>
                    </a:lnTo>
                    <a:cubicBezTo>
                      <a:pt x="33441" y="1298"/>
                      <a:pt x="32885" y="1671"/>
                      <a:pt x="31305" y="1671"/>
                    </a:cubicBezTo>
                    <a:cubicBezTo>
                      <a:pt x="30377" y="1671"/>
                      <a:pt x="29262" y="1484"/>
                      <a:pt x="27313" y="1020"/>
                    </a:cubicBezTo>
                    <a:cubicBezTo>
                      <a:pt x="24618" y="278"/>
                      <a:pt x="23130" y="91"/>
                      <a:pt x="21368" y="91"/>
                    </a:cubicBezTo>
                    <a:cubicBezTo>
                      <a:pt x="13379" y="91"/>
                      <a:pt x="8453" y="4088"/>
                      <a:pt x="8731" y="10311"/>
                    </a:cubicBezTo>
                    <a:cubicBezTo>
                      <a:pt x="8826" y="13283"/>
                      <a:pt x="11239" y="17276"/>
                      <a:pt x="15887" y="22293"/>
                    </a:cubicBezTo>
                    <a:cubicBezTo>
                      <a:pt x="20253" y="27031"/>
                      <a:pt x="22110" y="30282"/>
                      <a:pt x="22201" y="32976"/>
                    </a:cubicBezTo>
                    <a:cubicBezTo>
                      <a:pt x="22388" y="37247"/>
                      <a:pt x="19324" y="40128"/>
                      <a:pt x="14676" y="40128"/>
                    </a:cubicBezTo>
                    <a:cubicBezTo>
                      <a:pt x="8731" y="40128"/>
                      <a:pt x="5203" y="36318"/>
                      <a:pt x="3250" y="27496"/>
                    </a:cubicBezTo>
                    <a:lnTo>
                      <a:pt x="1580" y="27496"/>
                    </a:lnTo>
                    <a:lnTo>
                      <a:pt x="0" y="42263"/>
                    </a:lnTo>
                    <a:lnTo>
                      <a:pt x="1675" y="42263"/>
                    </a:lnTo>
                    <a:cubicBezTo>
                      <a:pt x="2695" y="40684"/>
                      <a:pt x="3068" y="40315"/>
                      <a:pt x="4274" y="40315"/>
                    </a:cubicBezTo>
                    <a:cubicBezTo>
                      <a:pt x="5481" y="40315"/>
                      <a:pt x="7338" y="40684"/>
                      <a:pt x="9477" y="41148"/>
                    </a:cubicBezTo>
                    <a:cubicBezTo>
                      <a:pt x="11986" y="41799"/>
                      <a:pt x="13565" y="42077"/>
                      <a:pt x="15327" y="42077"/>
                    </a:cubicBezTo>
                    <a:cubicBezTo>
                      <a:pt x="24340" y="42077"/>
                      <a:pt x="30655" y="37064"/>
                      <a:pt x="30377" y="300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nextstate_outline_1"/>
              <p:cNvSpPr/>
              <p:nvPr/>
            </p:nvSpPr>
            <p:spPr>
              <a:xfrm>
                <a:off x="373899" y="1325037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0" y="7997"/>
                    </a:cubicBezTo>
                    <a:cubicBezTo>
                      <a:pt x="714" y="8517"/>
                      <a:pt x="0" y="8906"/>
                      <a:pt x="63" y="9624"/>
                    </a:cubicBezTo>
                    <a:cubicBezTo>
                      <a:pt x="63" y="9624"/>
                      <a:pt x="63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extstate_outline_2"/>
              <p:cNvSpPr/>
              <p:nvPr/>
            </p:nvSpPr>
            <p:spPr>
              <a:xfrm>
                <a:off x="403679" y="1327116"/>
                <a:ext cx="33289" cy="33420"/>
              </a:xfrm>
              <a:custGeom>
                <a:avLst/>
                <a:gdLst/>
                <a:ahLst/>
                <a:cxnLst/>
                <a:rect l="0" t="0" r="r" b="b"/>
                <a:pathLst>
                  <a:path w="33290" h="33421">
                    <a:moveTo>
                      <a:pt x="14498" y="14565"/>
                    </a:moveTo>
                    <a:lnTo>
                      <a:pt x="0" y="14565"/>
                    </a:lnTo>
                    <a:lnTo>
                      <a:pt x="0" y="18855"/>
                    </a:lnTo>
                    <a:lnTo>
                      <a:pt x="14498" y="18855"/>
                    </a:lnTo>
                    <a:lnTo>
                      <a:pt x="14498" y="33421"/>
                    </a:lnTo>
                    <a:lnTo>
                      <a:pt x="18788" y="33421"/>
                    </a:lnTo>
                    <a:lnTo>
                      <a:pt x="18788" y="18855"/>
                    </a:lnTo>
                    <a:lnTo>
                      <a:pt x="33290" y="18855"/>
                    </a:lnTo>
                    <a:lnTo>
                      <a:pt x="33290" y="14565"/>
                    </a:lnTo>
                    <a:lnTo>
                      <a:pt x="18788" y="14565"/>
                    </a:lnTo>
                    <a:lnTo>
                      <a:pt x="18788" y="0"/>
                    </a:lnTo>
                    <a:lnTo>
                      <a:pt x="14498" y="0"/>
                    </a:lnTo>
                    <a:lnTo>
                      <a:pt x="14498" y="1456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extstate_outline_3"/>
              <p:cNvSpPr/>
              <p:nvPr/>
            </p:nvSpPr>
            <p:spPr>
              <a:xfrm>
                <a:off x="448230" y="1316583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8"/>
                      <a:pt x="4679" y="5398"/>
                    </a:cubicBezTo>
                    <a:cubicBezTo>
                      <a:pt x="6044" y="5398"/>
                      <a:pt x="6632" y="6374"/>
                      <a:pt x="6632" y="8454"/>
                    </a:cubicBezTo>
                    <a:lnTo>
                      <a:pt x="6632" y="37906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54" name="module_stage2"/>
          <p:cNvGrpSpPr/>
          <p:nvPr/>
        </p:nvGrpSpPr>
        <p:grpSpPr>
          <a:xfrm>
            <a:off x="902368" y="192505"/>
            <a:ext cx="971550" cy="2409323"/>
            <a:chOff x="902368" y="192505"/>
            <a:chExt cx="971550" cy="2409323"/>
          </a:xfrm>
        </p:grpSpPr>
        <p:sp>
          <p:nvSpPr>
            <p:cNvPr id="55" name="stage2_border"/>
            <p:cNvSpPr/>
            <p:nvPr/>
          </p:nvSpPr>
          <p:spPr>
            <a:xfrm>
              <a:off x="902368" y="192505"/>
              <a:ext cx="97155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2"/>
            <p:cNvSpPr/>
            <p:nvPr/>
          </p:nvSpPr>
          <p:spPr>
            <a:xfrm>
              <a:off x="1010652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umber2"/>
            <p:cNvSpPr txBox="1"/>
            <p:nvPr/>
          </p:nvSpPr>
          <p:spPr>
            <a:xfrm>
              <a:off x="1010652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58" name="title2"/>
            <p:cNvSpPr txBox="1"/>
            <p:nvPr/>
          </p:nvSpPr>
          <p:spPr>
            <a:xfrm>
              <a:off x="1203157" y="300789"/>
              <a:ext cx="63767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Flow inputs</a:t>
              </a:r>
            </a:p>
          </p:txBody>
        </p:sp>
        <p:sp>
          <p:nvSpPr>
            <p:cNvPr id="59" name="graph_title"/>
            <p:cNvSpPr txBox="1"/>
            <p:nvPr/>
          </p:nvSpPr>
          <p:spPr>
            <a:xfrm>
              <a:off x="989597" y="541421"/>
              <a:ext cx="809123" cy="1323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142837"/>
                  </a:solidFill>
                  <a:latin typeface="Times New Roman"/>
                </a:rPr>
                <a:t>Rollout graph</a:t>
              </a:r>
            </a:p>
          </p:txBody>
        </p:sp>
        <p:sp>
          <p:nvSpPr>
            <p:cNvPr id="60" name="graph_e0"/>
            <p:cNvSpPr/>
            <p:nvPr/>
          </p:nvSpPr>
          <p:spPr>
            <a:xfrm>
              <a:off x="1124546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graph_e1"/>
            <p:cNvSpPr/>
            <p:nvPr/>
          </p:nvSpPr>
          <p:spPr>
            <a:xfrm>
              <a:off x="1326015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graph_e2"/>
            <p:cNvSpPr/>
            <p:nvPr/>
          </p:nvSpPr>
          <p:spPr>
            <a:xfrm>
              <a:off x="1097881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graph_e3"/>
            <p:cNvSpPr/>
            <p:nvPr/>
          </p:nvSpPr>
          <p:spPr>
            <a:xfrm>
              <a:off x="1299350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graph_e4"/>
            <p:cNvSpPr/>
            <p:nvPr/>
          </p:nvSpPr>
          <p:spPr>
            <a:xfrm>
              <a:off x="1500819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graph_e5"/>
            <p:cNvSpPr/>
            <p:nvPr/>
          </p:nvSpPr>
          <p:spPr>
            <a:xfrm>
              <a:off x="1124546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graph_e6"/>
            <p:cNvSpPr/>
            <p:nvPr/>
          </p:nvSpPr>
          <p:spPr>
            <a:xfrm>
              <a:off x="1326015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graph_e7"/>
            <p:cNvSpPr/>
            <p:nvPr/>
          </p:nvSpPr>
          <p:spPr>
            <a:xfrm>
              <a:off x="1527484" y="939967"/>
              <a:ext cx="136287" cy="30"/>
            </a:xfrm>
            <a:custGeom>
              <a:avLst/>
              <a:gdLst/>
              <a:ahLst/>
              <a:cxnLst/>
              <a:rect l="0" t="0" r="r" b="b"/>
              <a:pathLst>
                <a:path w="136287" h="1" fill="none">
                  <a:moveTo>
                    <a:pt x="0" y="0"/>
                  </a:moveTo>
                  <a:lnTo>
                    <a:pt x="136287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graph_e8"/>
            <p:cNvSpPr/>
            <p:nvPr/>
          </p:nvSpPr>
          <p:spPr>
            <a:xfrm>
              <a:off x="1097881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graph_e9"/>
            <p:cNvSpPr/>
            <p:nvPr/>
          </p:nvSpPr>
          <p:spPr>
            <a:xfrm>
              <a:off x="1299350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graph_e10"/>
            <p:cNvSpPr/>
            <p:nvPr/>
          </p:nvSpPr>
          <p:spPr>
            <a:xfrm>
              <a:off x="1500819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graph_e11"/>
            <p:cNvSpPr/>
            <p:nvPr/>
          </p:nvSpPr>
          <p:spPr>
            <a:xfrm>
              <a:off x="1319285" y="957676"/>
              <a:ext cx="161598" cy="143551"/>
            </a:xfrm>
            <a:custGeom>
              <a:avLst/>
              <a:gdLst/>
              <a:ahLst/>
              <a:cxnLst/>
              <a:rect l="0" t="0" r="r" b="b"/>
              <a:pathLst>
                <a:path w="161598" h="143551" fill="none">
                  <a:moveTo>
                    <a:pt x="0" y="143551"/>
                  </a:moveTo>
                  <a:lnTo>
                    <a:pt x="16159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graph_n0"/>
            <p:cNvSpPr/>
            <p:nvPr/>
          </p:nvSpPr>
          <p:spPr>
            <a:xfrm>
              <a:off x="1071216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graph_n1"/>
            <p:cNvSpPr/>
            <p:nvPr/>
          </p:nvSpPr>
          <p:spPr>
            <a:xfrm>
              <a:off x="1272685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graph_n2"/>
            <p:cNvSpPr/>
            <p:nvPr/>
          </p:nvSpPr>
          <p:spPr>
            <a:xfrm>
              <a:off x="1474154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graph_n3"/>
            <p:cNvSpPr/>
            <p:nvPr/>
          </p:nvSpPr>
          <p:spPr>
            <a:xfrm>
              <a:off x="1071216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graph_n4"/>
            <p:cNvSpPr/>
            <p:nvPr/>
          </p:nvSpPr>
          <p:spPr>
            <a:xfrm>
              <a:off x="1272685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raph_n5"/>
            <p:cNvSpPr/>
            <p:nvPr/>
          </p:nvSpPr>
          <p:spPr>
            <a:xfrm>
              <a:off x="1474154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graph_n6"/>
            <p:cNvSpPr/>
            <p:nvPr/>
          </p:nvSpPr>
          <p:spPr>
            <a:xfrm>
              <a:off x="1663771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graph_n7"/>
            <p:cNvSpPr/>
            <p:nvPr/>
          </p:nvSpPr>
          <p:spPr>
            <a:xfrm>
              <a:off x="1071216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graph_n8"/>
            <p:cNvSpPr/>
            <p:nvPr/>
          </p:nvSpPr>
          <p:spPr>
            <a:xfrm>
              <a:off x="1272685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graph_n9"/>
            <p:cNvSpPr/>
            <p:nvPr/>
          </p:nvSpPr>
          <p:spPr>
            <a:xfrm>
              <a:off x="1474154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rule"/>
            <p:cNvSpPr/>
            <p:nvPr/>
          </p:nvSpPr>
          <p:spPr>
            <a:xfrm>
              <a:off x="950494" y="1305426"/>
              <a:ext cx="866273" cy="30"/>
            </a:xfrm>
            <a:custGeom>
              <a:avLst/>
              <a:gdLst/>
              <a:ahLst/>
              <a:cxnLst/>
              <a:rect l="0" t="0" r="r" b="b"/>
              <a:pathLst>
                <a:path w="866273" h="1" fill="none">
                  <a:moveTo>
                    <a:pt x="0" y="0"/>
                  </a:moveTo>
                  <a:lnTo>
                    <a:pt x="866273" y="0"/>
                  </a:lnTo>
                </a:path>
              </a:pathLst>
            </a:custGeom>
            <a:noFill/>
            <a:ln w="60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emp_0_0"/>
            <p:cNvSpPr/>
            <p:nvPr/>
          </p:nvSpPr>
          <p:spPr>
            <a:xfrm>
              <a:off x="992605" y="1398671"/>
              <a:ext cx="54142" cy="72189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emp_0_1"/>
            <p:cNvSpPr/>
            <p:nvPr/>
          </p:nvSpPr>
          <p:spPr>
            <a:xfrm>
              <a:off x="1046747" y="1398671"/>
              <a:ext cx="54142" cy="72189"/>
            </a:xfrm>
            <a:prstGeom prst="rect">
              <a:avLst/>
            </a:prstGeom>
            <a:solidFill>
              <a:srgbClr val="B6CC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emp_0_2"/>
            <p:cNvSpPr/>
            <p:nvPr/>
          </p:nvSpPr>
          <p:spPr>
            <a:xfrm>
              <a:off x="1100889" y="1398671"/>
              <a:ext cx="54142" cy="72189"/>
            </a:xfrm>
            <a:prstGeom prst="rect">
              <a:avLst/>
            </a:prstGeom>
            <a:solidFill>
              <a:srgbClr val="D6E5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emp_0_3"/>
            <p:cNvSpPr/>
            <p:nvPr/>
          </p:nvSpPr>
          <p:spPr>
            <a:xfrm>
              <a:off x="1155031" y="1398671"/>
              <a:ext cx="54142" cy="72189"/>
            </a:xfrm>
            <a:prstGeom prst="rect">
              <a:avLst/>
            </a:prstGeom>
            <a:solidFill>
              <a:srgbClr val="E5EE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emp_1_0"/>
            <p:cNvSpPr/>
            <p:nvPr/>
          </p:nvSpPr>
          <p:spPr>
            <a:xfrm>
              <a:off x="992605" y="1470860"/>
              <a:ext cx="54142" cy="72189"/>
            </a:xfrm>
            <a:prstGeom prst="rect">
              <a:avLst/>
            </a:prstGeom>
            <a:solidFill>
              <a:srgbClr val="9AB9F0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emp_1_1"/>
            <p:cNvSpPr/>
            <p:nvPr/>
          </p:nvSpPr>
          <p:spPr>
            <a:xfrm>
              <a:off x="1046747" y="1470860"/>
              <a:ext cx="54142" cy="72189"/>
            </a:xfrm>
            <a:prstGeom prst="rect">
              <a:avLst/>
            </a:prstGeom>
            <a:solidFill>
              <a:srgbClr val="0041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emp_1_2"/>
            <p:cNvSpPr/>
            <p:nvPr/>
          </p:nvSpPr>
          <p:spPr>
            <a:xfrm>
              <a:off x="1100889" y="1470860"/>
              <a:ext cx="54142" cy="72189"/>
            </a:xfrm>
            <a:prstGeom prst="rect">
              <a:avLst/>
            </a:prstGeom>
            <a:solidFill>
              <a:srgbClr val="1B4DB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emp_1_3"/>
            <p:cNvSpPr/>
            <p:nvPr/>
          </p:nvSpPr>
          <p:spPr>
            <a:xfrm>
              <a:off x="1155031" y="1470860"/>
              <a:ext cx="54142" cy="72189"/>
            </a:xfrm>
            <a:prstGeom prst="rect">
              <a:avLst/>
            </a:prstGeom>
            <a:solidFill>
              <a:srgbClr val="EDF4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emp_2_0"/>
            <p:cNvSpPr/>
            <p:nvPr/>
          </p:nvSpPr>
          <p:spPr>
            <a:xfrm>
              <a:off x="992605" y="1543050"/>
              <a:ext cx="54142" cy="72189"/>
            </a:xfrm>
            <a:prstGeom prst="rect">
              <a:avLst/>
            </a:prstGeom>
            <a:solidFill>
              <a:srgbClr val="FCFDFF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emp_2_1"/>
            <p:cNvSpPr/>
            <p:nvPr/>
          </p:nvSpPr>
          <p:spPr>
            <a:xfrm>
              <a:off x="1046747" y="1543050"/>
              <a:ext cx="54142" cy="72189"/>
            </a:xfrm>
            <a:prstGeom prst="rect">
              <a:avLst/>
            </a:prstGeom>
            <a:solidFill>
              <a:srgbClr val="6691D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emp_2_2"/>
            <p:cNvSpPr/>
            <p:nvPr/>
          </p:nvSpPr>
          <p:spPr>
            <a:xfrm>
              <a:off x="1100889" y="1543050"/>
              <a:ext cx="54142" cy="72189"/>
            </a:xfrm>
            <a:prstGeom prst="rect">
              <a:avLst/>
            </a:prstGeom>
            <a:solidFill>
              <a:srgbClr val="A5C1F2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emp_2_3"/>
            <p:cNvSpPr/>
            <p:nvPr/>
          </p:nvSpPr>
          <p:spPr>
            <a:xfrm>
              <a:off x="1155031" y="1543050"/>
              <a:ext cx="54142" cy="72189"/>
            </a:xfrm>
            <a:prstGeom prst="rect">
              <a:avLst/>
            </a:prstGeom>
            <a:solidFill>
              <a:srgbClr val="5E8CD8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mp_3_0"/>
            <p:cNvSpPr/>
            <p:nvPr/>
          </p:nvSpPr>
          <p:spPr>
            <a:xfrm>
              <a:off x="992605" y="1615239"/>
              <a:ext cx="54142" cy="72189"/>
            </a:xfrm>
            <a:prstGeom prst="rect">
              <a:avLst/>
            </a:prstGeom>
            <a:solidFill>
              <a:srgbClr val="B1C9F7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mp_3_1"/>
            <p:cNvSpPr/>
            <p:nvPr/>
          </p:nvSpPr>
          <p:spPr>
            <a:xfrm>
              <a:off x="1046747" y="1615239"/>
              <a:ext cx="54142" cy="72189"/>
            </a:xfrm>
            <a:prstGeom prst="rect">
              <a:avLst/>
            </a:prstGeom>
            <a:solidFill>
              <a:srgbClr val="DDE8FD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mp_3_2"/>
            <p:cNvSpPr/>
            <p:nvPr/>
          </p:nvSpPr>
          <p:spPr>
            <a:xfrm>
              <a:off x="1100889" y="1615239"/>
              <a:ext cx="54142" cy="72189"/>
            </a:xfrm>
            <a:prstGeom prst="rect">
              <a:avLst/>
            </a:prstGeom>
            <a:solidFill>
              <a:srgbClr val="0040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mp_3_3"/>
            <p:cNvSpPr/>
            <p:nvPr/>
          </p:nvSpPr>
          <p:spPr>
            <a:xfrm>
              <a:off x="1155031" y="1615239"/>
              <a:ext cx="54142" cy="72189"/>
            </a:xfrm>
            <a:prstGeom prst="rect">
              <a:avLst/>
            </a:prstGeom>
            <a:solidFill>
              <a:srgbClr val="C3DD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core_0_0"/>
            <p:cNvSpPr/>
            <p:nvPr/>
          </p:nvSpPr>
          <p:spPr>
            <a:xfrm>
              <a:off x="992605" y="1768642"/>
              <a:ext cx="54142" cy="72189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core_0_1"/>
            <p:cNvSpPr/>
            <p:nvPr/>
          </p:nvSpPr>
          <p:spPr>
            <a:xfrm>
              <a:off x="1046747" y="1768642"/>
              <a:ext cx="54142" cy="72189"/>
            </a:xfrm>
            <a:prstGeom prst="rect">
              <a:avLst/>
            </a:prstGeom>
            <a:solidFill>
              <a:srgbClr val="DCCDE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core_0_2"/>
            <p:cNvSpPr/>
            <p:nvPr/>
          </p:nvSpPr>
          <p:spPr>
            <a:xfrm>
              <a:off x="1100889" y="1768642"/>
              <a:ext cx="54142" cy="72189"/>
            </a:xfrm>
            <a:prstGeom prst="rect">
              <a:avLst/>
            </a:prstGeom>
            <a:solidFill>
              <a:srgbClr val="F3EC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core_0_3"/>
            <p:cNvSpPr/>
            <p:nvPr/>
          </p:nvSpPr>
          <p:spPr>
            <a:xfrm>
              <a:off x="1155031" y="1768642"/>
              <a:ext cx="54142" cy="72189"/>
            </a:xfrm>
            <a:prstGeom prst="rect">
              <a:avLst/>
            </a:prstGeom>
            <a:solidFill>
              <a:srgbClr val="E2D3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core_1_0"/>
            <p:cNvSpPr/>
            <p:nvPr/>
          </p:nvSpPr>
          <p:spPr>
            <a:xfrm>
              <a:off x="992605" y="1840831"/>
              <a:ext cx="54142" cy="72189"/>
            </a:xfrm>
            <a:prstGeom prst="rect">
              <a:avLst/>
            </a:prstGeom>
            <a:solidFill>
              <a:srgbClr val="D8C3E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core_1_1"/>
            <p:cNvSpPr/>
            <p:nvPr/>
          </p:nvSpPr>
          <p:spPr>
            <a:xfrm>
              <a:off x="1046747" y="1840831"/>
              <a:ext cx="54142" cy="72189"/>
            </a:xfrm>
            <a:prstGeom prst="rect">
              <a:avLst/>
            </a:prstGeom>
            <a:solidFill>
              <a:srgbClr val="30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core_1_2"/>
            <p:cNvSpPr/>
            <p:nvPr/>
          </p:nvSpPr>
          <p:spPr>
            <a:xfrm>
              <a:off x="1100889" y="1840831"/>
              <a:ext cx="54142" cy="72189"/>
            </a:xfrm>
            <a:prstGeom prst="rect">
              <a:avLst/>
            </a:prstGeom>
            <a:solidFill>
              <a:srgbClr val="130F3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core_1_3"/>
            <p:cNvSpPr/>
            <p:nvPr/>
          </p:nvSpPr>
          <p:spPr>
            <a:xfrm>
              <a:off x="1155031" y="1840831"/>
              <a:ext cx="54142" cy="72189"/>
            </a:xfrm>
            <a:prstGeom prst="rect">
              <a:avLst/>
            </a:prstGeom>
            <a:solidFill>
              <a:srgbClr val="F4EF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core_2_0"/>
            <p:cNvSpPr/>
            <p:nvPr/>
          </p:nvSpPr>
          <p:spPr>
            <a:xfrm>
              <a:off x="992605" y="1913021"/>
              <a:ext cx="54142" cy="72189"/>
            </a:xfrm>
            <a:prstGeom prst="rect">
              <a:avLst/>
            </a:prstGeom>
            <a:solidFill>
              <a:srgbClr val="FCFC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core_2_1"/>
            <p:cNvSpPr/>
            <p:nvPr/>
          </p:nvSpPr>
          <p:spPr>
            <a:xfrm>
              <a:off x="1046747" y="1913021"/>
              <a:ext cx="54142" cy="72189"/>
            </a:xfrm>
            <a:prstGeom prst="rect">
              <a:avLst/>
            </a:prstGeom>
            <a:solidFill>
              <a:srgbClr val="8D5FA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core_2_2"/>
            <p:cNvSpPr/>
            <p:nvPr/>
          </p:nvSpPr>
          <p:spPr>
            <a:xfrm>
              <a:off x="1100889" y="1913021"/>
              <a:ext cx="54142" cy="72189"/>
            </a:xfrm>
            <a:prstGeom prst="rect">
              <a:avLst/>
            </a:prstGeom>
            <a:solidFill>
              <a:srgbClr val="D6C2E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core_2_3"/>
            <p:cNvSpPr/>
            <p:nvPr/>
          </p:nvSpPr>
          <p:spPr>
            <a:xfrm>
              <a:off x="1155031" y="1913021"/>
              <a:ext cx="54142" cy="72189"/>
            </a:xfrm>
            <a:prstGeom prst="rect">
              <a:avLst/>
            </a:prstGeom>
            <a:solidFill>
              <a:srgbClr val="642F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core_3_0"/>
            <p:cNvSpPr/>
            <p:nvPr/>
          </p:nvSpPr>
          <p:spPr>
            <a:xfrm>
              <a:off x="992605" y="1985210"/>
              <a:ext cx="54142" cy="72189"/>
            </a:xfrm>
            <a:prstGeom prst="rect">
              <a:avLst/>
            </a:prstGeom>
            <a:solidFill>
              <a:srgbClr val="DAC7E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core_3_1"/>
            <p:cNvSpPr/>
            <p:nvPr/>
          </p:nvSpPr>
          <p:spPr>
            <a:xfrm>
              <a:off x="1046747" y="1985210"/>
              <a:ext cx="54142" cy="72189"/>
            </a:xfrm>
            <a:prstGeom prst="rect">
              <a:avLst/>
            </a:prstGeom>
            <a:solidFill>
              <a:srgbClr val="FEFD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core_3_2"/>
            <p:cNvSpPr/>
            <p:nvPr/>
          </p:nvSpPr>
          <p:spPr>
            <a:xfrm>
              <a:off x="1100889" y="1985210"/>
              <a:ext cx="54142" cy="72189"/>
            </a:xfrm>
            <a:prstGeom prst="rect">
              <a:avLst/>
            </a:prstGeom>
            <a:solidFill>
              <a:srgbClr val="2F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core_3_3"/>
            <p:cNvSpPr/>
            <p:nvPr/>
          </p:nvSpPr>
          <p:spPr>
            <a:xfrm>
              <a:off x="1155031" y="1985210"/>
              <a:ext cx="54142" cy="72189"/>
            </a:xfrm>
            <a:prstGeom prst="rect">
              <a:avLst/>
            </a:prstGeom>
            <a:solidFill>
              <a:srgbClr val="7672A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ap_0_0"/>
            <p:cNvSpPr/>
            <p:nvPr/>
          </p:nvSpPr>
          <p:spPr>
            <a:xfrm>
              <a:off x="992605" y="2150644"/>
              <a:ext cx="54142" cy="72189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p_0_1"/>
            <p:cNvSpPr/>
            <p:nvPr/>
          </p:nvSpPr>
          <p:spPr>
            <a:xfrm>
              <a:off x="1046747" y="2150644"/>
              <a:ext cx="54142" cy="72189"/>
            </a:xfrm>
            <a:prstGeom prst="rect">
              <a:avLst/>
            </a:prstGeom>
            <a:solidFill>
              <a:srgbClr val="E1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p_0_2"/>
            <p:cNvSpPr/>
            <p:nvPr/>
          </p:nvSpPr>
          <p:spPr>
            <a:xfrm>
              <a:off x="1100889" y="2150644"/>
              <a:ext cx="54142" cy="72189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ap_0_3"/>
            <p:cNvSpPr/>
            <p:nvPr/>
          </p:nvSpPr>
          <p:spPr>
            <a:xfrm>
              <a:off x="1155031" y="2150644"/>
              <a:ext cx="54142" cy="72189"/>
            </a:xfrm>
            <a:prstGeom prst="rect">
              <a:avLst/>
            </a:prstGeom>
            <a:solidFill>
              <a:srgbClr val="EEF8E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ap_1_0"/>
            <p:cNvSpPr/>
            <p:nvPr/>
          </p:nvSpPr>
          <p:spPr>
            <a:xfrm>
              <a:off x="992605" y="2222834"/>
              <a:ext cx="54142" cy="72189"/>
            </a:xfrm>
            <a:prstGeom prst="rect">
              <a:avLst/>
            </a:prstGeom>
            <a:solidFill>
              <a:srgbClr val="CAE8C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ap_1_1"/>
            <p:cNvSpPr/>
            <p:nvPr/>
          </p:nvSpPr>
          <p:spPr>
            <a:xfrm>
              <a:off x="1046747" y="2222834"/>
              <a:ext cx="54142" cy="72189"/>
            </a:xfrm>
            <a:prstGeom prst="rect">
              <a:avLst/>
            </a:prstGeom>
            <a:solidFill>
              <a:srgbClr val="0175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ap_1_2"/>
            <p:cNvSpPr/>
            <p:nvPr/>
          </p:nvSpPr>
          <p:spPr>
            <a:xfrm>
              <a:off x="1100889" y="2222834"/>
              <a:ext cx="54142" cy="72189"/>
            </a:xfrm>
            <a:prstGeom prst="rect">
              <a:avLst/>
            </a:prstGeom>
            <a:solidFill>
              <a:srgbClr val="00290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ap_1_3"/>
            <p:cNvSpPr/>
            <p:nvPr/>
          </p:nvSpPr>
          <p:spPr>
            <a:xfrm>
              <a:off x="1155031" y="2222834"/>
              <a:ext cx="54142" cy="72189"/>
            </a:xfrm>
            <a:prstGeom prst="rect">
              <a:avLst/>
            </a:prstGeom>
            <a:solidFill>
              <a:srgbClr val="F2FB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ap_2_0"/>
            <p:cNvSpPr/>
            <p:nvPr/>
          </p:nvSpPr>
          <p:spPr>
            <a:xfrm>
              <a:off x="992605" y="2295023"/>
              <a:ext cx="54142" cy="72189"/>
            </a:xfrm>
            <a:prstGeom prst="rect">
              <a:avLst/>
            </a:prstGeom>
            <a:solidFill>
              <a:srgbClr val="F5FC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ap_2_1"/>
            <p:cNvSpPr/>
            <p:nvPr/>
          </p:nvSpPr>
          <p:spPr>
            <a:xfrm>
              <a:off x="1046747" y="2295023"/>
              <a:ext cx="54142" cy="72189"/>
            </a:xfrm>
            <a:prstGeom prst="rect">
              <a:avLst/>
            </a:prstGeom>
            <a:solidFill>
              <a:srgbClr val="91C89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ap_2_2"/>
            <p:cNvSpPr/>
            <p:nvPr/>
          </p:nvSpPr>
          <p:spPr>
            <a:xfrm>
              <a:off x="1100889" y="2295023"/>
              <a:ext cx="54142" cy="72189"/>
            </a:xfrm>
            <a:prstGeom prst="rect">
              <a:avLst/>
            </a:prstGeom>
            <a:solidFill>
              <a:srgbClr val="D6ED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ap_2_3"/>
            <p:cNvSpPr/>
            <p:nvPr/>
          </p:nvSpPr>
          <p:spPr>
            <a:xfrm>
              <a:off x="1155031" y="2295023"/>
              <a:ext cx="54142" cy="72189"/>
            </a:xfrm>
            <a:prstGeom prst="rect">
              <a:avLst/>
            </a:prstGeom>
            <a:solidFill>
              <a:srgbClr val="3BA74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ap_3_0"/>
            <p:cNvSpPr/>
            <p:nvPr/>
          </p:nvSpPr>
          <p:spPr>
            <a:xfrm>
              <a:off x="992605" y="2367213"/>
              <a:ext cx="54142" cy="72189"/>
            </a:xfrm>
            <a:prstGeom prst="rect">
              <a:avLst/>
            </a:prstGeom>
            <a:solidFill>
              <a:srgbClr val="E0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p_3_1"/>
            <p:cNvSpPr/>
            <p:nvPr/>
          </p:nvSpPr>
          <p:spPr>
            <a:xfrm>
              <a:off x="1046747" y="2367213"/>
              <a:ext cx="54142" cy="72189"/>
            </a:xfrm>
            <a:prstGeom prst="rect">
              <a:avLst/>
            </a:prstGeom>
            <a:solidFill>
              <a:srgbClr val="F2FC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p_3_2"/>
            <p:cNvSpPr/>
            <p:nvPr/>
          </p:nvSpPr>
          <p:spPr>
            <a:xfrm>
              <a:off x="1100889" y="2367213"/>
              <a:ext cx="54142" cy="72189"/>
            </a:xfrm>
            <a:prstGeom prst="rect">
              <a:avLst/>
            </a:prstGeom>
            <a:solidFill>
              <a:srgbClr val="02773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p_3_3"/>
            <p:cNvSpPr/>
            <p:nvPr/>
          </p:nvSpPr>
          <p:spPr>
            <a:xfrm>
              <a:off x="1155031" y="2367213"/>
              <a:ext cx="54142" cy="72189"/>
            </a:xfrm>
            <a:prstGeom prst="rect">
              <a:avLst/>
            </a:prstGeom>
            <a:solidFill>
              <a:srgbClr val="2F823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module_stage3"/>
          <p:cNvGrpSpPr/>
          <p:nvPr/>
        </p:nvGrpSpPr>
        <p:grpSpPr>
          <a:xfrm>
            <a:off x="1952123" y="192505"/>
            <a:ext cx="797092" cy="2409323"/>
            <a:chOff x="1952123" y="192505"/>
            <a:chExt cx="797092" cy="2409323"/>
          </a:xfrm>
        </p:grpSpPr>
        <p:sp>
          <p:nvSpPr>
            <p:cNvPr id="150" name="stage3_border"/>
            <p:cNvSpPr/>
            <p:nvPr/>
          </p:nvSpPr>
          <p:spPr>
            <a:xfrm>
              <a:off x="1952123" y="192505"/>
              <a:ext cx="79709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dge3"/>
            <p:cNvSpPr/>
            <p:nvPr/>
          </p:nvSpPr>
          <p:spPr>
            <a:xfrm>
              <a:off x="2060407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number3"/>
            <p:cNvSpPr txBox="1"/>
            <p:nvPr/>
          </p:nvSpPr>
          <p:spPr>
            <a:xfrm>
              <a:off x="206040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53" name="title3"/>
            <p:cNvSpPr txBox="1"/>
            <p:nvPr/>
          </p:nvSpPr>
          <p:spPr>
            <a:xfrm>
              <a:off x="2252913" y="300789"/>
              <a:ext cx="463215" cy="22860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 b="1">
                  <a:solidFill>
                    <a:srgbClr val="125529"/>
                  </a:solidFill>
                  <a:latin typeface="Times New Roman"/>
                </a:rPr>
                <a:t>Soft / hard</a:t>
              </a:r>
            </a:p>
          </p:txBody>
        </p:sp>
        <p:sp>
          <p:nvSpPr>
            <p:cNvPr id="154" name="capmini0_0_0"/>
            <p:cNvSpPr/>
            <p:nvPr/>
          </p:nvSpPr>
          <p:spPr>
            <a:xfrm>
              <a:off x="1991226" y="800100"/>
              <a:ext cx="44366" cy="58653"/>
            </a:xfrm>
            <a:prstGeom prst="rect">
              <a:avLst/>
            </a:prstGeom>
            <a:solidFill>
              <a:srgbClr val="03823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capmini0_0_1"/>
            <p:cNvSpPr/>
            <p:nvPr/>
          </p:nvSpPr>
          <p:spPr>
            <a:xfrm>
              <a:off x="2035592" y="800100"/>
              <a:ext cx="44366" cy="58653"/>
            </a:xfrm>
            <a:prstGeom prst="rect">
              <a:avLst/>
            </a:prstGeom>
            <a:solidFill>
              <a:srgbClr val="E2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capmini0_0_2"/>
            <p:cNvSpPr/>
            <p:nvPr/>
          </p:nvSpPr>
          <p:spPr>
            <a:xfrm>
              <a:off x="2079959" y="800100"/>
              <a:ext cx="44366" cy="58653"/>
            </a:xfrm>
            <a:prstGeom prst="rect">
              <a:avLst/>
            </a:prstGeom>
            <a:solidFill>
              <a:srgbClr val="EA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capmini0_0_3"/>
            <p:cNvSpPr/>
            <p:nvPr/>
          </p:nvSpPr>
          <p:spPr>
            <a:xfrm>
              <a:off x="2124325" y="800100"/>
              <a:ext cx="44366" cy="58653"/>
            </a:xfrm>
            <a:prstGeom prst="rect">
              <a:avLst/>
            </a:prstGeom>
            <a:solidFill>
              <a:srgbClr val="E8F7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apmini0_1_0"/>
            <p:cNvSpPr/>
            <p:nvPr/>
          </p:nvSpPr>
          <p:spPr>
            <a:xfrm>
              <a:off x="1991226" y="858753"/>
              <a:ext cx="44366" cy="58653"/>
            </a:xfrm>
            <a:prstGeom prst="rect">
              <a:avLst/>
            </a:prstGeom>
            <a:solidFill>
              <a:srgbClr val="C3E4C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capmini0_1_1"/>
            <p:cNvSpPr/>
            <p:nvPr/>
          </p:nvSpPr>
          <p:spPr>
            <a:xfrm>
              <a:off x="2035592" y="858753"/>
              <a:ext cx="44366" cy="58653"/>
            </a:xfrm>
            <a:prstGeom prst="rect">
              <a:avLst/>
            </a:prstGeom>
            <a:solidFill>
              <a:srgbClr val="007C3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capmini0_1_2"/>
            <p:cNvSpPr/>
            <p:nvPr/>
          </p:nvSpPr>
          <p:spPr>
            <a:xfrm>
              <a:off x="2079959" y="858753"/>
              <a:ext cx="44366" cy="58653"/>
            </a:xfrm>
            <a:prstGeom prst="rect">
              <a:avLst/>
            </a:prstGeom>
            <a:solidFill>
              <a:srgbClr val="1E64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capmini0_1_3"/>
            <p:cNvSpPr/>
            <p:nvPr/>
          </p:nvSpPr>
          <p:spPr>
            <a:xfrm>
              <a:off x="2124325" y="858753"/>
              <a:ext cx="44366" cy="58653"/>
            </a:xfrm>
            <a:prstGeom prst="rect">
              <a:avLst/>
            </a:prstGeom>
            <a:solidFill>
              <a:srgbClr val="E8F8E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capmini0_2_0"/>
            <p:cNvSpPr/>
            <p:nvPr/>
          </p:nvSpPr>
          <p:spPr>
            <a:xfrm>
              <a:off x="1991226" y="917407"/>
              <a:ext cx="44366" cy="58653"/>
            </a:xfrm>
            <a:prstGeom prst="rect">
              <a:avLst/>
            </a:prstGeom>
            <a:solidFill>
              <a:srgbClr val="FCFE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capmini0_2_1"/>
            <p:cNvSpPr/>
            <p:nvPr/>
          </p:nvSpPr>
          <p:spPr>
            <a:xfrm>
              <a:off x="2035592" y="917407"/>
              <a:ext cx="44366" cy="58653"/>
            </a:xfrm>
            <a:prstGeom prst="rect">
              <a:avLst/>
            </a:prstGeom>
            <a:solidFill>
              <a:srgbClr val="8DC89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pmini0_2_2"/>
            <p:cNvSpPr/>
            <p:nvPr/>
          </p:nvSpPr>
          <p:spPr>
            <a:xfrm>
              <a:off x="2079959" y="917407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5" name="capmini0_2_3"/>
            <p:cNvSpPr/>
            <p:nvPr/>
          </p:nvSpPr>
          <p:spPr>
            <a:xfrm>
              <a:off x="2124325" y="917407"/>
              <a:ext cx="44366" cy="58653"/>
            </a:xfrm>
            <a:prstGeom prst="rect">
              <a:avLst/>
            </a:prstGeom>
            <a:solidFill>
              <a:srgbClr val="71BD7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capmini0_3_0"/>
            <p:cNvSpPr/>
            <p:nvPr/>
          </p:nvSpPr>
          <p:spPr>
            <a:xfrm>
              <a:off x="1991226" y="976061"/>
              <a:ext cx="44366" cy="58653"/>
            </a:xfrm>
            <a:prstGeom prst="rect">
              <a:avLst/>
            </a:prstGeom>
            <a:solidFill>
              <a:srgbClr val="D8EED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7" name="capmini0_3_1"/>
            <p:cNvSpPr/>
            <p:nvPr/>
          </p:nvSpPr>
          <p:spPr>
            <a:xfrm>
              <a:off x="2035592" y="976061"/>
              <a:ext cx="44366" cy="58653"/>
            </a:xfrm>
            <a:prstGeom prst="rect">
              <a:avLst/>
            </a:prstGeom>
            <a:solidFill>
              <a:srgbClr val="F9FBF9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capmini0_3_2"/>
            <p:cNvSpPr/>
            <p:nvPr/>
          </p:nvSpPr>
          <p:spPr>
            <a:xfrm>
              <a:off x="2079959" y="976061"/>
              <a:ext cx="44366" cy="58653"/>
            </a:xfrm>
            <a:prstGeom prst="rect">
              <a:avLst/>
            </a:prstGeom>
            <a:solidFill>
              <a:srgbClr val="0170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capmini0_3_3"/>
            <p:cNvSpPr/>
            <p:nvPr/>
          </p:nvSpPr>
          <p:spPr>
            <a:xfrm>
              <a:off x="2124325" y="976061"/>
              <a:ext cx="44366" cy="58653"/>
            </a:xfrm>
            <a:prstGeom prst="rect">
              <a:avLst/>
            </a:prstGeom>
            <a:solidFill>
              <a:srgbClr val="F5FAF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capmini1_0_0"/>
            <p:cNvSpPr/>
            <p:nvPr/>
          </p:nvSpPr>
          <p:spPr>
            <a:xfrm>
              <a:off x="2234865" y="800100"/>
              <a:ext cx="44366" cy="58653"/>
            </a:xfrm>
            <a:prstGeom prst="rect">
              <a:avLst/>
            </a:prstGeom>
            <a:solidFill>
              <a:srgbClr val="01843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capmini1_0_1"/>
            <p:cNvSpPr/>
            <p:nvPr/>
          </p:nvSpPr>
          <p:spPr>
            <a:xfrm>
              <a:off x="2279232" y="800100"/>
              <a:ext cx="44366" cy="58653"/>
            </a:xfrm>
            <a:prstGeom prst="rect">
              <a:avLst/>
            </a:prstGeom>
            <a:solidFill>
              <a:srgbClr val="DCF0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capmini1_0_2"/>
            <p:cNvSpPr/>
            <p:nvPr/>
          </p:nvSpPr>
          <p:spPr>
            <a:xfrm>
              <a:off x="2323598" y="800100"/>
              <a:ext cx="44366" cy="58653"/>
            </a:xfrm>
            <a:prstGeom prst="rect">
              <a:avLst/>
            </a:prstGeom>
            <a:solidFill>
              <a:srgbClr val="F2FA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capmini1_0_3"/>
            <p:cNvSpPr/>
            <p:nvPr/>
          </p:nvSpPr>
          <p:spPr>
            <a:xfrm>
              <a:off x="2367965" y="800100"/>
              <a:ext cx="44366" cy="58653"/>
            </a:xfrm>
            <a:prstGeom prst="rect">
              <a:avLst/>
            </a:prstGeom>
            <a:solidFill>
              <a:srgbClr val="E2F4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capmini1_1_0"/>
            <p:cNvSpPr/>
            <p:nvPr/>
          </p:nvSpPr>
          <p:spPr>
            <a:xfrm>
              <a:off x="2234865" y="858753"/>
              <a:ext cx="44366" cy="58653"/>
            </a:xfrm>
            <a:prstGeom prst="rect">
              <a:avLst/>
            </a:prstGeom>
            <a:solidFill>
              <a:srgbClr val="BFE3C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capmini1_1_1"/>
            <p:cNvSpPr/>
            <p:nvPr/>
          </p:nvSpPr>
          <p:spPr>
            <a:xfrm>
              <a:off x="2279232" y="858753"/>
              <a:ext cx="44366" cy="58653"/>
            </a:xfrm>
            <a:prstGeom prst="rect">
              <a:avLst/>
            </a:prstGeom>
            <a:solidFill>
              <a:srgbClr val="01732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capmini1_1_2"/>
            <p:cNvSpPr/>
            <p:nvPr/>
          </p:nvSpPr>
          <p:spPr>
            <a:xfrm>
              <a:off x="2323598" y="858753"/>
              <a:ext cx="44366" cy="58653"/>
            </a:xfrm>
            <a:prstGeom prst="rect">
              <a:avLst/>
            </a:prstGeom>
            <a:solidFill>
              <a:srgbClr val="0B4B1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capmini1_1_3"/>
            <p:cNvSpPr/>
            <p:nvPr/>
          </p:nvSpPr>
          <p:spPr>
            <a:xfrm>
              <a:off x="2367965" y="858753"/>
              <a:ext cx="44366" cy="58653"/>
            </a:xfrm>
            <a:prstGeom prst="rect">
              <a:avLst/>
            </a:prstGeom>
            <a:solidFill>
              <a:srgbClr val="E3F5E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capmini1_2_0"/>
            <p:cNvSpPr/>
            <p:nvPr/>
          </p:nvSpPr>
          <p:spPr>
            <a:xfrm>
              <a:off x="2234865" y="917407"/>
              <a:ext cx="44366" cy="58653"/>
            </a:xfrm>
            <a:prstGeom prst="rect">
              <a:avLst/>
            </a:prstGeom>
            <a:solidFill>
              <a:srgbClr val="FCFDF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apmini1_2_1"/>
            <p:cNvSpPr/>
            <p:nvPr/>
          </p:nvSpPr>
          <p:spPr>
            <a:xfrm>
              <a:off x="2279232" y="917407"/>
              <a:ext cx="44366" cy="58653"/>
            </a:xfrm>
            <a:prstGeom prst="rect">
              <a:avLst/>
            </a:prstGeom>
            <a:solidFill>
              <a:srgbClr val="8AC68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capmini1_2_2"/>
            <p:cNvSpPr/>
            <p:nvPr/>
          </p:nvSpPr>
          <p:spPr>
            <a:xfrm>
              <a:off x="2323598" y="917407"/>
              <a:ext cx="44366" cy="58653"/>
            </a:xfrm>
            <a:prstGeom prst="rect">
              <a:avLst/>
            </a:prstGeom>
            <a:solidFill>
              <a:srgbClr val="D3EED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capmini1_2_3"/>
            <p:cNvSpPr/>
            <p:nvPr/>
          </p:nvSpPr>
          <p:spPr>
            <a:xfrm>
              <a:off x="2367965" y="917407"/>
              <a:ext cx="44366" cy="58653"/>
            </a:xfrm>
            <a:prstGeom prst="rect">
              <a:avLst/>
            </a:prstGeom>
            <a:solidFill>
              <a:srgbClr val="72BE7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capmini1_3_0"/>
            <p:cNvSpPr/>
            <p:nvPr/>
          </p:nvSpPr>
          <p:spPr>
            <a:xfrm>
              <a:off x="2234865" y="976061"/>
              <a:ext cx="44366" cy="58653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capmini1_3_1"/>
            <p:cNvSpPr/>
            <p:nvPr/>
          </p:nvSpPr>
          <p:spPr>
            <a:xfrm>
              <a:off x="2279232" y="976061"/>
              <a:ext cx="44366" cy="58653"/>
            </a:xfrm>
            <a:prstGeom prst="rect">
              <a:avLst/>
            </a:prstGeom>
            <a:solidFill>
              <a:srgbClr val="F6F9F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capmini1_3_2"/>
            <p:cNvSpPr/>
            <p:nvPr/>
          </p:nvSpPr>
          <p:spPr>
            <a:xfrm>
              <a:off x="2323598" y="976061"/>
              <a:ext cx="44366" cy="58653"/>
            </a:xfrm>
            <a:prstGeom prst="rect">
              <a:avLst/>
            </a:prstGeom>
            <a:solidFill>
              <a:srgbClr val="006E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5" name="capmini1_3_3"/>
            <p:cNvSpPr/>
            <p:nvPr/>
          </p:nvSpPr>
          <p:spPr>
            <a:xfrm>
              <a:off x="2367965" y="976061"/>
              <a:ext cx="44366" cy="58653"/>
            </a:xfrm>
            <a:prstGeom prst="rect">
              <a:avLst/>
            </a:prstGeom>
            <a:solidFill>
              <a:srgbClr val="ABCAB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capmini2_0_0"/>
            <p:cNvSpPr/>
            <p:nvPr/>
          </p:nvSpPr>
          <p:spPr>
            <a:xfrm>
              <a:off x="2547686" y="800100"/>
              <a:ext cx="44366" cy="58653"/>
            </a:xfrm>
            <a:prstGeom prst="rect">
              <a:avLst/>
            </a:prstGeom>
            <a:solidFill>
              <a:srgbClr val="07853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capmini2_0_1"/>
            <p:cNvSpPr/>
            <p:nvPr/>
          </p:nvSpPr>
          <p:spPr>
            <a:xfrm>
              <a:off x="2592053" y="800100"/>
              <a:ext cx="44366" cy="58653"/>
            </a:xfrm>
            <a:prstGeom prst="rect">
              <a:avLst/>
            </a:prstGeom>
            <a:solidFill>
              <a:srgbClr val="E1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8" name="capmini2_0_2"/>
            <p:cNvSpPr/>
            <p:nvPr/>
          </p:nvSpPr>
          <p:spPr>
            <a:xfrm>
              <a:off x="2636419" y="800100"/>
              <a:ext cx="44366" cy="58653"/>
            </a:xfrm>
            <a:prstGeom prst="rect">
              <a:avLst/>
            </a:prstGeom>
            <a:solidFill>
              <a:srgbClr val="ECF8E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9" name="capmini2_0_3"/>
            <p:cNvSpPr/>
            <p:nvPr/>
          </p:nvSpPr>
          <p:spPr>
            <a:xfrm>
              <a:off x="2680786" y="800100"/>
              <a:ext cx="44366" cy="58653"/>
            </a:xfrm>
            <a:prstGeom prst="rect">
              <a:avLst/>
            </a:prstGeom>
            <a:solidFill>
              <a:srgbClr val="E4F5E5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capmini2_1_0"/>
            <p:cNvSpPr/>
            <p:nvPr/>
          </p:nvSpPr>
          <p:spPr>
            <a:xfrm>
              <a:off x="2547686" y="858753"/>
              <a:ext cx="44366" cy="58653"/>
            </a:xfrm>
            <a:prstGeom prst="rect">
              <a:avLst/>
            </a:prstGeom>
            <a:solidFill>
              <a:srgbClr val="B9E1B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apmini2_1_1"/>
            <p:cNvSpPr/>
            <p:nvPr/>
          </p:nvSpPr>
          <p:spPr>
            <a:xfrm>
              <a:off x="2592053" y="858753"/>
              <a:ext cx="44366" cy="58653"/>
            </a:xfrm>
            <a:prstGeom prst="rect">
              <a:avLst/>
            </a:prstGeom>
            <a:solidFill>
              <a:srgbClr val="0367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2" name="capmini2_1_2"/>
            <p:cNvSpPr/>
            <p:nvPr/>
          </p:nvSpPr>
          <p:spPr>
            <a:xfrm>
              <a:off x="2636419" y="858753"/>
              <a:ext cx="44366" cy="58653"/>
            </a:xfrm>
            <a:prstGeom prst="rect">
              <a:avLst/>
            </a:prstGeom>
            <a:solidFill>
              <a:srgbClr val="4F865B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3" name="capmini2_1_3"/>
            <p:cNvSpPr/>
            <p:nvPr/>
          </p:nvSpPr>
          <p:spPr>
            <a:xfrm>
              <a:off x="2680786" y="858753"/>
              <a:ext cx="44366" cy="58653"/>
            </a:xfrm>
            <a:prstGeom prst="rect">
              <a:avLst/>
            </a:prstGeom>
            <a:solidFill>
              <a:srgbClr val="E1F5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capmini2_2_0"/>
            <p:cNvSpPr/>
            <p:nvPr/>
          </p:nvSpPr>
          <p:spPr>
            <a:xfrm>
              <a:off x="2547686" y="917407"/>
              <a:ext cx="44366" cy="58653"/>
            </a:xfrm>
            <a:prstGeom prst="rect">
              <a:avLst/>
            </a:prstGeom>
            <a:solidFill>
              <a:srgbClr val="FCFDF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capmini2_2_1"/>
            <p:cNvSpPr/>
            <p:nvPr/>
          </p:nvSpPr>
          <p:spPr>
            <a:xfrm>
              <a:off x="2592053" y="917407"/>
              <a:ext cx="44366" cy="58653"/>
            </a:xfrm>
            <a:prstGeom prst="rect">
              <a:avLst/>
            </a:prstGeom>
            <a:solidFill>
              <a:srgbClr val="95CA9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6" name="capmini2_2_2"/>
            <p:cNvSpPr/>
            <p:nvPr/>
          </p:nvSpPr>
          <p:spPr>
            <a:xfrm>
              <a:off x="2636419" y="917407"/>
              <a:ext cx="44366" cy="58653"/>
            </a:xfrm>
            <a:prstGeom prst="rect">
              <a:avLst/>
            </a:prstGeom>
            <a:solidFill>
              <a:srgbClr val="DEF4E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capmini2_2_3"/>
            <p:cNvSpPr/>
            <p:nvPr/>
          </p:nvSpPr>
          <p:spPr>
            <a:xfrm>
              <a:off x="2680786" y="917407"/>
              <a:ext cx="44366" cy="58653"/>
            </a:xfrm>
            <a:prstGeom prst="rect">
              <a:avLst/>
            </a:prstGeom>
            <a:solidFill>
              <a:srgbClr val="86C88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8" name="capmini2_3_0"/>
            <p:cNvSpPr/>
            <p:nvPr/>
          </p:nvSpPr>
          <p:spPr>
            <a:xfrm>
              <a:off x="2547686" y="976061"/>
              <a:ext cx="44366" cy="58653"/>
            </a:xfrm>
            <a:prstGeom prst="rect">
              <a:avLst/>
            </a:prstGeom>
            <a:solidFill>
              <a:srgbClr val="DCF2D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9" name="capmini2_3_1"/>
            <p:cNvSpPr/>
            <p:nvPr/>
          </p:nvSpPr>
          <p:spPr>
            <a:xfrm>
              <a:off x="2592053" y="976061"/>
              <a:ext cx="44366" cy="58653"/>
            </a:xfrm>
            <a:prstGeom prst="rect">
              <a:avLst/>
            </a:prstGeom>
            <a:solidFill>
              <a:srgbClr val="F3FA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capmini2_3_2"/>
            <p:cNvSpPr/>
            <p:nvPr/>
          </p:nvSpPr>
          <p:spPr>
            <a:xfrm>
              <a:off x="2636419" y="976061"/>
              <a:ext cx="44366" cy="58653"/>
            </a:xfrm>
            <a:prstGeom prst="rect">
              <a:avLst/>
            </a:prstGeom>
            <a:solidFill>
              <a:srgbClr val="016F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1" name="capmini2_3_3"/>
            <p:cNvSpPr/>
            <p:nvPr/>
          </p:nvSpPr>
          <p:spPr>
            <a:xfrm>
              <a:off x="2680786" y="976061"/>
              <a:ext cx="44366" cy="58653"/>
            </a:xfrm>
            <a:prstGeom prst="rect">
              <a:avLst/>
            </a:prstGeom>
            <a:solidFill>
              <a:srgbClr val="F3F6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2" name="capellipsis"/>
            <p:cNvSpPr txBox="1"/>
            <p:nvPr/>
          </p:nvSpPr>
          <p:spPr>
            <a:xfrm>
              <a:off x="2436394" y="821155"/>
              <a:ext cx="96252" cy="14437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11" b="0" i="0">
                  <a:solidFill>
                    <a:srgbClr val="101010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203" name="compose_brace"/>
            <p:cNvSpPr/>
            <p:nvPr/>
          </p:nvSpPr>
          <p:spPr>
            <a:xfrm>
              <a:off x="1991226" y="1097881"/>
              <a:ext cx="718886" cy="75197"/>
            </a:xfrm>
            <a:custGeom>
              <a:avLst/>
              <a:gdLst/>
              <a:ahLst/>
              <a:cxnLst/>
              <a:rect l="0" t="0" r="r" b="b"/>
              <a:pathLst>
                <a:path w="718886" h="75197" fill="none">
                  <a:moveTo>
                    <a:pt x="0" y="0"/>
                  </a:moveTo>
                  <a:lnTo>
                    <a:pt x="12031" y="45118"/>
                  </a:lnTo>
                  <a:lnTo>
                    <a:pt x="339892" y="45118"/>
                  </a:lnTo>
                  <a:lnTo>
                    <a:pt x="354931" y="75197"/>
                  </a:lnTo>
                  <a:lnTo>
                    <a:pt x="369971" y="45118"/>
                  </a:lnTo>
                  <a:lnTo>
                    <a:pt x="718886" y="45118"/>
                  </a:lnTo>
                  <a:lnTo>
                    <a:pt x="718886" y="0"/>
                  </a:lnTo>
                </a:path>
              </a:pathLst>
            </a:custGeom>
            <a:noFill/>
            <a:ln w="6015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brace_arrow"/>
            <p:cNvSpPr/>
            <p:nvPr/>
          </p:nvSpPr>
          <p:spPr>
            <a:xfrm>
              <a:off x="2346157" y="1152023"/>
              <a:ext cx="30" cy="123323"/>
            </a:xfrm>
            <a:custGeom>
              <a:avLst/>
              <a:gdLst/>
              <a:ahLst/>
              <a:cxnLst/>
              <a:rect l="0" t="0" r="r" b="b"/>
              <a:pathLst>
                <a:path w="1" h="123323" fill="none">
                  <a:moveTo>
                    <a:pt x="0" y="0"/>
                  </a:moveTo>
                  <a:lnTo>
                    <a:pt x="0" y="123323"/>
                  </a:lnTo>
                </a:path>
              </a:pathLst>
            </a:custGeom>
            <a:noFill/>
            <a:ln w="9023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omposed_0_0"/>
            <p:cNvSpPr/>
            <p:nvPr/>
          </p:nvSpPr>
          <p:spPr>
            <a:xfrm>
              <a:off x="2195763" y="1482892"/>
              <a:ext cx="74445" cy="96252"/>
            </a:xfrm>
            <a:prstGeom prst="rect">
              <a:avLst/>
            </a:prstGeom>
            <a:solidFill>
              <a:srgbClr val="01713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6" name="composed_0_1"/>
            <p:cNvSpPr/>
            <p:nvPr/>
          </p:nvSpPr>
          <p:spPr>
            <a:xfrm>
              <a:off x="2270208" y="1482892"/>
              <a:ext cx="74445" cy="96252"/>
            </a:xfrm>
            <a:prstGeom prst="rect">
              <a:avLst/>
            </a:prstGeom>
            <a:solidFill>
              <a:srgbClr val="E4F3E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7" name="composed_0_2"/>
            <p:cNvSpPr/>
            <p:nvPr/>
          </p:nvSpPr>
          <p:spPr>
            <a:xfrm>
              <a:off x="2344653" y="1482892"/>
              <a:ext cx="74445" cy="96252"/>
            </a:xfrm>
            <a:prstGeom prst="rect">
              <a:avLst/>
            </a:prstGeom>
            <a:solidFill>
              <a:srgbClr val="E8F5E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composed_0_3"/>
            <p:cNvSpPr/>
            <p:nvPr/>
          </p:nvSpPr>
          <p:spPr>
            <a:xfrm>
              <a:off x="2419099" y="1482892"/>
              <a:ext cx="74445" cy="96252"/>
            </a:xfrm>
            <a:prstGeom prst="rect">
              <a:avLst/>
            </a:prstGeom>
            <a:solidFill>
              <a:srgbClr val="EBF7E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9" name="composed_1_0"/>
            <p:cNvSpPr/>
            <p:nvPr/>
          </p:nvSpPr>
          <p:spPr>
            <a:xfrm>
              <a:off x="2195763" y="1579144"/>
              <a:ext cx="74445" cy="96252"/>
            </a:xfrm>
            <a:prstGeom prst="rect">
              <a:avLst/>
            </a:prstGeom>
            <a:solidFill>
              <a:srgbClr val="A8D6A8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composed_1_1"/>
            <p:cNvSpPr/>
            <p:nvPr/>
          </p:nvSpPr>
          <p:spPr>
            <a:xfrm>
              <a:off x="2270208" y="1579144"/>
              <a:ext cx="74445" cy="96252"/>
            </a:xfrm>
            <a:prstGeom prst="rect">
              <a:avLst/>
            </a:prstGeom>
            <a:solidFill>
              <a:srgbClr val="006C2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1" name="composed_1_2"/>
            <p:cNvSpPr/>
            <p:nvPr/>
          </p:nvSpPr>
          <p:spPr>
            <a:xfrm>
              <a:off x="2344653" y="1579144"/>
              <a:ext cx="74445" cy="96252"/>
            </a:xfrm>
            <a:prstGeom prst="rect">
              <a:avLst/>
            </a:prstGeom>
            <a:solidFill>
              <a:srgbClr val="D4E5D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2" name="composed_1_3"/>
            <p:cNvSpPr/>
            <p:nvPr/>
          </p:nvSpPr>
          <p:spPr>
            <a:xfrm>
              <a:off x="2419099" y="1579144"/>
              <a:ext cx="74445" cy="96252"/>
            </a:xfrm>
            <a:prstGeom prst="rect">
              <a:avLst/>
            </a:prstGeom>
            <a:solidFill>
              <a:srgbClr val="EAF6E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3" name="composed_2_0"/>
            <p:cNvSpPr/>
            <p:nvPr/>
          </p:nvSpPr>
          <p:spPr>
            <a:xfrm>
              <a:off x="2195763" y="1675397"/>
              <a:ext cx="74445" cy="96252"/>
            </a:xfrm>
            <a:prstGeom prst="rect">
              <a:avLst/>
            </a:prstGeom>
            <a:solidFill>
              <a:srgbClr val="F5FB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4" name="composed_2_1"/>
            <p:cNvSpPr/>
            <p:nvPr/>
          </p:nvSpPr>
          <p:spPr>
            <a:xfrm>
              <a:off x="2270208" y="1675397"/>
              <a:ext cx="74445" cy="96252"/>
            </a:xfrm>
            <a:prstGeom prst="rect">
              <a:avLst/>
            </a:prstGeom>
            <a:solidFill>
              <a:srgbClr val="8FC88F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5" name="composed_2_2"/>
            <p:cNvSpPr/>
            <p:nvPr/>
          </p:nvSpPr>
          <p:spPr>
            <a:xfrm>
              <a:off x="2344653" y="1675397"/>
              <a:ext cx="74445" cy="96252"/>
            </a:xfrm>
            <a:prstGeom prst="rect">
              <a:avLst/>
            </a:prstGeom>
            <a:solidFill>
              <a:srgbClr val="E3F2E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6" name="composed_2_3"/>
            <p:cNvSpPr/>
            <p:nvPr/>
          </p:nvSpPr>
          <p:spPr>
            <a:xfrm>
              <a:off x="2419099" y="1675397"/>
              <a:ext cx="74445" cy="96252"/>
            </a:xfrm>
            <a:prstGeom prst="rect">
              <a:avLst/>
            </a:prstGeom>
            <a:solidFill>
              <a:srgbClr val="3DA24A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7" name="composed_3_0"/>
            <p:cNvSpPr/>
            <p:nvPr/>
          </p:nvSpPr>
          <p:spPr>
            <a:xfrm>
              <a:off x="2195763" y="1771650"/>
              <a:ext cx="74445" cy="96252"/>
            </a:xfrm>
            <a:prstGeom prst="rect">
              <a:avLst/>
            </a:prstGeom>
            <a:solidFill>
              <a:srgbClr val="D8EE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8" name="composed_3_1"/>
            <p:cNvSpPr/>
            <p:nvPr/>
          </p:nvSpPr>
          <p:spPr>
            <a:xfrm>
              <a:off x="2270208" y="1771650"/>
              <a:ext cx="74445" cy="96252"/>
            </a:xfrm>
            <a:prstGeom prst="rect">
              <a:avLst/>
            </a:prstGeom>
            <a:solidFill>
              <a:srgbClr val="F3FA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9" name="composed_3_2"/>
            <p:cNvSpPr/>
            <p:nvPr/>
          </p:nvSpPr>
          <p:spPr>
            <a:xfrm>
              <a:off x="2344653" y="1771650"/>
              <a:ext cx="74445" cy="96252"/>
            </a:xfrm>
            <a:prstGeom prst="rect">
              <a:avLst/>
            </a:prstGeom>
            <a:solidFill>
              <a:srgbClr val="01713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omposed_3_3"/>
            <p:cNvSpPr/>
            <p:nvPr/>
          </p:nvSpPr>
          <p:spPr>
            <a:xfrm>
              <a:off x="2419099" y="1771650"/>
              <a:ext cx="74445" cy="96252"/>
            </a:xfrm>
            <a:prstGeom prst="rect">
              <a:avLst/>
            </a:prstGeom>
            <a:solidFill>
              <a:srgbClr val="40924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omposebox"/>
            <p:cNvSpPr/>
            <p:nvPr/>
          </p:nvSpPr>
          <p:spPr>
            <a:xfrm>
              <a:off x="1982202" y="2048376"/>
              <a:ext cx="736934" cy="460207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812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one_matrix"/>
            <p:cNvSpPr txBox="1"/>
            <p:nvPr/>
          </p:nvSpPr>
          <p:spPr>
            <a:xfrm>
              <a:off x="2021305" y="2328110"/>
              <a:ext cx="664744" cy="11730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soft: bₖ = Bₖ/L
hard: F_H = 0</a:t>
              </a:r>
            </a:p>
          </p:txBody>
        </p:sp>
        <p:grpSp>
          <p:nvGrpSpPr>
            <p:cNvPr id="223" name="cap_label0"/>
            <p:cNvGrpSpPr/>
            <p:nvPr/>
          </p:nvGrpSpPr>
          <p:grpSpPr>
            <a:xfrm>
              <a:off x="1997242" y="664074"/>
              <a:ext cx="129846" cy="82197"/>
              <a:chOff x="2013145" y="676114"/>
              <a:chExt cx="138897" cy="82197"/>
            </a:xfrm>
          </p:grpSpPr>
          <p:sp>
            <p:nvSpPr>
              <p:cNvPr id="224" name="cap_label0_outline_0"/>
              <p:cNvSpPr/>
              <p:nvPr/>
            </p:nvSpPr>
            <p:spPr>
              <a:xfrm>
                <a:off x="201314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ap_label0_outline_1"/>
              <p:cNvSpPr/>
              <p:nvPr/>
            </p:nvSpPr>
            <p:spPr>
              <a:xfrm>
                <a:off x="207724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ap_label0_outline_2"/>
              <p:cNvSpPr/>
              <p:nvPr/>
            </p:nvSpPr>
            <p:spPr>
              <a:xfrm>
                <a:off x="2106264" y="678781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7"/>
                      <a:pt x="4679" y="5397"/>
                    </a:cubicBezTo>
                    <a:cubicBezTo>
                      <a:pt x="6044" y="5397"/>
                      <a:pt x="6632" y="6374"/>
                      <a:pt x="6632" y="8453"/>
                    </a:cubicBezTo>
                    <a:lnTo>
                      <a:pt x="6632" y="37905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ap_label0_outline_3"/>
              <p:cNvSpPr/>
              <p:nvPr/>
            </p:nvSpPr>
            <p:spPr>
              <a:xfrm>
                <a:off x="213539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8" name="cap_label1"/>
            <p:cNvGrpSpPr/>
            <p:nvPr/>
          </p:nvGrpSpPr>
          <p:grpSpPr>
            <a:xfrm>
              <a:off x="2240881" y="664074"/>
              <a:ext cx="129845" cy="82197"/>
              <a:chOff x="2256785" y="676114"/>
              <a:chExt cx="138896" cy="82197"/>
            </a:xfrm>
          </p:grpSpPr>
          <p:sp>
            <p:nvSpPr>
              <p:cNvPr id="229" name="cap_label1_outline_0"/>
              <p:cNvSpPr/>
              <p:nvPr/>
            </p:nvSpPr>
            <p:spPr>
              <a:xfrm>
                <a:off x="2256785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ap_label1_outline_1"/>
              <p:cNvSpPr/>
              <p:nvPr/>
            </p:nvSpPr>
            <p:spPr>
              <a:xfrm>
                <a:off x="2320886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ap_label1_outline_2"/>
              <p:cNvSpPr/>
              <p:nvPr/>
            </p:nvSpPr>
            <p:spPr>
              <a:xfrm>
                <a:off x="2344633" y="678781"/>
                <a:ext cx="28936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28936" h="43954">
                    <a:moveTo>
                      <a:pt x="28936" y="35048"/>
                    </a:moveTo>
                    <a:lnTo>
                      <a:pt x="28091" y="34723"/>
                    </a:lnTo>
                    <a:cubicBezTo>
                      <a:pt x="25686" y="38425"/>
                      <a:pt x="24840" y="39013"/>
                      <a:pt x="21916" y="39013"/>
                    </a:cubicBezTo>
                    <a:lnTo>
                      <a:pt x="6374" y="39013"/>
                    </a:lnTo>
                    <a:lnTo>
                      <a:pt x="17296" y="27567"/>
                    </a:lnTo>
                    <a:cubicBezTo>
                      <a:pt x="23082" y="21522"/>
                      <a:pt x="25618" y="16581"/>
                      <a:pt x="25618" y="11509"/>
                    </a:cubicBezTo>
                    <a:cubicBezTo>
                      <a:pt x="25618" y="5008"/>
                      <a:pt x="20352" y="0"/>
                      <a:pt x="13593" y="0"/>
                    </a:cubicBezTo>
                    <a:cubicBezTo>
                      <a:pt x="10013" y="0"/>
                      <a:pt x="6636" y="1433"/>
                      <a:pt x="4227" y="4032"/>
                    </a:cubicBezTo>
                    <a:cubicBezTo>
                      <a:pt x="2147" y="6243"/>
                      <a:pt x="1171" y="8322"/>
                      <a:pt x="67" y="12938"/>
                    </a:cubicBezTo>
                    <a:lnTo>
                      <a:pt x="1433" y="13263"/>
                    </a:lnTo>
                    <a:cubicBezTo>
                      <a:pt x="4032" y="6894"/>
                      <a:pt x="6374" y="4810"/>
                      <a:pt x="10859" y="4810"/>
                    </a:cubicBezTo>
                    <a:cubicBezTo>
                      <a:pt x="16323" y="4810"/>
                      <a:pt x="20026" y="8517"/>
                      <a:pt x="20026" y="13978"/>
                    </a:cubicBezTo>
                    <a:cubicBezTo>
                      <a:pt x="20026" y="19050"/>
                      <a:pt x="17038" y="25098"/>
                      <a:pt x="11577" y="30885"/>
                    </a:cubicBezTo>
                    <a:lnTo>
                      <a:pt x="0" y="43172"/>
                    </a:lnTo>
                    <a:lnTo>
                      <a:pt x="0" y="43954"/>
                    </a:lnTo>
                    <a:lnTo>
                      <a:pt x="25360" y="43954"/>
                    </a:lnTo>
                    <a:lnTo>
                      <a:pt x="28936" y="3504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ap_label1_outline_3"/>
              <p:cNvSpPr/>
              <p:nvPr/>
            </p:nvSpPr>
            <p:spPr>
              <a:xfrm>
                <a:off x="237903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3" name="cap_label2"/>
            <p:cNvGrpSpPr/>
            <p:nvPr/>
          </p:nvGrpSpPr>
          <p:grpSpPr>
            <a:xfrm>
              <a:off x="2553702" y="664074"/>
              <a:ext cx="135576" cy="82197"/>
              <a:chOff x="2569606" y="676114"/>
              <a:chExt cx="168195" cy="82197"/>
            </a:xfrm>
          </p:grpSpPr>
          <p:sp>
            <p:nvSpPr>
              <p:cNvPr id="234" name="cap_label2_outline_0"/>
              <p:cNvSpPr/>
              <p:nvPr/>
            </p:nvSpPr>
            <p:spPr>
              <a:xfrm>
                <a:off x="2569606" y="694494"/>
                <a:ext cx="50438" cy="63817"/>
              </a:xfrm>
              <a:custGeom>
                <a:avLst/>
                <a:gdLst/>
                <a:ahLst/>
                <a:cxnLst/>
                <a:rect l="0" t="0" r="r" b="b"/>
                <a:pathLst>
                  <a:path w="50439" h="63817">
                    <a:moveTo>
                      <a:pt x="43847" y="45240"/>
                    </a:moveTo>
                    <a:cubicBezTo>
                      <a:pt x="43660" y="39203"/>
                      <a:pt x="41152" y="35671"/>
                      <a:pt x="31119" y="27126"/>
                    </a:cubicBezTo>
                    <a:cubicBezTo>
                      <a:pt x="21086" y="18673"/>
                      <a:pt x="20157" y="17371"/>
                      <a:pt x="19971" y="12819"/>
                    </a:cubicBezTo>
                    <a:cubicBezTo>
                      <a:pt x="19788" y="6969"/>
                      <a:pt x="24154" y="3346"/>
                      <a:pt x="31397" y="3346"/>
                    </a:cubicBezTo>
                    <a:cubicBezTo>
                      <a:pt x="35393" y="3346"/>
                      <a:pt x="38644" y="4461"/>
                      <a:pt x="41057" y="6691"/>
                    </a:cubicBezTo>
                    <a:cubicBezTo>
                      <a:pt x="43660" y="9013"/>
                      <a:pt x="44494" y="12172"/>
                      <a:pt x="44867" y="18395"/>
                    </a:cubicBezTo>
                    <a:lnTo>
                      <a:pt x="46819" y="18673"/>
                    </a:lnTo>
                    <a:lnTo>
                      <a:pt x="50439" y="0"/>
                    </a:lnTo>
                    <a:lnTo>
                      <a:pt x="48026" y="0"/>
                    </a:lnTo>
                    <a:cubicBezTo>
                      <a:pt x="46633" y="2139"/>
                      <a:pt x="45704" y="2604"/>
                      <a:pt x="43287" y="2604"/>
                    </a:cubicBezTo>
                    <a:cubicBezTo>
                      <a:pt x="41894" y="2604"/>
                      <a:pt x="40688" y="2139"/>
                      <a:pt x="38366" y="1397"/>
                    </a:cubicBezTo>
                    <a:cubicBezTo>
                      <a:pt x="35949" y="560"/>
                      <a:pt x="32421" y="95"/>
                      <a:pt x="29075" y="95"/>
                    </a:cubicBezTo>
                    <a:cubicBezTo>
                      <a:pt x="17836" y="95"/>
                      <a:pt x="10220" y="6505"/>
                      <a:pt x="10497" y="15609"/>
                    </a:cubicBezTo>
                    <a:cubicBezTo>
                      <a:pt x="10684" y="20622"/>
                      <a:pt x="12355" y="23316"/>
                      <a:pt x="19042" y="29262"/>
                    </a:cubicBezTo>
                    <a:cubicBezTo>
                      <a:pt x="20435" y="30468"/>
                      <a:pt x="22015" y="31770"/>
                      <a:pt x="23408" y="33163"/>
                    </a:cubicBezTo>
                    <a:lnTo>
                      <a:pt x="27773" y="37064"/>
                    </a:lnTo>
                    <a:cubicBezTo>
                      <a:pt x="32885" y="41616"/>
                      <a:pt x="34278" y="44033"/>
                      <a:pt x="34465" y="48026"/>
                    </a:cubicBezTo>
                    <a:cubicBezTo>
                      <a:pt x="34647" y="55086"/>
                      <a:pt x="28984" y="60381"/>
                      <a:pt x="21086" y="60381"/>
                    </a:cubicBezTo>
                    <a:cubicBezTo>
                      <a:pt x="12168" y="60381"/>
                      <a:pt x="5294" y="53784"/>
                      <a:pt x="5016" y="44684"/>
                    </a:cubicBezTo>
                    <a:cubicBezTo>
                      <a:pt x="4925" y="44033"/>
                      <a:pt x="4925" y="43660"/>
                      <a:pt x="5108" y="42823"/>
                    </a:cubicBezTo>
                    <a:lnTo>
                      <a:pt x="2881" y="42640"/>
                    </a:lnTo>
                    <a:lnTo>
                      <a:pt x="0" y="63540"/>
                    </a:lnTo>
                    <a:lnTo>
                      <a:pt x="1953" y="63540"/>
                    </a:lnTo>
                    <a:cubicBezTo>
                      <a:pt x="2695" y="61218"/>
                      <a:pt x="3623" y="60289"/>
                      <a:pt x="5854" y="60289"/>
                    </a:cubicBezTo>
                    <a:cubicBezTo>
                      <a:pt x="7060" y="60289"/>
                      <a:pt x="8640" y="60658"/>
                      <a:pt x="11517" y="61496"/>
                    </a:cubicBezTo>
                    <a:cubicBezTo>
                      <a:pt x="16443" y="63075"/>
                      <a:pt x="19506" y="63817"/>
                      <a:pt x="22852" y="63817"/>
                    </a:cubicBezTo>
                    <a:cubicBezTo>
                      <a:pt x="35207" y="63817"/>
                      <a:pt x="44216" y="55828"/>
                      <a:pt x="43847" y="4524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ap_label2_outline_1"/>
              <p:cNvSpPr/>
              <p:nvPr/>
            </p:nvSpPr>
            <p:spPr>
              <a:xfrm>
                <a:off x="2633708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16062" y="0"/>
                    </a:moveTo>
                    <a:cubicBezTo>
                      <a:pt x="6632" y="6112"/>
                      <a:pt x="0" y="16645"/>
                      <a:pt x="0" y="29912"/>
                    </a:cubicBezTo>
                    <a:cubicBezTo>
                      <a:pt x="0" y="42005"/>
                      <a:pt x="6894" y="54229"/>
                      <a:pt x="15867" y="59754"/>
                    </a:cubicBezTo>
                    <a:lnTo>
                      <a:pt x="16645" y="58714"/>
                    </a:lnTo>
                    <a:cubicBezTo>
                      <a:pt x="8064" y="51951"/>
                      <a:pt x="5592" y="44085"/>
                      <a:pt x="5592" y="29714"/>
                    </a:cubicBezTo>
                    <a:cubicBezTo>
                      <a:pt x="5592" y="15280"/>
                      <a:pt x="8259" y="7802"/>
                      <a:pt x="16645" y="1044"/>
                    </a:cubicBezTo>
                    <a:lnTo>
                      <a:pt x="16062" y="0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ap_label2_outline_2"/>
              <p:cNvSpPr/>
              <p:nvPr/>
            </p:nvSpPr>
            <p:spPr>
              <a:xfrm>
                <a:off x="2657520" y="680277"/>
                <a:ext cx="56439" cy="42457"/>
              </a:xfrm>
              <a:custGeom>
                <a:avLst/>
                <a:gdLst/>
                <a:ahLst/>
                <a:cxnLst/>
                <a:rect l="0" t="0" r="r" b="b"/>
                <a:pathLst>
                  <a:path w="56440" h="42458">
                    <a:moveTo>
                      <a:pt x="50848" y="42458"/>
                    </a:moveTo>
                    <a:lnTo>
                      <a:pt x="50780" y="41418"/>
                    </a:lnTo>
                    <a:cubicBezTo>
                      <a:pt x="45581" y="41029"/>
                      <a:pt x="45061" y="40830"/>
                      <a:pt x="42525" y="37775"/>
                    </a:cubicBezTo>
                    <a:lnTo>
                      <a:pt x="26983" y="18074"/>
                    </a:lnTo>
                    <a:lnTo>
                      <a:pt x="50522" y="3381"/>
                    </a:lnTo>
                    <a:cubicBezTo>
                      <a:pt x="52864" y="2016"/>
                      <a:pt x="54554" y="1302"/>
                      <a:pt x="56440" y="1040"/>
                    </a:cubicBezTo>
                    <a:lnTo>
                      <a:pt x="56372" y="0"/>
                    </a:lnTo>
                    <a:lnTo>
                      <a:pt x="39144" y="0"/>
                    </a:lnTo>
                    <a:lnTo>
                      <a:pt x="39207" y="1040"/>
                    </a:lnTo>
                    <a:lnTo>
                      <a:pt x="41612" y="1234"/>
                    </a:lnTo>
                    <a:cubicBezTo>
                      <a:pt x="43696" y="1365"/>
                      <a:pt x="44605" y="1754"/>
                      <a:pt x="44605" y="2536"/>
                    </a:cubicBezTo>
                    <a:cubicBezTo>
                      <a:pt x="44605" y="4096"/>
                      <a:pt x="40120" y="7541"/>
                      <a:pt x="32901" y="11573"/>
                    </a:cubicBezTo>
                    <a:lnTo>
                      <a:pt x="20419" y="18467"/>
                    </a:lnTo>
                    <a:lnTo>
                      <a:pt x="23928" y="5850"/>
                    </a:lnTo>
                    <a:cubicBezTo>
                      <a:pt x="24904" y="2600"/>
                      <a:pt x="27245" y="1302"/>
                      <a:pt x="32187" y="1040"/>
                    </a:cubicBezTo>
                    <a:lnTo>
                      <a:pt x="32119" y="0"/>
                    </a:lnTo>
                    <a:lnTo>
                      <a:pt x="8453" y="0"/>
                    </a:lnTo>
                    <a:lnTo>
                      <a:pt x="8517" y="1040"/>
                    </a:lnTo>
                    <a:cubicBezTo>
                      <a:pt x="13914" y="1429"/>
                      <a:pt x="15153" y="1949"/>
                      <a:pt x="15280" y="3838"/>
                    </a:cubicBezTo>
                    <a:cubicBezTo>
                      <a:pt x="15347" y="4032"/>
                      <a:pt x="15347" y="4290"/>
                      <a:pt x="15347" y="4485"/>
                    </a:cubicBezTo>
                    <a:cubicBezTo>
                      <a:pt x="15347" y="5398"/>
                      <a:pt x="15216" y="6501"/>
                      <a:pt x="14696" y="7866"/>
                    </a:cubicBezTo>
                    <a:lnTo>
                      <a:pt x="6830" y="36608"/>
                    </a:lnTo>
                    <a:cubicBezTo>
                      <a:pt x="5659" y="40509"/>
                      <a:pt x="4941" y="40830"/>
                      <a:pt x="0" y="41418"/>
                    </a:cubicBezTo>
                    <a:lnTo>
                      <a:pt x="67" y="42458"/>
                    </a:lnTo>
                    <a:lnTo>
                      <a:pt x="21586" y="42458"/>
                    </a:lnTo>
                    <a:lnTo>
                      <a:pt x="21522" y="41418"/>
                    </a:lnTo>
                    <a:cubicBezTo>
                      <a:pt x="16125" y="40961"/>
                      <a:pt x="15411" y="40573"/>
                      <a:pt x="15280" y="38556"/>
                    </a:cubicBezTo>
                    <a:cubicBezTo>
                      <a:pt x="15280" y="38425"/>
                      <a:pt x="15280" y="38231"/>
                      <a:pt x="15280" y="38100"/>
                    </a:cubicBezTo>
                    <a:cubicBezTo>
                      <a:pt x="15280" y="37580"/>
                      <a:pt x="15347" y="37060"/>
                      <a:pt x="15605" y="36020"/>
                    </a:cubicBezTo>
                    <a:lnTo>
                      <a:pt x="16061" y="34655"/>
                    </a:lnTo>
                    <a:lnTo>
                      <a:pt x="20094" y="19832"/>
                    </a:lnTo>
                    <a:lnTo>
                      <a:pt x="31278" y="33353"/>
                    </a:lnTo>
                    <a:cubicBezTo>
                      <a:pt x="33552" y="36020"/>
                      <a:pt x="34981" y="38294"/>
                      <a:pt x="34981" y="39596"/>
                    </a:cubicBezTo>
                    <a:cubicBezTo>
                      <a:pt x="34981" y="40509"/>
                      <a:pt x="33683" y="41029"/>
                      <a:pt x="30885" y="41223"/>
                    </a:cubicBezTo>
                    <a:lnTo>
                      <a:pt x="28222" y="41418"/>
                    </a:lnTo>
                    <a:lnTo>
                      <a:pt x="28285" y="42458"/>
                    </a:lnTo>
                    <a:lnTo>
                      <a:pt x="50848" y="42458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ap_label2_outline_3"/>
              <p:cNvSpPr/>
              <p:nvPr/>
            </p:nvSpPr>
            <p:spPr>
              <a:xfrm>
                <a:off x="2721157" y="676114"/>
                <a:ext cx="16644" cy="59753"/>
              </a:xfrm>
              <a:custGeom>
                <a:avLst/>
                <a:gdLst/>
                <a:ahLst/>
                <a:cxnLst/>
                <a:rect l="0" t="0" r="r" b="b"/>
                <a:pathLst>
                  <a:path w="16645" h="59754">
                    <a:moveTo>
                      <a:pt x="587" y="0"/>
                    </a:moveTo>
                    <a:lnTo>
                      <a:pt x="0" y="1044"/>
                    </a:lnTo>
                    <a:cubicBezTo>
                      <a:pt x="8390" y="7802"/>
                      <a:pt x="11053" y="15280"/>
                      <a:pt x="11053" y="29714"/>
                    </a:cubicBezTo>
                    <a:cubicBezTo>
                      <a:pt x="11053" y="44085"/>
                      <a:pt x="8584" y="51951"/>
                      <a:pt x="0" y="58714"/>
                    </a:cubicBezTo>
                    <a:lnTo>
                      <a:pt x="782" y="59754"/>
                    </a:lnTo>
                    <a:cubicBezTo>
                      <a:pt x="9755" y="54229"/>
                      <a:pt x="16645" y="42005"/>
                      <a:pt x="16645" y="29912"/>
                    </a:cubicBezTo>
                    <a:cubicBezTo>
                      <a:pt x="16645" y="16645"/>
                      <a:pt x="10013" y="6112"/>
                      <a:pt x="587" y="0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38" name="composed_S"/>
            <p:cNvGrpSpPr/>
            <p:nvPr/>
          </p:nvGrpSpPr>
          <p:grpSpPr>
            <a:xfrm>
              <a:off x="2306193" y="1333188"/>
              <a:ext cx="56951" cy="72056"/>
              <a:chOff x="2322517" y="1346670"/>
              <a:chExt cx="56951" cy="72056"/>
            </a:xfrm>
          </p:grpSpPr>
          <p:sp>
            <p:nvSpPr>
              <p:cNvPr id="239" name="composed_S_outline_0"/>
              <p:cNvSpPr/>
              <p:nvPr/>
            </p:nvSpPr>
            <p:spPr>
              <a:xfrm>
                <a:off x="2322517" y="1346670"/>
                <a:ext cx="56951" cy="72056"/>
              </a:xfrm>
              <a:custGeom>
                <a:avLst/>
                <a:gdLst/>
                <a:ahLst/>
                <a:cxnLst/>
                <a:rect l="0" t="0" r="r" b="b"/>
                <a:pathLst>
                  <a:path w="56952" h="72057">
                    <a:moveTo>
                      <a:pt x="49506" y="51078"/>
                    </a:moveTo>
                    <a:cubicBezTo>
                      <a:pt x="49296" y="44260"/>
                      <a:pt x="46462" y="40275"/>
                      <a:pt x="35135" y="30627"/>
                    </a:cubicBezTo>
                    <a:cubicBezTo>
                      <a:pt x="23809" y="21082"/>
                      <a:pt x="22757" y="19613"/>
                      <a:pt x="22550" y="14474"/>
                    </a:cubicBezTo>
                    <a:cubicBezTo>
                      <a:pt x="22340" y="7866"/>
                      <a:pt x="27269" y="3774"/>
                      <a:pt x="35449" y="3774"/>
                    </a:cubicBezTo>
                    <a:cubicBezTo>
                      <a:pt x="39961" y="3774"/>
                      <a:pt x="43632" y="5032"/>
                      <a:pt x="46359" y="7548"/>
                    </a:cubicBezTo>
                    <a:cubicBezTo>
                      <a:pt x="49296" y="10172"/>
                      <a:pt x="50240" y="13740"/>
                      <a:pt x="50657" y="20764"/>
                    </a:cubicBezTo>
                    <a:lnTo>
                      <a:pt x="52860" y="21082"/>
                    </a:lnTo>
                    <a:lnTo>
                      <a:pt x="56952" y="0"/>
                    </a:lnTo>
                    <a:lnTo>
                      <a:pt x="54225" y="0"/>
                    </a:lnTo>
                    <a:cubicBezTo>
                      <a:pt x="52649" y="2409"/>
                      <a:pt x="51602" y="2937"/>
                      <a:pt x="48875" y="2937"/>
                    </a:cubicBezTo>
                    <a:cubicBezTo>
                      <a:pt x="47304" y="2937"/>
                      <a:pt x="45938" y="2409"/>
                      <a:pt x="43315" y="1572"/>
                    </a:cubicBezTo>
                    <a:cubicBezTo>
                      <a:pt x="40588" y="627"/>
                      <a:pt x="36604" y="103"/>
                      <a:pt x="32829" y="103"/>
                    </a:cubicBezTo>
                    <a:cubicBezTo>
                      <a:pt x="20137" y="103"/>
                      <a:pt x="11537" y="7342"/>
                      <a:pt x="11851" y="17617"/>
                    </a:cubicBezTo>
                    <a:cubicBezTo>
                      <a:pt x="12061" y="23285"/>
                      <a:pt x="13946" y="26325"/>
                      <a:pt x="21499" y="33036"/>
                    </a:cubicBezTo>
                    <a:cubicBezTo>
                      <a:pt x="23074" y="34401"/>
                      <a:pt x="24856" y="35869"/>
                      <a:pt x="26428" y="37441"/>
                    </a:cubicBezTo>
                    <a:lnTo>
                      <a:pt x="31361" y="41847"/>
                    </a:lnTo>
                    <a:cubicBezTo>
                      <a:pt x="37128" y="46986"/>
                      <a:pt x="38699" y="49712"/>
                      <a:pt x="38910" y="54225"/>
                    </a:cubicBezTo>
                    <a:cubicBezTo>
                      <a:pt x="39120" y="62194"/>
                      <a:pt x="32722" y="68175"/>
                      <a:pt x="23809" y="68175"/>
                    </a:cubicBezTo>
                    <a:cubicBezTo>
                      <a:pt x="13740" y="68175"/>
                      <a:pt x="5977" y="60726"/>
                      <a:pt x="5663" y="50447"/>
                    </a:cubicBezTo>
                    <a:cubicBezTo>
                      <a:pt x="5556" y="49712"/>
                      <a:pt x="5556" y="49296"/>
                      <a:pt x="5767" y="48351"/>
                    </a:cubicBezTo>
                    <a:lnTo>
                      <a:pt x="3250" y="48141"/>
                    </a:lnTo>
                    <a:lnTo>
                      <a:pt x="0" y="71739"/>
                    </a:lnTo>
                    <a:lnTo>
                      <a:pt x="2203" y="71739"/>
                    </a:lnTo>
                    <a:cubicBezTo>
                      <a:pt x="3040" y="69120"/>
                      <a:pt x="4088" y="68068"/>
                      <a:pt x="6608" y="68068"/>
                    </a:cubicBezTo>
                    <a:cubicBezTo>
                      <a:pt x="7969" y="68068"/>
                      <a:pt x="9751" y="68489"/>
                      <a:pt x="13006" y="69433"/>
                    </a:cubicBezTo>
                    <a:cubicBezTo>
                      <a:pt x="18562" y="71215"/>
                      <a:pt x="22023" y="72057"/>
                      <a:pt x="25801" y="72057"/>
                    </a:cubicBezTo>
                    <a:cubicBezTo>
                      <a:pt x="39751" y="72057"/>
                      <a:pt x="49923" y="63036"/>
                      <a:pt x="49506" y="5107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53" name="module_stage4"/>
          <p:cNvGrpSpPr/>
          <p:nvPr/>
        </p:nvGrpSpPr>
        <p:grpSpPr>
          <a:xfrm>
            <a:off x="2827421" y="192505"/>
            <a:ext cx="1170071" cy="2409323"/>
            <a:chOff x="2827421" y="192505"/>
            <a:chExt cx="1170071" cy="2409323"/>
          </a:xfrm>
        </p:grpSpPr>
        <p:sp>
          <p:nvSpPr>
            <p:cNvPr id="254" name="stage4_border"/>
            <p:cNvSpPr/>
            <p:nvPr/>
          </p:nvSpPr>
          <p:spPr>
            <a:xfrm>
              <a:off x="2827421" y="192505"/>
              <a:ext cx="1170071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dge4"/>
            <p:cNvSpPr/>
            <p:nvPr/>
          </p:nvSpPr>
          <p:spPr>
            <a:xfrm>
              <a:off x="2935705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number4"/>
            <p:cNvSpPr txBox="1"/>
            <p:nvPr/>
          </p:nvSpPr>
          <p:spPr>
            <a:xfrm>
              <a:off x="2935705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57" name="title4"/>
            <p:cNvSpPr txBox="1"/>
            <p:nvPr/>
          </p:nvSpPr>
          <p:spPr>
            <a:xfrm>
              <a:off x="3128210" y="300789"/>
              <a:ext cx="836194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>
                  <a:solidFill>
                    <a:srgbClr val="125529"/>
                  </a:solidFill>
                  <a:latin typeface="Times New Roman"/>
                </a:rPr>
                <a:t>Flow projection</a:t>
              </a:r>
            </a:p>
          </p:txBody>
        </p:sp>
        <p:sp>
          <p:nvSpPr>
            <p:cNvPr id="258" name="projection_formula_box"/>
            <p:cNvSpPr/>
            <p:nvPr/>
          </p:nvSpPr>
          <p:spPr>
            <a:xfrm>
              <a:off x="2857500" y="583531"/>
              <a:ext cx="1109913" cy="255671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45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iterations"/>
            <p:cNvSpPr txBox="1"/>
            <p:nvPr/>
          </p:nvSpPr>
          <p:spPr>
            <a:xfrm>
              <a:off x="3013910" y="959518"/>
              <a:ext cx="812131" cy="138363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125529"/>
                  </a:solidFill>
                  <a:latin typeface="Times New Roman"/>
                </a:rPr>
                <a:t>reroute F̂ → F★</a:t>
              </a:r>
            </a:p>
          </p:txBody>
        </p:sp>
        <p:sp>
          <p:nvSpPr>
            <p:cNvPr id="260" name="iter_row"/>
            <p:cNvSpPr txBox="1"/>
            <p:nvPr/>
          </p:nvSpPr>
          <p:spPr>
            <a:xfrm>
              <a:off x="3248526" y="1149015"/>
              <a:ext cx="183481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flow</a:t>
              </a:r>
            </a:p>
          </p:txBody>
        </p:sp>
        <p:sp>
          <p:nvSpPr>
            <p:cNvPr id="261" name="iter_col"/>
            <p:cNvSpPr txBox="1"/>
            <p:nvPr/>
          </p:nvSpPr>
          <p:spPr>
            <a:xfrm>
              <a:off x="3489157" y="1149015"/>
              <a:ext cx="192505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cost</a:t>
              </a:r>
            </a:p>
          </p:txBody>
        </p:sp>
        <p:sp>
          <p:nvSpPr>
            <p:cNvPr id="262" name="iter_projected"/>
            <p:cNvSpPr txBox="1"/>
            <p:nvPr/>
          </p:nvSpPr>
          <p:spPr>
            <a:xfrm>
              <a:off x="3726781" y="1149015"/>
              <a:ext cx="237623" cy="20152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F★</a:t>
              </a:r>
            </a:p>
          </p:txBody>
        </p:sp>
        <p:sp>
          <p:nvSpPr>
            <p:cNvPr id="263" name="kernelgrid_0_0"/>
            <p:cNvSpPr/>
            <p:nvPr/>
          </p:nvSpPr>
          <p:spPr>
            <a:xfrm>
              <a:off x="2899610" y="1422734"/>
              <a:ext cx="54142" cy="70685"/>
            </a:xfrm>
            <a:prstGeom prst="rect">
              <a:avLst/>
            </a:prstGeom>
            <a:solidFill>
              <a:srgbClr val="3B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kernelgrid_0_1"/>
            <p:cNvSpPr/>
            <p:nvPr/>
          </p:nvSpPr>
          <p:spPr>
            <a:xfrm>
              <a:off x="2953752" y="1422734"/>
              <a:ext cx="54142" cy="70685"/>
            </a:xfrm>
            <a:prstGeom prst="rect">
              <a:avLst/>
            </a:prstGeom>
            <a:solidFill>
              <a:srgbClr val="D0B9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kernelgrid_0_2"/>
            <p:cNvSpPr/>
            <p:nvPr/>
          </p:nvSpPr>
          <p:spPr>
            <a:xfrm>
              <a:off x="3007894" y="1422734"/>
              <a:ext cx="54142" cy="70685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kernelgrid_0_3"/>
            <p:cNvSpPr/>
            <p:nvPr/>
          </p:nvSpPr>
          <p:spPr>
            <a:xfrm>
              <a:off x="3062036" y="1422734"/>
              <a:ext cx="54142" cy="70685"/>
            </a:xfrm>
            <a:prstGeom prst="rect">
              <a:avLst/>
            </a:prstGeom>
            <a:solidFill>
              <a:srgbClr val="F0E8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kernelgrid_1_0"/>
            <p:cNvSpPr/>
            <p:nvPr/>
          </p:nvSpPr>
          <p:spPr>
            <a:xfrm>
              <a:off x="2899610" y="1493419"/>
              <a:ext cx="54142" cy="70685"/>
            </a:xfrm>
            <a:prstGeom prst="rect">
              <a:avLst/>
            </a:prstGeom>
            <a:solidFill>
              <a:srgbClr val="CCB3D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kernelgrid_1_1"/>
            <p:cNvSpPr/>
            <p:nvPr/>
          </p:nvSpPr>
          <p:spPr>
            <a:xfrm>
              <a:off x="2953752" y="1493419"/>
              <a:ext cx="54142" cy="70685"/>
            </a:xfrm>
            <a:prstGeom prst="rect">
              <a:avLst/>
            </a:prstGeom>
            <a:solidFill>
              <a:srgbClr val="2D0E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kernelgrid_1_2"/>
            <p:cNvSpPr/>
            <p:nvPr/>
          </p:nvSpPr>
          <p:spPr>
            <a:xfrm>
              <a:off x="3007894" y="1493419"/>
              <a:ext cx="54142" cy="70685"/>
            </a:xfrm>
            <a:prstGeom prst="rect">
              <a:avLst/>
            </a:prstGeom>
            <a:solidFill>
              <a:srgbClr val="483C7B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kernelgrid_1_3"/>
            <p:cNvSpPr/>
            <p:nvPr/>
          </p:nvSpPr>
          <p:spPr>
            <a:xfrm>
              <a:off x="3062036" y="1493419"/>
              <a:ext cx="54142" cy="70685"/>
            </a:xfrm>
            <a:prstGeom prst="rect">
              <a:avLst/>
            </a:prstGeom>
            <a:solidFill>
              <a:srgbClr val="EAE1F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kernelgrid_2_0"/>
            <p:cNvSpPr/>
            <p:nvPr/>
          </p:nvSpPr>
          <p:spPr>
            <a:xfrm>
              <a:off x="2899610" y="1564105"/>
              <a:ext cx="54142" cy="70685"/>
            </a:xfrm>
            <a:prstGeom prst="rect">
              <a:avLst/>
            </a:prstGeom>
            <a:solidFill>
              <a:srgbClr val="FFFF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kernelgrid_2_1"/>
            <p:cNvSpPr/>
            <p:nvPr/>
          </p:nvSpPr>
          <p:spPr>
            <a:xfrm>
              <a:off x="2953752" y="1564105"/>
              <a:ext cx="54142" cy="70685"/>
            </a:xfrm>
            <a:prstGeom prst="rect">
              <a:avLst/>
            </a:prstGeom>
            <a:solidFill>
              <a:srgbClr val="7D4B9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kernelgrid_2_2"/>
            <p:cNvSpPr/>
            <p:nvPr/>
          </p:nvSpPr>
          <p:spPr>
            <a:xfrm>
              <a:off x="3007894" y="1564105"/>
              <a:ext cx="54142" cy="70685"/>
            </a:xfrm>
            <a:prstGeom prst="rect">
              <a:avLst/>
            </a:prstGeom>
            <a:solidFill>
              <a:srgbClr val="E9D7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kernelgrid_2_3"/>
            <p:cNvSpPr/>
            <p:nvPr/>
          </p:nvSpPr>
          <p:spPr>
            <a:xfrm>
              <a:off x="3062036" y="1564105"/>
              <a:ext cx="54142" cy="70685"/>
            </a:xfrm>
            <a:prstGeom prst="rect">
              <a:avLst/>
            </a:prstGeom>
            <a:solidFill>
              <a:srgbClr val="5C288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kernelgrid_3_0"/>
            <p:cNvSpPr/>
            <p:nvPr/>
          </p:nvSpPr>
          <p:spPr>
            <a:xfrm>
              <a:off x="2899610" y="1634790"/>
              <a:ext cx="54142" cy="70685"/>
            </a:xfrm>
            <a:prstGeom prst="rect">
              <a:avLst/>
            </a:prstGeom>
            <a:solidFill>
              <a:srgbClr val="D3BA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kernelgrid_3_1"/>
            <p:cNvSpPr/>
            <p:nvPr/>
          </p:nvSpPr>
          <p:spPr>
            <a:xfrm>
              <a:off x="2953752" y="1634790"/>
              <a:ext cx="54142" cy="70685"/>
            </a:xfrm>
            <a:prstGeom prst="rect">
              <a:avLst/>
            </a:prstGeom>
            <a:solidFill>
              <a:srgbClr val="FBFB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kernelgrid_3_2"/>
            <p:cNvSpPr/>
            <p:nvPr/>
          </p:nvSpPr>
          <p:spPr>
            <a:xfrm>
              <a:off x="3007894" y="1634790"/>
              <a:ext cx="54142" cy="70685"/>
            </a:xfrm>
            <a:prstGeom prst="rect">
              <a:avLst/>
            </a:prstGeom>
            <a:solidFill>
              <a:srgbClr val="30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kernelgrid_3_3"/>
            <p:cNvSpPr/>
            <p:nvPr/>
          </p:nvSpPr>
          <p:spPr>
            <a:xfrm>
              <a:off x="3062036" y="1634790"/>
              <a:ext cx="54142" cy="70685"/>
            </a:xfrm>
            <a:prstGeom prst="rect">
              <a:avLst/>
            </a:prstGeom>
            <a:solidFill>
              <a:srgbClr val="F9F4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owgrid_0_0"/>
            <p:cNvSpPr/>
            <p:nvPr/>
          </p:nvSpPr>
          <p:spPr>
            <a:xfrm>
              <a:off x="3263565" y="1398671"/>
              <a:ext cx="64669" cy="75949"/>
            </a:xfrm>
            <a:prstGeom prst="rect">
              <a:avLst/>
            </a:prstGeom>
            <a:solidFill>
              <a:srgbClr val="4E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owgrid_0_1"/>
            <p:cNvSpPr/>
            <p:nvPr/>
          </p:nvSpPr>
          <p:spPr>
            <a:xfrm>
              <a:off x="3328235" y="1398671"/>
              <a:ext cx="64669" cy="75949"/>
            </a:xfrm>
            <a:prstGeom prst="rect">
              <a:avLst/>
            </a:prstGeom>
            <a:solidFill>
              <a:srgbClr val="C7AAD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owgrid_1_0"/>
            <p:cNvSpPr/>
            <p:nvPr/>
          </p:nvSpPr>
          <p:spPr>
            <a:xfrm>
              <a:off x="3263565" y="1474620"/>
              <a:ext cx="64669" cy="75949"/>
            </a:xfrm>
            <a:prstGeom prst="rect">
              <a:avLst/>
            </a:prstGeom>
            <a:solidFill>
              <a:srgbClr val="4A187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wgrid_1_1"/>
            <p:cNvSpPr/>
            <p:nvPr/>
          </p:nvSpPr>
          <p:spPr>
            <a:xfrm>
              <a:off x="3328235" y="1474620"/>
              <a:ext cx="64669" cy="75949"/>
            </a:xfrm>
            <a:prstGeom prst="rect">
              <a:avLst/>
            </a:prstGeom>
            <a:solidFill>
              <a:srgbClr val="C5A9D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owgrid_2_0"/>
            <p:cNvSpPr/>
            <p:nvPr/>
          </p:nvSpPr>
          <p:spPr>
            <a:xfrm>
              <a:off x="3263565" y="1550569"/>
              <a:ext cx="64669" cy="75949"/>
            </a:xfrm>
            <a:prstGeom prst="rect">
              <a:avLst/>
            </a:prstGeom>
            <a:solidFill>
              <a:srgbClr val="3C106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owgrid_2_1"/>
            <p:cNvSpPr/>
            <p:nvPr/>
          </p:nvSpPr>
          <p:spPr>
            <a:xfrm>
              <a:off x="3328235" y="1550569"/>
              <a:ext cx="64669" cy="75949"/>
            </a:xfrm>
            <a:prstGeom prst="rect">
              <a:avLst/>
            </a:prstGeom>
            <a:solidFill>
              <a:srgbClr val="BE9DD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owgrid_3_0"/>
            <p:cNvSpPr/>
            <p:nvPr/>
          </p:nvSpPr>
          <p:spPr>
            <a:xfrm>
              <a:off x="3263565" y="1626519"/>
              <a:ext cx="64669" cy="75949"/>
            </a:xfrm>
            <a:prstGeom prst="rect">
              <a:avLst/>
            </a:prstGeom>
            <a:solidFill>
              <a:srgbClr val="53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owgrid_3_1"/>
            <p:cNvSpPr/>
            <p:nvPr/>
          </p:nvSpPr>
          <p:spPr>
            <a:xfrm>
              <a:off x="3328235" y="1626519"/>
              <a:ext cx="64669" cy="75949"/>
            </a:xfrm>
            <a:prstGeom prst="rect">
              <a:avLst/>
            </a:prstGeom>
            <a:solidFill>
              <a:srgbClr val="BD98D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colgrid_0_0"/>
            <p:cNvSpPr/>
            <p:nvPr/>
          </p:nvSpPr>
          <p:spPr>
            <a:xfrm>
              <a:off x="3528260" y="1398671"/>
              <a:ext cx="105276" cy="75949"/>
            </a:xfrm>
            <a:prstGeom prst="rect">
              <a:avLst/>
            </a:prstGeom>
            <a:solidFill>
              <a:srgbClr val="E5D8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colgrid_1_0"/>
            <p:cNvSpPr/>
            <p:nvPr/>
          </p:nvSpPr>
          <p:spPr>
            <a:xfrm>
              <a:off x="3528260" y="1474620"/>
              <a:ext cx="105276" cy="75949"/>
            </a:xfrm>
            <a:prstGeom prst="rect">
              <a:avLst/>
            </a:prstGeom>
            <a:solidFill>
              <a:srgbClr val="602A88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colgrid_2_0"/>
            <p:cNvSpPr/>
            <p:nvPr/>
          </p:nvSpPr>
          <p:spPr>
            <a:xfrm>
              <a:off x="3528260" y="1550569"/>
              <a:ext cx="105276" cy="75949"/>
            </a:xfrm>
            <a:prstGeom prst="rect">
              <a:avLst/>
            </a:prstGeom>
            <a:solidFill>
              <a:srgbClr val="E9DFF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colgrid_3_0"/>
            <p:cNvSpPr/>
            <p:nvPr/>
          </p:nvSpPr>
          <p:spPr>
            <a:xfrm>
              <a:off x="3528260" y="1626519"/>
              <a:ext cx="105276" cy="75949"/>
            </a:xfrm>
            <a:prstGeom prst="rect">
              <a:avLst/>
            </a:prstGeom>
            <a:solidFill>
              <a:srgbClr val="632C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rojectedgrid_0_0"/>
            <p:cNvSpPr/>
            <p:nvPr/>
          </p:nvSpPr>
          <p:spPr>
            <a:xfrm>
              <a:off x="3756860" y="1410702"/>
              <a:ext cx="49630" cy="73693"/>
            </a:xfrm>
            <a:prstGeom prst="rect">
              <a:avLst/>
            </a:prstGeom>
            <a:solidFill>
              <a:srgbClr val="4B1A7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projectedgrid_0_1"/>
            <p:cNvSpPr/>
            <p:nvPr/>
          </p:nvSpPr>
          <p:spPr>
            <a:xfrm>
              <a:off x="3806490" y="1410702"/>
              <a:ext cx="49630" cy="73693"/>
            </a:xfrm>
            <a:prstGeom prst="rect">
              <a:avLst/>
            </a:prstGeom>
            <a:solidFill>
              <a:srgbClr val="D1BC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projectedgrid_0_2"/>
            <p:cNvSpPr/>
            <p:nvPr/>
          </p:nvSpPr>
          <p:spPr>
            <a:xfrm>
              <a:off x="3856121" y="1410702"/>
              <a:ext cx="49630" cy="73693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projectedgrid_0_3"/>
            <p:cNvSpPr/>
            <p:nvPr/>
          </p:nvSpPr>
          <p:spPr>
            <a:xfrm>
              <a:off x="3905751" y="1410702"/>
              <a:ext cx="49630" cy="73693"/>
            </a:xfrm>
            <a:prstGeom prst="rect">
              <a:avLst/>
            </a:prstGeom>
            <a:solidFill>
              <a:srgbClr val="ECE1F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projectedgrid_1_0"/>
            <p:cNvSpPr/>
            <p:nvPr/>
          </p:nvSpPr>
          <p:spPr>
            <a:xfrm>
              <a:off x="3756860" y="1484396"/>
              <a:ext cx="49630" cy="73693"/>
            </a:xfrm>
            <a:prstGeom prst="rect">
              <a:avLst/>
            </a:prstGeom>
            <a:solidFill>
              <a:srgbClr val="D5C2E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projectedgrid_1_1"/>
            <p:cNvSpPr/>
            <p:nvPr/>
          </p:nvSpPr>
          <p:spPr>
            <a:xfrm>
              <a:off x="3806490" y="1484396"/>
              <a:ext cx="49630" cy="73693"/>
            </a:xfrm>
            <a:prstGeom prst="rect">
              <a:avLst/>
            </a:prstGeom>
            <a:solidFill>
              <a:srgbClr val="2C0F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projectedgrid_1_2"/>
            <p:cNvSpPr/>
            <p:nvPr/>
          </p:nvSpPr>
          <p:spPr>
            <a:xfrm>
              <a:off x="3856121" y="1484396"/>
              <a:ext cx="49630" cy="73693"/>
            </a:xfrm>
            <a:prstGeom prst="rect">
              <a:avLst/>
            </a:prstGeom>
            <a:solidFill>
              <a:srgbClr val="FCFA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projectedgrid_1_3"/>
            <p:cNvSpPr/>
            <p:nvPr/>
          </p:nvSpPr>
          <p:spPr>
            <a:xfrm>
              <a:off x="3905751" y="1484396"/>
              <a:ext cx="49630" cy="73693"/>
            </a:xfrm>
            <a:prstGeom prst="rect">
              <a:avLst/>
            </a:prstGeom>
            <a:solidFill>
              <a:srgbClr val="EADE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projectedgrid_2_0"/>
            <p:cNvSpPr/>
            <p:nvPr/>
          </p:nvSpPr>
          <p:spPr>
            <a:xfrm>
              <a:off x="3756860" y="1558089"/>
              <a:ext cx="49630" cy="73693"/>
            </a:xfrm>
            <a:prstGeom prst="rect">
              <a:avLst/>
            </a:prstGeom>
            <a:solidFill>
              <a:srgbClr val="FEFE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projectedgrid_2_1"/>
            <p:cNvSpPr/>
            <p:nvPr/>
          </p:nvSpPr>
          <p:spPr>
            <a:xfrm>
              <a:off x="3806490" y="1558089"/>
              <a:ext cx="49630" cy="73693"/>
            </a:xfrm>
            <a:prstGeom prst="rect">
              <a:avLst/>
            </a:prstGeom>
            <a:solidFill>
              <a:srgbClr val="804EA1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projectedgrid_2_2"/>
            <p:cNvSpPr/>
            <p:nvPr/>
          </p:nvSpPr>
          <p:spPr>
            <a:xfrm>
              <a:off x="3856121" y="1558089"/>
              <a:ext cx="49630" cy="73693"/>
            </a:xfrm>
            <a:prstGeom prst="rect">
              <a:avLst/>
            </a:prstGeom>
            <a:solidFill>
              <a:srgbClr val="CBB6E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projectedgrid_2_3"/>
            <p:cNvSpPr/>
            <p:nvPr/>
          </p:nvSpPr>
          <p:spPr>
            <a:xfrm>
              <a:off x="3905751" y="1558089"/>
              <a:ext cx="49630" cy="73693"/>
            </a:xfrm>
            <a:prstGeom prst="rect">
              <a:avLst/>
            </a:prstGeom>
            <a:solidFill>
              <a:srgbClr val="61298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projectedgrid_3_0"/>
            <p:cNvSpPr/>
            <p:nvPr/>
          </p:nvSpPr>
          <p:spPr>
            <a:xfrm>
              <a:off x="3756860" y="1631782"/>
              <a:ext cx="49630" cy="73693"/>
            </a:xfrm>
            <a:prstGeom prst="rect">
              <a:avLst/>
            </a:prstGeom>
            <a:solidFill>
              <a:srgbClr val="D2BB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projectedgrid_3_1"/>
            <p:cNvSpPr/>
            <p:nvPr/>
          </p:nvSpPr>
          <p:spPr>
            <a:xfrm>
              <a:off x="3806490" y="1631782"/>
              <a:ext cx="49630" cy="73693"/>
            </a:xfrm>
            <a:prstGeom prst="rect">
              <a:avLst/>
            </a:prstGeom>
            <a:solidFill>
              <a:srgbClr val="FFFF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projectedgrid_3_2"/>
            <p:cNvSpPr/>
            <p:nvPr/>
          </p:nvSpPr>
          <p:spPr>
            <a:xfrm>
              <a:off x="3856121" y="1631782"/>
              <a:ext cx="49630" cy="73693"/>
            </a:xfrm>
            <a:prstGeom prst="rect">
              <a:avLst/>
            </a:prstGeom>
            <a:solidFill>
              <a:srgbClr val="2E11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projectedgrid_3_3"/>
            <p:cNvSpPr/>
            <p:nvPr/>
          </p:nvSpPr>
          <p:spPr>
            <a:xfrm>
              <a:off x="3905751" y="1631782"/>
              <a:ext cx="49630" cy="73693"/>
            </a:xfrm>
            <a:prstGeom prst="rect">
              <a:avLst/>
            </a:prstGeom>
            <a:solidFill>
              <a:srgbClr val="EFE6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iterarrow0"/>
            <p:cNvSpPr/>
            <p:nvPr/>
          </p:nvSpPr>
          <p:spPr>
            <a:xfrm>
              <a:off x="3152273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iterarrow1"/>
            <p:cNvSpPr/>
            <p:nvPr/>
          </p:nvSpPr>
          <p:spPr>
            <a:xfrm>
              <a:off x="341396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iterarrow2"/>
            <p:cNvSpPr/>
            <p:nvPr/>
          </p:nvSpPr>
          <p:spPr>
            <a:xfrm>
              <a:off x="365760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peat"/>
            <p:cNvSpPr/>
            <p:nvPr/>
          </p:nvSpPr>
          <p:spPr>
            <a:xfrm>
              <a:off x="3001878" y="1846847"/>
              <a:ext cx="836194" cy="159418"/>
            </a:xfrm>
            <a:custGeom>
              <a:avLst/>
              <a:gdLst/>
              <a:ahLst/>
              <a:cxnLst/>
              <a:rect l="0" t="0" r="r" b="b"/>
              <a:pathLst>
                <a:path w="836194" h="159418" fill="none">
                  <a:moveTo>
                    <a:pt x="0" y="0"/>
                  </a:moveTo>
                  <a:lnTo>
                    <a:pt x="0" y="144378"/>
                  </a:lnTo>
                  <a:lnTo>
                    <a:pt x="21055" y="159418"/>
                  </a:lnTo>
                  <a:lnTo>
                    <a:pt x="824163" y="159418"/>
                  </a:lnTo>
                  <a:lnTo>
                    <a:pt x="836194" y="138363"/>
                  </a:lnTo>
                  <a:lnTo>
                    <a:pt x="836194" y="3007"/>
                  </a:lnTo>
                </a:path>
              </a:pathLst>
            </a:custGeom>
            <a:noFill/>
            <a:ln w="661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peat_label"/>
            <p:cNvSpPr txBox="1"/>
            <p:nvPr/>
          </p:nvSpPr>
          <p:spPr>
            <a:xfrm>
              <a:off x="3071060" y="1870910"/>
              <a:ext cx="700839" cy="10527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25529"/>
                  </a:solidFill>
                  <a:latin typeface="Times New Roman"/>
                </a:rPr>
                <a:t>target flow only</a:t>
              </a:r>
            </a:p>
          </p:txBody>
        </p:sp>
        <p:sp>
          <p:nvSpPr>
            <p:cNvPr id="312" name="certbox"/>
            <p:cNvSpPr/>
            <p:nvPr/>
          </p:nvSpPr>
          <p:spPr>
            <a:xfrm>
              <a:off x="2989847" y="2255921"/>
              <a:ext cx="812131" cy="240631"/>
            </a:xfrm>
            <a:prstGeom prst="roundRect">
              <a:avLst>
                <a:gd name="adj" fmla="val 2500"/>
              </a:avLst>
            </a:prstGeom>
            <a:solidFill>
              <a:srgbClr val="EFF7EC"/>
            </a:solidFill>
            <a:ln w="4211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32" name="kernel"/>
            <p:cNvGrpSpPr/>
            <p:nvPr/>
          </p:nvGrpSpPr>
          <p:grpSpPr>
            <a:xfrm>
              <a:off x="2830428" y="1261182"/>
              <a:ext cx="334212" cy="93058"/>
              <a:chOff x="2845406" y="1273881"/>
              <a:chExt cx="458332" cy="93058"/>
            </a:xfrm>
          </p:grpSpPr>
          <p:sp>
            <p:nvSpPr>
              <p:cNvPr id="333" name="kernel_outline_0"/>
              <p:cNvSpPr/>
              <p:nvPr/>
            </p:nvSpPr>
            <p:spPr>
              <a:xfrm>
                <a:off x="2845406" y="1295939"/>
                <a:ext cx="65031" cy="48922"/>
              </a:xfrm>
              <a:custGeom>
                <a:avLst/>
                <a:gdLst/>
                <a:ahLst/>
                <a:cxnLst/>
                <a:rect l="0" t="0" r="r" b="b"/>
                <a:pathLst>
                  <a:path w="65032" h="48923">
                    <a:moveTo>
                      <a:pt x="58587" y="48923"/>
                    </a:moveTo>
                    <a:lnTo>
                      <a:pt x="58511" y="47724"/>
                    </a:lnTo>
                    <a:cubicBezTo>
                      <a:pt x="52519" y="47276"/>
                      <a:pt x="51919" y="47050"/>
                      <a:pt x="48998" y="43529"/>
                    </a:cubicBezTo>
                    <a:lnTo>
                      <a:pt x="31091" y="20828"/>
                    </a:lnTo>
                    <a:lnTo>
                      <a:pt x="58214" y="3897"/>
                    </a:lnTo>
                    <a:cubicBezTo>
                      <a:pt x="60908" y="2322"/>
                      <a:pt x="62857" y="1500"/>
                      <a:pt x="65032" y="1199"/>
                    </a:cubicBezTo>
                    <a:lnTo>
                      <a:pt x="64957" y="0"/>
                    </a:lnTo>
                    <a:lnTo>
                      <a:pt x="45101" y="0"/>
                    </a:lnTo>
                    <a:lnTo>
                      <a:pt x="45176" y="1199"/>
                    </a:lnTo>
                    <a:lnTo>
                      <a:pt x="47950" y="1425"/>
                    </a:lnTo>
                    <a:cubicBezTo>
                      <a:pt x="50348" y="1576"/>
                      <a:pt x="51395" y="2024"/>
                      <a:pt x="51395" y="2921"/>
                    </a:cubicBezTo>
                    <a:cubicBezTo>
                      <a:pt x="51395" y="4723"/>
                      <a:pt x="46224" y="8692"/>
                      <a:pt x="37909" y="13335"/>
                    </a:cubicBezTo>
                    <a:lnTo>
                      <a:pt x="23527" y="21276"/>
                    </a:lnTo>
                    <a:lnTo>
                      <a:pt x="27571" y="6743"/>
                    </a:lnTo>
                    <a:cubicBezTo>
                      <a:pt x="28694" y="2996"/>
                      <a:pt x="31393" y="1500"/>
                      <a:pt x="37084" y="1199"/>
                    </a:cubicBezTo>
                    <a:lnTo>
                      <a:pt x="37013" y="0"/>
                    </a:lnTo>
                    <a:lnTo>
                      <a:pt x="9739" y="0"/>
                    </a:lnTo>
                    <a:lnTo>
                      <a:pt x="9815" y="1199"/>
                    </a:lnTo>
                    <a:cubicBezTo>
                      <a:pt x="16034" y="1651"/>
                      <a:pt x="17459" y="2250"/>
                      <a:pt x="17605" y="4421"/>
                    </a:cubicBezTo>
                    <a:cubicBezTo>
                      <a:pt x="17681" y="4647"/>
                      <a:pt x="17681" y="4945"/>
                      <a:pt x="17681" y="5171"/>
                    </a:cubicBezTo>
                    <a:cubicBezTo>
                      <a:pt x="17681" y="6219"/>
                      <a:pt x="17534" y="7493"/>
                      <a:pt x="16931" y="9065"/>
                    </a:cubicBezTo>
                    <a:lnTo>
                      <a:pt x="7866" y="42180"/>
                    </a:lnTo>
                    <a:cubicBezTo>
                      <a:pt x="6521" y="46676"/>
                      <a:pt x="5695" y="47050"/>
                      <a:pt x="0" y="47724"/>
                    </a:cubicBezTo>
                    <a:lnTo>
                      <a:pt x="75" y="48923"/>
                    </a:lnTo>
                    <a:lnTo>
                      <a:pt x="24872" y="48923"/>
                    </a:lnTo>
                    <a:lnTo>
                      <a:pt x="24801" y="47724"/>
                    </a:lnTo>
                    <a:cubicBezTo>
                      <a:pt x="18582" y="47200"/>
                      <a:pt x="17756" y="46752"/>
                      <a:pt x="17605" y="44426"/>
                    </a:cubicBezTo>
                    <a:cubicBezTo>
                      <a:pt x="17605" y="44279"/>
                      <a:pt x="17605" y="44053"/>
                      <a:pt x="17605" y="43902"/>
                    </a:cubicBezTo>
                    <a:cubicBezTo>
                      <a:pt x="17605" y="43303"/>
                      <a:pt x="17681" y="42704"/>
                      <a:pt x="17982" y="41505"/>
                    </a:cubicBezTo>
                    <a:lnTo>
                      <a:pt x="18506" y="39934"/>
                    </a:lnTo>
                    <a:lnTo>
                      <a:pt x="23150" y="22852"/>
                    </a:lnTo>
                    <a:lnTo>
                      <a:pt x="36036" y="38433"/>
                    </a:lnTo>
                    <a:cubicBezTo>
                      <a:pt x="38660" y="41505"/>
                      <a:pt x="40307" y="44129"/>
                      <a:pt x="40307" y="45625"/>
                    </a:cubicBezTo>
                    <a:cubicBezTo>
                      <a:pt x="40307" y="46676"/>
                      <a:pt x="38810" y="47276"/>
                      <a:pt x="35588" y="47498"/>
                    </a:cubicBezTo>
                    <a:lnTo>
                      <a:pt x="32516" y="47724"/>
                    </a:lnTo>
                    <a:lnTo>
                      <a:pt x="32591" y="48923"/>
                    </a:lnTo>
                    <a:lnTo>
                      <a:pt x="58587" y="48923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kernel_outline_1"/>
              <p:cNvSpPr/>
              <p:nvPr/>
            </p:nvSpPr>
            <p:spPr>
              <a:xfrm>
                <a:off x="2910977" y="1322430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3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6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3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kernel_outline_2"/>
              <p:cNvSpPr/>
              <p:nvPr/>
            </p:nvSpPr>
            <p:spPr>
              <a:xfrm>
                <a:off x="2928545" y="1322430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10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3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2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10"/>
                      <a:pt x="5445" y="44510"/>
                    </a:cubicBezTo>
                    <a:cubicBezTo>
                      <a:pt x="11208" y="44510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3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kernel_outline_3"/>
              <p:cNvSpPr/>
              <p:nvPr/>
            </p:nvSpPr>
            <p:spPr>
              <a:xfrm>
                <a:off x="2989695" y="1315942"/>
                <a:ext cx="38357" cy="19407"/>
              </a:xfrm>
              <a:custGeom>
                <a:avLst/>
                <a:gdLst/>
                <a:ahLst/>
                <a:cxnLst/>
                <a:rect l="0" t="0" r="r" b="b"/>
                <a:pathLst>
                  <a:path w="38358" h="19407">
                    <a:moveTo>
                      <a:pt x="38358" y="4199"/>
                    </a:moveTo>
                    <a:lnTo>
                      <a:pt x="38358" y="0"/>
                    </a:lnTo>
                    <a:lnTo>
                      <a:pt x="0" y="0"/>
                    </a:lnTo>
                    <a:lnTo>
                      <a:pt x="0" y="4199"/>
                    </a:lnTo>
                    <a:lnTo>
                      <a:pt x="38358" y="4199"/>
                    </a:lnTo>
                    <a:close/>
                    <a:moveTo>
                      <a:pt x="38358" y="19407"/>
                    </a:moveTo>
                    <a:lnTo>
                      <a:pt x="38358" y="15208"/>
                    </a:lnTo>
                    <a:lnTo>
                      <a:pt x="0" y="15208"/>
                    </a:lnTo>
                    <a:lnTo>
                      <a:pt x="0" y="19407"/>
                    </a:lnTo>
                    <a:lnTo>
                      <a:pt x="38358" y="19407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kernel_outline_4"/>
              <p:cNvSpPr/>
              <p:nvPr/>
            </p:nvSpPr>
            <p:spPr>
              <a:xfrm>
                <a:off x="3056575" y="1311822"/>
                <a:ext cx="36786" cy="33865"/>
              </a:xfrm>
              <a:custGeom>
                <a:avLst/>
                <a:gdLst/>
                <a:ahLst/>
                <a:cxnLst/>
                <a:rect l="0" t="0" r="r" b="b"/>
                <a:pathLst>
                  <a:path w="36786" h="33865">
                    <a:moveTo>
                      <a:pt x="34012" y="25773"/>
                    </a:moveTo>
                    <a:lnTo>
                      <a:pt x="32667" y="24872"/>
                    </a:lnTo>
                    <a:cubicBezTo>
                      <a:pt x="25999" y="29293"/>
                      <a:pt x="22927" y="30492"/>
                      <a:pt x="18657" y="30492"/>
                    </a:cubicBezTo>
                    <a:cubicBezTo>
                      <a:pt x="13188" y="30492"/>
                      <a:pt x="9215" y="27797"/>
                      <a:pt x="8918" y="23674"/>
                    </a:cubicBezTo>
                    <a:cubicBezTo>
                      <a:pt x="8918" y="23451"/>
                      <a:pt x="8918" y="23225"/>
                      <a:pt x="8918" y="22999"/>
                    </a:cubicBezTo>
                    <a:cubicBezTo>
                      <a:pt x="8918" y="22102"/>
                      <a:pt x="9065" y="21054"/>
                      <a:pt x="9664" y="19105"/>
                    </a:cubicBezTo>
                    <a:lnTo>
                      <a:pt x="12438" y="18804"/>
                    </a:lnTo>
                    <a:cubicBezTo>
                      <a:pt x="26896" y="17232"/>
                      <a:pt x="36786" y="11763"/>
                      <a:pt x="36786" y="5544"/>
                    </a:cubicBezTo>
                    <a:cubicBezTo>
                      <a:pt x="36786" y="5393"/>
                      <a:pt x="36786" y="5247"/>
                      <a:pt x="36786" y="5096"/>
                    </a:cubicBezTo>
                    <a:cubicBezTo>
                      <a:pt x="36560" y="1949"/>
                      <a:pt x="33488" y="0"/>
                      <a:pt x="28468" y="0"/>
                    </a:cubicBezTo>
                    <a:cubicBezTo>
                      <a:pt x="14387" y="0"/>
                      <a:pt x="0" y="11688"/>
                      <a:pt x="0" y="22701"/>
                    </a:cubicBezTo>
                    <a:cubicBezTo>
                      <a:pt x="0" y="22999"/>
                      <a:pt x="0" y="23300"/>
                      <a:pt x="0" y="23598"/>
                    </a:cubicBezTo>
                    <a:cubicBezTo>
                      <a:pt x="448" y="29670"/>
                      <a:pt x="6219" y="33865"/>
                      <a:pt x="13934" y="33865"/>
                    </a:cubicBezTo>
                    <a:cubicBezTo>
                      <a:pt x="21054" y="33865"/>
                      <a:pt x="28543" y="30869"/>
                      <a:pt x="34012" y="25773"/>
                    </a:cubicBezTo>
                    <a:close/>
                    <a:moveTo>
                      <a:pt x="26523" y="1722"/>
                    </a:moveTo>
                    <a:cubicBezTo>
                      <a:pt x="28694" y="1722"/>
                      <a:pt x="30043" y="2921"/>
                      <a:pt x="30043" y="4945"/>
                    </a:cubicBezTo>
                    <a:cubicBezTo>
                      <a:pt x="30043" y="7191"/>
                      <a:pt x="28396" y="9739"/>
                      <a:pt x="25698" y="11914"/>
                    </a:cubicBezTo>
                    <a:cubicBezTo>
                      <a:pt x="22253" y="14533"/>
                      <a:pt x="18582" y="15883"/>
                      <a:pt x="10188" y="17458"/>
                    </a:cubicBezTo>
                    <a:lnTo>
                      <a:pt x="11688" y="14161"/>
                    </a:lnTo>
                    <a:cubicBezTo>
                      <a:pt x="14609" y="7493"/>
                      <a:pt x="21427" y="1722"/>
                      <a:pt x="26523" y="172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kernel_outline_5"/>
              <p:cNvSpPr/>
              <p:nvPr/>
            </p:nvSpPr>
            <p:spPr>
              <a:xfrm>
                <a:off x="3105188" y="1295979"/>
                <a:ext cx="26812" cy="2928"/>
              </a:xfrm>
              <a:custGeom>
                <a:avLst/>
                <a:gdLst/>
                <a:ahLst/>
                <a:cxnLst/>
                <a:rect l="0" t="0" r="r" b="b"/>
                <a:pathLst>
                  <a:path w="26813" h="2929">
                    <a:moveTo>
                      <a:pt x="26813" y="2929"/>
                    </a:moveTo>
                    <a:lnTo>
                      <a:pt x="26813" y="0"/>
                    </a:lnTo>
                    <a:lnTo>
                      <a:pt x="0" y="0"/>
                    </a:lnTo>
                    <a:lnTo>
                      <a:pt x="0" y="2929"/>
                    </a:lnTo>
                    <a:lnTo>
                      <a:pt x="26813" y="29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kernel_outline_6"/>
              <p:cNvSpPr/>
              <p:nvPr/>
            </p:nvSpPr>
            <p:spPr>
              <a:xfrm>
                <a:off x="3138241" y="1276707"/>
                <a:ext cx="47236" cy="34194"/>
              </a:xfrm>
              <a:custGeom>
                <a:avLst/>
                <a:gdLst/>
                <a:ahLst/>
                <a:cxnLst/>
                <a:rect l="0" t="0" r="r" b="b"/>
                <a:pathLst>
                  <a:path w="47236" h="34195">
                    <a:moveTo>
                      <a:pt x="47184" y="14085"/>
                    </a:moveTo>
                    <a:cubicBezTo>
                      <a:pt x="46605" y="5497"/>
                      <a:pt x="38544" y="0"/>
                      <a:pt x="26603" y="0"/>
                    </a:cubicBezTo>
                    <a:lnTo>
                      <a:pt x="7910" y="0"/>
                    </a:lnTo>
                    <a:lnTo>
                      <a:pt x="7961" y="837"/>
                    </a:lnTo>
                    <a:cubicBezTo>
                      <a:pt x="12414" y="1151"/>
                      <a:pt x="13406" y="1520"/>
                      <a:pt x="13406" y="3195"/>
                    </a:cubicBezTo>
                    <a:cubicBezTo>
                      <a:pt x="13406" y="3981"/>
                      <a:pt x="13196" y="5132"/>
                      <a:pt x="12934" y="6338"/>
                    </a:cubicBezTo>
                    <a:lnTo>
                      <a:pt x="5342" y="29484"/>
                    </a:lnTo>
                    <a:cubicBezTo>
                      <a:pt x="4401" y="32520"/>
                      <a:pt x="3770" y="32834"/>
                      <a:pt x="0" y="33357"/>
                    </a:cubicBezTo>
                    <a:lnTo>
                      <a:pt x="56" y="34195"/>
                    </a:lnTo>
                    <a:lnTo>
                      <a:pt x="17546" y="34195"/>
                    </a:lnTo>
                    <a:cubicBezTo>
                      <a:pt x="25348" y="34195"/>
                      <a:pt x="32365" y="32623"/>
                      <a:pt x="37338" y="29849"/>
                    </a:cubicBezTo>
                    <a:cubicBezTo>
                      <a:pt x="43621" y="26392"/>
                      <a:pt x="47236" y="20896"/>
                      <a:pt x="47236" y="15081"/>
                    </a:cubicBezTo>
                    <a:cubicBezTo>
                      <a:pt x="47236" y="14768"/>
                      <a:pt x="47236" y="14403"/>
                      <a:pt x="47184" y="14085"/>
                    </a:cubicBezTo>
                    <a:close/>
                    <a:moveTo>
                      <a:pt x="39172" y="12831"/>
                    </a:moveTo>
                    <a:cubicBezTo>
                      <a:pt x="39223" y="13248"/>
                      <a:pt x="39223" y="13668"/>
                      <a:pt x="39223" y="14085"/>
                    </a:cubicBezTo>
                    <a:cubicBezTo>
                      <a:pt x="39223" y="19376"/>
                      <a:pt x="36973" y="24610"/>
                      <a:pt x="32941" y="27912"/>
                    </a:cubicBezTo>
                    <a:cubicBezTo>
                      <a:pt x="29119" y="31052"/>
                      <a:pt x="23725" y="32623"/>
                      <a:pt x="16704" y="32623"/>
                    </a:cubicBezTo>
                    <a:cubicBezTo>
                      <a:pt x="13514" y="32623"/>
                      <a:pt x="12152" y="32048"/>
                      <a:pt x="12152" y="30583"/>
                    </a:cubicBezTo>
                    <a:cubicBezTo>
                      <a:pt x="12152" y="29849"/>
                      <a:pt x="12517" y="28750"/>
                      <a:pt x="13355" y="25714"/>
                    </a:cubicBezTo>
                    <a:lnTo>
                      <a:pt x="20737" y="3092"/>
                    </a:lnTo>
                    <a:cubicBezTo>
                      <a:pt x="20999" y="1937"/>
                      <a:pt x="21892" y="1572"/>
                      <a:pt x="24507" y="1572"/>
                    </a:cubicBezTo>
                    <a:cubicBezTo>
                      <a:pt x="28174" y="1572"/>
                      <a:pt x="31472" y="2250"/>
                      <a:pt x="33619" y="3405"/>
                    </a:cubicBezTo>
                    <a:cubicBezTo>
                      <a:pt x="37024" y="5235"/>
                      <a:pt x="38910" y="8640"/>
                      <a:pt x="39172" y="1283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kernel_outline_7"/>
              <p:cNvSpPr/>
              <p:nvPr/>
            </p:nvSpPr>
            <p:spPr>
              <a:xfrm>
                <a:off x="3191088" y="1291925"/>
                <a:ext cx="14505" cy="34246"/>
              </a:xfrm>
              <a:custGeom>
                <a:avLst/>
                <a:gdLst/>
                <a:ahLst/>
                <a:cxnLst/>
                <a:rect l="0" t="0" r="r" b="b"/>
                <a:pathLst>
                  <a:path w="14506" h="34246">
                    <a:moveTo>
                      <a:pt x="13355" y="28277"/>
                    </a:moveTo>
                    <a:lnTo>
                      <a:pt x="12410" y="27702"/>
                    </a:lnTo>
                    <a:cubicBezTo>
                      <a:pt x="9688" y="30686"/>
                      <a:pt x="8116" y="31786"/>
                      <a:pt x="6965" y="31786"/>
                    </a:cubicBezTo>
                    <a:cubicBezTo>
                      <a:pt x="6283" y="31786"/>
                      <a:pt x="5759" y="31421"/>
                      <a:pt x="5759" y="30897"/>
                    </a:cubicBezTo>
                    <a:cubicBezTo>
                      <a:pt x="5759" y="30004"/>
                      <a:pt x="6338" y="28539"/>
                      <a:pt x="6703" y="27543"/>
                    </a:cubicBezTo>
                    <a:lnTo>
                      <a:pt x="10946" y="10684"/>
                    </a:lnTo>
                    <a:lnTo>
                      <a:pt x="11362" y="10577"/>
                    </a:lnTo>
                    <a:cubicBezTo>
                      <a:pt x="4243" y="11573"/>
                      <a:pt x="2774" y="11732"/>
                      <a:pt x="0" y="11886"/>
                    </a:cubicBezTo>
                    <a:lnTo>
                      <a:pt x="52" y="12724"/>
                    </a:lnTo>
                    <a:cubicBezTo>
                      <a:pt x="3770" y="12775"/>
                      <a:pt x="4453" y="12934"/>
                      <a:pt x="4453" y="14034"/>
                    </a:cubicBezTo>
                    <a:cubicBezTo>
                      <a:pt x="4453" y="14506"/>
                      <a:pt x="4191" y="15343"/>
                      <a:pt x="3981" y="16284"/>
                    </a:cubicBezTo>
                    <a:lnTo>
                      <a:pt x="1623" y="25555"/>
                    </a:lnTo>
                    <a:cubicBezTo>
                      <a:pt x="837" y="28436"/>
                      <a:pt x="472" y="29952"/>
                      <a:pt x="472" y="31000"/>
                    </a:cubicBezTo>
                    <a:cubicBezTo>
                      <a:pt x="472" y="31103"/>
                      <a:pt x="472" y="31159"/>
                      <a:pt x="472" y="31262"/>
                    </a:cubicBezTo>
                    <a:cubicBezTo>
                      <a:pt x="575" y="33199"/>
                      <a:pt x="1834" y="34246"/>
                      <a:pt x="3929" y="34246"/>
                    </a:cubicBezTo>
                    <a:cubicBezTo>
                      <a:pt x="7279" y="34246"/>
                      <a:pt x="9688" y="32675"/>
                      <a:pt x="13355" y="28277"/>
                    </a:cubicBezTo>
                    <a:close/>
                    <a:moveTo>
                      <a:pt x="14506" y="3036"/>
                    </a:moveTo>
                    <a:cubicBezTo>
                      <a:pt x="14506" y="1361"/>
                      <a:pt x="12621" y="0"/>
                      <a:pt x="10735" y="0"/>
                    </a:cubicBezTo>
                    <a:cubicBezTo>
                      <a:pt x="8902" y="0"/>
                      <a:pt x="7592" y="1048"/>
                      <a:pt x="7592" y="2568"/>
                    </a:cubicBezTo>
                    <a:cubicBezTo>
                      <a:pt x="7592" y="2671"/>
                      <a:pt x="7592" y="2722"/>
                      <a:pt x="7592" y="2774"/>
                    </a:cubicBezTo>
                    <a:cubicBezTo>
                      <a:pt x="7699" y="4453"/>
                      <a:pt x="9112" y="5552"/>
                      <a:pt x="11156" y="5552"/>
                    </a:cubicBezTo>
                    <a:cubicBezTo>
                      <a:pt x="12934" y="5552"/>
                      <a:pt x="14506" y="4397"/>
                      <a:pt x="14506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kernel_outline_8"/>
              <p:cNvSpPr/>
              <p:nvPr/>
            </p:nvSpPr>
            <p:spPr>
              <a:xfrm>
                <a:off x="3208657" y="1291925"/>
                <a:ext cx="25451" cy="44509"/>
              </a:xfrm>
              <a:custGeom>
                <a:avLst/>
                <a:gdLst/>
                <a:ahLst/>
                <a:cxnLst/>
                <a:rect l="0" t="0" r="r" b="b"/>
                <a:pathLst>
                  <a:path w="25452" h="44509">
                    <a:moveTo>
                      <a:pt x="16966" y="32206"/>
                    </a:moveTo>
                    <a:lnTo>
                      <a:pt x="21995" y="10684"/>
                    </a:lnTo>
                    <a:lnTo>
                      <a:pt x="21892" y="10577"/>
                    </a:lnTo>
                    <a:cubicBezTo>
                      <a:pt x="16443" y="11362"/>
                      <a:pt x="13041" y="11783"/>
                      <a:pt x="10946" y="11886"/>
                    </a:cubicBezTo>
                    <a:lnTo>
                      <a:pt x="10997" y="12724"/>
                    </a:lnTo>
                    <a:lnTo>
                      <a:pt x="12672" y="12672"/>
                    </a:lnTo>
                    <a:lnTo>
                      <a:pt x="13145" y="12672"/>
                    </a:lnTo>
                    <a:cubicBezTo>
                      <a:pt x="14871" y="12672"/>
                      <a:pt x="15712" y="13196"/>
                      <a:pt x="15712" y="14454"/>
                    </a:cubicBezTo>
                    <a:cubicBezTo>
                      <a:pt x="15712" y="15030"/>
                      <a:pt x="15502" y="16129"/>
                      <a:pt x="14871" y="18538"/>
                    </a:cubicBezTo>
                    <a:lnTo>
                      <a:pt x="11259" y="33830"/>
                    </a:lnTo>
                    <a:cubicBezTo>
                      <a:pt x="9795" y="41053"/>
                      <a:pt x="8588" y="43307"/>
                      <a:pt x="6076" y="43307"/>
                    </a:cubicBezTo>
                    <a:cubicBezTo>
                      <a:pt x="5445" y="43307"/>
                      <a:pt x="4977" y="43097"/>
                      <a:pt x="4925" y="42731"/>
                    </a:cubicBezTo>
                    <a:cubicBezTo>
                      <a:pt x="4925" y="42521"/>
                      <a:pt x="5080" y="42414"/>
                      <a:pt x="5239" y="42152"/>
                    </a:cubicBezTo>
                    <a:cubicBezTo>
                      <a:pt x="5552" y="41735"/>
                      <a:pt x="5656" y="41473"/>
                      <a:pt x="5656" y="41053"/>
                    </a:cubicBezTo>
                    <a:cubicBezTo>
                      <a:pt x="5552" y="39953"/>
                      <a:pt x="4243" y="39116"/>
                      <a:pt x="2619" y="39116"/>
                    </a:cubicBezTo>
                    <a:cubicBezTo>
                      <a:pt x="1048" y="39116"/>
                      <a:pt x="0" y="40009"/>
                      <a:pt x="0" y="41160"/>
                    </a:cubicBezTo>
                    <a:cubicBezTo>
                      <a:pt x="0" y="43200"/>
                      <a:pt x="2409" y="44509"/>
                      <a:pt x="5445" y="44509"/>
                    </a:cubicBezTo>
                    <a:cubicBezTo>
                      <a:pt x="11208" y="44509"/>
                      <a:pt x="14871" y="40584"/>
                      <a:pt x="16966" y="32206"/>
                    </a:cubicBezTo>
                    <a:close/>
                    <a:moveTo>
                      <a:pt x="25452" y="3036"/>
                    </a:moveTo>
                    <a:cubicBezTo>
                      <a:pt x="25452" y="1361"/>
                      <a:pt x="23567" y="0"/>
                      <a:pt x="21681" y="0"/>
                    </a:cubicBezTo>
                    <a:cubicBezTo>
                      <a:pt x="19848" y="0"/>
                      <a:pt x="18538" y="1048"/>
                      <a:pt x="18538" y="2568"/>
                    </a:cubicBezTo>
                    <a:cubicBezTo>
                      <a:pt x="18538" y="2671"/>
                      <a:pt x="18538" y="2722"/>
                      <a:pt x="18538" y="2774"/>
                    </a:cubicBezTo>
                    <a:cubicBezTo>
                      <a:pt x="18641" y="4453"/>
                      <a:pt x="20110" y="5552"/>
                      <a:pt x="22150" y="5552"/>
                    </a:cubicBezTo>
                    <a:cubicBezTo>
                      <a:pt x="23932" y="5552"/>
                      <a:pt x="25452" y="4397"/>
                      <a:pt x="25452" y="3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kernel_outline_9"/>
              <p:cNvSpPr/>
              <p:nvPr/>
            </p:nvSpPr>
            <p:spPr>
              <a:xfrm>
                <a:off x="3247594" y="1273881"/>
                <a:ext cx="17593" cy="47128"/>
              </a:xfrm>
              <a:custGeom>
                <a:avLst/>
                <a:gdLst/>
                <a:ahLst/>
                <a:cxnLst/>
                <a:rect l="0" t="0" r="r" b="b"/>
                <a:pathLst>
                  <a:path w="17593" h="47129">
                    <a:moveTo>
                      <a:pt x="0" y="47129"/>
                    </a:moveTo>
                    <a:lnTo>
                      <a:pt x="2723" y="47129"/>
                    </a:lnTo>
                    <a:lnTo>
                      <a:pt x="17593" y="0"/>
                    </a:lnTo>
                    <a:lnTo>
                      <a:pt x="14871" y="0"/>
                    </a:lnTo>
                    <a:lnTo>
                      <a:pt x="0" y="47129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kernel_outline_10"/>
              <p:cNvSpPr/>
              <p:nvPr/>
            </p:nvSpPr>
            <p:spPr>
              <a:xfrm>
                <a:off x="3274358" y="1287808"/>
                <a:ext cx="29380" cy="23669"/>
              </a:xfrm>
              <a:custGeom>
                <a:avLst/>
                <a:gdLst/>
                <a:ahLst/>
                <a:cxnLst/>
                <a:rect l="0" t="0" r="r" b="b"/>
                <a:pathLst>
                  <a:path w="29381" h="23670">
                    <a:moveTo>
                      <a:pt x="29381" y="4294"/>
                    </a:moveTo>
                    <a:cubicBezTo>
                      <a:pt x="29325" y="837"/>
                      <a:pt x="21209" y="0"/>
                      <a:pt x="17963" y="0"/>
                    </a:cubicBezTo>
                    <a:cubicBezTo>
                      <a:pt x="13145" y="0"/>
                      <a:pt x="5604" y="1675"/>
                      <a:pt x="5656" y="6548"/>
                    </a:cubicBezTo>
                    <a:cubicBezTo>
                      <a:pt x="5711" y="8957"/>
                      <a:pt x="8485" y="10473"/>
                      <a:pt x="11573" y="10843"/>
                    </a:cubicBezTo>
                    <a:lnTo>
                      <a:pt x="11573" y="11049"/>
                    </a:lnTo>
                    <a:cubicBezTo>
                      <a:pt x="6652" y="11521"/>
                      <a:pt x="-51" y="13771"/>
                      <a:pt x="0" y="17911"/>
                    </a:cubicBezTo>
                    <a:cubicBezTo>
                      <a:pt x="56" y="22729"/>
                      <a:pt x="6965" y="23670"/>
                      <a:pt x="11835" y="23670"/>
                    </a:cubicBezTo>
                    <a:cubicBezTo>
                      <a:pt x="16709" y="23670"/>
                      <a:pt x="22257" y="22467"/>
                      <a:pt x="25349" y="19324"/>
                    </a:cubicBezTo>
                    <a:cubicBezTo>
                      <a:pt x="25976" y="18641"/>
                      <a:pt x="26710" y="17859"/>
                      <a:pt x="26710" y="16966"/>
                    </a:cubicBezTo>
                    <a:cubicBezTo>
                      <a:pt x="26654" y="16339"/>
                      <a:pt x="25976" y="15657"/>
                      <a:pt x="25190" y="15657"/>
                    </a:cubicBezTo>
                    <a:cubicBezTo>
                      <a:pt x="22102" y="15657"/>
                      <a:pt x="21578" y="22257"/>
                      <a:pt x="13042" y="22257"/>
                    </a:cubicBezTo>
                    <a:cubicBezTo>
                      <a:pt x="9744" y="22257"/>
                      <a:pt x="7176" y="21261"/>
                      <a:pt x="7124" y="18328"/>
                    </a:cubicBezTo>
                    <a:cubicBezTo>
                      <a:pt x="7073" y="15502"/>
                      <a:pt x="9220" y="12307"/>
                      <a:pt x="13196" y="12307"/>
                    </a:cubicBezTo>
                    <a:cubicBezTo>
                      <a:pt x="15030" y="12307"/>
                      <a:pt x="16812" y="12882"/>
                      <a:pt x="18645" y="12882"/>
                    </a:cubicBezTo>
                    <a:cubicBezTo>
                      <a:pt x="20162" y="12882"/>
                      <a:pt x="21420" y="12517"/>
                      <a:pt x="21368" y="11156"/>
                    </a:cubicBezTo>
                    <a:cubicBezTo>
                      <a:pt x="21368" y="9950"/>
                      <a:pt x="20479" y="9795"/>
                      <a:pt x="19221" y="9795"/>
                    </a:cubicBezTo>
                    <a:cubicBezTo>
                      <a:pt x="17808" y="9795"/>
                      <a:pt x="16602" y="9950"/>
                      <a:pt x="15240" y="9950"/>
                    </a:cubicBezTo>
                    <a:cubicBezTo>
                      <a:pt x="12990" y="9950"/>
                      <a:pt x="12045" y="9164"/>
                      <a:pt x="11994" y="7279"/>
                    </a:cubicBezTo>
                    <a:cubicBezTo>
                      <a:pt x="11994" y="4346"/>
                      <a:pt x="14665" y="1417"/>
                      <a:pt x="18332" y="1417"/>
                    </a:cubicBezTo>
                    <a:cubicBezTo>
                      <a:pt x="23725" y="1417"/>
                      <a:pt x="23202" y="6338"/>
                      <a:pt x="26813" y="6338"/>
                    </a:cubicBezTo>
                    <a:cubicBezTo>
                      <a:pt x="28278" y="6338"/>
                      <a:pt x="29381" y="5604"/>
                      <a:pt x="29381" y="429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351" name="module_stage5"/>
          <p:cNvGrpSpPr/>
          <p:nvPr/>
        </p:nvGrpSpPr>
        <p:grpSpPr>
          <a:xfrm>
            <a:off x="4066673" y="192505"/>
            <a:ext cx="914400" cy="2409323"/>
            <a:chOff x="4066673" y="192505"/>
            <a:chExt cx="914400" cy="2409323"/>
          </a:xfrm>
        </p:grpSpPr>
        <p:sp>
          <p:nvSpPr>
            <p:cNvPr id="352" name="stage5_border"/>
            <p:cNvSpPr/>
            <p:nvPr/>
          </p:nvSpPr>
          <p:spPr>
            <a:xfrm>
              <a:off x="4066673" y="192505"/>
              <a:ext cx="91440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dge5"/>
            <p:cNvSpPr/>
            <p:nvPr/>
          </p:nvSpPr>
          <p:spPr>
            <a:xfrm>
              <a:off x="4174957" y="282742"/>
              <a:ext cx="156410" cy="168442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number5"/>
            <p:cNvSpPr txBox="1"/>
            <p:nvPr/>
          </p:nvSpPr>
          <p:spPr>
            <a:xfrm>
              <a:off x="417495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355" name="title5"/>
            <p:cNvSpPr txBox="1"/>
            <p:nvPr/>
          </p:nvSpPr>
          <p:spPr>
            <a:xfrm>
              <a:off x="4367463" y="300789"/>
              <a:ext cx="58052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>
                  <a:solidFill>
                    <a:srgbClr val="E88B10"/>
                  </a:solidFill>
                  <a:latin typeface="Times New Roman"/>
                </a:rPr>
                <a:t>Priced PPO</a:t>
              </a:r>
            </a:p>
          </p:txBody>
        </p:sp>
        <p:sp>
          <p:nvSpPr>
            <p:cNvPr id="356" name="weights"/>
            <p:cNvSpPr txBox="1"/>
            <p:nvPr/>
          </p:nvSpPr>
          <p:spPr>
            <a:xfrm>
              <a:off x="4265194" y="550444"/>
              <a:ext cx="478255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0" b="1">
                  <a:solidFill>
                    <a:srgbClr val="E88B10"/>
                  </a:solidFill>
                  <a:latin typeface="Times New Roman"/>
                </a:rPr>
                <a:t>λ = λ̄★ + β</a:t>
              </a:r>
            </a:p>
          </p:txBody>
        </p:sp>
        <p:sp>
          <p:nvSpPr>
            <p:cNvPr id="357" name="weight_box"/>
            <p:cNvSpPr/>
            <p:nvPr/>
          </p:nvSpPr>
          <p:spPr>
            <a:xfrm>
              <a:off x="4111792" y="715878"/>
              <a:ext cx="839202" cy="351923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8" name="ppo_label"/>
            <p:cNvSpPr txBox="1"/>
            <p:nvPr/>
          </p:nvSpPr>
          <p:spPr>
            <a:xfrm>
              <a:off x="4132847" y="1188118"/>
              <a:ext cx="797092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E88B10"/>
                  </a:solidFill>
                  <a:latin typeface="Times New Roman"/>
                </a:rPr>
                <a:t>priced advantage</a:t>
              </a:r>
            </a:p>
          </p:txBody>
        </p:sp>
        <p:sp>
          <p:nvSpPr>
            <p:cNvPr id="359" name="ppo_box"/>
            <p:cNvSpPr/>
            <p:nvPr/>
          </p:nvSpPr>
          <p:spPr>
            <a:xfrm>
              <a:off x="4087728" y="1359568"/>
              <a:ext cx="869281" cy="484271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actor_down"/>
            <p:cNvSpPr/>
            <p:nvPr/>
          </p:nvSpPr>
          <p:spPr>
            <a:xfrm>
              <a:off x="4517857" y="1894973"/>
              <a:ext cx="30" cy="147386"/>
            </a:xfrm>
            <a:custGeom>
              <a:avLst/>
              <a:gdLst/>
              <a:ahLst/>
              <a:cxnLst/>
              <a:rect l="0" t="0" r="r" b="b"/>
              <a:pathLst>
                <a:path w="1" h="147386" fill="none">
                  <a:moveTo>
                    <a:pt x="0" y="0"/>
                  </a:moveTo>
                  <a:lnTo>
                    <a:pt x="0" y="147386"/>
                  </a:lnTo>
                </a:path>
              </a:pathLst>
            </a:custGeom>
            <a:noFill/>
            <a:ln w="9023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1" name="robot_next" descr="robot_nex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0" y="2219826"/>
              <a:ext cx="138363" cy="246647"/>
            </a:xfrm>
            <a:prstGeom prst="rect">
              <a:avLst/>
            </a:prstGeom>
          </p:spPr>
        </p:pic>
        <p:sp>
          <p:nvSpPr>
            <p:cNvPr id="362" name="nexttraj"/>
            <p:cNvSpPr/>
            <p:nvPr/>
          </p:nvSpPr>
          <p:spPr>
            <a:xfrm>
              <a:off x="4331368" y="2216818"/>
              <a:ext cx="571500" cy="246647"/>
            </a:xfrm>
            <a:custGeom>
              <a:avLst/>
              <a:gdLst/>
              <a:ahLst/>
              <a:cxnLst/>
              <a:rect l="0" t="0" r="r" b="b"/>
              <a:pathLst>
                <a:path w="571500" h="246647" fill="none">
                  <a:moveTo>
                    <a:pt x="0" y="246647"/>
                  </a:moveTo>
                  <a:lnTo>
                    <a:pt x="111292" y="216568"/>
                  </a:lnTo>
                  <a:lnTo>
                    <a:pt x="204536" y="141371"/>
                  </a:lnTo>
                  <a:lnTo>
                    <a:pt x="306805" y="210552"/>
                  </a:lnTo>
                  <a:lnTo>
                    <a:pt x="409073" y="198521"/>
                  </a:lnTo>
                  <a:lnTo>
                    <a:pt x="496302" y="96252"/>
                  </a:lnTo>
                  <a:lnTo>
                    <a:pt x="571500" y="0"/>
                  </a:lnTo>
                </a:path>
              </a:pathLst>
            </a:custGeom>
            <a:noFill/>
            <a:ln w="6918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nextnode0"/>
            <p:cNvSpPr/>
            <p:nvPr/>
          </p:nvSpPr>
          <p:spPr>
            <a:xfrm>
              <a:off x="4313321" y="2445418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nextnode1"/>
            <p:cNvSpPr/>
            <p:nvPr/>
          </p:nvSpPr>
          <p:spPr>
            <a:xfrm>
              <a:off x="4424613" y="2415339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nextnode2"/>
            <p:cNvSpPr/>
            <p:nvPr/>
          </p:nvSpPr>
          <p:spPr>
            <a:xfrm>
              <a:off x="4517857" y="234014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nextnode3"/>
            <p:cNvSpPr/>
            <p:nvPr/>
          </p:nvSpPr>
          <p:spPr>
            <a:xfrm>
              <a:off x="4620126" y="24093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nextnode4"/>
            <p:cNvSpPr/>
            <p:nvPr/>
          </p:nvSpPr>
          <p:spPr>
            <a:xfrm>
              <a:off x="4722394" y="239729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nextnode5"/>
            <p:cNvSpPr/>
            <p:nvPr/>
          </p:nvSpPr>
          <p:spPr>
            <a:xfrm>
              <a:off x="4809623" y="22950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1" name="main_arrow0"/>
          <p:cNvSpPr/>
          <p:nvPr/>
        </p:nvSpPr>
        <p:spPr>
          <a:xfrm>
            <a:off x="803107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main_arrow1"/>
          <p:cNvSpPr/>
          <p:nvPr/>
        </p:nvSpPr>
        <p:spPr>
          <a:xfrm>
            <a:off x="1864894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main_arrow2"/>
          <p:cNvSpPr/>
          <p:nvPr/>
        </p:nvSpPr>
        <p:spPr>
          <a:xfrm>
            <a:off x="2740192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main_arrow3"/>
          <p:cNvSpPr/>
          <p:nvPr/>
        </p:nvSpPr>
        <p:spPr>
          <a:xfrm>
            <a:off x="3988468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current_projection_eq"/>
          <p:cNvSpPr txBox="1"/>
          <p:nvPr/>
        </p:nvSpPr>
        <p:spPr>
          <a:xfrm>
            <a:off x="2907792" y="630936"/>
            <a:ext cx="1005840" cy="164592"/>
          </a:xfrm>
          <a:prstGeom prst="rect">
            <a:avLst/>
          </a:prstGeom>
          <a:solidFill>
            <a:srgbClr val="FFFFFF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F★ = projε(F̂; b, H)</a:t>
            </a:r>
          </a:p>
        </p:txBody>
      </p:sp>
      <p:sp>
        <p:nvSpPr>
          <p:cNvPr id="444" name="current_price_eq"/>
          <p:cNvSpPr txBox="1"/>
          <p:nvPr/>
        </p:nvSpPr>
        <p:spPr>
          <a:xfrm>
            <a:off x="4169663" y="841248"/>
            <a:ext cx="731520" cy="146304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λ = λ̄★ + β</a:t>
            </a:r>
          </a:p>
        </p:txBody>
      </p:sp>
      <p:sp>
        <p:nvSpPr>
          <p:cNvPr id="445" name="current_advantage_eq"/>
          <p:cNvSpPr txBox="1"/>
          <p:nvPr/>
        </p:nvSpPr>
        <p:spPr>
          <a:xfrm>
            <a:off x="4142232" y="1362456"/>
            <a:ext cx="768096" cy="246888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Ã = Aᵣ − λ · A𝑐</a:t>
            </a:r>
          </a:p>
        </p:txBody>
      </p:sp>
      <p:sp>
        <p:nvSpPr>
          <p:cNvPr id="446" name="current_update_eq"/>
          <p:cNvSpPr txBox="1"/>
          <p:nvPr/>
        </p:nvSpPr>
        <p:spPr>
          <a:xfrm>
            <a:off x="4133087" y="1746504"/>
            <a:ext cx="768096" cy="246888"/>
          </a:xfrm>
          <a:prstGeom prst="rect">
            <a:avLst/>
          </a:prstGeom>
          <a:solidFill>
            <a:srgbClr val="FFF7EE"/>
          </a:solidFill>
          <a:ln>
            <a:solidFill>
              <a:srgbClr val="E88B10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E88B10"/>
                </a:solidFill>
                <a:latin typeface="Times New Roman"/>
              </a:rPr>
              <a:t>PPO / TRPO
πₜ₊₁</a:t>
            </a:r>
          </a:p>
        </p:txBody>
      </p:sp>
      <p:sp>
        <p:nvSpPr>
          <p:cNvPr id="447" name="current_safety_prices"/>
          <p:cNvSpPr txBox="1"/>
          <p:nvPr/>
        </p:nvSpPr>
        <p:spPr>
          <a:xfrm>
            <a:off x="3054096" y="2304288"/>
            <a:ext cx="676656" cy="109728"/>
          </a:xfrm>
          <a:prstGeom prst="rect">
            <a:avLst/>
          </a:prstGeom>
          <a:solidFill>
            <a:srgbClr val="F0F8F0"/>
          </a:solidFill>
          <a:ln>
            <a:solidFill>
              <a:srgbClr val="125529"/>
            </a:solidFill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prices λ★</a:t>
            </a:r>
          </a:p>
        </p:txBody>
      </p:sp>
      <p:sp>
        <p:nvSpPr>
          <p:cNvPr id="448" name="current_flow_key"/>
          <p:cNvSpPr txBox="1"/>
          <p:nvPr/>
        </p:nvSpPr>
        <p:spPr>
          <a:xfrm>
            <a:off x="1261872" y="1764792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818E6"/>
                </a:solidFill>
                <a:latin typeface="Times New Roman"/>
              </a:rPr>
              <a:t>flow  F̂</a:t>
            </a:r>
          </a:p>
        </p:txBody>
      </p:sp>
      <p:sp>
        <p:nvSpPr>
          <p:cNvPr id="449" name="current_adv_key"/>
          <p:cNvSpPr txBox="1"/>
          <p:nvPr/>
        </p:nvSpPr>
        <p:spPr>
          <a:xfrm>
            <a:off x="1261872" y="2057400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502882"/>
                </a:solidFill>
                <a:latin typeface="Times New Roman"/>
              </a:rPr>
              <a:t>adv.  A</a:t>
            </a:r>
          </a:p>
        </p:txBody>
      </p:sp>
      <p:sp>
        <p:nvSpPr>
          <p:cNvPr id="450" name="current_cost_key"/>
          <p:cNvSpPr txBox="1"/>
          <p:nvPr/>
        </p:nvSpPr>
        <p:spPr>
          <a:xfrm>
            <a:off x="1261872" y="2350008"/>
            <a:ext cx="457200" cy="109728"/>
          </a:xfrm>
          <a:prstGeom prst="rect">
            <a:avLst/>
          </a:prstGeom>
          <a:noFill/>
          <a:ln>
            <a:no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700" b="1">
                <a:solidFill>
                  <a:srgbClr val="125529"/>
                </a:solidFill>
                <a:latin typeface="Times New Roman"/>
              </a:rPr>
              <a:t>cost  Cₖ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historical reconstruction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