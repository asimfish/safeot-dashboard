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28304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module_stage1"/>
          <p:cNvGrpSpPr/>
          <p:nvPr/>
        </p:nvGrpSpPr>
        <p:grpSpPr>
          <a:xfrm>
            <a:off x="33086" y="192505"/>
            <a:ext cx="782052" cy="2409323"/>
            <a:chOff x="33086" y="192505"/>
            <a:chExt cx="782052" cy="2409323"/>
          </a:xfrm>
        </p:grpSpPr>
        <p:sp>
          <p:nvSpPr>
            <p:cNvPr id="3" name="stage1_border"/>
            <p:cNvSpPr/>
            <p:nvPr/>
          </p:nvSpPr>
          <p:spPr>
            <a:xfrm>
              <a:off x="33086" y="192505"/>
              <a:ext cx="782052" cy="2409323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5414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badge1"/>
            <p:cNvSpPr/>
            <p:nvPr/>
          </p:nvSpPr>
          <p:spPr>
            <a:xfrm>
              <a:off x="141371" y="282742"/>
              <a:ext cx="156410" cy="168442"/>
            </a:xfrm>
            <a:prstGeom prst="ellipse">
              <a:avLst/>
            </a:prstGeom>
            <a:solidFill>
              <a:srgbClr val="002E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number1"/>
            <p:cNvSpPr txBox="1"/>
            <p:nvPr/>
          </p:nvSpPr>
          <p:spPr>
            <a:xfrm>
              <a:off x="141371" y="285750"/>
              <a:ext cx="156410" cy="15641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8" b="0" i="0">
                  <a:solidFill>
                    <a:srgbClr val="FFFFFF"/>
                  </a:solidFill>
                  <a:latin typeface="Liberation Serif"/>
                </a:rPr>
                <a:t>1</a:t>
              </a:r>
            </a:p>
          </p:txBody>
        </p:sp>
        <p:sp>
          <p:nvSpPr>
            <p:cNvPr id="6" name="title1"/>
            <p:cNvSpPr txBox="1"/>
            <p:nvPr/>
          </p:nvSpPr>
          <p:spPr>
            <a:xfrm>
              <a:off x="333876" y="300789"/>
              <a:ext cx="448176" cy="14738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42837"/>
                  </a:solidFill>
                  <a:latin typeface="Times New Roman"/>
                </a:rPr>
                <a:t>Rollout</a:t>
              </a:r>
            </a:p>
          </p:txBody>
        </p:sp>
        <p:pic>
          <p:nvPicPr>
            <p:cNvPr id="7" name="world" descr="world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142" y="1058778"/>
              <a:ext cx="147386" cy="171450"/>
            </a:xfrm>
            <a:prstGeom prst="rect">
              <a:avLst/>
            </a:prstGeom>
          </p:spPr>
        </p:pic>
        <p:pic>
          <p:nvPicPr>
            <p:cNvPr id="8" name="robot" descr="robot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8807" y="1028700"/>
              <a:ext cx="111292" cy="228600"/>
            </a:xfrm>
            <a:prstGeom prst="rect">
              <a:avLst/>
            </a:prstGeom>
          </p:spPr>
        </p:pic>
        <p:sp>
          <p:nvSpPr>
            <p:cNvPr id="9" name="trajnode0"/>
            <p:cNvSpPr/>
            <p:nvPr/>
          </p:nvSpPr>
          <p:spPr>
            <a:xfrm>
              <a:off x="231607" y="1112921"/>
              <a:ext cx="45118" cy="51134"/>
            </a:xfrm>
            <a:prstGeom prst="ellipse">
              <a:avLst/>
            </a:prstGeom>
            <a:solidFill>
              <a:srgbClr val="002E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rajnode1"/>
            <p:cNvSpPr/>
            <p:nvPr/>
          </p:nvSpPr>
          <p:spPr>
            <a:xfrm>
              <a:off x="363955" y="1112921"/>
              <a:ext cx="45118" cy="51134"/>
            </a:xfrm>
            <a:prstGeom prst="ellipse">
              <a:avLst/>
            </a:prstGeom>
            <a:solidFill>
              <a:srgbClr val="002E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rajnode2"/>
            <p:cNvSpPr/>
            <p:nvPr/>
          </p:nvSpPr>
          <p:spPr>
            <a:xfrm>
              <a:off x="496302" y="1112921"/>
              <a:ext cx="45118" cy="51134"/>
            </a:xfrm>
            <a:prstGeom prst="ellipse">
              <a:avLst/>
            </a:prstGeom>
            <a:solidFill>
              <a:srgbClr val="002E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rajectory"/>
            <p:cNvSpPr/>
            <p:nvPr/>
          </p:nvSpPr>
          <p:spPr>
            <a:xfrm>
              <a:off x="252663" y="1139992"/>
              <a:ext cx="418097" cy="30"/>
            </a:xfrm>
            <a:custGeom>
              <a:avLst/>
              <a:gdLst/>
              <a:ahLst/>
              <a:cxnLst/>
              <a:rect l="0" t="0" r="r" b="b"/>
              <a:pathLst>
                <a:path w="418097" h="1" fill="none">
                  <a:moveTo>
                    <a:pt x="0" y="0"/>
                  </a:moveTo>
                  <a:lnTo>
                    <a:pt x="418097" y="0"/>
                  </a:lnTo>
                </a:path>
              </a:pathLst>
            </a:custGeom>
            <a:noFill/>
            <a:ln w="6015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rajectory_dots"/>
            <p:cNvSpPr txBox="1"/>
            <p:nvPr/>
          </p:nvSpPr>
          <p:spPr>
            <a:xfrm>
              <a:off x="562476" y="1076826"/>
              <a:ext cx="99260" cy="108284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34" b="0" i="0">
                  <a:solidFill>
                    <a:srgbClr val="002EAA"/>
                  </a:solidFill>
                  <a:latin typeface="Liberation Serif"/>
                </a:rPr>
                <a:t>···</a:t>
              </a:r>
            </a:p>
          </p:txBody>
        </p:sp>
        <p:sp>
          <p:nvSpPr>
            <p:cNvPr id="14" name="collect"/>
            <p:cNvSpPr txBox="1"/>
            <p:nvPr/>
          </p:nvSpPr>
          <p:spPr>
            <a:xfrm>
              <a:off x="123323" y="1870910"/>
              <a:ext cx="613610" cy="129339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142837"/>
                  </a:solidFill>
                  <a:latin typeface="Times New Roman"/>
                </a:rPr>
                <a:t>Collect transitions
(sₜ, aₜ, rₜ, cₖ,ₜ, sₜ₊₁)</a:t>
              </a:r>
            </a:p>
          </p:txBody>
        </p:sp>
        <p:grpSp>
          <p:nvGrpSpPr>
            <p:cNvPr id="15" name="samples"/>
            <p:cNvGrpSpPr/>
            <p:nvPr/>
          </p:nvGrpSpPr>
          <p:grpSpPr>
            <a:xfrm>
              <a:off x="153402" y="914599"/>
              <a:ext cx="537348" cy="62342"/>
              <a:chOff x="169474" y="926438"/>
              <a:chExt cx="630107" cy="62342"/>
            </a:xfrm>
          </p:grpSpPr>
          <p:sp>
            <p:nvSpPr>
              <p:cNvPr id="16" name="samples_outline_0"/>
              <p:cNvSpPr/>
              <p:nvPr/>
            </p:nvSpPr>
            <p:spPr>
              <a:xfrm>
                <a:off x="169474" y="926438"/>
                <a:ext cx="34702" cy="40901"/>
              </a:xfrm>
              <a:custGeom>
                <a:avLst/>
                <a:gdLst/>
                <a:ahLst/>
                <a:cxnLst/>
                <a:rect l="0" t="0" r="r" b="b"/>
                <a:pathLst>
                  <a:path w="34703" h="40902">
                    <a:moveTo>
                      <a:pt x="29397" y="29035"/>
                    </a:moveTo>
                    <a:cubicBezTo>
                      <a:pt x="29305" y="25531"/>
                      <a:pt x="26972" y="21665"/>
                      <a:pt x="21935" y="16451"/>
                    </a:cubicBezTo>
                    <a:cubicBezTo>
                      <a:pt x="17891" y="12224"/>
                      <a:pt x="16002" y="9438"/>
                      <a:pt x="16002" y="7009"/>
                    </a:cubicBezTo>
                    <a:cubicBezTo>
                      <a:pt x="15823" y="3953"/>
                      <a:pt x="17978" y="2155"/>
                      <a:pt x="21665" y="2155"/>
                    </a:cubicBezTo>
                    <a:cubicBezTo>
                      <a:pt x="27059" y="2155"/>
                      <a:pt x="30206" y="5481"/>
                      <a:pt x="31556" y="12494"/>
                    </a:cubicBezTo>
                    <a:lnTo>
                      <a:pt x="33175" y="12494"/>
                    </a:lnTo>
                    <a:lnTo>
                      <a:pt x="34703" y="0"/>
                    </a:lnTo>
                    <a:lnTo>
                      <a:pt x="33262" y="0"/>
                    </a:lnTo>
                    <a:cubicBezTo>
                      <a:pt x="32365" y="1258"/>
                      <a:pt x="31825" y="1615"/>
                      <a:pt x="30297" y="1615"/>
                    </a:cubicBezTo>
                    <a:cubicBezTo>
                      <a:pt x="29397" y="1615"/>
                      <a:pt x="28317" y="1437"/>
                      <a:pt x="26432" y="988"/>
                    </a:cubicBezTo>
                    <a:cubicBezTo>
                      <a:pt x="23824" y="270"/>
                      <a:pt x="22384" y="87"/>
                      <a:pt x="20677" y="87"/>
                    </a:cubicBezTo>
                    <a:cubicBezTo>
                      <a:pt x="12946" y="87"/>
                      <a:pt x="8180" y="3953"/>
                      <a:pt x="8449" y="9978"/>
                    </a:cubicBezTo>
                    <a:cubicBezTo>
                      <a:pt x="8541" y="12855"/>
                      <a:pt x="10878" y="16720"/>
                      <a:pt x="15371" y="21574"/>
                    </a:cubicBezTo>
                    <a:cubicBezTo>
                      <a:pt x="19598" y="26158"/>
                      <a:pt x="21396" y="29305"/>
                      <a:pt x="21487" y="31913"/>
                    </a:cubicBezTo>
                    <a:cubicBezTo>
                      <a:pt x="21665" y="36048"/>
                      <a:pt x="18697" y="38834"/>
                      <a:pt x="14204" y="38834"/>
                    </a:cubicBezTo>
                    <a:cubicBezTo>
                      <a:pt x="8449" y="38834"/>
                      <a:pt x="5032" y="35151"/>
                      <a:pt x="3147" y="26611"/>
                    </a:cubicBezTo>
                    <a:lnTo>
                      <a:pt x="1528" y="26611"/>
                    </a:lnTo>
                    <a:lnTo>
                      <a:pt x="0" y="40902"/>
                    </a:lnTo>
                    <a:lnTo>
                      <a:pt x="1615" y="40902"/>
                    </a:lnTo>
                    <a:cubicBezTo>
                      <a:pt x="2607" y="39374"/>
                      <a:pt x="2965" y="39017"/>
                      <a:pt x="4135" y="39017"/>
                    </a:cubicBezTo>
                    <a:cubicBezTo>
                      <a:pt x="5302" y="39017"/>
                      <a:pt x="7100" y="39374"/>
                      <a:pt x="9168" y="39826"/>
                    </a:cubicBezTo>
                    <a:cubicBezTo>
                      <a:pt x="11597" y="40454"/>
                      <a:pt x="13125" y="40723"/>
                      <a:pt x="14831" y="40723"/>
                    </a:cubicBezTo>
                    <a:cubicBezTo>
                      <a:pt x="23555" y="40723"/>
                      <a:pt x="29666" y="35870"/>
                      <a:pt x="29397" y="29035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samples_outline_1"/>
              <p:cNvSpPr/>
              <p:nvPr/>
            </p:nvSpPr>
            <p:spPr>
              <a:xfrm>
                <a:off x="209242" y="945327"/>
                <a:ext cx="19935" cy="35278"/>
              </a:xfrm>
              <a:custGeom>
                <a:avLst/>
                <a:gdLst/>
                <a:ahLst/>
                <a:cxnLst/>
                <a:rect l="0" t="0" r="r" b="b"/>
                <a:pathLst>
                  <a:path w="19935" h="35278">
                    <a:moveTo>
                      <a:pt x="15280" y="27416"/>
                    </a:moveTo>
                    <a:lnTo>
                      <a:pt x="14212" y="26976"/>
                    </a:lnTo>
                    <a:cubicBezTo>
                      <a:pt x="10438" y="30936"/>
                      <a:pt x="9180" y="31944"/>
                      <a:pt x="7922" y="31944"/>
                    </a:cubicBezTo>
                    <a:cubicBezTo>
                      <a:pt x="7104" y="31944"/>
                      <a:pt x="6540" y="31440"/>
                      <a:pt x="6540" y="30813"/>
                    </a:cubicBezTo>
                    <a:cubicBezTo>
                      <a:pt x="6540" y="30686"/>
                      <a:pt x="6600" y="30496"/>
                      <a:pt x="6664" y="30373"/>
                    </a:cubicBezTo>
                    <a:lnTo>
                      <a:pt x="12577" y="9684"/>
                    </a:lnTo>
                    <a:lnTo>
                      <a:pt x="19558" y="9684"/>
                    </a:lnTo>
                    <a:lnTo>
                      <a:pt x="19935" y="7418"/>
                    </a:lnTo>
                    <a:lnTo>
                      <a:pt x="13331" y="7418"/>
                    </a:lnTo>
                    <a:lnTo>
                      <a:pt x="14966" y="941"/>
                    </a:lnTo>
                    <a:lnTo>
                      <a:pt x="14276" y="0"/>
                    </a:lnTo>
                    <a:lnTo>
                      <a:pt x="14085" y="0"/>
                    </a:lnTo>
                    <a:cubicBezTo>
                      <a:pt x="13835" y="0"/>
                      <a:pt x="13331" y="186"/>
                      <a:pt x="13017" y="563"/>
                    </a:cubicBezTo>
                    <a:cubicBezTo>
                      <a:pt x="10188" y="3707"/>
                      <a:pt x="5282" y="7231"/>
                      <a:pt x="2639" y="7735"/>
                    </a:cubicBezTo>
                    <a:cubicBezTo>
                      <a:pt x="691" y="8235"/>
                      <a:pt x="0" y="8612"/>
                      <a:pt x="63" y="9307"/>
                    </a:cubicBezTo>
                    <a:cubicBezTo>
                      <a:pt x="63" y="9307"/>
                      <a:pt x="63" y="9493"/>
                      <a:pt x="187" y="9684"/>
                    </a:cubicBezTo>
                    <a:lnTo>
                      <a:pt x="6350" y="9684"/>
                    </a:lnTo>
                    <a:lnTo>
                      <a:pt x="1068" y="28107"/>
                    </a:lnTo>
                    <a:cubicBezTo>
                      <a:pt x="377" y="30059"/>
                      <a:pt x="0" y="32071"/>
                      <a:pt x="0" y="32825"/>
                    </a:cubicBezTo>
                    <a:cubicBezTo>
                      <a:pt x="0" y="34270"/>
                      <a:pt x="1885" y="35278"/>
                      <a:pt x="4088" y="35278"/>
                    </a:cubicBezTo>
                    <a:cubicBezTo>
                      <a:pt x="7858" y="35278"/>
                      <a:pt x="10438" y="33516"/>
                      <a:pt x="15280" y="2741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samples_outline_2"/>
              <p:cNvSpPr/>
              <p:nvPr/>
            </p:nvSpPr>
            <p:spPr>
              <a:xfrm>
                <a:off x="334937" y="926526"/>
                <a:ext cx="47575" cy="40636"/>
              </a:xfrm>
              <a:custGeom>
                <a:avLst/>
                <a:gdLst/>
                <a:ahLst/>
                <a:cxnLst/>
                <a:rect l="0" t="0" r="r" b="b"/>
                <a:pathLst>
                  <a:path w="47575" h="40636">
                    <a:moveTo>
                      <a:pt x="47575" y="30659"/>
                    </a:moveTo>
                    <a:lnTo>
                      <a:pt x="46226" y="29758"/>
                    </a:lnTo>
                    <a:lnTo>
                      <a:pt x="43527" y="32274"/>
                    </a:lnTo>
                    <a:cubicBezTo>
                      <a:pt x="40471" y="35151"/>
                      <a:pt x="39304" y="35961"/>
                      <a:pt x="38312" y="35961"/>
                    </a:cubicBezTo>
                    <a:cubicBezTo>
                      <a:pt x="37415" y="35961"/>
                      <a:pt x="36784" y="35421"/>
                      <a:pt x="36784" y="34794"/>
                    </a:cubicBezTo>
                    <a:cubicBezTo>
                      <a:pt x="36697" y="32996"/>
                      <a:pt x="40562" y="17530"/>
                      <a:pt x="44876" y="2159"/>
                    </a:cubicBezTo>
                    <a:cubicBezTo>
                      <a:pt x="45055" y="1258"/>
                      <a:pt x="45146" y="1079"/>
                      <a:pt x="45325" y="270"/>
                    </a:cubicBezTo>
                    <a:lnTo>
                      <a:pt x="44698" y="0"/>
                    </a:lnTo>
                    <a:lnTo>
                      <a:pt x="38403" y="631"/>
                    </a:lnTo>
                    <a:lnTo>
                      <a:pt x="38133" y="901"/>
                    </a:lnTo>
                    <a:lnTo>
                      <a:pt x="37145" y="5215"/>
                    </a:lnTo>
                    <a:cubicBezTo>
                      <a:pt x="36157" y="1889"/>
                      <a:pt x="33101" y="0"/>
                      <a:pt x="28696" y="0"/>
                    </a:cubicBezTo>
                    <a:cubicBezTo>
                      <a:pt x="14849" y="0"/>
                      <a:pt x="-522" y="16363"/>
                      <a:pt x="14" y="30659"/>
                    </a:cubicBezTo>
                    <a:cubicBezTo>
                      <a:pt x="196" y="36949"/>
                      <a:pt x="4240" y="40636"/>
                      <a:pt x="10892" y="40636"/>
                    </a:cubicBezTo>
                    <a:cubicBezTo>
                      <a:pt x="18087" y="40636"/>
                      <a:pt x="23211" y="38029"/>
                      <a:pt x="31303" y="26523"/>
                    </a:cubicBezTo>
                    <a:cubicBezTo>
                      <a:pt x="29323" y="33893"/>
                      <a:pt x="29144" y="34611"/>
                      <a:pt x="29235" y="36862"/>
                    </a:cubicBezTo>
                    <a:cubicBezTo>
                      <a:pt x="29323" y="39469"/>
                      <a:pt x="30581" y="40549"/>
                      <a:pt x="33458" y="40549"/>
                    </a:cubicBezTo>
                    <a:cubicBezTo>
                      <a:pt x="37594" y="40549"/>
                      <a:pt x="40110" y="38838"/>
                      <a:pt x="47575" y="30659"/>
                    </a:cubicBezTo>
                    <a:close/>
                    <a:moveTo>
                      <a:pt x="35439" y="7461"/>
                    </a:moveTo>
                    <a:cubicBezTo>
                      <a:pt x="35705" y="15014"/>
                      <a:pt x="30764" y="25622"/>
                      <a:pt x="23929" y="32274"/>
                    </a:cubicBezTo>
                    <a:cubicBezTo>
                      <a:pt x="21500" y="34703"/>
                      <a:pt x="17996" y="36231"/>
                      <a:pt x="15027" y="36231"/>
                    </a:cubicBezTo>
                    <a:cubicBezTo>
                      <a:pt x="11253" y="36231"/>
                      <a:pt x="8916" y="33715"/>
                      <a:pt x="8737" y="29579"/>
                    </a:cubicBezTo>
                    <a:cubicBezTo>
                      <a:pt x="8554" y="24725"/>
                      <a:pt x="11971" y="15915"/>
                      <a:pt x="16107" y="10251"/>
                    </a:cubicBezTo>
                    <a:cubicBezTo>
                      <a:pt x="20064" y="5036"/>
                      <a:pt x="24648" y="1980"/>
                      <a:pt x="28874" y="1980"/>
                    </a:cubicBezTo>
                    <a:lnTo>
                      <a:pt x="29414" y="1980"/>
                    </a:lnTo>
                    <a:cubicBezTo>
                      <a:pt x="33010" y="2159"/>
                      <a:pt x="35347" y="4318"/>
                      <a:pt x="35439" y="7461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" name="samples_outline_3"/>
              <p:cNvSpPr/>
              <p:nvPr/>
            </p:nvSpPr>
            <p:spPr>
              <a:xfrm>
                <a:off x="388477" y="945327"/>
                <a:ext cx="19935" cy="35278"/>
              </a:xfrm>
              <a:custGeom>
                <a:avLst/>
                <a:gdLst/>
                <a:ahLst/>
                <a:cxnLst/>
                <a:rect l="0" t="0" r="r" b="b"/>
                <a:pathLst>
                  <a:path w="19935" h="35278">
                    <a:moveTo>
                      <a:pt x="15280" y="27416"/>
                    </a:moveTo>
                    <a:lnTo>
                      <a:pt x="14212" y="26976"/>
                    </a:lnTo>
                    <a:cubicBezTo>
                      <a:pt x="10438" y="30936"/>
                      <a:pt x="9180" y="31944"/>
                      <a:pt x="7922" y="31944"/>
                    </a:cubicBezTo>
                    <a:cubicBezTo>
                      <a:pt x="7104" y="31944"/>
                      <a:pt x="6541" y="31440"/>
                      <a:pt x="6541" y="30813"/>
                    </a:cubicBezTo>
                    <a:cubicBezTo>
                      <a:pt x="6541" y="30686"/>
                      <a:pt x="6600" y="30496"/>
                      <a:pt x="6664" y="30373"/>
                    </a:cubicBezTo>
                    <a:lnTo>
                      <a:pt x="12577" y="9684"/>
                    </a:lnTo>
                    <a:lnTo>
                      <a:pt x="19558" y="9684"/>
                    </a:lnTo>
                    <a:lnTo>
                      <a:pt x="19935" y="7418"/>
                    </a:lnTo>
                    <a:lnTo>
                      <a:pt x="13331" y="7418"/>
                    </a:lnTo>
                    <a:lnTo>
                      <a:pt x="14966" y="941"/>
                    </a:lnTo>
                    <a:lnTo>
                      <a:pt x="14276" y="0"/>
                    </a:lnTo>
                    <a:lnTo>
                      <a:pt x="14085" y="0"/>
                    </a:lnTo>
                    <a:cubicBezTo>
                      <a:pt x="13835" y="0"/>
                      <a:pt x="13331" y="186"/>
                      <a:pt x="13018" y="563"/>
                    </a:cubicBezTo>
                    <a:cubicBezTo>
                      <a:pt x="10188" y="3707"/>
                      <a:pt x="5282" y="7231"/>
                      <a:pt x="2639" y="7735"/>
                    </a:cubicBezTo>
                    <a:cubicBezTo>
                      <a:pt x="691" y="8235"/>
                      <a:pt x="0" y="8612"/>
                      <a:pt x="63" y="9307"/>
                    </a:cubicBezTo>
                    <a:cubicBezTo>
                      <a:pt x="63" y="9307"/>
                      <a:pt x="63" y="9493"/>
                      <a:pt x="187" y="9684"/>
                    </a:cubicBezTo>
                    <a:lnTo>
                      <a:pt x="6350" y="9684"/>
                    </a:lnTo>
                    <a:lnTo>
                      <a:pt x="1068" y="28107"/>
                    </a:lnTo>
                    <a:cubicBezTo>
                      <a:pt x="377" y="30059"/>
                      <a:pt x="0" y="32071"/>
                      <a:pt x="0" y="32825"/>
                    </a:cubicBezTo>
                    <a:cubicBezTo>
                      <a:pt x="0" y="34270"/>
                      <a:pt x="1885" y="35278"/>
                      <a:pt x="4088" y="35278"/>
                    </a:cubicBezTo>
                    <a:cubicBezTo>
                      <a:pt x="7858" y="35278"/>
                      <a:pt x="10438" y="33516"/>
                      <a:pt x="15280" y="2741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samples_outline_4"/>
              <p:cNvSpPr/>
              <p:nvPr/>
            </p:nvSpPr>
            <p:spPr>
              <a:xfrm>
                <a:off x="513294" y="926526"/>
                <a:ext cx="36686" cy="39647"/>
              </a:xfrm>
              <a:custGeom>
                <a:avLst/>
                <a:gdLst/>
                <a:ahLst/>
                <a:cxnLst/>
                <a:rect l="0" t="0" r="r" b="b"/>
                <a:pathLst>
                  <a:path w="36687" h="39648">
                    <a:moveTo>
                      <a:pt x="36683" y="4588"/>
                    </a:moveTo>
                    <a:cubicBezTo>
                      <a:pt x="36592" y="1889"/>
                      <a:pt x="34615" y="0"/>
                      <a:pt x="31825" y="0"/>
                    </a:cubicBezTo>
                    <a:cubicBezTo>
                      <a:pt x="29488" y="0"/>
                      <a:pt x="26702" y="1349"/>
                      <a:pt x="24186" y="3778"/>
                    </a:cubicBezTo>
                    <a:cubicBezTo>
                      <a:pt x="20229" y="7644"/>
                      <a:pt x="16363" y="12859"/>
                      <a:pt x="14835" y="16454"/>
                    </a:cubicBezTo>
                    <a:lnTo>
                      <a:pt x="13486" y="19689"/>
                    </a:lnTo>
                    <a:lnTo>
                      <a:pt x="18340" y="182"/>
                    </a:lnTo>
                    <a:lnTo>
                      <a:pt x="17351" y="0"/>
                    </a:lnTo>
                    <a:lnTo>
                      <a:pt x="1619" y="2429"/>
                    </a:lnTo>
                    <a:lnTo>
                      <a:pt x="1619" y="3957"/>
                    </a:lnTo>
                    <a:lnTo>
                      <a:pt x="4135" y="3957"/>
                    </a:lnTo>
                    <a:cubicBezTo>
                      <a:pt x="6564" y="3957"/>
                      <a:pt x="8811" y="4135"/>
                      <a:pt x="8811" y="6024"/>
                    </a:cubicBezTo>
                    <a:cubicBezTo>
                      <a:pt x="8902" y="7283"/>
                      <a:pt x="8811" y="7283"/>
                      <a:pt x="7374" y="13395"/>
                    </a:cubicBezTo>
                    <a:lnTo>
                      <a:pt x="0" y="39648"/>
                    </a:lnTo>
                    <a:lnTo>
                      <a:pt x="7914" y="39648"/>
                    </a:lnTo>
                    <a:cubicBezTo>
                      <a:pt x="12676" y="24543"/>
                      <a:pt x="14295" y="20947"/>
                      <a:pt x="18522" y="14295"/>
                    </a:cubicBezTo>
                    <a:cubicBezTo>
                      <a:pt x="21935" y="8811"/>
                      <a:pt x="24904" y="5846"/>
                      <a:pt x="26702" y="5846"/>
                    </a:cubicBezTo>
                    <a:cubicBezTo>
                      <a:pt x="27333" y="5846"/>
                      <a:pt x="27873" y="6203"/>
                      <a:pt x="28408" y="7104"/>
                    </a:cubicBezTo>
                    <a:cubicBezTo>
                      <a:pt x="29309" y="8632"/>
                      <a:pt x="30119" y="9080"/>
                      <a:pt x="32095" y="9080"/>
                    </a:cubicBezTo>
                    <a:cubicBezTo>
                      <a:pt x="35151" y="9080"/>
                      <a:pt x="36770" y="7461"/>
                      <a:pt x="36683" y="4588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" name="samples_outline_5"/>
              <p:cNvSpPr/>
              <p:nvPr/>
            </p:nvSpPr>
            <p:spPr>
              <a:xfrm>
                <a:off x="550186" y="945327"/>
                <a:ext cx="19934" cy="35278"/>
              </a:xfrm>
              <a:custGeom>
                <a:avLst/>
                <a:gdLst/>
                <a:ahLst/>
                <a:cxnLst/>
                <a:rect l="0" t="0" r="r" b="b"/>
                <a:pathLst>
                  <a:path w="19935" h="35278">
                    <a:moveTo>
                      <a:pt x="15280" y="27416"/>
                    </a:moveTo>
                    <a:lnTo>
                      <a:pt x="14212" y="26976"/>
                    </a:lnTo>
                    <a:cubicBezTo>
                      <a:pt x="10438" y="30936"/>
                      <a:pt x="9180" y="31944"/>
                      <a:pt x="7922" y="31944"/>
                    </a:cubicBezTo>
                    <a:cubicBezTo>
                      <a:pt x="7104" y="31944"/>
                      <a:pt x="6541" y="31440"/>
                      <a:pt x="6541" y="30813"/>
                    </a:cubicBezTo>
                    <a:cubicBezTo>
                      <a:pt x="6541" y="30686"/>
                      <a:pt x="6600" y="30496"/>
                      <a:pt x="6664" y="30373"/>
                    </a:cubicBezTo>
                    <a:lnTo>
                      <a:pt x="12577" y="9684"/>
                    </a:lnTo>
                    <a:lnTo>
                      <a:pt x="19558" y="9684"/>
                    </a:lnTo>
                    <a:lnTo>
                      <a:pt x="19935" y="7418"/>
                    </a:lnTo>
                    <a:lnTo>
                      <a:pt x="13331" y="7418"/>
                    </a:lnTo>
                    <a:lnTo>
                      <a:pt x="14966" y="941"/>
                    </a:lnTo>
                    <a:lnTo>
                      <a:pt x="14276" y="0"/>
                    </a:lnTo>
                    <a:lnTo>
                      <a:pt x="14085" y="0"/>
                    </a:lnTo>
                    <a:cubicBezTo>
                      <a:pt x="13835" y="0"/>
                      <a:pt x="13331" y="186"/>
                      <a:pt x="13018" y="563"/>
                    </a:cubicBezTo>
                    <a:cubicBezTo>
                      <a:pt x="10188" y="3707"/>
                      <a:pt x="5282" y="7231"/>
                      <a:pt x="2639" y="7735"/>
                    </a:cubicBezTo>
                    <a:cubicBezTo>
                      <a:pt x="691" y="8235"/>
                      <a:pt x="0" y="8612"/>
                      <a:pt x="63" y="9307"/>
                    </a:cubicBezTo>
                    <a:cubicBezTo>
                      <a:pt x="63" y="9307"/>
                      <a:pt x="63" y="9493"/>
                      <a:pt x="187" y="9684"/>
                    </a:cubicBezTo>
                    <a:lnTo>
                      <a:pt x="6350" y="9684"/>
                    </a:lnTo>
                    <a:lnTo>
                      <a:pt x="1068" y="28107"/>
                    </a:lnTo>
                    <a:cubicBezTo>
                      <a:pt x="377" y="30059"/>
                      <a:pt x="0" y="32071"/>
                      <a:pt x="0" y="32825"/>
                    </a:cubicBezTo>
                    <a:cubicBezTo>
                      <a:pt x="0" y="34270"/>
                      <a:pt x="1885" y="35278"/>
                      <a:pt x="4088" y="35278"/>
                    </a:cubicBezTo>
                    <a:cubicBezTo>
                      <a:pt x="7858" y="35278"/>
                      <a:pt x="10438" y="33516"/>
                      <a:pt x="15280" y="2741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" name="samples_outline_6"/>
              <p:cNvSpPr/>
              <p:nvPr/>
            </p:nvSpPr>
            <p:spPr>
              <a:xfrm>
                <a:off x="675709" y="926526"/>
                <a:ext cx="40379" cy="40636"/>
              </a:xfrm>
              <a:custGeom>
                <a:avLst/>
                <a:gdLst/>
                <a:ahLst/>
                <a:cxnLst/>
                <a:rect l="0" t="0" r="r" b="b"/>
                <a:pathLst>
                  <a:path w="40379" h="40636">
                    <a:moveTo>
                      <a:pt x="34983" y="31016"/>
                    </a:moveTo>
                    <a:lnTo>
                      <a:pt x="33272" y="30119"/>
                    </a:lnTo>
                    <a:cubicBezTo>
                      <a:pt x="27792" y="35421"/>
                      <a:pt x="23922" y="37401"/>
                      <a:pt x="18799" y="37401"/>
                    </a:cubicBezTo>
                    <a:cubicBezTo>
                      <a:pt x="12957" y="37401"/>
                      <a:pt x="9270" y="33623"/>
                      <a:pt x="9000" y="27150"/>
                    </a:cubicBezTo>
                    <a:cubicBezTo>
                      <a:pt x="8730" y="19510"/>
                      <a:pt x="12147" y="11509"/>
                      <a:pt x="17719" y="6203"/>
                    </a:cubicBezTo>
                    <a:cubicBezTo>
                      <a:pt x="20596" y="3508"/>
                      <a:pt x="24644" y="1889"/>
                      <a:pt x="28780" y="1889"/>
                    </a:cubicBezTo>
                    <a:cubicBezTo>
                      <a:pt x="31205" y="1889"/>
                      <a:pt x="32645" y="2607"/>
                      <a:pt x="32645" y="3687"/>
                    </a:cubicBezTo>
                    <a:cubicBezTo>
                      <a:pt x="32733" y="4135"/>
                      <a:pt x="32645" y="4588"/>
                      <a:pt x="32197" y="5394"/>
                    </a:cubicBezTo>
                    <a:cubicBezTo>
                      <a:pt x="31387" y="6564"/>
                      <a:pt x="31296" y="7104"/>
                      <a:pt x="31296" y="8001"/>
                    </a:cubicBezTo>
                    <a:cubicBezTo>
                      <a:pt x="31387" y="10160"/>
                      <a:pt x="32915" y="11418"/>
                      <a:pt x="35431" y="11418"/>
                    </a:cubicBezTo>
                    <a:cubicBezTo>
                      <a:pt x="38309" y="11418"/>
                      <a:pt x="40468" y="9712"/>
                      <a:pt x="40377" y="7283"/>
                    </a:cubicBezTo>
                    <a:cubicBezTo>
                      <a:pt x="40198" y="3056"/>
                      <a:pt x="35610" y="0"/>
                      <a:pt x="29228" y="0"/>
                    </a:cubicBezTo>
                    <a:cubicBezTo>
                      <a:pt x="13675" y="0"/>
                      <a:pt x="-438" y="13129"/>
                      <a:pt x="10" y="27150"/>
                    </a:cubicBezTo>
                    <a:cubicBezTo>
                      <a:pt x="280" y="35691"/>
                      <a:pt x="6122" y="40636"/>
                      <a:pt x="15743" y="40636"/>
                    </a:cubicBezTo>
                    <a:cubicBezTo>
                      <a:pt x="23565" y="40636"/>
                      <a:pt x="28780" y="37941"/>
                      <a:pt x="34983" y="3101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" name="samples_outline_7"/>
              <p:cNvSpPr/>
              <p:nvPr/>
            </p:nvSpPr>
            <p:spPr>
              <a:xfrm>
                <a:off x="720724" y="951864"/>
                <a:ext cx="27289" cy="28614"/>
              </a:xfrm>
              <a:custGeom>
                <a:avLst/>
                <a:gdLst/>
                <a:ahLst/>
                <a:cxnLst/>
                <a:rect l="0" t="0" r="r" b="b"/>
                <a:pathLst>
                  <a:path w="27289" h="28615">
                    <a:moveTo>
                      <a:pt x="23642" y="20312"/>
                    </a:moveTo>
                    <a:cubicBezTo>
                      <a:pt x="23455" y="17859"/>
                      <a:pt x="21570" y="15157"/>
                      <a:pt x="17355" y="11509"/>
                    </a:cubicBezTo>
                    <a:cubicBezTo>
                      <a:pt x="13835" y="8493"/>
                      <a:pt x="12200" y="6604"/>
                      <a:pt x="12200" y="4655"/>
                    </a:cubicBezTo>
                    <a:cubicBezTo>
                      <a:pt x="12200" y="2643"/>
                      <a:pt x="13958" y="1512"/>
                      <a:pt x="16788" y="1512"/>
                    </a:cubicBezTo>
                    <a:cubicBezTo>
                      <a:pt x="21193" y="1512"/>
                      <a:pt x="23705" y="3838"/>
                      <a:pt x="24963" y="8743"/>
                    </a:cubicBezTo>
                    <a:lnTo>
                      <a:pt x="26285" y="8743"/>
                    </a:lnTo>
                    <a:lnTo>
                      <a:pt x="27289" y="0"/>
                    </a:lnTo>
                    <a:lnTo>
                      <a:pt x="26158" y="0"/>
                    </a:lnTo>
                    <a:cubicBezTo>
                      <a:pt x="25467" y="881"/>
                      <a:pt x="24900" y="1135"/>
                      <a:pt x="23705" y="1135"/>
                    </a:cubicBezTo>
                    <a:cubicBezTo>
                      <a:pt x="22951" y="1135"/>
                      <a:pt x="22261" y="1008"/>
                      <a:pt x="20689" y="695"/>
                    </a:cubicBezTo>
                    <a:cubicBezTo>
                      <a:pt x="18550" y="190"/>
                      <a:pt x="17292" y="63"/>
                      <a:pt x="15911" y="63"/>
                    </a:cubicBezTo>
                    <a:cubicBezTo>
                      <a:pt x="9870" y="63"/>
                      <a:pt x="6163" y="2580"/>
                      <a:pt x="6163" y="6540"/>
                    </a:cubicBezTo>
                    <a:cubicBezTo>
                      <a:pt x="6163" y="6667"/>
                      <a:pt x="6163" y="6858"/>
                      <a:pt x="6163" y="6981"/>
                    </a:cubicBezTo>
                    <a:cubicBezTo>
                      <a:pt x="6287" y="8993"/>
                      <a:pt x="8299" y="11700"/>
                      <a:pt x="12073" y="15093"/>
                    </a:cubicBezTo>
                    <a:cubicBezTo>
                      <a:pt x="15593" y="18300"/>
                      <a:pt x="17105" y="20503"/>
                      <a:pt x="17228" y="22324"/>
                    </a:cubicBezTo>
                    <a:cubicBezTo>
                      <a:pt x="17228" y="22451"/>
                      <a:pt x="17228" y="22578"/>
                      <a:pt x="17228" y="22705"/>
                    </a:cubicBezTo>
                    <a:cubicBezTo>
                      <a:pt x="17228" y="25408"/>
                      <a:pt x="15030" y="27170"/>
                      <a:pt x="11505" y="27170"/>
                    </a:cubicBezTo>
                    <a:cubicBezTo>
                      <a:pt x="6854" y="27170"/>
                      <a:pt x="3897" y="24590"/>
                      <a:pt x="2262" y="18617"/>
                    </a:cubicBezTo>
                    <a:lnTo>
                      <a:pt x="941" y="18617"/>
                    </a:lnTo>
                    <a:lnTo>
                      <a:pt x="0" y="28615"/>
                    </a:lnTo>
                    <a:lnTo>
                      <a:pt x="1381" y="28615"/>
                    </a:lnTo>
                    <a:cubicBezTo>
                      <a:pt x="2135" y="27547"/>
                      <a:pt x="2326" y="27293"/>
                      <a:pt x="3270" y="27293"/>
                    </a:cubicBezTo>
                    <a:cubicBezTo>
                      <a:pt x="4211" y="27293"/>
                      <a:pt x="5723" y="27547"/>
                      <a:pt x="7418" y="27861"/>
                    </a:cubicBezTo>
                    <a:cubicBezTo>
                      <a:pt x="9434" y="28301"/>
                      <a:pt x="10688" y="28488"/>
                      <a:pt x="12073" y="28488"/>
                    </a:cubicBezTo>
                    <a:cubicBezTo>
                      <a:pt x="18927" y="28488"/>
                      <a:pt x="23642" y="25281"/>
                      <a:pt x="23642" y="20753"/>
                    </a:cubicBezTo>
                    <a:cubicBezTo>
                      <a:pt x="23642" y="20630"/>
                      <a:pt x="23642" y="20439"/>
                      <a:pt x="23642" y="20312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" name="samples_outline_8"/>
              <p:cNvSpPr/>
              <p:nvPr/>
            </p:nvSpPr>
            <p:spPr>
              <a:xfrm>
                <a:off x="759231" y="973247"/>
                <a:ext cx="10755" cy="15533"/>
              </a:xfrm>
              <a:custGeom>
                <a:avLst/>
                <a:gdLst/>
                <a:ahLst/>
                <a:cxnLst/>
                <a:rect l="0" t="0" r="r" b="b"/>
                <a:pathLst>
                  <a:path w="10755" h="15534">
                    <a:moveTo>
                      <a:pt x="10755" y="6036"/>
                    </a:moveTo>
                    <a:cubicBezTo>
                      <a:pt x="10755" y="818"/>
                      <a:pt x="6350" y="0"/>
                      <a:pt x="4528" y="0"/>
                    </a:cubicBezTo>
                    <a:cubicBezTo>
                      <a:pt x="2580" y="0"/>
                      <a:pt x="0" y="1195"/>
                      <a:pt x="0" y="3897"/>
                    </a:cubicBezTo>
                    <a:cubicBezTo>
                      <a:pt x="0" y="6414"/>
                      <a:pt x="2643" y="7041"/>
                      <a:pt x="4592" y="7041"/>
                    </a:cubicBezTo>
                    <a:cubicBezTo>
                      <a:pt x="5096" y="7041"/>
                      <a:pt x="5473" y="6981"/>
                      <a:pt x="5660" y="6918"/>
                    </a:cubicBezTo>
                    <a:cubicBezTo>
                      <a:pt x="5914" y="6854"/>
                      <a:pt x="6290" y="6791"/>
                      <a:pt x="6414" y="6791"/>
                    </a:cubicBezTo>
                    <a:cubicBezTo>
                      <a:pt x="6918" y="6791"/>
                      <a:pt x="7422" y="7104"/>
                      <a:pt x="7422" y="7672"/>
                    </a:cubicBezTo>
                    <a:cubicBezTo>
                      <a:pt x="7422" y="8866"/>
                      <a:pt x="6227" y="11505"/>
                      <a:pt x="1322" y="14149"/>
                    </a:cubicBezTo>
                    <a:lnTo>
                      <a:pt x="1949" y="15534"/>
                    </a:lnTo>
                    <a:cubicBezTo>
                      <a:pt x="4338" y="14903"/>
                      <a:pt x="10755" y="10501"/>
                      <a:pt x="10755" y="603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" name="samples_outline_9"/>
              <p:cNvSpPr/>
              <p:nvPr/>
            </p:nvSpPr>
            <p:spPr>
              <a:xfrm>
                <a:off x="779646" y="945327"/>
                <a:ext cx="19935" cy="35278"/>
              </a:xfrm>
              <a:custGeom>
                <a:avLst/>
                <a:gdLst/>
                <a:ahLst/>
                <a:cxnLst/>
                <a:rect l="0" t="0" r="r" b="b"/>
                <a:pathLst>
                  <a:path w="19935" h="35278">
                    <a:moveTo>
                      <a:pt x="15280" y="27416"/>
                    </a:moveTo>
                    <a:lnTo>
                      <a:pt x="14212" y="26976"/>
                    </a:lnTo>
                    <a:cubicBezTo>
                      <a:pt x="10438" y="30936"/>
                      <a:pt x="9180" y="31944"/>
                      <a:pt x="7922" y="31944"/>
                    </a:cubicBezTo>
                    <a:cubicBezTo>
                      <a:pt x="7104" y="31944"/>
                      <a:pt x="6541" y="31440"/>
                      <a:pt x="6541" y="30813"/>
                    </a:cubicBezTo>
                    <a:cubicBezTo>
                      <a:pt x="6541" y="30686"/>
                      <a:pt x="6600" y="30496"/>
                      <a:pt x="6664" y="30373"/>
                    </a:cubicBezTo>
                    <a:lnTo>
                      <a:pt x="12577" y="9684"/>
                    </a:lnTo>
                    <a:lnTo>
                      <a:pt x="19558" y="9684"/>
                    </a:lnTo>
                    <a:lnTo>
                      <a:pt x="19935" y="7418"/>
                    </a:lnTo>
                    <a:lnTo>
                      <a:pt x="13331" y="7418"/>
                    </a:lnTo>
                    <a:lnTo>
                      <a:pt x="14966" y="941"/>
                    </a:lnTo>
                    <a:lnTo>
                      <a:pt x="14276" y="0"/>
                    </a:lnTo>
                    <a:lnTo>
                      <a:pt x="14085" y="0"/>
                    </a:lnTo>
                    <a:cubicBezTo>
                      <a:pt x="13835" y="0"/>
                      <a:pt x="13331" y="186"/>
                      <a:pt x="13017" y="563"/>
                    </a:cubicBezTo>
                    <a:cubicBezTo>
                      <a:pt x="10188" y="3707"/>
                      <a:pt x="5282" y="7231"/>
                      <a:pt x="2639" y="7735"/>
                    </a:cubicBezTo>
                    <a:cubicBezTo>
                      <a:pt x="691" y="8235"/>
                      <a:pt x="0" y="8612"/>
                      <a:pt x="63" y="9307"/>
                    </a:cubicBezTo>
                    <a:cubicBezTo>
                      <a:pt x="63" y="9307"/>
                      <a:pt x="63" y="9493"/>
                      <a:pt x="187" y="9684"/>
                    </a:cubicBezTo>
                    <a:lnTo>
                      <a:pt x="6350" y="9684"/>
                    </a:lnTo>
                    <a:lnTo>
                      <a:pt x="1068" y="28107"/>
                    </a:lnTo>
                    <a:cubicBezTo>
                      <a:pt x="377" y="30059"/>
                      <a:pt x="0" y="32071"/>
                      <a:pt x="0" y="32825"/>
                    </a:cubicBezTo>
                    <a:cubicBezTo>
                      <a:pt x="0" y="34270"/>
                      <a:pt x="1885" y="35278"/>
                      <a:pt x="4088" y="35278"/>
                    </a:cubicBezTo>
                    <a:cubicBezTo>
                      <a:pt x="7858" y="35278"/>
                      <a:pt x="10438" y="33516"/>
                      <a:pt x="15280" y="27416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6" name="nextstate"/>
            <p:cNvGrpSpPr/>
            <p:nvPr/>
          </p:nvGrpSpPr>
          <p:grpSpPr>
            <a:xfrm>
              <a:off x="316614" y="1293735"/>
              <a:ext cx="133828" cy="55965"/>
              <a:chOff x="332801" y="1305548"/>
              <a:chExt cx="133828" cy="55965"/>
            </a:xfrm>
          </p:grpSpPr>
          <p:sp>
            <p:nvSpPr>
              <p:cNvPr id="27" name="nextstate_outline_0"/>
              <p:cNvSpPr/>
              <p:nvPr/>
            </p:nvSpPr>
            <p:spPr>
              <a:xfrm>
                <a:off x="332801" y="1305548"/>
                <a:ext cx="35857" cy="42263"/>
              </a:xfrm>
              <a:custGeom>
                <a:avLst/>
                <a:gdLst/>
                <a:ahLst/>
                <a:cxnLst/>
                <a:rect l="0" t="0" r="r" b="b"/>
                <a:pathLst>
                  <a:path w="35858" h="42263">
                    <a:moveTo>
                      <a:pt x="30377" y="30004"/>
                    </a:moveTo>
                    <a:cubicBezTo>
                      <a:pt x="30286" y="26380"/>
                      <a:pt x="27869" y="22384"/>
                      <a:pt x="22666" y="16998"/>
                    </a:cubicBezTo>
                    <a:cubicBezTo>
                      <a:pt x="18486" y="12633"/>
                      <a:pt x="16538" y="9751"/>
                      <a:pt x="16538" y="7243"/>
                    </a:cubicBezTo>
                    <a:cubicBezTo>
                      <a:pt x="16351" y="4088"/>
                      <a:pt x="18578" y="2227"/>
                      <a:pt x="22388" y="2227"/>
                    </a:cubicBezTo>
                    <a:cubicBezTo>
                      <a:pt x="27960" y="2227"/>
                      <a:pt x="31214" y="5663"/>
                      <a:pt x="32607" y="12910"/>
                    </a:cubicBezTo>
                    <a:lnTo>
                      <a:pt x="34278" y="12910"/>
                    </a:lnTo>
                    <a:lnTo>
                      <a:pt x="35858" y="0"/>
                    </a:lnTo>
                    <a:lnTo>
                      <a:pt x="34369" y="0"/>
                    </a:lnTo>
                    <a:cubicBezTo>
                      <a:pt x="33441" y="1298"/>
                      <a:pt x="32885" y="1671"/>
                      <a:pt x="31305" y="1671"/>
                    </a:cubicBezTo>
                    <a:cubicBezTo>
                      <a:pt x="30377" y="1671"/>
                      <a:pt x="29262" y="1484"/>
                      <a:pt x="27313" y="1020"/>
                    </a:cubicBezTo>
                    <a:cubicBezTo>
                      <a:pt x="24618" y="278"/>
                      <a:pt x="23130" y="91"/>
                      <a:pt x="21368" y="91"/>
                    </a:cubicBezTo>
                    <a:cubicBezTo>
                      <a:pt x="13379" y="91"/>
                      <a:pt x="8453" y="4088"/>
                      <a:pt x="8731" y="10311"/>
                    </a:cubicBezTo>
                    <a:cubicBezTo>
                      <a:pt x="8826" y="13283"/>
                      <a:pt x="11239" y="17276"/>
                      <a:pt x="15887" y="22293"/>
                    </a:cubicBezTo>
                    <a:cubicBezTo>
                      <a:pt x="20253" y="27031"/>
                      <a:pt x="22110" y="30282"/>
                      <a:pt x="22201" y="32976"/>
                    </a:cubicBezTo>
                    <a:cubicBezTo>
                      <a:pt x="22388" y="37247"/>
                      <a:pt x="19324" y="40128"/>
                      <a:pt x="14676" y="40128"/>
                    </a:cubicBezTo>
                    <a:cubicBezTo>
                      <a:pt x="8731" y="40128"/>
                      <a:pt x="5203" y="36318"/>
                      <a:pt x="3250" y="27496"/>
                    </a:cubicBezTo>
                    <a:lnTo>
                      <a:pt x="1580" y="27496"/>
                    </a:lnTo>
                    <a:lnTo>
                      <a:pt x="0" y="42263"/>
                    </a:lnTo>
                    <a:lnTo>
                      <a:pt x="1675" y="42263"/>
                    </a:lnTo>
                    <a:cubicBezTo>
                      <a:pt x="2695" y="40684"/>
                      <a:pt x="3068" y="40315"/>
                      <a:pt x="4274" y="40315"/>
                    </a:cubicBezTo>
                    <a:cubicBezTo>
                      <a:pt x="5481" y="40315"/>
                      <a:pt x="7338" y="40684"/>
                      <a:pt x="9477" y="41148"/>
                    </a:cubicBezTo>
                    <a:cubicBezTo>
                      <a:pt x="11986" y="41799"/>
                      <a:pt x="13565" y="42077"/>
                      <a:pt x="15327" y="42077"/>
                    </a:cubicBezTo>
                    <a:cubicBezTo>
                      <a:pt x="24340" y="42077"/>
                      <a:pt x="30655" y="37064"/>
                      <a:pt x="30377" y="30004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nextstate_outline_1"/>
              <p:cNvSpPr/>
              <p:nvPr/>
            </p:nvSpPr>
            <p:spPr>
              <a:xfrm>
                <a:off x="373899" y="1325037"/>
                <a:ext cx="20609" cy="36476"/>
              </a:xfrm>
              <a:custGeom>
                <a:avLst/>
                <a:gdLst/>
                <a:ahLst/>
                <a:cxnLst/>
                <a:rect l="0" t="0" r="r" b="b"/>
                <a:pathLst>
                  <a:path w="20610" h="36477">
                    <a:moveTo>
                      <a:pt x="15800" y="28349"/>
                    </a:moveTo>
                    <a:lnTo>
                      <a:pt x="14696" y="27892"/>
                    </a:lnTo>
                    <a:cubicBezTo>
                      <a:pt x="10795" y="31988"/>
                      <a:pt x="9493" y="33028"/>
                      <a:pt x="8192" y="33028"/>
                    </a:cubicBezTo>
                    <a:cubicBezTo>
                      <a:pt x="7346" y="33028"/>
                      <a:pt x="6763" y="32508"/>
                      <a:pt x="6763" y="31861"/>
                    </a:cubicBezTo>
                    <a:cubicBezTo>
                      <a:pt x="6763" y="31730"/>
                      <a:pt x="6826" y="31536"/>
                      <a:pt x="6894" y="31405"/>
                    </a:cubicBezTo>
                    <a:lnTo>
                      <a:pt x="13006" y="10013"/>
                    </a:lnTo>
                    <a:lnTo>
                      <a:pt x="20221" y="10013"/>
                    </a:lnTo>
                    <a:lnTo>
                      <a:pt x="20610" y="7672"/>
                    </a:lnTo>
                    <a:lnTo>
                      <a:pt x="13783" y="7672"/>
                    </a:lnTo>
                    <a:lnTo>
                      <a:pt x="15474" y="976"/>
                    </a:lnTo>
                    <a:lnTo>
                      <a:pt x="14760" y="0"/>
                    </a:lnTo>
                    <a:lnTo>
                      <a:pt x="14565" y="0"/>
                    </a:lnTo>
                    <a:cubicBezTo>
                      <a:pt x="14303" y="0"/>
                      <a:pt x="13783" y="194"/>
                      <a:pt x="13458" y="583"/>
                    </a:cubicBezTo>
                    <a:cubicBezTo>
                      <a:pt x="10533" y="3834"/>
                      <a:pt x="5461" y="7477"/>
                      <a:pt x="2730" y="7997"/>
                    </a:cubicBezTo>
                    <a:cubicBezTo>
                      <a:pt x="714" y="8517"/>
                      <a:pt x="0" y="8906"/>
                      <a:pt x="63" y="9624"/>
                    </a:cubicBezTo>
                    <a:cubicBezTo>
                      <a:pt x="63" y="9624"/>
                      <a:pt x="63" y="9819"/>
                      <a:pt x="194" y="10013"/>
                    </a:cubicBezTo>
                    <a:lnTo>
                      <a:pt x="6568" y="10013"/>
                    </a:lnTo>
                    <a:lnTo>
                      <a:pt x="1107" y="29063"/>
                    </a:lnTo>
                    <a:cubicBezTo>
                      <a:pt x="389" y="31079"/>
                      <a:pt x="0" y="33159"/>
                      <a:pt x="0" y="33941"/>
                    </a:cubicBezTo>
                    <a:cubicBezTo>
                      <a:pt x="0" y="35437"/>
                      <a:pt x="1949" y="36477"/>
                      <a:pt x="4227" y="36477"/>
                    </a:cubicBezTo>
                    <a:cubicBezTo>
                      <a:pt x="8128" y="36477"/>
                      <a:pt x="10795" y="34655"/>
                      <a:pt x="15800" y="28349"/>
                    </a:cubicBez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" name="nextstate_outline_2"/>
              <p:cNvSpPr/>
              <p:nvPr/>
            </p:nvSpPr>
            <p:spPr>
              <a:xfrm>
                <a:off x="403679" y="1327116"/>
                <a:ext cx="33289" cy="33420"/>
              </a:xfrm>
              <a:custGeom>
                <a:avLst/>
                <a:gdLst/>
                <a:ahLst/>
                <a:cxnLst/>
                <a:rect l="0" t="0" r="r" b="b"/>
                <a:pathLst>
                  <a:path w="33290" h="33421">
                    <a:moveTo>
                      <a:pt x="14498" y="14565"/>
                    </a:moveTo>
                    <a:lnTo>
                      <a:pt x="0" y="14565"/>
                    </a:lnTo>
                    <a:lnTo>
                      <a:pt x="0" y="18855"/>
                    </a:lnTo>
                    <a:lnTo>
                      <a:pt x="14498" y="18855"/>
                    </a:lnTo>
                    <a:lnTo>
                      <a:pt x="14498" y="33421"/>
                    </a:lnTo>
                    <a:lnTo>
                      <a:pt x="18788" y="33421"/>
                    </a:lnTo>
                    <a:lnTo>
                      <a:pt x="18788" y="18855"/>
                    </a:lnTo>
                    <a:lnTo>
                      <a:pt x="33290" y="18855"/>
                    </a:lnTo>
                    <a:lnTo>
                      <a:pt x="33290" y="14565"/>
                    </a:lnTo>
                    <a:lnTo>
                      <a:pt x="18788" y="14565"/>
                    </a:lnTo>
                    <a:lnTo>
                      <a:pt x="18788" y="0"/>
                    </a:lnTo>
                    <a:lnTo>
                      <a:pt x="14498" y="0"/>
                    </a:lnTo>
                    <a:lnTo>
                      <a:pt x="14498" y="14565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nextstate_outline_3"/>
              <p:cNvSpPr/>
              <p:nvPr/>
            </p:nvSpPr>
            <p:spPr>
              <a:xfrm>
                <a:off x="448230" y="1316583"/>
                <a:ext cx="18399" cy="43953"/>
              </a:xfrm>
              <a:custGeom>
                <a:avLst/>
                <a:gdLst/>
                <a:ahLst/>
                <a:cxnLst/>
                <a:rect l="0" t="0" r="r" b="b"/>
                <a:pathLst>
                  <a:path w="18399" h="43954">
                    <a:moveTo>
                      <a:pt x="18399" y="43954"/>
                    </a:moveTo>
                    <a:lnTo>
                      <a:pt x="18399" y="42978"/>
                    </a:lnTo>
                    <a:cubicBezTo>
                      <a:pt x="13264" y="42914"/>
                      <a:pt x="12224" y="42263"/>
                      <a:pt x="12224" y="39144"/>
                    </a:cubicBezTo>
                    <a:lnTo>
                      <a:pt x="12224" y="131"/>
                    </a:lnTo>
                    <a:lnTo>
                      <a:pt x="11700" y="0"/>
                    </a:lnTo>
                    <a:lnTo>
                      <a:pt x="0" y="5917"/>
                    </a:lnTo>
                    <a:lnTo>
                      <a:pt x="0" y="6826"/>
                    </a:lnTo>
                    <a:cubicBezTo>
                      <a:pt x="778" y="6501"/>
                      <a:pt x="1492" y="6243"/>
                      <a:pt x="1754" y="6112"/>
                    </a:cubicBezTo>
                    <a:cubicBezTo>
                      <a:pt x="2925" y="5655"/>
                      <a:pt x="4028" y="5398"/>
                      <a:pt x="4679" y="5398"/>
                    </a:cubicBezTo>
                    <a:cubicBezTo>
                      <a:pt x="6044" y="5398"/>
                      <a:pt x="6632" y="6374"/>
                      <a:pt x="6632" y="8454"/>
                    </a:cubicBezTo>
                    <a:lnTo>
                      <a:pt x="6632" y="37906"/>
                    </a:lnTo>
                    <a:cubicBezTo>
                      <a:pt x="6632" y="40053"/>
                      <a:pt x="6112" y="41549"/>
                      <a:pt x="5068" y="42132"/>
                    </a:cubicBezTo>
                    <a:cubicBezTo>
                      <a:pt x="4096" y="42720"/>
                      <a:pt x="3183" y="42914"/>
                      <a:pt x="452" y="42978"/>
                    </a:cubicBezTo>
                    <a:lnTo>
                      <a:pt x="452" y="43954"/>
                    </a:lnTo>
                    <a:lnTo>
                      <a:pt x="18399" y="43954"/>
                    </a:lnTo>
                    <a:close/>
                  </a:path>
                </a:pathLst>
              </a:custGeom>
              <a:solidFill>
                <a:srgbClr val="10101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54" name="module_stage2"/>
          <p:cNvGrpSpPr/>
          <p:nvPr/>
        </p:nvGrpSpPr>
        <p:grpSpPr>
          <a:xfrm>
            <a:off x="902368" y="192505"/>
            <a:ext cx="971550" cy="2409323"/>
            <a:chOff x="902368" y="192505"/>
            <a:chExt cx="971550" cy="2409323"/>
          </a:xfrm>
        </p:grpSpPr>
        <p:sp>
          <p:nvSpPr>
            <p:cNvPr id="55" name="stage2_border"/>
            <p:cNvSpPr/>
            <p:nvPr/>
          </p:nvSpPr>
          <p:spPr>
            <a:xfrm>
              <a:off x="902368" y="192505"/>
              <a:ext cx="971550" cy="2409323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5414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badge2"/>
            <p:cNvSpPr/>
            <p:nvPr/>
          </p:nvSpPr>
          <p:spPr>
            <a:xfrm>
              <a:off x="1010652" y="282742"/>
              <a:ext cx="156410" cy="168442"/>
            </a:xfrm>
            <a:prstGeom prst="ellipse">
              <a:avLst/>
            </a:prstGeom>
            <a:solidFill>
              <a:srgbClr val="002EA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number2"/>
            <p:cNvSpPr txBox="1"/>
            <p:nvPr/>
          </p:nvSpPr>
          <p:spPr>
            <a:xfrm>
              <a:off x="1010652" y="285750"/>
              <a:ext cx="156410" cy="15641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8" b="0" i="0">
                  <a:solidFill>
                    <a:srgbClr val="FFFFFF"/>
                  </a:solidFill>
                  <a:latin typeface="Liberation Serif"/>
                </a:rPr>
                <a:t>2</a:t>
              </a:r>
            </a:p>
          </p:txBody>
        </p:sp>
        <p:sp>
          <p:nvSpPr>
            <p:cNvPr id="58" name="title2"/>
            <p:cNvSpPr txBox="1"/>
            <p:nvPr/>
          </p:nvSpPr>
          <p:spPr>
            <a:xfrm>
              <a:off x="1203157" y="300789"/>
              <a:ext cx="637673" cy="147386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 b="1">
                  <a:solidFill>
                    <a:srgbClr val="142837"/>
                  </a:solidFill>
                  <a:latin typeface="Times New Roman"/>
                </a:rPr>
                <a:t>Flow inputs</a:t>
              </a:r>
            </a:p>
          </p:txBody>
        </p:sp>
        <p:sp>
          <p:nvSpPr>
            <p:cNvPr id="59" name="graph_title"/>
            <p:cNvSpPr txBox="1"/>
            <p:nvPr/>
          </p:nvSpPr>
          <p:spPr>
            <a:xfrm>
              <a:off x="989597" y="541421"/>
              <a:ext cx="809123" cy="132347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20">
                  <a:solidFill>
                    <a:srgbClr val="142837"/>
                  </a:solidFill>
                  <a:latin typeface="Times New Roman"/>
                </a:rPr>
                <a:t>Rollout graph</a:t>
              </a:r>
            </a:p>
          </p:txBody>
        </p:sp>
        <p:sp>
          <p:nvSpPr>
            <p:cNvPr id="60" name="graph_e0"/>
            <p:cNvSpPr/>
            <p:nvPr/>
          </p:nvSpPr>
          <p:spPr>
            <a:xfrm>
              <a:off x="1124546" y="760997"/>
              <a:ext cx="148138" cy="30"/>
            </a:xfrm>
            <a:custGeom>
              <a:avLst/>
              <a:gdLst/>
              <a:ahLst/>
              <a:cxnLst/>
              <a:rect l="0" t="0" r="r" b="b"/>
              <a:pathLst>
                <a:path w="148138" h="1" fill="none">
                  <a:moveTo>
                    <a:pt x="0" y="0"/>
                  </a:moveTo>
                  <a:lnTo>
                    <a:pt x="148138" y="0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graph_e1"/>
            <p:cNvSpPr/>
            <p:nvPr/>
          </p:nvSpPr>
          <p:spPr>
            <a:xfrm>
              <a:off x="1326015" y="760997"/>
              <a:ext cx="148138" cy="30"/>
            </a:xfrm>
            <a:custGeom>
              <a:avLst/>
              <a:gdLst/>
              <a:ahLst/>
              <a:cxnLst/>
              <a:rect l="0" t="0" r="r" b="b"/>
              <a:pathLst>
                <a:path w="148138" h="1" fill="none">
                  <a:moveTo>
                    <a:pt x="0" y="0"/>
                  </a:moveTo>
                  <a:lnTo>
                    <a:pt x="148138" y="0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graph_e2"/>
            <p:cNvSpPr/>
            <p:nvPr/>
          </p:nvSpPr>
          <p:spPr>
            <a:xfrm>
              <a:off x="1097881" y="787662"/>
              <a:ext cx="30" cy="125639"/>
            </a:xfrm>
            <a:custGeom>
              <a:avLst/>
              <a:gdLst/>
              <a:ahLst/>
              <a:cxnLst/>
              <a:rect l="0" t="0" r="r" b="b"/>
              <a:pathLst>
                <a:path w="1" h="125639" fill="none">
                  <a:moveTo>
                    <a:pt x="0" y="0"/>
                  </a:moveTo>
                  <a:lnTo>
                    <a:pt x="0" y="125639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graph_e3"/>
            <p:cNvSpPr/>
            <p:nvPr/>
          </p:nvSpPr>
          <p:spPr>
            <a:xfrm>
              <a:off x="1299350" y="787662"/>
              <a:ext cx="30" cy="125639"/>
            </a:xfrm>
            <a:custGeom>
              <a:avLst/>
              <a:gdLst/>
              <a:ahLst/>
              <a:cxnLst/>
              <a:rect l="0" t="0" r="r" b="b"/>
              <a:pathLst>
                <a:path w="1" h="125639" fill="none">
                  <a:moveTo>
                    <a:pt x="0" y="0"/>
                  </a:moveTo>
                  <a:lnTo>
                    <a:pt x="0" y="125639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graph_e4"/>
            <p:cNvSpPr/>
            <p:nvPr/>
          </p:nvSpPr>
          <p:spPr>
            <a:xfrm>
              <a:off x="1500819" y="787662"/>
              <a:ext cx="30" cy="125639"/>
            </a:xfrm>
            <a:custGeom>
              <a:avLst/>
              <a:gdLst/>
              <a:ahLst/>
              <a:cxnLst/>
              <a:rect l="0" t="0" r="r" b="b"/>
              <a:pathLst>
                <a:path w="1" h="125639" fill="none">
                  <a:moveTo>
                    <a:pt x="0" y="0"/>
                  </a:moveTo>
                  <a:lnTo>
                    <a:pt x="0" y="125639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graph_e5"/>
            <p:cNvSpPr/>
            <p:nvPr/>
          </p:nvSpPr>
          <p:spPr>
            <a:xfrm>
              <a:off x="1124546" y="939967"/>
              <a:ext cx="148138" cy="30"/>
            </a:xfrm>
            <a:custGeom>
              <a:avLst/>
              <a:gdLst/>
              <a:ahLst/>
              <a:cxnLst/>
              <a:rect l="0" t="0" r="r" b="b"/>
              <a:pathLst>
                <a:path w="148138" h="1" fill="none">
                  <a:moveTo>
                    <a:pt x="0" y="0"/>
                  </a:moveTo>
                  <a:lnTo>
                    <a:pt x="148138" y="0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graph_e6"/>
            <p:cNvSpPr/>
            <p:nvPr/>
          </p:nvSpPr>
          <p:spPr>
            <a:xfrm>
              <a:off x="1326015" y="939967"/>
              <a:ext cx="148138" cy="30"/>
            </a:xfrm>
            <a:custGeom>
              <a:avLst/>
              <a:gdLst/>
              <a:ahLst/>
              <a:cxnLst/>
              <a:rect l="0" t="0" r="r" b="b"/>
              <a:pathLst>
                <a:path w="148138" h="1" fill="none">
                  <a:moveTo>
                    <a:pt x="0" y="0"/>
                  </a:moveTo>
                  <a:lnTo>
                    <a:pt x="148138" y="0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graph_e7"/>
            <p:cNvSpPr/>
            <p:nvPr/>
          </p:nvSpPr>
          <p:spPr>
            <a:xfrm>
              <a:off x="1527484" y="939967"/>
              <a:ext cx="136287" cy="30"/>
            </a:xfrm>
            <a:custGeom>
              <a:avLst/>
              <a:gdLst/>
              <a:ahLst/>
              <a:cxnLst/>
              <a:rect l="0" t="0" r="r" b="b"/>
              <a:pathLst>
                <a:path w="136287" h="1" fill="none">
                  <a:moveTo>
                    <a:pt x="0" y="0"/>
                  </a:moveTo>
                  <a:lnTo>
                    <a:pt x="136287" y="0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graph_e8"/>
            <p:cNvSpPr/>
            <p:nvPr/>
          </p:nvSpPr>
          <p:spPr>
            <a:xfrm>
              <a:off x="1097881" y="966632"/>
              <a:ext cx="30" cy="125639"/>
            </a:xfrm>
            <a:custGeom>
              <a:avLst/>
              <a:gdLst/>
              <a:ahLst/>
              <a:cxnLst/>
              <a:rect l="0" t="0" r="r" b="b"/>
              <a:pathLst>
                <a:path w="1" h="125639" fill="none">
                  <a:moveTo>
                    <a:pt x="0" y="0"/>
                  </a:moveTo>
                  <a:lnTo>
                    <a:pt x="0" y="125639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graph_e9"/>
            <p:cNvSpPr/>
            <p:nvPr/>
          </p:nvSpPr>
          <p:spPr>
            <a:xfrm>
              <a:off x="1299350" y="966632"/>
              <a:ext cx="30" cy="125639"/>
            </a:xfrm>
            <a:custGeom>
              <a:avLst/>
              <a:gdLst/>
              <a:ahLst/>
              <a:cxnLst/>
              <a:rect l="0" t="0" r="r" b="b"/>
              <a:pathLst>
                <a:path w="1" h="125639" fill="none">
                  <a:moveTo>
                    <a:pt x="0" y="0"/>
                  </a:moveTo>
                  <a:lnTo>
                    <a:pt x="0" y="125639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graph_e10"/>
            <p:cNvSpPr/>
            <p:nvPr/>
          </p:nvSpPr>
          <p:spPr>
            <a:xfrm>
              <a:off x="1500819" y="966632"/>
              <a:ext cx="30" cy="125639"/>
            </a:xfrm>
            <a:custGeom>
              <a:avLst/>
              <a:gdLst/>
              <a:ahLst/>
              <a:cxnLst/>
              <a:rect l="0" t="0" r="r" b="b"/>
              <a:pathLst>
                <a:path w="1" h="125639" fill="none">
                  <a:moveTo>
                    <a:pt x="0" y="0"/>
                  </a:moveTo>
                  <a:lnTo>
                    <a:pt x="0" y="125639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graph_e11"/>
            <p:cNvSpPr/>
            <p:nvPr/>
          </p:nvSpPr>
          <p:spPr>
            <a:xfrm>
              <a:off x="1319285" y="957676"/>
              <a:ext cx="161598" cy="143551"/>
            </a:xfrm>
            <a:custGeom>
              <a:avLst/>
              <a:gdLst/>
              <a:ahLst/>
              <a:cxnLst/>
              <a:rect l="0" t="0" r="r" b="b"/>
              <a:pathLst>
                <a:path w="161598" h="143551" fill="none">
                  <a:moveTo>
                    <a:pt x="0" y="143551"/>
                  </a:moveTo>
                  <a:lnTo>
                    <a:pt x="161598" y="0"/>
                  </a:lnTo>
                </a:path>
              </a:pathLst>
            </a:custGeom>
            <a:noFill/>
            <a:ln w="3910">
              <a:solidFill>
                <a:srgbClr val="002EAA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graph_n0"/>
            <p:cNvSpPr/>
            <p:nvPr/>
          </p:nvSpPr>
          <p:spPr>
            <a:xfrm>
              <a:off x="1071216" y="734332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graph_n1"/>
            <p:cNvSpPr/>
            <p:nvPr/>
          </p:nvSpPr>
          <p:spPr>
            <a:xfrm>
              <a:off x="1272685" y="734332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graph_n2"/>
            <p:cNvSpPr/>
            <p:nvPr/>
          </p:nvSpPr>
          <p:spPr>
            <a:xfrm>
              <a:off x="1474154" y="734332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graph_n3"/>
            <p:cNvSpPr/>
            <p:nvPr/>
          </p:nvSpPr>
          <p:spPr>
            <a:xfrm>
              <a:off x="1071216" y="913302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graph_n4"/>
            <p:cNvSpPr/>
            <p:nvPr/>
          </p:nvSpPr>
          <p:spPr>
            <a:xfrm>
              <a:off x="1272685" y="913302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graph_n5"/>
            <p:cNvSpPr/>
            <p:nvPr/>
          </p:nvSpPr>
          <p:spPr>
            <a:xfrm>
              <a:off x="1474154" y="913302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graph_n6"/>
            <p:cNvSpPr/>
            <p:nvPr/>
          </p:nvSpPr>
          <p:spPr>
            <a:xfrm>
              <a:off x="1663771" y="913302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graph_n7"/>
            <p:cNvSpPr/>
            <p:nvPr/>
          </p:nvSpPr>
          <p:spPr>
            <a:xfrm>
              <a:off x="1071216" y="1092271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graph_n8"/>
            <p:cNvSpPr/>
            <p:nvPr/>
          </p:nvSpPr>
          <p:spPr>
            <a:xfrm>
              <a:off x="1272685" y="1092271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graph_n9"/>
            <p:cNvSpPr/>
            <p:nvPr/>
          </p:nvSpPr>
          <p:spPr>
            <a:xfrm>
              <a:off x="1474154" y="1092271"/>
              <a:ext cx="53329" cy="53329"/>
            </a:xfrm>
            <a:prstGeom prst="ellipse">
              <a:avLst/>
            </a:prstGeom>
            <a:solidFill>
              <a:srgbClr val="F2F7FC"/>
            </a:solidFill>
            <a:ln w="4511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input_rule"/>
            <p:cNvSpPr/>
            <p:nvPr/>
          </p:nvSpPr>
          <p:spPr>
            <a:xfrm>
              <a:off x="950494" y="1305426"/>
              <a:ext cx="866273" cy="30"/>
            </a:xfrm>
            <a:custGeom>
              <a:avLst/>
              <a:gdLst/>
              <a:ahLst/>
              <a:cxnLst/>
              <a:rect l="0" t="0" r="r" b="b"/>
              <a:pathLst>
                <a:path w="866273" h="1" fill="none">
                  <a:moveTo>
                    <a:pt x="0" y="0"/>
                  </a:moveTo>
                  <a:lnTo>
                    <a:pt x="866273" y="0"/>
                  </a:lnTo>
                </a:path>
              </a:pathLst>
            </a:custGeom>
            <a:noFill/>
            <a:ln w="6015">
              <a:solidFill>
                <a:srgbClr val="0900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emp_0_0"/>
            <p:cNvSpPr/>
            <p:nvPr/>
          </p:nvSpPr>
          <p:spPr>
            <a:xfrm>
              <a:off x="992605" y="1398671"/>
              <a:ext cx="54142" cy="72189"/>
            </a:xfrm>
            <a:prstGeom prst="rect">
              <a:avLst/>
            </a:prstGeom>
            <a:solidFill>
              <a:srgbClr val="0043AE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emp_0_1"/>
            <p:cNvSpPr/>
            <p:nvPr/>
          </p:nvSpPr>
          <p:spPr>
            <a:xfrm>
              <a:off x="1046747" y="1398671"/>
              <a:ext cx="54142" cy="72189"/>
            </a:xfrm>
            <a:prstGeom prst="rect">
              <a:avLst/>
            </a:prstGeom>
            <a:solidFill>
              <a:srgbClr val="B6CCF5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emp_0_2"/>
            <p:cNvSpPr/>
            <p:nvPr/>
          </p:nvSpPr>
          <p:spPr>
            <a:xfrm>
              <a:off x="1100889" y="1398671"/>
              <a:ext cx="54142" cy="72189"/>
            </a:xfrm>
            <a:prstGeom prst="rect">
              <a:avLst/>
            </a:prstGeom>
            <a:solidFill>
              <a:srgbClr val="D6E5FE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emp_0_3"/>
            <p:cNvSpPr/>
            <p:nvPr/>
          </p:nvSpPr>
          <p:spPr>
            <a:xfrm>
              <a:off x="1155031" y="1398671"/>
              <a:ext cx="54142" cy="72189"/>
            </a:xfrm>
            <a:prstGeom prst="rect">
              <a:avLst/>
            </a:prstGeom>
            <a:solidFill>
              <a:srgbClr val="E5EEFE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emp_1_0"/>
            <p:cNvSpPr/>
            <p:nvPr/>
          </p:nvSpPr>
          <p:spPr>
            <a:xfrm>
              <a:off x="992605" y="1470860"/>
              <a:ext cx="54142" cy="72189"/>
            </a:xfrm>
            <a:prstGeom prst="rect">
              <a:avLst/>
            </a:prstGeom>
            <a:solidFill>
              <a:srgbClr val="9AB9F0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emp_1_1"/>
            <p:cNvSpPr/>
            <p:nvPr/>
          </p:nvSpPr>
          <p:spPr>
            <a:xfrm>
              <a:off x="1046747" y="1470860"/>
              <a:ext cx="54142" cy="72189"/>
            </a:xfrm>
            <a:prstGeom prst="rect">
              <a:avLst/>
            </a:prstGeom>
            <a:solidFill>
              <a:srgbClr val="0041AA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emp_1_2"/>
            <p:cNvSpPr/>
            <p:nvPr/>
          </p:nvSpPr>
          <p:spPr>
            <a:xfrm>
              <a:off x="1100889" y="1470860"/>
              <a:ext cx="54142" cy="72189"/>
            </a:xfrm>
            <a:prstGeom prst="rect">
              <a:avLst/>
            </a:prstGeom>
            <a:solidFill>
              <a:srgbClr val="1B4DBC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emp_1_3"/>
            <p:cNvSpPr/>
            <p:nvPr/>
          </p:nvSpPr>
          <p:spPr>
            <a:xfrm>
              <a:off x="1155031" y="1470860"/>
              <a:ext cx="54142" cy="72189"/>
            </a:xfrm>
            <a:prstGeom prst="rect">
              <a:avLst/>
            </a:prstGeom>
            <a:solidFill>
              <a:srgbClr val="EDF4FE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emp_2_0"/>
            <p:cNvSpPr/>
            <p:nvPr/>
          </p:nvSpPr>
          <p:spPr>
            <a:xfrm>
              <a:off x="992605" y="1543050"/>
              <a:ext cx="54142" cy="72189"/>
            </a:xfrm>
            <a:prstGeom prst="rect">
              <a:avLst/>
            </a:prstGeom>
            <a:solidFill>
              <a:srgbClr val="FCFDFF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emp_2_1"/>
            <p:cNvSpPr/>
            <p:nvPr/>
          </p:nvSpPr>
          <p:spPr>
            <a:xfrm>
              <a:off x="1046747" y="1543050"/>
              <a:ext cx="54142" cy="72189"/>
            </a:xfrm>
            <a:prstGeom prst="rect">
              <a:avLst/>
            </a:prstGeom>
            <a:solidFill>
              <a:srgbClr val="6691DC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3" name="emp_2_2"/>
            <p:cNvSpPr/>
            <p:nvPr/>
          </p:nvSpPr>
          <p:spPr>
            <a:xfrm>
              <a:off x="1100889" y="1543050"/>
              <a:ext cx="54142" cy="72189"/>
            </a:xfrm>
            <a:prstGeom prst="rect">
              <a:avLst/>
            </a:prstGeom>
            <a:solidFill>
              <a:srgbClr val="A5C1F2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4" name="emp_2_3"/>
            <p:cNvSpPr/>
            <p:nvPr/>
          </p:nvSpPr>
          <p:spPr>
            <a:xfrm>
              <a:off x="1155031" y="1543050"/>
              <a:ext cx="54142" cy="72189"/>
            </a:xfrm>
            <a:prstGeom prst="rect">
              <a:avLst/>
            </a:prstGeom>
            <a:solidFill>
              <a:srgbClr val="5E8CD8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emp_3_0"/>
            <p:cNvSpPr/>
            <p:nvPr/>
          </p:nvSpPr>
          <p:spPr>
            <a:xfrm>
              <a:off x="992605" y="1615239"/>
              <a:ext cx="54142" cy="72189"/>
            </a:xfrm>
            <a:prstGeom prst="rect">
              <a:avLst/>
            </a:prstGeom>
            <a:solidFill>
              <a:srgbClr val="B1C9F7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emp_3_1"/>
            <p:cNvSpPr/>
            <p:nvPr/>
          </p:nvSpPr>
          <p:spPr>
            <a:xfrm>
              <a:off x="1046747" y="1615239"/>
              <a:ext cx="54142" cy="72189"/>
            </a:xfrm>
            <a:prstGeom prst="rect">
              <a:avLst/>
            </a:prstGeom>
            <a:solidFill>
              <a:srgbClr val="DDE8FD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emp_3_2"/>
            <p:cNvSpPr/>
            <p:nvPr/>
          </p:nvSpPr>
          <p:spPr>
            <a:xfrm>
              <a:off x="1100889" y="1615239"/>
              <a:ext cx="54142" cy="72189"/>
            </a:xfrm>
            <a:prstGeom prst="rect">
              <a:avLst/>
            </a:prstGeom>
            <a:solidFill>
              <a:srgbClr val="0040AA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8" name="emp_3_3"/>
            <p:cNvSpPr/>
            <p:nvPr/>
          </p:nvSpPr>
          <p:spPr>
            <a:xfrm>
              <a:off x="1155031" y="1615239"/>
              <a:ext cx="54142" cy="72189"/>
            </a:xfrm>
            <a:prstGeom prst="rect">
              <a:avLst/>
            </a:prstGeom>
            <a:solidFill>
              <a:srgbClr val="C3DDF5"/>
            </a:solidFill>
            <a:ln w="2707">
              <a:solidFill>
                <a:srgbClr val="002E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9" name="score_0_0"/>
            <p:cNvSpPr/>
            <p:nvPr/>
          </p:nvSpPr>
          <p:spPr>
            <a:xfrm>
              <a:off x="992605" y="1768642"/>
              <a:ext cx="54142" cy="72189"/>
            </a:xfrm>
            <a:prstGeom prst="rect">
              <a:avLst/>
            </a:prstGeom>
            <a:solidFill>
              <a:srgbClr val="521F80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score_0_1"/>
            <p:cNvSpPr/>
            <p:nvPr/>
          </p:nvSpPr>
          <p:spPr>
            <a:xfrm>
              <a:off x="1046747" y="1768642"/>
              <a:ext cx="54142" cy="72189"/>
            </a:xfrm>
            <a:prstGeom prst="rect">
              <a:avLst/>
            </a:prstGeom>
            <a:solidFill>
              <a:srgbClr val="DCCDEA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score_0_2"/>
            <p:cNvSpPr/>
            <p:nvPr/>
          </p:nvSpPr>
          <p:spPr>
            <a:xfrm>
              <a:off x="1100889" y="1768642"/>
              <a:ext cx="54142" cy="72189"/>
            </a:xfrm>
            <a:prstGeom prst="rect">
              <a:avLst/>
            </a:prstGeom>
            <a:solidFill>
              <a:srgbClr val="F3ECF9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score_0_3"/>
            <p:cNvSpPr/>
            <p:nvPr/>
          </p:nvSpPr>
          <p:spPr>
            <a:xfrm>
              <a:off x="1155031" y="1768642"/>
              <a:ext cx="54142" cy="72189"/>
            </a:xfrm>
            <a:prstGeom prst="rect">
              <a:avLst/>
            </a:prstGeom>
            <a:solidFill>
              <a:srgbClr val="E2D3ED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3" name="score_1_0"/>
            <p:cNvSpPr/>
            <p:nvPr/>
          </p:nvSpPr>
          <p:spPr>
            <a:xfrm>
              <a:off x="992605" y="1840831"/>
              <a:ext cx="54142" cy="72189"/>
            </a:xfrm>
            <a:prstGeom prst="rect">
              <a:avLst/>
            </a:prstGeom>
            <a:solidFill>
              <a:srgbClr val="D8C3E7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score_1_1"/>
            <p:cNvSpPr/>
            <p:nvPr/>
          </p:nvSpPr>
          <p:spPr>
            <a:xfrm>
              <a:off x="1046747" y="1840831"/>
              <a:ext cx="54142" cy="72189"/>
            </a:xfrm>
            <a:prstGeom prst="rect">
              <a:avLst/>
            </a:prstGeom>
            <a:solidFill>
              <a:srgbClr val="30116C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5" name="score_1_2"/>
            <p:cNvSpPr/>
            <p:nvPr/>
          </p:nvSpPr>
          <p:spPr>
            <a:xfrm>
              <a:off x="1100889" y="1840831"/>
              <a:ext cx="54142" cy="72189"/>
            </a:xfrm>
            <a:prstGeom prst="rect">
              <a:avLst/>
            </a:prstGeom>
            <a:solidFill>
              <a:srgbClr val="130F30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score_1_3"/>
            <p:cNvSpPr/>
            <p:nvPr/>
          </p:nvSpPr>
          <p:spPr>
            <a:xfrm>
              <a:off x="1155031" y="1840831"/>
              <a:ext cx="54142" cy="72189"/>
            </a:xfrm>
            <a:prstGeom prst="rect">
              <a:avLst/>
            </a:prstGeom>
            <a:solidFill>
              <a:srgbClr val="F4EFF9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score_2_0"/>
            <p:cNvSpPr/>
            <p:nvPr/>
          </p:nvSpPr>
          <p:spPr>
            <a:xfrm>
              <a:off x="992605" y="1913021"/>
              <a:ext cx="54142" cy="72189"/>
            </a:xfrm>
            <a:prstGeom prst="rect">
              <a:avLst/>
            </a:prstGeom>
            <a:solidFill>
              <a:srgbClr val="FCFCFD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8" name="score_2_1"/>
            <p:cNvSpPr/>
            <p:nvPr/>
          </p:nvSpPr>
          <p:spPr>
            <a:xfrm>
              <a:off x="1046747" y="1913021"/>
              <a:ext cx="54142" cy="72189"/>
            </a:xfrm>
            <a:prstGeom prst="rect">
              <a:avLst/>
            </a:prstGeom>
            <a:solidFill>
              <a:srgbClr val="8D5FAC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score_2_2"/>
            <p:cNvSpPr/>
            <p:nvPr/>
          </p:nvSpPr>
          <p:spPr>
            <a:xfrm>
              <a:off x="1100889" y="1913021"/>
              <a:ext cx="54142" cy="72189"/>
            </a:xfrm>
            <a:prstGeom prst="rect">
              <a:avLst/>
            </a:prstGeom>
            <a:solidFill>
              <a:srgbClr val="D6C2E5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0" name="score_2_3"/>
            <p:cNvSpPr/>
            <p:nvPr/>
          </p:nvSpPr>
          <p:spPr>
            <a:xfrm>
              <a:off x="1155031" y="1913021"/>
              <a:ext cx="54142" cy="72189"/>
            </a:xfrm>
            <a:prstGeom prst="rect">
              <a:avLst/>
            </a:prstGeom>
            <a:solidFill>
              <a:srgbClr val="642F8A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score_3_0"/>
            <p:cNvSpPr/>
            <p:nvPr/>
          </p:nvSpPr>
          <p:spPr>
            <a:xfrm>
              <a:off x="992605" y="1985210"/>
              <a:ext cx="54142" cy="72189"/>
            </a:xfrm>
            <a:prstGeom prst="rect">
              <a:avLst/>
            </a:prstGeom>
            <a:solidFill>
              <a:srgbClr val="DAC7E9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score_3_1"/>
            <p:cNvSpPr/>
            <p:nvPr/>
          </p:nvSpPr>
          <p:spPr>
            <a:xfrm>
              <a:off x="1046747" y="1985210"/>
              <a:ext cx="54142" cy="72189"/>
            </a:xfrm>
            <a:prstGeom prst="rect">
              <a:avLst/>
            </a:prstGeom>
            <a:solidFill>
              <a:srgbClr val="FEFDFF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score_3_2"/>
            <p:cNvSpPr/>
            <p:nvPr/>
          </p:nvSpPr>
          <p:spPr>
            <a:xfrm>
              <a:off x="1100889" y="1985210"/>
              <a:ext cx="54142" cy="72189"/>
            </a:xfrm>
            <a:prstGeom prst="rect">
              <a:avLst/>
            </a:prstGeom>
            <a:solidFill>
              <a:srgbClr val="2F1166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score_3_3"/>
            <p:cNvSpPr/>
            <p:nvPr/>
          </p:nvSpPr>
          <p:spPr>
            <a:xfrm>
              <a:off x="1155031" y="1985210"/>
              <a:ext cx="54142" cy="72189"/>
            </a:xfrm>
            <a:prstGeom prst="rect">
              <a:avLst/>
            </a:prstGeom>
            <a:solidFill>
              <a:srgbClr val="7672A0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cap_0_0"/>
            <p:cNvSpPr/>
            <p:nvPr/>
          </p:nvSpPr>
          <p:spPr>
            <a:xfrm>
              <a:off x="992605" y="2150644"/>
              <a:ext cx="54142" cy="72189"/>
            </a:xfrm>
            <a:prstGeom prst="rect">
              <a:avLst/>
            </a:prstGeom>
            <a:solidFill>
              <a:srgbClr val="006E2D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cap_0_1"/>
            <p:cNvSpPr/>
            <p:nvPr/>
          </p:nvSpPr>
          <p:spPr>
            <a:xfrm>
              <a:off x="1046747" y="2150644"/>
              <a:ext cx="54142" cy="72189"/>
            </a:xfrm>
            <a:prstGeom prst="rect">
              <a:avLst/>
            </a:prstGeom>
            <a:solidFill>
              <a:srgbClr val="E1F2E1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cap_0_2"/>
            <p:cNvSpPr/>
            <p:nvPr/>
          </p:nvSpPr>
          <p:spPr>
            <a:xfrm>
              <a:off x="1100889" y="2150644"/>
              <a:ext cx="54142" cy="72189"/>
            </a:xfrm>
            <a:prstGeom prst="rect">
              <a:avLst/>
            </a:prstGeom>
            <a:solidFill>
              <a:srgbClr val="E6F5E6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cap_0_3"/>
            <p:cNvSpPr/>
            <p:nvPr/>
          </p:nvSpPr>
          <p:spPr>
            <a:xfrm>
              <a:off x="1155031" y="2150644"/>
              <a:ext cx="54142" cy="72189"/>
            </a:xfrm>
            <a:prstGeom prst="rect">
              <a:avLst/>
            </a:prstGeom>
            <a:solidFill>
              <a:srgbClr val="EEF8EE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cap_1_0"/>
            <p:cNvSpPr/>
            <p:nvPr/>
          </p:nvSpPr>
          <p:spPr>
            <a:xfrm>
              <a:off x="992605" y="2222834"/>
              <a:ext cx="54142" cy="72189"/>
            </a:xfrm>
            <a:prstGeom prst="rect">
              <a:avLst/>
            </a:prstGeom>
            <a:solidFill>
              <a:srgbClr val="CAE8CC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0" name="cap_1_1"/>
            <p:cNvSpPr/>
            <p:nvPr/>
          </p:nvSpPr>
          <p:spPr>
            <a:xfrm>
              <a:off x="1046747" y="2222834"/>
              <a:ext cx="54142" cy="72189"/>
            </a:xfrm>
            <a:prstGeom prst="rect">
              <a:avLst/>
            </a:prstGeom>
            <a:solidFill>
              <a:srgbClr val="01752E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cap_1_2"/>
            <p:cNvSpPr/>
            <p:nvPr/>
          </p:nvSpPr>
          <p:spPr>
            <a:xfrm>
              <a:off x="1100889" y="2222834"/>
              <a:ext cx="54142" cy="72189"/>
            </a:xfrm>
            <a:prstGeom prst="rect">
              <a:avLst/>
            </a:prstGeom>
            <a:solidFill>
              <a:srgbClr val="002900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cap_1_3"/>
            <p:cNvSpPr/>
            <p:nvPr/>
          </p:nvSpPr>
          <p:spPr>
            <a:xfrm>
              <a:off x="1155031" y="2222834"/>
              <a:ext cx="54142" cy="72189"/>
            </a:xfrm>
            <a:prstGeom prst="rect">
              <a:avLst/>
            </a:prstGeom>
            <a:solidFill>
              <a:srgbClr val="F2FBF2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3" name="cap_2_0"/>
            <p:cNvSpPr/>
            <p:nvPr/>
          </p:nvSpPr>
          <p:spPr>
            <a:xfrm>
              <a:off x="992605" y="2295023"/>
              <a:ext cx="54142" cy="72189"/>
            </a:xfrm>
            <a:prstGeom prst="rect">
              <a:avLst/>
            </a:prstGeom>
            <a:solidFill>
              <a:srgbClr val="F5FCF4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cap_2_1"/>
            <p:cNvSpPr/>
            <p:nvPr/>
          </p:nvSpPr>
          <p:spPr>
            <a:xfrm>
              <a:off x="1046747" y="2295023"/>
              <a:ext cx="54142" cy="72189"/>
            </a:xfrm>
            <a:prstGeom prst="rect">
              <a:avLst/>
            </a:prstGeom>
            <a:solidFill>
              <a:srgbClr val="91C893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cap_2_2"/>
            <p:cNvSpPr/>
            <p:nvPr/>
          </p:nvSpPr>
          <p:spPr>
            <a:xfrm>
              <a:off x="1100889" y="2295023"/>
              <a:ext cx="54142" cy="72189"/>
            </a:xfrm>
            <a:prstGeom prst="rect">
              <a:avLst/>
            </a:prstGeom>
            <a:solidFill>
              <a:srgbClr val="D6EDD7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cap_2_3"/>
            <p:cNvSpPr/>
            <p:nvPr/>
          </p:nvSpPr>
          <p:spPr>
            <a:xfrm>
              <a:off x="1155031" y="2295023"/>
              <a:ext cx="54142" cy="72189"/>
            </a:xfrm>
            <a:prstGeom prst="rect">
              <a:avLst/>
            </a:prstGeom>
            <a:solidFill>
              <a:srgbClr val="3BA746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cap_3_0"/>
            <p:cNvSpPr/>
            <p:nvPr/>
          </p:nvSpPr>
          <p:spPr>
            <a:xfrm>
              <a:off x="992605" y="2367213"/>
              <a:ext cx="54142" cy="72189"/>
            </a:xfrm>
            <a:prstGeom prst="rect">
              <a:avLst/>
            </a:prstGeom>
            <a:solidFill>
              <a:srgbClr val="E0F2E1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cap_3_1"/>
            <p:cNvSpPr/>
            <p:nvPr/>
          </p:nvSpPr>
          <p:spPr>
            <a:xfrm>
              <a:off x="1046747" y="2367213"/>
              <a:ext cx="54142" cy="72189"/>
            </a:xfrm>
            <a:prstGeom prst="rect">
              <a:avLst/>
            </a:prstGeom>
            <a:solidFill>
              <a:srgbClr val="F2FCF3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9" name="cap_3_2"/>
            <p:cNvSpPr/>
            <p:nvPr/>
          </p:nvSpPr>
          <p:spPr>
            <a:xfrm>
              <a:off x="1100889" y="2367213"/>
              <a:ext cx="54142" cy="72189"/>
            </a:xfrm>
            <a:prstGeom prst="rect">
              <a:avLst/>
            </a:prstGeom>
            <a:solidFill>
              <a:srgbClr val="027732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cap_3_3"/>
            <p:cNvSpPr/>
            <p:nvPr/>
          </p:nvSpPr>
          <p:spPr>
            <a:xfrm>
              <a:off x="1155031" y="2367213"/>
              <a:ext cx="54142" cy="72189"/>
            </a:xfrm>
            <a:prstGeom prst="rect">
              <a:avLst/>
            </a:prstGeom>
            <a:solidFill>
              <a:srgbClr val="2F823D"/>
            </a:solidFill>
            <a:ln w="2707">
              <a:solidFill>
                <a:srgbClr val="0062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9" name="module_stage3"/>
          <p:cNvGrpSpPr/>
          <p:nvPr/>
        </p:nvGrpSpPr>
        <p:grpSpPr>
          <a:xfrm>
            <a:off x="1952123" y="192505"/>
            <a:ext cx="797092" cy="2409323"/>
            <a:chOff x="1952123" y="192505"/>
            <a:chExt cx="797092" cy="2409323"/>
          </a:xfrm>
        </p:grpSpPr>
        <p:sp>
          <p:nvSpPr>
            <p:cNvPr id="150" name="stage3_border"/>
            <p:cNvSpPr/>
            <p:nvPr/>
          </p:nvSpPr>
          <p:spPr>
            <a:xfrm>
              <a:off x="1952123" y="192505"/>
              <a:ext cx="797092" cy="2409323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5414">
              <a:solidFill>
                <a:srgbClr val="006B2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1" name="badge3"/>
            <p:cNvSpPr/>
            <p:nvPr/>
          </p:nvSpPr>
          <p:spPr>
            <a:xfrm>
              <a:off x="2060407" y="282742"/>
              <a:ext cx="156410" cy="168442"/>
            </a:xfrm>
            <a:prstGeom prst="ellipse">
              <a:avLst/>
            </a:prstGeom>
            <a:solidFill>
              <a:srgbClr val="006B2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2" name="number3"/>
            <p:cNvSpPr txBox="1"/>
            <p:nvPr/>
          </p:nvSpPr>
          <p:spPr>
            <a:xfrm>
              <a:off x="2060407" y="285750"/>
              <a:ext cx="156410" cy="15641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8" b="0" i="0">
                  <a:solidFill>
                    <a:srgbClr val="FFFFFF"/>
                  </a:solidFill>
                  <a:latin typeface="Liberation Serif"/>
                </a:rPr>
                <a:t>3</a:t>
              </a:r>
            </a:p>
          </p:txBody>
        </p:sp>
        <p:sp>
          <p:nvSpPr>
            <p:cNvPr id="153" name="title3"/>
            <p:cNvSpPr txBox="1"/>
            <p:nvPr/>
          </p:nvSpPr>
          <p:spPr>
            <a:xfrm>
              <a:off x="2252913" y="300789"/>
              <a:ext cx="463215" cy="228600"/>
            </a:xfrm>
            <a:prstGeom prst="rect">
              <a:avLst/>
            </a:prstGeom>
            <a:noFill/>
          </p:spPr>
          <p:txBody>
            <a:bodyPr wrap="none" lIns="9144" rIns="9144" tIns="9144" bIns="9144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0" b="1">
                  <a:solidFill>
                    <a:srgbClr val="125529"/>
                  </a:solidFill>
                  <a:latin typeface="Times New Roman"/>
                </a:rPr>
                <a:t>Constraints</a:t>
              </a:r>
            </a:p>
          </p:txBody>
        </p:sp>
      </p:grpSp>
      <p:grpSp>
        <p:nvGrpSpPr>
          <p:cNvPr id="253" name="module_stage4"/>
          <p:cNvGrpSpPr/>
          <p:nvPr/>
        </p:nvGrpSpPr>
        <p:grpSpPr>
          <a:xfrm>
            <a:off x="2827421" y="192505"/>
            <a:ext cx="1170071" cy="2409323"/>
            <a:chOff x="2827421" y="192505"/>
            <a:chExt cx="1170071" cy="2409323"/>
          </a:xfrm>
        </p:grpSpPr>
        <p:sp>
          <p:nvSpPr>
            <p:cNvPr id="254" name="stage4_border"/>
            <p:cNvSpPr/>
            <p:nvPr/>
          </p:nvSpPr>
          <p:spPr>
            <a:xfrm>
              <a:off x="2827421" y="192505"/>
              <a:ext cx="1170071" cy="2409323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5414">
              <a:solidFill>
                <a:srgbClr val="006B2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5" name="badge4"/>
            <p:cNvSpPr/>
            <p:nvPr/>
          </p:nvSpPr>
          <p:spPr>
            <a:xfrm>
              <a:off x="2935705" y="282742"/>
              <a:ext cx="156410" cy="168442"/>
            </a:xfrm>
            <a:prstGeom prst="ellipse">
              <a:avLst/>
            </a:prstGeom>
            <a:solidFill>
              <a:srgbClr val="006B2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6" name="number4"/>
            <p:cNvSpPr txBox="1"/>
            <p:nvPr/>
          </p:nvSpPr>
          <p:spPr>
            <a:xfrm>
              <a:off x="2935705" y="285750"/>
              <a:ext cx="156410" cy="15641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8" b="0" i="0">
                  <a:solidFill>
                    <a:srgbClr val="FFFFFF"/>
                  </a:solidFill>
                  <a:latin typeface="Liberation Serif"/>
                </a:rPr>
                <a:t>4</a:t>
              </a:r>
            </a:p>
          </p:txBody>
        </p:sp>
        <p:sp>
          <p:nvSpPr>
            <p:cNvPr id="257" name="title4"/>
            <p:cNvSpPr txBox="1"/>
            <p:nvPr/>
          </p:nvSpPr>
          <p:spPr>
            <a:xfrm>
              <a:off x="3128210" y="300789"/>
              <a:ext cx="836194" cy="147386"/>
            </a:xfrm>
            <a:prstGeom prst="rect">
              <a:avLst/>
            </a:prstGeom>
            <a:noFill/>
          </p:spPr>
          <p:txBody>
            <a:bodyPr wrap="none" lIns="9144" rIns="9144" tIns="9144" bIns="9144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b="1">
                  <a:solidFill>
                    <a:srgbClr val="125529"/>
                  </a:solidFill>
                  <a:latin typeface="Times New Roman"/>
                </a:rPr>
                <a:t>Flow projection</a:t>
              </a:r>
            </a:p>
          </p:txBody>
        </p:sp>
        <p:sp>
          <p:nvSpPr>
            <p:cNvPr id="263" name="kernelgrid_0_0"/>
            <p:cNvSpPr/>
            <p:nvPr/>
          </p:nvSpPr>
          <p:spPr>
            <a:xfrm>
              <a:off x="2899610" y="1422734"/>
              <a:ext cx="54142" cy="70685"/>
            </a:xfrm>
            <a:prstGeom prst="rect">
              <a:avLst/>
            </a:prstGeom>
            <a:solidFill>
              <a:srgbClr val="3B116C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4" name="kernelgrid_0_1"/>
            <p:cNvSpPr/>
            <p:nvPr/>
          </p:nvSpPr>
          <p:spPr>
            <a:xfrm>
              <a:off x="2953752" y="1422734"/>
              <a:ext cx="54142" cy="70685"/>
            </a:xfrm>
            <a:prstGeom prst="rect">
              <a:avLst/>
            </a:prstGeom>
            <a:solidFill>
              <a:srgbClr val="D0B9E3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5" name="kernelgrid_0_2"/>
            <p:cNvSpPr/>
            <p:nvPr/>
          </p:nvSpPr>
          <p:spPr>
            <a:xfrm>
              <a:off x="3007894" y="1422734"/>
              <a:ext cx="54142" cy="70685"/>
            </a:xfrm>
            <a:prstGeom prst="rect">
              <a:avLst/>
            </a:prstGeom>
            <a:solidFill>
              <a:srgbClr val="EEE5F5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6" name="kernelgrid_0_3"/>
            <p:cNvSpPr/>
            <p:nvPr/>
          </p:nvSpPr>
          <p:spPr>
            <a:xfrm>
              <a:off x="3062036" y="1422734"/>
              <a:ext cx="54142" cy="70685"/>
            </a:xfrm>
            <a:prstGeom prst="rect">
              <a:avLst/>
            </a:prstGeom>
            <a:solidFill>
              <a:srgbClr val="F0E8F7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7" name="kernelgrid_1_0"/>
            <p:cNvSpPr/>
            <p:nvPr/>
          </p:nvSpPr>
          <p:spPr>
            <a:xfrm>
              <a:off x="2899610" y="1493419"/>
              <a:ext cx="54142" cy="70685"/>
            </a:xfrm>
            <a:prstGeom prst="rect">
              <a:avLst/>
            </a:prstGeom>
            <a:solidFill>
              <a:srgbClr val="CCB3DD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8" name="kernelgrid_1_1"/>
            <p:cNvSpPr/>
            <p:nvPr/>
          </p:nvSpPr>
          <p:spPr>
            <a:xfrm>
              <a:off x="2953752" y="1493419"/>
              <a:ext cx="54142" cy="70685"/>
            </a:xfrm>
            <a:prstGeom prst="rect">
              <a:avLst/>
            </a:prstGeom>
            <a:solidFill>
              <a:srgbClr val="2D0E63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9" name="kernelgrid_1_2"/>
            <p:cNvSpPr/>
            <p:nvPr/>
          </p:nvSpPr>
          <p:spPr>
            <a:xfrm>
              <a:off x="3007894" y="1493419"/>
              <a:ext cx="54142" cy="70685"/>
            </a:xfrm>
            <a:prstGeom prst="rect">
              <a:avLst/>
            </a:prstGeom>
            <a:solidFill>
              <a:srgbClr val="483C7B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0" name="kernelgrid_1_3"/>
            <p:cNvSpPr/>
            <p:nvPr/>
          </p:nvSpPr>
          <p:spPr>
            <a:xfrm>
              <a:off x="3062036" y="1493419"/>
              <a:ext cx="54142" cy="70685"/>
            </a:xfrm>
            <a:prstGeom prst="rect">
              <a:avLst/>
            </a:prstGeom>
            <a:solidFill>
              <a:srgbClr val="EAE1F2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1" name="kernelgrid_2_0"/>
            <p:cNvSpPr/>
            <p:nvPr/>
          </p:nvSpPr>
          <p:spPr>
            <a:xfrm>
              <a:off x="2899610" y="1564105"/>
              <a:ext cx="54142" cy="70685"/>
            </a:xfrm>
            <a:prstGeom prst="rect">
              <a:avLst/>
            </a:prstGeom>
            <a:solidFill>
              <a:srgbClr val="FFFFFE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2" name="kernelgrid_2_1"/>
            <p:cNvSpPr/>
            <p:nvPr/>
          </p:nvSpPr>
          <p:spPr>
            <a:xfrm>
              <a:off x="2953752" y="1564105"/>
              <a:ext cx="54142" cy="70685"/>
            </a:xfrm>
            <a:prstGeom prst="rect">
              <a:avLst/>
            </a:prstGeom>
            <a:solidFill>
              <a:srgbClr val="7D4B9F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3" name="kernelgrid_2_2"/>
            <p:cNvSpPr/>
            <p:nvPr/>
          </p:nvSpPr>
          <p:spPr>
            <a:xfrm>
              <a:off x="3007894" y="1564105"/>
              <a:ext cx="54142" cy="70685"/>
            </a:xfrm>
            <a:prstGeom prst="rect">
              <a:avLst/>
            </a:prstGeom>
            <a:solidFill>
              <a:srgbClr val="E9D7F3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4" name="kernelgrid_2_3"/>
            <p:cNvSpPr/>
            <p:nvPr/>
          </p:nvSpPr>
          <p:spPr>
            <a:xfrm>
              <a:off x="3062036" y="1564105"/>
              <a:ext cx="54142" cy="70685"/>
            </a:xfrm>
            <a:prstGeom prst="rect">
              <a:avLst/>
            </a:prstGeom>
            <a:solidFill>
              <a:srgbClr val="5C2885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5" name="kernelgrid_3_0"/>
            <p:cNvSpPr/>
            <p:nvPr/>
          </p:nvSpPr>
          <p:spPr>
            <a:xfrm>
              <a:off x="2899610" y="1634790"/>
              <a:ext cx="54142" cy="70685"/>
            </a:xfrm>
            <a:prstGeom prst="rect">
              <a:avLst/>
            </a:prstGeom>
            <a:solidFill>
              <a:srgbClr val="D3BAE2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6" name="kernelgrid_3_1"/>
            <p:cNvSpPr/>
            <p:nvPr/>
          </p:nvSpPr>
          <p:spPr>
            <a:xfrm>
              <a:off x="2953752" y="1634790"/>
              <a:ext cx="54142" cy="70685"/>
            </a:xfrm>
            <a:prstGeom prst="rect">
              <a:avLst/>
            </a:prstGeom>
            <a:solidFill>
              <a:srgbClr val="FBFBFE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7" name="kernelgrid_3_2"/>
            <p:cNvSpPr/>
            <p:nvPr/>
          </p:nvSpPr>
          <p:spPr>
            <a:xfrm>
              <a:off x="3007894" y="1634790"/>
              <a:ext cx="54142" cy="70685"/>
            </a:xfrm>
            <a:prstGeom prst="rect">
              <a:avLst/>
            </a:prstGeom>
            <a:solidFill>
              <a:srgbClr val="301166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8" name="kernelgrid_3_3"/>
            <p:cNvSpPr/>
            <p:nvPr/>
          </p:nvSpPr>
          <p:spPr>
            <a:xfrm>
              <a:off x="3062036" y="1634790"/>
              <a:ext cx="54142" cy="70685"/>
            </a:xfrm>
            <a:prstGeom prst="rect">
              <a:avLst/>
            </a:prstGeom>
            <a:solidFill>
              <a:srgbClr val="F9F4FD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9" name="rowgrid_0_0"/>
            <p:cNvSpPr/>
            <p:nvPr/>
          </p:nvSpPr>
          <p:spPr>
            <a:xfrm>
              <a:off x="3263565" y="1398671"/>
              <a:ext cx="64669" cy="75949"/>
            </a:xfrm>
            <a:prstGeom prst="rect">
              <a:avLst/>
            </a:prstGeom>
            <a:solidFill>
              <a:srgbClr val="4E1C7F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0" name="rowgrid_0_1"/>
            <p:cNvSpPr/>
            <p:nvPr/>
          </p:nvSpPr>
          <p:spPr>
            <a:xfrm>
              <a:off x="3328235" y="1398671"/>
              <a:ext cx="64669" cy="75949"/>
            </a:xfrm>
            <a:prstGeom prst="rect">
              <a:avLst/>
            </a:prstGeom>
            <a:solidFill>
              <a:srgbClr val="C7AAD9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1" name="rowgrid_1_0"/>
            <p:cNvSpPr/>
            <p:nvPr/>
          </p:nvSpPr>
          <p:spPr>
            <a:xfrm>
              <a:off x="3263565" y="1474620"/>
              <a:ext cx="64669" cy="75949"/>
            </a:xfrm>
            <a:prstGeom prst="rect">
              <a:avLst/>
            </a:prstGeom>
            <a:solidFill>
              <a:srgbClr val="4A187A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2" name="rowgrid_1_1"/>
            <p:cNvSpPr/>
            <p:nvPr/>
          </p:nvSpPr>
          <p:spPr>
            <a:xfrm>
              <a:off x="3328235" y="1474620"/>
              <a:ext cx="64669" cy="75949"/>
            </a:xfrm>
            <a:prstGeom prst="rect">
              <a:avLst/>
            </a:prstGeom>
            <a:solidFill>
              <a:srgbClr val="C5A9D7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3" name="rowgrid_2_0"/>
            <p:cNvSpPr/>
            <p:nvPr/>
          </p:nvSpPr>
          <p:spPr>
            <a:xfrm>
              <a:off x="3263565" y="1550569"/>
              <a:ext cx="64669" cy="75949"/>
            </a:xfrm>
            <a:prstGeom prst="rect">
              <a:avLst/>
            </a:prstGeom>
            <a:solidFill>
              <a:srgbClr val="3C1069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4" name="rowgrid_2_1"/>
            <p:cNvSpPr/>
            <p:nvPr/>
          </p:nvSpPr>
          <p:spPr>
            <a:xfrm>
              <a:off x="3328235" y="1550569"/>
              <a:ext cx="64669" cy="75949"/>
            </a:xfrm>
            <a:prstGeom prst="rect">
              <a:avLst/>
            </a:prstGeom>
            <a:solidFill>
              <a:srgbClr val="BE9DD3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5" name="rowgrid_3_0"/>
            <p:cNvSpPr/>
            <p:nvPr/>
          </p:nvSpPr>
          <p:spPr>
            <a:xfrm>
              <a:off x="3263565" y="1626519"/>
              <a:ext cx="64669" cy="75949"/>
            </a:xfrm>
            <a:prstGeom prst="rect">
              <a:avLst/>
            </a:prstGeom>
            <a:solidFill>
              <a:srgbClr val="531C7F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6" name="rowgrid_3_1"/>
            <p:cNvSpPr/>
            <p:nvPr/>
          </p:nvSpPr>
          <p:spPr>
            <a:xfrm>
              <a:off x="3328235" y="1626519"/>
              <a:ext cx="64669" cy="75949"/>
            </a:xfrm>
            <a:prstGeom prst="rect">
              <a:avLst/>
            </a:prstGeom>
            <a:solidFill>
              <a:srgbClr val="BD98D4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7" name="colgrid_0_0"/>
            <p:cNvSpPr/>
            <p:nvPr/>
          </p:nvSpPr>
          <p:spPr>
            <a:xfrm>
              <a:off x="3528260" y="1398671"/>
              <a:ext cx="105276" cy="75949"/>
            </a:xfrm>
            <a:prstGeom prst="rect">
              <a:avLst/>
            </a:prstGeom>
            <a:solidFill>
              <a:srgbClr val="E5D8ED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8" name="colgrid_1_0"/>
            <p:cNvSpPr/>
            <p:nvPr/>
          </p:nvSpPr>
          <p:spPr>
            <a:xfrm>
              <a:off x="3528260" y="1474620"/>
              <a:ext cx="105276" cy="75949"/>
            </a:xfrm>
            <a:prstGeom prst="rect">
              <a:avLst/>
            </a:prstGeom>
            <a:solidFill>
              <a:srgbClr val="602A88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9" name="colgrid_2_0"/>
            <p:cNvSpPr/>
            <p:nvPr/>
          </p:nvSpPr>
          <p:spPr>
            <a:xfrm>
              <a:off x="3528260" y="1550569"/>
              <a:ext cx="105276" cy="75949"/>
            </a:xfrm>
            <a:prstGeom prst="rect">
              <a:avLst/>
            </a:prstGeom>
            <a:solidFill>
              <a:srgbClr val="E9DFF0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0" name="colgrid_3_0"/>
            <p:cNvSpPr/>
            <p:nvPr/>
          </p:nvSpPr>
          <p:spPr>
            <a:xfrm>
              <a:off x="3528260" y="1626519"/>
              <a:ext cx="105276" cy="75949"/>
            </a:xfrm>
            <a:prstGeom prst="rect">
              <a:avLst/>
            </a:prstGeom>
            <a:solidFill>
              <a:srgbClr val="632C8A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1" name="projectedgrid_0_0"/>
            <p:cNvSpPr/>
            <p:nvPr/>
          </p:nvSpPr>
          <p:spPr>
            <a:xfrm>
              <a:off x="3756860" y="1410702"/>
              <a:ext cx="49630" cy="73693"/>
            </a:xfrm>
            <a:prstGeom prst="rect">
              <a:avLst/>
            </a:prstGeom>
            <a:solidFill>
              <a:srgbClr val="4B1A77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2" name="projectedgrid_0_1"/>
            <p:cNvSpPr/>
            <p:nvPr/>
          </p:nvSpPr>
          <p:spPr>
            <a:xfrm>
              <a:off x="3806490" y="1410702"/>
              <a:ext cx="49630" cy="73693"/>
            </a:xfrm>
            <a:prstGeom prst="rect">
              <a:avLst/>
            </a:prstGeom>
            <a:solidFill>
              <a:srgbClr val="D1BCE2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3" name="projectedgrid_0_2"/>
            <p:cNvSpPr/>
            <p:nvPr/>
          </p:nvSpPr>
          <p:spPr>
            <a:xfrm>
              <a:off x="3856121" y="1410702"/>
              <a:ext cx="49630" cy="73693"/>
            </a:xfrm>
            <a:prstGeom prst="rect">
              <a:avLst/>
            </a:prstGeom>
            <a:solidFill>
              <a:srgbClr val="EEE5F5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4" name="projectedgrid_0_3"/>
            <p:cNvSpPr/>
            <p:nvPr/>
          </p:nvSpPr>
          <p:spPr>
            <a:xfrm>
              <a:off x="3905751" y="1410702"/>
              <a:ext cx="49630" cy="73693"/>
            </a:xfrm>
            <a:prstGeom prst="rect">
              <a:avLst/>
            </a:prstGeom>
            <a:solidFill>
              <a:srgbClr val="ECE1F4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5" name="projectedgrid_1_0"/>
            <p:cNvSpPr/>
            <p:nvPr/>
          </p:nvSpPr>
          <p:spPr>
            <a:xfrm>
              <a:off x="3756860" y="1484396"/>
              <a:ext cx="49630" cy="73693"/>
            </a:xfrm>
            <a:prstGeom prst="rect">
              <a:avLst/>
            </a:prstGeom>
            <a:solidFill>
              <a:srgbClr val="D5C2E4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6" name="projectedgrid_1_1"/>
            <p:cNvSpPr/>
            <p:nvPr/>
          </p:nvSpPr>
          <p:spPr>
            <a:xfrm>
              <a:off x="3806490" y="1484396"/>
              <a:ext cx="49630" cy="73693"/>
            </a:xfrm>
            <a:prstGeom prst="rect">
              <a:avLst/>
            </a:prstGeom>
            <a:solidFill>
              <a:srgbClr val="2C0F63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7" name="projectedgrid_1_2"/>
            <p:cNvSpPr/>
            <p:nvPr/>
          </p:nvSpPr>
          <p:spPr>
            <a:xfrm>
              <a:off x="3856121" y="1484396"/>
              <a:ext cx="49630" cy="73693"/>
            </a:xfrm>
            <a:prstGeom prst="rect">
              <a:avLst/>
            </a:prstGeom>
            <a:solidFill>
              <a:srgbClr val="FCFAFF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8" name="projectedgrid_1_3"/>
            <p:cNvSpPr/>
            <p:nvPr/>
          </p:nvSpPr>
          <p:spPr>
            <a:xfrm>
              <a:off x="3905751" y="1484396"/>
              <a:ext cx="49630" cy="73693"/>
            </a:xfrm>
            <a:prstGeom prst="rect">
              <a:avLst/>
            </a:prstGeom>
            <a:solidFill>
              <a:srgbClr val="EADEF3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9" name="projectedgrid_2_0"/>
            <p:cNvSpPr/>
            <p:nvPr/>
          </p:nvSpPr>
          <p:spPr>
            <a:xfrm>
              <a:off x="3756860" y="1558089"/>
              <a:ext cx="49630" cy="73693"/>
            </a:xfrm>
            <a:prstGeom prst="rect">
              <a:avLst/>
            </a:prstGeom>
            <a:solidFill>
              <a:srgbClr val="FEFEFE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0" name="projectedgrid_2_1"/>
            <p:cNvSpPr/>
            <p:nvPr/>
          </p:nvSpPr>
          <p:spPr>
            <a:xfrm>
              <a:off x="3806490" y="1558089"/>
              <a:ext cx="49630" cy="73693"/>
            </a:xfrm>
            <a:prstGeom prst="rect">
              <a:avLst/>
            </a:prstGeom>
            <a:solidFill>
              <a:srgbClr val="804EA1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1" name="projectedgrid_2_2"/>
            <p:cNvSpPr/>
            <p:nvPr/>
          </p:nvSpPr>
          <p:spPr>
            <a:xfrm>
              <a:off x="3856121" y="1558089"/>
              <a:ext cx="49630" cy="73693"/>
            </a:xfrm>
            <a:prstGeom prst="rect">
              <a:avLst/>
            </a:prstGeom>
            <a:solidFill>
              <a:srgbClr val="CBB6E0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2" name="projectedgrid_2_3"/>
            <p:cNvSpPr/>
            <p:nvPr/>
          </p:nvSpPr>
          <p:spPr>
            <a:xfrm>
              <a:off x="3905751" y="1558089"/>
              <a:ext cx="49630" cy="73693"/>
            </a:xfrm>
            <a:prstGeom prst="rect">
              <a:avLst/>
            </a:prstGeom>
            <a:solidFill>
              <a:srgbClr val="61298F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3" name="projectedgrid_3_0"/>
            <p:cNvSpPr/>
            <p:nvPr/>
          </p:nvSpPr>
          <p:spPr>
            <a:xfrm>
              <a:off x="3756860" y="1631782"/>
              <a:ext cx="49630" cy="73693"/>
            </a:xfrm>
            <a:prstGeom prst="rect">
              <a:avLst/>
            </a:prstGeom>
            <a:solidFill>
              <a:srgbClr val="D2BBE3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4" name="projectedgrid_3_1"/>
            <p:cNvSpPr/>
            <p:nvPr/>
          </p:nvSpPr>
          <p:spPr>
            <a:xfrm>
              <a:off x="3806490" y="1631782"/>
              <a:ext cx="49630" cy="73693"/>
            </a:xfrm>
            <a:prstGeom prst="rect">
              <a:avLst/>
            </a:prstGeom>
            <a:solidFill>
              <a:srgbClr val="FFFFFF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5" name="projectedgrid_3_2"/>
            <p:cNvSpPr/>
            <p:nvPr/>
          </p:nvSpPr>
          <p:spPr>
            <a:xfrm>
              <a:off x="3856121" y="1631782"/>
              <a:ext cx="49630" cy="73693"/>
            </a:xfrm>
            <a:prstGeom prst="rect">
              <a:avLst/>
            </a:prstGeom>
            <a:solidFill>
              <a:srgbClr val="2E1163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6" name="projectedgrid_3_3"/>
            <p:cNvSpPr/>
            <p:nvPr/>
          </p:nvSpPr>
          <p:spPr>
            <a:xfrm>
              <a:off x="3905751" y="1631782"/>
              <a:ext cx="49630" cy="73693"/>
            </a:xfrm>
            <a:prstGeom prst="rect">
              <a:avLst/>
            </a:prstGeom>
            <a:solidFill>
              <a:srgbClr val="EFE6F7"/>
            </a:solidFill>
            <a:ln w="2707">
              <a:solidFill>
                <a:srgbClr val="50227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7" name="iterarrow0"/>
            <p:cNvSpPr/>
            <p:nvPr/>
          </p:nvSpPr>
          <p:spPr>
            <a:xfrm>
              <a:off x="3152273" y="1546057"/>
              <a:ext cx="78205" cy="30"/>
            </a:xfrm>
            <a:custGeom>
              <a:avLst/>
              <a:gdLst/>
              <a:ahLst/>
              <a:cxnLst/>
              <a:rect l="0" t="0" r="r" b="b"/>
              <a:pathLst>
                <a:path w="78205" h="1" fill="none">
                  <a:moveTo>
                    <a:pt x="0" y="0"/>
                  </a:moveTo>
                  <a:lnTo>
                    <a:pt x="78205" y="0"/>
                  </a:lnTo>
                </a:path>
              </a:pathLst>
            </a:custGeom>
            <a:noFill/>
            <a:ln w="18047">
              <a:solidFill>
                <a:srgbClr val="00621C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8" name="iterarrow1"/>
            <p:cNvSpPr/>
            <p:nvPr/>
          </p:nvSpPr>
          <p:spPr>
            <a:xfrm>
              <a:off x="3413960" y="1546057"/>
              <a:ext cx="78205" cy="30"/>
            </a:xfrm>
            <a:custGeom>
              <a:avLst/>
              <a:gdLst/>
              <a:ahLst/>
              <a:cxnLst/>
              <a:rect l="0" t="0" r="r" b="b"/>
              <a:pathLst>
                <a:path w="78205" h="1" fill="none">
                  <a:moveTo>
                    <a:pt x="0" y="0"/>
                  </a:moveTo>
                  <a:lnTo>
                    <a:pt x="78205" y="0"/>
                  </a:lnTo>
                </a:path>
              </a:pathLst>
            </a:custGeom>
            <a:noFill/>
            <a:ln w="18047">
              <a:solidFill>
                <a:srgbClr val="00621C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9" name="iterarrow2"/>
            <p:cNvSpPr/>
            <p:nvPr/>
          </p:nvSpPr>
          <p:spPr>
            <a:xfrm>
              <a:off x="3657600" y="1546057"/>
              <a:ext cx="78205" cy="30"/>
            </a:xfrm>
            <a:custGeom>
              <a:avLst/>
              <a:gdLst/>
              <a:ahLst/>
              <a:cxnLst/>
              <a:rect l="0" t="0" r="r" b="b"/>
              <a:pathLst>
                <a:path w="78205" h="1" fill="none">
                  <a:moveTo>
                    <a:pt x="0" y="0"/>
                  </a:moveTo>
                  <a:lnTo>
                    <a:pt x="78205" y="0"/>
                  </a:lnTo>
                </a:path>
              </a:pathLst>
            </a:custGeom>
            <a:noFill/>
            <a:ln w="18047">
              <a:solidFill>
                <a:srgbClr val="00621C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51" name="module_stage5"/>
          <p:cNvGrpSpPr/>
          <p:nvPr/>
        </p:nvGrpSpPr>
        <p:grpSpPr>
          <a:xfrm>
            <a:off x="4066673" y="192505"/>
            <a:ext cx="914400" cy="2409323"/>
            <a:chOff x="4066673" y="192505"/>
            <a:chExt cx="914400" cy="2409323"/>
          </a:xfrm>
        </p:grpSpPr>
        <p:sp>
          <p:nvSpPr>
            <p:cNvPr id="352" name="stage5_border"/>
            <p:cNvSpPr/>
            <p:nvPr/>
          </p:nvSpPr>
          <p:spPr>
            <a:xfrm>
              <a:off x="4066673" y="192505"/>
              <a:ext cx="914400" cy="2409323"/>
            </a:xfrm>
            <a:prstGeom prst="roundRect">
              <a:avLst>
                <a:gd name="adj" fmla="val 2500"/>
              </a:avLst>
            </a:prstGeom>
            <a:solidFill>
              <a:srgbClr val="FFFFFF"/>
            </a:solidFill>
            <a:ln w="5414">
              <a:solidFill>
                <a:srgbClr val="FF58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3" name="badge5"/>
            <p:cNvSpPr/>
            <p:nvPr/>
          </p:nvSpPr>
          <p:spPr>
            <a:xfrm>
              <a:off x="4174957" y="282742"/>
              <a:ext cx="156410" cy="168442"/>
            </a:xfrm>
            <a:prstGeom prst="ellipse">
              <a:avLst/>
            </a:prstGeom>
            <a:solidFill>
              <a:srgbClr val="FF5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4" name="number5"/>
            <p:cNvSpPr txBox="1"/>
            <p:nvPr/>
          </p:nvSpPr>
          <p:spPr>
            <a:xfrm>
              <a:off x="4174957" y="285750"/>
              <a:ext cx="156410" cy="15641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8" b="0" i="0">
                  <a:solidFill>
                    <a:srgbClr val="FFFFFF"/>
                  </a:solidFill>
                  <a:latin typeface="Liberation Serif"/>
                </a:rPr>
                <a:t>5</a:t>
              </a:r>
            </a:p>
          </p:txBody>
        </p:sp>
        <p:sp>
          <p:nvSpPr>
            <p:cNvPr id="355" name="title5"/>
            <p:cNvSpPr txBox="1"/>
            <p:nvPr/>
          </p:nvSpPr>
          <p:spPr>
            <a:xfrm>
              <a:off x="4367463" y="300789"/>
              <a:ext cx="580523" cy="147386"/>
            </a:xfrm>
            <a:prstGeom prst="rect">
              <a:avLst/>
            </a:prstGeom>
            <a:noFill/>
          </p:spPr>
          <p:txBody>
            <a:bodyPr wrap="none" lIns="9144" rIns="9144" tIns="9144" bIns="9144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0" b="1">
                  <a:solidFill>
                    <a:srgbClr val="E88B10"/>
                  </a:solidFill>
                  <a:latin typeface="Times New Roman"/>
                </a:rPr>
                <a:t>Priced actor</a:t>
              </a:r>
            </a:p>
          </p:txBody>
        </p:sp>
        <p:sp>
          <p:nvSpPr>
            <p:cNvPr id="356" name="weights"/>
            <p:cNvSpPr txBox="1"/>
            <p:nvPr/>
          </p:nvSpPr>
          <p:spPr>
            <a:xfrm>
              <a:off x="4265194" y="550444"/>
              <a:ext cx="478255" cy="129339"/>
            </a:xfrm>
            <a:prstGeom prst="rect">
              <a:avLst/>
            </a:prstGeom>
            <a:noFill/>
          </p:spPr>
          <p:txBody>
            <a:bodyPr wrap="none" lIns="9144" rIns="9144" tIns="9144" bIns="9144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 b="1">
                  <a:solidFill>
                    <a:srgbClr val="E88B10"/>
                  </a:solidFill>
                  <a:latin typeface="Times New Roman"/>
                </a:rPr>
                <a:t>prices + feedback</a:t>
              </a:r>
            </a:p>
          </p:txBody>
        </p:sp>
        <p:sp>
          <p:nvSpPr>
            <p:cNvPr id="357" name="weight_box"/>
            <p:cNvSpPr/>
            <p:nvPr/>
          </p:nvSpPr>
          <p:spPr>
            <a:xfrm>
              <a:off x="4114800" y="694944"/>
              <a:ext cx="841248" cy="347472"/>
            </a:xfrm>
            <a:prstGeom prst="roundRect">
              <a:avLst>
                <a:gd name="adj" fmla="val 2500"/>
              </a:avLst>
            </a:prstGeom>
            <a:solidFill>
              <a:srgbClr val="FFF6ED"/>
            </a:solidFill>
            <a:ln w="3910">
              <a:solidFill>
                <a:srgbClr val="FF58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9" name="ppo_box"/>
            <p:cNvSpPr/>
            <p:nvPr/>
          </p:nvSpPr>
          <p:spPr>
            <a:xfrm>
              <a:off x="4096512" y="1353312"/>
              <a:ext cx="859536" cy="713232"/>
            </a:xfrm>
            <a:prstGeom prst="roundRect">
              <a:avLst>
                <a:gd name="adj" fmla="val 2500"/>
              </a:avLst>
            </a:prstGeom>
            <a:solidFill>
              <a:srgbClr val="FFF6ED"/>
            </a:solidFill>
            <a:ln w="3910">
              <a:solidFill>
                <a:srgbClr val="FF58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0" name="actor_down"/>
            <p:cNvSpPr/>
            <p:nvPr/>
          </p:nvSpPr>
          <p:spPr>
            <a:xfrm>
              <a:off x="4517857" y="1993392"/>
              <a:ext cx="30" cy="146304"/>
            </a:xfrm>
            <a:custGeom>
              <a:avLst/>
              <a:gdLst/>
              <a:ahLst/>
              <a:cxnLst/>
              <a:rect l="0" t="0" r="r" b="b"/>
              <a:pathLst>
                <a:path w="1" h="147386" fill="none">
                  <a:moveTo>
                    <a:pt x="0" y="0"/>
                  </a:moveTo>
                  <a:lnTo>
                    <a:pt x="0" y="147386"/>
                  </a:lnTo>
                </a:path>
              </a:pathLst>
            </a:custGeom>
            <a:noFill/>
            <a:ln w="9023">
              <a:solidFill>
                <a:srgbClr val="FF580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61" name="robot_next" descr="robot_next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14800" y="2219826"/>
              <a:ext cx="138363" cy="246647"/>
            </a:xfrm>
            <a:prstGeom prst="rect">
              <a:avLst/>
            </a:prstGeom>
          </p:spPr>
        </p:pic>
        <p:sp>
          <p:nvSpPr>
            <p:cNvPr id="362" name="nexttraj"/>
            <p:cNvSpPr/>
            <p:nvPr/>
          </p:nvSpPr>
          <p:spPr>
            <a:xfrm>
              <a:off x="4331368" y="2216818"/>
              <a:ext cx="571500" cy="246647"/>
            </a:xfrm>
            <a:custGeom>
              <a:avLst/>
              <a:gdLst/>
              <a:ahLst/>
              <a:cxnLst/>
              <a:rect l="0" t="0" r="r" b="b"/>
              <a:pathLst>
                <a:path w="571500" h="246647" fill="none">
                  <a:moveTo>
                    <a:pt x="0" y="246647"/>
                  </a:moveTo>
                  <a:lnTo>
                    <a:pt x="111292" y="216568"/>
                  </a:lnTo>
                  <a:lnTo>
                    <a:pt x="204536" y="141371"/>
                  </a:lnTo>
                  <a:lnTo>
                    <a:pt x="306805" y="210552"/>
                  </a:lnTo>
                  <a:lnTo>
                    <a:pt x="409073" y="198521"/>
                  </a:lnTo>
                  <a:lnTo>
                    <a:pt x="496302" y="96252"/>
                  </a:lnTo>
                  <a:lnTo>
                    <a:pt x="571500" y="0"/>
                  </a:lnTo>
                </a:path>
              </a:pathLst>
            </a:custGeom>
            <a:noFill/>
            <a:ln w="6918">
              <a:solidFill>
                <a:srgbClr val="FF5800"/>
              </a:solidFill>
              <a:tailEnd type="triangle" w="sm" len="sm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3" name="nextnode0"/>
            <p:cNvSpPr/>
            <p:nvPr/>
          </p:nvSpPr>
          <p:spPr>
            <a:xfrm>
              <a:off x="4313321" y="2445418"/>
              <a:ext cx="36094" cy="36094"/>
            </a:xfrm>
            <a:prstGeom prst="ellipse">
              <a:avLst/>
            </a:prstGeom>
            <a:solidFill>
              <a:srgbClr val="FF5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4" name="nextnode1"/>
            <p:cNvSpPr/>
            <p:nvPr/>
          </p:nvSpPr>
          <p:spPr>
            <a:xfrm>
              <a:off x="4424613" y="2415339"/>
              <a:ext cx="36094" cy="36094"/>
            </a:xfrm>
            <a:prstGeom prst="ellipse">
              <a:avLst/>
            </a:prstGeom>
            <a:solidFill>
              <a:srgbClr val="FF5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5" name="nextnode2"/>
            <p:cNvSpPr/>
            <p:nvPr/>
          </p:nvSpPr>
          <p:spPr>
            <a:xfrm>
              <a:off x="4517857" y="2340142"/>
              <a:ext cx="36094" cy="36094"/>
            </a:xfrm>
            <a:prstGeom prst="ellipse">
              <a:avLst/>
            </a:prstGeom>
            <a:solidFill>
              <a:srgbClr val="FF5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6" name="nextnode3"/>
            <p:cNvSpPr/>
            <p:nvPr/>
          </p:nvSpPr>
          <p:spPr>
            <a:xfrm>
              <a:off x="4620126" y="2409323"/>
              <a:ext cx="36094" cy="36094"/>
            </a:xfrm>
            <a:prstGeom prst="ellipse">
              <a:avLst/>
            </a:prstGeom>
            <a:solidFill>
              <a:srgbClr val="FF5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7" name="nextnode4"/>
            <p:cNvSpPr/>
            <p:nvPr/>
          </p:nvSpPr>
          <p:spPr>
            <a:xfrm>
              <a:off x="4722394" y="2397292"/>
              <a:ext cx="36094" cy="36094"/>
            </a:xfrm>
            <a:prstGeom prst="ellipse">
              <a:avLst/>
            </a:prstGeom>
            <a:solidFill>
              <a:srgbClr val="FF5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8" name="nextnode5"/>
            <p:cNvSpPr/>
            <p:nvPr/>
          </p:nvSpPr>
          <p:spPr>
            <a:xfrm>
              <a:off x="4809623" y="2295023"/>
              <a:ext cx="36094" cy="36094"/>
            </a:xfrm>
            <a:prstGeom prst="ellipse">
              <a:avLst/>
            </a:prstGeom>
            <a:solidFill>
              <a:srgbClr val="FF58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431" name="main_arrow0"/>
          <p:cNvSpPr/>
          <p:nvPr/>
        </p:nvSpPr>
        <p:spPr>
          <a:xfrm>
            <a:off x="803107" y="1482892"/>
            <a:ext cx="102268" cy="30"/>
          </a:xfrm>
          <a:custGeom>
            <a:avLst/>
            <a:gdLst/>
            <a:ahLst/>
            <a:cxnLst/>
            <a:rect l="0" t="0" r="r" b="b"/>
            <a:pathLst>
              <a:path w="102268" h="1" fill="none">
                <a:moveTo>
                  <a:pt x="0" y="0"/>
                </a:moveTo>
                <a:lnTo>
                  <a:pt x="102268" y="0"/>
                </a:lnTo>
              </a:path>
            </a:pathLst>
          </a:custGeom>
          <a:noFill/>
          <a:ln w="24063">
            <a:solidFill>
              <a:srgbClr val="003CA6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main_arrow1"/>
          <p:cNvSpPr/>
          <p:nvPr/>
        </p:nvSpPr>
        <p:spPr>
          <a:xfrm>
            <a:off x="1864894" y="1482892"/>
            <a:ext cx="102268" cy="30"/>
          </a:xfrm>
          <a:custGeom>
            <a:avLst/>
            <a:gdLst/>
            <a:ahLst/>
            <a:cxnLst/>
            <a:rect l="0" t="0" r="r" b="b"/>
            <a:pathLst>
              <a:path w="102268" h="1" fill="none">
                <a:moveTo>
                  <a:pt x="0" y="0"/>
                </a:moveTo>
                <a:lnTo>
                  <a:pt x="102268" y="0"/>
                </a:lnTo>
              </a:path>
            </a:pathLst>
          </a:custGeom>
          <a:noFill/>
          <a:ln w="24063">
            <a:solidFill>
              <a:srgbClr val="003CA6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main_arrow2"/>
          <p:cNvSpPr/>
          <p:nvPr/>
        </p:nvSpPr>
        <p:spPr>
          <a:xfrm>
            <a:off x="2740192" y="1482892"/>
            <a:ext cx="102268" cy="30"/>
          </a:xfrm>
          <a:custGeom>
            <a:avLst/>
            <a:gdLst/>
            <a:ahLst/>
            <a:cxnLst/>
            <a:rect l="0" t="0" r="r" b="b"/>
            <a:pathLst>
              <a:path w="102268" h="1" fill="none">
                <a:moveTo>
                  <a:pt x="0" y="0"/>
                </a:moveTo>
                <a:lnTo>
                  <a:pt x="102268" y="0"/>
                </a:lnTo>
              </a:path>
            </a:pathLst>
          </a:custGeom>
          <a:noFill/>
          <a:ln w="24063">
            <a:solidFill>
              <a:srgbClr val="003CA6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main_arrow3"/>
          <p:cNvSpPr/>
          <p:nvPr/>
        </p:nvSpPr>
        <p:spPr>
          <a:xfrm>
            <a:off x="3988468" y="1482892"/>
            <a:ext cx="102268" cy="30"/>
          </a:xfrm>
          <a:custGeom>
            <a:avLst/>
            <a:gdLst/>
            <a:ahLst/>
            <a:cxnLst/>
            <a:rect l="0" t="0" r="r" b="b"/>
            <a:pathLst>
              <a:path w="102268" h="1" fill="none">
                <a:moveTo>
                  <a:pt x="0" y="0"/>
                </a:moveTo>
                <a:lnTo>
                  <a:pt x="102268" y="0"/>
                </a:lnTo>
              </a:path>
            </a:pathLst>
          </a:custGeom>
          <a:noFill/>
          <a:ln w="24063">
            <a:solidFill>
              <a:srgbClr val="003CA6"/>
            </a:solidFill>
            <a:tailEnd type="triangle" w="sm" len="sm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observed_episode_cost"/>
          <p:cNvSpPr txBox="1"/>
          <p:nvPr/>
        </p:nvSpPr>
        <p:spPr>
          <a:xfrm>
            <a:off x="146304" y="1527048"/>
            <a:ext cx="548640" cy="118872"/>
          </a:xfrm>
          <a:prstGeom prst="rect">
            <a:avLst/>
          </a:prstGeom>
          <a:noFill/>
          <a:ln>
            <a:noFill/>
          </a:ln>
        </p:spPr>
        <p:txBody>
          <a:bodyPr wrap="square" lIns="22860" rIns="22860" tIns="13716" bIns="13716" anchor="ctr">
            <a:spAutoFit/>
          </a:bodyPr>
          <a:lstStyle/>
          <a:p>
            <a:pPr algn="ctr"/>
            <a:r>
              <a:rPr sz="700" b="0">
                <a:solidFill>
                  <a:srgbClr val="E88B10"/>
                </a:solidFill>
                <a:latin typeface="Times New Roman"/>
              </a:rPr>
              <a:t>observed episode cost  J̄ₖ</a:t>
            </a:r>
          </a:p>
        </p:txBody>
      </p:sp>
      <p:sp>
        <p:nvSpPr>
          <p:cNvPr id="453" name="soft_constraint_card"/>
          <p:cNvSpPr/>
          <p:nvPr/>
        </p:nvSpPr>
        <p:spPr>
          <a:xfrm>
            <a:off x="2002536" y="768096"/>
            <a:ext cx="676656" cy="658368"/>
          </a:xfrm>
          <a:prstGeom prst="roundRect">
            <a:avLst/>
          </a:prstGeom>
          <a:solidFill>
            <a:srgbClr val="F2FAF4"/>
          </a:solidFill>
          <a:ln w="8890">
            <a:solidFill>
              <a:srgbClr val="125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soft_constraint_label"/>
          <p:cNvSpPr txBox="1"/>
          <p:nvPr/>
        </p:nvSpPr>
        <p:spPr>
          <a:xfrm>
            <a:off x="2029968" y="822960"/>
            <a:ext cx="621792" cy="137160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125529"/>
                </a:solidFill>
                <a:latin typeface="Times New Roman"/>
              </a:rPr>
              <a:t>SOFT</a:t>
            </a:r>
          </a:p>
        </p:txBody>
      </p:sp>
      <p:sp>
        <p:nvSpPr>
          <p:cNvPr id="455" name="soft_constraint_eq"/>
          <p:cNvSpPr txBox="1"/>
          <p:nvPr/>
        </p:nvSpPr>
        <p:spPr>
          <a:xfrm>
            <a:off x="2020824" y="987552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125529"/>
                </a:solidFill>
                <a:latin typeface="Times New Roman"/>
              </a:rPr>
              <a:t>⟨Cₖ,F⟩ ≤ bₖ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125529"/>
                </a:solidFill>
                <a:latin typeface="Times New Roman"/>
              </a:rPr>
              <a:t>bₖ = Bₖ / L</a:t>
            </a:r>
          </a:p>
        </p:txBody>
      </p:sp>
      <p:sp>
        <p:nvSpPr>
          <p:cNvPr id="456" name="hard_constraint_card"/>
          <p:cNvSpPr/>
          <p:nvPr/>
        </p:nvSpPr>
        <p:spPr>
          <a:xfrm>
            <a:off x="2002536" y="1627632"/>
            <a:ext cx="676656" cy="521207"/>
          </a:xfrm>
          <a:prstGeom prst="roundRect">
            <a:avLst/>
          </a:prstGeom>
          <a:solidFill>
            <a:srgbClr val="F8F9FA"/>
          </a:solidFill>
          <a:ln w="8890">
            <a:solidFill>
              <a:srgbClr val="125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hard_constraint_label"/>
          <p:cNvSpPr txBox="1"/>
          <p:nvPr/>
        </p:nvSpPr>
        <p:spPr>
          <a:xfrm>
            <a:off x="2029968" y="1673352"/>
            <a:ext cx="621792" cy="137160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BE2323"/>
                </a:solidFill>
                <a:latin typeface="Times New Roman"/>
              </a:rPr>
              <a:t>HARD</a:t>
            </a:r>
          </a:p>
        </p:txBody>
      </p:sp>
      <p:sp>
        <p:nvSpPr>
          <p:cNvPr id="458" name="hard_constraint_eq"/>
          <p:cNvSpPr txBox="1"/>
          <p:nvPr/>
        </p:nvSpPr>
        <p:spPr>
          <a:xfrm>
            <a:off x="2020824" y="1856231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BE2323"/>
                </a:solidFill>
                <a:latin typeface="Times New Roman"/>
              </a:rPr>
              <a:t>F_H = 0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BE2323"/>
                </a:solidFill>
                <a:latin typeface="Times New Roman"/>
              </a:rPr>
              <a:t>(excluded edges)</a:t>
            </a:r>
          </a:p>
        </p:txBody>
      </p:sp>
      <p:sp>
        <p:nvSpPr>
          <p:cNvPr id="459" name="constraint_note"/>
          <p:cNvSpPr txBox="1"/>
          <p:nvPr/>
        </p:nvSpPr>
        <p:spPr>
          <a:xfrm>
            <a:off x="2011680" y="2267712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A5A5A"/>
                </a:solidFill>
                <a:latin typeface="Times New Roman"/>
              </a:rPr>
              <a:t>limits for F★</a:t>
            </a:r>
          </a:p>
        </p:txBody>
      </p:sp>
      <p:sp>
        <p:nvSpPr>
          <p:cNvPr id="460" name="projection_card"/>
          <p:cNvSpPr/>
          <p:nvPr/>
        </p:nvSpPr>
        <p:spPr>
          <a:xfrm>
            <a:off x="2907792" y="640080"/>
            <a:ext cx="987552" cy="338328"/>
          </a:xfrm>
          <a:prstGeom prst="roundRect">
            <a:avLst/>
          </a:prstGeom>
          <a:solidFill>
            <a:srgbClr val="F2FAF4"/>
          </a:solidFill>
          <a:ln w="8890">
            <a:solidFill>
              <a:srgbClr val="125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projection_formula"/>
          <p:cNvSpPr txBox="1"/>
          <p:nvPr/>
        </p:nvSpPr>
        <p:spPr>
          <a:xfrm>
            <a:off x="2935224" y="685800"/>
            <a:ext cx="932688" cy="219456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25529"/>
                </a:solidFill>
                <a:latin typeface="Times New Roman"/>
              </a:rPr>
              <a:t>F̂  →  F★</a:t>
            </a:r>
          </a:p>
        </p:txBody>
      </p:sp>
      <p:sp>
        <p:nvSpPr>
          <p:cNvPr id="462" name="projection_caption"/>
          <p:cNvSpPr txBox="1"/>
          <p:nvPr/>
        </p:nvSpPr>
        <p:spPr>
          <a:xfrm>
            <a:off x="2926080" y="1005840"/>
            <a:ext cx="950976" cy="128016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125529"/>
                </a:solidFill>
                <a:latin typeface="Times New Roman"/>
              </a:rPr>
              <a:t>entropic projection</a:t>
            </a:r>
          </a:p>
        </p:txBody>
      </p:sp>
      <p:sp>
        <p:nvSpPr>
          <p:cNvPr id="463" name="flow_observed"/>
          <p:cNvSpPr txBox="1"/>
          <p:nvPr/>
        </p:nvSpPr>
        <p:spPr>
          <a:xfrm>
            <a:off x="2898648" y="1161288"/>
            <a:ext cx="164592" cy="137160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25529"/>
                </a:solidFill>
                <a:latin typeface="Times New Roman"/>
              </a:rPr>
              <a:t>F̂</a:t>
            </a:r>
          </a:p>
        </p:txBody>
      </p:sp>
      <p:sp>
        <p:nvSpPr>
          <p:cNvPr id="464" name="flow_reroute"/>
          <p:cNvSpPr txBox="1"/>
          <p:nvPr/>
        </p:nvSpPr>
        <p:spPr>
          <a:xfrm>
            <a:off x="3364992" y="1161288"/>
            <a:ext cx="164592" cy="137160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25529"/>
                </a:solidFill>
                <a:latin typeface="Times New Roman"/>
              </a:rPr>
              <a:t>→</a:t>
            </a:r>
          </a:p>
        </p:txBody>
      </p:sp>
      <p:sp>
        <p:nvSpPr>
          <p:cNvPr id="465" name="flow_target"/>
          <p:cNvSpPr txBox="1"/>
          <p:nvPr/>
        </p:nvSpPr>
        <p:spPr>
          <a:xfrm>
            <a:off x="3776472" y="1161288"/>
            <a:ext cx="182880" cy="137160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25529"/>
                </a:solidFill>
                <a:latin typeface="Times New Roman"/>
              </a:rPr>
              <a:t>F★</a:t>
            </a:r>
          </a:p>
        </p:txBody>
      </p:sp>
      <p:sp>
        <p:nvSpPr>
          <p:cNvPr id="466" name="projection_note"/>
          <p:cNvSpPr txBox="1"/>
          <p:nvPr/>
        </p:nvSpPr>
        <p:spPr>
          <a:xfrm>
            <a:off x="2962656" y="1874519"/>
            <a:ext cx="896112" cy="146304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A5A5A"/>
                </a:solidFill>
                <a:latin typeface="Times New Roman"/>
              </a:rPr>
              <a:t>target flow; policy executes π</a:t>
            </a:r>
          </a:p>
        </p:txBody>
      </p:sp>
      <p:sp>
        <p:nvSpPr>
          <p:cNvPr id="467" name="price_output_card"/>
          <p:cNvSpPr/>
          <p:nvPr/>
        </p:nvSpPr>
        <p:spPr>
          <a:xfrm>
            <a:off x="2971800" y="2167128"/>
            <a:ext cx="877824" cy="292608"/>
          </a:xfrm>
          <a:prstGeom prst="roundRect">
            <a:avLst/>
          </a:prstGeom>
          <a:solidFill>
            <a:srgbClr val="F2FAF4"/>
          </a:solidFill>
          <a:ln w="8890">
            <a:solidFill>
              <a:srgbClr val="1255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price_output"/>
          <p:cNvSpPr txBox="1"/>
          <p:nvPr/>
        </p:nvSpPr>
        <p:spPr>
          <a:xfrm>
            <a:off x="2999232" y="2212848"/>
            <a:ext cx="822960" cy="192024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125529"/>
                </a:solidFill>
                <a:latin typeface="Times New Roman"/>
              </a:rPr>
              <a:t>safety prices  λ̄ₖ★</a:t>
            </a:r>
          </a:p>
        </p:txBody>
      </p:sp>
      <p:sp>
        <p:nvSpPr>
          <p:cNvPr id="469" name="price_fusion_eq"/>
          <p:cNvSpPr txBox="1"/>
          <p:nvPr/>
        </p:nvSpPr>
        <p:spPr>
          <a:xfrm>
            <a:off x="4151376" y="740664"/>
            <a:ext cx="768096" cy="164592"/>
          </a:xfrm>
          <a:prstGeom prst="rect">
            <a:avLst/>
          </a:prstGeom>
          <a:solidFill>
            <a:srgbClr val="FFF7EE"/>
          </a:solidFill>
          <a:ln w="7620">
            <a:solidFill>
              <a:srgbClr val="E88B10"/>
            </a:solidFill>
          </a:ln>
        </p:spPr>
        <p:txBody>
          <a:bodyPr wrap="non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E88B10"/>
                </a:solidFill>
                <a:latin typeface="Times New Roman"/>
              </a:rPr>
              <a:t>λₖ = λ̄ₖ★ + βₖ</a:t>
            </a:r>
          </a:p>
        </p:txBody>
      </p:sp>
      <p:sp>
        <p:nvSpPr>
          <p:cNvPr id="470" name="feedback_eq"/>
          <p:cNvSpPr txBox="1"/>
          <p:nvPr/>
        </p:nvSpPr>
        <p:spPr>
          <a:xfrm>
            <a:off x="4133087" y="1088136"/>
            <a:ext cx="804672" cy="164592"/>
          </a:xfrm>
          <a:prstGeom prst="rect">
            <a:avLst/>
          </a:prstGeom>
          <a:solidFill>
            <a:srgbClr val="FFF7EE"/>
          </a:solidFill>
          <a:ln w="7620">
            <a:solidFill>
              <a:srgbClr val="E88B10"/>
            </a:solidFill>
          </a:ln>
        </p:spPr>
        <p:txBody>
          <a:bodyPr wrap="non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E88B10"/>
                </a:solidFill>
                <a:latin typeface="Times New Roman"/>
              </a:rPr>
              <a:t>βₖ ← [βₖ + α eₖ]₊</a:t>
            </a:r>
          </a:p>
        </p:txBody>
      </p:sp>
      <p:sp>
        <p:nvSpPr>
          <p:cNvPr id="471" name="feedback_def"/>
          <p:cNvSpPr txBox="1"/>
          <p:nvPr/>
        </p:nvSpPr>
        <p:spPr>
          <a:xfrm>
            <a:off x="4160520" y="1261872"/>
            <a:ext cx="749808" cy="100584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E88B10"/>
                </a:solidFill>
                <a:latin typeface="Times New Roman"/>
              </a:rPr>
              <a:t>eₖ = J̄ₖ − Bₖ</a:t>
            </a:r>
          </a:p>
        </p:txBody>
      </p:sp>
      <p:sp>
        <p:nvSpPr>
          <p:cNvPr id="472" name="advantage_eq"/>
          <p:cNvSpPr txBox="1"/>
          <p:nvPr/>
        </p:nvSpPr>
        <p:spPr>
          <a:xfrm>
            <a:off x="4133087" y="1417320"/>
            <a:ext cx="786384" cy="338328"/>
          </a:xfrm>
          <a:prstGeom prst="rect">
            <a:avLst/>
          </a:prstGeom>
          <a:solidFill>
            <a:srgbClr val="FFF7EE"/>
          </a:solidFill>
          <a:ln w="7620">
            <a:solidFill>
              <a:srgbClr val="E88B10"/>
            </a:solidFill>
          </a:ln>
        </p:spPr>
        <p:txBody>
          <a:bodyPr wrap="non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E88B10"/>
                </a:solidFill>
                <a:latin typeface="Times New Roman"/>
              </a:rPr>
              <a:t>Ã = (Aᵣ − Σₖ λₖA𝚌ₖ)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E88B10"/>
                </a:solidFill>
                <a:latin typeface="Times New Roman"/>
              </a:rPr>
              <a:t>      / (1 + Σₖ λₖ)</a:t>
            </a:r>
          </a:p>
        </p:txBody>
      </p:sp>
      <p:sp>
        <p:nvSpPr>
          <p:cNvPr id="473" name="actor_update"/>
          <p:cNvSpPr txBox="1"/>
          <p:nvPr/>
        </p:nvSpPr>
        <p:spPr>
          <a:xfrm>
            <a:off x="4142232" y="1801368"/>
            <a:ext cx="768096" cy="192024"/>
          </a:xfrm>
          <a:prstGeom prst="rect">
            <a:avLst/>
          </a:prstGeom>
          <a:solidFill>
            <a:srgbClr val="FFF7EE"/>
          </a:solidFill>
          <a:ln w="7620">
            <a:solidFill>
              <a:srgbClr val="E88B10"/>
            </a:solidFill>
          </a:ln>
        </p:spPr>
        <p:txBody>
          <a:bodyPr wrap="non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E88B10"/>
                </a:solidFill>
                <a:latin typeface="Times New Roman"/>
              </a:rPr>
              <a:t>PPO / TRPO → πₜ₊₁</a:t>
            </a:r>
          </a:p>
        </p:txBody>
      </p:sp>
      <p:sp>
        <p:nvSpPr>
          <p:cNvPr id="474" name="actor_tag"/>
          <p:cNvSpPr txBox="1"/>
          <p:nvPr/>
        </p:nvSpPr>
        <p:spPr>
          <a:xfrm>
            <a:off x="4315968" y="2496312"/>
            <a:ext cx="530352" cy="100584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E88B10"/>
                </a:solidFill>
                <a:latin typeface="Times New Roman"/>
              </a:rPr>
              <a:t>next policy</a:t>
            </a:r>
          </a:p>
        </p:txBody>
      </p:sp>
      <p:sp>
        <p:nvSpPr>
          <p:cNvPr id="475" name="flow_input_label_r5"/>
          <p:cNvSpPr txBox="1"/>
          <p:nvPr/>
        </p:nvSpPr>
        <p:spPr>
          <a:xfrm>
            <a:off x="1280160" y="1700784"/>
            <a:ext cx="438912" cy="128016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818E6"/>
                </a:solidFill>
                <a:latin typeface="Times New Roman"/>
              </a:rPr>
              <a:t>flow  F̂</a:t>
            </a:r>
          </a:p>
        </p:txBody>
      </p:sp>
      <p:sp>
        <p:nvSpPr>
          <p:cNvPr id="476" name="adv_input_label_r5"/>
          <p:cNvSpPr txBox="1"/>
          <p:nvPr/>
        </p:nvSpPr>
        <p:spPr>
          <a:xfrm>
            <a:off x="1280160" y="2002536"/>
            <a:ext cx="438912" cy="128016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502882"/>
                </a:solidFill>
                <a:latin typeface="Times New Roman"/>
              </a:rPr>
              <a:t>adv.  A</a:t>
            </a:r>
          </a:p>
        </p:txBody>
      </p:sp>
      <p:sp>
        <p:nvSpPr>
          <p:cNvPr id="477" name="cost_input_label_r5"/>
          <p:cNvSpPr txBox="1"/>
          <p:nvPr/>
        </p:nvSpPr>
        <p:spPr>
          <a:xfrm>
            <a:off x="1280160" y="2304288"/>
            <a:ext cx="438912" cy="128016"/>
          </a:xfrm>
          <a:prstGeom prst="rect">
            <a:avLst/>
          </a:prstGeom>
          <a:noFill/>
          <a:ln>
            <a:noFill/>
          </a:ln>
        </p:spPr>
        <p:txBody>
          <a:bodyPr wrap="non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125529"/>
                </a:solidFill>
                <a:latin typeface="Times New Roman"/>
              </a:rPr>
              <a:t>cost  Cₖ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SafeOT Figure 2</dc:title>
  <dc:subject>Method framework</dc:subject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