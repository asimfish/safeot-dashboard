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59" name="module_rollout"/>
          <p:cNvGrpSpPr/>
          <p:nvPr/>
        </p:nvGrpSpPr>
        <p:grpSpPr>
          <a:xfrm>
            <a:off x="50800" y="50800"/>
            <a:ext cx="863599" cy="1816099"/>
            <a:chOff x="50800" y="50800"/>
            <a:chExt cx="863599" cy="1816099"/>
          </a:xfrm>
        </p:grpSpPr>
        <p:sp>
          <p:nvSpPr>
            <p:cNvPr id="2" name="rollout" descr="Editable shape; source id rollout"/>
            <p:cNvSpPr/>
            <p:nvPr/>
          </p:nvSpPr>
          <p:spPr>
            <a:xfrm>
              <a:off x="50800" y="50800"/>
              <a:ext cx="863599" cy="1816099"/>
            </a:xfrm>
            <a:prstGeom prst="roundRect">
              <a:avLst>
                <a:gd name="adj" fmla="val 4411"/>
              </a:avLst>
            </a:prstGeom>
            <a:solidFill>
              <a:srgbClr val="FFFFFF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llout_title" descr="Editable text; source id rollout_title"/>
            <p:cNvSpPr txBox="1"/>
            <p:nvPr/>
          </p:nvSpPr>
          <p:spPr>
            <a:xfrm>
              <a:off x="88900" y="101600"/>
              <a:ext cx="787400" cy="14859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034"/>
                </a:lnSpc>
                <a:spcBef>
                  <a:spcPts val="0"/>
                </a:spcBef>
                <a:spcAft>
                  <a:spcPts val="0"/>
                </a:spcAft>
                <a:defRPr sz="900" b="1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900" b="1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rPr>
                <a:t>1  Rollout</a:t>
              </a:r>
            </a:p>
          </p:txBody>
        </p:sp>
        <p:sp>
          <p:nvSpPr>
            <p:cNvPr id="4" name="trajectory0" descr="Editable shape; source id trajectory0"/>
            <p:cNvSpPr/>
            <p:nvPr/>
          </p:nvSpPr>
          <p:spPr>
            <a:xfrm>
              <a:off x="135890" y="605789"/>
              <a:ext cx="83820" cy="83820"/>
            </a:xfrm>
            <a:prstGeom prst="ellipse">
              <a:avLst/>
            </a:prstGeom>
            <a:solidFill>
              <a:srgbClr val="F2F4F5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ime0_0" descr="Editable line; source id time0_0"/>
            <p:cNvSpPr/>
            <p:nvPr/>
          </p:nvSpPr>
          <p:spPr>
            <a:xfrm>
              <a:off x="228600" y="631825"/>
              <a:ext cx="165100" cy="31750"/>
            </a:xfrm>
            <a:custGeom>
              <a:avLst/>
              <a:gdLst/>
              <a:ahLst/>
              <a:cxnLst/>
              <a:rect l="l" t="t" r="r" b="b"/>
              <a:pathLst>
                <a:path w="65000" h="12500">
                  <a:moveTo>
                    <a:pt x="0" y="4500"/>
                  </a:moveTo>
                  <a:lnTo>
                    <a:pt x="48500" y="4500"/>
                  </a:lnTo>
                  <a:lnTo>
                    <a:pt x="48500" y="0"/>
                  </a:lnTo>
                  <a:lnTo>
                    <a:pt x="65000" y="6250"/>
                  </a:lnTo>
                  <a:lnTo>
                    <a:pt x="48500" y="12500"/>
                  </a:lnTo>
                  <a:lnTo>
                    <a:pt x="485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action0_0" descr="Editable line; source id action0_0"/>
            <p:cNvSpPr/>
            <p:nvPr/>
          </p:nvSpPr>
          <p:spPr>
            <a:xfrm>
              <a:off x="161925" y="711200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2500" h="60000">
                  <a:moveTo>
                    <a:pt x="8000" y="0"/>
                  </a:moveTo>
                  <a:lnTo>
                    <a:pt x="8000" y="43500"/>
                  </a:lnTo>
                  <a:lnTo>
                    <a:pt x="12500" y="43500"/>
                  </a:lnTo>
                  <a:lnTo>
                    <a:pt x="6250" y="60000"/>
                  </a:lnTo>
                  <a:lnTo>
                    <a:pt x="0" y="43500"/>
                  </a:lnTo>
                  <a:lnTo>
                    <a:pt x="4500" y="43500"/>
                  </a:lnTo>
                  <a:lnTo>
                    <a:pt x="4500" y="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jectory1" descr="Editable shape; source id trajectory1"/>
            <p:cNvSpPr/>
            <p:nvPr/>
          </p:nvSpPr>
          <p:spPr>
            <a:xfrm>
              <a:off x="415290" y="605789"/>
              <a:ext cx="83820" cy="83820"/>
            </a:xfrm>
            <a:prstGeom prst="ellipse">
              <a:avLst/>
            </a:prstGeom>
            <a:solidFill>
              <a:srgbClr val="F2F4F5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ime1_0" descr="Editable line; source id time1_0"/>
            <p:cNvSpPr/>
            <p:nvPr/>
          </p:nvSpPr>
          <p:spPr>
            <a:xfrm>
              <a:off x="508000" y="631825"/>
              <a:ext cx="165100" cy="31750"/>
            </a:xfrm>
            <a:custGeom>
              <a:avLst/>
              <a:gdLst/>
              <a:ahLst/>
              <a:cxnLst/>
              <a:rect l="l" t="t" r="r" b="b"/>
              <a:pathLst>
                <a:path w="65000" h="12500">
                  <a:moveTo>
                    <a:pt x="0" y="4500"/>
                  </a:moveTo>
                  <a:lnTo>
                    <a:pt x="48500" y="4500"/>
                  </a:lnTo>
                  <a:lnTo>
                    <a:pt x="48500" y="0"/>
                  </a:lnTo>
                  <a:lnTo>
                    <a:pt x="65000" y="6250"/>
                  </a:lnTo>
                  <a:lnTo>
                    <a:pt x="48500" y="12500"/>
                  </a:lnTo>
                  <a:lnTo>
                    <a:pt x="485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action1_0" descr="Editable line; source id action1_0"/>
            <p:cNvSpPr/>
            <p:nvPr/>
          </p:nvSpPr>
          <p:spPr>
            <a:xfrm>
              <a:off x="441325" y="711200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2500" h="60000">
                  <a:moveTo>
                    <a:pt x="8000" y="0"/>
                  </a:moveTo>
                  <a:lnTo>
                    <a:pt x="8000" y="43500"/>
                  </a:lnTo>
                  <a:lnTo>
                    <a:pt x="12500" y="43500"/>
                  </a:lnTo>
                  <a:lnTo>
                    <a:pt x="6250" y="60000"/>
                  </a:lnTo>
                  <a:lnTo>
                    <a:pt x="0" y="43500"/>
                  </a:lnTo>
                  <a:lnTo>
                    <a:pt x="4500" y="43500"/>
                  </a:lnTo>
                  <a:lnTo>
                    <a:pt x="4500" y="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rajectory2" descr="Editable shape; source id trajectory2"/>
            <p:cNvSpPr/>
            <p:nvPr/>
          </p:nvSpPr>
          <p:spPr>
            <a:xfrm>
              <a:off x="694690" y="605789"/>
              <a:ext cx="83820" cy="83820"/>
            </a:xfrm>
            <a:prstGeom prst="ellipse">
              <a:avLst/>
            </a:prstGeom>
            <a:solidFill>
              <a:srgbClr val="F2F4F5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action2_0" descr="Editable line; source id action2_0"/>
            <p:cNvSpPr/>
            <p:nvPr/>
          </p:nvSpPr>
          <p:spPr>
            <a:xfrm>
              <a:off x="720725" y="711200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2500" h="60000">
                  <a:moveTo>
                    <a:pt x="8000" y="0"/>
                  </a:moveTo>
                  <a:lnTo>
                    <a:pt x="8000" y="43500"/>
                  </a:lnTo>
                  <a:lnTo>
                    <a:pt x="12500" y="43500"/>
                  </a:lnTo>
                  <a:lnTo>
                    <a:pt x="6250" y="60000"/>
                  </a:lnTo>
                  <a:lnTo>
                    <a:pt x="0" y="43500"/>
                  </a:lnTo>
                  <a:lnTo>
                    <a:pt x="4500" y="43500"/>
                  </a:lnTo>
                  <a:lnTo>
                    <a:pt x="4500" y="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rajectory_label" descr="Editable text; source id trajectory_label"/>
            <p:cNvSpPr txBox="1"/>
            <p:nvPr/>
          </p:nvSpPr>
          <p:spPr>
            <a:xfrm>
              <a:off x="88900" y="927100"/>
              <a:ext cx="774699" cy="253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rPr>
                <a:t>state / action</a:t>
              </a:r>
            </a:p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rPr>
                <a:t>samples</a:t>
              </a:r>
            </a:p>
          </p:txBody>
        </p:sp>
        <p:sp>
          <p:nvSpPr>
            <p:cNvPr id="13" name="gae_label" descr="Editable text; source id gae_label"/>
            <p:cNvSpPr txBox="1"/>
            <p:nvPr/>
          </p:nvSpPr>
          <p:spPr>
            <a:xfrm>
              <a:off x="101600" y="1206499"/>
              <a:ext cx="7619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GAE</a:t>
              </a:r>
            </a:p>
          </p:txBody>
        </p:sp>
        <p:sp>
          <p:nvSpPr>
            <p:cNvPr id="14" name="cost_label" descr="Editable text; source id cost_label"/>
            <p:cNvSpPr txBox="1"/>
            <p:nvPr/>
          </p:nvSpPr>
          <p:spPr>
            <a:xfrm>
              <a:off x="88900" y="1600199"/>
              <a:ext cx="774699" cy="253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B86C2B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B86C2B"/>
                  </a:solidFill>
                  <a:latin typeface="Liberation Sans"/>
                  <a:ea typeface="Liberation Sans"/>
                  <a:cs typeface="Liberation Sans"/>
                </a:rPr>
                <a:t>observed</a:t>
              </a:r>
            </a:p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B86C2B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B86C2B"/>
                  </a:solidFill>
                  <a:latin typeface="Liberation Sans"/>
                  <a:ea typeface="Liberation Sans"/>
                  <a:cs typeface="Liberation Sans"/>
                </a:rPr>
                <a:t>episode cost</a:t>
              </a:r>
            </a:p>
          </p:txBody>
        </p:sp>
        <p:grpSp>
          <p:nvGrpSpPr>
            <p:cNvPr id="126" name="pi_t"/>
            <p:cNvGrpSpPr/>
            <p:nvPr/>
          </p:nvGrpSpPr>
          <p:grpSpPr>
            <a:xfrm>
              <a:off x="417611" y="372091"/>
              <a:ext cx="106521" cy="79853"/>
              <a:chOff x="417611" y="372091"/>
              <a:chExt cx="106521" cy="79853"/>
            </a:xfrm>
          </p:grpSpPr>
          <p:sp>
            <p:nvSpPr>
              <p:cNvPr id="127" name="pi_t_outline_0"/>
              <p:cNvSpPr/>
              <p:nvPr/>
            </p:nvSpPr>
            <p:spPr>
              <a:xfrm>
                <a:off x="417611" y="372091"/>
                <a:ext cx="68810" cy="60039"/>
              </a:xfrm>
              <a:custGeom>
                <a:avLst/>
                <a:gdLst/>
                <a:ahLst/>
                <a:cxnLst/>
                <a:rect l="0" t="0" r="r" b="b"/>
                <a:pathLst>
                  <a:path w="68810" h="60039">
                    <a:moveTo>
                      <a:pt x="68810" y="0"/>
                    </a:moveTo>
                    <a:lnTo>
                      <a:pt x="22848" y="0"/>
                    </a:lnTo>
                    <a:cubicBezTo>
                      <a:pt x="10628" y="0"/>
                      <a:pt x="3322" y="14609"/>
                      <a:pt x="2258" y="17133"/>
                    </a:cubicBezTo>
                    <a:lnTo>
                      <a:pt x="3723" y="17133"/>
                    </a:lnTo>
                    <a:cubicBezTo>
                      <a:pt x="4385" y="16204"/>
                      <a:pt x="9299" y="9696"/>
                      <a:pt x="16208" y="9696"/>
                    </a:cubicBezTo>
                    <a:lnTo>
                      <a:pt x="23114" y="9696"/>
                    </a:lnTo>
                    <a:lnTo>
                      <a:pt x="13815" y="37723"/>
                    </a:lnTo>
                    <a:cubicBezTo>
                      <a:pt x="10894" y="46490"/>
                      <a:pt x="0" y="46891"/>
                      <a:pt x="0" y="55924"/>
                    </a:cubicBezTo>
                    <a:lnTo>
                      <a:pt x="0" y="56586"/>
                    </a:lnTo>
                    <a:cubicBezTo>
                      <a:pt x="0" y="58845"/>
                      <a:pt x="1730" y="60039"/>
                      <a:pt x="4917" y="60039"/>
                    </a:cubicBezTo>
                    <a:cubicBezTo>
                      <a:pt x="9966" y="60039"/>
                      <a:pt x="14748" y="56852"/>
                      <a:pt x="21257" y="37989"/>
                    </a:cubicBezTo>
                    <a:lnTo>
                      <a:pt x="30952" y="9696"/>
                    </a:lnTo>
                    <a:lnTo>
                      <a:pt x="44367" y="9696"/>
                    </a:lnTo>
                    <a:lnTo>
                      <a:pt x="37858" y="38255"/>
                    </a:lnTo>
                    <a:cubicBezTo>
                      <a:pt x="36929" y="42108"/>
                      <a:pt x="36397" y="45426"/>
                      <a:pt x="36397" y="48085"/>
                    </a:cubicBezTo>
                    <a:lnTo>
                      <a:pt x="36397" y="49280"/>
                    </a:lnTo>
                    <a:cubicBezTo>
                      <a:pt x="36397" y="54991"/>
                      <a:pt x="40382" y="60039"/>
                      <a:pt x="46891" y="60039"/>
                    </a:cubicBezTo>
                    <a:cubicBezTo>
                      <a:pt x="49947" y="60039"/>
                      <a:pt x="53534" y="59111"/>
                      <a:pt x="53534" y="54725"/>
                    </a:cubicBezTo>
                    <a:lnTo>
                      <a:pt x="53534" y="54193"/>
                    </a:lnTo>
                    <a:cubicBezTo>
                      <a:pt x="53534" y="46359"/>
                      <a:pt x="45565" y="47423"/>
                      <a:pt x="45565" y="39981"/>
                    </a:cubicBezTo>
                    <a:cubicBezTo>
                      <a:pt x="45565" y="38917"/>
                      <a:pt x="45696" y="37723"/>
                      <a:pt x="46097" y="36262"/>
                    </a:cubicBezTo>
                    <a:lnTo>
                      <a:pt x="52606" y="9696"/>
                    </a:lnTo>
                    <a:lnTo>
                      <a:pt x="66552" y="9696"/>
                    </a:lnTo>
                    <a:lnTo>
                      <a:pt x="68810" y="0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pi_t_outline_1"/>
              <p:cNvSpPr/>
              <p:nvPr/>
            </p:nvSpPr>
            <p:spPr>
              <a:xfrm>
                <a:off x="494355" y="393941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8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6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8" y="12244"/>
                    </a:lnTo>
                    <a:lnTo>
                      <a:pt x="20233" y="12244"/>
                    </a:lnTo>
                    <a:lnTo>
                      <a:pt x="22932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4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9" name="gae"/>
            <p:cNvGrpSpPr/>
            <p:nvPr/>
          </p:nvGrpSpPr>
          <p:grpSpPr>
            <a:xfrm>
              <a:off x="273228" y="1427634"/>
              <a:ext cx="442661" cy="143227"/>
              <a:chOff x="273228" y="1427634"/>
              <a:chExt cx="442661" cy="143227"/>
            </a:xfrm>
          </p:grpSpPr>
          <p:sp>
            <p:nvSpPr>
              <p:cNvPr id="130" name="gae_outline_0"/>
              <p:cNvSpPr/>
              <p:nvPr/>
            </p:nvSpPr>
            <p:spPr>
              <a:xfrm>
                <a:off x="273228" y="1427634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3" h="88733">
                    <a:moveTo>
                      <a:pt x="81693" y="88733"/>
                    </a:moveTo>
                    <a:lnTo>
                      <a:pt x="81693" y="86606"/>
                    </a:lnTo>
                    <a:cubicBezTo>
                      <a:pt x="74120" y="85943"/>
                      <a:pt x="73192" y="84880"/>
                      <a:pt x="71596" y="75184"/>
                    </a:cubicBezTo>
                    <a:lnTo>
                      <a:pt x="59111" y="0"/>
                    </a:lnTo>
                    <a:lnTo>
                      <a:pt x="55658" y="0"/>
                    </a:lnTo>
                    <a:lnTo>
                      <a:pt x="17137" y="66417"/>
                    </a:lnTo>
                    <a:cubicBezTo>
                      <a:pt x="6644" y="84086"/>
                      <a:pt x="5314" y="85546"/>
                      <a:pt x="0" y="86606"/>
                    </a:cubicBezTo>
                    <a:lnTo>
                      <a:pt x="0" y="88733"/>
                    </a:lnTo>
                    <a:lnTo>
                      <a:pt x="24840" y="88733"/>
                    </a:lnTo>
                    <a:lnTo>
                      <a:pt x="24840" y="86606"/>
                    </a:lnTo>
                    <a:cubicBezTo>
                      <a:pt x="18066" y="85943"/>
                      <a:pt x="17002" y="85280"/>
                      <a:pt x="17002" y="81959"/>
                    </a:cubicBezTo>
                    <a:cubicBezTo>
                      <a:pt x="17002" y="79435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6" y="77311"/>
                      <a:pt x="59376" y="78506"/>
                      <a:pt x="59376" y="79569"/>
                    </a:cubicBezTo>
                    <a:cubicBezTo>
                      <a:pt x="59376" y="84614"/>
                      <a:pt x="57519" y="85812"/>
                      <a:pt x="49018" y="86606"/>
                    </a:cubicBezTo>
                    <a:lnTo>
                      <a:pt x="49018" y="88733"/>
                    </a:lnTo>
                    <a:lnTo>
                      <a:pt x="81693" y="88733"/>
                    </a:lnTo>
                    <a:close/>
                    <a:moveTo>
                      <a:pt x="55789" y="53931"/>
                    </a:moveTo>
                    <a:lnTo>
                      <a:pt x="30020" y="53931"/>
                    </a:lnTo>
                    <a:lnTo>
                      <a:pt x="49947" y="19395"/>
                    </a:lnTo>
                    <a:lnTo>
                      <a:pt x="55789" y="5393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gae_outline_1"/>
              <p:cNvSpPr/>
              <p:nvPr/>
            </p:nvSpPr>
            <p:spPr>
              <a:xfrm>
                <a:off x="366091" y="1490533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gae_outline_2"/>
              <p:cNvSpPr/>
              <p:nvPr/>
            </p:nvSpPr>
            <p:spPr>
              <a:xfrm>
                <a:off x="430480" y="1502818"/>
                <a:ext cx="18466" cy="32277"/>
              </a:xfrm>
              <a:custGeom>
                <a:avLst/>
                <a:gdLst/>
                <a:ahLst/>
                <a:cxnLst/>
                <a:rect l="0" t="0" r="r" b="b"/>
                <a:pathLst>
                  <a:path w="18467" h="32278">
                    <a:moveTo>
                      <a:pt x="18467" y="12752"/>
                    </a:moveTo>
                    <a:cubicBezTo>
                      <a:pt x="18467" y="1726"/>
                      <a:pt x="10759" y="0"/>
                      <a:pt x="7707" y="0"/>
                    </a:cubicBezTo>
                    <a:cubicBezTo>
                      <a:pt x="4385" y="0"/>
                      <a:pt x="0" y="1992"/>
                      <a:pt x="0" y="7703"/>
                    </a:cubicBezTo>
                    <a:cubicBezTo>
                      <a:pt x="0" y="13017"/>
                      <a:pt x="4782" y="14347"/>
                      <a:pt x="8235" y="14347"/>
                    </a:cubicBezTo>
                    <a:cubicBezTo>
                      <a:pt x="9168" y="14347"/>
                      <a:pt x="9831" y="14212"/>
                      <a:pt x="10231" y="14081"/>
                    </a:cubicBezTo>
                    <a:cubicBezTo>
                      <a:pt x="10759" y="13946"/>
                      <a:pt x="11160" y="13815"/>
                      <a:pt x="11426" y="13815"/>
                    </a:cubicBezTo>
                    <a:cubicBezTo>
                      <a:pt x="12355" y="13815"/>
                      <a:pt x="13283" y="14478"/>
                      <a:pt x="13283" y="15677"/>
                    </a:cubicBezTo>
                    <a:cubicBezTo>
                      <a:pt x="13283" y="18197"/>
                      <a:pt x="11160" y="24178"/>
                      <a:pt x="2393" y="29754"/>
                    </a:cubicBezTo>
                    <a:lnTo>
                      <a:pt x="3588" y="32278"/>
                    </a:lnTo>
                    <a:cubicBezTo>
                      <a:pt x="7572" y="30952"/>
                      <a:pt x="18467" y="22185"/>
                      <a:pt x="18467" y="1275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gae_outline_3"/>
              <p:cNvSpPr/>
              <p:nvPr/>
            </p:nvSpPr>
            <p:spPr>
              <a:xfrm>
                <a:off x="516281" y="1427634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2" h="88733">
                    <a:moveTo>
                      <a:pt x="81692" y="88733"/>
                    </a:moveTo>
                    <a:lnTo>
                      <a:pt x="81692" y="86606"/>
                    </a:lnTo>
                    <a:cubicBezTo>
                      <a:pt x="74121" y="85943"/>
                      <a:pt x="73191" y="84880"/>
                      <a:pt x="71596" y="75184"/>
                    </a:cubicBezTo>
                    <a:lnTo>
                      <a:pt x="59111" y="0"/>
                    </a:lnTo>
                    <a:lnTo>
                      <a:pt x="55657" y="0"/>
                    </a:lnTo>
                    <a:lnTo>
                      <a:pt x="17137" y="66417"/>
                    </a:lnTo>
                    <a:cubicBezTo>
                      <a:pt x="6644" y="84086"/>
                      <a:pt x="5314" y="85546"/>
                      <a:pt x="0" y="86606"/>
                    </a:cubicBezTo>
                    <a:lnTo>
                      <a:pt x="0" y="88733"/>
                    </a:lnTo>
                    <a:lnTo>
                      <a:pt x="24840" y="88733"/>
                    </a:lnTo>
                    <a:lnTo>
                      <a:pt x="24840" y="86606"/>
                    </a:lnTo>
                    <a:cubicBezTo>
                      <a:pt x="18066" y="85943"/>
                      <a:pt x="17002" y="85280"/>
                      <a:pt x="17002" y="81959"/>
                    </a:cubicBezTo>
                    <a:cubicBezTo>
                      <a:pt x="17002" y="79435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5" y="77311"/>
                      <a:pt x="59376" y="78506"/>
                      <a:pt x="59376" y="79569"/>
                    </a:cubicBezTo>
                    <a:cubicBezTo>
                      <a:pt x="59376" y="84614"/>
                      <a:pt x="57519" y="85812"/>
                      <a:pt x="49018" y="86606"/>
                    </a:cubicBezTo>
                    <a:lnTo>
                      <a:pt x="49018" y="88733"/>
                    </a:lnTo>
                    <a:lnTo>
                      <a:pt x="81692" y="88733"/>
                    </a:lnTo>
                    <a:close/>
                    <a:moveTo>
                      <a:pt x="55788" y="53931"/>
                    </a:moveTo>
                    <a:lnTo>
                      <a:pt x="30020" y="53931"/>
                    </a:lnTo>
                    <a:lnTo>
                      <a:pt x="49946" y="19395"/>
                    </a:lnTo>
                    <a:lnTo>
                      <a:pt x="55788" y="5393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gae_outline_4"/>
              <p:cNvSpPr/>
              <p:nvPr/>
            </p:nvSpPr>
            <p:spPr>
              <a:xfrm>
                <a:off x="609947" y="1490533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5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5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gae_outline_5"/>
              <p:cNvSpPr/>
              <p:nvPr/>
            </p:nvSpPr>
            <p:spPr>
              <a:xfrm>
                <a:off x="665252" y="149884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60" name="module_inputs"/>
          <p:cNvGrpSpPr/>
          <p:nvPr/>
        </p:nvGrpSpPr>
        <p:grpSpPr>
          <a:xfrm>
            <a:off x="990600" y="50800"/>
            <a:ext cx="863599" cy="1816099"/>
            <a:chOff x="990600" y="50800"/>
            <a:chExt cx="863599" cy="1816099"/>
          </a:xfrm>
        </p:grpSpPr>
        <p:sp>
          <p:nvSpPr>
            <p:cNvPr id="15" name="inputs" descr="Editable shape; source id inputs"/>
            <p:cNvSpPr/>
            <p:nvPr/>
          </p:nvSpPr>
          <p:spPr>
            <a:xfrm>
              <a:off x="990600" y="50800"/>
              <a:ext cx="863599" cy="1816099"/>
            </a:xfrm>
            <a:prstGeom prst="roundRect">
              <a:avLst>
                <a:gd name="adj" fmla="val 4411"/>
              </a:avLst>
            </a:prstGeom>
            <a:solidFill>
              <a:srgbClr val="FFFFFF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nputs_title" descr="Editable text; source id inputs_title"/>
            <p:cNvSpPr txBox="1"/>
            <p:nvPr/>
          </p:nvSpPr>
          <p:spPr>
            <a:xfrm>
              <a:off x="1028700" y="101600"/>
              <a:ext cx="787400" cy="14859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034"/>
                </a:lnSpc>
                <a:spcBef>
                  <a:spcPts val="0"/>
                </a:spcBef>
                <a:spcAft>
                  <a:spcPts val="0"/>
                </a:spcAft>
                <a:defRPr sz="90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90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rPr>
                <a:t>2  Flow inputs</a:t>
              </a:r>
            </a:p>
          </p:txBody>
        </p:sp>
        <p:sp>
          <p:nvSpPr>
            <p:cNvPr id="17" name="sample0" descr="Editable shape; source id sample0"/>
            <p:cNvSpPr/>
            <p:nvPr/>
          </p:nvSpPr>
          <p:spPr>
            <a:xfrm>
              <a:off x="1062990" y="478789"/>
              <a:ext cx="33020" cy="33020"/>
            </a:xfrm>
            <a:prstGeom prst="ellipse">
              <a:avLst/>
            </a:prstGeom>
            <a:solidFill>
              <a:srgbClr val="DDE5EB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ample1" descr="Editable shape; source id sample1"/>
            <p:cNvSpPr/>
            <p:nvPr/>
          </p:nvSpPr>
          <p:spPr>
            <a:xfrm>
              <a:off x="1126490" y="542289"/>
              <a:ext cx="33020" cy="33020"/>
            </a:xfrm>
            <a:prstGeom prst="ellipse">
              <a:avLst/>
            </a:prstGeom>
            <a:solidFill>
              <a:srgbClr val="DDE5EB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ample2" descr="Editable shape; source id sample2"/>
            <p:cNvSpPr/>
            <p:nvPr/>
          </p:nvSpPr>
          <p:spPr>
            <a:xfrm>
              <a:off x="1050290" y="643890"/>
              <a:ext cx="33020" cy="33020"/>
            </a:xfrm>
            <a:prstGeom prst="ellipse">
              <a:avLst/>
            </a:prstGeom>
            <a:solidFill>
              <a:srgbClr val="DDE5EB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sample3" descr="Editable shape; source id sample3"/>
            <p:cNvSpPr/>
            <p:nvPr/>
          </p:nvSpPr>
          <p:spPr>
            <a:xfrm>
              <a:off x="1126490" y="732789"/>
              <a:ext cx="33020" cy="33020"/>
            </a:xfrm>
            <a:prstGeom prst="ellipse">
              <a:avLst/>
            </a:prstGeom>
            <a:solidFill>
              <a:srgbClr val="DDE5EB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sample4" descr="Editable shape; source id sample4"/>
            <p:cNvSpPr/>
            <p:nvPr/>
          </p:nvSpPr>
          <p:spPr>
            <a:xfrm>
              <a:off x="1062990" y="834389"/>
              <a:ext cx="33020" cy="33020"/>
            </a:xfrm>
            <a:prstGeom prst="ellipse">
              <a:avLst/>
            </a:prstGeom>
            <a:solidFill>
              <a:srgbClr val="DDE5EB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sample5" descr="Editable shape; source id sample5"/>
            <p:cNvSpPr/>
            <p:nvPr/>
          </p:nvSpPr>
          <p:spPr>
            <a:xfrm>
              <a:off x="1151890" y="923290"/>
              <a:ext cx="33020" cy="33020"/>
            </a:xfrm>
            <a:prstGeom prst="ellipse">
              <a:avLst/>
            </a:prstGeom>
            <a:solidFill>
              <a:srgbClr val="DDE5EB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clusteredge0_0" descr="Editable line; source id clusteredge0_0"/>
            <p:cNvSpPr/>
            <p:nvPr/>
          </p:nvSpPr>
          <p:spPr>
            <a:xfrm>
              <a:off x="1327318" y="488086"/>
              <a:ext cx="123576" cy="169057"/>
            </a:xfrm>
            <a:custGeom>
              <a:avLst/>
              <a:gdLst/>
              <a:ahLst/>
              <a:cxnLst/>
              <a:rect l="l" t="t" r="r" b="b"/>
              <a:pathLst>
                <a:path w="48652" h="66558">
                  <a:moveTo>
                    <a:pt x="0" y="64802"/>
                  </a:moveTo>
                  <a:lnTo>
                    <a:pt x="37775" y="12498"/>
                  </a:lnTo>
                  <a:lnTo>
                    <a:pt x="33924" y="9717"/>
                  </a:lnTo>
                  <a:lnTo>
                    <a:pt x="48652" y="0"/>
                  </a:lnTo>
                  <a:lnTo>
                    <a:pt x="44058" y="17036"/>
                  </a:lnTo>
                  <a:lnTo>
                    <a:pt x="40207" y="14255"/>
                  </a:lnTo>
                  <a:lnTo>
                    <a:pt x="2432" y="66558"/>
                  </a:lnTo>
                  <a:close/>
                </a:path>
              </a:pathLst>
            </a:custGeom>
            <a:solidFill>
              <a:srgbClr val="264C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clusteredge1_0" descr="Editable line; source id clusteredge1_0"/>
            <p:cNvSpPr/>
            <p:nvPr/>
          </p:nvSpPr>
          <p:spPr>
            <a:xfrm>
              <a:off x="1504264" y="472991"/>
              <a:ext cx="177264" cy="104818"/>
            </a:xfrm>
            <a:custGeom>
              <a:avLst/>
              <a:gdLst/>
              <a:ahLst/>
              <a:cxnLst/>
              <a:rect l="l" t="t" r="r" b="b"/>
              <a:pathLst>
                <a:path w="69789" h="41267">
                  <a:moveTo>
                    <a:pt x="1503" y="0"/>
                  </a:moveTo>
                  <a:lnTo>
                    <a:pt x="56261" y="31702"/>
                  </a:lnTo>
                  <a:lnTo>
                    <a:pt x="58641" y="27591"/>
                  </a:lnTo>
                  <a:lnTo>
                    <a:pt x="69789" y="41267"/>
                  </a:lnTo>
                  <a:lnTo>
                    <a:pt x="52378" y="38409"/>
                  </a:lnTo>
                  <a:lnTo>
                    <a:pt x="54758" y="34298"/>
                  </a:lnTo>
                  <a:lnTo>
                    <a:pt x="0" y="2597"/>
                  </a:lnTo>
                  <a:close/>
                </a:path>
              </a:pathLst>
            </a:custGeom>
            <a:solidFill>
              <a:srgbClr val="264C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clusteredge2_0" descr="Editable line; source id clusteredge2_0"/>
            <p:cNvSpPr/>
            <p:nvPr/>
          </p:nvSpPr>
          <p:spPr>
            <a:xfrm>
              <a:off x="1335123" y="707039"/>
              <a:ext cx="299136" cy="246677"/>
            </a:xfrm>
            <a:custGeom>
              <a:avLst/>
              <a:gdLst/>
              <a:ahLst/>
              <a:cxnLst/>
              <a:rect l="l" t="t" r="r" b="b"/>
              <a:pathLst>
                <a:path w="117770" h="97117">
                  <a:moveTo>
                    <a:pt x="1904" y="0"/>
                  </a:moveTo>
                  <a:lnTo>
                    <a:pt x="105972" y="85485"/>
                  </a:lnTo>
                  <a:lnTo>
                    <a:pt x="108987" y="81814"/>
                  </a:lnTo>
                  <a:lnTo>
                    <a:pt x="117770" y="97117"/>
                  </a:lnTo>
                  <a:lnTo>
                    <a:pt x="101053" y="91473"/>
                  </a:lnTo>
                  <a:lnTo>
                    <a:pt x="104068" y="87803"/>
                  </a:lnTo>
                  <a:lnTo>
                    <a:pt x="0" y="2318"/>
                  </a:lnTo>
                  <a:close/>
                </a:path>
              </a:pathLst>
            </a:custGeom>
            <a:solidFill>
              <a:srgbClr val="264C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clusteredge3_0" descr="Editable line; source id clusteredge3_0"/>
            <p:cNvSpPr/>
            <p:nvPr/>
          </p:nvSpPr>
          <p:spPr>
            <a:xfrm>
              <a:off x="1313287" y="721959"/>
              <a:ext cx="67777" cy="244292"/>
            </a:xfrm>
            <a:custGeom>
              <a:avLst/>
              <a:gdLst/>
              <a:ahLst/>
              <a:cxnLst/>
              <a:rect l="l" t="t" r="r" b="b"/>
              <a:pathLst>
                <a:path w="26684" h="96178">
                  <a:moveTo>
                    <a:pt x="2917" y="0"/>
                  </a:moveTo>
                  <a:lnTo>
                    <a:pt x="22065" y="79784"/>
                  </a:lnTo>
                  <a:lnTo>
                    <a:pt x="26684" y="78675"/>
                  </a:lnTo>
                  <a:lnTo>
                    <a:pt x="24457" y="96178"/>
                  </a:lnTo>
                  <a:lnTo>
                    <a:pt x="14529" y="81592"/>
                  </a:lnTo>
                  <a:lnTo>
                    <a:pt x="19148" y="80484"/>
                  </a:lnTo>
                  <a:lnTo>
                    <a:pt x="0" y="700"/>
                  </a:lnTo>
                  <a:close/>
                </a:path>
              </a:pathLst>
            </a:custGeom>
            <a:solidFill>
              <a:srgbClr val="264C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clusteredge4_0" descr="Editable line; source id clusteredge4_0"/>
            <p:cNvSpPr/>
            <p:nvPr/>
          </p:nvSpPr>
          <p:spPr>
            <a:xfrm>
              <a:off x="1658539" y="634162"/>
              <a:ext cx="54701" cy="305973"/>
            </a:xfrm>
            <a:custGeom>
              <a:avLst/>
              <a:gdLst/>
              <a:ahLst/>
              <a:cxnLst/>
              <a:rect l="l" t="t" r="r" b="b"/>
              <a:pathLst>
                <a:path w="21536" h="120462">
                  <a:moveTo>
                    <a:pt x="21536" y="397"/>
                  </a:moveTo>
                  <a:lnTo>
                    <a:pt x="7682" y="104305"/>
                  </a:lnTo>
                  <a:lnTo>
                    <a:pt x="12390" y="104932"/>
                  </a:lnTo>
                  <a:lnTo>
                    <a:pt x="4014" y="120462"/>
                  </a:lnTo>
                  <a:lnTo>
                    <a:pt x="0" y="103280"/>
                  </a:lnTo>
                  <a:lnTo>
                    <a:pt x="4708" y="103908"/>
                  </a:lnTo>
                  <a:lnTo>
                    <a:pt x="18563" y="0"/>
                  </a:lnTo>
                  <a:close/>
                </a:path>
              </a:pathLst>
            </a:custGeom>
            <a:solidFill>
              <a:srgbClr val="264C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clusteredge5_0" descr="Editable line; source id clusteredge5_0"/>
            <p:cNvSpPr/>
            <p:nvPr/>
          </p:nvSpPr>
          <p:spPr>
            <a:xfrm>
              <a:off x="1421900" y="969335"/>
              <a:ext cx="203858" cy="34310"/>
            </a:xfrm>
            <a:custGeom>
              <a:avLst/>
              <a:gdLst/>
              <a:ahLst/>
              <a:cxnLst/>
              <a:rect l="l" t="t" r="r" b="b"/>
              <a:pathLst>
                <a:path w="80259" h="13508">
                  <a:moveTo>
                    <a:pt x="0" y="10520"/>
                  </a:moveTo>
                  <a:lnTo>
                    <a:pt x="63691" y="4730"/>
                  </a:lnTo>
                  <a:lnTo>
                    <a:pt x="63261" y="0"/>
                  </a:lnTo>
                  <a:lnTo>
                    <a:pt x="80259" y="4730"/>
                  </a:lnTo>
                  <a:lnTo>
                    <a:pt x="64392" y="12448"/>
                  </a:lnTo>
                  <a:lnTo>
                    <a:pt x="63962" y="7718"/>
                  </a:lnTo>
                  <a:lnTo>
                    <a:pt x="271" y="13508"/>
                  </a:lnTo>
                  <a:close/>
                </a:path>
              </a:pathLst>
            </a:custGeom>
            <a:solidFill>
              <a:srgbClr val="264C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cluster0" descr="Editable shape; source id cluster0"/>
            <p:cNvSpPr/>
            <p:nvPr/>
          </p:nvSpPr>
          <p:spPr>
            <a:xfrm>
              <a:off x="1270000" y="647699"/>
              <a:ext cx="76200" cy="76200"/>
            </a:xfrm>
            <a:prstGeom prst="ellipse">
              <a:avLst/>
            </a:prstGeom>
            <a:solidFill>
              <a:srgbClr val="DCE9F2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cluster1" descr="Editable shape; source id cluster1"/>
            <p:cNvSpPr/>
            <p:nvPr/>
          </p:nvSpPr>
          <p:spPr>
            <a:xfrm>
              <a:off x="1435100" y="419099"/>
              <a:ext cx="76200" cy="76200"/>
            </a:xfrm>
            <a:prstGeom prst="ellipse">
              <a:avLst/>
            </a:prstGeom>
            <a:solidFill>
              <a:srgbClr val="DCE9F2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cluster2" descr="Editable shape; source id cluster2"/>
            <p:cNvSpPr/>
            <p:nvPr/>
          </p:nvSpPr>
          <p:spPr>
            <a:xfrm>
              <a:off x="1676400" y="558800"/>
              <a:ext cx="76200" cy="76200"/>
            </a:xfrm>
            <a:prstGeom prst="ellipse">
              <a:avLst/>
            </a:prstGeom>
            <a:solidFill>
              <a:srgbClr val="DCE9F2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cluster3" descr="Editable shape; source id cluster3"/>
            <p:cNvSpPr/>
            <p:nvPr/>
          </p:nvSpPr>
          <p:spPr>
            <a:xfrm>
              <a:off x="1625600" y="939799"/>
              <a:ext cx="76200" cy="76200"/>
            </a:xfrm>
            <a:prstGeom prst="ellipse">
              <a:avLst/>
            </a:prstGeom>
            <a:solidFill>
              <a:srgbClr val="DCE9F2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cluster4" descr="Editable shape; source id cluster4"/>
            <p:cNvSpPr/>
            <p:nvPr/>
          </p:nvSpPr>
          <p:spPr>
            <a:xfrm>
              <a:off x="1346200" y="965199"/>
              <a:ext cx="76200" cy="76200"/>
            </a:xfrm>
            <a:prstGeom prst="ellipse">
              <a:avLst/>
            </a:prstGeom>
            <a:solidFill>
              <a:srgbClr val="DCE9F2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cluster_transform_0" descr="Editable line; source id cluster_transform_0"/>
            <p:cNvSpPr/>
            <p:nvPr/>
          </p:nvSpPr>
          <p:spPr>
            <a:xfrm>
              <a:off x="1153996" y="644291"/>
              <a:ext cx="77904" cy="41509"/>
            </a:xfrm>
            <a:custGeom>
              <a:avLst/>
              <a:gdLst/>
              <a:ahLst/>
              <a:cxnLst/>
              <a:rect l="l" t="t" r="r" b="b"/>
              <a:pathLst>
                <a:path w="30671" h="16342">
                  <a:moveTo>
                    <a:pt x="1342" y="0"/>
                  </a:moveTo>
                  <a:lnTo>
                    <a:pt x="16584" y="7621"/>
                  </a:lnTo>
                  <a:lnTo>
                    <a:pt x="18708" y="3373"/>
                  </a:lnTo>
                  <a:lnTo>
                    <a:pt x="30671" y="16342"/>
                  </a:lnTo>
                  <a:lnTo>
                    <a:pt x="13118" y="14553"/>
                  </a:lnTo>
                  <a:lnTo>
                    <a:pt x="15242" y="10305"/>
                  </a:lnTo>
                  <a:lnTo>
                    <a:pt x="0" y="2684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clusters_label" descr="Editable text; source id clusters_label"/>
            <p:cNvSpPr txBox="1"/>
            <p:nvPr/>
          </p:nvSpPr>
          <p:spPr>
            <a:xfrm>
              <a:off x="1028700" y="1104900"/>
              <a:ext cx="787400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rPr>
                <a:t>clustered states</a:t>
              </a:r>
            </a:p>
          </p:txBody>
        </p:sp>
        <p:sp>
          <p:nvSpPr>
            <p:cNvPr id="36" name="attributes" descr="Editable shape; source id attributes"/>
            <p:cNvSpPr/>
            <p:nvPr/>
          </p:nvSpPr>
          <p:spPr>
            <a:xfrm>
              <a:off x="1066800" y="1308099"/>
              <a:ext cx="711199" cy="482599"/>
            </a:xfrm>
            <a:prstGeom prst="roundRect">
              <a:avLst>
                <a:gd name="adj" fmla="val 2631"/>
              </a:avLst>
            </a:prstGeom>
            <a:solidFill>
              <a:srgbClr val="F7F9FA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attributes_title" descr="Editable text; source id attributes_title"/>
            <p:cNvSpPr txBox="1"/>
            <p:nvPr/>
          </p:nvSpPr>
          <p:spPr>
            <a:xfrm>
              <a:off x="1079500" y="1333500"/>
              <a:ext cx="6857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edge attributes</a:t>
              </a:r>
            </a:p>
          </p:txBody>
        </p:sp>
        <p:grpSp>
          <p:nvGrpSpPr>
            <p:cNvPr id="140" name="attribute_names"/>
            <p:cNvGrpSpPr/>
            <p:nvPr/>
          </p:nvGrpSpPr>
          <p:grpSpPr>
            <a:xfrm>
              <a:off x="1123959" y="1555417"/>
              <a:ext cx="590754" cy="140863"/>
              <a:chOff x="1123959" y="1555417"/>
              <a:chExt cx="590754" cy="140863"/>
            </a:xfrm>
          </p:grpSpPr>
          <p:sp>
            <p:nvSpPr>
              <p:cNvPr id="141" name="attribute_names_outline_0"/>
              <p:cNvSpPr/>
              <p:nvPr/>
            </p:nvSpPr>
            <p:spPr>
              <a:xfrm>
                <a:off x="1159421" y="1555417"/>
                <a:ext cx="41310" cy="22185"/>
              </a:xfrm>
              <a:custGeom>
                <a:avLst/>
                <a:gdLst/>
                <a:ahLst/>
                <a:cxnLst/>
                <a:rect l="0" t="0" r="r" b="b"/>
                <a:pathLst>
                  <a:path w="41311" h="22185">
                    <a:moveTo>
                      <a:pt x="41311" y="22185"/>
                    </a:moveTo>
                    <a:lnTo>
                      <a:pt x="24710" y="0"/>
                    </a:lnTo>
                    <a:lnTo>
                      <a:pt x="16470" y="0"/>
                    </a:lnTo>
                    <a:lnTo>
                      <a:pt x="0" y="22185"/>
                    </a:lnTo>
                    <a:lnTo>
                      <a:pt x="4516" y="22185"/>
                    </a:lnTo>
                    <a:lnTo>
                      <a:pt x="20590" y="8501"/>
                    </a:lnTo>
                    <a:lnTo>
                      <a:pt x="36794" y="22185"/>
                    </a:lnTo>
                    <a:lnTo>
                      <a:pt x="41311" y="22185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attribute_names_outline_1"/>
              <p:cNvSpPr/>
              <p:nvPr/>
            </p:nvSpPr>
            <p:spPr>
              <a:xfrm>
                <a:off x="1123959" y="1585245"/>
                <a:ext cx="84613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8"/>
                    </a:cubicBezTo>
                    <a:cubicBezTo>
                      <a:pt x="28690" y="9565"/>
                      <a:pt x="28158" y="12752"/>
                      <a:pt x="27230" y="16074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2"/>
                      <a:pt x="50875" y="4382"/>
                    </a:cubicBezTo>
                    <a:cubicBezTo>
                      <a:pt x="73323" y="4382"/>
                      <a:pt x="77974" y="6112"/>
                      <a:pt x="77974" y="14478"/>
                    </a:cubicBezTo>
                    <a:cubicBezTo>
                      <a:pt x="77974" y="15411"/>
                      <a:pt x="77974" y="15939"/>
                      <a:pt x="77839" y="17534"/>
                    </a:cubicBezTo>
                    <a:cubicBezTo>
                      <a:pt x="77708" y="18463"/>
                      <a:pt x="77708" y="18995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attribute_names_outline_2"/>
              <p:cNvSpPr/>
              <p:nvPr/>
            </p:nvSpPr>
            <p:spPr>
              <a:xfrm>
                <a:off x="1348733" y="1583252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3" h="88733">
                    <a:moveTo>
                      <a:pt x="81693" y="88733"/>
                    </a:moveTo>
                    <a:lnTo>
                      <a:pt x="81693" y="86606"/>
                    </a:lnTo>
                    <a:cubicBezTo>
                      <a:pt x="74121" y="85943"/>
                      <a:pt x="73191" y="84880"/>
                      <a:pt x="71596" y="75184"/>
                    </a:cubicBezTo>
                    <a:lnTo>
                      <a:pt x="59111" y="0"/>
                    </a:lnTo>
                    <a:lnTo>
                      <a:pt x="55658" y="0"/>
                    </a:lnTo>
                    <a:lnTo>
                      <a:pt x="17137" y="66417"/>
                    </a:lnTo>
                    <a:cubicBezTo>
                      <a:pt x="6643" y="84086"/>
                      <a:pt x="5315" y="85546"/>
                      <a:pt x="0" y="86606"/>
                    </a:cubicBezTo>
                    <a:lnTo>
                      <a:pt x="0" y="88733"/>
                    </a:lnTo>
                    <a:lnTo>
                      <a:pt x="24841" y="88733"/>
                    </a:lnTo>
                    <a:lnTo>
                      <a:pt x="24841" y="86606"/>
                    </a:lnTo>
                    <a:cubicBezTo>
                      <a:pt x="18066" y="85943"/>
                      <a:pt x="17003" y="85280"/>
                      <a:pt x="17003" y="81959"/>
                    </a:cubicBezTo>
                    <a:cubicBezTo>
                      <a:pt x="17003" y="79435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5" y="77311"/>
                      <a:pt x="59376" y="78506"/>
                      <a:pt x="59376" y="79569"/>
                    </a:cubicBezTo>
                    <a:cubicBezTo>
                      <a:pt x="59376" y="84614"/>
                      <a:pt x="57520" y="85812"/>
                      <a:pt x="49018" y="86606"/>
                    </a:cubicBezTo>
                    <a:lnTo>
                      <a:pt x="49018" y="88733"/>
                    </a:lnTo>
                    <a:lnTo>
                      <a:pt x="81693" y="88733"/>
                    </a:lnTo>
                    <a:close/>
                    <a:moveTo>
                      <a:pt x="55789" y="53931"/>
                    </a:moveTo>
                    <a:lnTo>
                      <a:pt x="30020" y="53931"/>
                    </a:lnTo>
                    <a:lnTo>
                      <a:pt x="49947" y="19395"/>
                    </a:lnTo>
                    <a:lnTo>
                      <a:pt x="55789" y="5393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attribute_names_outline_3"/>
              <p:cNvSpPr/>
              <p:nvPr/>
            </p:nvSpPr>
            <p:spPr>
              <a:xfrm>
                <a:off x="1577889" y="1583518"/>
                <a:ext cx="82755" cy="90856"/>
              </a:xfrm>
              <a:custGeom>
                <a:avLst/>
                <a:gdLst/>
                <a:ahLst/>
                <a:cxnLst/>
                <a:rect l="0" t="0" r="r" b="b"/>
                <a:pathLst>
                  <a:path w="82756" h="90857">
                    <a:moveTo>
                      <a:pt x="70933" y="71064"/>
                    </a:moveTo>
                    <a:lnTo>
                      <a:pt x="68675" y="69207"/>
                    </a:lnTo>
                    <a:cubicBezTo>
                      <a:pt x="56721" y="81030"/>
                      <a:pt x="49018" y="84880"/>
                      <a:pt x="38123" y="84880"/>
                    </a:cubicBezTo>
                    <a:cubicBezTo>
                      <a:pt x="23379" y="84880"/>
                      <a:pt x="14878" y="74918"/>
                      <a:pt x="14878" y="57650"/>
                    </a:cubicBezTo>
                    <a:cubicBezTo>
                      <a:pt x="14878" y="41842"/>
                      <a:pt x="21252" y="25769"/>
                      <a:pt x="31614" y="15010"/>
                    </a:cubicBezTo>
                    <a:cubicBezTo>
                      <a:pt x="37992" y="8366"/>
                      <a:pt x="46359" y="4782"/>
                      <a:pt x="55126" y="4782"/>
                    </a:cubicBezTo>
                    <a:cubicBezTo>
                      <a:pt x="67346" y="4782"/>
                      <a:pt x="74120" y="11954"/>
                      <a:pt x="75449" y="26301"/>
                    </a:cubicBezTo>
                    <a:lnTo>
                      <a:pt x="77842" y="26698"/>
                    </a:lnTo>
                    <a:lnTo>
                      <a:pt x="82756" y="266"/>
                    </a:lnTo>
                    <a:lnTo>
                      <a:pt x="79966" y="266"/>
                    </a:lnTo>
                    <a:cubicBezTo>
                      <a:pt x="78903" y="2389"/>
                      <a:pt x="77577" y="3187"/>
                      <a:pt x="74917" y="3187"/>
                    </a:cubicBezTo>
                    <a:cubicBezTo>
                      <a:pt x="73724" y="3187"/>
                      <a:pt x="72263" y="2921"/>
                      <a:pt x="69473" y="2258"/>
                    </a:cubicBezTo>
                    <a:cubicBezTo>
                      <a:pt x="63627" y="798"/>
                      <a:pt x="58312" y="0"/>
                      <a:pt x="53931" y="0"/>
                    </a:cubicBezTo>
                    <a:cubicBezTo>
                      <a:pt x="25503" y="0"/>
                      <a:pt x="0" y="26567"/>
                      <a:pt x="0" y="56189"/>
                    </a:cubicBezTo>
                    <a:cubicBezTo>
                      <a:pt x="0" y="76513"/>
                      <a:pt x="14347" y="90857"/>
                      <a:pt x="34671" y="90857"/>
                    </a:cubicBezTo>
                    <a:cubicBezTo>
                      <a:pt x="48351" y="90857"/>
                      <a:pt x="58979" y="85146"/>
                      <a:pt x="70933" y="7106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attribute_names_outline_4"/>
              <p:cNvSpPr/>
              <p:nvPr/>
            </p:nvSpPr>
            <p:spPr>
              <a:xfrm>
                <a:off x="1664076" y="162426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9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5" y="59873"/>
                      <a:pt x="26356" y="63504"/>
                    </a:cubicBezTo>
                    <a:cubicBezTo>
                      <a:pt x="30298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61" name="module_budgets"/>
          <p:cNvGrpSpPr/>
          <p:nvPr/>
        </p:nvGrpSpPr>
        <p:grpSpPr>
          <a:xfrm>
            <a:off x="1930400" y="50800"/>
            <a:ext cx="965199" cy="1816099"/>
            <a:chOff x="1930400" y="50800"/>
            <a:chExt cx="965199" cy="1816099"/>
          </a:xfrm>
        </p:grpSpPr>
        <p:sp>
          <p:nvSpPr>
            <p:cNvPr id="38" name="budgets" descr="Editable shape; source id budgets"/>
            <p:cNvSpPr/>
            <p:nvPr/>
          </p:nvSpPr>
          <p:spPr>
            <a:xfrm>
              <a:off x="1930400" y="50800"/>
              <a:ext cx="965199" cy="1816099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budgets_title" descr="Editable text; source id budgets_title"/>
            <p:cNvSpPr txBox="1"/>
            <p:nvPr/>
          </p:nvSpPr>
          <p:spPr>
            <a:xfrm>
              <a:off x="1968500" y="101600"/>
              <a:ext cx="888999" cy="14859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034"/>
                </a:lnSpc>
                <a:spcBef>
                  <a:spcPts val="0"/>
                </a:spcBef>
                <a:spcAft>
                  <a:spcPts val="0"/>
                </a:spcAft>
                <a:defRPr sz="90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90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rPr>
                <a:t>3  Constraints</a:t>
              </a:r>
            </a:p>
          </p:txBody>
        </p:sp>
        <p:sp>
          <p:nvSpPr>
            <p:cNvPr id="40" name="soft_label" descr="Editable text; source id soft_label"/>
            <p:cNvSpPr txBox="1"/>
            <p:nvPr/>
          </p:nvSpPr>
          <p:spPr>
            <a:xfrm>
              <a:off x="1981200" y="330199"/>
              <a:ext cx="8635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soft budgets</a:t>
              </a:r>
            </a:p>
          </p:txBody>
        </p:sp>
        <p:sp>
          <p:nvSpPr>
            <p:cNvPr id="41" name="bound_strip0" descr="Editable shape; source id bound_strip0"/>
            <p:cNvSpPr/>
            <p:nvPr/>
          </p:nvSpPr>
          <p:spPr>
            <a:xfrm>
              <a:off x="2044700" y="825499"/>
              <a:ext cx="723899" cy="50800"/>
            </a:xfrm>
            <a:prstGeom prst="rect">
              <a:avLst/>
            </a:prstGeom>
            <a:solidFill>
              <a:srgbClr val="EAF1F4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2" name="bound_mark0_0" descr="Editable line; source id bound_mark0_0"/>
            <p:cNvCxnSpPr/>
            <p:nvPr/>
          </p:nvCxnSpPr>
          <p:spPr>
            <a:xfrm>
              <a:off x="2540000" y="825499"/>
              <a:ext cx="0" cy="50800"/>
            </a:xfrm>
            <a:prstGeom prst="line">
              <a:avLst/>
            </a:prstGeom>
            <a:ln w="6984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bound_strip1" descr="Editable shape; source id bound_strip1"/>
            <p:cNvSpPr/>
            <p:nvPr/>
          </p:nvSpPr>
          <p:spPr>
            <a:xfrm>
              <a:off x="2044700" y="914399"/>
              <a:ext cx="723899" cy="50800"/>
            </a:xfrm>
            <a:prstGeom prst="rect">
              <a:avLst/>
            </a:prstGeom>
            <a:solidFill>
              <a:srgbClr val="EAF1F4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bound_mark1_0" descr="Editable line; source id bound_mark1_0"/>
            <p:cNvCxnSpPr/>
            <p:nvPr/>
          </p:nvCxnSpPr>
          <p:spPr>
            <a:xfrm>
              <a:off x="2540000" y="914399"/>
              <a:ext cx="0" cy="50800"/>
            </a:xfrm>
            <a:prstGeom prst="line">
              <a:avLst/>
            </a:prstGeom>
            <a:ln w="6984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bound_strip2" descr="Editable shape; source id bound_strip2"/>
            <p:cNvSpPr/>
            <p:nvPr/>
          </p:nvSpPr>
          <p:spPr>
            <a:xfrm>
              <a:off x="2044700" y="1003299"/>
              <a:ext cx="723899" cy="50800"/>
            </a:xfrm>
            <a:prstGeom prst="rect">
              <a:avLst/>
            </a:prstGeom>
            <a:solidFill>
              <a:srgbClr val="EAF1F4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" name="bound_mark2_0" descr="Editable line; source id bound_mark2_0"/>
            <p:cNvCxnSpPr/>
            <p:nvPr/>
          </p:nvCxnSpPr>
          <p:spPr>
            <a:xfrm>
              <a:off x="2540000" y="1003299"/>
              <a:ext cx="0" cy="50801"/>
            </a:xfrm>
            <a:prstGeom prst="line">
              <a:avLst/>
            </a:prstGeom>
            <a:ln w="6984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hard_label" descr="Editable text; source id hard_label"/>
            <p:cNvSpPr txBox="1"/>
            <p:nvPr/>
          </p:nvSpPr>
          <p:spPr>
            <a:xfrm>
              <a:off x="1981200" y="1397000"/>
              <a:ext cx="8635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B14747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B14747"/>
                  </a:solidFill>
                  <a:latin typeface="Liberation Sans"/>
                  <a:ea typeface="Liberation Sans"/>
                  <a:cs typeface="Liberation Sans"/>
                </a:rPr>
                <a:t>hard exclusion</a:t>
              </a:r>
            </a:p>
          </p:txBody>
        </p:sp>
        <p:sp>
          <p:nvSpPr>
            <p:cNvPr id="48" name="hard_from" descr="Editable shape; source id hard_from"/>
            <p:cNvSpPr/>
            <p:nvPr/>
          </p:nvSpPr>
          <p:spPr>
            <a:xfrm>
              <a:off x="2006600" y="1663699"/>
              <a:ext cx="76200" cy="7620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hard_to" descr="Editable shape; source id hard_to"/>
            <p:cNvSpPr/>
            <p:nvPr/>
          </p:nvSpPr>
          <p:spPr>
            <a:xfrm>
              <a:off x="2349500" y="1663699"/>
              <a:ext cx="76200" cy="7620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hard_edge_0" descr="Editable line; source id hard_edge_0"/>
            <p:cNvCxnSpPr/>
            <p:nvPr/>
          </p:nvCxnSpPr>
          <p:spPr>
            <a:xfrm>
              <a:off x="2095500" y="1701799"/>
              <a:ext cx="241300" cy="0"/>
            </a:xfrm>
            <a:prstGeom prst="line">
              <a:avLst/>
            </a:prstGeom>
            <a:ln w="8890">
              <a:solidFill>
                <a:srgbClr val="B14747"/>
              </a:solidFill>
              <a:custDash>
                <a:ds d="285714" sp="25714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hard_x1_0" descr="Editable line; source id hard_x1_0"/>
            <p:cNvCxnSpPr/>
            <p:nvPr/>
          </p:nvCxnSpPr>
          <p:spPr>
            <a:xfrm>
              <a:off x="2184400" y="1663699"/>
              <a:ext cx="76200" cy="76200"/>
            </a:xfrm>
            <a:prstGeom prst="line">
              <a:avLst/>
            </a:prstGeom>
            <a:ln w="12699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hard_x2_0" descr="Editable line; source id hard_x2_0"/>
            <p:cNvCxnSpPr/>
            <p:nvPr/>
          </p:nvCxnSpPr>
          <p:spPr>
            <a:xfrm flipV="1">
              <a:off x="2184400" y="1663699"/>
              <a:ext cx="76200" cy="76200"/>
            </a:xfrm>
            <a:prstGeom prst="line">
              <a:avLst/>
            </a:prstGeom>
            <a:ln w="12699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6" name="budget_rule"/>
            <p:cNvGrpSpPr/>
            <p:nvPr/>
          </p:nvGrpSpPr>
          <p:grpSpPr>
            <a:xfrm>
              <a:off x="2068520" y="549628"/>
              <a:ext cx="689885" cy="119550"/>
              <a:chOff x="2068520" y="549628"/>
              <a:chExt cx="689885" cy="119550"/>
            </a:xfrm>
          </p:grpSpPr>
          <p:sp>
            <p:nvSpPr>
              <p:cNvPr id="147" name="budget_rule_outline_0"/>
              <p:cNvSpPr/>
              <p:nvPr/>
            </p:nvSpPr>
            <p:spPr>
              <a:xfrm>
                <a:off x="2068520" y="549628"/>
                <a:ext cx="34932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933" h="119551">
                    <a:moveTo>
                      <a:pt x="34933" y="119551"/>
                    </a:moveTo>
                    <a:lnTo>
                      <a:pt x="9164" y="59773"/>
                    </a:lnTo>
                    <a:lnTo>
                      <a:pt x="34933" y="0"/>
                    </a:lnTo>
                    <a:lnTo>
                      <a:pt x="28559" y="0"/>
                    </a:lnTo>
                    <a:lnTo>
                      <a:pt x="0" y="59773"/>
                    </a:lnTo>
                    <a:lnTo>
                      <a:pt x="28559" y="119551"/>
                    </a:lnTo>
                    <a:lnTo>
                      <a:pt x="34933" y="11955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budget_rule_outline_1"/>
              <p:cNvSpPr/>
              <p:nvPr/>
            </p:nvSpPr>
            <p:spPr>
              <a:xfrm>
                <a:off x="2116745" y="555073"/>
                <a:ext cx="82756" cy="90856"/>
              </a:xfrm>
              <a:custGeom>
                <a:avLst/>
                <a:gdLst/>
                <a:ahLst/>
                <a:cxnLst/>
                <a:rect l="0" t="0" r="r" b="b"/>
                <a:pathLst>
                  <a:path w="82756" h="90857">
                    <a:moveTo>
                      <a:pt x="70933" y="71064"/>
                    </a:moveTo>
                    <a:lnTo>
                      <a:pt x="68675" y="69207"/>
                    </a:lnTo>
                    <a:cubicBezTo>
                      <a:pt x="56721" y="81030"/>
                      <a:pt x="49018" y="84880"/>
                      <a:pt x="38124" y="84880"/>
                    </a:cubicBezTo>
                    <a:cubicBezTo>
                      <a:pt x="23380" y="84880"/>
                      <a:pt x="14879" y="74918"/>
                      <a:pt x="14879" y="57650"/>
                    </a:cubicBezTo>
                    <a:cubicBezTo>
                      <a:pt x="14879" y="41842"/>
                      <a:pt x="21253" y="25769"/>
                      <a:pt x="31615" y="15010"/>
                    </a:cubicBezTo>
                    <a:cubicBezTo>
                      <a:pt x="37993" y="8366"/>
                      <a:pt x="46359" y="4782"/>
                      <a:pt x="55126" y="4782"/>
                    </a:cubicBezTo>
                    <a:cubicBezTo>
                      <a:pt x="67346" y="4782"/>
                      <a:pt x="74120" y="11954"/>
                      <a:pt x="75450" y="26301"/>
                    </a:cubicBezTo>
                    <a:lnTo>
                      <a:pt x="77843" y="26698"/>
                    </a:lnTo>
                    <a:lnTo>
                      <a:pt x="82756" y="266"/>
                    </a:lnTo>
                    <a:lnTo>
                      <a:pt x="79966" y="266"/>
                    </a:lnTo>
                    <a:cubicBezTo>
                      <a:pt x="78903" y="2389"/>
                      <a:pt x="77577" y="3187"/>
                      <a:pt x="74918" y="3187"/>
                    </a:cubicBezTo>
                    <a:cubicBezTo>
                      <a:pt x="73724" y="3187"/>
                      <a:pt x="72263" y="2921"/>
                      <a:pt x="69473" y="2258"/>
                    </a:cubicBezTo>
                    <a:cubicBezTo>
                      <a:pt x="63627" y="798"/>
                      <a:pt x="58313" y="0"/>
                      <a:pt x="53931" y="0"/>
                    </a:cubicBezTo>
                    <a:cubicBezTo>
                      <a:pt x="25503" y="0"/>
                      <a:pt x="0" y="26567"/>
                      <a:pt x="0" y="56189"/>
                    </a:cubicBezTo>
                    <a:cubicBezTo>
                      <a:pt x="0" y="76513"/>
                      <a:pt x="14347" y="90857"/>
                      <a:pt x="34671" y="90857"/>
                    </a:cubicBezTo>
                    <a:cubicBezTo>
                      <a:pt x="48351" y="90857"/>
                      <a:pt x="58980" y="85146"/>
                      <a:pt x="70933" y="7106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budget_rule_outline_2"/>
              <p:cNvSpPr/>
              <p:nvPr/>
            </p:nvSpPr>
            <p:spPr>
              <a:xfrm>
                <a:off x="2202918" y="59583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budget_rule_outline_3"/>
              <p:cNvSpPr/>
              <p:nvPr/>
            </p:nvSpPr>
            <p:spPr>
              <a:xfrm>
                <a:off x="2272032" y="629991"/>
                <a:ext cx="18466" cy="32277"/>
              </a:xfrm>
              <a:custGeom>
                <a:avLst/>
                <a:gdLst/>
                <a:ahLst/>
                <a:cxnLst/>
                <a:rect l="0" t="0" r="r" b="b"/>
                <a:pathLst>
                  <a:path w="18467" h="32278">
                    <a:moveTo>
                      <a:pt x="18467" y="12752"/>
                    </a:moveTo>
                    <a:cubicBezTo>
                      <a:pt x="18467" y="1726"/>
                      <a:pt x="10759" y="0"/>
                      <a:pt x="7707" y="0"/>
                    </a:cubicBezTo>
                    <a:cubicBezTo>
                      <a:pt x="4385" y="0"/>
                      <a:pt x="0" y="1992"/>
                      <a:pt x="0" y="7703"/>
                    </a:cubicBezTo>
                    <a:cubicBezTo>
                      <a:pt x="0" y="13017"/>
                      <a:pt x="4782" y="14347"/>
                      <a:pt x="8235" y="14347"/>
                    </a:cubicBezTo>
                    <a:cubicBezTo>
                      <a:pt x="9168" y="14347"/>
                      <a:pt x="9831" y="14212"/>
                      <a:pt x="10231" y="14081"/>
                    </a:cubicBezTo>
                    <a:cubicBezTo>
                      <a:pt x="10759" y="13946"/>
                      <a:pt x="11160" y="13815"/>
                      <a:pt x="11426" y="13815"/>
                    </a:cubicBezTo>
                    <a:cubicBezTo>
                      <a:pt x="12355" y="13815"/>
                      <a:pt x="13283" y="14478"/>
                      <a:pt x="13283" y="15677"/>
                    </a:cubicBezTo>
                    <a:cubicBezTo>
                      <a:pt x="13283" y="18197"/>
                      <a:pt x="11160" y="24178"/>
                      <a:pt x="2393" y="29754"/>
                    </a:cubicBezTo>
                    <a:lnTo>
                      <a:pt x="3588" y="32278"/>
                    </a:lnTo>
                    <a:cubicBezTo>
                      <a:pt x="7572" y="30952"/>
                      <a:pt x="18467" y="22185"/>
                      <a:pt x="18467" y="1275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budget_rule_outline_4"/>
              <p:cNvSpPr/>
              <p:nvPr/>
            </p:nvSpPr>
            <p:spPr>
              <a:xfrm>
                <a:off x="2326346" y="556800"/>
                <a:ext cx="84614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8"/>
                    </a:cubicBezTo>
                    <a:cubicBezTo>
                      <a:pt x="28690" y="9565"/>
                      <a:pt x="28158" y="12752"/>
                      <a:pt x="27230" y="16074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3" y="86741"/>
                    </a:lnTo>
                    <a:lnTo>
                      <a:pt x="33473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4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0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1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2"/>
                      <a:pt x="50875" y="4382"/>
                    </a:cubicBezTo>
                    <a:cubicBezTo>
                      <a:pt x="73322" y="4382"/>
                      <a:pt x="77974" y="6112"/>
                      <a:pt x="77974" y="14478"/>
                    </a:cubicBezTo>
                    <a:cubicBezTo>
                      <a:pt x="77974" y="15411"/>
                      <a:pt x="77974" y="15939"/>
                      <a:pt x="77839" y="17534"/>
                    </a:cubicBezTo>
                    <a:cubicBezTo>
                      <a:pt x="77708" y="18463"/>
                      <a:pt x="77708" y="18995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budget_rule_outline_5"/>
              <p:cNvSpPr/>
              <p:nvPr/>
            </p:nvSpPr>
            <p:spPr>
              <a:xfrm>
                <a:off x="2421707" y="549628"/>
                <a:ext cx="34932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933" h="119551">
                    <a:moveTo>
                      <a:pt x="34933" y="59773"/>
                    </a:moveTo>
                    <a:lnTo>
                      <a:pt x="6374" y="0"/>
                    </a:lnTo>
                    <a:lnTo>
                      <a:pt x="0" y="0"/>
                    </a:lnTo>
                    <a:lnTo>
                      <a:pt x="25769" y="59773"/>
                    </a:lnTo>
                    <a:lnTo>
                      <a:pt x="0" y="119551"/>
                    </a:lnTo>
                    <a:lnTo>
                      <a:pt x="6374" y="119551"/>
                    </a:lnTo>
                    <a:lnTo>
                      <a:pt x="34933" y="59773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budget_rule_outline_6"/>
              <p:cNvSpPr/>
              <p:nvPr/>
            </p:nvSpPr>
            <p:spPr>
              <a:xfrm>
                <a:off x="2513765" y="567293"/>
                <a:ext cx="68011" cy="83951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83951">
                    <a:moveTo>
                      <a:pt x="68012" y="66683"/>
                    </a:moveTo>
                    <a:lnTo>
                      <a:pt x="68012" y="59246"/>
                    </a:lnTo>
                    <a:lnTo>
                      <a:pt x="12752" y="33342"/>
                    </a:lnTo>
                    <a:lnTo>
                      <a:pt x="68012" y="7438"/>
                    </a:lnTo>
                    <a:lnTo>
                      <a:pt x="68012" y="0"/>
                    </a:lnTo>
                    <a:lnTo>
                      <a:pt x="0" y="32147"/>
                    </a:lnTo>
                    <a:lnTo>
                      <a:pt x="0" y="34802"/>
                    </a:lnTo>
                    <a:lnTo>
                      <a:pt x="68012" y="66683"/>
                    </a:lnTo>
                    <a:close/>
                    <a:moveTo>
                      <a:pt x="68012" y="83951"/>
                    </a:moveTo>
                    <a:lnTo>
                      <a:pt x="68012" y="76910"/>
                    </a:lnTo>
                    <a:lnTo>
                      <a:pt x="0" y="76910"/>
                    </a:lnTo>
                    <a:lnTo>
                      <a:pt x="0" y="83951"/>
                    </a:lnTo>
                    <a:lnTo>
                      <a:pt x="68012" y="8395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budget_rule_outline_7"/>
              <p:cNvSpPr/>
              <p:nvPr/>
            </p:nvSpPr>
            <p:spPr>
              <a:xfrm>
                <a:off x="2633155" y="552815"/>
                <a:ext cx="59773" cy="92186"/>
              </a:xfrm>
              <a:custGeom>
                <a:avLst/>
                <a:gdLst/>
                <a:ahLst/>
                <a:cxnLst/>
                <a:rect l="0" t="0" r="r" b="b"/>
                <a:pathLst>
                  <a:path w="59773" h="92186">
                    <a:moveTo>
                      <a:pt x="59773" y="48085"/>
                    </a:moveTo>
                    <a:cubicBezTo>
                      <a:pt x="59773" y="38787"/>
                      <a:pt x="53265" y="32147"/>
                      <a:pt x="44367" y="32147"/>
                    </a:cubicBezTo>
                    <a:cubicBezTo>
                      <a:pt x="35068" y="32147"/>
                      <a:pt x="28158" y="37592"/>
                      <a:pt x="18729" y="52205"/>
                    </a:cubicBezTo>
                    <a:lnTo>
                      <a:pt x="32544" y="663"/>
                    </a:lnTo>
                    <a:lnTo>
                      <a:pt x="31881" y="0"/>
                    </a:lnTo>
                    <a:cubicBezTo>
                      <a:pt x="25237" y="1195"/>
                      <a:pt x="20455" y="1992"/>
                      <a:pt x="11557" y="3056"/>
                    </a:cubicBezTo>
                    <a:lnTo>
                      <a:pt x="11557" y="5314"/>
                    </a:lnTo>
                    <a:cubicBezTo>
                      <a:pt x="19391" y="5580"/>
                      <a:pt x="20189" y="5977"/>
                      <a:pt x="20189" y="8898"/>
                    </a:cubicBezTo>
                    <a:cubicBezTo>
                      <a:pt x="20189" y="10096"/>
                      <a:pt x="19923" y="11557"/>
                      <a:pt x="18995" y="14613"/>
                    </a:cubicBezTo>
                    <a:lnTo>
                      <a:pt x="18332" y="17137"/>
                    </a:lnTo>
                    <a:lnTo>
                      <a:pt x="18066" y="18066"/>
                    </a:lnTo>
                    <a:lnTo>
                      <a:pt x="0" y="84614"/>
                    </a:lnTo>
                    <a:lnTo>
                      <a:pt x="0" y="85146"/>
                    </a:lnTo>
                    <a:cubicBezTo>
                      <a:pt x="0" y="88202"/>
                      <a:pt x="10097" y="92186"/>
                      <a:pt x="17665" y="92186"/>
                    </a:cubicBezTo>
                    <a:cubicBezTo>
                      <a:pt x="37723" y="92186"/>
                      <a:pt x="59773" y="69072"/>
                      <a:pt x="59773" y="48085"/>
                    </a:cubicBezTo>
                    <a:close/>
                    <a:moveTo>
                      <a:pt x="48482" y="50078"/>
                    </a:moveTo>
                    <a:cubicBezTo>
                      <a:pt x="48482" y="58845"/>
                      <a:pt x="41843" y="73057"/>
                      <a:pt x="33873" y="81296"/>
                    </a:cubicBezTo>
                    <a:cubicBezTo>
                      <a:pt x="28956" y="86340"/>
                      <a:pt x="23245" y="89130"/>
                      <a:pt x="17534" y="89130"/>
                    </a:cubicBezTo>
                    <a:cubicBezTo>
                      <a:pt x="13414" y="89130"/>
                      <a:pt x="11422" y="87670"/>
                      <a:pt x="11422" y="84614"/>
                    </a:cubicBezTo>
                    <a:cubicBezTo>
                      <a:pt x="11422" y="76644"/>
                      <a:pt x="15407" y="63893"/>
                      <a:pt x="20987" y="53931"/>
                    </a:cubicBezTo>
                    <a:cubicBezTo>
                      <a:pt x="26833" y="43704"/>
                      <a:pt x="32810" y="38656"/>
                      <a:pt x="39188" y="38656"/>
                    </a:cubicBezTo>
                    <a:cubicBezTo>
                      <a:pt x="45030" y="38656"/>
                      <a:pt x="48482" y="43037"/>
                      <a:pt x="48482" y="5007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budget_rule_outline_8"/>
              <p:cNvSpPr/>
              <p:nvPr/>
            </p:nvSpPr>
            <p:spPr>
              <a:xfrm>
                <a:off x="2707768" y="59583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6" name="step_budget"/>
            <p:cNvGrpSpPr/>
            <p:nvPr/>
          </p:nvGrpSpPr>
          <p:grpSpPr>
            <a:xfrm>
              <a:off x="2123130" y="1171928"/>
              <a:ext cx="592419" cy="119550"/>
              <a:chOff x="2123130" y="1171928"/>
              <a:chExt cx="592419" cy="119550"/>
            </a:xfrm>
          </p:grpSpPr>
          <p:sp>
            <p:nvSpPr>
              <p:cNvPr id="157" name="step_budget_outline_0"/>
              <p:cNvSpPr/>
              <p:nvPr/>
            </p:nvSpPr>
            <p:spPr>
              <a:xfrm>
                <a:off x="2123130" y="1175115"/>
                <a:ext cx="59773" cy="92186"/>
              </a:xfrm>
              <a:custGeom>
                <a:avLst/>
                <a:gdLst/>
                <a:ahLst/>
                <a:cxnLst/>
                <a:rect l="0" t="0" r="r" b="b"/>
                <a:pathLst>
                  <a:path w="59773" h="92186">
                    <a:moveTo>
                      <a:pt x="59773" y="48085"/>
                    </a:moveTo>
                    <a:cubicBezTo>
                      <a:pt x="59773" y="38787"/>
                      <a:pt x="53265" y="32147"/>
                      <a:pt x="44367" y="32147"/>
                    </a:cubicBezTo>
                    <a:cubicBezTo>
                      <a:pt x="35068" y="32147"/>
                      <a:pt x="28158" y="37592"/>
                      <a:pt x="18728" y="52205"/>
                    </a:cubicBezTo>
                    <a:lnTo>
                      <a:pt x="32544" y="663"/>
                    </a:lnTo>
                    <a:lnTo>
                      <a:pt x="31881" y="0"/>
                    </a:lnTo>
                    <a:cubicBezTo>
                      <a:pt x="25237" y="1195"/>
                      <a:pt x="20455" y="1992"/>
                      <a:pt x="11557" y="3056"/>
                    </a:cubicBezTo>
                    <a:lnTo>
                      <a:pt x="11557" y="5314"/>
                    </a:lnTo>
                    <a:cubicBezTo>
                      <a:pt x="19391" y="5580"/>
                      <a:pt x="20189" y="5977"/>
                      <a:pt x="20189" y="8898"/>
                    </a:cubicBezTo>
                    <a:cubicBezTo>
                      <a:pt x="20189" y="10096"/>
                      <a:pt x="19923" y="11557"/>
                      <a:pt x="18994" y="14613"/>
                    </a:cubicBezTo>
                    <a:lnTo>
                      <a:pt x="18332" y="17137"/>
                    </a:lnTo>
                    <a:lnTo>
                      <a:pt x="18066" y="18066"/>
                    </a:lnTo>
                    <a:lnTo>
                      <a:pt x="0" y="84614"/>
                    </a:lnTo>
                    <a:lnTo>
                      <a:pt x="0" y="85146"/>
                    </a:lnTo>
                    <a:cubicBezTo>
                      <a:pt x="0" y="88202"/>
                      <a:pt x="10097" y="92186"/>
                      <a:pt x="17665" y="92186"/>
                    </a:cubicBezTo>
                    <a:cubicBezTo>
                      <a:pt x="37723" y="92186"/>
                      <a:pt x="59773" y="69072"/>
                      <a:pt x="59773" y="48085"/>
                    </a:cubicBezTo>
                    <a:close/>
                    <a:moveTo>
                      <a:pt x="48482" y="50078"/>
                    </a:moveTo>
                    <a:cubicBezTo>
                      <a:pt x="48482" y="58845"/>
                      <a:pt x="41842" y="73057"/>
                      <a:pt x="33873" y="81296"/>
                    </a:cubicBezTo>
                    <a:cubicBezTo>
                      <a:pt x="28956" y="86340"/>
                      <a:pt x="23245" y="89130"/>
                      <a:pt x="17534" y="89130"/>
                    </a:cubicBezTo>
                    <a:cubicBezTo>
                      <a:pt x="13414" y="89130"/>
                      <a:pt x="11422" y="87670"/>
                      <a:pt x="11422" y="84614"/>
                    </a:cubicBezTo>
                    <a:cubicBezTo>
                      <a:pt x="11422" y="76644"/>
                      <a:pt x="15407" y="63893"/>
                      <a:pt x="20987" y="53931"/>
                    </a:cubicBezTo>
                    <a:cubicBezTo>
                      <a:pt x="26833" y="43704"/>
                      <a:pt x="32810" y="38656"/>
                      <a:pt x="39187" y="38656"/>
                    </a:cubicBezTo>
                    <a:cubicBezTo>
                      <a:pt x="45029" y="38656"/>
                      <a:pt x="48482" y="43037"/>
                      <a:pt x="48482" y="5007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step_budget_outline_1"/>
              <p:cNvSpPr/>
              <p:nvPr/>
            </p:nvSpPr>
            <p:spPr>
              <a:xfrm>
                <a:off x="2197742" y="121813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" name="step_budget_outline_2"/>
              <p:cNvSpPr/>
              <p:nvPr/>
            </p:nvSpPr>
            <p:spPr>
              <a:xfrm>
                <a:off x="2304560" y="1214568"/>
                <a:ext cx="68012" cy="34401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34401">
                    <a:moveTo>
                      <a:pt x="68012" y="7437"/>
                    </a:moveTo>
                    <a:lnTo>
                      <a:pt x="68012" y="0"/>
                    </a:lnTo>
                    <a:lnTo>
                      <a:pt x="0" y="0"/>
                    </a:lnTo>
                    <a:lnTo>
                      <a:pt x="0" y="7437"/>
                    </a:lnTo>
                    <a:lnTo>
                      <a:pt x="68012" y="7437"/>
                    </a:lnTo>
                    <a:close/>
                    <a:moveTo>
                      <a:pt x="68012" y="34401"/>
                    </a:moveTo>
                    <a:lnTo>
                      <a:pt x="68012" y="26964"/>
                    </a:lnTo>
                    <a:lnTo>
                      <a:pt x="0" y="26964"/>
                    </a:lnTo>
                    <a:lnTo>
                      <a:pt x="0" y="34401"/>
                    </a:lnTo>
                    <a:lnTo>
                      <a:pt x="68012" y="3440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" name="step_budget_outline_3"/>
              <p:cNvSpPr/>
              <p:nvPr/>
            </p:nvSpPr>
            <p:spPr>
              <a:xfrm>
                <a:off x="2421842" y="1179100"/>
                <a:ext cx="79168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79169" h="86741">
                    <a:moveTo>
                      <a:pt x="72660" y="60174"/>
                    </a:moveTo>
                    <a:cubicBezTo>
                      <a:pt x="72660" y="50479"/>
                      <a:pt x="68544" y="45561"/>
                      <a:pt x="55924" y="40116"/>
                    </a:cubicBezTo>
                    <a:cubicBezTo>
                      <a:pt x="65357" y="37858"/>
                      <a:pt x="69207" y="36263"/>
                      <a:pt x="73458" y="32544"/>
                    </a:cubicBezTo>
                    <a:cubicBezTo>
                      <a:pt x="77176" y="29357"/>
                      <a:pt x="79169" y="24971"/>
                      <a:pt x="79169" y="19526"/>
                    </a:cubicBezTo>
                    <a:cubicBezTo>
                      <a:pt x="79169" y="6906"/>
                      <a:pt x="69739" y="0"/>
                      <a:pt x="52602" y="0"/>
                    </a:cubicBezTo>
                    <a:lnTo>
                      <a:pt x="18332" y="0"/>
                    </a:lnTo>
                    <a:lnTo>
                      <a:pt x="18332" y="2123"/>
                    </a:lnTo>
                    <a:cubicBezTo>
                      <a:pt x="26702" y="2790"/>
                      <a:pt x="28559" y="3719"/>
                      <a:pt x="28559" y="7572"/>
                    </a:cubicBezTo>
                    <a:cubicBezTo>
                      <a:pt x="28559" y="9565"/>
                      <a:pt x="28027" y="12752"/>
                      <a:pt x="27099" y="16074"/>
                    </a:cubicBezTo>
                    <a:lnTo>
                      <a:pt x="10759" y="74787"/>
                    </a:lnTo>
                    <a:cubicBezTo>
                      <a:pt x="8370" y="82491"/>
                      <a:pt x="7441" y="83288"/>
                      <a:pt x="0" y="84614"/>
                    </a:cubicBezTo>
                    <a:lnTo>
                      <a:pt x="0" y="86741"/>
                    </a:lnTo>
                    <a:lnTo>
                      <a:pt x="37461" y="86741"/>
                    </a:lnTo>
                    <a:cubicBezTo>
                      <a:pt x="58317" y="86741"/>
                      <a:pt x="72660" y="75982"/>
                      <a:pt x="72660" y="60174"/>
                    </a:cubicBezTo>
                    <a:close/>
                    <a:moveTo>
                      <a:pt x="58317" y="59642"/>
                    </a:moveTo>
                    <a:cubicBezTo>
                      <a:pt x="58317" y="73989"/>
                      <a:pt x="48486" y="82756"/>
                      <a:pt x="32278" y="82756"/>
                    </a:cubicBezTo>
                    <a:cubicBezTo>
                      <a:pt x="26702" y="82756"/>
                      <a:pt x="23777" y="80895"/>
                      <a:pt x="23777" y="77176"/>
                    </a:cubicBezTo>
                    <a:cubicBezTo>
                      <a:pt x="23777" y="75450"/>
                      <a:pt x="25372" y="69207"/>
                      <a:pt x="28428" y="58579"/>
                    </a:cubicBezTo>
                    <a:lnTo>
                      <a:pt x="32679" y="42771"/>
                    </a:lnTo>
                    <a:cubicBezTo>
                      <a:pt x="41049" y="42771"/>
                      <a:pt x="46760" y="43303"/>
                      <a:pt x="49415" y="44367"/>
                    </a:cubicBezTo>
                    <a:cubicBezTo>
                      <a:pt x="54995" y="46494"/>
                      <a:pt x="58317" y="52336"/>
                      <a:pt x="58317" y="59642"/>
                    </a:cubicBezTo>
                    <a:close/>
                    <a:moveTo>
                      <a:pt x="65754" y="18332"/>
                    </a:moveTo>
                    <a:cubicBezTo>
                      <a:pt x="65754" y="32012"/>
                      <a:pt x="56852" y="38521"/>
                      <a:pt x="38525" y="38521"/>
                    </a:cubicBezTo>
                    <a:lnTo>
                      <a:pt x="34008" y="38521"/>
                    </a:lnTo>
                    <a:lnTo>
                      <a:pt x="42640" y="7703"/>
                    </a:lnTo>
                    <a:cubicBezTo>
                      <a:pt x="43438" y="4782"/>
                      <a:pt x="45033" y="3985"/>
                      <a:pt x="50213" y="3985"/>
                    </a:cubicBezTo>
                    <a:cubicBezTo>
                      <a:pt x="60972" y="3985"/>
                      <a:pt x="65754" y="8501"/>
                      <a:pt x="65754" y="1833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step_budget_outline_4"/>
              <p:cNvSpPr/>
              <p:nvPr/>
            </p:nvSpPr>
            <p:spPr>
              <a:xfrm>
                <a:off x="2512398" y="121813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step_budget_outline_5"/>
              <p:cNvSpPr/>
              <p:nvPr/>
            </p:nvSpPr>
            <p:spPr>
              <a:xfrm>
                <a:off x="2582309" y="1171928"/>
                <a:ext cx="44632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44633" h="119551">
                    <a:moveTo>
                      <a:pt x="0" y="119551"/>
                    </a:moveTo>
                    <a:lnTo>
                      <a:pt x="6910" y="119551"/>
                    </a:lnTo>
                    <a:lnTo>
                      <a:pt x="44633" y="0"/>
                    </a:lnTo>
                    <a:lnTo>
                      <a:pt x="37727" y="0"/>
                    </a:lnTo>
                    <a:lnTo>
                      <a:pt x="0" y="11955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step_budget_outline_6"/>
              <p:cNvSpPr/>
              <p:nvPr/>
            </p:nvSpPr>
            <p:spPr>
              <a:xfrm>
                <a:off x="2640231" y="1179100"/>
                <a:ext cx="75318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75319" h="86741">
                    <a:moveTo>
                      <a:pt x="75319" y="62964"/>
                    </a:moveTo>
                    <a:lnTo>
                      <a:pt x="72660" y="62167"/>
                    </a:lnTo>
                    <a:cubicBezTo>
                      <a:pt x="68012" y="71731"/>
                      <a:pt x="64560" y="75847"/>
                      <a:pt x="58714" y="78772"/>
                    </a:cubicBezTo>
                    <a:cubicBezTo>
                      <a:pt x="54066" y="81161"/>
                      <a:pt x="48617" y="81959"/>
                      <a:pt x="36794" y="81959"/>
                    </a:cubicBezTo>
                    <a:cubicBezTo>
                      <a:pt x="26833" y="81959"/>
                      <a:pt x="23511" y="80895"/>
                      <a:pt x="23511" y="77442"/>
                    </a:cubicBezTo>
                    <a:cubicBezTo>
                      <a:pt x="23511" y="76379"/>
                      <a:pt x="24043" y="73589"/>
                      <a:pt x="24840" y="70802"/>
                    </a:cubicBezTo>
                    <a:lnTo>
                      <a:pt x="41180" y="11954"/>
                    </a:lnTo>
                    <a:cubicBezTo>
                      <a:pt x="43172" y="5179"/>
                      <a:pt x="46625" y="2655"/>
                      <a:pt x="54594" y="2123"/>
                    </a:cubicBezTo>
                    <a:lnTo>
                      <a:pt x="54594" y="0"/>
                    </a:lnTo>
                    <a:lnTo>
                      <a:pt x="18332" y="0"/>
                    </a:lnTo>
                    <a:lnTo>
                      <a:pt x="18332" y="2123"/>
                    </a:lnTo>
                    <a:cubicBezTo>
                      <a:pt x="26702" y="2921"/>
                      <a:pt x="28559" y="3985"/>
                      <a:pt x="28559" y="7838"/>
                    </a:cubicBezTo>
                    <a:cubicBezTo>
                      <a:pt x="28559" y="9831"/>
                      <a:pt x="28162" y="12486"/>
                      <a:pt x="27099" y="16074"/>
                    </a:cubicBezTo>
                    <a:lnTo>
                      <a:pt x="10759" y="74787"/>
                    </a:lnTo>
                    <a:cubicBezTo>
                      <a:pt x="8370" y="82491"/>
                      <a:pt x="7441" y="83288"/>
                      <a:pt x="0" y="84614"/>
                    </a:cubicBezTo>
                    <a:lnTo>
                      <a:pt x="0" y="86741"/>
                    </a:lnTo>
                    <a:lnTo>
                      <a:pt x="67616" y="86741"/>
                    </a:lnTo>
                    <a:lnTo>
                      <a:pt x="75319" y="6296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4" name="hard_eq"/>
            <p:cNvGrpSpPr/>
            <p:nvPr/>
          </p:nvGrpSpPr>
          <p:grpSpPr>
            <a:xfrm>
              <a:off x="2456221" y="1640031"/>
              <a:ext cx="397878" cy="110726"/>
              <a:chOff x="2456221" y="1640031"/>
              <a:chExt cx="397878" cy="110726"/>
            </a:xfrm>
          </p:grpSpPr>
          <p:sp>
            <p:nvSpPr>
              <p:cNvPr id="165" name="hard_eq_outline_0"/>
              <p:cNvSpPr/>
              <p:nvPr/>
            </p:nvSpPr>
            <p:spPr>
              <a:xfrm>
                <a:off x="2456221" y="1643087"/>
                <a:ext cx="84613" cy="86740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7"/>
                    </a:cubicBezTo>
                    <a:cubicBezTo>
                      <a:pt x="28690" y="9565"/>
                      <a:pt x="28158" y="12752"/>
                      <a:pt x="27230" y="16073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2"/>
                      <a:pt x="50875" y="4382"/>
                    </a:cubicBezTo>
                    <a:cubicBezTo>
                      <a:pt x="73323" y="4382"/>
                      <a:pt x="77974" y="6112"/>
                      <a:pt x="77974" y="14478"/>
                    </a:cubicBezTo>
                    <a:cubicBezTo>
                      <a:pt x="77974" y="15411"/>
                      <a:pt x="77974" y="15938"/>
                      <a:pt x="77839" y="17534"/>
                    </a:cubicBezTo>
                    <a:cubicBezTo>
                      <a:pt x="77708" y="18463"/>
                      <a:pt x="77708" y="18994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B147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hard_eq_outline_1"/>
              <p:cNvSpPr/>
              <p:nvPr/>
            </p:nvSpPr>
            <p:spPr>
              <a:xfrm>
                <a:off x="2533999" y="1683003"/>
                <a:ext cx="87991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7991" h="67754">
                    <a:moveTo>
                      <a:pt x="74192" y="67754"/>
                    </a:moveTo>
                    <a:lnTo>
                      <a:pt x="74085" y="66096"/>
                    </a:lnTo>
                    <a:cubicBezTo>
                      <a:pt x="66306" y="65369"/>
                      <a:pt x="64957" y="64643"/>
                      <a:pt x="64853" y="61738"/>
                    </a:cubicBezTo>
                    <a:cubicBezTo>
                      <a:pt x="64853" y="60904"/>
                      <a:pt x="64853" y="60075"/>
                      <a:pt x="65060" y="59245"/>
                    </a:cubicBezTo>
                    <a:lnTo>
                      <a:pt x="78549" y="9338"/>
                    </a:lnTo>
                    <a:cubicBezTo>
                      <a:pt x="80312" y="3318"/>
                      <a:pt x="81351" y="2699"/>
                      <a:pt x="87991" y="1659"/>
                    </a:cubicBezTo>
                    <a:lnTo>
                      <a:pt x="87991" y="0"/>
                    </a:lnTo>
                    <a:lnTo>
                      <a:pt x="58210" y="0"/>
                    </a:lnTo>
                    <a:lnTo>
                      <a:pt x="58210" y="1659"/>
                    </a:lnTo>
                    <a:cubicBezTo>
                      <a:pt x="65060" y="2385"/>
                      <a:pt x="66719" y="3215"/>
                      <a:pt x="66822" y="6120"/>
                    </a:cubicBezTo>
                    <a:cubicBezTo>
                      <a:pt x="66822" y="7675"/>
                      <a:pt x="66306" y="9751"/>
                      <a:pt x="65683" y="12553"/>
                    </a:cubicBezTo>
                    <a:lnTo>
                      <a:pt x="61012" y="29571"/>
                    </a:lnTo>
                    <a:lnTo>
                      <a:pt x="29055" y="29571"/>
                    </a:lnTo>
                    <a:lnTo>
                      <a:pt x="34449" y="9338"/>
                    </a:lnTo>
                    <a:cubicBezTo>
                      <a:pt x="36004" y="4044"/>
                      <a:pt x="39120" y="2076"/>
                      <a:pt x="46176" y="1659"/>
                    </a:cubicBezTo>
                    <a:lnTo>
                      <a:pt x="46176" y="0"/>
                    </a:lnTo>
                    <a:lnTo>
                      <a:pt x="13283" y="0"/>
                    </a:lnTo>
                    <a:lnTo>
                      <a:pt x="13283" y="1659"/>
                    </a:lnTo>
                    <a:cubicBezTo>
                      <a:pt x="20753" y="2282"/>
                      <a:pt x="22622" y="3112"/>
                      <a:pt x="22725" y="6120"/>
                    </a:cubicBezTo>
                    <a:cubicBezTo>
                      <a:pt x="22725" y="7675"/>
                      <a:pt x="22519" y="9751"/>
                      <a:pt x="21582" y="12553"/>
                    </a:cubicBezTo>
                    <a:lnTo>
                      <a:pt x="9446" y="58416"/>
                    </a:lnTo>
                    <a:cubicBezTo>
                      <a:pt x="7576" y="64433"/>
                      <a:pt x="6644" y="65056"/>
                      <a:pt x="0" y="66096"/>
                    </a:cubicBezTo>
                    <a:lnTo>
                      <a:pt x="107" y="67754"/>
                    </a:lnTo>
                    <a:lnTo>
                      <a:pt x="29575" y="67754"/>
                    </a:lnTo>
                    <a:lnTo>
                      <a:pt x="29468" y="66096"/>
                    </a:lnTo>
                    <a:cubicBezTo>
                      <a:pt x="22415" y="65266"/>
                      <a:pt x="21066" y="64540"/>
                      <a:pt x="20963" y="61528"/>
                    </a:cubicBezTo>
                    <a:cubicBezTo>
                      <a:pt x="20963" y="60801"/>
                      <a:pt x="21066" y="59972"/>
                      <a:pt x="21272" y="59245"/>
                    </a:cubicBezTo>
                    <a:lnTo>
                      <a:pt x="27912" y="34135"/>
                    </a:lnTo>
                    <a:lnTo>
                      <a:pt x="59873" y="34135"/>
                    </a:lnTo>
                    <a:lnTo>
                      <a:pt x="53336" y="58416"/>
                    </a:lnTo>
                    <a:cubicBezTo>
                      <a:pt x="51673" y="63814"/>
                      <a:pt x="49288" y="65369"/>
                      <a:pt x="41505" y="66096"/>
                    </a:cubicBezTo>
                    <a:lnTo>
                      <a:pt x="41608" y="67754"/>
                    </a:lnTo>
                    <a:lnTo>
                      <a:pt x="74192" y="67754"/>
                    </a:lnTo>
                    <a:close/>
                  </a:path>
                </a:pathLst>
              </a:custGeom>
              <a:solidFill>
                <a:srgbClr val="B147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hard_eq_outline_2"/>
              <p:cNvSpPr/>
              <p:nvPr/>
            </p:nvSpPr>
            <p:spPr>
              <a:xfrm>
                <a:off x="2677705" y="1678556"/>
                <a:ext cx="68012" cy="34401"/>
              </a:xfrm>
              <a:custGeom>
                <a:avLst/>
                <a:gdLst/>
                <a:ahLst/>
                <a:cxnLst/>
                <a:rect l="0" t="0" r="r" b="b"/>
                <a:pathLst>
                  <a:path w="68013" h="34401">
                    <a:moveTo>
                      <a:pt x="68013" y="7438"/>
                    </a:moveTo>
                    <a:lnTo>
                      <a:pt x="68013" y="0"/>
                    </a:lnTo>
                    <a:lnTo>
                      <a:pt x="0" y="0"/>
                    </a:lnTo>
                    <a:lnTo>
                      <a:pt x="0" y="7438"/>
                    </a:lnTo>
                    <a:lnTo>
                      <a:pt x="68013" y="7438"/>
                    </a:lnTo>
                    <a:close/>
                    <a:moveTo>
                      <a:pt x="68013" y="34401"/>
                    </a:moveTo>
                    <a:lnTo>
                      <a:pt x="68013" y="26964"/>
                    </a:lnTo>
                    <a:lnTo>
                      <a:pt x="0" y="26964"/>
                    </a:lnTo>
                    <a:lnTo>
                      <a:pt x="0" y="34401"/>
                    </a:lnTo>
                    <a:lnTo>
                      <a:pt x="68013" y="34401"/>
                    </a:lnTo>
                    <a:close/>
                  </a:path>
                </a:pathLst>
              </a:custGeom>
              <a:solidFill>
                <a:srgbClr val="B147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hard_eq_outline_3"/>
              <p:cNvSpPr/>
              <p:nvPr/>
            </p:nvSpPr>
            <p:spPr>
              <a:xfrm>
                <a:off x="2794056" y="1640031"/>
                <a:ext cx="60043" cy="91658"/>
              </a:xfrm>
              <a:custGeom>
                <a:avLst/>
                <a:gdLst/>
                <a:ahLst/>
                <a:cxnLst/>
                <a:rect l="0" t="0" r="r" b="b"/>
                <a:pathLst>
                  <a:path w="60043" h="91658">
                    <a:moveTo>
                      <a:pt x="60043" y="45962"/>
                    </a:moveTo>
                    <a:cubicBezTo>
                      <a:pt x="60043" y="18729"/>
                      <a:pt x="47954" y="0"/>
                      <a:pt x="30551" y="0"/>
                    </a:cubicBezTo>
                    <a:cubicBezTo>
                      <a:pt x="23249" y="0"/>
                      <a:pt x="17669" y="2258"/>
                      <a:pt x="12752" y="6910"/>
                    </a:cubicBezTo>
                    <a:cubicBezTo>
                      <a:pt x="5048" y="14347"/>
                      <a:pt x="0" y="29623"/>
                      <a:pt x="0" y="45164"/>
                    </a:cubicBezTo>
                    <a:cubicBezTo>
                      <a:pt x="0" y="59642"/>
                      <a:pt x="4385" y="75184"/>
                      <a:pt x="10628" y="82625"/>
                    </a:cubicBezTo>
                    <a:cubicBezTo>
                      <a:pt x="15542" y="88467"/>
                      <a:pt x="22316" y="91658"/>
                      <a:pt x="30024" y="91658"/>
                    </a:cubicBezTo>
                    <a:cubicBezTo>
                      <a:pt x="36798" y="91658"/>
                      <a:pt x="42509" y="89400"/>
                      <a:pt x="47292" y="84749"/>
                    </a:cubicBezTo>
                    <a:cubicBezTo>
                      <a:pt x="54995" y="77442"/>
                      <a:pt x="60043" y="62036"/>
                      <a:pt x="60043" y="45962"/>
                    </a:cubicBezTo>
                    <a:close/>
                    <a:moveTo>
                      <a:pt x="47292" y="46228"/>
                    </a:moveTo>
                    <a:cubicBezTo>
                      <a:pt x="47292" y="73989"/>
                      <a:pt x="41446" y="88202"/>
                      <a:pt x="30024" y="88202"/>
                    </a:cubicBezTo>
                    <a:cubicBezTo>
                      <a:pt x="18598" y="88202"/>
                      <a:pt x="12752" y="73989"/>
                      <a:pt x="12752" y="46359"/>
                    </a:cubicBezTo>
                    <a:cubicBezTo>
                      <a:pt x="12752" y="18201"/>
                      <a:pt x="18732" y="3453"/>
                      <a:pt x="30155" y="3453"/>
                    </a:cubicBezTo>
                    <a:cubicBezTo>
                      <a:pt x="41315" y="3453"/>
                      <a:pt x="47292" y="18467"/>
                      <a:pt x="47292" y="46228"/>
                    </a:cubicBezTo>
                    <a:close/>
                  </a:path>
                </a:pathLst>
              </a:custGeom>
              <a:solidFill>
                <a:srgbClr val="B147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62" name="module_projection"/>
          <p:cNvGrpSpPr/>
          <p:nvPr/>
        </p:nvGrpSpPr>
        <p:grpSpPr>
          <a:xfrm>
            <a:off x="2971800" y="50800"/>
            <a:ext cx="2006599" cy="1816099"/>
            <a:chOff x="2971800" y="50800"/>
            <a:chExt cx="2006599" cy="1816099"/>
          </a:xfrm>
        </p:grpSpPr>
        <p:sp>
          <p:nvSpPr>
            <p:cNvPr id="53" name="projection" descr="Editable shape; source id projection"/>
            <p:cNvSpPr/>
            <p:nvPr/>
          </p:nvSpPr>
          <p:spPr>
            <a:xfrm>
              <a:off x="2971800" y="50800"/>
              <a:ext cx="2006599" cy="1816099"/>
            </a:xfrm>
            <a:prstGeom prst="roundRect">
              <a:avLst>
                <a:gd name="adj" fmla="val 2097"/>
              </a:avLst>
            </a:prstGeom>
            <a:solidFill>
              <a:srgbClr val="F0F7F5"/>
            </a:solidFill>
            <a:ln w="8254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projection_title" descr="Editable text; source id projection_title"/>
            <p:cNvSpPr txBox="1"/>
            <p:nvPr/>
          </p:nvSpPr>
          <p:spPr>
            <a:xfrm>
              <a:off x="3009900" y="101600"/>
              <a:ext cx="1930399" cy="14859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034"/>
                </a:lnSpc>
                <a:spcBef>
                  <a:spcPts val="0"/>
                </a:spcBef>
                <a:spcAft>
                  <a:spcPts val="0"/>
                </a:spcAft>
                <a:defRPr sz="900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900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4  Entropic projection</a:t>
              </a:r>
            </a:p>
          </p:txBody>
        </p:sp>
        <p:sp>
          <p:nvSpPr>
            <p:cNvPr id="55" name="constraints_line" descr="Editable text; source id constraints_line"/>
            <p:cNvSpPr txBox="1"/>
            <p:nvPr/>
          </p:nvSpPr>
          <p:spPr>
            <a:xfrm>
              <a:off x="3022600" y="685799"/>
              <a:ext cx="19049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s.t. flow balance + budgets</a:t>
              </a:r>
            </a:p>
          </p:txBody>
        </p:sp>
        <p:sp>
          <p:nvSpPr>
            <p:cNvPr id="56" name="before_e0_0_0" descr="Editable line; source id before_e0_0_0"/>
            <p:cNvSpPr/>
            <p:nvPr/>
          </p:nvSpPr>
          <p:spPr>
            <a:xfrm>
              <a:off x="3123735" y="1219685"/>
              <a:ext cx="125418" cy="116591"/>
            </a:xfrm>
            <a:custGeom>
              <a:avLst/>
              <a:gdLst/>
              <a:ahLst/>
              <a:cxnLst/>
              <a:rect l="l" t="t" r="r" b="b"/>
              <a:pathLst>
                <a:path w="49377" h="45902">
                  <a:moveTo>
                    <a:pt x="0" y="43334"/>
                  </a:moveTo>
                  <a:lnTo>
                    <a:pt x="36081" y="9926"/>
                  </a:lnTo>
                  <a:lnTo>
                    <a:pt x="33023" y="6624"/>
                  </a:lnTo>
                  <a:lnTo>
                    <a:pt x="49377" y="0"/>
                  </a:lnTo>
                  <a:lnTo>
                    <a:pt x="41516" y="15796"/>
                  </a:lnTo>
                  <a:lnTo>
                    <a:pt x="38459" y="12494"/>
                  </a:lnTo>
                  <a:lnTo>
                    <a:pt x="2378" y="45902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before_hard_0" descr="Editable line; source id before_hard_0"/>
            <p:cNvCxnSpPr/>
            <p:nvPr/>
          </p:nvCxnSpPr>
          <p:spPr>
            <a:xfrm>
              <a:off x="3315103" y="1196614"/>
              <a:ext cx="191471" cy="14183"/>
            </a:xfrm>
            <a:prstGeom prst="line">
              <a:avLst/>
            </a:prstGeom>
            <a:ln w="8890">
              <a:solidFill>
                <a:srgbClr val="B14747"/>
              </a:solidFill>
              <a:custDash>
                <a:ds d="285714" sp="25714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before_cross0_0" descr="Editable line; source id before_cross0_0"/>
            <p:cNvCxnSpPr/>
            <p:nvPr/>
          </p:nvCxnSpPr>
          <p:spPr>
            <a:xfrm>
              <a:off x="3382899" y="1175765"/>
              <a:ext cx="55880" cy="55880"/>
            </a:xfrm>
            <a:prstGeom prst="line">
              <a:avLst/>
            </a:prstGeom>
            <a:ln w="12699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before_cross1_0" descr="Editable line; source id before_cross1_0"/>
            <p:cNvCxnSpPr/>
            <p:nvPr/>
          </p:nvCxnSpPr>
          <p:spPr>
            <a:xfrm flipV="1">
              <a:off x="3382899" y="1175765"/>
              <a:ext cx="55880" cy="55880"/>
            </a:xfrm>
            <a:prstGeom prst="line">
              <a:avLst/>
            </a:prstGeom>
            <a:ln w="12699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before_e2_0_0" descr="Editable line; source id before_e2_0_0"/>
            <p:cNvSpPr/>
            <p:nvPr/>
          </p:nvSpPr>
          <p:spPr>
            <a:xfrm>
              <a:off x="3574862" y="1229538"/>
              <a:ext cx="177145" cy="109634"/>
            </a:xfrm>
            <a:custGeom>
              <a:avLst/>
              <a:gdLst/>
              <a:ahLst/>
              <a:cxnLst/>
              <a:rect l="l" t="t" r="r" b="b"/>
              <a:pathLst>
                <a:path w="69742" h="43163">
                  <a:moveTo>
                    <a:pt x="1813" y="0"/>
                  </a:moveTo>
                  <a:lnTo>
                    <a:pt x="56532" y="33122"/>
                  </a:lnTo>
                  <a:lnTo>
                    <a:pt x="58862" y="29272"/>
                  </a:lnTo>
                  <a:lnTo>
                    <a:pt x="69742" y="43163"/>
                  </a:lnTo>
                  <a:lnTo>
                    <a:pt x="52390" y="39965"/>
                  </a:lnTo>
                  <a:lnTo>
                    <a:pt x="54720" y="36116"/>
                  </a:lnTo>
                  <a:lnTo>
                    <a:pt x="0" y="2994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before_e3_0_0" descr="Editable line; source id before_e3_0_0"/>
            <p:cNvSpPr/>
            <p:nvPr/>
          </p:nvSpPr>
          <p:spPr>
            <a:xfrm>
              <a:off x="3121906" y="1383378"/>
              <a:ext cx="108308" cy="113073"/>
            </a:xfrm>
            <a:custGeom>
              <a:avLst/>
              <a:gdLst/>
              <a:ahLst/>
              <a:cxnLst/>
              <a:rect l="l" t="t" r="r" b="b"/>
              <a:pathLst>
                <a:path w="42641" h="44517">
                  <a:moveTo>
                    <a:pt x="2530" y="0"/>
                  </a:moveTo>
                  <a:lnTo>
                    <a:pt x="32508" y="31378"/>
                  </a:lnTo>
                  <a:lnTo>
                    <a:pt x="35762" y="28269"/>
                  </a:lnTo>
                  <a:lnTo>
                    <a:pt x="42641" y="44517"/>
                  </a:lnTo>
                  <a:lnTo>
                    <a:pt x="26724" y="36904"/>
                  </a:lnTo>
                  <a:lnTo>
                    <a:pt x="29978" y="33796"/>
                  </a:lnTo>
                  <a:lnTo>
                    <a:pt x="0" y="2418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before_e4_0_0" descr="Editable line; source id before_e4_0_0"/>
            <p:cNvSpPr/>
            <p:nvPr/>
          </p:nvSpPr>
          <p:spPr>
            <a:xfrm>
              <a:off x="3288175" y="1426182"/>
              <a:ext cx="154104" cy="83998"/>
            </a:xfrm>
            <a:custGeom>
              <a:avLst/>
              <a:gdLst/>
              <a:ahLst/>
              <a:cxnLst/>
              <a:rect l="l" t="t" r="r" b="b"/>
              <a:pathLst>
                <a:path w="60671" h="33070">
                  <a:moveTo>
                    <a:pt x="0" y="29973"/>
                  </a:moveTo>
                  <a:lnTo>
                    <a:pt x="45256" y="6140"/>
                  </a:lnTo>
                  <a:lnTo>
                    <a:pt x="43159" y="2159"/>
                  </a:lnTo>
                  <a:lnTo>
                    <a:pt x="60671" y="0"/>
                  </a:lnTo>
                  <a:lnTo>
                    <a:pt x="48984" y="13219"/>
                  </a:lnTo>
                  <a:lnTo>
                    <a:pt x="46887" y="9237"/>
                  </a:lnTo>
                  <a:lnTo>
                    <a:pt x="1631" y="3307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before_e5_0_0" descr="Editable line; source id before_e5_0_0"/>
            <p:cNvSpPr/>
            <p:nvPr/>
          </p:nvSpPr>
          <p:spPr>
            <a:xfrm>
              <a:off x="3299744" y="1218725"/>
              <a:ext cx="150350" cy="161757"/>
            </a:xfrm>
            <a:custGeom>
              <a:avLst/>
              <a:gdLst/>
              <a:ahLst/>
              <a:cxnLst/>
              <a:rect l="l" t="t" r="r" b="b"/>
              <a:pathLst>
                <a:path w="59193" h="63684">
                  <a:moveTo>
                    <a:pt x="2567" y="0"/>
                  </a:moveTo>
                  <a:lnTo>
                    <a:pt x="49262" y="50392"/>
                  </a:lnTo>
                  <a:lnTo>
                    <a:pt x="52562" y="47334"/>
                  </a:lnTo>
                  <a:lnTo>
                    <a:pt x="59193" y="63684"/>
                  </a:lnTo>
                  <a:lnTo>
                    <a:pt x="43394" y="55830"/>
                  </a:lnTo>
                  <a:lnTo>
                    <a:pt x="46694" y="52771"/>
                  </a:lnTo>
                  <a:lnTo>
                    <a:pt x="0" y="2379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before_e6_0_0" descr="Editable line; source id before_e6_0_0"/>
            <p:cNvSpPr/>
            <p:nvPr/>
          </p:nvSpPr>
          <p:spPr>
            <a:xfrm>
              <a:off x="3512904" y="1355905"/>
              <a:ext cx="234079" cy="50876"/>
            </a:xfrm>
            <a:custGeom>
              <a:avLst/>
              <a:gdLst/>
              <a:ahLst/>
              <a:cxnLst/>
              <a:rect l="l" t="t" r="r" b="b"/>
              <a:pathLst>
                <a:path w="92157" h="20030">
                  <a:moveTo>
                    <a:pt x="0" y="16574"/>
                  </a:moveTo>
                  <a:lnTo>
                    <a:pt x="75588" y="4443"/>
                  </a:lnTo>
                  <a:lnTo>
                    <a:pt x="74875" y="0"/>
                  </a:lnTo>
                  <a:lnTo>
                    <a:pt x="92157" y="3556"/>
                  </a:lnTo>
                  <a:lnTo>
                    <a:pt x="76855" y="12342"/>
                  </a:lnTo>
                  <a:lnTo>
                    <a:pt x="76142" y="7899"/>
                  </a:lnTo>
                  <a:lnTo>
                    <a:pt x="555" y="2003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before_e7_0_0" descr="Editable line; source id before_e7_0_0"/>
            <p:cNvSpPr/>
            <p:nvPr/>
          </p:nvSpPr>
          <p:spPr>
            <a:xfrm>
              <a:off x="3505098" y="1426040"/>
              <a:ext cx="110749" cy="76665"/>
            </a:xfrm>
            <a:custGeom>
              <a:avLst/>
              <a:gdLst/>
              <a:ahLst/>
              <a:cxnLst/>
              <a:rect l="l" t="t" r="r" b="b"/>
              <a:pathLst>
                <a:path w="43602" h="30183">
                  <a:moveTo>
                    <a:pt x="1956" y="0"/>
                  </a:moveTo>
                  <a:lnTo>
                    <a:pt x="30898" y="19509"/>
                  </a:lnTo>
                  <a:lnTo>
                    <a:pt x="33413" y="15778"/>
                  </a:lnTo>
                  <a:lnTo>
                    <a:pt x="43602" y="30183"/>
                  </a:lnTo>
                  <a:lnTo>
                    <a:pt x="26427" y="26143"/>
                  </a:lnTo>
                  <a:lnTo>
                    <a:pt x="28942" y="22411"/>
                  </a:lnTo>
                  <a:lnTo>
                    <a:pt x="0" y="2902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before_e8_0_0" descr="Editable line; source id before_e8_0_0"/>
            <p:cNvSpPr/>
            <p:nvPr/>
          </p:nvSpPr>
          <p:spPr>
            <a:xfrm>
              <a:off x="3668367" y="1388207"/>
              <a:ext cx="91887" cy="109327"/>
            </a:xfrm>
            <a:custGeom>
              <a:avLst/>
              <a:gdLst/>
              <a:ahLst/>
              <a:cxnLst/>
              <a:rect l="l" t="t" r="r" b="b"/>
              <a:pathLst>
                <a:path w="36176" h="43042">
                  <a:moveTo>
                    <a:pt x="0" y="40806"/>
                  </a:moveTo>
                  <a:lnTo>
                    <a:pt x="24286" y="11573"/>
                  </a:lnTo>
                  <a:lnTo>
                    <a:pt x="20824" y="8698"/>
                  </a:lnTo>
                  <a:lnTo>
                    <a:pt x="36176" y="0"/>
                  </a:lnTo>
                  <a:lnTo>
                    <a:pt x="30439" y="16685"/>
                  </a:lnTo>
                  <a:lnTo>
                    <a:pt x="26978" y="13810"/>
                  </a:lnTo>
                  <a:lnTo>
                    <a:pt x="2692" y="43042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before_n0" descr="Editable shape; source id before_n0"/>
            <p:cNvSpPr/>
            <p:nvPr/>
          </p:nvSpPr>
          <p:spPr>
            <a:xfrm>
              <a:off x="3060700" y="1320799"/>
              <a:ext cx="76200" cy="76200"/>
            </a:xfrm>
            <a:prstGeom prst="ellipse">
              <a:avLst/>
            </a:prstGeom>
            <a:solidFill>
              <a:srgbClr val="F2F4F5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before_n1" descr="Editable shape; source id before_n1"/>
            <p:cNvSpPr/>
            <p:nvPr/>
          </p:nvSpPr>
          <p:spPr>
            <a:xfrm>
              <a:off x="3239008" y="1155700"/>
              <a:ext cx="76200" cy="76200"/>
            </a:xfrm>
            <a:prstGeom prst="ellipse">
              <a:avLst/>
            </a:prstGeom>
            <a:solidFill>
              <a:srgbClr val="F2F4F5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before_n2" descr="Editable shape; source id before_n2"/>
            <p:cNvSpPr/>
            <p:nvPr/>
          </p:nvSpPr>
          <p:spPr>
            <a:xfrm>
              <a:off x="3506470" y="1175511"/>
              <a:ext cx="76200" cy="76200"/>
            </a:xfrm>
            <a:prstGeom prst="ellipse">
              <a:avLst/>
            </a:prstGeom>
            <a:solidFill>
              <a:srgbClr val="F2F4F5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before_n3" descr="Editable shape; source id before_n3"/>
            <p:cNvSpPr/>
            <p:nvPr/>
          </p:nvSpPr>
          <p:spPr>
            <a:xfrm>
              <a:off x="3746499" y="1320799"/>
              <a:ext cx="76200" cy="76200"/>
            </a:xfrm>
            <a:prstGeom prst="ellipse">
              <a:avLst/>
            </a:prstGeom>
            <a:solidFill>
              <a:srgbClr val="F2F4F5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before_n4" descr="Editable shape; source id before_n4"/>
            <p:cNvSpPr/>
            <p:nvPr/>
          </p:nvSpPr>
          <p:spPr>
            <a:xfrm>
              <a:off x="3218434" y="1485899"/>
              <a:ext cx="76200" cy="76200"/>
            </a:xfrm>
            <a:prstGeom prst="ellipse">
              <a:avLst/>
            </a:prstGeom>
            <a:solidFill>
              <a:srgbClr val="F2F4F5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before_n5" descr="Editable shape; source id before_n5"/>
            <p:cNvSpPr/>
            <p:nvPr/>
          </p:nvSpPr>
          <p:spPr>
            <a:xfrm>
              <a:off x="3437890" y="1370329"/>
              <a:ext cx="76200" cy="76200"/>
            </a:xfrm>
            <a:prstGeom prst="ellipse">
              <a:avLst/>
            </a:prstGeom>
            <a:solidFill>
              <a:srgbClr val="F2F4F5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before_n6" descr="Editable shape; source id before_n6"/>
            <p:cNvSpPr/>
            <p:nvPr/>
          </p:nvSpPr>
          <p:spPr>
            <a:xfrm>
              <a:off x="3609340" y="1485899"/>
              <a:ext cx="76200" cy="76200"/>
            </a:xfrm>
            <a:prstGeom prst="ellipse">
              <a:avLst/>
            </a:prstGeom>
            <a:solidFill>
              <a:srgbClr val="F2F4F5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projection_operation_0" descr="Editable line; source id projection_operation_0"/>
            <p:cNvSpPr/>
            <p:nvPr/>
          </p:nvSpPr>
          <p:spPr>
            <a:xfrm>
              <a:off x="3860800" y="1355725"/>
              <a:ext cx="228600" cy="31750"/>
            </a:xfrm>
            <a:custGeom>
              <a:avLst/>
              <a:gdLst/>
              <a:ahLst/>
              <a:cxnLst/>
              <a:rect l="l" t="t" r="r" b="b"/>
              <a:pathLst>
                <a:path w="90000" h="12500">
                  <a:moveTo>
                    <a:pt x="0" y="3250"/>
                  </a:moveTo>
                  <a:lnTo>
                    <a:pt x="73500" y="3250"/>
                  </a:lnTo>
                  <a:lnTo>
                    <a:pt x="73500" y="0"/>
                  </a:lnTo>
                  <a:lnTo>
                    <a:pt x="90000" y="6250"/>
                  </a:lnTo>
                  <a:lnTo>
                    <a:pt x="73500" y="12500"/>
                  </a:lnTo>
                  <a:lnTo>
                    <a:pt x="73500" y="9250"/>
                  </a:lnTo>
                  <a:lnTo>
                    <a:pt x="0" y="9250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after_e0_0_0" descr="Editable line; source id after_e0_0_0"/>
            <p:cNvSpPr/>
            <p:nvPr/>
          </p:nvSpPr>
          <p:spPr>
            <a:xfrm>
              <a:off x="4186654" y="1219685"/>
              <a:ext cx="129299" cy="120785"/>
            </a:xfrm>
            <a:custGeom>
              <a:avLst/>
              <a:gdLst/>
              <a:ahLst/>
              <a:cxnLst/>
              <a:rect l="l" t="t" r="r" b="b"/>
              <a:pathLst>
                <a:path w="50905" h="47553">
                  <a:moveTo>
                    <a:pt x="0" y="41683"/>
                  </a:moveTo>
                  <a:lnTo>
                    <a:pt x="36080" y="8275"/>
                  </a:lnTo>
                  <a:lnTo>
                    <a:pt x="33906" y="5927"/>
                  </a:lnTo>
                  <a:lnTo>
                    <a:pt x="50905" y="0"/>
                  </a:lnTo>
                  <a:lnTo>
                    <a:pt x="43689" y="16493"/>
                  </a:lnTo>
                  <a:lnTo>
                    <a:pt x="41515" y="14145"/>
                  </a:lnTo>
                  <a:lnTo>
                    <a:pt x="5435" y="47553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6" name="after_hard_0" descr="Editable line; source id after_hard_0"/>
            <p:cNvCxnSpPr/>
            <p:nvPr/>
          </p:nvCxnSpPr>
          <p:spPr>
            <a:xfrm>
              <a:off x="4381903" y="1196614"/>
              <a:ext cx="191471" cy="14183"/>
            </a:xfrm>
            <a:prstGeom prst="line">
              <a:avLst/>
            </a:prstGeom>
            <a:ln w="8890">
              <a:solidFill>
                <a:srgbClr val="B14747"/>
              </a:solidFill>
              <a:custDash>
                <a:ds d="285714" sp="25714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after_cross0_0" descr="Editable line; source id after_cross0_0"/>
            <p:cNvCxnSpPr/>
            <p:nvPr/>
          </p:nvCxnSpPr>
          <p:spPr>
            <a:xfrm>
              <a:off x="4449699" y="1175765"/>
              <a:ext cx="55880" cy="55880"/>
            </a:xfrm>
            <a:prstGeom prst="line">
              <a:avLst/>
            </a:prstGeom>
            <a:ln w="12699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after_cross1_0" descr="Editable line; source id after_cross1_0"/>
            <p:cNvCxnSpPr/>
            <p:nvPr/>
          </p:nvCxnSpPr>
          <p:spPr>
            <a:xfrm flipV="1">
              <a:off x="4449699" y="1175765"/>
              <a:ext cx="55880" cy="55880"/>
            </a:xfrm>
            <a:prstGeom prst="line">
              <a:avLst/>
            </a:prstGeom>
            <a:ln w="12699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after_e2_0_0" descr="Editable line; source id after_e2_0_0"/>
            <p:cNvSpPr/>
            <p:nvPr/>
          </p:nvSpPr>
          <p:spPr>
            <a:xfrm>
              <a:off x="4642155" y="1230353"/>
              <a:ext cx="176652" cy="108819"/>
            </a:xfrm>
            <a:custGeom>
              <a:avLst/>
              <a:gdLst/>
              <a:ahLst/>
              <a:cxnLst/>
              <a:rect l="l" t="t" r="r" b="b"/>
              <a:pathLst>
                <a:path w="69548" h="42842">
                  <a:moveTo>
                    <a:pt x="1424" y="0"/>
                  </a:moveTo>
                  <a:lnTo>
                    <a:pt x="56144" y="33121"/>
                  </a:lnTo>
                  <a:lnTo>
                    <a:pt x="58668" y="28951"/>
                  </a:lnTo>
                  <a:lnTo>
                    <a:pt x="69548" y="42842"/>
                  </a:lnTo>
                  <a:lnTo>
                    <a:pt x="52196" y="39644"/>
                  </a:lnTo>
                  <a:lnTo>
                    <a:pt x="54720" y="35474"/>
                  </a:lnTo>
                  <a:lnTo>
                    <a:pt x="0" y="2353"/>
                  </a:lnTo>
                  <a:close/>
                </a:path>
              </a:pathLst>
            </a:custGeom>
            <a:solidFill>
              <a:srgbClr val="BAC4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after_e3_0_0" descr="Editable line; source id after_e3_0_0"/>
            <p:cNvSpPr/>
            <p:nvPr/>
          </p:nvSpPr>
          <p:spPr>
            <a:xfrm>
              <a:off x="4187327" y="1382062"/>
              <a:ext cx="109687" cy="114389"/>
            </a:xfrm>
            <a:custGeom>
              <a:avLst/>
              <a:gdLst/>
              <a:ahLst/>
              <a:cxnLst/>
              <a:rect l="l" t="t" r="r" b="b"/>
              <a:pathLst>
                <a:path w="43184" h="45035">
                  <a:moveTo>
                    <a:pt x="3616" y="0"/>
                  </a:moveTo>
                  <a:lnTo>
                    <a:pt x="33594" y="31378"/>
                  </a:lnTo>
                  <a:lnTo>
                    <a:pt x="36305" y="28787"/>
                  </a:lnTo>
                  <a:lnTo>
                    <a:pt x="43184" y="45035"/>
                  </a:lnTo>
                  <a:lnTo>
                    <a:pt x="27267" y="37422"/>
                  </a:lnTo>
                  <a:lnTo>
                    <a:pt x="29978" y="34832"/>
                  </a:lnTo>
                  <a:lnTo>
                    <a:pt x="0" y="3454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after_e4_0_0" descr="Editable line; source id after_e4_0_0"/>
            <p:cNvSpPr/>
            <p:nvPr/>
          </p:nvSpPr>
          <p:spPr>
            <a:xfrm>
              <a:off x="4354086" y="1426182"/>
              <a:ext cx="154993" cy="85684"/>
            </a:xfrm>
            <a:custGeom>
              <a:avLst/>
              <a:gdLst/>
              <a:ahLst/>
              <a:cxnLst/>
              <a:rect l="l" t="t" r="r" b="b"/>
              <a:pathLst>
                <a:path w="61021" h="33734">
                  <a:moveTo>
                    <a:pt x="0" y="29310"/>
                  </a:moveTo>
                  <a:lnTo>
                    <a:pt x="45257" y="5477"/>
                  </a:lnTo>
                  <a:lnTo>
                    <a:pt x="43509" y="2159"/>
                  </a:lnTo>
                  <a:lnTo>
                    <a:pt x="61021" y="0"/>
                  </a:lnTo>
                  <a:lnTo>
                    <a:pt x="49334" y="13219"/>
                  </a:lnTo>
                  <a:lnTo>
                    <a:pt x="47586" y="9901"/>
                  </a:lnTo>
                  <a:lnTo>
                    <a:pt x="2330" y="33734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after_e5_0_0" descr="Editable line; source id after_e5_0_0"/>
            <p:cNvSpPr/>
            <p:nvPr/>
          </p:nvSpPr>
          <p:spPr>
            <a:xfrm>
              <a:off x="4362351" y="1214841"/>
              <a:ext cx="154544" cy="165641"/>
            </a:xfrm>
            <a:custGeom>
              <a:avLst/>
              <a:gdLst/>
              <a:ahLst/>
              <a:cxnLst/>
              <a:rect l="l" t="t" r="r" b="b"/>
              <a:pathLst>
                <a:path w="60844" h="65213">
                  <a:moveTo>
                    <a:pt x="5868" y="0"/>
                  </a:moveTo>
                  <a:lnTo>
                    <a:pt x="52563" y="50392"/>
                  </a:lnTo>
                  <a:lnTo>
                    <a:pt x="54910" y="48217"/>
                  </a:lnTo>
                  <a:lnTo>
                    <a:pt x="60844" y="65213"/>
                  </a:lnTo>
                  <a:lnTo>
                    <a:pt x="44348" y="58004"/>
                  </a:lnTo>
                  <a:lnTo>
                    <a:pt x="46695" y="55829"/>
                  </a:lnTo>
                  <a:lnTo>
                    <a:pt x="0" y="5437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after_e6_0_0" descr="Editable line; source id after_e6_0_0"/>
            <p:cNvSpPr/>
            <p:nvPr/>
          </p:nvSpPr>
          <p:spPr>
            <a:xfrm>
              <a:off x="4579150" y="1355905"/>
              <a:ext cx="234632" cy="54326"/>
            </a:xfrm>
            <a:custGeom>
              <a:avLst/>
              <a:gdLst/>
              <a:ahLst/>
              <a:cxnLst/>
              <a:rect l="l" t="t" r="r" b="b"/>
              <a:pathLst>
                <a:path w="92375" h="21388">
                  <a:moveTo>
                    <a:pt x="0" y="15216"/>
                  </a:moveTo>
                  <a:lnTo>
                    <a:pt x="75588" y="3085"/>
                  </a:lnTo>
                  <a:lnTo>
                    <a:pt x="75093" y="0"/>
                  </a:lnTo>
                  <a:lnTo>
                    <a:pt x="92375" y="3556"/>
                  </a:lnTo>
                  <a:lnTo>
                    <a:pt x="77073" y="12342"/>
                  </a:lnTo>
                  <a:lnTo>
                    <a:pt x="76578" y="9256"/>
                  </a:lnTo>
                  <a:lnTo>
                    <a:pt x="991" y="21388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after_e7_0_0" descr="Editable line; source id after_e7_0_0"/>
            <p:cNvSpPr/>
            <p:nvPr/>
          </p:nvSpPr>
          <p:spPr>
            <a:xfrm>
              <a:off x="4569945" y="1423144"/>
              <a:ext cx="112702" cy="79560"/>
            </a:xfrm>
            <a:custGeom>
              <a:avLst/>
              <a:gdLst/>
              <a:ahLst/>
              <a:cxnLst/>
              <a:rect l="l" t="t" r="r" b="b"/>
              <a:pathLst>
                <a:path w="44371" h="31323">
                  <a:moveTo>
                    <a:pt x="3494" y="0"/>
                  </a:moveTo>
                  <a:lnTo>
                    <a:pt x="32436" y="19509"/>
                  </a:lnTo>
                  <a:lnTo>
                    <a:pt x="34182" y="16918"/>
                  </a:lnTo>
                  <a:lnTo>
                    <a:pt x="44371" y="31323"/>
                  </a:lnTo>
                  <a:lnTo>
                    <a:pt x="27196" y="27283"/>
                  </a:lnTo>
                  <a:lnTo>
                    <a:pt x="28942" y="24691"/>
                  </a:lnTo>
                  <a:lnTo>
                    <a:pt x="0" y="5182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after_e8_0_0" descr="Editable line; source id after_e8_0_0"/>
            <p:cNvSpPr/>
            <p:nvPr/>
          </p:nvSpPr>
          <p:spPr>
            <a:xfrm>
              <a:off x="4732482" y="1388207"/>
              <a:ext cx="94572" cy="111559"/>
            </a:xfrm>
            <a:custGeom>
              <a:avLst/>
              <a:gdLst/>
              <a:ahLst/>
              <a:cxnLst/>
              <a:rect l="l" t="t" r="r" b="b"/>
              <a:pathLst>
                <a:path w="37233" h="43921">
                  <a:moveTo>
                    <a:pt x="0" y="39927"/>
                  </a:moveTo>
                  <a:lnTo>
                    <a:pt x="24285" y="10695"/>
                  </a:lnTo>
                  <a:lnTo>
                    <a:pt x="21881" y="8698"/>
                  </a:lnTo>
                  <a:lnTo>
                    <a:pt x="37233" y="0"/>
                  </a:lnTo>
                  <a:lnTo>
                    <a:pt x="31496" y="16685"/>
                  </a:lnTo>
                  <a:lnTo>
                    <a:pt x="29093" y="14688"/>
                  </a:lnTo>
                  <a:lnTo>
                    <a:pt x="4807" y="43921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after_n0" descr="Editable shape; source id after_n0"/>
            <p:cNvSpPr/>
            <p:nvPr/>
          </p:nvSpPr>
          <p:spPr>
            <a:xfrm>
              <a:off x="4127500" y="1320799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after_n1" descr="Editable shape; source id after_n1"/>
            <p:cNvSpPr/>
            <p:nvPr/>
          </p:nvSpPr>
          <p:spPr>
            <a:xfrm>
              <a:off x="4305808" y="1155700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after_n2" descr="Editable shape; source id after_n2"/>
            <p:cNvSpPr/>
            <p:nvPr/>
          </p:nvSpPr>
          <p:spPr>
            <a:xfrm>
              <a:off x="4573269" y="1175511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after_n3" descr="Editable shape; source id after_n3"/>
            <p:cNvSpPr/>
            <p:nvPr/>
          </p:nvSpPr>
          <p:spPr>
            <a:xfrm>
              <a:off x="4813300" y="1320799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after_n4" descr="Editable shape; source id after_n4"/>
            <p:cNvSpPr/>
            <p:nvPr/>
          </p:nvSpPr>
          <p:spPr>
            <a:xfrm>
              <a:off x="4285234" y="1485899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after_n5" descr="Editable shape; source id after_n5"/>
            <p:cNvSpPr/>
            <p:nvPr/>
          </p:nvSpPr>
          <p:spPr>
            <a:xfrm>
              <a:off x="4504690" y="1370329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after_n6" descr="Editable shape; source id after_n6"/>
            <p:cNvSpPr/>
            <p:nvPr/>
          </p:nvSpPr>
          <p:spPr>
            <a:xfrm>
              <a:off x="4676140" y="1485899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target_only" descr="Editable text; source id target_only"/>
            <p:cNvSpPr txBox="1"/>
            <p:nvPr/>
          </p:nvSpPr>
          <p:spPr>
            <a:xfrm>
              <a:off x="3022600" y="1663699"/>
              <a:ext cx="19049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Target flow is not executed</a:t>
              </a:r>
            </a:p>
          </p:txBody>
        </p:sp>
        <p:grpSp>
          <p:nvGrpSpPr>
            <p:cNvPr id="169" name="projection_objective"/>
            <p:cNvGrpSpPr/>
            <p:nvPr/>
          </p:nvGrpSpPr>
          <p:grpSpPr>
            <a:xfrm>
              <a:off x="3117773" y="403248"/>
              <a:ext cx="1697070" cy="145737"/>
              <a:chOff x="3117773" y="403248"/>
              <a:chExt cx="1697070" cy="145737"/>
            </a:xfrm>
          </p:grpSpPr>
          <p:sp>
            <p:nvSpPr>
              <p:cNvPr id="170" name="projection_objective_outline_0"/>
              <p:cNvSpPr/>
              <p:nvPr/>
            </p:nvSpPr>
            <p:spPr>
              <a:xfrm>
                <a:off x="3117773" y="429078"/>
                <a:ext cx="202587" cy="90725"/>
              </a:xfrm>
              <a:custGeom>
                <a:avLst/>
                <a:gdLst/>
                <a:ahLst/>
                <a:cxnLst/>
                <a:rect l="0" t="0" r="r" b="b"/>
                <a:pathLst>
                  <a:path w="202588" h="90726">
                    <a:moveTo>
                      <a:pt x="100818" y="90726"/>
                    </a:moveTo>
                    <a:lnTo>
                      <a:pt x="100818" y="88733"/>
                    </a:lnTo>
                    <a:lnTo>
                      <a:pt x="97365" y="88467"/>
                    </a:lnTo>
                    <a:cubicBezTo>
                      <a:pt x="93381" y="88201"/>
                      <a:pt x="91654" y="85812"/>
                      <a:pt x="91654" y="80629"/>
                    </a:cubicBezTo>
                    <a:lnTo>
                      <a:pt x="91654" y="53265"/>
                    </a:lnTo>
                    <a:cubicBezTo>
                      <a:pt x="91654" y="37592"/>
                      <a:pt x="86475" y="29623"/>
                      <a:pt x="76244" y="29623"/>
                    </a:cubicBezTo>
                    <a:cubicBezTo>
                      <a:pt x="68540" y="29623"/>
                      <a:pt x="61766" y="33075"/>
                      <a:pt x="54594" y="40779"/>
                    </a:cubicBezTo>
                    <a:cubicBezTo>
                      <a:pt x="52201" y="33206"/>
                      <a:pt x="47685" y="29623"/>
                      <a:pt x="40513" y="29623"/>
                    </a:cubicBezTo>
                    <a:cubicBezTo>
                      <a:pt x="34667" y="29623"/>
                      <a:pt x="30948" y="31480"/>
                      <a:pt x="19923" y="39850"/>
                    </a:cubicBezTo>
                    <a:lnTo>
                      <a:pt x="19923" y="29889"/>
                    </a:lnTo>
                    <a:lnTo>
                      <a:pt x="18994" y="29623"/>
                    </a:lnTo>
                    <a:cubicBezTo>
                      <a:pt x="12220" y="32147"/>
                      <a:pt x="7703" y="33607"/>
                      <a:pt x="397" y="35600"/>
                    </a:cubicBezTo>
                    <a:lnTo>
                      <a:pt x="397" y="37858"/>
                    </a:lnTo>
                    <a:cubicBezTo>
                      <a:pt x="2123" y="37457"/>
                      <a:pt x="3187" y="37326"/>
                      <a:pt x="4647" y="37326"/>
                    </a:cubicBezTo>
                    <a:cubicBezTo>
                      <a:pt x="8100" y="37326"/>
                      <a:pt x="9295" y="39453"/>
                      <a:pt x="9295" y="45827"/>
                    </a:cubicBezTo>
                    <a:lnTo>
                      <a:pt x="9295" y="79434"/>
                    </a:lnTo>
                    <a:cubicBezTo>
                      <a:pt x="9295" y="86606"/>
                      <a:pt x="7437" y="88598"/>
                      <a:pt x="0" y="88733"/>
                    </a:cubicBezTo>
                    <a:lnTo>
                      <a:pt x="0" y="90726"/>
                    </a:lnTo>
                    <a:lnTo>
                      <a:pt x="29488" y="90726"/>
                    </a:lnTo>
                    <a:lnTo>
                      <a:pt x="29488" y="88733"/>
                    </a:lnTo>
                    <a:cubicBezTo>
                      <a:pt x="22447" y="88467"/>
                      <a:pt x="20455" y="87007"/>
                      <a:pt x="20455" y="81824"/>
                    </a:cubicBezTo>
                    <a:lnTo>
                      <a:pt x="20455" y="44367"/>
                    </a:lnTo>
                    <a:cubicBezTo>
                      <a:pt x="20455" y="44367"/>
                      <a:pt x="21519" y="42771"/>
                      <a:pt x="22447" y="41842"/>
                    </a:cubicBezTo>
                    <a:cubicBezTo>
                      <a:pt x="25769" y="38787"/>
                      <a:pt x="31480" y="36528"/>
                      <a:pt x="36128" y="36528"/>
                    </a:cubicBezTo>
                    <a:cubicBezTo>
                      <a:pt x="41973" y="36528"/>
                      <a:pt x="44894" y="41180"/>
                      <a:pt x="44894" y="50478"/>
                    </a:cubicBezTo>
                    <a:lnTo>
                      <a:pt x="44894" y="79304"/>
                    </a:lnTo>
                    <a:cubicBezTo>
                      <a:pt x="44894" y="86741"/>
                      <a:pt x="43434" y="88201"/>
                      <a:pt x="35862" y="88733"/>
                    </a:cubicBezTo>
                    <a:lnTo>
                      <a:pt x="35862" y="90726"/>
                    </a:lnTo>
                    <a:lnTo>
                      <a:pt x="65619" y="90726"/>
                    </a:lnTo>
                    <a:lnTo>
                      <a:pt x="65619" y="88733"/>
                    </a:lnTo>
                    <a:cubicBezTo>
                      <a:pt x="58047" y="88598"/>
                      <a:pt x="56055" y="86340"/>
                      <a:pt x="56055" y="78105"/>
                    </a:cubicBezTo>
                    <a:lnTo>
                      <a:pt x="56055" y="44632"/>
                    </a:lnTo>
                    <a:cubicBezTo>
                      <a:pt x="60039" y="38922"/>
                      <a:pt x="64425" y="36528"/>
                      <a:pt x="70533" y="36528"/>
                    </a:cubicBezTo>
                    <a:cubicBezTo>
                      <a:pt x="78105" y="36528"/>
                      <a:pt x="80494" y="40116"/>
                      <a:pt x="80494" y="51141"/>
                    </a:cubicBezTo>
                    <a:lnTo>
                      <a:pt x="80494" y="79169"/>
                    </a:lnTo>
                    <a:cubicBezTo>
                      <a:pt x="80494" y="86741"/>
                      <a:pt x="79435" y="87805"/>
                      <a:pt x="71727" y="88733"/>
                    </a:cubicBezTo>
                    <a:lnTo>
                      <a:pt x="71727" y="90726"/>
                    </a:lnTo>
                    <a:lnTo>
                      <a:pt x="100818" y="90726"/>
                    </a:lnTo>
                    <a:close/>
                    <a:moveTo>
                      <a:pt x="134838" y="90726"/>
                    </a:moveTo>
                    <a:lnTo>
                      <a:pt x="134838" y="88733"/>
                    </a:lnTo>
                    <a:cubicBezTo>
                      <a:pt x="126072" y="88070"/>
                      <a:pt x="125007" y="86741"/>
                      <a:pt x="125007" y="77176"/>
                    </a:cubicBezTo>
                    <a:lnTo>
                      <a:pt x="125007" y="30020"/>
                    </a:lnTo>
                    <a:lnTo>
                      <a:pt x="124476" y="29623"/>
                    </a:lnTo>
                    <a:lnTo>
                      <a:pt x="103886" y="36929"/>
                    </a:lnTo>
                    <a:lnTo>
                      <a:pt x="103886" y="38922"/>
                    </a:lnTo>
                    <a:lnTo>
                      <a:pt x="104950" y="38787"/>
                    </a:lnTo>
                    <a:cubicBezTo>
                      <a:pt x="106545" y="38521"/>
                      <a:pt x="108271" y="38390"/>
                      <a:pt x="109466" y="38390"/>
                    </a:cubicBezTo>
                    <a:cubicBezTo>
                      <a:pt x="112653" y="38390"/>
                      <a:pt x="113852" y="40513"/>
                      <a:pt x="113852" y="46359"/>
                    </a:cubicBezTo>
                    <a:lnTo>
                      <a:pt x="113852" y="77176"/>
                    </a:lnTo>
                    <a:cubicBezTo>
                      <a:pt x="113852" y="86741"/>
                      <a:pt x="112522" y="88201"/>
                      <a:pt x="103358" y="88733"/>
                    </a:cubicBezTo>
                    <a:lnTo>
                      <a:pt x="103358" y="90726"/>
                    </a:lnTo>
                    <a:lnTo>
                      <a:pt x="134838" y="90726"/>
                    </a:lnTo>
                    <a:close/>
                    <a:moveTo>
                      <a:pt x="126202" y="6775"/>
                    </a:moveTo>
                    <a:cubicBezTo>
                      <a:pt x="126202" y="3056"/>
                      <a:pt x="123281" y="0"/>
                      <a:pt x="119428" y="0"/>
                    </a:cubicBezTo>
                    <a:cubicBezTo>
                      <a:pt x="115709" y="0"/>
                      <a:pt x="112653" y="3056"/>
                      <a:pt x="112653" y="6775"/>
                    </a:cubicBezTo>
                    <a:cubicBezTo>
                      <a:pt x="112653" y="10624"/>
                      <a:pt x="115709" y="13549"/>
                      <a:pt x="119428" y="13549"/>
                    </a:cubicBezTo>
                    <a:cubicBezTo>
                      <a:pt x="123281" y="13549"/>
                      <a:pt x="126202" y="10624"/>
                      <a:pt x="126202" y="6775"/>
                    </a:cubicBezTo>
                    <a:close/>
                    <a:moveTo>
                      <a:pt x="202588" y="90726"/>
                    </a:moveTo>
                    <a:lnTo>
                      <a:pt x="202588" y="88733"/>
                    </a:lnTo>
                    <a:cubicBezTo>
                      <a:pt x="196079" y="88070"/>
                      <a:pt x="194484" y="86475"/>
                      <a:pt x="194484" y="79966"/>
                    </a:cubicBezTo>
                    <a:lnTo>
                      <a:pt x="194484" y="49546"/>
                    </a:lnTo>
                    <a:cubicBezTo>
                      <a:pt x="194484" y="37060"/>
                      <a:pt x="188642" y="29623"/>
                      <a:pt x="178811" y="29623"/>
                    </a:cubicBezTo>
                    <a:cubicBezTo>
                      <a:pt x="172700" y="29623"/>
                      <a:pt x="168584" y="31881"/>
                      <a:pt x="159550" y="40382"/>
                    </a:cubicBezTo>
                    <a:lnTo>
                      <a:pt x="159550" y="29889"/>
                    </a:lnTo>
                    <a:lnTo>
                      <a:pt x="158618" y="29623"/>
                    </a:lnTo>
                    <a:cubicBezTo>
                      <a:pt x="152109" y="32012"/>
                      <a:pt x="147593" y="33472"/>
                      <a:pt x="140291" y="35600"/>
                    </a:cubicBezTo>
                    <a:lnTo>
                      <a:pt x="140291" y="37858"/>
                    </a:lnTo>
                    <a:cubicBezTo>
                      <a:pt x="141084" y="37457"/>
                      <a:pt x="142414" y="37326"/>
                      <a:pt x="143874" y="37326"/>
                    </a:cubicBezTo>
                    <a:cubicBezTo>
                      <a:pt x="147593" y="37326"/>
                      <a:pt x="148792" y="39318"/>
                      <a:pt x="148792" y="45827"/>
                    </a:cubicBezTo>
                    <a:lnTo>
                      <a:pt x="148792" y="78772"/>
                    </a:lnTo>
                    <a:cubicBezTo>
                      <a:pt x="148792" y="86340"/>
                      <a:pt x="147326" y="88201"/>
                      <a:pt x="140552" y="88733"/>
                    </a:cubicBezTo>
                    <a:lnTo>
                      <a:pt x="140552" y="90726"/>
                    </a:lnTo>
                    <a:lnTo>
                      <a:pt x="168714" y="90726"/>
                    </a:lnTo>
                    <a:lnTo>
                      <a:pt x="168714" y="88733"/>
                    </a:lnTo>
                    <a:cubicBezTo>
                      <a:pt x="161940" y="88201"/>
                      <a:pt x="159948" y="86606"/>
                      <a:pt x="159948" y="81824"/>
                    </a:cubicBezTo>
                    <a:lnTo>
                      <a:pt x="159948" y="44498"/>
                    </a:lnTo>
                    <a:cubicBezTo>
                      <a:pt x="166326" y="38521"/>
                      <a:pt x="169247" y="36929"/>
                      <a:pt x="173632" y="36929"/>
                    </a:cubicBezTo>
                    <a:cubicBezTo>
                      <a:pt x="180141" y="36929"/>
                      <a:pt x="183327" y="41045"/>
                      <a:pt x="183327" y="49812"/>
                    </a:cubicBezTo>
                    <a:lnTo>
                      <a:pt x="183327" y="77573"/>
                    </a:lnTo>
                    <a:cubicBezTo>
                      <a:pt x="183327" y="85943"/>
                      <a:pt x="181601" y="88201"/>
                      <a:pt x="174958" y="88733"/>
                    </a:cubicBezTo>
                    <a:lnTo>
                      <a:pt x="174958" y="90726"/>
                    </a:lnTo>
                    <a:lnTo>
                      <a:pt x="202588" y="90726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projection_objective_outline_1"/>
              <p:cNvSpPr/>
              <p:nvPr/>
            </p:nvSpPr>
            <p:spPr>
              <a:xfrm>
                <a:off x="3325887" y="475214"/>
                <a:ext cx="72322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72323" h="67755">
                    <a:moveTo>
                      <a:pt x="69104" y="15875"/>
                    </a:moveTo>
                    <a:lnTo>
                      <a:pt x="72323" y="0"/>
                    </a:lnTo>
                    <a:lnTo>
                      <a:pt x="14113" y="0"/>
                    </a:lnTo>
                    <a:lnTo>
                      <a:pt x="14113" y="1659"/>
                    </a:lnTo>
                    <a:cubicBezTo>
                      <a:pt x="21999" y="2282"/>
                      <a:pt x="23451" y="2905"/>
                      <a:pt x="23555" y="5810"/>
                    </a:cubicBezTo>
                    <a:cubicBezTo>
                      <a:pt x="23555" y="7469"/>
                      <a:pt x="23035" y="9962"/>
                      <a:pt x="22412" y="12553"/>
                    </a:cubicBezTo>
                    <a:lnTo>
                      <a:pt x="9442" y="58416"/>
                    </a:lnTo>
                    <a:cubicBezTo>
                      <a:pt x="7576" y="64643"/>
                      <a:pt x="6747" y="65266"/>
                      <a:pt x="0" y="66096"/>
                    </a:cubicBezTo>
                    <a:lnTo>
                      <a:pt x="103" y="67755"/>
                    </a:lnTo>
                    <a:lnTo>
                      <a:pt x="30091" y="67755"/>
                    </a:lnTo>
                    <a:lnTo>
                      <a:pt x="29988" y="66096"/>
                    </a:lnTo>
                    <a:cubicBezTo>
                      <a:pt x="23138" y="65782"/>
                      <a:pt x="21066" y="64643"/>
                      <a:pt x="20959" y="61528"/>
                    </a:cubicBezTo>
                    <a:cubicBezTo>
                      <a:pt x="20959" y="60595"/>
                      <a:pt x="21066" y="59349"/>
                      <a:pt x="21685" y="56860"/>
                    </a:cubicBezTo>
                    <a:lnTo>
                      <a:pt x="28226" y="33929"/>
                    </a:lnTo>
                    <a:cubicBezTo>
                      <a:pt x="32373" y="34135"/>
                      <a:pt x="34865" y="34238"/>
                      <a:pt x="37354" y="34238"/>
                    </a:cubicBezTo>
                    <a:cubicBezTo>
                      <a:pt x="41712" y="34238"/>
                      <a:pt x="42541" y="34346"/>
                      <a:pt x="43581" y="34758"/>
                    </a:cubicBezTo>
                    <a:cubicBezTo>
                      <a:pt x="45240" y="35485"/>
                      <a:pt x="46176" y="36937"/>
                      <a:pt x="46280" y="39013"/>
                    </a:cubicBezTo>
                    <a:cubicBezTo>
                      <a:pt x="46280" y="40672"/>
                      <a:pt x="46176" y="41815"/>
                      <a:pt x="46069" y="45030"/>
                    </a:cubicBezTo>
                    <a:lnTo>
                      <a:pt x="48042" y="45549"/>
                    </a:lnTo>
                    <a:lnTo>
                      <a:pt x="56241" y="21165"/>
                    </a:lnTo>
                    <a:lnTo>
                      <a:pt x="54785" y="20646"/>
                    </a:lnTo>
                    <a:cubicBezTo>
                      <a:pt x="49808" y="29984"/>
                      <a:pt x="49391" y="30091"/>
                      <a:pt x="29365" y="30298"/>
                    </a:cubicBezTo>
                    <a:lnTo>
                      <a:pt x="36215" y="6120"/>
                    </a:lnTo>
                    <a:cubicBezTo>
                      <a:pt x="36731" y="4044"/>
                      <a:pt x="38394" y="3425"/>
                      <a:pt x="43061" y="3425"/>
                    </a:cubicBezTo>
                    <a:cubicBezTo>
                      <a:pt x="62464" y="3425"/>
                      <a:pt x="66409" y="4771"/>
                      <a:pt x="66615" y="11307"/>
                    </a:cubicBezTo>
                    <a:cubicBezTo>
                      <a:pt x="66719" y="12037"/>
                      <a:pt x="66719" y="12450"/>
                      <a:pt x="66615" y="13696"/>
                    </a:cubicBezTo>
                    <a:cubicBezTo>
                      <a:pt x="66512" y="14423"/>
                      <a:pt x="66615" y="14835"/>
                      <a:pt x="66512" y="15669"/>
                    </a:cubicBezTo>
                    <a:lnTo>
                      <a:pt x="69104" y="15875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projection_objective_outline_2"/>
              <p:cNvSpPr/>
              <p:nvPr/>
            </p:nvSpPr>
            <p:spPr>
              <a:xfrm>
                <a:off x="3416059" y="483410"/>
                <a:ext cx="53125" cy="65575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65576">
                    <a:moveTo>
                      <a:pt x="53126" y="27083"/>
                    </a:moveTo>
                    <a:lnTo>
                      <a:pt x="53126" y="25007"/>
                    </a:lnTo>
                    <a:lnTo>
                      <a:pt x="0" y="0"/>
                    </a:lnTo>
                    <a:lnTo>
                      <a:pt x="0" y="5914"/>
                    </a:lnTo>
                    <a:lnTo>
                      <a:pt x="43164" y="26150"/>
                    </a:lnTo>
                    <a:lnTo>
                      <a:pt x="0" y="46383"/>
                    </a:lnTo>
                    <a:lnTo>
                      <a:pt x="0" y="52193"/>
                    </a:lnTo>
                    <a:lnTo>
                      <a:pt x="53126" y="27083"/>
                    </a:lnTo>
                    <a:close/>
                    <a:moveTo>
                      <a:pt x="53126" y="65576"/>
                    </a:moveTo>
                    <a:lnTo>
                      <a:pt x="53126" y="60079"/>
                    </a:lnTo>
                    <a:lnTo>
                      <a:pt x="0" y="60079"/>
                    </a:lnTo>
                    <a:lnTo>
                      <a:pt x="0" y="65576"/>
                    </a:lnTo>
                    <a:lnTo>
                      <a:pt x="53126" y="65576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projection_objective_outline_3"/>
              <p:cNvSpPr/>
              <p:nvPr/>
            </p:nvSpPr>
            <p:spPr>
              <a:xfrm>
                <a:off x="3484313" y="472825"/>
                <a:ext cx="46902" cy="71596"/>
              </a:xfrm>
              <a:custGeom>
                <a:avLst/>
                <a:gdLst/>
                <a:ahLst/>
                <a:cxnLst/>
                <a:rect l="0" t="0" r="r" b="b"/>
                <a:pathLst>
                  <a:path w="46903" h="71596">
                    <a:moveTo>
                      <a:pt x="46903" y="35901"/>
                    </a:moveTo>
                    <a:cubicBezTo>
                      <a:pt x="46903" y="14633"/>
                      <a:pt x="37461" y="0"/>
                      <a:pt x="23868" y="0"/>
                    </a:cubicBezTo>
                    <a:cubicBezTo>
                      <a:pt x="18161" y="0"/>
                      <a:pt x="13803" y="1766"/>
                      <a:pt x="9962" y="5397"/>
                    </a:cubicBezTo>
                    <a:cubicBezTo>
                      <a:pt x="3945" y="11208"/>
                      <a:pt x="0" y="23142"/>
                      <a:pt x="0" y="35282"/>
                    </a:cubicBezTo>
                    <a:cubicBezTo>
                      <a:pt x="0" y="46589"/>
                      <a:pt x="3425" y="58730"/>
                      <a:pt x="8303" y="64540"/>
                    </a:cubicBezTo>
                    <a:cubicBezTo>
                      <a:pt x="12140" y="69108"/>
                      <a:pt x="17435" y="71596"/>
                      <a:pt x="23451" y="71596"/>
                    </a:cubicBezTo>
                    <a:cubicBezTo>
                      <a:pt x="28742" y="71596"/>
                      <a:pt x="33207" y="69834"/>
                      <a:pt x="36941" y="66203"/>
                    </a:cubicBezTo>
                    <a:cubicBezTo>
                      <a:pt x="42958" y="60496"/>
                      <a:pt x="46903" y="48458"/>
                      <a:pt x="46903" y="35901"/>
                    </a:cubicBezTo>
                    <a:close/>
                    <a:moveTo>
                      <a:pt x="36941" y="36112"/>
                    </a:moveTo>
                    <a:cubicBezTo>
                      <a:pt x="36941" y="57797"/>
                      <a:pt x="32373" y="68897"/>
                      <a:pt x="23451" y="68897"/>
                    </a:cubicBezTo>
                    <a:cubicBezTo>
                      <a:pt x="14530" y="68897"/>
                      <a:pt x="9962" y="57797"/>
                      <a:pt x="9962" y="36215"/>
                    </a:cubicBezTo>
                    <a:cubicBezTo>
                      <a:pt x="9962" y="14216"/>
                      <a:pt x="14633" y="2699"/>
                      <a:pt x="23555" y="2699"/>
                    </a:cubicBezTo>
                    <a:cubicBezTo>
                      <a:pt x="32270" y="2699"/>
                      <a:pt x="36941" y="14426"/>
                      <a:pt x="36941" y="3611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projection_objective_outline_4"/>
              <p:cNvSpPr/>
              <p:nvPr/>
            </p:nvSpPr>
            <p:spPr>
              <a:xfrm>
                <a:off x="3559693" y="425891"/>
                <a:ext cx="28031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28031" h="119551">
                    <a:moveTo>
                      <a:pt x="28031" y="116229"/>
                    </a:moveTo>
                    <a:lnTo>
                      <a:pt x="16605" y="116229"/>
                    </a:lnTo>
                    <a:cubicBezTo>
                      <a:pt x="12224" y="116229"/>
                      <a:pt x="10096" y="113971"/>
                      <a:pt x="10096" y="109323"/>
                    </a:cubicBezTo>
                    <a:lnTo>
                      <a:pt x="10096" y="9164"/>
                    </a:lnTo>
                    <a:cubicBezTo>
                      <a:pt x="10096" y="5044"/>
                      <a:pt x="11823" y="3318"/>
                      <a:pt x="16073" y="3318"/>
                    </a:cubicBezTo>
                    <a:lnTo>
                      <a:pt x="28031" y="3318"/>
                    </a:lnTo>
                    <a:lnTo>
                      <a:pt x="28031" y="0"/>
                    </a:lnTo>
                    <a:lnTo>
                      <a:pt x="0" y="0"/>
                    </a:lnTo>
                    <a:lnTo>
                      <a:pt x="0" y="119551"/>
                    </a:lnTo>
                    <a:lnTo>
                      <a:pt x="28031" y="119551"/>
                    </a:lnTo>
                    <a:lnTo>
                      <a:pt x="28031" y="116229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projection_objective_outline_5"/>
              <p:cNvSpPr/>
              <p:nvPr/>
            </p:nvSpPr>
            <p:spPr>
              <a:xfrm>
                <a:off x="3604427" y="481946"/>
                <a:ext cx="68012" cy="7437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7438">
                    <a:moveTo>
                      <a:pt x="68012" y="7438"/>
                    </a:moveTo>
                    <a:lnTo>
                      <a:pt x="68012" y="0"/>
                    </a:lnTo>
                    <a:lnTo>
                      <a:pt x="0" y="0"/>
                    </a:lnTo>
                    <a:lnTo>
                      <a:pt x="0" y="7438"/>
                    </a:lnTo>
                    <a:lnTo>
                      <a:pt x="68012" y="7438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projection_objective_outline_6"/>
              <p:cNvSpPr/>
              <p:nvPr/>
            </p:nvSpPr>
            <p:spPr>
              <a:xfrm>
                <a:off x="3692635" y="425891"/>
                <a:ext cx="34932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933" h="119551">
                    <a:moveTo>
                      <a:pt x="34933" y="119551"/>
                    </a:moveTo>
                    <a:lnTo>
                      <a:pt x="9163" y="59773"/>
                    </a:lnTo>
                    <a:lnTo>
                      <a:pt x="34933" y="0"/>
                    </a:lnTo>
                    <a:lnTo>
                      <a:pt x="28558" y="0"/>
                    </a:lnTo>
                    <a:lnTo>
                      <a:pt x="0" y="59773"/>
                    </a:lnTo>
                    <a:lnTo>
                      <a:pt x="28558" y="119551"/>
                    </a:lnTo>
                    <a:lnTo>
                      <a:pt x="34933" y="11955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projection_objective_outline_7"/>
              <p:cNvSpPr/>
              <p:nvPr/>
            </p:nvSpPr>
            <p:spPr>
              <a:xfrm>
                <a:off x="3737445" y="431071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3" h="88733">
                    <a:moveTo>
                      <a:pt x="81693" y="88733"/>
                    </a:moveTo>
                    <a:lnTo>
                      <a:pt x="81693" y="86606"/>
                    </a:lnTo>
                    <a:cubicBezTo>
                      <a:pt x="74120" y="85943"/>
                      <a:pt x="73192" y="84880"/>
                      <a:pt x="71596" y="75184"/>
                    </a:cubicBezTo>
                    <a:lnTo>
                      <a:pt x="59111" y="0"/>
                    </a:lnTo>
                    <a:lnTo>
                      <a:pt x="55658" y="0"/>
                    </a:lnTo>
                    <a:lnTo>
                      <a:pt x="17137" y="66417"/>
                    </a:lnTo>
                    <a:cubicBezTo>
                      <a:pt x="6644" y="84086"/>
                      <a:pt x="5314" y="85546"/>
                      <a:pt x="0" y="86606"/>
                    </a:cubicBezTo>
                    <a:lnTo>
                      <a:pt x="0" y="88733"/>
                    </a:lnTo>
                    <a:lnTo>
                      <a:pt x="24840" y="88733"/>
                    </a:lnTo>
                    <a:lnTo>
                      <a:pt x="24840" y="86606"/>
                    </a:lnTo>
                    <a:cubicBezTo>
                      <a:pt x="18066" y="85943"/>
                      <a:pt x="17002" y="85281"/>
                      <a:pt x="17002" y="81959"/>
                    </a:cubicBezTo>
                    <a:cubicBezTo>
                      <a:pt x="17002" y="79435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6" y="77311"/>
                      <a:pt x="59376" y="78506"/>
                      <a:pt x="59376" y="79570"/>
                    </a:cubicBezTo>
                    <a:cubicBezTo>
                      <a:pt x="59376" y="84614"/>
                      <a:pt x="57519" y="85812"/>
                      <a:pt x="49018" y="86606"/>
                    </a:cubicBezTo>
                    <a:lnTo>
                      <a:pt x="49018" y="88733"/>
                    </a:lnTo>
                    <a:lnTo>
                      <a:pt x="81693" y="88733"/>
                    </a:lnTo>
                    <a:close/>
                    <a:moveTo>
                      <a:pt x="55789" y="53931"/>
                    </a:moveTo>
                    <a:lnTo>
                      <a:pt x="30020" y="53931"/>
                    </a:lnTo>
                    <a:lnTo>
                      <a:pt x="49947" y="19395"/>
                    </a:lnTo>
                    <a:lnTo>
                      <a:pt x="55789" y="5393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projection_objective_outline_8"/>
              <p:cNvSpPr/>
              <p:nvPr/>
            </p:nvSpPr>
            <p:spPr>
              <a:xfrm>
                <a:off x="3834545" y="506255"/>
                <a:ext cx="18466" cy="32277"/>
              </a:xfrm>
              <a:custGeom>
                <a:avLst/>
                <a:gdLst/>
                <a:ahLst/>
                <a:cxnLst/>
                <a:rect l="0" t="0" r="r" b="b"/>
                <a:pathLst>
                  <a:path w="18467" h="32278">
                    <a:moveTo>
                      <a:pt x="18467" y="12752"/>
                    </a:moveTo>
                    <a:cubicBezTo>
                      <a:pt x="18467" y="1726"/>
                      <a:pt x="10759" y="0"/>
                      <a:pt x="7707" y="0"/>
                    </a:cubicBezTo>
                    <a:cubicBezTo>
                      <a:pt x="4385" y="0"/>
                      <a:pt x="0" y="1992"/>
                      <a:pt x="0" y="7703"/>
                    </a:cubicBezTo>
                    <a:cubicBezTo>
                      <a:pt x="0" y="13018"/>
                      <a:pt x="4782" y="14347"/>
                      <a:pt x="8235" y="14347"/>
                    </a:cubicBezTo>
                    <a:cubicBezTo>
                      <a:pt x="9168" y="14347"/>
                      <a:pt x="9831" y="14212"/>
                      <a:pt x="10232" y="14081"/>
                    </a:cubicBezTo>
                    <a:cubicBezTo>
                      <a:pt x="10759" y="13946"/>
                      <a:pt x="11160" y="13815"/>
                      <a:pt x="11426" y="13815"/>
                    </a:cubicBezTo>
                    <a:cubicBezTo>
                      <a:pt x="12355" y="13815"/>
                      <a:pt x="13283" y="14478"/>
                      <a:pt x="13283" y="15677"/>
                    </a:cubicBezTo>
                    <a:cubicBezTo>
                      <a:pt x="13283" y="18197"/>
                      <a:pt x="11160" y="24178"/>
                      <a:pt x="2393" y="29754"/>
                    </a:cubicBezTo>
                    <a:lnTo>
                      <a:pt x="3588" y="32278"/>
                    </a:lnTo>
                    <a:cubicBezTo>
                      <a:pt x="7572" y="30952"/>
                      <a:pt x="18467" y="22185"/>
                      <a:pt x="18467" y="1275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projection_objective_outline_9"/>
              <p:cNvSpPr/>
              <p:nvPr/>
            </p:nvSpPr>
            <p:spPr>
              <a:xfrm>
                <a:off x="3888860" y="433063"/>
                <a:ext cx="84613" cy="86740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1" y="3719"/>
                      <a:pt x="28691" y="7437"/>
                    </a:cubicBezTo>
                    <a:cubicBezTo>
                      <a:pt x="28691" y="9565"/>
                      <a:pt x="28158" y="12752"/>
                      <a:pt x="27230" y="16073"/>
                    </a:cubicBezTo>
                    <a:lnTo>
                      <a:pt x="10890" y="74787"/>
                    </a:lnTo>
                    <a:cubicBezTo>
                      <a:pt x="8501" y="82756"/>
                      <a:pt x="7573" y="83554"/>
                      <a:pt x="0" y="84614"/>
                    </a:cubicBezTo>
                    <a:lnTo>
                      <a:pt x="0" y="86741"/>
                    </a:lnTo>
                    <a:lnTo>
                      <a:pt x="33473" y="86741"/>
                    </a:lnTo>
                    <a:lnTo>
                      <a:pt x="33473" y="84614"/>
                    </a:lnTo>
                    <a:cubicBezTo>
                      <a:pt x="25770" y="84217"/>
                      <a:pt x="23381" y="82756"/>
                      <a:pt x="23381" y="78772"/>
                    </a:cubicBezTo>
                    <a:cubicBezTo>
                      <a:pt x="23381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9" y="43569"/>
                      <a:pt x="43570" y="43569"/>
                    </a:cubicBezTo>
                    <a:cubicBezTo>
                      <a:pt x="48749" y="43569"/>
                      <a:pt x="49547" y="43704"/>
                      <a:pt x="50876" y="44236"/>
                    </a:cubicBezTo>
                    <a:cubicBezTo>
                      <a:pt x="52733" y="45164"/>
                      <a:pt x="53797" y="47022"/>
                      <a:pt x="53797" y="49681"/>
                    </a:cubicBezTo>
                    <a:cubicBezTo>
                      <a:pt x="53797" y="51804"/>
                      <a:pt x="53530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9" y="26436"/>
                    </a:lnTo>
                    <a:cubicBezTo>
                      <a:pt x="56722" y="38390"/>
                      <a:pt x="56321" y="38521"/>
                      <a:pt x="34004" y="38787"/>
                    </a:cubicBezTo>
                    <a:lnTo>
                      <a:pt x="42771" y="7838"/>
                    </a:lnTo>
                    <a:cubicBezTo>
                      <a:pt x="43570" y="5179"/>
                      <a:pt x="45430" y="4381"/>
                      <a:pt x="50876" y="4381"/>
                    </a:cubicBezTo>
                    <a:cubicBezTo>
                      <a:pt x="73323" y="4381"/>
                      <a:pt x="77974" y="6112"/>
                      <a:pt x="77974" y="14478"/>
                    </a:cubicBezTo>
                    <a:cubicBezTo>
                      <a:pt x="77974" y="15411"/>
                      <a:pt x="77974" y="15938"/>
                      <a:pt x="77840" y="17534"/>
                    </a:cubicBezTo>
                    <a:cubicBezTo>
                      <a:pt x="77709" y="18463"/>
                      <a:pt x="77709" y="18994"/>
                      <a:pt x="77574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projection_objective_outline_10"/>
              <p:cNvSpPr/>
              <p:nvPr/>
            </p:nvSpPr>
            <p:spPr>
              <a:xfrm>
                <a:off x="3984239" y="425891"/>
                <a:ext cx="34932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933" h="119551">
                    <a:moveTo>
                      <a:pt x="34933" y="59773"/>
                    </a:moveTo>
                    <a:lnTo>
                      <a:pt x="6374" y="0"/>
                    </a:lnTo>
                    <a:lnTo>
                      <a:pt x="0" y="0"/>
                    </a:lnTo>
                    <a:lnTo>
                      <a:pt x="25769" y="59773"/>
                    </a:lnTo>
                    <a:lnTo>
                      <a:pt x="0" y="119551"/>
                    </a:lnTo>
                    <a:lnTo>
                      <a:pt x="6374" y="119551"/>
                    </a:lnTo>
                    <a:lnTo>
                      <a:pt x="34933" y="59773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projection_objective_outline_11"/>
              <p:cNvSpPr/>
              <p:nvPr/>
            </p:nvSpPr>
            <p:spPr>
              <a:xfrm>
                <a:off x="4068858" y="451526"/>
                <a:ext cx="68013" cy="68278"/>
              </a:xfrm>
              <a:custGeom>
                <a:avLst/>
                <a:gdLst/>
                <a:ahLst/>
                <a:cxnLst/>
                <a:rect l="0" t="0" r="r" b="b"/>
                <a:pathLst>
                  <a:path w="68013" h="68278">
                    <a:moveTo>
                      <a:pt x="29623" y="29758"/>
                    </a:moveTo>
                    <a:lnTo>
                      <a:pt x="0" y="29758"/>
                    </a:lnTo>
                    <a:lnTo>
                      <a:pt x="0" y="38525"/>
                    </a:lnTo>
                    <a:lnTo>
                      <a:pt x="29623" y="38525"/>
                    </a:lnTo>
                    <a:lnTo>
                      <a:pt x="29623" y="68278"/>
                    </a:lnTo>
                    <a:lnTo>
                      <a:pt x="38390" y="68278"/>
                    </a:lnTo>
                    <a:lnTo>
                      <a:pt x="38390" y="38525"/>
                    </a:lnTo>
                    <a:lnTo>
                      <a:pt x="68013" y="38525"/>
                    </a:lnTo>
                    <a:lnTo>
                      <a:pt x="68013" y="29758"/>
                    </a:lnTo>
                    <a:lnTo>
                      <a:pt x="38390" y="29758"/>
                    </a:lnTo>
                    <a:lnTo>
                      <a:pt x="38390" y="0"/>
                    </a:lnTo>
                    <a:lnTo>
                      <a:pt x="29623" y="0"/>
                    </a:lnTo>
                    <a:lnTo>
                      <a:pt x="29623" y="29758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projection_objective_outline_12"/>
              <p:cNvSpPr/>
              <p:nvPr/>
            </p:nvSpPr>
            <p:spPr>
              <a:xfrm>
                <a:off x="4178139" y="461225"/>
                <a:ext cx="61237" cy="60039"/>
              </a:xfrm>
              <a:custGeom>
                <a:avLst/>
                <a:gdLst/>
                <a:ahLst/>
                <a:cxnLst/>
                <a:rect l="0" t="0" r="r" b="b"/>
                <a:pathLst>
                  <a:path w="61238" h="60039">
                    <a:moveTo>
                      <a:pt x="61238" y="10890"/>
                    </a:moveTo>
                    <a:cubicBezTo>
                      <a:pt x="61238" y="2123"/>
                      <a:pt x="43970" y="0"/>
                      <a:pt x="37060" y="0"/>
                    </a:cubicBezTo>
                    <a:cubicBezTo>
                      <a:pt x="26833" y="0"/>
                      <a:pt x="10894" y="4251"/>
                      <a:pt x="10894" y="16601"/>
                    </a:cubicBezTo>
                    <a:cubicBezTo>
                      <a:pt x="10894" y="22713"/>
                      <a:pt x="15938" y="26567"/>
                      <a:pt x="21784" y="27496"/>
                    </a:cubicBezTo>
                    <a:lnTo>
                      <a:pt x="21784" y="28027"/>
                    </a:lnTo>
                    <a:cubicBezTo>
                      <a:pt x="12621" y="29222"/>
                      <a:pt x="0" y="34933"/>
                      <a:pt x="0" y="45426"/>
                    </a:cubicBezTo>
                    <a:cubicBezTo>
                      <a:pt x="0" y="57650"/>
                      <a:pt x="14212" y="60039"/>
                      <a:pt x="24178" y="60039"/>
                    </a:cubicBezTo>
                    <a:cubicBezTo>
                      <a:pt x="34139" y="60039"/>
                      <a:pt x="45827" y="56983"/>
                      <a:pt x="52205" y="49014"/>
                    </a:cubicBezTo>
                    <a:cubicBezTo>
                      <a:pt x="53530" y="47288"/>
                      <a:pt x="54860" y="45295"/>
                      <a:pt x="54860" y="43037"/>
                    </a:cubicBezTo>
                    <a:cubicBezTo>
                      <a:pt x="54860" y="41442"/>
                      <a:pt x="53400" y="39715"/>
                      <a:pt x="51673" y="39715"/>
                    </a:cubicBezTo>
                    <a:cubicBezTo>
                      <a:pt x="45164" y="39715"/>
                      <a:pt x="43704" y="56451"/>
                      <a:pt x="25638" y="56451"/>
                    </a:cubicBezTo>
                    <a:cubicBezTo>
                      <a:pt x="18598" y="56451"/>
                      <a:pt x="13283" y="53931"/>
                      <a:pt x="13283" y="46490"/>
                    </a:cubicBezTo>
                    <a:cubicBezTo>
                      <a:pt x="13283" y="39318"/>
                      <a:pt x="17931" y="31214"/>
                      <a:pt x="26170" y="31214"/>
                    </a:cubicBezTo>
                    <a:cubicBezTo>
                      <a:pt x="30020" y="31214"/>
                      <a:pt x="33607" y="32675"/>
                      <a:pt x="37461" y="32675"/>
                    </a:cubicBezTo>
                    <a:cubicBezTo>
                      <a:pt x="40513" y="32675"/>
                      <a:pt x="43303" y="31746"/>
                      <a:pt x="43303" y="28293"/>
                    </a:cubicBezTo>
                    <a:cubicBezTo>
                      <a:pt x="43303" y="25237"/>
                      <a:pt x="41446" y="24840"/>
                      <a:pt x="38656" y="24840"/>
                    </a:cubicBezTo>
                    <a:cubicBezTo>
                      <a:pt x="35600" y="24840"/>
                      <a:pt x="32679" y="25237"/>
                      <a:pt x="29754" y="25237"/>
                    </a:cubicBezTo>
                    <a:cubicBezTo>
                      <a:pt x="24840" y="25237"/>
                      <a:pt x="22713" y="23245"/>
                      <a:pt x="22713" y="18463"/>
                    </a:cubicBezTo>
                    <a:cubicBezTo>
                      <a:pt x="22713" y="11025"/>
                      <a:pt x="28694" y="3584"/>
                      <a:pt x="36794" y="3584"/>
                    </a:cubicBezTo>
                    <a:cubicBezTo>
                      <a:pt x="48752" y="3584"/>
                      <a:pt x="47554" y="16073"/>
                      <a:pt x="55527" y="16073"/>
                    </a:cubicBezTo>
                    <a:cubicBezTo>
                      <a:pt x="58714" y="16073"/>
                      <a:pt x="61238" y="14212"/>
                      <a:pt x="61238" y="10890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projection_objective_outline_13"/>
              <p:cNvSpPr/>
              <p:nvPr/>
            </p:nvSpPr>
            <p:spPr>
              <a:xfrm>
                <a:off x="4248938" y="431868"/>
                <a:ext cx="170836" cy="87935"/>
              </a:xfrm>
              <a:custGeom>
                <a:avLst/>
                <a:gdLst/>
                <a:ahLst/>
                <a:cxnLst/>
                <a:rect l="0" t="0" r="r" b="b"/>
                <a:pathLst>
                  <a:path w="170837" h="87936">
                    <a:moveTo>
                      <a:pt x="91523" y="87936"/>
                    </a:moveTo>
                    <a:lnTo>
                      <a:pt x="91523" y="85412"/>
                    </a:lnTo>
                    <a:cubicBezTo>
                      <a:pt x="84614" y="85281"/>
                      <a:pt x="82756" y="83951"/>
                      <a:pt x="70668" y="71065"/>
                    </a:cubicBezTo>
                    <a:lnTo>
                      <a:pt x="39719" y="37858"/>
                    </a:lnTo>
                    <a:lnTo>
                      <a:pt x="64956" y="12883"/>
                    </a:lnTo>
                    <a:cubicBezTo>
                      <a:pt x="73989" y="4251"/>
                      <a:pt x="76113" y="3187"/>
                      <a:pt x="85146" y="2524"/>
                    </a:cubicBezTo>
                    <a:lnTo>
                      <a:pt x="85146" y="0"/>
                    </a:lnTo>
                    <a:lnTo>
                      <a:pt x="50344" y="0"/>
                    </a:lnTo>
                    <a:lnTo>
                      <a:pt x="50344" y="2524"/>
                    </a:lnTo>
                    <a:cubicBezTo>
                      <a:pt x="51939" y="2655"/>
                      <a:pt x="53269" y="2655"/>
                      <a:pt x="53796" y="2655"/>
                    </a:cubicBezTo>
                    <a:cubicBezTo>
                      <a:pt x="57785" y="2921"/>
                      <a:pt x="59377" y="3985"/>
                      <a:pt x="59377" y="6640"/>
                    </a:cubicBezTo>
                    <a:cubicBezTo>
                      <a:pt x="59377" y="9565"/>
                      <a:pt x="56320" y="13549"/>
                      <a:pt x="49014" y="20324"/>
                    </a:cubicBezTo>
                    <a:lnTo>
                      <a:pt x="25503" y="41708"/>
                    </a:lnTo>
                    <a:lnTo>
                      <a:pt x="25503" y="14478"/>
                    </a:lnTo>
                    <a:cubicBezTo>
                      <a:pt x="25503" y="4782"/>
                      <a:pt x="26964" y="3318"/>
                      <a:pt x="37727" y="2524"/>
                    </a:cubicBezTo>
                    <a:lnTo>
                      <a:pt x="37727" y="0"/>
                    </a:lnTo>
                    <a:lnTo>
                      <a:pt x="0" y="0"/>
                    </a:lnTo>
                    <a:lnTo>
                      <a:pt x="0" y="2524"/>
                    </a:lnTo>
                    <a:cubicBezTo>
                      <a:pt x="10362" y="3318"/>
                      <a:pt x="11954" y="5048"/>
                      <a:pt x="11954" y="14478"/>
                    </a:cubicBezTo>
                    <a:lnTo>
                      <a:pt x="11954" y="71997"/>
                    </a:lnTo>
                    <a:cubicBezTo>
                      <a:pt x="11954" y="83022"/>
                      <a:pt x="10493" y="84749"/>
                      <a:pt x="0" y="85412"/>
                    </a:cubicBezTo>
                    <a:lnTo>
                      <a:pt x="0" y="87936"/>
                    </a:lnTo>
                    <a:lnTo>
                      <a:pt x="37461" y="87936"/>
                    </a:lnTo>
                    <a:lnTo>
                      <a:pt x="37461" y="85412"/>
                    </a:lnTo>
                    <a:cubicBezTo>
                      <a:pt x="27099" y="84749"/>
                      <a:pt x="25503" y="83153"/>
                      <a:pt x="25503" y="73458"/>
                    </a:cubicBezTo>
                    <a:lnTo>
                      <a:pt x="25503" y="48617"/>
                    </a:lnTo>
                    <a:lnTo>
                      <a:pt x="28956" y="45827"/>
                    </a:lnTo>
                    <a:lnTo>
                      <a:pt x="43037" y="59773"/>
                    </a:lnTo>
                    <a:cubicBezTo>
                      <a:pt x="53134" y="69739"/>
                      <a:pt x="60305" y="79169"/>
                      <a:pt x="60305" y="82356"/>
                    </a:cubicBezTo>
                    <a:cubicBezTo>
                      <a:pt x="60305" y="84217"/>
                      <a:pt x="58448" y="85146"/>
                      <a:pt x="54729" y="85281"/>
                    </a:cubicBezTo>
                    <a:cubicBezTo>
                      <a:pt x="54062" y="85281"/>
                      <a:pt x="52602" y="85281"/>
                      <a:pt x="51010" y="85412"/>
                    </a:cubicBezTo>
                    <a:lnTo>
                      <a:pt x="51010" y="87936"/>
                    </a:lnTo>
                    <a:lnTo>
                      <a:pt x="91523" y="87936"/>
                    </a:lnTo>
                    <a:close/>
                    <a:moveTo>
                      <a:pt x="170837" y="64822"/>
                    </a:moveTo>
                    <a:lnTo>
                      <a:pt x="167515" y="64822"/>
                    </a:lnTo>
                    <a:cubicBezTo>
                      <a:pt x="165392" y="69473"/>
                      <a:pt x="163665" y="72525"/>
                      <a:pt x="161804" y="74652"/>
                    </a:cubicBezTo>
                    <a:cubicBezTo>
                      <a:pt x="157156" y="80232"/>
                      <a:pt x="149850" y="82756"/>
                      <a:pt x="138424" y="82756"/>
                    </a:cubicBezTo>
                    <a:lnTo>
                      <a:pt x="129526" y="82756"/>
                    </a:lnTo>
                    <a:cubicBezTo>
                      <a:pt x="119830" y="82756"/>
                      <a:pt x="118104" y="81959"/>
                      <a:pt x="118104" y="77307"/>
                    </a:cubicBezTo>
                    <a:lnTo>
                      <a:pt x="118104" y="14478"/>
                    </a:lnTo>
                    <a:cubicBezTo>
                      <a:pt x="118104" y="5048"/>
                      <a:pt x="119961" y="3187"/>
                      <a:pt x="130454" y="2524"/>
                    </a:cubicBezTo>
                    <a:lnTo>
                      <a:pt x="130454" y="0"/>
                    </a:lnTo>
                    <a:lnTo>
                      <a:pt x="92998" y="0"/>
                    </a:lnTo>
                    <a:lnTo>
                      <a:pt x="92998" y="2524"/>
                    </a:lnTo>
                    <a:cubicBezTo>
                      <a:pt x="102824" y="3318"/>
                      <a:pt x="104555" y="5048"/>
                      <a:pt x="104555" y="14478"/>
                    </a:cubicBezTo>
                    <a:lnTo>
                      <a:pt x="104555" y="73458"/>
                    </a:lnTo>
                    <a:cubicBezTo>
                      <a:pt x="104555" y="82887"/>
                      <a:pt x="102693" y="84749"/>
                      <a:pt x="92998" y="85412"/>
                    </a:cubicBezTo>
                    <a:lnTo>
                      <a:pt x="92998" y="87936"/>
                    </a:lnTo>
                    <a:lnTo>
                      <a:pt x="164462" y="87936"/>
                    </a:lnTo>
                    <a:lnTo>
                      <a:pt x="170837" y="64822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projection_objective_outline_14"/>
              <p:cNvSpPr/>
              <p:nvPr/>
            </p:nvSpPr>
            <p:spPr>
              <a:xfrm>
                <a:off x="4434543" y="424562"/>
                <a:ext cx="34004" cy="122074"/>
              </a:xfrm>
              <a:custGeom>
                <a:avLst/>
                <a:gdLst/>
                <a:ahLst/>
                <a:cxnLst/>
                <a:rect l="0" t="0" r="r" b="b"/>
                <a:pathLst>
                  <a:path w="34004" h="122075">
                    <a:moveTo>
                      <a:pt x="32810" y="0"/>
                    </a:moveTo>
                    <a:cubicBezTo>
                      <a:pt x="13549" y="12486"/>
                      <a:pt x="0" y="34004"/>
                      <a:pt x="0" y="61103"/>
                    </a:cubicBezTo>
                    <a:cubicBezTo>
                      <a:pt x="0" y="85812"/>
                      <a:pt x="14077" y="110784"/>
                      <a:pt x="32409" y="122075"/>
                    </a:cubicBezTo>
                    <a:lnTo>
                      <a:pt x="34004" y="119948"/>
                    </a:lnTo>
                    <a:cubicBezTo>
                      <a:pt x="16470" y="106136"/>
                      <a:pt x="11422" y="90063"/>
                      <a:pt x="11422" y="60706"/>
                    </a:cubicBezTo>
                    <a:cubicBezTo>
                      <a:pt x="11422" y="31214"/>
                      <a:pt x="16867" y="15938"/>
                      <a:pt x="34004" y="2123"/>
                    </a:cubicBezTo>
                    <a:lnTo>
                      <a:pt x="32810" y="0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projection_objective_outline_15"/>
              <p:cNvSpPr/>
              <p:nvPr/>
            </p:nvSpPr>
            <p:spPr>
              <a:xfrm>
                <a:off x="4482633" y="433063"/>
                <a:ext cx="84613" cy="86740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7"/>
                    </a:cubicBezTo>
                    <a:cubicBezTo>
                      <a:pt x="28690" y="9565"/>
                      <a:pt x="28158" y="12752"/>
                      <a:pt x="27230" y="16073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1"/>
                      <a:pt x="50875" y="4381"/>
                    </a:cubicBezTo>
                    <a:cubicBezTo>
                      <a:pt x="73323" y="4381"/>
                      <a:pt x="77974" y="6112"/>
                      <a:pt x="77974" y="14478"/>
                    </a:cubicBezTo>
                    <a:cubicBezTo>
                      <a:pt x="77974" y="15411"/>
                      <a:pt x="77974" y="15938"/>
                      <a:pt x="77839" y="17534"/>
                    </a:cubicBezTo>
                    <a:cubicBezTo>
                      <a:pt x="77708" y="18463"/>
                      <a:pt x="77708" y="18994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projection_objective_outline_16"/>
              <p:cNvSpPr/>
              <p:nvPr/>
            </p:nvSpPr>
            <p:spPr>
              <a:xfrm>
                <a:off x="4587578" y="425891"/>
                <a:ext cx="34004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004" h="119551">
                    <a:moveTo>
                      <a:pt x="34004" y="119551"/>
                    </a:moveTo>
                    <a:lnTo>
                      <a:pt x="34004" y="0"/>
                    </a:lnTo>
                    <a:lnTo>
                      <a:pt x="26567" y="0"/>
                    </a:lnTo>
                    <a:lnTo>
                      <a:pt x="26567" y="119551"/>
                    </a:lnTo>
                    <a:lnTo>
                      <a:pt x="34004" y="119551"/>
                    </a:lnTo>
                    <a:close/>
                    <a:moveTo>
                      <a:pt x="7437" y="119551"/>
                    </a:moveTo>
                    <a:lnTo>
                      <a:pt x="7437" y="0"/>
                    </a:lnTo>
                    <a:lnTo>
                      <a:pt x="0" y="0"/>
                    </a:lnTo>
                    <a:lnTo>
                      <a:pt x="0" y="119551"/>
                    </a:lnTo>
                    <a:lnTo>
                      <a:pt x="7437" y="11955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projection_objective_outline_17"/>
              <p:cNvSpPr/>
              <p:nvPr/>
            </p:nvSpPr>
            <p:spPr>
              <a:xfrm>
                <a:off x="4678190" y="403248"/>
                <a:ext cx="41310" cy="22185"/>
              </a:xfrm>
              <a:custGeom>
                <a:avLst/>
                <a:gdLst/>
                <a:ahLst/>
                <a:cxnLst/>
                <a:rect l="0" t="0" r="r" b="b"/>
                <a:pathLst>
                  <a:path w="41311" h="22185">
                    <a:moveTo>
                      <a:pt x="41311" y="22185"/>
                    </a:moveTo>
                    <a:lnTo>
                      <a:pt x="24709" y="0"/>
                    </a:lnTo>
                    <a:lnTo>
                      <a:pt x="16470" y="0"/>
                    </a:lnTo>
                    <a:lnTo>
                      <a:pt x="0" y="22185"/>
                    </a:lnTo>
                    <a:lnTo>
                      <a:pt x="4516" y="22185"/>
                    </a:lnTo>
                    <a:lnTo>
                      <a:pt x="20590" y="8501"/>
                    </a:lnTo>
                    <a:lnTo>
                      <a:pt x="36794" y="22185"/>
                    </a:lnTo>
                    <a:lnTo>
                      <a:pt x="41311" y="22185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projection_objective_outline_18"/>
              <p:cNvSpPr/>
              <p:nvPr/>
            </p:nvSpPr>
            <p:spPr>
              <a:xfrm>
                <a:off x="4642716" y="433063"/>
                <a:ext cx="84613" cy="86740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7"/>
                    </a:cubicBezTo>
                    <a:cubicBezTo>
                      <a:pt x="28690" y="9565"/>
                      <a:pt x="28158" y="12752"/>
                      <a:pt x="27230" y="16073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1"/>
                      <a:pt x="50875" y="4381"/>
                    </a:cubicBezTo>
                    <a:cubicBezTo>
                      <a:pt x="73323" y="4381"/>
                      <a:pt x="77974" y="6112"/>
                      <a:pt x="77974" y="14478"/>
                    </a:cubicBezTo>
                    <a:cubicBezTo>
                      <a:pt x="77974" y="15411"/>
                      <a:pt x="77974" y="15938"/>
                      <a:pt x="77839" y="17534"/>
                    </a:cubicBezTo>
                    <a:cubicBezTo>
                      <a:pt x="77708" y="18463"/>
                      <a:pt x="77708" y="18994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projection_objective_outline_19"/>
              <p:cNvSpPr/>
              <p:nvPr/>
            </p:nvSpPr>
            <p:spPr>
              <a:xfrm>
                <a:off x="4735308" y="424562"/>
                <a:ext cx="34004" cy="122074"/>
              </a:xfrm>
              <a:custGeom>
                <a:avLst/>
                <a:gdLst/>
                <a:ahLst/>
                <a:cxnLst/>
                <a:rect l="0" t="0" r="r" b="b"/>
                <a:pathLst>
                  <a:path w="34004" h="122075">
                    <a:moveTo>
                      <a:pt x="1195" y="0"/>
                    </a:moveTo>
                    <a:lnTo>
                      <a:pt x="0" y="2123"/>
                    </a:lnTo>
                    <a:cubicBezTo>
                      <a:pt x="17133" y="15938"/>
                      <a:pt x="22582" y="31214"/>
                      <a:pt x="22582" y="60706"/>
                    </a:cubicBezTo>
                    <a:cubicBezTo>
                      <a:pt x="22582" y="90063"/>
                      <a:pt x="17534" y="106136"/>
                      <a:pt x="0" y="119948"/>
                    </a:cubicBezTo>
                    <a:lnTo>
                      <a:pt x="1591" y="122075"/>
                    </a:lnTo>
                    <a:cubicBezTo>
                      <a:pt x="19923" y="110784"/>
                      <a:pt x="34004" y="85812"/>
                      <a:pt x="34004" y="61103"/>
                    </a:cubicBezTo>
                    <a:cubicBezTo>
                      <a:pt x="34004" y="34004"/>
                      <a:pt x="20455" y="12486"/>
                      <a:pt x="1195" y="0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projection_objective_outline_20"/>
              <p:cNvSpPr/>
              <p:nvPr/>
            </p:nvSpPr>
            <p:spPr>
              <a:xfrm>
                <a:off x="4786816" y="425891"/>
                <a:ext cx="28027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28027" h="119551">
                    <a:moveTo>
                      <a:pt x="0" y="116229"/>
                    </a:moveTo>
                    <a:lnTo>
                      <a:pt x="0" y="119551"/>
                    </a:lnTo>
                    <a:lnTo>
                      <a:pt x="28027" y="119551"/>
                    </a:lnTo>
                    <a:lnTo>
                      <a:pt x="28027" y="0"/>
                    </a:lnTo>
                    <a:lnTo>
                      <a:pt x="0" y="0"/>
                    </a:lnTo>
                    <a:lnTo>
                      <a:pt x="0" y="3318"/>
                    </a:lnTo>
                    <a:lnTo>
                      <a:pt x="11422" y="3318"/>
                    </a:lnTo>
                    <a:cubicBezTo>
                      <a:pt x="15808" y="3318"/>
                      <a:pt x="17931" y="5576"/>
                      <a:pt x="17931" y="10227"/>
                    </a:cubicBezTo>
                    <a:lnTo>
                      <a:pt x="17931" y="110383"/>
                    </a:lnTo>
                    <a:cubicBezTo>
                      <a:pt x="17931" y="114502"/>
                      <a:pt x="16074" y="116229"/>
                      <a:pt x="11954" y="116229"/>
                    </a:cubicBezTo>
                    <a:lnTo>
                      <a:pt x="0" y="116229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1" name="Fhat"/>
            <p:cNvGrpSpPr/>
            <p:nvPr/>
          </p:nvGrpSpPr>
          <p:grpSpPr>
            <a:xfrm>
              <a:off x="3329943" y="951437"/>
              <a:ext cx="84613" cy="116568"/>
              <a:chOff x="3329943" y="951437"/>
              <a:chExt cx="84613" cy="116568"/>
            </a:xfrm>
          </p:grpSpPr>
          <p:sp>
            <p:nvSpPr>
              <p:cNvPr id="192" name="Fhat_outline_0"/>
              <p:cNvSpPr/>
              <p:nvPr/>
            </p:nvSpPr>
            <p:spPr>
              <a:xfrm>
                <a:off x="3365405" y="951437"/>
                <a:ext cx="41310" cy="22185"/>
              </a:xfrm>
              <a:custGeom>
                <a:avLst/>
                <a:gdLst/>
                <a:ahLst/>
                <a:cxnLst/>
                <a:rect l="0" t="0" r="r" b="b"/>
                <a:pathLst>
                  <a:path w="41311" h="22185">
                    <a:moveTo>
                      <a:pt x="41311" y="22185"/>
                    </a:moveTo>
                    <a:lnTo>
                      <a:pt x="24710" y="0"/>
                    </a:lnTo>
                    <a:lnTo>
                      <a:pt x="16470" y="0"/>
                    </a:lnTo>
                    <a:lnTo>
                      <a:pt x="0" y="22185"/>
                    </a:lnTo>
                    <a:lnTo>
                      <a:pt x="4516" y="22185"/>
                    </a:lnTo>
                    <a:lnTo>
                      <a:pt x="20590" y="8501"/>
                    </a:lnTo>
                    <a:lnTo>
                      <a:pt x="36794" y="22185"/>
                    </a:lnTo>
                    <a:lnTo>
                      <a:pt x="41311" y="22185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Fhat_outline_1"/>
              <p:cNvSpPr/>
              <p:nvPr/>
            </p:nvSpPr>
            <p:spPr>
              <a:xfrm>
                <a:off x="3329943" y="981265"/>
                <a:ext cx="84613" cy="86740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7"/>
                    </a:cubicBezTo>
                    <a:cubicBezTo>
                      <a:pt x="28690" y="9565"/>
                      <a:pt x="28158" y="12752"/>
                      <a:pt x="27230" y="16073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1"/>
                      <a:pt x="50875" y="4381"/>
                    </a:cubicBezTo>
                    <a:cubicBezTo>
                      <a:pt x="73323" y="4381"/>
                      <a:pt x="77974" y="6112"/>
                      <a:pt x="77974" y="14478"/>
                    </a:cubicBezTo>
                    <a:cubicBezTo>
                      <a:pt x="77974" y="15411"/>
                      <a:pt x="77974" y="15938"/>
                      <a:pt x="77839" y="17534"/>
                    </a:cubicBezTo>
                    <a:cubicBezTo>
                      <a:pt x="77708" y="18463"/>
                      <a:pt x="77708" y="18994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4" name="Ftarget"/>
            <p:cNvGrpSpPr/>
            <p:nvPr/>
          </p:nvGrpSpPr>
          <p:grpSpPr>
            <a:xfrm>
              <a:off x="4534246" y="962443"/>
              <a:ext cx="131175" cy="94926"/>
              <a:chOff x="4534246" y="962443"/>
              <a:chExt cx="131175" cy="94926"/>
            </a:xfrm>
          </p:grpSpPr>
          <p:sp>
            <p:nvSpPr>
              <p:cNvPr id="195" name="Ftarget_outline_0"/>
              <p:cNvSpPr/>
              <p:nvPr/>
            </p:nvSpPr>
            <p:spPr>
              <a:xfrm>
                <a:off x="4534246" y="970629"/>
                <a:ext cx="84613" cy="86740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7"/>
                    </a:cubicBezTo>
                    <a:cubicBezTo>
                      <a:pt x="28690" y="9565"/>
                      <a:pt x="28158" y="12752"/>
                      <a:pt x="27230" y="16073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1"/>
                      <a:pt x="50875" y="4381"/>
                    </a:cubicBezTo>
                    <a:cubicBezTo>
                      <a:pt x="73323" y="4381"/>
                      <a:pt x="77974" y="6112"/>
                      <a:pt x="77974" y="14478"/>
                    </a:cubicBezTo>
                    <a:cubicBezTo>
                      <a:pt x="77974" y="15411"/>
                      <a:pt x="77974" y="15938"/>
                      <a:pt x="77839" y="17534"/>
                    </a:cubicBezTo>
                    <a:cubicBezTo>
                      <a:pt x="77708" y="18463"/>
                      <a:pt x="77708" y="18994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Ftarget_outline_1"/>
              <p:cNvSpPr/>
              <p:nvPr/>
            </p:nvSpPr>
            <p:spPr>
              <a:xfrm>
                <a:off x="4629417" y="962443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4" h="40156">
                    <a:moveTo>
                      <a:pt x="36004" y="12037"/>
                    </a:moveTo>
                    <a:cubicBezTo>
                      <a:pt x="36004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6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2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4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0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6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2" y="38600"/>
                      <a:pt x="21272" y="36628"/>
                    </a:cubicBezTo>
                    <a:cubicBezTo>
                      <a:pt x="21272" y="32373"/>
                      <a:pt x="18883" y="26979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7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1" y="22622"/>
                      <a:pt x="19610" y="20026"/>
                    </a:cubicBezTo>
                    <a:cubicBezTo>
                      <a:pt x="24487" y="17121"/>
                      <a:pt x="31127" y="16704"/>
                      <a:pt x="34135" y="14942"/>
                    </a:cubicBezTo>
                    <a:cubicBezTo>
                      <a:pt x="35278" y="14319"/>
                      <a:pt x="36004" y="13387"/>
                      <a:pt x="36004" y="12037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4" name="rollout_graph_0" descr="Editable line; source id rollout_graph_0"/>
          <p:cNvSpPr/>
          <p:nvPr/>
        </p:nvSpPr>
        <p:spPr>
          <a:xfrm>
            <a:off x="914400" y="847725"/>
            <a:ext cx="76200" cy="31750"/>
          </a:xfrm>
          <a:custGeom>
            <a:avLst/>
            <a:gdLst/>
            <a:ahLst/>
            <a:cxnLst/>
            <a:rect l="l" t="t" r="r" b="b"/>
            <a:pathLst>
              <a:path w="30000" h="12500">
                <a:moveTo>
                  <a:pt x="0" y="4500"/>
                </a:moveTo>
                <a:lnTo>
                  <a:pt x="13500" y="4500"/>
                </a:lnTo>
                <a:lnTo>
                  <a:pt x="13500" y="0"/>
                </a:lnTo>
                <a:lnTo>
                  <a:pt x="30000" y="6250"/>
                </a:lnTo>
                <a:lnTo>
                  <a:pt x="13500" y="12500"/>
                </a:lnTo>
                <a:lnTo>
                  <a:pt x="135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647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aph_budget_0" descr="Editable line; source id graph_budget_0"/>
          <p:cNvSpPr/>
          <p:nvPr/>
        </p:nvSpPr>
        <p:spPr>
          <a:xfrm>
            <a:off x="1854200" y="847725"/>
            <a:ext cx="76200" cy="31750"/>
          </a:xfrm>
          <a:custGeom>
            <a:avLst/>
            <a:gdLst/>
            <a:ahLst/>
            <a:cxnLst/>
            <a:rect l="l" t="t" r="r" b="b"/>
            <a:pathLst>
              <a:path w="30000" h="12500">
                <a:moveTo>
                  <a:pt x="0" y="4500"/>
                </a:moveTo>
                <a:lnTo>
                  <a:pt x="13500" y="4500"/>
                </a:lnTo>
                <a:lnTo>
                  <a:pt x="13500" y="0"/>
                </a:lnTo>
                <a:lnTo>
                  <a:pt x="30000" y="6250"/>
                </a:lnTo>
                <a:lnTo>
                  <a:pt x="13500" y="12500"/>
                </a:lnTo>
                <a:lnTo>
                  <a:pt x="135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647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budget_projection_0" descr="Editable line; source id budget_projection_0"/>
          <p:cNvSpPr/>
          <p:nvPr/>
        </p:nvSpPr>
        <p:spPr>
          <a:xfrm>
            <a:off x="2895600" y="847725"/>
            <a:ext cx="76200" cy="31750"/>
          </a:xfrm>
          <a:custGeom>
            <a:avLst/>
            <a:gdLst/>
            <a:ahLst/>
            <a:cxnLst/>
            <a:rect l="l" t="t" r="r" b="b"/>
            <a:pathLst>
              <a:path w="30000" h="12500">
                <a:moveTo>
                  <a:pt x="0" y="4500"/>
                </a:moveTo>
                <a:lnTo>
                  <a:pt x="13500" y="4500"/>
                </a:lnTo>
                <a:lnTo>
                  <a:pt x="13500" y="0"/>
                </a:lnTo>
                <a:lnTo>
                  <a:pt x="30000" y="6250"/>
                </a:lnTo>
                <a:lnTo>
                  <a:pt x="13500" y="12500"/>
                </a:lnTo>
                <a:lnTo>
                  <a:pt x="135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647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price_label" descr="Editable text; source id price_label"/>
          <p:cNvSpPr txBox="1"/>
          <p:nvPr/>
        </p:nvSpPr>
        <p:spPr>
          <a:xfrm>
            <a:off x="3873499" y="1943099"/>
            <a:ext cx="977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0" i="0" lang="zh-CN" dirty="0">
                <a:solidFill>
                  <a:srgbClr val="126D6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0" i="0" lang="zh-CN" dirty="0">
                <a:solidFill>
                  <a:srgbClr val="126D69"/>
                </a:solidFill>
                <a:latin typeface="Liberation Sans"/>
                <a:ea typeface="Liberation Sans"/>
                <a:cs typeface="Liberation Sans"/>
              </a:rPr>
              <a:t>budget duals</a:t>
            </a:r>
          </a:p>
        </p:txBody>
      </p:sp>
      <p:cxnSp>
        <p:nvCxnSpPr>
          <p:cNvPr id="98" name="solved_prices_0" descr="Editable line; source id solved_prices_0"/>
          <p:cNvCxnSpPr/>
          <p:nvPr/>
        </p:nvCxnSpPr>
        <p:spPr>
          <a:xfrm>
            <a:off x="3987799" y="1866899"/>
            <a:ext cx="0" cy="38100"/>
          </a:xfrm>
          <a:prstGeom prst="line">
            <a:avLst/>
          </a:prstGeom>
          <a:ln w="9524">
            <a:solidFill>
              <a:srgbClr val="126D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olved_prices_1" descr="Editable line; source id solved_prices_1"/>
          <p:cNvCxnSpPr/>
          <p:nvPr/>
        </p:nvCxnSpPr>
        <p:spPr>
          <a:xfrm flipH="1">
            <a:off x="3835400" y="1904999"/>
            <a:ext cx="152399" cy="0"/>
          </a:xfrm>
          <a:prstGeom prst="line">
            <a:avLst/>
          </a:prstGeom>
          <a:ln w="9524">
            <a:solidFill>
              <a:srgbClr val="126D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olved_prices_2" descr="Editable line; source id solved_prices_2"/>
          <p:cNvCxnSpPr/>
          <p:nvPr/>
        </p:nvCxnSpPr>
        <p:spPr>
          <a:xfrm>
            <a:off x="3835400" y="1904999"/>
            <a:ext cx="0" cy="139700"/>
          </a:xfrm>
          <a:prstGeom prst="line">
            <a:avLst/>
          </a:prstGeom>
          <a:ln w="9524">
            <a:solidFill>
              <a:srgbClr val="126D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solved_prices_3" descr="Editable line; source id solved_prices_3"/>
          <p:cNvSpPr/>
          <p:nvPr/>
        </p:nvSpPr>
        <p:spPr>
          <a:xfrm>
            <a:off x="3771900" y="2028825"/>
            <a:ext cx="63500" cy="31750"/>
          </a:xfrm>
          <a:custGeom>
            <a:avLst/>
            <a:gdLst/>
            <a:ahLst/>
            <a:cxnLst/>
            <a:rect l="l" t="t" r="r" b="b"/>
            <a:pathLst>
              <a:path w="25000" h="12500">
                <a:moveTo>
                  <a:pt x="25000" y="8125"/>
                </a:moveTo>
                <a:lnTo>
                  <a:pt x="16250" y="8125"/>
                </a:lnTo>
                <a:lnTo>
                  <a:pt x="16250" y="12500"/>
                </a:lnTo>
                <a:lnTo>
                  <a:pt x="0" y="6250"/>
                </a:lnTo>
                <a:lnTo>
                  <a:pt x="16250" y="0"/>
                </a:lnTo>
                <a:lnTo>
                  <a:pt x="16250" y="4375"/>
                </a:lnTo>
                <a:lnTo>
                  <a:pt x="25000" y="4375"/>
                </a:lnTo>
                <a:close/>
              </a:path>
            </a:pathLst>
          </a:custGeom>
          <a:solidFill>
            <a:srgbClr val="126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63" name="module_update"/>
          <p:cNvGrpSpPr/>
          <p:nvPr/>
        </p:nvGrpSpPr>
        <p:grpSpPr>
          <a:xfrm>
            <a:off x="50800" y="2285999"/>
            <a:ext cx="4927600" cy="533399"/>
            <a:chOff x="50800" y="2285999"/>
            <a:chExt cx="4927600" cy="533399"/>
          </a:xfrm>
        </p:grpSpPr>
        <p:sp>
          <p:nvSpPr>
            <p:cNvPr id="102" name="update" descr="Editable shape; source id update"/>
            <p:cNvSpPr/>
            <p:nvPr/>
          </p:nvSpPr>
          <p:spPr>
            <a:xfrm>
              <a:off x="50800" y="2285999"/>
              <a:ext cx="4927600" cy="533399"/>
            </a:xfrm>
            <a:prstGeom prst="roundRect">
              <a:avLst>
                <a:gd name="adj" fmla="val 7142"/>
              </a:avLst>
            </a:prstGeom>
            <a:solidFill>
              <a:srgbClr val="FFFFFF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update_title" descr="Editable text; source id update_title"/>
            <p:cNvSpPr txBox="1"/>
            <p:nvPr/>
          </p:nvSpPr>
          <p:spPr>
            <a:xfrm>
              <a:off x="127000" y="2311400"/>
              <a:ext cx="16128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977"/>
                </a:lnSpc>
                <a:spcBef>
                  <a:spcPts val="0"/>
                </a:spcBef>
                <a:spcAft>
                  <a:spcPts val="0"/>
                </a:spcAft>
                <a:defRPr sz="850" b="1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50" b="1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rPr>
                <a:t>5  Priced policy update</a:t>
              </a:r>
            </a:p>
          </p:txBody>
        </p:sp>
        <p:sp>
          <p:nvSpPr>
            <p:cNvPr id="104" name="beta_sum_0" descr="Editable line; source id beta_sum_0"/>
            <p:cNvSpPr/>
            <p:nvPr/>
          </p:nvSpPr>
          <p:spPr>
            <a:xfrm>
              <a:off x="1714500" y="2613025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35000" h="12500">
                  <a:moveTo>
                    <a:pt x="0" y="4500"/>
                  </a:moveTo>
                  <a:lnTo>
                    <a:pt x="18500" y="4500"/>
                  </a:lnTo>
                  <a:lnTo>
                    <a:pt x="18500" y="0"/>
                  </a:lnTo>
                  <a:lnTo>
                    <a:pt x="35000" y="6250"/>
                  </a:lnTo>
                  <a:lnTo>
                    <a:pt x="18500" y="12500"/>
                  </a:lnTo>
                  <a:lnTo>
                    <a:pt x="185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B86C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sum" descr="Editable shape; source id sum"/>
            <p:cNvSpPr/>
            <p:nvPr/>
          </p:nvSpPr>
          <p:spPr>
            <a:xfrm>
              <a:off x="1816100" y="25527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sum_sign" descr="Editable text; source id sum_sign"/>
            <p:cNvSpPr txBox="1"/>
            <p:nvPr/>
          </p:nvSpPr>
          <p:spPr>
            <a:xfrm>
              <a:off x="1816100" y="2552700"/>
              <a:ext cx="152400" cy="1524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9"/>
                </a:lnSpc>
                <a:spcBef>
                  <a:spcPts val="0"/>
                </a:spcBef>
                <a:spcAft>
                  <a:spcPts val="0"/>
                </a:spcAft>
                <a:defRPr sz="100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00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+</a:t>
              </a:r>
            </a:p>
          </p:txBody>
        </p:sp>
        <p:sp>
          <p:nvSpPr>
            <p:cNvPr id="107" name="sum_lambda_0" descr="Editable line; source id sum_lambda_0"/>
            <p:cNvSpPr/>
            <p:nvPr/>
          </p:nvSpPr>
          <p:spPr>
            <a:xfrm>
              <a:off x="1981200" y="2613025"/>
              <a:ext cx="76200" cy="31750"/>
            </a:xfrm>
            <a:custGeom>
              <a:avLst/>
              <a:gdLst/>
              <a:ahLst/>
              <a:cxnLst/>
              <a:rect l="l" t="t" r="r" b="b"/>
              <a:pathLst>
                <a:path w="30000" h="12500">
                  <a:moveTo>
                    <a:pt x="0" y="4500"/>
                  </a:moveTo>
                  <a:lnTo>
                    <a:pt x="13500" y="4500"/>
                  </a:lnTo>
                  <a:lnTo>
                    <a:pt x="13500" y="0"/>
                  </a:lnTo>
                  <a:lnTo>
                    <a:pt x="30000" y="6250"/>
                  </a:lnTo>
                  <a:lnTo>
                    <a:pt x="13500" y="12500"/>
                  </a:lnTo>
                  <a:lnTo>
                    <a:pt x="135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lambda_adv_0" descr="Editable line; source id lambda_adv_0"/>
            <p:cNvSpPr/>
            <p:nvPr/>
          </p:nvSpPr>
          <p:spPr>
            <a:xfrm>
              <a:off x="2336800" y="2613025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35000" h="12500">
                  <a:moveTo>
                    <a:pt x="0" y="4500"/>
                  </a:moveTo>
                  <a:lnTo>
                    <a:pt x="18500" y="4500"/>
                  </a:lnTo>
                  <a:lnTo>
                    <a:pt x="18500" y="0"/>
                  </a:lnTo>
                  <a:lnTo>
                    <a:pt x="35000" y="6250"/>
                  </a:lnTo>
                  <a:lnTo>
                    <a:pt x="18500" y="12500"/>
                  </a:lnTo>
                  <a:lnTo>
                    <a:pt x="185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adv_ppo_0" descr="Editable line; source id adv_ppo_0"/>
            <p:cNvSpPr/>
            <p:nvPr/>
          </p:nvSpPr>
          <p:spPr>
            <a:xfrm>
              <a:off x="3848100" y="2613025"/>
              <a:ext cx="50800" cy="31750"/>
            </a:xfrm>
            <a:custGeom>
              <a:avLst/>
              <a:gdLst/>
              <a:ahLst/>
              <a:cxnLst/>
              <a:rect l="l" t="t" r="r" b="b"/>
              <a:pathLst>
                <a:path w="20000" h="12500">
                  <a:moveTo>
                    <a:pt x="0" y="4500"/>
                  </a:moveTo>
                  <a:lnTo>
                    <a:pt x="7000" y="4500"/>
                  </a:lnTo>
                  <a:lnTo>
                    <a:pt x="7000" y="0"/>
                  </a:lnTo>
                  <a:lnTo>
                    <a:pt x="20000" y="6250"/>
                  </a:lnTo>
                  <a:lnTo>
                    <a:pt x="7000" y="12500"/>
                  </a:lnTo>
                  <a:lnTo>
                    <a:pt x="70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ppo" descr="Editable text; source id ppo"/>
            <p:cNvSpPr txBox="1"/>
            <p:nvPr/>
          </p:nvSpPr>
          <p:spPr>
            <a:xfrm>
              <a:off x="3911600" y="2539999"/>
              <a:ext cx="609600" cy="1777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PPO/TRPO</a:t>
              </a:r>
            </a:p>
          </p:txBody>
        </p:sp>
        <p:sp>
          <p:nvSpPr>
            <p:cNvPr id="111" name="ppo_next_0" descr="Editable line; source id ppo_next_0"/>
            <p:cNvSpPr/>
            <p:nvPr/>
          </p:nvSpPr>
          <p:spPr>
            <a:xfrm>
              <a:off x="4533900" y="2613025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25000" h="12500">
                  <a:moveTo>
                    <a:pt x="0" y="4500"/>
                  </a:moveTo>
                  <a:lnTo>
                    <a:pt x="8750" y="4500"/>
                  </a:lnTo>
                  <a:lnTo>
                    <a:pt x="8750" y="0"/>
                  </a:lnTo>
                  <a:lnTo>
                    <a:pt x="25000" y="6250"/>
                  </a:lnTo>
                  <a:lnTo>
                    <a:pt x="8750" y="12500"/>
                  </a:lnTo>
                  <a:lnTo>
                    <a:pt x="875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11" name="beta_update"/>
            <p:cNvGrpSpPr/>
            <p:nvPr/>
          </p:nvGrpSpPr>
          <p:grpSpPr>
            <a:xfrm>
              <a:off x="174787" y="2560485"/>
              <a:ext cx="1435498" cy="136493"/>
              <a:chOff x="174787" y="2560485"/>
              <a:chExt cx="1435498" cy="136493"/>
            </a:xfrm>
          </p:grpSpPr>
          <p:sp>
            <p:nvSpPr>
              <p:cNvPr id="212" name="beta_update_outline_0"/>
              <p:cNvSpPr/>
              <p:nvPr/>
            </p:nvSpPr>
            <p:spPr>
              <a:xfrm>
                <a:off x="174787" y="2582476"/>
                <a:ext cx="79966" cy="114502"/>
              </a:xfrm>
              <a:custGeom>
                <a:avLst/>
                <a:gdLst/>
                <a:ahLst/>
                <a:cxnLst/>
                <a:rect l="0" t="0" r="r" b="b"/>
                <a:pathLst>
                  <a:path w="79966" h="114502">
                    <a:moveTo>
                      <a:pt x="79966" y="15276"/>
                    </a:moveTo>
                    <a:cubicBezTo>
                      <a:pt x="79966" y="4782"/>
                      <a:pt x="71465" y="0"/>
                      <a:pt x="60440" y="0"/>
                    </a:cubicBezTo>
                    <a:cubicBezTo>
                      <a:pt x="46359" y="0"/>
                      <a:pt x="32679" y="9430"/>
                      <a:pt x="28960" y="22848"/>
                    </a:cubicBezTo>
                    <a:lnTo>
                      <a:pt x="8636" y="96969"/>
                    </a:lnTo>
                    <a:cubicBezTo>
                      <a:pt x="6378" y="105339"/>
                      <a:pt x="1330" y="112776"/>
                      <a:pt x="0" y="114502"/>
                    </a:cubicBezTo>
                    <a:lnTo>
                      <a:pt x="11823" y="114502"/>
                    </a:lnTo>
                    <a:cubicBezTo>
                      <a:pt x="11958" y="114502"/>
                      <a:pt x="14081" y="113443"/>
                      <a:pt x="18467" y="96838"/>
                    </a:cubicBezTo>
                    <a:lnTo>
                      <a:pt x="22983" y="79700"/>
                    </a:lnTo>
                    <a:lnTo>
                      <a:pt x="23114" y="79700"/>
                    </a:lnTo>
                    <a:cubicBezTo>
                      <a:pt x="23114" y="79835"/>
                      <a:pt x="27499" y="89265"/>
                      <a:pt x="40914" y="89265"/>
                    </a:cubicBezTo>
                    <a:cubicBezTo>
                      <a:pt x="60841" y="89265"/>
                      <a:pt x="74255" y="74386"/>
                      <a:pt x="74255" y="59111"/>
                    </a:cubicBezTo>
                    <a:cubicBezTo>
                      <a:pt x="74255" y="42505"/>
                      <a:pt x="59245" y="39985"/>
                      <a:pt x="59115" y="39985"/>
                    </a:cubicBezTo>
                    <a:lnTo>
                      <a:pt x="59115" y="39453"/>
                    </a:lnTo>
                    <a:cubicBezTo>
                      <a:pt x="59245" y="39453"/>
                      <a:pt x="79966" y="34671"/>
                      <a:pt x="79966" y="15276"/>
                    </a:cubicBezTo>
                    <a:close/>
                    <a:moveTo>
                      <a:pt x="69473" y="15010"/>
                    </a:moveTo>
                    <a:cubicBezTo>
                      <a:pt x="69473" y="21122"/>
                      <a:pt x="66020" y="36132"/>
                      <a:pt x="55392" y="36132"/>
                    </a:cubicBezTo>
                    <a:cubicBezTo>
                      <a:pt x="52606" y="36132"/>
                      <a:pt x="50479" y="35600"/>
                      <a:pt x="48355" y="35600"/>
                    </a:cubicBezTo>
                    <a:cubicBezTo>
                      <a:pt x="44768" y="35600"/>
                      <a:pt x="42243" y="38656"/>
                      <a:pt x="42243" y="41045"/>
                    </a:cubicBezTo>
                    <a:cubicBezTo>
                      <a:pt x="42243" y="42505"/>
                      <a:pt x="43307" y="43704"/>
                      <a:pt x="45696" y="43704"/>
                    </a:cubicBezTo>
                    <a:cubicBezTo>
                      <a:pt x="49415" y="43704"/>
                      <a:pt x="50347" y="43037"/>
                      <a:pt x="53400" y="43037"/>
                    </a:cubicBezTo>
                    <a:cubicBezTo>
                      <a:pt x="60043" y="43037"/>
                      <a:pt x="62964" y="50213"/>
                      <a:pt x="62964" y="57650"/>
                    </a:cubicBezTo>
                    <a:cubicBezTo>
                      <a:pt x="62964" y="70934"/>
                      <a:pt x="54995" y="83153"/>
                      <a:pt x="40783" y="83153"/>
                    </a:cubicBezTo>
                    <a:cubicBezTo>
                      <a:pt x="31750" y="83153"/>
                      <a:pt x="25904" y="78506"/>
                      <a:pt x="25904" y="70802"/>
                    </a:cubicBezTo>
                    <a:cubicBezTo>
                      <a:pt x="25904" y="69207"/>
                      <a:pt x="26170" y="67481"/>
                      <a:pt x="26702" y="65619"/>
                    </a:cubicBezTo>
                    <a:lnTo>
                      <a:pt x="38656" y="22979"/>
                    </a:lnTo>
                    <a:cubicBezTo>
                      <a:pt x="41049" y="14347"/>
                      <a:pt x="47157" y="3719"/>
                      <a:pt x="59115" y="3719"/>
                    </a:cubicBezTo>
                    <a:cubicBezTo>
                      <a:pt x="66683" y="3719"/>
                      <a:pt x="69473" y="8902"/>
                      <a:pt x="69473" y="15010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beta_update_outline_1"/>
              <p:cNvSpPr/>
              <p:nvPr/>
            </p:nvSpPr>
            <p:spPr>
              <a:xfrm>
                <a:off x="262815" y="262177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beta_update_outline_2"/>
              <p:cNvSpPr/>
              <p:nvPr/>
            </p:nvSpPr>
            <p:spPr>
              <a:xfrm>
                <a:off x="369632" y="2608114"/>
                <a:ext cx="119551" cy="54463"/>
              </a:xfrm>
              <a:custGeom>
                <a:avLst/>
                <a:gdLst/>
                <a:ahLst/>
                <a:cxnLst/>
                <a:rect l="0" t="0" r="r" b="b"/>
                <a:pathLst>
                  <a:path w="119551" h="54463">
                    <a:moveTo>
                      <a:pt x="119551" y="30948"/>
                    </a:moveTo>
                    <a:lnTo>
                      <a:pt x="119551" y="23511"/>
                    </a:lnTo>
                    <a:lnTo>
                      <a:pt x="14347" y="23511"/>
                    </a:lnTo>
                    <a:lnTo>
                      <a:pt x="30155" y="4381"/>
                    </a:lnTo>
                    <a:lnTo>
                      <a:pt x="26035" y="0"/>
                    </a:lnTo>
                    <a:lnTo>
                      <a:pt x="0" y="27365"/>
                    </a:lnTo>
                    <a:lnTo>
                      <a:pt x="26035" y="54463"/>
                    </a:lnTo>
                    <a:lnTo>
                      <a:pt x="30155" y="50078"/>
                    </a:lnTo>
                    <a:lnTo>
                      <a:pt x="14347" y="30948"/>
                    </a:lnTo>
                    <a:lnTo>
                      <a:pt x="119551" y="30948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beta_update_outline_3"/>
              <p:cNvSpPr/>
              <p:nvPr/>
            </p:nvSpPr>
            <p:spPr>
              <a:xfrm>
                <a:off x="554018" y="2575570"/>
                <a:ext cx="28031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28031" h="119551">
                    <a:moveTo>
                      <a:pt x="28031" y="116229"/>
                    </a:moveTo>
                    <a:lnTo>
                      <a:pt x="16605" y="116229"/>
                    </a:lnTo>
                    <a:cubicBezTo>
                      <a:pt x="12224" y="116229"/>
                      <a:pt x="10097" y="113971"/>
                      <a:pt x="10097" y="109323"/>
                    </a:cubicBezTo>
                    <a:lnTo>
                      <a:pt x="10097" y="9164"/>
                    </a:lnTo>
                    <a:cubicBezTo>
                      <a:pt x="10097" y="5044"/>
                      <a:pt x="11822" y="3318"/>
                      <a:pt x="16073" y="3318"/>
                    </a:cubicBezTo>
                    <a:lnTo>
                      <a:pt x="28031" y="3318"/>
                    </a:lnTo>
                    <a:lnTo>
                      <a:pt x="28031" y="0"/>
                    </a:lnTo>
                    <a:lnTo>
                      <a:pt x="0" y="0"/>
                    </a:lnTo>
                    <a:lnTo>
                      <a:pt x="0" y="119551"/>
                    </a:lnTo>
                    <a:lnTo>
                      <a:pt x="28031" y="119551"/>
                    </a:lnTo>
                    <a:lnTo>
                      <a:pt x="28031" y="116229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beta_update_outline_4"/>
              <p:cNvSpPr/>
              <p:nvPr/>
            </p:nvSpPr>
            <p:spPr>
              <a:xfrm>
                <a:off x="584959" y="2582476"/>
                <a:ext cx="79966" cy="114502"/>
              </a:xfrm>
              <a:custGeom>
                <a:avLst/>
                <a:gdLst/>
                <a:ahLst/>
                <a:cxnLst/>
                <a:rect l="0" t="0" r="r" b="b"/>
                <a:pathLst>
                  <a:path w="79966" h="114502">
                    <a:moveTo>
                      <a:pt x="79966" y="15276"/>
                    </a:moveTo>
                    <a:cubicBezTo>
                      <a:pt x="79966" y="4782"/>
                      <a:pt x="71465" y="0"/>
                      <a:pt x="60440" y="0"/>
                    </a:cubicBezTo>
                    <a:cubicBezTo>
                      <a:pt x="46359" y="0"/>
                      <a:pt x="32679" y="9430"/>
                      <a:pt x="28960" y="22848"/>
                    </a:cubicBezTo>
                    <a:lnTo>
                      <a:pt x="8636" y="96969"/>
                    </a:lnTo>
                    <a:cubicBezTo>
                      <a:pt x="6378" y="105339"/>
                      <a:pt x="1329" y="112776"/>
                      <a:pt x="0" y="114502"/>
                    </a:cubicBezTo>
                    <a:lnTo>
                      <a:pt x="11823" y="114502"/>
                    </a:lnTo>
                    <a:cubicBezTo>
                      <a:pt x="11958" y="114502"/>
                      <a:pt x="14081" y="113443"/>
                      <a:pt x="18467" y="96838"/>
                    </a:cubicBezTo>
                    <a:lnTo>
                      <a:pt x="22983" y="79700"/>
                    </a:lnTo>
                    <a:lnTo>
                      <a:pt x="23114" y="79700"/>
                    </a:lnTo>
                    <a:cubicBezTo>
                      <a:pt x="23114" y="79835"/>
                      <a:pt x="27499" y="89265"/>
                      <a:pt x="40914" y="89265"/>
                    </a:cubicBezTo>
                    <a:cubicBezTo>
                      <a:pt x="60841" y="89265"/>
                      <a:pt x="74255" y="74386"/>
                      <a:pt x="74255" y="59111"/>
                    </a:cubicBezTo>
                    <a:cubicBezTo>
                      <a:pt x="74255" y="42505"/>
                      <a:pt x="59245" y="39985"/>
                      <a:pt x="59114" y="39985"/>
                    </a:cubicBezTo>
                    <a:lnTo>
                      <a:pt x="59114" y="39453"/>
                    </a:lnTo>
                    <a:cubicBezTo>
                      <a:pt x="59245" y="39453"/>
                      <a:pt x="79966" y="34671"/>
                      <a:pt x="79966" y="15276"/>
                    </a:cubicBezTo>
                    <a:close/>
                    <a:moveTo>
                      <a:pt x="69473" y="15010"/>
                    </a:moveTo>
                    <a:cubicBezTo>
                      <a:pt x="69473" y="21122"/>
                      <a:pt x="66020" y="36132"/>
                      <a:pt x="55392" y="36132"/>
                    </a:cubicBezTo>
                    <a:cubicBezTo>
                      <a:pt x="52606" y="36132"/>
                      <a:pt x="50478" y="35600"/>
                      <a:pt x="48355" y="35600"/>
                    </a:cubicBezTo>
                    <a:cubicBezTo>
                      <a:pt x="44767" y="35600"/>
                      <a:pt x="42243" y="38656"/>
                      <a:pt x="42243" y="41045"/>
                    </a:cubicBezTo>
                    <a:cubicBezTo>
                      <a:pt x="42243" y="42505"/>
                      <a:pt x="43307" y="43704"/>
                      <a:pt x="45696" y="43704"/>
                    </a:cubicBezTo>
                    <a:cubicBezTo>
                      <a:pt x="49415" y="43704"/>
                      <a:pt x="50347" y="43037"/>
                      <a:pt x="53399" y="43037"/>
                    </a:cubicBezTo>
                    <a:cubicBezTo>
                      <a:pt x="60043" y="43037"/>
                      <a:pt x="62964" y="50213"/>
                      <a:pt x="62964" y="57650"/>
                    </a:cubicBezTo>
                    <a:cubicBezTo>
                      <a:pt x="62964" y="70934"/>
                      <a:pt x="54995" y="83153"/>
                      <a:pt x="40783" y="83153"/>
                    </a:cubicBezTo>
                    <a:cubicBezTo>
                      <a:pt x="31750" y="83153"/>
                      <a:pt x="25904" y="78506"/>
                      <a:pt x="25904" y="70802"/>
                    </a:cubicBezTo>
                    <a:cubicBezTo>
                      <a:pt x="25904" y="69207"/>
                      <a:pt x="26170" y="67481"/>
                      <a:pt x="26702" y="65619"/>
                    </a:cubicBezTo>
                    <a:lnTo>
                      <a:pt x="38656" y="22979"/>
                    </a:lnTo>
                    <a:cubicBezTo>
                      <a:pt x="41049" y="14347"/>
                      <a:pt x="47157" y="3719"/>
                      <a:pt x="59114" y="3719"/>
                    </a:cubicBezTo>
                    <a:cubicBezTo>
                      <a:pt x="66683" y="3719"/>
                      <a:pt x="69473" y="8902"/>
                      <a:pt x="69473" y="15010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beta_update_outline_5"/>
              <p:cNvSpPr/>
              <p:nvPr/>
            </p:nvSpPr>
            <p:spPr>
              <a:xfrm>
                <a:off x="672987" y="262177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3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3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beta_update_outline_6"/>
              <p:cNvSpPr/>
              <p:nvPr/>
            </p:nvSpPr>
            <p:spPr>
              <a:xfrm>
                <a:off x="772426" y="2601204"/>
                <a:ext cx="68012" cy="68278"/>
              </a:xfrm>
              <a:custGeom>
                <a:avLst/>
                <a:gdLst/>
                <a:ahLst/>
                <a:cxnLst/>
                <a:rect l="0" t="0" r="r" b="b"/>
                <a:pathLst>
                  <a:path w="68013" h="68278">
                    <a:moveTo>
                      <a:pt x="29623" y="29758"/>
                    </a:moveTo>
                    <a:lnTo>
                      <a:pt x="0" y="29758"/>
                    </a:lnTo>
                    <a:lnTo>
                      <a:pt x="0" y="38525"/>
                    </a:lnTo>
                    <a:lnTo>
                      <a:pt x="29623" y="38525"/>
                    </a:lnTo>
                    <a:lnTo>
                      <a:pt x="29623" y="68278"/>
                    </a:lnTo>
                    <a:lnTo>
                      <a:pt x="38390" y="68278"/>
                    </a:lnTo>
                    <a:lnTo>
                      <a:pt x="38390" y="38525"/>
                    </a:lnTo>
                    <a:lnTo>
                      <a:pt x="68013" y="38525"/>
                    </a:lnTo>
                    <a:lnTo>
                      <a:pt x="68013" y="29758"/>
                    </a:lnTo>
                    <a:lnTo>
                      <a:pt x="38390" y="29758"/>
                    </a:lnTo>
                    <a:lnTo>
                      <a:pt x="38390" y="0"/>
                    </a:lnTo>
                    <a:lnTo>
                      <a:pt x="29623" y="0"/>
                    </a:lnTo>
                    <a:lnTo>
                      <a:pt x="29623" y="29758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beta_update_outline_7"/>
              <p:cNvSpPr/>
              <p:nvPr/>
            </p:nvSpPr>
            <p:spPr>
              <a:xfrm>
                <a:off x="882325" y="2610904"/>
                <a:ext cx="74390" cy="60039"/>
              </a:xfrm>
              <a:custGeom>
                <a:avLst/>
                <a:gdLst/>
                <a:ahLst/>
                <a:cxnLst/>
                <a:rect l="0" t="0" r="r" b="b"/>
                <a:pathLst>
                  <a:path w="74390" h="60039">
                    <a:moveTo>
                      <a:pt x="74390" y="3985"/>
                    </a:moveTo>
                    <a:lnTo>
                      <a:pt x="65222" y="5310"/>
                    </a:lnTo>
                    <a:cubicBezTo>
                      <a:pt x="61635" y="15542"/>
                      <a:pt x="51141" y="31214"/>
                      <a:pt x="51141" y="31349"/>
                    </a:cubicBezTo>
                    <a:lnTo>
                      <a:pt x="51010" y="31349"/>
                    </a:lnTo>
                    <a:cubicBezTo>
                      <a:pt x="51010" y="31214"/>
                      <a:pt x="53269" y="25503"/>
                      <a:pt x="53269" y="18463"/>
                    </a:cubicBezTo>
                    <a:cubicBezTo>
                      <a:pt x="53269" y="9696"/>
                      <a:pt x="50213" y="0"/>
                      <a:pt x="36001" y="0"/>
                    </a:cubicBezTo>
                    <a:cubicBezTo>
                      <a:pt x="13684" y="0"/>
                      <a:pt x="0" y="23511"/>
                      <a:pt x="0" y="39584"/>
                    </a:cubicBezTo>
                    <a:cubicBezTo>
                      <a:pt x="0" y="50875"/>
                      <a:pt x="5977" y="60039"/>
                      <a:pt x="19792" y="60039"/>
                    </a:cubicBezTo>
                    <a:cubicBezTo>
                      <a:pt x="30286" y="60039"/>
                      <a:pt x="38259" y="51935"/>
                      <a:pt x="38259" y="51804"/>
                    </a:cubicBezTo>
                    <a:lnTo>
                      <a:pt x="38390" y="51804"/>
                    </a:lnTo>
                    <a:cubicBezTo>
                      <a:pt x="38390" y="52868"/>
                      <a:pt x="38656" y="59773"/>
                      <a:pt x="48351" y="59773"/>
                    </a:cubicBezTo>
                    <a:cubicBezTo>
                      <a:pt x="58980" y="59773"/>
                      <a:pt x="65222" y="47819"/>
                      <a:pt x="65222" y="44764"/>
                    </a:cubicBezTo>
                    <a:cubicBezTo>
                      <a:pt x="65222" y="44367"/>
                      <a:pt x="65091" y="44101"/>
                      <a:pt x="64826" y="44101"/>
                    </a:cubicBezTo>
                    <a:cubicBezTo>
                      <a:pt x="63099" y="44101"/>
                      <a:pt x="59908" y="54991"/>
                      <a:pt x="52205" y="54991"/>
                    </a:cubicBezTo>
                    <a:cubicBezTo>
                      <a:pt x="49284" y="54991"/>
                      <a:pt x="48486" y="51673"/>
                      <a:pt x="48486" y="48216"/>
                    </a:cubicBezTo>
                    <a:cubicBezTo>
                      <a:pt x="48486" y="45295"/>
                      <a:pt x="49018" y="42239"/>
                      <a:pt x="49550" y="40910"/>
                    </a:cubicBezTo>
                    <a:cubicBezTo>
                      <a:pt x="51407" y="38390"/>
                      <a:pt x="74390" y="4116"/>
                      <a:pt x="74390" y="3985"/>
                    </a:cubicBezTo>
                    <a:close/>
                    <a:moveTo>
                      <a:pt x="43573" y="19391"/>
                    </a:moveTo>
                    <a:cubicBezTo>
                      <a:pt x="43573" y="32012"/>
                      <a:pt x="38656" y="46490"/>
                      <a:pt x="38656" y="46625"/>
                    </a:cubicBezTo>
                    <a:cubicBezTo>
                      <a:pt x="38656" y="46756"/>
                      <a:pt x="31881" y="56717"/>
                      <a:pt x="21784" y="56717"/>
                    </a:cubicBezTo>
                    <a:cubicBezTo>
                      <a:pt x="18863" y="56717"/>
                      <a:pt x="11692" y="55789"/>
                      <a:pt x="11692" y="38787"/>
                    </a:cubicBezTo>
                    <a:cubicBezTo>
                      <a:pt x="11692" y="32012"/>
                      <a:pt x="15145" y="3318"/>
                      <a:pt x="33742" y="3318"/>
                    </a:cubicBezTo>
                    <a:cubicBezTo>
                      <a:pt x="42775" y="3318"/>
                      <a:pt x="43573" y="14609"/>
                      <a:pt x="43573" y="19391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beta_update_outline_8"/>
              <p:cNvSpPr/>
              <p:nvPr/>
            </p:nvSpPr>
            <p:spPr>
              <a:xfrm>
                <a:off x="974124" y="2574240"/>
                <a:ext cx="34004" cy="122074"/>
              </a:xfrm>
              <a:custGeom>
                <a:avLst/>
                <a:gdLst/>
                <a:ahLst/>
                <a:cxnLst/>
                <a:rect l="0" t="0" r="r" b="b"/>
                <a:pathLst>
                  <a:path w="34004" h="122075">
                    <a:moveTo>
                      <a:pt x="32810" y="0"/>
                    </a:moveTo>
                    <a:cubicBezTo>
                      <a:pt x="13549" y="12486"/>
                      <a:pt x="0" y="34004"/>
                      <a:pt x="0" y="61103"/>
                    </a:cubicBezTo>
                    <a:cubicBezTo>
                      <a:pt x="0" y="85812"/>
                      <a:pt x="14077" y="110784"/>
                      <a:pt x="32409" y="122075"/>
                    </a:cubicBezTo>
                    <a:lnTo>
                      <a:pt x="34004" y="119947"/>
                    </a:lnTo>
                    <a:cubicBezTo>
                      <a:pt x="16470" y="106136"/>
                      <a:pt x="11422" y="90063"/>
                      <a:pt x="11422" y="60706"/>
                    </a:cubicBezTo>
                    <a:cubicBezTo>
                      <a:pt x="11422" y="31214"/>
                      <a:pt x="16867" y="15938"/>
                      <a:pt x="34004" y="2123"/>
                    </a:cubicBezTo>
                    <a:lnTo>
                      <a:pt x="32810" y="0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beta_update_outline_9"/>
              <p:cNvSpPr/>
              <p:nvPr/>
            </p:nvSpPr>
            <p:spPr>
              <a:xfrm>
                <a:off x="1050448" y="2560485"/>
                <a:ext cx="41310" cy="7171"/>
              </a:xfrm>
              <a:custGeom>
                <a:avLst/>
                <a:gdLst/>
                <a:ahLst/>
                <a:cxnLst/>
                <a:rect l="0" t="0" r="r" b="b"/>
                <a:pathLst>
                  <a:path w="41311" h="7172">
                    <a:moveTo>
                      <a:pt x="41311" y="7172"/>
                    </a:moveTo>
                    <a:lnTo>
                      <a:pt x="41311" y="0"/>
                    </a:lnTo>
                    <a:lnTo>
                      <a:pt x="0" y="0"/>
                    </a:lnTo>
                    <a:lnTo>
                      <a:pt x="0" y="7172"/>
                    </a:lnTo>
                    <a:lnTo>
                      <a:pt x="41311" y="7172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beta_update_outline_10"/>
              <p:cNvSpPr/>
              <p:nvPr/>
            </p:nvSpPr>
            <p:spPr>
              <a:xfrm>
                <a:off x="1019958" y="2582741"/>
                <a:ext cx="66020" cy="89130"/>
              </a:xfrm>
              <a:custGeom>
                <a:avLst/>
                <a:gdLst/>
                <a:ahLst/>
                <a:cxnLst/>
                <a:rect l="0" t="0" r="r" b="b"/>
                <a:pathLst>
                  <a:path w="66020" h="89130">
                    <a:moveTo>
                      <a:pt x="66020" y="2123"/>
                    </a:moveTo>
                    <a:lnTo>
                      <a:pt x="66020" y="0"/>
                    </a:lnTo>
                    <a:lnTo>
                      <a:pt x="32278" y="0"/>
                    </a:lnTo>
                    <a:lnTo>
                      <a:pt x="32278" y="2123"/>
                    </a:lnTo>
                    <a:cubicBezTo>
                      <a:pt x="40648" y="2921"/>
                      <a:pt x="42509" y="3985"/>
                      <a:pt x="42509" y="7572"/>
                    </a:cubicBezTo>
                    <a:cubicBezTo>
                      <a:pt x="42509" y="9565"/>
                      <a:pt x="41977" y="12220"/>
                      <a:pt x="40914" y="16074"/>
                    </a:cubicBezTo>
                    <a:lnTo>
                      <a:pt x="23511" y="77839"/>
                    </a:lnTo>
                    <a:cubicBezTo>
                      <a:pt x="22050" y="83022"/>
                      <a:pt x="20193" y="85015"/>
                      <a:pt x="17002" y="85015"/>
                    </a:cubicBezTo>
                    <a:cubicBezTo>
                      <a:pt x="13815" y="85015"/>
                      <a:pt x="12355" y="83419"/>
                      <a:pt x="12355" y="79700"/>
                    </a:cubicBezTo>
                    <a:cubicBezTo>
                      <a:pt x="12355" y="79038"/>
                      <a:pt x="12355" y="78371"/>
                      <a:pt x="12486" y="77708"/>
                    </a:cubicBezTo>
                    <a:lnTo>
                      <a:pt x="12486" y="76514"/>
                    </a:lnTo>
                    <a:cubicBezTo>
                      <a:pt x="12486" y="73192"/>
                      <a:pt x="9565" y="70271"/>
                      <a:pt x="5977" y="70271"/>
                    </a:cubicBezTo>
                    <a:cubicBezTo>
                      <a:pt x="2393" y="70271"/>
                      <a:pt x="0" y="73192"/>
                      <a:pt x="0" y="77442"/>
                    </a:cubicBezTo>
                    <a:cubicBezTo>
                      <a:pt x="0" y="84483"/>
                      <a:pt x="6243" y="89130"/>
                      <a:pt x="15542" y="89130"/>
                    </a:cubicBezTo>
                    <a:cubicBezTo>
                      <a:pt x="22316" y="89130"/>
                      <a:pt x="28293" y="86475"/>
                      <a:pt x="32413" y="81562"/>
                    </a:cubicBezTo>
                    <a:cubicBezTo>
                      <a:pt x="36000" y="77311"/>
                      <a:pt x="38656" y="71330"/>
                      <a:pt x="41446" y="61238"/>
                    </a:cubicBezTo>
                    <a:lnTo>
                      <a:pt x="55126" y="11954"/>
                    </a:lnTo>
                    <a:cubicBezTo>
                      <a:pt x="57519" y="3985"/>
                      <a:pt x="58448" y="3187"/>
                      <a:pt x="66020" y="2123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beta_update_outline_11"/>
              <p:cNvSpPr/>
              <p:nvPr/>
            </p:nvSpPr>
            <p:spPr>
              <a:xfrm>
                <a:off x="1086067" y="262177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beta_update_outline_12"/>
              <p:cNvSpPr/>
              <p:nvPr/>
            </p:nvSpPr>
            <p:spPr>
              <a:xfrm>
                <a:off x="1185505" y="2631625"/>
                <a:ext cx="68012" cy="7437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7438">
                    <a:moveTo>
                      <a:pt x="68012" y="7438"/>
                    </a:moveTo>
                    <a:lnTo>
                      <a:pt x="68012" y="0"/>
                    </a:lnTo>
                    <a:lnTo>
                      <a:pt x="0" y="0"/>
                    </a:lnTo>
                    <a:lnTo>
                      <a:pt x="0" y="7438"/>
                    </a:lnTo>
                    <a:lnTo>
                      <a:pt x="68012" y="7438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beta_update_outline_13"/>
              <p:cNvSpPr/>
              <p:nvPr/>
            </p:nvSpPr>
            <p:spPr>
              <a:xfrm>
                <a:off x="1295397" y="2582741"/>
                <a:ext cx="79168" cy="86740"/>
              </a:xfrm>
              <a:custGeom>
                <a:avLst/>
                <a:gdLst/>
                <a:ahLst/>
                <a:cxnLst/>
                <a:rect l="0" t="0" r="r" b="b"/>
                <a:pathLst>
                  <a:path w="79169" h="86741">
                    <a:moveTo>
                      <a:pt x="72660" y="60174"/>
                    </a:moveTo>
                    <a:cubicBezTo>
                      <a:pt x="72660" y="50479"/>
                      <a:pt x="68544" y="45561"/>
                      <a:pt x="55924" y="40116"/>
                    </a:cubicBezTo>
                    <a:cubicBezTo>
                      <a:pt x="65357" y="37858"/>
                      <a:pt x="69207" y="36262"/>
                      <a:pt x="73458" y="32544"/>
                    </a:cubicBezTo>
                    <a:cubicBezTo>
                      <a:pt x="77176" y="29357"/>
                      <a:pt x="79169" y="24971"/>
                      <a:pt x="79169" y="19526"/>
                    </a:cubicBezTo>
                    <a:cubicBezTo>
                      <a:pt x="79169" y="6906"/>
                      <a:pt x="69739" y="0"/>
                      <a:pt x="52602" y="0"/>
                    </a:cubicBezTo>
                    <a:lnTo>
                      <a:pt x="18332" y="0"/>
                    </a:lnTo>
                    <a:lnTo>
                      <a:pt x="18332" y="2123"/>
                    </a:lnTo>
                    <a:cubicBezTo>
                      <a:pt x="26702" y="2790"/>
                      <a:pt x="28559" y="3719"/>
                      <a:pt x="28559" y="7572"/>
                    </a:cubicBezTo>
                    <a:cubicBezTo>
                      <a:pt x="28559" y="9565"/>
                      <a:pt x="28027" y="12752"/>
                      <a:pt x="27099" y="16074"/>
                    </a:cubicBezTo>
                    <a:lnTo>
                      <a:pt x="10759" y="74787"/>
                    </a:lnTo>
                    <a:cubicBezTo>
                      <a:pt x="8370" y="82490"/>
                      <a:pt x="7441" y="83288"/>
                      <a:pt x="0" y="84614"/>
                    </a:cubicBezTo>
                    <a:lnTo>
                      <a:pt x="0" y="86741"/>
                    </a:lnTo>
                    <a:lnTo>
                      <a:pt x="37461" y="86741"/>
                    </a:lnTo>
                    <a:cubicBezTo>
                      <a:pt x="58317" y="86741"/>
                      <a:pt x="72660" y="75982"/>
                      <a:pt x="72660" y="60174"/>
                    </a:cubicBezTo>
                    <a:close/>
                    <a:moveTo>
                      <a:pt x="58317" y="59642"/>
                    </a:moveTo>
                    <a:cubicBezTo>
                      <a:pt x="58317" y="73989"/>
                      <a:pt x="48486" y="82756"/>
                      <a:pt x="32278" y="82756"/>
                    </a:cubicBezTo>
                    <a:cubicBezTo>
                      <a:pt x="26702" y="82756"/>
                      <a:pt x="23777" y="80895"/>
                      <a:pt x="23777" y="77176"/>
                    </a:cubicBezTo>
                    <a:cubicBezTo>
                      <a:pt x="23777" y="75450"/>
                      <a:pt x="25372" y="69207"/>
                      <a:pt x="28428" y="58579"/>
                    </a:cubicBezTo>
                    <a:lnTo>
                      <a:pt x="32679" y="42771"/>
                    </a:lnTo>
                    <a:cubicBezTo>
                      <a:pt x="41049" y="42771"/>
                      <a:pt x="46760" y="43303"/>
                      <a:pt x="49415" y="44367"/>
                    </a:cubicBezTo>
                    <a:cubicBezTo>
                      <a:pt x="54995" y="46494"/>
                      <a:pt x="58317" y="52336"/>
                      <a:pt x="58317" y="59642"/>
                    </a:cubicBezTo>
                    <a:close/>
                    <a:moveTo>
                      <a:pt x="65754" y="18332"/>
                    </a:moveTo>
                    <a:cubicBezTo>
                      <a:pt x="65754" y="32012"/>
                      <a:pt x="56852" y="38521"/>
                      <a:pt x="38525" y="38521"/>
                    </a:cubicBezTo>
                    <a:lnTo>
                      <a:pt x="34008" y="38521"/>
                    </a:lnTo>
                    <a:lnTo>
                      <a:pt x="42640" y="7703"/>
                    </a:lnTo>
                    <a:cubicBezTo>
                      <a:pt x="43438" y="4782"/>
                      <a:pt x="45033" y="3985"/>
                      <a:pt x="50213" y="3985"/>
                    </a:cubicBezTo>
                    <a:cubicBezTo>
                      <a:pt x="60972" y="3985"/>
                      <a:pt x="65754" y="8501"/>
                      <a:pt x="65754" y="1833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beta_update_outline_14"/>
              <p:cNvSpPr/>
              <p:nvPr/>
            </p:nvSpPr>
            <p:spPr>
              <a:xfrm>
                <a:off x="1385952" y="262177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beta_update_outline_15"/>
              <p:cNvSpPr/>
              <p:nvPr/>
            </p:nvSpPr>
            <p:spPr>
              <a:xfrm>
                <a:off x="1451494" y="2574240"/>
                <a:ext cx="34004" cy="122074"/>
              </a:xfrm>
              <a:custGeom>
                <a:avLst/>
                <a:gdLst/>
                <a:ahLst/>
                <a:cxnLst/>
                <a:rect l="0" t="0" r="r" b="b"/>
                <a:pathLst>
                  <a:path w="34004" h="122075">
                    <a:moveTo>
                      <a:pt x="1195" y="0"/>
                    </a:moveTo>
                    <a:lnTo>
                      <a:pt x="0" y="2123"/>
                    </a:lnTo>
                    <a:cubicBezTo>
                      <a:pt x="17133" y="15938"/>
                      <a:pt x="22582" y="31214"/>
                      <a:pt x="22582" y="60706"/>
                    </a:cubicBezTo>
                    <a:cubicBezTo>
                      <a:pt x="22582" y="90063"/>
                      <a:pt x="17534" y="106136"/>
                      <a:pt x="0" y="119947"/>
                    </a:cubicBezTo>
                    <a:lnTo>
                      <a:pt x="1591" y="122075"/>
                    </a:lnTo>
                    <a:cubicBezTo>
                      <a:pt x="19923" y="110784"/>
                      <a:pt x="34004" y="85812"/>
                      <a:pt x="34004" y="61103"/>
                    </a:cubicBezTo>
                    <a:cubicBezTo>
                      <a:pt x="34004" y="34004"/>
                      <a:pt x="20455" y="12486"/>
                      <a:pt x="1195" y="0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beta_update_outline_16"/>
              <p:cNvSpPr/>
              <p:nvPr/>
            </p:nvSpPr>
            <p:spPr>
              <a:xfrm>
                <a:off x="1503002" y="2575570"/>
                <a:ext cx="28027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28027" h="119551">
                    <a:moveTo>
                      <a:pt x="0" y="116229"/>
                    </a:moveTo>
                    <a:lnTo>
                      <a:pt x="0" y="119551"/>
                    </a:lnTo>
                    <a:lnTo>
                      <a:pt x="28027" y="119551"/>
                    </a:lnTo>
                    <a:lnTo>
                      <a:pt x="28027" y="0"/>
                    </a:lnTo>
                    <a:lnTo>
                      <a:pt x="0" y="0"/>
                    </a:lnTo>
                    <a:lnTo>
                      <a:pt x="0" y="3318"/>
                    </a:lnTo>
                    <a:lnTo>
                      <a:pt x="11422" y="3318"/>
                    </a:lnTo>
                    <a:cubicBezTo>
                      <a:pt x="15807" y="3318"/>
                      <a:pt x="17931" y="5576"/>
                      <a:pt x="17931" y="10227"/>
                    </a:cubicBezTo>
                    <a:lnTo>
                      <a:pt x="17931" y="110383"/>
                    </a:lnTo>
                    <a:cubicBezTo>
                      <a:pt x="17931" y="114502"/>
                      <a:pt x="16073" y="116229"/>
                      <a:pt x="11954" y="116229"/>
                    </a:cubicBezTo>
                    <a:lnTo>
                      <a:pt x="0" y="116229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beta_update_outline_17"/>
              <p:cNvSpPr/>
              <p:nvPr/>
            </p:nvSpPr>
            <p:spPr>
              <a:xfrm>
                <a:off x="1557160" y="2636077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0" name="lambda"/>
            <p:cNvGrpSpPr/>
            <p:nvPr/>
          </p:nvGrpSpPr>
          <p:grpSpPr>
            <a:xfrm>
              <a:off x="2127160" y="2579687"/>
              <a:ext cx="129239" cy="111302"/>
              <a:chOff x="2127160" y="2579687"/>
              <a:chExt cx="129239" cy="111302"/>
            </a:xfrm>
          </p:grpSpPr>
          <p:sp>
            <p:nvSpPr>
              <p:cNvPr id="231" name="lambda_outline_0"/>
              <p:cNvSpPr/>
              <p:nvPr/>
            </p:nvSpPr>
            <p:spPr>
              <a:xfrm>
                <a:off x="2127160" y="2579687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3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1" y="81562"/>
                      <a:pt x="78637" y="0"/>
                      <a:pt x="39584" y="0"/>
                    </a:cubicBezTo>
                    <a:lnTo>
                      <a:pt x="38120" y="0"/>
                    </a:lnTo>
                    <a:cubicBezTo>
                      <a:pt x="35731" y="0"/>
                      <a:pt x="30151" y="1992"/>
                      <a:pt x="28424" y="3588"/>
                    </a:cubicBezTo>
                    <a:cubicBezTo>
                      <a:pt x="28293" y="3719"/>
                      <a:pt x="29353" y="4913"/>
                      <a:pt x="29488" y="4913"/>
                    </a:cubicBezTo>
                    <a:cubicBezTo>
                      <a:pt x="30151" y="4385"/>
                      <a:pt x="33076" y="3187"/>
                      <a:pt x="35731" y="3187"/>
                    </a:cubicBezTo>
                    <a:cubicBezTo>
                      <a:pt x="48617" y="3187"/>
                      <a:pt x="45160" y="24443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7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700" y="39985"/>
                    </a:lnTo>
                    <a:cubicBezTo>
                      <a:pt x="42902" y="46891"/>
                      <a:pt x="30948" y="88467"/>
                      <a:pt x="52602" y="88467"/>
                    </a:cubicBezTo>
                    <a:cubicBezTo>
                      <a:pt x="58444" y="88467"/>
                      <a:pt x="67612" y="78903"/>
                      <a:pt x="67878" y="77311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lambda_outline_1"/>
              <p:cNvSpPr/>
              <p:nvPr/>
            </p:nvSpPr>
            <p:spPr>
              <a:xfrm>
                <a:off x="2205762" y="261897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3" name="advantage"/>
            <p:cNvGrpSpPr/>
            <p:nvPr/>
          </p:nvGrpSpPr>
          <p:grpSpPr>
            <a:xfrm>
              <a:off x="2644153" y="2496775"/>
              <a:ext cx="986165" cy="251903"/>
              <a:chOff x="2644153" y="2496775"/>
              <a:chExt cx="986165" cy="251903"/>
            </a:xfrm>
          </p:grpSpPr>
          <p:sp>
            <p:nvSpPr>
              <p:cNvPr id="234" name="advantage_outline_0"/>
              <p:cNvSpPr/>
              <p:nvPr/>
            </p:nvSpPr>
            <p:spPr>
              <a:xfrm>
                <a:off x="2661884" y="2538277"/>
                <a:ext cx="80498" cy="13815"/>
              </a:xfrm>
              <a:custGeom>
                <a:avLst/>
                <a:gdLst/>
                <a:ahLst/>
                <a:cxnLst/>
                <a:rect l="0" t="0" r="r" b="b"/>
                <a:pathLst>
                  <a:path w="80498" h="13815">
                    <a:moveTo>
                      <a:pt x="80498" y="0"/>
                    </a:moveTo>
                    <a:lnTo>
                      <a:pt x="76514" y="0"/>
                    </a:lnTo>
                    <a:cubicBezTo>
                      <a:pt x="75450" y="3322"/>
                      <a:pt x="71600" y="6243"/>
                      <a:pt x="58448" y="6243"/>
                    </a:cubicBezTo>
                    <a:cubicBezTo>
                      <a:pt x="45827" y="6243"/>
                      <a:pt x="41577" y="401"/>
                      <a:pt x="29357" y="401"/>
                    </a:cubicBezTo>
                    <a:cubicBezTo>
                      <a:pt x="9168" y="401"/>
                      <a:pt x="3453" y="6378"/>
                      <a:pt x="0" y="13815"/>
                    </a:cubicBezTo>
                    <a:lnTo>
                      <a:pt x="3985" y="13815"/>
                    </a:lnTo>
                    <a:cubicBezTo>
                      <a:pt x="5048" y="10493"/>
                      <a:pt x="9831" y="7703"/>
                      <a:pt x="22979" y="7703"/>
                    </a:cubicBezTo>
                    <a:cubicBezTo>
                      <a:pt x="35469" y="7703"/>
                      <a:pt x="39850" y="13549"/>
                      <a:pt x="52070" y="13549"/>
                    </a:cubicBezTo>
                    <a:cubicBezTo>
                      <a:pt x="72263" y="13549"/>
                      <a:pt x="77045" y="7438"/>
                      <a:pt x="80498" y="0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advantage_outline_1"/>
              <p:cNvSpPr/>
              <p:nvPr/>
            </p:nvSpPr>
            <p:spPr>
              <a:xfrm>
                <a:off x="2644153" y="2575733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3" h="88733">
                    <a:moveTo>
                      <a:pt x="81693" y="88733"/>
                    </a:moveTo>
                    <a:lnTo>
                      <a:pt x="81693" y="86606"/>
                    </a:lnTo>
                    <a:cubicBezTo>
                      <a:pt x="74120" y="85943"/>
                      <a:pt x="73192" y="84880"/>
                      <a:pt x="71596" y="75184"/>
                    </a:cubicBezTo>
                    <a:lnTo>
                      <a:pt x="59111" y="0"/>
                    </a:lnTo>
                    <a:lnTo>
                      <a:pt x="55658" y="0"/>
                    </a:lnTo>
                    <a:lnTo>
                      <a:pt x="17137" y="66417"/>
                    </a:lnTo>
                    <a:cubicBezTo>
                      <a:pt x="6644" y="84086"/>
                      <a:pt x="5314" y="85546"/>
                      <a:pt x="0" y="86606"/>
                    </a:cubicBezTo>
                    <a:lnTo>
                      <a:pt x="0" y="88733"/>
                    </a:lnTo>
                    <a:lnTo>
                      <a:pt x="24840" y="88733"/>
                    </a:lnTo>
                    <a:lnTo>
                      <a:pt x="24840" y="86606"/>
                    </a:lnTo>
                    <a:cubicBezTo>
                      <a:pt x="18066" y="85943"/>
                      <a:pt x="17002" y="85281"/>
                      <a:pt x="17002" y="81959"/>
                    </a:cubicBezTo>
                    <a:cubicBezTo>
                      <a:pt x="17002" y="79435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6" y="77311"/>
                      <a:pt x="59376" y="78506"/>
                      <a:pt x="59376" y="79569"/>
                    </a:cubicBezTo>
                    <a:cubicBezTo>
                      <a:pt x="59376" y="84614"/>
                      <a:pt x="57519" y="85812"/>
                      <a:pt x="49018" y="86606"/>
                    </a:cubicBezTo>
                    <a:lnTo>
                      <a:pt x="49018" y="88733"/>
                    </a:lnTo>
                    <a:lnTo>
                      <a:pt x="81693" y="88733"/>
                    </a:lnTo>
                    <a:close/>
                    <a:moveTo>
                      <a:pt x="55789" y="53931"/>
                    </a:moveTo>
                    <a:lnTo>
                      <a:pt x="30020" y="53931"/>
                    </a:lnTo>
                    <a:lnTo>
                      <a:pt x="49947" y="19395"/>
                    </a:lnTo>
                    <a:lnTo>
                      <a:pt x="55789" y="5393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advantage_outline_2"/>
              <p:cNvSpPr/>
              <p:nvPr/>
            </p:nvSpPr>
            <p:spPr>
              <a:xfrm>
                <a:off x="2778962" y="2613194"/>
                <a:ext cx="68012" cy="34401"/>
              </a:xfrm>
              <a:custGeom>
                <a:avLst/>
                <a:gdLst/>
                <a:ahLst/>
                <a:cxnLst/>
                <a:rect l="0" t="0" r="r" b="b"/>
                <a:pathLst>
                  <a:path w="68013" h="34401">
                    <a:moveTo>
                      <a:pt x="68013" y="7437"/>
                    </a:moveTo>
                    <a:lnTo>
                      <a:pt x="68013" y="0"/>
                    </a:lnTo>
                    <a:lnTo>
                      <a:pt x="0" y="0"/>
                    </a:lnTo>
                    <a:lnTo>
                      <a:pt x="0" y="7437"/>
                    </a:lnTo>
                    <a:lnTo>
                      <a:pt x="68013" y="7437"/>
                    </a:lnTo>
                    <a:close/>
                    <a:moveTo>
                      <a:pt x="68013" y="34401"/>
                    </a:moveTo>
                    <a:lnTo>
                      <a:pt x="68013" y="26964"/>
                    </a:lnTo>
                    <a:lnTo>
                      <a:pt x="0" y="26964"/>
                    </a:lnTo>
                    <a:lnTo>
                      <a:pt x="0" y="34401"/>
                    </a:lnTo>
                    <a:lnTo>
                      <a:pt x="68013" y="3440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advantage_outline_3"/>
              <p:cNvSpPr/>
              <p:nvPr/>
            </p:nvSpPr>
            <p:spPr>
              <a:xfrm>
                <a:off x="2910423" y="2500096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3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advantage_outline_4"/>
              <p:cNvSpPr/>
              <p:nvPr/>
            </p:nvSpPr>
            <p:spPr>
              <a:xfrm>
                <a:off x="2991867" y="2539204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1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advantage_outline_5"/>
              <p:cNvSpPr/>
              <p:nvPr/>
            </p:nvSpPr>
            <p:spPr>
              <a:xfrm>
                <a:off x="3059405" y="2539835"/>
                <a:ext cx="53125" cy="5810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810">
                    <a:moveTo>
                      <a:pt x="53126" y="5810"/>
                    </a:moveTo>
                    <a:lnTo>
                      <a:pt x="53126" y="0"/>
                    </a:lnTo>
                    <a:lnTo>
                      <a:pt x="0" y="0"/>
                    </a:lnTo>
                    <a:lnTo>
                      <a:pt x="0" y="5810"/>
                    </a:lnTo>
                    <a:lnTo>
                      <a:pt x="53126" y="5810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advantage_outline_6"/>
              <p:cNvSpPr/>
              <p:nvPr/>
            </p:nvSpPr>
            <p:spPr>
              <a:xfrm>
                <a:off x="3127562" y="249677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7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advantage_outline_7"/>
              <p:cNvSpPr/>
              <p:nvPr/>
            </p:nvSpPr>
            <p:spPr>
              <a:xfrm>
                <a:off x="3213266" y="2531962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50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advantage_outline_8"/>
              <p:cNvSpPr/>
              <p:nvPr/>
            </p:nvSpPr>
            <p:spPr>
              <a:xfrm>
                <a:off x="3294001" y="2501441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0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7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6" y="44621"/>
                      <a:pt x="33206" y="53852"/>
                    </a:cubicBezTo>
                    <a:cubicBezTo>
                      <a:pt x="33206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advantage_outline_9"/>
              <p:cNvSpPr/>
              <p:nvPr/>
            </p:nvSpPr>
            <p:spPr>
              <a:xfrm>
                <a:off x="3359976" y="2531962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50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advantage_outline_10"/>
              <p:cNvSpPr/>
              <p:nvPr/>
            </p:nvSpPr>
            <p:spPr>
              <a:xfrm>
                <a:off x="3424773" y="2500096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3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advantage_outline_11"/>
              <p:cNvSpPr/>
              <p:nvPr/>
            </p:nvSpPr>
            <p:spPr>
              <a:xfrm>
                <a:off x="3507033" y="2539204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advantage_outline_12"/>
              <p:cNvSpPr/>
              <p:nvPr/>
            </p:nvSpPr>
            <p:spPr>
              <a:xfrm>
                <a:off x="3562351" y="254752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advantage_outline_13"/>
              <p:cNvSpPr/>
              <p:nvPr/>
            </p:nvSpPr>
            <p:spPr>
              <a:xfrm>
                <a:off x="2907312" y="2630352"/>
                <a:ext cx="723006" cy="254"/>
              </a:xfrm>
              <a:custGeom>
                <a:avLst/>
                <a:gdLst/>
                <a:ahLst/>
                <a:cxnLst/>
                <a:rect l="0" t="0" r="r" b="b"/>
                <a:pathLst>
                  <a:path w="723007" h="254">
                    <a:moveTo>
                      <a:pt x="0" y="0"/>
                    </a:moveTo>
                    <a:lnTo>
                      <a:pt x="723007" y="0"/>
                    </a:lnTo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advantage_outline_14"/>
              <p:cNvSpPr/>
              <p:nvPr/>
            </p:nvSpPr>
            <p:spPr>
              <a:xfrm>
                <a:off x="3072134" y="2643966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1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6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advantage_outline_15"/>
              <p:cNvSpPr/>
              <p:nvPr/>
            </p:nvSpPr>
            <p:spPr>
              <a:xfrm>
                <a:off x="3118930" y="266077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advantage_outline_16"/>
              <p:cNvSpPr/>
              <p:nvPr/>
            </p:nvSpPr>
            <p:spPr>
              <a:xfrm>
                <a:off x="3182946" y="2641492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7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6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advantage_outline_17"/>
              <p:cNvSpPr/>
              <p:nvPr/>
            </p:nvSpPr>
            <p:spPr>
              <a:xfrm>
                <a:off x="3268638" y="2676666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advantage_outline_18"/>
              <p:cNvSpPr/>
              <p:nvPr/>
            </p:nvSpPr>
            <p:spPr>
              <a:xfrm>
                <a:off x="3349373" y="2646145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50" y="60182"/>
                    </a:lnTo>
                    <a:cubicBezTo>
                      <a:pt x="57591" y="60182"/>
                      <a:pt x="55618" y="63710"/>
                      <a:pt x="50637" y="63710"/>
                    </a:cubicBezTo>
                    <a:cubicBezTo>
                      <a:pt x="45240" y="63710"/>
                      <a:pt x="43375" y="59976"/>
                      <a:pt x="43375" y="54372"/>
                    </a:cubicBezTo>
                    <a:cubicBezTo>
                      <a:pt x="43375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8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7" y="44621"/>
                      <a:pt x="33207" y="53852"/>
                    </a:cubicBezTo>
                    <a:cubicBezTo>
                      <a:pt x="33207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advantage_outline_19"/>
              <p:cNvSpPr/>
              <p:nvPr/>
            </p:nvSpPr>
            <p:spPr>
              <a:xfrm>
                <a:off x="3415362" y="2676666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9" y="8822"/>
                      <a:pt x="15875" y="11517"/>
                      <a:pt x="14423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5" y="59873"/>
                      <a:pt x="26356" y="63504"/>
                    </a:cubicBezTo>
                    <a:cubicBezTo>
                      <a:pt x="30298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4" name="pi_next"/>
            <p:cNvGrpSpPr/>
            <p:nvPr/>
          </p:nvGrpSpPr>
          <p:grpSpPr>
            <a:xfrm>
              <a:off x="4670326" y="2586621"/>
              <a:ext cx="221282" cy="83092"/>
              <a:chOff x="4670326" y="2586621"/>
              <a:chExt cx="221282" cy="83092"/>
            </a:xfrm>
          </p:grpSpPr>
          <p:sp>
            <p:nvSpPr>
              <p:cNvPr id="255" name="pi_next_outline_0"/>
              <p:cNvSpPr/>
              <p:nvPr/>
            </p:nvSpPr>
            <p:spPr>
              <a:xfrm>
                <a:off x="4670326" y="2586621"/>
                <a:ext cx="68810" cy="60039"/>
              </a:xfrm>
              <a:custGeom>
                <a:avLst/>
                <a:gdLst/>
                <a:ahLst/>
                <a:cxnLst/>
                <a:rect l="0" t="0" r="r" b="b"/>
                <a:pathLst>
                  <a:path w="68810" h="60039">
                    <a:moveTo>
                      <a:pt x="68810" y="0"/>
                    </a:moveTo>
                    <a:lnTo>
                      <a:pt x="22848" y="0"/>
                    </a:lnTo>
                    <a:cubicBezTo>
                      <a:pt x="10628" y="0"/>
                      <a:pt x="3322" y="14609"/>
                      <a:pt x="2258" y="17133"/>
                    </a:cubicBezTo>
                    <a:lnTo>
                      <a:pt x="3723" y="17133"/>
                    </a:lnTo>
                    <a:cubicBezTo>
                      <a:pt x="4385" y="16204"/>
                      <a:pt x="9299" y="9696"/>
                      <a:pt x="16208" y="9696"/>
                    </a:cubicBezTo>
                    <a:lnTo>
                      <a:pt x="23114" y="9696"/>
                    </a:lnTo>
                    <a:lnTo>
                      <a:pt x="13815" y="37723"/>
                    </a:lnTo>
                    <a:cubicBezTo>
                      <a:pt x="10894" y="46490"/>
                      <a:pt x="0" y="46891"/>
                      <a:pt x="0" y="55924"/>
                    </a:cubicBezTo>
                    <a:lnTo>
                      <a:pt x="0" y="56586"/>
                    </a:lnTo>
                    <a:cubicBezTo>
                      <a:pt x="0" y="58845"/>
                      <a:pt x="1730" y="60039"/>
                      <a:pt x="4917" y="60039"/>
                    </a:cubicBezTo>
                    <a:cubicBezTo>
                      <a:pt x="9966" y="60039"/>
                      <a:pt x="14748" y="56852"/>
                      <a:pt x="21257" y="37989"/>
                    </a:cubicBezTo>
                    <a:lnTo>
                      <a:pt x="30952" y="9696"/>
                    </a:lnTo>
                    <a:lnTo>
                      <a:pt x="44367" y="9696"/>
                    </a:lnTo>
                    <a:lnTo>
                      <a:pt x="37858" y="38255"/>
                    </a:lnTo>
                    <a:cubicBezTo>
                      <a:pt x="36929" y="42109"/>
                      <a:pt x="36397" y="45426"/>
                      <a:pt x="36397" y="48085"/>
                    </a:cubicBezTo>
                    <a:lnTo>
                      <a:pt x="36397" y="49280"/>
                    </a:lnTo>
                    <a:cubicBezTo>
                      <a:pt x="36397" y="54991"/>
                      <a:pt x="40382" y="60039"/>
                      <a:pt x="46891" y="60039"/>
                    </a:cubicBezTo>
                    <a:cubicBezTo>
                      <a:pt x="49947" y="60039"/>
                      <a:pt x="53534" y="59111"/>
                      <a:pt x="53534" y="54725"/>
                    </a:cubicBezTo>
                    <a:lnTo>
                      <a:pt x="53534" y="54193"/>
                    </a:lnTo>
                    <a:cubicBezTo>
                      <a:pt x="53534" y="46359"/>
                      <a:pt x="45565" y="47423"/>
                      <a:pt x="45565" y="39981"/>
                    </a:cubicBezTo>
                    <a:cubicBezTo>
                      <a:pt x="45565" y="38918"/>
                      <a:pt x="45696" y="37723"/>
                      <a:pt x="46097" y="36262"/>
                    </a:cubicBezTo>
                    <a:lnTo>
                      <a:pt x="52606" y="9696"/>
                    </a:lnTo>
                    <a:lnTo>
                      <a:pt x="66552" y="9696"/>
                    </a:lnTo>
                    <a:lnTo>
                      <a:pt x="68810" y="0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pi_next_outline_1"/>
              <p:cNvSpPr/>
              <p:nvPr/>
            </p:nvSpPr>
            <p:spPr>
              <a:xfrm>
                <a:off x="4747071" y="2611710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8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6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8" y="12244"/>
                    </a:lnTo>
                    <a:lnTo>
                      <a:pt x="20233" y="12244"/>
                    </a:lnTo>
                    <a:lnTo>
                      <a:pt x="22932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4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pi_next_outline_2"/>
              <p:cNvSpPr/>
              <p:nvPr/>
            </p:nvSpPr>
            <p:spPr>
              <a:xfrm>
                <a:off x="4791171" y="2615032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pi_next_outline_3"/>
              <p:cNvSpPr/>
              <p:nvPr/>
            </p:nvSpPr>
            <p:spPr>
              <a:xfrm>
                <a:off x="4862244" y="2598221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12" name="observed_feedback_0" descr="Editable line; source id observed_feedback_0"/>
          <p:cNvCxnSpPr/>
          <p:nvPr/>
        </p:nvCxnSpPr>
        <p:spPr>
          <a:xfrm>
            <a:off x="279400" y="2070100"/>
            <a:ext cx="0" cy="101599"/>
          </a:xfrm>
          <a:prstGeom prst="line">
            <a:avLst/>
          </a:prstGeom>
          <a:ln w="9524">
            <a:solidFill>
              <a:srgbClr val="B86C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observed_feedback_1" descr="Editable line; source id observed_feedback_1"/>
          <p:cNvCxnSpPr/>
          <p:nvPr/>
        </p:nvCxnSpPr>
        <p:spPr>
          <a:xfrm>
            <a:off x="279400" y="2171699"/>
            <a:ext cx="1193800" cy="0"/>
          </a:xfrm>
          <a:prstGeom prst="line">
            <a:avLst/>
          </a:prstGeom>
          <a:ln w="9524">
            <a:solidFill>
              <a:srgbClr val="B86C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price_to_sum_0" descr="Editable line; source id price_to_sum_0"/>
          <p:cNvCxnSpPr/>
          <p:nvPr/>
        </p:nvCxnSpPr>
        <p:spPr>
          <a:xfrm flipH="1">
            <a:off x="1892300" y="2070100"/>
            <a:ext cx="63500" cy="0"/>
          </a:xfrm>
          <a:prstGeom prst="line">
            <a:avLst/>
          </a:prstGeom>
          <a:ln w="9524">
            <a:solidFill>
              <a:srgbClr val="126D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gae_bypass_0" descr="Editable line; source id gae_bypass_0"/>
          <p:cNvCxnSpPr/>
          <p:nvPr/>
        </p:nvCxnSpPr>
        <p:spPr>
          <a:xfrm>
            <a:off x="876300" y="1511300"/>
            <a:ext cx="76200" cy="0"/>
          </a:xfrm>
          <a:prstGeom prst="line">
            <a:avLst/>
          </a:prstGeom>
          <a:ln w="8254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gae_bypass_1" descr="Editable line; source id gae_bypass_1"/>
          <p:cNvCxnSpPr/>
          <p:nvPr/>
        </p:nvCxnSpPr>
        <p:spPr>
          <a:xfrm>
            <a:off x="952500" y="1511300"/>
            <a:ext cx="0" cy="380999"/>
          </a:xfrm>
          <a:prstGeom prst="line">
            <a:avLst/>
          </a:prstGeom>
          <a:ln w="8254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gae_bypass_2" descr="Editable line; source id gae_bypass_2"/>
          <p:cNvCxnSpPr/>
          <p:nvPr/>
        </p:nvCxnSpPr>
        <p:spPr>
          <a:xfrm>
            <a:off x="952500" y="1892299"/>
            <a:ext cx="876300" cy="0"/>
          </a:xfrm>
          <a:prstGeom prst="line">
            <a:avLst/>
          </a:prstGeom>
          <a:ln w="8254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gae_bypass_3" descr="Editable line; source id gae_bypass_3"/>
          <p:cNvCxnSpPr/>
          <p:nvPr/>
        </p:nvCxnSpPr>
        <p:spPr>
          <a:xfrm>
            <a:off x="1828800" y="1892299"/>
            <a:ext cx="0" cy="330201"/>
          </a:xfrm>
          <a:prstGeom prst="line">
            <a:avLst/>
          </a:prstGeom>
          <a:ln w="8254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gae_bypass_4" descr="Editable line; source id gae_bypass_4"/>
          <p:cNvCxnSpPr/>
          <p:nvPr/>
        </p:nvCxnSpPr>
        <p:spPr>
          <a:xfrm>
            <a:off x="1828800" y="2222500"/>
            <a:ext cx="25400" cy="0"/>
          </a:xfrm>
          <a:prstGeom prst="line">
            <a:avLst/>
          </a:prstGeom>
          <a:ln w="8254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ae_overpass_0" descr="Editable line; source id gae_overpass_0"/>
          <p:cNvCxnSpPr/>
          <p:nvPr/>
        </p:nvCxnSpPr>
        <p:spPr>
          <a:xfrm>
            <a:off x="1930400" y="2222500"/>
            <a:ext cx="1219200" cy="0"/>
          </a:xfrm>
          <a:prstGeom prst="line">
            <a:avLst/>
          </a:prstGeom>
          <a:ln w="8254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advantages" descr="Editable text; source id advantages"/>
          <p:cNvSpPr txBox="1"/>
          <p:nvPr/>
        </p:nvSpPr>
        <p:spPr>
          <a:xfrm>
            <a:off x="990600" y="1892299"/>
            <a:ext cx="723899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rPr>
              <a:t>advantages</a:t>
            </a:r>
          </a:p>
        </p:txBody>
      </p:sp>
      <p:sp>
        <p:nvSpPr>
          <p:cNvPr id="125" name="next_label" descr="Editable text; source id next_label"/>
          <p:cNvSpPr txBox="1"/>
          <p:nvPr/>
        </p:nvSpPr>
        <p:spPr>
          <a:xfrm>
            <a:off x="2082800" y="2844799"/>
            <a:ext cx="888999" cy="126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rPr>
              <a:t>next rollout</a:t>
            </a:r>
          </a:p>
        </p:txBody>
      </p:sp>
      <p:grpSp>
        <p:nvGrpSpPr>
          <p:cNvPr id="136" name="observed_cost"/>
          <p:cNvGrpSpPr/>
          <p:nvPr/>
        </p:nvGrpSpPr>
        <p:grpSpPr>
          <a:xfrm>
            <a:off x="223179" y="1908391"/>
            <a:ext cx="116746" cy="133291"/>
            <a:chOff x="223179" y="1908391"/>
            <a:chExt cx="116746" cy="133291"/>
          </a:xfrm>
        </p:grpSpPr>
        <p:sp>
          <p:nvSpPr>
            <p:cNvPr id="137" name="observed_cost_outline_0"/>
            <p:cNvSpPr/>
            <p:nvPr/>
          </p:nvSpPr>
          <p:spPr>
            <a:xfrm>
              <a:off x="253670" y="1908391"/>
              <a:ext cx="41310" cy="7171"/>
            </a:xfrm>
            <a:custGeom>
              <a:avLst/>
              <a:gdLst/>
              <a:ahLst/>
              <a:cxnLst/>
              <a:rect l="0" t="0" r="r" b="b"/>
              <a:pathLst>
                <a:path w="41311" h="7172">
                  <a:moveTo>
                    <a:pt x="41311" y="7172"/>
                  </a:moveTo>
                  <a:lnTo>
                    <a:pt x="41311" y="0"/>
                  </a:lnTo>
                  <a:lnTo>
                    <a:pt x="0" y="0"/>
                  </a:lnTo>
                  <a:lnTo>
                    <a:pt x="0" y="7172"/>
                  </a:lnTo>
                  <a:lnTo>
                    <a:pt x="41311" y="7172"/>
                  </a:lnTo>
                  <a:close/>
                </a:path>
              </a:pathLst>
            </a:custGeom>
            <a:solidFill>
              <a:srgbClr val="B86C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observed_cost_outline_1"/>
            <p:cNvSpPr/>
            <p:nvPr/>
          </p:nvSpPr>
          <p:spPr>
            <a:xfrm>
              <a:off x="223179" y="1930647"/>
              <a:ext cx="66020" cy="89130"/>
            </a:xfrm>
            <a:custGeom>
              <a:avLst/>
              <a:gdLst/>
              <a:ahLst/>
              <a:cxnLst/>
              <a:rect l="0" t="0" r="r" b="b"/>
              <a:pathLst>
                <a:path w="66020" h="89130">
                  <a:moveTo>
                    <a:pt x="66020" y="2123"/>
                  </a:moveTo>
                  <a:lnTo>
                    <a:pt x="66020" y="0"/>
                  </a:lnTo>
                  <a:lnTo>
                    <a:pt x="32278" y="0"/>
                  </a:lnTo>
                  <a:lnTo>
                    <a:pt x="32278" y="2123"/>
                  </a:lnTo>
                  <a:cubicBezTo>
                    <a:pt x="40648" y="2921"/>
                    <a:pt x="42509" y="3985"/>
                    <a:pt x="42509" y="7572"/>
                  </a:cubicBezTo>
                  <a:cubicBezTo>
                    <a:pt x="42509" y="9565"/>
                    <a:pt x="41977" y="12220"/>
                    <a:pt x="40914" y="16074"/>
                  </a:cubicBezTo>
                  <a:lnTo>
                    <a:pt x="23511" y="77839"/>
                  </a:lnTo>
                  <a:cubicBezTo>
                    <a:pt x="22050" y="83022"/>
                    <a:pt x="20193" y="85015"/>
                    <a:pt x="17002" y="85015"/>
                  </a:cubicBezTo>
                  <a:cubicBezTo>
                    <a:pt x="13815" y="85015"/>
                    <a:pt x="12355" y="83419"/>
                    <a:pt x="12355" y="79700"/>
                  </a:cubicBezTo>
                  <a:cubicBezTo>
                    <a:pt x="12355" y="79038"/>
                    <a:pt x="12355" y="78371"/>
                    <a:pt x="12486" y="77708"/>
                  </a:cubicBezTo>
                  <a:lnTo>
                    <a:pt x="12486" y="76514"/>
                  </a:lnTo>
                  <a:cubicBezTo>
                    <a:pt x="12486" y="73192"/>
                    <a:pt x="9565" y="70271"/>
                    <a:pt x="5977" y="70271"/>
                  </a:cubicBezTo>
                  <a:cubicBezTo>
                    <a:pt x="2393" y="70271"/>
                    <a:pt x="0" y="73192"/>
                    <a:pt x="0" y="77442"/>
                  </a:cubicBezTo>
                  <a:cubicBezTo>
                    <a:pt x="0" y="84483"/>
                    <a:pt x="6243" y="89130"/>
                    <a:pt x="15542" y="89130"/>
                  </a:cubicBezTo>
                  <a:cubicBezTo>
                    <a:pt x="22316" y="89130"/>
                    <a:pt x="28293" y="86475"/>
                    <a:pt x="32413" y="81562"/>
                  </a:cubicBezTo>
                  <a:cubicBezTo>
                    <a:pt x="36001" y="77311"/>
                    <a:pt x="38656" y="71330"/>
                    <a:pt x="41446" y="61238"/>
                  </a:cubicBezTo>
                  <a:lnTo>
                    <a:pt x="55126" y="11954"/>
                  </a:lnTo>
                  <a:cubicBezTo>
                    <a:pt x="57519" y="3985"/>
                    <a:pt x="58448" y="3187"/>
                    <a:pt x="66020" y="2123"/>
                  </a:cubicBezTo>
                  <a:close/>
                </a:path>
              </a:pathLst>
            </a:custGeom>
            <a:solidFill>
              <a:srgbClr val="B86C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observed_cost_outline_2"/>
            <p:cNvSpPr/>
            <p:nvPr/>
          </p:nvSpPr>
          <p:spPr>
            <a:xfrm>
              <a:off x="289288" y="1969670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3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3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86C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7" name="filter_chain"/>
          <p:cNvGrpSpPr/>
          <p:nvPr/>
        </p:nvGrpSpPr>
        <p:grpSpPr>
          <a:xfrm>
            <a:off x="2156078" y="1970380"/>
            <a:ext cx="1392203" cy="161701"/>
            <a:chOff x="2156078" y="1970380"/>
            <a:chExt cx="1392203" cy="161701"/>
          </a:xfrm>
        </p:grpSpPr>
        <p:sp>
          <p:nvSpPr>
            <p:cNvPr id="198" name="filter_chain_outline_0"/>
            <p:cNvSpPr/>
            <p:nvPr/>
          </p:nvSpPr>
          <p:spPr>
            <a:xfrm>
              <a:off x="2179567" y="1970380"/>
              <a:ext cx="41310" cy="7171"/>
            </a:xfrm>
            <a:custGeom>
              <a:avLst/>
              <a:gdLst/>
              <a:ahLst/>
              <a:cxnLst/>
              <a:rect l="0" t="0" r="r" b="b"/>
              <a:pathLst>
                <a:path w="41311" h="7172">
                  <a:moveTo>
                    <a:pt x="41311" y="7172"/>
                  </a:moveTo>
                  <a:lnTo>
                    <a:pt x="41311" y="0"/>
                  </a:lnTo>
                  <a:lnTo>
                    <a:pt x="0" y="0"/>
                  </a:lnTo>
                  <a:lnTo>
                    <a:pt x="0" y="7172"/>
                  </a:lnTo>
                  <a:lnTo>
                    <a:pt x="41311" y="7172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filter_chain_outline_1"/>
            <p:cNvSpPr/>
            <p:nvPr/>
          </p:nvSpPr>
          <p:spPr>
            <a:xfrm>
              <a:off x="2156078" y="1992370"/>
              <a:ext cx="67877" cy="88467"/>
            </a:xfrm>
            <a:custGeom>
              <a:avLst/>
              <a:gdLst/>
              <a:ahLst/>
              <a:cxnLst/>
              <a:rect l="0" t="0" r="r" b="b"/>
              <a:pathLst>
                <a:path w="67878" h="88467">
                  <a:moveTo>
                    <a:pt x="67878" y="77311"/>
                  </a:moveTo>
                  <a:lnTo>
                    <a:pt x="67743" y="77045"/>
                  </a:lnTo>
                  <a:cubicBezTo>
                    <a:pt x="65885" y="77045"/>
                    <a:pt x="63627" y="81562"/>
                    <a:pt x="58047" y="81562"/>
                  </a:cubicBezTo>
                  <a:cubicBezTo>
                    <a:pt x="32941" y="81562"/>
                    <a:pt x="78637" y="0"/>
                    <a:pt x="39584" y="0"/>
                  </a:cubicBezTo>
                  <a:lnTo>
                    <a:pt x="38120" y="0"/>
                  </a:lnTo>
                  <a:cubicBezTo>
                    <a:pt x="35731" y="0"/>
                    <a:pt x="30151" y="1992"/>
                    <a:pt x="28424" y="3588"/>
                  </a:cubicBezTo>
                  <a:cubicBezTo>
                    <a:pt x="28293" y="3719"/>
                    <a:pt x="29353" y="4913"/>
                    <a:pt x="29488" y="4913"/>
                  </a:cubicBezTo>
                  <a:cubicBezTo>
                    <a:pt x="30151" y="4385"/>
                    <a:pt x="33076" y="3187"/>
                    <a:pt x="35731" y="3187"/>
                  </a:cubicBezTo>
                  <a:cubicBezTo>
                    <a:pt x="48617" y="3187"/>
                    <a:pt x="45160" y="24444"/>
                    <a:pt x="45160" y="27896"/>
                  </a:cubicBezTo>
                  <a:cubicBezTo>
                    <a:pt x="45295" y="28293"/>
                    <a:pt x="45160" y="28559"/>
                    <a:pt x="45029" y="29091"/>
                  </a:cubicBezTo>
                  <a:cubicBezTo>
                    <a:pt x="42374" y="41446"/>
                    <a:pt x="3187" y="76248"/>
                    <a:pt x="0" y="87007"/>
                  </a:cubicBezTo>
                  <a:lnTo>
                    <a:pt x="13283" y="87007"/>
                  </a:lnTo>
                  <a:cubicBezTo>
                    <a:pt x="13283" y="85677"/>
                    <a:pt x="13414" y="84352"/>
                    <a:pt x="13680" y="82887"/>
                  </a:cubicBezTo>
                  <a:cubicBezTo>
                    <a:pt x="17534" y="65885"/>
                    <a:pt x="43569" y="40116"/>
                    <a:pt x="43569" y="39985"/>
                  </a:cubicBezTo>
                  <a:lnTo>
                    <a:pt x="43700" y="39985"/>
                  </a:lnTo>
                  <a:cubicBezTo>
                    <a:pt x="42902" y="46891"/>
                    <a:pt x="30948" y="88467"/>
                    <a:pt x="52602" y="88467"/>
                  </a:cubicBezTo>
                  <a:cubicBezTo>
                    <a:pt x="58444" y="88467"/>
                    <a:pt x="67612" y="78903"/>
                    <a:pt x="67878" y="77311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filter_chain_outline_2"/>
            <p:cNvSpPr/>
            <p:nvPr/>
          </p:nvSpPr>
          <p:spPr>
            <a:xfrm>
              <a:off x="2233917" y="1984463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4" h="40156">
                  <a:moveTo>
                    <a:pt x="36004" y="12037"/>
                  </a:moveTo>
                  <a:cubicBezTo>
                    <a:pt x="36004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6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2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4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1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6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2" y="38600"/>
                    <a:pt x="21272" y="36628"/>
                  </a:cubicBezTo>
                  <a:cubicBezTo>
                    <a:pt x="21272" y="32373"/>
                    <a:pt x="18883" y="26979"/>
                    <a:pt x="18883" y="21479"/>
                  </a:cubicBezTo>
                  <a:cubicBezTo>
                    <a:pt x="22102" y="23348"/>
                    <a:pt x="30297" y="32063"/>
                    <a:pt x="32373" y="32063"/>
                  </a:cubicBezTo>
                  <a:cubicBezTo>
                    <a:pt x="34242" y="32063"/>
                    <a:pt x="35901" y="30297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4"/>
                    <a:pt x="34135" y="14942"/>
                  </a:cubicBezTo>
                  <a:cubicBezTo>
                    <a:pt x="35278" y="14319"/>
                    <a:pt x="36004" y="13387"/>
                    <a:pt x="36004" y="12037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filter_chain_outline_3"/>
            <p:cNvSpPr/>
            <p:nvPr/>
          </p:nvSpPr>
          <p:spPr>
            <a:xfrm>
              <a:off x="2234680" y="2060069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filter_chain_outline_4"/>
            <p:cNvSpPr/>
            <p:nvPr/>
          </p:nvSpPr>
          <p:spPr>
            <a:xfrm>
              <a:off x="2341498" y="2018008"/>
              <a:ext cx="119550" cy="54463"/>
            </a:xfrm>
            <a:custGeom>
              <a:avLst/>
              <a:gdLst/>
              <a:ahLst/>
              <a:cxnLst/>
              <a:rect l="0" t="0" r="r" b="b"/>
              <a:pathLst>
                <a:path w="119551" h="54463">
                  <a:moveTo>
                    <a:pt x="119551" y="30948"/>
                  </a:moveTo>
                  <a:lnTo>
                    <a:pt x="119551" y="23511"/>
                  </a:lnTo>
                  <a:lnTo>
                    <a:pt x="14347" y="23511"/>
                  </a:lnTo>
                  <a:lnTo>
                    <a:pt x="30155" y="4382"/>
                  </a:lnTo>
                  <a:lnTo>
                    <a:pt x="26035" y="0"/>
                  </a:lnTo>
                  <a:lnTo>
                    <a:pt x="0" y="27365"/>
                  </a:lnTo>
                  <a:lnTo>
                    <a:pt x="26035" y="54463"/>
                  </a:lnTo>
                  <a:lnTo>
                    <a:pt x="30155" y="50078"/>
                  </a:lnTo>
                  <a:lnTo>
                    <a:pt x="14347" y="30948"/>
                  </a:lnTo>
                  <a:lnTo>
                    <a:pt x="119551" y="30948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filter_chain_outline_5"/>
            <p:cNvSpPr/>
            <p:nvPr/>
          </p:nvSpPr>
          <p:spPr>
            <a:xfrm>
              <a:off x="2509521" y="1988651"/>
              <a:ext cx="191960" cy="119550"/>
            </a:xfrm>
            <a:custGeom>
              <a:avLst/>
              <a:gdLst/>
              <a:ahLst/>
              <a:cxnLst/>
              <a:rect l="0" t="0" r="r" b="b"/>
              <a:pathLst>
                <a:path w="191961" h="119551">
                  <a:moveTo>
                    <a:pt x="51407" y="71199"/>
                  </a:moveTo>
                  <a:lnTo>
                    <a:pt x="49546" y="70005"/>
                  </a:lnTo>
                  <a:cubicBezTo>
                    <a:pt x="43172" y="79304"/>
                    <a:pt x="38390" y="82490"/>
                    <a:pt x="30817" y="82490"/>
                  </a:cubicBezTo>
                  <a:cubicBezTo>
                    <a:pt x="18598" y="82490"/>
                    <a:pt x="10227" y="71862"/>
                    <a:pt x="10227" y="56586"/>
                  </a:cubicBezTo>
                  <a:cubicBezTo>
                    <a:pt x="10227" y="42771"/>
                    <a:pt x="17534" y="33472"/>
                    <a:pt x="28293" y="33472"/>
                  </a:cubicBezTo>
                  <a:cubicBezTo>
                    <a:pt x="33076" y="33472"/>
                    <a:pt x="34802" y="34937"/>
                    <a:pt x="36132" y="39850"/>
                  </a:cubicBezTo>
                  <a:lnTo>
                    <a:pt x="36925" y="42771"/>
                  </a:lnTo>
                  <a:cubicBezTo>
                    <a:pt x="37989" y="46625"/>
                    <a:pt x="40382" y="48883"/>
                    <a:pt x="43303" y="48883"/>
                  </a:cubicBezTo>
                  <a:cubicBezTo>
                    <a:pt x="46756" y="48883"/>
                    <a:pt x="49546" y="46359"/>
                    <a:pt x="49546" y="43303"/>
                  </a:cubicBezTo>
                  <a:cubicBezTo>
                    <a:pt x="49546" y="35866"/>
                    <a:pt x="40247" y="29623"/>
                    <a:pt x="29091" y="29623"/>
                  </a:cubicBezTo>
                  <a:cubicBezTo>
                    <a:pt x="22848" y="29623"/>
                    <a:pt x="16470" y="32012"/>
                    <a:pt x="11156" y="36397"/>
                  </a:cubicBezTo>
                  <a:cubicBezTo>
                    <a:pt x="3985" y="42374"/>
                    <a:pt x="0" y="51538"/>
                    <a:pt x="0" y="62563"/>
                  </a:cubicBezTo>
                  <a:cubicBezTo>
                    <a:pt x="0" y="79700"/>
                    <a:pt x="10493" y="92055"/>
                    <a:pt x="25237" y="92055"/>
                  </a:cubicBezTo>
                  <a:cubicBezTo>
                    <a:pt x="30948" y="92055"/>
                    <a:pt x="35997" y="90194"/>
                    <a:pt x="40513" y="86475"/>
                  </a:cubicBezTo>
                  <a:cubicBezTo>
                    <a:pt x="44498" y="83288"/>
                    <a:pt x="47157" y="79434"/>
                    <a:pt x="51407" y="71199"/>
                  </a:cubicBezTo>
                  <a:close/>
                  <a:moveTo>
                    <a:pt x="89803" y="90726"/>
                  </a:moveTo>
                  <a:lnTo>
                    <a:pt x="89803" y="88733"/>
                  </a:lnTo>
                  <a:cubicBezTo>
                    <a:pt x="81302" y="88201"/>
                    <a:pt x="79841" y="86872"/>
                    <a:pt x="79841" y="79569"/>
                  </a:cubicBezTo>
                  <a:lnTo>
                    <a:pt x="79841" y="266"/>
                  </a:lnTo>
                  <a:lnTo>
                    <a:pt x="79310" y="0"/>
                  </a:lnTo>
                  <a:cubicBezTo>
                    <a:pt x="72400" y="2258"/>
                    <a:pt x="67352" y="3588"/>
                    <a:pt x="58188" y="5846"/>
                  </a:cubicBezTo>
                  <a:lnTo>
                    <a:pt x="58188" y="7969"/>
                  </a:lnTo>
                  <a:lnTo>
                    <a:pt x="58986" y="7969"/>
                  </a:lnTo>
                  <a:cubicBezTo>
                    <a:pt x="60446" y="7838"/>
                    <a:pt x="62041" y="7703"/>
                    <a:pt x="63101" y="7703"/>
                  </a:cubicBezTo>
                  <a:cubicBezTo>
                    <a:pt x="67352" y="7703"/>
                    <a:pt x="68681" y="9565"/>
                    <a:pt x="68681" y="15807"/>
                  </a:cubicBezTo>
                  <a:lnTo>
                    <a:pt x="68681" y="79169"/>
                  </a:lnTo>
                  <a:cubicBezTo>
                    <a:pt x="68681" y="86340"/>
                    <a:pt x="66820" y="88070"/>
                    <a:pt x="58454" y="88733"/>
                  </a:cubicBezTo>
                  <a:lnTo>
                    <a:pt x="58454" y="90726"/>
                  </a:lnTo>
                  <a:lnTo>
                    <a:pt x="89803" y="90726"/>
                  </a:lnTo>
                  <a:close/>
                  <a:moveTo>
                    <a:pt x="126204" y="90726"/>
                  </a:moveTo>
                  <a:lnTo>
                    <a:pt x="126204" y="88733"/>
                  </a:lnTo>
                  <a:cubicBezTo>
                    <a:pt x="117436" y="88070"/>
                    <a:pt x="116373" y="86741"/>
                    <a:pt x="116373" y="77176"/>
                  </a:cubicBezTo>
                  <a:lnTo>
                    <a:pt x="116373" y="30020"/>
                  </a:lnTo>
                  <a:lnTo>
                    <a:pt x="115841" y="29623"/>
                  </a:lnTo>
                  <a:lnTo>
                    <a:pt x="95251" y="36929"/>
                  </a:lnTo>
                  <a:lnTo>
                    <a:pt x="95251" y="38921"/>
                  </a:lnTo>
                  <a:lnTo>
                    <a:pt x="96315" y="38787"/>
                  </a:lnTo>
                  <a:cubicBezTo>
                    <a:pt x="97910" y="38521"/>
                    <a:pt x="99637" y="38390"/>
                    <a:pt x="100831" y="38390"/>
                  </a:cubicBezTo>
                  <a:cubicBezTo>
                    <a:pt x="104018" y="38390"/>
                    <a:pt x="105217" y="40513"/>
                    <a:pt x="105217" y="46359"/>
                  </a:cubicBezTo>
                  <a:lnTo>
                    <a:pt x="105217" y="77176"/>
                  </a:lnTo>
                  <a:cubicBezTo>
                    <a:pt x="105217" y="86741"/>
                    <a:pt x="103887" y="88201"/>
                    <a:pt x="94723" y="88733"/>
                  </a:cubicBezTo>
                  <a:lnTo>
                    <a:pt x="94723" y="90726"/>
                  </a:lnTo>
                  <a:lnTo>
                    <a:pt x="126204" y="90726"/>
                  </a:lnTo>
                  <a:close/>
                  <a:moveTo>
                    <a:pt x="117567" y="6775"/>
                  </a:moveTo>
                  <a:cubicBezTo>
                    <a:pt x="117567" y="3056"/>
                    <a:pt x="114646" y="0"/>
                    <a:pt x="110793" y="0"/>
                  </a:cubicBezTo>
                  <a:cubicBezTo>
                    <a:pt x="107074" y="0"/>
                    <a:pt x="104018" y="3056"/>
                    <a:pt x="104018" y="6775"/>
                  </a:cubicBezTo>
                  <a:cubicBezTo>
                    <a:pt x="104018" y="10624"/>
                    <a:pt x="107074" y="13549"/>
                    <a:pt x="110793" y="13549"/>
                  </a:cubicBezTo>
                  <a:cubicBezTo>
                    <a:pt x="114646" y="13549"/>
                    <a:pt x="117567" y="10624"/>
                    <a:pt x="117567" y="6775"/>
                  </a:cubicBezTo>
                  <a:close/>
                  <a:moveTo>
                    <a:pt x="191961" y="57916"/>
                  </a:moveTo>
                  <a:cubicBezTo>
                    <a:pt x="191961" y="41446"/>
                    <a:pt x="182662" y="29623"/>
                    <a:pt x="169775" y="29623"/>
                  </a:cubicBezTo>
                  <a:cubicBezTo>
                    <a:pt x="162338" y="29623"/>
                    <a:pt x="156492" y="32941"/>
                    <a:pt x="150650" y="40116"/>
                  </a:cubicBezTo>
                  <a:lnTo>
                    <a:pt x="150650" y="29889"/>
                  </a:lnTo>
                  <a:lnTo>
                    <a:pt x="149852" y="29623"/>
                  </a:lnTo>
                  <a:cubicBezTo>
                    <a:pt x="142681" y="32413"/>
                    <a:pt x="138029" y="34139"/>
                    <a:pt x="130722" y="36397"/>
                  </a:cubicBezTo>
                  <a:lnTo>
                    <a:pt x="130722" y="38521"/>
                  </a:lnTo>
                  <a:cubicBezTo>
                    <a:pt x="131917" y="38390"/>
                    <a:pt x="132850" y="38390"/>
                    <a:pt x="134045" y="38390"/>
                  </a:cubicBezTo>
                  <a:cubicBezTo>
                    <a:pt x="138561" y="38390"/>
                    <a:pt x="139489" y="39715"/>
                    <a:pt x="139489" y="45962"/>
                  </a:cubicBezTo>
                  <a:lnTo>
                    <a:pt x="139489" y="108129"/>
                  </a:lnTo>
                  <a:cubicBezTo>
                    <a:pt x="139489" y="115034"/>
                    <a:pt x="138029" y="116495"/>
                    <a:pt x="130190" y="117292"/>
                  </a:cubicBezTo>
                  <a:lnTo>
                    <a:pt x="130190" y="119551"/>
                  </a:lnTo>
                  <a:lnTo>
                    <a:pt x="162338" y="119551"/>
                  </a:lnTo>
                  <a:lnTo>
                    <a:pt x="162338" y="117161"/>
                  </a:lnTo>
                  <a:cubicBezTo>
                    <a:pt x="152376" y="117026"/>
                    <a:pt x="150650" y="115566"/>
                    <a:pt x="150650" y="107196"/>
                  </a:cubicBezTo>
                  <a:lnTo>
                    <a:pt x="150650" y="86340"/>
                  </a:lnTo>
                  <a:cubicBezTo>
                    <a:pt x="155297" y="90726"/>
                    <a:pt x="158488" y="92055"/>
                    <a:pt x="164064" y="92055"/>
                  </a:cubicBezTo>
                  <a:cubicBezTo>
                    <a:pt x="179741" y="92055"/>
                    <a:pt x="191961" y="77176"/>
                    <a:pt x="191961" y="57916"/>
                  </a:cubicBezTo>
                  <a:close/>
                  <a:moveTo>
                    <a:pt x="180538" y="63095"/>
                  </a:moveTo>
                  <a:cubicBezTo>
                    <a:pt x="180538" y="77839"/>
                    <a:pt x="174029" y="87805"/>
                    <a:pt x="164465" y="87805"/>
                  </a:cubicBezTo>
                  <a:cubicBezTo>
                    <a:pt x="158222" y="87805"/>
                    <a:pt x="150650" y="83022"/>
                    <a:pt x="150650" y="79038"/>
                  </a:cubicBezTo>
                  <a:lnTo>
                    <a:pt x="150650" y="46359"/>
                  </a:lnTo>
                  <a:cubicBezTo>
                    <a:pt x="150650" y="42374"/>
                    <a:pt x="158087" y="37592"/>
                    <a:pt x="164200" y="37592"/>
                  </a:cubicBezTo>
                  <a:cubicBezTo>
                    <a:pt x="174029" y="37592"/>
                    <a:pt x="180538" y="47689"/>
                    <a:pt x="180538" y="63095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filter_chain_outline_6"/>
            <p:cNvSpPr/>
            <p:nvPr/>
          </p:nvSpPr>
          <p:spPr>
            <a:xfrm>
              <a:off x="2710553" y="2067641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7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4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200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filter_chain_outline_7"/>
            <p:cNvSpPr/>
            <p:nvPr/>
          </p:nvSpPr>
          <p:spPr>
            <a:xfrm>
              <a:off x="2807816" y="2011099"/>
              <a:ext cx="68012" cy="68278"/>
            </a:xfrm>
            <a:custGeom>
              <a:avLst/>
              <a:gdLst/>
              <a:ahLst/>
              <a:cxnLst/>
              <a:rect l="0" t="0" r="r" b="b"/>
              <a:pathLst>
                <a:path w="68013" h="68278">
                  <a:moveTo>
                    <a:pt x="29623" y="29758"/>
                  </a:moveTo>
                  <a:lnTo>
                    <a:pt x="0" y="29758"/>
                  </a:lnTo>
                  <a:lnTo>
                    <a:pt x="0" y="38525"/>
                  </a:lnTo>
                  <a:lnTo>
                    <a:pt x="29623" y="38525"/>
                  </a:lnTo>
                  <a:lnTo>
                    <a:pt x="29623" y="68278"/>
                  </a:lnTo>
                  <a:lnTo>
                    <a:pt x="38390" y="68278"/>
                  </a:lnTo>
                  <a:lnTo>
                    <a:pt x="38390" y="38525"/>
                  </a:lnTo>
                  <a:lnTo>
                    <a:pt x="68013" y="38525"/>
                  </a:lnTo>
                  <a:lnTo>
                    <a:pt x="68013" y="29758"/>
                  </a:lnTo>
                  <a:lnTo>
                    <a:pt x="38390" y="29758"/>
                  </a:lnTo>
                  <a:lnTo>
                    <a:pt x="38390" y="0"/>
                  </a:lnTo>
                  <a:lnTo>
                    <a:pt x="29623" y="0"/>
                  </a:lnTo>
                  <a:lnTo>
                    <a:pt x="29623" y="29758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filter_chain_outline_8"/>
            <p:cNvSpPr/>
            <p:nvPr/>
          </p:nvSpPr>
          <p:spPr>
            <a:xfrm>
              <a:off x="2915197" y="1989846"/>
              <a:ext cx="291463" cy="89531"/>
            </a:xfrm>
            <a:custGeom>
              <a:avLst/>
              <a:gdLst/>
              <a:ahLst/>
              <a:cxnLst/>
              <a:rect l="0" t="0" r="r" b="b"/>
              <a:pathLst>
                <a:path w="291463" h="89531">
                  <a:moveTo>
                    <a:pt x="77708" y="67084"/>
                  </a:moveTo>
                  <a:lnTo>
                    <a:pt x="73989" y="67084"/>
                  </a:lnTo>
                  <a:cubicBezTo>
                    <a:pt x="67346" y="81427"/>
                    <a:pt x="61635" y="84618"/>
                    <a:pt x="42640" y="84618"/>
                  </a:cubicBezTo>
                  <a:lnTo>
                    <a:pt x="39052" y="84618"/>
                  </a:lnTo>
                  <a:cubicBezTo>
                    <a:pt x="32675" y="84618"/>
                    <a:pt x="27365" y="84086"/>
                    <a:pt x="26166" y="83153"/>
                  </a:cubicBezTo>
                  <a:cubicBezTo>
                    <a:pt x="25368" y="82625"/>
                    <a:pt x="25106" y="81427"/>
                    <a:pt x="25106" y="78903"/>
                  </a:cubicBezTo>
                  <a:lnTo>
                    <a:pt x="25106" y="46093"/>
                  </a:lnTo>
                  <a:lnTo>
                    <a:pt x="45561" y="46093"/>
                  </a:lnTo>
                  <a:cubicBezTo>
                    <a:pt x="56451" y="46093"/>
                    <a:pt x="58448" y="47819"/>
                    <a:pt x="60174" y="58845"/>
                  </a:cubicBezTo>
                  <a:lnTo>
                    <a:pt x="63226" y="58845"/>
                  </a:lnTo>
                  <a:lnTo>
                    <a:pt x="63226" y="28027"/>
                  </a:lnTo>
                  <a:lnTo>
                    <a:pt x="60174" y="28027"/>
                  </a:lnTo>
                  <a:cubicBezTo>
                    <a:pt x="58448" y="38922"/>
                    <a:pt x="56321" y="40648"/>
                    <a:pt x="45561" y="40648"/>
                  </a:cubicBezTo>
                  <a:lnTo>
                    <a:pt x="25106" y="40648"/>
                  </a:lnTo>
                  <a:lnTo>
                    <a:pt x="25106" y="11160"/>
                  </a:lnTo>
                  <a:cubicBezTo>
                    <a:pt x="25106" y="7437"/>
                    <a:pt x="25900" y="6644"/>
                    <a:pt x="29488" y="6644"/>
                  </a:cubicBezTo>
                  <a:lnTo>
                    <a:pt x="47419" y="6644"/>
                  </a:lnTo>
                  <a:cubicBezTo>
                    <a:pt x="62432" y="6644"/>
                    <a:pt x="65353" y="8636"/>
                    <a:pt x="67612" y="20590"/>
                  </a:cubicBezTo>
                  <a:lnTo>
                    <a:pt x="70933" y="20590"/>
                  </a:lnTo>
                  <a:lnTo>
                    <a:pt x="70533" y="1595"/>
                  </a:lnTo>
                  <a:lnTo>
                    <a:pt x="0" y="1595"/>
                  </a:lnTo>
                  <a:lnTo>
                    <a:pt x="0" y="4119"/>
                  </a:lnTo>
                  <a:cubicBezTo>
                    <a:pt x="9827" y="4913"/>
                    <a:pt x="11557" y="6644"/>
                    <a:pt x="11557" y="16073"/>
                  </a:cubicBezTo>
                  <a:lnTo>
                    <a:pt x="11557" y="75053"/>
                  </a:lnTo>
                  <a:cubicBezTo>
                    <a:pt x="11557" y="84483"/>
                    <a:pt x="9696" y="86344"/>
                    <a:pt x="0" y="87007"/>
                  </a:cubicBezTo>
                  <a:lnTo>
                    <a:pt x="0" y="89531"/>
                  </a:lnTo>
                  <a:lnTo>
                    <a:pt x="71731" y="89531"/>
                  </a:lnTo>
                  <a:lnTo>
                    <a:pt x="77708" y="67084"/>
                  </a:lnTo>
                  <a:close/>
                  <a:moveTo>
                    <a:pt x="194214" y="89531"/>
                  </a:moveTo>
                  <a:lnTo>
                    <a:pt x="194214" y="87007"/>
                  </a:lnTo>
                  <a:cubicBezTo>
                    <a:pt x="184514" y="86344"/>
                    <a:pt x="182657" y="84483"/>
                    <a:pt x="182657" y="75053"/>
                  </a:cubicBezTo>
                  <a:lnTo>
                    <a:pt x="182657" y="16073"/>
                  </a:lnTo>
                  <a:cubicBezTo>
                    <a:pt x="182657" y="6644"/>
                    <a:pt x="184383" y="4913"/>
                    <a:pt x="194214" y="4119"/>
                  </a:cubicBezTo>
                  <a:lnTo>
                    <a:pt x="194214" y="1595"/>
                  </a:lnTo>
                  <a:lnTo>
                    <a:pt x="167778" y="1595"/>
                  </a:lnTo>
                  <a:lnTo>
                    <a:pt x="138421" y="68675"/>
                  </a:lnTo>
                  <a:lnTo>
                    <a:pt x="107739" y="1595"/>
                  </a:lnTo>
                  <a:lnTo>
                    <a:pt x="81438" y="1595"/>
                  </a:lnTo>
                  <a:lnTo>
                    <a:pt x="81438" y="4119"/>
                  </a:lnTo>
                  <a:cubicBezTo>
                    <a:pt x="92328" y="4782"/>
                    <a:pt x="94054" y="6378"/>
                    <a:pt x="94054" y="16073"/>
                  </a:cubicBezTo>
                  <a:lnTo>
                    <a:pt x="94054" y="70005"/>
                  </a:lnTo>
                  <a:cubicBezTo>
                    <a:pt x="94054" y="83685"/>
                    <a:pt x="92197" y="86209"/>
                    <a:pt x="81172" y="87007"/>
                  </a:cubicBezTo>
                  <a:lnTo>
                    <a:pt x="81172" y="89531"/>
                  </a:lnTo>
                  <a:lnTo>
                    <a:pt x="112386" y="89531"/>
                  </a:lnTo>
                  <a:lnTo>
                    <a:pt x="112386" y="87007"/>
                  </a:lnTo>
                  <a:cubicBezTo>
                    <a:pt x="102159" y="86475"/>
                    <a:pt x="99900" y="83419"/>
                    <a:pt x="99900" y="70005"/>
                  </a:cubicBezTo>
                  <a:lnTo>
                    <a:pt x="99900" y="16470"/>
                  </a:lnTo>
                  <a:lnTo>
                    <a:pt x="133242" y="89531"/>
                  </a:lnTo>
                  <a:lnTo>
                    <a:pt x="135103" y="89531"/>
                  </a:lnTo>
                  <a:lnTo>
                    <a:pt x="169108" y="13418"/>
                  </a:lnTo>
                  <a:lnTo>
                    <a:pt x="169108" y="73593"/>
                  </a:lnTo>
                  <a:cubicBezTo>
                    <a:pt x="169108" y="84618"/>
                    <a:pt x="167512" y="86344"/>
                    <a:pt x="157018" y="87007"/>
                  </a:cubicBezTo>
                  <a:lnTo>
                    <a:pt x="157018" y="89531"/>
                  </a:lnTo>
                  <a:lnTo>
                    <a:pt x="194214" y="89531"/>
                  </a:lnTo>
                  <a:close/>
                  <a:moveTo>
                    <a:pt x="291463" y="89531"/>
                  </a:moveTo>
                  <a:lnTo>
                    <a:pt x="291463" y="87007"/>
                  </a:lnTo>
                  <a:cubicBezTo>
                    <a:pt x="285487" y="86610"/>
                    <a:pt x="284157" y="85280"/>
                    <a:pt x="279509" y="75450"/>
                  </a:cubicBezTo>
                  <a:lnTo>
                    <a:pt x="246434" y="0"/>
                  </a:lnTo>
                  <a:lnTo>
                    <a:pt x="243775" y="0"/>
                  </a:lnTo>
                  <a:lnTo>
                    <a:pt x="216145" y="65222"/>
                  </a:lnTo>
                  <a:cubicBezTo>
                    <a:pt x="207643" y="84618"/>
                    <a:pt x="206052" y="86610"/>
                    <a:pt x="199674" y="87007"/>
                  </a:cubicBezTo>
                  <a:lnTo>
                    <a:pt x="199674" y="89531"/>
                  </a:lnTo>
                  <a:lnTo>
                    <a:pt x="225974" y="89531"/>
                  </a:lnTo>
                  <a:lnTo>
                    <a:pt x="225974" y="87007"/>
                  </a:lnTo>
                  <a:cubicBezTo>
                    <a:pt x="219600" y="87007"/>
                    <a:pt x="216942" y="85280"/>
                    <a:pt x="216942" y="81562"/>
                  </a:cubicBezTo>
                  <a:cubicBezTo>
                    <a:pt x="216942" y="79966"/>
                    <a:pt x="217342" y="78109"/>
                    <a:pt x="218005" y="76379"/>
                  </a:cubicBezTo>
                  <a:lnTo>
                    <a:pt x="224118" y="60837"/>
                  </a:lnTo>
                  <a:lnTo>
                    <a:pt x="258919" y="60837"/>
                  </a:lnTo>
                  <a:lnTo>
                    <a:pt x="264364" y="73593"/>
                  </a:lnTo>
                  <a:cubicBezTo>
                    <a:pt x="265960" y="77311"/>
                    <a:pt x="266889" y="80629"/>
                    <a:pt x="266889" y="82625"/>
                  </a:cubicBezTo>
                  <a:cubicBezTo>
                    <a:pt x="266889" y="83820"/>
                    <a:pt x="266091" y="85280"/>
                    <a:pt x="265027" y="85812"/>
                  </a:cubicBezTo>
                  <a:cubicBezTo>
                    <a:pt x="263436" y="86741"/>
                    <a:pt x="262373" y="87007"/>
                    <a:pt x="257590" y="87007"/>
                  </a:cubicBezTo>
                  <a:lnTo>
                    <a:pt x="257590" y="89531"/>
                  </a:lnTo>
                  <a:lnTo>
                    <a:pt x="291463" y="89531"/>
                  </a:lnTo>
                  <a:close/>
                  <a:moveTo>
                    <a:pt x="257058" y="55392"/>
                  </a:moveTo>
                  <a:lnTo>
                    <a:pt x="226376" y="55392"/>
                  </a:lnTo>
                  <a:lnTo>
                    <a:pt x="241651" y="18863"/>
                  </a:lnTo>
                  <a:lnTo>
                    <a:pt x="257058" y="55392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filter_chain_outline_9"/>
            <p:cNvSpPr/>
            <p:nvPr/>
          </p:nvSpPr>
          <p:spPr>
            <a:xfrm>
              <a:off x="3253942" y="2018008"/>
              <a:ext cx="119551" cy="54463"/>
            </a:xfrm>
            <a:custGeom>
              <a:avLst/>
              <a:gdLst/>
              <a:ahLst/>
              <a:cxnLst/>
              <a:rect l="0" t="0" r="r" b="b"/>
              <a:pathLst>
                <a:path w="119551" h="54463">
                  <a:moveTo>
                    <a:pt x="119551" y="30948"/>
                  </a:moveTo>
                  <a:lnTo>
                    <a:pt x="119551" y="23511"/>
                  </a:lnTo>
                  <a:lnTo>
                    <a:pt x="14347" y="23511"/>
                  </a:lnTo>
                  <a:lnTo>
                    <a:pt x="30155" y="4382"/>
                  </a:lnTo>
                  <a:lnTo>
                    <a:pt x="26035" y="0"/>
                  </a:lnTo>
                  <a:lnTo>
                    <a:pt x="0" y="27365"/>
                  </a:lnTo>
                  <a:lnTo>
                    <a:pt x="26035" y="54463"/>
                  </a:lnTo>
                  <a:lnTo>
                    <a:pt x="30155" y="50078"/>
                  </a:lnTo>
                  <a:lnTo>
                    <a:pt x="14347" y="30948"/>
                  </a:lnTo>
                  <a:lnTo>
                    <a:pt x="119551" y="30948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filter_chain_outline_10"/>
            <p:cNvSpPr/>
            <p:nvPr/>
          </p:nvSpPr>
          <p:spPr>
            <a:xfrm>
              <a:off x="3419042" y="1992370"/>
              <a:ext cx="67877" cy="88467"/>
            </a:xfrm>
            <a:custGeom>
              <a:avLst/>
              <a:gdLst/>
              <a:ahLst/>
              <a:cxnLst/>
              <a:rect l="0" t="0" r="r" b="b"/>
              <a:pathLst>
                <a:path w="67878" h="88467">
                  <a:moveTo>
                    <a:pt x="67878" y="77311"/>
                  </a:moveTo>
                  <a:lnTo>
                    <a:pt x="67743" y="77045"/>
                  </a:lnTo>
                  <a:cubicBezTo>
                    <a:pt x="65885" y="77045"/>
                    <a:pt x="63627" y="81562"/>
                    <a:pt x="58047" y="81562"/>
                  </a:cubicBezTo>
                  <a:cubicBezTo>
                    <a:pt x="32941" y="81562"/>
                    <a:pt x="78637" y="0"/>
                    <a:pt x="39584" y="0"/>
                  </a:cubicBezTo>
                  <a:lnTo>
                    <a:pt x="38120" y="0"/>
                  </a:lnTo>
                  <a:cubicBezTo>
                    <a:pt x="35731" y="0"/>
                    <a:pt x="30151" y="1992"/>
                    <a:pt x="28424" y="3588"/>
                  </a:cubicBezTo>
                  <a:cubicBezTo>
                    <a:pt x="28293" y="3719"/>
                    <a:pt x="29353" y="4913"/>
                    <a:pt x="29488" y="4913"/>
                  </a:cubicBezTo>
                  <a:cubicBezTo>
                    <a:pt x="30151" y="4385"/>
                    <a:pt x="33076" y="3187"/>
                    <a:pt x="35731" y="3187"/>
                  </a:cubicBezTo>
                  <a:cubicBezTo>
                    <a:pt x="48617" y="3187"/>
                    <a:pt x="45160" y="24444"/>
                    <a:pt x="45160" y="27896"/>
                  </a:cubicBezTo>
                  <a:cubicBezTo>
                    <a:pt x="45295" y="28293"/>
                    <a:pt x="45160" y="28559"/>
                    <a:pt x="45029" y="29091"/>
                  </a:cubicBezTo>
                  <a:cubicBezTo>
                    <a:pt x="42374" y="41446"/>
                    <a:pt x="3187" y="76248"/>
                    <a:pt x="0" y="87007"/>
                  </a:cubicBezTo>
                  <a:lnTo>
                    <a:pt x="13283" y="87007"/>
                  </a:lnTo>
                  <a:cubicBezTo>
                    <a:pt x="13283" y="85677"/>
                    <a:pt x="13414" y="84352"/>
                    <a:pt x="13680" y="82887"/>
                  </a:cubicBezTo>
                  <a:cubicBezTo>
                    <a:pt x="17534" y="65885"/>
                    <a:pt x="43569" y="40116"/>
                    <a:pt x="43569" y="39985"/>
                  </a:cubicBezTo>
                  <a:lnTo>
                    <a:pt x="43700" y="39985"/>
                  </a:lnTo>
                  <a:cubicBezTo>
                    <a:pt x="42902" y="46891"/>
                    <a:pt x="30948" y="88467"/>
                    <a:pt x="52602" y="88467"/>
                  </a:cubicBezTo>
                  <a:cubicBezTo>
                    <a:pt x="58444" y="88467"/>
                    <a:pt x="67612" y="78903"/>
                    <a:pt x="67878" y="77311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filter_chain_outline_11"/>
            <p:cNvSpPr/>
            <p:nvPr/>
          </p:nvSpPr>
          <p:spPr>
            <a:xfrm>
              <a:off x="3496882" y="1984463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5" h="40156">
                  <a:moveTo>
                    <a:pt x="36005" y="12037"/>
                  </a:moveTo>
                  <a:cubicBezTo>
                    <a:pt x="36005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6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2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2" y="16704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1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6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3" y="38600"/>
                    <a:pt x="21273" y="36628"/>
                  </a:cubicBezTo>
                  <a:cubicBezTo>
                    <a:pt x="21273" y="32373"/>
                    <a:pt x="18883" y="26979"/>
                    <a:pt x="18883" y="21479"/>
                  </a:cubicBezTo>
                  <a:cubicBezTo>
                    <a:pt x="22102" y="23348"/>
                    <a:pt x="30297" y="32063"/>
                    <a:pt x="32373" y="32063"/>
                  </a:cubicBezTo>
                  <a:cubicBezTo>
                    <a:pt x="34242" y="32063"/>
                    <a:pt x="35901" y="30297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4"/>
                    <a:pt x="34135" y="14942"/>
                  </a:cubicBezTo>
                  <a:cubicBezTo>
                    <a:pt x="35278" y="14319"/>
                    <a:pt x="36005" y="13387"/>
                    <a:pt x="36005" y="12037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filter_chain_outline_12"/>
            <p:cNvSpPr/>
            <p:nvPr/>
          </p:nvSpPr>
          <p:spPr>
            <a:xfrm>
              <a:off x="3497644" y="2060069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9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5" y="59873"/>
                    <a:pt x="26356" y="63504"/>
                  </a:cubicBezTo>
                  <a:cubicBezTo>
                    <a:pt x="30298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6" name="price_to_sum_1" descr="Editable line; source id price_to_sum_1"/>
          <p:cNvSpPr/>
          <p:nvPr/>
        </p:nvSpPr>
        <p:spPr>
          <a:xfrm>
            <a:off x="1876425" y="2070100"/>
            <a:ext cx="31750" cy="469900"/>
          </a:xfrm>
          <a:custGeom>
            <a:avLst/>
            <a:gdLst/>
            <a:ahLst/>
            <a:cxnLst/>
            <a:rect l="l" t="t" r="r" b="b"/>
            <a:pathLst>
              <a:path w="12500" h="185000">
                <a:moveTo>
                  <a:pt x="8125" y="0"/>
                </a:moveTo>
                <a:lnTo>
                  <a:pt x="8125" y="168500"/>
                </a:lnTo>
                <a:lnTo>
                  <a:pt x="12500" y="168500"/>
                </a:lnTo>
                <a:lnTo>
                  <a:pt x="6250" y="185000"/>
                </a:lnTo>
                <a:lnTo>
                  <a:pt x="0" y="168500"/>
                </a:lnTo>
                <a:lnTo>
                  <a:pt x="4375" y="168500"/>
                </a:lnTo>
                <a:lnTo>
                  <a:pt x="4375" y="0"/>
                </a:lnTo>
                <a:close/>
              </a:path>
            </a:pathLst>
          </a:custGeom>
          <a:solidFill>
            <a:srgbClr val="126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ae_overpass_1" descr="Editable line; source id gae_overpass_1"/>
          <p:cNvSpPr/>
          <p:nvPr/>
        </p:nvSpPr>
        <p:spPr>
          <a:xfrm>
            <a:off x="3133725" y="2222500"/>
            <a:ext cx="31750" cy="203200"/>
          </a:xfrm>
          <a:custGeom>
            <a:avLst/>
            <a:gdLst/>
            <a:ahLst/>
            <a:cxnLst/>
            <a:rect l="l" t="t" r="r" b="b"/>
            <a:pathLst>
              <a:path w="12500" h="80000">
                <a:moveTo>
                  <a:pt x="7875" y="0"/>
                </a:moveTo>
                <a:lnTo>
                  <a:pt x="7875" y="63500"/>
                </a:lnTo>
                <a:lnTo>
                  <a:pt x="12500" y="63500"/>
                </a:lnTo>
                <a:lnTo>
                  <a:pt x="6250" y="80000"/>
                </a:lnTo>
                <a:lnTo>
                  <a:pt x="0" y="63500"/>
                </a:lnTo>
                <a:lnTo>
                  <a:pt x="4625" y="63500"/>
                </a:lnTo>
                <a:lnTo>
                  <a:pt x="4625" y="0"/>
                </a:lnTo>
                <a:close/>
              </a:path>
            </a:pathLst>
          </a:custGeom>
          <a:solidFill>
            <a:srgbClr val="647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bserved_feedback_2" descr="Editable line; source id observed_feedback_2"/>
          <p:cNvSpPr/>
          <p:nvPr/>
        </p:nvSpPr>
        <p:spPr>
          <a:xfrm>
            <a:off x="1457325" y="2171700"/>
            <a:ext cx="31750" cy="342900"/>
          </a:xfrm>
          <a:custGeom>
            <a:avLst/>
            <a:gdLst/>
            <a:ahLst/>
            <a:cxnLst/>
            <a:rect l="l" t="t" r="r" b="b"/>
            <a:pathLst>
              <a:path w="12500" h="135000">
                <a:moveTo>
                  <a:pt x="8125" y="0"/>
                </a:moveTo>
                <a:lnTo>
                  <a:pt x="8125" y="118500"/>
                </a:lnTo>
                <a:lnTo>
                  <a:pt x="12500" y="118500"/>
                </a:lnTo>
                <a:lnTo>
                  <a:pt x="6250" y="135000"/>
                </a:lnTo>
                <a:lnTo>
                  <a:pt x="0" y="118500"/>
                </a:lnTo>
                <a:lnTo>
                  <a:pt x="4375" y="118500"/>
                </a:lnTo>
                <a:lnTo>
                  <a:pt x="4375" y="0"/>
                </a:lnTo>
                <a:close/>
              </a:path>
            </a:pathLst>
          </a:custGeom>
          <a:solidFill>
            <a:srgbClr val="B8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next_rollout_continuous"/>
          <p:cNvSpPr/>
          <p:nvPr/>
        </p:nvSpPr>
        <p:spPr>
          <a:xfrm>
            <a:off x="16510" y="393700"/>
            <a:ext cx="4993640" cy="2590800"/>
          </a:xfrm>
          <a:custGeom>
            <a:avLst/>
            <a:gdLst/>
            <a:ahLst/>
            <a:cxnLst/>
            <a:rect l="0" t="0" r="r" b="b"/>
            <a:pathLst>
              <a:path w="4993640" h="2590800" fill="none" stroke="1">
                <a:moveTo>
                  <a:pt x="4949190" y="2235200"/>
                </a:moveTo>
                <a:lnTo>
                  <a:pt x="4993640" y="2235200"/>
                </a:lnTo>
                <a:lnTo>
                  <a:pt x="4993640" y="2590800"/>
                </a:lnTo>
                <a:lnTo>
                  <a:pt x="0" y="2590800"/>
                </a:lnTo>
                <a:lnTo>
                  <a:pt x="0" y="0"/>
                </a:lnTo>
                <a:lnTo>
                  <a:pt x="275590" y="0"/>
                </a:lnTo>
              </a:path>
            </a:pathLst>
          </a:custGeom>
          <a:noFill/>
          <a:ln w="8890">
            <a:solidFill>
              <a:srgbClr val="64717C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2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