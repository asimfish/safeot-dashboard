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89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77" name="module_penalty"/>
          <p:cNvGrpSpPr/>
          <p:nvPr/>
        </p:nvGrpSpPr>
        <p:grpSpPr>
          <a:xfrm>
            <a:off x="50800" y="50800"/>
            <a:ext cx="1041400" cy="1943099"/>
            <a:chOff x="50800" y="50800"/>
            <a:chExt cx="1041400" cy="1943099"/>
          </a:xfrm>
        </p:grpSpPr>
        <p:sp>
          <p:nvSpPr>
            <p:cNvPr id="2" name="penalty" descr="Editable shape; source id penalty"/>
            <p:cNvSpPr/>
            <p:nvPr/>
          </p:nvSpPr>
          <p:spPr>
            <a:xfrm>
              <a:off x="50800" y="50800"/>
              <a:ext cx="1041400" cy="19430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" name="penalty_header_rule_0" descr="Editable line; source id penalty_header_rule_0"/>
            <p:cNvCxnSpPr/>
            <p:nvPr/>
          </p:nvCxnSpPr>
          <p:spPr>
            <a:xfrm>
              <a:off x="50800" y="254000"/>
              <a:ext cx="1041400" cy="0"/>
            </a:xfrm>
            <a:prstGeom prst="line">
              <a:avLst/>
            </a:prstGeom>
            <a:ln w="8890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penalty_title" descr="Editable text; source id penalty_title"/>
            <p:cNvSpPr txBox="1"/>
            <p:nvPr/>
          </p:nvSpPr>
          <p:spPr>
            <a:xfrm>
              <a:off x="76200" y="63500"/>
              <a:ext cx="990599" cy="1650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069"/>
                </a:lnSpc>
                <a:spcBef>
                  <a:spcPts val="0"/>
                </a:spcBef>
                <a:spcAft>
                  <a:spcPts val="0"/>
                </a:spcAft>
                <a:defRPr sz="929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29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rPr>
                <a:t>Penalty view</a:t>
              </a:r>
            </a:p>
          </p:txBody>
        </p:sp>
        <p:sp>
          <p:nvSpPr>
            <p:cNvPr id="5" name="penalty_sub" descr="Editable text; source id penalty_sub"/>
            <p:cNvSpPr txBox="1"/>
            <p:nvPr/>
          </p:nvSpPr>
          <p:spPr>
            <a:xfrm>
              <a:off x="63500" y="304800"/>
              <a:ext cx="1028699" cy="1524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Costs in the objective</a:t>
              </a:r>
            </a:p>
          </p:txBody>
        </p:sp>
        <p:sp>
          <p:nvSpPr>
            <p:cNvPr id="6" name="strip_1" descr="Editable shape; source id strip_1"/>
            <p:cNvSpPr/>
            <p:nvPr/>
          </p:nvSpPr>
          <p:spPr>
            <a:xfrm>
              <a:off x="317500" y="571500"/>
              <a:ext cx="342899" cy="177799"/>
            </a:xfrm>
            <a:prstGeom prst="roundRect">
              <a:avLst>
                <a:gd name="adj" fmla="val 7142"/>
              </a:avLst>
            </a:prstGeom>
            <a:solidFill>
              <a:srgbClr val="F5F8FA"/>
            </a:solidFill>
            <a:ln w="8254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pattern_14_0" descr="Editable line; source id pattern_14_0"/>
            <p:cNvCxnSpPr/>
            <p:nvPr/>
          </p:nvCxnSpPr>
          <p:spPr>
            <a:xfrm>
              <a:off x="342900" y="6096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pattern_14_1" descr="Editable line; source id pattern_14_1"/>
            <p:cNvCxnSpPr/>
            <p:nvPr/>
          </p:nvCxnSpPr>
          <p:spPr>
            <a:xfrm flipV="1">
              <a:off x="368300" y="6096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pattern_14_2" descr="Editable line; source id pattern_14_2"/>
            <p:cNvCxnSpPr/>
            <p:nvPr/>
          </p:nvCxnSpPr>
          <p:spPr>
            <a:xfrm flipV="1">
              <a:off x="393700" y="59309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pattern_14_3" descr="Editable line; source id pattern_14_3"/>
            <p:cNvCxnSpPr/>
            <p:nvPr/>
          </p:nvCxnSpPr>
          <p:spPr>
            <a:xfrm>
              <a:off x="419100" y="59309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pattern_14_4" descr="Editable line; source id pattern_14_4"/>
            <p:cNvCxnSpPr/>
            <p:nvPr/>
          </p:nvCxnSpPr>
          <p:spPr>
            <a:xfrm>
              <a:off x="444500" y="6096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pattern_14_5" descr="Editable line; source id pattern_14_5"/>
            <p:cNvCxnSpPr/>
            <p:nvPr/>
          </p:nvCxnSpPr>
          <p:spPr>
            <a:xfrm flipV="1">
              <a:off x="469900" y="6096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pattern_14_6" descr="Editable line; source id pattern_14_6"/>
            <p:cNvCxnSpPr/>
            <p:nvPr/>
          </p:nvCxnSpPr>
          <p:spPr>
            <a:xfrm flipV="1">
              <a:off x="495300" y="59309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pattern_14_7" descr="Editable line; source id pattern_14_7"/>
            <p:cNvCxnSpPr/>
            <p:nvPr/>
          </p:nvCxnSpPr>
          <p:spPr>
            <a:xfrm>
              <a:off x="520700" y="59309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pattern_14_8" descr="Editable line; source id pattern_14_8"/>
            <p:cNvCxnSpPr/>
            <p:nvPr/>
          </p:nvCxnSpPr>
          <p:spPr>
            <a:xfrm>
              <a:off x="546100" y="6096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pattern_14_9" descr="Editable line; source id pattern_14_9"/>
            <p:cNvCxnSpPr/>
            <p:nvPr/>
          </p:nvCxnSpPr>
          <p:spPr>
            <a:xfrm flipV="1">
              <a:off x="571500" y="6096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pattern_14_10" descr="Editable line; source id pattern_14_10"/>
            <p:cNvCxnSpPr/>
            <p:nvPr/>
          </p:nvCxnSpPr>
          <p:spPr>
            <a:xfrm flipV="1">
              <a:off x="596900" y="59309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pattern_19_0" descr="Editable line; source id pattern_19_0"/>
            <p:cNvCxnSpPr/>
            <p:nvPr/>
          </p:nvCxnSpPr>
          <p:spPr>
            <a:xfrm>
              <a:off x="342900" y="6731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attern_19_1" descr="Editable line; source id pattern_19_1"/>
            <p:cNvCxnSpPr/>
            <p:nvPr/>
          </p:nvCxnSpPr>
          <p:spPr>
            <a:xfrm flipV="1">
              <a:off x="368300" y="6731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pattern_19_2" descr="Editable line; source id pattern_19_2"/>
            <p:cNvCxnSpPr/>
            <p:nvPr/>
          </p:nvCxnSpPr>
          <p:spPr>
            <a:xfrm flipV="1">
              <a:off x="393700" y="65659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pattern_19_3" descr="Editable line; source id pattern_19_3"/>
            <p:cNvCxnSpPr/>
            <p:nvPr/>
          </p:nvCxnSpPr>
          <p:spPr>
            <a:xfrm>
              <a:off x="419100" y="65659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pattern_19_4" descr="Editable line; source id pattern_19_4"/>
            <p:cNvCxnSpPr/>
            <p:nvPr/>
          </p:nvCxnSpPr>
          <p:spPr>
            <a:xfrm>
              <a:off x="444500" y="6731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pattern_19_5" descr="Editable line; source id pattern_19_5"/>
            <p:cNvCxnSpPr/>
            <p:nvPr/>
          </p:nvCxnSpPr>
          <p:spPr>
            <a:xfrm flipV="1">
              <a:off x="469900" y="6731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pattern_19_6" descr="Editable line; source id pattern_19_6"/>
            <p:cNvCxnSpPr/>
            <p:nvPr/>
          </p:nvCxnSpPr>
          <p:spPr>
            <a:xfrm flipV="1">
              <a:off x="495300" y="65659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pattern_19_7" descr="Editable line; source id pattern_19_7"/>
            <p:cNvCxnSpPr/>
            <p:nvPr/>
          </p:nvCxnSpPr>
          <p:spPr>
            <a:xfrm>
              <a:off x="520700" y="65659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attern_19_8" descr="Editable line; source id pattern_19_8"/>
            <p:cNvCxnSpPr/>
            <p:nvPr/>
          </p:nvCxnSpPr>
          <p:spPr>
            <a:xfrm>
              <a:off x="546100" y="6731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pattern_19_9" descr="Editable line; source id pattern_19_9"/>
            <p:cNvCxnSpPr/>
            <p:nvPr/>
          </p:nvCxnSpPr>
          <p:spPr>
            <a:xfrm flipV="1">
              <a:off x="571500" y="67310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pattern_19_10" descr="Editable line; source id pattern_19_10"/>
            <p:cNvCxnSpPr/>
            <p:nvPr/>
          </p:nvCxnSpPr>
          <p:spPr>
            <a:xfrm flipV="1">
              <a:off x="596900" y="656590"/>
              <a:ext cx="25400" cy="1651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stroute_1_0" descr="Editable line; source id costroute_1_0"/>
            <p:cNvCxnSpPr/>
            <p:nvPr/>
          </p:nvCxnSpPr>
          <p:spPr>
            <a:xfrm>
              <a:off x="685800" y="711200"/>
              <a:ext cx="330200" cy="0"/>
            </a:xfrm>
            <a:prstGeom prst="line">
              <a:avLst/>
            </a:prstGeom>
            <a:ln w="825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strip_2" descr="Editable shape; source id strip_2"/>
            <p:cNvSpPr/>
            <p:nvPr/>
          </p:nvSpPr>
          <p:spPr>
            <a:xfrm>
              <a:off x="317500" y="914400"/>
              <a:ext cx="342899" cy="177799"/>
            </a:xfrm>
            <a:prstGeom prst="roundRect">
              <a:avLst>
                <a:gd name="adj" fmla="val 7142"/>
              </a:avLst>
            </a:prstGeom>
            <a:solidFill>
              <a:srgbClr val="F5F8FA"/>
            </a:solidFill>
            <a:ln w="8254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pattern_20_0" descr="Editable line; source id pattern_20_0"/>
            <p:cNvCxnSpPr/>
            <p:nvPr/>
          </p:nvCxnSpPr>
          <p:spPr>
            <a:xfrm flipV="1">
              <a:off x="342900" y="952500"/>
              <a:ext cx="50800" cy="10160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pattern_21_0" descr="Editable line; source id pattern_21_0"/>
            <p:cNvCxnSpPr/>
            <p:nvPr/>
          </p:nvCxnSpPr>
          <p:spPr>
            <a:xfrm flipV="1">
              <a:off x="393700" y="952500"/>
              <a:ext cx="50800" cy="10160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pattern_22_0" descr="Editable line; source id pattern_22_0"/>
            <p:cNvCxnSpPr/>
            <p:nvPr/>
          </p:nvCxnSpPr>
          <p:spPr>
            <a:xfrm flipV="1">
              <a:off x="444500" y="952500"/>
              <a:ext cx="50800" cy="10160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pattern_23_0" descr="Editable line; source id pattern_23_0"/>
            <p:cNvCxnSpPr/>
            <p:nvPr/>
          </p:nvCxnSpPr>
          <p:spPr>
            <a:xfrm flipV="1">
              <a:off x="495300" y="952500"/>
              <a:ext cx="50800" cy="10160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pattern_24_0" descr="Editable line; source id pattern_24_0"/>
            <p:cNvCxnSpPr/>
            <p:nvPr/>
          </p:nvCxnSpPr>
          <p:spPr>
            <a:xfrm flipV="1">
              <a:off x="546100" y="952500"/>
              <a:ext cx="50800" cy="101600"/>
            </a:xfrm>
            <a:prstGeom prst="line">
              <a:avLst/>
            </a:prstGeom>
            <a:ln w="6349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stroute_2_0" descr="Editable line; source id costroute_2_0"/>
            <p:cNvCxnSpPr/>
            <p:nvPr/>
          </p:nvCxnSpPr>
          <p:spPr>
            <a:xfrm>
              <a:off x="685800" y="1054100"/>
              <a:ext cx="330200" cy="0"/>
            </a:xfrm>
            <a:prstGeom prst="line">
              <a:avLst/>
            </a:prstGeom>
            <a:ln w="825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strip_K" descr="Editable shape; source id strip_K"/>
            <p:cNvSpPr/>
            <p:nvPr/>
          </p:nvSpPr>
          <p:spPr>
            <a:xfrm>
              <a:off x="317500" y="1257300"/>
              <a:ext cx="342899" cy="177799"/>
            </a:xfrm>
            <a:prstGeom prst="roundRect">
              <a:avLst>
                <a:gd name="adj" fmla="val 7142"/>
              </a:avLst>
            </a:prstGeom>
            <a:solidFill>
              <a:srgbClr val="F5F8FA"/>
            </a:solidFill>
            <a:ln w="8254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pattern_K00" descr="Editable shape; source id pattern_K00"/>
            <p:cNvSpPr/>
            <p:nvPr/>
          </p:nvSpPr>
          <p:spPr>
            <a:xfrm>
              <a:off x="349885" y="13023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pattern_K01" descr="Editable shape; source id pattern_K01"/>
            <p:cNvSpPr/>
            <p:nvPr/>
          </p:nvSpPr>
          <p:spPr>
            <a:xfrm>
              <a:off x="400685" y="13023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pattern_K02" descr="Editable shape; source id pattern_K02"/>
            <p:cNvSpPr/>
            <p:nvPr/>
          </p:nvSpPr>
          <p:spPr>
            <a:xfrm>
              <a:off x="451485" y="13023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pattern_K03" descr="Editable shape; source id pattern_K03"/>
            <p:cNvSpPr/>
            <p:nvPr/>
          </p:nvSpPr>
          <p:spPr>
            <a:xfrm>
              <a:off x="502285" y="13023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pattern_K04" descr="Editable shape; source id pattern_K04"/>
            <p:cNvSpPr/>
            <p:nvPr/>
          </p:nvSpPr>
          <p:spPr>
            <a:xfrm>
              <a:off x="553085" y="13023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pattern_K05" descr="Editable shape; source id pattern_K05"/>
            <p:cNvSpPr/>
            <p:nvPr/>
          </p:nvSpPr>
          <p:spPr>
            <a:xfrm>
              <a:off x="603885" y="13023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pattern_K10" descr="Editable shape; source id pattern_K10"/>
            <p:cNvSpPr/>
            <p:nvPr/>
          </p:nvSpPr>
          <p:spPr>
            <a:xfrm>
              <a:off x="349885" y="13658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pattern_K11" descr="Editable shape; source id pattern_K11"/>
            <p:cNvSpPr/>
            <p:nvPr/>
          </p:nvSpPr>
          <p:spPr>
            <a:xfrm>
              <a:off x="400685" y="13658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pattern_K12" descr="Editable shape; source id pattern_K12"/>
            <p:cNvSpPr/>
            <p:nvPr/>
          </p:nvSpPr>
          <p:spPr>
            <a:xfrm>
              <a:off x="451485" y="13658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pattern_K13" descr="Editable shape; source id pattern_K13"/>
            <p:cNvSpPr/>
            <p:nvPr/>
          </p:nvSpPr>
          <p:spPr>
            <a:xfrm>
              <a:off x="502285" y="13658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pattern_K14" descr="Editable shape; source id pattern_K14"/>
            <p:cNvSpPr/>
            <p:nvPr/>
          </p:nvSpPr>
          <p:spPr>
            <a:xfrm>
              <a:off x="553085" y="13658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pattern_K15" descr="Editable shape; source id pattern_K15"/>
            <p:cNvSpPr/>
            <p:nvPr/>
          </p:nvSpPr>
          <p:spPr>
            <a:xfrm>
              <a:off x="603885" y="1365885"/>
              <a:ext cx="11429" cy="11429"/>
            </a:xfrm>
            <a:prstGeom prst="ellipse">
              <a:avLst/>
            </a:prstGeom>
            <a:solidFill>
              <a:srgbClr val="264C70"/>
            </a:solidFill>
            <a:ln w="8890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stroute_K_0" descr="Editable line; source id costroute_K_0"/>
            <p:cNvCxnSpPr/>
            <p:nvPr/>
          </p:nvCxnSpPr>
          <p:spPr>
            <a:xfrm>
              <a:off x="685800" y="1397000"/>
              <a:ext cx="330200" cy="0"/>
            </a:xfrm>
            <a:prstGeom prst="line">
              <a:avLst/>
            </a:prstGeom>
            <a:ln w="825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stbus_0" descr="Editable line; source id costbus_0"/>
            <p:cNvCxnSpPr/>
            <p:nvPr/>
          </p:nvCxnSpPr>
          <p:spPr>
            <a:xfrm>
              <a:off x="1016000" y="711200"/>
              <a:ext cx="0" cy="850900"/>
            </a:xfrm>
            <a:prstGeom prst="line">
              <a:avLst/>
            </a:prstGeom>
            <a:ln w="825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stbus_1" descr="Editable line; source id costbus_1"/>
            <p:cNvCxnSpPr/>
            <p:nvPr/>
          </p:nvCxnSpPr>
          <p:spPr>
            <a:xfrm flipH="1">
              <a:off x="571500" y="1562100"/>
              <a:ext cx="444500" cy="0"/>
            </a:xfrm>
            <a:prstGeom prst="line">
              <a:avLst/>
            </a:prstGeom>
            <a:ln w="825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costbus_2" descr="Editable line; source id costbus_2"/>
            <p:cNvSpPr/>
            <p:nvPr/>
          </p:nvSpPr>
          <p:spPr>
            <a:xfrm>
              <a:off x="555625" y="1562100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12500" h="20000">
                  <a:moveTo>
                    <a:pt x="7875" y="0"/>
                  </a:moveTo>
                  <a:lnTo>
                    <a:pt x="7875" y="7000"/>
                  </a:lnTo>
                  <a:lnTo>
                    <a:pt x="12500" y="7000"/>
                  </a:lnTo>
                  <a:lnTo>
                    <a:pt x="6250" y="20000"/>
                  </a:lnTo>
                  <a:lnTo>
                    <a:pt x="0" y="7000"/>
                  </a:lnTo>
                  <a:lnTo>
                    <a:pt x="4625" y="7000"/>
                  </a:lnTo>
                  <a:lnTo>
                    <a:pt x="4625" y="0"/>
                  </a:lnTo>
                  <a:close/>
                </a:path>
              </a:pathLst>
            </a:custGeom>
            <a:solidFill>
              <a:srgbClr val="264C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8" name="cost_1"/>
            <p:cNvGrpSpPr/>
            <p:nvPr/>
          </p:nvGrpSpPr>
          <p:grpSpPr>
            <a:xfrm>
              <a:off x="105750" y="605187"/>
              <a:ext cx="120722" cy="111631"/>
              <a:chOff x="105750" y="605187"/>
              <a:chExt cx="120722" cy="111631"/>
            </a:xfrm>
          </p:grpSpPr>
          <p:sp>
            <p:nvSpPr>
              <p:cNvPr id="139" name="cost_1_outline_0"/>
              <p:cNvSpPr/>
              <p:nvPr/>
            </p:nvSpPr>
            <p:spPr>
              <a:xfrm>
                <a:off x="105750" y="605187"/>
                <a:ext cx="82756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4" y="71064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4" y="84880"/>
                    </a:cubicBezTo>
                    <a:cubicBezTo>
                      <a:pt x="23380" y="84880"/>
                      <a:pt x="14879" y="74918"/>
                      <a:pt x="14879" y="57650"/>
                    </a:cubicBezTo>
                    <a:cubicBezTo>
                      <a:pt x="14879" y="41842"/>
                      <a:pt x="21253" y="25769"/>
                      <a:pt x="31615" y="15010"/>
                    </a:cubicBezTo>
                    <a:cubicBezTo>
                      <a:pt x="37993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50" y="26301"/>
                    </a:cubicBezTo>
                    <a:lnTo>
                      <a:pt x="77843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8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3" y="0"/>
                      <a:pt x="53931" y="0"/>
                    </a:cubicBezTo>
                    <a:cubicBezTo>
                      <a:pt x="25503" y="0"/>
                      <a:pt x="0" y="26567"/>
                      <a:pt x="0" y="56189"/>
                    </a:cubicBezTo>
                    <a:cubicBezTo>
                      <a:pt x="0" y="76513"/>
                      <a:pt x="14347" y="90857"/>
                      <a:pt x="34671" y="90857"/>
                    </a:cubicBezTo>
                    <a:cubicBezTo>
                      <a:pt x="48351" y="90857"/>
                      <a:pt x="58980" y="85146"/>
                      <a:pt x="70934" y="7106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cost_1_outline_1"/>
              <p:cNvSpPr/>
              <p:nvPr/>
            </p:nvSpPr>
            <p:spPr>
              <a:xfrm>
                <a:off x="197108" y="646675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1" name="weight_1"/>
            <p:cNvGrpSpPr/>
            <p:nvPr/>
          </p:nvGrpSpPr>
          <p:grpSpPr>
            <a:xfrm>
              <a:off x="773163" y="579819"/>
              <a:ext cx="113151" cy="110171"/>
              <a:chOff x="773163" y="579819"/>
              <a:chExt cx="113151" cy="110171"/>
            </a:xfrm>
          </p:grpSpPr>
          <p:sp>
            <p:nvSpPr>
              <p:cNvPr id="142" name="weight_1_outline_0"/>
              <p:cNvSpPr/>
              <p:nvPr/>
            </p:nvSpPr>
            <p:spPr>
              <a:xfrm>
                <a:off x="773163" y="579819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3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264C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weight_1_outline_1"/>
              <p:cNvSpPr/>
              <p:nvPr/>
            </p:nvSpPr>
            <p:spPr>
              <a:xfrm>
                <a:off x="856950" y="61984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4C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4" name="cost_2"/>
            <p:cNvGrpSpPr/>
            <p:nvPr/>
          </p:nvGrpSpPr>
          <p:grpSpPr>
            <a:xfrm>
              <a:off x="105750" y="948087"/>
              <a:ext cx="129128" cy="111631"/>
              <a:chOff x="105750" y="948087"/>
              <a:chExt cx="129128" cy="111631"/>
            </a:xfrm>
          </p:grpSpPr>
          <p:sp>
            <p:nvSpPr>
              <p:cNvPr id="145" name="cost_2_outline_0"/>
              <p:cNvSpPr/>
              <p:nvPr/>
            </p:nvSpPr>
            <p:spPr>
              <a:xfrm>
                <a:off x="105750" y="948087"/>
                <a:ext cx="82756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4" y="71064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4" y="84880"/>
                    </a:cubicBezTo>
                    <a:cubicBezTo>
                      <a:pt x="23380" y="84880"/>
                      <a:pt x="14879" y="74918"/>
                      <a:pt x="14879" y="57650"/>
                    </a:cubicBezTo>
                    <a:cubicBezTo>
                      <a:pt x="14879" y="41842"/>
                      <a:pt x="21253" y="25769"/>
                      <a:pt x="31615" y="15010"/>
                    </a:cubicBezTo>
                    <a:cubicBezTo>
                      <a:pt x="37993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50" y="26301"/>
                    </a:cubicBezTo>
                    <a:lnTo>
                      <a:pt x="77843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8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3" y="0"/>
                      <a:pt x="53931" y="0"/>
                    </a:cubicBezTo>
                    <a:cubicBezTo>
                      <a:pt x="25503" y="0"/>
                      <a:pt x="0" y="26567"/>
                      <a:pt x="0" y="56189"/>
                    </a:cubicBezTo>
                    <a:cubicBezTo>
                      <a:pt x="0" y="76513"/>
                      <a:pt x="14347" y="90857"/>
                      <a:pt x="34671" y="90857"/>
                    </a:cubicBezTo>
                    <a:cubicBezTo>
                      <a:pt x="48351" y="90857"/>
                      <a:pt x="58980" y="85146"/>
                      <a:pt x="70934" y="7106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cost_2_outline_1"/>
              <p:cNvSpPr/>
              <p:nvPr/>
            </p:nvSpPr>
            <p:spPr>
              <a:xfrm>
                <a:off x="188702" y="989575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7" name="weight_2"/>
            <p:cNvGrpSpPr/>
            <p:nvPr/>
          </p:nvGrpSpPr>
          <p:grpSpPr>
            <a:xfrm>
              <a:off x="773163" y="922719"/>
              <a:ext cx="121557" cy="110171"/>
              <a:chOff x="773163" y="922719"/>
              <a:chExt cx="121557" cy="110171"/>
            </a:xfrm>
          </p:grpSpPr>
          <p:sp>
            <p:nvSpPr>
              <p:cNvPr id="148" name="weight_2_outline_0"/>
              <p:cNvSpPr/>
              <p:nvPr/>
            </p:nvSpPr>
            <p:spPr>
              <a:xfrm>
                <a:off x="773163" y="922719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3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264C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weight_2_outline_1"/>
              <p:cNvSpPr/>
              <p:nvPr/>
            </p:nvSpPr>
            <p:spPr>
              <a:xfrm>
                <a:off x="848544" y="962747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264C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0" name="cost_K"/>
            <p:cNvGrpSpPr/>
            <p:nvPr/>
          </p:nvGrpSpPr>
          <p:grpSpPr>
            <a:xfrm>
              <a:off x="86655" y="1292111"/>
              <a:ext cx="164609" cy="109396"/>
              <a:chOff x="86655" y="1292111"/>
              <a:chExt cx="164609" cy="109396"/>
            </a:xfrm>
          </p:grpSpPr>
          <p:sp>
            <p:nvSpPr>
              <p:cNvPr id="151" name="cost_K_outline_0"/>
              <p:cNvSpPr/>
              <p:nvPr/>
            </p:nvSpPr>
            <p:spPr>
              <a:xfrm>
                <a:off x="86655" y="1292111"/>
                <a:ext cx="82756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4" y="71065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4" y="84880"/>
                    </a:cubicBezTo>
                    <a:cubicBezTo>
                      <a:pt x="23380" y="84880"/>
                      <a:pt x="14879" y="74918"/>
                      <a:pt x="14879" y="57650"/>
                    </a:cubicBezTo>
                    <a:cubicBezTo>
                      <a:pt x="14879" y="41843"/>
                      <a:pt x="21253" y="25769"/>
                      <a:pt x="31615" y="15010"/>
                    </a:cubicBezTo>
                    <a:cubicBezTo>
                      <a:pt x="37993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50" y="26301"/>
                    </a:cubicBezTo>
                    <a:lnTo>
                      <a:pt x="77843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8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3" y="0"/>
                      <a:pt x="53931" y="0"/>
                    </a:cubicBezTo>
                    <a:cubicBezTo>
                      <a:pt x="25503" y="0"/>
                      <a:pt x="0" y="26567"/>
                      <a:pt x="0" y="56190"/>
                    </a:cubicBezTo>
                    <a:cubicBezTo>
                      <a:pt x="0" y="76514"/>
                      <a:pt x="14347" y="90857"/>
                      <a:pt x="34671" y="90857"/>
                    </a:cubicBezTo>
                    <a:cubicBezTo>
                      <a:pt x="48351" y="90857"/>
                      <a:pt x="58980" y="85146"/>
                      <a:pt x="70934" y="71065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cost_K_outline_1"/>
              <p:cNvSpPr/>
              <p:nvPr/>
            </p:nvSpPr>
            <p:spPr>
              <a:xfrm>
                <a:off x="169711" y="1333753"/>
                <a:ext cx="81553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1554" h="67754">
                    <a:moveTo>
                      <a:pt x="71803" y="67754"/>
                    </a:moveTo>
                    <a:lnTo>
                      <a:pt x="71699" y="66096"/>
                    </a:lnTo>
                    <a:cubicBezTo>
                      <a:pt x="64329" y="65472"/>
                      <a:pt x="63706" y="65159"/>
                      <a:pt x="60285" y="60285"/>
                    </a:cubicBezTo>
                    <a:lnTo>
                      <a:pt x="38910" y="28845"/>
                    </a:lnTo>
                    <a:lnTo>
                      <a:pt x="73045" y="5394"/>
                    </a:lnTo>
                    <a:cubicBezTo>
                      <a:pt x="76470" y="3215"/>
                      <a:pt x="78859" y="2076"/>
                      <a:pt x="81554" y="1659"/>
                    </a:cubicBezTo>
                    <a:lnTo>
                      <a:pt x="81554" y="0"/>
                    </a:lnTo>
                    <a:lnTo>
                      <a:pt x="56444" y="0"/>
                    </a:lnTo>
                    <a:lnTo>
                      <a:pt x="56444" y="1659"/>
                    </a:lnTo>
                    <a:lnTo>
                      <a:pt x="59662" y="1972"/>
                    </a:lnTo>
                    <a:cubicBezTo>
                      <a:pt x="62567" y="2179"/>
                      <a:pt x="63706" y="2802"/>
                      <a:pt x="63706" y="3941"/>
                    </a:cubicBezTo>
                    <a:cubicBezTo>
                      <a:pt x="63813" y="6433"/>
                      <a:pt x="59246" y="10374"/>
                      <a:pt x="47315" y="17847"/>
                    </a:cubicBezTo>
                    <a:lnTo>
                      <a:pt x="29571" y="28948"/>
                    </a:lnTo>
                    <a:lnTo>
                      <a:pt x="34965" y="9338"/>
                    </a:lnTo>
                    <a:cubicBezTo>
                      <a:pt x="36524" y="4151"/>
                      <a:pt x="39739" y="2076"/>
                      <a:pt x="46692" y="1659"/>
                    </a:cubicBezTo>
                    <a:lnTo>
                      <a:pt x="46692" y="0"/>
                    </a:lnTo>
                    <a:lnTo>
                      <a:pt x="13799" y="0"/>
                    </a:lnTo>
                    <a:lnTo>
                      <a:pt x="13799" y="1659"/>
                    </a:lnTo>
                    <a:cubicBezTo>
                      <a:pt x="21268" y="2282"/>
                      <a:pt x="23035" y="3112"/>
                      <a:pt x="23138" y="6120"/>
                    </a:cubicBezTo>
                    <a:cubicBezTo>
                      <a:pt x="23138" y="7675"/>
                      <a:pt x="23035" y="9751"/>
                      <a:pt x="22102" y="12553"/>
                    </a:cubicBezTo>
                    <a:lnTo>
                      <a:pt x="9648" y="58416"/>
                    </a:lnTo>
                    <a:cubicBezTo>
                      <a:pt x="7783" y="64643"/>
                      <a:pt x="6953" y="65159"/>
                      <a:pt x="0" y="66096"/>
                    </a:cubicBezTo>
                    <a:lnTo>
                      <a:pt x="103" y="67754"/>
                    </a:lnTo>
                    <a:lnTo>
                      <a:pt x="29881" y="67754"/>
                    </a:lnTo>
                    <a:lnTo>
                      <a:pt x="29777" y="66096"/>
                    </a:lnTo>
                    <a:cubicBezTo>
                      <a:pt x="22308" y="65369"/>
                      <a:pt x="21268" y="64746"/>
                      <a:pt x="21165" y="61528"/>
                    </a:cubicBezTo>
                    <a:cubicBezTo>
                      <a:pt x="21165" y="60388"/>
                      <a:pt x="21165" y="59662"/>
                      <a:pt x="21892" y="57483"/>
                    </a:cubicBezTo>
                    <a:lnTo>
                      <a:pt x="22515" y="55305"/>
                    </a:lnTo>
                    <a:lnTo>
                      <a:pt x="28948" y="31647"/>
                    </a:lnTo>
                    <a:lnTo>
                      <a:pt x="43994" y="53229"/>
                    </a:lnTo>
                    <a:cubicBezTo>
                      <a:pt x="47105" y="57483"/>
                      <a:pt x="48768" y="61115"/>
                      <a:pt x="48768" y="63087"/>
                    </a:cubicBezTo>
                    <a:cubicBezTo>
                      <a:pt x="48871" y="64643"/>
                      <a:pt x="47212" y="65472"/>
                      <a:pt x="43267" y="65782"/>
                    </a:cubicBezTo>
                    <a:lnTo>
                      <a:pt x="39636" y="66096"/>
                    </a:lnTo>
                    <a:lnTo>
                      <a:pt x="39739" y="67754"/>
                    </a:lnTo>
                    <a:lnTo>
                      <a:pt x="71803" y="6775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3" name="weight_K"/>
            <p:cNvGrpSpPr/>
            <p:nvPr/>
          </p:nvGrpSpPr>
          <p:grpSpPr>
            <a:xfrm>
              <a:off x="754068" y="1266743"/>
              <a:ext cx="157049" cy="107936"/>
              <a:chOff x="754068" y="1266743"/>
              <a:chExt cx="157049" cy="107936"/>
            </a:xfrm>
          </p:grpSpPr>
          <p:sp>
            <p:nvSpPr>
              <p:cNvPr id="154" name="weight_K_outline_0"/>
              <p:cNvSpPr/>
              <p:nvPr/>
            </p:nvSpPr>
            <p:spPr>
              <a:xfrm>
                <a:off x="754068" y="1266743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4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264C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weight_K_outline_1"/>
              <p:cNvSpPr/>
              <p:nvPr/>
            </p:nvSpPr>
            <p:spPr>
              <a:xfrm>
                <a:off x="829564" y="1306925"/>
                <a:ext cx="81553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1554" h="67754">
                    <a:moveTo>
                      <a:pt x="71803" y="67754"/>
                    </a:moveTo>
                    <a:lnTo>
                      <a:pt x="71699" y="66096"/>
                    </a:lnTo>
                    <a:cubicBezTo>
                      <a:pt x="64329" y="65472"/>
                      <a:pt x="63706" y="65159"/>
                      <a:pt x="60285" y="60285"/>
                    </a:cubicBezTo>
                    <a:lnTo>
                      <a:pt x="38910" y="28845"/>
                    </a:lnTo>
                    <a:lnTo>
                      <a:pt x="73045" y="5394"/>
                    </a:lnTo>
                    <a:cubicBezTo>
                      <a:pt x="76470" y="3215"/>
                      <a:pt x="78859" y="2076"/>
                      <a:pt x="81554" y="1659"/>
                    </a:cubicBezTo>
                    <a:lnTo>
                      <a:pt x="81554" y="0"/>
                    </a:lnTo>
                    <a:lnTo>
                      <a:pt x="56443" y="0"/>
                    </a:lnTo>
                    <a:lnTo>
                      <a:pt x="56443" y="1659"/>
                    </a:lnTo>
                    <a:lnTo>
                      <a:pt x="59662" y="1972"/>
                    </a:lnTo>
                    <a:cubicBezTo>
                      <a:pt x="62567" y="2179"/>
                      <a:pt x="63706" y="2802"/>
                      <a:pt x="63706" y="3941"/>
                    </a:cubicBezTo>
                    <a:cubicBezTo>
                      <a:pt x="63814" y="6433"/>
                      <a:pt x="59246" y="10374"/>
                      <a:pt x="47315" y="17847"/>
                    </a:cubicBezTo>
                    <a:lnTo>
                      <a:pt x="29571" y="28948"/>
                    </a:lnTo>
                    <a:lnTo>
                      <a:pt x="34965" y="9338"/>
                    </a:lnTo>
                    <a:cubicBezTo>
                      <a:pt x="36524" y="4151"/>
                      <a:pt x="39739" y="2076"/>
                      <a:pt x="46692" y="1659"/>
                    </a:cubicBezTo>
                    <a:lnTo>
                      <a:pt x="46692" y="0"/>
                    </a:lnTo>
                    <a:lnTo>
                      <a:pt x="13799" y="0"/>
                    </a:lnTo>
                    <a:lnTo>
                      <a:pt x="13799" y="1659"/>
                    </a:lnTo>
                    <a:cubicBezTo>
                      <a:pt x="21269" y="2282"/>
                      <a:pt x="23035" y="3112"/>
                      <a:pt x="23138" y="6120"/>
                    </a:cubicBezTo>
                    <a:cubicBezTo>
                      <a:pt x="23138" y="7675"/>
                      <a:pt x="23035" y="9751"/>
                      <a:pt x="22102" y="12553"/>
                    </a:cubicBezTo>
                    <a:lnTo>
                      <a:pt x="9648" y="58416"/>
                    </a:lnTo>
                    <a:cubicBezTo>
                      <a:pt x="7783" y="64643"/>
                      <a:pt x="6953" y="65159"/>
                      <a:pt x="0" y="66096"/>
                    </a:cubicBezTo>
                    <a:lnTo>
                      <a:pt x="103" y="67754"/>
                    </a:lnTo>
                    <a:lnTo>
                      <a:pt x="29881" y="67754"/>
                    </a:lnTo>
                    <a:lnTo>
                      <a:pt x="29778" y="66096"/>
                    </a:lnTo>
                    <a:cubicBezTo>
                      <a:pt x="22308" y="65369"/>
                      <a:pt x="21269" y="64746"/>
                      <a:pt x="21165" y="61528"/>
                    </a:cubicBezTo>
                    <a:cubicBezTo>
                      <a:pt x="21165" y="60388"/>
                      <a:pt x="21165" y="59662"/>
                      <a:pt x="21892" y="57483"/>
                    </a:cubicBezTo>
                    <a:lnTo>
                      <a:pt x="22515" y="55305"/>
                    </a:lnTo>
                    <a:lnTo>
                      <a:pt x="28948" y="31647"/>
                    </a:lnTo>
                    <a:lnTo>
                      <a:pt x="43994" y="53229"/>
                    </a:lnTo>
                    <a:cubicBezTo>
                      <a:pt x="47105" y="57483"/>
                      <a:pt x="48768" y="61115"/>
                      <a:pt x="48768" y="63087"/>
                    </a:cubicBezTo>
                    <a:cubicBezTo>
                      <a:pt x="48871" y="64643"/>
                      <a:pt x="47212" y="65472"/>
                      <a:pt x="43267" y="65782"/>
                    </a:cubicBezTo>
                    <a:lnTo>
                      <a:pt x="39636" y="66096"/>
                    </a:lnTo>
                    <a:lnTo>
                      <a:pt x="39739" y="67754"/>
                    </a:lnTo>
                    <a:lnTo>
                      <a:pt x="71803" y="67754"/>
                    </a:lnTo>
                    <a:close/>
                  </a:path>
                </a:pathLst>
              </a:custGeom>
              <a:solidFill>
                <a:srgbClr val="264C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6" name="weighted_objective"/>
            <p:cNvGrpSpPr/>
            <p:nvPr/>
          </p:nvGrpSpPr>
          <p:grpSpPr>
            <a:xfrm>
              <a:off x="147238" y="1704441"/>
              <a:ext cx="834341" cy="147484"/>
              <a:chOff x="147238" y="1704441"/>
              <a:chExt cx="834341" cy="147484"/>
            </a:xfrm>
          </p:grpSpPr>
          <p:sp>
            <p:nvSpPr>
              <p:cNvPr id="157" name="weighted_objective_outline_0"/>
              <p:cNvSpPr/>
              <p:nvPr/>
            </p:nvSpPr>
            <p:spPr>
              <a:xfrm>
                <a:off x="147238" y="1708698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0" y="85943"/>
                      <a:pt x="73192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0"/>
                      <a:pt x="17002" y="81959"/>
                    </a:cubicBezTo>
                    <a:cubicBezTo>
                      <a:pt x="17002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6" y="77311"/>
                      <a:pt x="59376" y="78506"/>
                      <a:pt x="59376" y="79569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weighted_objective_outline_1"/>
              <p:cNvSpPr/>
              <p:nvPr/>
            </p:nvSpPr>
            <p:spPr>
              <a:xfrm>
                <a:off x="240101" y="1771597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weighted_objective_outline_2"/>
              <p:cNvSpPr/>
              <p:nvPr/>
            </p:nvSpPr>
            <p:spPr>
              <a:xfrm>
                <a:off x="334815" y="1759573"/>
                <a:ext cx="68012" cy="7437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7437">
                    <a:moveTo>
                      <a:pt x="68012" y="7437"/>
                    </a:moveTo>
                    <a:lnTo>
                      <a:pt x="68012" y="0"/>
                    </a:lnTo>
                    <a:lnTo>
                      <a:pt x="0" y="0"/>
                    </a:lnTo>
                    <a:lnTo>
                      <a:pt x="0" y="7437"/>
                    </a:lnTo>
                    <a:lnTo>
                      <a:pt x="68012" y="7437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weighted_objective_outline_3"/>
              <p:cNvSpPr/>
              <p:nvPr/>
            </p:nvSpPr>
            <p:spPr>
              <a:xfrm>
                <a:off x="446312" y="1704441"/>
                <a:ext cx="90725" cy="116895"/>
              </a:xfrm>
              <a:custGeom>
                <a:avLst/>
                <a:gdLst/>
                <a:ahLst/>
                <a:cxnLst/>
                <a:rect l="0" t="0" r="r" b="b"/>
                <a:pathLst>
                  <a:path w="90726" h="116896">
                    <a:moveTo>
                      <a:pt x="90726" y="81427"/>
                    </a:moveTo>
                    <a:lnTo>
                      <a:pt x="87936" y="81427"/>
                    </a:lnTo>
                    <a:cubicBezTo>
                      <a:pt x="85280" y="98032"/>
                      <a:pt x="79169" y="105470"/>
                      <a:pt x="69874" y="105470"/>
                    </a:cubicBezTo>
                    <a:lnTo>
                      <a:pt x="17800" y="105470"/>
                    </a:lnTo>
                    <a:lnTo>
                      <a:pt x="56324" y="56055"/>
                    </a:lnTo>
                    <a:lnTo>
                      <a:pt x="22050" y="5179"/>
                    </a:lnTo>
                    <a:lnTo>
                      <a:pt x="64560" y="5179"/>
                    </a:lnTo>
                    <a:cubicBezTo>
                      <a:pt x="74255" y="5179"/>
                      <a:pt x="80367" y="10493"/>
                      <a:pt x="83157" y="27365"/>
                    </a:cubicBezTo>
                    <a:lnTo>
                      <a:pt x="86078" y="27365"/>
                    </a:lnTo>
                    <a:lnTo>
                      <a:pt x="85280" y="0"/>
                    </a:lnTo>
                    <a:lnTo>
                      <a:pt x="5580" y="0"/>
                    </a:lnTo>
                    <a:lnTo>
                      <a:pt x="46228" y="58313"/>
                    </a:lnTo>
                    <a:lnTo>
                      <a:pt x="0" y="116896"/>
                    </a:lnTo>
                    <a:lnTo>
                      <a:pt x="89265" y="116896"/>
                    </a:lnTo>
                    <a:lnTo>
                      <a:pt x="90726" y="81427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weighted_objective_outline_4"/>
              <p:cNvSpPr/>
              <p:nvPr/>
            </p:nvSpPr>
            <p:spPr>
              <a:xfrm>
                <a:off x="554274" y="1756456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weighted_objective_outline_5"/>
              <p:cNvSpPr/>
              <p:nvPr/>
            </p:nvSpPr>
            <p:spPr>
              <a:xfrm>
                <a:off x="638486" y="1710424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3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weighted_objective_outline_6"/>
              <p:cNvSpPr/>
              <p:nvPr/>
            </p:nvSpPr>
            <p:spPr>
              <a:xfrm>
                <a:off x="717088" y="1749726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weighted_objective_outline_7"/>
              <p:cNvSpPr/>
              <p:nvPr/>
            </p:nvSpPr>
            <p:spPr>
              <a:xfrm>
                <a:off x="781958" y="1708698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0" y="85943"/>
                      <a:pt x="73192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0"/>
                      <a:pt x="17002" y="81959"/>
                    </a:cubicBezTo>
                    <a:cubicBezTo>
                      <a:pt x="17002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6" y="77311"/>
                      <a:pt x="59376" y="78506"/>
                      <a:pt x="59376" y="79569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weighted_objective_outline_8"/>
              <p:cNvSpPr/>
              <p:nvPr/>
            </p:nvSpPr>
            <p:spPr>
              <a:xfrm>
                <a:off x="875638" y="1771597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weighted_objective_outline_9"/>
              <p:cNvSpPr/>
              <p:nvPr/>
            </p:nvSpPr>
            <p:spPr>
              <a:xfrm>
                <a:off x="930942" y="177991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78" name="module_safeot"/>
          <p:cNvGrpSpPr/>
          <p:nvPr/>
        </p:nvGrpSpPr>
        <p:grpSpPr>
          <a:xfrm>
            <a:off x="1168400" y="38100"/>
            <a:ext cx="2692400" cy="1955800"/>
            <a:chOff x="1168400" y="38100"/>
            <a:chExt cx="2692400" cy="1955800"/>
          </a:xfrm>
        </p:grpSpPr>
        <p:sp>
          <p:nvSpPr>
            <p:cNvPr id="54" name="safeot" descr="Editable shape; source id safeot"/>
            <p:cNvSpPr/>
            <p:nvPr/>
          </p:nvSpPr>
          <p:spPr>
            <a:xfrm>
              <a:off x="1168400" y="38100"/>
              <a:ext cx="2692400" cy="1955800"/>
            </a:xfrm>
            <a:prstGeom prst="roundRect">
              <a:avLst>
                <a:gd name="adj" fmla="val 1298"/>
              </a:avLst>
            </a:prstGeom>
            <a:solidFill>
              <a:srgbClr val="FFFFFF"/>
            </a:solidFill>
            <a:ln w="8254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safeot_title" descr="Editable text; source id safeot_title"/>
            <p:cNvSpPr txBox="1"/>
            <p:nvPr/>
          </p:nvSpPr>
          <p:spPr>
            <a:xfrm>
              <a:off x="1257300" y="88900"/>
              <a:ext cx="673100" cy="1904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64"/>
                </a:lnSpc>
                <a:spcBef>
                  <a:spcPts val="0"/>
                </a:spcBef>
                <a:spcAft>
                  <a:spcPts val="0"/>
                </a:spcAft>
                <a:defRPr sz="109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09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SafeOT</a:t>
              </a:r>
            </a:p>
          </p:txBody>
        </p:sp>
        <p:sp>
          <p:nvSpPr>
            <p:cNvPr id="56" name="one_flow" descr="Editable text; source id one_flow"/>
            <p:cNvSpPr txBox="1"/>
            <p:nvPr/>
          </p:nvSpPr>
          <p:spPr>
            <a:xfrm>
              <a:off x="1993900" y="101600"/>
              <a:ext cx="1765299" cy="1650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r" fontAlgn="base">
                <a:lnSpc>
                  <a:spcPts val="1011"/>
                </a:lnSpc>
                <a:spcBef>
                  <a:spcPts val="0"/>
                </a:spcBef>
                <a:spcAft>
                  <a:spcPts val="0"/>
                </a:spcAft>
                <a:defRPr sz="87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7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One flow, all budgets</a:t>
              </a:r>
            </a:p>
          </p:txBody>
        </p:sp>
        <p:sp>
          <p:nvSpPr>
            <p:cNvPr id="57" name="budget_tab1" descr="Editable shape; source id budget_tab1"/>
            <p:cNvSpPr/>
            <p:nvPr/>
          </p:nvSpPr>
          <p:spPr>
            <a:xfrm>
              <a:off x="2667000" y="330200"/>
              <a:ext cx="317499" cy="190499"/>
            </a:xfrm>
            <a:prstGeom prst="roundRect">
              <a:avLst>
                <a:gd name="adj" fmla="val 6666"/>
              </a:avLst>
            </a:prstGeom>
            <a:solidFill>
              <a:srgbClr val="F2F7F7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budget_tab2" descr="Editable shape; source id budget_tab2"/>
            <p:cNvSpPr/>
            <p:nvPr/>
          </p:nvSpPr>
          <p:spPr>
            <a:xfrm>
              <a:off x="3022600" y="330200"/>
              <a:ext cx="317499" cy="190499"/>
            </a:xfrm>
            <a:prstGeom prst="roundRect">
              <a:avLst>
                <a:gd name="adj" fmla="val 6666"/>
              </a:avLst>
            </a:prstGeom>
            <a:solidFill>
              <a:srgbClr val="F2F7F7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budget_tabK" descr="Editable shape; source id budget_tabK"/>
            <p:cNvSpPr/>
            <p:nvPr/>
          </p:nvSpPr>
          <p:spPr>
            <a:xfrm>
              <a:off x="3378200" y="330200"/>
              <a:ext cx="317499" cy="190499"/>
            </a:xfrm>
            <a:prstGeom prst="roundRect">
              <a:avLst>
                <a:gd name="adj" fmla="val 6666"/>
              </a:avLst>
            </a:prstGeom>
            <a:solidFill>
              <a:srgbClr val="F2F7F7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projection_graph_e0_0_0" descr="Editable line; source id projection_graph_e0_0_0"/>
            <p:cNvSpPr/>
            <p:nvPr/>
          </p:nvSpPr>
          <p:spPr>
            <a:xfrm>
              <a:off x="1367386" y="631416"/>
              <a:ext cx="355095" cy="240345"/>
            </a:xfrm>
            <a:custGeom>
              <a:avLst/>
              <a:gdLst/>
              <a:ahLst/>
              <a:cxnLst/>
              <a:rect l="l" t="t" r="r" b="b"/>
              <a:pathLst>
                <a:path w="139801" h="94624">
                  <a:moveTo>
                    <a:pt x="0" y="91926"/>
                  </a:moveTo>
                  <a:lnTo>
                    <a:pt x="125197" y="7850"/>
                  </a:lnTo>
                  <a:lnTo>
                    <a:pt x="122618" y="4010"/>
                  </a:lnTo>
                  <a:lnTo>
                    <a:pt x="139801" y="0"/>
                  </a:lnTo>
                  <a:lnTo>
                    <a:pt x="129587" y="14387"/>
                  </a:lnTo>
                  <a:lnTo>
                    <a:pt x="127009" y="10548"/>
                  </a:lnTo>
                  <a:lnTo>
                    <a:pt x="1812" y="94624"/>
                  </a:lnTo>
                  <a:close/>
                </a:path>
              </a:pathLst>
            </a:custGeom>
            <a:solidFill>
              <a:srgbClr val="A0A9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projection_graph_e0_1_0" descr="Editable line; source id projection_graph_e0_1_0"/>
            <p:cNvSpPr/>
            <p:nvPr/>
          </p:nvSpPr>
          <p:spPr>
            <a:xfrm>
              <a:off x="1380307" y="655665"/>
              <a:ext cx="358457" cy="245354"/>
            </a:xfrm>
            <a:custGeom>
              <a:avLst/>
              <a:gdLst/>
              <a:ahLst/>
              <a:cxnLst/>
              <a:rect l="l" t="t" r="r" b="b"/>
              <a:pathLst>
                <a:path w="141125" h="96596">
                  <a:moveTo>
                    <a:pt x="0" y="89954"/>
                  </a:moveTo>
                  <a:lnTo>
                    <a:pt x="125197" y="5878"/>
                  </a:lnTo>
                  <a:lnTo>
                    <a:pt x="123413" y="3222"/>
                  </a:lnTo>
                  <a:lnTo>
                    <a:pt x="141125" y="0"/>
                  </a:lnTo>
                  <a:lnTo>
                    <a:pt x="131441" y="15176"/>
                  </a:lnTo>
                  <a:lnTo>
                    <a:pt x="129657" y="12520"/>
                  </a:lnTo>
                  <a:lnTo>
                    <a:pt x="4460" y="96596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projection_graph_hard_0" descr="Editable line; source id projection_graph_hard_0"/>
            <p:cNvCxnSpPr/>
            <p:nvPr/>
          </p:nvCxnSpPr>
          <p:spPr>
            <a:xfrm>
              <a:off x="1800297" y="624343"/>
              <a:ext cx="547987" cy="29441"/>
            </a:xfrm>
            <a:prstGeom prst="line">
              <a:avLst/>
            </a:prstGeom>
            <a:ln w="8890">
              <a:solidFill>
                <a:srgbClr val="B14747"/>
              </a:solidFill>
              <a:custDash>
                <a:ds d="285714" sp="25714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projection_graph_cross0_0" descr="Editable line; source id projection_graph_cross0_0"/>
            <p:cNvCxnSpPr/>
            <p:nvPr/>
          </p:nvCxnSpPr>
          <p:spPr>
            <a:xfrm>
              <a:off x="2046351" y="611124"/>
              <a:ext cx="55879" cy="55880"/>
            </a:xfrm>
            <a:prstGeom prst="line">
              <a:avLst/>
            </a:prstGeom>
            <a:ln w="12699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projection_graph_cross1_0" descr="Editable line; source id projection_graph_cross1_0"/>
            <p:cNvCxnSpPr/>
            <p:nvPr/>
          </p:nvCxnSpPr>
          <p:spPr>
            <a:xfrm flipV="1">
              <a:off x="2046351" y="611124"/>
              <a:ext cx="55879" cy="55880"/>
            </a:xfrm>
            <a:prstGeom prst="line">
              <a:avLst/>
            </a:prstGeom>
            <a:ln w="12699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projection_graph_e2_0_0" descr="Editable line; source id projection_graph_e2_0_0"/>
            <p:cNvSpPr/>
            <p:nvPr/>
          </p:nvSpPr>
          <p:spPr>
            <a:xfrm>
              <a:off x="2425428" y="653992"/>
              <a:ext cx="491957" cy="219019"/>
            </a:xfrm>
            <a:custGeom>
              <a:avLst/>
              <a:gdLst/>
              <a:ahLst/>
              <a:cxnLst/>
              <a:rect l="l" t="t" r="r" b="b"/>
              <a:pathLst>
                <a:path w="193684" h="86228">
                  <a:moveTo>
                    <a:pt x="1306" y="0"/>
                  </a:moveTo>
                  <a:lnTo>
                    <a:pt x="179229" y="78108"/>
                  </a:lnTo>
                  <a:lnTo>
                    <a:pt x="181088" y="73873"/>
                  </a:lnTo>
                  <a:lnTo>
                    <a:pt x="193684" y="86228"/>
                  </a:lnTo>
                  <a:lnTo>
                    <a:pt x="176063" y="85319"/>
                  </a:lnTo>
                  <a:lnTo>
                    <a:pt x="177922" y="81084"/>
                  </a:lnTo>
                  <a:lnTo>
                    <a:pt x="0" y="2976"/>
                  </a:lnTo>
                  <a:close/>
                </a:path>
              </a:pathLst>
            </a:custGeom>
            <a:solidFill>
              <a:srgbClr val="A0A9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projection_graph_e3_0_0" descr="Editable line; source id projection_graph_e3_0_0"/>
            <p:cNvSpPr/>
            <p:nvPr/>
          </p:nvSpPr>
          <p:spPr>
            <a:xfrm>
              <a:off x="1382883" y="909818"/>
              <a:ext cx="309847" cy="236611"/>
            </a:xfrm>
            <a:custGeom>
              <a:avLst/>
              <a:gdLst/>
              <a:ahLst/>
              <a:cxnLst/>
              <a:rect l="l" t="t" r="r" b="b"/>
              <a:pathLst>
                <a:path w="121987" h="93154">
                  <a:moveTo>
                    <a:pt x="1965" y="0"/>
                  </a:moveTo>
                  <a:lnTo>
                    <a:pt x="109828" y="81883"/>
                  </a:lnTo>
                  <a:lnTo>
                    <a:pt x="112624" y="78200"/>
                  </a:lnTo>
                  <a:lnTo>
                    <a:pt x="121987" y="93154"/>
                  </a:lnTo>
                  <a:lnTo>
                    <a:pt x="105066" y="88156"/>
                  </a:lnTo>
                  <a:lnTo>
                    <a:pt x="107863" y="84472"/>
                  </a:lnTo>
                  <a:lnTo>
                    <a:pt x="0" y="2588"/>
                  </a:lnTo>
                  <a:close/>
                </a:path>
              </a:pathLst>
            </a:custGeom>
            <a:solidFill>
              <a:srgbClr val="A0A9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projection_graph_e3_1_0" descr="Editable line; source id projection_graph_e3_1_0"/>
            <p:cNvSpPr/>
            <p:nvPr/>
          </p:nvSpPr>
          <p:spPr>
            <a:xfrm>
              <a:off x="1363876" y="931311"/>
              <a:ext cx="311193" cy="238384"/>
            </a:xfrm>
            <a:custGeom>
              <a:avLst/>
              <a:gdLst/>
              <a:ahLst/>
              <a:cxnLst/>
              <a:rect l="l" t="t" r="r" b="b"/>
              <a:pathLst>
                <a:path w="122517" h="93852">
                  <a:moveTo>
                    <a:pt x="3023" y="0"/>
                  </a:moveTo>
                  <a:lnTo>
                    <a:pt x="110886" y="81884"/>
                  </a:lnTo>
                  <a:lnTo>
                    <a:pt x="113154" y="78897"/>
                  </a:lnTo>
                  <a:lnTo>
                    <a:pt x="122517" y="93852"/>
                  </a:lnTo>
                  <a:lnTo>
                    <a:pt x="105596" y="88853"/>
                  </a:lnTo>
                  <a:lnTo>
                    <a:pt x="107863" y="85867"/>
                  </a:lnTo>
                  <a:lnTo>
                    <a:pt x="0" y="3983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projection_graph_e4_0_0" descr="Editable line; source id projection_graph_e4_0_0"/>
            <p:cNvSpPr/>
            <p:nvPr/>
          </p:nvSpPr>
          <p:spPr>
            <a:xfrm>
              <a:off x="1743154" y="985472"/>
              <a:ext cx="442354" cy="172245"/>
            </a:xfrm>
            <a:custGeom>
              <a:avLst/>
              <a:gdLst/>
              <a:ahLst/>
              <a:cxnLst/>
              <a:rect l="l" t="t" r="r" b="b"/>
              <a:pathLst>
                <a:path w="174155" h="67813">
                  <a:moveTo>
                    <a:pt x="0" y="64777"/>
                  </a:moveTo>
                  <a:lnTo>
                    <a:pt x="158161" y="4369"/>
                  </a:lnTo>
                  <a:lnTo>
                    <a:pt x="156511" y="48"/>
                  </a:lnTo>
                  <a:lnTo>
                    <a:pt x="174155" y="0"/>
                  </a:lnTo>
                  <a:lnTo>
                    <a:pt x="160971" y="11725"/>
                  </a:lnTo>
                  <a:lnTo>
                    <a:pt x="159321" y="7405"/>
                  </a:lnTo>
                  <a:lnTo>
                    <a:pt x="1160" y="67813"/>
                  </a:lnTo>
                  <a:close/>
                </a:path>
              </a:pathLst>
            </a:custGeom>
            <a:solidFill>
              <a:srgbClr val="A0A9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projection_graph_e4_1_0" descr="Editable line; source id projection_graph_e4_1_0"/>
            <p:cNvSpPr/>
            <p:nvPr/>
          </p:nvSpPr>
          <p:spPr>
            <a:xfrm>
              <a:off x="1752783" y="1012759"/>
              <a:ext cx="443146" cy="174323"/>
            </a:xfrm>
            <a:custGeom>
              <a:avLst/>
              <a:gdLst/>
              <a:ahLst/>
              <a:cxnLst/>
              <a:rect l="l" t="t" r="r" b="b"/>
              <a:pathLst>
                <a:path w="174467" h="68631">
                  <a:moveTo>
                    <a:pt x="0" y="63960"/>
                  </a:moveTo>
                  <a:lnTo>
                    <a:pt x="158161" y="3551"/>
                  </a:lnTo>
                  <a:lnTo>
                    <a:pt x="156823" y="48"/>
                  </a:lnTo>
                  <a:lnTo>
                    <a:pt x="174467" y="0"/>
                  </a:lnTo>
                  <a:lnTo>
                    <a:pt x="161283" y="11725"/>
                  </a:lnTo>
                  <a:lnTo>
                    <a:pt x="159945" y="8222"/>
                  </a:lnTo>
                  <a:lnTo>
                    <a:pt x="1784" y="68631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projection_graph_e5_0_0" descr="Editable line; source id projection_graph_e5_0_0"/>
            <p:cNvSpPr/>
            <p:nvPr/>
          </p:nvSpPr>
          <p:spPr>
            <a:xfrm>
              <a:off x="1798711" y="631033"/>
              <a:ext cx="406598" cy="319504"/>
            </a:xfrm>
            <a:custGeom>
              <a:avLst/>
              <a:gdLst/>
              <a:ahLst/>
              <a:cxnLst/>
              <a:rect l="l" t="t" r="r" b="b"/>
              <a:pathLst>
                <a:path w="160078" h="125789">
                  <a:moveTo>
                    <a:pt x="2004" y="0"/>
                  </a:moveTo>
                  <a:lnTo>
                    <a:pt x="148086" y="114339"/>
                  </a:lnTo>
                  <a:lnTo>
                    <a:pt x="150937" y="110697"/>
                  </a:lnTo>
                  <a:lnTo>
                    <a:pt x="160078" y="125789"/>
                  </a:lnTo>
                  <a:lnTo>
                    <a:pt x="143233" y="120541"/>
                  </a:lnTo>
                  <a:lnTo>
                    <a:pt x="146083" y="116899"/>
                  </a:lnTo>
                  <a:lnTo>
                    <a:pt x="0" y="2559"/>
                  </a:lnTo>
                  <a:close/>
                </a:path>
              </a:pathLst>
            </a:custGeom>
            <a:solidFill>
              <a:srgbClr val="A0A9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projection_graph_e5_1_0" descr="Editable line; source id projection_graph_e5_1_0"/>
            <p:cNvSpPr/>
            <p:nvPr/>
          </p:nvSpPr>
          <p:spPr>
            <a:xfrm>
              <a:off x="1776992" y="649282"/>
              <a:ext cx="410314" cy="324256"/>
            </a:xfrm>
            <a:custGeom>
              <a:avLst/>
              <a:gdLst/>
              <a:ahLst/>
              <a:cxnLst/>
              <a:rect l="l" t="t" r="r" b="b"/>
              <a:pathLst>
                <a:path w="161541" h="127660">
                  <a:moveTo>
                    <a:pt x="4930" y="0"/>
                  </a:moveTo>
                  <a:lnTo>
                    <a:pt x="151013" y="114340"/>
                  </a:lnTo>
                  <a:lnTo>
                    <a:pt x="152985" y="111820"/>
                  </a:lnTo>
                  <a:lnTo>
                    <a:pt x="161541" y="127660"/>
                  </a:lnTo>
                  <a:lnTo>
                    <a:pt x="144110" y="123160"/>
                  </a:lnTo>
                  <a:lnTo>
                    <a:pt x="146082" y="120640"/>
                  </a:lnTo>
                  <a:lnTo>
                    <a:pt x="0" y="6300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rojection_graph_e6_0_0" descr="Editable line; source id projection_graph_e6_0_0"/>
            <p:cNvSpPr/>
            <p:nvPr/>
          </p:nvSpPr>
          <p:spPr>
            <a:xfrm>
              <a:off x="2261989" y="880676"/>
              <a:ext cx="644878" cy="90030"/>
            </a:xfrm>
            <a:custGeom>
              <a:avLst/>
              <a:gdLst/>
              <a:ahLst/>
              <a:cxnLst/>
              <a:rect l="l" t="t" r="r" b="b"/>
              <a:pathLst>
                <a:path w="253889" h="35445">
                  <a:moveTo>
                    <a:pt x="0" y="32217"/>
                  </a:moveTo>
                  <a:lnTo>
                    <a:pt x="237312" y="4594"/>
                  </a:lnTo>
                  <a:lnTo>
                    <a:pt x="236777" y="0"/>
                  </a:lnTo>
                  <a:lnTo>
                    <a:pt x="253889" y="4300"/>
                  </a:lnTo>
                  <a:lnTo>
                    <a:pt x="238222" y="12416"/>
                  </a:lnTo>
                  <a:lnTo>
                    <a:pt x="237687" y="7822"/>
                  </a:lnTo>
                  <a:lnTo>
                    <a:pt x="375" y="35445"/>
                  </a:lnTo>
                  <a:close/>
                </a:path>
              </a:pathLst>
            </a:custGeom>
            <a:solidFill>
              <a:srgbClr val="A0A9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projection_graph_e6_1_0" descr="Editable line; source id projection_graph_e6_1_0"/>
            <p:cNvSpPr/>
            <p:nvPr/>
          </p:nvSpPr>
          <p:spPr>
            <a:xfrm>
              <a:off x="2264926" y="909688"/>
              <a:ext cx="645317" cy="93817"/>
            </a:xfrm>
            <a:custGeom>
              <a:avLst/>
              <a:gdLst/>
              <a:ahLst/>
              <a:cxnLst/>
              <a:rect l="l" t="t" r="r" b="b"/>
              <a:pathLst>
                <a:path w="254062" h="36936">
                  <a:moveTo>
                    <a:pt x="0" y="30728"/>
                  </a:moveTo>
                  <a:lnTo>
                    <a:pt x="237312" y="3104"/>
                  </a:lnTo>
                  <a:lnTo>
                    <a:pt x="236950" y="0"/>
                  </a:lnTo>
                  <a:lnTo>
                    <a:pt x="254062" y="4301"/>
                  </a:lnTo>
                  <a:lnTo>
                    <a:pt x="238396" y="12417"/>
                  </a:lnTo>
                  <a:lnTo>
                    <a:pt x="238034" y="9313"/>
                  </a:lnTo>
                  <a:lnTo>
                    <a:pt x="723" y="36936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projection_graph_e7_0_0" descr="Editable line; source id projection_graph_e7_0_0"/>
            <p:cNvSpPr/>
            <p:nvPr/>
          </p:nvSpPr>
          <p:spPr>
            <a:xfrm>
              <a:off x="2265142" y="985426"/>
              <a:ext cx="333405" cy="165819"/>
            </a:xfrm>
            <a:custGeom>
              <a:avLst/>
              <a:gdLst/>
              <a:ahLst/>
              <a:cxnLst/>
              <a:rect l="l" t="t" r="r" b="b"/>
              <a:pathLst>
                <a:path w="131262" h="65283">
                  <a:moveTo>
                    <a:pt x="1427" y="0"/>
                  </a:moveTo>
                  <a:lnTo>
                    <a:pt x="117152" y="56576"/>
                  </a:lnTo>
                  <a:lnTo>
                    <a:pt x="119183" y="52421"/>
                  </a:lnTo>
                  <a:lnTo>
                    <a:pt x="131262" y="65283"/>
                  </a:lnTo>
                  <a:lnTo>
                    <a:pt x="113693" y="63651"/>
                  </a:lnTo>
                  <a:lnTo>
                    <a:pt x="115725" y="59496"/>
                  </a:lnTo>
                  <a:lnTo>
                    <a:pt x="0" y="2919"/>
                  </a:lnTo>
                  <a:close/>
                </a:path>
              </a:pathLst>
            </a:custGeom>
            <a:solidFill>
              <a:srgbClr val="A0A9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projection_graph_e7_1_0" descr="Editable line; source id projection_graph_e7_1_0"/>
            <p:cNvSpPr/>
            <p:nvPr/>
          </p:nvSpPr>
          <p:spPr>
            <a:xfrm>
              <a:off x="2250638" y="1008243"/>
              <a:ext cx="335079" cy="169245"/>
            </a:xfrm>
            <a:custGeom>
              <a:avLst/>
              <a:gdLst/>
              <a:ahLst/>
              <a:cxnLst/>
              <a:rect l="l" t="t" r="r" b="b"/>
              <a:pathLst>
                <a:path w="131921" h="66632">
                  <a:moveTo>
                    <a:pt x="2745" y="0"/>
                  </a:moveTo>
                  <a:lnTo>
                    <a:pt x="118470" y="56577"/>
                  </a:lnTo>
                  <a:lnTo>
                    <a:pt x="119842" y="53770"/>
                  </a:lnTo>
                  <a:lnTo>
                    <a:pt x="131921" y="66632"/>
                  </a:lnTo>
                  <a:lnTo>
                    <a:pt x="114352" y="64999"/>
                  </a:lnTo>
                  <a:lnTo>
                    <a:pt x="115725" y="62192"/>
                  </a:lnTo>
                  <a:lnTo>
                    <a:pt x="0" y="5615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projection_graph_e8_0_0" descr="Editable line; source id projection_graph_e8_0_0"/>
            <p:cNvSpPr/>
            <p:nvPr/>
          </p:nvSpPr>
          <p:spPr>
            <a:xfrm>
              <a:off x="2642743" y="915754"/>
              <a:ext cx="265351" cy="232397"/>
            </a:xfrm>
            <a:custGeom>
              <a:avLst/>
              <a:gdLst/>
              <a:ahLst/>
              <a:cxnLst/>
              <a:rect l="l" t="t" r="r" b="b"/>
              <a:pathLst>
                <a:path w="104469" h="91495">
                  <a:moveTo>
                    <a:pt x="0" y="89046"/>
                  </a:moveTo>
                  <a:lnTo>
                    <a:pt x="90970" y="9628"/>
                  </a:lnTo>
                  <a:lnTo>
                    <a:pt x="87929" y="6143"/>
                  </a:lnTo>
                  <a:lnTo>
                    <a:pt x="104469" y="0"/>
                  </a:lnTo>
                  <a:lnTo>
                    <a:pt x="96149" y="15560"/>
                  </a:lnTo>
                  <a:lnTo>
                    <a:pt x="93108" y="12076"/>
                  </a:lnTo>
                  <a:lnTo>
                    <a:pt x="2137" y="91495"/>
                  </a:lnTo>
                  <a:close/>
                </a:path>
              </a:pathLst>
            </a:custGeom>
            <a:solidFill>
              <a:srgbClr val="A0A9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projection_graph_e8_1_0" descr="Editable line; source id projection_graph_e8_1_0"/>
            <p:cNvSpPr/>
            <p:nvPr/>
          </p:nvSpPr>
          <p:spPr>
            <a:xfrm>
              <a:off x="2659446" y="937758"/>
              <a:ext cx="267858" cy="235267"/>
            </a:xfrm>
            <a:custGeom>
              <a:avLst/>
              <a:gdLst/>
              <a:ahLst/>
              <a:cxnLst/>
              <a:rect l="l" t="t" r="r" b="b"/>
              <a:pathLst>
                <a:path w="105456" h="92625">
                  <a:moveTo>
                    <a:pt x="0" y="87917"/>
                  </a:moveTo>
                  <a:lnTo>
                    <a:pt x="90971" y="8498"/>
                  </a:lnTo>
                  <a:lnTo>
                    <a:pt x="88916" y="6144"/>
                  </a:lnTo>
                  <a:lnTo>
                    <a:pt x="105456" y="0"/>
                  </a:lnTo>
                  <a:lnTo>
                    <a:pt x="97136" y="15560"/>
                  </a:lnTo>
                  <a:lnTo>
                    <a:pt x="95081" y="13206"/>
                  </a:lnTo>
                  <a:lnTo>
                    <a:pt x="4110" y="92625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projection_graph_n0" descr="Editable shape; source id projection_graph_n0"/>
            <p:cNvSpPr/>
            <p:nvPr/>
          </p:nvSpPr>
          <p:spPr>
            <a:xfrm>
              <a:off x="1308100" y="863600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projection_graph_n1" descr="Editable shape; source id projection_graph_n1"/>
            <p:cNvSpPr/>
            <p:nvPr/>
          </p:nvSpPr>
          <p:spPr>
            <a:xfrm>
              <a:off x="1724152" y="584200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projection_graph_n2" descr="Editable shape; source id projection_graph_n2"/>
            <p:cNvSpPr/>
            <p:nvPr/>
          </p:nvSpPr>
          <p:spPr>
            <a:xfrm>
              <a:off x="2348230" y="617728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projection_graph_n3" descr="Editable shape; source id projection_graph_n3"/>
            <p:cNvSpPr/>
            <p:nvPr/>
          </p:nvSpPr>
          <p:spPr>
            <a:xfrm>
              <a:off x="2908300" y="863600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projection_graph_n4" descr="Editable shape; source id projection_graph_n4"/>
            <p:cNvSpPr/>
            <p:nvPr/>
          </p:nvSpPr>
          <p:spPr>
            <a:xfrm>
              <a:off x="1676146" y="1143000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projection_graph_n5" descr="Editable shape; source id projection_graph_n5"/>
            <p:cNvSpPr/>
            <p:nvPr/>
          </p:nvSpPr>
          <p:spPr>
            <a:xfrm>
              <a:off x="2188210" y="947420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projection_graph_n6" descr="Editable shape; source id projection_graph_n6"/>
            <p:cNvSpPr/>
            <p:nvPr/>
          </p:nvSpPr>
          <p:spPr>
            <a:xfrm>
              <a:off x="2588260" y="1143000"/>
              <a:ext cx="76200" cy="76200"/>
            </a:xfrm>
            <a:prstGeom prst="ellipse">
              <a:avLst/>
            </a:prstGeom>
            <a:solidFill>
              <a:srgbClr val="E8F2F4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legend_states" descr="Editable text; source id legend_states"/>
            <p:cNvSpPr txBox="1"/>
            <p:nvPr/>
          </p:nvSpPr>
          <p:spPr>
            <a:xfrm>
              <a:off x="3073400" y="558800"/>
              <a:ext cx="7365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state clusters</a:t>
              </a:r>
            </a:p>
          </p:txBody>
        </p:sp>
        <p:sp>
          <p:nvSpPr>
            <p:cNvPr id="86" name="observed_key_0" descr="Editable line; source id observed_key_0"/>
            <p:cNvSpPr/>
            <p:nvPr/>
          </p:nvSpPr>
          <p:spPr>
            <a:xfrm>
              <a:off x="3111500" y="784225"/>
              <a:ext cx="114300" cy="31750"/>
            </a:xfrm>
            <a:custGeom>
              <a:avLst/>
              <a:gdLst/>
              <a:ahLst/>
              <a:cxnLst/>
              <a:rect l="l" t="t" r="r" b="b"/>
              <a:pathLst>
                <a:path w="45000" h="12500">
                  <a:moveTo>
                    <a:pt x="0" y="4625"/>
                  </a:moveTo>
                  <a:lnTo>
                    <a:pt x="28500" y="4625"/>
                  </a:lnTo>
                  <a:lnTo>
                    <a:pt x="28500" y="0"/>
                  </a:lnTo>
                  <a:lnTo>
                    <a:pt x="45000" y="6250"/>
                  </a:lnTo>
                  <a:lnTo>
                    <a:pt x="28500" y="12500"/>
                  </a:lnTo>
                  <a:lnTo>
                    <a:pt x="28500" y="7875"/>
                  </a:lnTo>
                  <a:lnTo>
                    <a:pt x="0" y="7875"/>
                  </a:lnTo>
                  <a:close/>
                </a:path>
              </a:pathLst>
            </a:custGeom>
            <a:solidFill>
              <a:srgbClr val="A0A9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bserved_text" descr="Editable text; source id observed_text"/>
            <p:cNvSpPr txBox="1"/>
            <p:nvPr/>
          </p:nvSpPr>
          <p:spPr>
            <a:xfrm>
              <a:off x="3263900" y="736600"/>
              <a:ext cx="520700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observed</a:t>
              </a:r>
            </a:p>
          </p:txBody>
        </p:sp>
        <p:sp>
          <p:nvSpPr>
            <p:cNvPr id="88" name="target_key_0" descr="Editable line; source id target_key_0"/>
            <p:cNvSpPr/>
            <p:nvPr/>
          </p:nvSpPr>
          <p:spPr>
            <a:xfrm>
              <a:off x="3111500" y="972312"/>
              <a:ext cx="114300" cy="36576"/>
            </a:xfrm>
            <a:custGeom>
              <a:avLst/>
              <a:gdLst/>
              <a:ahLst/>
              <a:cxnLst/>
              <a:rect l="l" t="t" r="r" b="b"/>
              <a:pathLst>
                <a:path w="45000" h="14400">
                  <a:moveTo>
                    <a:pt x="0" y="3200"/>
                  </a:moveTo>
                  <a:lnTo>
                    <a:pt x="28500" y="3200"/>
                  </a:lnTo>
                  <a:lnTo>
                    <a:pt x="28500" y="0"/>
                  </a:lnTo>
                  <a:lnTo>
                    <a:pt x="45000" y="7200"/>
                  </a:lnTo>
                  <a:lnTo>
                    <a:pt x="28500" y="14400"/>
                  </a:lnTo>
                  <a:lnTo>
                    <a:pt x="28500" y="11200"/>
                  </a:lnTo>
                  <a:lnTo>
                    <a:pt x="0" y="11200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arget_text" descr="Editable text; source id target_text"/>
            <p:cNvSpPr txBox="1"/>
            <p:nvPr/>
          </p:nvSpPr>
          <p:spPr>
            <a:xfrm>
              <a:off x="3263900" y="927100"/>
              <a:ext cx="520700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target</a:t>
              </a:r>
            </a:p>
          </p:txBody>
        </p:sp>
        <p:cxnSp>
          <p:nvCxnSpPr>
            <p:cNvPr id="90" name="excluded_key_0" descr="Editable line; source id excluded_key_0"/>
            <p:cNvCxnSpPr/>
            <p:nvPr/>
          </p:nvCxnSpPr>
          <p:spPr>
            <a:xfrm>
              <a:off x="3111500" y="1168400"/>
              <a:ext cx="101600" cy="0"/>
            </a:xfrm>
            <a:prstGeom prst="line">
              <a:avLst/>
            </a:prstGeom>
            <a:ln w="8254">
              <a:solidFill>
                <a:srgbClr val="B14747"/>
              </a:solidFill>
              <a:custDash>
                <a:ds d="307692" sp="27692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excluded_text" descr="Editable text; source id excluded_text"/>
            <p:cNvSpPr txBox="1"/>
            <p:nvPr/>
          </p:nvSpPr>
          <p:spPr>
            <a:xfrm>
              <a:off x="3263900" y="1104900"/>
              <a:ext cx="520700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B14747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B14747"/>
                  </a:solidFill>
                  <a:latin typeface="Liberation Sans"/>
                  <a:ea typeface="Liberation Sans"/>
                  <a:cs typeface="Liberation Sans"/>
                </a:rPr>
                <a:t>excluded</a:t>
              </a:r>
            </a:p>
          </p:txBody>
        </p:sp>
        <p:sp>
          <p:nvSpPr>
            <p:cNvPr id="92" name="projection" descr="Editable text; source id projection"/>
            <p:cNvSpPr txBox="1"/>
            <p:nvPr/>
          </p:nvSpPr>
          <p:spPr>
            <a:xfrm>
              <a:off x="1244600" y="1270000"/>
              <a:ext cx="1193799" cy="1524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965"/>
                </a:lnSpc>
                <a:spcBef>
                  <a:spcPts val="0"/>
                </a:spcBef>
                <a:spcAft>
                  <a:spcPts val="0"/>
                </a:spcAft>
                <a:defRPr sz="83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3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Entropic projection</a:t>
              </a:r>
            </a:p>
          </p:txBody>
        </p:sp>
        <p:sp>
          <p:nvSpPr>
            <p:cNvPr id="93" name="projection_duals_0" descr="Editable line; source id projection_duals_0"/>
            <p:cNvSpPr/>
            <p:nvPr/>
          </p:nvSpPr>
          <p:spPr>
            <a:xfrm>
              <a:off x="2260600" y="1343025"/>
              <a:ext cx="190500" cy="31750"/>
            </a:xfrm>
            <a:custGeom>
              <a:avLst/>
              <a:gdLst/>
              <a:ahLst/>
              <a:cxnLst/>
              <a:rect l="l" t="t" r="r" b="b"/>
              <a:pathLst>
                <a:path w="75000" h="12500">
                  <a:moveTo>
                    <a:pt x="0" y="4375"/>
                  </a:moveTo>
                  <a:lnTo>
                    <a:pt x="58500" y="4375"/>
                  </a:lnTo>
                  <a:lnTo>
                    <a:pt x="58500" y="0"/>
                  </a:lnTo>
                  <a:lnTo>
                    <a:pt x="75000" y="6250"/>
                  </a:lnTo>
                  <a:lnTo>
                    <a:pt x="58500" y="12500"/>
                  </a:lnTo>
                  <a:lnTo>
                    <a:pt x="58500" y="8125"/>
                  </a:lnTo>
                  <a:lnTo>
                    <a:pt x="0" y="8125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aw_filter_0" descr="Editable line; source id raw_filter_0"/>
            <p:cNvSpPr/>
            <p:nvPr/>
          </p:nvSpPr>
          <p:spPr>
            <a:xfrm>
              <a:off x="2768600" y="1343025"/>
              <a:ext cx="101600" cy="31750"/>
            </a:xfrm>
            <a:custGeom>
              <a:avLst/>
              <a:gdLst/>
              <a:ahLst/>
              <a:cxnLst/>
              <a:rect l="l" t="t" r="r" b="b"/>
              <a:pathLst>
                <a:path w="40000" h="12500">
                  <a:moveTo>
                    <a:pt x="0" y="4375"/>
                  </a:moveTo>
                  <a:lnTo>
                    <a:pt x="23500" y="4375"/>
                  </a:lnTo>
                  <a:lnTo>
                    <a:pt x="23500" y="0"/>
                  </a:lnTo>
                  <a:lnTo>
                    <a:pt x="40000" y="6250"/>
                  </a:lnTo>
                  <a:lnTo>
                    <a:pt x="23500" y="12500"/>
                  </a:lnTo>
                  <a:lnTo>
                    <a:pt x="23500" y="8125"/>
                  </a:lnTo>
                  <a:lnTo>
                    <a:pt x="0" y="8125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filter" descr="Editable text; source id filter"/>
            <p:cNvSpPr txBox="1"/>
            <p:nvPr/>
          </p:nvSpPr>
          <p:spPr>
            <a:xfrm>
              <a:off x="2895600" y="1282700"/>
              <a:ext cx="8889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clip + EMA</a:t>
              </a:r>
            </a:p>
          </p:txBody>
        </p:sp>
        <p:sp>
          <p:nvSpPr>
            <p:cNvPr id="96" name="before_violation" descr="Editable text; source id before_violation"/>
            <p:cNvSpPr txBox="1"/>
            <p:nvPr/>
          </p:nvSpPr>
          <p:spPr>
            <a:xfrm>
              <a:off x="1257300" y="1422400"/>
              <a:ext cx="1473199" cy="126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can price before violation</a:t>
              </a:r>
            </a:p>
          </p:txBody>
        </p:sp>
        <p:sp>
          <p:nvSpPr>
            <p:cNvPr id="97" name="feedback" descr="Editable text; source id feedback"/>
            <p:cNvSpPr txBox="1"/>
            <p:nvPr/>
          </p:nvSpPr>
          <p:spPr>
            <a:xfrm>
              <a:off x="1244600" y="1587500"/>
              <a:ext cx="1193799" cy="126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B86C2B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B86C2B"/>
                  </a:solidFill>
                  <a:latin typeface="Liberation Sans"/>
                  <a:ea typeface="Liberation Sans"/>
                  <a:cs typeface="Liberation Sans"/>
                </a:rPr>
                <a:t>observed-cost feedback</a:t>
              </a:r>
            </a:p>
          </p:txBody>
        </p:sp>
        <p:sp>
          <p:nvSpPr>
            <p:cNvPr id="98" name="feedback_price_0" descr="Editable line; source id feedback_price_0"/>
            <p:cNvSpPr/>
            <p:nvPr/>
          </p:nvSpPr>
          <p:spPr>
            <a:xfrm>
              <a:off x="2120900" y="1812925"/>
              <a:ext cx="228600" cy="31750"/>
            </a:xfrm>
            <a:custGeom>
              <a:avLst/>
              <a:gdLst/>
              <a:ahLst/>
              <a:cxnLst/>
              <a:rect l="l" t="t" r="r" b="b"/>
              <a:pathLst>
                <a:path w="90000" h="12500">
                  <a:moveTo>
                    <a:pt x="0" y="4375"/>
                  </a:moveTo>
                  <a:lnTo>
                    <a:pt x="73500" y="4375"/>
                  </a:lnTo>
                  <a:lnTo>
                    <a:pt x="73500" y="0"/>
                  </a:lnTo>
                  <a:lnTo>
                    <a:pt x="90000" y="6250"/>
                  </a:lnTo>
                  <a:lnTo>
                    <a:pt x="73500" y="12500"/>
                  </a:lnTo>
                  <a:lnTo>
                    <a:pt x="73500" y="8125"/>
                  </a:lnTo>
                  <a:lnTo>
                    <a:pt x="0" y="8125"/>
                  </a:lnTo>
                  <a:close/>
                </a:path>
              </a:pathLst>
            </a:custGeom>
            <a:solidFill>
              <a:srgbClr val="B86C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9" name="filter_to_price_0" descr="Editable line; source id filter_to_price_0"/>
            <p:cNvCxnSpPr/>
            <p:nvPr/>
          </p:nvCxnSpPr>
          <p:spPr>
            <a:xfrm>
              <a:off x="3708400" y="1422400"/>
              <a:ext cx="88900" cy="0"/>
            </a:xfrm>
            <a:prstGeom prst="line">
              <a:avLst/>
            </a:prstGeom>
            <a:ln w="8890">
              <a:solidFill>
                <a:srgbClr val="126D6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filter_to_price_1" descr="Editable line; source id filter_to_price_1"/>
            <p:cNvCxnSpPr/>
            <p:nvPr/>
          </p:nvCxnSpPr>
          <p:spPr>
            <a:xfrm>
              <a:off x="3797300" y="1422400"/>
              <a:ext cx="0" cy="330200"/>
            </a:xfrm>
            <a:prstGeom prst="line">
              <a:avLst/>
            </a:prstGeom>
            <a:ln w="8890">
              <a:solidFill>
                <a:srgbClr val="126D6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filter_to_price_2" descr="Editable line; source id filter_to_price_2"/>
            <p:cNvSpPr/>
            <p:nvPr/>
          </p:nvSpPr>
          <p:spPr>
            <a:xfrm>
              <a:off x="3733800" y="1736725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25000" h="12500">
                  <a:moveTo>
                    <a:pt x="25000" y="8000"/>
                  </a:moveTo>
                  <a:lnTo>
                    <a:pt x="16250" y="8000"/>
                  </a:lnTo>
                  <a:lnTo>
                    <a:pt x="16250" y="12500"/>
                  </a:lnTo>
                  <a:lnTo>
                    <a:pt x="0" y="6250"/>
                  </a:lnTo>
                  <a:lnTo>
                    <a:pt x="16250" y="0"/>
                  </a:lnTo>
                  <a:lnTo>
                    <a:pt x="16250" y="4500"/>
                  </a:lnTo>
                  <a:lnTo>
                    <a:pt x="25000" y="4500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67" name="budgets"/>
            <p:cNvGrpSpPr/>
            <p:nvPr/>
          </p:nvGrpSpPr>
          <p:grpSpPr>
            <a:xfrm>
              <a:off x="1439279" y="365478"/>
              <a:ext cx="973121" cy="119550"/>
              <a:chOff x="1439279" y="365478"/>
              <a:chExt cx="973121" cy="119550"/>
            </a:xfrm>
          </p:grpSpPr>
          <p:sp>
            <p:nvSpPr>
              <p:cNvPr id="168" name="budgets_outline_0"/>
              <p:cNvSpPr/>
              <p:nvPr/>
            </p:nvSpPr>
            <p:spPr>
              <a:xfrm>
                <a:off x="1439279" y="365478"/>
                <a:ext cx="349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119551"/>
                    </a:moveTo>
                    <a:lnTo>
                      <a:pt x="9164" y="59773"/>
                    </a:lnTo>
                    <a:lnTo>
                      <a:pt x="34933" y="0"/>
                    </a:lnTo>
                    <a:lnTo>
                      <a:pt x="28559" y="0"/>
                    </a:lnTo>
                    <a:lnTo>
                      <a:pt x="0" y="59773"/>
                    </a:lnTo>
                    <a:lnTo>
                      <a:pt x="28559" y="119551"/>
                    </a:lnTo>
                    <a:lnTo>
                      <a:pt x="34933" y="11955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budgets_outline_1"/>
              <p:cNvSpPr/>
              <p:nvPr/>
            </p:nvSpPr>
            <p:spPr>
              <a:xfrm>
                <a:off x="1487504" y="370923"/>
                <a:ext cx="82756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3" y="71064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4" y="84880"/>
                    </a:cubicBezTo>
                    <a:cubicBezTo>
                      <a:pt x="23380" y="84880"/>
                      <a:pt x="14879" y="74918"/>
                      <a:pt x="14879" y="57650"/>
                    </a:cubicBezTo>
                    <a:cubicBezTo>
                      <a:pt x="14879" y="41842"/>
                      <a:pt x="21253" y="25769"/>
                      <a:pt x="31615" y="15010"/>
                    </a:cubicBezTo>
                    <a:cubicBezTo>
                      <a:pt x="37993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50" y="26301"/>
                    </a:cubicBezTo>
                    <a:lnTo>
                      <a:pt x="77843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8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3" y="0"/>
                      <a:pt x="53931" y="0"/>
                    </a:cubicBezTo>
                    <a:cubicBezTo>
                      <a:pt x="25503" y="0"/>
                      <a:pt x="0" y="26567"/>
                      <a:pt x="0" y="56189"/>
                    </a:cubicBezTo>
                    <a:cubicBezTo>
                      <a:pt x="0" y="76513"/>
                      <a:pt x="14347" y="90857"/>
                      <a:pt x="34671" y="90857"/>
                    </a:cubicBezTo>
                    <a:cubicBezTo>
                      <a:pt x="48351" y="90857"/>
                      <a:pt x="58980" y="85146"/>
                      <a:pt x="70933" y="7106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budgets_outline_2"/>
              <p:cNvSpPr/>
              <p:nvPr/>
            </p:nvSpPr>
            <p:spPr>
              <a:xfrm>
                <a:off x="1573677" y="41168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budgets_outline_3"/>
              <p:cNvSpPr/>
              <p:nvPr/>
            </p:nvSpPr>
            <p:spPr>
              <a:xfrm>
                <a:off x="1642791" y="445841"/>
                <a:ext cx="18466" cy="32277"/>
              </a:xfrm>
              <a:custGeom>
                <a:avLst/>
                <a:gdLst/>
                <a:ahLst/>
                <a:cxnLst/>
                <a:rect l="0" t="0" r="r" b="b"/>
                <a:pathLst>
                  <a:path w="18467" h="32278">
                    <a:moveTo>
                      <a:pt x="18467" y="12752"/>
                    </a:moveTo>
                    <a:cubicBezTo>
                      <a:pt x="18467" y="1726"/>
                      <a:pt x="10759" y="0"/>
                      <a:pt x="7707" y="0"/>
                    </a:cubicBezTo>
                    <a:cubicBezTo>
                      <a:pt x="4385" y="0"/>
                      <a:pt x="0" y="1992"/>
                      <a:pt x="0" y="7703"/>
                    </a:cubicBezTo>
                    <a:cubicBezTo>
                      <a:pt x="0" y="13017"/>
                      <a:pt x="4782" y="14347"/>
                      <a:pt x="8235" y="14347"/>
                    </a:cubicBezTo>
                    <a:cubicBezTo>
                      <a:pt x="9168" y="14347"/>
                      <a:pt x="9831" y="14212"/>
                      <a:pt x="10231" y="14081"/>
                    </a:cubicBezTo>
                    <a:cubicBezTo>
                      <a:pt x="10759" y="13946"/>
                      <a:pt x="11160" y="13815"/>
                      <a:pt x="11426" y="13815"/>
                    </a:cubicBezTo>
                    <a:cubicBezTo>
                      <a:pt x="12355" y="13815"/>
                      <a:pt x="13283" y="14478"/>
                      <a:pt x="13283" y="15677"/>
                    </a:cubicBezTo>
                    <a:cubicBezTo>
                      <a:pt x="13283" y="18197"/>
                      <a:pt x="11160" y="24178"/>
                      <a:pt x="2393" y="29754"/>
                    </a:cubicBezTo>
                    <a:lnTo>
                      <a:pt x="3588" y="32278"/>
                    </a:lnTo>
                    <a:cubicBezTo>
                      <a:pt x="7572" y="30952"/>
                      <a:pt x="18467" y="22185"/>
                      <a:pt x="18467" y="1275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budgets_outline_4"/>
              <p:cNvSpPr/>
              <p:nvPr/>
            </p:nvSpPr>
            <p:spPr>
              <a:xfrm>
                <a:off x="1697105" y="372650"/>
                <a:ext cx="84614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8"/>
                    </a:cubicBezTo>
                    <a:cubicBezTo>
                      <a:pt x="28690" y="9565"/>
                      <a:pt x="28158" y="12752"/>
                      <a:pt x="27230" y="16074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3" y="86741"/>
                    </a:lnTo>
                    <a:lnTo>
                      <a:pt x="33473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4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0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1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2"/>
                      <a:pt x="50875" y="4382"/>
                    </a:cubicBezTo>
                    <a:cubicBezTo>
                      <a:pt x="73322" y="4382"/>
                      <a:pt x="77974" y="6112"/>
                      <a:pt x="77974" y="14478"/>
                    </a:cubicBezTo>
                    <a:cubicBezTo>
                      <a:pt x="77974" y="15411"/>
                      <a:pt x="77974" y="15939"/>
                      <a:pt x="77839" y="17534"/>
                    </a:cubicBezTo>
                    <a:cubicBezTo>
                      <a:pt x="77708" y="18463"/>
                      <a:pt x="77708" y="18995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budgets_outline_5"/>
              <p:cNvSpPr/>
              <p:nvPr/>
            </p:nvSpPr>
            <p:spPr>
              <a:xfrm>
                <a:off x="1792467" y="365478"/>
                <a:ext cx="349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59773"/>
                    </a:moveTo>
                    <a:lnTo>
                      <a:pt x="6374" y="0"/>
                    </a:lnTo>
                    <a:lnTo>
                      <a:pt x="0" y="0"/>
                    </a:lnTo>
                    <a:lnTo>
                      <a:pt x="25769" y="59773"/>
                    </a:lnTo>
                    <a:lnTo>
                      <a:pt x="0" y="119551"/>
                    </a:lnTo>
                    <a:lnTo>
                      <a:pt x="6374" y="119551"/>
                    </a:lnTo>
                    <a:lnTo>
                      <a:pt x="34933" y="59773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budgets_outline_6"/>
              <p:cNvSpPr/>
              <p:nvPr/>
            </p:nvSpPr>
            <p:spPr>
              <a:xfrm>
                <a:off x="1884525" y="383143"/>
                <a:ext cx="68011" cy="83951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83951">
                    <a:moveTo>
                      <a:pt x="68012" y="66683"/>
                    </a:moveTo>
                    <a:lnTo>
                      <a:pt x="68012" y="59246"/>
                    </a:lnTo>
                    <a:lnTo>
                      <a:pt x="12752" y="33342"/>
                    </a:lnTo>
                    <a:lnTo>
                      <a:pt x="68012" y="7438"/>
                    </a:lnTo>
                    <a:lnTo>
                      <a:pt x="68012" y="0"/>
                    </a:lnTo>
                    <a:lnTo>
                      <a:pt x="0" y="32147"/>
                    </a:lnTo>
                    <a:lnTo>
                      <a:pt x="0" y="34802"/>
                    </a:lnTo>
                    <a:lnTo>
                      <a:pt x="68012" y="66683"/>
                    </a:lnTo>
                    <a:close/>
                    <a:moveTo>
                      <a:pt x="68012" y="83951"/>
                    </a:moveTo>
                    <a:lnTo>
                      <a:pt x="68012" y="76910"/>
                    </a:lnTo>
                    <a:lnTo>
                      <a:pt x="0" y="76910"/>
                    </a:lnTo>
                    <a:lnTo>
                      <a:pt x="0" y="83951"/>
                    </a:lnTo>
                    <a:lnTo>
                      <a:pt x="68012" y="8395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budgets_outline_7"/>
              <p:cNvSpPr/>
              <p:nvPr/>
            </p:nvSpPr>
            <p:spPr>
              <a:xfrm>
                <a:off x="2003915" y="368665"/>
                <a:ext cx="59773" cy="92186"/>
              </a:xfrm>
              <a:custGeom>
                <a:avLst/>
                <a:gdLst/>
                <a:ahLst/>
                <a:cxnLst/>
                <a:rect l="0" t="0" r="r" b="b"/>
                <a:pathLst>
                  <a:path w="59773" h="92186">
                    <a:moveTo>
                      <a:pt x="59773" y="48085"/>
                    </a:moveTo>
                    <a:cubicBezTo>
                      <a:pt x="59773" y="38787"/>
                      <a:pt x="53265" y="32147"/>
                      <a:pt x="44367" y="32147"/>
                    </a:cubicBezTo>
                    <a:cubicBezTo>
                      <a:pt x="35068" y="32147"/>
                      <a:pt x="28158" y="37592"/>
                      <a:pt x="18729" y="52205"/>
                    </a:cubicBezTo>
                    <a:lnTo>
                      <a:pt x="32544" y="663"/>
                    </a:lnTo>
                    <a:lnTo>
                      <a:pt x="31881" y="0"/>
                    </a:lnTo>
                    <a:cubicBezTo>
                      <a:pt x="25237" y="1195"/>
                      <a:pt x="20455" y="1992"/>
                      <a:pt x="11557" y="3056"/>
                    </a:cubicBezTo>
                    <a:lnTo>
                      <a:pt x="11557" y="5314"/>
                    </a:lnTo>
                    <a:cubicBezTo>
                      <a:pt x="19391" y="5580"/>
                      <a:pt x="20189" y="5977"/>
                      <a:pt x="20189" y="8898"/>
                    </a:cubicBezTo>
                    <a:cubicBezTo>
                      <a:pt x="20189" y="10096"/>
                      <a:pt x="19923" y="11557"/>
                      <a:pt x="18995" y="14613"/>
                    </a:cubicBezTo>
                    <a:lnTo>
                      <a:pt x="18332" y="17137"/>
                    </a:lnTo>
                    <a:lnTo>
                      <a:pt x="18066" y="18066"/>
                    </a:lnTo>
                    <a:lnTo>
                      <a:pt x="0" y="84614"/>
                    </a:lnTo>
                    <a:lnTo>
                      <a:pt x="0" y="85146"/>
                    </a:lnTo>
                    <a:cubicBezTo>
                      <a:pt x="0" y="88202"/>
                      <a:pt x="10097" y="92186"/>
                      <a:pt x="17665" y="92186"/>
                    </a:cubicBezTo>
                    <a:cubicBezTo>
                      <a:pt x="37723" y="92186"/>
                      <a:pt x="59773" y="69072"/>
                      <a:pt x="59773" y="48085"/>
                    </a:cubicBezTo>
                    <a:close/>
                    <a:moveTo>
                      <a:pt x="48482" y="50078"/>
                    </a:moveTo>
                    <a:cubicBezTo>
                      <a:pt x="48482" y="58845"/>
                      <a:pt x="41843" y="73057"/>
                      <a:pt x="33873" y="81296"/>
                    </a:cubicBezTo>
                    <a:cubicBezTo>
                      <a:pt x="28956" y="86340"/>
                      <a:pt x="23245" y="89130"/>
                      <a:pt x="17534" y="89130"/>
                    </a:cubicBezTo>
                    <a:cubicBezTo>
                      <a:pt x="13414" y="89130"/>
                      <a:pt x="11422" y="87670"/>
                      <a:pt x="11422" y="84614"/>
                    </a:cubicBezTo>
                    <a:cubicBezTo>
                      <a:pt x="11422" y="76644"/>
                      <a:pt x="15407" y="63893"/>
                      <a:pt x="20987" y="53931"/>
                    </a:cubicBezTo>
                    <a:cubicBezTo>
                      <a:pt x="26833" y="43704"/>
                      <a:pt x="32810" y="38656"/>
                      <a:pt x="39188" y="38656"/>
                    </a:cubicBezTo>
                    <a:cubicBezTo>
                      <a:pt x="45030" y="38656"/>
                      <a:pt x="48482" y="43037"/>
                      <a:pt x="48482" y="5007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budgets_outline_8"/>
              <p:cNvSpPr/>
              <p:nvPr/>
            </p:nvSpPr>
            <p:spPr>
              <a:xfrm>
                <a:off x="2078527" y="41168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budgets_outline_9"/>
              <p:cNvSpPr/>
              <p:nvPr/>
            </p:nvSpPr>
            <p:spPr>
              <a:xfrm>
                <a:off x="2273713" y="371320"/>
                <a:ext cx="71330" cy="89931"/>
              </a:xfrm>
              <a:custGeom>
                <a:avLst/>
                <a:gdLst/>
                <a:ahLst/>
                <a:cxnLst/>
                <a:rect l="0" t="0" r="r" b="b"/>
                <a:pathLst>
                  <a:path w="71330" h="89932">
                    <a:moveTo>
                      <a:pt x="71330" y="135"/>
                    </a:moveTo>
                    <a:lnTo>
                      <a:pt x="63496" y="0"/>
                    </a:lnTo>
                    <a:lnTo>
                      <a:pt x="49280" y="35866"/>
                    </a:lnTo>
                    <a:lnTo>
                      <a:pt x="21784" y="35866"/>
                    </a:lnTo>
                    <a:lnTo>
                      <a:pt x="7969" y="135"/>
                    </a:lnTo>
                    <a:lnTo>
                      <a:pt x="0" y="135"/>
                    </a:lnTo>
                    <a:lnTo>
                      <a:pt x="33738" y="89932"/>
                    </a:lnTo>
                    <a:lnTo>
                      <a:pt x="35866" y="89932"/>
                    </a:lnTo>
                    <a:lnTo>
                      <a:pt x="71330" y="135"/>
                    </a:lnTo>
                    <a:close/>
                    <a:moveTo>
                      <a:pt x="46756" y="42640"/>
                    </a:moveTo>
                    <a:lnTo>
                      <a:pt x="35199" y="72263"/>
                    </a:lnTo>
                    <a:lnTo>
                      <a:pt x="24043" y="42640"/>
                    </a:lnTo>
                    <a:lnTo>
                      <a:pt x="46756" y="42640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budgets_outline_10"/>
              <p:cNvSpPr/>
              <p:nvPr/>
            </p:nvSpPr>
            <p:spPr>
              <a:xfrm>
                <a:off x="2353024" y="368665"/>
                <a:ext cx="59376" cy="92186"/>
              </a:xfrm>
              <a:custGeom>
                <a:avLst/>
                <a:gdLst/>
                <a:ahLst/>
                <a:cxnLst/>
                <a:rect l="0" t="0" r="r" b="b"/>
                <a:pathLst>
                  <a:path w="59376" h="92186">
                    <a:moveTo>
                      <a:pt x="55126" y="77708"/>
                    </a:moveTo>
                    <a:lnTo>
                      <a:pt x="53134" y="76248"/>
                    </a:lnTo>
                    <a:cubicBezTo>
                      <a:pt x="52467" y="77442"/>
                      <a:pt x="51804" y="78637"/>
                      <a:pt x="51141" y="79700"/>
                    </a:cubicBezTo>
                    <a:cubicBezTo>
                      <a:pt x="48748" y="83820"/>
                      <a:pt x="47153" y="85281"/>
                      <a:pt x="45160" y="85281"/>
                    </a:cubicBezTo>
                    <a:cubicBezTo>
                      <a:pt x="42374" y="85281"/>
                      <a:pt x="39715" y="81030"/>
                      <a:pt x="34401" y="68144"/>
                    </a:cubicBezTo>
                    <a:lnTo>
                      <a:pt x="29488" y="56456"/>
                    </a:lnTo>
                    <a:cubicBezTo>
                      <a:pt x="49014" y="39052"/>
                      <a:pt x="53134" y="36397"/>
                      <a:pt x="59376" y="35997"/>
                    </a:cubicBezTo>
                    <a:lnTo>
                      <a:pt x="59376" y="33873"/>
                    </a:lnTo>
                    <a:lnTo>
                      <a:pt x="35068" y="33873"/>
                    </a:lnTo>
                    <a:lnTo>
                      <a:pt x="35068" y="35997"/>
                    </a:lnTo>
                    <a:lnTo>
                      <a:pt x="37191" y="35997"/>
                    </a:lnTo>
                    <a:cubicBezTo>
                      <a:pt x="40513" y="35997"/>
                      <a:pt x="42374" y="36929"/>
                      <a:pt x="42374" y="38390"/>
                    </a:cubicBezTo>
                    <a:cubicBezTo>
                      <a:pt x="42374" y="41045"/>
                      <a:pt x="35866" y="47423"/>
                      <a:pt x="23376" y="56987"/>
                    </a:cubicBezTo>
                    <a:lnTo>
                      <a:pt x="17665" y="61369"/>
                    </a:lnTo>
                    <a:lnTo>
                      <a:pt x="33607" y="663"/>
                    </a:lnTo>
                    <a:lnTo>
                      <a:pt x="32941" y="0"/>
                    </a:lnTo>
                    <a:cubicBezTo>
                      <a:pt x="25102" y="1726"/>
                      <a:pt x="20058" y="2655"/>
                      <a:pt x="12220" y="3588"/>
                    </a:cubicBezTo>
                    <a:lnTo>
                      <a:pt x="12220" y="5711"/>
                    </a:lnTo>
                    <a:lnTo>
                      <a:pt x="14478" y="5711"/>
                    </a:lnTo>
                    <a:cubicBezTo>
                      <a:pt x="18994" y="5711"/>
                      <a:pt x="20987" y="6640"/>
                      <a:pt x="21253" y="9033"/>
                    </a:cubicBezTo>
                    <a:cubicBezTo>
                      <a:pt x="20987" y="11291"/>
                      <a:pt x="20189" y="14744"/>
                      <a:pt x="18328" y="20987"/>
                    </a:cubicBezTo>
                    <a:lnTo>
                      <a:pt x="17133" y="25372"/>
                    </a:lnTo>
                    <a:lnTo>
                      <a:pt x="16867" y="26567"/>
                    </a:lnTo>
                    <a:lnTo>
                      <a:pt x="0" y="90726"/>
                    </a:lnTo>
                    <a:lnTo>
                      <a:pt x="9962" y="90726"/>
                    </a:lnTo>
                    <a:lnTo>
                      <a:pt x="16335" y="66814"/>
                    </a:lnTo>
                    <a:lnTo>
                      <a:pt x="21915" y="62563"/>
                    </a:lnTo>
                    <a:cubicBezTo>
                      <a:pt x="24043" y="68409"/>
                      <a:pt x="27496" y="76644"/>
                      <a:pt x="29885" y="81296"/>
                    </a:cubicBezTo>
                    <a:cubicBezTo>
                      <a:pt x="34135" y="89662"/>
                      <a:pt x="36528" y="92186"/>
                      <a:pt x="40382" y="92186"/>
                    </a:cubicBezTo>
                    <a:cubicBezTo>
                      <a:pt x="45692" y="92186"/>
                      <a:pt x="49014" y="88864"/>
                      <a:pt x="55126" y="7770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9" name="tab_b1"/>
            <p:cNvGrpSpPr/>
            <p:nvPr/>
          </p:nvGrpSpPr>
          <p:grpSpPr>
            <a:xfrm>
              <a:off x="2767102" y="369050"/>
              <a:ext cx="105917" cy="111802"/>
              <a:chOff x="2767102" y="369050"/>
              <a:chExt cx="105917" cy="111802"/>
            </a:xfrm>
          </p:grpSpPr>
          <p:sp>
            <p:nvSpPr>
              <p:cNvPr id="180" name="tab_b1_outline_0"/>
              <p:cNvSpPr/>
              <p:nvPr/>
            </p:nvSpPr>
            <p:spPr>
              <a:xfrm>
                <a:off x="2767102" y="369050"/>
                <a:ext cx="56927" cy="87796"/>
              </a:xfrm>
              <a:custGeom>
                <a:avLst/>
                <a:gdLst/>
                <a:ahLst/>
                <a:cxnLst/>
                <a:rect l="0" t="0" r="r" b="b"/>
                <a:pathLst>
                  <a:path w="56928" h="87797">
                    <a:moveTo>
                      <a:pt x="56928" y="45795"/>
                    </a:moveTo>
                    <a:cubicBezTo>
                      <a:pt x="56928" y="36941"/>
                      <a:pt x="50728" y="30615"/>
                      <a:pt x="42255" y="30615"/>
                    </a:cubicBezTo>
                    <a:cubicBezTo>
                      <a:pt x="33397" y="30615"/>
                      <a:pt x="26821" y="35802"/>
                      <a:pt x="17840" y="49717"/>
                    </a:cubicBezTo>
                    <a:lnTo>
                      <a:pt x="30996" y="631"/>
                    </a:lnTo>
                    <a:lnTo>
                      <a:pt x="30361" y="0"/>
                    </a:lnTo>
                    <a:cubicBezTo>
                      <a:pt x="24039" y="1139"/>
                      <a:pt x="19483" y="1897"/>
                      <a:pt x="11005" y="2909"/>
                    </a:cubicBezTo>
                    <a:lnTo>
                      <a:pt x="11005" y="5060"/>
                    </a:lnTo>
                    <a:cubicBezTo>
                      <a:pt x="18470" y="5314"/>
                      <a:pt x="19229" y="5691"/>
                      <a:pt x="19229" y="8473"/>
                    </a:cubicBezTo>
                    <a:cubicBezTo>
                      <a:pt x="19229" y="9612"/>
                      <a:pt x="18979" y="11005"/>
                      <a:pt x="18089" y="13915"/>
                    </a:cubicBezTo>
                    <a:lnTo>
                      <a:pt x="17459" y="16320"/>
                    </a:lnTo>
                    <a:lnTo>
                      <a:pt x="17205" y="17205"/>
                    </a:lnTo>
                    <a:lnTo>
                      <a:pt x="0" y="80585"/>
                    </a:lnTo>
                    <a:lnTo>
                      <a:pt x="0" y="81090"/>
                    </a:lnTo>
                    <a:cubicBezTo>
                      <a:pt x="0" y="83999"/>
                      <a:pt x="9616" y="87797"/>
                      <a:pt x="16828" y="87797"/>
                    </a:cubicBezTo>
                    <a:cubicBezTo>
                      <a:pt x="35929" y="87797"/>
                      <a:pt x="56928" y="65782"/>
                      <a:pt x="56928" y="45795"/>
                    </a:cubicBezTo>
                    <a:close/>
                    <a:moveTo>
                      <a:pt x="46176" y="47692"/>
                    </a:moveTo>
                    <a:cubicBezTo>
                      <a:pt x="46176" y="56043"/>
                      <a:pt x="39850" y="69580"/>
                      <a:pt x="32262" y="77422"/>
                    </a:cubicBezTo>
                    <a:cubicBezTo>
                      <a:pt x="27579" y="82229"/>
                      <a:pt x="22138" y="84884"/>
                      <a:pt x="16700" y="84884"/>
                    </a:cubicBezTo>
                    <a:cubicBezTo>
                      <a:pt x="12779" y="84884"/>
                      <a:pt x="10878" y="83495"/>
                      <a:pt x="10878" y="80585"/>
                    </a:cubicBezTo>
                    <a:cubicBezTo>
                      <a:pt x="10878" y="72993"/>
                      <a:pt x="14677" y="60849"/>
                      <a:pt x="19991" y="51360"/>
                    </a:cubicBezTo>
                    <a:cubicBezTo>
                      <a:pt x="25555" y="41620"/>
                      <a:pt x="31246" y="36814"/>
                      <a:pt x="37322" y="36814"/>
                    </a:cubicBezTo>
                    <a:cubicBezTo>
                      <a:pt x="42886" y="36814"/>
                      <a:pt x="46176" y="40989"/>
                      <a:pt x="46176" y="4769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tab_b1_outline_1"/>
              <p:cNvSpPr/>
              <p:nvPr/>
            </p:nvSpPr>
            <p:spPr>
              <a:xfrm>
                <a:off x="2843655" y="41070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2" name="tab_b2"/>
            <p:cNvGrpSpPr/>
            <p:nvPr/>
          </p:nvGrpSpPr>
          <p:grpSpPr>
            <a:xfrm>
              <a:off x="3122702" y="369050"/>
              <a:ext cx="114323" cy="111802"/>
              <a:chOff x="3122702" y="369050"/>
              <a:chExt cx="114323" cy="111802"/>
            </a:xfrm>
          </p:grpSpPr>
          <p:sp>
            <p:nvSpPr>
              <p:cNvPr id="183" name="tab_b2_outline_0"/>
              <p:cNvSpPr/>
              <p:nvPr/>
            </p:nvSpPr>
            <p:spPr>
              <a:xfrm>
                <a:off x="3122702" y="369050"/>
                <a:ext cx="56927" cy="87796"/>
              </a:xfrm>
              <a:custGeom>
                <a:avLst/>
                <a:gdLst/>
                <a:ahLst/>
                <a:cxnLst/>
                <a:rect l="0" t="0" r="r" b="b"/>
                <a:pathLst>
                  <a:path w="56928" h="87797">
                    <a:moveTo>
                      <a:pt x="56928" y="45795"/>
                    </a:moveTo>
                    <a:cubicBezTo>
                      <a:pt x="56928" y="36941"/>
                      <a:pt x="50728" y="30615"/>
                      <a:pt x="42255" y="30615"/>
                    </a:cubicBezTo>
                    <a:cubicBezTo>
                      <a:pt x="33397" y="30615"/>
                      <a:pt x="26821" y="35802"/>
                      <a:pt x="17840" y="49717"/>
                    </a:cubicBezTo>
                    <a:lnTo>
                      <a:pt x="30996" y="631"/>
                    </a:lnTo>
                    <a:lnTo>
                      <a:pt x="30361" y="0"/>
                    </a:lnTo>
                    <a:cubicBezTo>
                      <a:pt x="24039" y="1139"/>
                      <a:pt x="19483" y="1897"/>
                      <a:pt x="11005" y="2909"/>
                    </a:cubicBezTo>
                    <a:lnTo>
                      <a:pt x="11005" y="5060"/>
                    </a:lnTo>
                    <a:cubicBezTo>
                      <a:pt x="18470" y="5314"/>
                      <a:pt x="19229" y="5691"/>
                      <a:pt x="19229" y="8473"/>
                    </a:cubicBezTo>
                    <a:cubicBezTo>
                      <a:pt x="19229" y="9612"/>
                      <a:pt x="18979" y="11005"/>
                      <a:pt x="18089" y="13915"/>
                    </a:cubicBezTo>
                    <a:lnTo>
                      <a:pt x="17459" y="16320"/>
                    </a:lnTo>
                    <a:lnTo>
                      <a:pt x="17205" y="17205"/>
                    </a:lnTo>
                    <a:lnTo>
                      <a:pt x="0" y="80585"/>
                    </a:lnTo>
                    <a:lnTo>
                      <a:pt x="0" y="81090"/>
                    </a:lnTo>
                    <a:cubicBezTo>
                      <a:pt x="0" y="83999"/>
                      <a:pt x="9616" y="87797"/>
                      <a:pt x="16828" y="87797"/>
                    </a:cubicBezTo>
                    <a:cubicBezTo>
                      <a:pt x="35929" y="87797"/>
                      <a:pt x="56928" y="65782"/>
                      <a:pt x="56928" y="45795"/>
                    </a:cubicBezTo>
                    <a:close/>
                    <a:moveTo>
                      <a:pt x="46176" y="47692"/>
                    </a:moveTo>
                    <a:cubicBezTo>
                      <a:pt x="46176" y="56043"/>
                      <a:pt x="39850" y="69580"/>
                      <a:pt x="32262" y="77422"/>
                    </a:cubicBezTo>
                    <a:cubicBezTo>
                      <a:pt x="27579" y="82229"/>
                      <a:pt x="22138" y="84884"/>
                      <a:pt x="16700" y="84884"/>
                    </a:cubicBezTo>
                    <a:cubicBezTo>
                      <a:pt x="12779" y="84884"/>
                      <a:pt x="10878" y="83495"/>
                      <a:pt x="10878" y="80585"/>
                    </a:cubicBezTo>
                    <a:cubicBezTo>
                      <a:pt x="10878" y="72993"/>
                      <a:pt x="14677" y="60849"/>
                      <a:pt x="19991" y="51360"/>
                    </a:cubicBezTo>
                    <a:cubicBezTo>
                      <a:pt x="25555" y="41620"/>
                      <a:pt x="31246" y="36814"/>
                      <a:pt x="37322" y="36814"/>
                    </a:cubicBezTo>
                    <a:cubicBezTo>
                      <a:pt x="42886" y="36814"/>
                      <a:pt x="46176" y="40989"/>
                      <a:pt x="46176" y="4769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tab_b2_outline_1"/>
              <p:cNvSpPr/>
              <p:nvPr/>
            </p:nvSpPr>
            <p:spPr>
              <a:xfrm>
                <a:off x="3190849" y="410709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5" name="tab_bK"/>
            <p:cNvGrpSpPr/>
            <p:nvPr/>
          </p:nvGrpSpPr>
          <p:grpSpPr>
            <a:xfrm>
              <a:off x="3459207" y="370167"/>
              <a:ext cx="149816" cy="109568"/>
              <a:chOff x="3459207" y="370167"/>
              <a:chExt cx="149816" cy="109568"/>
            </a:xfrm>
          </p:grpSpPr>
          <p:sp>
            <p:nvSpPr>
              <p:cNvPr id="186" name="tab_bK_outline_0"/>
              <p:cNvSpPr/>
              <p:nvPr/>
            </p:nvSpPr>
            <p:spPr>
              <a:xfrm>
                <a:off x="3459207" y="370167"/>
                <a:ext cx="56927" cy="87796"/>
              </a:xfrm>
              <a:custGeom>
                <a:avLst/>
                <a:gdLst/>
                <a:ahLst/>
                <a:cxnLst/>
                <a:rect l="0" t="0" r="r" b="b"/>
                <a:pathLst>
                  <a:path w="56928" h="87797">
                    <a:moveTo>
                      <a:pt x="56928" y="45795"/>
                    </a:moveTo>
                    <a:cubicBezTo>
                      <a:pt x="56928" y="36941"/>
                      <a:pt x="50728" y="30615"/>
                      <a:pt x="42255" y="30615"/>
                    </a:cubicBezTo>
                    <a:cubicBezTo>
                      <a:pt x="33397" y="30615"/>
                      <a:pt x="26821" y="35802"/>
                      <a:pt x="17840" y="49716"/>
                    </a:cubicBezTo>
                    <a:lnTo>
                      <a:pt x="30996" y="631"/>
                    </a:lnTo>
                    <a:lnTo>
                      <a:pt x="30361" y="0"/>
                    </a:lnTo>
                    <a:cubicBezTo>
                      <a:pt x="24039" y="1139"/>
                      <a:pt x="19483" y="1897"/>
                      <a:pt x="11005" y="2909"/>
                    </a:cubicBezTo>
                    <a:lnTo>
                      <a:pt x="11005" y="5060"/>
                    </a:lnTo>
                    <a:cubicBezTo>
                      <a:pt x="18470" y="5314"/>
                      <a:pt x="19229" y="5691"/>
                      <a:pt x="19229" y="8473"/>
                    </a:cubicBezTo>
                    <a:cubicBezTo>
                      <a:pt x="19229" y="9612"/>
                      <a:pt x="18979" y="11005"/>
                      <a:pt x="18089" y="13914"/>
                    </a:cubicBezTo>
                    <a:lnTo>
                      <a:pt x="17459" y="16320"/>
                    </a:lnTo>
                    <a:lnTo>
                      <a:pt x="17205" y="17204"/>
                    </a:lnTo>
                    <a:lnTo>
                      <a:pt x="0" y="80585"/>
                    </a:lnTo>
                    <a:lnTo>
                      <a:pt x="0" y="81089"/>
                    </a:lnTo>
                    <a:cubicBezTo>
                      <a:pt x="0" y="83999"/>
                      <a:pt x="9616" y="87797"/>
                      <a:pt x="16828" y="87797"/>
                    </a:cubicBezTo>
                    <a:cubicBezTo>
                      <a:pt x="35929" y="87797"/>
                      <a:pt x="56928" y="65782"/>
                      <a:pt x="56928" y="45795"/>
                    </a:cubicBezTo>
                    <a:close/>
                    <a:moveTo>
                      <a:pt x="46176" y="47692"/>
                    </a:moveTo>
                    <a:cubicBezTo>
                      <a:pt x="46176" y="56043"/>
                      <a:pt x="39850" y="69580"/>
                      <a:pt x="32262" y="77422"/>
                    </a:cubicBezTo>
                    <a:cubicBezTo>
                      <a:pt x="27579" y="82228"/>
                      <a:pt x="22138" y="84884"/>
                      <a:pt x="16700" y="84884"/>
                    </a:cubicBezTo>
                    <a:cubicBezTo>
                      <a:pt x="12779" y="84884"/>
                      <a:pt x="10878" y="83495"/>
                      <a:pt x="10878" y="80585"/>
                    </a:cubicBezTo>
                    <a:cubicBezTo>
                      <a:pt x="10878" y="72993"/>
                      <a:pt x="14677" y="60849"/>
                      <a:pt x="19991" y="51360"/>
                    </a:cubicBezTo>
                    <a:cubicBezTo>
                      <a:pt x="25555" y="41620"/>
                      <a:pt x="31246" y="36814"/>
                      <a:pt x="37322" y="36814"/>
                    </a:cubicBezTo>
                    <a:cubicBezTo>
                      <a:pt x="42886" y="36814"/>
                      <a:pt x="46176" y="40989"/>
                      <a:pt x="46176" y="4769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tab_bK_outline_1"/>
              <p:cNvSpPr/>
              <p:nvPr/>
            </p:nvSpPr>
            <p:spPr>
              <a:xfrm>
                <a:off x="3527470" y="411981"/>
                <a:ext cx="81553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1554" h="67754">
                    <a:moveTo>
                      <a:pt x="71803" y="67754"/>
                    </a:moveTo>
                    <a:lnTo>
                      <a:pt x="71699" y="66096"/>
                    </a:lnTo>
                    <a:cubicBezTo>
                      <a:pt x="64330" y="65472"/>
                      <a:pt x="63706" y="65159"/>
                      <a:pt x="60285" y="60285"/>
                    </a:cubicBezTo>
                    <a:lnTo>
                      <a:pt x="38910" y="28845"/>
                    </a:lnTo>
                    <a:lnTo>
                      <a:pt x="73045" y="5394"/>
                    </a:lnTo>
                    <a:cubicBezTo>
                      <a:pt x="76470" y="3215"/>
                      <a:pt x="78859" y="2076"/>
                      <a:pt x="81554" y="1659"/>
                    </a:cubicBezTo>
                    <a:lnTo>
                      <a:pt x="81554" y="0"/>
                    </a:lnTo>
                    <a:lnTo>
                      <a:pt x="56444" y="0"/>
                    </a:lnTo>
                    <a:lnTo>
                      <a:pt x="56444" y="1659"/>
                    </a:lnTo>
                    <a:lnTo>
                      <a:pt x="59662" y="1972"/>
                    </a:lnTo>
                    <a:cubicBezTo>
                      <a:pt x="62567" y="2179"/>
                      <a:pt x="63706" y="2802"/>
                      <a:pt x="63706" y="3941"/>
                    </a:cubicBezTo>
                    <a:cubicBezTo>
                      <a:pt x="63814" y="6433"/>
                      <a:pt x="59245" y="10374"/>
                      <a:pt x="47315" y="17847"/>
                    </a:cubicBezTo>
                    <a:lnTo>
                      <a:pt x="29571" y="28948"/>
                    </a:lnTo>
                    <a:lnTo>
                      <a:pt x="34965" y="9338"/>
                    </a:lnTo>
                    <a:cubicBezTo>
                      <a:pt x="36524" y="4151"/>
                      <a:pt x="39739" y="2076"/>
                      <a:pt x="46692" y="1659"/>
                    </a:cubicBezTo>
                    <a:lnTo>
                      <a:pt x="46692" y="0"/>
                    </a:lnTo>
                    <a:lnTo>
                      <a:pt x="13799" y="0"/>
                    </a:lnTo>
                    <a:lnTo>
                      <a:pt x="13799" y="1659"/>
                    </a:lnTo>
                    <a:cubicBezTo>
                      <a:pt x="21269" y="2282"/>
                      <a:pt x="23035" y="3112"/>
                      <a:pt x="23138" y="6120"/>
                    </a:cubicBezTo>
                    <a:cubicBezTo>
                      <a:pt x="23138" y="7675"/>
                      <a:pt x="23035" y="9751"/>
                      <a:pt x="22102" y="12553"/>
                    </a:cubicBezTo>
                    <a:lnTo>
                      <a:pt x="9648" y="58416"/>
                    </a:lnTo>
                    <a:cubicBezTo>
                      <a:pt x="7783" y="64643"/>
                      <a:pt x="6953" y="65159"/>
                      <a:pt x="0" y="66096"/>
                    </a:cubicBezTo>
                    <a:lnTo>
                      <a:pt x="103" y="67754"/>
                    </a:lnTo>
                    <a:lnTo>
                      <a:pt x="29881" y="67754"/>
                    </a:lnTo>
                    <a:lnTo>
                      <a:pt x="29778" y="66096"/>
                    </a:lnTo>
                    <a:cubicBezTo>
                      <a:pt x="22308" y="65369"/>
                      <a:pt x="21269" y="64746"/>
                      <a:pt x="21165" y="61528"/>
                    </a:cubicBezTo>
                    <a:cubicBezTo>
                      <a:pt x="21165" y="60388"/>
                      <a:pt x="21165" y="59662"/>
                      <a:pt x="21892" y="57483"/>
                    </a:cubicBezTo>
                    <a:lnTo>
                      <a:pt x="22515" y="55305"/>
                    </a:lnTo>
                    <a:lnTo>
                      <a:pt x="28948" y="31647"/>
                    </a:lnTo>
                    <a:lnTo>
                      <a:pt x="43994" y="53229"/>
                    </a:lnTo>
                    <a:cubicBezTo>
                      <a:pt x="47105" y="57483"/>
                      <a:pt x="48768" y="61115"/>
                      <a:pt x="48768" y="63087"/>
                    </a:cubicBezTo>
                    <a:cubicBezTo>
                      <a:pt x="48871" y="64643"/>
                      <a:pt x="47212" y="65472"/>
                      <a:pt x="43267" y="65782"/>
                    </a:cubicBezTo>
                    <a:lnTo>
                      <a:pt x="39636" y="66096"/>
                    </a:lnTo>
                    <a:lnTo>
                      <a:pt x="39739" y="67754"/>
                    </a:lnTo>
                    <a:lnTo>
                      <a:pt x="71803" y="6775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8" name="raw_duals"/>
            <p:cNvGrpSpPr/>
            <p:nvPr/>
          </p:nvGrpSpPr>
          <p:grpSpPr>
            <a:xfrm>
              <a:off x="2539910" y="1266475"/>
              <a:ext cx="129239" cy="147618"/>
              <a:chOff x="2539910" y="1266475"/>
              <a:chExt cx="129239" cy="147618"/>
            </a:xfrm>
          </p:grpSpPr>
          <p:sp>
            <p:nvSpPr>
              <p:cNvPr id="189" name="raw_duals_outline_0"/>
              <p:cNvSpPr/>
              <p:nvPr/>
            </p:nvSpPr>
            <p:spPr>
              <a:xfrm>
                <a:off x="2539910" y="1274382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4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raw_duals_outline_1"/>
              <p:cNvSpPr/>
              <p:nvPr/>
            </p:nvSpPr>
            <p:spPr>
              <a:xfrm>
                <a:off x="2617749" y="1266475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4" h="40156">
                    <a:moveTo>
                      <a:pt x="36004" y="12037"/>
                    </a:moveTo>
                    <a:cubicBezTo>
                      <a:pt x="36004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6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2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1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6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2" y="38600"/>
                      <a:pt x="21272" y="36628"/>
                    </a:cubicBezTo>
                    <a:cubicBezTo>
                      <a:pt x="21272" y="32373"/>
                      <a:pt x="18883" y="26979"/>
                      <a:pt x="18883" y="21479"/>
                    </a:cubicBezTo>
                    <a:cubicBezTo>
                      <a:pt x="22102" y="23348"/>
                      <a:pt x="30297" y="32063"/>
                      <a:pt x="32373" y="32063"/>
                    </a:cubicBezTo>
                    <a:cubicBezTo>
                      <a:pt x="34242" y="32063"/>
                      <a:pt x="35901" y="30297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0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4" y="13387"/>
                      <a:pt x="36004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raw_duals_outline_2"/>
              <p:cNvSpPr/>
              <p:nvPr/>
            </p:nvSpPr>
            <p:spPr>
              <a:xfrm>
                <a:off x="2618512" y="134208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2" name="cost_error"/>
            <p:cNvGrpSpPr/>
            <p:nvPr/>
          </p:nvGrpSpPr>
          <p:grpSpPr>
            <a:xfrm>
              <a:off x="1546437" y="1762341"/>
              <a:ext cx="416643" cy="133291"/>
              <a:chOff x="1546437" y="1762341"/>
              <a:chExt cx="416643" cy="133291"/>
            </a:xfrm>
          </p:grpSpPr>
          <p:sp>
            <p:nvSpPr>
              <p:cNvPr id="193" name="cost_error_outline_0"/>
              <p:cNvSpPr/>
              <p:nvPr/>
            </p:nvSpPr>
            <p:spPr>
              <a:xfrm>
                <a:off x="1576927" y="1762341"/>
                <a:ext cx="41310" cy="7171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7172">
                    <a:moveTo>
                      <a:pt x="41311" y="7172"/>
                    </a:moveTo>
                    <a:lnTo>
                      <a:pt x="41311" y="0"/>
                    </a:lnTo>
                    <a:lnTo>
                      <a:pt x="0" y="0"/>
                    </a:lnTo>
                    <a:lnTo>
                      <a:pt x="0" y="7172"/>
                    </a:lnTo>
                    <a:lnTo>
                      <a:pt x="41311" y="7172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cost_error_outline_1"/>
              <p:cNvSpPr/>
              <p:nvPr/>
            </p:nvSpPr>
            <p:spPr>
              <a:xfrm>
                <a:off x="1546437" y="1784597"/>
                <a:ext cx="66020" cy="89130"/>
              </a:xfrm>
              <a:custGeom>
                <a:avLst/>
                <a:gdLst/>
                <a:ahLst/>
                <a:cxnLst/>
                <a:rect l="0" t="0" r="r" b="b"/>
                <a:pathLst>
                  <a:path w="66020" h="89130">
                    <a:moveTo>
                      <a:pt x="66020" y="2123"/>
                    </a:moveTo>
                    <a:lnTo>
                      <a:pt x="66020" y="0"/>
                    </a:lnTo>
                    <a:lnTo>
                      <a:pt x="32278" y="0"/>
                    </a:lnTo>
                    <a:lnTo>
                      <a:pt x="32278" y="2123"/>
                    </a:lnTo>
                    <a:cubicBezTo>
                      <a:pt x="40648" y="2921"/>
                      <a:pt x="42509" y="3985"/>
                      <a:pt x="42509" y="7572"/>
                    </a:cubicBezTo>
                    <a:cubicBezTo>
                      <a:pt x="42509" y="9565"/>
                      <a:pt x="41977" y="12220"/>
                      <a:pt x="40914" y="16074"/>
                    </a:cubicBezTo>
                    <a:lnTo>
                      <a:pt x="23511" y="77839"/>
                    </a:lnTo>
                    <a:cubicBezTo>
                      <a:pt x="22050" y="83022"/>
                      <a:pt x="20193" y="85015"/>
                      <a:pt x="17002" y="85015"/>
                    </a:cubicBezTo>
                    <a:cubicBezTo>
                      <a:pt x="13815" y="85015"/>
                      <a:pt x="12355" y="83419"/>
                      <a:pt x="12355" y="79700"/>
                    </a:cubicBezTo>
                    <a:cubicBezTo>
                      <a:pt x="12355" y="79038"/>
                      <a:pt x="12355" y="78371"/>
                      <a:pt x="12486" y="77708"/>
                    </a:cubicBezTo>
                    <a:lnTo>
                      <a:pt x="12486" y="76514"/>
                    </a:lnTo>
                    <a:cubicBezTo>
                      <a:pt x="12486" y="73192"/>
                      <a:pt x="9565" y="70271"/>
                      <a:pt x="5977" y="70271"/>
                    </a:cubicBezTo>
                    <a:cubicBezTo>
                      <a:pt x="2393" y="70271"/>
                      <a:pt x="0" y="73192"/>
                      <a:pt x="0" y="77442"/>
                    </a:cubicBezTo>
                    <a:cubicBezTo>
                      <a:pt x="0" y="84483"/>
                      <a:pt x="6243" y="89130"/>
                      <a:pt x="15542" y="89130"/>
                    </a:cubicBezTo>
                    <a:cubicBezTo>
                      <a:pt x="22316" y="89130"/>
                      <a:pt x="28293" y="86475"/>
                      <a:pt x="32413" y="81562"/>
                    </a:cubicBezTo>
                    <a:cubicBezTo>
                      <a:pt x="36001" y="77311"/>
                      <a:pt x="38656" y="71330"/>
                      <a:pt x="41446" y="61238"/>
                    </a:cubicBezTo>
                    <a:lnTo>
                      <a:pt x="55126" y="11954"/>
                    </a:lnTo>
                    <a:cubicBezTo>
                      <a:pt x="57519" y="3985"/>
                      <a:pt x="58448" y="3187"/>
                      <a:pt x="66020" y="2123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cost_error_outline_2"/>
              <p:cNvSpPr/>
              <p:nvPr/>
            </p:nvSpPr>
            <p:spPr>
              <a:xfrm>
                <a:off x="1612546" y="182362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3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3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cost_error_outline_3"/>
              <p:cNvSpPr/>
              <p:nvPr/>
            </p:nvSpPr>
            <p:spPr>
              <a:xfrm>
                <a:off x="1711985" y="1833480"/>
                <a:ext cx="68012" cy="7437"/>
              </a:xfrm>
              <a:custGeom>
                <a:avLst/>
                <a:gdLst/>
                <a:ahLst/>
                <a:cxnLst/>
                <a:rect l="0" t="0" r="r" b="b"/>
                <a:pathLst>
                  <a:path w="68013" h="7437">
                    <a:moveTo>
                      <a:pt x="68013" y="7437"/>
                    </a:moveTo>
                    <a:lnTo>
                      <a:pt x="68013" y="0"/>
                    </a:lnTo>
                    <a:lnTo>
                      <a:pt x="0" y="0"/>
                    </a:lnTo>
                    <a:lnTo>
                      <a:pt x="0" y="7437"/>
                    </a:lnTo>
                    <a:lnTo>
                      <a:pt x="68013" y="7437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cost_error_outline_4"/>
              <p:cNvSpPr/>
              <p:nvPr/>
            </p:nvSpPr>
            <p:spPr>
              <a:xfrm>
                <a:off x="1821887" y="1784597"/>
                <a:ext cx="79168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79169" h="86741">
                    <a:moveTo>
                      <a:pt x="72660" y="60174"/>
                    </a:moveTo>
                    <a:cubicBezTo>
                      <a:pt x="72660" y="50479"/>
                      <a:pt x="68544" y="45561"/>
                      <a:pt x="55924" y="40116"/>
                    </a:cubicBezTo>
                    <a:cubicBezTo>
                      <a:pt x="65357" y="37858"/>
                      <a:pt x="69207" y="36263"/>
                      <a:pt x="73458" y="32544"/>
                    </a:cubicBezTo>
                    <a:cubicBezTo>
                      <a:pt x="77176" y="29357"/>
                      <a:pt x="79169" y="24971"/>
                      <a:pt x="79169" y="19526"/>
                    </a:cubicBezTo>
                    <a:cubicBezTo>
                      <a:pt x="79169" y="6906"/>
                      <a:pt x="69739" y="0"/>
                      <a:pt x="52602" y="0"/>
                    </a:cubicBezTo>
                    <a:lnTo>
                      <a:pt x="18332" y="0"/>
                    </a:lnTo>
                    <a:lnTo>
                      <a:pt x="18332" y="2123"/>
                    </a:lnTo>
                    <a:cubicBezTo>
                      <a:pt x="26702" y="2790"/>
                      <a:pt x="28559" y="3719"/>
                      <a:pt x="28559" y="7572"/>
                    </a:cubicBezTo>
                    <a:cubicBezTo>
                      <a:pt x="28559" y="9565"/>
                      <a:pt x="28027" y="12752"/>
                      <a:pt x="27099" y="16074"/>
                    </a:cubicBezTo>
                    <a:lnTo>
                      <a:pt x="10759" y="74787"/>
                    </a:lnTo>
                    <a:cubicBezTo>
                      <a:pt x="8370" y="82491"/>
                      <a:pt x="7441" y="83288"/>
                      <a:pt x="0" y="84614"/>
                    </a:cubicBezTo>
                    <a:lnTo>
                      <a:pt x="0" y="86741"/>
                    </a:lnTo>
                    <a:lnTo>
                      <a:pt x="37461" y="86741"/>
                    </a:lnTo>
                    <a:cubicBezTo>
                      <a:pt x="58317" y="86741"/>
                      <a:pt x="72660" y="75982"/>
                      <a:pt x="72660" y="60174"/>
                    </a:cubicBezTo>
                    <a:close/>
                    <a:moveTo>
                      <a:pt x="58317" y="59642"/>
                    </a:moveTo>
                    <a:cubicBezTo>
                      <a:pt x="58317" y="73989"/>
                      <a:pt x="48486" y="82756"/>
                      <a:pt x="32278" y="82756"/>
                    </a:cubicBezTo>
                    <a:cubicBezTo>
                      <a:pt x="26702" y="82756"/>
                      <a:pt x="23777" y="80895"/>
                      <a:pt x="23777" y="77176"/>
                    </a:cubicBezTo>
                    <a:cubicBezTo>
                      <a:pt x="23777" y="75450"/>
                      <a:pt x="25372" y="69207"/>
                      <a:pt x="28428" y="58579"/>
                    </a:cubicBezTo>
                    <a:lnTo>
                      <a:pt x="32679" y="42771"/>
                    </a:lnTo>
                    <a:cubicBezTo>
                      <a:pt x="41049" y="42771"/>
                      <a:pt x="46760" y="43303"/>
                      <a:pt x="49415" y="44367"/>
                    </a:cubicBezTo>
                    <a:cubicBezTo>
                      <a:pt x="54995" y="46494"/>
                      <a:pt x="58317" y="52336"/>
                      <a:pt x="58317" y="59642"/>
                    </a:cubicBezTo>
                    <a:close/>
                    <a:moveTo>
                      <a:pt x="65754" y="18332"/>
                    </a:moveTo>
                    <a:cubicBezTo>
                      <a:pt x="65754" y="32012"/>
                      <a:pt x="56852" y="38521"/>
                      <a:pt x="38525" y="38521"/>
                    </a:cubicBezTo>
                    <a:lnTo>
                      <a:pt x="34008" y="38521"/>
                    </a:lnTo>
                    <a:lnTo>
                      <a:pt x="42640" y="7703"/>
                    </a:lnTo>
                    <a:cubicBezTo>
                      <a:pt x="43438" y="4782"/>
                      <a:pt x="45033" y="3985"/>
                      <a:pt x="50213" y="3985"/>
                    </a:cubicBezTo>
                    <a:cubicBezTo>
                      <a:pt x="60972" y="3985"/>
                      <a:pt x="65754" y="8501"/>
                      <a:pt x="65754" y="1833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cost_error_outline_5"/>
              <p:cNvSpPr/>
              <p:nvPr/>
            </p:nvSpPr>
            <p:spPr>
              <a:xfrm>
                <a:off x="1912443" y="182362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9" name="price_rule"/>
            <p:cNvGrpSpPr/>
            <p:nvPr/>
          </p:nvGrpSpPr>
          <p:grpSpPr>
            <a:xfrm>
              <a:off x="2710400" y="1676128"/>
              <a:ext cx="740771" cy="166012"/>
              <a:chOff x="2710400" y="1676128"/>
              <a:chExt cx="740771" cy="166012"/>
            </a:xfrm>
          </p:grpSpPr>
          <p:sp>
            <p:nvSpPr>
              <p:cNvPr id="200" name="price_rule_outline_0"/>
              <p:cNvSpPr/>
              <p:nvPr/>
            </p:nvSpPr>
            <p:spPr>
              <a:xfrm>
                <a:off x="2710400" y="1699161"/>
                <a:ext cx="71112" cy="92682"/>
              </a:xfrm>
              <a:custGeom>
                <a:avLst/>
                <a:gdLst/>
                <a:ahLst/>
                <a:cxnLst/>
                <a:rect l="0" t="0" r="r" b="b"/>
                <a:pathLst>
                  <a:path w="71112" h="92682">
                    <a:moveTo>
                      <a:pt x="71112" y="80990"/>
                    </a:moveTo>
                    <a:lnTo>
                      <a:pt x="70973" y="80712"/>
                    </a:lnTo>
                    <a:cubicBezTo>
                      <a:pt x="69024" y="80712"/>
                      <a:pt x="66659" y="85443"/>
                      <a:pt x="60813" y="85443"/>
                    </a:cubicBezTo>
                    <a:cubicBezTo>
                      <a:pt x="34512" y="85443"/>
                      <a:pt x="82383" y="0"/>
                      <a:pt x="41469" y="0"/>
                    </a:cubicBezTo>
                    <a:lnTo>
                      <a:pt x="39941" y="0"/>
                    </a:lnTo>
                    <a:cubicBezTo>
                      <a:pt x="37433" y="0"/>
                      <a:pt x="31591" y="2087"/>
                      <a:pt x="29781" y="3758"/>
                    </a:cubicBezTo>
                    <a:cubicBezTo>
                      <a:pt x="29643" y="3897"/>
                      <a:pt x="30754" y="5147"/>
                      <a:pt x="30893" y="5147"/>
                    </a:cubicBezTo>
                    <a:cubicBezTo>
                      <a:pt x="31591" y="4592"/>
                      <a:pt x="34651" y="3338"/>
                      <a:pt x="37433" y="3338"/>
                    </a:cubicBezTo>
                    <a:cubicBezTo>
                      <a:pt x="50935" y="3338"/>
                      <a:pt x="47315" y="25606"/>
                      <a:pt x="47315" y="29222"/>
                    </a:cubicBezTo>
                    <a:cubicBezTo>
                      <a:pt x="47454" y="29643"/>
                      <a:pt x="47315" y="29920"/>
                      <a:pt x="47177" y="30476"/>
                    </a:cubicBezTo>
                    <a:cubicBezTo>
                      <a:pt x="44394" y="43418"/>
                      <a:pt x="3342" y="79879"/>
                      <a:pt x="0" y="91150"/>
                    </a:cubicBezTo>
                    <a:lnTo>
                      <a:pt x="13914" y="91150"/>
                    </a:lnTo>
                    <a:cubicBezTo>
                      <a:pt x="13914" y="89757"/>
                      <a:pt x="14057" y="88368"/>
                      <a:pt x="14335" y="86836"/>
                    </a:cubicBezTo>
                    <a:cubicBezTo>
                      <a:pt x="18371" y="69024"/>
                      <a:pt x="45645" y="42025"/>
                      <a:pt x="45645" y="41886"/>
                    </a:cubicBezTo>
                    <a:lnTo>
                      <a:pt x="45783" y="41886"/>
                    </a:lnTo>
                    <a:cubicBezTo>
                      <a:pt x="44950" y="49125"/>
                      <a:pt x="32425" y="92682"/>
                      <a:pt x="55110" y="92682"/>
                    </a:cubicBezTo>
                    <a:cubicBezTo>
                      <a:pt x="61230" y="92682"/>
                      <a:pt x="70834" y="82661"/>
                      <a:pt x="71112" y="80990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price_rule_outline_1"/>
              <p:cNvSpPr/>
              <p:nvPr/>
            </p:nvSpPr>
            <p:spPr>
              <a:xfrm>
                <a:off x="2792433" y="174037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price_rule_outline_2"/>
              <p:cNvSpPr/>
              <p:nvPr/>
            </p:nvSpPr>
            <p:spPr>
              <a:xfrm>
                <a:off x="2901408" y="1736595"/>
                <a:ext cx="71250" cy="36044"/>
              </a:xfrm>
              <a:custGeom>
                <a:avLst/>
                <a:gdLst/>
                <a:ahLst/>
                <a:cxnLst/>
                <a:rect l="0" t="0" r="r" b="b"/>
                <a:pathLst>
                  <a:path w="71251" h="36044">
                    <a:moveTo>
                      <a:pt x="71251" y="7795"/>
                    </a:moveTo>
                    <a:lnTo>
                      <a:pt x="71251" y="0"/>
                    </a:lnTo>
                    <a:lnTo>
                      <a:pt x="0" y="0"/>
                    </a:lnTo>
                    <a:lnTo>
                      <a:pt x="0" y="7795"/>
                    </a:lnTo>
                    <a:lnTo>
                      <a:pt x="71251" y="7795"/>
                    </a:lnTo>
                    <a:close/>
                    <a:moveTo>
                      <a:pt x="71251" y="36044"/>
                    </a:moveTo>
                    <a:lnTo>
                      <a:pt x="71251" y="28249"/>
                    </a:lnTo>
                    <a:lnTo>
                      <a:pt x="0" y="28249"/>
                    </a:lnTo>
                    <a:lnTo>
                      <a:pt x="0" y="36044"/>
                    </a:lnTo>
                    <a:lnTo>
                      <a:pt x="71251" y="3604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price_rule_outline_3"/>
              <p:cNvSpPr/>
              <p:nvPr/>
            </p:nvSpPr>
            <p:spPr>
              <a:xfrm>
                <a:off x="3044972" y="1676128"/>
                <a:ext cx="43279" cy="7516"/>
              </a:xfrm>
              <a:custGeom>
                <a:avLst/>
                <a:gdLst/>
                <a:ahLst/>
                <a:cxnLst/>
                <a:rect l="0" t="0" r="r" b="b"/>
                <a:pathLst>
                  <a:path w="43279" h="7517">
                    <a:moveTo>
                      <a:pt x="43279" y="7517"/>
                    </a:moveTo>
                    <a:lnTo>
                      <a:pt x="43279" y="0"/>
                    </a:lnTo>
                    <a:lnTo>
                      <a:pt x="0" y="0"/>
                    </a:lnTo>
                    <a:lnTo>
                      <a:pt x="0" y="7517"/>
                    </a:lnTo>
                    <a:lnTo>
                      <a:pt x="43279" y="7517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price_rule_outline_4"/>
              <p:cNvSpPr/>
              <p:nvPr/>
            </p:nvSpPr>
            <p:spPr>
              <a:xfrm>
                <a:off x="3020368" y="1699161"/>
                <a:ext cx="71112" cy="92682"/>
              </a:xfrm>
              <a:custGeom>
                <a:avLst/>
                <a:gdLst/>
                <a:ahLst/>
                <a:cxnLst/>
                <a:rect l="0" t="0" r="r" b="b"/>
                <a:pathLst>
                  <a:path w="71112" h="92682">
                    <a:moveTo>
                      <a:pt x="71112" y="80990"/>
                    </a:moveTo>
                    <a:lnTo>
                      <a:pt x="70973" y="80712"/>
                    </a:lnTo>
                    <a:cubicBezTo>
                      <a:pt x="69025" y="80712"/>
                      <a:pt x="66659" y="85443"/>
                      <a:pt x="60813" y="85443"/>
                    </a:cubicBezTo>
                    <a:cubicBezTo>
                      <a:pt x="34512" y="85443"/>
                      <a:pt x="82383" y="0"/>
                      <a:pt x="41469" y="0"/>
                    </a:cubicBezTo>
                    <a:lnTo>
                      <a:pt x="39942" y="0"/>
                    </a:lnTo>
                    <a:cubicBezTo>
                      <a:pt x="37433" y="0"/>
                      <a:pt x="31591" y="2087"/>
                      <a:pt x="29782" y="3758"/>
                    </a:cubicBezTo>
                    <a:cubicBezTo>
                      <a:pt x="29643" y="3897"/>
                      <a:pt x="30754" y="5147"/>
                      <a:pt x="30893" y="5147"/>
                    </a:cubicBezTo>
                    <a:cubicBezTo>
                      <a:pt x="31591" y="4592"/>
                      <a:pt x="34651" y="3338"/>
                      <a:pt x="37433" y="3338"/>
                    </a:cubicBezTo>
                    <a:cubicBezTo>
                      <a:pt x="50935" y="3338"/>
                      <a:pt x="47315" y="25606"/>
                      <a:pt x="47315" y="29222"/>
                    </a:cubicBezTo>
                    <a:cubicBezTo>
                      <a:pt x="47454" y="29643"/>
                      <a:pt x="47315" y="29920"/>
                      <a:pt x="47176" y="30476"/>
                    </a:cubicBezTo>
                    <a:cubicBezTo>
                      <a:pt x="44394" y="43418"/>
                      <a:pt x="3342" y="79879"/>
                      <a:pt x="0" y="91150"/>
                    </a:cubicBezTo>
                    <a:lnTo>
                      <a:pt x="13914" y="91150"/>
                    </a:lnTo>
                    <a:cubicBezTo>
                      <a:pt x="13914" y="89757"/>
                      <a:pt x="14057" y="88368"/>
                      <a:pt x="14335" y="86836"/>
                    </a:cubicBezTo>
                    <a:cubicBezTo>
                      <a:pt x="18371" y="69024"/>
                      <a:pt x="45645" y="42025"/>
                      <a:pt x="45645" y="41886"/>
                    </a:cubicBezTo>
                    <a:lnTo>
                      <a:pt x="45784" y="41886"/>
                    </a:lnTo>
                    <a:cubicBezTo>
                      <a:pt x="44950" y="49125"/>
                      <a:pt x="32425" y="92682"/>
                      <a:pt x="55110" y="92682"/>
                    </a:cubicBezTo>
                    <a:cubicBezTo>
                      <a:pt x="61230" y="92682"/>
                      <a:pt x="70834" y="82661"/>
                      <a:pt x="71112" y="80990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price_rule_outline_5"/>
              <p:cNvSpPr/>
              <p:nvPr/>
            </p:nvSpPr>
            <p:spPr>
              <a:xfrm>
                <a:off x="3101614" y="1693099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5" h="40156">
                    <a:moveTo>
                      <a:pt x="36005" y="12037"/>
                    </a:moveTo>
                    <a:cubicBezTo>
                      <a:pt x="36005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7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3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2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7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3" y="38600"/>
                      <a:pt x="21273" y="36628"/>
                    </a:cubicBezTo>
                    <a:cubicBezTo>
                      <a:pt x="21273" y="32373"/>
                      <a:pt x="18883" y="26980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8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1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5" y="13387"/>
                      <a:pt x="36005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price_rule_outline_6"/>
              <p:cNvSpPr/>
              <p:nvPr/>
            </p:nvSpPr>
            <p:spPr>
              <a:xfrm>
                <a:off x="3102414" y="17701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price_rule_outline_7"/>
              <p:cNvSpPr/>
              <p:nvPr/>
            </p:nvSpPr>
            <p:spPr>
              <a:xfrm>
                <a:off x="3203643" y="1718783"/>
                <a:ext cx="71251" cy="71528"/>
              </a:xfrm>
              <a:custGeom>
                <a:avLst/>
                <a:gdLst/>
                <a:ahLst/>
                <a:cxnLst/>
                <a:rect l="0" t="0" r="r" b="b"/>
                <a:pathLst>
                  <a:path w="71251" h="71529">
                    <a:moveTo>
                      <a:pt x="31032" y="31170"/>
                    </a:moveTo>
                    <a:lnTo>
                      <a:pt x="0" y="31170"/>
                    </a:lnTo>
                    <a:lnTo>
                      <a:pt x="0" y="40358"/>
                    </a:lnTo>
                    <a:lnTo>
                      <a:pt x="31032" y="40358"/>
                    </a:lnTo>
                    <a:lnTo>
                      <a:pt x="31032" y="71529"/>
                    </a:lnTo>
                    <a:lnTo>
                      <a:pt x="40219" y="71529"/>
                    </a:lnTo>
                    <a:lnTo>
                      <a:pt x="40219" y="40358"/>
                    </a:lnTo>
                    <a:lnTo>
                      <a:pt x="71251" y="40358"/>
                    </a:lnTo>
                    <a:lnTo>
                      <a:pt x="71251" y="31170"/>
                    </a:lnTo>
                    <a:lnTo>
                      <a:pt x="40219" y="31170"/>
                    </a:lnTo>
                    <a:lnTo>
                      <a:pt x="40219" y="0"/>
                    </a:lnTo>
                    <a:lnTo>
                      <a:pt x="31032" y="0"/>
                    </a:lnTo>
                    <a:lnTo>
                      <a:pt x="31032" y="31170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price_rule_outline_8"/>
              <p:cNvSpPr/>
              <p:nvPr/>
            </p:nvSpPr>
            <p:spPr>
              <a:xfrm>
                <a:off x="3308618" y="1699161"/>
                <a:ext cx="83776" cy="119955"/>
              </a:xfrm>
              <a:custGeom>
                <a:avLst/>
                <a:gdLst/>
                <a:ahLst/>
                <a:cxnLst/>
                <a:rect l="0" t="0" r="r" b="b"/>
                <a:pathLst>
                  <a:path w="83776" h="119955">
                    <a:moveTo>
                      <a:pt x="83776" y="16002"/>
                    </a:moveTo>
                    <a:cubicBezTo>
                      <a:pt x="83776" y="5008"/>
                      <a:pt x="74867" y="0"/>
                      <a:pt x="63318" y="0"/>
                    </a:cubicBezTo>
                    <a:cubicBezTo>
                      <a:pt x="48566" y="0"/>
                      <a:pt x="34235" y="9878"/>
                      <a:pt x="30337" y="23935"/>
                    </a:cubicBezTo>
                    <a:lnTo>
                      <a:pt x="9045" y="101588"/>
                    </a:lnTo>
                    <a:cubicBezTo>
                      <a:pt x="6679" y="110355"/>
                      <a:pt x="1389" y="118150"/>
                      <a:pt x="0" y="119955"/>
                    </a:cubicBezTo>
                    <a:lnTo>
                      <a:pt x="12383" y="119955"/>
                    </a:lnTo>
                    <a:cubicBezTo>
                      <a:pt x="12525" y="119955"/>
                      <a:pt x="14752" y="118844"/>
                      <a:pt x="19344" y="101449"/>
                    </a:cubicBezTo>
                    <a:lnTo>
                      <a:pt x="24074" y="83495"/>
                    </a:lnTo>
                    <a:lnTo>
                      <a:pt x="24213" y="83495"/>
                    </a:lnTo>
                    <a:cubicBezTo>
                      <a:pt x="24213" y="83637"/>
                      <a:pt x="28805" y="93516"/>
                      <a:pt x="42862" y="93516"/>
                    </a:cubicBezTo>
                    <a:cubicBezTo>
                      <a:pt x="63734" y="93516"/>
                      <a:pt x="77792" y="77930"/>
                      <a:pt x="77792" y="61924"/>
                    </a:cubicBezTo>
                    <a:cubicBezTo>
                      <a:pt x="77792" y="44529"/>
                      <a:pt x="62063" y="41886"/>
                      <a:pt x="61924" y="41886"/>
                    </a:cubicBezTo>
                    <a:lnTo>
                      <a:pt x="61924" y="41330"/>
                    </a:lnTo>
                    <a:cubicBezTo>
                      <a:pt x="62063" y="41330"/>
                      <a:pt x="83776" y="36322"/>
                      <a:pt x="83776" y="16002"/>
                    </a:cubicBezTo>
                    <a:close/>
                    <a:moveTo>
                      <a:pt x="72779" y="15724"/>
                    </a:moveTo>
                    <a:cubicBezTo>
                      <a:pt x="72779" y="22126"/>
                      <a:pt x="69163" y="37850"/>
                      <a:pt x="58031" y="37850"/>
                    </a:cubicBezTo>
                    <a:cubicBezTo>
                      <a:pt x="55106" y="37850"/>
                      <a:pt x="52880" y="37294"/>
                      <a:pt x="50653" y="37294"/>
                    </a:cubicBezTo>
                    <a:cubicBezTo>
                      <a:pt x="46895" y="37294"/>
                      <a:pt x="44252" y="40497"/>
                      <a:pt x="44252" y="43001"/>
                    </a:cubicBezTo>
                    <a:cubicBezTo>
                      <a:pt x="44252" y="44529"/>
                      <a:pt x="45367" y="45784"/>
                      <a:pt x="47871" y="45784"/>
                    </a:cubicBezTo>
                    <a:cubicBezTo>
                      <a:pt x="51768" y="45784"/>
                      <a:pt x="52741" y="45089"/>
                      <a:pt x="55944" y="45089"/>
                    </a:cubicBezTo>
                    <a:cubicBezTo>
                      <a:pt x="62901" y="45089"/>
                      <a:pt x="65961" y="52602"/>
                      <a:pt x="65961" y="60396"/>
                    </a:cubicBezTo>
                    <a:cubicBezTo>
                      <a:pt x="65961" y="74311"/>
                      <a:pt x="57610" y="87114"/>
                      <a:pt x="42724" y="87114"/>
                    </a:cubicBezTo>
                    <a:cubicBezTo>
                      <a:pt x="33258" y="87114"/>
                      <a:pt x="27134" y="82244"/>
                      <a:pt x="27134" y="74172"/>
                    </a:cubicBezTo>
                    <a:cubicBezTo>
                      <a:pt x="27134" y="72501"/>
                      <a:pt x="27412" y="70695"/>
                      <a:pt x="27972" y="68747"/>
                    </a:cubicBezTo>
                    <a:lnTo>
                      <a:pt x="40497" y="24074"/>
                    </a:lnTo>
                    <a:cubicBezTo>
                      <a:pt x="43001" y="15030"/>
                      <a:pt x="49403" y="3897"/>
                      <a:pt x="61924" y="3897"/>
                    </a:cubicBezTo>
                    <a:cubicBezTo>
                      <a:pt x="69858" y="3897"/>
                      <a:pt x="72779" y="9323"/>
                      <a:pt x="72779" y="15724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price_rule_outline_9"/>
              <p:cNvSpPr/>
              <p:nvPr/>
            </p:nvSpPr>
            <p:spPr>
              <a:xfrm>
                <a:off x="3400534" y="174037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02" name="actor_strip" descr="Editable text; source id actor_strip"/>
          <p:cNvSpPr txBox="1"/>
          <p:nvPr/>
        </p:nvSpPr>
        <p:spPr>
          <a:xfrm>
            <a:off x="1308100" y="2057400"/>
            <a:ext cx="990599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rPr>
              <a:t>priced advantage</a:t>
            </a:r>
          </a:p>
        </p:txBody>
      </p:sp>
      <p:cxnSp>
        <p:nvCxnSpPr>
          <p:cNvPr id="103" name="price_actor_0" descr="Editable line; source id price_actor_0"/>
          <p:cNvCxnSpPr/>
          <p:nvPr/>
        </p:nvCxnSpPr>
        <p:spPr>
          <a:xfrm>
            <a:off x="2819400" y="1917700"/>
            <a:ext cx="0" cy="101599"/>
          </a:xfrm>
          <a:prstGeom prst="line">
            <a:avLst/>
          </a:prstGeom>
          <a:ln w="8254">
            <a:solidFill>
              <a:srgbClr val="126D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price_actor_1" descr="Editable line; source id price_actor_1"/>
          <p:cNvCxnSpPr/>
          <p:nvPr/>
        </p:nvCxnSpPr>
        <p:spPr>
          <a:xfrm flipH="1">
            <a:off x="1828800" y="2019299"/>
            <a:ext cx="990600" cy="0"/>
          </a:xfrm>
          <a:prstGeom prst="line">
            <a:avLst/>
          </a:prstGeom>
          <a:ln w="8254">
            <a:solidFill>
              <a:srgbClr val="126D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price_actor_2" descr="Editable line; source id price_actor_2"/>
          <p:cNvSpPr/>
          <p:nvPr/>
        </p:nvSpPr>
        <p:spPr>
          <a:xfrm>
            <a:off x="1812925" y="2019300"/>
            <a:ext cx="31750" cy="25400"/>
          </a:xfrm>
          <a:custGeom>
            <a:avLst/>
            <a:gdLst/>
            <a:ahLst/>
            <a:cxnLst/>
            <a:rect l="l" t="t" r="r" b="b"/>
            <a:pathLst>
              <a:path w="12500" h="10000">
                <a:moveTo>
                  <a:pt x="7875" y="0"/>
                </a:moveTo>
                <a:lnTo>
                  <a:pt x="7875" y="3500"/>
                </a:lnTo>
                <a:lnTo>
                  <a:pt x="12500" y="3500"/>
                </a:lnTo>
                <a:lnTo>
                  <a:pt x="6250" y="10000"/>
                </a:lnTo>
                <a:lnTo>
                  <a:pt x="0" y="3500"/>
                </a:lnTo>
                <a:lnTo>
                  <a:pt x="4625" y="3500"/>
                </a:lnTo>
                <a:lnTo>
                  <a:pt x="4625" y="0"/>
                </a:lnTo>
                <a:close/>
              </a:path>
            </a:pathLst>
          </a:custGeom>
          <a:solidFill>
            <a:srgbClr val="126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adv_actor_0" descr="Editable line; source id adv_actor_0"/>
          <p:cNvSpPr/>
          <p:nvPr/>
        </p:nvSpPr>
        <p:spPr>
          <a:xfrm>
            <a:off x="2324100" y="2105025"/>
            <a:ext cx="127000" cy="31750"/>
          </a:xfrm>
          <a:custGeom>
            <a:avLst/>
            <a:gdLst/>
            <a:ahLst/>
            <a:cxnLst/>
            <a:rect l="l" t="t" r="r" b="b"/>
            <a:pathLst>
              <a:path w="50000" h="12500">
                <a:moveTo>
                  <a:pt x="0" y="4500"/>
                </a:moveTo>
                <a:lnTo>
                  <a:pt x="33500" y="4500"/>
                </a:lnTo>
                <a:lnTo>
                  <a:pt x="33500" y="0"/>
                </a:lnTo>
                <a:lnTo>
                  <a:pt x="50000" y="6250"/>
                </a:lnTo>
                <a:lnTo>
                  <a:pt x="33500" y="12500"/>
                </a:lnTo>
                <a:lnTo>
                  <a:pt x="335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64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actor" descr="Editable text; source id actor"/>
          <p:cNvSpPr txBox="1"/>
          <p:nvPr/>
        </p:nvSpPr>
        <p:spPr>
          <a:xfrm>
            <a:off x="2489200" y="2057400"/>
            <a:ext cx="647699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1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1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rPr>
              <a:t>PPO/TRPO</a:t>
            </a:r>
          </a:p>
        </p:txBody>
      </p:sp>
      <p:sp>
        <p:nvSpPr>
          <p:cNvPr id="108" name="actor_next_0" descr="Editable line; source id actor_next_0"/>
          <p:cNvSpPr/>
          <p:nvPr/>
        </p:nvSpPr>
        <p:spPr>
          <a:xfrm>
            <a:off x="3162300" y="2105025"/>
            <a:ext cx="127000" cy="31750"/>
          </a:xfrm>
          <a:custGeom>
            <a:avLst/>
            <a:gdLst/>
            <a:ahLst/>
            <a:cxnLst/>
            <a:rect l="l" t="t" r="r" b="b"/>
            <a:pathLst>
              <a:path w="50000" h="12500">
                <a:moveTo>
                  <a:pt x="0" y="4500"/>
                </a:moveTo>
                <a:lnTo>
                  <a:pt x="33500" y="4500"/>
                </a:lnTo>
                <a:lnTo>
                  <a:pt x="33500" y="0"/>
                </a:lnTo>
                <a:lnTo>
                  <a:pt x="50000" y="6250"/>
                </a:lnTo>
                <a:lnTo>
                  <a:pt x="33500" y="12500"/>
                </a:lnTo>
                <a:lnTo>
                  <a:pt x="335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64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79" name="module_constraints"/>
          <p:cNvGrpSpPr/>
          <p:nvPr/>
        </p:nvGrpSpPr>
        <p:grpSpPr>
          <a:xfrm>
            <a:off x="3937000" y="50800"/>
            <a:ext cx="1041400" cy="1943099"/>
            <a:chOff x="3937000" y="50800"/>
            <a:chExt cx="1041400" cy="1943099"/>
          </a:xfrm>
        </p:grpSpPr>
        <p:sp>
          <p:nvSpPr>
            <p:cNvPr id="109" name="constraints" descr="Editable shape; source id constraints"/>
            <p:cNvSpPr/>
            <p:nvPr/>
          </p:nvSpPr>
          <p:spPr>
            <a:xfrm>
              <a:off x="3937000" y="50800"/>
              <a:ext cx="1041400" cy="19430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0" name="constraints_header_rule_0" descr="Editable line; source id constraints_header_rule_0"/>
            <p:cNvCxnSpPr/>
            <p:nvPr/>
          </p:nvCxnSpPr>
          <p:spPr>
            <a:xfrm>
              <a:off x="3937000" y="254000"/>
              <a:ext cx="1041400" cy="0"/>
            </a:xfrm>
            <a:prstGeom prst="line">
              <a:avLst/>
            </a:prstGeom>
            <a:ln w="8890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constraints_title" descr="Editable text; source id constraints_title"/>
            <p:cNvSpPr txBox="1"/>
            <p:nvPr/>
          </p:nvSpPr>
          <p:spPr>
            <a:xfrm>
              <a:off x="3962400" y="63500"/>
              <a:ext cx="990599" cy="1650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069"/>
                </a:lnSpc>
                <a:spcBef>
                  <a:spcPts val="0"/>
                </a:spcBef>
                <a:spcAft>
                  <a:spcPts val="0"/>
                </a:spcAft>
                <a:defRPr sz="929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29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rPr>
                <a:t>Constraint view</a:t>
              </a:r>
            </a:p>
          </p:txBody>
        </p:sp>
        <p:sp>
          <p:nvSpPr>
            <p:cNvPr id="112" name="constraints_sub" descr="Editable text; source id constraints_sub"/>
            <p:cNvSpPr txBox="1"/>
            <p:nvPr/>
          </p:nvSpPr>
          <p:spPr>
            <a:xfrm>
              <a:off x="3962400" y="292100"/>
              <a:ext cx="977900" cy="2666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Budgets bound</a:t>
              </a:r>
            </a:p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flow costs</a:t>
              </a:r>
            </a:p>
          </p:txBody>
        </p:sp>
        <p:sp>
          <p:nvSpPr>
            <p:cNvPr id="113" name="feasible" descr="Editable shape; source id feasible"/>
            <p:cNvSpPr/>
            <p:nvPr/>
          </p:nvSpPr>
          <p:spPr>
            <a:xfrm>
              <a:off x="4178300" y="787400"/>
              <a:ext cx="609600" cy="774699"/>
            </a:xfrm>
            <a:prstGeom prst="rect">
              <a:avLst/>
            </a:prstGeom>
            <a:solidFill>
              <a:srgbClr val="EDF3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cost_axisx_0" descr="Editable line; source id cost_axisx_0"/>
            <p:cNvSpPr/>
            <p:nvPr/>
          </p:nvSpPr>
          <p:spPr>
            <a:xfrm>
              <a:off x="4152900" y="1546225"/>
              <a:ext cx="762000" cy="31750"/>
            </a:xfrm>
            <a:custGeom>
              <a:avLst/>
              <a:gdLst/>
              <a:ahLst/>
              <a:cxnLst/>
              <a:rect l="l" t="t" r="r" b="b"/>
              <a:pathLst>
                <a:path w="300000" h="12500">
                  <a:moveTo>
                    <a:pt x="0" y="4500"/>
                  </a:moveTo>
                  <a:lnTo>
                    <a:pt x="283500" y="4500"/>
                  </a:lnTo>
                  <a:lnTo>
                    <a:pt x="283500" y="0"/>
                  </a:lnTo>
                  <a:lnTo>
                    <a:pt x="300000" y="6250"/>
                  </a:lnTo>
                  <a:lnTo>
                    <a:pt x="283500" y="12500"/>
                  </a:lnTo>
                  <a:lnTo>
                    <a:pt x="2835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cost_axisy_0" descr="Editable line; source id cost_axisy_0"/>
            <p:cNvSpPr/>
            <p:nvPr/>
          </p:nvSpPr>
          <p:spPr>
            <a:xfrm>
              <a:off x="4162425" y="762000"/>
              <a:ext cx="31750" cy="838200"/>
            </a:xfrm>
            <a:custGeom>
              <a:avLst/>
              <a:gdLst/>
              <a:ahLst/>
              <a:cxnLst/>
              <a:rect l="l" t="t" r="r" b="b"/>
              <a:pathLst>
                <a:path w="12500" h="330000">
                  <a:moveTo>
                    <a:pt x="4500" y="330000"/>
                  </a:moveTo>
                  <a:lnTo>
                    <a:pt x="4500" y="16500"/>
                  </a:lnTo>
                  <a:lnTo>
                    <a:pt x="0" y="16500"/>
                  </a:lnTo>
                  <a:lnTo>
                    <a:pt x="6250" y="0"/>
                  </a:lnTo>
                  <a:lnTo>
                    <a:pt x="12500" y="16500"/>
                  </a:lnTo>
                  <a:lnTo>
                    <a:pt x="8000" y="16500"/>
                  </a:lnTo>
                  <a:lnTo>
                    <a:pt x="8000" y="33000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6" name="bound1_0" descr="Editable line; source id bound1_0"/>
            <p:cNvCxnSpPr/>
            <p:nvPr/>
          </p:nvCxnSpPr>
          <p:spPr>
            <a:xfrm>
              <a:off x="4787900" y="787400"/>
              <a:ext cx="0" cy="774700"/>
            </a:xfrm>
            <a:prstGeom prst="line">
              <a:avLst/>
            </a:prstGeom>
            <a:ln w="8254">
              <a:solidFill>
                <a:srgbClr val="264C70"/>
              </a:solidFill>
              <a:custDash>
                <a:ds d="307692" sp="27692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bound2_0" descr="Editable line; source id bound2_0"/>
            <p:cNvCxnSpPr/>
            <p:nvPr/>
          </p:nvCxnSpPr>
          <p:spPr>
            <a:xfrm>
              <a:off x="4178300" y="787400"/>
              <a:ext cx="609600" cy="0"/>
            </a:xfrm>
            <a:prstGeom prst="line">
              <a:avLst/>
            </a:prstGeom>
            <a:ln w="8254">
              <a:solidFill>
                <a:srgbClr val="264C70"/>
              </a:solidFill>
              <a:custDash>
                <a:ds d="307692" sp="27692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slack" descr="Editable text; source id slack"/>
            <p:cNvSpPr txBox="1"/>
            <p:nvPr/>
          </p:nvSpPr>
          <p:spPr>
            <a:xfrm>
              <a:off x="4457700" y="800100"/>
              <a:ext cx="317499" cy="126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slack</a:t>
              </a:r>
            </a:p>
          </p:txBody>
        </p:sp>
        <p:sp>
          <p:nvSpPr>
            <p:cNvPr id="119" name="binding" descr="Editable text; source id binding"/>
            <p:cNvSpPr txBox="1"/>
            <p:nvPr/>
          </p:nvSpPr>
          <p:spPr>
            <a:xfrm>
              <a:off x="4317999" y="1371600"/>
              <a:ext cx="419099" cy="126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binding</a:t>
              </a:r>
            </a:p>
          </p:txBody>
        </p:sp>
        <p:sp>
          <p:nvSpPr>
            <p:cNvPr id="120" name="Fstar_dot" descr="Editable shape; source id Fstar_dot"/>
            <p:cNvSpPr/>
            <p:nvPr/>
          </p:nvSpPr>
          <p:spPr>
            <a:xfrm>
              <a:off x="4762500" y="1092200"/>
              <a:ext cx="50800" cy="50800"/>
            </a:xfrm>
            <a:prstGeom prst="ellipse">
              <a:avLst/>
            </a:prstGeom>
            <a:solidFill>
              <a:srgbClr val="126D69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15" name="axis_cost1"/>
            <p:cNvGrpSpPr/>
            <p:nvPr/>
          </p:nvGrpSpPr>
          <p:grpSpPr>
            <a:xfrm>
              <a:off x="4460311" y="1650771"/>
              <a:ext cx="363076" cy="114839"/>
              <a:chOff x="4460311" y="1650771"/>
              <a:chExt cx="363076" cy="114839"/>
            </a:xfrm>
          </p:grpSpPr>
          <p:sp>
            <p:nvSpPr>
              <p:cNvPr id="216" name="axis_cost1_outline_0"/>
              <p:cNvSpPr/>
              <p:nvPr/>
            </p:nvSpPr>
            <p:spPr>
              <a:xfrm>
                <a:off x="4460311" y="1650771"/>
                <a:ext cx="33269" cy="113855"/>
              </a:xfrm>
              <a:custGeom>
                <a:avLst/>
                <a:gdLst/>
                <a:ahLst/>
                <a:cxnLst/>
                <a:rect l="0" t="0" r="r" b="b"/>
                <a:pathLst>
                  <a:path w="33270" h="113856">
                    <a:moveTo>
                      <a:pt x="33270" y="113856"/>
                    </a:moveTo>
                    <a:lnTo>
                      <a:pt x="8727" y="56928"/>
                    </a:lnTo>
                    <a:lnTo>
                      <a:pt x="33270" y="0"/>
                    </a:lnTo>
                    <a:lnTo>
                      <a:pt x="27198" y="0"/>
                    </a:lnTo>
                    <a:lnTo>
                      <a:pt x="0" y="56928"/>
                    </a:lnTo>
                    <a:lnTo>
                      <a:pt x="27198" y="113856"/>
                    </a:lnTo>
                    <a:lnTo>
                      <a:pt x="33270" y="113856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axis_cost1_outline_1"/>
              <p:cNvSpPr/>
              <p:nvPr/>
            </p:nvSpPr>
            <p:spPr>
              <a:xfrm>
                <a:off x="4506239" y="1655958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axis_cost1_outline_2"/>
              <p:cNvSpPr/>
              <p:nvPr/>
            </p:nvSpPr>
            <p:spPr>
              <a:xfrm>
                <a:off x="4593797" y="169546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6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axis_cost1_outline_3"/>
              <p:cNvSpPr/>
              <p:nvPr/>
            </p:nvSpPr>
            <p:spPr>
              <a:xfrm>
                <a:off x="4647568" y="1727308"/>
                <a:ext cx="17585" cy="30742"/>
              </a:xfrm>
              <a:custGeom>
                <a:avLst/>
                <a:gdLst/>
                <a:ahLst/>
                <a:cxnLst/>
                <a:rect l="0" t="0" r="r" b="b"/>
                <a:pathLst>
                  <a:path w="17585" h="30742">
                    <a:moveTo>
                      <a:pt x="17585" y="12144"/>
                    </a:moveTo>
                    <a:cubicBezTo>
                      <a:pt x="17585" y="1643"/>
                      <a:pt x="10247" y="0"/>
                      <a:pt x="7338" y="0"/>
                    </a:cubicBezTo>
                    <a:cubicBezTo>
                      <a:pt x="4175" y="0"/>
                      <a:pt x="0" y="1897"/>
                      <a:pt x="0" y="7334"/>
                    </a:cubicBezTo>
                    <a:cubicBezTo>
                      <a:pt x="0" y="12394"/>
                      <a:pt x="4556" y="13660"/>
                      <a:pt x="7842" y="13660"/>
                    </a:cubicBezTo>
                    <a:cubicBezTo>
                      <a:pt x="8727" y="13660"/>
                      <a:pt x="9362" y="13533"/>
                      <a:pt x="9739" y="13410"/>
                    </a:cubicBezTo>
                    <a:cubicBezTo>
                      <a:pt x="10247" y="13283"/>
                      <a:pt x="10628" y="13156"/>
                      <a:pt x="10878" y="13156"/>
                    </a:cubicBezTo>
                    <a:cubicBezTo>
                      <a:pt x="11767" y="13156"/>
                      <a:pt x="12652" y="13787"/>
                      <a:pt x="12652" y="14926"/>
                    </a:cubicBezTo>
                    <a:cubicBezTo>
                      <a:pt x="12652" y="17332"/>
                      <a:pt x="10628" y="23023"/>
                      <a:pt x="2278" y="28337"/>
                    </a:cubicBezTo>
                    <a:lnTo>
                      <a:pt x="3417" y="30742"/>
                    </a:lnTo>
                    <a:cubicBezTo>
                      <a:pt x="7211" y="29476"/>
                      <a:pt x="17585" y="21126"/>
                      <a:pt x="17585" y="1214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axis_cost1_outline_4"/>
              <p:cNvSpPr/>
              <p:nvPr/>
            </p:nvSpPr>
            <p:spPr>
              <a:xfrm>
                <a:off x="4699288" y="165760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8" y="19356"/>
                    </a:moveTo>
                    <a:lnTo>
                      <a:pt x="80585" y="0"/>
                    </a:lnTo>
                    <a:lnTo>
                      <a:pt x="17585" y="0"/>
                    </a:lnTo>
                    <a:lnTo>
                      <a:pt x="17585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1" y="42128"/>
                    </a:cubicBezTo>
                    <a:cubicBezTo>
                      <a:pt x="50224" y="43013"/>
                      <a:pt x="51236" y="44783"/>
                      <a:pt x="51236" y="47316"/>
                    </a:cubicBezTo>
                    <a:cubicBezTo>
                      <a:pt x="51236" y="49340"/>
                      <a:pt x="50982" y="50856"/>
                      <a:pt x="50224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1" y="4175"/>
                    </a:cubicBezTo>
                    <a:cubicBezTo>
                      <a:pt x="69833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1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8" y="19356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axis_cost1_outline_5"/>
              <p:cNvSpPr/>
              <p:nvPr/>
            </p:nvSpPr>
            <p:spPr>
              <a:xfrm>
                <a:off x="4790117" y="1650771"/>
                <a:ext cx="33270" cy="113855"/>
              </a:xfrm>
              <a:custGeom>
                <a:avLst/>
                <a:gdLst/>
                <a:ahLst/>
                <a:cxnLst/>
                <a:rect l="0" t="0" r="r" b="b"/>
                <a:pathLst>
                  <a:path w="33270" h="113856">
                    <a:moveTo>
                      <a:pt x="33270" y="56928"/>
                    </a:moveTo>
                    <a:lnTo>
                      <a:pt x="6072" y="0"/>
                    </a:lnTo>
                    <a:lnTo>
                      <a:pt x="0" y="0"/>
                    </a:lnTo>
                    <a:lnTo>
                      <a:pt x="24543" y="56928"/>
                    </a:lnTo>
                    <a:lnTo>
                      <a:pt x="0" y="113856"/>
                    </a:lnTo>
                    <a:lnTo>
                      <a:pt x="6072" y="113856"/>
                    </a:lnTo>
                    <a:lnTo>
                      <a:pt x="33270" y="56928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2" name="axis_cost2"/>
            <p:cNvGrpSpPr/>
            <p:nvPr/>
          </p:nvGrpSpPr>
          <p:grpSpPr>
            <a:xfrm>
              <a:off x="4130111" y="590321"/>
              <a:ext cx="363076" cy="114839"/>
              <a:chOff x="4130111" y="590321"/>
              <a:chExt cx="363076" cy="114839"/>
            </a:xfrm>
          </p:grpSpPr>
          <p:sp>
            <p:nvSpPr>
              <p:cNvPr id="223" name="axis_cost2_outline_0"/>
              <p:cNvSpPr/>
              <p:nvPr/>
            </p:nvSpPr>
            <p:spPr>
              <a:xfrm>
                <a:off x="4130111" y="590321"/>
                <a:ext cx="33269" cy="113855"/>
              </a:xfrm>
              <a:custGeom>
                <a:avLst/>
                <a:gdLst/>
                <a:ahLst/>
                <a:cxnLst/>
                <a:rect l="0" t="0" r="r" b="b"/>
                <a:pathLst>
                  <a:path w="33270" h="113856">
                    <a:moveTo>
                      <a:pt x="33270" y="113856"/>
                    </a:moveTo>
                    <a:lnTo>
                      <a:pt x="8727" y="56928"/>
                    </a:lnTo>
                    <a:lnTo>
                      <a:pt x="33270" y="0"/>
                    </a:lnTo>
                    <a:lnTo>
                      <a:pt x="27198" y="0"/>
                    </a:lnTo>
                    <a:lnTo>
                      <a:pt x="0" y="56928"/>
                    </a:lnTo>
                    <a:lnTo>
                      <a:pt x="27198" y="113856"/>
                    </a:lnTo>
                    <a:lnTo>
                      <a:pt x="33270" y="113856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axis_cost2_outline_1"/>
              <p:cNvSpPr/>
              <p:nvPr/>
            </p:nvSpPr>
            <p:spPr>
              <a:xfrm>
                <a:off x="4176039" y="595508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axis_cost2_outline_2"/>
              <p:cNvSpPr/>
              <p:nvPr/>
            </p:nvSpPr>
            <p:spPr>
              <a:xfrm>
                <a:off x="4255191" y="635017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axis_cost2_outline_3"/>
              <p:cNvSpPr/>
              <p:nvPr/>
            </p:nvSpPr>
            <p:spPr>
              <a:xfrm>
                <a:off x="4317368" y="666858"/>
                <a:ext cx="17585" cy="30742"/>
              </a:xfrm>
              <a:custGeom>
                <a:avLst/>
                <a:gdLst/>
                <a:ahLst/>
                <a:cxnLst/>
                <a:rect l="0" t="0" r="r" b="b"/>
                <a:pathLst>
                  <a:path w="17585" h="30742">
                    <a:moveTo>
                      <a:pt x="17585" y="12144"/>
                    </a:moveTo>
                    <a:cubicBezTo>
                      <a:pt x="17585" y="1643"/>
                      <a:pt x="10247" y="0"/>
                      <a:pt x="7338" y="0"/>
                    </a:cubicBezTo>
                    <a:cubicBezTo>
                      <a:pt x="4175" y="0"/>
                      <a:pt x="0" y="1897"/>
                      <a:pt x="0" y="7334"/>
                    </a:cubicBezTo>
                    <a:cubicBezTo>
                      <a:pt x="0" y="12394"/>
                      <a:pt x="4556" y="13660"/>
                      <a:pt x="7842" y="13660"/>
                    </a:cubicBezTo>
                    <a:cubicBezTo>
                      <a:pt x="8727" y="13660"/>
                      <a:pt x="9362" y="13533"/>
                      <a:pt x="9739" y="13410"/>
                    </a:cubicBezTo>
                    <a:cubicBezTo>
                      <a:pt x="10247" y="13283"/>
                      <a:pt x="10628" y="13156"/>
                      <a:pt x="10878" y="13156"/>
                    </a:cubicBezTo>
                    <a:cubicBezTo>
                      <a:pt x="11767" y="13156"/>
                      <a:pt x="12652" y="13787"/>
                      <a:pt x="12652" y="14926"/>
                    </a:cubicBezTo>
                    <a:cubicBezTo>
                      <a:pt x="12652" y="17332"/>
                      <a:pt x="10628" y="23023"/>
                      <a:pt x="2278" y="28337"/>
                    </a:cubicBezTo>
                    <a:lnTo>
                      <a:pt x="3417" y="30742"/>
                    </a:lnTo>
                    <a:cubicBezTo>
                      <a:pt x="7211" y="29476"/>
                      <a:pt x="17585" y="21126"/>
                      <a:pt x="17585" y="1214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axis_cost2_outline_4"/>
              <p:cNvSpPr/>
              <p:nvPr/>
            </p:nvSpPr>
            <p:spPr>
              <a:xfrm>
                <a:off x="4369088" y="59715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8" y="19356"/>
                    </a:moveTo>
                    <a:lnTo>
                      <a:pt x="80585" y="0"/>
                    </a:lnTo>
                    <a:lnTo>
                      <a:pt x="17585" y="0"/>
                    </a:lnTo>
                    <a:lnTo>
                      <a:pt x="17585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1" y="42128"/>
                    </a:cubicBezTo>
                    <a:cubicBezTo>
                      <a:pt x="50224" y="43013"/>
                      <a:pt x="51236" y="44783"/>
                      <a:pt x="51236" y="47316"/>
                    </a:cubicBezTo>
                    <a:cubicBezTo>
                      <a:pt x="51236" y="49340"/>
                      <a:pt x="50982" y="50856"/>
                      <a:pt x="50224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1" y="4175"/>
                    </a:cubicBezTo>
                    <a:cubicBezTo>
                      <a:pt x="69833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1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8" y="19356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axis_cost2_outline_5"/>
              <p:cNvSpPr/>
              <p:nvPr/>
            </p:nvSpPr>
            <p:spPr>
              <a:xfrm>
                <a:off x="4459917" y="590321"/>
                <a:ext cx="33270" cy="113855"/>
              </a:xfrm>
              <a:custGeom>
                <a:avLst/>
                <a:gdLst/>
                <a:ahLst/>
                <a:cxnLst/>
                <a:rect l="0" t="0" r="r" b="b"/>
                <a:pathLst>
                  <a:path w="33270" h="113856">
                    <a:moveTo>
                      <a:pt x="33270" y="56928"/>
                    </a:moveTo>
                    <a:lnTo>
                      <a:pt x="6072" y="0"/>
                    </a:lnTo>
                    <a:lnTo>
                      <a:pt x="0" y="0"/>
                    </a:lnTo>
                    <a:lnTo>
                      <a:pt x="24543" y="56928"/>
                    </a:lnTo>
                    <a:lnTo>
                      <a:pt x="0" y="113856"/>
                    </a:lnTo>
                    <a:lnTo>
                      <a:pt x="6072" y="113856"/>
                    </a:lnTo>
                    <a:lnTo>
                      <a:pt x="33270" y="56928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9" name="Fstar"/>
            <p:cNvGrpSpPr/>
            <p:nvPr/>
          </p:nvGrpSpPr>
          <p:grpSpPr>
            <a:xfrm>
              <a:off x="4731096" y="956093"/>
              <a:ext cx="131175" cy="94926"/>
              <a:chOff x="4731096" y="956093"/>
              <a:chExt cx="131175" cy="94926"/>
            </a:xfrm>
          </p:grpSpPr>
          <p:sp>
            <p:nvSpPr>
              <p:cNvPr id="230" name="Fstar_outline_0"/>
              <p:cNvSpPr/>
              <p:nvPr/>
            </p:nvSpPr>
            <p:spPr>
              <a:xfrm>
                <a:off x="4731096" y="964279"/>
                <a:ext cx="84613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7"/>
                    </a:cubicBezTo>
                    <a:cubicBezTo>
                      <a:pt x="28690" y="9565"/>
                      <a:pt x="28158" y="12752"/>
                      <a:pt x="27230" y="16073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1"/>
                      <a:pt x="50875" y="4381"/>
                    </a:cubicBezTo>
                    <a:cubicBezTo>
                      <a:pt x="73323" y="4381"/>
                      <a:pt x="77974" y="6112"/>
                      <a:pt x="77974" y="14478"/>
                    </a:cubicBezTo>
                    <a:cubicBezTo>
                      <a:pt x="77974" y="15411"/>
                      <a:pt x="77974" y="15938"/>
                      <a:pt x="77839" y="17534"/>
                    </a:cubicBezTo>
                    <a:cubicBezTo>
                      <a:pt x="77708" y="18463"/>
                      <a:pt x="77708" y="18994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Fstar_outline_1"/>
              <p:cNvSpPr/>
              <p:nvPr/>
            </p:nvSpPr>
            <p:spPr>
              <a:xfrm>
                <a:off x="4826267" y="956093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4" h="40156">
                    <a:moveTo>
                      <a:pt x="36004" y="12037"/>
                    </a:moveTo>
                    <a:cubicBezTo>
                      <a:pt x="36004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6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2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6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2" y="38600"/>
                      <a:pt x="21272" y="36628"/>
                    </a:cubicBezTo>
                    <a:cubicBezTo>
                      <a:pt x="21272" y="32373"/>
                      <a:pt x="18883" y="26979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7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1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4" y="13387"/>
                      <a:pt x="36004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2" name="b1"/>
            <p:cNvGrpSpPr/>
            <p:nvPr/>
          </p:nvGrpSpPr>
          <p:grpSpPr>
            <a:xfrm>
              <a:off x="4805452" y="1385050"/>
              <a:ext cx="105917" cy="111802"/>
              <a:chOff x="4805452" y="1385050"/>
              <a:chExt cx="105917" cy="111802"/>
            </a:xfrm>
          </p:grpSpPr>
          <p:sp>
            <p:nvSpPr>
              <p:cNvPr id="233" name="b1_outline_0"/>
              <p:cNvSpPr/>
              <p:nvPr/>
            </p:nvSpPr>
            <p:spPr>
              <a:xfrm>
                <a:off x="4805452" y="1385050"/>
                <a:ext cx="56927" cy="87796"/>
              </a:xfrm>
              <a:custGeom>
                <a:avLst/>
                <a:gdLst/>
                <a:ahLst/>
                <a:cxnLst/>
                <a:rect l="0" t="0" r="r" b="b"/>
                <a:pathLst>
                  <a:path w="56928" h="87797">
                    <a:moveTo>
                      <a:pt x="56928" y="45795"/>
                    </a:moveTo>
                    <a:cubicBezTo>
                      <a:pt x="56928" y="36941"/>
                      <a:pt x="50728" y="30615"/>
                      <a:pt x="42255" y="30615"/>
                    </a:cubicBezTo>
                    <a:cubicBezTo>
                      <a:pt x="33397" y="30615"/>
                      <a:pt x="26821" y="35802"/>
                      <a:pt x="17840" y="49717"/>
                    </a:cubicBezTo>
                    <a:lnTo>
                      <a:pt x="30996" y="631"/>
                    </a:lnTo>
                    <a:lnTo>
                      <a:pt x="30361" y="0"/>
                    </a:lnTo>
                    <a:cubicBezTo>
                      <a:pt x="24039" y="1139"/>
                      <a:pt x="19483" y="1897"/>
                      <a:pt x="11005" y="2909"/>
                    </a:cubicBezTo>
                    <a:lnTo>
                      <a:pt x="11005" y="5060"/>
                    </a:lnTo>
                    <a:cubicBezTo>
                      <a:pt x="18470" y="5314"/>
                      <a:pt x="19229" y="5691"/>
                      <a:pt x="19229" y="8473"/>
                    </a:cubicBezTo>
                    <a:cubicBezTo>
                      <a:pt x="19229" y="9612"/>
                      <a:pt x="18979" y="11005"/>
                      <a:pt x="18089" y="13915"/>
                    </a:cubicBezTo>
                    <a:lnTo>
                      <a:pt x="17459" y="16320"/>
                    </a:lnTo>
                    <a:lnTo>
                      <a:pt x="17205" y="17205"/>
                    </a:lnTo>
                    <a:lnTo>
                      <a:pt x="0" y="80585"/>
                    </a:lnTo>
                    <a:lnTo>
                      <a:pt x="0" y="81090"/>
                    </a:lnTo>
                    <a:cubicBezTo>
                      <a:pt x="0" y="83999"/>
                      <a:pt x="9616" y="87797"/>
                      <a:pt x="16828" y="87797"/>
                    </a:cubicBezTo>
                    <a:cubicBezTo>
                      <a:pt x="35929" y="87797"/>
                      <a:pt x="56928" y="65782"/>
                      <a:pt x="56928" y="45795"/>
                    </a:cubicBezTo>
                    <a:close/>
                    <a:moveTo>
                      <a:pt x="46176" y="47692"/>
                    </a:moveTo>
                    <a:cubicBezTo>
                      <a:pt x="46176" y="56043"/>
                      <a:pt x="39850" y="69580"/>
                      <a:pt x="32262" y="77422"/>
                    </a:cubicBezTo>
                    <a:cubicBezTo>
                      <a:pt x="27579" y="82229"/>
                      <a:pt x="22138" y="84884"/>
                      <a:pt x="16700" y="84884"/>
                    </a:cubicBezTo>
                    <a:cubicBezTo>
                      <a:pt x="12779" y="84884"/>
                      <a:pt x="10878" y="83495"/>
                      <a:pt x="10878" y="80585"/>
                    </a:cubicBezTo>
                    <a:cubicBezTo>
                      <a:pt x="10878" y="72993"/>
                      <a:pt x="14677" y="60849"/>
                      <a:pt x="19991" y="51360"/>
                    </a:cubicBezTo>
                    <a:cubicBezTo>
                      <a:pt x="25555" y="41620"/>
                      <a:pt x="31246" y="36814"/>
                      <a:pt x="37322" y="36814"/>
                    </a:cubicBezTo>
                    <a:cubicBezTo>
                      <a:pt x="42886" y="36814"/>
                      <a:pt x="46176" y="40989"/>
                      <a:pt x="46176" y="4769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b1_outline_1"/>
              <p:cNvSpPr/>
              <p:nvPr/>
            </p:nvSpPr>
            <p:spPr>
              <a:xfrm>
                <a:off x="4882005" y="142670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5" name="b2"/>
            <p:cNvGrpSpPr/>
            <p:nvPr/>
          </p:nvGrpSpPr>
          <p:grpSpPr>
            <a:xfrm>
              <a:off x="3999002" y="807200"/>
              <a:ext cx="114323" cy="111802"/>
              <a:chOff x="3999002" y="807200"/>
              <a:chExt cx="114323" cy="111802"/>
            </a:xfrm>
          </p:grpSpPr>
          <p:sp>
            <p:nvSpPr>
              <p:cNvPr id="236" name="b2_outline_0"/>
              <p:cNvSpPr/>
              <p:nvPr/>
            </p:nvSpPr>
            <p:spPr>
              <a:xfrm>
                <a:off x="3999002" y="807200"/>
                <a:ext cx="56927" cy="87796"/>
              </a:xfrm>
              <a:custGeom>
                <a:avLst/>
                <a:gdLst/>
                <a:ahLst/>
                <a:cxnLst/>
                <a:rect l="0" t="0" r="r" b="b"/>
                <a:pathLst>
                  <a:path w="56928" h="87797">
                    <a:moveTo>
                      <a:pt x="56928" y="45795"/>
                    </a:moveTo>
                    <a:cubicBezTo>
                      <a:pt x="56928" y="36941"/>
                      <a:pt x="50728" y="30615"/>
                      <a:pt x="42255" y="30615"/>
                    </a:cubicBezTo>
                    <a:cubicBezTo>
                      <a:pt x="33397" y="30615"/>
                      <a:pt x="26821" y="35802"/>
                      <a:pt x="17840" y="49717"/>
                    </a:cubicBezTo>
                    <a:lnTo>
                      <a:pt x="30996" y="631"/>
                    </a:lnTo>
                    <a:lnTo>
                      <a:pt x="30361" y="0"/>
                    </a:lnTo>
                    <a:cubicBezTo>
                      <a:pt x="24039" y="1139"/>
                      <a:pt x="19483" y="1897"/>
                      <a:pt x="11005" y="2909"/>
                    </a:cubicBezTo>
                    <a:lnTo>
                      <a:pt x="11005" y="5060"/>
                    </a:lnTo>
                    <a:cubicBezTo>
                      <a:pt x="18470" y="5314"/>
                      <a:pt x="19229" y="5691"/>
                      <a:pt x="19229" y="8473"/>
                    </a:cubicBezTo>
                    <a:cubicBezTo>
                      <a:pt x="19229" y="9612"/>
                      <a:pt x="18979" y="11005"/>
                      <a:pt x="18089" y="13915"/>
                    </a:cubicBezTo>
                    <a:lnTo>
                      <a:pt x="17459" y="16320"/>
                    </a:lnTo>
                    <a:lnTo>
                      <a:pt x="17205" y="17205"/>
                    </a:lnTo>
                    <a:lnTo>
                      <a:pt x="0" y="80585"/>
                    </a:lnTo>
                    <a:lnTo>
                      <a:pt x="0" y="81090"/>
                    </a:lnTo>
                    <a:cubicBezTo>
                      <a:pt x="0" y="83999"/>
                      <a:pt x="9616" y="87797"/>
                      <a:pt x="16828" y="87797"/>
                    </a:cubicBezTo>
                    <a:cubicBezTo>
                      <a:pt x="35929" y="87797"/>
                      <a:pt x="56928" y="65782"/>
                      <a:pt x="56928" y="45795"/>
                    </a:cubicBezTo>
                    <a:close/>
                    <a:moveTo>
                      <a:pt x="46176" y="47692"/>
                    </a:moveTo>
                    <a:cubicBezTo>
                      <a:pt x="46176" y="56043"/>
                      <a:pt x="39850" y="69580"/>
                      <a:pt x="32262" y="77422"/>
                    </a:cubicBezTo>
                    <a:cubicBezTo>
                      <a:pt x="27579" y="82229"/>
                      <a:pt x="22138" y="84884"/>
                      <a:pt x="16700" y="84884"/>
                    </a:cubicBezTo>
                    <a:cubicBezTo>
                      <a:pt x="12779" y="84884"/>
                      <a:pt x="10878" y="83495"/>
                      <a:pt x="10878" y="80585"/>
                    </a:cubicBezTo>
                    <a:cubicBezTo>
                      <a:pt x="10878" y="72993"/>
                      <a:pt x="14677" y="60849"/>
                      <a:pt x="19991" y="51360"/>
                    </a:cubicBezTo>
                    <a:cubicBezTo>
                      <a:pt x="25555" y="41620"/>
                      <a:pt x="31246" y="36814"/>
                      <a:pt x="37322" y="36814"/>
                    </a:cubicBezTo>
                    <a:cubicBezTo>
                      <a:pt x="42886" y="36814"/>
                      <a:pt x="46176" y="40989"/>
                      <a:pt x="46176" y="4769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b2_outline_1"/>
              <p:cNvSpPr/>
              <p:nvPr/>
            </p:nvSpPr>
            <p:spPr>
              <a:xfrm>
                <a:off x="4067149" y="848859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8" name="duals_active"/>
            <p:cNvGrpSpPr/>
            <p:nvPr/>
          </p:nvGrpSpPr>
          <p:grpSpPr>
            <a:xfrm>
              <a:off x="4014012" y="1825661"/>
              <a:ext cx="897271" cy="146489"/>
              <a:chOff x="4014012" y="1825661"/>
              <a:chExt cx="897271" cy="146489"/>
            </a:xfrm>
          </p:grpSpPr>
          <p:sp>
            <p:nvSpPr>
              <p:cNvPr id="239" name="duals_active_outline_0"/>
              <p:cNvSpPr/>
              <p:nvPr/>
            </p:nvSpPr>
            <p:spPr>
              <a:xfrm>
                <a:off x="4014012" y="1833569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4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duals_active_outline_1"/>
              <p:cNvSpPr/>
              <p:nvPr/>
            </p:nvSpPr>
            <p:spPr>
              <a:xfrm>
                <a:off x="4091851" y="1825661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4" h="40156">
                    <a:moveTo>
                      <a:pt x="36004" y="12037"/>
                    </a:moveTo>
                    <a:cubicBezTo>
                      <a:pt x="36004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6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2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1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6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2" y="38600"/>
                      <a:pt x="21272" y="36628"/>
                    </a:cubicBezTo>
                    <a:cubicBezTo>
                      <a:pt x="21272" y="32373"/>
                      <a:pt x="18883" y="26979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7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0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4" y="13387"/>
                      <a:pt x="36004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duals_active_outline_2"/>
              <p:cNvSpPr/>
              <p:nvPr/>
            </p:nvSpPr>
            <p:spPr>
              <a:xfrm>
                <a:off x="4097799" y="190200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duals_active_outline_3"/>
              <p:cNvSpPr/>
              <p:nvPr/>
            </p:nvSpPr>
            <p:spPr>
              <a:xfrm>
                <a:off x="4189627" y="1853095"/>
                <a:ext cx="68012" cy="66682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66683">
                    <a:moveTo>
                      <a:pt x="68012" y="34671"/>
                    </a:moveTo>
                    <a:lnTo>
                      <a:pt x="68012" y="32012"/>
                    </a:lnTo>
                    <a:lnTo>
                      <a:pt x="0" y="0"/>
                    </a:lnTo>
                    <a:lnTo>
                      <a:pt x="0" y="7438"/>
                    </a:lnTo>
                    <a:lnTo>
                      <a:pt x="55261" y="33341"/>
                    </a:lnTo>
                    <a:lnTo>
                      <a:pt x="0" y="59246"/>
                    </a:lnTo>
                    <a:lnTo>
                      <a:pt x="0" y="66683"/>
                    </a:lnTo>
                    <a:lnTo>
                      <a:pt x="68012" y="3467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duals_active_outline_4"/>
              <p:cNvSpPr/>
              <p:nvPr/>
            </p:nvSpPr>
            <p:spPr>
              <a:xfrm>
                <a:off x="4305978" y="1830779"/>
                <a:ext cx="60043" cy="91658"/>
              </a:xfrm>
              <a:custGeom>
                <a:avLst/>
                <a:gdLst/>
                <a:ahLst/>
                <a:cxnLst/>
                <a:rect l="0" t="0" r="r" b="b"/>
                <a:pathLst>
                  <a:path w="60043" h="91658">
                    <a:moveTo>
                      <a:pt x="60043" y="45962"/>
                    </a:moveTo>
                    <a:cubicBezTo>
                      <a:pt x="60043" y="18729"/>
                      <a:pt x="47954" y="0"/>
                      <a:pt x="30551" y="0"/>
                    </a:cubicBezTo>
                    <a:cubicBezTo>
                      <a:pt x="23249" y="0"/>
                      <a:pt x="17669" y="2258"/>
                      <a:pt x="12752" y="6910"/>
                    </a:cubicBezTo>
                    <a:cubicBezTo>
                      <a:pt x="5048" y="14347"/>
                      <a:pt x="0" y="29623"/>
                      <a:pt x="0" y="45164"/>
                    </a:cubicBezTo>
                    <a:cubicBezTo>
                      <a:pt x="0" y="59642"/>
                      <a:pt x="4385" y="75184"/>
                      <a:pt x="10628" y="82625"/>
                    </a:cubicBezTo>
                    <a:cubicBezTo>
                      <a:pt x="15542" y="88467"/>
                      <a:pt x="22316" y="91658"/>
                      <a:pt x="30024" y="91658"/>
                    </a:cubicBezTo>
                    <a:cubicBezTo>
                      <a:pt x="36798" y="91658"/>
                      <a:pt x="42509" y="89400"/>
                      <a:pt x="47292" y="84749"/>
                    </a:cubicBezTo>
                    <a:cubicBezTo>
                      <a:pt x="54995" y="77442"/>
                      <a:pt x="60043" y="62036"/>
                      <a:pt x="60043" y="45962"/>
                    </a:cubicBezTo>
                    <a:close/>
                    <a:moveTo>
                      <a:pt x="47292" y="46228"/>
                    </a:moveTo>
                    <a:cubicBezTo>
                      <a:pt x="47292" y="73989"/>
                      <a:pt x="41446" y="88202"/>
                      <a:pt x="30024" y="88202"/>
                    </a:cubicBezTo>
                    <a:cubicBezTo>
                      <a:pt x="18597" y="88202"/>
                      <a:pt x="12752" y="73989"/>
                      <a:pt x="12752" y="46359"/>
                    </a:cubicBezTo>
                    <a:cubicBezTo>
                      <a:pt x="12752" y="18201"/>
                      <a:pt x="18733" y="3453"/>
                      <a:pt x="30154" y="3453"/>
                    </a:cubicBezTo>
                    <a:cubicBezTo>
                      <a:pt x="41315" y="3453"/>
                      <a:pt x="47292" y="18467"/>
                      <a:pt x="47292" y="46228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duals_active_outline_5"/>
              <p:cNvSpPr/>
              <p:nvPr/>
            </p:nvSpPr>
            <p:spPr>
              <a:xfrm>
                <a:off x="4376650" y="1907026"/>
                <a:ext cx="18466" cy="32277"/>
              </a:xfrm>
              <a:custGeom>
                <a:avLst/>
                <a:gdLst/>
                <a:ahLst/>
                <a:cxnLst/>
                <a:rect l="0" t="0" r="r" b="b"/>
                <a:pathLst>
                  <a:path w="18467" h="32278">
                    <a:moveTo>
                      <a:pt x="18467" y="12752"/>
                    </a:moveTo>
                    <a:cubicBezTo>
                      <a:pt x="18467" y="1726"/>
                      <a:pt x="10759" y="0"/>
                      <a:pt x="7707" y="0"/>
                    </a:cubicBezTo>
                    <a:cubicBezTo>
                      <a:pt x="4385" y="0"/>
                      <a:pt x="0" y="1992"/>
                      <a:pt x="0" y="7703"/>
                    </a:cubicBezTo>
                    <a:cubicBezTo>
                      <a:pt x="0" y="13018"/>
                      <a:pt x="4782" y="14347"/>
                      <a:pt x="8235" y="14347"/>
                    </a:cubicBezTo>
                    <a:cubicBezTo>
                      <a:pt x="9168" y="14347"/>
                      <a:pt x="9831" y="14212"/>
                      <a:pt x="10231" y="14081"/>
                    </a:cubicBezTo>
                    <a:cubicBezTo>
                      <a:pt x="10759" y="13946"/>
                      <a:pt x="11160" y="13815"/>
                      <a:pt x="11426" y="13815"/>
                    </a:cubicBezTo>
                    <a:cubicBezTo>
                      <a:pt x="12355" y="13815"/>
                      <a:pt x="13283" y="14478"/>
                      <a:pt x="13283" y="15677"/>
                    </a:cubicBezTo>
                    <a:cubicBezTo>
                      <a:pt x="13283" y="18197"/>
                      <a:pt x="11160" y="24178"/>
                      <a:pt x="2393" y="29754"/>
                    </a:cubicBezTo>
                    <a:lnTo>
                      <a:pt x="3588" y="32278"/>
                    </a:lnTo>
                    <a:cubicBezTo>
                      <a:pt x="7572" y="30952"/>
                      <a:pt x="18467" y="22185"/>
                      <a:pt x="18467" y="1275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duals_active_outline_6"/>
              <p:cNvSpPr/>
              <p:nvPr/>
            </p:nvSpPr>
            <p:spPr>
              <a:xfrm>
                <a:off x="4559301" y="1833569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2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0" y="81562"/>
                      <a:pt x="78637" y="0"/>
                      <a:pt x="39585" y="0"/>
                    </a:cubicBezTo>
                    <a:lnTo>
                      <a:pt x="38119" y="0"/>
                    </a:lnTo>
                    <a:cubicBezTo>
                      <a:pt x="35730" y="0"/>
                      <a:pt x="30150" y="1992"/>
                      <a:pt x="28424" y="3588"/>
                    </a:cubicBezTo>
                    <a:cubicBezTo>
                      <a:pt x="28293" y="3719"/>
                      <a:pt x="29352" y="4913"/>
                      <a:pt x="29488" y="4913"/>
                    </a:cubicBezTo>
                    <a:cubicBezTo>
                      <a:pt x="30150" y="4385"/>
                      <a:pt x="33076" y="3187"/>
                      <a:pt x="35730" y="3187"/>
                    </a:cubicBezTo>
                    <a:cubicBezTo>
                      <a:pt x="48617" y="3187"/>
                      <a:pt x="45160" y="24444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6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699" y="39985"/>
                    </a:lnTo>
                    <a:cubicBezTo>
                      <a:pt x="42902" y="46891"/>
                      <a:pt x="30949" y="88467"/>
                      <a:pt x="52602" y="88467"/>
                    </a:cubicBezTo>
                    <a:cubicBezTo>
                      <a:pt x="58444" y="88467"/>
                      <a:pt x="67611" y="78903"/>
                      <a:pt x="67878" y="77311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duals_active_outline_7"/>
              <p:cNvSpPr/>
              <p:nvPr/>
            </p:nvSpPr>
            <p:spPr>
              <a:xfrm>
                <a:off x="4637126" y="1825661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4" h="40156">
                    <a:moveTo>
                      <a:pt x="36004" y="12037"/>
                    </a:moveTo>
                    <a:cubicBezTo>
                      <a:pt x="36004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6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2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1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6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2" y="38600"/>
                      <a:pt x="21272" y="36628"/>
                    </a:cubicBezTo>
                    <a:cubicBezTo>
                      <a:pt x="21272" y="32373"/>
                      <a:pt x="18883" y="26979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7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0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4" y="13387"/>
                      <a:pt x="36004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duals_active_outline_8"/>
              <p:cNvSpPr/>
              <p:nvPr/>
            </p:nvSpPr>
            <p:spPr>
              <a:xfrm>
                <a:off x="4634667" y="1902007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duals_active_outline_9"/>
              <p:cNvSpPr/>
              <p:nvPr/>
            </p:nvSpPr>
            <p:spPr>
              <a:xfrm>
                <a:off x="4734889" y="1869303"/>
                <a:ext cx="68012" cy="34401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34401">
                    <a:moveTo>
                      <a:pt x="68012" y="7438"/>
                    </a:moveTo>
                    <a:lnTo>
                      <a:pt x="68012" y="0"/>
                    </a:lnTo>
                    <a:lnTo>
                      <a:pt x="0" y="0"/>
                    </a:lnTo>
                    <a:lnTo>
                      <a:pt x="0" y="7438"/>
                    </a:lnTo>
                    <a:lnTo>
                      <a:pt x="68012" y="7438"/>
                    </a:lnTo>
                    <a:close/>
                    <a:moveTo>
                      <a:pt x="68012" y="34401"/>
                    </a:moveTo>
                    <a:lnTo>
                      <a:pt x="68012" y="26964"/>
                    </a:lnTo>
                    <a:lnTo>
                      <a:pt x="0" y="26964"/>
                    </a:lnTo>
                    <a:lnTo>
                      <a:pt x="0" y="34401"/>
                    </a:lnTo>
                    <a:lnTo>
                      <a:pt x="68012" y="3440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duals_active_outline_10"/>
              <p:cNvSpPr/>
              <p:nvPr/>
            </p:nvSpPr>
            <p:spPr>
              <a:xfrm>
                <a:off x="4851240" y="1830779"/>
                <a:ext cx="60043" cy="91658"/>
              </a:xfrm>
              <a:custGeom>
                <a:avLst/>
                <a:gdLst/>
                <a:ahLst/>
                <a:cxnLst/>
                <a:rect l="0" t="0" r="r" b="b"/>
                <a:pathLst>
                  <a:path w="60043" h="91658">
                    <a:moveTo>
                      <a:pt x="60043" y="45962"/>
                    </a:moveTo>
                    <a:cubicBezTo>
                      <a:pt x="60043" y="18729"/>
                      <a:pt x="47954" y="0"/>
                      <a:pt x="30551" y="0"/>
                    </a:cubicBezTo>
                    <a:cubicBezTo>
                      <a:pt x="23249" y="0"/>
                      <a:pt x="17669" y="2258"/>
                      <a:pt x="12752" y="6910"/>
                    </a:cubicBezTo>
                    <a:cubicBezTo>
                      <a:pt x="5048" y="14347"/>
                      <a:pt x="0" y="29623"/>
                      <a:pt x="0" y="45164"/>
                    </a:cubicBezTo>
                    <a:cubicBezTo>
                      <a:pt x="0" y="59642"/>
                      <a:pt x="4385" y="75184"/>
                      <a:pt x="10628" y="82625"/>
                    </a:cubicBezTo>
                    <a:cubicBezTo>
                      <a:pt x="15542" y="88467"/>
                      <a:pt x="22316" y="91658"/>
                      <a:pt x="30024" y="91658"/>
                    </a:cubicBezTo>
                    <a:cubicBezTo>
                      <a:pt x="36798" y="91658"/>
                      <a:pt x="42509" y="89400"/>
                      <a:pt x="47292" y="84749"/>
                    </a:cubicBezTo>
                    <a:cubicBezTo>
                      <a:pt x="54995" y="77442"/>
                      <a:pt x="60043" y="62036"/>
                      <a:pt x="60043" y="45962"/>
                    </a:cubicBezTo>
                    <a:close/>
                    <a:moveTo>
                      <a:pt x="47292" y="46228"/>
                    </a:moveTo>
                    <a:cubicBezTo>
                      <a:pt x="47292" y="73989"/>
                      <a:pt x="41446" y="88202"/>
                      <a:pt x="30024" y="88202"/>
                    </a:cubicBezTo>
                    <a:cubicBezTo>
                      <a:pt x="18598" y="88202"/>
                      <a:pt x="12752" y="73989"/>
                      <a:pt x="12752" y="46359"/>
                    </a:cubicBezTo>
                    <a:cubicBezTo>
                      <a:pt x="12752" y="18201"/>
                      <a:pt x="18732" y="3453"/>
                      <a:pt x="30155" y="3453"/>
                    </a:cubicBezTo>
                    <a:cubicBezTo>
                      <a:pt x="41315" y="3453"/>
                      <a:pt x="47292" y="18467"/>
                      <a:pt x="47292" y="46228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21" name="summary_rule_0" descr="Editable line; source id summary_rule_0"/>
          <p:cNvCxnSpPr/>
          <p:nvPr/>
        </p:nvCxnSpPr>
        <p:spPr>
          <a:xfrm>
            <a:off x="50800" y="2235200"/>
            <a:ext cx="4927600" cy="0"/>
          </a:xfrm>
          <a:prstGeom prst="line">
            <a:avLst/>
          </a:prstGeom>
          <a:ln w="8254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ne_rule" descr="Editable text; source id one_rule"/>
          <p:cNvSpPr txBox="1"/>
          <p:nvPr/>
        </p:nvSpPr>
        <p:spPr>
          <a:xfrm>
            <a:off x="50800" y="2235200"/>
            <a:ext cx="990599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11"/>
              </a:lnSpc>
              <a:spcBef>
                <a:spcPts val="0"/>
              </a:spcBef>
              <a:spcAft>
                <a:spcPts val="0"/>
              </a:spcAft>
              <a:defRPr sz="879" b="1" i="0" lang="zh-CN" dirty="0">
                <a:solidFill>
                  <a:srgbClr val="264C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79" b="1" i="0" lang="zh-CN" dirty="0">
                <a:solidFill>
                  <a:srgbClr val="264C70"/>
                </a:solidFill>
                <a:latin typeface="Liberation Sans"/>
                <a:ea typeface="Liberation Sans"/>
                <a:cs typeface="Liberation Sans"/>
              </a:rPr>
              <a:t>One price rule</a:t>
            </a:r>
          </a:p>
        </p:txBody>
      </p:sp>
      <p:sp>
        <p:nvSpPr>
          <p:cNvPr id="123" name="exact_settings" descr="Editable text; source id exact_settings"/>
          <p:cNvSpPr txBox="1"/>
          <p:nvPr/>
        </p:nvSpPr>
        <p:spPr>
          <a:xfrm>
            <a:off x="1104900" y="2273299"/>
            <a:ext cx="1384299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rPr>
              <a:t>exact settings</a:t>
            </a:r>
          </a:p>
        </p:txBody>
      </p:sp>
      <p:cxnSp>
        <p:nvCxnSpPr>
          <p:cNvPr id="124" name="exact_bracket_0" descr="Editable line; source id exact_bracket_0"/>
          <p:cNvCxnSpPr/>
          <p:nvPr/>
        </p:nvCxnSpPr>
        <p:spPr>
          <a:xfrm flipV="1">
            <a:off x="50800" y="2412999"/>
            <a:ext cx="0" cy="25401"/>
          </a:xfrm>
          <a:prstGeom prst="line">
            <a:avLst/>
          </a:prstGeom>
          <a:ln w="6349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exact_bracket_1" descr="Editable line; source id exact_bracket_1"/>
          <p:cNvCxnSpPr/>
          <p:nvPr/>
        </p:nvCxnSpPr>
        <p:spPr>
          <a:xfrm>
            <a:off x="50800" y="2412999"/>
            <a:ext cx="2438400" cy="0"/>
          </a:xfrm>
          <a:prstGeom prst="line">
            <a:avLst/>
          </a:prstGeom>
          <a:ln w="6349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xact_bracket_2" descr="Editable line; source id exact_bracket_2"/>
          <p:cNvCxnSpPr/>
          <p:nvPr/>
        </p:nvCxnSpPr>
        <p:spPr>
          <a:xfrm>
            <a:off x="2489200" y="2412999"/>
            <a:ext cx="0" cy="25401"/>
          </a:xfrm>
          <a:prstGeom prst="line">
            <a:avLst/>
          </a:prstGeom>
          <a:ln w="6349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limit_bracket_0" descr="Editable line; source id limit_bracket_0"/>
          <p:cNvCxnSpPr/>
          <p:nvPr/>
        </p:nvCxnSpPr>
        <p:spPr>
          <a:xfrm flipV="1">
            <a:off x="3441700" y="2412999"/>
            <a:ext cx="0" cy="25401"/>
          </a:xfrm>
          <a:prstGeom prst="line">
            <a:avLst/>
          </a:prstGeom>
          <a:ln w="6349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limit_bracket_1" descr="Editable line; source id limit_bracket_1"/>
          <p:cNvCxnSpPr/>
          <p:nvPr/>
        </p:nvCxnSpPr>
        <p:spPr>
          <a:xfrm>
            <a:off x="3441700" y="2412999"/>
            <a:ext cx="1536700" cy="0"/>
          </a:xfrm>
          <a:prstGeom prst="line">
            <a:avLst/>
          </a:prstGeom>
          <a:ln w="6349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limit_bracket_2" descr="Editable line; source id limit_bracket_2"/>
          <p:cNvCxnSpPr/>
          <p:nvPr/>
        </p:nvCxnSpPr>
        <p:spPr>
          <a:xfrm>
            <a:off x="4978400" y="2412999"/>
            <a:ext cx="0" cy="25401"/>
          </a:xfrm>
          <a:prstGeom prst="line">
            <a:avLst/>
          </a:prstGeom>
          <a:ln w="6349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conditional" descr="Editable text; source id conditional"/>
          <p:cNvSpPr txBox="1"/>
          <p:nvPr/>
        </p:nvSpPr>
        <p:spPr>
          <a:xfrm>
            <a:off x="3568700" y="2273299"/>
            <a:ext cx="1371599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rPr>
              <a:t>conditional limits</a:t>
            </a:r>
          </a:p>
        </p:txBody>
      </p:sp>
      <p:grpSp>
        <p:nvGrpSpPr>
          <p:cNvPr id="280" name="module_ours_band"/>
          <p:cNvGrpSpPr/>
          <p:nvPr/>
        </p:nvGrpSpPr>
        <p:grpSpPr>
          <a:xfrm>
            <a:off x="2628900" y="2451100"/>
            <a:ext cx="736599" cy="266699"/>
            <a:chOff x="2628900" y="2451100"/>
            <a:chExt cx="736599" cy="266699"/>
          </a:xfrm>
        </p:grpSpPr>
        <p:sp>
          <p:nvSpPr>
            <p:cNvPr id="131" name="ours_band" descr="Editable shape; source id ours_band"/>
            <p:cNvSpPr/>
            <p:nvPr/>
          </p:nvSpPr>
          <p:spPr>
            <a:xfrm>
              <a:off x="2628900" y="2451100"/>
              <a:ext cx="736599" cy="266699"/>
            </a:xfrm>
            <a:prstGeom prst="rect">
              <a:avLst/>
            </a:prstGeom>
            <a:solidFill>
              <a:srgbClr val="EFF7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setting_ours" descr="Editable text; source id setting_ours"/>
            <p:cNvSpPr txBox="1"/>
            <p:nvPr/>
          </p:nvSpPr>
          <p:spPr>
            <a:xfrm>
              <a:off x="2628900" y="2451100"/>
              <a:ext cx="736599" cy="126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43"/>
                </a:lnSpc>
                <a:spcBef>
                  <a:spcPts val="0"/>
                </a:spcBef>
                <a:spcAft>
                  <a:spcPts val="0"/>
                </a:spcAft>
                <a:defRPr sz="81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SafeOT</a:t>
              </a:r>
            </a:p>
          </p:txBody>
        </p:sp>
        <p:grpSp>
          <p:nvGrpSpPr>
            <p:cNvPr id="266" name="finite"/>
            <p:cNvGrpSpPr/>
            <p:nvPr/>
          </p:nvGrpSpPr>
          <p:grpSpPr>
            <a:xfrm>
              <a:off x="2843374" y="2624514"/>
              <a:ext cx="305906" cy="72869"/>
              <a:chOff x="2843374" y="2624514"/>
              <a:chExt cx="305906" cy="72869"/>
            </a:xfrm>
          </p:grpSpPr>
          <p:sp>
            <p:nvSpPr>
              <p:cNvPr id="267" name="finite_outline_0"/>
              <p:cNvSpPr/>
              <p:nvPr/>
            </p:nvSpPr>
            <p:spPr>
              <a:xfrm>
                <a:off x="2843374" y="2624514"/>
                <a:ext cx="210551" cy="72766"/>
              </a:xfrm>
              <a:custGeom>
                <a:avLst/>
                <a:gdLst/>
                <a:ahLst/>
                <a:cxnLst/>
                <a:rect l="0" t="0" r="r" b="b"/>
                <a:pathLst>
                  <a:path w="210551" h="72767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1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7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7" y="9763"/>
                      <a:pt x="43367" y="7350"/>
                    </a:cubicBezTo>
                    <a:cubicBezTo>
                      <a:pt x="43367" y="2834"/>
                      <a:pt x="38116" y="0"/>
                      <a:pt x="30032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1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6061" y="71715"/>
                    </a:moveTo>
                    <a:lnTo>
                      <a:pt x="106061" y="70140"/>
                    </a:lnTo>
                    <a:cubicBezTo>
                      <a:pt x="100913" y="69616"/>
                      <a:pt x="99655" y="68354"/>
                      <a:pt x="99655" y="63210"/>
                    </a:cubicBezTo>
                    <a:lnTo>
                      <a:pt x="99655" y="39164"/>
                    </a:lnTo>
                    <a:cubicBezTo>
                      <a:pt x="99655" y="29293"/>
                      <a:pt x="95036" y="23416"/>
                      <a:pt x="87265" y="23416"/>
                    </a:cubicBezTo>
                    <a:cubicBezTo>
                      <a:pt x="82435" y="23416"/>
                      <a:pt x="79181" y="25198"/>
                      <a:pt x="72041" y="31921"/>
                    </a:cubicBezTo>
                    <a:lnTo>
                      <a:pt x="72041" y="23626"/>
                    </a:lnTo>
                    <a:lnTo>
                      <a:pt x="71303" y="23416"/>
                    </a:lnTo>
                    <a:cubicBezTo>
                      <a:pt x="66159" y="25305"/>
                      <a:pt x="62587" y="26460"/>
                      <a:pt x="56813" y="28138"/>
                    </a:cubicBezTo>
                    <a:lnTo>
                      <a:pt x="56813" y="29924"/>
                    </a:lnTo>
                    <a:cubicBezTo>
                      <a:pt x="57444" y="29611"/>
                      <a:pt x="58495" y="29504"/>
                      <a:pt x="59650" y="29504"/>
                    </a:cubicBezTo>
                    <a:cubicBezTo>
                      <a:pt x="62587" y="29504"/>
                      <a:pt x="63536" y="31079"/>
                      <a:pt x="63536" y="36223"/>
                    </a:cubicBezTo>
                    <a:lnTo>
                      <a:pt x="63536" y="62266"/>
                    </a:lnTo>
                    <a:cubicBezTo>
                      <a:pt x="63536" y="68251"/>
                      <a:pt x="62381" y="69719"/>
                      <a:pt x="57023" y="70140"/>
                    </a:cubicBezTo>
                    <a:lnTo>
                      <a:pt x="57023" y="71715"/>
                    </a:lnTo>
                    <a:lnTo>
                      <a:pt x="79284" y="71715"/>
                    </a:lnTo>
                    <a:lnTo>
                      <a:pt x="79284" y="70140"/>
                    </a:lnTo>
                    <a:cubicBezTo>
                      <a:pt x="73930" y="69719"/>
                      <a:pt x="72354" y="68461"/>
                      <a:pt x="72354" y="64679"/>
                    </a:cubicBezTo>
                    <a:lnTo>
                      <a:pt x="72354" y="35175"/>
                    </a:lnTo>
                    <a:cubicBezTo>
                      <a:pt x="77395" y="30448"/>
                      <a:pt x="79704" y="29190"/>
                      <a:pt x="83169" y="29190"/>
                    </a:cubicBezTo>
                    <a:cubicBezTo>
                      <a:pt x="88317" y="29190"/>
                      <a:pt x="90833" y="32444"/>
                      <a:pt x="90833" y="39374"/>
                    </a:cubicBezTo>
                    <a:lnTo>
                      <a:pt x="90833" y="61321"/>
                    </a:lnTo>
                    <a:cubicBezTo>
                      <a:pt x="90833" y="67937"/>
                      <a:pt x="89471" y="69719"/>
                      <a:pt x="84221" y="70140"/>
                    </a:cubicBezTo>
                    <a:lnTo>
                      <a:pt x="84221" y="71715"/>
                    </a:lnTo>
                    <a:lnTo>
                      <a:pt x="106061" y="71715"/>
                    </a:lnTo>
                    <a:close/>
                    <a:moveTo>
                      <a:pt x="134208" y="71715"/>
                    </a:moveTo>
                    <a:lnTo>
                      <a:pt x="134208" y="70140"/>
                    </a:lnTo>
                    <a:cubicBezTo>
                      <a:pt x="127279" y="69616"/>
                      <a:pt x="126438" y="68564"/>
                      <a:pt x="126438" y="61004"/>
                    </a:cubicBezTo>
                    <a:lnTo>
                      <a:pt x="126438" y="23729"/>
                    </a:lnTo>
                    <a:lnTo>
                      <a:pt x="126016" y="23416"/>
                    </a:lnTo>
                    <a:lnTo>
                      <a:pt x="109741" y="29190"/>
                    </a:lnTo>
                    <a:lnTo>
                      <a:pt x="109741" y="30766"/>
                    </a:lnTo>
                    <a:lnTo>
                      <a:pt x="110582" y="30659"/>
                    </a:lnTo>
                    <a:cubicBezTo>
                      <a:pt x="111840" y="30448"/>
                      <a:pt x="113206" y="30345"/>
                      <a:pt x="114150" y="30345"/>
                    </a:cubicBezTo>
                    <a:cubicBezTo>
                      <a:pt x="116670" y="30345"/>
                      <a:pt x="117615" y="32024"/>
                      <a:pt x="117615" y="36643"/>
                    </a:cubicBezTo>
                    <a:lnTo>
                      <a:pt x="117615" y="61004"/>
                    </a:lnTo>
                    <a:cubicBezTo>
                      <a:pt x="117615" y="68564"/>
                      <a:pt x="116567" y="69719"/>
                      <a:pt x="109320" y="70140"/>
                    </a:cubicBezTo>
                    <a:lnTo>
                      <a:pt x="109320" y="71715"/>
                    </a:lnTo>
                    <a:lnTo>
                      <a:pt x="134208" y="71715"/>
                    </a:lnTo>
                    <a:close/>
                    <a:moveTo>
                      <a:pt x="127382" y="5354"/>
                    </a:moveTo>
                    <a:cubicBezTo>
                      <a:pt x="127382" y="2413"/>
                      <a:pt x="125073" y="0"/>
                      <a:pt x="122028" y="0"/>
                    </a:cubicBezTo>
                    <a:cubicBezTo>
                      <a:pt x="119087" y="0"/>
                      <a:pt x="116670" y="2413"/>
                      <a:pt x="116670" y="5354"/>
                    </a:cubicBezTo>
                    <a:cubicBezTo>
                      <a:pt x="116670" y="8398"/>
                      <a:pt x="119087" y="10708"/>
                      <a:pt x="122028" y="10708"/>
                    </a:cubicBezTo>
                    <a:cubicBezTo>
                      <a:pt x="125073" y="10708"/>
                      <a:pt x="127382" y="8398"/>
                      <a:pt x="127382" y="5354"/>
                    </a:cubicBezTo>
                    <a:close/>
                    <a:moveTo>
                      <a:pt x="166133" y="64786"/>
                    </a:moveTo>
                    <a:lnTo>
                      <a:pt x="164768" y="63631"/>
                    </a:lnTo>
                    <a:cubicBezTo>
                      <a:pt x="162458" y="66361"/>
                      <a:pt x="160775" y="67306"/>
                      <a:pt x="158465" y="67306"/>
                    </a:cubicBezTo>
                    <a:cubicBezTo>
                      <a:pt x="154580" y="67306"/>
                      <a:pt x="153004" y="64575"/>
                      <a:pt x="153004" y="57856"/>
                    </a:cubicBezTo>
                    <a:lnTo>
                      <a:pt x="153004" y="27825"/>
                    </a:lnTo>
                    <a:lnTo>
                      <a:pt x="163612" y="27825"/>
                    </a:lnTo>
                    <a:lnTo>
                      <a:pt x="163612" y="24463"/>
                    </a:lnTo>
                    <a:lnTo>
                      <a:pt x="153004" y="24463"/>
                    </a:lnTo>
                    <a:lnTo>
                      <a:pt x="153004" y="12283"/>
                    </a:lnTo>
                    <a:cubicBezTo>
                      <a:pt x="153004" y="11235"/>
                      <a:pt x="152798" y="10918"/>
                      <a:pt x="152270" y="10918"/>
                    </a:cubicBezTo>
                    <a:cubicBezTo>
                      <a:pt x="151639" y="11970"/>
                      <a:pt x="150905" y="12914"/>
                      <a:pt x="150170" y="13859"/>
                    </a:cubicBezTo>
                    <a:cubicBezTo>
                      <a:pt x="146286" y="19633"/>
                      <a:pt x="142717" y="23519"/>
                      <a:pt x="139986" y="25094"/>
                    </a:cubicBezTo>
                    <a:cubicBezTo>
                      <a:pt x="138832" y="25829"/>
                      <a:pt x="138201" y="26460"/>
                      <a:pt x="138201" y="27091"/>
                    </a:cubicBezTo>
                    <a:cubicBezTo>
                      <a:pt x="138201" y="27404"/>
                      <a:pt x="138304" y="27614"/>
                      <a:pt x="138621" y="27825"/>
                    </a:cubicBezTo>
                    <a:lnTo>
                      <a:pt x="144186" y="27825"/>
                    </a:lnTo>
                    <a:lnTo>
                      <a:pt x="144186" y="59428"/>
                    </a:lnTo>
                    <a:cubicBezTo>
                      <a:pt x="144186" y="68251"/>
                      <a:pt x="147337" y="72767"/>
                      <a:pt x="153425" y="72767"/>
                    </a:cubicBezTo>
                    <a:cubicBezTo>
                      <a:pt x="158676" y="72767"/>
                      <a:pt x="162665" y="70247"/>
                      <a:pt x="166133" y="64786"/>
                    </a:cubicBezTo>
                    <a:close/>
                    <a:moveTo>
                      <a:pt x="210551" y="55229"/>
                    </a:moveTo>
                    <a:lnTo>
                      <a:pt x="208872" y="54495"/>
                    </a:lnTo>
                    <a:cubicBezTo>
                      <a:pt x="203832" y="62476"/>
                      <a:pt x="199316" y="65520"/>
                      <a:pt x="192596" y="65520"/>
                    </a:cubicBezTo>
                    <a:cubicBezTo>
                      <a:pt x="186821" y="65520"/>
                      <a:pt x="182408" y="62790"/>
                      <a:pt x="179365" y="57118"/>
                    </a:cubicBezTo>
                    <a:cubicBezTo>
                      <a:pt x="177265" y="53026"/>
                      <a:pt x="176424" y="49351"/>
                      <a:pt x="176213" y="42628"/>
                    </a:cubicBezTo>
                    <a:lnTo>
                      <a:pt x="208555" y="42628"/>
                    </a:lnTo>
                    <a:cubicBezTo>
                      <a:pt x="207718" y="35806"/>
                      <a:pt x="206665" y="32758"/>
                      <a:pt x="204043" y="29401"/>
                    </a:cubicBezTo>
                    <a:cubicBezTo>
                      <a:pt x="200892" y="25618"/>
                      <a:pt x="196061" y="23416"/>
                      <a:pt x="190600" y="23416"/>
                    </a:cubicBezTo>
                    <a:cubicBezTo>
                      <a:pt x="177578" y="23416"/>
                      <a:pt x="168653" y="33913"/>
                      <a:pt x="168653" y="49244"/>
                    </a:cubicBezTo>
                    <a:cubicBezTo>
                      <a:pt x="168653" y="63734"/>
                      <a:pt x="176213" y="72767"/>
                      <a:pt x="188291" y="72767"/>
                    </a:cubicBezTo>
                    <a:cubicBezTo>
                      <a:pt x="198371" y="72767"/>
                      <a:pt x="206142" y="66572"/>
                      <a:pt x="210551" y="55229"/>
                    </a:cubicBezTo>
                    <a:close/>
                    <a:moveTo>
                      <a:pt x="197848" y="39271"/>
                    </a:moveTo>
                    <a:lnTo>
                      <a:pt x="176424" y="39271"/>
                    </a:lnTo>
                    <a:cubicBezTo>
                      <a:pt x="177578" y="30976"/>
                      <a:pt x="181151" y="27194"/>
                      <a:pt x="187557" y="27194"/>
                    </a:cubicBezTo>
                    <a:cubicBezTo>
                      <a:pt x="193961" y="27194"/>
                      <a:pt x="196482" y="30135"/>
                      <a:pt x="197848" y="39271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finite_outline_1"/>
              <p:cNvSpPr/>
              <p:nvPr/>
            </p:nvSpPr>
            <p:spPr>
              <a:xfrm>
                <a:off x="3094155" y="2649921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6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32" name="setting_fixed" descr="Editable text; source id setting_fixed"/>
          <p:cNvSpPr txBox="1"/>
          <p:nvPr/>
        </p:nvSpPr>
        <p:spPr>
          <a:xfrm>
            <a:off x="50800" y="2451100"/>
            <a:ext cx="1003299" cy="126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43"/>
              </a:lnSpc>
              <a:spcBef>
                <a:spcPts val="0"/>
              </a:spcBef>
              <a:spcAft>
                <a:spcPts val="0"/>
              </a:spcAft>
              <a:defRPr sz="819" b="1" i="0" lang="zh-CN" dirty="0">
                <a:solidFill>
                  <a:srgbClr val="264C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9" b="1" i="0" lang="zh-CN" dirty="0">
                <a:solidFill>
                  <a:srgbClr val="264C70"/>
                </a:solidFill>
                <a:latin typeface="Liberation Sans"/>
                <a:ea typeface="Liberation Sans"/>
                <a:cs typeface="Liberation Sans"/>
              </a:rPr>
              <a:t>Fixed penalty</a:t>
            </a:r>
          </a:p>
        </p:txBody>
      </p:sp>
      <p:sp>
        <p:nvSpPr>
          <p:cNvPr id="133" name="setting_lag" descr="Editable text; source id setting_lag"/>
          <p:cNvSpPr txBox="1"/>
          <p:nvPr/>
        </p:nvSpPr>
        <p:spPr>
          <a:xfrm>
            <a:off x="1104900" y="2451100"/>
            <a:ext cx="1384299" cy="126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43"/>
              </a:lnSpc>
              <a:spcBef>
                <a:spcPts val="0"/>
              </a:spcBef>
              <a:spcAft>
                <a:spcPts val="0"/>
              </a:spcAft>
              <a:defRPr sz="819" b="1" i="0" lang="zh-CN" dirty="0">
                <a:solidFill>
                  <a:srgbClr val="264C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9" b="1" i="0" lang="zh-CN" dirty="0">
                <a:solidFill>
                  <a:srgbClr val="264C70"/>
                </a:solidFill>
                <a:latin typeface="Liberation Sans"/>
                <a:ea typeface="Liberation Sans"/>
                <a:cs typeface="Liberation Sans"/>
              </a:rPr>
              <a:t>Lagrangian</a:t>
            </a:r>
          </a:p>
        </p:txBody>
      </p:sp>
      <p:sp>
        <p:nvSpPr>
          <p:cNvPr id="135" name="setting_lp" descr="Editable text; source id setting_lp"/>
          <p:cNvSpPr txBox="1"/>
          <p:nvPr/>
        </p:nvSpPr>
        <p:spPr>
          <a:xfrm>
            <a:off x="3441700" y="2451100"/>
            <a:ext cx="596899" cy="126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43"/>
              </a:lnSpc>
              <a:spcBef>
                <a:spcPts val="0"/>
              </a:spcBef>
              <a:spcAft>
                <a:spcPts val="0"/>
              </a:spcAft>
              <a:defRPr sz="819" b="1" i="0" lang="zh-CN" dirty="0">
                <a:solidFill>
                  <a:srgbClr val="264C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9" b="1" i="0" lang="zh-CN" dirty="0">
                <a:solidFill>
                  <a:srgbClr val="264C70"/>
                </a:solidFill>
                <a:latin typeface="Liberation Sans"/>
                <a:ea typeface="Liberation Sans"/>
                <a:cs typeface="Liberation Sans"/>
              </a:rPr>
              <a:t>LP</a:t>
            </a:r>
          </a:p>
        </p:txBody>
      </p:sp>
      <p:sp>
        <p:nvSpPr>
          <p:cNvPr id="136" name="setting_active" descr="Editable text; source id setting_active"/>
          <p:cNvSpPr txBox="1"/>
          <p:nvPr/>
        </p:nvSpPr>
        <p:spPr>
          <a:xfrm>
            <a:off x="4089399" y="2451100"/>
            <a:ext cx="888999" cy="126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43"/>
              </a:lnSpc>
              <a:spcBef>
                <a:spcPts val="0"/>
              </a:spcBef>
              <a:spcAft>
                <a:spcPts val="0"/>
              </a:spcAft>
              <a:defRPr sz="819" b="1" i="0" lang="zh-CN" dirty="0">
                <a:solidFill>
                  <a:srgbClr val="264C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9" b="1" i="0" lang="zh-CN" dirty="0">
                <a:solidFill>
                  <a:srgbClr val="264C70"/>
                </a:solidFill>
                <a:latin typeface="Liberation Sans"/>
                <a:ea typeface="Liberation Sans"/>
                <a:cs typeface="Liberation Sans"/>
              </a:rPr>
              <a:t>Active-set</a:t>
            </a:r>
          </a:p>
        </p:txBody>
      </p:sp>
      <p:sp>
        <p:nvSpPr>
          <p:cNvPr id="137" name="saturated_clip" descr="Editable text; source id saturated_clip"/>
          <p:cNvSpPr txBox="1"/>
          <p:nvPr/>
        </p:nvSpPr>
        <p:spPr>
          <a:xfrm>
            <a:off x="4089399" y="2730499"/>
            <a:ext cx="888999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rPr>
              <a:t>saturated clip</a:t>
            </a:r>
          </a:p>
        </p:txBody>
      </p:sp>
      <p:grpSp>
        <p:nvGrpSpPr>
          <p:cNvPr id="210" name="pi_next"/>
          <p:cNvGrpSpPr/>
          <p:nvPr/>
        </p:nvGrpSpPr>
        <p:grpSpPr>
          <a:xfrm>
            <a:off x="3432076" y="2078621"/>
            <a:ext cx="221282" cy="83092"/>
            <a:chOff x="3432076" y="2078621"/>
            <a:chExt cx="221282" cy="83092"/>
          </a:xfrm>
        </p:grpSpPr>
        <p:sp>
          <p:nvSpPr>
            <p:cNvPr id="211" name="pi_next_outline_0"/>
            <p:cNvSpPr/>
            <p:nvPr/>
          </p:nvSpPr>
          <p:spPr>
            <a:xfrm>
              <a:off x="3432076" y="2078621"/>
              <a:ext cx="68810" cy="60039"/>
            </a:xfrm>
            <a:custGeom>
              <a:avLst/>
              <a:gdLst/>
              <a:ahLst/>
              <a:cxnLst/>
              <a:rect l="0" t="0" r="r" b="b"/>
              <a:pathLst>
                <a:path w="68810" h="60039">
                  <a:moveTo>
                    <a:pt x="68810" y="0"/>
                  </a:moveTo>
                  <a:lnTo>
                    <a:pt x="22848" y="0"/>
                  </a:lnTo>
                  <a:cubicBezTo>
                    <a:pt x="10628" y="0"/>
                    <a:pt x="3322" y="14609"/>
                    <a:pt x="2258" y="17133"/>
                  </a:cubicBezTo>
                  <a:lnTo>
                    <a:pt x="3723" y="17133"/>
                  </a:lnTo>
                  <a:cubicBezTo>
                    <a:pt x="4385" y="16204"/>
                    <a:pt x="9299" y="9696"/>
                    <a:pt x="16208" y="9696"/>
                  </a:cubicBezTo>
                  <a:lnTo>
                    <a:pt x="23114" y="9696"/>
                  </a:lnTo>
                  <a:lnTo>
                    <a:pt x="13815" y="37723"/>
                  </a:lnTo>
                  <a:cubicBezTo>
                    <a:pt x="10894" y="46490"/>
                    <a:pt x="0" y="46891"/>
                    <a:pt x="0" y="55924"/>
                  </a:cubicBezTo>
                  <a:lnTo>
                    <a:pt x="0" y="56586"/>
                  </a:lnTo>
                  <a:cubicBezTo>
                    <a:pt x="0" y="58845"/>
                    <a:pt x="1730" y="60039"/>
                    <a:pt x="4917" y="60039"/>
                  </a:cubicBezTo>
                  <a:cubicBezTo>
                    <a:pt x="9966" y="60039"/>
                    <a:pt x="14748" y="56852"/>
                    <a:pt x="21257" y="37989"/>
                  </a:cubicBezTo>
                  <a:lnTo>
                    <a:pt x="30952" y="9696"/>
                  </a:lnTo>
                  <a:lnTo>
                    <a:pt x="44367" y="9696"/>
                  </a:lnTo>
                  <a:lnTo>
                    <a:pt x="37858" y="38255"/>
                  </a:lnTo>
                  <a:cubicBezTo>
                    <a:pt x="36929" y="42109"/>
                    <a:pt x="36397" y="45426"/>
                    <a:pt x="36397" y="48085"/>
                  </a:cubicBezTo>
                  <a:lnTo>
                    <a:pt x="36397" y="49280"/>
                  </a:lnTo>
                  <a:cubicBezTo>
                    <a:pt x="36397" y="54991"/>
                    <a:pt x="40382" y="60039"/>
                    <a:pt x="46891" y="60039"/>
                  </a:cubicBezTo>
                  <a:cubicBezTo>
                    <a:pt x="49947" y="60039"/>
                    <a:pt x="53534" y="59111"/>
                    <a:pt x="53534" y="54725"/>
                  </a:cubicBezTo>
                  <a:lnTo>
                    <a:pt x="53534" y="54193"/>
                  </a:lnTo>
                  <a:cubicBezTo>
                    <a:pt x="53534" y="46359"/>
                    <a:pt x="45565" y="47423"/>
                    <a:pt x="45565" y="39981"/>
                  </a:cubicBezTo>
                  <a:cubicBezTo>
                    <a:pt x="45565" y="38918"/>
                    <a:pt x="45696" y="37723"/>
                    <a:pt x="46097" y="36262"/>
                  </a:cubicBezTo>
                  <a:lnTo>
                    <a:pt x="52606" y="9696"/>
                  </a:lnTo>
                  <a:lnTo>
                    <a:pt x="66552" y="9696"/>
                  </a:lnTo>
                  <a:lnTo>
                    <a:pt x="68810" y="0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pi_next_outline_1"/>
            <p:cNvSpPr/>
            <p:nvPr/>
          </p:nvSpPr>
          <p:spPr>
            <a:xfrm>
              <a:off x="3508821" y="2103710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8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6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8" y="12244"/>
                  </a:lnTo>
                  <a:lnTo>
                    <a:pt x="20233" y="12244"/>
                  </a:lnTo>
                  <a:lnTo>
                    <a:pt x="22932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4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pi_next_outline_2"/>
            <p:cNvSpPr/>
            <p:nvPr/>
          </p:nvSpPr>
          <p:spPr>
            <a:xfrm>
              <a:off x="3552921" y="2107032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pi_next_outline_3"/>
            <p:cNvSpPr/>
            <p:nvPr/>
          </p:nvSpPr>
          <p:spPr>
            <a:xfrm>
              <a:off x="3623994" y="2090221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0" name="fixed_setting"/>
          <p:cNvGrpSpPr/>
          <p:nvPr/>
        </p:nvGrpSpPr>
        <p:grpSpPr>
          <a:xfrm>
            <a:off x="248725" y="2614054"/>
            <a:ext cx="611567" cy="93452"/>
            <a:chOff x="248725" y="2614054"/>
            <a:chExt cx="611567" cy="93452"/>
          </a:xfrm>
        </p:grpSpPr>
        <p:sp>
          <p:nvSpPr>
            <p:cNvPr id="251" name="fixed_setting_outline_0"/>
            <p:cNvSpPr/>
            <p:nvPr/>
          </p:nvSpPr>
          <p:spPr>
            <a:xfrm>
              <a:off x="248725" y="2639462"/>
              <a:ext cx="47163" cy="47462"/>
            </a:xfrm>
            <a:custGeom>
              <a:avLst/>
              <a:gdLst/>
              <a:ahLst/>
              <a:cxnLst/>
              <a:rect l="0" t="0" r="r" b="b"/>
              <a:pathLst>
                <a:path w="47164" h="47462">
                  <a:moveTo>
                    <a:pt x="40859" y="36227"/>
                  </a:moveTo>
                  <a:lnTo>
                    <a:pt x="38862" y="35179"/>
                  </a:lnTo>
                  <a:cubicBezTo>
                    <a:pt x="32461" y="41374"/>
                    <a:pt x="27944" y="43684"/>
                    <a:pt x="21959" y="43684"/>
                  </a:cubicBezTo>
                  <a:cubicBezTo>
                    <a:pt x="15133" y="43684"/>
                    <a:pt x="10827" y="39271"/>
                    <a:pt x="10514" y="31710"/>
                  </a:cubicBezTo>
                  <a:cubicBezTo>
                    <a:pt x="10200" y="22789"/>
                    <a:pt x="14189" y="13442"/>
                    <a:pt x="20697" y="7247"/>
                  </a:cubicBezTo>
                  <a:cubicBezTo>
                    <a:pt x="24059" y="4096"/>
                    <a:pt x="28786" y="2207"/>
                    <a:pt x="33616" y="2207"/>
                  </a:cubicBezTo>
                  <a:cubicBezTo>
                    <a:pt x="36449" y="2207"/>
                    <a:pt x="38128" y="3048"/>
                    <a:pt x="38128" y="4306"/>
                  </a:cubicBezTo>
                  <a:cubicBezTo>
                    <a:pt x="38235" y="4830"/>
                    <a:pt x="38128" y="5358"/>
                    <a:pt x="37604" y="6302"/>
                  </a:cubicBezTo>
                  <a:cubicBezTo>
                    <a:pt x="36660" y="7668"/>
                    <a:pt x="36552" y="8295"/>
                    <a:pt x="36552" y="9346"/>
                  </a:cubicBezTo>
                  <a:cubicBezTo>
                    <a:pt x="36660" y="11867"/>
                    <a:pt x="38446" y="13335"/>
                    <a:pt x="41382" y="13335"/>
                  </a:cubicBezTo>
                  <a:cubicBezTo>
                    <a:pt x="44744" y="13335"/>
                    <a:pt x="47264" y="11343"/>
                    <a:pt x="47161" y="8505"/>
                  </a:cubicBezTo>
                  <a:cubicBezTo>
                    <a:pt x="46951" y="3572"/>
                    <a:pt x="41593" y="0"/>
                    <a:pt x="34139" y="0"/>
                  </a:cubicBezTo>
                  <a:cubicBezTo>
                    <a:pt x="15975" y="0"/>
                    <a:pt x="-512" y="15331"/>
                    <a:pt x="12" y="31710"/>
                  </a:cubicBezTo>
                  <a:cubicBezTo>
                    <a:pt x="330" y="41688"/>
                    <a:pt x="7152" y="47462"/>
                    <a:pt x="18388" y="47462"/>
                  </a:cubicBezTo>
                  <a:cubicBezTo>
                    <a:pt x="27524" y="47462"/>
                    <a:pt x="33616" y="44311"/>
                    <a:pt x="40859" y="36227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fixed_setting_outline_1"/>
            <p:cNvSpPr/>
            <p:nvPr/>
          </p:nvSpPr>
          <p:spPr>
            <a:xfrm>
              <a:off x="338233" y="2645237"/>
              <a:ext cx="53760" cy="27197"/>
            </a:xfrm>
            <a:custGeom>
              <a:avLst/>
              <a:gdLst/>
              <a:ahLst/>
              <a:cxnLst/>
              <a:rect l="0" t="0" r="r" b="b"/>
              <a:pathLst>
                <a:path w="53761" h="27198">
                  <a:moveTo>
                    <a:pt x="53761" y="5882"/>
                  </a:moveTo>
                  <a:lnTo>
                    <a:pt x="53761" y="0"/>
                  </a:lnTo>
                  <a:lnTo>
                    <a:pt x="0" y="0"/>
                  </a:lnTo>
                  <a:lnTo>
                    <a:pt x="0" y="5882"/>
                  </a:lnTo>
                  <a:lnTo>
                    <a:pt x="53761" y="5882"/>
                  </a:lnTo>
                  <a:close/>
                  <a:moveTo>
                    <a:pt x="53761" y="27198"/>
                  </a:moveTo>
                  <a:lnTo>
                    <a:pt x="53761" y="21316"/>
                  </a:lnTo>
                  <a:lnTo>
                    <a:pt x="0" y="21316"/>
                  </a:lnTo>
                  <a:lnTo>
                    <a:pt x="0" y="27198"/>
                  </a:lnTo>
                  <a:lnTo>
                    <a:pt x="53761" y="27198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fixed_setting_outline_2"/>
            <p:cNvSpPr/>
            <p:nvPr/>
          </p:nvSpPr>
          <p:spPr>
            <a:xfrm>
              <a:off x="430205" y="2614789"/>
              <a:ext cx="47462" cy="72449"/>
            </a:xfrm>
            <a:custGeom>
              <a:avLst/>
              <a:gdLst/>
              <a:ahLst/>
              <a:cxnLst/>
              <a:rect l="0" t="0" r="r" b="b"/>
              <a:pathLst>
                <a:path w="47462" h="72450">
                  <a:moveTo>
                    <a:pt x="47462" y="36330"/>
                  </a:moveTo>
                  <a:cubicBezTo>
                    <a:pt x="47462" y="14804"/>
                    <a:pt x="37906" y="0"/>
                    <a:pt x="24150" y="0"/>
                  </a:cubicBezTo>
                  <a:cubicBezTo>
                    <a:pt x="18375" y="0"/>
                    <a:pt x="13966" y="1786"/>
                    <a:pt x="10081" y="5461"/>
                  </a:cubicBezTo>
                  <a:cubicBezTo>
                    <a:pt x="3989" y="11339"/>
                    <a:pt x="0" y="23416"/>
                    <a:pt x="0" y="35699"/>
                  </a:cubicBezTo>
                  <a:cubicBezTo>
                    <a:pt x="0" y="47145"/>
                    <a:pt x="3465" y="59432"/>
                    <a:pt x="8402" y="65310"/>
                  </a:cubicBezTo>
                  <a:cubicBezTo>
                    <a:pt x="12283" y="69929"/>
                    <a:pt x="17641" y="72450"/>
                    <a:pt x="23729" y="72450"/>
                  </a:cubicBezTo>
                  <a:cubicBezTo>
                    <a:pt x="29087" y="72450"/>
                    <a:pt x="33599" y="70668"/>
                    <a:pt x="37382" y="66992"/>
                  </a:cubicBezTo>
                  <a:cubicBezTo>
                    <a:pt x="43470" y="61214"/>
                    <a:pt x="47462" y="49034"/>
                    <a:pt x="47462" y="36330"/>
                  </a:cubicBezTo>
                  <a:close/>
                  <a:moveTo>
                    <a:pt x="37382" y="36540"/>
                  </a:moveTo>
                  <a:cubicBezTo>
                    <a:pt x="37382" y="58487"/>
                    <a:pt x="32762" y="69723"/>
                    <a:pt x="23729" y="69723"/>
                  </a:cubicBezTo>
                  <a:cubicBezTo>
                    <a:pt x="14700" y="69723"/>
                    <a:pt x="10081" y="58487"/>
                    <a:pt x="10081" y="36643"/>
                  </a:cubicBezTo>
                  <a:cubicBezTo>
                    <a:pt x="10081" y="14387"/>
                    <a:pt x="14803" y="2730"/>
                    <a:pt x="23836" y="2730"/>
                  </a:cubicBezTo>
                  <a:cubicBezTo>
                    <a:pt x="32655" y="2730"/>
                    <a:pt x="37382" y="14593"/>
                    <a:pt x="37382" y="36540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fixed_setting_outline_3"/>
            <p:cNvSpPr/>
            <p:nvPr/>
          </p:nvSpPr>
          <p:spPr>
            <a:xfrm>
              <a:off x="488593" y="2675058"/>
              <a:ext cx="16696" cy="25832"/>
            </a:xfrm>
            <a:custGeom>
              <a:avLst/>
              <a:gdLst/>
              <a:ahLst/>
              <a:cxnLst/>
              <a:rect l="0" t="0" r="r" b="b"/>
              <a:pathLst>
                <a:path w="16696" h="25833">
                  <a:moveTo>
                    <a:pt x="16696" y="10081"/>
                  </a:moveTo>
                  <a:cubicBezTo>
                    <a:pt x="16696" y="1365"/>
                    <a:pt x="9870" y="0"/>
                    <a:pt x="7037" y="0"/>
                  </a:cubicBezTo>
                  <a:cubicBezTo>
                    <a:pt x="3993" y="0"/>
                    <a:pt x="0" y="1893"/>
                    <a:pt x="0" y="6406"/>
                  </a:cubicBezTo>
                  <a:cubicBezTo>
                    <a:pt x="0" y="10608"/>
                    <a:pt x="4096" y="11656"/>
                    <a:pt x="7144" y="11656"/>
                  </a:cubicBezTo>
                  <a:cubicBezTo>
                    <a:pt x="7878" y="11656"/>
                    <a:pt x="8505" y="11553"/>
                    <a:pt x="8822" y="11446"/>
                  </a:cubicBezTo>
                  <a:cubicBezTo>
                    <a:pt x="9243" y="11343"/>
                    <a:pt x="9767" y="11236"/>
                    <a:pt x="9977" y="11236"/>
                  </a:cubicBezTo>
                  <a:cubicBezTo>
                    <a:pt x="10712" y="11236"/>
                    <a:pt x="11553" y="11763"/>
                    <a:pt x="11553" y="12708"/>
                  </a:cubicBezTo>
                  <a:cubicBezTo>
                    <a:pt x="11553" y="14700"/>
                    <a:pt x="9664" y="19217"/>
                    <a:pt x="1996" y="23626"/>
                  </a:cubicBezTo>
                  <a:lnTo>
                    <a:pt x="3048" y="25833"/>
                  </a:lnTo>
                  <a:cubicBezTo>
                    <a:pt x="6723" y="24781"/>
                    <a:pt x="16696" y="17538"/>
                    <a:pt x="16696" y="10081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fixed_setting_outline_4"/>
            <p:cNvSpPr/>
            <p:nvPr/>
          </p:nvSpPr>
          <p:spPr>
            <a:xfrm>
              <a:off x="552637" y="2616991"/>
              <a:ext cx="71191" cy="90515"/>
            </a:xfrm>
            <a:custGeom>
              <a:avLst/>
              <a:gdLst/>
              <a:ahLst/>
              <a:cxnLst/>
              <a:rect l="0" t="0" r="r" b="b"/>
              <a:pathLst>
                <a:path w="71192" h="90515">
                  <a:moveTo>
                    <a:pt x="71192" y="12077"/>
                  </a:moveTo>
                  <a:cubicBezTo>
                    <a:pt x="71192" y="3782"/>
                    <a:pt x="63318" y="0"/>
                    <a:pt x="53026" y="0"/>
                  </a:cubicBezTo>
                  <a:cubicBezTo>
                    <a:pt x="39902" y="0"/>
                    <a:pt x="27198" y="7457"/>
                    <a:pt x="23733" y="18062"/>
                  </a:cubicBezTo>
                  <a:lnTo>
                    <a:pt x="7350" y="76652"/>
                  </a:lnTo>
                  <a:cubicBezTo>
                    <a:pt x="5461" y="83268"/>
                    <a:pt x="1155" y="89150"/>
                    <a:pt x="0" y="90515"/>
                  </a:cubicBezTo>
                  <a:lnTo>
                    <a:pt x="10922" y="90515"/>
                  </a:lnTo>
                  <a:cubicBezTo>
                    <a:pt x="11025" y="90515"/>
                    <a:pt x="12918" y="89674"/>
                    <a:pt x="16907" y="76549"/>
                  </a:cubicBezTo>
                  <a:lnTo>
                    <a:pt x="20689" y="63004"/>
                  </a:lnTo>
                  <a:lnTo>
                    <a:pt x="20792" y="63004"/>
                  </a:lnTo>
                  <a:cubicBezTo>
                    <a:pt x="20792" y="63107"/>
                    <a:pt x="24678" y="70564"/>
                    <a:pt x="36334" y="70564"/>
                  </a:cubicBezTo>
                  <a:cubicBezTo>
                    <a:pt x="53657" y="70564"/>
                    <a:pt x="65523" y="58805"/>
                    <a:pt x="65523" y="46728"/>
                  </a:cubicBezTo>
                  <a:cubicBezTo>
                    <a:pt x="65523" y="33603"/>
                    <a:pt x="50403" y="31607"/>
                    <a:pt x="50296" y="31607"/>
                  </a:cubicBezTo>
                  <a:lnTo>
                    <a:pt x="50296" y="31186"/>
                  </a:lnTo>
                  <a:cubicBezTo>
                    <a:pt x="50403" y="31186"/>
                    <a:pt x="71192" y="27408"/>
                    <a:pt x="71192" y="12077"/>
                  </a:cubicBezTo>
                  <a:close/>
                  <a:moveTo>
                    <a:pt x="60798" y="11866"/>
                  </a:moveTo>
                  <a:cubicBezTo>
                    <a:pt x="60798" y="16696"/>
                    <a:pt x="57646" y="28563"/>
                    <a:pt x="48093" y="28563"/>
                  </a:cubicBezTo>
                  <a:cubicBezTo>
                    <a:pt x="45573" y="28563"/>
                    <a:pt x="43474" y="28142"/>
                    <a:pt x="41584" y="28142"/>
                  </a:cubicBezTo>
                  <a:cubicBezTo>
                    <a:pt x="38326" y="28142"/>
                    <a:pt x="36123" y="30559"/>
                    <a:pt x="36123" y="32448"/>
                  </a:cubicBezTo>
                  <a:cubicBezTo>
                    <a:pt x="36123" y="33603"/>
                    <a:pt x="37068" y="34548"/>
                    <a:pt x="39168" y="34548"/>
                  </a:cubicBezTo>
                  <a:cubicBezTo>
                    <a:pt x="42422" y="34548"/>
                    <a:pt x="43263" y="34024"/>
                    <a:pt x="45887" y="34024"/>
                  </a:cubicBezTo>
                  <a:cubicBezTo>
                    <a:pt x="51661" y="34024"/>
                    <a:pt x="54289" y="39691"/>
                    <a:pt x="54289" y="45573"/>
                  </a:cubicBezTo>
                  <a:cubicBezTo>
                    <a:pt x="54289" y="56074"/>
                    <a:pt x="47569" y="65734"/>
                    <a:pt x="35596" y="65734"/>
                  </a:cubicBezTo>
                  <a:cubicBezTo>
                    <a:pt x="28039" y="65734"/>
                    <a:pt x="23209" y="62059"/>
                    <a:pt x="23209" y="55967"/>
                  </a:cubicBezTo>
                  <a:cubicBezTo>
                    <a:pt x="23209" y="54709"/>
                    <a:pt x="23416" y="53344"/>
                    <a:pt x="23836" y="51871"/>
                  </a:cubicBezTo>
                  <a:lnTo>
                    <a:pt x="33183" y="18169"/>
                  </a:lnTo>
                  <a:cubicBezTo>
                    <a:pt x="35282" y="11343"/>
                    <a:pt x="40846" y="2941"/>
                    <a:pt x="51558" y="2941"/>
                  </a:cubicBezTo>
                  <a:cubicBezTo>
                    <a:pt x="58277" y="2941"/>
                    <a:pt x="60798" y="7037"/>
                    <a:pt x="60798" y="11866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fixed_setting_outline_5"/>
            <p:cNvSpPr/>
            <p:nvPr/>
          </p:nvSpPr>
          <p:spPr>
            <a:xfrm>
              <a:off x="657685" y="2614054"/>
              <a:ext cx="105429" cy="71715"/>
            </a:xfrm>
            <a:custGeom>
              <a:avLst/>
              <a:gdLst/>
              <a:ahLst/>
              <a:cxnLst/>
              <a:rect l="0" t="0" r="r" b="b"/>
              <a:pathLst>
                <a:path w="105430" h="71715">
                  <a:moveTo>
                    <a:pt x="51451" y="71715"/>
                  </a:moveTo>
                  <a:lnTo>
                    <a:pt x="51451" y="70140"/>
                  </a:lnTo>
                  <a:cubicBezTo>
                    <a:pt x="45573" y="69616"/>
                    <a:pt x="44418" y="68251"/>
                    <a:pt x="44418" y="61531"/>
                  </a:cubicBezTo>
                  <a:lnTo>
                    <a:pt x="44418" y="34020"/>
                  </a:lnTo>
                  <a:lnTo>
                    <a:pt x="44629" y="23729"/>
                  </a:lnTo>
                  <a:lnTo>
                    <a:pt x="44208" y="23416"/>
                  </a:lnTo>
                  <a:cubicBezTo>
                    <a:pt x="39588" y="24150"/>
                    <a:pt x="36540" y="24463"/>
                    <a:pt x="32341" y="24463"/>
                  </a:cubicBezTo>
                  <a:lnTo>
                    <a:pt x="15855" y="24463"/>
                  </a:lnTo>
                  <a:lnTo>
                    <a:pt x="15855" y="19951"/>
                  </a:lnTo>
                  <a:lnTo>
                    <a:pt x="15855" y="19320"/>
                  </a:lnTo>
                  <a:cubicBezTo>
                    <a:pt x="15645" y="14593"/>
                    <a:pt x="16276" y="10604"/>
                    <a:pt x="17641" y="8084"/>
                  </a:cubicBezTo>
                  <a:cubicBezTo>
                    <a:pt x="19427" y="4830"/>
                    <a:pt x="23205" y="2623"/>
                    <a:pt x="26987" y="2623"/>
                  </a:cubicBezTo>
                  <a:cubicBezTo>
                    <a:pt x="29928" y="2623"/>
                    <a:pt x="31921" y="3989"/>
                    <a:pt x="34441" y="7560"/>
                  </a:cubicBezTo>
                  <a:cubicBezTo>
                    <a:pt x="36437" y="10497"/>
                    <a:pt x="37802" y="11446"/>
                    <a:pt x="39588" y="11446"/>
                  </a:cubicBezTo>
                  <a:cubicBezTo>
                    <a:pt x="41791" y="11446"/>
                    <a:pt x="43367" y="9763"/>
                    <a:pt x="43367" y="7350"/>
                  </a:cubicBezTo>
                  <a:cubicBezTo>
                    <a:pt x="43367" y="2834"/>
                    <a:pt x="38116" y="0"/>
                    <a:pt x="30032" y="0"/>
                  </a:cubicBezTo>
                  <a:cubicBezTo>
                    <a:pt x="22050" y="0"/>
                    <a:pt x="15962" y="2623"/>
                    <a:pt x="12180" y="7874"/>
                  </a:cubicBezTo>
                  <a:cubicBezTo>
                    <a:pt x="9033" y="12283"/>
                    <a:pt x="7874" y="16065"/>
                    <a:pt x="7247" y="24463"/>
                  </a:cubicBezTo>
                  <a:lnTo>
                    <a:pt x="0" y="24463"/>
                  </a:lnTo>
                  <a:lnTo>
                    <a:pt x="0" y="27928"/>
                  </a:lnTo>
                  <a:lnTo>
                    <a:pt x="7140" y="27928"/>
                  </a:lnTo>
                  <a:lnTo>
                    <a:pt x="7140" y="61845"/>
                  </a:lnTo>
                  <a:cubicBezTo>
                    <a:pt x="7140" y="68564"/>
                    <a:pt x="5985" y="69929"/>
                    <a:pt x="107" y="70140"/>
                  </a:cubicBezTo>
                  <a:lnTo>
                    <a:pt x="107" y="71715"/>
                  </a:lnTo>
                  <a:lnTo>
                    <a:pt x="23205" y="71715"/>
                  </a:lnTo>
                  <a:lnTo>
                    <a:pt x="23205" y="70140"/>
                  </a:lnTo>
                  <a:cubicBezTo>
                    <a:pt x="17328" y="69719"/>
                    <a:pt x="15962" y="68251"/>
                    <a:pt x="15962" y="62476"/>
                  </a:cubicBezTo>
                  <a:lnTo>
                    <a:pt x="15962" y="27928"/>
                  </a:lnTo>
                  <a:lnTo>
                    <a:pt x="24991" y="27928"/>
                  </a:lnTo>
                  <a:cubicBezTo>
                    <a:pt x="35072" y="27928"/>
                    <a:pt x="35596" y="28246"/>
                    <a:pt x="35596" y="33810"/>
                  </a:cubicBezTo>
                  <a:lnTo>
                    <a:pt x="35596" y="61531"/>
                  </a:lnTo>
                  <a:cubicBezTo>
                    <a:pt x="35596" y="68671"/>
                    <a:pt x="34861" y="69616"/>
                    <a:pt x="28353" y="70140"/>
                  </a:cubicBezTo>
                  <a:lnTo>
                    <a:pt x="28353" y="71715"/>
                  </a:lnTo>
                  <a:lnTo>
                    <a:pt x="51451" y="71715"/>
                  </a:lnTo>
                  <a:close/>
                  <a:moveTo>
                    <a:pt x="105430" y="71715"/>
                  </a:moveTo>
                  <a:lnTo>
                    <a:pt x="105430" y="70140"/>
                  </a:lnTo>
                  <a:cubicBezTo>
                    <a:pt x="102176" y="70140"/>
                    <a:pt x="100076" y="68461"/>
                    <a:pt x="96822" y="63841"/>
                  </a:cubicBezTo>
                  <a:lnTo>
                    <a:pt x="83380" y="43259"/>
                  </a:lnTo>
                  <a:lnTo>
                    <a:pt x="92095" y="30659"/>
                  </a:lnTo>
                  <a:cubicBezTo>
                    <a:pt x="94091" y="27825"/>
                    <a:pt x="97238" y="26146"/>
                    <a:pt x="100600" y="26039"/>
                  </a:cubicBezTo>
                  <a:lnTo>
                    <a:pt x="100600" y="24463"/>
                  </a:lnTo>
                  <a:lnTo>
                    <a:pt x="84010" y="24463"/>
                  </a:lnTo>
                  <a:lnTo>
                    <a:pt x="84010" y="26039"/>
                  </a:lnTo>
                  <a:cubicBezTo>
                    <a:pt x="87158" y="26249"/>
                    <a:pt x="88209" y="26880"/>
                    <a:pt x="88209" y="28349"/>
                  </a:cubicBezTo>
                  <a:cubicBezTo>
                    <a:pt x="88209" y="29611"/>
                    <a:pt x="86951" y="31921"/>
                    <a:pt x="84324" y="35175"/>
                  </a:cubicBezTo>
                  <a:cubicBezTo>
                    <a:pt x="83800" y="35806"/>
                    <a:pt x="82538" y="37695"/>
                    <a:pt x="81173" y="39795"/>
                  </a:cubicBezTo>
                  <a:lnTo>
                    <a:pt x="79704" y="37695"/>
                  </a:lnTo>
                  <a:cubicBezTo>
                    <a:pt x="76764" y="33286"/>
                    <a:pt x="74874" y="29714"/>
                    <a:pt x="74874" y="28349"/>
                  </a:cubicBezTo>
                  <a:cubicBezTo>
                    <a:pt x="74874" y="26880"/>
                    <a:pt x="76240" y="26146"/>
                    <a:pt x="79391" y="26039"/>
                  </a:cubicBezTo>
                  <a:lnTo>
                    <a:pt x="79391" y="24463"/>
                  </a:lnTo>
                  <a:lnTo>
                    <a:pt x="57654" y="24463"/>
                  </a:lnTo>
                  <a:lnTo>
                    <a:pt x="57654" y="26039"/>
                  </a:lnTo>
                  <a:lnTo>
                    <a:pt x="58599" y="26039"/>
                  </a:lnTo>
                  <a:cubicBezTo>
                    <a:pt x="61750" y="26039"/>
                    <a:pt x="63429" y="27404"/>
                    <a:pt x="66683" y="32341"/>
                  </a:cubicBezTo>
                  <a:lnTo>
                    <a:pt x="76553" y="47458"/>
                  </a:lnTo>
                  <a:lnTo>
                    <a:pt x="64584" y="64786"/>
                  </a:lnTo>
                  <a:cubicBezTo>
                    <a:pt x="61432" y="69092"/>
                    <a:pt x="60385" y="69826"/>
                    <a:pt x="56920" y="70140"/>
                  </a:cubicBezTo>
                  <a:lnTo>
                    <a:pt x="56920" y="71715"/>
                  </a:lnTo>
                  <a:lnTo>
                    <a:pt x="72144" y="71715"/>
                  </a:lnTo>
                  <a:lnTo>
                    <a:pt x="72144" y="70140"/>
                  </a:lnTo>
                  <a:cubicBezTo>
                    <a:pt x="69203" y="70140"/>
                    <a:pt x="67945" y="69616"/>
                    <a:pt x="67945" y="68251"/>
                  </a:cubicBezTo>
                  <a:cubicBezTo>
                    <a:pt x="67945" y="67620"/>
                    <a:pt x="68679" y="66044"/>
                    <a:pt x="70045" y="63944"/>
                  </a:cubicBezTo>
                  <a:lnTo>
                    <a:pt x="78339" y="51030"/>
                  </a:lnTo>
                  <a:lnTo>
                    <a:pt x="87896" y="65730"/>
                  </a:lnTo>
                  <a:cubicBezTo>
                    <a:pt x="88317" y="66361"/>
                    <a:pt x="88523" y="66988"/>
                    <a:pt x="88523" y="67620"/>
                  </a:cubicBezTo>
                  <a:cubicBezTo>
                    <a:pt x="88523" y="69509"/>
                    <a:pt x="87789" y="69929"/>
                    <a:pt x="84324" y="70140"/>
                  </a:cubicBezTo>
                  <a:lnTo>
                    <a:pt x="84324" y="71715"/>
                  </a:lnTo>
                  <a:lnTo>
                    <a:pt x="105430" y="71715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fixed_setting_outline_6"/>
            <p:cNvSpPr/>
            <p:nvPr/>
          </p:nvSpPr>
          <p:spPr>
            <a:xfrm>
              <a:off x="764730" y="2614054"/>
              <a:ext cx="95562" cy="72766"/>
            </a:xfrm>
            <a:custGeom>
              <a:avLst/>
              <a:gdLst/>
              <a:ahLst/>
              <a:cxnLst/>
              <a:rect l="0" t="0" r="r" b="b"/>
              <a:pathLst>
                <a:path w="95562" h="72767">
                  <a:moveTo>
                    <a:pt x="41898" y="55229"/>
                  </a:moveTo>
                  <a:lnTo>
                    <a:pt x="40219" y="54495"/>
                  </a:lnTo>
                  <a:cubicBezTo>
                    <a:pt x="35179" y="62476"/>
                    <a:pt x="30662" y="65520"/>
                    <a:pt x="23943" y="65520"/>
                  </a:cubicBezTo>
                  <a:cubicBezTo>
                    <a:pt x="18170" y="65520"/>
                    <a:pt x="13756" y="62790"/>
                    <a:pt x="10712" y="57118"/>
                  </a:cubicBezTo>
                  <a:cubicBezTo>
                    <a:pt x="8612" y="53026"/>
                    <a:pt x="7771" y="49351"/>
                    <a:pt x="7561" y="42628"/>
                  </a:cubicBezTo>
                  <a:lnTo>
                    <a:pt x="39902" y="42628"/>
                  </a:lnTo>
                  <a:cubicBezTo>
                    <a:pt x="39065" y="35806"/>
                    <a:pt x="38013" y="32758"/>
                    <a:pt x="35389" y="29400"/>
                  </a:cubicBezTo>
                  <a:cubicBezTo>
                    <a:pt x="32239" y="25618"/>
                    <a:pt x="27409" y="23416"/>
                    <a:pt x="21948" y="23416"/>
                  </a:cubicBezTo>
                  <a:cubicBezTo>
                    <a:pt x="8926" y="23416"/>
                    <a:pt x="0" y="33913"/>
                    <a:pt x="0" y="49244"/>
                  </a:cubicBezTo>
                  <a:cubicBezTo>
                    <a:pt x="0" y="63734"/>
                    <a:pt x="7561" y="72767"/>
                    <a:pt x="19638" y="72767"/>
                  </a:cubicBezTo>
                  <a:cubicBezTo>
                    <a:pt x="29718" y="72767"/>
                    <a:pt x="37489" y="66572"/>
                    <a:pt x="41898" y="55229"/>
                  </a:cubicBezTo>
                  <a:close/>
                  <a:moveTo>
                    <a:pt x="29194" y="39271"/>
                  </a:moveTo>
                  <a:lnTo>
                    <a:pt x="7771" y="39271"/>
                  </a:lnTo>
                  <a:cubicBezTo>
                    <a:pt x="8926" y="30976"/>
                    <a:pt x="12498" y="27194"/>
                    <a:pt x="18904" y="27194"/>
                  </a:cubicBezTo>
                  <a:cubicBezTo>
                    <a:pt x="25308" y="27194"/>
                    <a:pt x="27829" y="30135"/>
                    <a:pt x="29194" y="39271"/>
                  </a:cubicBezTo>
                  <a:close/>
                  <a:moveTo>
                    <a:pt x="95562" y="67306"/>
                  </a:moveTo>
                  <a:lnTo>
                    <a:pt x="95562" y="65623"/>
                  </a:lnTo>
                  <a:cubicBezTo>
                    <a:pt x="93668" y="65730"/>
                    <a:pt x="93458" y="65730"/>
                    <a:pt x="93145" y="65730"/>
                  </a:cubicBezTo>
                  <a:cubicBezTo>
                    <a:pt x="89367" y="65730"/>
                    <a:pt x="88525" y="64575"/>
                    <a:pt x="88525" y="59746"/>
                  </a:cubicBezTo>
                  <a:lnTo>
                    <a:pt x="88525" y="210"/>
                  </a:lnTo>
                  <a:lnTo>
                    <a:pt x="88002" y="0"/>
                  </a:lnTo>
                  <a:cubicBezTo>
                    <a:pt x="82961" y="1782"/>
                    <a:pt x="79286" y="2834"/>
                    <a:pt x="72562" y="4620"/>
                  </a:cubicBezTo>
                  <a:lnTo>
                    <a:pt x="72562" y="6298"/>
                  </a:lnTo>
                  <a:cubicBezTo>
                    <a:pt x="73404" y="6195"/>
                    <a:pt x="74036" y="6195"/>
                    <a:pt x="74872" y="6195"/>
                  </a:cubicBezTo>
                  <a:cubicBezTo>
                    <a:pt x="78757" y="6195"/>
                    <a:pt x="79702" y="7243"/>
                    <a:pt x="79702" y="11549"/>
                  </a:cubicBezTo>
                  <a:lnTo>
                    <a:pt x="79702" y="27928"/>
                  </a:lnTo>
                  <a:cubicBezTo>
                    <a:pt x="75714" y="24571"/>
                    <a:pt x="72880" y="23416"/>
                    <a:pt x="68677" y="23416"/>
                  </a:cubicBezTo>
                  <a:cubicBezTo>
                    <a:pt x="56605" y="23416"/>
                    <a:pt x="46837" y="35278"/>
                    <a:pt x="46837" y="50189"/>
                  </a:cubicBezTo>
                  <a:cubicBezTo>
                    <a:pt x="46837" y="63631"/>
                    <a:pt x="54715" y="72767"/>
                    <a:pt x="66264" y="72767"/>
                  </a:cubicBezTo>
                  <a:cubicBezTo>
                    <a:pt x="72146" y="72767"/>
                    <a:pt x="76135" y="70664"/>
                    <a:pt x="79702" y="65730"/>
                  </a:cubicBezTo>
                  <a:lnTo>
                    <a:pt x="79702" y="72449"/>
                  </a:lnTo>
                  <a:lnTo>
                    <a:pt x="80123" y="72767"/>
                  </a:lnTo>
                  <a:lnTo>
                    <a:pt x="95562" y="67306"/>
                  </a:lnTo>
                  <a:close/>
                  <a:moveTo>
                    <a:pt x="79702" y="61004"/>
                  </a:moveTo>
                  <a:cubicBezTo>
                    <a:pt x="79702" y="61742"/>
                    <a:pt x="78968" y="63000"/>
                    <a:pt x="77920" y="64155"/>
                  </a:cubicBezTo>
                  <a:cubicBezTo>
                    <a:pt x="76027" y="66254"/>
                    <a:pt x="73404" y="67306"/>
                    <a:pt x="70360" y="67306"/>
                  </a:cubicBezTo>
                  <a:cubicBezTo>
                    <a:pt x="61644" y="67306"/>
                    <a:pt x="55871" y="58904"/>
                    <a:pt x="55871" y="45990"/>
                  </a:cubicBezTo>
                  <a:cubicBezTo>
                    <a:pt x="55871" y="34123"/>
                    <a:pt x="61014" y="26352"/>
                    <a:pt x="68995" y="26352"/>
                  </a:cubicBezTo>
                  <a:cubicBezTo>
                    <a:pt x="74559" y="26352"/>
                    <a:pt x="79702" y="31290"/>
                    <a:pt x="79702" y="36854"/>
                  </a:cubicBezTo>
                  <a:lnTo>
                    <a:pt x="79702" y="61004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8" name="lag_setting"/>
          <p:cNvGrpSpPr/>
          <p:nvPr/>
        </p:nvGrpSpPr>
        <p:grpSpPr>
          <a:xfrm>
            <a:off x="1420707" y="2613687"/>
            <a:ext cx="755517" cy="94499"/>
            <a:chOff x="1420707" y="2613687"/>
            <a:chExt cx="755517" cy="94499"/>
          </a:xfrm>
        </p:grpSpPr>
        <p:sp>
          <p:nvSpPr>
            <p:cNvPr id="259" name="lag_setting_outline_0"/>
            <p:cNvSpPr/>
            <p:nvPr/>
          </p:nvSpPr>
          <p:spPr>
            <a:xfrm>
              <a:off x="1420707" y="2639095"/>
              <a:ext cx="47163" cy="47462"/>
            </a:xfrm>
            <a:custGeom>
              <a:avLst/>
              <a:gdLst/>
              <a:ahLst/>
              <a:cxnLst/>
              <a:rect l="0" t="0" r="r" b="b"/>
              <a:pathLst>
                <a:path w="47164" h="47462">
                  <a:moveTo>
                    <a:pt x="40859" y="36227"/>
                  </a:moveTo>
                  <a:lnTo>
                    <a:pt x="38862" y="35179"/>
                  </a:lnTo>
                  <a:cubicBezTo>
                    <a:pt x="32461" y="41374"/>
                    <a:pt x="27944" y="43684"/>
                    <a:pt x="21959" y="43684"/>
                  </a:cubicBezTo>
                  <a:cubicBezTo>
                    <a:pt x="15133" y="43684"/>
                    <a:pt x="10827" y="39271"/>
                    <a:pt x="10514" y="31710"/>
                  </a:cubicBezTo>
                  <a:cubicBezTo>
                    <a:pt x="10200" y="22788"/>
                    <a:pt x="14189" y="13442"/>
                    <a:pt x="20697" y="7247"/>
                  </a:cubicBezTo>
                  <a:cubicBezTo>
                    <a:pt x="24059" y="4096"/>
                    <a:pt x="28786" y="2207"/>
                    <a:pt x="33616" y="2207"/>
                  </a:cubicBezTo>
                  <a:cubicBezTo>
                    <a:pt x="36449" y="2207"/>
                    <a:pt x="38128" y="3048"/>
                    <a:pt x="38128" y="4306"/>
                  </a:cubicBezTo>
                  <a:cubicBezTo>
                    <a:pt x="38235" y="4830"/>
                    <a:pt x="38128" y="5358"/>
                    <a:pt x="37604" y="6302"/>
                  </a:cubicBezTo>
                  <a:cubicBezTo>
                    <a:pt x="36660" y="7668"/>
                    <a:pt x="36552" y="8295"/>
                    <a:pt x="36552" y="9346"/>
                  </a:cubicBezTo>
                  <a:cubicBezTo>
                    <a:pt x="36660" y="11866"/>
                    <a:pt x="38446" y="13335"/>
                    <a:pt x="41382" y="13335"/>
                  </a:cubicBezTo>
                  <a:cubicBezTo>
                    <a:pt x="44744" y="13335"/>
                    <a:pt x="47264" y="11343"/>
                    <a:pt x="47161" y="8505"/>
                  </a:cubicBezTo>
                  <a:cubicBezTo>
                    <a:pt x="46951" y="3572"/>
                    <a:pt x="41593" y="0"/>
                    <a:pt x="34139" y="0"/>
                  </a:cubicBezTo>
                  <a:cubicBezTo>
                    <a:pt x="15975" y="0"/>
                    <a:pt x="-512" y="15331"/>
                    <a:pt x="12" y="31710"/>
                  </a:cubicBezTo>
                  <a:cubicBezTo>
                    <a:pt x="330" y="41688"/>
                    <a:pt x="7152" y="47462"/>
                    <a:pt x="18388" y="47462"/>
                  </a:cubicBezTo>
                  <a:cubicBezTo>
                    <a:pt x="27524" y="47462"/>
                    <a:pt x="33616" y="44311"/>
                    <a:pt x="40859" y="36227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lag_setting_outline_1"/>
            <p:cNvSpPr/>
            <p:nvPr/>
          </p:nvSpPr>
          <p:spPr>
            <a:xfrm>
              <a:off x="1510214" y="2644869"/>
              <a:ext cx="53760" cy="27197"/>
            </a:xfrm>
            <a:custGeom>
              <a:avLst/>
              <a:gdLst/>
              <a:ahLst/>
              <a:cxnLst/>
              <a:rect l="0" t="0" r="r" b="b"/>
              <a:pathLst>
                <a:path w="53761" h="27198">
                  <a:moveTo>
                    <a:pt x="53761" y="5882"/>
                  </a:moveTo>
                  <a:lnTo>
                    <a:pt x="53761" y="0"/>
                  </a:lnTo>
                  <a:lnTo>
                    <a:pt x="0" y="0"/>
                  </a:lnTo>
                  <a:lnTo>
                    <a:pt x="0" y="5882"/>
                  </a:lnTo>
                  <a:lnTo>
                    <a:pt x="53761" y="5882"/>
                  </a:lnTo>
                  <a:close/>
                  <a:moveTo>
                    <a:pt x="53761" y="27198"/>
                  </a:moveTo>
                  <a:lnTo>
                    <a:pt x="53761" y="21316"/>
                  </a:lnTo>
                  <a:lnTo>
                    <a:pt x="0" y="21316"/>
                  </a:lnTo>
                  <a:lnTo>
                    <a:pt x="0" y="27198"/>
                  </a:lnTo>
                  <a:lnTo>
                    <a:pt x="53761" y="27198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lag_setting_outline_2"/>
            <p:cNvSpPr/>
            <p:nvPr/>
          </p:nvSpPr>
          <p:spPr>
            <a:xfrm>
              <a:off x="1602186" y="2614421"/>
              <a:ext cx="47462" cy="72449"/>
            </a:xfrm>
            <a:custGeom>
              <a:avLst/>
              <a:gdLst/>
              <a:ahLst/>
              <a:cxnLst/>
              <a:rect l="0" t="0" r="r" b="b"/>
              <a:pathLst>
                <a:path w="47462" h="72449">
                  <a:moveTo>
                    <a:pt x="47462" y="36330"/>
                  </a:moveTo>
                  <a:cubicBezTo>
                    <a:pt x="47462" y="14803"/>
                    <a:pt x="37906" y="0"/>
                    <a:pt x="24150" y="0"/>
                  </a:cubicBezTo>
                  <a:cubicBezTo>
                    <a:pt x="18375" y="0"/>
                    <a:pt x="13966" y="1786"/>
                    <a:pt x="10081" y="5461"/>
                  </a:cubicBezTo>
                  <a:cubicBezTo>
                    <a:pt x="3989" y="11339"/>
                    <a:pt x="0" y="23416"/>
                    <a:pt x="0" y="35699"/>
                  </a:cubicBezTo>
                  <a:cubicBezTo>
                    <a:pt x="0" y="47145"/>
                    <a:pt x="3465" y="59432"/>
                    <a:pt x="8402" y="65310"/>
                  </a:cubicBezTo>
                  <a:cubicBezTo>
                    <a:pt x="12283" y="69929"/>
                    <a:pt x="17641" y="72449"/>
                    <a:pt x="23729" y="72449"/>
                  </a:cubicBezTo>
                  <a:cubicBezTo>
                    <a:pt x="29087" y="72449"/>
                    <a:pt x="33599" y="70668"/>
                    <a:pt x="37382" y="66992"/>
                  </a:cubicBezTo>
                  <a:cubicBezTo>
                    <a:pt x="43470" y="61214"/>
                    <a:pt x="47462" y="49034"/>
                    <a:pt x="47462" y="36330"/>
                  </a:cubicBezTo>
                  <a:close/>
                  <a:moveTo>
                    <a:pt x="37382" y="36540"/>
                  </a:moveTo>
                  <a:cubicBezTo>
                    <a:pt x="37382" y="58487"/>
                    <a:pt x="32762" y="69723"/>
                    <a:pt x="23729" y="69723"/>
                  </a:cubicBezTo>
                  <a:cubicBezTo>
                    <a:pt x="14700" y="69723"/>
                    <a:pt x="10081" y="58487"/>
                    <a:pt x="10081" y="36643"/>
                  </a:cubicBezTo>
                  <a:cubicBezTo>
                    <a:pt x="10081" y="14387"/>
                    <a:pt x="14803" y="2730"/>
                    <a:pt x="23836" y="2730"/>
                  </a:cubicBezTo>
                  <a:cubicBezTo>
                    <a:pt x="32655" y="2730"/>
                    <a:pt x="37382" y="14593"/>
                    <a:pt x="37382" y="36540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lag_setting_outline_3"/>
            <p:cNvSpPr/>
            <p:nvPr/>
          </p:nvSpPr>
          <p:spPr>
            <a:xfrm>
              <a:off x="1660575" y="2674691"/>
              <a:ext cx="16696" cy="25832"/>
            </a:xfrm>
            <a:custGeom>
              <a:avLst/>
              <a:gdLst/>
              <a:ahLst/>
              <a:cxnLst/>
              <a:rect l="0" t="0" r="r" b="b"/>
              <a:pathLst>
                <a:path w="16696" h="25833">
                  <a:moveTo>
                    <a:pt x="16696" y="10081"/>
                  </a:moveTo>
                  <a:cubicBezTo>
                    <a:pt x="16696" y="1365"/>
                    <a:pt x="9870" y="0"/>
                    <a:pt x="7037" y="0"/>
                  </a:cubicBezTo>
                  <a:cubicBezTo>
                    <a:pt x="3993" y="0"/>
                    <a:pt x="0" y="1893"/>
                    <a:pt x="0" y="6406"/>
                  </a:cubicBezTo>
                  <a:cubicBezTo>
                    <a:pt x="0" y="10608"/>
                    <a:pt x="4096" y="11656"/>
                    <a:pt x="7144" y="11656"/>
                  </a:cubicBezTo>
                  <a:cubicBezTo>
                    <a:pt x="7878" y="11656"/>
                    <a:pt x="8505" y="11553"/>
                    <a:pt x="8822" y="11446"/>
                  </a:cubicBezTo>
                  <a:cubicBezTo>
                    <a:pt x="9243" y="11343"/>
                    <a:pt x="9767" y="11236"/>
                    <a:pt x="9977" y="11236"/>
                  </a:cubicBezTo>
                  <a:cubicBezTo>
                    <a:pt x="10712" y="11236"/>
                    <a:pt x="11553" y="11763"/>
                    <a:pt x="11553" y="12708"/>
                  </a:cubicBezTo>
                  <a:cubicBezTo>
                    <a:pt x="11553" y="14700"/>
                    <a:pt x="9664" y="19217"/>
                    <a:pt x="1996" y="23626"/>
                  </a:cubicBezTo>
                  <a:lnTo>
                    <a:pt x="3048" y="25833"/>
                  </a:lnTo>
                  <a:cubicBezTo>
                    <a:pt x="6723" y="24781"/>
                    <a:pt x="16696" y="17538"/>
                    <a:pt x="16696" y="10081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lag_setting_outline_4"/>
            <p:cNvSpPr/>
            <p:nvPr/>
          </p:nvSpPr>
          <p:spPr>
            <a:xfrm>
              <a:off x="1724618" y="2616624"/>
              <a:ext cx="71191" cy="90515"/>
            </a:xfrm>
            <a:custGeom>
              <a:avLst/>
              <a:gdLst/>
              <a:ahLst/>
              <a:cxnLst/>
              <a:rect l="0" t="0" r="r" b="b"/>
              <a:pathLst>
                <a:path w="71192" h="90515">
                  <a:moveTo>
                    <a:pt x="71192" y="12077"/>
                  </a:moveTo>
                  <a:cubicBezTo>
                    <a:pt x="71192" y="3782"/>
                    <a:pt x="63318" y="0"/>
                    <a:pt x="53026" y="0"/>
                  </a:cubicBezTo>
                  <a:cubicBezTo>
                    <a:pt x="39902" y="0"/>
                    <a:pt x="27198" y="7457"/>
                    <a:pt x="23733" y="18062"/>
                  </a:cubicBezTo>
                  <a:lnTo>
                    <a:pt x="7350" y="76652"/>
                  </a:lnTo>
                  <a:cubicBezTo>
                    <a:pt x="5461" y="83268"/>
                    <a:pt x="1155" y="89150"/>
                    <a:pt x="0" y="90515"/>
                  </a:cubicBezTo>
                  <a:lnTo>
                    <a:pt x="10922" y="90515"/>
                  </a:lnTo>
                  <a:cubicBezTo>
                    <a:pt x="11025" y="90515"/>
                    <a:pt x="12918" y="89674"/>
                    <a:pt x="16907" y="76549"/>
                  </a:cubicBezTo>
                  <a:lnTo>
                    <a:pt x="20689" y="63004"/>
                  </a:lnTo>
                  <a:lnTo>
                    <a:pt x="20792" y="63004"/>
                  </a:lnTo>
                  <a:cubicBezTo>
                    <a:pt x="20792" y="63107"/>
                    <a:pt x="24678" y="70564"/>
                    <a:pt x="36334" y="70564"/>
                  </a:cubicBezTo>
                  <a:cubicBezTo>
                    <a:pt x="53657" y="70564"/>
                    <a:pt x="65523" y="58805"/>
                    <a:pt x="65523" y="46728"/>
                  </a:cubicBezTo>
                  <a:cubicBezTo>
                    <a:pt x="65523" y="33603"/>
                    <a:pt x="50403" y="31607"/>
                    <a:pt x="50296" y="31607"/>
                  </a:cubicBezTo>
                  <a:lnTo>
                    <a:pt x="50296" y="31187"/>
                  </a:lnTo>
                  <a:cubicBezTo>
                    <a:pt x="50403" y="31187"/>
                    <a:pt x="71192" y="27408"/>
                    <a:pt x="71192" y="12077"/>
                  </a:cubicBezTo>
                  <a:close/>
                  <a:moveTo>
                    <a:pt x="60798" y="11867"/>
                  </a:moveTo>
                  <a:cubicBezTo>
                    <a:pt x="60798" y="16697"/>
                    <a:pt x="57646" y="28563"/>
                    <a:pt x="48093" y="28563"/>
                  </a:cubicBezTo>
                  <a:cubicBezTo>
                    <a:pt x="45573" y="28563"/>
                    <a:pt x="43474" y="28142"/>
                    <a:pt x="41584" y="28142"/>
                  </a:cubicBezTo>
                  <a:cubicBezTo>
                    <a:pt x="38326" y="28142"/>
                    <a:pt x="36123" y="30559"/>
                    <a:pt x="36123" y="32449"/>
                  </a:cubicBezTo>
                  <a:cubicBezTo>
                    <a:pt x="36123" y="33603"/>
                    <a:pt x="37068" y="34548"/>
                    <a:pt x="39168" y="34548"/>
                  </a:cubicBezTo>
                  <a:cubicBezTo>
                    <a:pt x="42422" y="34548"/>
                    <a:pt x="43263" y="34024"/>
                    <a:pt x="45887" y="34024"/>
                  </a:cubicBezTo>
                  <a:cubicBezTo>
                    <a:pt x="51661" y="34024"/>
                    <a:pt x="54289" y="39692"/>
                    <a:pt x="54289" y="45573"/>
                  </a:cubicBezTo>
                  <a:cubicBezTo>
                    <a:pt x="54289" y="56075"/>
                    <a:pt x="47569" y="65734"/>
                    <a:pt x="35596" y="65734"/>
                  </a:cubicBezTo>
                  <a:cubicBezTo>
                    <a:pt x="28039" y="65734"/>
                    <a:pt x="23209" y="62059"/>
                    <a:pt x="23209" y="55967"/>
                  </a:cubicBezTo>
                  <a:cubicBezTo>
                    <a:pt x="23209" y="54709"/>
                    <a:pt x="23416" y="53344"/>
                    <a:pt x="23836" y="51872"/>
                  </a:cubicBezTo>
                  <a:lnTo>
                    <a:pt x="33183" y="18169"/>
                  </a:lnTo>
                  <a:cubicBezTo>
                    <a:pt x="35282" y="11343"/>
                    <a:pt x="40846" y="2941"/>
                    <a:pt x="51558" y="2941"/>
                  </a:cubicBezTo>
                  <a:cubicBezTo>
                    <a:pt x="58277" y="2941"/>
                    <a:pt x="60798" y="7037"/>
                    <a:pt x="60798" y="11867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lag_setting_outline_5"/>
            <p:cNvSpPr/>
            <p:nvPr/>
          </p:nvSpPr>
          <p:spPr>
            <a:xfrm>
              <a:off x="1830298" y="2613687"/>
              <a:ext cx="302857" cy="94499"/>
            </a:xfrm>
            <a:custGeom>
              <a:avLst/>
              <a:gdLst/>
              <a:ahLst/>
              <a:cxnLst/>
              <a:rect l="0" t="0" r="r" b="b"/>
              <a:pathLst>
                <a:path w="302857" h="94500">
                  <a:moveTo>
                    <a:pt x="42525" y="67516"/>
                  </a:moveTo>
                  <a:lnTo>
                    <a:pt x="42525" y="64786"/>
                  </a:lnTo>
                  <a:cubicBezTo>
                    <a:pt x="40739" y="66254"/>
                    <a:pt x="39481" y="66782"/>
                    <a:pt x="37906" y="66782"/>
                  </a:cubicBezTo>
                  <a:cubicBezTo>
                    <a:pt x="35489" y="66782"/>
                    <a:pt x="34754" y="65310"/>
                    <a:pt x="34754" y="60690"/>
                  </a:cubicBezTo>
                  <a:lnTo>
                    <a:pt x="34754" y="40215"/>
                  </a:lnTo>
                  <a:cubicBezTo>
                    <a:pt x="34754" y="34858"/>
                    <a:pt x="34230" y="31921"/>
                    <a:pt x="32762" y="29504"/>
                  </a:cubicBezTo>
                  <a:cubicBezTo>
                    <a:pt x="30555" y="25515"/>
                    <a:pt x="26039" y="23416"/>
                    <a:pt x="19633" y="23416"/>
                  </a:cubicBezTo>
                  <a:cubicBezTo>
                    <a:pt x="14280" y="23416"/>
                    <a:pt x="9239" y="24884"/>
                    <a:pt x="6298" y="27301"/>
                  </a:cubicBezTo>
                  <a:cubicBezTo>
                    <a:pt x="3675" y="29504"/>
                    <a:pt x="1996" y="32548"/>
                    <a:pt x="1996" y="35175"/>
                  </a:cubicBezTo>
                  <a:cubicBezTo>
                    <a:pt x="1996" y="37588"/>
                    <a:pt x="3989" y="39692"/>
                    <a:pt x="6509" y="39692"/>
                  </a:cubicBezTo>
                  <a:cubicBezTo>
                    <a:pt x="9029" y="39692"/>
                    <a:pt x="11236" y="37588"/>
                    <a:pt x="11236" y="35278"/>
                  </a:cubicBezTo>
                  <a:cubicBezTo>
                    <a:pt x="11236" y="34858"/>
                    <a:pt x="11128" y="34334"/>
                    <a:pt x="11025" y="33600"/>
                  </a:cubicBezTo>
                  <a:cubicBezTo>
                    <a:pt x="10815" y="32655"/>
                    <a:pt x="10712" y="31814"/>
                    <a:pt x="10712" y="31079"/>
                  </a:cubicBezTo>
                  <a:cubicBezTo>
                    <a:pt x="10712" y="28246"/>
                    <a:pt x="14069" y="25936"/>
                    <a:pt x="18268" y="25936"/>
                  </a:cubicBezTo>
                  <a:cubicBezTo>
                    <a:pt x="23416" y="25936"/>
                    <a:pt x="26249" y="28980"/>
                    <a:pt x="26249" y="34651"/>
                  </a:cubicBezTo>
                  <a:lnTo>
                    <a:pt x="26249" y="41053"/>
                  </a:lnTo>
                  <a:cubicBezTo>
                    <a:pt x="10081" y="47566"/>
                    <a:pt x="8295" y="48403"/>
                    <a:pt x="3778" y="52396"/>
                  </a:cubicBezTo>
                  <a:cubicBezTo>
                    <a:pt x="1468" y="54495"/>
                    <a:pt x="0" y="58067"/>
                    <a:pt x="0" y="61532"/>
                  </a:cubicBezTo>
                  <a:cubicBezTo>
                    <a:pt x="0" y="68143"/>
                    <a:pt x="4516" y="72767"/>
                    <a:pt x="11025" y="72767"/>
                  </a:cubicBezTo>
                  <a:cubicBezTo>
                    <a:pt x="15645" y="72767"/>
                    <a:pt x="19951" y="70560"/>
                    <a:pt x="26356" y="65099"/>
                  </a:cubicBezTo>
                  <a:cubicBezTo>
                    <a:pt x="26880" y="70664"/>
                    <a:pt x="28769" y="72767"/>
                    <a:pt x="33076" y="72767"/>
                  </a:cubicBezTo>
                  <a:cubicBezTo>
                    <a:pt x="36647" y="72767"/>
                    <a:pt x="38850" y="71505"/>
                    <a:pt x="42525" y="67516"/>
                  </a:cubicBezTo>
                  <a:close/>
                  <a:moveTo>
                    <a:pt x="26249" y="58801"/>
                  </a:moveTo>
                  <a:cubicBezTo>
                    <a:pt x="26249" y="62055"/>
                    <a:pt x="25725" y="63000"/>
                    <a:pt x="23519" y="64365"/>
                  </a:cubicBezTo>
                  <a:cubicBezTo>
                    <a:pt x="20999" y="65834"/>
                    <a:pt x="18062" y="66675"/>
                    <a:pt x="15855" y="66675"/>
                  </a:cubicBezTo>
                  <a:cubicBezTo>
                    <a:pt x="12180" y="66675"/>
                    <a:pt x="9239" y="63107"/>
                    <a:pt x="9239" y="58591"/>
                  </a:cubicBezTo>
                  <a:lnTo>
                    <a:pt x="9239" y="58170"/>
                  </a:lnTo>
                  <a:cubicBezTo>
                    <a:pt x="9239" y="51975"/>
                    <a:pt x="13545" y="48196"/>
                    <a:pt x="26249" y="43573"/>
                  </a:cubicBezTo>
                  <a:lnTo>
                    <a:pt x="26249" y="58801"/>
                  </a:lnTo>
                  <a:close/>
                  <a:moveTo>
                    <a:pt x="94300" y="67306"/>
                  </a:moveTo>
                  <a:lnTo>
                    <a:pt x="94300" y="65623"/>
                  </a:lnTo>
                  <a:cubicBezTo>
                    <a:pt x="92406" y="65730"/>
                    <a:pt x="92196" y="65730"/>
                    <a:pt x="91882" y="65730"/>
                  </a:cubicBezTo>
                  <a:cubicBezTo>
                    <a:pt x="88104" y="65730"/>
                    <a:pt x="87263" y="64576"/>
                    <a:pt x="87263" y="59746"/>
                  </a:cubicBezTo>
                  <a:lnTo>
                    <a:pt x="87263" y="210"/>
                  </a:lnTo>
                  <a:lnTo>
                    <a:pt x="86739" y="0"/>
                  </a:lnTo>
                  <a:cubicBezTo>
                    <a:pt x="81699" y="1782"/>
                    <a:pt x="78024" y="2834"/>
                    <a:pt x="71301" y="4620"/>
                  </a:cubicBezTo>
                  <a:lnTo>
                    <a:pt x="71301" y="6298"/>
                  </a:lnTo>
                  <a:cubicBezTo>
                    <a:pt x="72142" y="6195"/>
                    <a:pt x="72773" y="6195"/>
                    <a:pt x="73610" y="6195"/>
                  </a:cubicBezTo>
                  <a:cubicBezTo>
                    <a:pt x="77496" y="6195"/>
                    <a:pt x="78440" y="7243"/>
                    <a:pt x="78440" y="11549"/>
                  </a:cubicBezTo>
                  <a:lnTo>
                    <a:pt x="78440" y="27928"/>
                  </a:lnTo>
                  <a:cubicBezTo>
                    <a:pt x="74452" y="24571"/>
                    <a:pt x="71618" y="23416"/>
                    <a:pt x="67415" y="23416"/>
                  </a:cubicBezTo>
                  <a:cubicBezTo>
                    <a:pt x="55342" y="23416"/>
                    <a:pt x="45575" y="35278"/>
                    <a:pt x="45575" y="50189"/>
                  </a:cubicBezTo>
                  <a:cubicBezTo>
                    <a:pt x="45575" y="63631"/>
                    <a:pt x="53453" y="72767"/>
                    <a:pt x="65002" y="72767"/>
                  </a:cubicBezTo>
                  <a:cubicBezTo>
                    <a:pt x="70884" y="72767"/>
                    <a:pt x="74872" y="70664"/>
                    <a:pt x="78440" y="65730"/>
                  </a:cubicBezTo>
                  <a:lnTo>
                    <a:pt x="78440" y="72450"/>
                  </a:lnTo>
                  <a:lnTo>
                    <a:pt x="78861" y="72767"/>
                  </a:lnTo>
                  <a:lnTo>
                    <a:pt x="94300" y="67306"/>
                  </a:lnTo>
                  <a:close/>
                  <a:moveTo>
                    <a:pt x="78440" y="61004"/>
                  </a:moveTo>
                  <a:cubicBezTo>
                    <a:pt x="78440" y="61742"/>
                    <a:pt x="77706" y="63000"/>
                    <a:pt x="76658" y="64155"/>
                  </a:cubicBezTo>
                  <a:cubicBezTo>
                    <a:pt x="74765" y="66254"/>
                    <a:pt x="72142" y="67306"/>
                    <a:pt x="69098" y="67306"/>
                  </a:cubicBezTo>
                  <a:cubicBezTo>
                    <a:pt x="60383" y="67306"/>
                    <a:pt x="54608" y="58904"/>
                    <a:pt x="54608" y="45990"/>
                  </a:cubicBezTo>
                  <a:cubicBezTo>
                    <a:pt x="54608" y="34123"/>
                    <a:pt x="59751" y="26352"/>
                    <a:pt x="67733" y="26352"/>
                  </a:cubicBezTo>
                  <a:cubicBezTo>
                    <a:pt x="73297" y="26352"/>
                    <a:pt x="78440" y="31290"/>
                    <a:pt x="78440" y="36854"/>
                  </a:cubicBezTo>
                  <a:lnTo>
                    <a:pt x="78440" y="61004"/>
                  </a:lnTo>
                  <a:close/>
                  <a:moveTo>
                    <a:pt x="141660" y="67516"/>
                  </a:moveTo>
                  <a:lnTo>
                    <a:pt x="141660" y="64786"/>
                  </a:lnTo>
                  <a:cubicBezTo>
                    <a:pt x="139873" y="66254"/>
                    <a:pt x="138616" y="66782"/>
                    <a:pt x="137040" y="66782"/>
                  </a:cubicBezTo>
                  <a:cubicBezTo>
                    <a:pt x="134623" y="66782"/>
                    <a:pt x="133889" y="65310"/>
                    <a:pt x="133889" y="60690"/>
                  </a:cubicBezTo>
                  <a:lnTo>
                    <a:pt x="133889" y="40215"/>
                  </a:lnTo>
                  <a:cubicBezTo>
                    <a:pt x="133889" y="34858"/>
                    <a:pt x="133364" y="31921"/>
                    <a:pt x="131896" y="29504"/>
                  </a:cubicBezTo>
                  <a:cubicBezTo>
                    <a:pt x="129690" y="25515"/>
                    <a:pt x="125173" y="23416"/>
                    <a:pt x="118768" y="23416"/>
                  </a:cubicBezTo>
                  <a:cubicBezTo>
                    <a:pt x="113414" y="23416"/>
                    <a:pt x="108374" y="24884"/>
                    <a:pt x="105433" y="27301"/>
                  </a:cubicBezTo>
                  <a:cubicBezTo>
                    <a:pt x="102810" y="29504"/>
                    <a:pt x="101131" y="32548"/>
                    <a:pt x="101131" y="35175"/>
                  </a:cubicBezTo>
                  <a:cubicBezTo>
                    <a:pt x="101131" y="37588"/>
                    <a:pt x="103123" y="39692"/>
                    <a:pt x="105643" y="39692"/>
                  </a:cubicBezTo>
                  <a:cubicBezTo>
                    <a:pt x="108163" y="39692"/>
                    <a:pt x="110370" y="37588"/>
                    <a:pt x="110370" y="35278"/>
                  </a:cubicBezTo>
                  <a:cubicBezTo>
                    <a:pt x="110370" y="34858"/>
                    <a:pt x="110263" y="34334"/>
                    <a:pt x="110160" y="33600"/>
                  </a:cubicBezTo>
                  <a:cubicBezTo>
                    <a:pt x="109949" y="32655"/>
                    <a:pt x="109846" y="31814"/>
                    <a:pt x="109846" y="31079"/>
                  </a:cubicBezTo>
                  <a:cubicBezTo>
                    <a:pt x="109846" y="28246"/>
                    <a:pt x="113204" y="25936"/>
                    <a:pt x="117403" y="25936"/>
                  </a:cubicBezTo>
                  <a:cubicBezTo>
                    <a:pt x="122550" y="25936"/>
                    <a:pt x="125384" y="28980"/>
                    <a:pt x="125384" y="34651"/>
                  </a:cubicBezTo>
                  <a:lnTo>
                    <a:pt x="125384" y="41053"/>
                  </a:lnTo>
                  <a:cubicBezTo>
                    <a:pt x="109215" y="47566"/>
                    <a:pt x="107429" y="48403"/>
                    <a:pt x="102913" y="52396"/>
                  </a:cubicBezTo>
                  <a:cubicBezTo>
                    <a:pt x="100603" y="54495"/>
                    <a:pt x="99134" y="58067"/>
                    <a:pt x="99134" y="61532"/>
                  </a:cubicBezTo>
                  <a:cubicBezTo>
                    <a:pt x="99134" y="68143"/>
                    <a:pt x="103651" y="72767"/>
                    <a:pt x="110160" y="72767"/>
                  </a:cubicBezTo>
                  <a:cubicBezTo>
                    <a:pt x="114779" y="72767"/>
                    <a:pt x="119085" y="70560"/>
                    <a:pt x="125490" y="65099"/>
                  </a:cubicBezTo>
                  <a:cubicBezTo>
                    <a:pt x="126015" y="70664"/>
                    <a:pt x="127903" y="72767"/>
                    <a:pt x="132210" y="72767"/>
                  </a:cubicBezTo>
                  <a:cubicBezTo>
                    <a:pt x="135782" y="72767"/>
                    <a:pt x="137985" y="71505"/>
                    <a:pt x="141660" y="67516"/>
                  </a:cubicBezTo>
                  <a:close/>
                  <a:moveTo>
                    <a:pt x="125384" y="58801"/>
                  </a:moveTo>
                  <a:cubicBezTo>
                    <a:pt x="125384" y="62055"/>
                    <a:pt x="124860" y="63000"/>
                    <a:pt x="122653" y="64365"/>
                  </a:cubicBezTo>
                  <a:cubicBezTo>
                    <a:pt x="120133" y="65834"/>
                    <a:pt x="117196" y="66675"/>
                    <a:pt x="114990" y="66675"/>
                  </a:cubicBezTo>
                  <a:cubicBezTo>
                    <a:pt x="111314" y="66675"/>
                    <a:pt x="108374" y="63107"/>
                    <a:pt x="108374" y="58591"/>
                  </a:cubicBezTo>
                  <a:lnTo>
                    <a:pt x="108374" y="58170"/>
                  </a:lnTo>
                  <a:cubicBezTo>
                    <a:pt x="108374" y="51975"/>
                    <a:pt x="112680" y="48196"/>
                    <a:pt x="125384" y="43573"/>
                  </a:cubicBezTo>
                  <a:lnTo>
                    <a:pt x="125384" y="58801"/>
                  </a:lnTo>
                  <a:close/>
                  <a:moveTo>
                    <a:pt x="191227" y="45780"/>
                  </a:moveTo>
                  <a:cubicBezTo>
                    <a:pt x="191227" y="32758"/>
                    <a:pt x="183877" y="23416"/>
                    <a:pt x="173693" y="23416"/>
                  </a:cubicBezTo>
                  <a:cubicBezTo>
                    <a:pt x="167812" y="23416"/>
                    <a:pt x="163192" y="26039"/>
                    <a:pt x="158573" y="31710"/>
                  </a:cubicBezTo>
                  <a:lnTo>
                    <a:pt x="158573" y="23626"/>
                  </a:lnTo>
                  <a:lnTo>
                    <a:pt x="157941" y="23416"/>
                  </a:lnTo>
                  <a:cubicBezTo>
                    <a:pt x="152270" y="25618"/>
                    <a:pt x="148595" y="26984"/>
                    <a:pt x="142821" y="28770"/>
                  </a:cubicBezTo>
                  <a:lnTo>
                    <a:pt x="142821" y="30448"/>
                  </a:lnTo>
                  <a:cubicBezTo>
                    <a:pt x="143764" y="30345"/>
                    <a:pt x="144500" y="30345"/>
                    <a:pt x="145447" y="30345"/>
                  </a:cubicBezTo>
                  <a:cubicBezTo>
                    <a:pt x="149016" y="30345"/>
                    <a:pt x="149750" y="31393"/>
                    <a:pt x="149750" y="36330"/>
                  </a:cubicBezTo>
                  <a:lnTo>
                    <a:pt x="149750" y="85471"/>
                  </a:lnTo>
                  <a:cubicBezTo>
                    <a:pt x="149750" y="90932"/>
                    <a:pt x="148595" y="92087"/>
                    <a:pt x="142399" y="92714"/>
                  </a:cubicBezTo>
                  <a:lnTo>
                    <a:pt x="142399" y="94500"/>
                  </a:lnTo>
                  <a:lnTo>
                    <a:pt x="167812" y="94500"/>
                  </a:lnTo>
                  <a:lnTo>
                    <a:pt x="167812" y="92611"/>
                  </a:lnTo>
                  <a:cubicBezTo>
                    <a:pt x="159938" y="92508"/>
                    <a:pt x="158573" y="91353"/>
                    <a:pt x="158573" y="84737"/>
                  </a:cubicBezTo>
                  <a:lnTo>
                    <a:pt x="158573" y="68251"/>
                  </a:lnTo>
                  <a:cubicBezTo>
                    <a:pt x="162248" y="71715"/>
                    <a:pt x="164768" y="72767"/>
                    <a:pt x="169177" y="72767"/>
                  </a:cubicBezTo>
                  <a:cubicBezTo>
                    <a:pt x="181567" y="72767"/>
                    <a:pt x="191227" y="61004"/>
                    <a:pt x="191227" y="45780"/>
                  </a:cubicBezTo>
                  <a:close/>
                  <a:moveTo>
                    <a:pt x="182198" y="49875"/>
                  </a:moveTo>
                  <a:cubicBezTo>
                    <a:pt x="182198" y="61532"/>
                    <a:pt x="177051" y="69406"/>
                    <a:pt x="169491" y="69406"/>
                  </a:cubicBezTo>
                  <a:cubicBezTo>
                    <a:pt x="164557" y="69406"/>
                    <a:pt x="158573" y="65623"/>
                    <a:pt x="158573" y="62476"/>
                  </a:cubicBezTo>
                  <a:lnTo>
                    <a:pt x="158573" y="36644"/>
                  </a:lnTo>
                  <a:cubicBezTo>
                    <a:pt x="158573" y="33496"/>
                    <a:pt x="164450" y="29714"/>
                    <a:pt x="169280" y="29714"/>
                  </a:cubicBezTo>
                  <a:cubicBezTo>
                    <a:pt x="177051" y="29714"/>
                    <a:pt x="182198" y="37695"/>
                    <a:pt x="182198" y="49875"/>
                  </a:cubicBezTo>
                  <a:close/>
                  <a:moveTo>
                    <a:pt x="223680" y="64786"/>
                  </a:moveTo>
                  <a:lnTo>
                    <a:pt x="222315" y="63631"/>
                  </a:lnTo>
                  <a:cubicBezTo>
                    <a:pt x="220006" y="66362"/>
                    <a:pt x="218324" y="67306"/>
                    <a:pt x="216013" y="67306"/>
                  </a:cubicBezTo>
                  <a:cubicBezTo>
                    <a:pt x="212127" y="67306"/>
                    <a:pt x="210552" y="64576"/>
                    <a:pt x="210552" y="57857"/>
                  </a:cubicBezTo>
                  <a:lnTo>
                    <a:pt x="210552" y="27825"/>
                  </a:lnTo>
                  <a:lnTo>
                    <a:pt x="221161" y="27825"/>
                  </a:lnTo>
                  <a:lnTo>
                    <a:pt x="221161" y="24463"/>
                  </a:lnTo>
                  <a:lnTo>
                    <a:pt x="210552" y="24463"/>
                  </a:lnTo>
                  <a:lnTo>
                    <a:pt x="210552" y="12283"/>
                  </a:lnTo>
                  <a:cubicBezTo>
                    <a:pt x="210552" y="11236"/>
                    <a:pt x="210345" y="10918"/>
                    <a:pt x="209818" y="10918"/>
                  </a:cubicBezTo>
                  <a:cubicBezTo>
                    <a:pt x="209187" y="11970"/>
                    <a:pt x="208453" y="12914"/>
                    <a:pt x="207719" y="13859"/>
                  </a:cubicBezTo>
                  <a:cubicBezTo>
                    <a:pt x="203833" y="19633"/>
                    <a:pt x="200265" y="23519"/>
                    <a:pt x="197535" y="25094"/>
                  </a:cubicBezTo>
                  <a:cubicBezTo>
                    <a:pt x="196379" y="25829"/>
                    <a:pt x="195749" y="26460"/>
                    <a:pt x="195749" y="27091"/>
                  </a:cubicBezTo>
                  <a:cubicBezTo>
                    <a:pt x="195749" y="27404"/>
                    <a:pt x="195852" y="27615"/>
                    <a:pt x="196170" y="27825"/>
                  </a:cubicBezTo>
                  <a:lnTo>
                    <a:pt x="201734" y="27825"/>
                  </a:lnTo>
                  <a:lnTo>
                    <a:pt x="201734" y="59428"/>
                  </a:lnTo>
                  <a:cubicBezTo>
                    <a:pt x="201734" y="68251"/>
                    <a:pt x="204884" y="72767"/>
                    <a:pt x="210973" y="72767"/>
                  </a:cubicBezTo>
                  <a:cubicBezTo>
                    <a:pt x="216223" y="72767"/>
                    <a:pt x="220212" y="70247"/>
                    <a:pt x="223680" y="64786"/>
                  </a:cubicBezTo>
                  <a:close/>
                  <a:moveTo>
                    <a:pt x="250145" y="71715"/>
                  </a:moveTo>
                  <a:lnTo>
                    <a:pt x="250145" y="70140"/>
                  </a:lnTo>
                  <a:cubicBezTo>
                    <a:pt x="243216" y="69616"/>
                    <a:pt x="242374" y="68564"/>
                    <a:pt x="242374" y="61004"/>
                  </a:cubicBezTo>
                  <a:lnTo>
                    <a:pt x="242374" y="23729"/>
                  </a:lnTo>
                  <a:lnTo>
                    <a:pt x="241953" y="23416"/>
                  </a:lnTo>
                  <a:lnTo>
                    <a:pt x="225677" y="29190"/>
                  </a:lnTo>
                  <a:lnTo>
                    <a:pt x="225677" y="30766"/>
                  </a:lnTo>
                  <a:lnTo>
                    <a:pt x="226519" y="30659"/>
                  </a:lnTo>
                  <a:cubicBezTo>
                    <a:pt x="227776" y="30448"/>
                    <a:pt x="229141" y="30345"/>
                    <a:pt x="230086" y="30345"/>
                  </a:cubicBezTo>
                  <a:cubicBezTo>
                    <a:pt x="232606" y="30345"/>
                    <a:pt x="233551" y="32024"/>
                    <a:pt x="233551" y="36644"/>
                  </a:cubicBezTo>
                  <a:lnTo>
                    <a:pt x="233551" y="61004"/>
                  </a:lnTo>
                  <a:cubicBezTo>
                    <a:pt x="233551" y="68564"/>
                    <a:pt x="232503" y="69719"/>
                    <a:pt x="225256" y="70140"/>
                  </a:cubicBezTo>
                  <a:lnTo>
                    <a:pt x="225256" y="71715"/>
                  </a:lnTo>
                  <a:lnTo>
                    <a:pt x="250145" y="71715"/>
                  </a:lnTo>
                  <a:close/>
                  <a:moveTo>
                    <a:pt x="243318" y="5354"/>
                  </a:moveTo>
                  <a:cubicBezTo>
                    <a:pt x="243318" y="2413"/>
                    <a:pt x="241008" y="0"/>
                    <a:pt x="237964" y="0"/>
                  </a:cubicBezTo>
                  <a:cubicBezTo>
                    <a:pt x="235024" y="0"/>
                    <a:pt x="232606" y="2413"/>
                    <a:pt x="232606" y="5354"/>
                  </a:cubicBezTo>
                  <a:cubicBezTo>
                    <a:pt x="232606" y="8398"/>
                    <a:pt x="235024" y="10708"/>
                    <a:pt x="237964" y="10708"/>
                  </a:cubicBezTo>
                  <a:cubicBezTo>
                    <a:pt x="241008" y="10708"/>
                    <a:pt x="243318" y="8398"/>
                    <a:pt x="243318" y="5354"/>
                  </a:cubicBezTo>
                  <a:close/>
                  <a:moveTo>
                    <a:pt x="302857" y="26039"/>
                  </a:moveTo>
                  <a:lnTo>
                    <a:pt x="302857" y="24463"/>
                  </a:lnTo>
                  <a:lnTo>
                    <a:pt x="288264" y="24463"/>
                  </a:lnTo>
                  <a:lnTo>
                    <a:pt x="288264" y="26039"/>
                  </a:lnTo>
                  <a:cubicBezTo>
                    <a:pt x="291622" y="26352"/>
                    <a:pt x="293198" y="27404"/>
                    <a:pt x="293198" y="29400"/>
                  </a:cubicBezTo>
                  <a:cubicBezTo>
                    <a:pt x="293198" y="30448"/>
                    <a:pt x="292987" y="31500"/>
                    <a:pt x="292566" y="32548"/>
                  </a:cubicBezTo>
                  <a:lnTo>
                    <a:pt x="282173" y="59746"/>
                  </a:lnTo>
                  <a:lnTo>
                    <a:pt x="271460" y="32865"/>
                  </a:lnTo>
                  <a:cubicBezTo>
                    <a:pt x="270833" y="31393"/>
                    <a:pt x="270515" y="29924"/>
                    <a:pt x="270515" y="28980"/>
                  </a:cubicBezTo>
                  <a:cubicBezTo>
                    <a:pt x="270515" y="27091"/>
                    <a:pt x="271671" y="26352"/>
                    <a:pt x="275347" y="26039"/>
                  </a:cubicBezTo>
                  <a:lnTo>
                    <a:pt x="275347" y="24463"/>
                  </a:lnTo>
                  <a:lnTo>
                    <a:pt x="254767" y="24463"/>
                  </a:lnTo>
                  <a:lnTo>
                    <a:pt x="254767" y="26039"/>
                  </a:lnTo>
                  <a:cubicBezTo>
                    <a:pt x="258757" y="26249"/>
                    <a:pt x="259491" y="27301"/>
                    <a:pt x="264320" y="38116"/>
                  </a:cubicBezTo>
                  <a:lnTo>
                    <a:pt x="276921" y="68251"/>
                  </a:lnTo>
                  <a:cubicBezTo>
                    <a:pt x="277132" y="68882"/>
                    <a:pt x="277446" y="69616"/>
                    <a:pt x="277763" y="70457"/>
                  </a:cubicBezTo>
                  <a:cubicBezTo>
                    <a:pt x="278395" y="72346"/>
                    <a:pt x="279021" y="73184"/>
                    <a:pt x="279652" y="73184"/>
                  </a:cubicBezTo>
                  <a:cubicBezTo>
                    <a:pt x="280283" y="73184"/>
                    <a:pt x="281017" y="71819"/>
                    <a:pt x="282593" y="67937"/>
                  </a:cubicBezTo>
                  <a:lnTo>
                    <a:pt x="296031" y="34231"/>
                  </a:lnTo>
                  <a:cubicBezTo>
                    <a:pt x="299079" y="27091"/>
                    <a:pt x="299706" y="26352"/>
                    <a:pt x="302857" y="26039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lag_setting_outline_6"/>
            <p:cNvSpPr/>
            <p:nvPr/>
          </p:nvSpPr>
          <p:spPr>
            <a:xfrm>
              <a:off x="2134327" y="2637103"/>
              <a:ext cx="41897" cy="49351"/>
            </a:xfrm>
            <a:custGeom>
              <a:avLst/>
              <a:gdLst/>
              <a:ahLst/>
              <a:cxnLst/>
              <a:rect l="0" t="0" r="r" b="b"/>
              <a:pathLst>
                <a:path w="41897" h="49351">
                  <a:moveTo>
                    <a:pt x="41897" y="31814"/>
                  </a:moveTo>
                  <a:lnTo>
                    <a:pt x="40218" y="31079"/>
                  </a:lnTo>
                  <a:cubicBezTo>
                    <a:pt x="35179" y="39060"/>
                    <a:pt x="30662" y="42105"/>
                    <a:pt x="23943" y="42105"/>
                  </a:cubicBezTo>
                  <a:cubicBezTo>
                    <a:pt x="18169" y="42105"/>
                    <a:pt x="13755" y="39374"/>
                    <a:pt x="10711" y="33703"/>
                  </a:cubicBezTo>
                  <a:cubicBezTo>
                    <a:pt x="8612" y="29611"/>
                    <a:pt x="7770" y="25936"/>
                    <a:pt x="7560" y="19213"/>
                  </a:cubicBezTo>
                  <a:lnTo>
                    <a:pt x="39901" y="19213"/>
                  </a:lnTo>
                  <a:cubicBezTo>
                    <a:pt x="39064" y="12391"/>
                    <a:pt x="38012" y="9343"/>
                    <a:pt x="35389" y="5985"/>
                  </a:cubicBezTo>
                  <a:cubicBezTo>
                    <a:pt x="32238" y="2203"/>
                    <a:pt x="27408" y="0"/>
                    <a:pt x="21947" y="0"/>
                  </a:cubicBezTo>
                  <a:cubicBezTo>
                    <a:pt x="8926" y="0"/>
                    <a:pt x="0" y="10497"/>
                    <a:pt x="0" y="25829"/>
                  </a:cubicBezTo>
                  <a:cubicBezTo>
                    <a:pt x="0" y="40319"/>
                    <a:pt x="7560" y="49351"/>
                    <a:pt x="19637" y="49351"/>
                  </a:cubicBezTo>
                  <a:cubicBezTo>
                    <a:pt x="29718" y="49351"/>
                    <a:pt x="37488" y="43156"/>
                    <a:pt x="41897" y="31814"/>
                  </a:cubicBezTo>
                  <a:close/>
                  <a:moveTo>
                    <a:pt x="29193" y="15855"/>
                  </a:moveTo>
                  <a:lnTo>
                    <a:pt x="7770" y="15855"/>
                  </a:lnTo>
                  <a:cubicBezTo>
                    <a:pt x="8926" y="7561"/>
                    <a:pt x="12497" y="3778"/>
                    <a:pt x="18903" y="3778"/>
                  </a:cubicBezTo>
                  <a:cubicBezTo>
                    <a:pt x="25309" y="3778"/>
                    <a:pt x="27828" y="6719"/>
                    <a:pt x="29193" y="15855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9" name="lp_limit"/>
          <p:cNvGrpSpPr/>
          <p:nvPr/>
        </p:nvGrpSpPr>
        <p:grpSpPr>
          <a:xfrm>
            <a:off x="3606828" y="2624377"/>
            <a:ext cx="275982" cy="72449"/>
            <a:chOff x="3606828" y="2624377"/>
            <a:chExt cx="275982" cy="72449"/>
          </a:xfrm>
        </p:grpSpPr>
        <p:sp>
          <p:nvSpPr>
            <p:cNvPr id="270" name="lp_limit_outline_0"/>
            <p:cNvSpPr/>
            <p:nvPr/>
          </p:nvSpPr>
          <p:spPr>
            <a:xfrm>
              <a:off x="3606828" y="2649051"/>
              <a:ext cx="55125" cy="47462"/>
            </a:xfrm>
            <a:custGeom>
              <a:avLst/>
              <a:gdLst/>
              <a:ahLst/>
              <a:cxnLst/>
              <a:rect l="0" t="0" r="r" b="b"/>
              <a:pathLst>
                <a:path w="55126" h="47462">
                  <a:moveTo>
                    <a:pt x="55126" y="8612"/>
                  </a:moveTo>
                  <a:cubicBezTo>
                    <a:pt x="55126" y="1683"/>
                    <a:pt x="40005" y="0"/>
                    <a:pt x="33917" y="0"/>
                  </a:cubicBezTo>
                  <a:cubicBezTo>
                    <a:pt x="24888" y="0"/>
                    <a:pt x="10815" y="3362"/>
                    <a:pt x="10815" y="13125"/>
                  </a:cubicBezTo>
                  <a:cubicBezTo>
                    <a:pt x="10815" y="17959"/>
                    <a:pt x="15855" y="21003"/>
                    <a:pt x="21630" y="21737"/>
                  </a:cubicBezTo>
                  <a:lnTo>
                    <a:pt x="21630" y="22158"/>
                  </a:lnTo>
                  <a:cubicBezTo>
                    <a:pt x="12498" y="23102"/>
                    <a:pt x="0" y="27619"/>
                    <a:pt x="0" y="35913"/>
                  </a:cubicBezTo>
                  <a:cubicBezTo>
                    <a:pt x="0" y="45573"/>
                    <a:pt x="12811" y="47462"/>
                    <a:pt x="21947" y="47462"/>
                  </a:cubicBezTo>
                  <a:cubicBezTo>
                    <a:pt x="31083" y="47462"/>
                    <a:pt x="41370" y="45049"/>
                    <a:pt x="47252" y="38747"/>
                  </a:cubicBezTo>
                  <a:cubicBezTo>
                    <a:pt x="48407" y="37382"/>
                    <a:pt x="49772" y="35806"/>
                    <a:pt x="49772" y="34020"/>
                  </a:cubicBezTo>
                  <a:cubicBezTo>
                    <a:pt x="49772" y="32762"/>
                    <a:pt x="48510" y="31397"/>
                    <a:pt x="47042" y="31397"/>
                  </a:cubicBezTo>
                  <a:cubicBezTo>
                    <a:pt x="41267" y="31397"/>
                    <a:pt x="40112" y="44629"/>
                    <a:pt x="24150" y="44629"/>
                  </a:cubicBezTo>
                  <a:cubicBezTo>
                    <a:pt x="17955" y="44629"/>
                    <a:pt x="13232" y="42632"/>
                    <a:pt x="13232" y="36751"/>
                  </a:cubicBezTo>
                  <a:cubicBezTo>
                    <a:pt x="13232" y="31083"/>
                    <a:pt x="17328" y="24678"/>
                    <a:pt x="24781" y="24678"/>
                  </a:cubicBezTo>
                  <a:cubicBezTo>
                    <a:pt x="28246" y="24678"/>
                    <a:pt x="31397" y="25833"/>
                    <a:pt x="34861" y="25833"/>
                  </a:cubicBezTo>
                  <a:cubicBezTo>
                    <a:pt x="37695" y="25833"/>
                    <a:pt x="40005" y="25098"/>
                    <a:pt x="40005" y="22368"/>
                  </a:cubicBezTo>
                  <a:cubicBezTo>
                    <a:pt x="40005" y="19951"/>
                    <a:pt x="38326" y="19637"/>
                    <a:pt x="36016" y="19637"/>
                  </a:cubicBezTo>
                  <a:cubicBezTo>
                    <a:pt x="33393" y="19637"/>
                    <a:pt x="31083" y="19951"/>
                    <a:pt x="28563" y="19951"/>
                  </a:cubicBezTo>
                  <a:cubicBezTo>
                    <a:pt x="24360" y="19951"/>
                    <a:pt x="22578" y="18375"/>
                    <a:pt x="22578" y="14597"/>
                  </a:cubicBezTo>
                  <a:cubicBezTo>
                    <a:pt x="22578" y="8715"/>
                    <a:pt x="27722" y="2838"/>
                    <a:pt x="34548" y="2838"/>
                  </a:cubicBezTo>
                  <a:cubicBezTo>
                    <a:pt x="44629" y="2838"/>
                    <a:pt x="43577" y="12708"/>
                    <a:pt x="50296" y="12708"/>
                  </a:cubicBezTo>
                  <a:cubicBezTo>
                    <a:pt x="53027" y="12708"/>
                    <a:pt x="55126" y="11236"/>
                    <a:pt x="55126" y="8612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lp_limit_outline_1"/>
            <p:cNvSpPr/>
            <p:nvPr/>
          </p:nvSpPr>
          <p:spPr>
            <a:xfrm>
              <a:off x="3702633" y="2646848"/>
              <a:ext cx="94503" cy="43048"/>
            </a:xfrm>
            <a:custGeom>
              <a:avLst/>
              <a:gdLst/>
              <a:ahLst/>
              <a:cxnLst/>
              <a:rect l="0" t="0" r="r" b="b"/>
              <a:pathLst>
                <a:path w="94504" h="43049">
                  <a:moveTo>
                    <a:pt x="94504" y="21419"/>
                  </a:moveTo>
                  <a:lnTo>
                    <a:pt x="73922" y="0"/>
                  </a:lnTo>
                  <a:lnTo>
                    <a:pt x="70668" y="3465"/>
                  </a:lnTo>
                  <a:lnTo>
                    <a:pt x="83165" y="18586"/>
                  </a:lnTo>
                  <a:lnTo>
                    <a:pt x="0" y="18586"/>
                  </a:lnTo>
                  <a:lnTo>
                    <a:pt x="0" y="24463"/>
                  </a:lnTo>
                  <a:lnTo>
                    <a:pt x="83165" y="24463"/>
                  </a:lnTo>
                  <a:lnTo>
                    <a:pt x="70668" y="39584"/>
                  </a:lnTo>
                  <a:lnTo>
                    <a:pt x="73922" y="43049"/>
                  </a:lnTo>
                  <a:lnTo>
                    <a:pt x="94504" y="21419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lp_limit_outline_2"/>
            <p:cNvSpPr/>
            <p:nvPr/>
          </p:nvSpPr>
          <p:spPr>
            <a:xfrm>
              <a:off x="3835348" y="2624377"/>
              <a:ext cx="47462" cy="72449"/>
            </a:xfrm>
            <a:custGeom>
              <a:avLst/>
              <a:gdLst/>
              <a:ahLst/>
              <a:cxnLst/>
              <a:rect l="0" t="0" r="r" b="b"/>
              <a:pathLst>
                <a:path w="47462" h="72450">
                  <a:moveTo>
                    <a:pt x="47462" y="36330"/>
                  </a:moveTo>
                  <a:cubicBezTo>
                    <a:pt x="47462" y="14804"/>
                    <a:pt x="37906" y="0"/>
                    <a:pt x="24150" y="0"/>
                  </a:cubicBezTo>
                  <a:cubicBezTo>
                    <a:pt x="18375" y="0"/>
                    <a:pt x="13966" y="1786"/>
                    <a:pt x="10081" y="5461"/>
                  </a:cubicBezTo>
                  <a:cubicBezTo>
                    <a:pt x="3989" y="11339"/>
                    <a:pt x="0" y="23416"/>
                    <a:pt x="0" y="35699"/>
                  </a:cubicBezTo>
                  <a:cubicBezTo>
                    <a:pt x="0" y="47145"/>
                    <a:pt x="3465" y="59432"/>
                    <a:pt x="8402" y="65310"/>
                  </a:cubicBezTo>
                  <a:cubicBezTo>
                    <a:pt x="12283" y="69929"/>
                    <a:pt x="17641" y="72450"/>
                    <a:pt x="23729" y="72450"/>
                  </a:cubicBezTo>
                  <a:cubicBezTo>
                    <a:pt x="29087" y="72450"/>
                    <a:pt x="33599" y="70668"/>
                    <a:pt x="37382" y="66993"/>
                  </a:cubicBezTo>
                  <a:cubicBezTo>
                    <a:pt x="43470" y="61214"/>
                    <a:pt x="47462" y="49034"/>
                    <a:pt x="47462" y="36330"/>
                  </a:cubicBezTo>
                  <a:close/>
                  <a:moveTo>
                    <a:pt x="37382" y="36540"/>
                  </a:moveTo>
                  <a:cubicBezTo>
                    <a:pt x="37382" y="58487"/>
                    <a:pt x="32762" y="69723"/>
                    <a:pt x="23729" y="69723"/>
                  </a:cubicBezTo>
                  <a:cubicBezTo>
                    <a:pt x="14700" y="69723"/>
                    <a:pt x="10081" y="58487"/>
                    <a:pt x="10081" y="36643"/>
                  </a:cubicBezTo>
                  <a:cubicBezTo>
                    <a:pt x="10081" y="14387"/>
                    <a:pt x="14803" y="2730"/>
                    <a:pt x="23836" y="2730"/>
                  </a:cubicBezTo>
                  <a:cubicBezTo>
                    <a:pt x="32655" y="2730"/>
                    <a:pt x="37382" y="14593"/>
                    <a:pt x="37382" y="36540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3" name="active_limit"/>
          <p:cNvGrpSpPr/>
          <p:nvPr/>
        </p:nvGrpSpPr>
        <p:grpSpPr>
          <a:xfrm>
            <a:off x="4382042" y="2622941"/>
            <a:ext cx="310101" cy="49664"/>
            <a:chOff x="4382042" y="2622941"/>
            <a:chExt cx="310101" cy="49664"/>
          </a:xfrm>
        </p:grpSpPr>
        <p:sp>
          <p:nvSpPr>
            <p:cNvPr id="274" name="active_limit_outline_0"/>
            <p:cNvSpPr/>
            <p:nvPr/>
          </p:nvSpPr>
          <p:spPr>
            <a:xfrm>
              <a:off x="4382042" y="2625143"/>
              <a:ext cx="55125" cy="47462"/>
            </a:xfrm>
            <a:custGeom>
              <a:avLst/>
              <a:gdLst/>
              <a:ahLst/>
              <a:cxnLst/>
              <a:rect l="0" t="0" r="r" b="b"/>
              <a:pathLst>
                <a:path w="55126" h="47462">
                  <a:moveTo>
                    <a:pt x="55126" y="8612"/>
                  </a:moveTo>
                  <a:cubicBezTo>
                    <a:pt x="55126" y="1683"/>
                    <a:pt x="40005" y="0"/>
                    <a:pt x="33917" y="0"/>
                  </a:cubicBezTo>
                  <a:cubicBezTo>
                    <a:pt x="24888" y="0"/>
                    <a:pt x="10815" y="3362"/>
                    <a:pt x="10815" y="13125"/>
                  </a:cubicBezTo>
                  <a:cubicBezTo>
                    <a:pt x="10815" y="17959"/>
                    <a:pt x="15855" y="21003"/>
                    <a:pt x="21630" y="21737"/>
                  </a:cubicBezTo>
                  <a:lnTo>
                    <a:pt x="21630" y="22158"/>
                  </a:lnTo>
                  <a:cubicBezTo>
                    <a:pt x="12498" y="23102"/>
                    <a:pt x="0" y="27619"/>
                    <a:pt x="0" y="35913"/>
                  </a:cubicBezTo>
                  <a:cubicBezTo>
                    <a:pt x="0" y="45573"/>
                    <a:pt x="12811" y="47462"/>
                    <a:pt x="21947" y="47462"/>
                  </a:cubicBezTo>
                  <a:cubicBezTo>
                    <a:pt x="31083" y="47462"/>
                    <a:pt x="41370" y="45049"/>
                    <a:pt x="47252" y="38747"/>
                  </a:cubicBezTo>
                  <a:cubicBezTo>
                    <a:pt x="48407" y="37382"/>
                    <a:pt x="49772" y="35806"/>
                    <a:pt x="49772" y="34020"/>
                  </a:cubicBezTo>
                  <a:cubicBezTo>
                    <a:pt x="49772" y="32762"/>
                    <a:pt x="48510" y="31397"/>
                    <a:pt x="47042" y="31397"/>
                  </a:cubicBezTo>
                  <a:cubicBezTo>
                    <a:pt x="41267" y="31397"/>
                    <a:pt x="40112" y="44629"/>
                    <a:pt x="24150" y="44629"/>
                  </a:cubicBezTo>
                  <a:cubicBezTo>
                    <a:pt x="17955" y="44629"/>
                    <a:pt x="13232" y="42632"/>
                    <a:pt x="13232" y="36751"/>
                  </a:cubicBezTo>
                  <a:cubicBezTo>
                    <a:pt x="13232" y="31083"/>
                    <a:pt x="17328" y="24678"/>
                    <a:pt x="24781" y="24678"/>
                  </a:cubicBezTo>
                  <a:cubicBezTo>
                    <a:pt x="28246" y="24678"/>
                    <a:pt x="31397" y="25833"/>
                    <a:pt x="34861" y="25833"/>
                  </a:cubicBezTo>
                  <a:cubicBezTo>
                    <a:pt x="37695" y="25833"/>
                    <a:pt x="40005" y="25098"/>
                    <a:pt x="40005" y="22368"/>
                  </a:cubicBezTo>
                  <a:cubicBezTo>
                    <a:pt x="40005" y="19951"/>
                    <a:pt x="38326" y="19637"/>
                    <a:pt x="36016" y="19637"/>
                  </a:cubicBezTo>
                  <a:cubicBezTo>
                    <a:pt x="33393" y="19637"/>
                    <a:pt x="31083" y="19951"/>
                    <a:pt x="28563" y="19951"/>
                  </a:cubicBezTo>
                  <a:cubicBezTo>
                    <a:pt x="24360" y="19951"/>
                    <a:pt x="22578" y="18375"/>
                    <a:pt x="22578" y="14597"/>
                  </a:cubicBezTo>
                  <a:cubicBezTo>
                    <a:pt x="22578" y="8715"/>
                    <a:pt x="27722" y="2838"/>
                    <a:pt x="34548" y="2838"/>
                  </a:cubicBezTo>
                  <a:cubicBezTo>
                    <a:pt x="44629" y="2838"/>
                    <a:pt x="43577" y="12708"/>
                    <a:pt x="50296" y="12708"/>
                  </a:cubicBezTo>
                  <a:cubicBezTo>
                    <a:pt x="53027" y="12708"/>
                    <a:pt x="55126" y="11236"/>
                    <a:pt x="55126" y="8612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active_limit_outline_1"/>
            <p:cNvSpPr/>
            <p:nvPr/>
          </p:nvSpPr>
          <p:spPr>
            <a:xfrm>
              <a:off x="4477848" y="2622941"/>
              <a:ext cx="94503" cy="43049"/>
            </a:xfrm>
            <a:custGeom>
              <a:avLst/>
              <a:gdLst/>
              <a:ahLst/>
              <a:cxnLst/>
              <a:rect l="0" t="0" r="r" b="b"/>
              <a:pathLst>
                <a:path w="94504" h="43049">
                  <a:moveTo>
                    <a:pt x="94504" y="21419"/>
                  </a:moveTo>
                  <a:lnTo>
                    <a:pt x="73922" y="0"/>
                  </a:lnTo>
                  <a:lnTo>
                    <a:pt x="70668" y="3465"/>
                  </a:lnTo>
                  <a:lnTo>
                    <a:pt x="83165" y="18586"/>
                  </a:lnTo>
                  <a:lnTo>
                    <a:pt x="0" y="18586"/>
                  </a:lnTo>
                  <a:lnTo>
                    <a:pt x="0" y="24463"/>
                  </a:lnTo>
                  <a:lnTo>
                    <a:pt x="83165" y="24463"/>
                  </a:lnTo>
                  <a:lnTo>
                    <a:pt x="70668" y="39584"/>
                  </a:lnTo>
                  <a:lnTo>
                    <a:pt x="73922" y="43049"/>
                  </a:lnTo>
                  <a:lnTo>
                    <a:pt x="94504" y="21419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active_limit_outline_2"/>
            <p:cNvSpPr/>
            <p:nvPr/>
          </p:nvSpPr>
          <p:spPr>
            <a:xfrm>
              <a:off x="4613499" y="2625251"/>
              <a:ext cx="78644" cy="39691"/>
            </a:xfrm>
            <a:custGeom>
              <a:avLst/>
              <a:gdLst/>
              <a:ahLst/>
              <a:cxnLst/>
              <a:rect l="0" t="0" r="r" b="b"/>
              <a:pathLst>
                <a:path w="78645" h="39691">
                  <a:moveTo>
                    <a:pt x="78645" y="17851"/>
                  </a:moveTo>
                  <a:cubicBezTo>
                    <a:pt x="78645" y="8295"/>
                    <a:pt x="73501" y="210"/>
                    <a:pt x="63106" y="210"/>
                  </a:cubicBezTo>
                  <a:cubicBezTo>
                    <a:pt x="54392" y="210"/>
                    <a:pt x="45989" y="8505"/>
                    <a:pt x="40739" y="14803"/>
                  </a:cubicBezTo>
                  <a:cubicBezTo>
                    <a:pt x="36330" y="7560"/>
                    <a:pt x="27824" y="0"/>
                    <a:pt x="19006" y="0"/>
                  </a:cubicBezTo>
                  <a:cubicBezTo>
                    <a:pt x="7452" y="0"/>
                    <a:pt x="0" y="11128"/>
                    <a:pt x="0" y="21840"/>
                  </a:cubicBezTo>
                  <a:cubicBezTo>
                    <a:pt x="0" y="31397"/>
                    <a:pt x="5461" y="39584"/>
                    <a:pt x="15748" y="39584"/>
                  </a:cubicBezTo>
                  <a:cubicBezTo>
                    <a:pt x="24042" y="39584"/>
                    <a:pt x="33388" y="31079"/>
                    <a:pt x="38009" y="24674"/>
                  </a:cubicBezTo>
                  <a:cubicBezTo>
                    <a:pt x="42945" y="31921"/>
                    <a:pt x="50505" y="39691"/>
                    <a:pt x="59849" y="39691"/>
                  </a:cubicBezTo>
                  <a:cubicBezTo>
                    <a:pt x="71401" y="39691"/>
                    <a:pt x="78645" y="28349"/>
                    <a:pt x="78645" y="17851"/>
                  </a:cubicBezTo>
                  <a:close/>
                  <a:moveTo>
                    <a:pt x="72659" y="22681"/>
                  </a:moveTo>
                  <a:cubicBezTo>
                    <a:pt x="72659" y="29611"/>
                    <a:pt x="69195" y="35385"/>
                    <a:pt x="61634" y="35385"/>
                  </a:cubicBezTo>
                  <a:cubicBezTo>
                    <a:pt x="53760" y="35385"/>
                    <a:pt x="46620" y="23626"/>
                    <a:pt x="42525" y="17851"/>
                  </a:cubicBezTo>
                  <a:cubicBezTo>
                    <a:pt x="45676" y="13125"/>
                    <a:pt x="54074" y="5354"/>
                    <a:pt x="59955" y="5354"/>
                  </a:cubicBezTo>
                  <a:cubicBezTo>
                    <a:pt x="68353" y="5354"/>
                    <a:pt x="72659" y="15538"/>
                    <a:pt x="72659" y="22681"/>
                  </a:cubicBezTo>
                  <a:close/>
                  <a:moveTo>
                    <a:pt x="36227" y="21733"/>
                  </a:moveTo>
                  <a:cubicBezTo>
                    <a:pt x="33179" y="26460"/>
                    <a:pt x="24569" y="34020"/>
                    <a:pt x="18796" y="34020"/>
                  </a:cubicBezTo>
                  <a:cubicBezTo>
                    <a:pt x="10394" y="34020"/>
                    <a:pt x="6195" y="23836"/>
                    <a:pt x="6195" y="16696"/>
                  </a:cubicBezTo>
                  <a:cubicBezTo>
                    <a:pt x="6195" y="9660"/>
                    <a:pt x="9762" y="3885"/>
                    <a:pt x="17431" y="3885"/>
                  </a:cubicBezTo>
                  <a:cubicBezTo>
                    <a:pt x="24463" y="3885"/>
                    <a:pt x="33179" y="15855"/>
                    <a:pt x="36227" y="21733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1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