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029200" cy="27559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8100" y="38100"/>
            <a:ext cx="635000" cy="203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59636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800" y="50800"/>
            <a:ext cx="609600" cy="266700"/>
          </a:xfrm>
          <a:prstGeom prst="roundRect">
            <a:avLst>
              <a:gd name="adj" fmla="val 9523"/>
            </a:avLst>
          </a:prstGeom>
          <a:solidFill>
            <a:srgbClr val="F5F6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814" y="108458"/>
            <a:ext cx="463572" cy="13868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>
                <a:solidFill>
                  <a:srgbClr val="59636A"/>
                </a:solidFill>
                <a:latin typeface="Liberation Serif"/>
              </a:rPr>
              <a:t>1  Rollout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300" y="38100"/>
            <a:ext cx="774700" cy="2032000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8890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62000" y="50800"/>
            <a:ext cx="749300" cy="266700"/>
          </a:xfrm>
          <a:prstGeom prst="roundRect">
            <a:avLst>
              <a:gd name="adj" fmla="val 9523"/>
            </a:avLst>
          </a:prstGeom>
          <a:solidFill>
            <a:srgbClr val="F2F8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5516" y="108458"/>
            <a:ext cx="422267" cy="13868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>
                <a:solidFill>
                  <a:srgbClr val="167C80"/>
                </a:solidFill>
                <a:latin typeface="Liberation Serif"/>
              </a:rPr>
              <a:t>2  Inputs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00200" y="38100"/>
            <a:ext cx="825500" cy="203200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8890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612900" y="50800"/>
            <a:ext cx="800100" cy="266700"/>
          </a:xfrm>
          <a:prstGeom prst="roundRect">
            <a:avLst>
              <a:gd name="adj" fmla="val 9523"/>
            </a:avLst>
          </a:prstGeom>
          <a:solidFill>
            <a:srgbClr val="F2F8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66312" y="108458"/>
            <a:ext cx="493276" cy="13868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>
                <a:solidFill>
                  <a:srgbClr val="167C80"/>
                </a:solidFill>
                <a:latin typeface="Liberation Serif"/>
              </a:rPr>
              <a:t>3  Budgets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01900" y="38100"/>
            <a:ext cx="1435100" cy="2032000"/>
          </a:xfrm>
          <a:prstGeom prst="roundRect">
            <a:avLst>
              <a:gd name="adj" fmla="val 2654"/>
            </a:avLst>
          </a:prstGeom>
          <a:solidFill>
            <a:srgbClr val="FFFFFF"/>
          </a:solidFill>
          <a:ln w="8890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514600" y="50800"/>
            <a:ext cx="1409700" cy="266700"/>
          </a:xfrm>
          <a:prstGeom prst="roundRect">
            <a:avLst>
              <a:gd name="adj" fmla="val 9523"/>
            </a:avLst>
          </a:prstGeom>
          <a:solidFill>
            <a:srgbClr val="F2F8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94565" y="108458"/>
            <a:ext cx="849770" cy="13868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>
                <a:solidFill>
                  <a:srgbClr val="167C80"/>
                </a:solidFill>
                <a:latin typeface="Liberation Serif"/>
              </a:rPr>
              <a:t>4  Joint projection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13200" y="38100"/>
            <a:ext cx="977900" cy="2032000"/>
          </a:xfrm>
          <a:prstGeom prst="roundRect">
            <a:avLst>
              <a:gd name="adj" fmla="val 3896"/>
            </a:avLst>
          </a:prstGeom>
          <a:solidFill>
            <a:srgbClr val="FFFFFF"/>
          </a:solidFill>
          <a:ln w="8890">
            <a:solidFill>
              <a:srgbClr val="0072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025900" y="50800"/>
            <a:ext cx="952500" cy="266700"/>
          </a:xfrm>
          <a:prstGeom prst="roundRect">
            <a:avLst>
              <a:gd name="adj" fmla="val 9523"/>
            </a:avLst>
          </a:prstGeom>
          <a:solidFill>
            <a:srgbClr val="F2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29621" y="108458"/>
            <a:ext cx="745057" cy="13868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>
                <a:solidFill>
                  <a:srgbClr val="0072B2"/>
                </a:solidFill>
                <a:latin typeface="Liberation Serif"/>
              </a:rPr>
              <a:t>5  Policy update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73100" y="1130300"/>
            <a:ext cx="76200" cy="0"/>
          </a:xfrm>
          <a:prstGeom prst="line">
            <a:avLst/>
          </a:prstGeom>
          <a:ln w="10160">
            <a:solidFill>
              <a:srgbClr val="59636A"/>
            </a:solidFill>
            <a:tailEnd type="triangle" w="sm" len="sm"/>
          </a:ln>
          <a:effectLst/>
        </p:spPr>
      </p:cxnSp>
      <p:cxnSp>
        <p:nvCxnSpPr>
          <p:cNvPr id="18" name="Connector 17"/>
          <p:cNvCxnSpPr/>
          <p:nvPr/>
        </p:nvCxnSpPr>
        <p:spPr>
          <a:xfrm>
            <a:off x="1524000" y="1130300"/>
            <a:ext cx="76200" cy="0"/>
          </a:xfrm>
          <a:prstGeom prst="line">
            <a:avLst/>
          </a:prstGeom>
          <a:ln w="10160">
            <a:solidFill>
              <a:srgbClr val="59636A"/>
            </a:solidFill>
            <a:tailEnd type="triangle" w="sm" len="sm"/>
          </a:ln>
          <a:effectLst/>
        </p:spPr>
      </p:cxnSp>
      <p:cxnSp>
        <p:nvCxnSpPr>
          <p:cNvPr id="19" name="Connector 18"/>
          <p:cNvCxnSpPr/>
          <p:nvPr/>
        </p:nvCxnSpPr>
        <p:spPr>
          <a:xfrm>
            <a:off x="2425700" y="1130300"/>
            <a:ext cx="76200" cy="0"/>
          </a:xfrm>
          <a:prstGeom prst="line">
            <a:avLst/>
          </a:prstGeom>
          <a:ln w="10160">
            <a:solidFill>
              <a:srgbClr val="59636A"/>
            </a:solidFill>
            <a:tailEnd type="triangle" w="sm" len="sm"/>
          </a:ln>
          <a:effectLst/>
        </p:spPr>
      </p:cxnSp>
      <p:sp>
        <p:nvSpPr>
          <p:cNvPr id="20" name="TextBox 19"/>
          <p:cNvSpPr txBox="1"/>
          <p:nvPr/>
        </p:nvSpPr>
        <p:spPr>
          <a:xfrm>
            <a:off x="311194" y="387350"/>
            <a:ext cx="83165" cy="165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9636A"/>
                </a:solidFill>
                <a:latin typeface="Liberation Serif"/>
              </a:rPr>
              <a:t>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5309" y="450215"/>
            <a:ext cx="43748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9636A"/>
                </a:solidFill>
                <a:latin typeface="Liberation Serif"/>
              </a:rPr>
              <a:t>t</a:t>
            </a:r>
          </a:p>
        </p:txBody>
      </p:sp>
      <p:sp>
        <p:nvSpPr>
          <p:cNvPr id="22" name="Oval 21"/>
          <p:cNvSpPr/>
          <p:nvPr/>
        </p:nvSpPr>
        <p:spPr>
          <a:xfrm>
            <a:off x="133350" y="654050"/>
            <a:ext cx="63500" cy="63500"/>
          </a:xfrm>
          <a:prstGeom prst="ellipse">
            <a:avLst/>
          </a:prstGeom>
          <a:solidFill>
            <a:srgbClr val="FFFFFF"/>
          </a:solidFill>
          <a:ln w="7620">
            <a:solidFill>
              <a:srgbClr val="59636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203200" y="685800"/>
            <a:ext cx="114300" cy="0"/>
          </a:xfrm>
          <a:prstGeom prst="line">
            <a:avLst/>
          </a:prstGeom>
          <a:ln w="8255">
            <a:solidFill>
              <a:srgbClr val="59636A"/>
            </a:solidFill>
            <a:tailEnd type="triangle" w="sm" len="sm"/>
          </a:ln>
          <a:effectLst/>
        </p:spPr>
      </p:cxnSp>
      <p:sp>
        <p:nvSpPr>
          <p:cNvPr id="24" name="Oval 23"/>
          <p:cNvSpPr/>
          <p:nvPr/>
        </p:nvSpPr>
        <p:spPr>
          <a:xfrm>
            <a:off x="323850" y="654050"/>
            <a:ext cx="63500" cy="63500"/>
          </a:xfrm>
          <a:prstGeom prst="ellipse">
            <a:avLst/>
          </a:prstGeom>
          <a:solidFill>
            <a:srgbClr val="FFFFFF"/>
          </a:solidFill>
          <a:ln w="7620">
            <a:solidFill>
              <a:srgbClr val="59636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393700" y="685800"/>
            <a:ext cx="114300" cy="0"/>
          </a:xfrm>
          <a:prstGeom prst="line">
            <a:avLst/>
          </a:prstGeom>
          <a:ln w="8255">
            <a:solidFill>
              <a:srgbClr val="59636A"/>
            </a:solidFill>
            <a:tailEnd type="triangle" w="sm" len="sm"/>
          </a:ln>
          <a:effectLst/>
        </p:spPr>
      </p:cxnSp>
      <p:sp>
        <p:nvSpPr>
          <p:cNvPr id="26" name="Oval 25"/>
          <p:cNvSpPr/>
          <p:nvPr/>
        </p:nvSpPr>
        <p:spPr>
          <a:xfrm>
            <a:off x="514350" y="654050"/>
            <a:ext cx="63500" cy="63500"/>
          </a:xfrm>
          <a:prstGeom prst="ellipse">
            <a:avLst/>
          </a:prstGeom>
          <a:solidFill>
            <a:srgbClr val="FFFFFF"/>
          </a:solidFill>
          <a:ln w="7620">
            <a:solidFill>
              <a:srgbClr val="59636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1600" y="1016000"/>
            <a:ext cx="508000" cy="419100"/>
          </a:xfrm>
          <a:prstGeom prst="roundRect">
            <a:avLst>
              <a:gd name="adj" fmla="val 6060"/>
            </a:avLst>
          </a:prstGeom>
          <a:solidFill>
            <a:srgbClr val="FAFAFA"/>
          </a:solidFill>
          <a:ln w="7620">
            <a:solidFill>
              <a:srgbClr val="59636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35990" y="1064260"/>
            <a:ext cx="239220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9636A"/>
                </a:solidFill>
                <a:latin typeface="Liberation Serif"/>
              </a:rPr>
              <a:t>GAE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0069" y="1242060"/>
            <a:ext cx="92424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9636A"/>
                </a:solidFill>
                <a:latin typeface="Liberation Serif"/>
              </a:rPr>
              <a:t>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3443" y="1288415"/>
            <a:ext cx="48651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9636A"/>
                </a:solidFill>
                <a:latin typeface="Liberation Serif"/>
              </a:rPr>
              <a:t>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3044" y="1242060"/>
            <a:ext cx="143224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9636A"/>
                </a:solidFill>
                <a:latin typeface="Liberation Serif"/>
              </a:rPr>
              <a:t>, 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7218" y="1288415"/>
            <a:ext cx="58513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9636A"/>
                </a:solidFill>
                <a:latin typeface="Liberation Serif"/>
              </a:rPr>
              <a:t>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6681" y="1313815"/>
            <a:ext cx="63500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9636A"/>
                </a:solidFill>
                <a:latin typeface="Liberation Serif"/>
              </a:rPr>
              <a:t>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901" y="1591564"/>
            <a:ext cx="519398" cy="11887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9636A"/>
                </a:solidFill>
                <a:latin typeface="Liberation Serif"/>
              </a:rPr>
              <a:t>Episode costs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8660" y="1784350"/>
            <a:ext cx="68481" cy="165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D55E00"/>
                </a:solidFill>
                <a:latin typeface="Liberation Serif"/>
              </a:rPr>
              <a:t>J̄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8090" y="1847215"/>
            <a:ext cx="63500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D55E00"/>
                </a:solidFill>
                <a:latin typeface="Liberation Serif"/>
              </a:rPr>
              <a:t>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3885" y="382588"/>
            <a:ext cx="545529" cy="1238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167C80"/>
                </a:solidFill>
                <a:latin typeface="Liberation Serif"/>
              </a:rPr>
              <a:t>Rollout graph</a:t>
            </a:r>
          </a:p>
        </p:txBody>
      </p:sp>
      <p:sp>
        <p:nvSpPr>
          <p:cNvPr id="38" name="Freeform 37"/>
          <p:cNvSpPr/>
          <p:nvPr/>
        </p:nvSpPr>
        <p:spPr>
          <a:xfrm>
            <a:off x="889000" y="596900"/>
            <a:ext cx="152400" cy="139700"/>
          </a:xfrm>
          <a:custGeom>
            <a:avLst/>
            <a:gdLst/>
            <a:ahLst/>
            <a:cxnLst/>
            <a:rect l="l" t="t" r="r" b="b"/>
            <a:pathLst>
              <a:path w="152400" h="139700">
                <a:moveTo>
                  <a:pt x="0" y="139700"/>
                </a:moveTo>
                <a:lnTo>
                  <a:pt x="152400" y="0"/>
                </a:lnTo>
              </a:path>
            </a:pathLst>
          </a:custGeom>
          <a:noFill/>
          <a:ln w="22860">
            <a:solidFill>
              <a:srgbClr val="D8DEE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1041400" y="596900"/>
            <a:ext cx="187960" cy="0"/>
          </a:xfrm>
          <a:custGeom>
            <a:avLst/>
            <a:gdLst/>
            <a:ahLst/>
            <a:cxnLst/>
            <a:rect l="l" t="t" r="r" b="b"/>
            <a:pathLst>
              <a:path w="187960" h="0">
                <a:moveTo>
                  <a:pt x="0" y="0"/>
                </a:moveTo>
                <a:lnTo>
                  <a:pt x="187960" y="0"/>
                </a:lnTo>
              </a:path>
            </a:pathLst>
          </a:custGeom>
          <a:noFill/>
          <a:ln w="22860">
            <a:solidFill>
              <a:srgbClr val="D8DEE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1229360" y="596900"/>
            <a:ext cx="167640" cy="139700"/>
          </a:xfrm>
          <a:custGeom>
            <a:avLst/>
            <a:gdLst/>
            <a:ahLst/>
            <a:cxnLst/>
            <a:rect l="l" t="t" r="r" b="b"/>
            <a:pathLst>
              <a:path w="167640" h="139700">
                <a:moveTo>
                  <a:pt x="0" y="0"/>
                </a:moveTo>
                <a:lnTo>
                  <a:pt x="167640" y="139700"/>
                </a:lnTo>
              </a:path>
            </a:pathLst>
          </a:custGeom>
          <a:noFill/>
          <a:ln w="22860">
            <a:solidFill>
              <a:srgbClr val="D8DEE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889000" y="736600"/>
            <a:ext cx="152400" cy="139700"/>
          </a:xfrm>
          <a:custGeom>
            <a:avLst/>
            <a:gdLst/>
            <a:ahLst/>
            <a:cxnLst/>
            <a:rect l="l" t="t" r="r" b="b"/>
            <a:pathLst>
              <a:path w="152400" h="139700">
                <a:moveTo>
                  <a:pt x="0" y="0"/>
                </a:moveTo>
                <a:lnTo>
                  <a:pt x="152400" y="139700"/>
                </a:lnTo>
              </a:path>
            </a:pathLst>
          </a:custGeom>
          <a:noFill/>
          <a:ln w="7620">
            <a:solidFill>
              <a:srgbClr val="D8DEE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1041400" y="876300"/>
            <a:ext cx="187960" cy="0"/>
          </a:xfrm>
          <a:custGeom>
            <a:avLst/>
            <a:gdLst/>
            <a:ahLst/>
            <a:cxnLst/>
            <a:rect l="l" t="t" r="r" b="b"/>
            <a:pathLst>
              <a:path w="187960" h="0">
                <a:moveTo>
                  <a:pt x="0" y="0"/>
                </a:moveTo>
                <a:lnTo>
                  <a:pt x="187960" y="0"/>
                </a:lnTo>
              </a:path>
            </a:pathLst>
          </a:custGeom>
          <a:noFill/>
          <a:ln w="7620">
            <a:solidFill>
              <a:srgbClr val="D8DEE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1229360" y="736600"/>
            <a:ext cx="167640" cy="139700"/>
          </a:xfrm>
          <a:custGeom>
            <a:avLst/>
            <a:gdLst/>
            <a:ahLst/>
            <a:cxnLst/>
            <a:rect l="l" t="t" r="r" b="b"/>
            <a:pathLst>
              <a:path w="167640" h="139700">
                <a:moveTo>
                  <a:pt x="0" y="139700"/>
                </a:moveTo>
                <a:lnTo>
                  <a:pt x="167640" y="0"/>
                </a:lnTo>
              </a:path>
            </a:pathLst>
          </a:custGeom>
          <a:noFill/>
          <a:ln w="7620">
            <a:solidFill>
              <a:srgbClr val="D8DEE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1041400" y="596900"/>
            <a:ext cx="187960" cy="279400"/>
          </a:xfrm>
          <a:custGeom>
            <a:avLst/>
            <a:gdLst/>
            <a:ahLst/>
            <a:cxnLst/>
            <a:rect l="l" t="t" r="r" b="b"/>
            <a:pathLst>
              <a:path w="187960" h="279400">
                <a:moveTo>
                  <a:pt x="0" y="0"/>
                </a:moveTo>
                <a:lnTo>
                  <a:pt x="187960" y="279400"/>
                </a:lnTo>
              </a:path>
            </a:pathLst>
          </a:custGeom>
          <a:noFill/>
          <a:ln w="7620">
            <a:solidFill>
              <a:srgbClr val="D8DEE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63600" y="711200"/>
            <a:ext cx="50800" cy="50800"/>
          </a:xfrm>
          <a:prstGeom prst="ellipse">
            <a:avLst/>
          </a:prstGeom>
          <a:solidFill>
            <a:srgbClr val="FFFFFF"/>
          </a:solidFill>
          <a:ln w="7620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16000" y="571500"/>
            <a:ext cx="50800" cy="50800"/>
          </a:xfrm>
          <a:prstGeom prst="ellipse">
            <a:avLst/>
          </a:prstGeom>
          <a:solidFill>
            <a:srgbClr val="FFFFFF"/>
          </a:solidFill>
          <a:ln w="7620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203960" y="571500"/>
            <a:ext cx="50800" cy="50800"/>
          </a:xfrm>
          <a:prstGeom prst="ellipse">
            <a:avLst/>
          </a:prstGeom>
          <a:solidFill>
            <a:srgbClr val="FFFFFF"/>
          </a:solidFill>
          <a:ln w="7620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371600" y="711200"/>
            <a:ext cx="50800" cy="50800"/>
          </a:xfrm>
          <a:prstGeom prst="ellipse">
            <a:avLst/>
          </a:prstGeom>
          <a:solidFill>
            <a:srgbClr val="167C80"/>
          </a:solidFill>
          <a:ln w="7620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203960" y="850900"/>
            <a:ext cx="50800" cy="50800"/>
          </a:xfrm>
          <a:prstGeom prst="ellipse">
            <a:avLst/>
          </a:prstGeom>
          <a:solidFill>
            <a:srgbClr val="FFFFFF"/>
          </a:solidFill>
          <a:ln w="7620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16000" y="850900"/>
            <a:ext cx="50800" cy="50800"/>
          </a:xfrm>
          <a:prstGeom prst="ellipse">
            <a:avLst/>
          </a:prstGeom>
          <a:solidFill>
            <a:srgbClr val="FFFFFF"/>
          </a:solidFill>
          <a:ln w="7620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914400" y="1066800"/>
            <a:ext cx="38100" cy="38100"/>
          </a:xfrm>
          <a:prstGeom prst="roundRect">
            <a:avLst>
              <a:gd name="adj" fmla="val 6666"/>
            </a:avLst>
          </a:prstGeom>
          <a:solidFill>
            <a:srgbClr val="C5DFDF"/>
          </a:solidFill>
          <a:ln w="6350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914400" y="1111250"/>
            <a:ext cx="38100" cy="38100"/>
          </a:xfrm>
          <a:prstGeom prst="roundRect">
            <a:avLst>
              <a:gd name="adj" fmla="val 6666"/>
            </a:avLst>
          </a:prstGeom>
          <a:solidFill>
            <a:srgbClr val="EDF5F5"/>
          </a:solidFill>
          <a:ln w="6350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914400" y="1155700"/>
            <a:ext cx="38100" cy="38100"/>
          </a:xfrm>
          <a:prstGeom prst="roundRect">
            <a:avLst>
              <a:gd name="adj" fmla="val 6666"/>
            </a:avLst>
          </a:prstGeom>
          <a:solidFill>
            <a:srgbClr val="EDF5F5"/>
          </a:solidFill>
          <a:ln w="6350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958850" y="1066800"/>
            <a:ext cx="38100" cy="38100"/>
          </a:xfrm>
          <a:prstGeom prst="roundRect">
            <a:avLst>
              <a:gd name="adj" fmla="val 6666"/>
            </a:avLst>
          </a:prstGeom>
          <a:solidFill>
            <a:srgbClr val="EDF5F5"/>
          </a:solidFill>
          <a:ln w="6350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958850" y="1111250"/>
            <a:ext cx="38100" cy="38100"/>
          </a:xfrm>
          <a:prstGeom prst="roundRect">
            <a:avLst>
              <a:gd name="adj" fmla="val 6666"/>
            </a:avLst>
          </a:prstGeom>
          <a:solidFill>
            <a:srgbClr val="EDF5F5"/>
          </a:solidFill>
          <a:ln w="6350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958850" y="1155700"/>
            <a:ext cx="38100" cy="38100"/>
          </a:xfrm>
          <a:prstGeom prst="roundRect">
            <a:avLst>
              <a:gd name="adj" fmla="val 6666"/>
            </a:avLst>
          </a:prstGeom>
          <a:solidFill>
            <a:srgbClr val="C5DFDF"/>
          </a:solidFill>
          <a:ln w="6350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1003300" y="1066800"/>
            <a:ext cx="38100" cy="38100"/>
          </a:xfrm>
          <a:prstGeom prst="roundRect">
            <a:avLst>
              <a:gd name="adj" fmla="val 6666"/>
            </a:avLst>
          </a:prstGeom>
          <a:solidFill>
            <a:srgbClr val="EDF5F5"/>
          </a:solidFill>
          <a:ln w="6350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1003300" y="1111250"/>
            <a:ext cx="38100" cy="38100"/>
          </a:xfrm>
          <a:prstGeom prst="roundRect">
            <a:avLst>
              <a:gd name="adj" fmla="val 6666"/>
            </a:avLst>
          </a:prstGeom>
          <a:solidFill>
            <a:srgbClr val="C5DFDF"/>
          </a:solidFill>
          <a:ln w="6350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1003300" y="1155700"/>
            <a:ext cx="38100" cy="38100"/>
          </a:xfrm>
          <a:prstGeom prst="roundRect">
            <a:avLst>
              <a:gd name="adj" fmla="val 6666"/>
            </a:avLst>
          </a:prstGeom>
          <a:solidFill>
            <a:srgbClr val="EDF5F5"/>
          </a:solidFill>
          <a:ln w="6350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203294" y="1056005"/>
            <a:ext cx="82612" cy="14859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67C80"/>
                </a:solidFill>
                <a:latin typeface="Liberation Serif"/>
              </a:rPr>
              <a:t>F̂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14400" y="1371600"/>
            <a:ext cx="38100" cy="38100"/>
          </a:xfrm>
          <a:prstGeom prst="roundRect">
            <a:avLst>
              <a:gd name="adj" fmla="val 6666"/>
            </a:avLst>
          </a:prstGeom>
          <a:solidFill>
            <a:srgbClr val="C5DFDF"/>
          </a:solidFill>
          <a:ln w="6350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914400" y="1416050"/>
            <a:ext cx="38100" cy="38100"/>
          </a:xfrm>
          <a:prstGeom prst="roundRect">
            <a:avLst>
              <a:gd name="adj" fmla="val 6666"/>
            </a:avLst>
          </a:prstGeom>
          <a:solidFill>
            <a:srgbClr val="EDF5F5"/>
          </a:solidFill>
          <a:ln w="6350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914400" y="1460500"/>
            <a:ext cx="38100" cy="38100"/>
          </a:xfrm>
          <a:prstGeom prst="roundRect">
            <a:avLst>
              <a:gd name="adj" fmla="val 6666"/>
            </a:avLst>
          </a:prstGeom>
          <a:solidFill>
            <a:srgbClr val="EDF5F5"/>
          </a:solidFill>
          <a:ln w="6350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958850" y="1371600"/>
            <a:ext cx="38100" cy="38100"/>
          </a:xfrm>
          <a:prstGeom prst="roundRect">
            <a:avLst>
              <a:gd name="adj" fmla="val 6666"/>
            </a:avLst>
          </a:prstGeom>
          <a:solidFill>
            <a:srgbClr val="EDF5F5"/>
          </a:solidFill>
          <a:ln w="6350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958850" y="1416050"/>
            <a:ext cx="38100" cy="38100"/>
          </a:xfrm>
          <a:prstGeom prst="roundRect">
            <a:avLst>
              <a:gd name="adj" fmla="val 6666"/>
            </a:avLst>
          </a:prstGeom>
          <a:solidFill>
            <a:srgbClr val="EDF5F5"/>
          </a:solidFill>
          <a:ln w="6350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958850" y="1460500"/>
            <a:ext cx="38100" cy="38100"/>
          </a:xfrm>
          <a:prstGeom prst="roundRect">
            <a:avLst>
              <a:gd name="adj" fmla="val 6666"/>
            </a:avLst>
          </a:prstGeom>
          <a:solidFill>
            <a:srgbClr val="C5DFDF"/>
          </a:solidFill>
          <a:ln w="6350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1003300" y="1371600"/>
            <a:ext cx="38100" cy="38100"/>
          </a:xfrm>
          <a:prstGeom prst="roundRect">
            <a:avLst>
              <a:gd name="adj" fmla="val 6666"/>
            </a:avLst>
          </a:prstGeom>
          <a:solidFill>
            <a:srgbClr val="EDF5F5"/>
          </a:solidFill>
          <a:ln w="6350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1003300" y="1416050"/>
            <a:ext cx="38100" cy="38100"/>
          </a:xfrm>
          <a:prstGeom prst="roundRect">
            <a:avLst>
              <a:gd name="adj" fmla="val 6666"/>
            </a:avLst>
          </a:prstGeom>
          <a:solidFill>
            <a:srgbClr val="C5DFDF"/>
          </a:solidFill>
          <a:ln w="6350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1003300" y="1460500"/>
            <a:ext cx="38100" cy="38100"/>
          </a:xfrm>
          <a:prstGeom prst="roundRect">
            <a:avLst>
              <a:gd name="adj" fmla="val 6666"/>
            </a:avLst>
          </a:prstGeom>
          <a:solidFill>
            <a:srgbClr val="EDF5F5"/>
          </a:solidFill>
          <a:ln w="6350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193802" y="1360805"/>
            <a:ext cx="101596" cy="14859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67C80"/>
                </a:solidFill>
                <a:latin typeface="Liberation Serif"/>
              </a:rPr>
              <a:t>A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914400" y="1676400"/>
            <a:ext cx="38100" cy="38100"/>
          </a:xfrm>
          <a:prstGeom prst="roundRect">
            <a:avLst>
              <a:gd name="adj" fmla="val 6666"/>
            </a:avLst>
          </a:prstGeom>
          <a:solidFill>
            <a:srgbClr val="C5DFDF"/>
          </a:solidFill>
          <a:ln w="6350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914400" y="1720850"/>
            <a:ext cx="38100" cy="38100"/>
          </a:xfrm>
          <a:prstGeom prst="roundRect">
            <a:avLst>
              <a:gd name="adj" fmla="val 6666"/>
            </a:avLst>
          </a:prstGeom>
          <a:solidFill>
            <a:srgbClr val="EDF5F5"/>
          </a:solidFill>
          <a:ln w="6350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914400" y="1765300"/>
            <a:ext cx="38100" cy="38100"/>
          </a:xfrm>
          <a:prstGeom prst="roundRect">
            <a:avLst>
              <a:gd name="adj" fmla="val 6666"/>
            </a:avLst>
          </a:prstGeom>
          <a:solidFill>
            <a:srgbClr val="EDF5F5"/>
          </a:solidFill>
          <a:ln w="6350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958850" y="1676400"/>
            <a:ext cx="38100" cy="38100"/>
          </a:xfrm>
          <a:prstGeom prst="roundRect">
            <a:avLst>
              <a:gd name="adj" fmla="val 6666"/>
            </a:avLst>
          </a:prstGeom>
          <a:solidFill>
            <a:srgbClr val="EDF5F5"/>
          </a:solidFill>
          <a:ln w="6350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958850" y="1720850"/>
            <a:ext cx="38100" cy="38100"/>
          </a:xfrm>
          <a:prstGeom prst="roundRect">
            <a:avLst>
              <a:gd name="adj" fmla="val 6666"/>
            </a:avLst>
          </a:prstGeom>
          <a:solidFill>
            <a:srgbClr val="EDF5F5"/>
          </a:solidFill>
          <a:ln w="6350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958850" y="1765300"/>
            <a:ext cx="38100" cy="38100"/>
          </a:xfrm>
          <a:prstGeom prst="roundRect">
            <a:avLst>
              <a:gd name="adj" fmla="val 6666"/>
            </a:avLst>
          </a:prstGeom>
          <a:solidFill>
            <a:srgbClr val="C5DFDF"/>
          </a:solidFill>
          <a:ln w="6350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1003300" y="1676400"/>
            <a:ext cx="38100" cy="38100"/>
          </a:xfrm>
          <a:prstGeom prst="roundRect">
            <a:avLst>
              <a:gd name="adj" fmla="val 6666"/>
            </a:avLst>
          </a:prstGeom>
          <a:solidFill>
            <a:srgbClr val="EDF5F5"/>
          </a:solidFill>
          <a:ln w="6350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1003300" y="1720850"/>
            <a:ext cx="38100" cy="38100"/>
          </a:xfrm>
          <a:prstGeom prst="roundRect">
            <a:avLst>
              <a:gd name="adj" fmla="val 6666"/>
            </a:avLst>
          </a:prstGeom>
          <a:solidFill>
            <a:srgbClr val="C5DFDF"/>
          </a:solidFill>
          <a:ln w="6350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1003300" y="1765300"/>
            <a:ext cx="38100" cy="38100"/>
          </a:xfrm>
          <a:prstGeom prst="roundRect">
            <a:avLst>
              <a:gd name="adj" fmla="val 6666"/>
            </a:avLst>
          </a:prstGeom>
          <a:solidFill>
            <a:srgbClr val="EDF5F5"/>
          </a:solidFill>
          <a:ln w="6350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196954" y="1665605"/>
            <a:ext cx="95292" cy="14859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67C80"/>
                </a:solidFill>
                <a:latin typeface="Liberation Serif"/>
              </a:rPr>
              <a:t>C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333500" y="1720215"/>
            <a:ext cx="63500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167C80"/>
                </a:solidFill>
                <a:latin typeface="Liberation Serif"/>
              </a:rPr>
              <a:t>k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98763" y="1859915"/>
            <a:ext cx="475774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9636A"/>
                </a:solidFill>
                <a:latin typeface="Liberation Serif"/>
              </a:rPr>
              <a:t>state clusters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733860" y="391160"/>
            <a:ext cx="558181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67C80"/>
                </a:solidFill>
                <a:latin typeface="Liberation Serif"/>
              </a:rPr>
              <a:t>Soft budgets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790219" y="573405"/>
            <a:ext cx="76200" cy="14859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67C80"/>
                </a:solidFill>
                <a:latin typeface="Liberation Serif"/>
              </a:rPr>
              <a:t>b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47369" y="615315"/>
            <a:ext cx="63500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167C80"/>
                </a:solidFill>
                <a:latin typeface="Liberation Serif"/>
              </a:rPr>
              <a:t>k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891819" y="573405"/>
            <a:ext cx="216896" cy="14859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67C80"/>
                </a:solidFill>
                <a:latin typeface="Liberation Serif"/>
              </a:rPr>
              <a:t> = B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089665" y="615315"/>
            <a:ext cx="63500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167C80"/>
                </a:solidFill>
                <a:latin typeface="Liberation Serif"/>
              </a:rPr>
              <a:t>k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134115" y="573405"/>
            <a:ext cx="120616" cy="14859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67C80"/>
                </a:solidFill>
                <a:latin typeface="Liberation Serif"/>
              </a:rPr>
              <a:t>/L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741375" y="780732"/>
            <a:ext cx="134236" cy="14033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167C80"/>
                </a:solidFill>
                <a:latin typeface="STIXGeneral"/>
              </a:rPr>
              <a:t>⟨C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856561" y="818515"/>
            <a:ext cx="63500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167C80"/>
                </a:solidFill>
                <a:latin typeface="Liberation Serif"/>
              </a:rPr>
              <a:t>k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901011" y="780732"/>
            <a:ext cx="358114" cy="14033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167C80"/>
                </a:solidFill>
                <a:latin typeface="STIXGeneral"/>
              </a:rPr>
              <a:t>, F⟩ ≤ b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240075" y="818515"/>
            <a:ext cx="63500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167C80"/>
                </a:solidFill>
                <a:latin typeface="Liberation Serif"/>
              </a:rPr>
              <a:t>k</a:t>
            </a:r>
          </a:p>
        </p:txBody>
      </p:sp>
      <p:sp>
        <p:nvSpPr>
          <p:cNvPr id="93" name="Freeform 92"/>
          <p:cNvSpPr/>
          <p:nvPr/>
        </p:nvSpPr>
        <p:spPr>
          <a:xfrm>
            <a:off x="1701800" y="1028700"/>
            <a:ext cx="622300" cy="0"/>
          </a:xfrm>
          <a:custGeom>
            <a:avLst/>
            <a:gdLst/>
            <a:ahLst/>
            <a:cxnLst/>
            <a:rect l="l" t="t" r="r" b="b"/>
            <a:pathLst>
              <a:path w="622300" h="0">
                <a:moveTo>
                  <a:pt x="0" y="0"/>
                </a:moveTo>
                <a:lnTo>
                  <a:pt x="622300" y="0"/>
                </a:lnTo>
              </a:path>
            </a:pathLst>
          </a:custGeom>
          <a:noFill/>
          <a:ln w="6350">
            <a:solidFill>
              <a:srgbClr val="D8DEE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756489" y="1127760"/>
            <a:ext cx="512921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C43C39"/>
                </a:solidFill>
                <a:latin typeface="Liberation Serif"/>
              </a:rPr>
              <a:t>Hard edges</a:t>
            </a:r>
          </a:p>
        </p:txBody>
      </p:sp>
      <p:sp>
        <p:nvSpPr>
          <p:cNvPr id="95" name="Freeform 94"/>
          <p:cNvSpPr/>
          <p:nvPr/>
        </p:nvSpPr>
        <p:spPr>
          <a:xfrm>
            <a:off x="1752600" y="1409700"/>
            <a:ext cx="520700" cy="0"/>
          </a:xfrm>
          <a:custGeom>
            <a:avLst/>
            <a:gdLst/>
            <a:ahLst/>
            <a:cxnLst/>
            <a:rect l="l" t="t" r="r" b="b"/>
            <a:pathLst>
              <a:path w="520700" h="0">
                <a:moveTo>
                  <a:pt x="0" y="0"/>
                </a:moveTo>
                <a:lnTo>
                  <a:pt x="520700" y="0"/>
                </a:lnTo>
              </a:path>
            </a:pathLst>
          </a:custGeom>
          <a:noFill/>
          <a:ln w="8890">
            <a:solidFill>
              <a:srgbClr val="C43C39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Freeform 95"/>
          <p:cNvSpPr/>
          <p:nvPr/>
        </p:nvSpPr>
        <p:spPr>
          <a:xfrm>
            <a:off x="1968500" y="1358900"/>
            <a:ext cx="76200" cy="101600"/>
          </a:xfrm>
          <a:custGeom>
            <a:avLst/>
            <a:gdLst/>
            <a:ahLst/>
            <a:cxnLst/>
            <a:rect l="l" t="t" r="r" b="b"/>
            <a:pathLst>
              <a:path w="76200" h="101600">
                <a:moveTo>
                  <a:pt x="0" y="0"/>
                </a:moveTo>
                <a:lnTo>
                  <a:pt x="76200" y="101600"/>
                </a:lnTo>
              </a:path>
            </a:pathLst>
          </a:custGeom>
          <a:noFill/>
          <a:ln w="11430">
            <a:solidFill>
              <a:srgbClr val="C43C3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Freeform 96"/>
          <p:cNvSpPr/>
          <p:nvPr/>
        </p:nvSpPr>
        <p:spPr>
          <a:xfrm>
            <a:off x="1968500" y="1358900"/>
            <a:ext cx="76200" cy="101600"/>
          </a:xfrm>
          <a:custGeom>
            <a:avLst/>
            <a:gdLst/>
            <a:ahLst/>
            <a:cxnLst/>
            <a:rect l="l" t="t" r="r" b="b"/>
            <a:pathLst>
              <a:path w="76200" h="101600">
                <a:moveTo>
                  <a:pt x="0" y="101600"/>
                </a:moveTo>
                <a:lnTo>
                  <a:pt x="76200" y="0"/>
                </a:lnTo>
              </a:path>
            </a:pathLst>
          </a:custGeom>
          <a:noFill/>
          <a:ln w="11430">
            <a:solidFill>
              <a:srgbClr val="C43C3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1859691" y="1564005"/>
            <a:ext cx="82612" cy="14859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C43C39"/>
                </a:solidFill>
                <a:latin typeface="Liberation Serif"/>
              </a:rPr>
              <a:t>F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923252" y="1605915"/>
            <a:ext cx="83252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43C39"/>
                </a:solidFill>
                <a:latin typeface="Liberation Serif"/>
              </a:rPr>
              <a:t>H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987455" y="1564005"/>
            <a:ext cx="197804" cy="14859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C43C39"/>
                </a:solidFill>
                <a:latin typeface="Liberation Serif"/>
              </a:rPr>
              <a:t> = 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675120" y="1809115"/>
            <a:ext cx="675660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9636A"/>
                </a:solidFill>
                <a:latin typeface="Liberation Serif"/>
              </a:rPr>
              <a:t>excluded; no price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2696511" y="378460"/>
            <a:ext cx="193977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67C80"/>
                </a:solidFill>
                <a:latin typeface="Liberation Serif"/>
              </a:rPr>
              <a:t>max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871437" y="424815"/>
            <a:ext cx="68487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167C80"/>
                </a:solidFill>
                <a:latin typeface="Liberation Serif"/>
              </a:rPr>
              <a:t>F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920874" y="378460"/>
            <a:ext cx="840565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67C80"/>
                </a:solidFill>
                <a:latin typeface="STIXGeneral"/>
              </a:rPr>
              <a:t> ⟨A,F⟩ − ε KL(F∥F̂)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2835637" y="562038"/>
            <a:ext cx="767625" cy="120523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0">
                <a:solidFill>
                  <a:srgbClr val="167C80"/>
                </a:solidFill>
                <a:latin typeface="Liberation Serif"/>
              </a:rPr>
              <a:t>F ≥ 0 · flow balance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2842623" y="734060"/>
            <a:ext cx="127460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67C80"/>
                </a:solidFill>
                <a:latin typeface="STIXGeneral"/>
              </a:rPr>
              <a:t>⟨C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2951034" y="767715"/>
            <a:ext cx="63500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167C80"/>
                </a:solidFill>
                <a:latin typeface="Liberation Serif"/>
              </a:rPr>
              <a:t>k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2995484" y="734060"/>
            <a:ext cx="261969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67C80"/>
                </a:solidFill>
                <a:latin typeface="STIXGeneral"/>
              </a:rPr>
              <a:t>,F⟩≤b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3238403" y="767715"/>
            <a:ext cx="63500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167C80"/>
                </a:solidFill>
                <a:latin typeface="Liberation Serif"/>
              </a:rPr>
              <a:t>k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3282853" y="734060"/>
            <a:ext cx="160179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67C80"/>
                </a:solidFill>
                <a:latin typeface="Liberation Serif"/>
              </a:rPr>
              <a:t> · F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3423982" y="767715"/>
            <a:ext cx="83252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167C80"/>
                </a:solidFill>
                <a:latin typeface="Liberation Serif"/>
              </a:rPr>
              <a:t>H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488184" y="734060"/>
            <a:ext cx="127143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67C80"/>
                </a:solidFill>
                <a:latin typeface="Liberation Serif"/>
              </a:rPr>
              <a:t>=0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2790794" y="967105"/>
            <a:ext cx="82612" cy="14859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636A"/>
                </a:solidFill>
                <a:latin typeface="Liberation Serif"/>
              </a:rPr>
              <a:t>F̂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3097395" y="983615"/>
            <a:ext cx="231410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D55E00"/>
                </a:solidFill>
                <a:latin typeface="Liberation Serif"/>
              </a:rPr>
              <a:t>costly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3536919" y="967105"/>
            <a:ext cx="139762" cy="14859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67C80"/>
                </a:solidFill>
                <a:latin typeface="Liberation Serif"/>
              </a:rPr>
              <a:t>F*</a:t>
            </a:r>
          </a:p>
        </p:txBody>
      </p:sp>
      <p:sp>
        <p:nvSpPr>
          <p:cNvPr id="116" name="Freeform 115"/>
          <p:cNvSpPr/>
          <p:nvPr/>
        </p:nvSpPr>
        <p:spPr>
          <a:xfrm>
            <a:off x="2735580" y="1193800"/>
            <a:ext cx="183388" cy="0"/>
          </a:xfrm>
          <a:custGeom>
            <a:avLst/>
            <a:gdLst/>
            <a:ahLst/>
            <a:cxnLst/>
            <a:rect l="l" t="t" r="r" b="b"/>
            <a:pathLst>
              <a:path w="183388" h="0">
                <a:moveTo>
                  <a:pt x="0" y="0"/>
                </a:moveTo>
                <a:lnTo>
                  <a:pt x="183388" y="0"/>
                </a:lnTo>
              </a:path>
            </a:pathLst>
          </a:custGeom>
          <a:noFill/>
          <a:ln w="45720">
            <a:solidFill>
              <a:srgbClr val="F3D4B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" name="Freeform 116"/>
          <p:cNvSpPr/>
          <p:nvPr/>
        </p:nvSpPr>
        <p:spPr>
          <a:xfrm>
            <a:off x="2590800" y="1193800"/>
            <a:ext cx="144780" cy="152400"/>
          </a:xfrm>
          <a:custGeom>
            <a:avLst/>
            <a:gdLst/>
            <a:ahLst/>
            <a:cxnLst/>
            <a:rect l="l" t="t" r="r" b="b"/>
            <a:pathLst>
              <a:path w="144780" h="152400">
                <a:moveTo>
                  <a:pt x="0" y="152400"/>
                </a:moveTo>
                <a:lnTo>
                  <a:pt x="144780" y="0"/>
                </a:lnTo>
              </a:path>
            </a:pathLst>
          </a:custGeom>
          <a:noFill/>
          <a:ln w="25400">
            <a:solidFill>
              <a:srgbClr val="ABB5B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" name="Freeform 117"/>
          <p:cNvSpPr/>
          <p:nvPr/>
        </p:nvSpPr>
        <p:spPr>
          <a:xfrm>
            <a:off x="2735580" y="1193800"/>
            <a:ext cx="183388" cy="0"/>
          </a:xfrm>
          <a:custGeom>
            <a:avLst/>
            <a:gdLst/>
            <a:ahLst/>
            <a:cxnLst/>
            <a:rect l="l" t="t" r="r" b="b"/>
            <a:pathLst>
              <a:path w="183388" h="0">
                <a:moveTo>
                  <a:pt x="0" y="0"/>
                </a:moveTo>
                <a:lnTo>
                  <a:pt x="183388" y="0"/>
                </a:lnTo>
              </a:path>
            </a:pathLst>
          </a:custGeom>
          <a:noFill/>
          <a:ln w="25400">
            <a:solidFill>
              <a:srgbClr val="ABB5B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" name="Freeform 118"/>
          <p:cNvSpPr/>
          <p:nvPr/>
        </p:nvSpPr>
        <p:spPr>
          <a:xfrm>
            <a:off x="2918968" y="1193800"/>
            <a:ext cx="154432" cy="152400"/>
          </a:xfrm>
          <a:custGeom>
            <a:avLst/>
            <a:gdLst/>
            <a:ahLst/>
            <a:cxnLst/>
            <a:rect l="l" t="t" r="r" b="b"/>
            <a:pathLst>
              <a:path w="154432" h="152400">
                <a:moveTo>
                  <a:pt x="0" y="0"/>
                </a:moveTo>
                <a:lnTo>
                  <a:pt x="154432" y="152400"/>
                </a:lnTo>
              </a:path>
            </a:pathLst>
          </a:custGeom>
          <a:noFill/>
          <a:ln w="25400">
            <a:solidFill>
              <a:srgbClr val="ABB5B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" name="Freeform 119"/>
          <p:cNvSpPr/>
          <p:nvPr/>
        </p:nvSpPr>
        <p:spPr>
          <a:xfrm>
            <a:off x="2590800" y="1346200"/>
            <a:ext cx="144780" cy="152400"/>
          </a:xfrm>
          <a:custGeom>
            <a:avLst/>
            <a:gdLst/>
            <a:ahLst/>
            <a:cxnLst/>
            <a:rect l="l" t="t" r="r" b="b"/>
            <a:pathLst>
              <a:path w="144780" h="152400">
                <a:moveTo>
                  <a:pt x="0" y="0"/>
                </a:moveTo>
                <a:lnTo>
                  <a:pt x="144780" y="152400"/>
                </a:lnTo>
              </a:path>
            </a:pathLst>
          </a:custGeom>
          <a:noFill/>
          <a:ln w="8255">
            <a:solidFill>
              <a:srgbClr val="ABB5B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" name="Freeform 120"/>
          <p:cNvSpPr/>
          <p:nvPr/>
        </p:nvSpPr>
        <p:spPr>
          <a:xfrm>
            <a:off x="2735580" y="1498600"/>
            <a:ext cx="183388" cy="0"/>
          </a:xfrm>
          <a:custGeom>
            <a:avLst/>
            <a:gdLst/>
            <a:ahLst/>
            <a:cxnLst/>
            <a:rect l="l" t="t" r="r" b="b"/>
            <a:pathLst>
              <a:path w="183388" h="0">
                <a:moveTo>
                  <a:pt x="0" y="0"/>
                </a:moveTo>
                <a:lnTo>
                  <a:pt x="183388" y="0"/>
                </a:lnTo>
              </a:path>
            </a:pathLst>
          </a:custGeom>
          <a:noFill/>
          <a:ln w="8255">
            <a:solidFill>
              <a:srgbClr val="ABB5B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" name="Freeform 121"/>
          <p:cNvSpPr/>
          <p:nvPr/>
        </p:nvSpPr>
        <p:spPr>
          <a:xfrm>
            <a:off x="2918968" y="1346200"/>
            <a:ext cx="154432" cy="152400"/>
          </a:xfrm>
          <a:custGeom>
            <a:avLst/>
            <a:gdLst/>
            <a:ahLst/>
            <a:cxnLst/>
            <a:rect l="l" t="t" r="r" b="b"/>
            <a:pathLst>
              <a:path w="154432" h="152400">
                <a:moveTo>
                  <a:pt x="0" y="152400"/>
                </a:moveTo>
                <a:lnTo>
                  <a:pt x="154432" y="0"/>
                </a:lnTo>
              </a:path>
            </a:pathLst>
          </a:custGeom>
          <a:noFill/>
          <a:ln w="8255">
            <a:solidFill>
              <a:srgbClr val="ABB5B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" name="Freeform 122"/>
          <p:cNvSpPr/>
          <p:nvPr/>
        </p:nvSpPr>
        <p:spPr>
          <a:xfrm>
            <a:off x="2735580" y="1193800"/>
            <a:ext cx="183388" cy="304800"/>
          </a:xfrm>
          <a:custGeom>
            <a:avLst/>
            <a:gdLst/>
            <a:ahLst/>
            <a:cxnLst/>
            <a:rect l="l" t="t" r="r" b="b"/>
            <a:pathLst>
              <a:path w="183388" h="304800">
                <a:moveTo>
                  <a:pt x="0" y="0"/>
                </a:moveTo>
                <a:lnTo>
                  <a:pt x="183388" y="304800"/>
                </a:lnTo>
              </a:path>
            </a:pathLst>
          </a:custGeom>
          <a:noFill/>
          <a:ln w="8255">
            <a:solidFill>
              <a:srgbClr val="C43C39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" name="Freeform 123"/>
          <p:cNvSpPr/>
          <p:nvPr/>
        </p:nvSpPr>
        <p:spPr>
          <a:xfrm>
            <a:off x="2801874" y="13208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50800" y="50800"/>
                </a:lnTo>
              </a:path>
            </a:pathLst>
          </a:custGeom>
          <a:noFill/>
          <a:ln w="10160">
            <a:solidFill>
              <a:srgbClr val="C43C3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" name="Freeform 124"/>
          <p:cNvSpPr/>
          <p:nvPr/>
        </p:nvSpPr>
        <p:spPr>
          <a:xfrm>
            <a:off x="2801874" y="13208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50800"/>
                </a:moveTo>
                <a:lnTo>
                  <a:pt x="50800" y="0"/>
                </a:lnTo>
              </a:path>
            </a:pathLst>
          </a:custGeom>
          <a:noFill/>
          <a:ln w="10160">
            <a:solidFill>
              <a:srgbClr val="C43C3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2569210" y="1324610"/>
            <a:ext cx="43180" cy="43180"/>
          </a:xfrm>
          <a:prstGeom prst="ellipse">
            <a:avLst/>
          </a:prstGeom>
          <a:solidFill>
            <a:srgbClr val="FFFFFF"/>
          </a:solidFill>
          <a:ln w="7620">
            <a:solidFill>
              <a:srgbClr val="59636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2713990" y="1172210"/>
            <a:ext cx="43180" cy="43180"/>
          </a:xfrm>
          <a:prstGeom prst="ellipse">
            <a:avLst/>
          </a:prstGeom>
          <a:solidFill>
            <a:srgbClr val="FFFFFF"/>
          </a:solidFill>
          <a:ln w="7620">
            <a:solidFill>
              <a:srgbClr val="59636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2897378" y="1172210"/>
            <a:ext cx="43180" cy="43180"/>
          </a:xfrm>
          <a:prstGeom prst="ellipse">
            <a:avLst/>
          </a:prstGeom>
          <a:solidFill>
            <a:srgbClr val="FFFFFF"/>
          </a:solidFill>
          <a:ln w="7620">
            <a:solidFill>
              <a:srgbClr val="59636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3051810" y="1324610"/>
            <a:ext cx="43180" cy="43180"/>
          </a:xfrm>
          <a:prstGeom prst="ellipse">
            <a:avLst/>
          </a:prstGeom>
          <a:solidFill>
            <a:srgbClr val="59636A"/>
          </a:solidFill>
          <a:ln w="7620">
            <a:solidFill>
              <a:srgbClr val="59636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2897378" y="1477010"/>
            <a:ext cx="43180" cy="43180"/>
          </a:xfrm>
          <a:prstGeom prst="ellipse">
            <a:avLst/>
          </a:prstGeom>
          <a:solidFill>
            <a:srgbClr val="FFFFFF"/>
          </a:solidFill>
          <a:ln w="7620">
            <a:solidFill>
              <a:srgbClr val="59636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2713990" y="1477010"/>
            <a:ext cx="43180" cy="43180"/>
          </a:xfrm>
          <a:prstGeom prst="ellipse">
            <a:avLst/>
          </a:prstGeom>
          <a:solidFill>
            <a:srgbClr val="FFFFFF"/>
          </a:solidFill>
          <a:ln w="7620">
            <a:solidFill>
              <a:srgbClr val="59636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32" name="Connector 131"/>
          <p:cNvCxnSpPr/>
          <p:nvPr/>
        </p:nvCxnSpPr>
        <p:spPr>
          <a:xfrm>
            <a:off x="3124200" y="1346200"/>
            <a:ext cx="203200" cy="0"/>
          </a:xfrm>
          <a:prstGeom prst="line">
            <a:avLst/>
          </a:prstGeom>
          <a:ln w="10160">
            <a:solidFill>
              <a:srgbClr val="167C80"/>
            </a:solidFill>
            <a:tailEnd type="triangle" w="sm" len="sm"/>
          </a:ln>
          <a:effectLst/>
        </p:spPr>
      </p:cxnSp>
      <p:sp>
        <p:nvSpPr>
          <p:cNvPr id="133" name="Freeform 132"/>
          <p:cNvSpPr/>
          <p:nvPr/>
        </p:nvSpPr>
        <p:spPr>
          <a:xfrm>
            <a:off x="3522980" y="1193800"/>
            <a:ext cx="183388" cy="0"/>
          </a:xfrm>
          <a:custGeom>
            <a:avLst/>
            <a:gdLst/>
            <a:ahLst/>
            <a:cxnLst/>
            <a:rect l="l" t="t" r="r" b="b"/>
            <a:pathLst>
              <a:path w="183388" h="0">
                <a:moveTo>
                  <a:pt x="0" y="0"/>
                </a:moveTo>
                <a:lnTo>
                  <a:pt x="183388" y="0"/>
                </a:lnTo>
              </a:path>
            </a:pathLst>
          </a:custGeom>
          <a:noFill/>
          <a:ln w="45720">
            <a:solidFill>
              <a:srgbClr val="F3D4B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4" name="Freeform 133"/>
          <p:cNvSpPr/>
          <p:nvPr/>
        </p:nvSpPr>
        <p:spPr>
          <a:xfrm>
            <a:off x="3378200" y="1193800"/>
            <a:ext cx="144780" cy="152400"/>
          </a:xfrm>
          <a:custGeom>
            <a:avLst/>
            <a:gdLst/>
            <a:ahLst/>
            <a:cxnLst/>
            <a:rect l="l" t="t" r="r" b="b"/>
            <a:pathLst>
              <a:path w="144780" h="152400">
                <a:moveTo>
                  <a:pt x="0" y="152400"/>
                </a:moveTo>
                <a:lnTo>
                  <a:pt x="144780" y="0"/>
                </a:lnTo>
              </a:path>
            </a:pathLst>
          </a:custGeom>
          <a:noFill/>
          <a:ln w="8255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5" name="Freeform 134"/>
          <p:cNvSpPr/>
          <p:nvPr/>
        </p:nvSpPr>
        <p:spPr>
          <a:xfrm>
            <a:off x="3522980" y="1193800"/>
            <a:ext cx="183388" cy="0"/>
          </a:xfrm>
          <a:custGeom>
            <a:avLst/>
            <a:gdLst/>
            <a:ahLst/>
            <a:cxnLst/>
            <a:rect l="l" t="t" r="r" b="b"/>
            <a:pathLst>
              <a:path w="183388" h="0">
                <a:moveTo>
                  <a:pt x="0" y="0"/>
                </a:moveTo>
                <a:lnTo>
                  <a:pt x="183388" y="0"/>
                </a:lnTo>
              </a:path>
            </a:pathLst>
          </a:custGeom>
          <a:noFill/>
          <a:ln w="8255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6" name="Freeform 135"/>
          <p:cNvSpPr/>
          <p:nvPr/>
        </p:nvSpPr>
        <p:spPr>
          <a:xfrm>
            <a:off x="3706368" y="1193800"/>
            <a:ext cx="154432" cy="152400"/>
          </a:xfrm>
          <a:custGeom>
            <a:avLst/>
            <a:gdLst/>
            <a:ahLst/>
            <a:cxnLst/>
            <a:rect l="l" t="t" r="r" b="b"/>
            <a:pathLst>
              <a:path w="154432" h="152400">
                <a:moveTo>
                  <a:pt x="0" y="0"/>
                </a:moveTo>
                <a:lnTo>
                  <a:pt x="154432" y="152400"/>
                </a:lnTo>
              </a:path>
            </a:pathLst>
          </a:custGeom>
          <a:noFill/>
          <a:ln w="8255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7" name="Freeform 136"/>
          <p:cNvSpPr/>
          <p:nvPr/>
        </p:nvSpPr>
        <p:spPr>
          <a:xfrm>
            <a:off x="3378200" y="1346200"/>
            <a:ext cx="144780" cy="152400"/>
          </a:xfrm>
          <a:custGeom>
            <a:avLst/>
            <a:gdLst/>
            <a:ahLst/>
            <a:cxnLst/>
            <a:rect l="l" t="t" r="r" b="b"/>
            <a:pathLst>
              <a:path w="144780" h="152400">
                <a:moveTo>
                  <a:pt x="0" y="0"/>
                </a:moveTo>
                <a:lnTo>
                  <a:pt x="144780" y="152400"/>
                </a:lnTo>
              </a:path>
            </a:pathLst>
          </a:custGeom>
          <a:noFill/>
          <a:ln w="25400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8" name="Freeform 137"/>
          <p:cNvSpPr/>
          <p:nvPr/>
        </p:nvSpPr>
        <p:spPr>
          <a:xfrm>
            <a:off x="3522980" y="1498600"/>
            <a:ext cx="183388" cy="0"/>
          </a:xfrm>
          <a:custGeom>
            <a:avLst/>
            <a:gdLst/>
            <a:ahLst/>
            <a:cxnLst/>
            <a:rect l="l" t="t" r="r" b="b"/>
            <a:pathLst>
              <a:path w="183388" h="0">
                <a:moveTo>
                  <a:pt x="0" y="0"/>
                </a:moveTo>
                <a:lnTo>
                  <a:pt x="183388" y="0"/>
                </a:lnTo>
              </a:path>
            </a:pathLst>
          </a:custGeom>
          <a:noFill/>
          <a:ln w="25400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9" name="Freeform 138"/>
          <p:cNvSpPr/>
          <p:nvPr/>
        </p:nvSpPr>
        <p:spPr>
          <a:xfrm>
            <a:off x="3706368" y="1346200"/>
            <a:ext cx="154432" cy="152400"/>
          </a:xfrm>
          <a:custGeom>
            <a:avLst/>
            <a:gdLst/>
            <a:ahLst/>
            <a:cxnLst/>
            <a:rect l="l" t="t" r="r" b="b"/>
            <a:pathLst>
              <a:path w="154432" h="152400">
                <a:moveTo>
                  <a:pt x="0" y="152400"/>
                </a:moveTo>
                <a:lnTo>
                  <a:pt x="154432" y="0"/>
                </a:lnTo>
              </a:path>
            </a:pathLst>
          </a:custGeom>
          <a:noFill/>
          <a:ln w="25400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0" name="Freeform 139"/>
          <p:cNvSpPr/>
          <p:nvPr/>
        </p:nvSpPr>
        <p:spPr>
          <a:xfrm>
            <a:off x="3522980" y="1193800"/>
            <a:ext cx="183388" cy="304800"/>
          </a:xfrm>
          <a:custGeom>
            <a:avLst/>
            <a:gdLst/>
            <a:ahLst/>
            <a:cxnLst/>
            <a:rect l="l" t="t" r="r" b="b"/>
            <a:pathLst>
              <a:path w="183388" h="304800">
                <a:moveTo>
                  <a:pt x="0" y="0"/>
                </a:moveTo>
                <a:lnTo>
                  <a:pt x="183388" y="304800"/>
                </a:lnTo>
              </a:path>
            </a:pathLst>
          </a:custGeom>
          <a:noFill/>
          <a:ln w="8255">
            <a:solidFill>
              <a:srgbClr val="C43C39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1" name="Freeform 140"/>
          <p:cNvSpPr/>
          <p:nvPr/>
        </p:nvSpPr>
        <p:spPr>
          <a:xfrm>
            <a:off x="3589274" y="13208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50800" y="50800"/>
                </a:lnTo>
              </a:path>
            </a:pathLst>
          </a:custGeom>
          <a:noFill/>
          <a:ln w="10160">
            <a:solidFill>
              <a:srgbClr val="C43C3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2" name="Freeform 141"/>
          <p:cNvSpPr/>
          <p:nvPr/>
        </p:nvSpPr>
        <p:spPr>
          <a:xfrm>
            <a:off x="3589274" y="13208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50800"/>
                </a:moveTo>
                <a:lnTo>
                  <a:pt x="50800" y="0"/>
                </a:lnTo>
              </a:path>
            </a:pathLst>
          </a:custGeom>
          <a:noFill/>
          <a:ln w="10160">
            <a:solidFill>
              <a:srgbClr val="C43C3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3356610" y="1324610"/>
            <a:ext cx="43180" cy="43180"/>
          </a:xfrm>
          <a:prstGeom prst="ellipse">
            <a:avLst/>
          </a:prstGeom>
          <a:solidFill>
            <a:srgbClr val="FFFFFF"/>
          </a:solidFill>
          <a:ln w="7620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3501390" y="1172210"/>
            <a:ext cx="43180" cy="43180"/>
          </a:xfrm>
          <a:prstGeom prst="ellipse">
            <a:avLst/>
          </a:prstGeom>
          <a:solidFill>
            <a:srgbClr val="FFFFFF"/>
          </a:solidFill>
          <a:ln w="7620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3684778" y="1172210"/>
            <a:ext cx="43180" cy="43180"/>
          </a:xfrm>
          <a:prstGeom prst="ellipse">
            <a:avLst/>
          </a:prstGeom>
          <a:solidFill>
            <a:srgbClr val="FFFFFF"/>
          </a:solidFill>
          <a:ln w="7620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3839210" y="1324610"/>
            <a:ext cx="43180" cy="43180"/>
          </a:xfrm>
          <a:prstGeom prst="ellipse">
            <a:avLst/>
          </a:prstGeom>
          <a:solidFill>
            <a:srgbClr val="167C80"/>
          </a:solidFill>
          <a:ln w="7620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3684778" y="1477010"/>
            <a:ext cx="43180" cy="43180"/>
          </a:xfrm>
          <a:prstGeom prst="ellipse">
            <a:avLst/>
          </a:prstGeom>
          <a:solidFill>
            <a:srgbClr val="FFFFFF"/>
          </a:solidFill>
          <a:ln w="7620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3501390" y="1477010"/>
            <a:ext cx="43180" cy="43180"/>
          </a:xfrm>
          <a:prstGeom prst="ellipse">
            <a:avLst/>
          </a:prstGeom>
          <a:solidFill>
            <a:srgbClr val="FFFFFF"/>
          </a:solidFill>
          <a:ln w="7620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9" name="Freeform 148"/>
          <p:cNvSpPr/>
          <p:nvPr/>
        </p:nvSpPr>
        <p:spPr>
          <a:xfrm>
            <a:off x="3454400" y="1549400"/>
            <a:ext cx="393700" cy="101600"/>
          </a:xfrm>
          <a:custGeom>
            <a:avLst/>
            <a:gdLst/>
            <a:ahLst/>
            <a:cxnLst/>
            <a:rect l="l" t="t" r="r" b="b"/>
            <a:pathLst>
              <a:path w="393700" h="101600">
                <a:moveTo>
                  <a:pt x="0" y="0"/>
                </a:moveTo>
                <a:lnTo>
                  <a:pt x="0" y="101600"/>
                </a:lnTo>
                <a:lnTo>
                  <a:pt x="393700" y="101600"/>
                </a:lnTo>
              </a:path>
            </a:pathLst>
          </a:custGeom>
          <a:noFill/>
          <a:ln w="7620">
            <a:solidFill>
              <a:srgbClr val="59636A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3419430" y="1694815"/>
            <a:ext cx="400139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9636A"/>
                </a:solidFill>
                <a:latin typeface="Liberation Serif"/>
              </a:rPr>
              <a:t>target only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2656363" y="1694815"/>
            <a:ext cx="503874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9636A"/>
                </a:solidFill>
                <a:latin typeface="Liberation Serif"/>
              </a:rPr>
              <a:t>width = visits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2686704" y="1866011"/>
            <a:ext cx="722593" cy="128778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167C80"/>
                </a:solidFill>
                <a:latin typeface="Liberation Serif"/>
              </a:rPr>
              <a:t>Budget prices λ*</a:t>
            </a:r>
          </a:p>
        </p:txBody>
      </p:sp>
      <p:sp>
        <p:nvSpPr>
          <p:cNvPr id="153" name="Freeform 152"/>
          <p:cNvSpPr/>
          <p:nvPr/>
        </p:nvSpPr>
        <p:spPr>
          <a:xfrm>
            <a:off x="3860800" y="444500"/>
            <a:ext cx="114300" cy="1485900"/>
          </a:xfrm>
          <a:custGeom>
            <a:avLst/>
            <a:gdLst/>
            <a:ahLst/>
            <a:cxnLst/>
            <a:rect l="l" t="t" r="r" b="b"/>
            <a:pathLst>
              <a:path w="114300" h="1485900">
                <a:moveTo>
                  <a:pt x="0" y="1485900"/>
                </a:moveTo>
                <a:lnTo>
                  <a:pt x="114300" y="1485900"/>
                </a:lnTo>
                <a:lnTo>
                  <a:pt x="114300" y="0"/>
                </a:lnTo>
              </a:path>
            </a:pathLst>
          </a:custGeom>
          <a:noFill/>
          <a:ln w="10160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54" name="Connector 153"/>
          <p:cNvCxnSpPr/>
          <p:nvPr/>
        </p:nvCxnSpPr>
        <p:spPr>
          <a:xfrm>
            <a:off x="3975100" y="444500"/>
            <a:ext cx="101600" cy="0"/>
          </a:xfrm>
          <a:prstGeom prst="line">
            <a:avLst/>
          </a:prstGeom>
          <a:ln w="10160">
            <a:solidFill>
              <a:srgbClr val="167C80"/>
            </a:solidFill>
            <a:tailEnd type="triangle" w="sm" len="sm"/>
          </a:ln>
          <a:effectLst/>
        </p:spPr>
      </p:cxnSp>
      <p:sp>
        <p:nvSpPr>
          <p:cNvPr id="155" name="TextBox 154"/>
          <p:cNvSpPr txBox="1"/>
          <p:nvPr/>
        </p:nvSpPr>
        <p:spPr>
          <a:xfrm>
            <a:off x="4214265" y="378460"/>
            <a:ext cx="575770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67C80"/>
                </a:solidFill>
                <a:latin typeface="Liberation Serif"/>
              </a:rPr>
              <a:t>clip c + EMA</a:t>
            </a:r>
          </a:p>
        </p:txBody>
      </p:sp>
      <p:cxnSp>
        <p:nvCxnSpPr>
          <p:cNvPr id="156" name="Connector 155"/>
          <p:cNvCxnSpPr/>
          <p:nvPr/>
        </p:nvCxnSpPr>
        <p:spPr>
          <a:xfrm>
            <a:off x="4502150" y="533400"/>
            <a:ext cx="0" cy="101600"/>
          </a:xfrm>
          <a:prstGeom prst="line">
            <a:avLst/>
          </a:prstGeom>
          <a:ln w="10160">
            <a:solidFill>
              <a:srgbClr val="167C80"/>
            </a:solidFill>
            <a:tailEnd type="triangle" w="sm" len="sm"/>
          </a:ln>
          <a:effectLst/>
        </p:spPr>
      </p:cxnSp>
      <p:sp>
        <p:nvSpPr>
          <p:cNvPr id="157" name="TextBox 156"/>
          <p:cNvSpPr txBox="1"/>
          <p:nvPr/>
        </p:nvSpPr>
        <p:spPr>
          <a:xfrm>
            <a:off x="4218603" y="717232"/>
            <a:ext cx="71389" cy="14033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0072B2"/>
                </a:solidFill>
                <a:latin typeface="Liberation Serif"/>
              </a:rPr>
              <a:t>λ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4270942" y="767715"/>
            <a:ext cx="63500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0072B2"/>
                </a:solidFill>
                <a:latin typeface="Liberation Serif"/>
              </a:rPr>
              <a:t>k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4315392" y="717232"/>
            <a:ext cx="133899" cy="14033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9636A"/>
                </a:solidFill>
                <a:latin typeface="Liberation Serif"/>
              </a:rPr>
              <a:t> = 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4430240" y="717232"/>
            <a:ext cx="71389" cy="14033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167C80"/>
                </a:solidFill>
                <a:latin typeface="Liberation Serif"/>
              </a:rPr>
              <a:t>λ̄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482579" y="678815"/>
            <a:ext cx="63500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167C80"/>
                </a:solidFill>
                <a:latin typeface="Liberation Serif"/>
              </a:rPr>
              <a:t>*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4527029" y="767715"/>
            <a:ext cx="63500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167C80"/>
                </a:solidFill>
                <a:latin typeface="Liberation Serif"/>
              </a:rPr>
              <a:t>k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1479" y="717232"/>
            <a:ext cx="133899" cy="14033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9636A"/>
                </a:solidFill>
                <a:latin typeface="Liberation Serif"/>
              </a:rPr>
              <a:t> + 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4686328" y="717232"/>
            <a:ext cx="73970" cy="14033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D55E00"/>
                </a:solidFill>
                <a:latin typeface="Liberation Serif"/>
              </a:rPr>
              <a:t>β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4741247" y="767715"/>
            <a:ext cx="63500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D55E00"/>
                </a:solidFill>
                <a:latin typeface="Liberation Serif"/>
              </a:rPr>
              <a:t>k</a:t>
            </a:r>
          </a:p>
        </p:txBody>
      </p:sp>
      <p:cxnSp>
        <p:nvCxnSpPr>
          <p:cNvPr id="166" name="Connector 165"/>
          <p:cNvCxnSpPr/>
          <p:nvPr/>
        </p:nvCxnSpPr>
        <p:spPr>
          <a:xfrm>
            <a:off x="4502150" y="889000"/>
            <a:ext cx="0" cy="101600"/>
          </a:xfrm>
          <a:prstGeom prst="line">
            <a:avLst/>
          </a:prstGeom>
          <a:ln w="10160">
            <a:solidFill>
              <a:srgbClr val="0072B2"/>
            </a:solidFill>
            <a:tailEnd type="triangle" w="sm" len="sm"/>
          </a:ln>
          <a:effectLst/>
        </p:spPr>
      </p:cxnSp>
      <p:sp>
        <p:nvSpPr>
          <p:cNvPr id="167" name="Rounded Rectangle 166"/>
          <p:cNvSpPr/>
          <p:nvPr/>
        </p:nvSpPr>
        <p:spPr>
          <a:xfrm>
            <a:off x="4102100" y="1028700"/>
            <a:ext cx="800100" cy="317500"/>
          </a:xfrm>
          <a:prstGeom prst="roundRect">
            <a:avLst>
              <a:gd name="adj" fmla="val 8000"/>
            </a:avLst>
          </a:prstGeom>
          <a:solidFill>
            <a:srgbClr val="F4F8FC"/>
          </a:solidFill>
          <a:ln w="7620">
            <a:solidFill>
              <a:srgbClr val="0072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4148881" y="1070038"/>
            <a:ext cx="706538" cy="120523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>
                <a:solidFill>
                  <a:srgbClr val="0072B2"/>
                </a:solidFill>
                <a:latin typeface="Liberation Serif"/>
              </a:rPr>
              <a:t>Priced advantage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4446766" y="1187450"/>
            <a:ext cx="110768" cy="165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72B2"/>
                </a:solidFill>
                <a:latin typeface="Liberation Serif"/>
              </a:rPr>
              <a:t>Ã</a:t>
            </a:r>
          </a:p>
        </p:txBody>
      </p:sp>
      <p:cxnSp>
        <p:nvCxnSpPr>
          <p:cNvPr id="170" name="Connector 169"/>
          <p:cNvCxnSpPr/>
          <p:nvPr/>
        </p:nvCxnSpPr>
        <p:spPr>
          <a:xfrm>
            <a:off x="4502150" y="1358900"/>
            <a:ext cx="0" cy="101600"/>
          </a:xfrm>
          <a:prstGeom prst="line">
            <a:avLst/>
          </a:prstGeom>
          <a:ln w="10160">
            <a:solidFill>
              <a:srgbClr val="0072B2"/>
            </a:solidFill>
            <a:tailEnd type="triangle" w="sm" len="sm"/>
          </a:ln>
          <a:effectLst/>
        </p:spPr>
      </p:cxnSp>
      <p:sp>
        <p:nvSpPr>
          <p:cNvPr id="171" name="Rounded Rectangle 170"/>
          <p:cNvSpPr/>
          <p:nvPr/>
        </p:nvSpPr>
        <p:spPr>
          <a:xfrm>
            <a:off x="4102100" y="1498600"/>
            <a:ext cx="800100" cy="25400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7620">
            <a:solidFill>
              <a:srgbClr val="59636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211320" y="1559560"/>
            <a:ext cx="581660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9636A"/>
                </a:solidFill>
                <a:latin typeface="Liberation Serif"/>
              </a:rPr>
              <a:t>PPO / TRPO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410453" y="1847850"/>
            <a:ext cx="83165" cy="165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9636A"/>
                </a:solidFill>
                <a:latin typeface="Liberation Serif"/>
              </a:rPr>
              <a:t>π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4474568" y="1910715"/>
            <a:ext cx="138329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9636A"/>
                </a:solidFill>
                <a:latin typeface="Liberation Serif"/>
              </a:rPr>
              <a:t>t+1</a:t>
            </a:r>
          </a:p>
        </p:txBody>
      </p:sp>
      <p:sp>
        <p:nvSpPr>
          <p:cNvPr id="175" name="Freeform 174"/>
          <p:cNvSpPr/>
          <p:nvPr/>
        </p:nvSpPr>
        <p:spPr>
          <a:xfrm>
            <a:off x="355600" y="1943100"/>
            <a:ext cx="1676400" cy="317500"/>
          </a:xfrm>
          <a:custGeom>
            <a:avLst/>
            <a:gdLst/>
            <a:ahLst/>
            <a:cxnLst/>
            <a:rect l="l" t="t" r="r" b="b"/>
            <a:pathLst>
              <a:path w="1676400" h="317500">
                <a:moveTo>
                  <a:pt x="0" y="0"/>
                </a:moveTo>
                <a:lnTo>
                  <a:pt x="0" y="317500"/>
                </a:lnTo>
                <a:lnTo>
                  <a:pt x="1676400" y="317500"/>
                </a:lnTo>
              </a:path>
            </a:pathLst>
          </a:custGeom>
          <a:noFill/>
          <a:ln w="10160">
            <a:solidFill>
              <a:srgbClr val="D55E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6" name="Rounded Rectangle 175"/>
          <p:cNvSpPr/>
          <p:nvPr/>
        </p:nvSpPr>
        <p:spPr>
          <a:xfrm>
            <a:off x="2032000" y="2159000"/>
            <a:ext cx="1600200" cy="203200"/>
          </a:xfrm>
          <a:prstGeom prst="roundRect">
            <a:avLst>
              <a:gd name="adj" fmla="val 12500"/>
            </a:avLst>
          </a:prstGeom>
          <a:solidFill>
            <a:srgbClr val="FFF8F2"/>
          </a:solidFill>
          <a:ln w="7620">
            <a:solidFill>
              <a:srgbClr val="D55E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2334269" y="2194560"/>
            <a:ext cx="70739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D55E00"/>
                </a:solidFill>
                <a:latin typeface="Liberation Serif"/>
              </a:rPr>
              <a:t>β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2385958" y="2228215"/>
            <a:ext cx="63500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D55E00"/>
                </a:solidFill>
                <a:latin typeface="Liberation Serif"/>
              </a:rPr>
              <a:t>k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2430408" y="2194560"/>
            <a:ext cx="256969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D55E00"/>
                </a:solidFill>
                <a:latin typeface="Liberation Serif"/>
              </a:rPr>
              <a:t> ← [β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2668327" y="2228215"/>
            <a:ext cx="63500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D55E00"/>
                </a:solidFill>
                <a:latin typeface="Liberation Serif"/>
              </a:rPr>
              <a:t>k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2712777" y="2194560"/>
            <a:ext cx="253651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D55E00"/>
                </a:solidFill>
                <a:latin typeface="Liberation Serif"/>
              </a:rPr>
              <a:t> + η(J̄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2947377" y="2228215"/>
            <a:ext cx="63500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D55E00"/>
                </a:solidFill>
                <a:latin typeface="Liberation Serif"/>
              </a:rPr>
              <a:t>k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2991827" y="2194560"/>
            <a:ext cx="194913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D55E00"/>
                </a:solidFill>
                <a:latin typeface="Liberation Serif"/>
              </a:rPr>
              <a:t> − B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3167691" y="2228215"/>
            <a:ext cx="63500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D55E00"/>
                </a:solidFill>
                <a:latin typeface="Liberation Serif"/>
              </a:rPr>
              <a:t>k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3212141" y="2194560"/>
            <a:ext cx="86709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D55E00"/>
                </a:solidFill>
                <a:latin typeface="Liberation Serif"/>
              </a:rPr>
              <a:t>)]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3279800" y="2228215"/>
            <a:ext cx="69181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D55E00"/>
                </a:solidFill>
                <a:latin typeface="Liberation Serif"/>
              </a:rPr>
              <a:t>+</a:t>
            </a:r>
          </a:p>
        </p:txBody>
      </p:sp>
      <p:sp>
        <p:nvSpPr>
          <p:cNvPr id="187" name="Freeform 186"/>
          <p:cNvSpPr/>
          <p:nvPr/>
        </p:nvSpPr>
        <p:spPr>
          <a:xfrm>
            <a:off x="3632200" y="787400"/>
            <a:ext cx="1308100" cy="1473200"/>
          </a:xfrm>
          <a:custGeom>
            <a:avLst/>
            <a:gdLst/>
            <a:ahLst/>
            <a:cxnLst/>
            <a:rect l="l" t="t" r="r" b="b"/>
            <a:pathLst>
              <a:path w="1308100" h="1473200">
                <a:moveTo>
                  <a:pt x="0" y="1473200"/>
                </a:moveTo>
                <a:lnTo>
                  <a:pt x="1308100" y="1473200"/>
                </a:lnTo>
                <a:lnTo>
                  <a:pt x="1308100" y="0"/>
                </a:lnTo>
              </a:path>
            </a:pathLst>
          </a:custGeom>
          <a:noFill/>
          <a:ln w="10160">
            <a:solidFill>
              <a:srgbClr val="D55E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88" name="Connector 187"/>
          <p:cNvCxnSpPr/>
          <p:nvPr/>
        </p:nvCxnSpPr>
        <p:spPr>
          <a:xfrm flipH="1">
            <a:off x="4864100" y="787400"/>
            <a:ext cx="76200" cy="0"/>
          </a:xfrm>
          <a:prstGeom prst="line">
            <a:avLst/>
          </a:prstGeom>
          <a:ln w="10160">
            <a:solidFill>
              <a:srgbClr val="D55E00"/>
            </a:solidFill>
            <a:tailEnd type="triangle" w="sm" len="sm"/>
          </a:ln>
          <a:effectLst/>
        </p:spPr>
      </p:cxnSp>
      <p:sp>
        <p:nvSpPr>
          <p:cNvPr id="189" name="Freeform 188"/>
          <p:cNvSpPr/>
          <p:nvPr/>
        </p:nvSpPr>
        <p:spPr>
          <a:xfrm>
            <a:off x="10160" y="495300"/>
            <a:ext cx="4491990" cy="2044700"/>
          </a:xfrm>
          <a:custGeom>
            <a:avLst/>
            <a:gdLst/>
            <a:ahLst/>
            <a:cxnLst/>
            <a:rect l="l" t="t" r="r" b="b"/>
            <a:pathLst>
              <a:path w="4491990" h="2044700">
                <a:moveTo>
                  <a:pt x="4491990" y="1498600"/>
                </a:moveTo>
                <a:lnTo>
                  <a:pt x="4491990" y="2044700"/>
                </a:lnTo>
                <a:lnTo>
                  <a:pt x="0" y="2044700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59636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90" name="Connector 189"/>
          <p:cNvCxnSpPr/>
          <p:nvPr/>
        </p:nvCxnSpPr>
        <p:spPr>
          <a:xfrm>
            <a:off x="10160" y="495300"/>
            <a:ext cx="104140" cy="0"/>
          </a:xfrm>
          <a:prstGeom prst="line">
            <a:avLst/>
          </a:prstGeom>
          <a:ln w="7620">
            <a:solidFill>
              <a:srgbClr val="59636A"/>
            </a:solidFill>
            <a:tailEnd type="triangle" w="sm" len="sm"/>
          </a:ln>
          <a:effectLst/>
        </p:spPr>
      </p:cxnSp>
      <p:sp>
        <p:nvSpPr>
          <p:cNvPr id="191" name="TextBox 190"/>
          <p:cNvSpPr txBox="1"/>
          <p:nvPr/>
        </p:nvSpPr>
        <p:spPr>
          <a:xfrm>
            <a:off x="762210" y="2406015"/>
            <a:ext cx="431379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9636A"/>
                </a:solidFill>
                <a:latin typeface="Liberation Serif"/>
              </a:rPr>
              <a:t>next rollout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2392236" y="2391664"/>
            <a:ext cx="879729" cy="11887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D55E00"/>
                </a:solidFill>
                <a:latin typeface="Liberation Serif"/>
              </a:rPr>
              <a:t>observed-cost feedback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1282204" y="2617788"/>
            <a:ext cx="2490192" cy="1238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59636A"/>
                </a:solidFill>
                <a:latin typeface="Liberation Serif"/>
              </a:rPr>
              <a:t>F* is a target, not executed; feedback corrects the realization gap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2000-01-01T00:00:00Z</dcterms:created>
  <dcterms:modified xsi:type="dcterms:W3CDTF">2000-01-01T00:00:00Z</dcterms:modified>
  <cp:category/>
  <dc:identifier/>
  <cp:contentStatus/>
</cp:coreProperties>
</file>