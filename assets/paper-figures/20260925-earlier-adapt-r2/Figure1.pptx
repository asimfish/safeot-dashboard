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3276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100" y="38100"/>
            <a:ext cx="1193800" cy="1600200"/>
          </a:xfrm>
          <a:prstGeom prst="roundRect">
            <a:avLst>
              <a:gd name="adj" fmla="val 3191"/>
            </a:avLst>
          </a:prstGeom>
          <a:solidFill>
            <a:srgbClr val="FAFAFC"/>
          </a:solidFill>
          <a:ln w="8255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20800" y="38100"/>
            <a:ext cx="2336800" cy="1600200"/>
          </a:xfrm>
          <a:prstGeom prst="roundRect">
            <a:avLst>
              <a:gd name="adj" fmla="val 2380"/>
            </a:avLst>
          </a:prstGeom>
          <a:solidFill>
            <a:srgbClr val="F4F9F8"/>
          </a:solidFill>
          <a:ln w="1143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746500" y="38100"/>
            <a:ext cx="1244600" cy="1600200"/>
          </a:xfrm>
          <a:prstGeom prst="roundRect">
            <a:avLst>
              <a:gd name="adj" fmla="val 3061"/>
            </a:avLst>
          </a:prstGeom>
          <a:solidFill>
            <a:srgbClr val="F9FBFC"/>
          </a:solidFill>
          <a:ln w="8255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1117" y="94932"/>
            <a:ext cx="687767" cy="14033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59636A"/>
                </a:solidFill>
                <a:latin typeface="Liberation Serif"/>
              </a:rPr>
              <a:t>Feedback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937" y="293688"/>
            <a:ext cx="556126" cy="1238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A0467E"/>
                </a:solidFill>
                <a:latin typeface="Liberation Serif"/>
              </a:rPr>
              <a:t>Penalty leaks</a:t>
            </a:r>
          </a:p>
        </p:txBody>
      </p:sp>
      <p:sp>
        <p:nvSpPr>
          <p:cNvPr id="7" name="Freeform 6"/>
          <p:cNvSpPr/>
          <p:nvPr/>
        </p:nvSpPr>
        <p:spPr>
          <a:xfrm>
            <a:off x="254000" y="482600"/>
            <a:ext cx="800100" cy="317500"/>
          </a:xfrm>
          <a:custGeom>
            <a:avLst/>
            <a:gdLst/>
            <a:ahLst/>
            <a:cxnLst/>
            <a:rect l="l" t="t" r="r" b="b"/>
            <a:pathLst>
              <a:path w="800100" h="317500">
                <a:moveTo>
                  <a:pt x="0" y="0"/>
                </a:moveTo>
                <a:lnTo>
                  <a:pt x="0" y="317500"/>
                </a:lnTo>
                <a:lnTo>
                  <a:pt x="800100" y="317500"/>
                </a:lnTo>
              </a:path>
            </a:pathLst>
          </a:custGeom>
          <a:noFill/>
          <a:ln w="635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254000" y="647700"/>
            <a:ext cx="800100" cy="0"/>
          </a:xfrm>
          <a:custGeom>
            <a:avLst/>
            <a:gdLst/>
            <a:ahLst/>
            <a:cxnLst/>
            <a:rect l="l" t="t" r="r" b="b"/>
            <a:pathLst>
              <a:path w="800100" h="0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/>
          <a:ln w="7620">
            <a:solidFill>
              <a:srgbClr val="59636A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551" y="589915"/>
            <a:ext cx="78349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B</a:t>
            </a:r>
          </a:p>
        </p:txBody>
      </p:sp>
      <p:sp>
        <p:nvSpPr>
          <p:cNvPr id="10" name="Freeform 9"/>
          <p:cNvSpPr/>
          <p:nvPr/>
        </p:nvSpPr>
        <p:spPr>
          <a:xfrm>
            <a:off x="254000" y="521278"/>
            <a:ext cx="800100" cy="253422"/>
          </a:xfrm>
          <a:custGeom>
            <a:avLst/>
            <a:gdLst/>
            <a:ahLst/>
            <a:cxnLst/>
            <a:rect l="l" t="t" r="r" b="b"/>
            <a:pathLst>
              <a:path w="800100" h="253422">
                <a:moveTo>
                  <a:pt x="0" y="253422"/>
                </a:moveTo>
                <a:lnTo>
                  <a:pt x="20515" y="233676"/>
                </a:lnTo>
                <a:lnTo>
                  <a:pt x="41031" y="215392"/>
                </a:lnTo>
                <a:lnTo>
                  <a:pt x="61546" y="198461"/>
                </a:lnTo>
                <a:lnTo>
                  <a:pt x="82062" y="182784"/>
                </a:lnTo>
                <a:lnTo>
                  <a:pt x="102577" y="168268"/>
                </a:lnTo>
                <a:lnTo>
                  <a:pt x="123092" y="154827"/>
                </a:lnTo>
                <a:lnTo>
                  <a:pt x="143608" y="142380"/>
                </a:lnTo>
                <a:lnTo>
                  <a:pt x="164123" y="130855"/>
                </a:lnTo>
                <a:lnTo>
                  <a:pt x="184638" y="120184"/>
                </a:lnTo>
                <a:lnTo>
                  <a:pt x="205154" y="110303"/>
                </a:lnTo>
                <a:lnTo>
                  <a:pt x="225669" y="101153"/>
                </a:lnTo>
                <a:lnTo>
                  <a:pt x="246185" y="92681"/>
                </a:lnTo>
                <a:lnTo>
                  <a:pt x="266700" y="84835"/>
                </a:lnTo>
                <a:lnTo>
                  <a:pt x="287215" y="77571"/>
                </a:lnTo>
                <a:lnTo>
                  <a:pt x="307731" y="70845"/>
                </a:lnTo>
                <a:lnTo>
                  <a:pt x="328246" y="64616"/>
                </a:lnTo>
                <a:lnTo>
                  <a:pt x="348762" y="58849"/>
                </a:lnTo>
                <a:lnTo>
                  <a:pt x="369277" y="53509"/>
                </a:lnTo>
                <a:lnTo>
                  <a:pt x="389792" y="48564"/>
                </a:lnTo>
                <a:lnTo>
                  <a:pt x="410308" y="43985"/>
                </a:lnTo>
                <a:lnTo>
                  <a:pt x="430823" y="39746"/>
                </a:lnTo>
                <a:lnTo>
                  <a:pt x="451338" y="35820"/>
                </a:lnTo>
                <a:lnTo>
                  <a:pt x="471854" y="32185"/>
                </a:lnTo>
                <a:lnTo>
                  <a:pt x="492369" y="28819"/>
                </a:lnTo>
                <a:lnTo>
                  <a:pt x="512885" y="25702"/>
                </a:lnTo>
                <a:lnTo>
                  <a:pt x="533400" y="22816"/>
                </a:lnTo>
                <a:lnTo>
                  <a:pt x="553915" y="20144"/>
                </a:lnTo>
                <a:lnTo>
                  <a:pt x="574431" y="17669"/>
                </a:lnTo>
                <a:lnTo>
                  <a:pt x="594946" y="15378"/>
                </a:lnTo>
                <a:lnTo>
                  <a:pt x="615462" y="13256"/>
                </a:lnTo>
                <a:lnTo>
                  <a:pt x="635977" y="11292"/>
                </a:lnTo>
                <a:lnTo>
                  <a:pt x="656492" y="9472"/>
                </a:lnTo>
                <a:lnTo>
                  <a:pt x="677008" y="7788"/>
                </a:lnTo>
                <a:lnTo>
                  <a:pt x="697523" y="6228"/>
                </a:lnTo>
                <a:lnTo>
                  <a:pt x="718038" y="4784"/>
                </a:lnTo>
                <a:lnTo>
                  <a:pt x="738554" y="3447"/>
                </a:lnTo>
                <a:lnTo>
                  <a:pt x="759069" y="2209"/>
                </a:lnTo>
                <a:lnTo>
                  <a:pt x="779585" y="1062"/>
                </a:lnTo>
                <a:lnTo>
                  <a:pt x="800100" y="0"/>
                </a:lnTo>
              </a:path>
            </a:pathLst>
          </a:custGeom>
          <a:noFill/>
          <a:ln w="13970">
            <a:solidFill>
              <a:srgbClr val="A0467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007" y="915988"/>
            <a:ext cx="677987" cy="1238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A0467E"/>
                </a:solidFill>
                <a:latin typeface="Liberation Serif"/>
              </a:rPr>
              <a:t>Lagrangian lags</a:t>
            </a:r>
          </a:p>
        </p:txBody>
      </p:sp>
      <p:sp>
        <p:nvSpPr>
          <p:cNvPr id="12" name="Freeform 11"/>
          <p:cNvSpPr/>
          <p:nvPr/>
        </p:nvSpPr>
        <p:spPr>
          <a:xfrm>
            <a:off x="254000" y="1117600"/>
            <a:ext cx="800100" cy="304800"/>
          </a:xfrm>
          <a:custGeom>
            <a:avLst/>
            <a:gdLst/>
            <a:ahLst/>
            <a:cxnLst/>
            <a:rect l="l" t="t" r="r" b="b"/>
            <a:pathLst>
              <a:path w="800100" h="304800">
                <a:moveTo>
                  <a:pt x="0" y="0"/>
                </a:moveTo>
                <a:lnTo>
                  <a:pt x="0" y="304800"/>
                </a:lnTo>
                <a:lnTo>
                  <a:pt x="800100" y="304800"/>
                </a:lnTo>
              </a:path>
            </a:pathLst>
          </a:custGeom>
          <a:noFill/>
          <a:ln w="635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254000" y="1282700"/>
            <a:ext cx="800100" cy="0"/>
          </a:xfrm>
          <a:custGeom>
            <a:avLst/>
            <a:gdLst/>
            <a:ahLst/>
            <a:cxnLst/>
            <a:rect l="l" t="t" r="r" b="b"/>
            <a:pathLst>
              <a:path w="800100" h="0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/>
          <a:ln w="7620">
            <a:solidFill>
              <a:srgbClr val="59636A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254000" y="1155846"/>
            <a:ext cx="800100" cy="253636"/>
          </a:xfrm>
          <a:custGeom>
            <a:avLst/>
            <a:gdLst/>
            <a:ahLst/>
            <a:cxnLst/>
            <a:rect l="l" t="t" r="r" b="b"/>
            <a:pathLst>
              <a:path w="800100" h="253636">
                <a:moveTo>
                  <a:pt x="0" y="126854"/>
                </a:moveTo>
                <a:lnTo>
                  <a:pt x="13561" y="107989"/>
                </a:lnTo>
                <a:lnTo>
                  <a:pt x="27122" y="89543"/>
                </a:lnTo>
                <a:lnTo>
                  <a:pt x="40683" y="71925"/>
                </a:lnTo>
                <a:lnTo>
                  <a:pt x="54244" y="55525"/>
                </a:lnTo>
                <a:lnTo>
                  <a:pt x="67805" y="40708"/>
                </a:lnTo>
                <a:lnTo>
                  <a:pt x="81366" y="27803"/>
                </a:lnTo>
                <a:lnTo>
                  <a:pt x="94927" y="17095"/>
                </a:lnTo>
                <a:lnTo>
                  <a:pt x="108488" y="8822"/>
                </a:lnTo>
                <a:lnTo>
                  <a:pt x="122049" y="3168"/>
                </a:lnTo>
                <a:lnTo>
                  <a:pt x="135610" y="259"/>
                </a:lnTo>
                <a:lnTo>
                  <a:pt x="149171" y="158"/>
                </a:lnTo>
                <a:lnTo>
                  <a:pt x="162732" y="2868"/>
                </a:lnTo>
                <a:lnTo>
                  <a:pt x="176293" y="8330"/>
                </a:lnTo>
                <a:lnTo>
                  <a:pt x="189854" y="16421"/>
                </a:lnTo>
                <a:lnTo>
                  <a:pt x="203415" y="26962"/>
                </a:lnTo>
                <a:lnTo>
                  <a:pt x="216976" y="39720"/>
                </a:lnTo>
                <a:lnTo>
                  <a:pt x="230537" y="54410"/>
                </a:lnTo>
                <a:lnTo>
                  <a:pt x="244098" y="70709"/>
                </a:lnTo>
                <a:lnTo>
                  <a:pt x="257659" y="88253"/>
                </a:lnTo>
                <a:lnTo>
                  <a:pt x="271220" y="106653"/>
                </a:lnTo>
                <a:lnTo>
                  <a:pt x="284781" y="125502"/>
                </a:lnTo>
                <a:lnTo>
                  <a:pt x="298342" y="144380"/>
                </a:lnTo>
                <a:lnTo>
                  <a:pt x="311903" y="162870"/>
                </a:lnTo>
                <a:lnTo>
                  <a:pt x="325464" y="180561"/>
                </a:lnTo>
                <a:lnTo>
                  <a:pt x="339025" y="197060"/>
                </a:lnTo>
                <a:lnTo>
                  <a:pt x="352586" y="212001"/>
                </a:lnTo>
                <a:lnTo>
                  <a:pt x="366147" y="225053"/>
                </a:lnTo>
                <a:lnTo>
                  <a:pt x="379708" y="235927"/>
                </a:lnTo>
                <a:lnTo>
                  <a:pt x="393269" y="244380"/>
                </a:lnTo>
                <a:lnTo>
                  <a:pt x="406831" y="250226"/>
                </a:lnTo>
                <a:lnTo>
                  <a:pt x="420392" y="253334"/>
                </a:lnTo>
                <a:lnTo>
                  <a:pt x="433953" y="253636"/>
                </a:lnTo>
                <a:lnTo>
                  <a:pt x="447514" y="251125"/>
                </a:lnTo>
                <a:lnTo>
                  <a:pt x="461075" y="245857"/>
                </a:lnTo>
                <a:lnTo>
                  <a:pt x="474636" y="237949"/>
                </a:lnTo>
                <a:lnTo>
                  <a:pt x="488197" y="227576"/>
                </a:lnTo>
                <a:lnTo>
                  <a:pt x="501758" y="214967"/>
                </a:lnTo>
                <a:lnTo>
                  <a:pt x="515319" y="200404"/>
                </a:lnTo>
                <a:lnTo>
                  <a:pt x="528880" y="184209"/>
                </a:lnTo>
                <a:lnTo>
                  <a:pt x="542441" y="166742"/>
                </a:lnTo>
                <a:lnTo>
                  <a:pt x="556002" y="148389"/>
                </a:lnTo>
                <a:lnTo>
                  <a:pt x="569563" y="129559"/>
                </a:lnTo>
                <a:lnTo>
                  <a:pt x="583124" y="110668"/>
                </a:lnTo>
                <a:lnTo>
                  <a:pt x="596685" y="92137"/>
                </a:lnTo>
                <a:lnTo>
                  <a:pt x="610246" y="74376"/>
                </a:lnTo>
                <a:lnTo>
                  <a:pt x="623807" y="57779"/>
                </a:lnTo>
                <a:lnTo>
                  <a:pt x="637368" y="42715"/>
                </a:lnTo>
                <a:lnTo>
                  <a:pt x="650929" y="29518"/>
                </a:lnTo>
                <a:lnTo>
                  <a:pt x="664490" y="18480"/>
                </a:lnTo>
                <a:lnTo>
                  <a:pt x="678051" y="9847"/>
                </a:lnTo>
                <a:lnTo>
                  <a:pt x="691612" y="3810"/>
                </a:lnTo>
                <a:lnTo>
                  <a:pt x="705173" y="503"/>
                </a:lnTo>
                <a:lnTo>
                  <a:pt x="718734" y="0"/>
                </a:lnTo>
                <a:lnTo>
                  <a:pt x="732295" y="2311"/>
                </a:lnTo>
                <a:lnTo>
                  <a:pt x="745856" y="7385"/>
                </a:lnTo>
                <a:lnTo>
                  <a:pt x="759417" y="15110"/>
                </a:lnTo>
                <a:lnTo>
                  <a:pt x="772978" y="25314"/>
                </a:lnTo>
                <a:lnTo>
                  <a:pt x="786539" y="37772"/>
                </a:lnTo>
                <a:lnTo>
                  <a:pt x="800100" y="52205"/>
                </a:lnTo>
              </a:path>
            </a:pathLst>
          </a:custGeom>
          <a:noFill/>
          <a:ln w="12700">
            <a:solidFill>
              <a:srgbClr val="A0467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54000" y="1168400"/>
            <a:ext cx="800100" cy="228600"/>
          </a:xfrm>
          <a:custGeom>
            <a:avLst/>
            <a:gdLst/>
            <a:ahLst/>
            <a:cxnLst/>
            <a:rect l="l" t="t" r="r" b="b"/>
            <a:pathLst>
              <a:path w="800100" h="228600">
                <a:moveTo>
                  <a:pt x="0" y="228600"/>
                </a:moveTo>
                <a:lnTo>
                  <a:pt x="13561" y="228600"/>
                </a:lnTo>
                <a:lnTo>
                  <a:pt x="27122" y="226065"/>
                </a:lnTo>
                <a:lnTo>
                  <a:pt x="40683" y="221051"/>
                </a:lnTo>
                <a:lnTo>
                  <a:pt x="54244" y="213669"/>
                </a:lnTo>
                <a:lnTo>
                  <a:pt x="67805" y="204084"/>
                </a:lnTo>
                <a:lnTo>
                  <a:pt x="81366" y="192508"/>
                </a:lnTo>
                <a:lnTo>
                  <a:pt x="94927" y="179197"/>
                </a:lnTo>
                <a:lnTo>
                  <a:pt x="108488" y="164447"/>
                </a:lnTo>
                <a:lnTo>
                  <a:pt x="122049" y="148586"/>
                </a:lnTo>
                <a:lnTo>
                  <a:pt x="135610" y="131964"/>
                </a:lnTo>
                <a:lnTo>
                  <a:pt x="149171" y="114952"/>
                </a:lnTo>
                <a:lnTo>
                  <a:pt x="162732" y="97927"/>
                </a:lnTo>
                <a:lnTo>
                  <a:pt x="176293" y="81265"/>
                </a:lnTo>
                <a:lnTo>
                  <a:pt x="189854" y="65337"/>
                </a:lnTo>
                <a:lnTo>
                  <a:pt x="203415" y="50497"/>
                </a:lnTo>
                <a:lnTo>
                  <a:pt x="216976" y="37073"/>
                </a:lnTo>
                <a:lnTo>
                  <a:pt x="230537" y="25364"/>
                </a:lnTo>
                <a:lnTo>
                  <a:pt x="244098" y="15629"/>
                </a:lnTo>
                <a:lnTo>
                  <a:pt x="257659" y="8084"/>
                </a:lnTo>
                <a:lnTo>
                  <a:pt x="271220" y="2896"/>
                </a:lnTo>
                <a:lnTo>
                  <a:pt x="284781" y="182"/>
                </a:lnTo>
                <a:lnTo>
                  <a:pt x="298342" y="0"/>
                </a:lnTo>
                <a:lnTo>
                  <a:pt x="311903" y="2355"/>
                </a:lnTo>
                <a:lnTo>
                  <a:pt x="325464" y="7195"/>
                </a:lnTo>
                <a:lnTo>
                  <a:pt x="339025" y="14412"/>
                </a:lnTo>
                <a:lnTo>
                  <a:pt x="352586" y="23847"/>
                </a:lnTo>
                <a:lnTo>
                  <a:pt x="366147" y="35289"/>
                </a:lnTo>
                <a:lnTo>
                  <a:pt x="379708" y="48485"/>
                </a:lnTo>
                <a:lnTo>
                  <a:pt x="393269" y="63143"/>
                </a:lnTo>
                <a:lnTo>
                  <a:pt x="406831" y="78936"/>
                </a:lnTo>
                <a:lnTo>
                  <a:pt x="420392" y="95515"/>
                </a:lnTo>
                <a:lnTo>
                  <a:pt x="433953" y="112512"/>
                </a:lnTo>
                <a:lnTo>
                  <a:pt x="447514" y="129549"/>
                </a:lnTo>
                <a:lnTo>
                  <a:pt x="461075" y="146249"/>
                </a:lnTo>
                <a:lnTo>
                  <a:pt x="474636" y="162241"/>
                </a:lnTo>
                <a:lnTo>
                  <a:pt x="488197" y="177171"/>
                </a:lnTo>
                <a:lnTo>
                  <a:pt x="501758" y="190706"/>
                </a:lnTo>
                <a:lnTo>
                  <a:pt x="515319" y="202547"/>
                </a:lnTo>
                <a:lnTo>
                  <a:pt x="528880" y="212431"/>
                </a:lnTo>
                <a:lnTo>
                  <a:pt x="542441" y="220138"/>
                </a:lnTo>
                <a:lnTo>
                  <a:pt x="556002" y="225498"/>
                </a:lnTo>
                <a:lnTo>
                  <a:pt x="569563" y="228392"/>
                </a:lnTo>
                <a:lnTo>
                  <a:pt x="583124" y="228600"/>
                </a:lnTo>
                <a:lnTo>
                  <a:pt x="596685" y="226425"/>
                </a:lnTo>
                <a:lnTo>
                  <a:pt x="610246" y="221760"/>
                </a:lnTo>
                <a:lnTo>
                  <a:pt x="623807" y="214707"/>
                </a:lnTo>
                <a:lnTo>
                  <a:pt x="637368" y="205425"/>
                </a:lnTo>
                <a:lnTo>
                  <a:pt x="650929" y="194118"/>
                </a:lnTo>
                <a:lnTo>
                  <a:pt x="664490" y="181038"/>
                </a:lnTo>
                <a:lnTo>
                  <a:pt x="678051" y="166474"/>
                </a:lnTo>
                <a:lnTo>
                  <a:pt x="691612" y="150751"/>
                </a:lnTo>
                <a:lnTo>
                  <a:pt x="705173" y="134216"/>
                </a:lnTo>
                <a:lnTo>
                  <a:pt x="718734" y="117236"/>
                </a:lnTo>
                <a:lnTo>
                  <a:pt x="732295" y="100189"/>
                </a:lnTo>
                <a:lnTo>
                  <a:pt x="745856" y="83453"/>
                </a:lnTo>
                <a:lnTo>
                  <a:pt x="759417" y="67398"/>
                </a:lnTo>
                <a:lnTo>
                  <a:pt x="772978" y="52382"/>
                </a:lnTo>
                <a:lnTo>
                  <a:pt x="786539" y="38737"/>
                </a:lnTo>
                <a:lnTo>
                  <a:pt x="800100" y="26766"/>
                </a:lnTo>
              </a:path>
            </a:pathLst>
          </a:custGeom>
          <a:noFill/>
          <a:ln w="12700">
            <a:solidFill>
              <a:srgbClr val="D55E0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9500" y="1123315"/>
            <a:ext cx="64278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D55E00"/>
                </a:solidFill>
                <a:latin typeface="Liberation Serif"/>
              </a:rPr>
              <a:t>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059" y="1478915"/>
            <a:ext cx="1003881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violate → react (schematic)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25623" y="95250"/>
            <a:ext cx="727154" cy="165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72B2"/>
                </a:solidFill>
                <a:latin typeface="Liberation Serif"/>
              </a:rPr>
              <a:t>SafeOT-Dual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33181" y="299784"/>
            <a:ext cx="912037" cy="13703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167C80"/>
                </a:solidFill>
                <a:latin typeface="Liberation Serif"/>
              </a:rPr>
              <a:t>One joint flow solve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35100" y="546100"/>
            <a:ext cx="317500" cy="2159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635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466850" y="514350"/>
            <a:ext cx="317500" cy="2159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635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498600" y="482600"/>
            <a:ext cx="317500" cy="2159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635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5750" y="548005"/>
            <a:ext cx="76200" cy="148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36A"/>
                </a:solidFill>
                <a:latin typeface="Liberation Serif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12900" y="602615"/>
            <a:ext cx="1524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1:K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816100" y="647700"/>
            <a:ext cx="139700" cy="0"/>
          </a:xfrm>
          <a:prstGeom prst="line">
            <a:avLst/>
          </a:prstGeom>
          <a:ln w="10160">
            <a:solidFill>
              <a:srgbClr val="167C80"/>
            </a:solidFill>
            <a:tailEnd type="triangle" w="sm" len="sm"/>
          </a:ln>
          <a:effectLst/>
        </p:spPr>
      </p:cxnSp>
      <p:sp>
        <p:nvSpPr>
          <p:cNvPr id="26" name="Freeform 25"/>
          <p:cNvSpPr/>
          <p:nvPr/>
        </p:nvSpPr>
        <p:spPr>
          <a:xfrm>
            <a:off x="2454910" y="533400"/>
            <a:ext cx="535686" cy="0"/>
          </a:xfrm>
          <a:custGeom>
            <a:avLst/>
            <a:gdLst/>
            <a:ahLst/>
            <a:cxnLst/>
            <a:rect l="l" t="t" r="r" b="b"/>
            <a:pathLst>
              <a:path w="535686" h="0">
                <a:moveTo>
                  <a:pt x="0" y="0"/>
                </a:moveTo>
                <a:lnTo>
                  <a:pt x="535686" y="0"/>
                </a:lnTo>
              </a:path>
            </a:pathLst>
          </a:custGeom>
          <a:noFill/>
          <a:ln w="45720">
            <a:solidFill>
              <a:srgbClr val="F3D4B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2032000" y="533400"/>
            <a:ext cx="422910" cy="152400"/>
          </a:xfrm>
          <a:custGeom>
            <a:avLst/>
            <a:gdLst/>
            <a:ahLst/>
            <a:cxnLst/>
            <a:rect l="l" t="t" r="r" b="b"/>
            <a:pathLst>
              <a:path w="422910" h="152400">
                <a:moveTo>
                  <a:pt x="0" y="152400"/>
                </a:moveTo>
                <a:lnTo>
                  <a:pt x="422910" y="0"/>
                </a:lnTo>
              </a:path>
            </a:pathLst>
          </a:custGeom>
          <a:noFill/>
          <a:ln w="35560">
            <a:solidFill>
              <a:srgbClr val="D8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2032000" y="533400"/>
            <a:ext cx="422910" cy="152400"/>
          </a:xfrm>
          <a:custGeom>
            <a:avLst/>
            <a:gdLst/>
            <a:ahLst/>
            <a:cxnLst/>
            <a:rect l="l" t="t" r="r" b="b"/>
            <a:pathLst>
              <a:path w="422910" h="152400">
                <a:moveTo>
                  <a:pt x="0" y="152400"/>
                </a:moveTo>
                <a:lnTo>
                  <a:pt x="422910" y="0"/>
                </a:lnTo>
              </a:path>
            </a:pathLst>
          </a:custGeom>
          <a:noFill/>
          <a:ln w="8255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2454910" y="533400"/>
            <a:ext cx="535686" cy="0"/>
          </a:xfrm>
          <a:custGeom>
            <a:avLst/>
            <a:gdLst/>
            <a:ahLst/>
            <a:cxnLst/>
            <a:rect l="l" t="t" r="r" b="b"/>
            <a:pathLst>
              <a:path w="535686" h="0">
                <a:moveTo>
                  <a:pt x="0" y="0"/>
                </a:moveTo>
                <a:lnTo>
                  <a:pt x="535686" y="0"/>
                </a:lnTo>
              </a:path>
            </a:pathLst>
          </a:custGeom>
          <a:noFill/>
          <a:ln w="35560">
            <a:solidFill>
              <a:srgbClr val="D8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2454910" y="533400"/>
            <a:ext cx="535686" cy="0"/>
          </a:xfrm>
          <a:custGeom>
            <a:avLst/>
            <a:gdLst/>
            <a:ahLst/>
            <a:cxnLst/>
            <a:rect l="l" t="t" r="r" b="b"/>
            <a:pathLst>
              <a:path w="535686" h="0">
                <a:moveTo>
                  <a:pt x="0" y="0"/>
                </a:moveTo>
                <a:lnTo>
                  <a:pt x="535686" y="0"/>
                </a:lnTo>
              </a:path>
            </a:pathLst>
          </a:custGeom>
          <a:noFill/>
          <a:ln w="8255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2990596" y="533400"/>
            <a:ext cx="451104" cy="152400"/>
          </a:xfrm>
          <a:custGeom>
            <a:avLst/>
            <a:gdLst/>
            <a:ahLst/>
            <a:cxnLst/>
            <a:rect l="l" t="t" r="r" b="b"/>
            <a:pathLst>
              <a:path w="451104" h="152400">
                <a:moveTo>
                  <a:pt x="0" y="0"/>
                </a:moveTo>
                <a:lnTo>
                  <a:pt x="451104" y="152400"/>
                </a:lnTo>
              </a:path>
            </a:pathLst>
          </a:custGeom>
          <a:noFill/>
          <a:ln w="35560">
            <a:solidFill>
              <a:srgbClr val="D8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2990596" y="533400"/>
            <a:ext cx="451104" cy="152400"/>
          </a:xfrm>
          <a:custGeom>
            <a:avLst/>
            <a:gdLst/>
            <a:ahLst/>
            <a:cxnLst/>
            <a:rect l="l" t="t" r="r" b="b"/>
            <a:pathLst>
              <a:path w="451104" h="152400">
                <a:moveTo>
                  <a:pt x="0" y="0"/>
                </a:moveTo>
                <a:lnTo>
                  <a:pt x="451104" y="152400"/>
                </a:lnTo>
              </a:path>
            </a:pathLst>
          </a:custGeom>
          <a:noFill/>
          <a:ln w="8255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2032000" y="685800"/>
            <a:ext cx="422910" cy="152400"/>
          </a:xfrm>
          <a:custGeom>
            <a:avLst/>
            <a:gdLst/>
            <a:ahLst/>
            <a:cxnLst/>
            <a:rect l="l" t="t" r="r" b="b"/>
            <a:pathLst>
              <a:path w="422910" h="152400">
                <a:moveTo>
                  <a:pt x="0" y="0"/>
                </a:moveTo>
                <a:lnTo>
                  <a:pt x="422910" y="152400"/>
                </a:lnTo>
              </a:path>
            </a:pathLst>
          </a:custGeom>
          <a:noFill/>
          <a:ln w="10160">
            <a:solidFill>
              <a:srgbClr val="D8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2032000" y="685800"/>
            <a:ext cx="422910" cy="152400"/>
          </a:xfrm>
          <a:custGeom>
            <a:avLst/>
            <a:gdLst/>
            <a:ahLst/>
            <a:cxnLst/>
            <a:rect l="l" t="t" r="r" b="b"/>
            <a:pathLst>
              <a:path w="422910" h="152400">
                <a:moveTo>
                  <a:pt x="0" y="0"/>
                </a:moveTo>
                <a:lnTo>
                  <a:pt x="422910" y="152400"/>
                </a:lnTo>
              </a:path>
            </a:pathLst>
          </a:custGeom>
          <a:noFill/>
          <a:ln w="2540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2454910" y="838200"/>
            <a:ext cx="535686" cy="0"/>
          </a:xfrm>
          <a:custGeom>
            <a:avLst/>
            <a:gdLst/>
            <a:ahLst/>
            <a:cxnLst/>
            <a:rect l="l" t="t" r="r" b="b"/>
            <a:pathLst>
              <a:path w="535686" h="0">
                <a:moveTo>
                  <a:pt x="0" y="0"/>
                </a:moveTo>
                <a:lnTo>
                  <a:pt x="535686" y="0"/>
                </a:lnTo>
              </a:path>
            </a:pathLst>
          </a:custGeom>
          <a:noFill/>
          <a:ln w="10160">
            <a:solidFill>
              <a:srgbClr val="D8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2454910" y="838200"/>
            <a:ext cx="535686" cy="0"/>
          </a:xfrm>
          <a:custGeom>
            <a:avLst/>
            <a:gdLst/>
            <a:ahLst/>
            <a:cxnLst/>
            <a:rect l="l" t="t" r="r" b="b"/>
            <a:pathLst>
              <a:path w="535686" h="0">
                <a:moveTo>
                  <a:pt x="0" y="0"/>
                </a:moveTo>
                <a:lnTo>
                  <a:pt x="535686" y="0"/>
                </a:lnTo>
              </a:path>
            </a:pathLst>
          </a:custGeom>
          <a:noFill/>
          <a:ln w="2540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2990596" y="685800"/>
            <a:ext cx="451104" cy="152400"/>
          </a:xfrm>
          <a:custGeom>
            <a:avLst/>
            <a:gdLst/>
            <a:ahLst/>
            <a:cxnLst/>
            <a:rect l="l" t="t" r="r" b="b"/>
            <a:pathLst>
              <a:path w="451104" h="152400">
                <a:moveTo>
                  <a:pt x="0" y="152400"/>
                </a:moveTo>
                <a:lnTo>
                  <a:pt x="451104" y="0"/>
                </a:lnTo>
              </a:path>
            </a:pathLst>
          </a:custGeom>
          <a:noFill/>
          <a:ln w="10160">
            <a:solidFill>
              <a:srgbClr val="D8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2990596" y="685800"/>
            <a:ext cx="451104" cy="152400"/>
          </a:xfrm>
          <a:custGeom>
            <a:avLst/>
            <a:gdLst/>
            <a:ahLst/>
            <a:cxnLst/>
            <a:rect l="l" t="t" r="r" b="b"/>
            <a:pathLst>
              <a:path w="451104" h="152400">
                <a:moveTo>
                  <a:pt x="0" y="152400"/>
                </a:moveTo>
                <a:lnTo>
                  <a:pt x="451104" y="0"/>
                </a:lnTo>
              </a:path>
            </a:pathLst>
          </a:custGeom>
          <a:noFill/>
          <a:ln w="2540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2454910" y="533400"/>
            <a:ext cx="535686" cy="304800"/>
          </a:xfrm>
          <a:custGeom>
            <a:avLst/>
            <a:gdLst/>
            <a:ahLst/>
            <a:cxnLst/>
            <a:rect l="l" t="t" r="r" b="b"/>
            <a:pathLst>
              <a:path w="535686" h="304800">
                <a:moveTo>
                  <a:pt x="0" y="0"/>
                </a:moveTo>
                <a:lnTo>
                  <a:pt x="535686" y="304800"/>
                </a:lnTo>
              </a:path>
            </a:pathLst>
          </a:custGeom>
          <a:noFill/>
          <a:ln w="8255">
            <a:solidFill>
              <a:srgbClr val="C43C39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2697353" y="6604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50800" y="50800"/>
                </a:lnTo>
              </a:path>
            </a:pathLst>
          </a:custGeom>
          <a:noFill/>
          <a:ln w="10160">
            <a:solidFill>
              <a:srgbClr val="C43C3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697353" y="6604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50800"/>
                </a:moveTo>
                <a:lnTo>
                  <a:pt x="50800" y="0"/>
                </a:lnTo>
              </a:path>
            </a:pathLst>
          </a:custGeom>
          <a:noFill/>
          <a:ln w="10160">
            <a:solidFill>
              <a:srgbClr val="C43C3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010410" y="664210"/>
            <a:ext cx="43180" cy="43180"/>
          </a:xfrm>
          <a:prstGeom prst="ellipse">
            <a:avLst/>
          </a:prstGeom>
          <a:solidFill>
            <a:srgbClr val="FFFFFF"/>
          </a:solidFill>
          <a:ln w="762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433320" y="511810"/>
            <a:ext cx="43180" cy="43180"/>
          </a:xfrm>
          <a:prstGeom prst="ellipse">
            <a:avLst/>
          </a:prstGeom>
          <a:solidFill>
            <a:srgbClr val="FFFFFF"/>
          </a:solidFill>
          <a:ln w="762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969006" y="511810"/>
            <a:ext cx="43180" cy="43180"/>
          </a:xfrm>
          <a:prstGeom prst="ellipse">
            <a:avLst/>
          </a:prstGeom>
          <a:solidFill>
            <a:srgbClr val="FFFFFF"/>
          </a:solidFill>
          <a:ln w="762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420110" y="664210"/>
            <a:ext cx="43180" cy="43180"/>
          </a:xfrm>
          <a:prstGeom prst="ellipse">
            <a:avLst/>
          </a:prstGeom>
          <a:solidFill>
            <a:srgbClr val="167C80"/>
          </a:solidFill>
          <a:ln w="762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969006" y="816610"/>
            <a:ext cx="43180" cy="43180"/>
          </a:xfrm>
          <a:prstGeom prst="ellipse">
            <a:avLst/>
          </a:prstGeom>
          <a:solidFill>
            <a:srgbClr val="FFFFFF"/>
          </a:solidFill>
          <a:ln w="762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433320" y="816610"/>
            <a:ext cx="43180" cy="43180"/>
          </a:xfrm>
          <a:prstGeom prst="ellipse">
            <a:avLst/>
          </a:prstGeom>
          <a:solidFill>
            <a:srgbClr val="FFFFFF"/>
          </a:solidFill>
          <a:ln w="762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945945" y="424815"/>
            <a:ext cx="172111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start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42945" y="424815"/>
            <a:ext cx="172111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goal</a:t>
            </a:r>
          </a:p>
        </p:txBody>
      </p:sp>
      <p:sp>
        <p:nvSpPr>
          <p:cNvPr id="50" name="Freeform 49"/>
          <p:cNvSpPr/>
          <p:nvPr/>
        </p:nvSpPr>
        <p:spPr>
          <a:xfrm>
            <a:off x="1473200" y="901700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/>
          <a:ln w="26670">
            <a:solidFill>
              <a:srgbClr val="D8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625600" y="835660"/>
            <a:ext cx="75549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636A"/>
                </a:solidFill>
                <a:latin typeface="Liberation Serif"/>
              </a:rPr>
              <a:t>F̂</a:t>
            </a:r>
          </a:p>
        </p:txBody>
      </p:sp>
      <p:sp>
        <p:nvSpPr>
          <p:cNvPr id="52" name="Freeform 51"/>
          <p:cNvSpPr/>
          <p:nvPr/>
        </p:nvSpPr>
        <p:spPr>
          <a:xfrm>
            <a:off x="1968500" y="901700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/>
          <a:ln w="2032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120900" y="835660"/>
            <a:ext cx="126349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67C80"/>
                </a:solidFill>
                <a:latin typeface="Liberation Serif"/>
              </a:rPr>
              <a:t>F*</a:t>
            </a:r>
          </a:p>
        </p:txBody>
      </p:sp>
      <p:sp>
        <p:nvSpPr>
          <p:cNvPr id="54" name="Freeform 53"/>
          <p:cNvSpPr/>
          <p:nvPr/>
        </p:nvSpPr>
        <p:spPr>
          <a:xfrm>
            <a:off x="2552700" y="901700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/>
          <a:ln w="30480">
            <a:solidFill>
              <a:srgbClr val="E4A96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05100" y="843915"/>
            <a:ext cx="23141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costly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75000" y="843915"/>
            <a:ext cx="24937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43C39"/>
                </a:solidFill>
                <a:latin typeface="Liberation Serif"/>
              </a:rPr>
              <a:t>× hard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237263" y="958215"/>
            <a:ext cx="503874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width = visits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71303" y="1111250"/>
            <a:ext cx="80625" cy="165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72B2"/>
                </a:solidFill>
                <a:latin typeface="Liberation Serif"/>
              </a:rPr>
              <a:t>λ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32878" y="11741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0072B2"/>
                </a:solidFill>
                <a:latin typeface="Liberation Serif"/>
              </a:rPr>
              <a:t>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277328" y="1111250"/>
            <a:ext cx="154166" cy="165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36A"/>
                </a:solidFill>
                <a:latin typeface="Liberation Serif"/>
              </a:rPr>
              <a:t> =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412444" y="1111250"/>
            <a:ext cx="80625" cy="165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67C80"/>
                </a:solidFill>
                <a:latin typeface="Liberation Serif"/>
              </a:rPr>
              <a:t>λ̄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474020" y="10852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67C80"/>
                </a:solidFill>
                <a:latin typeface="Liberation Serif"/>
              </a:rPr>
              <a:t>*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518470" y="11741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67C80"/>
                </a:solidFill>
                <a:latin typeface="Liberation Serif"/>
              </a:rPr>
              <a:t>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562920" y="1111250"/>
            <a:ext cx="154166" cy="165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36A"/>
                </a:solidFill>
                <a:latin typeface="Liberation Serif"/>
              </a:rPr>
              <a:t> +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698036" y="1111250"/>
            <a:ext cx="83661" cy="165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55E00"/>
                </a:solidFill>
                <a:latin typeface="Liberation Serif"/>
              </a:rPr>
              <a:t>β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762647" y="11741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D55E00"/>
                </a:solidFill>
                <a:latin typeface="Liberation Serif"/>
              </a:rPr>
              <a:t>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601713" y="1313815"/>
            <a:ext cx="631974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67C80"/>
                </a:solidFill>
                <a:latin typeface="Liberation Serif"/>
              </a:rPr>
              <a:t>clipped + filtered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959346" y="1267460"/>
            <a:ext cx="58595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D55E00"/>
                </a:solidFill>
                <a:latin typeface="Liberation Serif"/>
              </a:rPr>
              <a:t>J̄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998891" y="13011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D55E00"/>
                </a:solidFill>
                <a:latin typeface="Liberation Serif"/>
              </a:rPr>
              <a:t>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043341" y="1267460"/>
            <a:ext cx="194913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D55E00"/>
                </a:solidFill>
                <a:latin typeface="Liberation Serif"/>
              </a:rPr>
              <a:t> − 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19204" y="13011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D55E00"/>
                </a:solidFill>
                <a:latin typeface="Liberation Serif"/>
              </a:rPr>
              <a:t>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66973" y="1453515"/>
            <a:ext cx="339854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D55E00"/>
                </a:solidFill>
                <a:latin typeface="Liberation Serif"/>
              </a:rPr>
              <a:t>feedback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2489200" y="1397000"/>
            <a:ext cx="0" cy="63500"/>
          </a:xfrm>
          <a:prstGeom prst="line">
            <a:avLst/>
          </a:prstGeom>
          <a:ln w="10160">
            <a:solidFill>
              <a:srgbClr val="0072B2"/>
            </a:solidFill>
            <a:tailEnd type="triangle" w="sm" len="sm"/>
          </a:ln>
          <a:effectLst/>
        </p:spPr>
      </p:cxnSp>
      <p:sp>
        <p:nvSpPr>
          <p:cNvPr id="74" name="TextBox 73"/>
          <p:cNvSpPr txBox="1"/>
          <p:nvPr/>
        </p:nvSpPr>
        <p:spPr>
          <a:xfrm>
            <a:off x="2260673" y="1462405"/>
            <a:ext cx="101596" cy="148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72B2"/>
                </a:solidFill>
                <a:latin typeface="Liberation Serif"/>
              </a:rPr>
              <a:t>Ã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343219" y="1462405"/>
            <a:ext cx="190500" cy="148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72B2"/>
                </a:solidFill>
                <a:latin typeface="Liberation Serif"/>
              </a:rPr>
              <a:t> → 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514669" y="1470660"/>
            <a:ext cx="222107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636A"/>
                </a:solidFill>
                <a:latin typeface="Liberation Serif"/>
              </a:rPr>
              <a:t>actor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048851" y="107632"/>
            <a:ext cx="639897" cy="14033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67C80"/>
                </a:solidFill>
                <a:latin typeface="Liberation Serif"/>
              </a:rPr>
              <a:t>Joint budgets</a:t>
            </a:r>
          </a:p>
        </p:txBody>
      </p:sp>
      <p:sp>
        <p:nvSpPr>
          <p:cNvPr id="78" name="Freeform 77"/>
          <p:cNvSpPr/>
          <p:nvPr/>
        </p:nvSpPr>
        <p:spPr>
          <a:xfrm>
            <a:off x="3898900" y="660400"/>
            <a:ext cx="508000" cy="533400"/>
          </a:xfrm>
          <a:custGeom>
            <a:avLst/>
            <a:gdLst/>
            <a:ahLst/>
            <a:cxnLst/>
            <a:rect l="l" t="t" r="r" b="b"/>
            <a:pathLst>
              <a:path w="508000" h="533400">
                <a:moveTo>
                  <a:pt x="0" y="533400"/>
                </a:moveTo>
                <a:lnTo>
                  <a:pt x="508000" y="533400"/>
                </a:lnTo>
                <a:lnTo>
                  <a:pt x="508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E9F3F2"/>
          </a:solidFill>
          <a:ln w="762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3898900" y="1193800"/>
            <a:ext cx="1028700" cy="0"/>
          </a:xfrm>
          <a:prstGeom prst="line">
            <a:avLst/>
          </a:prstGeom>
          <a:ln w="6350">
            <a:solidFill>
              <a:srgbClr val="59636A"/>
            </a:solidFill>
            <a:tailEnd type="triangle" w="sm" len="sm"/>
          </a:ln>
          <a:effectLst/>
        </p:spPr>
      </p:cxnSp>
      <p:cxnSp>
        <p:nvCxnSpPr>
          <p:cNvPr id="80" name="Connector 79"/>
          <p:cNvCxnSpPr/>
          <p:nvPr/>
        </p:nvCxnSpPr>
        <p:spPr>
          <a:xfrm flipV="1">
            <a:off x="3898900" y="419100"/>
            <a:ext cx="0" cy="774700"/>
          </a:xfrm>
          <a:prstGeom prst="line">
            <a:avLst/>
          </a:prstGeom>
          <a:ln w="6350">
            <a:solidFill>
              <a:srgbClr val="59636A"/>
            </a:solidFill>
            <a:tailEnd type="triangle" w="sm" len="sm"/>
          </a:ln>
          <a:effectLst/>
        </p:spPr>
      </p:cxnSp>
      <p:sp>
        <p:nvSpPr>
          <p:cNvPr id="81" name="TextBox 80"/>
          <p:cNvSpPr txBox="1"/>
          <p:nvPr/>
        </p:nvSpPr>
        <p:spPr>
          <a:xfrm>
            <a:off x="3949700" y="365760"/>
            <a:ext cx="127460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636A"/>
                </a:solidFill>
                <a:latin typeface="STIXGeneral"/>
              </a:rPr>
              <a:t>⟨C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058110" y="3994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102560" y="365760"/>
            <a:ext cx="166973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636A"/>
                </a:solidFill>
                <a:latin typeface="STIXGeneral"/>
              </a:rPr>
              <a:t>, F⟩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626816" y="1242060"/>
            <a:ext cx="127460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636A"/>
                </a:solidFill>
                <a:latin typeface="STIXGeneral"/>
              </a:rPr>
              <a:t>⟨C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735227" y="12757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779677" y="1242060"/>
            <a:ext cx="166973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636A"/>
                </a:solidFill>
                <a:latin typeface="STIXGeneral"/>
              </a:rPr>
              <a:t>, F⟩</a:t>
            </a:r>
          </a:p>
        </p:txBody>
      </p:sp>
      <p:sp>
        <p:nvSpPr>
          <p:cNvPr id="87" name="Oval 86"/>
          <p:cNvSpPr/>
          <p:nvPr/>
        </p:nvSpPr>
        <p:spPr>
          <a:xfrm>
            <a:off x="4762500" y="850900"/>
            <a:ext cx="50800" cy="508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654985" y="640715"/>
            <a:ext cx="265831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reward</a:t>
            </a:r>
          </a:p>
        </p:txBody>
      </p:sp>
      <p:cxnSp>
        <p:nvCxnSpPr>
          <p:cNvPr id="89" name="Connector 88"/>
          <p:cNvCxnSpPr/>
          <p:nvPr/>
        </p:nvCxnSpPr>
        <p:spPr>
          <a:xfrm flipH="1">
            <a:off x="4445000" y="876300"/>
            <a:ext cx="292100" cy="0"/>
          </a:xfrm>
          <a:prstGeom prst="line">
            <a:avLst/>
          </a:prstGeom>
          <a:ln w="7620">
            <a:solidFill>
              <a:srgbClr val="59636A"/>
            </a:solidFill>
            <a:tailEnd type="triangle" w="sm" len="sm"/>
          </a:ln>
          <a:effectLst/>
        </p:spPr>
      </p:cxnSp>
      <p:sp>
        <p:nvSpPr>
          <p:cNvPr id="90" name="Oval 89"/>
          <p:cNvSpPr/>
          <p:nvPr/>
        </p:nvSpPr>
        <p:spPr>
          <a:xfrm>
            <a:off x="4381500" y="850900"/>
            <a:ext cx="50800" cy="50800"/>
          </a:xfrm>
          <a:prstGeom prst="ellipse">
            <a:avLst/>
          </a:prstGeom>
          <a:solidFill>
            <a:srgbClr val="167C80"/>
          </a:solidFill>
          <a:ln w="762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229751" y="810260"/>
            <a:ext cx="126349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67C80"/>
                </a:solidFill>
                <a:latin typeface="Liberation Serif"/>
              </a:rPr>
              <a:t>F*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4406900" y="1028700"/>
            <a:ext cx="177800" cy="0"/>
          </a:xfrm>
          <a:prstGeom prst="line">
            <a:avLst/>
          </a:prstGeom>
          <a:ln w="10160">
            <a:solidFill>
              <a:srgbClr val="167C80"/>
            </a:solidFill>
            <a:tailEnd type="triangle" w="sm" len="sm"/>
          </a:ln>
          <a:effectLst/>
        </p:spPr>
      </p:cxnSp>
      <p:sp>
        <p:nvSpPr>
          <p:cNvPr id="93" name="TextBox 92"/>
          <p:cNvSpPr txBox="1"/>
          <p:nvPr/>
        </p:nvSpPr>
        <p:spPr>
          <a:xfrm>
            <a:off x="4207574" y="467360"/>
            <a:ext cx="68310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636A"/>
                </a:solidFill>
                <a:latin typeface="Liberation Serif"/>
              </a:rPr>
              <a:t>λ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256834" y="4375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*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301284" y="5010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45734" y="467360"/>
            <a:ext cx="177943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636A"/>
                </a:solidFill>
                <a:latin typeface="Liberation Serif"/>
              </a:rPr>
              <a:t> = 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321874" y="1407160"/>
            <a:ext cx="68310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67C80"/>
                </a:solidFill>
                <a:latin typeface="Liberation Serif"/>
              </a:rPr>
              <a:t>λ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371134" y="13773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67C80"/>
                </a:solidFill>
                <a:latin typeface="Liberation Serif"/>
              </a:rPr>
              <a:t>*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415584" y="14408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67C80"/>
                </a:solidFill>
                <a:latin typeface="Liberation Serif"/>
              </a:rP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460034" y="1407160"/>
            <a:ext cx="177943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67C80"/>
                </a:solidFill>
                <a:latin typeface="Liberation Serif"/>
              </a:rPr>
              <a:t> &gt; 0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38100" y="1752600"/>
            <a:ext cx="4953000" cy="1117600"/>
          </a:xfrm>
          <a:prstGeom prst="roundRect">
            <a:avLst>
              <a:gd name="adj" fmla="val 3409"/>
            </a:avLst>
          </a:prstGeom>
          <a:solidFill>
            <a:srgbClr val="FCFDFE"/>
          </a:solidFill>
          <a:ln w="7620">
            <a:solidFill>
              <a:srgbClr val="D8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14300" y="1804988"/>
            <a:ext cx="1274162" cy="1238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23343B"/>
                </a:solidFill>
                <a:latin typeface="Liberation Serif"/>
              </a:rPr>
              <a:t>Training cost / B (task median)</a:t>
            </a:r>
          </a:p>
        </p:txBody>
      </p:sp>
      <p:sp>
        <p:nvSpPr>
          <p:cNvPr id="103" name="Freeform 102"/>
          <p:cNvSpPr/>
          <p:nvPr/>
        </p:nvSpPr>
        <p:spPr>
          <a:xfrm>
            <a:off x="2603500" y="1866900"/>
            <a:ext cx="139700" cy="0"/>
          </a:xfrm>
          <a:custGeom>
            <a:avLst/>
            <a:gdLst/>
            <a:ahLst/>
            <a:cxnLst/>
            <a:rect l="l" t="t" r="r" b="b"/>
            <a:pathLst>
              <a:path w="139700" h="0">
                <a:moveTo>
                  <a:pt x="0" y="0"/>
                </a:moveTo>
                <a:lnTo>
                  <a:pt x="139700" y="0"/>
                </a:lnTo>
              </a:path>
            </a:pathLst>
          </a:custGeom>
          <a:noFill/>
          <a:ln w="15875">
            <a:solidFill>
              <a:srgbClr val="0072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781300" y="1808290"/>
            <a:ext cx="496542" cy="11722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0072B2"/>
                </a:solidFill>
                <a:latin typeface="Liberation Serif"/>
              </a:rPr>
              <a:t>SafeOT-Dual</a:t>
            </a:r>
          </a:p>
        </p:txBody>
      </p:sp>
      <p:sp>
        <p:nvSpPr>
          <p:cNvPr id="105" name="Freeform 104"/>
          <p:cNvSpPr/>
          <p:nvPr/>
        </p:nvSpPr>
        <p:spPr>
          <a:xfrm>
            <a:off x="3467100" y="1866900"/>
            <a:ext cx="139700" cy="0"/>
          </a:xfrm>
          <a:custGeom>
            <a:avLst/>
            <a:gdLst/>
            <a:ahLst/>
            <a:cxnLst/>
            <a:rect l="l" t="t" r="r" b="b"/>
            <a:pathLst>
              <a:path w="139700" h="0">
                <a:moveTo>
                  <a:pt x="0" y="0"/>
                </a:moveTo>
                <a:lnTo>
                  <a:pt x="139700" y="0"/>
                </a:lnTo>
              </a:path>
            </a:pathLst>
          </a:custGeom>
          <a:noFill/>
          <a:ln w="12700">
            <a:solidFill>
              <a:srgbClr val="A0467E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644900" y="1808290"/>
            <a:ext cx="683377" cy="11722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A0467E"/>
                </a:solidFill>
                <a:latin typeface="Liberation Serif"/>
              </a:rPr>
              <a:t>TRPO-Lag (c = 0)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04800" y="1970088"/>
            <a:ext cx="730806" cy="1238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23343B"/>
                </a:solidFill>
                <a:latin typeface="Liberation Serif"/>
              </a:rPr>
              <a:t>SafePO · 10 tasks</a:t>
            </a:r>
          </a:p>
        </p:txBody>
      </p:sp>
      <p:sp>
        <p:nvSpPr>
          <p:cNvPr id="108" name="Freeform 107"/>
          <p:cNvSpPr/>
          <p:nvPr/>
        </p:nvSpPr>
        <p:spPr>
          <a:xfrm>
            <a:off x="304800" y="2197100"/>
            <a:ext cx="1358900" cy="431800"/>
          </a:xfrm>
          <a:custGeom>
            <a:avLst/>
            <a:gdLst/>
            <a:ahLst/>
            <a:cxnLst/>
            <a:rect l="l" t="t" r="r" b="b"/>
            <a:pathLst>
              <a:path w="1358900" h="431800">
                <a:moveTo>
                  <a:pt x="0" y="0"/>
                </a:moveTo>
                <a:lnTo>
                  <a:pt x="0" y="431800"/>
                </a:lnTo>
                <a:lnTo>
                  <a:pt x="1358900" y="431800"/>
                </a:lnTo>
              </a:path>
            </a:pathLst>
          </a:custGeom>
          <a:noFill/>
          <a:ln w="635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279400" y="2628900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400" y="0"/>
                </a:lnTo>
              </a:path>
            </a:pathLst>
          </a:custGeom>
          <a:noFill/>
          <a:ln w="635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90500" y="25711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0</a:t>
            </a:r>
          </a:p>
        </p:txBody>
      </p:sp>
      <p:sp>
        <p:nvSpPr>
          <p:cNvPr id="111" name="Freeform 110"/>
          <p:cNvSpPr/>
          <p:nvPr/>
        </p:nvSpPr>
        <p:spPr>
          <a:xfrm>
            <a:off x="279400" y="2462823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400" y="0"/>
                </a:lnTo>
              </a:path>
            </a:pathLst>
          </a:custGeom>
          <a:noFill/>
          <a:ln w="635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90500" y="2405038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1</a:t>
            </a:r>
          </a:p>
        </p:txBody>
      </p:sp>
      <p:sp>
        <p:nvSpPr>
          <p:cNvPr id="113" name="Freeform 112"/>
          <p:cNvSpPr/>
          <p:nvPr/>
        </p:nvSpPr>
        <p:spPr>
          <a:xfrm>
            <a:off x="279400" y="2296746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400" y="0"/>
                </a:lnTo>
              </a:path>
            </a:pathLst>
          </a:custGeom>
          <a:noFill/>
          <a:ln w="635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90500" y="2238961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36025" y="2685415"/>
            <a:ext cx="137551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0%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550475" y="2685415"/>
            <a:ext cx="226451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100%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24116" y="2685415"/>
            <a:ext cx="320268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progress</a:t>
            </a:r>
          </a:p>
        </p:txBody>
      </p:sp>
      <p:sp>
        <p:nvSpPr>
          <p:cNvPr id="118" name="Freeform 117"/>
          <p:cNvSpPr/>
          <p:nvPr/>
        </p:nvSpPr>
        <p:spPr>
          <a:xfrm>
            <a:off x="318389" y="2231717"/>
            <a:ext cx="1345311" cy="231106"/>
          </a:xfrm>
          <a:custGeom>
            <a:avLst/>
            <a:gdLst/>
            <a:ahLst/>
            <a:cxnLst/>
            <a:rect l="l" t="t" r="r" b="b"/>
            <a:pathLst>
              <a:path w="1345311" h="231106">
                <a:moveTo>
                  <a:pt x="0" y="189388"/>
                </a:moveTo>
                <a:lnTo>
                  <a:pt x="13589" y="156640"/>
                </a:lnTo>
                <a:lnTo>
                  <a:pt x="27178" y="156272"/>
                </a:lnTo>
                <a:lnTo>
                  <a:pt x="40767" y="93073"/>
                </a:lnTo>
                <a:lnTo>
                  <a:pt x="54356" y="44959"/>
                </a:lnTo>
                <a:lnTo>
                  <a:pt x="67945" y="19755"/>
                </a:lnTo>
                <a:lnTo>
                  <a:pt x="81534" y="10782"/>
                </a:lnTo>
                <a:lnTo>
                  <a:pt x="95123" y="27912"/>
                </a:lnTo>
                <a:lnTo>
                  <a:pt x="108712" y="38806"/>
                </a:lnTo>
                <a:lnTo>
                  <a:pt x="122301" y="31017"/>
                </a:lnTo>
                <a:lnTo>
                  <a:pt x="135890" y="15331"/>
                </a:lnTo>
                <a:lnTo>
                  <a:pt x="149479" y="22558"/>
                </a:lnTo>
                <a:lnTo>
                  <a:pt x="163068" y="0"/>
                </a:lnTo>
                <a:lnTo>
                  <a:pt x="176657" y="8976"/>
                </a:lnTo>
                <a:lnTo>
                  <a:pt x="190246" y="20456"/>
                </a:lnTo>
                <a:lnTo>
                  <a:pt x="203835" y="40432"/>
                </a:lnTo>
                <a:lnTo>
                  <a:pt x="217424" y="58762"/>
                </a:lnTo>
                <a:lnTo>
                  <a:pt x="231013" y="51437"/>
                </a:lnTo>
                <a:lnTo>
                  <a:pt x="244602" y="43937"/>
                </a:lnTo>
                <a:lnTo>
                  <a:pt x="258191" y="42451"/>
                </a:lnTo>
                <a:lnTo>
                  <a:pt x="271780" y="54730"/>
                </a:lnTo>
                <a:lnTo>
                  <a:pt x="285369" y="78652"/>
                </a:lnTo>
                <a:lnTo>
                  <a:pt x="298958" y="89262"/>
                </a:lnTo>
                <a:lnTo>
                  <a:pt x="312547" y="60237"/>
                </a:lnTo>
                <a:lnTo>
                  <a:pt x="326136" y="39212"/>
                </a:lnTo>
                <a:lnTo>
                  <a:pt x="339725" y="43607"/>
                </a:lnTo>
                <a:lnTo>
                  <a:pt x="353314" y="56360"/>
                </a:lnTo>
                <a:lnTo>
                  <a:pt x="366903" y="53922"/>
                </a:lnTo>
                <a:lnTo>
                  <a:pt x="380492" y="52868"/>
                </a:lnTo>
                <a:lnTo>
                  <a:pt x="394081" y="68767"/>
                </a:lnTo>
                <a:lnTo>
                  <a:pt x="407670" y="82797"/>
                </a:lnTo>
                <a:lnTo>
                  <a:pt x="421259" y="78851"/>
                </a:lnTo>
                <a:lnTo>
                  <a:pt x="434848" y="62302"/>
                </a:lnTo>
                <a:lnTo>
                  <a:pt x="448437" y="55424"/>
                </a:lnTo>
                <a:lnTo>
                  <a:pt x="462026" y="63940"/>
                </a:lnTo>
                <a:lnTo>
                  <a:pt x="475615" y="63640"/>
                </a:lnTo>
                <a:lnTo>
                  <a:pt x="489204" y="66430"/>
                </a:lnTo>
                <a:lnTo>
                  <a:pt x="502793" y="67967"/>
                </a:lnTo>
                <a:lnTo>
                  <a:pt x="516382" y="73184"/>
                </a:lnTo>
                <a:lnTo>
                  <a:pt x="529971" y="80019"/>
                </a:lnTo>
                <a:lnTo>
                  <a:pt x="543560" y="75702"/>
                </a:lnTo>
                <a:lnTo>
                  <a:pt x="557149" y="111057"/>
                </a:lnTo>
                <a:lnTo>
                  <a:pt x="570738" y="124152"/>
                </a:lnTo>
                <a:lnTo>
                  <a:pt x="584327" y="108487"/>
                </a:lnTo>
                <a:lnTo>
                  <a:pt x="597916" y="94096"/>
                </a:lnTo>
                <a:lnTo>
                  <a:pt x="611505" y="88981"/>
                </a:lnTo>
                <a:lnTo>
                  <a:pt x="625094" y="86519"/>
                </a:lnTo>
                <a:lnTo>
                  <a:pt x="638683" y="87254"/>
                </a:lnTo>
                <a:lnTo>
                  <a:pt x="652272" y="92558"/>
                </a:lnTo>
                <a:lnTo>
                  <a:pt x="665861" y="103948"/>
                </a:lnTo>
                <a:lnTo>
                  <a:pt x="679450" y="109467"/>
                </a:lnTo>
                <a:lnTo>
                  <a:pt x="693039" y="115976"/>
                </a:lnTo>
                <a:lnTo>
                  <a:pt x="706628" y="126757"/>
                </a:lnTo>
                <a:lnTo>
                  <a:pt x="720217" y="140404"/>
                </a:lnTo>
                <a:lnTo>
                  <a:pt x="733806" y="144735"/>
                </a:lnTo>
                <a:lnTo>
                  <a:pt x="747395" y="142702"/>
                </a:lnTo>
                <a:lnTo>
                  <a:pt x="760984" y="155804"/>
                </a:lnTo>
                <a:lnTo>
                  <a:pt x="774573" y="157817"/>
                </a:lnTo>
                <a:lnTo>
                  <a:pt x="788162" y="158894"/>
                </a:lnTo>
                <a:lnTo>
                  <a:pt x="801751" y="157724"/>
                </a:lnTo>
                <a:lnTo>
                  <a:pt x="815340" y="165286"/>
                </a:lnTo>
                <a:lnTo>
                  <a:pt x="828929" y="155616"/>
                </a:lnTo>
                <a:lnTo>
                  <a:pt x="842518" y="147119"/>
                </a:lnTo>
                <a:lnTo>
                  <a:pt x="856107" y="144871"/>
                </a:lnTo>
                <a:lnTo>
                  <a:pt x="869696" y="143918"/>
                </a:lnTo>
                <a:lnTo>
                  <a:pt x="883285" y="137990"/>
                </a:lnTo>
                <a:lnTo>
                  <a:pt x="896874" y="149651"/>
                </a:lnTo>
                <a:lnTo>
                  <a:pt x="910463" y="150358"/>
                </a:lnTo>
                <a:lnTo>
                  <a:pt x="924052" y="161769"/>
                </a:lnTo>
                <a:lnTo>
                  <a:pt x="937641" y="177476"/>
                </a:lnTo>
                <a:lnTo>
                  <a:pt x="951230" y="182486"/>
                </a:lnTo>
                <a:lnTo>
                  <a:pt x="964819" y="181609"/>
                </a:lnTo>
                <a:lnTo>
                  <a:pt x="978408" y="182766"/>
                </a:lnTo>
                <a:lnTo>
                  <a:pt x="991997" y="188737"/>
                </a:lnTo>
                <a:lnTo>
                  <a:pt x="1005586" y="189029"/>
                </a:lnTo>
                <a:lnTo>
                  <a:pt x="1019175" y="191764"/>
                </a:lnTo>
                <a:lnTo>
                  <a:pt x="1032764" y="188436"/>
                </a:lnTo>
                <a:lnTo>
                  <a:pt x="1046353" y="173698"/>
                </a:lnTo>
                <a:lnTo>
                  <a:pt x="1059942" y="168397"/>
                </a:lnTo>
                <a:lnTo>
                  <a:pt x="1073531" y="171329"/>
                </a:lnTo>
                <a:lnTo>
                  <a:pt x="1087120" y="177818"/>
                </a:lnTo>
                <a:lnTo>
                  <a:pt x="1100709" y="199583"/>
                </a:lnTo>
                <a:lnTo>
                  <a:pt x="1114298" y="204214"/>
                </a:lnTo>
                <a:lnTo>
                  <a:pt x="1127887" y="193793"/>
                </a:lnTo>
                <a:lnTo>
                  <a:pt x="1141476" y="198174"/>
                </a:lnTo>
                <a:lnTo>
                  <a:pt x="1155065" y="230785"/>
                </a:lnTo>
                <a:lnTo>
                  <a:pt x="1162742" y="231106"/>
                </a:lnTo>
                <a:lnTo>
                  <a:pt x="1168654" y="231106"/>
                </a:lnTo>
                <a:lnTo>
                  <a:pt x="1169859" y="231106"/>
                </a:lnTo>
                <a:lnTo>
                  <a:pt x="1182243" y="228568"/>
                </a:lnTo>
                <a:lnTo>
                  <a:pt x="1195832" y="224858"/>
                </a:lnTo>
                <a:lnTo>
                  <a:pt x="1209421" y="222583"/>
                </a:lnTo>
                <a:lnTo>
                  <a:pt x="1223010" y="223791"/>
                </a:lnTo>
                <a:lnTo>
                  <a:pt x="1236599" y="219016"/>
                </a:lnTo>
                <a:lnTo>
                  <a:pt x="1250188" y="221967"/>
                </a:lnTo>
                <a:lnTo>
                  <a:pt x="1263777" y="205559"/>
                </a:lnTo>
                <a:lnTo>
                  <a:pt x="1277366" y="207261"/>
                </a:lnTo>
                <a:lnTo>
                  <a:pt x="1290955" y="202087"/>
                </a:lnTo>
                <a:lnTo>
                  <a:pt x="1304544" y="207491"/>
                </a:lnTo>
                <a:lnTo>
                  <a:pt x="1318133" y="205430"/>
                </a:lnTo>
                <a:lnTo>
                  <a:pt x="1331722" y="228268"/>
                </a:lnTo>
                <a:lnTo>
                  <a:pt x="1334540" y="231106"/>
                </a:lnTo>
                <a:lnTo>
                  <a:pt x="1345311" y="231106"/>
                </a:lnTo>
                <a:lnTo>
                  <a:pt x="1345311" y="231106"/>
                </a:lnTo>
                <a:lnTo>
                  <a:pt x="0" y="231106"/>
                </a:lnTo>
                <a:close/>
              </a:path>
            </a:pathLst>
          </a:custGeom>
          <a:solidFill>
            <a:srgbClr val="A0467E">
              <a:alpha val="1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318389" y="2231717"/>
            <a:ext cx="1345311" cy="241951"/>
          </a:xfrm>
          <a:custGeom>
            <a:avLst/>
            <a:gdLst/>
            <a:ahLst/>
            <a:cxnLst/>
            <a:rect l="l" t="t" r="r" b="b"/>
            <a:pathLst>
              <a:path w="1345311" h="241951">
                <a:moveTo>
                  <a:pt x="0" y="189388"/>
                </a:moveTo>
                <a:lnTo>
                  <a:pt x="13589" y="156640"/>
                </a:lnTo>
                <a:lnTo>
                  <a:pt x="27178" y="156272"/>
                </a:lnTo>
                <a:lnTo>
                  <a:pt x="40767" y="93073"/>
                </a:lnTo>
                <a:lnTo>
                  <a:pt x="54356" y="44959"/>
                </a:lnTo>
                <a:lnTo>
                  <a:pt x="67945" y="19755"/>
                </a:lnTo>
                <a:lnTo>
                  <a:pt x="81534" y="10782"/>
                </a:lnTo>
                <a:lnTo>
                  <a:pt x="95123" y="27912"/>
                </a:lnTo>
                <a:lnTo>
                  <a:pt x="108712" y="38806"/>
                </a:lnTo>
                <a:lnTo>
                  <a:pt x="122301" y="31017"/>
                </a:lnTo>
                <a:lnTo>
                  <a:pt x="135890" y="15331"/>
                </a:lnTo>
                <a:lnTo>
                  <a:pt x="149479" y="22558"/>
                </a:lnTo>
                <a:lnTo>
                  <a:pt x="163068" y="0"/>
                </a:lnTo>
                <a:lnTo>
                  <a:pt x="176657" y="8976"/>
                </a:lnTo>
                <a:lnTo>
                  <a:pt x="190246" y="20456"/>
                </a:lnTo>
                <a:lnTo>
                  <a:pt x="203835" y="40432"/>
                </a:lnTo>
                <a:lnTo>
                  <a:pt x="217424" y="58762"/>
                </a:lnTo>
                <a:lnTo>
                  <a:pt x="231013" y="51437"/>
                </a:lnTo>
                <a:lnTo>
                  <a:pt x="244602" y="43937"/>
                </a:lnTo>
                <a:lnTo>
                  <a:pt x="258191" y="42451"/>
                </a:lnTo>
                <a:lnTo>
                  <a:pt x="271780" y="54730"/>
                </a:lnTo>
                <a:lnTo>
                  <a:pt x="285369" y="78652"/>
                </a:lnTo>
                <a:lnTo>
                  <a:pt x="298958" y="89262"/>
                </a:lnTo>
                <a:lnTo>
                  <a:pt x="312547" y="60237"/>
                </a:lnTo>
                <a:lnTo>
                  <a:pt x="326136" y="39212"/>
                </a:lnTo>
                <a:lnTo>
                  <a:pt x="339725" y="43607"/>
                </a:lnTo>
                <a:lnTo>
                  <a:pt x="353314" y="56360"/>
                </a:lnTo>
                <a:lnTo>
                  <a:pt x="366903" y="53922"/>
                </a:lnTo>
                <a:lnTo>
                  <a:pt x="380492" y="52868"/>
                </a:lnTo>
                <a:lnTo>
                  <a:pt x="394081" y="68767"/>
                </a:lnTo>
                <a:lnTo>
                  <a:pt x="407670" y="82797"/>
                </a:lnTo>
                <a:lnTo>
                  <a:pt x="421259" y="78851"/>
                </a:lnTo>
                <a:lnTo>
                  <a:pt x="434848" y="62302"/>
                </a:lnTo>
                <a:lnTo>
                  <a:pt x="448437" y="55424"/>
                </a:lnTo>
                <a:lnTo>
                  <a:pt x="462026" y="63940"/>
                </a:lnTo>
                <a:lnTo>
                  <a:pt x="475615" y="63640"/>
                </a:lnTo>
                <a:lnTo>
                  <a:pt x="489204" y="66430"/>
                </a:lnTo>
                <a:lnTo>
                  <a:pt x="502793" y="67967"/>
                </a:lnTo>
                <a:lnTo>
                  <a:pt x="516382" y="73184"/>
                </a:lnTo>
                <a:lnTo>
                  <a:pt x="529971" y="80019"/>
                </a:lnTo>
                <a:lnTo>
                  <a:pt x="543560" y="75702"/>
                </a:lnTo>
                <a:lnTo>
                  <a:pt x="557149" y="111057"/>
                </a:lnTo>
                <a:lnTo>
                  <a:pt x="570738" y="124152"/>
                </a:lnTo>
                <a:lnTo>
                  <a:pt x="584327" y="108487"/>
                </a:lnTo>
                <a:lnTo>
                  <a:pt x="597916" y="94096"/>
                </a:lnTo>
                <a:lnTo>
                  <a:pt x="611505" y="88981"/>
                </a:lnTo>
                <a:lnTo>
                  <a:pt x="625094" y="86519"/>
                </a:lnTo>
                <a:lnTo>
                  <a:pt x="638683" y="87254"/>
                </a:lnTo>
                <a:lnTo>
                  <a:pt x="652272" y="92558"/>
                </a:lnTo>
                <a:lnTo>
                  <a:pt x="665861" y="103948"/>
                </a:lnTo>
                <a:lnTo>
                  <a:pt x="679450" y="109467"/>
                </a:lnTo>
                <a:lnTo>
                  <a:pt x="693039" y="115976"/>
                </a:lnTo>
                <a:lnTo>
                  <a:pt x="706628" y="126757"/>
                </a:lnTo>
                <a:lnTo>
                  <a:pt x="720217" y="140404"/>
                </a:lnTo>
                <a:lnTo>
                  <a:pt x="733806" y="144735"/>
                </a:lnTo>
                <a:lnTo>
                  <a:pt x="747395" y="142702"/>
                </a:lnTo>
                <a:lnTo>
                  <a:pt x="760984" y="155804"/>
                </a:lnTo>
                <a:lnTo>
                  <a:pt x="774573" y="157817"/>
                </a:lnTo>
                <a:lnTo>
                  <a:pt x="788162" y="158894"/>
                </a:lnTo>
                <a:lnTo>
                  <a:pt x="801751" y="157724"/>
                </a:lnTo>
                <a:lnTo>
                  <a:pt x="815340" y="165286"/>
                </a:lnTo>
                <a:lnTo>
                  <a:pt x="828929" y="155616"/>
                </a:lnTo>
                <a:lnTo>
                  <a:pt x="842518" y="147119"/>
                </a:lnTo>
                <a:lnTo>
                  <a:pt x="856107" y="144871"/>
                </a:lnTo>
                <a:lnTo>
                  <a:pt x="869696" y="143918"/>
                </a:lnTo>
                <a:lnTo>
                  <a:pt x="883285" y="137990"/>
                </a:lnTo>
                <a:lnTo>
                  <a:pt x="896874" y="149651"/>
                </a:lnTo>
                <a:lnTo>
                  <a:pt x="910463" y="150358"/>
                </a:lnTo>
                <a:lnTo>
                  <a:pt x="924052" y="161769"/>
                </a:lnTo>
                <a:lnTo>
                  <a:pt x="937641" y="177476"/>
                </a:lnTo>
                <a:lnTo>
                  <a:pt x="951230" y="182486"/>
                </a:lnTo>
                <a:lnTo>
                  <a:pt x="964819" y="181609"/>
                </a:lnTo>
                <a:lnTo>
                  <a:pt x="978408" y="182766"/>
                </a:lnTo>
                <a:lnTo>
                  <a:pt x="991997" y="188737"/>
                </a:lnTo>
                <a:lnTo>
                  <a:pt x="1005586" y="189029"/>
                </a:lnTo>
                <a:lnTo>
                  <a:pt x="1019175" y="191764"/>
                </a:lnTo>
                <a:lnTo>
                  <a:pt x="1032764" y="188436"/>
                </a:lnTo>
                <a:lnTo>
                  <a:pt x="1046353" y="173698"/>
                </a:lnTo>
                <a:lnTo>
                  <a:pt x="1059942" y="168397"/>
                </a:lnTo>
                <a:lnTo>
                  <a:pt x="1073531" y="171329"/>
                </a:lnTo>
                <a:lnTo>
                  <a:pt x="1087120" y="177818"/>
                </a:lnTo>
                <a:lnTo>
                  <a:pt x="1100709" y="199583"/>
                </a:lnTo>
                <a:lnTo>
                  <a:pt x="1114298" y="204214"/>
                </a:lnTo>
                <a:lnTo>
                  <a:pt x="1127887" y="193793"/>
                </a:lnTo>
                <a:lnTo>
                  <a:pt x="1141476" y="198174"/>
                </a:lnTo>
                <a:lnTo>
                  <a:pt x="1155065" y="230785"/>
                </a:lnTo>
                <a:lnTo>
                  <a:pt x="1168654" y="231353"/>
                </a:lnTo>
                <a:lnTo>
                  <a:pt x="1182243" y="228568"/>
                </a:lnTo>
                <a:lnTo>
                  <a:pt x="1195832" y="224858"/>
                </a:lnTo>
                <a:lnTo>
                  <a:pt x="1209421" y="222583"/>
                </a:lnTo>
                <a:lnTo>
                  <a:pt x="1223010" y="223791"/>
                </a:lnTo>
                <a:lnTo>
                  <a:pt x="1236599" y="219016"/>
                </a:lnTo>
                <a:lnTo>
                  <a:pt x="1250188" y="221967"/>
                </a:lnTo>
                <a:lnTo>
                  <a:pt x="1263777" y="205559"/>
                </a:lnTo>
                <a:lnTo>
                  <a:pt x="1277366" y="207261"/>
                </a:lnTo>
                <a:lnTo>
                  <a:pt x="1290955" y="202087"/>
                </a:lnTo>
                <a:lnTo>
                  <a:pt x="1304544" y="207491"/>
                </a:lnTo>
                <a:lnTo>
                  <a:pt x="1318133" y="205430"/>
                </a:lnTo>
                <a:lnTo>
                  <a:pt x="1331722" y="228268"/>
                </a:lnTo>
                <a:lnTo>
                  <a:pt x="1345311" y="241951"/>
                </a:lnTo>
              </a:path>
            </a:pathLst>
          </a:custGeom>
          <a:noFill/>
          <a:ln w="13335">
            <a:solidFill>
              <a:srgbClr val="A0467E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318389" y="2318833"/>
            <a:ext cx="1345311" cy="143990"/>
          </a:xfrm>
          <a:custGeom>
            <a:avLst/>
            <a:gdLst/>
            <a:ahLst/>
            <a:cxnLst/>
            <a:rect l="l" t="t" r="r" b="b"/>
            <a:pathLst>
              <a:path w="1345311" h="143990">
                <a:moveTo>
                  <a:pt x="0" y="99364"/>
                </a:moveTo>
                <a:lnTo>
                  <a:pt x="13589" y="125501"/>
                </a:lnTo>
                <a:lnTo>
                  <a:pt x="27178" y="137502"/>
                </a:lnTo>
                <a:lnTo>
                  <a:pt x="40767" y="116139"/>
                </a:lnTo>
                <a:lnTo>
                  <a:pt x="54356" y="47227"/>
                </a:lnTo>
                <a:lnTo>
                  <a:pt x="67945" y="2708"/>
                </a:lnTo>
                <a:lnTo>
                  <a:pt x="81534" y="0"/>
                </a:lnTo>
                <a:lnTo>
                  <a:pt x="95123" y="15507"/>
                </a:lnTo>
                <a:lnTo>
                  <a:pt x="108712" y="65014"/>
                </a:lnTo>
                <a:lnTo>
                  <a:pt x="122301" y="83922"/>
                </a:lnTo>
                <a:lnTo>
                  <a:pt x="135890" y="114117"/>
                </a:lnTo>
                <a:lnTo>
                  <a:pt x="149479" y="129834"/>
                </a:lnTo>
                <a:lnTo>
                  <a:pt x="163068" y="124540"/>
                </a:lnTo>
                <a:lnTo>
                  <a:pt x="176657" y="108880"/>
                </a:lnTo>
                <a:lnTo>
                  <a:pt x="190246" y="103730"/>
                </a:lnTo>
                <a:lnTo>
                  <a:pt x="203835" y="114353"/>
                </a:lnTo>
                <a:lnTo>
                  <a:pt x="217424" y="104744"/>
                </a:lnTo>
                <a:lnTo>
                  <a:pt x="231013" y="92724"/>
                </a:lnTo>
                <a:lnTo>
                  <a:pt x="244602" y="78251"/>
                </a:lnTo>
                <a:lnTo>
                  <a:pt x="258191" y="93039"/>
                </a:lnTo>
                <a:lnTo>
                  <a:pt x="271780" y="122789"/>
                </a:lnTo>
                <a:lnTo>
                  <a:pt x="285369" y="114240"/>
                </a:lnTo>
                <a:lnTo>
                  <a:pt x="298958" y="104609"/>
                </a:lnTo>
                <a:lnTo>
                  <a:pt x="312547" y="79936"/>
                </a:lnTo>
                <a:lnTo>
                  <a:pt x="326136" y="74537"/>
                </a:lnTo>
                <a:lnTo>
                  <a:pt x="339725" y="96737"/>
                </a:lnTo>
                <a:lnTo>
                  <a:pt x="353314" y="111523"/>
                </a:lnTo>
                <a:lnTo>
                  <a:pt x="366903" y="116748"/>
                </a:lnTo>
                <a:lnTo>
                  <a:pt x="380492" y="108598"/>
                </a:lnTo>
                <a:lnTo>
                  <a:pt x="394081" y="91982"/>
                </a:lnTo>
                <a:lnTo>
                  <a:pt x="407670" y="78187"/>
                </a:lnTo>
                <a:lnTo>
                  <a:pt x="421259" y="86193"/>
                </a:lnTo>
                <a:lnTo>
                  <a:pt x="434848" y="119569"/>
                </a:lnTo>
                <a:lnTo>
                  <a:pt x="448437" y="99906"/>
                </a:lnTo>
                <a:lnTo>
                  <a:pt x="462026" y="81815"/>
                </a:lnTo>
                <a:lnTo>
                  <a:pt x="475615" y="80756"/>
                </a:lnTo>
                <a:lnTo>
                  <a:pt x="489204" y="78312"/>
                </a:lnTo>
                <a:lnTo>
                  <a:pt x="502793" y="99969"/>
                </a:lnTo>
                <a:lnTo>
                  <a:pt x="516382" y="120234"/>
                </a:lnTo>
                <a:lnTo>
                  <a:pt x="529971" y="115922"/>
                </a:lnTo>
                <a:lnTo>
                  <a:pt x="543560" y="107208"/>
                </a:lnTo>
                <a:lnTo>
                  <a:pt x="557149" y="107681"/>
                </a:lnTo>
                <a:lnTo>
                  <a:pt x="570738" y="105852"/>
                </a:lnTo>
                <a:lnTo>
                  <a:pt x="584327" y="112561"/>
                </a:lnTo>
                <a:lnTo>
                  <a:pt x="597916" y="127487"/>
                </a:lnTo>
                <a:lnTo>
                  <a:pt x="611505" y="123662"/>
                </a:lnTo>
                <a:lnTo>
                  <a:pt x="625094" y="118531"/>
                </a:lnTo>
                <a:lnTo>
                  <a:pt x="638683" y="122686"/>
                </a:lnTo>
                <a:lnTo>
                  <a:pt x="652272" y="126384"/>
                </a:lnTo>
                <a:lnTo>
                  <a:pt x="665861" y="128142"/>
                </a:lnTo>
                <a:lnTo>
                  <a:pt x="679450" y="123732"/>
                </a:lnTo>
                <a:lnTo>
                  <a:pt x="693039" y="125364"/>
                </a:lnTo>
                <a:lnTo>
                  <a:pt x="706628" y="120540"/>
                </a:lnTo>
                <a:lnTo>
                  <a:pt x="720217" y="114811"/>
                </a:lnTo>
                <a:lnTo>
                  <a:pt x="733806" y="115106"/>
                </a:lnTo>
                <a:lnTo>
                  <a:pt x="747395" y="116049"/>
                </a:lnTo>
                <a:lnTo>
                  <a:pt x="760984" y="121748"/>
                </a:lnTo>
                <a:lnTo>
                  <a:pt x="774573" y="125405"/>
                </a:lnTo>
                <a:lnTo>
                  <a:pt x="788162" y="128779"/>
                </a:lnTo>
                <a:lnTo>
                  <a:pt x="801751" y="124143"/>
                </a:lnTo>
                <a:lnTo>
                  <a:pt x="815340" y="122658"/>
                </a:lnTo>
                <a:lnTo>
                  <a:pt x="828929" y="123354"/>
                </a:lnTo>
                <a:lnTo>
                  <a:pt x="842518" y="122713"/>
                </a:lnTo>
                <a:lnTo>
                  <a:pt x="856107" y="124503"/>
                </a:lnTo>
                <a:lnTo>
                  <a:pt x="869696" y="129219"/>
                </a:lnTo>
                <a:lnTo>
                  <a:pt x="883285" y="136471"/>
                </a:lnTo>
                <a:lnTo>
                  <a:pt x="896874" y="128429"/>
                </a:lnTo>
                <a:lnTo>
                  <a:pt x="910463" y="127937"/>
                </a:lnTo>
                <a:lnTo>
                  <a:pt x="924052" y="122807"/>
                </a:lnTo>
                <a:lnTo>
                  <a:pt x="937641" y="119171"/>
                </a:lnTo>
                <a:lnTo>
                  <a:pt x="951230" y="113778"/>
                </a:lnTo>
                <a:lnTo>
                  <a:pt x="964819" y="104670"/>
                </a:lnTo>
                <a:lnTo>
                  <a:pt x="978408" y="113651"/>
                </a:lnTo>
                <a:lnTo>
                  <a:pt x="991997" y="129135"/>
                </a:lnTo>
                <a:lnTo>
                  <a:pt x="1005586" y="135902"/>
                </a:lnTo>
                <a:lnTo>
                  <a:pt x="1019175" y="131612"/>
                </a:lnTo>
                <a:lnTo>
                  <a:pt x="1032764" y="130448"/>
                </a:lnTo>
                <a:lnTo>
                  <a:pt x="1046353" y="129533"/>
                </a:lnTo>
                <a:lnTo>
                  <a:pt x="1059942" y="127541"/>
                </a:lnTo>
                <a:lnTo>
                  <a:pt x="1073531" y="128781"/>
                </a:lnTo>
                <a:lnTo>
                  <a:pt x="1087120" y="127304"/>
                </a:lnTo>
                <a:lnTo>
                  <a:pt x="1100709" y="133384"/>
                </a:lnTo>
                <a:lnTo>
                  <a:pt x="1112220" y="143990"/>
                </a:lnTo>
                <a:lnTo>
                  <a:pt x="1114298" y="143990"/>
                </a:lnTo>
                <a:lnTo>
                  <a:pt x="1127887" y="143990"/>
                </a:lnTo>
                <a:lnTo>
                  <a:pt x="1137052" y="143990"/>
                </a:lnTo>
                <a:lnTo>
                  <a:pt x="1141476" y="143044"/>
                </a:lnTo>
                <a:lnTo>
                  <a:pt x="1151960" y="143990"/>
                </a:lnTo>
                <a:lnTo>
                  <a:pt x="1155065" y="143990"/>
                </a:lnTo>
                <a:lnTo>
                  <a:pt x="1163995" y="143990"/>
                </a:lnTo>
                <a:lnTo>
                  <a:pt x="1168654" y="143844"/>
                </a:lnTo>
                <a:lnTo>
                  <a:pt x="1182243" y="142230"/>
                </a:lnTo>
                <a:lnTo>
                  <a:pt x="1195832" y="133191"/>
                </a:lnTo>
                <a:lnTo>
                  <a:pt x="1209421" y="135380"/>
                </a:lnTo>
                <a:lnTo>
                  <a:pt x="1223010" y="138074"/>
                </a:lnTo>
                <a:lnTo>
                  <a:pt x="1236599" y="134790"/>
                </a:lnTo>
                <a:lnTo>
                  <a:pt x="1250188" y="135647"/>
                </a:lnTo>
                <a:lnTo>
                  <a:pt x="1263777" y="140477"/>
                </a:lnTo>
                <a:lnTo>
                  <a:pt x="1272637" y="143990"/>
                </a:lnTo>
                <a:lnTo>
                  <a:pt x="1277366" y="143990"/>
                </a:lnTo>
                <a:lnTo>
                  <a:pt x="1281306" y="143990"/>
                </a:lnTo>
                <a:lnTo>
                  <a:pt x="1290955" y="139398"/>
                </a:lnTo>
                <a:lnTo>
                  <a:pt x="1304544" y="133779"/>
                </a:lnTo>
                <a:lnTo>
                  <a:pt x="1318133" y="130122"/>
                </a:lnTo>
                <a:lnTo>
                  <a:pt x="1331722" y="128045"/>
                </a:lnTo>
                <a:lnTo>
                  <a:pt x="1345311" y="123191"/>
                </a:lnTo>
                <a:lnTo>
                  <a:pt x="1345311" y="143990"/>
                </a:lnTo>
                <a:lnTo>
                  <a:pt x="0" y="143990"/>
                </a:lnTo>
                <a:close/>
              </a:path>
            </a:pathLst>
          </a:custGeom>
          <a:solidFill>
            <a:srgbClr val="0072B2">
              <a:alpha val="1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318389" y="2318833"/>
            <a:ext cx="1345311" cy="145950"/>
          </a:xfrm>
          <a:custGeom>
            <a:avLst/>
            <a:gdLst/>
            <a:ahLst/>
            <a:cxnLst/>
            <a:rect l="l" t="t" r="r" b="b"/>
            <a:pathLst>
              <a:path w="1345311" h="145950">
                <a:moveTo>
                  <a:pt x="0" y="99364"/>
                </a:moveTo>
                <a:lnTo>
                  <a:pt x="13589" y="125501"/>
                </a:lnTo>
                <a:lnTo>
                  <a:pt x="27178" y="137502"/>
                </a:lnTo>
                <a:lnTo>
                  <a:pt x="40767" y="116139"/>
                </a:lnTo>
                <a:lnTo>
                  <a:pt x="54356" y="47227"/>
                </a:lnTo>
                <a:lnTo>
                  <a:pt x="67945" y="2708"/>
                </a:lnTo>
                <a:lnTo>
                  <a:pt x="81534" y="0"/>
                </a:lnTo>
                <a:lnTo>
                  <a:pt x="95123" y="15507"/>
                </a:lnTo>
                <a:lnTo>
                  <a:pt x="108712" y="65014"/>
                </a:lnTo>
                <a:lnTo>
                  <a:pt x="122301" y="83922"/>
                </a:lnTo>
                <a:lnTo>
                  <a:pt x="135890" y="114117"/>
                </a:lnTo>
                <a:lnTo>
                  <a:pt x="149479" y="129834"/>
                </a:lnTo>
                <a:lnTo>
                  <a:pt x="163068" y="124540"/>
                </a:lnTo>
                <a:lnTo>
                  <a:pt x="176657" y="108880"/>
                </a:lnTo>
                <a:lnTo>
                  <a:pt x="190246" y="103730"/>
                </a:lnTo>
                <a:lnTo>
                  <a:pt x="203835" y="114353"/>
                </a:lnTo>
                <a:lnTo>
                  <a:pt x="217424" y="104744"/>
                </a:lnTo>
                <a:lnTo>
                  <a:pt x="231013" y="92724"/>
                </a:lnTo>
                <a:lnTo>
                  <a:pt x="244602" y="78251"/>
                </a:lnTo>
                <a:lnTo>
                  <a:pt x="258191" y="93039"/>
                </a:lnTo>
                <a:lnTo>
                  <a:pt x="271780" y="122789"/>
                </a:lnTo>
                <a:lnTo>
                  <a:pt x="285369" y="114240"/>
                </a:lnTo>
                <a:lnTo>
                  <a:pt x="298958" y="104609"/>
                </a:lnTo>
                <a:lnTo>
                  <a:pt x="312547" y="79936"/>
                </a:lnTo>
                <a:lnTo>
                  <a:pt x="326136" y="74537"/>
                </a:lnTo>
                <a:lnTo>
                  <a:pt x="339725" y="96737"/>
                </a:lnTo>
                <a:lnTo>
                  <a:pt x="353314" y="111523"/>
                </a:lnTo>
                <a:lnTo>
                  <a:pt x="366903" y="116748"/>
                </a:lnTo>
                <a:lnTo>
                  <a:pt x="380492" y="108598"/>
                </a:lnTo>
                <a:lnTo>
                  <a:pt x="394081" y="91982"/>
                </a:lnTo>
                <a:lnTo>
                  <a:pt x="407670" y="78187"/>
                </a:lnTo>
                <a:lnTo>
                  <a:pt x="421259" y="86193"/>
                </a:lnTo>
                <a:lnTo>
                  <a:pt x="434848" y="119569"/>
                </a:lnTo>
                <a:lnTo>
                  <a:pt x="448437" y="99906"/>
                </a:lnTo>
                <a:lnTo>
                  <a:pt x="462026" y="81815"/>
                </a:lnTo>
                <a:lnTo>
                  <a:pt x="475615" y="80756"/>
                </a:lnTo>
                <a:lnTo>
                  <a:pt x="489204" y="78312"/>
                </a:lnTo>
                <a:lnTo>
                  <a:pt x="502793" y="99969"/>
                </a:lnTo>
                <a:lnTo>
                  <a:pt x="516382" y="120234"/>
                </a:lnTo>
                <a:lnTo>
                  <a:pt x="529971" y="115922"/>
                </a:lnTo>
                <a:lnTo>
                  <a:pt x="543560" y="107208"/>
                </a:lnTo>
                <a:lnTo>
                  <a:pt x="557149" y="107681"/>
                </a:lnTo>
                <a:lnTo>
                  <a:pt x="570738" y="105852"/>
                </a:lnTo>
                <a:lnTo>
                  <a:pt x="584327" y="112561"/>
                </a:lnTo>
                <a:lnTo>
                  <a:pt x="597916" y="127487"/>
                </a:lnTo>
                <a:lnTo>
                  <a:pt x="611505" y="123662"/>
                </a:lnTo>
                <a:lnTo>
                  <a:pt x="625094" y="118531"/>
                </a:lnTo>
                <a:lnTo>
                  <a:pt x="638683" y="122686"/>
                </a:lnTo>
                <a:lnTo>
                  <a:pt x="652272" y="126384"/>
                </a:lnTo>
                <a:lnTo>
                  <a:pt x="665861" y="128142"/>
                </a:lnTo>
                <a:lnTo>
                  <a:pt x="679450" y="123732"/>
                </a:lnTo>
                <a:lnTo>
                  <a:pt x="693039" y="125364"/>
                </a:lnTo>
                <a:lnTo>
                  <a:pt x="706628" y="120540"/>
                </a:lnTo>
                <a:lnTo>
                  <a:pt x="720217" y="114811"/>
                </a:lnTo>
                <a:lnTo>
                  <a:pt x="733806" y="115106"/>
                </a:lnTo>
                <a:lnTo>
                  <a:pt x="747395" y="116049"/>
                </a:lnTo>
                <a:lnTo>
                  <a:pt x="760984" y="121748"/>
                </a:lnTo>
                <a:lnTo>
                  <a:pt x="774573" y="125405"/>
                </a:lnTo>
                <a:lnTo>
                  <a:pt x="788162" y="128779"/>
                </a:lnTo>
                <a:lnTo>
                  <a:pt x="801751" y="124143"/>
                </a:lnTo>
                <a:lnTo>
                  <a:pt x="815340" y="122658"/>
                </a:lnTo>
                <a:lnTo>
                  <a:pt x="828929" y="123354"/>
                </a:lnTo>
                <a:lnTo>
                  <a:pt x="842518" y="122713"/>
                </a:lnTo>
                <a:lnTo>
                  <a:pt x="856107" y="124503"/>
                </a:lnTo>
                <a:lnTo>
                  <a:pt x="869696" y="129219"/>
                </a:lnTo>
                <a:lnTo>
                  <a:pt x="883285" y="136471"/>
                </a:lnTo>
                <a:lnTo>
                  <a:pt x="896874" y="128429"/>
                </a:lnTo>
                <a:lnTo>
                  <a:pt x="910463" y="127937"/>
                </a:lnTo>
                <a:lnTo>
                  <a:pt x="924052" y="122807"/>
                </a:lnTo>
                <a:lnTo>
                  <a:pt x="937641" y="119171"/>
                </a:lnTo>
                <a:lnTo>
                  <a:pt x="951230" y="113778"/>
                </a:lnTo>
                <a:lnTo>
                  <a:pt x="964819" y="104670"/>
                </a:lnTo>
                <a:lnTo>
                  <a:pt x="978408" y="113651"/>
                </a:lnTo>
                <a:lnTo>
                  <a:pt x="991997" y="129135"/>
                </a:lnTo>
                <a:lnTo>
                  <a:pt x="1005586" y="135902"/>
                </a:lnTo>
                <a:lnTo>
                  <a:pt x="1019175" y="131612"/>
                </a:lnTo>
                <a:lnTo>
                  <a:pt x="1032764" y="130448"/>
                </a:lnTo>
                <a:lnTo>
                  <a:pt x="1046353" y="129533"/>
                </a:lnTo>
                <a:lnTo>
                  <a:pt x="1059942" y="127541"/>
                </a:lnTo>
                <a:lnTo>
                  <a:pt x="1073531" y="128781"/>
                </a:lnTo>
                <a:lnTo>
                  <a:pt x="1087120" y="127304"/>
                </a:lnTo>
                <a:lnTo>
                  <a:pt x="1100709" y="133384"/>
                </a:lnTo>
                <a:lnTo>
                  <a:pt x="1114298" y="145905"/>
                </a:lnTo>
                <a:lnTo>
                  <a:pt x="1127887" y="145950"/>
                </a:lnTo>
                <a:lnTo>
                  <a:pt x="1141476" y="143044"/>
                </a:lnTo>
                <a:lnTo>
                  <a:pt x="1155065" y="144270"/>
                </a:lnTo>
                <a:lnTo>
                  <a:pt x="1168654" y="143844"/>
                </a:lnTo>
                <a:lnTo>
                  <a:pt x="1182243" y="142230"/>
                </a:lnTo>
                <a:lnTo>
                  <a:pt x="1195832" y="133191"/>
                </a:lnTo>
                <a:lnTo>
                  <a:pt x="1209421" y="135380"/>
                </a:lnTo>
                <a:lnTo>
                  <a:pt x="1223010" y="138074"/>
                </a:lnTo>
                <a:lnTo>
                  <a:pt x="1236599" y="134790"/>
                </a:lnTo>
                <a:lnTo>
                  <a:pt x="1250188" y="135647"/>
                </a:lnTo>
                <a:lnTo>
                  <a:pt x="1263777" y="140477"/>
                </a:lnTo>
                <a:lnTo>
                  <a:pt x="1277366" y="145865"/>
                </a:lnTo>
                <a:lnTo>
                  <a:pt x="1290955" y="139398"/>
                </a:lnTo>
                <a:lnTo>
                  <a:pt x="1304544" y="133779"/>
                </a:lnTo>
                <a:lnTo>
                  <a:pt x="1318133" y="130122"/>
                </a:lnTo>
                <a:lnTo>
                  <a:pt x="1331722" y="128045"/>
                </a:lnTo>
                <a:lnTo>
                  <a:pt x="1345311" y="123191"/>
                </a:lnTo>
              </a:path>
            </a:pathLst>
          </a:custGeom>
          <a:noFill/>
          <a:ln w="16510">
            <a:solidFill>
              <a:srgbClr val="0072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304800" y="2462823"/>
            <a:ext cx="1358900" cy="0"/>
          </a:xfrm>
          <a:custGeom>
            <a:avLst/>
            <a:gdLst/>
            <a:ahLst/>
            <a:cxnLst/>
            <a:rect l="l" t="t" r="r" b="b"/>
            <a:pathLst>
              <a:path w="1358900" h="0">
                <a:moveTo>
                  <a:pt x="0" y="0"/>
                </a:moveTo>
                <a:lnTo>
                  <a:pt x="1358900" y="0"/>
                </a:lnTo>
              </a:path>
            </a:pathLst>
          </a:custGeom>
          <a:noFill/>
          <a:ln w="6985">
            <a:solidFill>
              <a:srgbClr val="59636A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974785" y="2101215"/>
            <a:ext cx="266831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V ratio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951365" y="2241550"/>
            <a:ext cx="313670" cy="165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72B2"/>
                </a:solidFill>
                <a:latin typeface="Liberation Serif"/>
              </a:rPr>
              <a:t>0.37×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827368" y="2492438"/>
            <a:ext cx="561664" cy="12052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23343B"/>
                </a:solidFill>
                <a:latin typeface="Liberation Serif"/>
              </a:rPr>
              <a:t>10/10 lower V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806700" y="1970088"/>
            <a:ext cx="619750" cy="1238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23343B"/>
                </a:solidFill>
                <a:latin typeface="Liberation Serif"/>
              </a:rPr>
              <a:t>Bullet · 6 tasks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966277" y="1974215"/>
            <a:ext cx="199323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log y</a:t>
            </a:r>
          </a:p>
        </p:txBody>
      </p:sp>
      <p:sp>
        <p:nvSpPr>
          <p:cNvPr id="128" name="Freeform 127"/>
          <p:cNvSpPr/>
          <p:nvPr/>
        </p:nvSpPr>
        <p:spPr>
          <a:xfrm>
            <a:off x="2806700" y="2197100"/>
            <a:ext cx="1358900" cy="431800"/>
          </a:xfrm>
          <a:custGeom>
            <a:avLst/>
            <a:gdLst/>
            <a:ahLst/>
            <a:cxnLst/>
            <a:rect l="l" t="t" r="r" b="b"/>
            <a:pathLst>
              <a:path w="1358900" h="431800">
                <a:moveTo>
                  <a:pt x="0" y="0"/>
                </a:moveTo>
                <a:lnTo>
                  <a:pt x="0" y="431800"/>
                </a:lnTo>
                <a:lnTo>
                  <a:pt x="1358900" y="431800"/>
                </a:lnTo>
              </a:path>
            </a:pathLst>
          </a:custGeom>
          <a:noFill/>
          <a:ln w="635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2781300" y="2551585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400" y="0"/>
                </a:lnTo>
              </a:path>
            </a:pathLst>
          </a:custGeom>
          <a:noFill/>
          <a:ln w="635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692400" y="2493800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1</a:t>
            </a:r>
          </a:p>
        </p:txBody>
      </p:sp>
      <p:sp>
        <p:nvSpPr>
          <p:cNvPr id="131" name="Freeform 130"/>
          <p:cNvSpPr/>
          <p:nvPr/>
        </p:nvSpPr>
        <p:spPr>
          <a:xfrm>
            <a:off x="2781300" y="2372066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400" y="0"/>
                </a:lnTo>
              </a:path>
            </a:pathLst>
          </a:custGeom>
          <a:noFill/>
          <a:ln w="635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2692400" y="2314281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5</a:t>
            </a:r>
          </a:p>
        </p:txBody>
      </p:sp>
      <p:sp>
        <p:nvSpPr>
          <p:cNvPr id="133" name="Freeform 132"/>
          <p:cNvSpPr/>
          <p:nvPr/>
        </p:nvSpPr>
        <p:spPr>
          <a:xfrm>
            <a:off x="2781300" y="2217436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400" y="0"/>
                </a:lnTo>
              </a:path>
            </a:pathLst>
          </a:custGeom>
          <a:noFill/>
          <a:ln w="635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647950" y="2159651"/>
            <a:ext cx="10795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20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737925" y="2685415"/>
            <a:ext cx="137551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0%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052375" y="2685415"/>
            <a:ext cx="226451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100%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326016" y="2685415"/>
            <a:ext cx="320268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progress</a:t>
            </a:r>
          </a:p>
        </p:txBody>
      </p:sp>
      <p:sp>
        <p:nvSpPr>
          <p:cNvPr id="138" name="Freeform 137"/>
          <p:cNvSpPr/>
          <p:nvPr/>
        </p:nvSpPr>
        <p:spPr>
          <a:xfrm>
            <a:off x="2833878" y="2217166"/>
            <a:ext cx="1331722" cy="334419"/>
          </a:xfrm>
          <a:custGeom>
            <a:avLst/>
            <a:gdLst/>
            <a:ahLst/>
            <a:cxnLst/>
            <a:rect l="l" t="t" r="r" b="b"/>
            <a:pathLst>
              <a:path w="1331722" h="334419">
                <a:moveTo>
                  <a:pt x="0" y="182398"/>
                </a:moveTo>
                <a:lnTo>
                  <a:pt x="27178" y="171295"/>
                </a:lnTo>
                <a:lnTo>
                  <a:pt x="54356" y="92922"/>
                </a:lnTo>
                <a:lnTo>
                  <a:pt x="81534" y="57607"/>
                </a:lnTo>
                <a:lnTo>
                  <a:pt x="108712" y="27568"/>
                </a:lnTo>
                <a:lnTo>
                  <a:pt x="135890" y="16781"/>
                </a:lnTo>
                <a:lnTo>
                  <a:pt x="163068" y="10477"/>
                </a:lnTo>
                <a:lnTo>
                  <a:pt x="190246" y="1778"/>
                </a:lnTo>
                <a:lnTo>
                  <a:pt x="217424" y="0"/>
                </a:lnTo>
                <a:lnTo>
                  <a:pt x="244602" y="3260"/>
                </a:lnTo>
                <a:lnTo>
                  <a:pt x="271780" y="12830"/>
                </a:lnTo>
                <a:lnTo>
                  <a:pt x="298958" y="19817"/>
                </a:lnTo>
                <a:lnTo>
                  <a:pt x="326136" y="28845"/>
                </a:lnTo>
                <a:lnTo>
                  <a:pt x="353314" y="34709"/>
                </a:lnTo>
                <a:lnTo>
                  <a:pt x="380492" y="51258"/>
                </a:lnTo>
                <a:lnTo>
                  <a:pt x="407670" y="67741"/>
                </a:lnTo>
                <a:lnTo>
                  <a:pt x="434848" y="81242"/>
                </a:lnTo>
                <a:lnTo>
                  <a:pt x="462026" y="94138"/>
                </a:lnTo>
                <a:lnTo>
                  <a:pt x="489204" y="107600"/>
                </a:lnTo>
                <a:lnTo>
                  <a:pt x="516382" y="121420"/>
                </a:lnTo>
                <a:lnTo>
                  <a:pt x="543560" y="117473"/>
                </a:lnTo>
                <a:lnTo>
                  <a:pt x="570738" y="114465"/>
                </a:lnTo>
                <a:lnTo>
                  <a:pt x="597916" y="126112"/>
                </a:lnTo>
                <a:lnTo>
                  <a:pt x="625094" y="132953"/>
                </a:lnTo>
                <a:lnTo>
                  <a:pt x="652272" y="111944"/>
                </a:lnTo>
                <a:lnTo>
                  <a:pt x="679450" y="108282"/>
                </a:lnTo>
                <a:lnTo>
                  <a:pt x="706628" y="116515"/>
                </a:lnTo>
                <a:lnTo>
                  <a:pt x="733806" y="120802"/>
                </a:lnTo>
                <a:lnTo>
                  <a:pt x="760984" y="132410"/>
                </a:lnTo>
                <a:lnTo>
                  <a:pt x="788162" y="132632"/>
                </a:lnTo>
                <a:lnTo>
                  <a:pt x="815340" y="133038"/>
                </a:lnTo>
                <a:lnTo>
                  <a:pt x="842518" y="138519"/>
                </a:lnTo>
                <a:lnTo>
                  <a:pt x="869696" y="139240"/>
                </a:lnTo>
                <a:lnTo>
                  <a:pt x="896874" y="140001"/>
                </a:lnTo>
                <a:lnTo>
                  <a:pt x="924052" y="140049"/>
                </a:lnTo>
                <a:lnTo>
                  <a:pt x="951230" y="144571"/>
                </a:lnTo>
                <a:lnTo>
                  <a:pt x="978408" y="140621"/>
                </a:lnTo>
                <a:lnTo>
                  <a:pt x="1005586" y="139153"/>
                </a:lnTo>
                <a:lnTo>
                  <a:pt x="1032764" y="139348"/>
                </a:lnTo>
                <a:lnTo>
                  <a:pt x="1059942" y="139945"/>
                </a:lnTo>
                <a:lnTo>
                  <a:pt x="1087120" y="143035"/>
                </a:lnTo>
                <a:lnTo>
                  <a:pt x="1114298" y="150077"/>
                </a:lnTo>
                <a:lnTo>
                  <a:pt x="1141476" y="158101"/>
                </a:lnTo>
                <a:lnTo>
                  <a:pt x="1168654" y="173312"/>
                </a:lnTo>
                <a:lnTo>
                  <a:pt x="1195832" y="191494"/>
                </a:lnTo>
                <a:lnTo>
                  <a:pt x="1223010" y="201353"/>
                </a:lnTo>
                <a:lnTo>
                  <a:pt x="1250188" y="192664"/>
                </a:lnTo>
                <a:lnTo>
                  <a:pt x="1277366" y="194190"/>
                </a:lnTo>
                <a:lnTo>
                  <a:pt x="1304544" y="165931"/>
                </a:lnTo>
                <a:lnTo>
                  <a:pt x="1331722" y="164123"/>
                </a:lnTo>
                <a:lnTo>
                  <a:pt x="1331722" y="334419"/>
                </a:lnTo>
                <a:lnTo>
                  <a:pt x="0" y="334419"/>
                </a:lnTo>
                <a:close/>
              </a:path>
            </a:pathLst>
          </a:custGeom>
          <a:solidFill>
            <a:srgbClr val="A0467E">
              <a:alpha val="1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2833878" y="2217166"/>
            <a:ext cx="1331722" cy="201353"/>
          </a:xfrm>
          <a:custGeom>
            <a:avLst/>
            <a:gdLst/>
            <a:ahLst/>
            <a:cxnLst/>
            <a:rect l="l" t="t" r="r" b="b"/>
            <a:pathLst>
              <a:path w="1331722" h="201353">
                <a:moveTo>
                  <a:pt x="0" y="182398"/>
                </a:moveTo>
                <a:lnTo>
                  <a:pt x="27178" y="171295"/>
                </a:lnTo>
                <a:lnTo>
                  <a:pt x="54356" y="92922"/>
                </a:lnTo>
                <a:lnTo>
                  <a:pt x="81534" y="57607"/>
                </a:lnTo>
                <a:lnTo>
                  <a:pt x="108712" y="27568"/>
                </a:lnTo>
                <a:lnTo>
                  <a:pt x="135890" y="16781"/>
                </a:lnTo>
                <a:lnTo>
                  <a:pt x="163068" y="10477"/>
                </a:lnTo>
                <a:lnTo>
                  <a:pt x="190246" y="1778"/>
                </a:lnTo>
                <a:lnTo>
                  <a:pt x="217424" y="0"/>
                </a:lnTo>
                <a:lnTo>
                  <a:pt x="244602" y="3260"/>
                </a:lnTo>
                <a:lnTo>
                  <a:pt x="271780" y="12830"/>
                </a:lnTo>
                <a:lnTo>
                  <a:pt x="298958" y="19817"/>
                </a:lnTo>
                <a:lnTo>
                  <a:pt x="326136" y="28845"/>
                </a:lnTo>
                <a:lnTo>
                  <a:pt x="353314" y="34709"/>
                </a:lnTo>
                <a:lnTo>
                  <a:pt x="380492" y="51258"/>
                </a:lnTo>
                <a:lnTo>
                  <a:pt x="407670" y="67741"/>
                </a:lnTo>
                <a:lnTo>
                  <a:pt x="434848" y="81242"/>
                </a:lnTo>
                <a:lnTo>
                  <a:pt x="462026" y="94138"/>
                </a:lnTo>
                <a:lnTo>
                  <a:pt x="489204" y="107600"/>
                </a:lnTo>
                <a:lnTo>
                  <a:pt x="516382" y="121420"/>
                </a:lnTo>
                <a:lnTo>
                  <a:pt x="543560" y="117473"/>
                </a:lnTo>
                <a:lnTo>
                  <a:pt x="570738" y="114465"/>
                </a:lnTo>
                <a:lnTo>
                  <a:pt x="597916" y="126112"/>
                </a:lnTo>
                <a:lnTo>
                  <a:pt x="625094" y="132953"/>
                </a:lnTo>
                <a:lnTo>
                  <a:pt x="652272" y="111944"/>
                </a:lnTo>
                <a:lnTo>
                  <a:pt x="679450" y="108282"/>
                </a:lnTo>
                <a:lnTo>
                  <a:pt x="706628" y="116515"/>
                </a:lnTo>
                <a:lnTo>
                  <a:pt x="733806" y="120802"/>
                </a:lnTo>
                <a:lnTo>
                  <a:pt x="760984" y="132410"/>
                </a:lnTo>
                <a:lnTo>
                  <a:pt x="788162" y="132632"/>
                </a:lnTo>
                <a:lnTo>
                  <a:pt x="815340" y="133038"/>
                </a:lnTo>
                <a:lnTo>
                  <a:pt x="842518" y="138519"/>
                </a:lnTo>
                <a:lnTo>
                  <a:pt x="869696" y="139240"/>
                </a:lnTo>
                <a:lnTo>
                  <a:pt x="896874" y="140001"/>
                </a:lnTo>
                <a:lnTo>
                  <a:pt x="924052" y="140049"/>
                </a:lnTo>
                <a:lnTo>
                  <a:pt x="951230" y="144571"/>
                </a:lnTo>
                <a:lnTo>
                  <a:pt x="978408" y="140621"/>
                </a:lnTo>
                <a:lnTo>
                  <a:pt x="1005586" y="139153"/>
                </a:lnTo>
                <a:lnTo>
                  <a:pt x="1032764" y="139348"/>
                </a:lnTo>
                <a:lnTo>
                  <a:pt x="1059942" y="139945"/>
                </a:lnTo>
                <a:lnTo>
                  <a:pt x="1087120" y="143035"/>
                </a:lnTo>
                <a:lnTo>
                  <a:pt x="1114298" y="150077"/>
                </a:lnTo>
                <a:lnTo>
                  <a:pt x="1141476" y="158101"/>
                </a:lnTo>
                <a:lnTo>
                  <a:pt x="1168654" y="173312"/>
                </a:lnTo>
                <a:lnTo>
                  <a:pt x="1195832" y="191494"/>
                </a:lnTo>
                <a:lnTo>
                  <a:pt x="1223010" y="201353"/>
                </a:lnTo>
                <a:lnTo>
                  <a:pt x="1250188" y="192664"/>
                </a:lnTo>
                <a:lnTo>
                  <a:pt x="1277366" y="194190"/>
                </a:lnTo>
                <a:lnTo>
                  <a:pt x="1304544" y="165931"/>
                </a:lnTo>
                <a:lnTo>
                  <a:pt x="1331722" y="164123"/>
                </a:lnTo>
              </a:path>
            </a:pathLst>
          </a:custGeom>
          <a:noFill/>
          <a:ln w="13335">
            <a:solidFill>
              <a:srgbClr val="A0467E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2833878" y="2325403"/>
            <a:ext cx="1331722" cy="226182"/>
          </a:xfrm>
          <a:custGeom>
            <a:avLst/>
            <a:gdLst/>
            <a:ahLst/>
            <a:cxnLst/>
            <a:rect l="l" t="t" r="r" b="b"/>
            <a:pathLst>
              <a:path w="1331722" h="226182">
                <a:moveTo>
                  <a:pt x="0" y="82381"/>
                </a:moveTo>
                <a:lnTo>
                  <a:pt x="27178" y="105655"/>
                </a:lnTo>
                <a:lnTo>
                  <a:pt x="54356" y="100764"/>
                </a:lnTo>
                <a:lnTo>
                  <a:pt x="81534" y="29295"/>
                </a:lnTo>
                <a:lnTo>
                  <a:pt x="108712" y="12383"/>
                </a:lnTo>
                <a:lnTo>
                  <a:pt x="135890" y="11828"/>
                </a:lnTo>
                <a:lnTo>
                  <a:pt x="163068" y="0"/>
                </a:lnTo>
                <a:lnTo>
                  <a:pt x="190246" y="5285"/>
                </a:lnTo>
                <a:lnTo>
                  <a:pt x="217424" y="10439"/>
                </a:lnTo>
                <a:lnTo>
                  <a:pt x="244602" y="2833"/>
                </a:lnTo>
                <a:lnTo>
                  <a:pt x="271780" y="26066"/>
                </a:lnTo>
                <a:lnTo>
                  <a:pt x="298958" y="54562"/>
                </a:lnTo>
                <a:lnTo>
                  <a:pt x="326136" y="66118"/>
                </a:lnTo>
                <a:lnTo>
                  <a:pt x="353314" y="108182"/>
                </a:lnTo>
                <a:lnTo>
                  <a:pt x="380492" y="123373"/>
                </a:lnTo>
                <a:lnTo>
                  <a:pt x="407670" y="151522"/>
                </a:lnTo>
                <a:lnTo>
                  <a:pt x="434848" y="135259"/>
                </a:lnTo>
                <a:lnTo>
                  <a:pt x="462026" y="156433"/>
                </a:lnTo>
                <a:lnTo>
                  <a:pt x="489204" y="129598"/>
                </a:lnTo>
                <a:lnTo>
                  <a:pt x="516382" y="164660"/>
                </a:lnTo>
                <a:lnTo>
                  <a:pt x="543560" y="193636"/>
                </a:lnTo>
                <a:lnTo>
                  <a:pt x="570738" y="204728"/>
                </a:lnTo>
                <a:lnTo>
                  <a:pt x="597916" y="208959"/>
                </a:lnTo>
                <a:lnTo>
                  <a:pt x="625094" y="189088"/>
                </a:lnTo>
                <a:lnTo>
                  <a:pt x="652272" y="192155"/>
                </a:lnTo>
                <a:lnTo>
                  <a:pt x="679450" y="195791"/>
                </a:lnTo>
                <a:lnTo>
                  <a:pt x="706628" y="185028"/>
                </a:lnTo>
                <a:lnTo>
                  <a:pt x="733806" y="188401"/>
                </a:lnTo>
                <a:lnTo>
                  <a:pt x="760984" y="161792"/>
                </a:lnTo>
                <a:lnTo>
                  <a:pt x="788162" y="164893"/>
                </a:lnTo>
                <a:lnTo>
                  <a:pt x="815340" y="185147"/>
                </a:lnTo>
                <a:lnTo>
                  <a:pt x="842518" y="175667"/>
                </a:lnTo>
                <a:lnTo>
                  <a:pt x="869696" y="168642"/>
                </a:lnTo>
                <a:lnTo>
                  <a:pt x="896874" y="209666"/>
                </a:lnTo>
                <a:lnTo>
                  <a:pt x="924052" y="161232"/>
                </a:lnTo>
                <a:lnTo>
                  <a:pt x="951230" y="112289"/>
                </a:lnTo>
                <a:lnTo>
                  <a:pt x="978408" y="148201"/>
                </a:lnTo>
                <a:lnTo>
                  <a:pt x="1005586" y="155604"/>
                </a:lnTo>
                <a:lnTo>
                  <a:pt x="1032764" y="154532"/>
                </a:lnTo>
                <a:lnTo>
                  <a:pt x="1059942" y="155454"/>
                </a:lnTo>
                <a:lnTo>
                  <a:pt x="1087120" y="145727"/>
                </a:lnTo>
                <a:lnTo>
                  <a:pt x="1114298" y="166678"/>
                </a:lnTo>
                <a:lnTo>
                  <a:pt x="1141476" y="164531"/>
                </a:lnTo>
                <a:lnTo>
                  <a:pt x="1168654" y="202701"/>
                </a:lnTo>
                <a:lnTo>
                  <a:pt x="1195832" y="211442"/>
                </a:lnTo>
                <a:lnTo>
                  <a:pt x="1223010" y="143127"/>
                </a:lnTo>
                <a:lnTo>
                  <a:pt x="1250188" y="78879"/>
                </a:lnTo>
                <a:lnTo>
                  <a:pt x="1277366" y="132513"/>
                </a:lnTo>
                <a:lnTo>
                  <a:pt x="1304544" y="191014"/>
                </a:lnTo>
                <a:lnTo>
                  <a:pt x="1331722" y="178079"/>
                </a:lnTo>
                <a:lnTo>
                  <a:pt x="1331722" y="226182"/>
                </a:lnTo>
                <a:lnTo>
                  <a:pt x="0" y="226182"/>
                </a:lnTo>
                <a:close/>
              </a:path>
            </a:pathLst>
          </a:custGeom>
          <a:solidFill>
            <a:srgbClr val="0072B2">
              <a:alpha val="1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Freeform 140"/>
          <p:cNvSpPr/>
          <p:nvPr/>
        </p:nvSpPr>
        <p:spPr>
          <a:xfrm>
            <a:off x="2833878" y="2325403"/>
            <a:ext cx="1331722" cy="211442"/>
          </a:xfrm>
          <a:custGeom>
            <a:avLst/>
            <a:gdLst/>
            <a:ahLst/>
            <a:cxnLst/>
            <a:rect l="l" t="t" r="r" b="b"/>
            <a:pathLst>
              <a:path w="1331722" h="211442">
                <a:moveTo>
                  <a:pt x="0" y="82381"/>
                </a:moveTo>
                <a:lnTo>
                  <a:pt x="27178" y="105655"/>
                </a:lnTo>
                <a:lnTo>
                  <a:pt x="54356" y="100764"/>
                </a:lnTo>
                <a:lnTo>
                  <a:pt x="81534" y="29295"/>
                </a:lnTo>
                <a:lnTo>
                  <a:pt x="108712" y="12383"/>
                </a:lnTo>
                <a:lnTo>
                  <a:pt x="135890" y="11828"/>
                </a:lnTo>
                <a:lnTo>
                  <a:pt x="163068" y="0"/>
                </a:lnTo>
                <a:lnTo>
                  <a:pt x="190246" y="5285"/>
                </a:lnTo>
                <a:lnTo>
                  <a:pt x="217424" y="10439"/>
                </a:lnTo>
                <a:lnTo>
                  <a:pt x="244602" y="2833"/>
                </a:lnTo>
                <a:lnTo>
                  <a:pt x="271780" y="26066"/>
                </a:lnTo>
                <a:lnTo>
                  <a:pt x="298958" y="54562"/>
                </a:lnTo>
                <a:lnTo>
                  <a:pt x="326136" y="66118"/>
                </a:lnTo>
                <a:lnTo>
                  <a:pt x="353314" y="108182"/>
                </a:lnTo>
                <a:lnTo>
                  <a:pt x="380492" y="123373"/>
                </a:lnTo>
                <a:lnTo>
                  <a:pt x="407670" y="151522"/>
                </a:lnTo>
                <a:lnTo>
                  <a:pt x="434848" y="135259"/>
                </a:lnTo>
                <a:lnTo>
                  <a:pt x="462026" y="156433"/>
                </a:lnTo>
                <a:lnTo>
                  <a:pt x="489204" y="129598"/>
                </a:lnTo>
                <a:lnTo>
                  <a:pt x="516382" y="164660"/>
                </a:lnTo>
                <a:lnTo>
                  <a:pt x="543560" y="193636"/>
                </a:lnTo>
                <a:lnTo>
                  <a:pt x="570738" y="204728"/>
                </a:lnTo>
                <a:lnTo>
                  <a:pt x="597916" y="208959"/>
                </a:lnTo>
                <a:lnTo>
                  <a:pt x="625094" y="189088"/>
                </a:lnTo>
                <a:lnTo>
                  <a:pt x="652272" y="192155"/>
                </a:lnTo>
                <a:lnTo>
                  <a:pt x="679450" y="195791"/>
                </a:lnTo>
                <a:lnTo>
                  <a:pt x="706628" y="185028"/>
                </a:lnTo>
                <a:lnTo>
                  <a:pt x="733806" y="188401"/>
                </a:lnTo>
                <a:lnTo>
                  <a:pt x="760984" y="161792"/>
                </a:lnTo>
                <a:lnTo>
                  <a:pt x="788162" y="164893"/>
                </a:lnTo>
                <a:lnTo>
                  <a:pt x="815340" y="185147"/>
                </a:lnTo>
                <a:lnTo>
                  <a:pt x="842518" y="175667"/>
                </a:lnTo>
                <a:lnTo>
                  <a:pt x="869696" y="168642"/>
                </a:lnTo>
                <a:lnTo>
                  <a:pt x="896874" y="209666"/>
                </a:lnTo>
                <a:lnTo>
                  <a:pt x="924052" y="161232"/>
                </a:lnTo>
                <a:lnTo>
                  <a:pt x="951230" y="112289"/>
                </a:lnTo>
                <a:lnTo>
                  <a:pt x="978408" y="148201"/>
                </a:lnTo>
                <a:lnTo>
                  <a:pt x="1005586" y="155604"/>
                </a:lnTo>
                <a:lnTo>
                  <a:pt x="1032764" y="154532"/>
                </a:lnTo>
                <a:lnTo>
                  <a:pt x="1059942" y="155454"/>
                </a:lnTo>
                <a:lnTo>
                  <a:pt x="1087120" y="145727"/>
                </a:lnTo>
                <a:lnTo>
                  <a:pt x="1114298" y="166678"/>
                </a:lnTo>
                <a:lnTo>
                  <a:pt x="1141476" y="164531"/>
                </a:lnTo>
                <a:lnTo>
                  <a:pt x="1168654" y="202701"/>
                </a:lnTo>
                <a:lnTo>
                  <a:pt x="1195832" y="211442"/>
                </a:lnTo>
                <a:lnTo>
                  <a:pt x="1223010" y="143127"/>
                </a:lnTo>
                <a:lnTo>
                  <a:pt x="1250188" y="78879"/>
                </a:lnTo>
                <a:lnTo>
                  <a:pt x="1277366" y="132513"/>
                </a:lnTo>
                <a:lnTo>
                  <a:pt x="1304544" y="191014"/>
                </a:lnTo>
                <a:lnTo>
                  <a:pt x="1331722" y="178079"/>
                </a:lnTo>
              </a:path>
            </a:pathLst>
          </a:custGeom>
          <a:noFill/>
          <a:ln w="16510">
            <a:solidFill>
              <a:srgbClr val="0072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Freeform 141"/>
          <p:cNvSpPr/>
          <p:nvPr/>
        </p:nvSpPr>
        <p:spPr>
          <a:xfrm>
            <a:off x="2806700" y="2551585"/>
            <a:ext cx="1358900" cy="0"/>
          </a:xfrm>
          <a:custGeom>
            <a:avLst/>
            <a:gdLst/>
            <a:ahLst/>
            <a:cxnLst/>
            <a:rect l="l" t="t" r="r" b="b"/>
            <a:pathLst>
              <a:path w="1358900" h="0">
                <a:moveTo>
                  <a:pt x="0" y="0"/>
                </a:moveTo>
                <a:lnTo>
                  <a:pt x="1358900" y="0"/>
                </a:lnTo>
              </a:path>
            </a:pathLst>
          </a:custGeom>
          <a:noFill/>
          <a:ln w="6985">
            <a:solidFill>
              <a:srgbClr val="59636A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463985" y="2101215"/>
            <a:ext cx="266831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V ratio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440565" y="2241550"/>
            <a:ext cx="313670" cy="165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72B2"/>
                </a:solidFill>
                <a:latin typeface="Liberation Serif"/>
              </a:rPr>
              <a:t>0.22×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362923" y="2492438"/>
            <a:ext cx="468954" cy="12052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23343B"/>
                </a:solidFill>
                <a:latin typeface="Liberation Serif"/>
              </a:rPr>
              <a:t>6/6 lower V</a:t>
            </a:r>
          </a:p>
        </p:txBody>
      </p:sp>
      <p:sp>
        <p:nvSpPr>
          <p:cNvPr id="146" name="Freeform 145"/>
          <p:cNvSpPr/>
          <p:nvPr/>
        </p:nvSpPr>
        <p:spPr>
          <a:xfrm>
            <a:off x="203200" y="3086100"/>
            <a:ext cx="1066800" cy="0"/>
          </a:xfrm>
          <a:custGeom>
            <a:avLst/>
            <a:gdLst/>
            <a:ahLst/>
            <a:cxnLst/>
            <a:rect l="l" t="t" r="r" b="b"/>
            <a:pathLst>
              <a:path w="1066800" h="0">
                <a:moveTo>
                  <a:pt x="0" y="0"/>
                </a:moveTo>
                <a:lnTo>
                  <a:pt x="1066800" y="0"/>
                </a:lnTo>
              </a:path>
            </a:pathLst>
          </a:custGeom>
          <a:noFill/>
          <a:ln w="1905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1270000" y="3086100"/>
            <a:ext cx="1219200" cy="0"/>
          </a:xfrm>
          <a:custGeom>
            <a:avLst/>
            <a:gdLst/>
            <a:ahLst/>
            <a:cxnLst/>
            <a:rect l="l" t="t" r="r" b="b"/>
            <a:pathLst>
              <a:path w="1219200" h="0">
                <a:moveTo>
                  <a:pt x="0" y="0"/>
                </a:moveTo>
                <a:lnTo>
                  <a:pt x="1219200" y="0"/>
                </a:lnTo>
              </a:path>
            </a:pathLst>
          </a:custGeom>
          <a:noFill/>
          <a:ln w="19050">
            <a:solidFill>
              <a:srgbClr val="A0467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Freeform 147"/>
          <p:cNvSpPr/>
          <p:nvPr/>
        </p:nvSpPr>
        <p:spPr>
          <a:xfrm>
            <a:off x="2489200" y="3086100"/>
            <a:ext cx="1219200" cy="0"/>
          </a:xfrm>
          <a:custGeom>
            <a:avLst/>
            <a:gdLst/>
            <a:ahLst/>
            <a:cxnLst/>
            <a:rect l="l" t="t" r="r" b="b"/>
            <a:pathLst>
              <a:path w="1219200" h="0">
                <a:moveTo>
                  <a:pt x="0" y="0"/>
                </a:moveTo>
                <a:lnTo>
                  <a:pt x="1219200" y="0"/>
                </a:lnTo>
              </a:path>
            </a:pathLst>
          </a:custGeom>
          <a:noFill/>
          <a:ln w="19050">
            <a:solidFill>
              <a:srgbClr val="0072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Freeform 148"/>
          <p:cNvSpPr/>
          <p:nvPr/>
        </p:nvSpPr>
        <p:spPr>
          <a:xfrm>
            <a:off x="3708400" y="3086100"/>
            <a:ext cx="1117600" cy="0"/>
          </a:xfrm>
          <a:custGeom>
            <a:avLst/>
            <a:gdLst/>
            <a:ahLst/>
            <a:cxnLst/>
            <a:rect l="l" t="t" r="r" b="b"/>
            <a:pathLst>
              <a:path w="1117600" h="0">
                <a:moveTo>
                  <a:pt x="0" y="0"/>
                </a:moveTo>
                <a:lnTo>
                  <a:pt x="1117600" y="0"/>
                </a:lnTo>
              </a:path>
            </a:pathLst>
          </a:custGeom>
          <a:noFill/>
          <a:ln w="190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327276" y="2923413"/>
            <a:ext cx="564648" cy="1221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59636A"/>
                </a:solidFill>
                <a:latin typeface="Liberation Serif"/>
              </a:rPr>
              <a:t>Fixed penalty</a:t>
            </a:r>
          </a:p>
        </p:txBody>
      </p:sp>
      <p:sp>
        <p:nvSpPr>
          <p:cNvPr id="151" name="Oval 150"/>
          <p:cNvSpPr/>
          <p:nvPr/>
        </p:nvSpPr>
        <p:spPr>
          <a:xfrm>
            <a:off x="586740" y="3063240"/>
            <a:ext cx="45720" cy="45720"/>
          </a:xfrm>
          <a:prstGeom prst="ellipse">
            <a:avLst/>
          </a:prstGeom>
          <a:solidFill>
            <a:srgbClr val="59636A"/>
          </a:solidFill>
          <a:ln w="635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558881" y="2923413"/>
            <a:ext cx="489038" cy="1221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A0467E"/>
                </a:solidFill>
                <a:latin typeface="Liberation Serif"/>
              </a:rPr>
              <a:t>Lagrangian</a:t>
            </a:r>
          </a:p>
        </p:txBody>
      </p:sp>
      <p:sp>
        <p:nvSpPr>
          <p:cNvPr id="153" name="Oval 152"/>
          <p:cNvSpPr/>
          <p:nvPr/>
        </p:nvSpPr>
        <p:spPr>
          <a:xfrm>
            <a:off x="1780540" y="3063240"/>
            <a:ext cx="45720" cy="45720"/>
          </a:xfrm>
          <a:prstGeom prst="ellipse">
            <a:avLst/>
          </a:prstGeom>
          <a:solidFill>
            <a:srgbClr val="A0467E"/>
          </a:solidFill>
          <a:ln w="6350">
            <a:solidFill>
              <a:srgbClr val="A0467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2763776" y="2923413"/>
            <a:ext cx="543047" cy="1221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0072B2"/>
                </a:solidFill>
                <a:latin typeface="Liberation Serif"/>
              </a:rPr>
              <a:t>SafeOT-Dual</a:t>
            </a:r>
          </a:p>
        </p:txBody>
      </p:sp>
      <p:sp>
        <p:nvSpPr>
          <p:cNvPr id="155" name="Oval 154"/>
          <p:cNvSpPr/>
          <p:nvPr/>
        </p:nvSpPr>
        <p:spPr>
          <a:xfrm>
            <a:off x="3012440" y="3063240"/>
            <a:ext cx="45720" cy="45720"/>
          </a:xfrm>
          <a:prstGeom prst="ellipse">
            <a:avLst/>
          </a:prstGeom>
          <a:solidFill>
            <a:srgbClr val="0072B2"/>
          </a:solidFill>
          <a:ln w="6350">
            <a:solidFill>
              <a:srgbClr val="0072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90116" y="2923413"/>
            <a:ext cx="582768" cy="1221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167C80"/>
                </a:solidFill>
                <a:latin typeface="Liberation Serif"/>
              </a:rPr>
              <a:t>LP / active-set</a:t>
            </a:r>
          </a:p>
        </p:txBody>
      </p:sp>
      <p:sp>
        <p:nvSpPr>
          <p:cNvPr id="157" name="Oval 156"/>
          <p:cNvSpPr/>
          <p:nvPr/>
        </p:nvSpPr>
        <p:spPr>
          <a:xfrm>
            <a:off x="4358640" y="3063240"/>
            <a:ext cx="45720" cy="45720"/>
          </a:xfrm>
          <a:prstGeom prst="ellipse">
            <a:avLst/>
          </a:prstGeom>
          <a:solidFill>
            <a:srgbClr val="167C80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363545" y="3142615"/>
            <a:ext cx="492109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c = 0, fixed β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498109" y="3142615"/>
            <a:ext cx="610582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c = 0, adaptive β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2902190" y="3142615"/>
            <a:ext cx="26622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finite ε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991622" y="3142615"/>
            <a:ext cx="779756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ε → 0 / saturated clip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2000-01-01T00:00:00Z</dcterms:created>
  <dcterms:modified xsi:type="dcterms:W3CDTF">2000-01-01T00:00:00Z</dcterms:modified>
  <cp:category/>
  <dc:identifier/>
  <cp:contentStatus/>
</cp:coreProperties>
</file>