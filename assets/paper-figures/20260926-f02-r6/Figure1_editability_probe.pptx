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alty" descr="Editable shape; source id penalty"/>
          <p:cNvSpPr/>
          <p:nvPr/>
        </p:nvSpPr>
        <p:spPr>
          <a:xfrm>
            <a:off x="38100" y="38100"/>
            <a:ext cx="1054100" cy="19177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alty_title" descr="Editable text; source id penalty_title"/>
          <p:cNvSpPr txBox="1"/>
          <p:nvPr/>
        </p:nvSpPr>
        <p:spPr>
          <a:xfrm>
            <a:off x="1016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Fixed penalty</a:t>
            </a:r>
          </a:p>
        </p:txBody>
      </p:sp>
      <p:sp>
        <p:nvSpPr>
          <p:cNvPr id="4" name="leak" descr="Editable text; source id leak"/>
          <p:cNvSpPr txBox="1"/>
          <p:nvPr/>
        </p:nvSpPr>
        <p:spPr>
          <a:xfrm>
            <a:off x="114300" y="279400"/>
            <a:ext cx="8890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rPr>
              <a:t>Budget leakage</a:t>
            </a:r>
          </a:p>
        </p:txBody>
      </p:sp>
      <p:sp>
        <p:nvSpPr>
          <p:cNvPr id="5" name="p_x" descr="Editable line; source id p_x"/>
          <p:cNvSpPr/>
          <p:nvPr/>
        </p:nvSpPr>
        <p:spPr>
          <a:xfrm>
            <a:off x="177800" y="1557020"/>
            <a:ext cx="812800" cy="35560"/>
          </a:xfrm>
          <a:custGeom>
            <a:avLst/>
            <a:gdLst/>
            <a:ahLst/>
            <a:cxnLst/>
            <a:rect l="l" t="t" r="r" b="b"/>
            <a:pathLst>
              <a:path w="320000" h="14000">
                <a:moveTo>
                  <a:pt x="0" y="5250"/>
                </a:moveTo>
                <a:lnTo>
                  <a:pt x="302500" y="5250"/>
                </a:lnTo>
                <a:lnTo>
                  <a:pt x="302500" y="0"/>
                </a:lnTo>
                <a:lnTo>
                  <a:pt x="320000" y="7000"/>
                </a:lnTo>
                <a:lnTo>
                  <a:pt x="302500" y="14000"/>
                </a:lnTo>
                <a:lnTo>
                  <a:pt x="30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_y" descr="Editable line; source id p_y"/>
          <p:cNvSpPr/>
          <p:nvPr/>
        </p:nvSpPr>
        <p:spPr>
          <a:xfrm>
            <a:off x="1600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p_B" descr="Editable line; source id p_B"/>
          <p:cNvCxnSpPr/>
          <p:nvPr/>
        </p:nvCxnSpPr>
        <p:spPr>
          <a:xfrm>
            <a:off x="190500" y="1079500"/>
            <a:ext cx="7874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_budget" descr="Editable text; source id p_budget"/>
          <p:cNvSpPr txBox="1"/>
          <p:nvPr/>
        </p:nvSpPr>
        <p:spPr>
          <a:xfrm>
            <a:off x="76200" y="10160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9" name="cost_penalty_0" descr="Editable line; source id cost_penalty_0"/>
          <p:cNvCxnSpPr/>
          <p:nvPr/>
        </p:nvCxnSpPr>
        <p:spPr>
          <a:xfrm>
            <a:off x="203200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st_penalty_1" descr="Editable line; source id cost_penalty_1"/>
          <p:cNvCxnSpPr/>
          <p:nvPr/>
        </p:nvCxnSpPr>
        <p:spPr>
          <a:xfrm>
            <a:off x="209328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st_penalty_2" descr="Editable line; source id cost_penalty_2"/>
          <p:cNvCxnSpPr/>
          <p:nvPr/>
        </p:nvCxnSpPr>
        <p:spPr>
          <a:xfrm>
            <a:off x="215457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st_penalty_3" descr="Editable line; source id cost_penalty_3"/>
          <p:cNvCxnSpPr/>
          <p:nvPr/>
        </p:nvCxnSpPr>
        <p:spPr>
          <a:xfrm>
            <a:off x="221586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st_penalty_4" descr="Editable line; source id cost_penalty_4"/>
          <p:cNvCxnSpPr/>
          <p:nvPr/>
        </p:nvCxnSpPr>
        <p:spPr>
          <a:xfrm flipV="1">
            <a:off x="227714" y="107319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st_penalty_5" descr="Editable line; source id cost_penalty_5"/>
          <p:cNvCxnSpPr/>
          <p:nvPr/>
        </p:nvCxnSpPr>
        <p:spPr>
          <a:xfrm>
            <a:off x="233843" y="107319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st_penalty_6" descr="Editable line; source id cost_penalty_6"/>
          <p:cNvCxnSpPr/>
          <p:nvPr/>
        </p:nvCxnSpPr>
        <p:spPr>
          <a:xfrm flipV="1">
            <a:off x="239972" y="107003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st_penalty_7" descr="Editable line; source id cost_penalty_7"/>
          <p:cNvCxnSpPr/>
          <p:nvPr/>
        </p:nvCxnSpPr>
        <p:spPr>
          <a:xfrm flipV="1">
            <a:off x="246100" y="106688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st_penalty_8" descr="Editable line; source id cost_penalty_8"/>
          <p:cNvCxnSpPr/>
          <p:nvPr/>
        </p:nvCxnSpPr>
        <p:spPr>
          <a:xfrm flipV="1">
            <a:off x="252229" y="1063726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st_penalty_9" descr="Editable line; source id cost_penalty_9"/>
          <p:cNvCxnSpPr/>
          <p:nvPr/>
        </p:nvCxnSpPr>
        <p:spPr>
          <a:xfrm flipV="1">
            <a:off x="258358" y="105741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st_penalty_10" descr="Editable line; source id cost_penalty_10"/>
          <p:cNvCxnSpPr/>
          <p:nvPr/>
        </p:nvCxnSpPr>
        <p:spPr>
          <a:xfrm flipV="1">
            <a:off x="264486" y="105426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st_penalty_11" descr="Editable line; source id cost_penalty_11"/>
          <p:cNvCxnSpPr/>
          <p:nvPr/>
        </p:nvCxnSpPr>
        <p:spPr>
          <a:xfrm flipV="1">
            <a:off x="270615" y="105110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st_penalty_12" descr="Editable line; source id cost_penalty_12"/>
          <p:cNvCxnSpPr/>
          <p:nvPr/>
        </p:nvCxnSpPr>
        <p:spPr>
          <a:xfrm flipV="1">
            <a:off x="276744" y="1044797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st_penalty_13" descr="Editable line; source id cost_penalty_13"/>
          <p:cNvCxnSpPr/>
          <p:nvPr/>
        </p:nvCxnSpPr>
        <p:spPr>
          <a:xfrm>
            <a:off x="282872" y="104479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st_penalty_14" descr="Editable line; source id cost_penalty_14"/>
          <p:cNvCxnSpPr/>
          <p:nvPr/>
        </p:nvCxnSpPr>
        <p:spPr>
          <a:xfrm flipV="1">
            <a:off x="289001" y="104164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st_penalty_15" descr="Editable line; source id cost_penalty_15"/>
          <p:cNvCxnSpPr/>
          <p:nvPr/>
        </p:nvCxnSpPr>
        <p:spPr>
          <a:xfrm flipV="1">
            <a:off x="295130" y="1038487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st_penalty_16" descr="Editable line; source id cost_penalty_16"/>
          <p:cNvCxnSpPr/>
          <p:nvPr/>
        </p:nvCxnSpPr>
        <p:spPr>
          <a:xfrm flipV="1">
            <a:off x="301258" y="1035333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st_penalty_17" descr="Editable line; source id cost_penalty_17"/>
          <p:cNvCxnSpPr/>
          <p:nvPr/>
        </p:nvCxnSpPr>
        <p:spPr>
          <a:xfrm flipV="1">
            <a:off x="307387" y="103217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st_penalty_18" descr="Editable line; source id cost_penalty_18"/>
          <p:cNvCxnSpPr/>
          <p:nvPr/>
        </p:nvCxnSpPr>
        <p:spPr>
          <a:xfrm flipV="1">
            <a:off x="313516" y="102586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st_penalty_19" descr="Editable line; source id cost_penalty_19"/>
          <p:cNvCxnSpPr/>
          <p:nvPr/>
        </p:nvCxnSpPr>
        <p:spPr>
          <a:xfrm flipV="1">
            <a:off x="319645" y="1022714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st_penalty_20" descr="Editable line; source id cost_penalty_20"/>
          <p:cNvCxnSpPr/>
          <p:nvPr/>
        </p:nvCxnSpPr>
        <p:spPr>
          <a:xfrm flipV="1">
            <a:off x="325773" y="1016404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st_penalty_21" descr="Editable line; source id cost_penalty_21"/>
          <p:cNvCxnSpPr/>
          <p:nvPr/>
        </p:nvCxnSpPr>
        <p:spPr>
          <a:xfrm flipV="1">
            <a:off x="331902" y="101324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st_penalty_22" descr="Editable line; source id cost_penalty_22"/>
          <p:cNvCxnSpPr/>
          <p:nvPr/>
        </p:nvCxnSpPr>
        <p:spPr>
          <a:xfrm flipV="1">
            <a:off x="338031" y="10100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st_penalty_23" descr="Editable line; source id cost_penalty_23"/>
          <p:cNvCxnSpPr/>
          <p:nvPr/>
        </p:nvCxnSpPr>
        <p:spPr>
          <a:xfrm flipV="1">
            <a:off x="344159" y="1006940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st_penalty_24" descr="Editable line; source id cost_penalty_24"/>
          <p:cNvCxnSpPr/>
          <p:nvPr/>
        </p:nvCxnSpPr>
        <p:spPr>
          <a:xfrm>
            <a:off x="350288" y="100694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st_penalty_25" descr="Editable line; source id cost_penalty_25"/>
          <p:cNvCxnSpPr/>
          <p:nvPr/>
        </p:nvCxnSpPr>
        <p:spPr>
          <a:xfrm flipV="1">
            <a:off x="356417" y="100378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st_penalty_26" descr="Editable line; source id cost_penalty_26"/>
          <p:cNvCxnSpPr/>
          <p:nvPr/>
        </p:nvCxnSpPr>
        <p:spPr>
          <a:xfrm>
            <a:off x="362545" y="100378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st_penalty_27" descr="Editable line; source id cost_penalty_27"/>
          <p:cNvCxnSpPr/>
          <p:nvPr/>
        </p:nvCxnSpPr>
        <p:spPr>
          <a:xfrm flipV="1">
            <a:off x="368674" y="100063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st_penalty_28" descr="Editable line; source id cost_penalty_28"/>
          <p:cNvCxnSpPr/>
          <p:nvPr/>
        </p:nvCxnSpPr>
        <p:spPr>
          <a:xfrm flipV="1">
            <a:off x="374803" y="99747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st_penalty_29" descr="Editable line; source id cost_penalty_29"/>
          <p:cNvCxnSpPr/>
          <p:nvPr/>
        </p:nvCxnSpPr>
        <p:spPr>
          <a:xfrm flipV="1">
            <a:off x="380931" y="99432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st_penalty_30" descr="Editable line; source id cost_penalty_30"/>
          <p:cNvCxnSpPr/>
          <p:nvPr/>
        </p:nvCxnSpPr>
        <p:spPr>
          <a:xfrm flipV="1">
            <a:off x="387060" y="98801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st_penalty_31" descr="Editable line; source id cost_penalty_31"/>
          <p:cNvCxnSpPr/>
          <p:nvPr/>
        </p:nvCxnSpPr>
        <p:spPr>
          <a:xfrm flipV="1">
            <a:off x="393189" y="984856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st_penalty_32" descr="Editable line; source id cost_penalty_32"/>
          <p:cNvCxnSpPr/>
          <p:nvPr/>
        </p:nvCxnSpPr>
        <p:spPr>
          <a:xfrm flipV="1">
            <a:off x="399317" y="97854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st_penalty_33" descr="Editable line; source id cost_penalty_33"/>
          <p:cNvCxnSpPr/>
          <p:nvPr/>
        </p:nvCxnSpPr>
        <p:spPr>
          <a:xfrm flipV="1">
            <a:off x="405446" y="97539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st_penalty_34" descr="Editable line; source id cost_penalty_34"/>
          <p:cNvCxnSpPr/>
          <p:nvPr/>
        </p:nvCxnSpPr>
        <p:spPr>
          <a:xfrm flipV="1">
            <a:off x="411575" y="969082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st_penalty_35" descr="Editable line; source id cost_penalty_35"/>
          <p:cNvCxnSpPr/>
          <p:nvPr/>
        </p:nvCxnSpPr>
        <p:spPr>
          <a:xfrm flipV="1">
            <a:off x="417704" y="965928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st_penalty_36" descr="Editable line; source id cost_penalty_36"/>
          <p:cNvCxnSpPr/>
          <p:nvPr/>
        </p:nvCxnSpPr>
        <p:spPr>
          <a:xfrm flipV="1">
            <a:off x="423832" y="96277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st_penalty_37" descr="Editable line; source id cost_penalty_37"/>
          <p:cNvCxnSpPr/>
          <p:nvPr/>
        </p:nvCxnSpPr>
        <p:spPr>
          <a:xfrm flipV="1">
            <a:off x="429961" y="95961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st_penalty_38" descr="Editable line; source id cost_penalty_38"/>
          <p:cNvCxnSpPr/>
          <p:nvPr/>
        </p:nvCxnSpPr>
        <p:spPr>
          <a:xfrm flipV="1">
            <a:off x="436090" y="956463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st_penalty_39" descr="Editable line; source id cost_penalty_39"/>
          <p:cNvCxnSpPr/>
          <p:nvPr/>
        </p:nvCxnSpPr>
        <p:spPr>
          <a:xfrm>
            <a:off x="442218" y="956463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st_penalty_40" descr="Editable line; source id cost_penalty_40"/>
          <p:cNvCxnSpPr/>
          <p:nvPr/>
        </p:nvCxnSpPr>
        <p:spPr>
          <a:xfrm flipV="1">
            <a:off x="448347" y="95330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st_penalty_41" descr="Editable line; source id cost_penalty_41"/>
          <p:cNvCxnSpPr/>
          <p:nvPr/>
        </p:nvCxnSpPr>
        <p:spPr>
          <a:xfrm>
            <a:off x="454476" y="953308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st_penalty_42" descr="Editable line; source id cost_penalty_42"/>
          <p:cNvCxnSpPr/>
          <p:nvPr/>
        </p:nvCxnSpPr>
        <p:spPr>
          <a:xfrm>
            <a:off x="460604" y="95330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st_penalty_43" descr="Editable line; source id cost_penalty_43"/>
          <p:cNvCxnSpPr/>
          <p:nvPr/>
        </p:nvCxnSpPr>
        <p:spPr>
          <a:xfrm flipV="1">
            <a:off x="466733" y="950154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st_penalty_44" descr="Editable line; source id cost_penalty_44"/>
          <p:cNvCxnSpPr/>
          <p:nvPr/>
        </p:nvCxnSpPr>
        <p:spPr>
          <a:xfrm flipV="1">
            <a:off x="472862" y="946999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st_penalty_45" descr="Editable line; source id cost_penalty_45"/>
          <p:cNvCxnSpPr/>
          <p:nvPr/>
        </p:nvCxnSpPr>
        <p:spPr>
          <a:xfrm flipV="1">
            <a:off x="478990" y="94384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st_penalty_46" descr="Editable line; source id cost_penalty_46"/>
          <p:cNvCxnSpPr/>
          <p:nvPr/>
        </p:nvCxnSpPr>
        <p:spPr>
          <a:xfrm flipV="1">
            <a:off x="485119" y="94068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st_penalty_47" descr="Editable line; source id cost_penalty_47"/>
          <p:cNvCxnSpPr/>
          <p:nvPr/>
        </p:nvCxnSpPr>
        <p:spPr>
          <a:xfrm flipV="1">
            <a:off x="491248" y="93438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st_penalty_48" descr="Editable line; source id cost_penalty_48"/>
          <p:cNvCxnSpPr/>
          <p:nvPr/>
        </p:nvCxnSpPr>
        <p:spPr>
          <a:xfrm flipV="1">
            <a:off x="497376" y="92807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st_penalty_49" descr="Editable line; source id cost_penalty_49"/>
          <p:cNvCxnSpPr/>
          <p:nvPr/>
        </p:nvCxnSpPr>
        <p:spPr>
          <a:xfrm flipV="1">
            <a:off x="503505" y="92491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st_penalty_50" descr="Editable line; source id cost_penalty_50"/>
          <p:cNvCxnSpPr/>
          <p:nvPr/>
        </p:nvCxnSpPr>
        <p:spPr>
          <a:xfrm flipV="1">
            <a:off x="509634" y="91860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st_penalty_51" descr="Editable line; source id cost_penalty_51"/>
          <p:cNvCxnSpPr/>
          <p:nvPr/>
        </p:nvCxnSpPr>
        <p:spPr>
          <a:xfrm flipV="1">
            <a:off x="515763" y="91229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st_penalty_52" descr="Editable line; source id cost_penalty_52"/>
          <p:cNvCxnSpPr/>
          <p:nvPr/>
        </p:nvCxnSpPr>
        <p:spPr>
          <a:xfrm flipV="1">
            <a:off x="521891" y="90598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st_penalty_53" descr="Editable line; source id cost_penalty_53"/>
          <p:cNvCxnSpPr/>
          <p:nvPr/>
        </p:nvCxnSpPr>
        <p:spPr>
          <a:xfrm>
            <a:off x="528020" y="90598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st_penalty_54" descr="Editable line; source id cost_penalty_54"/>
          <p:cNvCxnSpPr/>
          <p:nvPr/>
        </p:nvCxnSpPr>
        <p:spPr>
          <a:xfrm flipV="1">
            <a:off x="534149" y="90283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st_penalty_55" descr="Editable line; source id cost_penalty_55"/>
          <p:cNvCxnSpPr/>
          <p:nvPr/>
        </p:nvCxnSpPr>
        <p:spPr>
          <a:xfrm>
            <a:off x="540277" y="90283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st_penalty_56" descr="Editable line; source id cost_penalty_56"/>
          <p:cNvCxnSpPr/>
          <p:nvPr/>
        </p:nvCxnSpPr>
        <p:spPr>
          <a:xfrm flipV="1">
            <a:off x="546406" y="89967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st_penalty_57" descr="Editable line; source id cost_penalty_57"/>
          <p:cNvCxnSpPr/>
          <p:nvPr/>
        </p:nvCxnSpPr>
        <p:spPr>
          <a:xfrm flipV="1">
            <a:off x="552535" y="89652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st_penalty_58" descr="Editable line; source id cost_penalty_58"/>
          <p:cNvCxnSpPr/>
          <p:nvPr/>
        </p:nvCxnSpPr>
        <p:spPr>
          <a:xfrm>
            <a:off x="558663" y="89652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st_penalty_59" descr="Editable line; source id cost_penalty_59"/>
          <p:cNvCxnSpPr/>
          <p:nvPr/>
        </p:nvCxnSpPr>
        <p:spPr>
          <a:xfrm flipV="1">
            <a:off x="564792" y="893368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st_penalty_60" descr="Editable line; source id cost_penalty_60"/>
          <p:cNvCxnSpPr/>
          <p:nvPr/>
        </p:nvCxnSpPr>
        <p:spPr>
          <a:xfrm flipV="1">
            <a:off x="570921" y="88705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st_penalty_61" descr="Editable line; source id cost_penalty_61"/>
          <p:cNvCxnSpPr/>
          <p:nvPr/>
        </p:nvCxnSpPr>
        <p:spPr>
          <a:xfrm>
            <a:off x="577049" y="88705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st_penalty_62" descr="Editable line; source id cost_penalty_62"/>
          <p:cNvCxnSpPr/>
          <p:nvPr/>
        </p:nvCxnSpPr>
        <p:spPr>
          <a:xfrm flipV="1">
            <a:off x="583178" y="88074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st_penalty_63" descr="Editable line; source id cost_penalty_63"/>
          <p:cNvCxnSpPr/>
          <p:nvPr/>
        </p:nvCxnSpPr>
        <p:spPr>
          <a:xfrm flipV="1">
            <a:off x="589307" y="8775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st_penalty_64" descr="Editable line; source id cost_penalty_64"/>
          <p:cNvCxnSpPr/>
          <p:nvPr/>
        </p:nvCxnSpPr>
        <p:spPr>
          <a:xfrm flipV="1">
            <a:off x="595435" y="87443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st_penalty_65" descr="Editable line; source id cost_penalty_65"/>
          <p:cNvCxnSpPr/>
          <p:nvPr/>
        </p:nvCxnSpPr>
        <p:spPr>
          <a:xfrm flipV="1">
            <a:off x="601564" y="87128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st_penalty_66" descr="Editable line; source id cost_penalty_66"/>
          <p:cNvCxnSpPr/>
          <p:nvPr/>
        </p:nvCxnSpPr>
        <p:spPr>
          <a:xfrm flipV="1">
            <a:off x="607693" y="861820"/>
            <a:ext cx="6128" cy="94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st_penalty_67" descr="Editable line; source id cost_penalty_67"/>
          <p:cNvCxnSpPr/>
          <p:nvPr/>
        </p:nvCxnSpPr>
        <p:spPr>
          <a:xfrm flipV="1">
            <a:off x="613821" y="85866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st_penalty_68" descr="Editable line; source id cost_penalty_68"/>
          <p:cNvCxnSpPr/>
          <p:nvPr/>
        </p:nvCxnSpPr>
        <p:spPr>
          <a:xfrm flipV="1">
            <a:off x="619950" y="85235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st_penalty_69" descr="Editable line; source id cost_penalty_69"/>
          <p:cNvCxnSpPr/>
          <p:nvPr/>
        </p:nvCxnSpPr>
        <p:spPr>
          <a:xfrm flipV="1">
            <a:off x="626079" y="84604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st_penalty_70" descr="Editable line; source id cost_penalty_70"/>
          <p:cNvCxnSpPr/>
          <p:nvPr/>
        </p:nvCxnSpPr>
        <p:spPr>
          <a:xfrm flipV="1">
            <a:off x="632208" y="83973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st_penalty_71" descr="Editable line; source id cost_penalty_71"/>
          <p:cNvCxnSpPr/>
          <p:nvPr/>
        </p:nvCxnSpPr>
        <p:spPr>
          <a:xfrm flipV="1">
            <a:off x="638336" y="83342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st_penalty_72" descr="Editable line; source id cost_penalty_72"/>
          <p:cNvCxnSpPr/>
          <p:nvPr/>
        </p:nvCxnSpPr>
        <p:spPr>
          <a:xfrm flipV="1">
            <a:off x="644465" y="82711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st_penalty_73" descr="Editable line; source id cost_penalty_73"/>
          <p:cNvCxnSpPr/>
          <p:nvPr/>
        </p:nvCxnSpPr>
        <p:spPr>
          <a:xfrm flipV="1">
            <a:off x="650594" y="820808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st_penalty_74" descr="Editable line; source id cost_penalty_74"/>
          <p:cNvCxnSpPr/>
          <p:nvPr/>
        </p:nvCxnSpPr>
        <p:spPr>
          <a:xfrm flipV="1">
            <a:off x="656722" y="81449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st_penalty_75" descr="Editable line; source id cost_penalty_75"/>
          <p:cNvCxnSpPr/>
          <p:nvPr/>
        </p:nvCxnSpPr>
        <p:spPr>
          <a:xfrm flipV="1">
            <a:off x="662851" y="80818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st_penalty_76" descr="Editable line; source id cost_penalty_76"/>
          <p:cNvCxnSpPr/>
          <p:nvPr/>
        </p:nvCxnSpPr>
        <p:spPr>
          <a:xfrm flipV="1">
            <a:off x="668980" y="801879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st_penalty_77" descr="Editable line; source id cost_penalty_77"/>
          <p:cNvCxnSpPr/>
          <p:nvPr/>
        </p:nvCxnSpPr>
        <p:spPr>
          <a:xfrm>
            <a:off x="675108" y="801879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st_penalty_78" descr="Editable line; source id cost_penalty_78"/>
          <p:cNvCxnSpPr/>
          <p:nvPr/>
        </p:nvCxnSpPr>
        <p:spPr>
          <a:xfrm flipV="1">
            <a:off x="681237" y="79872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st_penalty_79" descr="Editable line; source id cost_penalty_79"/>
          <p:cNvCxnSpPr/>
          <p:nvPr/>
        </p:nvCxnSpPr>
        <p:spPr>
          <a:xfrm flipV="1">
            <a:off x="687366" y="795570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st_penalty_80" descr="Editable line; source id cost_penalty_80"/>
          <p:cNvCxnSpPr/>
          <p:nvPr/>
        </p:nvCxnSpPr>
        <p:spPr>
          <a:xfrm flipV="1">
            <a:off x="693494" y="78926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st_penalty_81" descr="Editable line; source id cost_penalty_81"/>
          <p:cNvCxnSpPr/>
          <p:nvPr/>
        </p:nvCxnSpPr>
        <p:spPr>
          <a:xfrm flipV="1">
            <a:off x="699623" y="78610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st_penalty_82" descr="Editable line; source id cost_penalty_82"/>
          <p:cNvCxnSpPr/>
          <p:nvPr/>
        </p:nvCxnSpPr>
        <p:spPr>
          <a:xfrm flipV="1">
            <a:off x="705752" y="779796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st_penalty_83" descr="Editable line; source id cost_penalty_83"/>
          <p:cNvCxnSpPr/>
          <p:nvPr/>
        </p:nvCxnSpPr>
        <p:spPr>
          <a:xfrm flipV="1">
            <a:off x="711880" y="77348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st_penalty_84" descr="Editable line; source id cost_penalty_84"/>
          <p:cNvCxnSpPr/>
          <p:nvPr/>
        </p:nvCxnSpPr>
        <p:spPr>
          <a:xfrm flipV="1">
            <a:off x="718009" y="76717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st_penalty_85" descr="Editable line; source id cost_penalty_85"/>
          <p:cNvCxnSpPr/>
          <p:nvPr/>
        </p:nvCxnSpPr>
        <p:spPr>
          <a:xfrm flipV="1">
            <a:off x="724138" y="757712"/>
            <a:ext cx="6129" cy="94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st_penalty_86" descr="Editable line; source id cost_penalty_86"/>
          <p:cNvCxnSpPr/>
          <p:nvPr/>
        </p:nvCxnSpPr>
        <p:spPr>
          <a:xfrm flipV="1">
            <a:off x="730267" y="751403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st_penalty_87" descr="Editable line; source id cost_penalty_87"/>
          <p:cNvCxnSpPr/>
          <p:nvPr/>
        </p:nvCxnSpPr>
        <p:spPr>
          <a:xfrm flipV="1">
            <a:off x="736395" y="74824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st_penalty_88" descr="Editable line; source id cost_penalty_88"/>
          <p:cNvCxnSpPr/>
          <p:nvPr/>
        </p:nvCxnSpPr>
        <p:spPr>
          <a:xfrm flipV="1">
            <a:off x="742524" y="74193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st_penalty_89" descr="Editable line; source id cost_penalty_89"/>
          <p:cNvCxnSpPr/>
          <p:nvPr/>
        </p:nvCxnSpPr>
        <p:spPr>
          <a:xfrm flipV="1">
            <a:off x="748653" y="735629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st_penalty_90" descr="Editable line; source id cost_penalty_90"/>
          <p:cNvCxnSpPr/>
          <p:nvPr/>
        </p:nvCxnSpPr>
        <p:spPr>
          <a:xfrm flipV="1">
            <a:off x="754781" y="73247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st_penalty_91" descr="Editable line; source id cost_penalty_91"/>
          <p:cNvCxnSpPr/>
          <p:nvPr/>
        </p:nvCxnSpPr>
        <p:spPr>
          <a:xfrm flipV="1">
            <a:off x="760910" y="72931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st_penalty_92" descr="Editable line; source id cost_penalty_92"/>
          <p:cNvCxnSpPr/>
          <p:nvPr/>
        </p:nvCxnSpPr>
        <p:spPr>
          <a:xfrm flipV="1">
            <a:off x="767039" y="72301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st_penalty_93" descr="Editable line; source id cost_penalty_93"/>
          <p:cNvCxnSpPr/>
          <p:nvPr/>
        </p:nvCxnSpPr>
        <p:spPr>
          <a:xfrm flipV="1">
            <a:off x="773167" y="71985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st_penalty_94" descr="Editable line; source id cost_penalty_94"/>
          <p:cNvCxnSpPr/>
          <p:nvPr/>
        </p:nvCxnSpPr>
        <p:spPr>
          <a:xfrm flipV="1">
            <a:off x="779296" y="71670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st_penalty_95" descr="Editable line; source id cost_penalty_95"/>
          <p:cNvCxnSpPr/>
          <p:nvPr/>
        </p:nvCxnSpPr>
        <p:spPr>
          <a:xfrm flipV="1">
            <a:off x="785425" y="71354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st_penalty_96" descr="Editable line; source id cost_penalty_96"/>
          <p:cNvCxnSpPr/>
          <p:nvPr/>
        </p:nvCxnSpPr>
        <p:spPr>
          <a:xfrm flipV="1">
            <a:off x="791553" y="71039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st_penalty_97" descr="Editable line; source id cost_penalty_97"/>
          <p:cNvCxnSpPr/>
          <p:nvPr/>
        </p:nvCxnSpPr>
        <p:spPr>
          <a:xfrm flipV="1">
            <a:off x="797682" y="70408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st_penalty_98" descr="Editable line; source id cost_penalty_98"/>
          <p:cNvCxnSpPr/>
          <p:nvPr/>
        </p:nvCxnSpPr>
        <p:spPr>
          <a:xfrm flipV="1">
            <a:off x="803811" y="697771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st_penalty_99" descr="Editable line; source id cost_penalty_99"/>
          <p:cNvCxnSpPr/>
          <p:nvPr/>
        </p:nvCxnSpPr>
        <p:spPr>
          <a:xfrm flipV="1">
            <a:off x="809939" y="69461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st_penalty_100" descr="Editable line; source id cost_penalty_100"/>
          <p:cNvCxnSpPr/>
          <p:nvPr/>
        </p:nvCxnSpPr>
        <p:spPr>
          <a:xfrm flipV="1">
            <a:off x="816068" y="68830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st_penalty_101" descr="Editable line; source id cost_penalty_101"/>
          <p:cNvCxnSpPr/>
          <p:nvPr/>
        </p:nvCxnSpPr>
        <p:spPr>
          <a:xfrm flipV="1">
            <a:off x="822197" y="681998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st_penalty_102" descr="Editable line; source id cost_penalty_102"/>
          <p:cNvCxnSpPr/>
          <p:nvPr/>
        </p:nvCxnSpPr>
        <p:spPr>
          <a:xfrm flipV="1">
            <a:off x="828326" y="67568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st_penalty_103" descr="Editable line; source id cost_penalty_103"/>
          <p:cNvCxnSpPr/>
          <p:nvPr/>
        </p:nvCxnSpPr>
        <p:spPr>
          <a:xfrm flipV="1">
            <a:off x="834454" y="67253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st_penalty_104" descr="Editable line; source id cost_penalty_104"/>
          <p:cNvCxnSpPr/>
          <p:nvPr/>
        </p:nvCxnSpPr>
        <p:spPr>
          <a:xfrm flipV="1">
            <a:off x="840583" y="666224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st_penalty_105" descr="Editable line; source id cost_penalty_105"/>
          <p:cNvCxnSpPr/>
          <p:nvPr/>
        </p:nvCxnSpPr>
        <p:spPr>
          <a:xfrm flipV="1">
            <a:off x="846712" y="659914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st_penalty_106" descr="Editable line; source id cost_penalty_106"/>
          <p:cNvCxnSpPr/>
          <p:nvPr/>
        </p:nvCxnSpPr>
        <p:spPr>
          <a:xfrm flipV="1">
            <a:off x="852840" y="65675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st_penalty_107" descr="Editable line; source id cost_penalty_107"/>
          <p:cNvCxnSpPr/>
          <p:nvPr/>
        </p:nvCxnSpPr>
        <p:spPr>
          <a:xfrm flipV="1">
            <a:off x="858969" y="650450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st_penalty_108" descr="Editable line; source id cost_penalty_108"/>
          <p:cNvCxnSpPr/>
          <p:nvPr/>
        </p:nvCxnSpPr>
        <p:spPr>
          <a:xfrm>
            <a:off x="865098" y="650450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st_penalty_109" descr="Editable line; source id cost_penalty_109"/>
          <p:cNvCxnSpPr/>
          <p:nvPr/>
        </p:nvCxnSpPr>
        <p:spPr>
          <a:xfrm flipV="1">
            <a:off x="871226" y="64414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st_penalty_110" descr="Editable line; source id cost_penalty_110"/>
          <p:cNvCxnSpPr/>
          <p:nvPr/>
        </p:nvCxnSpPr>
        <p:spPr>
          <a:xfrm flipV="1">
            <a:off x="877355" y="64098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st_penalty_111" descr="Editable line; source id cost_penalty_111"/>
          <p:cNvCxnSpPr/>
          <p:nvPr/>
        </p:nvCxnSpPr>
        <p:spPr>
          <a:xfrm flipV="1">
            <a:off x="883484" y="637831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st_penalty_112" descr="Editable line; source id cost_penalty_112"/>
          <p:cNvCxnSpPr/>
          <p:nvPr/>
        </p:nvCxnSpPr>
        <p:spPr>
          <a:xfrm flipV="1">
            <a:off x="889612" y="634676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st_penalty_113" descr="Editable line; source id cost_penalty_113"/>
          <p:cNvCxnSpPr/>
          <p:nvPr/>
        </p:nvCxnSpPr>
        <p:spPr>
          <a:xfrm flipV="1">
            <a:off x="895741" y="63152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st_penalty_114" descr="Editable line; source id cost_penalty_114"/>
          <p:cNvCxnSpPr/>
          <p:nvPr/>
        </p:nvCxnSpPr>
        <p:spPr>
          <a:xfrm flipV="1">
            <a:off x="901870" y="625212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st_penalty_115" descr="Editable line; source id cost_penalty_115"/>
          <p:cNvCxnSpPr/>
          <p:nvPr/>
        </p:nvCxnSpPr>
        <p:spPr>
          <a:xfrm flipV="1">
            <a:off x="907998" y="62205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st_penalty_116" descr="Editable line; source id cost_penalty_116"/>
          <p:cNvCxnSpPr/>
          <p:nvPr/>
        </p:nvCxnSpPr>
        <p:spPr>
          <a:xfrm flipV="1">
            <a:off x="914127" y="61574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st_penalty_117" descr="Editable line; source id cost_penalty_117"/>
          <p:cNvCxnSpPr/>
          <p:nvPr/>
        </p:nvCxnSpPr>
        <p:spPr>
          <a:xfrm flipV="1">
            <a:off x="920256" y="61259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st_penalty_118" descr="Editable line; source id cost_penalty_118"/>
          <p:cNvCxnSpPr/>
          <p:nvPr/>
        </p:nvCxnSpPr>
        <p:spPr>
          <a:xfrm flipV="1">
            <a:off x="926384" y="606283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st_penalty_119" descr="Editable line; source id cost_penalty_119"/>
          <p:cNvCxnSpPr/>
          <p:nvPr/>
        </p:nvCxnSpPr>
        <p:spPr>
          <a:xfrm flipV="1">
            <a:off x="932513" y="599973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st_penalty_120" descr="Editable line; source id cost_penalty_120"/>
          <p:cNvCxnSpPr/>
          <p:nvPr/>
        </p:nvCxnSpPr>
        <p:spPr>
          <a:xfrm flipV="1">
            <a:off x="938642" y="596819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st_penalty_121" descr="Editable line; source id cost_penalty_121"/>
          <p:cNvCxnSpPr/>
          <p:nvPr/>
        </p:nvCxnSpPr>
        <p:spPr>
          <a:xfrm>
            <a:off x="944771" y="596819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st_penalty_122" descr="Editable line; source id cost_penalty_122"/>
          <p:cNvCxnSpPr/>
          <p:nvPr/>
        </p:nvCxnSpPr>
        <p:spPr>
          <a:xfrm flipV="1">
            <a:off x="950899" y="59366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st_penalty_123" descr="Editable line; source id cost_penalty_123"/>
          <p:cNvCxnSpPr/>
          <p:nvPr/>
        </p:nvCxnSpPr>
        <p:spPr>
          <a:xfrm flipV="1">
            <a:off x="957028" y="59050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p_cost" descr="Editable text; source id p_cost"/>
          <p:cNvSpPr txBox="1"/>
          <p:nvPr/>
        </p:nvSpPr>
        <p:spPr>
          <a:xfrm>
            <a:off x="381000" y="685800"/>
            <a:ext cx="3175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cxnSp>
        <p:nvCxnSpPr>
          <p:cNvPr id="134" name="p_price" descr="Editable line; source id p_price"/>
          <p:cNvCxnSpPr/>
          <p:nvPr/>
        </p:nvCxnSpPr>
        <p:spPr>
          <a:xfrm>
            <a:off x="203200" y="1409700"/>
            <a:ext cx="762000" cy="0"/>
          </a:xfrm>
          <a:prstGeom prst="line">
            <a:avLst/>
          </a:prstGeom>
          <a:ln w="11430">
            <a:solidFill>
              <a:srgbClr val="73539B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p_price_label" descr="Editable text; source id p_price_label"/>
          <p:cNvSpPr txBox="1"/>
          <p:nvPr/>
        </p:nvSpPr>
        <p:spPr>
          <a:xfrm>
            <a:off x="419100" y="12573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136" name="p_training" descr="Editable text; source id p_training"/>
          <p:cNvSpPr txBox="1"/>
          <p:nvPr/>
        </p:nvSpPr>
        <p:spPr>
          <a:xfrm>
            <a:off x="317500" y="1651000"/>
            <a:ext cx="635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137" name="safeot" descr="Editable shape; source id safeot"/>
          <p:cNvSpPr/>
          <p:nvPr/>
        </p:nvSpPr>
        <p:spPr>
          <a:xfrm>
            <a:off x="1155700" y="38100"/>
            <a:ext cx="2717800" cy="1917700"/>
          </a:xfrm>
          <a:prstGeom prst="roundRect">
            <a:avLst>
              <a:gd name="adj" fmla="val 2083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afeot_title" descr="Editable text; source id safeot_title"/>
          <p:cNvSpPr txBox="1"/>
          <p:nvPr/>
        </p:nvSpPr>
        <p:spPr>
          <a:xfrm>
            <a:off x="1219200" y="50800"/>
            <a:ext cx="2590800" cy="18288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SafeOT test</a:t>
            </a:r>
          </a:p>
        </p:txBody>
      </p:sp>
      <p:sp>
        <p:nvSpPr>
          <p:cNvPr id="139" name="one_flow" descr="Editable text; source id one_flow"/>
          <p:cNvSpPr txBox="1"/>
          <p:nvPr/>
        </p:nvSpPr>
        <p:spPr>
          <a:xfrm>
            <a:off x="1206500" y="209550"/>
            <a:ext cx="26162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One flow, all budgets</a:t>
            </a:r>
          </a:p>
        </p:txBody>
      </p:sp>
      <p:sp>
        <p:nvSpPr>
          <p:cNvPr id="140" name="unified_graph_edge_0_-1.4" descr="Editable line; source id unified_graph_edge_0_-1.4"/>
          <p:cNvSpPr/>
          <p:nvPr/>
        </p:nvSpPr>
        <p:spPr>
          <a:xfrm>
            <a:off x="1449768" y="55813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unified_graph_edge_1_-1.4" descr="Editable line; source id unified_graph_edge_1_-1.4"/>
          <p:cNvSpPr/>
          <p:nvPr/>
        </p:nvSpPr>
        <p:spPr>
          <a:xfrm>
            <a:off x="2033143" y="5232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unified_graph_edge_2_-1.4" descr="Editable line; source id unified_graph_edge_2_-1.4"/>
          <p:cNvSpPr/>
          <p:nvPr/>
        </p:nvSpPr>
        <p:spPr>
          <a:xfrm>
            <a:off x="3010245" y="55538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unified_graph_edge_3_-1.4" descr="Editable line; source id unified_graph_edge_3_-1.4"/>
          <p:cNvSpPr/>
          <p:nvPr/>
        </p:nvSpPr>
        <p:spPr>
          <a:xfrm>
            <a:off x="1461988" y="76493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unified_graph_edge_3_1.4" descr="Editable line; source id unified_graph_edge_3_1.4"/>
          <p:cNvSpPr/>
          <p:nvPr/>
        </p:nvSpPr>
        <p:spPr>
          <a:xfrm>
            <a:off x="1447368" y="791771"/>
            <a:ext cx="481157" cy="186792"/>
          </a:xfrm>
          <a:custGeom>
            <a:avLst/>
            <a:gdLst/>
            <a:ahLst/>
            <a:cxnLst/>
            <a:rect l="l" t="t" r="r" b="b"/>
            <a:pathLst>
              <a:path w="189432" h="73540">
                <a:moveTo>
                  <a:pt x="3093" y="0"/>
                </a:moveTo>
                <a:lnTo>
                  <a:pt x="174545" y="62740"/>
                </a:lnTo>
                <a:lnTo>
                  <a:pt x="175404" y="60392"/>
                </a:lnTo>
                <a:lnTo>
                  <a:pt x="189432" y="72980"/>
                </a:lnTo>
                <a:lnTo>
                  <a:pt x="170593" y="73540"/>
                </a:lnTo>
                <a:lnTo>
                  <a:pt x="171452" y="71192"/>
                </a:lnTo>
                <a:lnTo>
                  <a:pt x="0" y="845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unified_graph_edge_4_-1.4" descr="Editable line; source id unified_graph_edge_4_-1.4"/>
          <p:cNvSpPr/>
          <p:nvPr/>
        </p:nvSpPr>
        <p:spPr>
          <a:xfrm>
            <a:off x="2033143" y="9423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unified_graph_edge_4_1.4" descr="Editable line; source id unified_graph_edge_4_1.4"/>
          <p:cNvSpPr/>
          <p:nvPr/>
        </p:nvSpPr>
        <p:spPr>
          <a:xfrm>
            <a:off x="2033143" y="97790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2500"/>
                </a:moveTo>
                <a:lnTo>
                  <a:pt x="326600" y="250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unified_graph_edge_5_-1.4" descr="Editable line; source id unified_graph_edge_5_-1.4"/>
          <p:cNvSpPr/>
          <p:nvPr/>
        </p:nvSpPr>
        <p:spPr>
          <a:xfrm>
            <a:off x="2998026" y="76768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unified_graph_edge_5_1.4" descr="Editable line; source id unified_graph_edge_5_1.4"/>
          <p:cNvSpPr/>
          <p:nvPr/>
        </p:nvSpPr>
        <p:spPr>
          <a:xfrm>
            <a:off x="3007845" y="801083"/>
            <a:ext cx="481160" cy="186792"/>
          </a:xfrm>
          <a:custGeom>
            <a:avLst/>
            <a:gdLst/>
            <a:ahLst/>
            <a:cxnLst/>
            <a:rect l="l" t="t" r="r" b="b"/>
            <a:pathLst>
              <a:path w="189433" h="73540">
                <a:moveTo>
                  <a:pt x="0" y="65088"/>
                </a:moveTo>
                <a:lnTo>
                  <a:pt x="171452" y="2348"/>
                </a:lnTo>
                <a:lnTo>
                  <a:pt x="170593" y="0"/>
                </a:lnTo>
                <a:lnTo>
                  <a:pt x="189433" y="560"/>
                </a:lnTo>
                <a:lnTo>
                  <a:pt x="175404" y="13147"/>
                </a:lnTo>
                <a:lnTo>
                  <a:pt x="174545" y="10799"/>
                </a:lnTo>
                <a:lnTo>
                  <a:pt x="3093" y="735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unified_graph_hard" descr="Editable line; source id unified_graph_hard"/>
          <p:cNvCxnSpPr/>
          <p:nvPr/>
        </p:nvCxnSpPr>
        <p:spPr>
          <a:xfrm>
            <a:off x="2033143" y="609600"/>
            <a:ext cx="874014" cy="317500"/>
          </a:xfrm>
          <a:prstGeom prst="line">
            <a:avLst/>
          </a:prstGeom>
          <a:ln w="8890">
            <a:solidFill>
              <a:srgbClr val="AD3C3C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unified_graph_x1" descr="Editable line; source id unified_graph_x1"/>
          <p:cNvCxnSpPr/>
          <p:nvPr/>
        </p:nvCxnSpPr>
        <p:spPr>
          <a:xfrm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unified_graph_x2" descr="Editable line; source id unified_graph_x2"/>
          <p:cNvCxnSpPr/>
          <p:nvPr/>
        </p:nvCxnSpPr>
        <p:spPr>
          <a:xfrm flipV="1"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unified_graph_node0" descr="Editable shape; source id unified_graph_node0"/>
          <p:cNvSpPr/>
          <p:nvPr/>
        </p:nvSpPr>
        <p:spPr>
          <a:xfrm>
            <a:off x="13652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unified_graph_node1" descr="Editable shape; source id unified_graph_node1"/>
          <p:cNvSpPr/>
          <p:nvPr/>
        </p:nvSpPr>
        <p:spPr>
          <a:xfrm>
            <a:off x="1937893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unified_graph_node2" descr="Editable shape; source id unified_graph_node2"/>
          <p:cNvSpPr/>
          <p:nvPr/>
        </p:nvSpPr>
        <p:spPr>
          <a:xfrm>
            <a:off x="2913507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unified_graph_node3" descr="Editable shape; source id unified_graph_node3"/>
          <p:cNvSpPr/>
          <p:nvPr/>
        </p:nvSpPr>
        <p:spPr>
          <a:xfrm>
            <a:off x="34861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unified_graph_node4" descr="Editable shape; source id unified_graph_node4"/>
          <p:cNvSpPr/>
          <p:nvPr/>
        </p:nvSpPr>
        <p:spPr>
          <a:xfrm>
            <a:off x="2913507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unified_graph_node5" descr="Editable shape; source id unified_graph_node5"/>
          <p:cNvSpPr/>
          <p:nvPr/>
        </p:nvSpPr>
        <p:spPr>
          <a:xfrm>
            <a:off x="1937893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leg_observed" descr="Editable line; source id leg_observed"/>
          <p:cNvSpPr/>
          <p:nvPr/>
        </p:nvSpPr>
        <p:spPr>
          <a:xfrm>
            <a:off x="11811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5250"/>
                </a:moveTo>
                <a:lnTo>
                  <a:pt x="32500" y="525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leg_target" descr="Editable line; source id leg_target"/>
          <p:cNvSpPr/>
          <p:nvPr/>
        </p:nvSpPr>
        <p:spPr>
          <a:xfrm>
            <a:off x="16256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3000"/>
                </a:moveTo>
                <a:lnTo>
                  <a:pt x="32500" y="300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projection" descr="Editable shape; source id projection"/>
          <p:cNvSpPr/>
          <p:nvPr/>
        </p:nvSpPr>
        <p:spPr>
          <a:xfrm>
            <a:off x="1828800" y="1320800"/>
            <a:ext cx="1320800" cy="190500"/>
          </a:xfrm>
          <a:prstGeom prst="roundRect">
            <a:avLst>
              <a:gd name="adj" fmla="val 20000"/>
            </a:avLst>
          </a:prstGeom>
          <a:solidFill>
            <a:srgbClr val="087F8C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rojection_text" descr="Editable text; source id projection_text"/>
          <p:cNvSpPr txBox="1"/>
          <p:nvPr/>
        </p:nvSpPr>
        <p:spPr>
          <a:xfrm>
            <a:off x="1866900" y="1346200"/>
            <a:ext cx="12446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Entropic projection</a:t>
            </a:r>
          </a:p>
        </p:txBody>
      </p:sp>
      <p:sp>
        <p:nvSpPr>
          <p:cNvPr id="169" name="price_rule" descr="Editable shape; source id price_rule"/>
          <p:cNvSpPr/>
          <p:nvPr/>
        </p:nvSpPr>
        <p:spPr>
          <a:xfrm>
            <a:off x="1155700" y="2006600"/>
            <a:ext cx="3289300" cy="342900"/>
          </a:xfrm>
          <a:prstGeom prst="roundRect">
            <a:avLst>
              <a:gd name="adj" fmla="val 12000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actor" descr="Editable shape; source id actor"/>
          <p:cNvSpPr/>
          <p:nvPr/>
        </p:nvSpPr>
        <p:spPr>
          <a:xfrm>
            <a:off x="3187700" y="2095500"/>
            <a:ext cx="546100" cy="215900"/>
          </a:xfrm>
          <a:prstGeom prst="roundRect">
            <a:avLst>
              <a:gd name="adj" fmla="val 18750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lagrangian" descr="Editable shape; source id lagrangian"/>
          <p:cNvSpPr/>
          <p:nvPr/>
        </p:nvSpPr>
        <p:spPr>
          <a:xfrm>
            <a:off x="3937000" y="38100"/>
            <a:ext cx="1054100" cy="19177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lagrangian_title" descr="Editable text; source id lagrangian_title"/>
          <p:cNvSpPr txBox="1"/>
          <p:nvPr/>
        </p:nvSpPr>
        <p:spPr>
          <a:xfrm>
            <a:off x="40005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Lagrangian</a:t>
            </a:r>
          </a:p>
        </p:txBody>
      </p:sp>
      <p:sp>
        <p:nvSpPr>
          <p:cNvPr id="179" name="late" descr="Editable text; source id late"/>
          <p:cNvSpPr txBox="1"/>
          <p:nvPr/>
        </p:nvSpPr>
        <p:spPr>
          <a:xfrm>
            <a:off x="4000500" y="2794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rPr>
              <a:t>Late feedback</a:t>
            </a:r>
          </a:p>
        </p:txBody>
      </p:sp>
      <p:sp>
        <p:nvSpPr>
          <p:cNvPr id="180" name="l_x" descr="Editable line; source id l_x"/>
          <p:cNvSpPr/>
          <p:nvPr/>
        </p:nvSpPr>
        <p:spPr>
          <a:xfrm>
            <a:off x="4076700" y="1557020"/>
            <a:ext cx="825500" cy="35560"/>
          </a:xfrm>
          <a:custGeom>
            <a:avLst/>
            <a:gdLst/>
            <a:ahLst/>
            <a:cxnLst/>
            <a:rect l="l" t="t" r="r" b="b"/>
            <a:pathLst>
              <a:path w="325000" h="14000">
                <a:moveTo>
                  <a:pt x="0" y="5250"/>
                </a:moveTo>
                <a:lnTo>
                  <a:pt x="307500" y="5250"/>
                </a:lnTo>
                <a:lnTo>
                  <a:pt x="307500" y="0"/>
                </a:lnTo>
                <a:lnTo>
                  <a:pt x="325000" y="7000"/>
                </a:lnTo>
                <a:lnTo>
                  <a:pt x="307500" y="14000"/>
                </a:lnTo>
                <a:lnTo>
                  <a:pt x="307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l_y" descr="Editable line; source id l_y"/>
          <p:cNvSpPr/>
          <p:nvPr/>
        </p:nvSpPr>
        <p:spPr>
          <a:xfrm>
            <a:off x="40589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l_B" descr="Editable line; source id l_B"/>
          <p:cNvCxnSpPr/>
          <p:nvPr/>
        </p:nvCxnSpPr>
        <p:spPr>
          <a:xfrm>
            <a:off x="4089400" y="977900"/>
            <a:ext cx="8001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l_budget" descr="Editable text; source id l_budget"/>
          <p:cNvSpPr txBox="1"/>
          <p:nvPr/>
        </p:nvSpPr>
        <p:spPr>
          <a:xfrm>
            <a:off x="3975100" y="9144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184" name="lag_cost_0" descr="Editable line; source id lag_cost_0"/>
          <p:cNvCxnSpPr/>
          <p:nvPr/>
        </p:nvCxnSpPr>
        <p:spPr>
          <a:xfrm flipV="1">
            <a:off x="4102100" y="1125070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lag_cost_1" descr="Editable line; source id lag_cost_1"/>
          <p:cNvCxnSpPr/>
          <p:nvPr/>
        </p:nvCxnSpPr>
        <p:spPr>
          <a:xfrm flipV="1">
            <a:off x="4108235" y="1122082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lag_cost_2" descr="Editable line; source id lag_cost_2"/>
          <p:cNvCxnSpPr/>
          <p:nvPr/>
        </p:nvCxnSpPr>
        <p:spPr>
          <a:xfrm flipV="1">
            <a:off x="4114371" y="1116105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lag_cost_3" descr="Editable line; source id lag_cost_3"/>
          <p:cNvCxnSpPr/>
          <p:nvPr/>
        </p:nvCxnSpPr>
        <p:spPr>
          <a:xfrm flipV="1">
            <a:off x="4120506" y="1110129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lag_cost_4" descr="Editable line; source id lag_cost_4"/>
          <p:cNvCxnSpPr/>
          <p:nvPr/>
        </p:nvCxnSpPr>
        <p:spPr>
          <a:xfrm flipV="1">
            <a:off x="4126642" y="1101164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lag_cost_5" descr="Editable line; source id lag_cost_5"/>
          <p:cNvCxnSpPr/>
          <p:nvPr/>
        </p:nvCxnSpPr>
        <p:spPr>
          <a:xfrm flipV="1">
            <a:off x="4132777" y="10922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lag_cost_6" descr="Editable line; source id lag_cost_6"/>
          <p:cNvCxnSpPr/>
          <p:nvPr/>
        </p:nvCxnSpPr>
        <p:spPr>
          <a:xfrm flipV="1">
            <a:off x="4138913" y="1083235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lag_cost_7" descr="Editable line; source id lag_cost_7"/>
          <p:cNvCxnSpPr/>
          <p:nvPr/>
        </p:nvCxnSpPr>
        <p:spPr>
          <a:xfrm flipV="1">
            <a:off x="4145049" y="1071282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lag_cost_8" descr="Editable line; source id lag_cost_8"/>
          <p:cNvCxnSpPr/>
          <p:nvPr/>
        </p:nvCxnSpPr>
        <p:spPr>
          <a:xfrm flipV="1">
            <a:off x="4151184" y="1062317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lag_cost_9" descr="Editable line; source id lag_cost_9"/>
          <p:cNvCxnSpPr/>
          <p:nvPr/>
        </p:nvCxnSpPr>
        <p:spPr>
          <a:xfrm flipV="1">
            <a:off x="4157320" y="1047376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lag_cost_10" descr="Editable line; source id lag_cost_10"/>
          <p:cNvCxnSpPr/>
          <p:nvPr/>
        </p:nvCxnSpPr>
        <p:spPr>
          <a:xfrm flipV="1">
            <a:off x="4163455" y="1032435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lag_cost_11" descr="Editable line; source id lag_cost_11"/>
          <p:cNvCxnSpPr/>
          <p:nvPr/>
        </p:nvCxnSpPr>
        <p:spPr>
          <a:xfrm flipV="1">
            <a:off x="4169591" y="101749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lag_cost_12" descr="Editable line; source id lag_cost_12"/>
          <p:cNvCxnSpPr/>
          <p:nvPr/>
        </p:nvCxnSpPr>
        <p:spPr>
          <a:xfrm flipV="1">
            <a:off x="4175727" y="999564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lag_cost_13" descr="Editable line; source id lag_cost_13"/>
          <p:cNvCxnSpPr/>
          <p:nvPr/>
        </p:nvCxnSpPr>
        <p:spPr>
          <a:xfrm flipV="1">
            <a:off x="4181862" y="9906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lag_cost_14" descr="Editable line; source id lag_cost_14"/>
          <p:cNvCxnSpPr/>
          <p:nvPr/>
        </p:nvCxnSpPr>
        <p:spPr>
          <a:xfrm flipV="1">
            <a:off x="4187998" y="957729"/>
            <a:ext cx="8180" cy="3287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lag_cost_15" descr="Editable line; source id lag_cost_15"/>
          <p:cNvCxnSpPr/>
          <p:nvPr/>
        </p:nvCxnSpPr>
        <p:spPr>
          <a:xfrm flipV="1">
            <a:off x="4196178" y="9427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lag_cost_16" descr="Editable line; source id lag_cost_16"/>
          <p:cNvCxnSpPr/>
          <p:nvPr/>
        </p:nvCxnSpPr>
        <p:spPr>
          <a:xfrm flipV="1">
            <a:off x="4202314" y="92784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lag_cost_17" descr="Editable line; source id lag_cost_17"/>
          <p:cNvCxnSpPr/>
          <p:nvPr/>
        </p:nvCxnSpPr>
        <p:spPr>
          <a:xfrm flipV="1">
            <a:off x="4208450" y="909917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lag_cost_18" descr="Editable line; source id lag_cost_18"/>
          <p:cNvCxnSpPr/>
          <p:nvPr/>
        </p:nvCxnSpPr>
        <p:spPr>
          <a:xfrm flipV="1">
            <a:off x="4214585" y="891988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lag_cost_19" descr="Editable line; source id lag_cost_19"/>
          <p:cNvCxnSpPr/>
          <p:nvPr/>
        </p:nvCxnSpPr>
        <p:spPr>
          <a:xfrm flipV="1">
            <a:off x="4220721" y="8740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lag_cost_20" descr="Editable line; source id lag_cost_20"/>
          <p:cNvCxnSpPr/>
          <p:nvPr/>
        </p:nvCxnSpPr>
        <p:spPr>
          <a:xfrm flipV="1">
            <a:off x="4226856" y="856129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lag_cost_21" descr="Editable line; source id lag_cost_21"/>
          <p:cNvCxnSpPr/>
          <p:nvPr/>
        </p:nvCxnSpPr>
        <p:spPr>
          <a:xfrm flipV="1">
            <a:off x="4232992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lag_cost_22" descr="Editable line; source id lag_cost_22"/>
          <p:cNvCxnSpPr/>
          <p:nvPr/>
        </p:nvCxnSpPr>
        <p:spPr>
          <a:xfrm flipV="1">
            <a:off x="4239128" y="8232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lag_cost_23" descr="Editable line; source id lag_cost_23"/>
          <p:cNvCxnSpPr/>
          <p:nvPr/>
        </p:nvCxnSpPr>
        <p:spPr>
          <a:xfrm flipV="1">
            <a:off x="4245263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lag_cost_24" descr="Editable line; source id lag_cost_24"/>
          <p:cNvCxnSpPr/>
          <p:nvPr/>
        </p:nvCxnSpPr>
        <p:spPr>
          <a:xfrm flipV="1">
            <a:off x="4251399" y="796364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lag_cost_25" descr="Editable line; source id lag_cost_25"/>
          <p:cNvCxnSpPr/>
          <p:nvPr/>
        </p:nvCxnSpPr>
        <p:spPr>
          <a:xfrm flipV="1">
            <a:off x="4257534" y="781423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lag_cost_26" descr="Editable line; source id lag_cost_26"/>
          <p:cNvCxnSpPr/>
          <p:nvPr/>
        </p:nvCxnSpPr>
        <p:spPr>
          <a:xfrm flipV="1">
            <a:off x="4263670" y="769470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lag_cost_27" descr="Editable line; source id lag_cost_27"/>
          <p:cNvCxnSpPr/>
          <p:nvPr/>
        </p:nvCxnSpPr>
        <p:spPr>
          <a:xfrm flipV="1">
            <a:off x="4269805" y="763494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lag_cost_28" descr="Editable line; source id lag_cost_28"/>
          <p:cNvCxnSpPr/>
          <p:nvPr/>
        </p:nvCxnSpPr>
        <p:spPr>
          <a:xfrm flipV="1">
            <a:off x="4275941" y="754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lag_cost_29" descr="Editable line; source id lag_cost_29"/>
          <p:cNvCxnSpPr/>
          <p:nvPr/>
        </p:nvCxnSpPr>
        <p:spPr>
          <a:xfrm flipV="1">
            <a:off x="4282077" y="7485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lag_cost_30" descr="Editable line; source id lag_cost_30"/>
          <p:cNvCxnSpPr/>
          <p:nvPr/>
        </p:nvCxnSpPr>
        <p:spPr>
          <a:xfrm>
            <a:off x="4288212" y="74855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lag_cost_31" descr="Editable line; source id lag_cost_31"/>
          <p:cNvCxnSpPr/>
          <p:nvPr/>
        </p:nvCxnSpPr>
        <p:spPr>
          <a:xfrm>
            <a:off x="4294348" y="74855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lag_cost_32" descr="Editable line; source id lag_cost_32"/>
          <p:cNvCxnSpPr/>
          <p:nvPr/>
        </p:nvCxnSpPr>
        <p:spPr>
          <a:xfrm>
            <a:off x="4300483" y="748552"/>
            <a:ext cx="6136" cy="298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lag_cost_33" descr="Editable line; source id lag_cost_33"/>
          <p:cNvCxnSpPr/>
          <p:nvPr/>
        </p:nvCxnSpPr>
        <p:spPr>
          <a:xfrm>
            <a:off x="4306619" y="7515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lag_cost_34" descr="Editable line; source id lag_cost_34"/>
          <p:cNvCxnSpPr/>
          <p:nvPr/>
        </p:nvCxnSpPr>
        <p:spPr>
          <a:xfrm>
            <a:off x="4312755" y="757517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lag_cost_35" descr="Editable line; source id lag_cost_35"/>
          <p:cNvCxnSpPr/>
          <p:nvPr/>
        </p:nvCxnSpPr>
        <p:spPr>
          <a:xfrm>
            <a:off x="4318890" y="7634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lag_cost_36" descr="Editable line; source id lag_cost_36"/>
          <p:cNvCxnSpPr/>
          <p:nvPr/>
        </p:nvCxnSpPr>
        <p:spPr>
          <a:xfrm>
            <a:off x="4325026" y="7724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lag_cost_37" descr="Editable line; source id lag_cost_37"/>
          <p:cNvCxnSpPr/>
          <p:nvPr/>
        </p:nvCxnSpPr>
        <p:spPr>
          <a:xfrm>
            <a:off x="4331161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lag_cost_38" descr="Editable line; source id lag_cost_38"/>
          <p:cNvCxnSpPr/>
          <p:nvPr/>
        </p:nvCxnSpPr>
        <p:spPr>
          <a:xfrm>
            <a:off x="4337297" y="7993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lag_cost_39" descr="Editable line; source id lag_cost_39"/>
          <p:cNvCxnSpPr/>
          <p:nvPr/>
        </p:nvCxnSpPr>
        <p:spPr>
          <a:xfrm>
            <a:off x="4343432" y="817282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lag_cost_40" descr="Editable line; source id lag_cost_40"/>
          <p:cNvCxnSpPr/>
          <p:nvPr/>
        </p:nvCxnSpPr>
        <p:spPr>
          <a:xfrm>
            <a:off x="4349568" y="832223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lag_cost_41" descr="Editable line; source id lag_cost_41"/>
          <p:cNvCxnSpPr/>
          <p:nvPr/>
        </p:nvCxnSpPr>
        <p:spPr>
          <a:xfrm>
            <a:off x="4355704" y="8531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lag_cost_42" descr="Editable line; source id lag_cost_42"/>
          <p:cNvCxnSpPr/>
          <p:nvPr/>
        </p:nvCxnSpPr>
        <p:spPr>
          <a:xfrm>
            <a:off x="4361839" y="871070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lag_cost_43" descr="Editable line; source id lag_cost_43"/>
          <p:cNvCxnSpPr/>
          <p:nvPr/>
        </p:nvCxnSpPr>
        <p:spPr>
          <a:xfrm>
            <a:off x="4367975" y="891988"/>
            <a:ext cx="6135" cy="2390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lag_cost_44" descr="Editable line; source id lag_cost_44"/>
          <p:cNvCxnSpPr/>
          <p:nvPr/>
        </p:nvCxnSpPr>
        <p:spPr>
          <a:xfrm>
            <a:off x="4374110" y="915894"/>
            <a:ext cx="6136" cy="2091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lag_cost_45" descr="Editable line; source id lag_cost_45"/>
          <p:cNvCxnSpPr/>
          <p:nvPr/>
        </p:nvCxnSpPr>
        <p:spPr>
          <a:xfrm>
            <a:off x="4380246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lag_cost_46" descr="Editable line; source id lag_cost_46"/>
          <p:cNvCxnSpPr/>
          <p:nvPr/>
        </p:nvCxnSpPr>
        <p:spPr>
          <a:xfrm>
            <a:off x="4386382" y="951752"/>
            <a:ext cx="6135" cy="3585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lag_cost_47" descr="Editable line; source id lag_cost_47"/>
          <p:cNvCxnSpPr/>
          <p:nvPr/>
        </p:nvCxnSpPr>
        <p:spPr>
          <a:xfrm>
            <a:off x="4392517" y="9876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lag_cost_48" descr="Editable line; source id lag_cost_48"/>
          <p:cNvCxnSpPr/>
          <p:nvPr/>
        </p:nvCxnSpPr>
        <p:spPr>
          <a:xfrm>
            <a:off x="4398653" y="1002552"/>
            <a:ext cx="6135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lag_cost_49" descr="Editable line; source id lag_cost_49"/>
          <p:cNvCxnSpPr/>
          <p:nvPr/>
        </p:nvCxnSpPr>
        <p:spPr>
          <a:xfrm>
            <a:off x="4404788" y="10234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lag_cost_50" descr="Editable line; source id lag_cost_50"/>
          <p:cNvCxnSpPr/>
          <p:nvPr/>
        </p:nvCxnSpPr>
        <p:spPr>
          <a:xfrm>
            <a:off x="4410924" y="10414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lag_cost_51" descr="Editable line; source id lag_cost_51"/>
          <p:cNvCxnSpPr/>
          <p:nvPr/>
        </p:nvCxnSpPr>
        <p:spPr>
          <a:xfrm>
            <a:off x="4417060" y="10563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lag_cost_52" descr="Editable line; source id lag_cost_52"/>
          <p:cNvCxnSpPr/>
          <p:nvPr/>
        </p:nvCxnSpPr>
        <p:spPr>
          <a:xfrm>
            <a:off x="4423195" y="1074270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lag_cost_53" descr="Editable line; source id lag_cost_53"/>
          <p:cNvCxnSpPr/>
          <p:nvPr/>
        </p:nvCxnSpPr>
        <p:spPr>
          <a:xfrm>
            <a:off x="4429331" y="1086223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lag_cost_54" descr="Editable line; source id lag_cost_54"/>
          <p:cNvCxnSpPr/>
          <p:nvPr/>
        </p:nvCxnSpPr>
        <p:spPr>
          <a:xfrm>
            <a:off x="4435466" y="1098176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lag_cost_55" descr="Editable line; source id lag_cost_55"/>
          <p:cNvCxnSpPr/>
          <p:nvPr/>
        </p:nvCxnSpPr>
        <p:spPr>
          <a:xfrm>
            <a:off x="4441602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lag_cost_56" descr="Editable line; source id lag_cost_56"/>
          <p:cNvCxnSpPr/>
          <p:nvPr/>
        </p:nvCxnSpPr>
        <p:spPr>
          <a:xfrm>
            <a:off x="4447737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lag_cost_57" descr="Editable line; source id lag_cost_57"/>
          <p:cNvCxnSpPr/>
          <p:nvPr/>
        </p:nvCxnSpPr>
        <p:spPr>
          <a:xfrm>
            <a:off x="4453873" y="1113117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lag_cost_58" descr="Editable line; source id lag_cost_58"/>
          <p:cNvCxnSpPr/>
          <p:nvPr/>
        </p:nvCxnSpPr>
        <p:spPr>
          <a:xfrm>
            <a:off x="4460009" y="1113117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lag_cost_59" descr="Editable line; source id lag_cost_59"/>
          <p:cNvCxnSpPr/>
          <p:nvPr/>
        </p:nvCxnSpPr>
        <p:spPr>
          <a:xfrm flipV="1">
            <a:off x="4466144" y="11071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lag_cost_60" descr="Editable line; source id lag_cost_60"/>
          <p:cNvCxnSpPr/>
          <p:nvPr/>
        </p:nvCxnSpPr>
        <p:spPr>
          <a:xfrm flipV="1">
            <a:off x="4472280" y="1101164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lag_cost_61" descr="Editable line; source id lag_cost_61"/>
          <p:cNvCxnSpPr/>
          <p:nvPr/>
        </p:nvCxnSpPr>
        <p:spPr>
          <a:xfrm flipV="1">
            <a:off x="4478415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lag_cost_62" descr="Editable line; source id lag_cost_62"/>
          <p:cNvCxnSpPr/>
          <p:nvPr/>
        </p:nvCxnSpPr>
        <p:spPr>
          <a:xfrm flipV="1">
            <a:off x="4484551" y="1080247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lag_cost_63" descr="Editable line; source id lag_cost_63"/>
          <p:cNvCxnSpPr/>
          <p:nvPr/>
        </p:nvCxnSpPr>
        <p:spPr>
          <a:xfrm flipV="1">
            <a:off x="4490687" y="1065305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lag_cost_64" descr="Editable line; source id lag_cost_64"/>
          <p:cNvCxnSpPr/>
          <p:nvPr/>
        </p:nvCxnSpPr>
        <p:spPr>
          <a:xfrm flipV="1">
            <a:off x="4496822" y="105036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lag_cost_65" descr="Editable line; source id lag_cost_65"/>
          <p:cNvCxnSpPr/>
          <p:nvPr/>
        </p:nvCxnSpPr>
        <p:spPr>
          <a:xfrm flipV="1">
            <a:off x="4502958" y="1032435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lag_cost_66" descr="Editable line; source id lag_cost_66"/>
          <p:cNvCxnSpPr/>
          <p:nvPr/>
        </p:nvCxnSpPr>
        <p:spPr>
          <a:xfrm flipV="1">
            <a:off x="4509093" y="1014505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lag_cost_67" descr="Editable line; source id lag_cost_67"/>
          <p:cNvCxnSpPr/>
          <p:nvPr/>
        </p:nvCxnSpPr>
        <p:spPr>
          <a:xfrm flipV="1">
            <a:off x="4515229" y="99956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lag_cost_68" descr="Editable line; source id lag_cost_68"/>
          <p:cNvCxnSpPr/>
          <p:nvPr/>
        </p:nvCxnSpPr>
        <p:spPr>
          <a:xfrm flipV="1">
            <a:off x="4521364" y="9876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lag_cost_69" descr="Editable line; source id lag_cost_69"/>
          <p:cNvCxnSpPr/>
          <p:nvPr/>
        </p:nvCxnSpPr>
        <p:spPr>
          <a:xfrm flipV="1">
            <a:off x="4527500" y="954741"/>
            <a:ext cx="8181" cy="3287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lag_cost_70" descr="Editable line; source id lag_cost_70"/>
          <p:cNvCxnSpPr/>
          <p:nvPr/>
        </p:nvCxnSpPr>
        <p:spPr>
          <a:xfrm flipV="1">
            <a:off x="4535681" y="939800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lag_cost_71" descr="Editable line; source id lag_cost_71"/>
          <p:cNvCxnSpPr/>
          <p:nvPr/>
        </p:nvCxnSpPr>
        <p:spPr>
          <a:xfrm flipV="1">
            <a:off x="4541816" y="9218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lag_cost_72" descr="Editable line; source id lag_cost_72"/>
          <p:cNvCxnSpPr/>
          <p:nvPr/>
        </p:nvCxnSpPr>
        <p:spPr>
          <a:xfrm flipV="1">
            <a:off x="4547952" y="906929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lag_cost_73" descr="Editable line; source id lag_cost_73"/>
          <p:cNvCxnSpPr/>
          <p:nvPr/>
        </p:nvCxnSpPr>
        <p:spPr>
          <a:xfrm flipV="1">
            <a:off x="4554088" y="889000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lag_cost_74" descr="Editable line; source id lag_cost_74"/>
          <p:cNvCxnSpPr/>
          <p:nvPr/>
        </p:nvCxnSpPr>
        <p:spPr>
          <a:xfrm flipV="1">
            <a:off x="4560223" y="8710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lag_cost_75" descr="Editable line; source id lag_cost_75"/>
          <p:cNvCxnSpPr/>
          <p:nvPr/>
        </p:nvCxnSpPr>
        <p:spPr>
          <a:xfrm flipV="1">
            <a:off x="4566359" y="856129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lag_cost_76" descr="Editable line; source id lag_cost_76"/>
          <p:cNvCxnSpPr/>
          <p:nvPr/>
        </p:nvCxnSpPr>
        <p:spPr>
          <a:xfrm flipV="1">
            <a:off x="4572494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lag_cost_77" descr="Editable line; source id lag_cost_77"/>
          <p:cNvCxnSpPr/>
          <p:nvPr/>
        </p:nvCxnSpPr>
        <p:spPr>
          <a:xfrm flipV="1">
            <a:off x="4578630" y="826247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lag_cost_78" descr="Editable line; source id lag_cost_78"/>
          <p:cNvCxnSpPr/>
          <p:nvPr/>
        </p:nvCxnSpPr>
        <p:spPr>
          <a:xfrm flipV="1">
            <a:off x="4584765" y="814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lag_cost_79" descr="Editable line; source id lag_cost_79"/>
          <p:cNvCxnSpPr/>
          <p:nvPr/>
        </p:nvCxnSpPr>
        <p:spPr>
          <a:xfrm flipV="1">
            <a:off x="4590901" y="80234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lag_cost_80" descr="Editable line; source id lag_cost_80"/>
          <p:cNvCxnSpPr/>
          <p:nvPr/>
        </p:nvCxnSpPr>
        <p:spPr>
          <a:xfrm flipV="1">
            <a:off x="4597037" y="793376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lag_cost_81" descr="Editable line; source id lag_cost_81"/>
          <p:cNvCxnSpPr/>
          <p:nvPr/>
        </p:nvCxnSpPr>
        <p:spPr>
          <a:xfrm flipV="1">
            <a:off x="4603172" y="7844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lag_cost_82" descr="Editable line; source id lag_cost_82"/>
          <p:cNvCxnSpPr/>
          <p:nvPr/>
        </p:nvCxnSpPr>
        <p:spPr>
          <a:xfrm flipV="1">
            <a:off x="4609308" y="778435"/>
            <a:ext cx="6135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lag_cost_83" descr="Editable line; source id lag_cost_83"/>
          <p:cNvCxnSpPr/>
          <p:nvPr/>
        </p:nvCxnSpPr>
        <p:spPr>
          <a:xfrm flipV="1">
            <a:off x="4615443" y="772458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lag_cost_84" descr="Editable line; source id lag_cost_84"/>
          <p:cNvCxnSpPr/>
          <p:nvPr/>
        </p:nvCxnSpPr>
        <p:spPr>
          <a:xfrm flipV="1">
            <a:off x="4621579" y="766482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lag_cost_85" descr="Editable line; source id lag_cost_85"/>
          <p:cNvCxnSpPr/>
          <p:nvPr/>
        </p:nvCxnSpPr>
        <p:spPr>
          <a:xfrm>
            <a:off x="4627715" y="76648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lag_cost_86" descr="Editable line; source id lag_cost_86"/>
          <p:cNvCxnSpPr/>
          <p:nvPr/>
        </p:nvCxnSpPr>
        <p:spPr>
          <a:xfrm>
            <a:off x="4633850" y="76648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lag_cost_87" descr="Editable line; source id lag_cost_87"/>
          <p:cNvCxnSpPr/>
          <p:nvPr/>
        </p:nvCxnSpPr>
        <p:spPr>
          <a:xfrm>
            <a:off x="4639986" y="766482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lag_cost_88" descr="Editable line; source id lag_cost_88"/>
          <p:cNvCxnSpPr/>
          <p:nvPr/>
        </p:nvCxnSpPr>
        <p:spPr>
          <a:xfrm>
            <a:off x="4646121" y="769470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lag_cost_89" descr="Editable line; source id lag_cost_89"/>
          <p:cNvCxnSpPr/>
          <p:nvPr/>
        </p:nvCxnSpPr>
        <p:spPr>
          <a:xfrm>
            <a:off x="4652257" y="772458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lag_cost_90" descr="Editable line; source id lag_cost_90"/>
          <p:cNvCxnSpPr/>
          <p:nvPr/>
        </p:nvCxnSpPr>
        <p:spPr>
          <a:xfrm>
            <a:off x="4658392" y="781423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lag_cost_91" descr="Editable line; source id lag_cost_91"/>
          <p:cNvCxnSpPr/>
          <p:nvPr/>
        </p:nvCxnSpPr>
        <p:spPr>
          <a:xfrm>
            <a:off x="4664528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lag_cost_92" descr="Editable line; source id lag_cost_92"/>
          <p:cNvCxnSpPr/>
          <p:nvPr/>
        </p:nvCxnSpPr>
        <p:spPr>
          <a:xfrm>
            <a:off x="4670664" y="799352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lag_cost_93" descr="Editable line; source id lag_cost_93"/>
          <p:cNvCxnSpPr/>
          <p:nvPr/>
        </p:nvCxnSpPr>
        <p:spPr>
          <a:xfrm>
            <a:off x="4676799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lag_cost_94" descr="Editable line; source id lag_cost_94"/>
          <p:cNvCxnSpPr/>
          <p:nvPr/>
        </p:nvCxnSpPr>
        <p:spPr>
          <a:xfrm>
            <a:off x="4682935" y="8232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lag_cost_95" descr="Editable line; source id lag_cost_95"/>
          <p:cNvCxnSpPr/>
          <p:nvPr/>
        </p:nvCxnSpPr>
        <p:spPr>
          <a:xfrm>
            <a:off x="4689070" y="8382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lag_cost_96" descr="Editable line; source id lag_cost_96"/>
          <p:cNvCxnSpPr/>
          <p:nvPr/>
        </p:nvCxnSpPr>
        <p:spPr>
          <a:xfrm>
            <a:off x="4695206" y="85314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lag_cost_97" descr="Editable line; source id lag_cost_97"/>
          <p:cNvCxnSpPr/>
          <p:nvPr/>
        </p:nvCxnSpPr>
        <p:spPr>
          <a:xfrm>
            <a:off x="4701342" y="868082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lag_cost_98" descr="Editable line; source id lag_cost_98"/>
          <p:cNvCxnSpPr/>
          <p:nvPr/>
        </p:nvCxnSpPr>
        <p:spPr>
          <a:xfrm>
            <a:off x="4707477" y="8860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lag_cost_99" descr="Editable line; source id lag_cost_99"/>
          <p:cNvCxnSpPr/>
          <p:nvPr/>
        </p:nvCxnSpPr>
        <p:spPr>
          <a:xfrm>
            <a:off x="4713613" y="9009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lag_cost_100" descr="Editable line; source id lag_cost_100"/>
          <p:cNvCxnSpPr/>
          <p:nvPr/>
        </p:nvCxnSpPr>
        <p:spPr>
          <a:xfrm>
            <a:off x="4719748" y="9188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lag_cost_101" descr="Editable line; source id lag_cost_101"/>
          <p:cNvCxnSpPr/>
          <p:nvPr/>
        </p:nvCxnSpPr>
        <p:spPr>
          <a:xfrm>
            <a:off x="4725884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lag_cost_102" descr="Editable line; source id lag_cost_102"/>
          <p:cNvCxnSpPr/>
          <p:nvPr/>
        </p:nvCxnSpPr>
        <p:spPr>
          <a:xfrm>
            <a:off x="4732020" y="951752"/>
            <a:ext cx="8180" cy="3884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lag_cost_103" descr="Editable line; source id lag_cost_103"/>
          <p:cNvCxnSpPr/>
          <p:nvPr/>
        </p:nvCxnSpPr>
        <p:spPr>
          <a:xfrm>
            <a:off x="4740200" y="9906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lag_cost_104" descr="Editable line; source id lag_cost_104"/>
          <p:cNvCxnSpPr/>
          <p:nvPr/>
        </p:nvCxnSpPr>
        <p:spPr>
          <a:xfrm>
            <a:off x="4746336" y="10025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lag_cost_105" descr="Editable line; source id lag_cost_105"/>
          <p:cNvCxnSpPr/>
          <p:nvPr/>
        </p:nvCxnSpPr>
        <p:spPr>
          <a:xfrm>
            <a:off x="4752471" y="10204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lag_cost_106" descr="Editable line; source id lag_cost_106"/>
          <p:cNvCxnSpPr/>
          <p:nvPr/>
        </p:nvCxnSpPr>
        <p:spPr>
          <a:xfrm>
            <a:off x="4758607" y="10384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lag_cost_107" descr="Editable line; source id lag_cost_107"/>
          <p:cNvCxnSpPr/>
          <p:nvPr/>
        </p:nvCxnSpPr>
        <p:spPr>
          <a:xfrm>
            <a:off x="4764743" y="1053352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lag_cost_108" descr="Editable line; source id lag_cost_108"/>
          <p:cNvCxnSpPr/>
          <p:nvPr/>
        </p:nvCxnSpPr>
        <p:spPr>
          <a:xfrm>
            <a:off x="4770878" y="1068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lag_cost_109" descr="Editable line; source id lag_cost_109"/>
          <p:cNvCxnSpPr/>
          <p:nvPr/>
        </p:nvCxnSpPr>
        <p:spPr>
          <a:xfrm>
            <a:off x="4777014" y="1080247"/>
            <a:ext cx="6135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lag_cost_110" descr="Editable line; source id lag_cost_110"/>
          <p:cNvCxnSpPr/>
          <p:nvPr/>
        </p:nvCxnSpPr>
        <p:spPr>
          <a:xfrm>
            <a:off x="4783149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lag_cost_111" descr="Editable line; source id lag_cost_111"/>
          <p:cNvCxnSpPr/>
          <p:nvPr/>
        </p:nvCxnSpPr>
        <p:spPr>
          <a:xfrm>
            <a:off x="4789285" y="1101164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lag_cost_112" descr="Editable line; source id lag_cost_112"/>
          <p:cNvCxnSpPr/>
          <p:nvPr/>
        </p:nvCxnSpPr>
        <p:spPr>
          <a:xfrm>
            <a:off x="4795421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lag_cost_113" descr="Editable line; source id lag_cost_113"/>
          <p:cNvCxnSpPr/>
          <p:nvPr/>
        </p:nvCxnSpPr>
        <p:spPr>
          <a:xfrm>
            <a:off x="4801556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lag_cost_114" descr="Editable line; source id lag_cost_114"/>
          <p:cNvCxnSpPr/>
          <p:nvPr/>
        </p:nvCxnSpPr>
        <p:spPr>
          <a:xfrm flipV="1">
            <a:off x="4807692" y="1110129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lag_cost_115" descr="Editable line; source id lag_cost_115"/>
          <p:cNvCxnSpPr/>
          <p:nvPr/>
        </p:nvCxnSpPr>
        <p:spPr>
          <a:xfrm>
            <a:off x="4813827" y="1110129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lag_cost_116" descr="Editable line; source id lag_cost_116"/>
          <p:cNvCxnSpPr/>
          <p:nvPr/>
        </p:nvCxnSpPr>
        <p:spPr>
          <a:xfrm flipV="1">
            <a:off x="4819963" y="11041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lag_cost_117" descr="Editable line; source id lag_cost_117"/>
          <p:cNvCxnSpPr/>
          <p:nvPr/>
        </p:nvCxnSpPr>
        <p:spPr>
          <a:xfrm flipV="1">
            <a:off x="4826098" y="1098176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lag_cost_118" descr="Editable line; source id lag_cost_118"/>
          <p:cNvCxnSpPr/>
          <p:nvPr/>
        </p:nvCxnSpPr>
        <p:spPr>
          <a:xfrm flipV="1">
            <a:off x="4832234" y="10892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lag_cost_119" descr="Editable line; source id lag_cost_119"/>
          <p:cNvCxnSpPr/>
          <p:nvPr/>
        </p:nvCxnSpPr>
        <p:spPr>
          <a:xfrm flipV="1">
            <a:off x="4838370" y="1077258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lag_cost_120" descr="Editable line; source id lag_cost_120"/>
          <p:cNvCxnSpPr/>
          <p:nvPr/>
        </p:nvCxnSpPr>
        <p:spPr>
          <a:xfrm flipV="1">
            <a:off x="4844505" y="10682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lag_cost_121" descr="Editable line; source id lag_cost_121"/>
          <p:cNvCxnSpPr/>
          <p:nvPr/>
        </p:nvCxnSpPr>
        <p:spPr>
          <a:xfrm flipV="1">
            <a:off x="4850641" y="1056341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lag_cost_122" descr="Editable line; source id lag_cost_122"/>
          <p:cNvCxnSpPr/>
          <p:nvPr/>
        </p:nvCxnSpPr>
        <p:spPr>
          <a:xfrm flipV="1">
            <a:off x="4856776" y="1044388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lag_cost_123" descr="Editable line; source id lag_cost_123"/>
          <p:cNvCxnSpPr/>
          <p:nvPr/>
        </p:nvCxnSpPr>
        <p:spPr>
          <a:xfrm flipV="1">
            <a:off x="4862912" y="1032435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lag_cost_124" descr="Editable line; source id lag_cost_124"/>
          <p:cNvCxnSpPr/>
          <p:nvPr/>
        </p:nvCxnSpPr>
        <p:spPr>
          <a:xfrm flipV="1">
            <a:off x="4869048" y="101749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lag_cost_125" descr="Editable line; source id lag_cost_125"/>
          <p:cNvCxnSpPr/>
          <p:nvPr/>
        </p:nvCxnSpPr>
        <p:spPr>
          <a:xfrm flipV="1">
            <a:off x="4875183" y="1008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lag_cost_126" descr="Editable line; source id lag_cost_126"/>
          <p:cNvCxnSpPr/>
          <p:nvPr/>
        </p:nvCxnSpPr>
        <p:spPr>
          <a:xfrm flipV="1">
            <a:off x="4881319" y="1005541"/>
            <a:ext cx="204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lag_price_0" descr="Editable line; source id lag_price_0"/>
          <p:cNvCxnSpPr/>
          <p:nvPr/>
        </p:nvCxnSpPr>
        <p:spPr>
          <a:xfrm flipV="1">
            <a:off x="4102100" y="1393451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lag_price_1" descr="Editable line; source id lag_price_1"/>
          <p:cNvCxnSpPr/>
          <p:nvPr/>
        </p:nvCxnSpPr>
        <p:spPr>
          <a:xfrm flipV="1">
            <a:off x="4108235" y="138803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lag_price_2" descr="Editable line; source id lag_price_2"/>
          <p:cNvCxnSpPr/>
          <p:nvPr/>
        </p:nvCxnSpPr>
        <p:spPr>
          <a:xfrm flipV="1">
            <a:off x="4114371" y="1385327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lag_price_3" descr="Editable line; source id lag_price_3"/>
          <p:cNvCxnSpPr/>
          <p:nvPr/>
        </p:nvCxnSpPr>
        <p:spPr>
          <a:xfrm flipV="1">
            <a:off x="4120506" y="1374494"/>
            <a:ext cx="18407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lag_price_4" descr="Editable line; source id lag_price_4"/>
          <p:cNvCxnSpPr/>
          <p:nvPr/>
        </p:nvCxnSpPr>
        <p:spPr>
          <a:xfrm>
            <a:off x="4138913" y="137449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lag_price_5" descr="Editable line; source id lag_price_5"/>
          <p:cNvCxnSpPr/>
          <p:nvPr/>
        </p:nvCxnSpPr>
        <p:spPr>
          <a:xfrm flipV="1">
            <a:off x="4145049" y="137178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lag_price_6" descr="Editable line; source id lag_price_6"/>
          <p:cNvCxnSpPr/>
          <p:nvPr/>
        </p:nvCxnSpPr>
        <p:spPr>
          <a:xfrm flipV="1">
            <a:off x="4151184" y="1369078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lag_price_7" descr="Editable line; source id lag_price_7"/>
          <p:cNvCxnSpPr/>
          <p:nvPr/>
        </p:nvCxnSpPr>
        <p:spPr>
          <a:xfrm>
            <a:off x="4157320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lag_price_8" descr="Editable line; source id lag_price_8"/>
          <p:cNvCxnSpPr/>
          <p:nvPr/>
        </p:nvCxnSpPr>
        <p:spPr>
          <a:xfrm flipV="1">
            <a:off x="4163455" y="1360954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lag_price_9" descr="Editable line; source id lag_price_9"/>
          <p:cNvCxnSpPr/>
          <p:nvPr/>
        </p:nvCxnSpPr>
        <p:spPr>
          <a:xfrm>
            <a:off x="418390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lag_price_10" descr="Editable line; source id lag_price_10"/>
          <p:cNvCxnSpPr/>
          <p:nvPr/>
        </p:nvCxnSpPr>
        <p:spPr>
          <a:xfrm flipV="1">
            <a:off x="4190043" y="135824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lag_price_11" descr="Editable line; source id lag_price_11"/>
          <p:cNvCxnSpPr/>
          <p:nvPr/>
        </p:nvCxnSpPr>
        <p:spPr>
          <a:xfrm>
            <a:off x="4196178" y="1358246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lag_price_12" descr="Editable line; source id lag_price_12"/>
          <p:cNvCxnSpPr/>
          <p:nvPr/>
        </p:nvCxnSpPr>
        <p:spPr>
          <a:xfrm>
            <a:off x="4202314" y="135824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lag_price_13" descr="Editable line; source id lag_price_13"/>
          <p:cNvCxnSpPr/>
          <p:nvPr/>
        </p:nvCxnSpPr>
        <p:spPr>
          <a:xfrm>
            <a:off x="4208450" y="1360954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lag_price_14" descr="Editable line; source id lag_price_14"/>
          <p:cNvCxnSpPr/>
          <p:nvPr/>
        </p:nvCxnSpPr>
        <p:spPr>
          <a:xfrm>
            <a:off x="4228902" y="1360954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lag_price_15" descr="Editable line; source id lag_price_15"/>
          <p:cNvCxnSpPr/>
          <p:nvPr/>
        </p:nvCxnSpPr>
        <p:spPr>
          <a:xfrm>
            <a:off x="423503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lag_price_16" descr="Editable line; source id lag_price_16"/>
          <p:cNvCxnSpPr/>
          <p:nvPr/>
        </p:nvCxnSpPr>
        <p:spPr>
          <a:xfrm>
            <a:off x="4241173" y="136095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lag_price_17" descr="Editable line; source id lag_price_17"/>
          <p:cNvCxnSpPr/>
          <p:nvPr/>
        </p:nvCxnSpPr>
        <p:spPr>
          <a:xfrm>
            <a:off x="4247308" y="1363662"/>
            <a:ext cx="20452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lag_price_18" descr="Editable line; source id lag_price_18"/>
          <p:cNvCxnSpPr/>
          <p:nvPr/>
        </p:nvCxnSpPr>
        <p:spPr>
          <a:xfrm flipV="1">
            <a:off x="426776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lag_price_19" descr="Editable line; source id lag_price_19"/>
          <p:cNvCxnSpPr/>
          <p:nvPr/>
        </p:nvCxnSpPr>
        <p:spPr>
          <a:xfrm>
            <a:off x="4273896" y="1366370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lag_price_20" descr="Editable line; source id lag_price_20"/>
          <p:cNvCxnSpPr/>
          <p:nvPr/>
        </p:nvCxnSpPr>
        <p:spPr>
          <a:xfrm>
            <a:off x="4280031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lag_price_21" descr="Editable line; source id lag_price_21"/>
          <p:cNvCxnSpPr/>
          <p:nvPr/>
        </p:nvCxnSpPr>
        <p:spPr>
          <a:xfrm>
            <a:off x="4286167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lag_price_22" descr="Editable line; source id lag_price_22"/>
          <p:cNvCxnSpPr/>
          <p:nvPr/>
        </p:nvCxnSpPr>
        <p:spPr>
          <a:xfrm>
            <a:off x="4292303" y="1369078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lag_price_23" descr="Editable line; source id lag_price_23"/>
          <p:cNvCxnSpPr/>
          <p:nvPr/>
        </p:nvCxnSpPr>
        <p:spPr>
          <a:xfrm>
            <a:off x="4312755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lag_price_24" descr="Editable line; source id lag_price_24"/>
          <p:cNvCxnSpPr/>
          <p:nvPr/>
        </p:nvCxnSpPr>
        <p:spPr>
          <a:xfrm flipV="1">
            <a:off x="431889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lag_price_25" descr="Editable line; source id lag_price_25"/>
          <p:cNvCxnSpPr/>
          <p:nvPr/>
        </p:nvCxnSpPr>
        <p:spPr>
          <a:xfrm>
            <a:off x="4325026" y="1366370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lag_price_26" descr="Editable line; source id lag_price_26"/>
          <p:cNvCxnSpPr/>
          <p:nvPr/>
        </p:nvCxnSpPr>
        <p:spPr>
          <a:xfrm flipV="1">
            <a:off x="4331161" y="1363662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lag_price_27" descr="Editable line; source id lag_price_27"/>
          <p:cNvCxnSpPr/>
          <p:nvPr/>
        </p:nvCxnSpPr>
        <p:spPr>
          <a:xfrm flipV="1">
            <a:off x="4337297" y="1358246"/>
            <a:ext cx="1840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lag_price_28" descr="Editable line; source id lag_price_28"/>
          <p:cNvCxnSpPr/>
          <p:nvPr/>
        </p:nvCxnSpPr>
        <p:spPr>
          <a:xfrm flipV="1">
            <a:off x="4355704" y="135553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lag_price_29" descr="Editable line; source id lag_price_29"/>
          <p:cNvCxnSpPr/>
          <p:nvPr/>
        </p:nvCxnSpPr>
        <p:spPr>
          <a:xfrm flipV="1">
            <a:off x="4361839" y="135283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lag_price_30" descr="Editable line; source id lag_price_30"/>
          <p:cNvCxnSpPr/>
          <p:nvPr/>
        </p:nvCxnSpPr>
        <p:spPr>
          <a:xfrm flipV="1">
            <a:off x="4367975" y="1347413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lag_price_31" descr="Editable line; source id lag_price_31"/>
          <p:cNvCxnSpPr/>
          <p:nvPr/>
        </p:nvCxnSpPr>
        <p:spPr>
          <a:xfrm>
            <a:off x="4374110" y="134741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lag_price_32" descr="Editable line; source id lag_price_32"/>
          <p:cNvCxnSpPr/>
          <p:nvPr/>
        </p:nvCxnSpPr>
        <p:spPr>
          <a:xfrm flipV="1">
            <a:off x="4380246" y="1333873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lag_price_33" descr="Editable line; source id lag_price_33"/>
          <p:cNvCxnSpPr/>
          <p:nvPr/>
        </p:nvCxnSpPr>
        <p:spPr>
          <a:xfrm flipV="1">
            <a:off x="4398653" y="1314916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lag_price_34" descr="Editable line; source id lag_price_34"/>
          <p:cNvCxnSpPr/>
          <p:nvPr/>
        </p:nvCxnSpPr>
        <p:spPr>
          <a:xfrm flipV="1">
            <a:off x="4417060" y="1293252"/>
            <a:ext cx="16361" cy="2166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lag_price_35" descr="Editable line; source id lag_price_35"/>
          <p:cNvCxnSpPr/>
          <p:nvPr/>
        </p:nvCxnSpPr>
        <p:spPr>
          <a:xfrm flipV="1">
            <a:off x="4433421" y="128512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lag_price_36" descr="Editable line; source id lag_price_36"/>
          <p:cNvCxnSpPr/>
          <p:nvPr/>
        </p:nvCxnSpPr>
        <p:spPr>
          <a:xfrm flipV="1">
            <a:off x="4439557" y="1274295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lag_price_37" descr="Editable line; source id lag_price_37"/>
          <p:cNvCxnSpPr/>
          <p:nvPr/>
        </p:nvCxnSpPr>
        <p:spPr>
          <a:xfrm flipV="1">
            <a:off x="4445692" y="1268879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lag_price_38" descr="Editable line; source id lag_price_38"/>
          <p:cNvCxnSpPr/>
          <p:nvPr/>
        </p:nvCxnSpPr>
        <p:spPr>
          <a:xfrm flipV="1">
            <a:off x="4451828" y="1241798"/>
            <a:ext cx="12271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lag_price_39" descr="Editable line; source id lag_price_39"/>
          <p:cNvCxnSpPr/>
          <p:nvPr/>
        </p:nvCxnSpPr>
        <p:spPr>
          <a:xfrm flipV="1">
            <a:off x="4464099" y="1230966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lag_price_40" descr="Editable line; source id lag_price_40"/>
          <p:cNvCxnSpPr/>
          <p:nvPr/>
        </p:nvCxnSpPr>
        <p:spPr>
          <a:xfrm flipV="1">
            <a:off x="4470235" y="1220133"/>
            <a:ext cx="6135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lag_price_41" descr="Editable line; source id lag_price_41"/>
          <p:cNvCxnSpPr/>
          <p:nvPr/>
        </p:nvCxnSpPr>
        <p:spPr>
          <a:xfrm flipV="1">
            <a:off x="4476370" y="1193052"/>
            <a:ext cx="14317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lag_price_42" descr="Editable line; source id lag_price_42"/>
          <p:cNvCxnSpPr/>
          <p:nvPr/>
        </p:nvCxnSpPr>
        <p:spPr>
          <a:xfrm flipV="1">
            <a:off x="4490687" y="1182220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lag_price_43" descr="Editable line; source id lag_price_43"/>
          <p:cNvCxnSpPr/>
          <p:nvPr/>
        </p:nvCxnSpPr>
        <p:spPr>
          <a:xfrm flipV="1">
            <a:off x="4496822" y="1171388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lag_price_44" descr="Editable line; source id lag_price_44"/>
          <p:cNvCxnSpPr/>
          <p:nvPr/>
        </p:nvCxnSpPr>
        <p:spPr>
          <a:xfrm flipV="1">
            <a:off x="4502958" y="1147015"/>
            <a:ext cx="10226" cy="2437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lag_price_45" descr="Editable line; source id lag_price_45"/>
          <p:cNvCxnSpPr/>
          <p:nvPr/>
        </p:nvCxnSpPr>
        <p:spPr>
          <a:xfrm flipV="1">
            <a:off x="4513184" y="1138891"/>
            <a:ext cx="6135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lag_price_46" descr="Editable line; source id lag_price_46"/>
          <p:cNvCxnSpPr/>
          <p:nvPr/>
        </p:nvCxnSpPr>
        <p:spPr>
          <a:xfrm flipV="1">
            <a:off x="4519319" y="1128058"/>
            <a:ext cx="6136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lag_price_47" descr="Editable line; source id lag_price_47"/>
          <p:cNvCxnSpPr/>
          <p:nvPr/>
        </p:nvCxnSpPr>
        <p:spPr>
          <a:xfrm flipV="1">
            <a:off x="4525455" y="1103686"/>
            <a:ext cx="12271" cy="2437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lag_price_48" descr="Editable line; source id lag_price_48"/>
          <p:cNvCxnSpPr/>
          <p:nvPr/>
        </p:nvCxnSpPr>
        <p:spPr>
          <a:xfrm flipV="1">
            <a:off x="4537726" y="1098269"/>
            <a:ext cx="6136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lag_price_49" descr="Editable line; source id lag_price_49"/>
          <p:cNvCxnSpPr/>
          <p:nvPr/>
        </p:nvCxnSpPr>
        <p:spPr>
          <a:xfrm flipV="1">
            <a:off x="4543862" y="1087437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lag_price_50" descr="Editable line; source id lag_price_50"/>
          <p:cNvCxnSpPr/>
          <p:nvPr/>
        </p:nvCxnSpPr>
        <p:spPr>
          <a:xfrm flipV="1">
            <a:off x="4549997" y="108202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lag_price_51" descr="Editable line; source id lag_price_51"/>
          <p:cNvCxnSpPr/>
          <p:nvPr/>
        </p:nvCxnSpPr>
        <p:spPr>
          <a:xfrm flipV="1">
            <a:off x="4556133" y="1063064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lag_price_52" descr="Editable line; source id lag_price_52"/>
          <p:cNvCxnSpPr/>
          <p:nvPr/>
        </p:nvCxnSpPr>
        <p:spPr>
          <a:xfrm flipV="1">
            <a:off x="4574540" y="1057648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lag_price_53" descr="Editable line; source id lag_price_53"/>
          <p:cNvCxnSpPr/>
          <p:nvPr/>
        </p:nvCxnSpPr>
        <p:spPr>
          <a:xfrm flipV="1">
            <a:off x="4580675" y="105223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lag_price_54" descr="Editable line; source id lag_price_54"/>
          <p:cNvCxnSpPr/>
          <p:nvPr/>
        </p:nvCxnSpPr>
        <p:spPr>
          <a:xfrm flipV="1">
            <a:off x="4586811" y="104952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lag_price_55" descr="Editable line; source id lag_price_55"/>
          <p:cNvCxnSpPr/>
          <p:nvPr/>
        </p:nvCxnSpPr>
        <p:spPr>
          <a:xfrm flipV="1">
            <a:off x="4592946" y="1044108"/>
            <a:ext cx="2249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lag_price_56" descr="Editable line; source id lag_price_56"/>
          <p:cNvCxnSpPr/>
          <p:nvPr/>
        </p:nvCxnSpPr>
        <p:spPr>
          <a:xfrm>
            <a:off x="4615443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lag_price_57" descr="Editable line; source id lag_price_57"/>
          <p:cNvCxnSpPr/>
          <p:nvPr/>
        </p:nvCxnSpPr>
        <p:spPr>
          <a:xfrm>
            <a:off x="4621579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lag_price_58" descr="Editable line; source id lag_price_58"/>
          <p:cNvCxnSpPr/>
          <p:nvPr/>
        </p:nvCxnSpPr>
        <p:spPr>
          <a:xfrm>
            <a:off x="4627715" y="104410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lag_price_59" descr="Editable line; source id lag_price_59"/>
          <p:cNvCxnSpPr/>
          <p:nvPr/>
        </p:nvCxnSpPr>
        <p:spPr>
          <a:xfrm>
            <a:off x="4633850" y="104681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lag_price_60" descr="Editable line; source id lag_price_60"/>
          <p:cNvCxnSpPr/>
          <p:nvPr/>
        </p:nvCxnSpPr>
        <p:spPr>
          <a:xfrm>
            <a:off x="4639986" y="1049524"/>
            <a:ext cx="18406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lag_price_61" descr="Editable line; source id lag_price_61"/>
          <p:cNvCxnSpPr/>
          <p:nvPr/>
        </p:nvCxnSpPr>
        <p:spPr>
          <a:xfrm>
            <a:off x="4658392" y="1063064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lag_price_62" descr="Editable line; source id lag_price_62"/>
          <p:cNvCxnSpPr/>
          <p:nvPr/>
        </p:nvCxnSpPr>
        <p:spPr>
          <a:xfrm>
            <a:off x="4664528" y="106577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lag_price_63" descr="Editable line; source id lag_price_63"/>
          <p:cNvCxnSpPr/>
          <p:nvPr/>
        </p:nvCxnSpPr>
        <p:spPr>
          <a:xfrm>
            <a:off x="4670664" y="1071188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lag_price_64" descr="Editable line; source id lag_price_64"/>
          <p:cNvCxnSpPr/>
          <p:nvPr/>
        </p:nvCxnSpPr>
        <p:spPr>
          <a:xfrm>
            <a:off x="4676799" y="1076605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lag_price_65" descr="Editable line; source id lag_price_65"/>
          <p:cNvCxnSpPr/>
          <p:nvPr/>
        </p:nvCxnSpPr>
        <p:spPr>
          <a:xfrm>
            <a:off x="4682935" y="1076605"/>
            <a:ext cx="16361" cy="1895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lag_price_66" descr="Editable line; source id lag_price_66"/>
          <p:cNvCxnSpPr/>
          <p:nvPr/>
        </p:nvCxnSpPr>
        <p:spPr>
          <a:xfrm>
            <a:off x="4699296" y="109556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lag_price_67" descr="Editable line; source id lag_price_67"/>
          <p:cNvCxnSpPr/>
          <p:nvPr/>
        </p:nvCxnSpPr>
        <p:spPr>
          <a:xfrm>
            <a:off x="4705432" y="110097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lag_price_68" descr="Editable line; source id lag_price_68"/>
          <p:cNvCxnSpPr/>
          <p:nvPr/>
        </p:nvCxnSpPr>
        <p:spPr>
          <a:xfrm>
            <a:off x="4711568" y="1109102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lag_price_69" descr="Editable line; source id lag_price_69"/>
          <p:cNvCxnSpPr/>
          <p:nvPr/>
        </p:nvCxnSpPr>
        <p:spPr>
          <a:xfrm>
            <a:off x="4717703" y="1111810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lag_price_70" descr="Editable line; source id lag_price_70"/>
          <p:cNvCxnSpPr/>
          <p:nvPr/>
        </p:nvCxnSpPr>
        <p:spPr>
          <a:xfrm>
            <a:off x="4736110" y="1125350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lag_price_71" descr="Editable line; source id lag_price_71"/>
          <p:cNvCxnSpPr/>
          <p:nvPr/>
        </p:nvCxnSpPr>
        <p:spPr>
          <a:xfrm>
            <a:off x="4742245" y="1130766"/>
            <a:ext cx="6136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lag_price_72" descr="Editable line; source id lag_price_72"/>
          <p:cNvCxnSpPr/>
          <p:nvPr/>
        </p:nvCxnSpPr>
        <p:spPr>
          <a:xfrm>
            <a:off x="4748381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lag_price_73" descr="Editable line; source id lag_price_73"/>
          <p:cNvCxnSpPr/>
          <p:nvPr/>
        </p:nvCxnSpPr>
        <p:spPr>
          <a:xfrm>
            <a:off x="4754517" y="1138891"/>
            <a:ext cx="22497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lag_price_74" descr="Editable line; source id lag_price_74"/>
          <p:cNvCxnSpPr/>
          <p:nvPr/>
        </p:nvCxnSpPr>
        <p:spPr>
          <a:xfrm>
            <a:off x="4777014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lag_price_75" descr="Editable line; source id lag_price_75"/>
          <p:cNvCxnSpPr/>
          <p:nvPr/>
        </p:nvCxnSpPr>
        <p:spPr>
          <a:xfrm>
            <a:off x="478314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lag_price_76" descr="Editable line; source id lag_price_76"/>
          <p:cNvCxnSpPr/>
          <p:nvPr/>
        </p:nvCxnSpPr>
        <p:spPr>
          <a:xfrm>
            <a:off x="4789285" y="1149723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lag_price_77" descr="Editable line; source id lag_price_77"/>
          <p:cNvCxnSpPr/>
          <p:nvPr/>
        </p:nvCxnSpPr>
        <p:spPr>
          <a:xfrm>
            <a:off x="4795421" y="1152431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lag_price_78" descr="Editable line; source id lag_price_78"/>
          <p:cNvCxnSpPr/>
          <p:nvPr/>
        </p:nvCxnSpPr>
        <p:spPr>
          <a:xfrm>
            <a:off x="4801556" y="1152431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lag_price_79" descr="Editable line; source id lag_price_79"/>
          <p:cNvCxnSpPr/>
          <p:nvPr/>
        </p:nvCxnSpPr>
        <p:spPr>
          <a:xfrm>
            <a:off x="4822008" y="115243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lag_price_80" descr="Editable line; source id lag_price_80"/>
          <p:cNvCxnSpPr/>
          <p:nvPr/>
        </p:nvCxnSpPr>
        <p:spPr>
          <a:xfrm flipV="1">
            <a:off x="4828144" y="1149723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lag_price_81" descr="Editable line; source id lag_price_81"/>
          <p:cNvCxnSpPr/>
          <p:nvPr/>
        </p:nvCxnSpPr>
        <p:spPr>
          <a:xfrm>
            <a:off x="483427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lag_price_82" descr="Editable line; source id lag_price_82"/>
          <p:cNvCxnSpPr/>
          <p:nvPr/>
        </p:nvCxnSpPr>
        <p:spPr>
          <a:xfrm flipV="1">
            <a:off x="4840415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lag_price_83" descr="Editable line; source id lag_price_83"/>
          <p:cNvCxnSpPr/>
          <p:nvPr/>
        </p:nvCxnSpPr>
        <p:spPr>
          <a:xfrm flipV="1">
            <a:off x="4846550" y="1138891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lag_price_84" descr="Editable line; source id lag_price_84"/>
          <p:cNvCxnSpPr/>
          <p:nvPr/>
        </p:nvCxnSpPr>
        <p:spPr>
          <a:xfrm>
            <a:off x="4867002" y="113889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lag_price_85" descr="Editable line; source id lag_price_85"/>
          <p:cNvCxnSpPr/>
          <p:nvPr/>
        </p:nvCxnSpPr>
        <p:spPr>
          <a:xfrm flipV="1">
            <a:off x="4873138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lag_price_86" descr="Editable line; source id lag_price_86"/>
          <p:cNvCxnSpPr/>
          <p:nvPr/>
        </p:nvCxnSpPr>
        <p:spPr>
          <a:xfrm flipV="1">
            <a:off x="4879274" y="1130766"/>
            <a:ext cx="6135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lag_price_87" descr="Editable line; source id lag_price_87"/>
          <p:cNvCxnSpPr/>
          <p:nvPr/>
        </p:nvCxnSpPr>
        <p:spPr>
          <a:xfrm>
            <a:off x="4885409" y="1130766"/>
            <a:ext cx="204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l_cost" descr="Editable text; source id l_cost"/>
          <p:cNvSpPr txBox="1"/>
          <p:nvPr/>
        </p:nvSpPr>
        <p:spPr>
          <a:xfrm>
            <a:off x="4533900" y="571500"/>
            <a:ext cx="3302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sp>
        <p:nvSpPr>
          <p:cNvPr id="400" name="l_price" descr="Editable text; source id l_price"/>
          <p:cNvSpPr txBox="1"/>
          <p:nvPr/>
        </p:nvSpPr>
        <p:spPr>
          <a:xfrm>
            <a:off x="4432300" y="14097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401" name="l_training" descr="Editable text; source id l_training"/>
          <p:cNvSpPr txBox="1"/>
          <p:nvPr/>
        </p:nvSpPr>
        <p:spPr>
          <a:xfrm>
            <a:off x="4178300" y="1651000"/>
            <a:ext cx="6604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402" name="unification" descr="Editable shape; source id unification"/>
          <p:cNvSpPr/>
          <p:nvPr/>
        </p:nvSpPr>
        <p:spPr>
          <a:xfrm>
            <a:off x="38100" y="2540000"/>
            <a:ext cx="4953000" cy="444500"/>
          </a:xfrm>
          <a:prstGeom prst="roundRect">
            <a:avLst>
              <a:gd name="adj" fmla="val 9375"/>
            </a:avLst>
          </a:prstGeom>
          <a:solidFill>
            <a:srgbClr val="F6FAFA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hard_event_label"/>
          <p:cNvSpPr txBox="1"/>
          <p:nvPr/>
        </p:nvSpPr>
        <p:spPr>
          <a:xfrm>
            <a:off x="1765300" y="1041400"/>
            <a:ext cx="1473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AD3C3C"/>
                </a:solidFill>
                <a:latin typeface="Liberation Serif"/>
              </a:rPr>
              <a:t>hard constraint: excluded edge</a:t>
            </a:r>
          </a:p>
        </p:txBody>
      </p:sp>
      <p:cxnSp>
        <p:nvCxnSpPr>
          <p:cNvPr id="415" name="hard_key_0"/>
          <p:cNvCxnSpPr/>
          <p:nvPr/>
        </p:nvCxnSpPr>
        <p:spPr>
          <a:xfrm>
            <a:off x="1562100" y="1117600"/>
            <a:ext cx="152400" cy="0"/>
          </a:xfrm>
          <a:prstGeom prst="line">
            <a:avLst/>
          </a:prstGeom>
          <a:ln w="889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hard_key_x1_0"/>
          <p:cNvCxnSpPr/>
          <p:nvPr/>
        </p:nvCxnSpPr>
        <p:spPr>
          <a:xfrm>
            <a:off x="1612900" y="1092200"/>
            <a:ext cx="50800" cy="50800"/>
          </a:xfrm>
          <a:prstGeom prst="line">
            <a:avLst/>
          </a:prstGeom>
          <a:ln w="1143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hard_key_x2_0"/>
          <p:cNvCxnSpPr/>
          <p:nvPr/>
        </p:nvCxnSpPr>
        <p:spPr>
          <a:xfrm flipV="1">
            <a:off x="1612900" y="1092200"/>
            <a:ext cx="50800" cy="50800"/>
          </a:xfrm>
          <a:prstGeom prst="line">
            <a:avLst/>
          </a:prstGeom>
          <a:ln w="1143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graph_legend"/>
          <p:cNvSpPr txBox="1"/>
          <p:nvPr/>
        </p:nvSpPr>
        <p:spPr>
          <a:xfrm>
            <a:off x="1219200" y="1168400"/>
            <a:ext cx="25781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nodes: clustered states · edges: transition flow</a:t>
            </a:r>
          </a:p>
        </p:txBody>
      </p:sp>
      <p:cxnSp>
        <p:nvCxnSpPr>
          <p:cNvPr id="419" name="duals_down_0"/>
          <p:cNvCxnSpPr/>
          <p:nvPr/>
        </p:nvCxnSpPr>
        <p:spPr>
          <a:xfrm>
            <a:off x="2476500" y="1524000"/>
            <a:ext cx="0" cy="2032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pre_violation"/>
          <p:cNvSpPr txBox="1"/>
          <p:nvPr/>
        </p:nvSpPr>
        <p:spPr>
          <a:xfrm>
            <a:off x="2552700" y="1524000"/>
            <a:ext cx="1270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87F8C"/>
                </a:solidFill>
                <a:latin typeface="Liberation Serif"/>
              </a:rPr>
              <a:t>Prices before violations</a:t>
            </a:r>
          </a:p>
        </p:txBody>
      </p:sp>
      <p:cxnSp>
        <p:nvCxnSpPr>
          <p:cNvPr id="421" name="filter_to_price_0"/>
          <p:cNvCxnSpPr/>
          <p:nvPr/>
        </p:nvCxnSpPr>
        <p:spPr>
          <a:xfrm>
            <a:off x="2959100" y="1943100"/>
            <a:ext cx="0" cy="3810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filter_to_price_1"/>
          <p:cNvCxnSpPr/>
          <p:nvPr/>
        </p:nvCxnSpPr>
        <p:spPr>
          <a:xfrm flipH="1">
            <a:off x="2311400" y="1981200"/>
            <a:ext cx="647700" cy="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filter_to_price_2"/>
          <p:cNvCxnSpPr/>
          <p:nvPr/>
        </p:nvCxnSpPr>
        <p:spPr>
          <a:xfrm>
            <a:off x="2311400" y="1981200"/>
            <a:ext cx="0" cy="1016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feedback_label"/>
          <p:cNvSpPr txBox="1"/>
          <p:nvPr/>
        </p:nvSpPr>
        <p:spPr>
          <a:xfrm>
            <a:off x="1219200" y="2032000"/>
            <a:ext cx="4953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feedback</a:t>
            </a:r>
          </a:p>
        </p:txBody>
      </p:sp>
      <p:cxnSp>
        <p:nvCxnSpPr>
          <p:cNvPr id="425" name="feedback_to_price_0"/>
          <p:cNvCxnSpPr/>
          <p:nvPr/>
        </p:nvCxnSpPr>
        <p:spPr>
          <a:xfrm>
            <a:off x="1727200" y="2209800"/>
            <a:ext cx="76200" cy="0"/>
          </a:xfrm>
          <a:prstGeom prst="line">
            <a:avLst/>
          </a:prstGeom>
          <a:ln w="10160">
            <a:solidFill>
              <a:srgbClr val="BA5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price_to_actor_0"/>
          <p:cNvCxnSpPr/>
          <p:nvPr/>
        </p:nvCxnSpPr>
        <p:spPr>
          <a:xfrm>
            <a:off x="2857500" y="2209800"/>
            <a:ext cx="3048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actor_text"/>
          <p:cNvSpPr txBox="1"/>
          <p:nvPr/>
        </p:nvSpPr>
        <p:spPr>
          <a:xfrm>
            <a:off x="3200400" y="2133600"/>
            <a:ext cx="520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PPO/TRPO</a:t>
            </a:r>
          </a:p>
        </p:txBody>
      </p:sp>
      <p:cxnSp>
        <p:nvCxnSpPr>
          <p:cNvPr id="428" name="actor_out_0"/>
          <p:cNvCxnSpPr/>
          <p:nvPr/>
        </p:nvCxnSpPr>
        <p:spPr>
          <a:xfrm>
            <a:off x="3759200" y="2209800"/>
            <a:ext cx="1651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rule_title"/>
          <p:cNvSpPr txBox="1"/>
          <p:nvPr/>
        </p:nvSpPr>
        <p:spPr>
          <a:xfrm>
            <a:off x="88900" y="2070100"/>
            <a:ext cx="10033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F8C"/>
                </a:solidFill>
                <a:latin typeface="Liberation Serif"/>
              </a:rPr>
              <a:t>One price rule</a:t>
            </a:r>
          </a:p>
        </p:txBody>
      </p:sp>
      <p:sp>
        <p:nvSpPr>
          <p:cNvPr id="430" name="exact_title"/>
          <p:cNvSpPr txBox="1"/>
          <p:nvPr/>
        </p:nvSpPr>
        <p:spPr>
          <a:xfrm>
            <a:off x="101600" y="2362200"/>
            <a:ext cx="2133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66747D"/>
                </a:solidFill>
                <a:latin typeface="Liberation Serif"/>
              </a:rPr>
              <a:t>Exact settings</a:t>
            </a:r>
          </a:p>
        </p:txBody>
      </p:sp>
      <p:sp>
        <p:nvSpPr>
          <p:cNvPr id="431" name="limits_title"/>
          <p:cNvSpPr txBox="1"/>
          <p:nvPr/>
        </p:nvSpPr>
        <p:spPr>
          <a:xfrm>
            <a:off x="3149600" y="2362200"/>
            <a:ext cx="1790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66747D"/>
                </a:solidFill>
                <a:latin typeface="Liberation Serif"/>
              </a:rPr>
              <a:t>Conditional limits</a:t>
            </a:r>
          </a:p>
        </p:txBody>
      </p:sp>
      <p:cxnSp>
        <p:nvCxnSpPr>
          <p:cNvPr id="432" name="exact_bracket_0"/>
          <p:cNvCxnSpPr/>
          <p:nvPr/>
        </p:nvCxnSpPr>
        <p:spPr>
          <a:xfrm>
            <a:off x="1270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exact_bracket_1"/>
          <p:cNvCxnSpPr/>
          <p:nvPr/>
        </p:nvCxnSpPr>
        <p:spPr>
          <a:xfrm>
            <a:off x="127000" y="2540000"/>
            <a:ext cx="2095500" cy="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exact_bracket_2"/>
          <p:cNvCxnSpPr/>
          <p:nvPr/>
        </p:nvCxnSpPr>
        <p:spPr>
          <a:xfrm flipV="1">
            <a:off x="22225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limit_bracket_0"/>
          <p:cNvCxnSpPr/>
          <p:nvPr/>
        </p:nvCxnSpPr>
        <p:spPr>
          <a:xfrm>
            <a:off x="31496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limit_bracket_1"/>
          <p:cNvCxnSpPr/>
          <p:nvPr/>
        </p:nvCxnSpPr>
        <p:spPr>
          <a:xfrm>
            <a:off x="3149600" y="2540000"/>
            <a:ext cx="1778000" cy="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limit_bracket_2"/>
          <p:cNvCxnSpPr/>
          <p:nvPr/>
        </p:nvCxnSpPr>
        <p:spPr>
          <a:xfrm flipV="1">
            <a:off x="49276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u_fixed"/>
          <p:cNvSpPr txBox="1"/>
          <p:nvPr/>
        </p:nvSpPr>
        <p:spPr>
          <a:xfrm>
            <a:off x="88900" y="2578100"/>
            <a:ext cx="1016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Fixed penalty</a:t>
            </a:r>
          </a:p>
        </p:txBody>
      </p:sp>
      <p:sp>
        <p:nvSpPr>
          <p:cNvPr id="439" name="u_lag"/>
          <p:cNvSpPr txBox="1"/>
          <p:nvPr/>
        </p:nvSpPr>
        <p:spPr>
          <a:xfrm>
            <a:off x="1117600" y="2578100"/>
            <a:ext cx="1143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Lagrangian</a:t>
            </a:r>
          </a:p>
        </p:txBody>
      </p:sp>
      <p:sp>
        <p:nvSpPr>
          <p:cNvPr id="440" name="u_ours"/>
          <p:cNvSpPr txBox="1"/>
          <p:nvPr/>
        </p:nvSpPr>
        <p:spPr>
          <a:xfrm>
            <a:off x="2286000" y="2578100"/>
            <a:ext cx="736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8C"/>
                </a:solidFill>
                <a:latin typeface="Liberation Serif"/>
              </a:rPr>
              <a:t>SafeOT</a:t>
            </a:r>
          </a:p>
        </p:txBody>
      </p:sp>
      <p:sp>
        <p:nvSpPr>
          <p:cNvPr id="441" name="u_lp"/>
          <p:cNvSpPr txBox="1"/>
          <p:nvPr/>
        </p:nvSpPr>
        <p:spPr>
          <a:xfrm>
            <a:off x="3035300" y="2578100"/>
            <a:ext cx="660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LP</a:t>
            </a:r>
          </a:p>
        </p:txBody>
      </p:sp>
      <p:sp>
        <p:nvSpPr>
          <p:cNvPr id="442" name="u_active"/>
          <p:cNvSpPr txBox="1"/>
          <p:nvPr/>
        </p:nvSpPr>
        <p:spPr>
          <a:xfrm>
            <a:off x="3733800" y="2578100"/>
            <a:ext cx="12065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Active-set</a:t>
            </a:r>
          </a:p>
        </p:txBody>
      </p:sp>
      <p:sp>
        <p:nvSpPr>
          <p:cNvPr id="443" name="u_active_eq"/>
          <p:cNvSpPr txBox="1"/>
          <p:nvPr/>
        </p:nvSpPr>
        <p:spPr>
          <a:xfrm>
            <a:off x="3733800" y="2857500"/>
            <a:ext cx="1206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saturated clip</a:t>
            </a:r>
          </a:p>
        </p:txBody>
      </p:sp>
      <p:grpSp>
        <p:nvGrpSpPr>
          <p:cNvPr id="163" name="Fhat_legend"/>
          <p:cNvGrpSpPr/>
          <p:nvPr/>
        </p:nvGrpSpPr>
        <p:grpSpPr>
          <a:xfrm>
            <a:off x="1384836" y="390728"/>
            <a:ext cx="97770" cy="132968"/>
            <a:chOff x="1461036" y="390728"/>
            <a:chExt cx="97770" cy="132968"/>
          </a:xfrm>
        </p:grpSpPr>
        <p:sp>
          <p:nvSpPr>
            <p:cNvPr id="444" name="Fhat_legend_outline_0"/>
            <p:cNvSpPr/>
            <p:nvPr/>
          </p:nvSpPr>
          <p:spPr>
            <a:xfrm>
              <a:off x="1480872" y="390728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Fhat_legend_outline_1"/>
            <p:cNvSpPr/>
            <p:nvPr/>
          </p:nvSpPr>
          <p:spPr>
            <a:xfrm>
              <a:off x="1461036" y="432824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Fstar_legend"/>
          <p:cNvGrpSpPr/>
          <p:nvPr/>
        </p:nvGrpSpPr>
        <p:grpSpPr>
          <a:xfrm>
            <a:off x="1818376" y="402914"/>
            <a:ext cx="158655" cy="107587"/>
            <a:chOff x="1894576" y="402914"/>
            <a:chExt cx="158655" cy="107587"/>
          </a:xfrm>
        </p:grpSpPr>
        <p:sp>
          <p:nvSpPr>
            <p:cNvPr id="516" name="Fstar_legend_outline_0"/>
            <p:cNvSpPr/>
            <p:nvPr/>
          </p:nvSpPr>
          <p:spPr>
            <a:xfrm>
              <a:off x="1894576" y="419629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7" name="Fstar_legend_outline_1"/>
            <p:cNvSpPr/>
            <p:nvPr/>
          </p:nvSpPr>
          <p:spPr>
            <a:xfrm>
              <a:off x="1988382" y="402914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budget"/>
          <p:cNvGrpSpPr/>
          <p:nvPr/>
        </p:nvGrpSpPr>
        <p:grpSpPr>
          <a:xfrm>
            <a:off x="2817352" y="400714"/>
            <a:ext cx="716776" cy="125245"/>
            <a:chOff x="2817352" y="400714"/>
            <a:chExt cx="716776" cy="125245"/>
          </a:xfrm>
        </p:grpSpPr>
        <p:sp>
          <p:nvSpPr>
            <p:cNvPr id="448" name="budget_outline_0"/>
            <p:cNvSpPr/>
            <p:nvPr/>
          </p:nvSpPr>
          <p:spPr>
            <a:xfrm>
              <a:off x="2817352" y="4007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125246"/>
                  </a:moveTo>
                  <a:lnTo>
                    <a:pt x="9604" y="62623"/>
                  </a:lnTo>
                  <a:lnTo>
                    <a:pt x="36600" y="0"/>
                  </a:lnTo>
                  <a:lnTo>
                    <a:pt x="29920" y="0"/>
                  </a:lnTo>
                  <a:lnTo>
                    <a:pt x="0" y="62623"/>
                  </a:lnTo>
                  <a:lnTo>
                    <a:pt x="29920" y="125246"/>
                  </a:lnTo>
                  <a:lnTo>
                    <a:pt x="36600" y="12524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budget_outline_1"/>
            <p:cNvSpPr/>
            <p:nvPr/>
          </p:nvSpPr>
          <p:spPr>
            <a:xfrm>
              <a:off x="2867865" y="406421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7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4" y="84888"/>
                    <a:pt x="51352" y="88924"/>
                    <a:pt x="39941" y="88924"/>
                  </a:cubicBezTo>
                  <a:cubicBezTo>
                    <a:pt x="24495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3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6" y="5008"/>
                    <a:pt x="77653" y="12525"/>
                    <a:pt x="79046" y="27555"/>
                  </a:cubicBezTo>
                  <a:lnTo>
                    <a:pt x="81550" y="27972"/>
                  </a:lnTo>
                  <a:lnTo>
                    <a:pt x="86697" y="278"/>
                  </a:lnTo>
                  <a:lnTo>
                    <a:pt x="83776" y="278"/>
                  </a:lnTo>
                  <a:cubicBezTo>
                    <a:pt x="82665" y="2504"/>
                    <a:pt x="81272" y="3342"/>
                    <a:pt x="78490" y="3342"/>
                  </a:cubicBezTo>
                  <a:cubicBezTo>
                    <a:pt x="77236" y="3342"/>
                    <a:pt x="75704" y="3060"/>
                    <a:pt x="72783" y="2365"/>
                  </a:cubicBezTo>
                  <a:cubicBezTo>
                    <a:pt x="66659" y="833"/>
                    <a:pt x="61095" y="0"/>
                    <a:pt x="56499" y="0"/>
                  </a:cubicBezTo>
                  <a:cubicBezTo>
                    <a:pt x="26722" y="0"/>
                    <a:pt x="0" y="27833"/>
                    <a:pt x="0" y="58864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7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budget_outline_2"/>
            <p:cNvSpPr/>
            <p:nvPr/>
          </p:nvSpPr>
          <p:spPr>
            <a:xfrm>
              <a:off x="2957850" y="4491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budget_outline_3"/>
            <p:cNvSpPr/>
            <p:nvPr/>
          </p:nvSpPr>
          <p:spPr>
            <a:xfrm>
              <a:off x="3027321" y="48490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budget_outline_4"/>
            <p:cNvSpPr/>
            <p:nvPr/>
          </p:nvSpPr>
          <p:spPr>
            <a:xfrm>
              <a:off x="3084228" y="408231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29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60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3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3"/>
                    <a:pt x="55245" y="60258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4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6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5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budget_outline_5"/>
            <p:cNvSpPr/>
            <p:nvPr/>
          </p:nvSpPr>
          <p:spPr>
            <a:xfrm>
              <a:off x="3184115" y="4007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62623"/>
                  </a:moveTo>
                  <a:lnTo>
                    <a:pt x="6679" y="0"/>
                  </a:lnTo>
                  <a:lnTo>
                    <a:pt x="0" y="0"/>
                  </a:lnTo>
                  <a:lnTo>
                    <a:pt x="26999" y="62623"/>
                  </a:lnTo>
                  <a:lnTo>
                    <a:pt x="0" y="125246"/>
                  </a:lnTo>
                  <a:lnTo>
                    <a:pt x="6679" y="125246"/>
                  </a:lnTo>
                  <a:lnTo>
                    <a:pt x="36600" y="6262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budget_outline_6"/>
            <p:cNvSpPr/>
            <p:nvPr/>
          </p:nvSpPr>
          <p:spPr>
            <a:xfrm>
              <a:off x="3280547" y="419224"/>
              <a:ext cx="71250" cy="87951"/>
            </a:xfrm>
            <a:custGeom>
              <a:avLst/>
              <a:gdLst/>
              <a:ahLst/>
              <a:cxnLst/>
              <a:rect l="0" t="0" r="r" b="b"/>
              <a:pathLst>
                <a:path w="71250" h="87952">
                  <a:moveTo>
                    <a:pt x="71250" y="69858"/>
                  </a:moveTo>
                  <a:lnTo>
                    <a:pt x="71250" y="62067"/>
                  </a:lnTo>
                  <a:lnTo>
                    <a:pt x="13359" y="34929"/>
                  </a:lnTo>
                  <a:lnTo>
                    <a:pt x="71250" y="7795"/>
                  </a:lnTo>
                  <a:lnTo>
                    <a:pt x="71250" y="0"/>
                  </a:lnTo>
                  <a:lnTo>
                    <a:pt x="0" y="33679"/>
                  </a:lnTo>
                  <a:lnTo>
                    <a:pt x="0" y="36461"/>
                  </a:lnTo>
                  <a:lnTo>
                    <a:pt x="71250" y="69858"/>
                  </a:lnTo>
                  <a:close/>
                  <a:moveTo>
                    <a:pt x="71250" y="87952"/>
                  </a:moveTo>
                  <a:lnTo>
                    <a:pt x="71250" y="80574"/>
                  </a:lnTo>
                  <a:lnTo>
                    <a:pt x="0" y="80574"/>
                  </a:lnTo>
                  <a:lnTo>
                    <a:pt x="0" y="87952"/>
                  </a:lnTo>
                  <a:lnTo>
                    <a:pt x="71250" y="8795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budget_outline_7"/>
            <p:cNvSpPr/>
            <p:nvPr/>
          </p:nvSpPr>
          <p:spPr>
            <a:xfrm>
              <a:off x="3405630" y="404056"/>
              <a:ext cx="62622" cy="96579"/>
            </a:xfrm>
            <a:custGeom>
              <a:avLst/>
              <a:gdLst/>
              <a:ahLst/>
              <a:cxnLst/>
              <a:rect l="0" t="0" r="r" b="b"/>
              <a:pathLst>
                <a:path w="62623" h="96580">
                  <a:moveTo>
                    <a:pt x="62623" y="50375"/>
                  </a:moveTo>
                  <a:cubicBezTo>
                    <a:pt x="62623" y="40636"/>
                    <a:pt x="55805" y="33679"/>
                    <a:pt x="46482" y="33679"/>
                  </a:cubicBezTo>
                  <a:cubicBezTo>
                    <a:pt x="36743" y="33679"/>
                    <a:pt x="29504" y="39382"/>
                    <a:pt x="19625" y="54689"/>
                  </a:cubicBezTo>
                  <a:lnTo>
                    <a:pt x="34096" y="695"/>
                  </a:lnTo>
                  <a:lnTo>
                    <a:pt x="33401" y="0"/>
                  </a:lnTo>
                  <a:cubicBezTo>
                    <a:pt x="26444" y="1254"/>
                    <a:pt x="21431" y="2087"/>
                    <a:pt x="12109" y="3199"/>
                  </a:cubicBezTo>
                  <a:lnTo>
                    <a:pt x="12109" y="5568"/>
                  </a:lnTo>
                  <a:cubicBezTo>
                    <a:pt x="20320" y="5846"/>
                    <a:pt x="21153" y="6263"/>
                    <a:pt x="21153" y="9323"/>
                  </a:cubicBezTo>
                  <a:cubicBezTo>
                    <a:pt x="21153" y="10577"/>
                    <a:pt x="20876" y="12109"/>
                    <a:pt x="19903" y="15307"/>
                  </a:cubicBezTo>
                  <a:lnTo>
                    <a:pt x="19205" y="17951"/>
                  </a:lnTo>
                  <a:lnTo>
                    <a:pt x="18927" y="18927"/>
                  </a:lnTo>
                  <a:lnTo>
                    <a:pt x="0" y="88646"/>
                  </a:lnTo>
                  <a:lnTo>
                    <a:pt x="0" y="89202"/>
                  </a:lnTo>
                  <a:cubicBezTo>
                    <a:pt x="0" y="92404"/>
                    <a:pt x="10577" y="96580"/>
                    <a:pt x="18510" y="96580"/>
                  </a:cubicBezTo>
                  <a:cubicBezTo>
                    <a:pt x="39525" y="96580"/>
                    <a:pt x="62623" y="72362"/>
                    <a:pt x="62623" y="50375"/>
                  </a:cubicBezTo>
                  <a:close/>
                  <a:moveTo>
                    <a:pt x="50796" y="52463"/>
                  </a:moveTo>
                  <a:cubicBezTo>
                    <a:pt x="50796" y="61650"/>
                    <a:pt x="43839" y="76537"/>
                    <a:pt x="35489" y="85165"/>
                  </a:cubicBezTo>
                  <a:cubicBezTo>
                    <a:pt x="30341" y="90456"/>
                    <a:pt x="24356" y="93377"/>
                    <a:pt x="18371" y="93377"/>
                  </a:cubicBezTo>
                  <a:cubicBezTo>
                    <a:pt x="14057" y="93377"/>
                    <a:pt x="11970" y="91849"/>
                    <a:pt x="11970" y="88646"/>
                  </a:cubicBezTo>
                  <a:cubicBezTo>
                    <a:pt x="11970" y="80296"/>
                    <a:pt x="16145" y="66937"/>
                    <a:pt x="21991" y="56499"/>
                  </a:cubicBezTo>
                  <a:cubicBezTo>
                    <a:pt x="28115" y="45783"/>
                    <a:pt x="34373" y="40497"/>
                    <a:pt x="41057" y="40497"/>
                  </a:cubicBezTo>
                  <a:cubicBezTo>
                    <a:pt x="47177" y="40497"/>
                    <a:pt x="50796" y="45089"/>
                    <a:pt x="50796" y="524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budget_outline_8"/>
            <p:cNvSpPr/>
            <p:nvPr/>
          </p:nvSpPr>
          <p:spPr>
            <a:xfrm>
              <a:off x="3483491" y="4491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3" name="raw_dual"/>
          <p:cNvGrpSpPr/>
          <p:nvPr/>
        </p:nvGrpSpPr>
        <p:grpSpPr>
          <a:xfrm>
            <a:off x="2193395" y="1526140"/>
            <a:ext cx="140487" cy="160190"/>
            <a:chOff x="2193395" y="1526140"/>
            <a:chExt cx="140487" cy="160190"/>
          </a:xfrm>
        </p:grpSpPr>
        <p:sp>
          <p:nvSpPr>
            <p:cNvPr id="518" name="raw_dual_outline_0"/>
            <p:cNvSpPr/>
            <p:nvPr/>
          </p:nvSpPr>
          <p:spPr>
            <a:xfrm>
              <a:off x="2193395" y="1542577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4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7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9" name="raw_dual_outline_1"/>
            <p:cNvSpPr/>
            <p:nvPr/>
          </p:nvSpPr>
          <p:spPr>
            <a:xfrm>
              <a:off x="2269033" y="1526140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80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0" name="raw_dual_outline_2"/>
            <p:cNvSpPr/>
            <p:nvPr/>
          </p:nvSpPr>
          <p:spPr>
            <a:xfrm>
              <a:off x="2275429" y="1614318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filter_chain"/>
          <p:cNvGrpSpPr/>
          <p:nvPr/>
        </p:nvGrpSpPr>
        <p:grpSpPr>
          <a:xfrm>
            <a:off x="2028406" y="1768951"/>
            <a:ext cx="1006605" cy="158164"/>
            <a:chOff x="2003006" y="1768951"/>
            <a:chExt cx="1006605" cy="158164"/>
          </a:xfrm>
        </p:grpSpPr>
        <p:sp>
          <p:nvSpPr>
            <p:cNvPr id="521" name="filter_chain_outline_0"/>
            <p:cNvSpPr/>
            <p:nvPr/>
          </p:nvSpPr>
          <p:spPr>
            <a:xfrm>
              <a:off x="1957075" y="1786357"/>
              <a:ext cx="182819" cy="113855"/>
            </a:xfrm>
            <a:custGeom>
              <a:avLst/>
              <a:gdLst/>
              <a:ahLst/>
              <a:cxnLst/>
              <a:rect l="0" t="0" r="r" b="b"/>
              <a:pathLst>
                <a:path w="182819" h="113856">
                  <a:moveTo>
                    <a:pt x="48958" y="67806"/>
                  </a:moveTo>
                  <a:lnTo>
                    <a:pt x="47188" y="66667"/>
                  </a:lnTo>
                  <a:cubicBezTo>
                    <a:pt x="41116" y="75525"/>
                    <a:pt x="36560" y="78561"/>
                    <a:pt x="29349" y="78561"/>
                  </a:cubicBezTo>
                  <a:cubicBezTo>
                    <a:pt x="17713" y="78561"/>
                    <a:pt x="9739" y="68441"/>
                    <a:pt x="9739" y="53892"/>
                  </a:cubicBezTo>
                  <a:cubicBezTo>
                    <a:pt x="9739" y="40735"/>
                    <a:pt x="16700" y="31877"/>
                    <a:pt x="26944" y="31877"/>
                  </a:cubicBezTo>
                  <a:cubicBezTo>
                    <a:pt x="31500" y="31877"/>
                    <a:pt x="33143" y="33270"/>
                    <a:pt x="34409" y="37953"/>
                  </a:cubicBezTo>
                  <a:lnTo>
                    <a:pt x="35167" y="40735"/>
                  </a:lnTo>
                  <a:cubicBezTo>
                    <a:pt x="36179" y="44402"/>
                    <a:pt x="38457" y="46553"/>
                    <a:pt x="41239" y="46553"/>
                  </a:cubicBezTo>
                  <a:cubicBezTo>
                    <a:pt x="44529" y="46553"/>
                    <a:pt x="47188" y="44148"/>
                    <a:pt x="47188" y="41239"/>
                  </a:cubicBezTo>
                  <a:cubicBezTo>
                    <a:pt x="47188" y="34155"/>
                    <a:pt x="38330" y="28210"/>
                    <a:pt x="27706" y="28210"/>
                  </a:cubicBezTo>
                  <a:cubicBezTo>
                    <a:pt x="21761" y="28210"/>
                    <a:pt x="15689" y="30488"/>
                    <a:pt x="10624" y="34663"/>
                  </a:cubicBezTo>
                  <a:cubicBezTo>
                    <a:pt x="3794" y="40354"/>
                    <a:pt x="0" y="49085"/>
                    <a:pt x="0" y="59583"/>
                  </a:cubicBezTo>
                  <a:cubicBezTo>
                    <a:pt x="0" y="75902"/>
                    <a:pt x="9993" y="87670"/>
                    <a:pt x="24035" y="87670"/>
                  </a:cubicBezTo>
                  <a:cubicBezTo>
                    <a:pt x="29476" y="87670"/>
                    <a:pt x="34282" y="85896"/>
                    <a:pt x="38584" y="82355"/>
                  </a:cubicBezTo>
                  <a:cubicBezTo>
                    <a:pt x="42378" y="79319"/>
                    <a:pt x="44910" y="75652"/>
                    <a:pt x="48958" y="67806"/>
                  </a:cubicBezTo>
                  <a:close/>
                  <a:moveTo>
                    <a:pt x="85526" y="86404"/>
                  </a:moveTo>
                  <a:lnTo>
                    <a:pt x="85526" y="84507"/>
                  </a:lnTo>
                  <a:cubicBezTo>
                    <a:pt x="77429" y="83999"/>
                    <a:pt x="76036" y="82736"/>
                    <a:pt x="76036" y="75775"/>
                  </a:cubicBezTo>
                  <a:lnTo>
                    <a:pt x="76036" y="254"/>
                  </a:lnTo>
                  <a:lnTo>
                    <a:pt x="75532" y="0"/>
                  </a:lnTo>
                  <a:cubicBezTo>
                    <a:pt x="68952" y="2151"/>
                    <a:pt x="64146" y="3413"/>
                    <a:pt x="55419" y="5564"/>
                  </a:cubicBezTo>
                  <a:lnTo>
                    <a:pt x="55419" y="7588"/>
                  </a:lnTo>
                  <a:lnTo>
                    <a:pt x="56177" y="7588"/>
                  </a:lnTo>
                  <a:cubicBezTo>
                    <a:pt x="57570" y="7461"/>
                    <a:pt x="59086" y="7338"/>
                    <a:pt x="60098" y="7338"/>
                  </a:cubicBezTo>
                  <a:cubicBezTo>
                    <a:pt x="64146" y="7338"/>
                    <a:pt x="65412" y="9108"/>
                    <a:pt x="65412" y="15053"/>
                  </a:cubicBezTo>
                  <a:lnTo>
                    <a:pt x="65412" y="75398"/>
                  </a:lnTo>
                  <a:cubicBezTo>
                    <a:pt x="65412" y="82228"/>
                    <a:pt x="63642" y="83872"/>
                    <a:pt x="55669" y="84507"/>
                  </a:cubicBezTo>
                  <a:lnTo>
                    <a:pt x="55669" y="86404"/>
                  </a:lnTo>
                  <a:lnTo>
                    <a:pt x="85526" y="86404"/>
                  </a:lnTo>
                  <a:close/>
                  <a:moveTo>
                    <a:pt x="120195" y="86404"/>
                  </a:moveTo>
                  <a:lnTo>
                    <a:pt x="120195" y="84507"/>
                  </a:lnTo>
                  <a:cubicBezTo>
                    <a:pt x="111844" y="83872"/>
                    <a:pt x="110832" y="82609"/>
                    <a:pt x="110832" y="73501"/>
                  </a:cubicBezTo>
                  <a:lnTo>
                    <a:pt x="110832" y="28591"/>
                  </a:lnTo>
                  <a:lnTo>
                    <a:pt x="110324" y="28210"/>
                  </a:lnTo>
                  <a:lnTo>
                    <a:pt x="90719" y="35167"/>
                  </a:lnTo>
                  <a:lnTo>
                    <a:pt x="90719" y="37064"/>
                  </a:lnTo>
                  <a:lnTo>
                    <a:pt x="91731" y="36941"/>
                  </a:lnTo>
                  <a:cubicBezTo>
                    <a:pt x="93247" y="36687"/>
                    <a:pt x="94890" y="36560"/>
                    <a:pt x="96029" y="36560"/>
                  </a:cubicBezTo>
                  <a:cubicBezTo>
                    <a:pt x="99065" y="36560"/>
                    <a:pt x="100204" y="38584"/>
                    <a:pt x="100204" y="44148"/>
                  </a:cubicBezTo>
                  <a:lnTo>
                    <a:pt x="100204" y="73501"/>
                  </a:lnTo>
                  <a:cubicBezTo>
                    <a:pt x="100204" y="82609"/>
                    <a:pt x="98938" y="83999"/>
                    <a:pt x="90211" y="84507"/>
                  </a:cubicBezTo>
                  <a:lnTo>
                    <a:pt x="90211" y="86404"/>
                  </a:lnTo>
                  <a:lnTo>
                    <a:pt x="120195" y="86404"/>
                  </a:lnTo>
                  <a:close/>
                  <a:moveTo>
                    <a:pt x="111971" y="6449"/>
                  </a:moveTo>
                  <a:cubicBezTo>
                    <a:pt x="111971" y="2909"/>
                    <a:pt x="109185" y="0"/>
                    <a:pt x="105518" y="0"/>
                  </a:cubicBezTo>
                  <a:cubicBezTo>
                    <a:pt x="101974" y="0"/>
                    <a:pt x="99065" y="2909"/>
                    <a:pt x="99065" y="6449"/>
                  </a:cubicBezTo>
                  <a:cubicBezTo>
                    <a:pt x="99065" y="10120"/>
                    <a:pt x="101974" y="12902"/>
                    <a:pt x="105518" y="12902"/>
                  </a:cubicBezTo>
                  <a:cubicBezTo>
                    <a:pt x="109185" y="12902"/>
                    <a:pt x="111971" y="10120"/>
                    <a:pt x="111971" y="6449"/>
                  </a:cubicBezTo>
                  <a:close/>
                  <a:moveTo>
                    <a:pt x="182819" y="55158"/>
                  </a:moveTo>
                  <a:cubicBezTo>
                    <a:pt x="182819" y="39469"/>
                    <a:pt x="173961" y="28210"/>
                    <a:pt x="161689" y="28210"/>
                  </a:cubicBezTo>
                  <a:cubicBezTo>
                    <a:pt x="154605" y="28210"/>
                    <a:pt x="149041" y="31373"/>
                    <a:pt x="143474" y="38203"/>
                  </a:cubicBezTo>
                  <a:lnTo>
                    <a:pt x="143474" y="28464"/>
                  </a:lnTo>
                  <a:lnTo>
                    <a:pt x="142715" y="28210"/>
                  </a:lnTo>
                  <a:cubicBezTo>
                    <a:pt x="135885" y="30865"/>
                    <a:pt x="131456" y="32512"/>
                    <a:pt x="124499" y="34663"/>
                  </a:cubicBezTo>
                  <a:lnTo>
                    <a:pt x="124499" y="36687"/>
                  </a:lnTo>
                  <a:cubicBezTo>
                    <a:pt x="125638" y="36560"/>
                    <a:pt x="126523" y="36560"/>
                    <a:pt x="127662" y="36560"/>
                  </a:cubicBezTo>
                  <a:cubicBezTo>
                    <a:pt x="131964" y="36560"/>
                    <a:pt x="132849" y="37826"/>
                    <a:pt x="132849" y="43771"/>
                  </a:cubicBezTo>
                  <a:lnTo>
                    <a:pt x="132849" y="102977"/>
                  </a:lnTo>
                  <a:cubicBezTo>
                    <a:pt x="132849" y="109553"/>
                    <a:pt x="131456" y="110946"/>
                    <a:pt x="123991" y="111704"/>
                  </a:cubicBezTo>
                  <a:lnTo>
                    <a:pt x="123991" y="113856"/>
                  </a:lnTo>
                  <a:lnTo>
                    <a:pt x="154605" y="113856"/>
                  </a:lnTo>
                  <a:lnTo>
                    <a:pt x="154605" y="111577"/>
                  </a:lnTo>
                  <a:cubicBezTo>
                    <a:pt x="145121" y="111450"/>
                    <a:pt x="143474" y="110061"/>
                    <a:pt x="143474" y="102092"/>
                  </a:cubicBezTo>
                  <a:lnTo>
                    <a:pt x="143474" y="82228"/>
                  </a:lnTo>
                  <a:cubicBezTo>
                    <a:pt x="147902" y="86404"/>
                    <a:pt x="150939" y="87670"/>
                    <a:pt x="156252" y="87670"/>
                  </a:cubicBezTo>
                  <a:cubicBezTo>
                    <a:pt x="171179" y="87670"/>
                    <a:pt x="182819" y="73501"/>
                    <a:pt x="182819" y="55158"/>
                  </a:cubicBezTo>
                  <a:close/>
                  <a:moveTo>
                    <a:pt x="171937" y="60091"/>
                  </a:moveTo>
                  <a:cubicBezTo>
                    <a:pt x="171937" y="74132"/>
                    <a:pt x="165738" y="83622"/>
                    <a:pt x="156630" y="83622"/>
                  </a:cubicBezTo>
                  <a:cubicBezTo>
                    <a:pt x="150685" y="83622"/>
                    <a:pt x="143474" y="79065"/>
                    <a:pt x="143474" y="75271"/>
                  </a:cubicBezTo>
                  <a:lnTo>
                    <a:pt x="143474" y="44148"/>
                  </a:lnTo>
                  <a:cubicBezTo>
                    <a:pt x="143474" y="40354"/>
                    <a:pt x="150558" y="35802"/>
                    <a:pt x="156379" y="35802"/>
                  </a:cubicBezTo>
                  <a:cubicBezTo>
                    <a:pt x="165738" y="35802"/>
                    <a:pt x="171937" y="45414"/>
                    <a:pt x="171937" y="60091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2" name="filter_chain_outline_1"/>
            <p:cNvSpPr/>
            <p:nvPr/>
          </p:nvSpPr>
          <p:spPr>
            <a:xfrm>
              <a:off x="2180359" y="1810518"/>
              <a:ext cx="61229" cy="61229"/>
            </a:xfrm>
            <a:custGeom>
              <a:avLst/>
              <a:gdLst/>
              <a:ahLst/>
              <a:cxnLst/>
              <a:rect l="0" t="0" r="r" b="b"/>
              <a:pathLst>
                <a:path w="61229" h="61230">
                  <a:moveTo>
                    <a:pt x="61229" y="34790"/>
                  </a:moveTo>
                  <a:lnTo>
                    <a:pt x="61229" y="26440"/>
                  </a:lnTo>
                  <a:lnTo>
                    <a:pt x="34789" y="26440"/>
                  </a:lnTo>
                  <a:lnTo>
                    <a:pt x="34789" y="0"/>
                  </a:lnTo>
                  <a:lnTo>
                    <a:pt x="26439" y="0"/>
                  </a:lnTo>
                  <a:lnTo>
                    <a:pt x="26439" y="26440"/>
                  </a:lnTo>
                  <a:lnTo>
                    <a:pt x="0" y="26440"/>
                  </a:lnTo>
                  <a:lnTo>
                    <a:pt x="0" y="34790"/>
                  </a:lnTo>
                  <a:lnTo>
                    <a:pt x="26439" y="34790"/>
                  </a:lnTo>
                  <a:lnTo>
                    <a:pt x="26439" y="61230"/>
                  </a:lnTo>
                  <a:lnTo>
                    <a:pt x="34789" y="61230"/>
                  </a:lnTo>
                  <a:lnTo>
                    <a:pt x="34789" y="34790"/>
                  </a:lnTo>
                  <a:lnTo>
                    <a:pt x="61229" y="3479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3" name="filter_chain_outline_2"/>
            <p:cNvSpPr/>
            <p:nvPr/>
          </p:nvSpPr>
          <p:spPr>
            <a:xfrm>
              <a:off x="2284721" y="1786357"/>
              <a:ext cx="364509" cy="87669"/>
            </a:xfrm>
            <a:custGeom>
              <a:avLst/>
              <a:gdLst/>
              <a:ahLst/>
              <a:cxnLst/>
              <a:rect l="0" t="0" r="r" b="b"/>
              <a:pathLst>
                <a:path w="364509" h="87670">
                  <a:moveTo>
                    <a:pt x="37573" y="71477"/>
                  </a:moveTo>
                  <a:cubicBezTo>
                    <a:pt x="37573" y="65151"/>
                    <a:pt x="34663" y="60976"/>
                    <a:pt x="26944" y="56420"/>
                  </a:cubicBezTo>
                  <a:lnTo>
                    <a:pt x="13284" y="48324"/>
                  </a:lnTo>
                  <a:cubicBezTo>
                    <a:pt x="9740" y="46299"/>
                    <a:pt x="7842" y="43136"/>
                    <a:pt x="7842" y="39723"/>
                  </a:cubicBezTo>
                  <a:cubicBezTo>
                    <a:pt x="7842" y="34536"/>
                    <a:pt x="11764" y="31119"/>
                    <a:pt x="17582" y="31119"/>
                  </a:cubicBezTo>
                  <a:cubicBezTo>
                    <a:pt x="24793" y="31119"/>
                    <a:pt x="28592" y="35294"/>
                    <a:pt x="31501" y="46680"/>
                  </a:cubicBezTo>
                  <a:lnTo>
                    <a:pt x="33397" y="46680"/>
                  </a:lnTo>
                  <a:lnTo>
                    <a:pt x="32889" y="29476"/>
                  </a:lnTo>
                  <a:lnTo>
                    <a:pt x="31501" y="29476"/>
                  </a:lnTo>
                  <a:lnTo>
                    <a:pt x="31247" y="29730"/>
                  </a:lnTo>
                  <a:cubicBezTo>
                    <a:pt x="30108" y="30615"/>
                    <a:pt x="29981" y="30742"/>
                    <a:pt x="29477" y="30742"/>
                  </a:cubicBezTo>
                  <a:cubicBezTo>
                    <a:pt x="28719" y="30742"/>
                    <a:pt x="27452" y="30488"/>
                    <a:pt x="26059" y="29853"/>
                  </a:cubicBezTo>
                  <a:cubicBezTo>
                    <a:pt x="23405" y="28841"/>
                    <a:pt x="20495" y="28337"/>
                    <a:pt x="17459" y="28337"/>
                  </a:cubicBezTo>
                  <a:cubicBezTo>
                    <a:pt x="7085" y="28337"/>
                    <a:pt x="0" y="34663"/>
                    <a:pt x="0" y="43898"/>
                  </a:cubicBezTo>
                  <a:cubicBezTo>
                    <a:pt x="0" y="50982"/>
                    <a:pt x="4049" y="55916"/>
                    <a:pt x="14801" y="62115"/>
                  </a:cubicBezTo>
                  <a:lnTo>
                    <a:pt x="22139" y="66290"/>
                  </a:lnTo>
                  <a:cubicBezTo>
                    <a:pt x="26567" y="68818"/>
                    <a:pt x="28719" y="71854"/>
                    <a:pt x="28719" y="75775"/>
                  </a:cubicBezTo>
                  <a:cubicBezTo>
                    <a:pt x="28719" y="81343"/>
                    <a:pt x="24666" y="84884"/>
                    <a:pt x="18217" y="84884"/>
                  </a:cubicBezTo>
                  <a:cubicBezTo>
                    <a:pt x="9486" y="84884"/>
                    <a:pt x="5061" y="80077"/>
                    <a:pt x="2151" y="67175"/>
                  </a:cubicBezTo>
                  <a:lnTo>
                    <a:pt x="127" y="67175"/>
                  </a:lnTo>
                  <a:lnTo>
                    <a:pt x="127" y="86912"/>
                  </a:lnTo>
                  <a:lnTo>
                    <a:pt x="1770" y="86912"/>
                  </a:lnTo>
                  <a:cubicBezTo>
                    <a:pt x="2656" y="85646"/>
                    <a:pt x="3164" y="85392"/>
                    <a:pt x="4680" y="85392"/>
                  </a:cubicBezTo>
                  <a:cubicBezTo>
                    <a:pt x="6073" y="85392"/>
                    <a:pt x="7461" y="85646"/>
                    <a:pt x="10498" y="86404"/>
                  </a:cubicBezTo>
                  <a:cubicBezTo>
                    <a:pt x="14042" y="87162"/>
                    <a:pt x="17205" y="87670"/>
                    <a:pt x="19860" y="87670"/>
                  </a:cubicBezTo>
                  <a:cubicBezTo>
                    <a:pt x="29477" y="87670"/>
                    <a:pt x="37573" y="80331"/>
                    <a:pt x="37573" y="71477"/>
                  </a:cubicBezTo>
                  <a:close/>
                  <a:moveTo>
                    <a:pt x="140809" y="86404"/>
                  </a:moveTo>
                  <a:lnTo>
                    <a:pt x="140809" y="84507"/>
                  </a:lnTo>
                  <a:lnTo>
                    <a:pt x="137519" y="84253"/>
                  </a:lnTo>
                  <a:cubicBezTo>
                    <a:pt x="133725" y="83999"/>
                    <a:pt x="132077" y="81724"/>
                    <a:pt x="132077" y="76787"/>
                  </a:cubicBezTo>
                  <a:lnTo>
                    <a:pt x="132077" y="50728"/>
                  </a:lnTo>
                  <a:cubicBezTo>
                    <a:pt x="132077" y="35802"/>
                    <a:pt x="127145" y="28210"/>
                    <a:pt x="117405" y="28210"/>
                  </a:cubicBezTo>
                  <a:cubicBezTo>
                    <a:pt x="110067" y="28210"/>
                    <a:pt x="103614" y="31500"/>
                    <a:pt x="96784" y="38838"/>
                  </a:cubicBezTo>
                  <a:cubicBezTo>
                    <a:pt x="94506" y="31627"/>
                    <a:pt x="90203" y="28210"/>
                    <a:pt x="83373" y="28210"/>
                  </a:cubicBezTo>
                  <a:cubicBezTo>
                    <a:pt x="77809" y="28210"/>
                    <a:pt x="74265" y="29980"/>
                    <a:pt x="63764" y="37953"/>
                  </a:cubicBezTo>
                  <a:lnTo>
                    <a:pt x="63764" y="28464"/>
                  </a:lnTo>
                  <a:lnTo>
                    <a:pt x="62879" y="28210"/>
                  </a:lnTo>
                  <a:cubicBezTo>
                    <a:pt x="56430" y="30615"/>
                    <a:pt x="52127" y="32004"/>
                    <a:pt x="45170" y="33905"/>
                  </a:cubicBezTo>
                  <a:lnTo>
                    <a:pt x="45170" y="36052"/>
                  </a:lnTo>
                  <a:cubicBezTo>
                    <a:pt x="46813" y="35675"/>
                    <a:pt x="47826" y="35548"/>
                    <a:pt x="49218" y="35548"/>
                  </a:cubicBezTo>
                  <a:cubicBezTo>
                    <a:pt x="52504" y="35548"/>
                    <a:pt x="53644" y="37572"/>
                    <a:pt x="53644" y="43644"/>
                  </a:cubicBezTo>
                  <a:lnTo>
                    <a:pt x="53644" y="75652"/>
                  </a:lnTo>
                  <a:cubicBezTo>
                    <a:pt x="53644" y="82482"/>
                    <a:pt x="51873" y="84380"/>
                    <a:pt x="44789" y="84507"/>
                  </a:cubicBezTo>
                  <a:lnTo>
                    <a:pt x="44789" y="86404"/>
                  </a:lnTo>
                  <a:lnTo>
                    <a:pt x="72871" y="86404"/>
                  </a:lnTo>
                  <a:lnTo>
                    <a:pt x="72871" y="84507"/>
                  </a:lnTo>
                  <a:cubicBezTo>
                    <a:pt x="66168" y="84253"/>
                    <a:pt x="64272" y="82860"/>
                    <a:pt x="64272" y="77926"/>
                  </a:cubicBezTo>
                  <a:lnTo>
                    <a:pt x="64272" y="42251"/>
                  </a:lnTo>
                  <a:cubicBezTo>
                    <a:pt x="64272" y="42251"/>
                    <a:pt x="65283" y="40735"/>
                    <a:pt x="66168" y="39850"/>
                  </a:cubicBezTo>
                  <a:cubicBezTo>
                    <a:pt x="69332" y="36941"/>
                    <a:pt x="74773" y="34790"/>
                    <a:pt x="79198" y="34790"/>
                  </a:cubicBezTo>
                  <a:cubicBezTo>
                    <a:pt x="84766" y="34790"/>
                    <a:pt x="87549" y="39215"/>
                    <a:pt x="87549" y="48073"/>
                  </a:cubicBezTo>
                  <a:lnTo>
                    <a:pt x="87549" y="75525"/>
                  </a:lnTo>
                  <a:cubicBezTo>
                    <a:pt x="87549" y="82609"/>
                    <a:pt x="86156" y="83999"/>
                    <a:pt x="78948" y="84507"/>
                  </a:cubicBezTo>
                  <a:lnTo>
                    <a:pt x="78948" y="86404"/>
                  </a:lnTo>
                  <a:lnTo>
                    <a:pt x="107285" y="86404"/>
                  </a:lnTo>
                  <a:lnTo>
                    <a:pt x="107285" y="84507"/>
                  </a:lnTo>
                  <a:cubicBezTo>
                    <a:pt x="100073" y="84380"/>
                    <a:pt x="98176" y="82228"/>
                    <a:pt x="98176" y="74386"/>
                  </a:cubicBezTo>
                  <a:lnTo>
                    <a:pt x="98176" y="42505"/>
                  </a:lnTo>
                  <a:cubicBezTo>
                    <a:pt x="101971" y="37064"/>
                    <a:pt x="106145" y="34790"/>
                    <a:pt x="111964" y="34790"/>
                  </a:cubicBezTo>
                  <a:cubicBezTo>
                    <a:pt x="119176" y="34790"/>
                    <a:pt x="121454" y="38203"/>
                    <a:pt x="121454" y="48704"/>
                  </a:cubicBezTo>
                  <a:lnTo>
                    <a:pt x="121454" y="75398"/>
                  </a:lnTo>
                  <a:cubicBezTo>
                    <a:pt x="121454" y="82609"/>
                    <a:pt x="120442" y="83622"/>
                    <a:pt x="113104" y="84507"/>
                  </a:cubicBezTo>
                  <a:lnTo>
                    <a:pt x="113104" y="86404"/>
                  </a:lnTo>
                  <a:lnTo>
                    <a:pt x="140809" y="86404"/>
                  </a:lnTo>
                  <a:close/>
                  <a:moveTo>
                    <a:pt x="200660" y="56801"/>
                  </a:moveTo>
                  <a:cubicBezTo>
                    <a:pt x="200660" y="40227"/>
                    <a:pt x="189020" y="28210"/>
                    <a:pt x="172828" y="28210"/>
                  </a:cubicBezTo>
                  <a:cubicBezTo>
                    <a:pt x="156381" y="28210"/>
                    <a:pt x="144868" y="40354"/>
                    <a:pt x="144868" y="57813"/>
                  </a:cubicBezTo>
                  <a:cubicBezTo>
                    <a:pt x="144868" y="74890"/>
                    <a:pt x="156635" y="87670"/>
                    <a:pt x="172574" y="87670"/>
                  </a:cubicBezTo>
                  <a:cubicBezTo>
                    <a:pt x="188516" y="87670"/>
                    <a:pt x="200660" y="74259"/>
                    <a:pt x="200660" y="56801"/>
                  </a:cubicBezTo>
                  <a:close/>
                  <a:moveTo>
                    <a:pt x="189274" y="61230"/>
                  </a:moveTo>
                  <a:cubicBezTo>
                    <a:pt x="189274" y="75525"/>
                    <a:pt x="183579" y="84126"/>
                    <a:pt x="174094" y="84126"/>
                  </a:cubicBezTo>
                  <a:cubicBezTo>
                    <a:pt x="169160" y="84126"/>
                    <a:pt x="164478" y="81089"/>
                    <a:pt x="161822" y="76029"/>
                  </a:cubicBezTo>
                  <a:cubicBezTo>
                    <a:pt x="158279" y="69453"/>
                    <a:pt x="156254" y="60595"/>
                    <a:pt x="156254" y="51614"/>
                  </a:cubicBezTo>
                  <a:cubicBezTo>
                    <a:pt x="156254" y="39596"/>
                    <a:pt x="162199" y="31754"/>
                    <a:pt x="171185" y="31754"/>
                  </a:cubicBezTo>
                  <a:cubicBezTo>
                    <a:pt x="181809" y="31754"/>
                    <a:pt x="189274" y="43898"/>
                    <a:pt x="189274" y="61230"/>
                  </a:cubicBezTo>
                  <a:close/>
                  <a:moveTo>
                    <a:pt x="263923" y="56801"/>
                  </a:moveTo>
                  <a:cubicBezTo>
                    <a:pt x="263923" y="40227"/>
                    <a:pt x="252282" y="28210"/>
                    <a:pt x="236089" y="28210"/>
                  </a:cubicBezTo>
                  <a:cubicBezTo>
                    <a:pt x="219643" y="28210"/>
                    <a:pt x="208130" y="40354"/>
                    <a:pt x="208130" y="57813"/>
                  </a:cubicBezTo>
                  <a:cubicBezTo>
                    <a:pt x="208130" y="74890"/>
                    <a:pt x="219897" y="87670"/>
                    <a:pt x="235835" y="87670"/>
                  </a:cubicBezTo>
                  <a:cubicBezTo>
                    <a:pt x="251778" y="87670"/>
                    <a:pt x="263923" y="74259"/>
                    <a:pt x="263923" y="56801"/>
                  </a:cubicBezTo>
                  <a:close/>
                  <a:moveTo>
                    <a:pt x="252536" y="61230"/>
                  </a:moveTo>
                  <a:cubicBezTo>
                    <a:pt x="252536" y="75525"/>
                    <a:pt x="246841" y="84126"/>
                    <a:pt x="237355" y="84126"/>
                  </a:cubicBezTo>
                  <a:cubicBezTo>
                    <a:pt x="232423" y="84126"/>
                    <a:pt x="227739" y="81089"/>
                    <a:pt x="225085" y="76029"/>
                  </a:cubicBezTo>
                  <a:cubicBezTo>
                    <a:pt x="221540" y="69453"/>
                    <a:pt x="219516" y="60595"/>
                    <a:pt x="219516" y="51614"/>
                  </a:cubicBezTo>
                  <a:cubicBezTo>
                    <a:pt x="219516" y="39596"/>
                    <a:pt x="225462" y="31754"/>
                    <a:pt x="234447" y="31754"/>
                  </a:cubicBezTo>
                  <a:cubicBezTo>
                    <a:pt x="245071" y="31754"/>
                    <a:pt x="252536" y="43898"/>
                    <a:pt x="252536" y="61230"/>
                  </a:cubicBezTo>
                  <a:close/>
                  <a:moveTo>
                    <a:pt x="303018" y="78053"/>
                  </a:moveTo>
                  <a:lnTo>
                    <a:pt x="301376" y="76664"/>
                  </a:lnTo>
                  <a:cubicBezTo>
                    <a:pt x="298594" y="79950"/>
                    <a:pt x="296569" y="81089"/>
                    <a:pt x="293783" y="81089"/>
                  </a:cubicBezTo>
                  <a:cubicBezTo>
                    <a:pt x="289104" y="81089"/>
                    <a:pt x="287207" y="77799"/>
                    <a:pt x="287207" y="69703"/>
                  </a:cubicBezTo>
                  <a:lnTo>
                    <a:pt x="287207" y="33524"/>
                  </a:lnTo>
                  <a:lnTo>
                    <a:pt x="299983" y="33524"/>
                  </a:lnTo>
                  <a:lnTo>
                    <a:pt x="299983" y="29476"/>
                  </a:lnTo>
                  <a:lnTo>
                    <a:pt x="287207" y="29476"/>
                  </a:lnTo>
                  <a:lnTo>
                    <a:pt x="287207" y="14799"/>
                  </a:lnTo>
                  <a:cubicBezTo>
                    <a:pt x="287207" y="13533"/>
                    <a:pt x="286953" y="13156"/>
                    <a:pt x="286322" y="13156"/>
                  </a:cubicBezTo>
                  <a:cubicBezTo>
                    <a:pt x="285565" y="14422"/>
                    <a:pt x="284676" y="15557"/>
                    <a:pt x="283790" y="16696"/>
                  </a:cubicBezTo>
                  <a:cubicBezTo>
                    <a:pt x="279110" y="23658"/>
                    <a:pt x="274809" y="28337"/>
                    <a:pt x="271518" y="30234"/>
                  </a:cubicBezTo>
                  <a:cubicBezTo>
                    <a:pt x="270130" y="31119"/>
                    <a:pt x="269367" y="31877"/>
                    <a:pt x="269367" y="32639"/>
                  </a:cubicBezTo>
                  <a:cubicBezTo>
                    <a:pt x="269367" y="33016"/>
                    <a:pt x="269494" y="33270"/>
                    <a:pt x="269875" y="33524"/>
                  </a:cubicBezTo>
                  <a:lnTo>
                    <a:pt x="276579" y="33524"/>
                  </a:lnTo>
                  <a:lnTo>
                    <a:pt x="276579" y="71604"/>
                  </a:lnTo>
                  <a:cubicBezTo>
                    <a:pt x="276579" y="82228"/>
                    <a:pt x="280377" y="87670"/>
                    <a:pt x="287711" y="87670"/>
                  </a:cubicBezTo>
                  <a:cubicBezTo>
                    <a:pt x="294038" y="87670"/>
                    <a:pt x="298844" y="84634"/>
                    <a:pt x="303018" y="78053"/>
                  </a:cubicBezTo>
                  <a:close/>
                  <a:moveTo>
                    <a:pt x="364509" y="86404"/>
                  </a:moveTo>
                  <a:lnTo>
                    <a:pt x="364509" y="84507"/>
                  </a:lnTo>
                  <a:cubicBezTo>
                    <a:pt x="357674" y="83241"/>
                    <a:pt x="356916" y="82228"/>
                    <a:pt x="356916" y="73501"/>
                  </a:cubicBezTo>
                  <a:lnTo>
                    <a:pt x="356916" y="48324"/>
                  </a:lnTo>
                  <a:cubicBezTo>
                    <a:pt x="356916" y="35040"/>
                    <a:pt x="351602" y="28210"/>
                    <a:pt x="341354" y="28210"/>
                  </a:cubicBezTo>
                  <a:cubicBezTo>
                    <a:pt x="333893" y="28210"/>
                    <a:pt x="328579" y="31246"/>
                    <a:pt x="322762" y="38838"/>
                  </a:cubicBezTo>
                  <a:lnTo>
                    <a:pt x="322762" y="377"/>
                  </a:lnTo>
                  <a:lnTo>
                    <a:pt x="322127" y="0"/>
                  </a:lnTo>
                  <a:cubicBezTo>
                    <a:pt x="317824" y="1516"/>
                    <a:pt x="314662" y="2528"/>
                    <a:pt x="307576" y="4552"/>
                  </a:cubicBezTo>
                  <a:lnTo>
                    <a:pt x="304164" y="5564"/>
                  </a:lnTo>
                  <a:lnTo>
                    <a:pt x="304164" y="7588"/>
                  </a:lnTo>
                  <a:cubicBezTo>
                    <a:pt x="304668" y="7461"/>
                    <a:pt x="305049" y="7461"/>
                    <a:pt x="305680" y="7461"/>
                  </a:cubicBezTo>
                  <a:cubicBezTo>
                    <a:pt x="311121" y="7461"/>
                    <a:pt x="312133" y="8473"/>
                    <a:pt x="312133" y="13914"/>
                  </a:cubicBezTo>
                  <a:lnTo>
                    <a:pt x="312133" y="73501"/>
                  </a:lnTo>
                  <a:cubicBezTo>
                    <a:pt x="312133" y="82355"/>
                    <a:pt x="311375" y="83495"/>
                    <a:pt x="304037" y="84507"/>
                  </a:cubicBezTo>
                  <a:lnTo>
                    <a:pt x="304037" y="86404"/>
                  </a:lnTo>
                  <a:lnTo>
                    <a:pt x="331362" y="86404"/>
                  </a:lnTo>
                  <a:lnTo>
                    <a:pt x="331362" y="84507"/>
                  </a:lnTo>
                  <a:cubicBezTo>
                    <a:pt x="324023" y="83749"/>
                    <a:pt x="322762" y="82228"/>
                    <a:pt x="322762" y="73501"/>
                  </a:cubicBezTo>
                  <a:lnTo>
                    <a:pt x="322762" y="43013"/>
                  </a:lnTo>
                  <a:cubicBezTo>
                    <a:pt x="328071" y="37191"/>
                    <a:pt x="331870" y="35040"/>
                    <a:pt x="336803" y="35040"/>
                  </a:cubicBezTo>
                  <a:cubicBezTo>
                    <a:pt x="343129" y="35040"/>
                    <a:pt x="346288" y="39596"/>
                    <a:pt x="346288" y="48450"/>
                  </a:cubicBezTo>
                  <a:lnTo>
                    <a:pt x="346288" y="73501"/>
                  </a:lnTo>
                  <a:cubicBezTo>
                    <a:pt x="346288" y="82101"/>
                    <a:pt x="345026" y="83749"/>
                    <a:pt x="337688" y="84507"/>
                  </a:cubicBezTo>
                  <a:lnTo>
                    <a:pt x="337688" y="86404"/>
                  </a:lnTo>
                  <a:lnTo>
                    <a:pt x="364509" y="8640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4" name="filter_chain_outline_3"/>
            <p:cNvSpPr/>
            <p:nvPr/>
          </p:nvSpPr>
          <p:spPr>
            <a:xfrm>
              <a:off x="2683528" y="1814313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59" h="51868">
                  <a:moveTo>
                    <a:pt x="113859" y="25809"/>
                  </a:moveTo>
                  <a:lnTo>
                    <a:pt x="89063" y="0"/>
                  </a:lnTo>
                  <a:lnTo>
                    <a:pt x="85142" y="4175"/>
                  </a:lnTo>
                  <a:lnTo>
                    <a:pt x="100195" y="22392"/>
                  </a:lnTo>
                  <a:lnTo>
                    <a:pt x="0" y="22392"/>
                  </a:lnTo>
                  <a:lnTo>
                    <a:pt x="0" y="29476"/>
                  </a:lnTo>
                  <a:lnTo>
                    <a:pt x="100195" y="29476"/>
                  </a:lnTo>
                  <a:lnTo>
                    <a:pt x="85142" y="47696"/>
                  </a:lnTo>
                  <a:lnTo>
                    <a:pt x="89063" y="51868"/>
                  </a:lnTo>
                  <a:lnTo>
                    <a:pt x="113859" y="25809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5" name="filter_chain_outline_4"/>
            <p:cNvSpPr/>
            <p:nvPr/>
          </p:nvSpPr>
          <p:spPr>
            <a:xfrm>
              <a:off x="2898288" y="1768951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6" name="filter_chain_outline_5"/>
            <p:cNvSpPr/>
            <p:nvPr/>
          </p:nvSpPr>
          <p:spPr>
            <a:xfrm>
              <a:off x="2875920" y="1789897"/>
              <a:ext cx="64646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1"/>
                    <a:pt x="13029" y="78942"/>
                  </a:cubicBezTo>
                  <a:cubicBezTo>
                    <a:pt x="16700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7" name="filter_chain_outline_6"/>
            <p:cNvSpPr/>
            <p:nvPr/>
          </p:nvSpPr>
          <p:spPr>
            <a:xfrm>
              <a:off x="2944762" y="1769758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80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8" name="filter_chain_outline_7"/>
            <p:cNvSpPr/>
            <p:nvPr/>
          </p:nvSpPr>
          <p:spPr>
            <a:xfrm>
              <a:off x="2951081" y="185510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1" name="feedback_cost"/>
          <p:cNvGrpSpPr/>
          <p:nvPr/>
        </p:nvGrpSpPr>
        <p:grpSpPr>
          <a:xfrm>
            <a:off x="1261215" y="2163877"/>
            <a:ext cx="402748" cy="130326"/>
            <a:chOff x="1261215" y="2163877"/>
            <a:chExt cx="402748" cy="130326"/>
          </a:xfrm>
        </p:grpSpPr>
        <p:sp>
          <p:nvSpPr>
            <p:cNvPr id="468" name="feedback_cost_outline_0"/>
            <p:cNvSpPr/>
            <p:nvPr/>
          </p:nvSpPr>
          <p:spPr>
            <a:xfrm>
              <a:off x="1290252" y="2163877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9" name="feedback_cost_outline_1"/>
            <p:cNvSpPr/>
            <p:nvPr/>
          </p:nvSpPr>
          <p:spPr>
            <a:xfrm>
              <a:off x="1261215" y="2185063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2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feedback_cost_outline_2"/>
            <p:cNvSpPr/>
            <p:nvPr/>
          </p:nvSpPr>
          <p:spPr>
            <a:xfrm>
              <a:off x="1324478" y="2222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feedback_cost_outline_3"/>
            <p:cNvSpPr/>
            <p:nvPr/>
          </p:nvSpPr>
          <p:spPr>
            <a:xfrm>
              <a:off x="1422114" y="2231617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2" name="feedback_cost_outline_4"/>
            <p:cNvSpPr/>
            <p:nvPr/>
          </p:nvSpPr>
          <p:spPr>
            <a:xfrm>
              <a:off x="1526785" y="2185063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8" y="0"/>
                  </a:cubicBezTo>
                  <a:lnTo>
                    <a:pt x="17459" y="0"/>
                  </a:lnTo>
                  <a:lnTo>
                    <a:pt x="17459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19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3" name="feedback_cost_outline_5"/>
            <p:cNvSpPr/>
            <p:nvPr/>
          </p:nvSpPr>
          <p:spPr>
            <a:xfrm>
              <a:off x="1613326" y="2222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price_sum"/>
          <p:cNvGrpSpPr/>
          <p:nvPr/>
        </p:nvGrpSpPr>
        <p:grpSpPr>
          <a:xfrm>
            <a:off x="1952845" y="2101190"/>
            <a:ext cx="744593" cy="166787"/>
            <a:chOff x="1952845" y="2101190"/>
            <a:chExt cx="744593" cy="166787"/>
          </a:xfrm>
        </p:grpSpPr>
        <p:sp>
          <p:nvSpPr>
            <p:cNvPr id="529" name="price_sum_outline_0"/>
            <p:cNvSpPr/>
            <p:nvPr/>
          </p:nvSpPr>
          <p:spPr>
            <a:xfrm>
              <a:off x="1952845" y="2124225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4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7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0" name="price_sum_outline_1"/>
            <p:cNvSpPr/>
            <p:nvPr/>
          </p:nvSpPr>
          <p:spPr>
            <a:xfrm>
              <a:off x="2034878" y="216543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1" name="price_sum_outline_2"/>
            <p:cNvSpPr/>
            <p:nvPr/>
          </p:nvSpPr>
          <p:spPr>
            <a:xfrm>
              <a:off x="2143853" y="2161658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4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4"/>
                  </a:lnTo>
                  <a:lnTo>
                    <a:pt x="71251" y="7794"/>
                  </a:lnTo>
                  <a:close/>
                  <a:moveTo>
                    <a:pt x="71251" y="36044"/>
                  </a:moveTo>
                  <a:lnTo>
                    <a:pt x="71251" y="28249"/>
                  </a:lnTo>
                  <a:lnTo>
                    <a:pt x="0" y="28249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2" name="price_sum_outline_3"/>
            <p:cNvSpPr/>
            <p:nvPr/>
          </p:nvSpPr>
          <p:spPr>
            <a:xfrm>
              <a:off x="2287417" y="2101190"/>
              <a:ext cx="43279" cy="7516"/>
            </a:xfrm>
            <a:custGeom>
              <a:avLst/>
              <a:gdLst/>
              <a:ahLst/>
              <a:cxnLst/>
              <a:rect l="0" t="0" r="r" b="b"/>
              <a:pathLst>
                <a:path w="43279" h="7517">
                  <a:moveTo>
                    <a:pt x="43279" y="7517"/>
                  </a:moveTo>
                  <a:lnTo>
                    <a:pt x="43279" y="0"/>
                  </a:lnTo>
                  <a:lnTo>
                    <a:pt x="0" y="0"/>
                  </a:lnTo>
                  <a:lnTo>
                    <a:pt x="0" y="7517"/>
                  </a:lnTo>
                  <a:lnTo>
                    <a:pt x="43279" y="751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3" name="price_sum_outline_4"/>
            <p:cNvSpPr/>
            <p:nvPr/>
          </p:nvSpPr>
          <p:spPr>
            <a:xfrm>
              <a:off x="2262813" y="2124225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5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8"/>
                    <a:pt x="29782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7"/>
                    <a:pt x="47315" y="29222"/>
                  </a:cubicBezTo>
                  <a:cubicBezTo>
                    <a:pt x="47454" y="29643"/>
                    <a:pt x="47315" y="29920"/>
                    <a:pt x="47176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4" name="price_sum_outline_5"/>
            <p:cNvSpPr/>
            <p:nvPr/>
          </p:nvSpPr>
          <p:spPr>
            <a:xfrm>
              <a:off x="2338451" y="2107787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5" name="price_sum_outline_6"/>
            <p:cNvSpPr/>
            <p:nvPr/>
          </p:nvSpPr>
          <p:spPr>
            <a:xfrm>
              <a:off x="2344859" y="219596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6" name="price_sum_outline_7"/>
            <p:cNvSpPr/>
            <p:nvPr/>
          </p:nvSpPr>
          <p:spPr>
            <a:xfrm>
              <a:off x="2449910" y="2143846"/>
              <a:ext cx="71250" cy="71528"/>
            </a:xfrm>
            <a:custGeom>
              <a:avLst/>
              <a:gdLst/>
              <a:ahLst/>
              <a:cxnLst/>
              <a:rect l="0" t="0" r="r" b="b"/>
              <a:pathLst>
                <a:path w="71251" h="71529">
                  <a:moveTo>
                    <a:pt x="31032" y="31170"/>
                  </a:moveTo>
                  <a:lnTo>
                    <a:pt x="0" y="31170"/>
                  </a:lnTo>
                  <a:lnTo>
                    <a:pt x="0" y="40358"/>
                  </a:lnTo>
                  <a:lnTo>
                    <a:pt x="31032" y="40358"/>
                  </a:lnTo>
                  <a:lnTo>
                    <a:pt x="31032" y="71529"/>
                  </a:lnTo>
                  <a:lnTo>
                    <a:pt x="40219" y="71529"/>
                  </a:lnTo>
                  <a:lnTo>
                    <a:pt x="40219" y="40358"/>
                  </a:lnTo>
                  <a:lnTo>
                    <a:pt x="71251" y="40358"/>
                  </a:lnTo>
                  <a:lnTo>
                    <a:pt x="71251" y="31170"/>
                  </a:lnTo>
                  <a:lnTo>
                    <a:pt x="40219" y="31170"/>
                  </a:lnTo>
                  <a:lnTo>
                    <a:pt x="40219" y="0"/>
                  </a:lnTo>
                  <a:lnTo>
                    <a:pt x="31032" y="0"/>
                  </a:lnTo>
                  <a:lnTo>
                    <a:pt x="31032" y="3117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7" name="price_sum_outline_8"/>
            <p:cNvSpPr/>
            <p:nvPr/>
          </p:nvSpPr>
          <p:spPr>
            <a:xfrm>
              <a:off x="2554886" y="2124225"/>
              <a:ext cx="83776" cy="119955"/>
            </a:xfrm>
            <a:custGeom>
              <a:avLst/>
              <a:gdLst/>
              <a:ahLst/>
              <a:cxnLst/>
              <a:rect l="0" t="0" r="r" b="b"/>
              <a:pathLst>
                <a:path w="83776" h="119956">
                  <a:moveTo>
                    <a:pt x="83776" y="16002"/>
                  </a:moveTo>
                  <a:cubicBezTo>
                    <a:pt x="83776" y="5009"/>
                    <a:pt x="74866" y="0"/>
                    <a:pt x="63317" y="0"/>
                  </a:cubicBezTo>
                  <a:cubicBezTo>
                    <a:pt x="48566" y="0"/>
                    <a:pt x="34234" y="9878"/>
                    <a:pt x="30337" y="23936"/>
                  </a:cubicBezTo>
                  <a:lnTo>
                    <a:pt x="9045" y="101588"/>
                  </a:lnTo>
                  <a:cubicBezTo>
                    <a:pt x="6679" y="110355"/>
                    <a:pt x="1389" y="118150"/>
                    <a:pt x="0" y="119956"/>
                  </a:cubicBezTo>
                  <a:lnTo>
                    <a:pt x="12382" y="119956"/>
                  </a:lnTo>
                  <a:cubicBezTo>
                    <a:pt x="12525" y="119956"/>
                    <a:pt x="14752" y="118844"/>
                    <a:pt x="19344" y="101449"/>
                  </a:cubicBezTo>
                  <a:lnTo>
                    <a:pt x="24074" y="83495"/>
                  </a:lnTo>
                  <a:lnTo>
                    <a:pt x="24213" y="83495"/>
                  </a:lnTo>
                  <a:cubicBezTo>
                    <a:pt x="24213" y="83638"/>
                    <a:pt x="28805" y="93516"/>
                    <a:pt x="42862" y="93516"/>
                  </a:cubicBezTo>
                  <a:cubicBezTo>
                    <a:pt x="63734" y="93516"/>
                    <a:pt x="77791" y="77930"/>
                    <a:pt x="77791" y="61924"/>
                  </a:cubicBezTo>
                  <a:cubicBezTo>
                    <a:pt x="77791" y="44530"/>
                    <a:pt x="62063" y="41886"/>
                    <a:pt x="61924" y="41886"/>
                  </a:cubicBezTo>
                  <a:lnTo>
                    <a:pt x="61924" y="41331"/>
                  </a:lnTo>
                  <a:cubicBezTo>
                    <a:pt x="62063" y="41331"/>
                    <a:pt x="83776" y="36322"/>
                    <a:pt x="83776" y="16002"/>
                  </a:cubicBezTo>
                  <a:close/>
                  <a:moveTo>
                    <a:pt x="72779" y="15724"/>
                  </a:moveTo>
                  <a:cubicBezTo>
                    <a:pt x="72779" y="22126"/>
                    <a:pt x="69163" y="37850"/>
                    <a:pt x="58031" y="37850"/>
                  </a:cubicBezTo>
                  <a:cubicBezTo>
                    <a:pt x="55106" y="37850"/>
                    <a:pt x="52880" y="37294"/>
                    <a:pt x="50653" y="37294"/>
                  </a:cubicBezTo>
                  <a:cubicBezTo>
                    <a:pt x="46895" y="37294"/>
                    <a:pt x="44251" y="40497"/>
                    <a:pt x="44251" y="43001"/>
                  </a:cubicBezTo>
                  <a:cubicBezTo>
                    <a:pt x="44251" y="44530"/>
                    <a:pt x="45367" y="45783"/>
                    <a:pt x="47871" y="45783"/>
                  </a:cubicBezTo>
                  <a:cubicBezTo>
                    <a:pt x="51768" y="45783"/>
                    <a:pt x="52741" y="45089"/>
                    <a:pt x="55944" y="45089"/>
                  </a:cubicBezTo>
                  <a:cubicBezTo>
                    <a:pt x="62901" y="45089"/>
                    <a:pt x="65961" y="52602"/>
                    <a:pt x="65961" y="60397"/>
                  </a:cubicBezTo>
                  <a:cubicBezTo>
                    <a:pt x="65961" y="74311"/>
                    <a:pt x="57610" y="87114"/>
                    <a:pt x="42724" y="87114"/>
                  </a:cubicBezTo>
                  <a:cubicBezTo>
                    <a:pt x="33258" y="87114"/>
                    <a:pt x="27134" y="82244"/>
                    <a:pt x="27134" y="74172"/>
                  </a:cubicBezTo>
                  <a:cubicBezTo>
                    <a:pt x="27134" y="72501"/>
                    <a:pt x="27412" y="70695"/>
                    <a:pt x="27972" y="68747"/>
                  </a:cubicBezTo>
                  <a:lnTo>
                    <a:pt x="40497" y="24075"/>
                  </a:lnTo>
                  <a:cubicBezTo>
                    <a:pt x="43001" y="15030"/>
                    <a:pt x="49403" y="3897"/>
                    <a:pt x="61924" y="3897"/>
                  </a:cubicBezTo>
                  <a:cubicBezTo>
                    <a:pt x="69858" y="3897"/>
                    <a:pt x="72779" y="9323"/>
                    <a:pt x="72779" y="1572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8" name="price_sum_outline_9"/>
            <p:cNvSpPr/>
            <p:nvPr/>
          </p:nvSpPr>
          <p:spPr>
            <a:xfrm>
              <a:off x="2646801" y="216543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4" name="priced_label"/>
          <p:cNvGrpSpPr/>
          <p:nvPr/>
        </p:nvGrpSpPr>
        <p:grpSpPr>
          <a:xfrm>
            <a:off x="2964595" y="2042098"/>
            <a:ext cx="102918" cy="132211"/>
            <a:chOff x="2964595" y="2042098"/>
            <a:chExt cx="102918" cy="132211"/>
          </a:xfrm>
        </p:grpSpPr>
        <p:sp>
          <p:nvSpPr>
            <p:cNvPr id="484" name="priced_label_outline_0"/>
            <p:cNvSpPr/>
            <p:nvPr/>
          </p:nvSpPr>
          <p:spPr>
            <a:xfrm>
              <a:off x="2983182" y="2042098"/>
              <a:ext cx="84331" cy="14473"/>
            </a:xfrm>
            <a:custGeom>
              <a:avLst/>
              <a:gdLst/>
              <a:ahLst/>
              <a:cxnLst/>
              <a:rect l="0" t="0" r="r" b="b"/>
              <a:pathLst>
                <a:path w="84332" h="14474">
                  <a:moveTo>
                    <a:pt x="84332" y="0"/>
                  </a:moveTo>
                  <a:lnTo>
                    <a:pt x="80157" y="0"/>
                  </a:lnTo>
                  <a:cubicBezTo>
                    <a:pt x="79046" y="3481"/>
                    <a:pt x="75009" y="6541"/>
                    <a:pt x="61230" y="6541"/>
                  </a:cubicBezTo>
                  <a:cubicBezTo>
                    <a:pt x="48010" y="6541"/>
                    <a:pt x="43557" y="417"/>
                    <a:pt x="30754" y="417"/>
                  </a:cubicBezTo>
                  <a:cubicBezTo>
                    <a:pt x="9600" y="417"/>
                    <a:pt x="3619" y="6679"/>
                    <a:pt x="0" y="14474"/>
                  </a:cubicBezTo>
                  <a:lnTo>
                    <a:pt x="4175" y="14474"/>
                  </a:lnTo>
                  <a:cubicBezTo>
                    <a:pt x="5286" y="10993"/>
                    <a:pt x="10299" y="8072"/>
                    <a:pt x="24074" y="8072"/>
                  </a:cubicBezTo>
                  <a:cubicBezTo>
                    <a:pt x="37155" y="8072"/>
                    <a:pt x="41747" y="14196"/>
                    <a:pt x="54550" y="14196"/>
                  </a:cubicBezTo>
                  <a:cubicBezTo>
                    <a:pt x="75704" y="14196"/>
                    <a:pt x="80712" y="7795"/>
                    <a:pt x="84332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5" name="priced_label_outline_1"/>
            <p:cNvSpPr/>
            <p:nvPr/>
          </p:nvSpPr>
          <p:spPr>
            <a:xfrm>
              <a:off x="2964595" y="2081349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pi_next"/>
          <p:cNvGrpSpPr/>
          <p:nvPr/>
        </p:nvGrpSpPr>
        <p:grpSpPr>
          <a:xfrm>
            <a:off x="4033694" y="2148171"/>
            <a:ext cx="224704" cy="83646"/>
            <a:chOff x="4033694" y="2148171"/>
            <a:chExt cx="224704" cy="83646"/>
          </a:xfrm>
        </p:grpSpPr>
        <p:sp>
          <p:nvSpPr>
            <p:cNvPr id="486" name="pi_next_outline_0"/>
            <p:cNvSpPr/>
            <p:nvPr/>
          </p:nvSpPr>
          <p:spPr>
            <a:xfrm>
              <a:off x="4033694" y="2148171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7" name="pi_next_outline_1"/>
            <p:cNvSpPr/>
            <p:nvPr/>
          </p:nvSpPr>
          <p:spPr>
            <a:xfrm>
              <a:off x="4113874" y="2173814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8" name="pi_next_outline_2"/>
            <p:cNvSpPr/>
            <p:nvPr/>
          </p:nvSpPr>
          <p:spPr>
            <a:xfrm>
              <a:off x="4157961" y="2177136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9" name="pi_next_outline_3"/>
            <p:cNvSpPr/>
            <p:nvPr/>
          </p:nvSpPr>
          <p:spPr>
            <a:xfrm>
              <a:off x="4229034" y="2160325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2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6" name="u_fixed_eq"/>
          <p:cNvGrpSpPr/>
          <p:nvPr/>
        </p:nvGrpSpPr>
        <p:grpSpPr>
          <a:xfrm>
            <a:off x="253074" y="2823700"/>
            <a:ext cx="691868" cy="106665"/>
            <a:chOff x="253074" y="2823700"/>
            <a:chExt cx="691868" cy="106665"/>
          </a:xfrm>
        </p:grpSpPr>
        <p:sp>
          <p:nvSpPr>
            <p:cNvPr id="490" name="u_fixed_eq_outline_0"/>
            <p:cNvSpPr/>
            <p:nvPr/>
          </p:nvSpPr>
          <p:spPr>
            <a:xfrm>
              <a:off x="253074" y="2849723"/>
              <a:ext cx="48291" cy="48601"/>
            </a:xfrm>
            <a:custGeom>
              <a:avLst/>
              <a:gdLst/>
              <a:ahLst/>
              <a:cxnLst/>
              <a:rect l="0" t="0" r="r" b="b"/>
              <a:pathLst>
                <a:path w="48292" h="48601">
                  <a:moveTo>
                    <a:pt x="41839" y="37096"/>
                  </a:moveTo>
                  <a:lnTo>
                    <a:pt x="39795" y="36020"/>
                  </a:lnTo>
                  <a:cubicBezTo>
                    <a:pt x="33235" y="42366"/>
                    <a:pt x="28611" y="44732"/>
                    <a:pt x="22484" y="44732"/>
                  </a:cubicBezTo>
                  <a:cubicBezTo>
                    <a:pt x="15495" y="44732"/>
                    <a:pt x="11085" y="40215"/>
                    <a:pt x="10764" y="32472"/>
                  </a:cubicBezTo>
                  <a:cubicBezTo>
                    <a:pt x="10443" y="23332"/>
                    <a:pt x="14526" y="13764"/>
                    <a:pt x="21194" y="7418"/>
                  </a:cubicBezTo>
                  <a:cubicBezTo>
                    <a:pt x="24635" y="4195"/>
                    <a:pt x="29473" y="2258"/>
                    <a:pt x="34418" y="2258"/>
                  </a:cubicBezTo>
                  <a:cubicBezTo>
                    <a:pt x="37323" y="2258"/>
                    <a:pt x="39041" y="3120"/>
                    <a:pt x="39041" y="4409"/>
                  </a:cubicBezTo>
                  <a:cubicBezTo>
                    <a:pt x="39152" y="4945"/>
                    <a:pt x="39041" y="5485"/>
                    <a:pt x="38505" y="6453"/>
                  </a:cubicBezTo>
                  <a:cubicBezTo>
                    <a:pt x="37537" y="7850"/>
                    <a:pt x="37430" y="8493"/>
                    <a:pt x="37430" y="9569"/>
                  </a:cubicBezTo>
                  <a:cubicBezTo>
                    <a:pt x="37537" y="12148"/>
                    <a:pt x="39367" y="13656"/>
                    <a:pt x="42375" y="13656"/>
                  </a:cubicBezTo>
                  <a:cubicBezTo>
                    <a:pt x="45816" y="13656"/>
                    <a:pt x="48400" y="11613"/>
                    <a:pt x="48289" y="8711"/>
                  </a:cubicBezTo>
                  <a:cubicBezTo>
                    <a:pt x="48074" y="3655"/>
                    <a:pt x="42593" y="0"/>
                    <a:pt x="34957" y="0"/>
                  </a:cubicBezTo>
                  <a:cubicBezTo>
                    <a:pt x="16356" y="0"/>
                    <a:pt x="-527" y="15700"/>
                    <a:pt x="13" y="32472"/>
                  </a:cubicBezTo>
                  <a:cubicBezTo>
                    <a:pt x="334" y="42688"/>
                    <a:pt x="7323" y="48601"/>
                    <a:pt x="18828" y="48601"/>
                  </a:cubicBezTo>
                  <a:cubicBezTo>
                    <a:pt x="28183" y="48601"/>
                    <a:pt x="34418" y="45375"/>
                    <a:pt x="41839" y="3709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1" name="u_fixed_eq_outline_1"/>
            <p:cNvSpPr/>
            <p:nvPr/>
          </p:nvSpPr>
          <p:spPr>
            <a:xfrm>
              <a:off x="344734" y="2855637"/>
              <a:ext cx="55050" cy="27848"/>
            </a:xfrm>
            <a:custGeom>
              <a:avLst/>
              <a:gdLst/>
              <a:ahLst/>
              <a:cxnLst/>
              <a:rect l="0" t="0" r="r" b="b"/>
              <a:pathLst>
                <a:path w="55051" h="27849">
                  <a:moveTo>
                    <a:pt x="55051" y="6021"/>
                  </a:moveTo>
                  <a:lnTo>
                    <a:pt x="55051" y="0"/>
                  </a:lnTo>
                  <a:lnTo>
                    <a:pt x="0" y="0"/>
                  </a:lnTo>
                  <a:lnTo>
                    <a:pt x="0" y="6021"/>
                  </a:lnTo>
                  <a:lnTo>
                    <a:pt x="55051" y="6021"/>
                  </a:lnTo>
                  <a:close/>
                  <a:moveTo>
                    <a:pt x="55051" y="27849"/>
                  </a:moveTo>
                  <a:lnTo>
                    <a:pt x="55051" y="21828"/>
                  </a:lnTo>
                  <a:lnTo>
                    <a:pt x="0" y="21828"/>
                  </a:lnTo>
                  <a:lnTo>
                    <a:pt x="0" y="27849"/>
                  </a:lnTo>
                  <a:lnTo>
                    <a:pt x="55051" y="2784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u_fixed_eq_outline_2"/>
            <p:cNvSpPr/>
            <p:nvPr/>
          </p:nvSpPr>
          <p:spPr>
            <a:xfrm>
              <a:off x="438919" y="2824454"/>
              <a:ext cx="48601" cy="74191"/>
            </a:xfrm>
            <a:custGeom>
              <a:avLst/>
              <a:gdLst/>
              <a:ahLst/>
              <a:cxnLst/>
              <a:rect l="0" t="0" r="r" b="b"/>
              <a:pathLst>
                <a:path w="48601" h="74192">
                  <a:moveTo>
                    <a:pt x="48601" y="37203"/>
                  </a:moveTo>
                  <a:cubicBezTo>
                    <a:pt x="48601" y="15161"/>
                    <a:pt x="38818" y="0"/>
                    <a:pt x="24733" y="0"/>
                  </a:cubicBezTo>
                  <a:cubicBezTo>
                    <a:pt x="18820" y="0"/>
                    <a:pt x="14303" y="1830"/>
                    <a:pt x="10323" y="5592"/>
                  </a:cubicBezTo>
                  <a:cubicBezTo>
                    <a:pt x="4088" y="11613"/>
                    <a:pt x="0" y="23979"/>
                    <a:pt x="0" y="36560"/>
                  </a:cubicBezTo>
                  <a:cubicBezTo>
                    <a:pt x="0" y="48280"/>
                    <a:pt x="3548" y="60861"/>
                    <a:pt x="8604" y="66881"/>
                  </a:cubicBezTo>
                  <a:cubicBezTo>
                    <a:pt x="12581" y="71612"/>
                    <a:pt x="18066" y="74192"/>
                    <a:pt x="24301" y="74192"/>
                  </a:cubicBezTo>
                  <a:cubicBezTo>
                    <a:pt x="29785" y="74192"/>
                    <a:pt x="34409" y="72366"/>
                    <a:pt x="38279" y="68600"/>
                  </a:cubicBezTo>
                  <a:cubicBezTo>
                    <a:pt x="44517" y="62686"/>
                    <a:pt x="48601" y="50217"/>
                    <a:pt x="48601" y="37203"/>
                  </a:cubicBezTo>
                  <a:close/>
                  <a:moveTo>
                    <a:pt x="38279" y="37417"/>
                  </a:moveTo>
                  <a:cubicBezTo>
                    <a:pt x="38279" y="59892"/>
                    <a:pt x="33548" y="71398"/>
                    <a:pt x="24301" y="71398"/>
                  </a:cubicBezTo>
                  <a:cubicBezTo>
                    <a:pt x="15053" y="71398"/>
                    <a:pt x="10323" y="59892"/>
                    <a:pt x="10323" y="37528"/>
                  </a:cubicBezTo>
                  <a:cubicBezTo>
                    <a:pt x="10323" y="14732"/>
                    <a:pt x="15161" y="2798"/>
                    <a:pt x="24408" y="2798"/>
                  </a:cubicBezTo>
                  <a:cubicBezTo>
                    <a:pt x="33441" y="2798"/>
                    <a:pt x="38279" y="14946"/>
                    <a:pt x="38279" y="3741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3" name="u_fixed_eq_outline_3"/>
            <p:cNvSpPr/>
            <p:nvPr/>
          </p:nvSpPr>
          <p:spPr>
            <a:xfrm>
              <a:off x="498724" y="2886176"/>
              <a:ext cx="17093" cy="26447"/>
            </a:xfrm>
            <a:custGeom>
              <a:avLst/>
              <a:gdLst/>
              <a:ahLst/>
              <a:cxnLst/>
              <a:rect l="0" t="0" r="r" b="b"/>
              <a:pathLst>
                <a:path w="17093" h="26448">
                  <a:moveTo>
                    <a:pt x="17093" y="10319"/>
                  </a:moveTo>
                  <a:cubicBezTo>
                    <a:pt x="17093" y="1397"/>
                    <a:pt x="10104" y="0"/>
                    <a:pt x="7203" y="0"/>
                  </a:cubicBezTo>
                  <a:cubicBezTo>
                    <a:pt x="4084" y="0"/>
                    <a:pt x="0" y="1933"/>
                    <a:pt x="0" y="6556"/>
                  </a:cubicBezTo>
                  <a:cubicBezTo>
                    <a:pt x="0" y="10858"/>
                    <a:pt x="4191" y="11934"/>
                    <a:pt x="7310" y="11934"/>
                  </a:cubicBezTo>
                  <a:cubicBezTo>
                    <a:pt x="8065" y="11934"/>
                    <a:pt x="8707" y="11827"/>
                    <a:pt x="9029" y="11720"/>
                  </a:cubicBezTo>
                  <a:cubicBezTo>
                    <a:pt x="9462" y="11613"/>
                    <a:pt x="9997" y="11501"/>
                    <a:pt x="10212" y="11501"/>
                  </a:cubicBezTo>
                  <a:cubicBezTo>
                    <a:pt x="10966" y="11501"/>
                    <a:pt x="11827" y="12041"/>
                    <a:pt x="11827" y="13010"/>
                  </a:cubicBezTo>
                  <a:cubicBezTo>
                    <a:pt x="11827" y="15053"/>
                    <a:pt x="9890" y="19677"/>
                    <a:pt x="2040" y="24190"/>
                  </a:cubicBezTo>
                  <a:lnTo>
                    <a:pt x="3115" y="26448"/>
                  </a:lnTo>
                  <a:cubicBezTo>
                    <a:pt x="6882" y="25372"/>
                    <a:pt x="17093" y="17955"/>
                    <a:pt x="17093" y="1031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u_fixed_eq_outline_4"/>
            <p:cNvSpPr/>
            <p:nvPr/>
          </p:nvSpPr>
          <p:spPr>
            <a:xfrm>
              <a:off x="567207" y="2826713"/>
              <a:ext cx="72901" cy="92686"/>
            </a:xfrm>
            <a:custGeom>
              <a:avLst/>
              <a:gdLst/>
              <a:ahLst/>
              <a:cxnLst/>
              <a:rect l="0" t="0" r="r" b="b"/>
              <a:pathLst>
                <a:path w="72902" h="92686">
                  <a:moveTo>
                    <a:pt x="72902" y="12367"/>
                  </a:moveTo>
                  <a:cubicBezTo>
                    <a:pt x="72902" y="3869"/>
                    <a:pt x="64837" y="0"/>
                    <a:pt x="54300" y="0"/>
                  </a:cubicBezTo>
                  <a:cubicBezTo>
                    <a:pt x="40862" y="0"/>
                    <a:pt x="27849" y="7636"/>
                    <a:pt x="24301" y="18494"/>
                  </a:cubicBezTo>
                  <a:lnTo>
                    <a:pt x="7529" y="78494"/>
                  </a:lnTo>
                  <a:cubicBezTo>
                    <a:pt x="5592" y="85269"/>
                    <a:pt x="1183" y="91289"/>
                    <a:pt x="0" y="92686"/>
                  </a:cubicBezTo>
                  <a:lnTo>
                    <a:pt x="11184" y="92686"/>
                  </a:lnTo>
                  <a:cubicBezTo>
                    <a:pt x="11291" y="92686"/>
                    <a:pt x="13228" y="91829"/>
                    <a:pt x="17312" y="78387"/>
                  </a:cubicBezTo>
                  <a:lnTo>
                    <a:pt x="21185" y="64516"/>
                  </a:lnTo>
                  <a:lnTo>
                    <a:pt x="21292" y="64516"/>
                  </a:lnTo>
                  <a:cubicBezTo>
                    <a:pt x="21292" y="64623"/>
                    <a:pt x="25269" y="72259"/>
                    <a:pt x="37207" y="72259"/>
                  </a:cubicBezTo>
                  <a:cubicBezTo>
                    <a:pt x="54948" y="72259"/>
                    <a:pt x="67095" y="60214"/>
                    <a:pt x="67095" y="47847"/>
                  </a:cubicBezTo>
                  <a:cubicBezTo>
                    <a:pt x="67095" y="34409"/>
                    <a:pt x="51614" y="32365"/>
                    <a:pt x="51507" y="32365"/>
                  </a:cubicBezTo>
                  <a:lnTo>
                    <a:pt x="51507" y="31936"/>
                  </a:lnTo>
                  <a:cubicBezTo>
                    <a:pt x="51614" y="31936"/>
                    <a:pt x="72902" y="28063"/>
                    <a:pt x="72902" y="12367"/>
                  </a:cubicBezTo>
                  <a:close/>
                  <a:moveTo>
                    <a:pt x="62258" y="12152"/>
                  </a:moveTo>
                  <a:cubicBezTo>
                    <a:pt x="62258" y="17097"/>
                    <a:pt x="59031" y="29246"/>
                    <a:pt x="49248" y="29246"/>
                  </a:cubicBezTo>
                  <a:cubicBezTo>
                    <a:pt x="46669" y="29246"/>
                    <a:pt x="44517" y="28817"/>
                    <a:pt x="42581" y="28817"/>
                  </a:cubicBezTo>
                  <a:cubicBezTo>
                    <a:pt x="39247" y="28817"/>
                    <a:pt x="36989" y="31290"/>
                    <a:pt x="36989" y="33226"/>
                  </a:cubicBezTo>
                  <a:cubicBezTo>
                    <a:pt x="36989" y="34409"/>
                    <a:pt x="37957" y="35377"/>
                    <a:pt x="40108" y="35377"/>
                  </a:cubicBezTo>
                  <a:cubicBezTo>
                    <a:pt x="43442" y="35377"/>
                    <a:pt x="44303" y="34838"/>
                    <a:pt x="46990" y="34838"/>
                  </a:cubicBezTo>
                  <a:cubicBezTo>
                    <a:pt x="52903" y="34838"/>
                    <a:pt x="55591" y="40644"/>
                    <a:pt x="55591" y="46664"/>
                  </a:cubicBezTo>
                  <a:cubicBezTo>
                    <a:pt x="55591" y="57420"/>
                    <a:pt x="48708" y="67310"/>
                    <a:pt x="36453" y="67310"/>
                  </a:cubicBezTo>
                  <a:cubicBezTo>
                    <a:pt x="28710" y="67310"/>
                    <a:pt x="23765" y="63548"/>
                    <a:pt x="23765" y="57313"/>
                  </a:cubicBezTo>
                  <a:cubicBezTo>
                    <a:pt x="23765" y="56023"/>
                    <a:pt x="23979" y="54622"/>
                    <a:pt x="24408" y="53118"/>
                  </a:cubicBezTo>
                  <a:lnTo>
                    <a:pt x="33981" y="18601"/>
                  </a:lnTo>
                  <a:cubicBezTo>
                    <a:pt x="36132" y="11612"/>
                    <a:pt x="41831" y="3012"/>
                    <a:pt x="52797" y="3012"/>
                  </a:cubicBezTo>
                  <a:cubicBezTo>
                    <a:pt x="59679" y="3012"/>
                    <a:pt x="62258" y="7203"/>
                    <a:pt x="62258" y="1215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u_fixed_eq_outline_5"/>
            <p:cNvSpPr/>
            <p:nvPr/>
          </p:nvSpPr>
          <p:spPr>
            <a:xfrm>
              <a:off x="645555" y="28583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u_fixed_eq_outline_6"/>
            <p:cNvSpPr/>
            <p:nvPr/>
          </p:nvSpPr>
          <p:spPr>
            <a:xfrm>
              <a:off x="737451" y="2823700"/>
              <a:ext cx="107967" cy="73441"/>
            </a:xfrm>
            <a:custGeom>
              <a:avLst/>
              <a:gdLst/>
              <a:ahLst/>
              <a:cxnLst/>
              <a:rect l="0" t="0" r="r" b="b"/>
              <a:pathLst>
                <a:path w="107968" h="73442">
                  <a:moveTo>
                    <a:pt x="52685" y="73442"/>
                  </a:moveTo>
                  <a:lnTo>
                    <a:pt x="52685" y="71830"/>
                  </a:lnTo>
                  <a:cubicBezTo>
                    <a:pt x="46665" y="71291"/>
                    <a:pt x="45482" y="69894"/>
                    <a:pt x="45482" y="63012"/>
                  </a:cubicBezTo>
                  <a:lnTo>
                    <a:pt x="45482" y="34842"/>
                  </a:lnTo>
                  <a:lnTo>
                    <a:pt x="45696" y="24301"/>
                  </a:lnTo>
                  <a:lnTo>
                    <a:pt x="45268" y="23979"/>
                  </a:lnTo>
                  <a:cubicBezTo>
                    <a:pt x="40537" y="24733"/>
                    <a:pt x="37417" y="25055"/>
                    <a:pt x="33119" y="25055"/>
                  </a:cubicBezTo>
                  <a:lnTo>
                    <a:pt x="16236" y="25055"/>
                  </a:lnTo>
                  <a:lnTo>
                    <a:pt x="16236" y="20431"/>
                  </a:lnTo>
                  <a:lnTo>
                    <a:pt x="16236" y="19788"/>
                  </a:lnTo>
                  <a:cubicBezTo>
                    <a:pt x="16022" y="14946"/>
                    <a:pt x="16665" y="10862"/>
                    <a:pt x="18066" y="8283"/>
                  </a:cubicBezTo>
                  <a:cubicBezTo>
                    <a:pt x="19891" y="4949"/>
                    <a:pt x="23761" y="2691"/>
                    <a:pt x="27634" y="2691"/>
                  </a:cubicBezTo>
                  <a:cubicBezTo>
                    <a:pt x="30643" y="2691"/>
                    <a:pt x="32687" y="4088"/>
                    <a:pt x="35266" y="7743"/>
                  </a:cubicBezTo>
                  <a:cubicBezTo>
                    <a:pt x="37310" y="10755"/>
                    <a:pt x="38707" y="11724"/>
                    <a:pt x="40537" y="11724"/>
                  </a:cubicBezTo>
                  <a:cubicBezTo>
                    <a:pt x="42795" y="11724"/>
                    <a:pt x="44406" y="10001"/>
                    <a:pt x="44406" y="7529"/>
                  </a:cubicBezTo>
                  <a:cubicBezTo>
                    <a:pt x="44406" y="2905"/>
                    <a:pt x="39033" y="0"/>
                    <a:pt x="30750" y="0"/>
                  </a:cubicBezTo>
                  <a:cubicBezTo>
                    <a:pt x="22578" y="0"/>
                    <a:pt x="16343" y="2691"/>
                    <a:pt x="12474" y="8064"/>
                  </a:cubicBezTo>
                  <a:cubicBezTo>
                    <a:pt x="9247" y="12581"/>
                    <a:pt x="8064" y="16454"/>
                    <a:pt x="7418" y="25055"/>
                  </a:cubicBezTo>
                  <a:lnTo>
                    <a:pt x="0" y="25055"/>
                  </a:lnTo>
                  <a:lnTo>
                    <a:pt x="0" y="28603"/>
                  </a:lnTo>
                  <a:lnTo>
                    <a:pt x="7310" y="28603"/>
                  </a:lnTo>
                  <a:lnTo>
                    <a:pt x="7310" y="63333"/>
                  </a:lnTo>
                  <a:cubicBezTo>
                    <a:pt x="7310" y="70215"/>
                    <a:pt x="6128" y="71612"/>
                    <a:pt x="107" y="71830"/>
                  </a:cubicBezTo>
                  <a:lnTo>
                    <a:pt x="107" y="73442"/>
                  </a:lnTo>
                  <a:lnTo>
                    <a:pt x="23761" y="73442"/>
                  </a:lnTo>
                  <a:lnTo>
                    <a:pt x="23761" y="71830"/>
                  </a:lnTo>
                  <a:cubicBezTo>
                    <a:pt x="17740" y="71398"/>
                    <a:pt x="16343" y="69894"/>
                    <a:pt x="16343" y="63980"/>
                  </a:cubicBezTo>
                  <a:lnTo>
                    <a:pt x="16343" y="28603"/>
                  </a:lnTo>
                  <a:lnTo>
                    <a:pt x="25590" y="28603"/>
                  </a:lnTo>
                  <a:cubicBezTo>
                    <a:pt x="35913" y="28603"/>
                    <a:pt x="36449" y="28924"/>
                    <a:pt x="36449" y="34623"/>
                  </a:cubicBezTo>
                  <a:lnTo>
                    <a:pt x="36449" y="63012"/>
                  </a:lnTo>
                  <a:cubicBezTo>
                    <a:pt x="36449" y="70322"/>
                    <a:pt x="35699" y="71291"/>
                    <a:pt x="29031" y="71830"/>
                  </a:cubicBezTo>
                  <a:lnTo>
                    <a:pt x="29031" y="73442"/>
                  </a:lnTo>
                  <a:lnTo>
                    <a:pt x="52685" y="73442"/>
                  </a:lnTo>
                  <a:close/>
                  <a:moveTo>
                    <a:pt x="107968" y="73442"/>
                  </a:moveTo>
                  <a:lnTo>
                    <a:pt x="107968" y="71830"/>
                  </a:lnTo>
                  <a:cubicBezTo>
                    <a:pt x="104634" y="71830"/>
                    <a:pt x="102483" y="70108"/>
                    <a:pt x="99149" y="65377"/>
                  </a:cubicBezTo>
                  <a:lnTo>
                    <a:pt x="85386" y="44303"/>
                  </a:lnTo>
                  <a:lnTo>
                    <a:pt x="94311" y="31401"/>
                  </a:lnTo>
                  <a:cubicBezTo>
                    <a:pt x="96355" y="28496"/>
                    <a:pt x="99578" y="26777"/>
                    <a:pt x="103019" y="26670"/>
                  </a:cubicBezTo>
                  <a:lnTo>
                    <a:pt x="103019" y="25055"/>
                  </a:lnTo>
                  <a:lnTo>
                    <a:pt x="86033" y="25055"/>
                  </a:lnTo>
                  <a:lnTo>
                    <a:pt x="86033" y="26670"/>
                  </a:lnTo>
                  <a:cubicBezTo>
                    <a:pt x="89255" y="26884"/>
                    <a:pt x="90331" y="27527"/>
                    <a:pt x="90331" y="29035"/>
                  </a:cubicBezTo>
                  <a:cubicBezTo>
                    <a:pt x="90331" y="30325"/>
                    <a:pt x="89041" y="32691"/>
                    <a:pt x="86354" y="36024"/>
                  </a:cubicBezTo>
                  <a:cubicBezTo>
                    <a:pt x="85814" y="36667"/>
                    <a:pt x="84524" y="38604"/>
                    <a:pt x="83127" y="40755"/>
                  </a:cubicBezTo>
                  <a:lnTo>
                    <a:pt x="81623" y="38604"/>
                  </a:lnTo>
                  <a:cubicBezTo>
                    <a:pt x="78611" y="34088"/>
                    <a:pt x="76674" y="30432"/>
                    <a:pt x="76674" y="29035"/>
                  </a:cubicBezTo>
                  <a:cubicBezTo>
                    <a:pt x="76674" y="27527"/>
                    <a:pt x="78075" y="26777"/>
                    <a:pt x="81298" y="26670"/>
                  </a:cubicBezTo>
                  <a:lnTo>
                    <a:pt x="81298" y="25055"/>
                  </a:lnTo>
                  <a:lnTo>
                    <a:pt x="59041" y="25055"/>
                  </a:lnTo>
                  <a:lnTo>
                    <a:pt x="59041" y="26670"/>
                  </a:lnTo>
                  <a:lnTo>
                    <a:pt x="60010" y="26670"/>
                  </a:lnTo>
                  <a:cubicBezTo>
                    <a:pt x="63236" y="26670"/>
                    <a:pt x="64955" y="28067"/>
                    <a:pt x="68288" y="33119"/>
                  </a:cubicBezTo>
                  <a:lnTo>
                    <a:pt x="78397" y="48605"/>
                  </a:lnTo>
                  <a:lnTo>
                    <a:pt x="66137" y="66346"/>
                  </a:lnTo>
                  <a:cubicBezTo>
                    <a:pt x="62915" y="70755"/>
                    <a:pt x="61839" y="71505"/>
                    <a:pt x="58291" y="71830"/>
                  </a:cubicBezTo>
                  <a:lnTo>
                    <a:pt x="58291" y="73442"/>
                  </a:lnTo>
                  <a:lnTo>
                    <a:pt x="73880" y="73442"/>
                  </a:lnTo>
                  <a:lnTo>
                    <a:pt x="73880" y="71830"/>
                  </a:lnTo>
                  <a:cubicBezTo>
                    <a:pt x="70868" y="71830"/>
                    <a:pt x="69578" y="71291"/>
                    <a:pt x="69578" y="69894"/>
                  </a:cubicBezTo>
                  <a:cubicBezTo>
                    <a:pt x="69578" y="69247"/>
                    <a:pt x="70332" y="67635"/>
                    <a:pt x="71729" y="65484"/>
                  </a:cubicBezTo>
                  <a:lnTo>
                    <a:pt x="80226" y="52260"/>
                  </a:lnTo>
                  <a:lnTo>
                    <a:pt x="90009" y="67314"/>
                  </a:lnTo>
                  <a:cubicBezTo>
                    <a:pt x="90438" y="67957"/>
                    <a:pt x="90656" y="68604"/>
                    <a:pt x="90656" y="69247"/>
                  </a:cubicBezTo>
                  <a:cubicBezTo>
                    <a:pt x="90656" y="71183"/>
                    <a:pt x="89902" y="71612"/>
                    <a:pt x="86354" y="71830"/>
                  </a:cubicBezTo>
                  <a:lnTo>
                    <a:pt x="86354" y="73442"/>
                  </a:lnTo>
                  <a:lnTo>
                    <a:pt x="107968" y="7344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u_fixed_eq_outline_7"/>
            <p:cNvSpPr/>
            <p:nvPr/>
          </p:nvSpPr>
          <p:spPr>
            <a:xfrm>
              <a:off x="847083" y="2823700"/>
              <a:ext cx="97859" cy="74517"/>
            </a:xfrm>
            <a:custGeom>
              <a:avLst/>
              <a:gdLst/>
              <a:ahLst/>
              <a:cxnLst/>
              <a:rect l="0" t="0" r="r" b="b"/>
              <a:pathLst>
                <a:path w="97860" h="74517">
                  <a:moveTo>
                    <a:pt x="42902" y="56559"/>
                  </a:moveTo>
                  <a:lnTo>
                    <a:pt x="41183" y="55808"/>
                  </a:lnTo>
                  <a:cubicBezTo>
                    <a:pt x="36021" y="63980"/>
                    <a:pt x="31397" y="67100"/>
                    <a:pt x="24518" y="67100"/>
                  </a:cubicBezTo>
                  <a:cubicBezTo>
                    <a:pt x="18601" y="67100"/>
                    <a:pt x="14089" y="64302"/>
                    <a:pt x="10970" y="58495"/>
                  </a:cubicBezTo>
                  <a:cubicBezTo>
                    <a:pt x="8819" y="54300"/>
                    <a:pt x="7957" y="50538"/>
                    <a:pt x="7743" y="43656"/>
                  </a:cubicBezTo>
                  <a:lnTo>
                    <a:pt x="40862" y="43656"/>
                  </a:lnTo>
                  <a:cubicBezTo>
                    <a:pt x="40001" y="36667"/>
                    <a:pt x="38925" y="33548"/>
                    <a:pt x="36239" y="30111"/>
                  </a:cubicBezTo>
                  <a:cubicBezTo>
                    <a:pt x="33012" y="26237"/>
                    <a:pt x="28067" y="23979"/>
                    <a:pt x="22475" y="23979"/>
                  </a:cubicBezTo>
                  <a:cubicBezTo>
                    <a:pt x="9140" y="23979"/>
                    <a:pt x="0" y="34734"/>
                    <a:pt x="0" y="50431"/>
                  </a:cubicBezTo>
                  <a:cubicBezTo>
                    <a:pt x="0" y="65270"/>
                    <a:pt x="7743" y="74517"/>
                    <a:pt x="20110" y="74517"/>
                  </a:cubicBezTo>
                  <a:cubicBezTo>
                    <a:pt x="30433" y="74517"/>
                    <a:pt x="38389" y="68171"/>
                    <a:pt x="42902" y="56559"/>
                  </a:cubicBezTo>
                  <a:close/>
                  <a:moveTo>
                    <a:pt x="29893" y="40215"/>
                  </a:moveTo>
                  <a:lnTo>
                    <a:pt x="7957" y="40215"/>
                  </a:lnTo>
                  <a:cubicBezTo>
                    <a:pt x="9140" y="31722"/>
                    <a:pt x="12795" y="27853"/>
                    <a:pt x="19356" y="27853"/>
                  </a:cubicBezTo>
                  <a:cubicBezTo>
                    <a:pt x="25915" y="27853"/>
                    <a:pt x="28496" y="30861"/>
                    <a:pt x="29893" y="40215"/>
                  </a:cubicBezTo>
                  <a:close/>
                  <a:moveTo>
                    <a:pt x="97860" y="68925"/>
                  </a:moveTo>
                  <a:lnTo>
                    <a:pt x="97860" y="67207"/>
                  </a:lnTo>
                  <a:cubicBezTo>
                    <a:pt x="95923" y="67314"/>
                    <a:pt x="95708" y="67314"/>
                    <a:pt x="95387" y="67314"/>
                  </a:cubicBezTo>
                  <a:cubicBezTo>
                    <a:pt x="91513" y="67314"/>
                    <a:pt x="90652" y="66131"/>
                    <a:pt x="90652" y="61182"/>
                  </a:cubicBezTo>
                  <a:lnTo>
                    <a:pt x="90652" y="218"/>
                  </a:lnTo>
                  <a:lnTo>
                    <a:pt x="90116" y="0"/>
                  </a:lnTo>
                  <a:cubicBezTo>
                    <a:pt x="84958" y="1830"/>
                    <a:pt x="81191" y="2905"/>
                    <a:pt x="74309" y="4735"/>
                  </a:cubicBezTo>
                  <a:lnTo>
                    <a:pt x="74309" y="6453"/>
                  </a:lnTo>
                  <a:cubicBezTo>
                    <a:pt x="75170" y="6346"/>
                    <a:pt x="75817" y="6346"/>
                    <a:pt x="76675" y="6346"/>
                  </a:cubicBezTo>
                  <a:cubicBezTo>
                    <a:pt x="80655" y="6346"/>
                    <a:pt x="81624" y="7421"/>
                    <a:pt x="81624" y="11831"/>
                  </a:cubicBezTo>
                  <a:lnTo>
                    <a:pt x="81624" y="28603"/>
                  </a:lnTo>
                  <a:cubicBezTo>
                    <a:pt x="77536" y="25162"/>
                    <a:pt x="74634" y="23979"/>
                    <a:pt x="70332" y="23979"/>
                  </a:cubicBezTo>
                  <a:cubicBezTo>
                    <a:pt x="57965" y="23979"/>
                    <a:pt x="47969" y="36132"/>
                    <a:pt x="47969" y="51399"/>
                  </a:cubicBezTo>
                  <a:cubicBezTo>
                    <a:pt x="47969" y="65163"/>
                    <a:pt x="56028" y="74517"/>
                    <a:pt x="67860" y="74517"/>
                  </a:cubicBezTo>
                  <a:cubicBezTo>
                    <a:pt x="73881" y="74517"/>
                    <a:pt x="77964" y="72366"/>
                    <a:pt x="81624" y="67314"/>
                  </a:cubicBezTo>
                  <a:lnTo>
                    <a:pt x="81624" y="74196"/>
                  </a:lnTo>
                  <a:lnTo>
                    <a:pt x="82052" y="74517"/>
                  </a:lnTo>
                  <a:lnTo>
                    <a:pt x="97860" y="68925"/>
                  </a:lnTo>
                  <a:close/>
                  <a:moveTo>
                    <a:pt x="81624" y="62476"/>
                  </a:moveTo>
                  <a:cubicBezTo>
                    <a:pt x="81624" y="63226"/>
                    <a:pt x="80870" y="64516"/>
                    <a:pt x="79794" y="65699"/>
                  </a:cubicBezTo>
                  <a:cubicBezTo>
                    <a:pt x="77857" y="67850"/>
                    <a:pt x="75170" y="68925"/>
                    <a:pt x="72051" y="68925"/>
                  </a:cubicBezTo>
                  <a:cubicBezTo>
                    <a:pt x="63129" y="68925"/>
                    <a:pt x="57216" y="60325"/>
                    <a:pt x="57216" y="47097"/>
                  </a:cubicBezTo>
                  <a:cubicBezTo>
                    <a:pt x="57216" y="34949"/>
                    <a:pt x="62482" y="26991"/>
                    <a:pt x="70654" y="26991"/>
                  </a:cubicBezTo>
                  <a:cubicBezTo>
                    <a:pt x="76353" y="26991"/>
                    <a:pt x="81624" y="32044"/>
                    <a:pt x="81624" y="37743"/>
                  </a:cubicBezTo>
                  <a:lnTo>
                    <a:pt x="81624" y="6247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3" name="u_lag_eq"/>
          <p:cNvGrpSpPr/>
          <p:nvPr/>
        </p:nvGrpSpPr>
        <p:grpSpPr>
          <a:xfrm>
            <a:off x="1270909" y="2823700"/>
            <a:ext cx="839227" cy="106665"/>
            <a:chOff x="1270909" y="2823700"/>
            <a:chExt cx="839227" cy="106665"/>
          </a:xfrm>
        </p:grpSpPr>
        <p:sp>
          <p:nvSpPr>
            <p:cNvPr id="498" name="u_lag_eq_outline_0"/>
            <p:cNvSpPr/>
            <p:nvPr/>
          </p:nvSpPr>
          <p:spPr>
            <a:xfrm>
              <a:off x="1270909" y="2849723"/>
              <a:ext cx="48291" cy="48601"/>
            </a:xfrm>
            <a:custGeom>
              <a:avLst/>
              <a:gdLst/>
              <a:ahLst/>
              <a:cxnLst/>
              <a:rect l="0" t="0" r="r" b="b"/>
              <a:pathLst>
                <a:path w="48292" h="48601">
                  <a:moveTo>
                    <a:pt x="41839" y="37096"/>
                  </a:moveTo>
                  <a:lnTo>
                    <a:pt x="39795" y="36020"/>
                  </a:lnTo>
                  <a:cubicBezTo>
                    <a:pt x="33235" y="42366"/>
                    <a:pt x="28611" y="44732"/>
                    <a:pt x="22484" y="44732"/>
                  </a:cubicBezTo>
                  <a:cubicBezTo>
                    <a:pt x="15495" y="44732"/>
                    <a:pt x="11085" y="40215"/>
                    <a:pt x="10764" y="32472"/>
                  </a:cubicBezTo>
                  <a:cubicBezTo>
                    <a:pt x="10443" y="23332"/>
                    <a:pt x="14526" y="13764"/>
                    <a:pt x="21194" y="7418"/>
                  </a:cubicBezTo>
                  <a:cubicBezTo>
                    <a:pt x="24635" y="4195"/>
                    <a:pt x="29473" y="2258"/>
                    <a:pt x="34418" y="2258"/>
                  </a:cubicBezTo>
                  <a:cubicBezTo>
                    <a:pt x="37323" y="2258"/>
                    <a:pt x="39041" y="3120"/>
                    <a:pt x="39041" y="4409"/>
                  </a:cubicBezTo>
                  <a:cubicBezTo>
                    <a:pt x="39152" y="4945"/>
                    <a:pt x="39041" y="5485"/>
                    <a:pt x="38505" y="6453"/>
                  </a:cubicBezTo>
                  <a:cubicBezTo>
                    <a:pt x="37537" y="7850"/>
                    <a:pt x="37430" y="8493"/>
                    <a:pt x="37430" y="9569"/>
                  </a:cubicBezTo>
                  <a:cubicBezTo>
                    <a:pt x="37537" y="12148"/>
                    <a:pt x="39367" y="13656"/>
                    <a:pt x="42375" y="13656"/>
                  </a:cubicBezTo>
                  <a:cubicBezTo>
                    <a:pt x="45816" y="13656"/>
                    <a:pt x="48400" y="11613"/>
                    <a:pt x="48289" y="8711"/>
                  </a:cubicBezTo>
                  <a:cubicBezTo>
                    <a:pt x="48074" y="3655"/>
                    <a:pt x="42593" y="0"/>
                    <a:pt x="34957" y="0"/>
                  </a:cubicBezTo>
                  <a:cubicBezTo>
                    <a:pt x="16356" y="0"/>
                    <a:pt x="-527" y="15700"/>
                    <a:pt x="13" y="32472"/>
                  </a:cubicBezTo>
                  <a:cubicBezTo>
                    <a:pt x="334" y="42688"/>
                    <a:pt x="7323" y="48601"/>
                    <a:pt x="18828" y="48601"/>
                  </a:cubicBezTo>
                  <a:cubicBezTo>
                    <a:pt x="28183" y="48601"/>
                    <a:pt x="34418" y="45375"/>
                    <a:pt x="41839" y="3709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u_lag_eq_outline_1"/>
            <p:cNvSpPr/>
            <p:nvPr/>
          </p:nvSpPr>
          <p:spPr>
            <a:xfrm>
              <a:off x="1362569" y="2855637"/>
              <a:ext cx="55050" cy="27848"/>
            </a:xfrm>
            <a:custGeom>
              <a:avLst/>
              <a:gdLst/>
              <a:ahLst/>
              <a:cxnLst/>
              <a:rect l="0" t="0" r="r" b="b"/>
              <a:pathLst>
                <a:path w="55051" h="27849">
                  <a:moveTo>
                    <a:pt x="55051" y="6021"/>
                  </a:moveTo>
                  <a:lnTo>
                    <a:pt x="55051" y="0"/>
                  </a:lnTo>
                  <a:lnTo>
                    <a:pt x="0" y="0"/>
                  </a:lnTo>
                  <a:lnTo>
                    <a:pt x="0" y="6021"/>
                  </a:lnTo>
                  <a:lnTo>
                    <a:pt x="55051" y="6021"/>
                  </a:lnTo>
                  <a:close/>
                  <a:moveTo>
                    <a:pt x="55051" y="27849"/>
                  </a:moveTo>
                  <a:lnTo>
                    <a:pt x="55051" y="21828"/>
                  </a:lnTo>
                  <a:lnTo>
                    <a:pt x="0" y="21828"/>
                  </a:lnTo>
                  <a:lnTo>
                    <a:pt x="0" y="27849"/>
                  </a:lnTo>
                  <a:lnTo>
                    <a:pt x="55051" y="2784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u_lag_eq_outline_2"/>
            <p:cNvSpPr/>
            <p:nvPr/>
          </p:nvSpPr>
          <p:spPr>
            <a:xfrm>
              <a:off x="1456754" y="2824454"/>
              <a:ext cx="48601" cy="74191"/>
            </a:xfrm>
            <a:custGeom>
              <a:avLst/>
              <a:gdLst/>
              <a:ahLst/>
              <a:cxnLst/>
              <a:rect l="0" t="0" r="r" b="b"/>
              <a:pathLst>
                <a:path w="48601" h="74192">
                  <a:moveTo>
                    <a:pt x="48601" y="37203"/>
                  </a:moveTo>
                  <a:cubicBezTo>
                    <a:pt x="48601" y="15161"/>
                    <a:pt x="38818" y="0"/>
                    <a:pt x="24733" y="0"/>
                  </a:cubicBezTo>
                  <a:cubicBezTo>
                    <a:pt x="18820" y="0"/>
                    <a:pt x="14303" y="1830"/>
                    <a:pt x="10323" y="5592"/>
                  </a:cubicBezTo>
                  <a:cubicBezTo>
                    <a:pt x="4088" y="11613"/>
                    <a:pt x="0" y="23979"/>
                    <a:pt x="0" y="36560"/>
                  </a:cubicBezTo>
                  <a:cubicBezTo>
                    <a:pt x="0" y="48280"/>
                    <a:pt x="3548" y="60861"/>
                    <a:pt x="8604" y="66881"/>
                  </a:cubicBezTo>
                  <a:cubicBezTo>
                    <a:pt x="12581" y="71612"/>
                    <a:pt x="18066" y="74192"/>
                    <a:pt x="24301" y="74192"/>
                  </a:cubicBezTo>
                  <a:cubicBezTo>
                    <a:pt x="29785" y="74192"/>
                    <a:pt x="34409" y="72366"/>
                    <a:pt x="38279" y="68600"/>
                  </a:cubicBezTo>
                  <a:cubicBezTo>
                    <a:pt x="44517" y="62686"/>
                    <a:pt x="48601" y="50217"/>
                    <a:pt x="48601" y="37203"/>
                  </a:cubicBezTo>
                  <a:close/>
                  <a:moveTo>
                    <a:pt x="38279" y="37417"/>
                  </a:moveTo>
                  <a:cubicBezTo>
                    <a:pt x="38279" y="59892"/>
                    <a:pt x="33548" y="71398"/>
                    <a:pt x="24301" y="71398"/>
                  </a:cubicBezTo>
                  <a:cubicBezTo>
                    <a:pt x="15053" y="71398"/>
                    <a:pt x="10323" y="59892"/>
                    <a:pt x="10323" y="37528"/>
                  </a:cubicBezTo>
                  <a:cubicBezTo>
                    <a:pt x="10323" y="14732"/>
                    <a:pt x="15161" y="2798"/>
                    <a:pt x="24408" y="2798"/>
                  </a:cubicBezTo>
                  <a:cubicBezTo>
                    <a:pt x="33441" y="2798"/>
                    <a:pt x="38279" y="14946"/>
                    <a:pt x="38279" y="3741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u_lag_eq_outline_3"/>
            <p:cNvSpPr/>
            <p:nvPr/>
          </p:nvSpPr>
          <p:spPr>
            <a:xfrm>
              <a:off x="1516559" y="2886176"/>
              <a:ext cx="17093" cy="26447"/>
            </a:xfrm>
            <a:custGeom>
              <a:avLst/>
              <a:gdLst/>
              <a:ahLst/>
              <a:cxnLst/>
              <a:rect l="0" t="0" r="r" b="b"/>
              <a:pathLst>
                <a:path w="17093" h="26448">
                  <a:moveTo>
                    <a:pt x="17093" y="10319"/>
                  </a:moveTo>
                  <a:cubicBezTo>
                    <a:pt x="17093" y="1397"/>
                    <a:pt x="10104" y="0"/>
                    <a:pt x="7203" y="0"/>
                  </a:cubicBezTo>
                  <a:cubicBezTo>
                    <a:pt x="4084" y="0"/>
                    <a:pt x="0" y="1933"/>
                    <a:pt x="0" y="6556"/>
                  </a:cubicBezTo>
                  <a:cubicBezTo>
                    <a:pt x="0" y="10858"/>
                    <a:pt x="4191" y="11934"/>
                    <a:pt x="7310" y="11934"/>
                  </a:cubicBezTo>
                  <a:cubicBezTo>
                    <a:pt x="8065" y="11934"/>
                    <a:pt x="8707" y="11827"/>
                    <a:pt x="9029" y="11720"/>
                  </a:cubicBezTo>
                  <a:cubicBezTo>
                    <a:pt x="9462" y="11613"/>
                    <a:pt x="9997" y="11501"/>
                    <a:pt x="10212" y="11501"/>
                  </a:cubicBezTo>
                  <a:cubicBezTo>
                    <a:pt x="10966" y="11501"/>
                    <a:pt x="11827" y="12041"/>
                    <a:pt x="11827" y="13010"/>
                  </a:cubicBezTo>
                  <a:cubicBezTo>
                    <a:pt x="11827" y="15053"/>
                    <a:pt x="9890" y="19677"/>
                    <a:pt x="2040" y="24190"/>
                  </a:cubicBezTo>
                  <a:lnTo>
                    <a:pt x="3115" y="26448"/>
                  </a:lnTo>
                  <a:cubicBezTo>
                    <a:pt x="6882" y="25372"/>
                    <a:pt x="17093" y="17955"/>
                    <a:pt x="17093" y="1031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u_lag_eq_outline_4"/>
            <p:cNvSpPr/>
            <p:nvPr/>
          </p:nvSpPr>
          <p:spPr>
            <a:xfrm>
              <a:off x="1585042" y="2826713"/>
              <a:ext cx="72901" cy="92686"/>
            </a:xfrm>
            <a:custGeom>
              <a:avLst/>
              <a:gdLst/>
              <a:ahLst/>
              <a:cxnLst/>
              <a:rect l="0" t="0" r="r" b="b"/>
              <a:pathLst>
                <a:path w="72902" h="92686">
                  <a:moveTo>
                    <a:pt x="72902" y="12367"/>
                  </a:moveTo>
                  <a:cubicBezTo>
                    <a:pt x="72902" y="3869"/>
                    <a:pt x="64837" y="0"/>
                    <a:pt x="54300" y="0"/>
                  </a:cubicBezTo>
                  <a:cubicBezTo>
                    <a:pt x="40862" y="0"/>
                    <a:pt x="27849" y="7636"/>
                    <a:pt x="24301" y="18494"/>
                  </a:cubicBezTo>
                  <a:lnTo>
                    <a:pt x="7529" y="78494"/>
                  </a:lnTo>
                  <a:cubicBezTo>
                    <a:pt x="5592" y="85269"/>
                    <a:pt x="1183" y="91289"/>
                    <a:pt x="0" y="92686"/>
                  </a:cubicBezTo>
                  <a:lnTo>
                    <a:pt x="11184" y="92686"/>
                  </a:lnTo>
                  <a:cubicBezTo>
                    <a:pt x="11291" y="92686"/>
                    <a:pt x="13228" y="91829"/>
                    <a:pt x="17312" y="78387"/>
                  </a:cubicBezTo>
                  <a:lnTo>
                    <a:pt x="21185" y="64516"/>
                  </a:lnTo>
                  <a:lnTo>
                    <a:pt x="21292" y="64516"/>
                  </a:lnTo>
                  <a:cubicBezTo>
                    <a:pt x="21292" y="64623"/>
                    <a:pt x="25269" y="72259"/>
                    <a:pt x="37207" y="72259"/>
                  </a:cubicBezTo>
                  <a:cubicBezTo>
                    <a:pt x="54948" y="72259"/>
                    <a:pt x="67095" y="60214"/>
                    <a:pt x="67095" y="47847"/>
                  </a:cubicBezTo>
                  <a:cubicBezTo>
                    <a:pt x="67095" y="34409"/>
                    <a:pt x="51614" y="32365"/>
                    <a:pt x="51507" y="32365"/>
                  </a:cubicBezTo>
                  <a:lnTo>
                    <a:pt x="51507" y="31936"/>
                  </a:lnTo>
                  <a:cubicBezTo>
                    <a:pt x="51614" y="31936"/>
                    <a:pt x="72902" y="28063"/>
                    <a:pt x="72902" y="12367"/>
                  </a:cubicBezTo>
                  <a:close/>
                  <a:moveTo>
                    <a:pt x="62258" y="12152"/>
                  </a:moveTo>
                  <a:cubicBezTo>
                    <a:pt x="62258" y="17097"/>
                    <a:pt x="59031" y="29246"/>
                    <a:pt x="49248" y="29246"/>
                  </a:cubicBezTo>
                  <a:cubicBezTo>
                    <a:pt x="46669" y="29246"/>
                    <a:pt x="44517" y="28817"/>
                    <a:pt x="42581" y="28817"/>
                  </a:cubicBezTo>
                  <a:cubicBezTo>
                    <a:pt x="39247" y="28817"/>
                    <a:pt x="36989" y="31290"/>
                    <a:pt x="36989" y="33226"/>
                  </a:cubicBezTo>
                  <a:cubicBezTo>
                    <a:pt x="36989" y="34409"/>
                    <a:pt x="37957" y="35377"/>
                    <a:pt x="40108" y="35377"/>
                  </a:cubicBezTo>
                  <a:cubicBezTo>
                    <a:pt x="43442" y="35377"/>
                    <a:pt x="44303" y="34838"/>
                    <a:pt x="46990" y="34838"/>
                  </a:cubicBezTo>
                  <a:cubicBezTo>
                    <a:pt x="52903" y="34838"/>
                    <a:pt x="55591" y="40644"/>
                    <a:pt x="55591" y="46664"/>
                  </a:cubicBezTo>
                  <a:cubicBezTo>
                    <a:pt x="55591" y="57420"/>
                    <a:pt x="48708" y="67310"/>
                    <a:pt x="36453" y="67310"/>
                  </a:cubicBezTo>
                  <a:cubicBezTo>
                    <a:pt x="28710" y="67310"/>
                    <a:pt x="23765" y="63548"/>
                    <a:pt x="23765" y="57313"/>
                  </a:cubicBezTo>
                  <a:cubicBezTo>
                    <a:pt x="23765" y="56023"/>
                    <a:pt x="23979" y="54622"/>
                    <a:pt x="24408" y="53118"/>
                  </a:cubicBezTo>
                  <a:lnTo>
                    <a:pt x="33981" y="18601"/>
                  </a:lnTo>
                  <a:cubicBezTo>
                    <a:pt x="36132" y="11612"/>
                    <a:pt x="41831" y="3012"/>
                    <a:pt x="52797" y="3012"/>
                  </a:cubicBezTo>
                  <a:cubicBezTo>
                    <a:pt x="59679" y="3012"/>
                    <a:pt x="62258" y="7203"/>
                    <a:pt x="62258" y="1215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3" name="u_lag_eq_outline_5"/>
            <p:cNvSpPr/>
            <p:nvPr/>
          </p:nvSpPr>
          <p:spPr>
            <a:xfrm>
              <a:off x="1663390" y="28583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4" name="u_lag_eq_outline_6"/>
            <p:cNvSpPr/>
            <p:nvPr/>
          </p:nvSpPr>
          <p:spPr>
            <a:xfrm>
              <a:off x="1755929" y="2823700"/>
              <a:ext cx="310152" cy="96773"/>
            </a:xfrm>
            <a:custGeom>
              <a:avLst/>
              <a:gdLst/>
              <a:ahLst/>
              <a:cxnLst/>
              <a:rect l="0" t="0" r="r" b="b"/>
              <a:pathLst>
                <a:path w="310152" h="96774">
                  <a:moveTo>
                    <a:pt x="43549" y="69140"/>
                  </a:moveTo>
                  <a:lnTo>
                    <a:pt x="43549" y="66346"/>
                  </a:lnTo>
                  <a:cubicBezTo>
                    <a:pt x="41723" y="67850"/>
                    <a:pt x="40430" y="68389"/>
                    <a:pt x="38818" y="68389"/>
                  </a:cubicBezTo>
                  <a:cubicBezTo>
                    <a:pt x="36346" y="68389"/>
                    <a:pt x="35592" y="66881"/>
                    <a:pt x="35592" y="62151"/>
                  </a:cubicBezTo>
                  <a:lnTo>
                    <a:pt x="35592" y="41184"/>
                  </a:lnTo>
                  <a:cubicBezTo>
                    <a:pt x="35592" y="35699"/>
                    <a:pt x="35056" y="32691"/>
                    <a:pt x="33548" y="30218"/>
                  </a:cubicBezTo>
                  <a:cubicBezTo>
                    <a:pt x="31294" y="26130"/>
                    <a:pt x="26670" y="23979"/>
                    <a:pt x="20110" y="23979"/>
                  </a:cubicBezTo>
                  <a:cubicBezTo>
                    <a:pt x="14625" y="23979"/>
                    <a:pt x="9465" y="25487"/>
                    <a:pt x="6453" y="27960"/>
                  </a:cubicBezTo>
                  <a:cubicBezTo>
                    <a:pt x="3766" y="30218"/>
                    <a:pt x="2044" y="33334"/>
                    <a:pt x="2044" y="36024"/>
                  </a:cubicBezTo>
                  <a:cubicBezTo>
                    <a:pt x="2044" y="38497"/>
                    <a:pt x="4088" y="40648"/>
                    <a:pt x="6667" y="40648"/>
                  </a:cubicBezTo>
                  <a:cubicBezTo>
                    <a:pt x="9247" y="40648"/>
                    <a:pt x="11505" y="38497"/>
                    <a:pt x="11505" y="36132"/>
                  </a:cubicBezTo>
                  <a:cubicBezTo>
                    <a:pt x="11505" y="35699"/>
                    <a:pt x="11398" y="35163"/>
                    <a:pt x="11291" y="34409"/>
                  </a:cubicBezTo>
                  <a:cubicBezTo>
                    <a:pt x="11077" y="33441"/>
                    <a:pt x="10970" y="32583"/>
                    <a:pt x="10970" y="31829"/>
                  </a:cubicBezTo>
                  <a:cubicBezTo>
                    <a:pt x="10970" y="28924"/>
                    <a:pt x="14410" y="26559"/>
                    <a:pt x="18713" y="26559"/>
                  </a:cubicBezTo>
                  <a:cubicBezTo>
                    <a:pt x="23979" y="26559"/>
                    <a:pt x="26884" y="29678"/>
                    <a:pt x="26884" y="35485"/>
                  </a:cubicBezTo>
                  <a:lnTo>
                    <a:pt x="26884" y="42045"/>
                  </a:lnTo>
                  <a:cubicBezTo>
                    <a:pt x="10323" y="48712"/>
                    <a:pt x="8497" y="49570"/>
                    <a:pt x="3873" y="53657"/>
                  </a:cubicBezTo>
                  <a:cubicBezTo>
                    <a:pt x="1508" y="55808"/>
                    <a:pt x="0" y="59464"/>
                    <a:pt x="0" y="63012"/>
                  </a:cubicBezTo>
                  <a:cubicBezTo>
                    <a:pt x="0" y="69786"/>
                    <a:pt x="4624" y="74517"/>
                    <a:pt x="11291" y="74517"/>
                  </a:cubicBezTo>
                  <a:cubicBezTo>
                    <a:pt x="16022" y="74517"/>
                    <a:pt x="20431" y="72259"/>
                    <a:pt x="26991" y="66667"/>
                  </a:cubicBezTo>
                  <a:cubicBezTo>
                    <a:pt x="27527" y="72366"/>
                    <a:pt x="29464" y="74517"/>
                    <a:pt x="33873" y="74517"/>
                  </a:cubicBezTo>
                  <a:cubicBezTo>
                    <a:pt x="37529" y="74517"/>
                    <a:pt x="39787" y="73227"/>
                    <a:pt x="43549" y="69140"/>
                  </a:cubicBezTo>
                  <a:close/>
                  <a:moveTo>
                    <a:pt x="26884" y="60218"/>
                  </a:moveTo>
                  <a:cubicBezTo>
                    <a:pt x="26884" y="63548"/>
                    <a:pt x="26345" y="64516"/>
                    <a:pt x="24086" y="65913"/>
                  </a:cubicBezTo>
                  <a:cubicBezTo>
                    <a:pt x="21507" y="67421"/>
                    <a:pt x="18494" y="68282"/>
                    <a:pt x="16236" y="68282"/>
                  </a:cubicBezTo>
                  <a:cubicBezTo>
                    <a:pt x="12474" y="68282"/>
                    <a:pt x="9465" y="64623"/>
                    <a:pt x="9465" y="59999"/>
                  </a:cubicBezTo>
                  <a:lnTo>
                    <a:pt x="9465" y="59571"/>
                  </a:lnTo>
                  <a:cubicBezTo>
                    <a:pt x="9465" y="53229"/>
                    <a:pt x="13871" y="49355"/>
                    <a:pt x="26884" y="44625"/>
                  </a:cubicBezTo>
                  <a:lnTo>
                    <a:pt x="26884" y="60218"/>
                  </a:lnTo>
                  <a:close/>
                  <a:moveTo>
                    <a:pt x="96570" y="68925"/>
                  </a:moveTo>
                  <a:lnTo>
                    <a:pt x="96570" y="67207"/>
                  </a:lnTo>
                  <a:cubicBezTo>
                    <a:pt x="94633" y="67314"/>
                    <a:pt x="94419" y="67314"/>
                    <a:pt x="94097" y="67314"/>
                  </a:cubicBezTo>
                  <a:cubicBezTo>
                    <a:pt x="90224" y="67314"/>
                    <a:pt x="89362" y="66131"/>
                    <a:pt x="89362" y="61182"/>
                  </a:cubicBezTo>
                  <a:lnTo>
                    <a:pt x="89362" y="218"/>
                  </a:lnTo>
                  <a:lnTo>
                    <a:pt x="88827" y="0"/>
                  </a:lnTo>
                  <a:cubicBezTo>
                    <a:pt x="83667" y="1830"/>
                    <a:pt x="79901" y="2905"/>
                    <a:pt x="73019" y="4735"/>
                  </a:cubicBezTo>
                  <a:lnTo>
                    <a:pt x="73019" y="6453"/>
                  </a:lnTo>
                  <a:cubicBezTo>
                    <a:pt x="73880" y="6346"/>
                    <a:pt x="74527" y="6346"/>
                    <a:pt x="75384" y="6346"/>
                  </a:cubicBezTo>
                  <a:cubicBezTo>
                    <a:pt x="79365" y="6346"/>
                    <a:pt x="80334" y="7421"/>
                    <a:pt x="80334" y="11831"/>
                  </a:cubicBezTo>
                  <a:lnTo>
                    <a:pt x="80334" y="28603"/>
                  </a:lnTo>
                  <a:cubicBezTo>
                    <a:pt x="76246" y="25162"/>
                    <a:pt x="73344" y="23979"/>
                    <a:pt x="69042" y="23979"/>
                  </a:cubicBezTo>
                  <a:cubicBezTo>
                    <a:pt x="56676" y="23979"/>
                    <a:pt x="46679" y="36132"/>
                    <a:pt x="46679" y="51399"/>
                  </a:cubicBezTo>
                  <a:cubicBezTo>
                    <a:pt x="46679" y="65163"/>
                    <a:pt x="54739" y="74517"/>
                    <a:pt x="66570" y="74517"/>
                  </a:cubicBezTo>
                  <a:cubicBezTo>
                    <a:pt x="72590" y="74517"/>
                    <a:pt x="76674" y="72366"/>
                    <a:pt x="80334" y="67314"/>
                  </a:cubicBezTo>
                  <a:lnTo>
                    <a:pt x="80334" y="74196"/>
                  </a:lnTo>
                  <a:lnTo>
                    <a:pt x="80762" y="74517"/>
                  </a:lnTo>
                  <a:lnTo>
                    <a:pt x="96570" y="68925"/>
                  </a:lnTo>
                  <a:close/>
                  <a:moveTo>
                    <a:pt x="80334" y="62476"/>
                  </a:moveTo>
                  <a:cubicBezTo>
                    <a:pt x="80334" y="63226"/>
                    <a:pt x="79579" y="64516"/>
                    <a:pt x="78504" y="65699"/>
                  </a:cubicBezTo>
                  <a:cubicBezTo>
                    <a:pt x="76567" y="67850"/>
                    <a:pt x="73880" y="68925"/>
                    <a:pt x="70761" y="68925"/>
                  </a:cubicBezTo>
                  <a:cubicBezTo>
                    <a:pt x="61839" y="68925"/>
                    <a:pt x="55926" y="60325"/>
                    <a:pt x="55926" y="47097"/>
                  </a:cubicBezTo>
                  <a:cubicBezTo>
                    <a:pt x="55926" y="34949"/>
                    <a:pt x="61192" y="26991"/>
                    <a:pt x="69364" y="26991"/>
                  </a:cubicBezTo>
                  <a:cubicBezTo>
                    <a:pt x="75063" y="26991"/>
                    <a:pt x="80334" y="32044"/>
                    <a:pt x="80334" y="37743"/>
                  </a:cubicBezTo>
                  <a:lnTo>
                    <a:pt x="80334" y="62476"/>
                  </a:lnTo>
                  <a:close/>
                  <a:moveTo>
                    <a:pt x="145072" y="69140"/>
                  </a:moveTo>
                  <a:lnTo>
                    <a:pt x="145072" y="66346"/>
                  </a:lnTo>
                  <a:cubicBezTo>
                    <a:pt x="143247" y="67850"/>
                    <a:pt x="141952" y="68389"/>
                    <a:pt x="140341" y="68389"/>
                  </a:cubicBezTo>
                  <a:cubicBezTo>
                    <a:pt x="137868" y="68389"/>
                    <a:pt x="137115" y="66881"/>
                    <a:pt x="137115" y="62151"/>
                  </a:cubicBezTo>
                  <a:lnTo>
                    <a:pt x="137115" y="41184"/>
                  </a:lnTo>
                  <a:cubicBezTo>
                    <a:pt x="137115" y="35699"/>
                    <a:pt x="136579" y="32691"/>
                    <a:pt x="135070" y="30218"/>
                  </a:cubicBezTo>
                  <a:cubicBezTo>
                    <a:pt x="132816" y="26130"/>
                    <a:pt x="128193" y="23979"/>
                    <a:pt x="121632" y="23979"/>
                  </a:cubicBezTo>
                  <a:cubicBezTo>
                    <a:pt x="116148" y="23979"/>
                    <a:pt x="110988" y="25487"/>
                    <a:pt x="107976" y="27960"/>
                  </a:cubicBezTo>
                  <a:cubicBezTo>
                    <a:pt x="105289" y="30218"/>
                    <a:pt x="103567" y="33334"/>
                    <a:pt x="103567" y="36024"/>
                  </a:cubicBezTo>
                  <a:cubicBezTo>
                    <a:pt x="103567" y="38497"/>
                    <a:pt x="105610" y="40648"/>
                    <a:pt x="108190" y="40648"/>
                  </a:cubicBezTo>
                  <a:cubicBezTo>
                    <a:pt x="110770" y="40648"/>
                    <a:pt x="113028" y="38497"/>
                    <a:pt x="113028" y="36132"/>
                  </a:cubicBezTo>
                  <a:cubicBezTo>
                    <a:pt x="113028" y="35699"/>
                    <a:pt x="112921" y="35163"/>
                    <a:pt x="112814" y="34409"/>
                  </a:cubicBezTo>
                  <a:cubicBezTo>
                    <a:pt x="112599" y="33441"/>
                    <a:pt x="112492" y="32583"/>
                    <a:pt x="112492" y="31829"/>
                  </a:cubicBezTo>
                  <a:cubicBezTo>
                    <a:pt x="112492" y="28924"/>
                    <a:pt x="115933" y="26559"/>
                    <a:pt x="120235" y="26559"/>
                  </a:cubicBezTo>
                  <a:cubicBezTo>
                    <a:pt x="125502" y="26559"/>
                    <a:pt x="128407" y="29678"/>
                    <a:pt x="128407" y="35485"/>
                  </a:cubicBezTo>
                  <a:lnTo>
                    <a:pt x="128407" y="42045"/>
                  </a:lnTo>
                  <a:cubicBezTo>
                    <a:pt x="111845" y="48712"/>
                    <a:pt x="110020" y="49570"/>
                    <a:pt x="105396" y="53657"/>
                  </a:cubicBezTo>
                  <a:cubicBezTo>
                    <a:pt x="103031" y="55808"/>
                    <a:pt x="101523" y="59464"/>
                    <a:pt x="101523" y="63012"/>
                  </a:cubicBezTo>
                  <a:cubicBezTo>
                    <a:pt x="101523" y="69786"/>
                    <a:pt x="106146" y="74517"/>
                    <a:pt x="112814" y="74517"/>
                  </a:cubicBezTo>
                  <a:cubicBezTo>
                    <a:pt x="117544" y="74517"/>
                    <a:pt x="121954" y="72259"/>
                    <a:pt x="128515" y="66667"/>
                  </a:cubicBezTo>
                  <a:cubicBezTo>
                    <a:pt x="129050" y="72366"/>
                    <a:pt x="130987" y="74517"/>
                    <a:pt x="135395" y="74517"/>
                  </a:cubicBezTo>
                  <a:cubicBezTo>
                    <a:pt x="139052" y="74517"/>
                    <a:pt x="141310" y="73227"/>
                    <a:pt x="145072" y="69140"/>
                  </a:cubicBezTo>
                  <a:close/>
                  <a:moveTo>
                    <a:pt x="128407" y="60218"/>
                  </a:moveTo>
                  <a:cubicBezTo>
                    <a:pt x="128407" y="63548"/>
                    <a:pt x="127867" y="64516"/>
                    <a:pt x="125609" y="65913"/>
                  </a:cubicBezTo>
                  <a:cubicBezTo>
                    <a:pt x="123029" y="67421"/>
                    <a:pt x="120017" y="68282"/>
                    <a:pt x="117759" y="68282"/>
                  </a:cubicBezTo>
                  <a:cubicBezTo>
                    <a:pt x="113996" y="68282"/>
                    <a:pt x="110988" y="64623"/>
                    <a:pt x="110988" y="59999"/>
                  </a:cubicBezTo>
                  <a:lnTo>
                    <a:pt x="110988" y="59571"/>
                  </a:lnTo>
                  <a:cubicBezTo>
                    <a:pt x="110988" y="53229"/>
                    <a:pt x="115393" y="49355"/>
                    <a:pt x="128407" y="44625"/>
                  </a:cubicBezTo>
                  <a:lnTo>
                    <a:pt x="128407" y="60218"/>
                  </a:lnTo>
                  <a:close/>
                  <a:moveTo>
                    <a:pt x="195833" y="46883"/>
                  </a:moveTo>
                  <a:cubicBezTo>
                    <a:pt x="195833" y="33548"/>
                    <a:pt x="188305" y="23979"/>
                    <a:pt x="177876" y="23979"/>
                  </a:cubicBezTo>
                  <a:cubicBezTo>
                    <a:pt x="171855" y="23979"/>
                    <a:pt x="167124" y="26670"/>
                    <a:pt x="162393" y="32476"/>
                  </a:cubicBezTo>
                  <a:lnTo>
                    <a:pt x="162393" y="24193"/>
                  </a:lnTo>
                  <a:lnTo>
                    <a:pt x="161747" y="23979"/>
                  </a:lnTo>
                  <a:cubicBezTo>
                    <a:pt x="155940" y="26237"/>
                    <a:pt x="152177" y="27634"/>
                    <a:pt x="146264" y="29464"/>
                  </a:cubicBezTo>
                  <a:lnTo>
                    <a:pt x="146264" y="31182"/>
                  </a:lnTo>
                  <a:cubicBezTo>
                    <a:pt x="147233" y="31075"/>
                    <a:pt x="147982" y="31075"/>
                    <a:pt x="148951" y="31075"/>
                  </a:cubicBezTo>
                  <a:cubicBezTo>
                    <a:pt x="152606" y="31075"/>
                    <a:pt x="153361" y="32151"/>
                    <a:pt x="153361" y="37207"/>
                  </a:cubicBezTo>
                  <a:lnTo>
                    <a:pt x="153361" y="87527"/>
                  </a:lnTo>
                  <a:cubicBezTo>
                    <a:pt x="153361" y="93119"/>
                    <a:pt x="152177" y="94301"/>
                    <a:pt x="145832" y="94948"/>
                  </a:cubicBezTo>
                  <a:lnTo>
                    <a:pt x="145832" y="96774"/>
                  </a:lnTo>
                  <a:lnTo>
                    <a:pt x="171855" y="96774"/>
                  </a:lnTo>
                  <a:lnTo>
                    <a:pt x="171855" y="94841"/>
                  </a:lnTo>
                  <a:cubicBezTo>
                    <a:pt x="163790" y="94730"/>
                    <a:pt x="162393" y="93547"/>
                    <a:pt x="162393" y="86777"/>
                  </a:cubicBezTo>
                  <a:lnTo>
                    <a:pt x="162393" y="69894"/>
                  </a:lnTo>
                  <a:cubicBezTo>
                    <a:pt x="166156" y="73442"/>
                    <a:pt x="168735" y="74517"/>
                    <a:pt x="173252" y="74517"/>
                  </a:cubicBezTo>
                  <a:cubicBezTo>
                    <a:pt x="185940" y="74517"/>
                    <a:pt x="195833" y="62476"/>
                    <a:pt x="195833" y="46883"/>
                  </a:cubicBezTo>
                  <a:close/>
                  <a:moveTo>
                    <a:pt x="186587" y="51078"/>
                  </a:moveTo>
                  <a:cubicBezTo>
                    <a:pt x="186587" y="63012"/>
                    <a:pt x="181316" y="71076"/>
                    <a:pt x="173573" y="71076"/>
                  </a:cubicBezTo>
                  <a:cubicBezTo>
                    <a:pt x="168521" y="71076"/>
                    <a:pt x="162393" y="67207"/>
                    <a:pt x="162393" y="63980"/>
                  </a:cubicBezTo>
                  <a:lnTo>
                    <a:pt x="162393" y="37528"/>
                  </a:lnTo>
                  <a:cubicBezTo>
                    <a:pt x="162393" y="34302"/>
                    <a:pt x="168414" y="30432"/>
                    <a:pt x="173359" y="30432"/>
                  </a:cubicBezTo>
                  <a:cubicBezTo>
                    <a:pt x="181316" y="30432"/>
                    <a:pt x="186587" y="38604"/>
                    <a:pt x="186587" y="51078"/>
                  </a:cubicBezTo>
                  <a:close/>
                  <a:moveTo>
                    <a:pt x="229068" y="66346"/>
                  </a:moveTo>
                  <a:lnTo>
                    <a:pt x="227671" y="65163"/>
                  </a:lnTo>
                  <a:cubicBezTo>
                    <a:pt x="225306" y="67957"/>
                    <a:pt x="223583" y="68925"/>
                    <a:pt x="221218" y="68925"/>
                  </a:cubicBezTo>
                  <a:cubicBezTo>
                    <a:pt x="217242" y="68925"/>
                    <a:pt x="215626" y="66131"/>
                    <a:pt x="215626" y="59249"/>
                  </a:cubicBezTo>
                  <a:lnTo>
                    <a:pt x="215626" y="28496"/>
                  </a:lnTo>
                  <a:lnTo>
                    <a:pt x="226489" y="28496"/>
                  </a:lnTo>
                  <a:lnTo>
                    <a:pt x="226489" y="25055"/>
                  </a:lnTo>
                  <a:lnTo>
                    <a:pt x="215626" y="25055"/>
                  </a:lnTo>
                  <a:lnTo>
                    <a:pt x="215626" y="12581"/>
                  </a:lnTo>
                  <a:cubicBezTo>
                    <a:pt x="215626" y="11505"/>
                    <a:pt x="215412" y="11184"/>
                    <a:pt x="214876" y="11184"/>
                  </a:cubicBezTo>
                  <a:cubicBezTo>
                    <a:pt x="214229" y="12259"/>
                    <a:pt x="213475" y="13228"/>
                    <a:pt x="212724" y="14196"/>
                  </a:cubicBezTo>
                  <a:cubicBezTo>
                    <a:pt x="208744" y="20110"/>
                    <a:pt x="205089" y="24086"/>
                    <a:pt x="202295" y="25702"/>
                  </a:cubicBezTo>
                  <a:cubicBezTo>
                    <a:pt x="201113" y="26452"/>
                    <a:pt x="200465" y="27099"/>
                    <a:pt x="200465" y="27741"/>
                  </a:cubicBezTo>
                  <a:cubicBezTo>
                    <a:pt x="200465" y="28067"/>
                    <a:pt x="200573" y="28281"/>
                    <a:pt x="200898" y="28496"/>
                  </a:cubicBezTo>
                  <a:lnTo>
                    <a:pt x="206597" y="28496"/>
                  </a:lnTo>
                  <a:lnTo>
                    <a:pt x="206597" y="60861"/>
                  </a:lnTo>
                  <a:cubicBezTo>
                    <a:pt x="206597" y="69894"/>
                    <a:pt x="209820" y="74517"/>
                    <a:pt x="216058" y="74517"/>
                  </a:cubicBezTo>
                  <a:cubicBezTo>
                    <a:pt x="221433" y="74517"/>
                    <a:pt x="225520" y="71938"/>
                    <a:pt x="229068" y="66346"/>
                  </a:cubicBezTo>
                  <a:close/>
                  <a:moveTo>
                    <a:pt x="256172" y="73442"/>
                  </a:moveTo>
                  <a:lnTo>
                    <a:pt x="256172" y="71830"/>
                  </a:lnTo>
                  <a:cubicBezTo>
                    <a:pt x="249072" y="71291"/>
                    <a:pt x="248215" y="70215"/>
                    <a:pt x="248215" y="62476"/>
                  </a:cubicBezTo>
                  <a:lnTo>
                    <a:pt x="248215" y="24301"/>
                  </a:lnTo>
                  <a:lnTo>
                    <a:pt x="247781" y="23979"/>
                  </a:lnTo>
                  <a:lnTo>
                    <a:pt x="231117" y="29893"/>
                  </a:lnTo>
                  <a:lnTo>
                    <a:pt x="231117" y="31508"/>
                  </a:lnTo>
                  <a:lnTo>
                    <a:pt x="231979" y="31401"/>
                  </a:lnTo>
                  <a:cubicBezTo>
                    <a:pt x="233268" y="31182"/>
                    <a:pt x="234665" y="31075"/>
                    <a:pt x="235634" y="31075"/>
                  </a:cubicBezTo>
                  <a:cubicBezTo>
                    <a:pt x="238213" y="31075"/>
                    <a:pt x="239181" y="32798"/>
                    <a:pt x="239181" y="37528"/>
                  </a:cubicBezTo>
                  <a:lnTo>
                    <a:pt x="239181" y="62476"/>
                  </a:lnTo>
                  <a:cubicBezTo>
                    <a:pt x="239181" y="70215"/>
                    <a:pt x="238107" y="71398"/>
                    <a:pt x="230685" y="71830"/>
                  </a:cubicBezTo>
                  <a:lnTo>
                    <a:pt x="230685" y="73442"/>
                  </a:lnTo>
                  <a:lnTo>
                    <a:pt x="256172" y="73442"/>
                  </a:lnTo>
                  <a:close/>
                  <a:moveTo>
                    <a:pt x="249178" y="5485"/>
                  </a:moveTo>
                  <a:cubicBezTo>
                    <a:pt x="249178" y="2477"/>
                    <a:pt x="246814" y="0"/>
                    <a:pt x="243698" y="0"/>
                  </a:cubicBezTo>
                  <a:cubicBezTo>
                    <a:pt x="240686" y="0"/>
                    <a:pt x="238213" y="2477"/>
                    <a:pt x="238213" y="5485"/>
                  </a:cubicBezTo>
                  <a:cubicBezTo>
                    <a:pt x="238213" y="8604"/>
                    <a:pt x="240686" y="10970"/>
                    <a:pt x="243698" y="10970"/>
                  </a:cubicBezTo>
                  <a:cubicBezTo>
                    <a:pt x="246814" y="10970"/>
                    <a:pt x="249178" y="8604"/>
                    <a:pt x="249178" y="5485"/>
                  </a:cubicBezTo>
                  <a:close/>
                  <a:moveTo>
                    <a:pt x="310152" y="26670"/>
                  </a:moveTo>
                  <a:lnTo>
                    <a:pt x="310152" y="25055"/>
                  </a:lnTo>
                  <a:lnTo>
                    <a:pt x="295206" y="25055"/>
                  </a:lnTo>
                  <a:lnTo>
                    <a:pt x="295206" y="26670"/>
                  </a:lnTo>
                  <a:cubicBezTo>
                    <a:pt x="298646" y="26991"/>
                    <a:pt x="300262" y="28067"/>
                    <a:pt x="300262" y="30111"/>
                  </a:cubicBezTo>
                  <a:cubicBezTo>
                    <a:pt x="300262" y="31182"/>
                    <a:pt x="300047" y="32258"/>
                    <a:pt x="299615" y="33334"/>
                  </a:cubicBezTo>
                  <a:lnTo>
                    <a:pt x="288970" y="61182"/>
                  </a:lnTo>
                  <a:lnTo>
                    <a:pt x="278005" y="33659"/>
                  </a:lnTo>
                  <a:cubicBezTo>
                    <a:pt x="277359" y="32151"/>
                    <a:pt x="277037" y="30647"/>
                    <a:pt x="277037" y="29678"/>
                  </a:cubicBezTo>
                  <a:cubicBezTo>
                    <a:pt x="277037" y="27741"/>
                    <a:pt x="278220" y="26991"/>
                    <a:pt x="281981" y="26670"/>
                  </a:cubicBezTo>
                  <a:lnTo>
                    <a:pt x="281981" y="25055"/>
                  </a:lnTo>
                  <a:lnTo>
                    <a:pt x="260908" y="25055"/>
                  </a:lnTo>
                  <a:lnTo>
                    <a:pt x="260908" y="26670"/>
                  </a:lnTo>
                  <a:cubicBezTo>
                    <a:pt x="264991" y="26884"/>
                    <a:pt x="265746" y="27960"/>
                    <a:pt x="270691" y="39033"/>
                  </a:cubicBezTo>
                  <a:lnTo>
                    <a:pt x="283593" y="69894"/>
                  </a:lnTo>
                  <a:cubicBezTo>
                    <a:pt x="283811" y="70537"/>
                    <a:pt x="284133" y="71291"/>
                    <a:pt x="284454" y="72152"/>
                  </a:cubicBezTo>
                  <a:cubicBezTo>
                    <a:pt x="285102" y="74089"/>
                    <a:pt x="285744" y="74946"/>
                    <a:pt x="286391" y="74946"/>
                  </a:cubicBezTo>
                  <a:cubicBezTo>
                    <a:pt x="287033" y="74946"/>
                    <a:pt x="287788" y="73549"/>
                    <a:pt x="289399" y="69572"/>
                  </a:cubicBezTo>
                  <a:lnTo>
                    <a:pt x="303162" y="35056"/>
                  </a:lnTo>
                  <a:cubicBezTo>
                    <a:pt x="306283" y="27741"/>
                    <a:pt x="306929" y="26991"/>
                    <a:pt x="310152" y="2667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5" name="u_lag_eq_outline_7"/>
            <p:cNvSpPr/>
            <p:nvPr/>
          </p:nvSpPr>
          <p:spPr>
            <a:xfrm>
              <a:off x="2067233" y="2847679"/>
              <a:ext cx="42903" cy="50538"/>
            </a:xfrm>
            <a:custGeom>
              <a:avLst/>
              <a:gdLst/>
              <a:ahLst/>
              <a:cxnLst/>
              <a:rect l="0" t="0" r="r" b="b"/>
              <a:pathLst>
                <a:path w="42903" h="50538">
                  <a:moveTo>
                    <a:pt x="42903" y="32580"/>
                  </a:moveTo>
                  <a:lnTo>
                    <a:pt x="41184" y="31829"/>
                  </a:lnTo>
                  <a:cubicBezTo>
                    <a:pt x="36021" y="40001"/>
                    <a:pt x="31397" y="43121"/>
                    <a:pt x="24520" y="43121"/>
                  </a:cubicBezTo>
                  <a:cubicBezTo>
                    <a:pt x="18602" y="43121"/>
                    <a:pt x="14089" y="40323"/>
                    <a:pt x="10970" y="34516"/>
                  </a:cubicBezTo>
                  <a:cubicBezTo>
                    <a:pt x="8819" y="30321"/>
                    <a:pt x="7958" y="26559"/>
                    <a:pt x="7743" y="19677"/>
                  </a:cubicBezTo>
                  <a:lnTo>
                    <a:pt x="40862" y="19677"/>
                  </a:lnTo>
                  <a:cubicBezTo>
                    <a:pt x="40001" y="12688"/>
                    <a:pt x="38925" y="9569"/>
                    <a:pt x="36239" y="6132"/>
                  </a:cubicBezTo>
                  <a:cubicBezTo>
                    <a:pt x="33012" y="2258"/>
                    <a:pt x="28067" y="0"/>
                    <a:pt x="22475" y="0"/>
                  </a:cubicBezTo>
                  <a:cubicBezTo>
                    <a:pt x="9140" y="0"/>
                    <a:pt x="0" y="10755"/>
                    <a:pt x="0" y="26452"/>
                  </a:cubicBezTo>
                  <a:cubicBezTo>
                    <a:pt x="0" y="41291"/>
                    <a:pt x="7743" y="50538"/>
                    <a:pt x="20110" y="50538"/>
                  </a:cubicBezTo>
                  <a:cubicBezTo>
                    <a:pt x="30433" y="50538"/>
                    <a:pt x="38390" y="44192"/>
                    <a:pt x="42903" y="32580"/>
                  </a:cubicBezTo>
                  <a:close/>
                  <a:moveTo>
                    <a:pt x="29893" y="16236"/>
                  </a:moveTo>
                  <a:lnTo>
                    <a:pt x="7958" y="16236"/>
                  </a:lnTo>
                  <a:cubicBezTo>
                    <a:pt x="9140" y="7743"/>
                    <a:pt x="12795" y="3873"/>
                    <a:pt x="19356" y="3873"/>
                  </a:cubicBezTo>
                  <a:cubicBezTo>
                    <a:pt x="25917" y="3873"/>
                    <a:pt x="28496" y="6882"/>
                    <a:pt x="29893" y="1623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4" name="u_safe_eq"/>
          <p:cNvGrpSpPr/>
          <p:nvPr/>
        </p:nvGrpSpPr>
        <p:grpSpPr>
          <a:xfrm>
            <a:off x="2496639" y="2837360"/>
            <a:ext cx="314509" cy="79013"/>
            <a:chOff x="2496639" y="2837360"/>
            <a:chExt cx="314509" cy="79013"/>
          </a:xfrm>
        </p:grpSpPr>
        <p:sp>
          <p:nvSpPr>
            <p:cNvPr id="506" name="u_safe_eq_outline_0"/>
            <p:cNvSpPr/>
            <p:nvPr/>
          </p:nvSpPr>
          <p:spPr>
            <a:xfrm>
              <a:off x="2496639" y="2837360"/>
              <a:ext cx="228306" cy="78898"/>
            </a:xfrm>
            <a:custGeom>
              <a:avLst/>
              <a:gdLst/>
              <a:ahLst/>
              <a:cxnLst/>
              <a:rect l="0" t="0" r="r" b="b"/>
              <a:pathLst>
                <a:path w="228306" h="78899">
                  <a:moveTo>
                    <a:pt x="55789" y="77760"/>
                  </a:moveTo>
                  <a:lnTo>
                    <a:pt x="55789" y="76053"/>
                  </a:lnTo>
                  <a:cubicBezTo>
                    <a:pt x="49415" y="75482"/>
                    <a:pt x="48161" y="74001"/>
                    <a:pt x="48161" y="66715"/>
                  </a:cubicBezTo>
                  <a:lnTo>
                    <a:pt x="48161" y="36886"/>
                  </a:lnTo>
                  <a:lnTo>
                    <a:pt x="48387" y="25729"/>
                  </a:lnTo>
                  <a:lnTo>
                    <a:pt x="47935" y="25388"/>
                  </a:lnTo>
                  <a:cubicBezTo>
                    <a:pt x="42922" y="26186"/>
                    <a:pt x="39620" y="26527"/>
                    <a:pt x="35068" y="26527"/>
                  </a:cubicBezTo>
                  <a:lnTo>
                    <a:pt x="17193" y="26527"/>
                  </a:lnTo>
                  <a:lnTo>
                    <a:pt x="17193" y="21630"/>
                  </a:lnTo>
                  <a:lnTo>
                    <a:pt x="17193" y="20947"/>
                  </a:lnTo>
                  <a:cubicBezTo>
                    <a:pt x="16966" y="15823"/>
                    <a:pt x="17649" y="11498"/>
                    <a:pt x="19129" y="8763"/>
                  </a:cubicBezTo>
                  <a:cubicBezTo>
                    <a:pt x="21062" y="5235"/>
                    <a:pt x="25162" y="2846"/>
                    <a:pt x="29262" y="2846"/>
                  </a:cubicBezTo>
                  <a:cubicBezTo>
                    <a:pt x="32448" y="2846"/>
                    <a:pt x="34612" y="4326"/>
                    <a:pt x="37346" y="8195"/>
                  </a:cubicBezTo>
                  <a:cubicBezTo>
                    <a:pt x="39509" y="11382"/>
                    <a:pt x="40989" y="12406"/>
                    <a:pt x="42922" y="12406"/>
                  </a:cubicBezTo>
                  <a:cubicBezTo>
                    <a:pt x="45315" y="12406"/>
                    <a:pt x="47022" y="10585"/>
                    <a:pt x="47022" y="7969"/>
                  </a:cubicBezTo>
                  <a:cubicBezTo>
                    <a:pt x="47022" y="3072"/>
                    <a:pt x="41331" y="0"/>
                    <a:pt x="32564" y="0"/>
                  </a:cubicBezTo>
                  <a:cubicBezTo>
                    <a:pt x="23912" y="0"/>
                    <a:pt x="17308" y="2846"/>
                    <a:pt x="13208" y="8537"/>
                  </a:cubicBezTo>
                  <a:cubicBezTo>
                    <a:pt x="9791" y="13319"/>
                    <a:pt x="8541" y="17419"/>
                    <a:pt x="7858" y="26527"/>
                  </a:cubicBezTo>
                  <a:lnTo>
                    <a:pt x="0" y="26527"/>
                  </a:lnTo>
                  <a:lnTo>
                    <a:pt x="0" y="30282"/>
                  </a:lnTo>
                  <a:lnTo>
                    <a:pt x="7743" y="30282"/>
                  </a:lnTo>
                  <a:lnTo>
                    <a:pt x="7743" y="67056"/>
                  </a:lnTo>
                  <a:cubicBezTo>
                    <a:pt x="7743" y="74343"/>
                    <a:pt x="6489" y="75823"/>
                    <a:pt x="115" y="76053"/>
                  </a:cubicBezTo>
                  <a:lnTo>
                    <a:pt x="115" y="77760"/>
                  </a:lnTo>
                  <a:lnTo>
                    <a:pt x="25162" y="77760"/>
                  </a:lnTo>
                  <a:lnTo>
                    <a:pt x="25162" y="76053"/>
                  </a:lnTo>
                  <a:cubicBezTo>
                    <a:pt x="18788" y="75597"/>
                    <a:pt x="17308" y="74001"/>
                    <a:pt x="17308" y="67743"/>
                  </a:cubicBezTo>
                  <a:lnTo>
                    <a:pt x="17308" y="30282"/>
                  </a:lnTo>
                  <a:lnTo>
                    <a:pt x="27099" y="30282"/>
                  </a:lnTo>
                  <a:cubicBezTo>
                    <a:pt x="38029" y="30282"/>
                    <a:pt x="38596" y="30623"/>
                    <a:pt x="38596" y="36659"/>
                  </a:cubicBezTo>
                  <a:lnTo>
                    <a:pt x="38596" y="66715"/>
                  </a:lnTo>
                  <a:cubicBezTo>
                    <a:pt x="38596" y="74458"/>
                    <a:pt x="37802" y="75482"/>
                    <a:pt x="30742" y="76053"/>
                  </a:cubicBezTo>
                  <a:lnTo>
                    <a:pt x="30742" y="77760"/>
                  </a:lnTo>
                  <a:lnTo>
                    <a:pt x="55789" y="77760"/>
                  </a:lnTo>
                  <a:close/>
                  <a:moveTo>
                    <a:pt x="115003" y="77760"/>
                  </a:moveTo>
                  <a:lnTo>
                    <a:pt x="115003" y="76053"/>
                  </a:lnTo>
                  <a:cubicBezTo>
                    <a:pt x="109426" y="75482"/>
                    <a:pt x="108057" y="74116"/>
                    <a:pt x="108057" y="68536"/>
                  </a:cubicBezTo>
                  <a:lnTo>
                    <a:pt x="108057" y="42466"/>
                  </a:lnTo>
                  <a:cubicBezTo>
                    <a:pt x="108057" y="31762"/>
                    <a:pt x="103049" y="25388"/>
                    <a:pt x="94623" y="25388"/>
                  </a:cubicBezTo>
                  <a:cubicBezTo>
                    <a:pt x="89388" y="25388"/>
                    <a:pt x="85856" y="27325"/>
                    <a:pt x="78117" y="34611"/>
                  </a:cubicBezTo>
                  <a:lnTo>
                    <a:pt x="78117" y="25614"/>
                  </a:lnTo>
                  <a:lnTo>
                    <a:pt x="77319" y="25388"/>
                  </a:lnTo>
                  <a:cubicBezTo>
                    <a:pt x="71739" y="27436"/>
                    <a:pt x="67870" y="28690"/>
                    <a:pt x="61607" y="30512"/>
                  </a:cubicBezTo>
                  <a:lnTo>
                    <a:pt x="61607" y="32445"/>
                  </a:lnTo>
                  <a:cubicBezTo>
                    <a:pt x="62290" y="32103"/>
                    <a:pt x="63429" y="31992"/>
                    <a:pt x="64683" y="31992"/>
                  </a:cubicBezTo>
                  <a:cubicBezTo>
                    <a:pt x="67870" y="31992"/>
                    <a:pt x="68894" y="33699"/>
                    <a:pt x="68894" y="39279"/>
                  </a:cubicBezTo>
                  <a:lnTo>
                    <a:pt x="68894" y="67512"/>
                  </a:lnTo>
                  <a:cubicBezTo>
                    <a:pt x="68894" y="74001"/>
                    <a:pt x="67639" y="75597"/>
                    <a:pt x="61833" y="76053"/>
                  </a:cubicBezTo>
                  <a:lnTo>
                    <a:pt x="61833" y="77760"/>
                  </a:lnTo>
                  <a:lnTo>
                    <a:pt x="85971" y="77760"/>
                  </a:lnTo>
                  <a:lnTo>
                    <a:pt x="85971" y="76053"/>
                  </a:lnTo>
                  <a:cubicBezTo>
                    <a:pt x="80165" y="75597"/>
                    <a:pt x="78458" y="74232"/>
                    <a:pt x="78458" y="70132"/>
                  </a:cubicBezTo>
                  <a:lnTo>
                    <a:pt x="78458" y="38140"/>
                  </a:lnTo>
                  <a:cubicBezTo>
                    <a:pt x="83923" y="33016"/>
                    <a:pt x="86428" y="31651"/>
                    <a:pt x="90186" y="31651"/>
                  </a:cubicBezTo>
                  <a:cubicBezTo>
                    <a:pt x="95762" y="31651"/>
                    <a:pt x="98496" y="35179"/>
                    <a:pt x="98496" y="42692"/>
                  </a:cubicBezTo>
                  <a:lnTo>
                    <a:pt x="98496" y="66489"/>
                  </a:lnTo>
                  <a:cubicBezTo>
                    <a:pt x="98496" y="73660"/>
                    <a:pt x="97016" y="75597"/>
                    <a:pt x="91321" y="76053"/>
                  </a:cubicBezTo>
                  <a:lnTo>
                    <a:pt x="91321" y="77760"/>
                  </a:lnTo>
                  <a:lnTo>
                    <a:pt x="115003" y="77760"/>
                  </a:lnTo>
                  <a:close/>
                  <a:moveTo>
                    <a:pt x="145527" y="77760"/>
                  </a:moveTo>
                  <a:lnTo>
                    <a:pt x="145527" y="76053"/>
                  </a:lnTo>
                  <a:cubicBezTo>
                    <a:pt x="138013" y="75482"/>
                    <a:pt x="137100" y="74343"/>
                    <a:pt x="137100" y="66147"/>
                  </a:cubicBezTo>
                  <a:lnTo>
                    <a:pt x="137100" y="25729"/>
                  </a:lnTo>
                  <a:lnTo>
                    <a:pt x="136644" y="25388"/>
                  </a:lnTo>
                  <a:lnTo>
                    <a:pt x="118999" y="31651"/>
                  </a:lnTo>
                  <a:lnTo>
                    <a:pt x="118999" y="33357"/>
                  </a:lnTo>
                  <a:lnTo>
                    <a:pt x="119908" y="33242"/>
                  </a:lnTo>
                  <a:cubicBezTo>
                    <a:pt x="121273" y="33016"/>
                    <a:pt x="122753" y="32901"/>
                    <a:pt x="123782" y="32901"/>
                  </a:cubicBezTo>
                  <a:cubicBezTo>
                    <a:pt x="126512" y="32901"/>
                    <a:pt x="127536" y="34723"/>
                    <a:pt x="127536" y="39731"/>
                  </a:cubicBezTo>
                  <a:lnTo>
                    <a:pt x="127536" y="66147"/>
                  </a:lnTo>
                  <a:cubicBezTo>
                    <a:pt x="127536" y="74343"/>
                    <a:pt x="126397" y="75597"/>
                    <a:pt x="118543" y="76053"/>
                  </a:cubicBezTo>
                  <a:lnTo>
                    <a:pt x="118543" y="77760"/>
                  </a:lnTo>
                  <a:lnTo>
                    <a:pt x="145527" y="77760"/>
                  </a:lnTo>
                  <a:close/>
                  <a:moveTo>
                    <a:pt x="138125" y="5806"/>
                  </a:moveTo>
                  <a:cubicBezTo>
                    <a:pt x="138125" y="2615"/>
                    <a:pt x="135621" y="0"/>
                    <a:pt x="132319" y="0"/>
                  </a:cubicBezTo>
                  <a:cubicBezTo>
                    <a:pt x="129131" y="0"/>
                    <a:pt x="126512" y="2615"/>
                    <a:pt x="126512" y="5806"/>
                  </a:cubicBezTo>
                  <a:cubicBezTo>
                    <a:pt x="126512" y="9108"/>
                    <a:pt x="129131" y="11613"/>
                    <a:pt x="132319" y="11613"/>
                  </a:cubicBezTo>
                  <a:cubicBezTo>
                    <a:pt x="135621" y="11613"/>
                    <a:pt x="138125" y="9108"/>
                    <a:pt x="138125" y="5806"/>
                  </a:cubicBezTo>
                  <a:close/>
                  <a:moveTo>
                    <a:pt x="180143" y="70247"/>
                  </a:moveTo>
                  <a:lnTo>
                    <a:pt x="178663" y="68993"/>
                  </a:lnTo>
                  <a:cubicBezTo>
                    <a:pt x="176159" y="71953"/>
                    <a:pt x="174338" y="72977"/>
                    <a:pt x="171833" y="72977"/>
                  </a:cubicBezTo>
                  <a:cubicBezTo>
                    <a:pt x="167618" y="72977"/>
                    <a:pt x="165911" y="70017"/>
                    <a:pt x="165911" y="62730"/>
                  </a:cubicBezTo>
                  <a:lnTo>
                    <a:pt x="165911" y="30171"/>
                  </a:lnTo>
                  <a:lnTo>
                    <a:pt x="177409" y="30171"/>
                  </a:lnTo>
                  <a:lnTo>
                    <a:pt x="177409" y="26527"/>
                  </a:lnTo>
                  <a:lnTo>
                    <a:pt x="165911" y="26527"/>
                  </a:lnTo>
                  <a:lnTo>
                    <a:pt x="165911" y="13319"/>
                  </a:lnTo>
                  <a:cubicBezTo>
                    <a:pt x="165911" y="12180"/>
                    <a:pt x="165681" y="11839"/>
                    <a:pt x="165114" y="11839"/>
                  </a:cubicBezTo>
                  <a:cubicBezTo>
                    <a:pt x="164432" y="12978"/>
                    <a:pt x="163633" y="14002"/>
                    <a:pt x="162835" y="15026"/>
                  </a:cubicBezTo>
                  <a:cubicBezTo>
                    <a:pt x="158625" y="21288"/>
                    <a:pt x="154752" y="25503"/>
                    <a:pt x="151795" y="27210"/>
                  </a:cubicBezTo>
                  <a:cubicBezTo>
                    <a:pt x="150541" y="28008"/>
                    <a:pt x="149859" y="28690"/>
                    <a:pt x="149859" y="29373"/>
                  </a:cubicBezTo>
                  <a:cubicBezTo>
                    <a:pt x="149859" y="29714"/>
                    <a:pt x="149973" y="29940"/>
                    <a:pt x="150314" y="30171"/>
                  </a:cubicBezTo>
                  <a:lnTo>
                    <a:pt x="156347" y="30171"/>
                  </a:lnTo>
                  <a:lnTo>
                    <a:pt x="156347" y="64441"/>
                  </a:lnTo>
                  <a:cubicBezTo>
                    <a:pt x="156347" y="74001"/>
                    <a:pt x="159765" y="78899"/>
                    <a:pt x="166369" y="78899"/>
                  </a:cubicBezTo>
                  <a:cubicBezTo>
                    <a:pt x="172059" y="78899"/>
                    <a:pt x="176385" y="76164"/>
                    <a:pt x="180143" y="70247"/>
                  </a:cubicBezTo>
                  <a:close/>
                  <a:moveTo>
                    <a:pt x="228306" y="59885"/>
                  </a:moveTo>
                  <a:lnTo>
                    <a:pt x="226485" y="59087"/>
                  </a:lnTo>
                  <a:cubicBezTo>
                    <a:pt x="221019" y="67743"/>
                    <a:pt x="216126" y="71041"/>
                    <a:pt x="208840" y="71041"/>
                  </a:cubicBezTo>
                  <a:cubicBezTo>
                    <a:pt x="202578" y="71041"/>
                    <a:pt x="197795" y="68084"/>
                    <a:pt x="194493" y="61932"/>
                  </a:cubicBezTo>
                  <a:cubicBezTo>
                    <a:pt x="192218" y="57495"/>
                    <a:pt x="191306" y="53511"/>
                    <a:pt x="191079" y="46224"/>
                  </a:cubicBezTo>
                  <a:lnTo>
                    <a:pt x="226144" y="46224"/>
                  </a:lnTo>
                  <a:cubicBezTo>
                    <a:pt x="225234" y="38822"/>
                    <a:pt x="224095" y="35520"/>
                    <a:pt x="221250" y="31877"/>
                  </a:cubicBezTo>
                  <a:cubicBezTo>
                    <a:pt x="217833" y="27777"/>
                    <a:pt x="212598" y="25388"/>
                    <a:pt x="206677" y="25388"/>
                  </a:cubicBezTo>
                  <a:cubicBezTo>
                    <a:pt x="192560" y="25388"/>
                    <a:pt x="182880" y="36775"/>
                    <a:pt x="182880" y="53396"/>
                  </a:cubicBezTo>
                  <a:cubicBezTo>
                    <a:pt x="182880" y="69108"/>
                    <a:pt x="191079" y="78899"/>
                    <a:pt x="204173" y="78899"/>
                  </a:cubicBezTo>
                  <a:cubicBezTo>
                    <a:pt x="215102" y="78899"/>
                    <a:pt x="223527" y="72180"/>
                    <a:pt x="228306" y="59885"/>
                  </a:cubicBezTo>
                  <a:close/>
                  <a:moveTo>
                    <a:pt x="214531" y="42581"/>
                  </a:moveTo>
                  <a:lnTo>
                    <a:pt x="191306" y="42581"/>
                  </a:lnTo>
                  <a:cubicBezTo>
                    <a:pt x="192560" y="33584"/>
                    <a:pt x="196429" y="29488"/>
                    <a:pt x="203375" y="29488"/>
                  </a:cubicBezTo>
                  <a:cubicBezTo>
                    <a:pt x="210319" y="29488"/>
                    <a:pt x="213050" y="32675"/>
                    <a:pt x="214531" y="42581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7" name="u_safe_eq_outline_1"/>
            <p:cNvSpPr/>
            <p:nvPr/>
          </p:nvSpPr>
          <p:spPr>
            <a:xfrm>
              <a:off x="2758662" y="2864911"/>
              <a:ext cx="52486" cy="51462"/>
            </a:xfrm>
            <a:custGeom>
              <a:avLst/>
              <a:gdLst/>
              <a:ahLst/>
              <a:cxnLst/>
              <a:rect l="0" t="0" r="r" b="b"/>
              <a:pathLst>
                <a:path w="52487" h="51463">
                  <a:moveTo>
                    <a:pt x="52487" y="9334"/>
                  </a:moveTo>
                  <a:cubicBezTo>
                    <a:pt x="52487" y="1822"/>
                    <a:pt x="37683" y="0"/>
                    <a:pt x="31762" y="0"/>
                  </a:cubicBezTo>
                  <a:cubicBezTo>
                    <a:pt x="22999" y="0"/>
                    <a:pt x="9334" y="3643"/>
                    <a:pt x="9334" y="14232"/>
                  </a:cubicBezTo>
                  <a:cubicBezTo>
                    <a:pt x="9334" y="19467"/>
                    <a:pt x="13660" y="22769"/>
                    <a:pt x="18669" y="23566"/>
                  </a:cubicBezTo>
                  <a:lnTo>
                    <a:pt x="18669" y="24023"/>
                  </a:lnTo>
                  <a:cubicBezTo>
                    <a:pt x="10815" y="25047"/>
                    <a:pt x="0" y="29944"/>
                    <a:pt x="0" y="38937"/>
                  </a:cubicBezTo>
                  <a:cubicBezTo>
                    <a:pt x="0" y="49411"/>
                    <a:pt x="12180" y="51463"/>
                    <a:pt x="20721" y="51463"/>
                  </a:cubicBezTo>
                  <a:cubicBezTo>
                    <a:pt x="29258" y="51463"/>
                    <a:pt x="39279" y="48843"/>
                    <a:pt x="44744" y="42013"/>
                  </a:cubicBezTo>
                  <a:cubicBezTo>
                    <a:pt x="45883" y="40533"/>
                    <a:pt x="47022" y="38822"/>
                    <a:pt x="47022" y="36889"/>
                  </a:cubicBezTo>
                  <a:cubicBezTo>
                    <a:pt x="47022" y="35520"/>
                    <a:pt x="45768" y="34040"/>
                    <a:pt x="44287" y="34040"/>
                  </a:cubicBezTo>
                  <a:cubicBezTo>
                    <a:pt x="38707" y="34040"/>
                    <a:pt x="37457" y="48387"/>
                    <a:pt x="21971" y="48387"/>
                  </a:cubicBezTo>
                  <a:cubicBezTo>
                    <a:pt x="15939" y="48387"/>
                    <a:pt x="11382" y="46224"/>
                    <a:pt x="11382" y="39846"/>
                  </a:cubicBezTo>
                  <a:cubicBezTo>
                    <a:pt x="11382" y="33699"/>
                    <a:pt x="15367" y="26753"/>
                    <a:pt x="22427" y="26753"/>
                  </a:cubicBezTo>
                  <a:cubicBezTo>
                    <a:pt x="25729" y="26753"/>
                    <a:pt x="28805" y="28007"/>
                    <a:pt x="32107" y="28007"/>
                  </a:cubicBezTo>
                  <a:cubicBezTo>
                    <a:pt x="34723" y="28007"/>
                    <a:pt x="37116" y="27210"/>
                    <a:pt x="37116" y="24249"/>
                  </a:cubicBezTo>
                  <a:cubicBezTo>
                    <a:pt x="37116" y="21630"/>
                    <a:pt x="35520" y="21288"/>
                    <a:pt x="33131" y="21288"/>
                  </a:cubicBezTo>
                  <a:cubicBezTo>
                    <a:pt x="30512" y="21288"/>
                    <a:pt x="28007" y="21630"/>
                    <a:pt x="25503" y="21630"/>
                  </a:cubicBezTo>
                  <a:cubicBezTo>
                    <a:pt x="21288" y="21630"/>
                    <a:pt x="19467" y="19923"/>
                    <a:pt x="19467" y="15823"/>
                  </a:cubicBezTo>
                  <a:cubicBezTo>
                    <a:pt x="19467" y="9450"/>
                    <a:pt x="24590" y="3072"/>
                    <a:pt x="31536" y="3072"/>
                  </a:cubicBezTo>
                  <a:cubicBezTo>
                    <a:pt x="41783" y="3072"/>
                    <a:pt x="40759" y="13775"/>
                    <a:pt x="47589" y="13775"/>
                  </a:cubicBezTo>
                  <a:cubicBezTo>
                    <a:pt x="50320" y="13775"/>
                    <a:pt x="52487" y="12180"/>
                    <a:pt x="52487" y="933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5" name="u_lp_eq"/>
          <p:cNvGrpSpPr/>
          <p:nvPr/>
        </p:nvGrpSpPr>
        <p:grpSpPr>
          <a:xfrm>
            <a:off x="3204017" y="2832846"/>
            <a:ext cx="323205" cy="87288"/>
            <a:chOff x="3204017" y="2832846"/>
            <a:chExt cx="323205" cy="87288"/>
          </a:xfrm>
        </p:grpSpPr>
        <p:sp>
          <p:nvSpPr>
            <p:cNvPr id="508" name="u_lp_eq_outline_0"/>
            <p:cNvSpPr/>
            <p:nvPr/>
          </p:nvSpPr>
          <p:spPr>
            <a:xfrm>
              <a:off x="3204017" y="2862575"/>
              <a:ext cx="58320" cy="57181"/>
            </a:xfrm>
            <a:custGeom>
              <a:avLst/>
              <a:gdLst/>
              <a:ahLst/>
              <a:cxnLst/>
              <a:rect l="0" t="0" r="r" b="b"/>
              <a:pathLst>
                <a:path w="58321" h="57182">
                  <a:moveTo>
                    <a:pt x="58321" y="10374"/>
                  </a:moveTo>
                  <a:cubicBezTo>
                    <a:pt x="58321" y="2024"/>
                    <a:pt x="41874" y="0"/>
                    <a:pt x="35294" y="0"/>
                  </a:cubicBezTo>
                  <a:cubicBezTo>
                    <a:pt x="25555" y="0"/>
                    <a:pt x="10374" y="4048"/>
                    <a:pt x="10374" y="15812"/>
                  </a:cubicBezTo>
                  <a:cubicBezTo>
                    <a:pt x="10374" y="21634"/>
                    <a:pt x="15181" y="25301"/>
                    <a:pt x="20749" y="26186"/>
                  </a:cubicBezTo>
                  <a:lnTo>
                    <a:pt x="20749" y="26694"/>
                  </a:lnTo>
                  <a:cubicBezTo>
                    <a:pt x="12017" y="27829"/>
                    <a:pt x="0" y="33270"/>
                    <a:pt x="0" y="43263"/>
                  </a:cubicBezTo>
                  <a:cubicBezTo>
                    <a:pt x="0" y="54904"/>
                    <a:pt x="13537" y="57182"/>
                    <a:pt x="23023" y="57182"/>
                  </a:cubicBezTo>
                  <a:cubicBezTo>
                    <a:pt x="32512" y="57182"/>
                    <a:pt x="43644" y="54269"/>
                    <a:pt x="49717" y="46680"/>
                  </a:cubicBezTo>
                  <a:cubicBezTo>
                    <a:pt x="50983" y="45037"/>
                    <a:pt x="52249" y="43136"/>
                    <a:pt x="52249" y="40989"/>
                  </a:cubicBezTo>
                  <a:cubicBezTo>
                    <a:pt x="52249" y="39469"/>
                    <a:pt x="50856" y="37826"/>
                    <a:pt x="49212" y="37826"/>
                  </a:cubicBezTo>
                  <a:cubicBezTo>
                    <a:pt x="43013" y="37826"/>
                    <a:pt x="41620" y="53765"/>
                    <a:pt x="24416" y="53765"/>
                  </a:cubicBezTo>
                  <a:cubicBezTo>
                    <a:pt x="17713" y="53765"/>
                    <a:pt x="12648" y="51360"/>
                    <a:pt x="12648" y="44275"/>
                  </a:cubicBezTo>
                  <a:cubicBezTo>
                    <a:pt x="12648" y="37445"/>
                    <a:pt x="17078" y="29730"/>
                    <a:pt x="24920" y="29730"/>
                  </a:cubicBezTo>
                  <a:cubicBezTo>
                    <a:pt x="28591" y="29730"/>
                    <a:pt x="32004" y="31119"/>
                    <a:pt x="35675" y="31119"/>
                  </a:cubicBezTo>
                  <a:cubicBezTo>
                    <a:pt x="38584" y="31119"/>
                    <a:pt x="41239" y="30234"/>
                    <a:pt x="41239" y="26944"/>
                  </a:cubicBezTo>
                  <a:cubicBezTo>
                    <a:pt x="41239" y="24035"/>
                    <a:pt x="39469" y="23658"/>
                    <a:pt x="36814" y="23658"/>
                  </a:cubicBezTo>
                  <a:cubicBezTo>
                    <a:pt x="33905" y="23658"/>
                    <a:pt x="31119" y="24035"/>
                    <a:pt x="28337" y="24035"/>
                  </a:cubicBezTo>
                  <a:cubicBezTo>
                    <a:pt x="23658" y="24035"/>
                    <a:pt x="21634" y="22138"/>
                    <a:pt x="21634" y="17582"/>
                  </a:cubicBezTo>
                  <a:cubicBezTo>
                    <a:pt x="21634" y="10497"/>
                    <a:pt x="27325" y="3413"/>
                    <a:pt x="35044" y="3413"/>
                  </a:cubicBezTo>
                  <a:cubicBezTo>
                    <a:pt x="46426" y="3413"/>
                    <a:pt x="45287" y="15308"/>
                    <a:pt x="52880" y="15308"/>
                  </a:cubicBezTo>
                  <a:cubicBezTo>
                    <a:pt x="55916" y="15308"/>
                    <a:pt x="58321" y="13534"/>
                    <a:pt x="58321" y="1037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9" name="u_lp_eq_outline_1"/>
            <p:cNvSpPr/>
            <p:nvPr/>
          </p:nvSpPr>
          <p:spPr>
            <a:xfrm>
              <a:off x="3310140" y="2859916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5809"/>
                  </a:moveTo>
                  <a:lnTo>
                    <a:pt x="89063" y="0"/>
                  </a:lnTo>
                  <a:lnTo>
                    <a:pt x="85142" y="4175"/>
                  </a:lnTo>
                  <a:lnTo>
                    <a:pt x="100195" y="22392"/>
                  </a:lnTo>
                  <a:lnTo>
                    <a:pt x="0" y="22392"/>
                  </a:lnTo>
                  <a:lnTo>
                    <a:pt x="0" y="29476"/>
                  </a:lnTo>
                  <a:lnTo>
                    <a:pt x="100195" y="29476"/>
                  </a:lnTo>
                  <a:lnTo>
                    <a:pt x="85142" y="47696"/>
                  </a:lnTo>
                  <a:lnTo>
                    <a:pt x="89063" y="51868"/>
                  </a:lnTo>
                  <a:lnTo>
                    <a:pt x="113860" y="258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0" name="u_lp_eq_outline_2"/>
            <p:cNvSpPr/>
            <p:nvPr/>
          </p:nvSpPr>
          <p:spPr>
            <a:xfrm>
              <a:off x="3470041" y="2832846"/>
              <a:ext cx="57181" cy="87288"/>
            </a:xfrm>
            <a:custGeom>
              <a:avLst/>
              <a:gdLst/>
              <a:ahLst/>
              <a:cxnLst/>
              <a:rect l="0" t="0" r="r" b="b"/>
              <a:pathLst>
                <a:path w="57182" h="87289">
                  <a:moveTo>
                    <a:pt x="57182" y="43771"/>
                  </a:moveTo>
                  <a:cubicBezTo>
                    <a:pt x="57182" y="17835"/>
                    <a:pt x="45668" y="0"/>
                    <a:pt x="29095" y="0"/>
                  </a:cubicBezTo>
                  <a:cubicBezTo>
                    <a:pt x="22138" y="0"/>
                    <a:pt x="16828" y="2151"/>
                    <a:pt x="12144" y="6576"/>
                  </a:cubicBezTo>
                  <a:cubicBezTo>
                    <a:pt x="4806" y="13660"/>
                    <a:pt x="0" y="28210"/>
                    <a:pt x="0" y="43013"/>
                  </a:cubicBezTo>
                  <a:cubicBezTo>
                    <a:pt x="0" y="56801"/>
                    <a:pt x="4175" y="71604"/>
                    <a:pt x="10120" y="78688"/>
                  </a:cubicBezTo>
                  <a:cubicBezTo>
                    <a:pt x="14803" y="84253"/>
                    <a:pt x="21253" y="87289"/>
                    <a:pt x="28591" y="87289"/>
                  </a:cubicBezTo>
                  <a:cubicBezTo>
                    <a:pt x="35044" y="87289"/>
                    <a:pt x="40481" y="85138"/>
                    <a:pt x="45037" y="80712"/>
                  </a:cubicBezTo>
                  <a:cubicBezTo>
                    <a:pt x="52376" y="73755"/>
                    <a:pt x="57182" y="59079"/>
                    <a:pt x="57182" y="43771"/>
                  </a:cubicBezTo>
                  <a:close/>
                  <a:moveTo>
                    <a:pt x="45037" y="44025"/>
                  </a:moveTo>
                  <a:cubicBezTo>
                    <a:pt x="45037" y="70465"/>
                    <a:pt x="39469" y="83999"/>
                    <a:pt x="28591" y="83999"/>
                  </a:cubicBezTo>
                  <a:cubicBezTo>
                    <a:pt x="17713" y="83999"/>
                    <a:pt x="12144" y="70465"/>
                    <a:pt x="12144" y="44152"/>
                  </a:cubicBezTo>
                  <a:cubicBezTo>
                    <a:pt x="12144" y="17331"/>
                    <a:pt x="17840" y="3290"/>
                    <a:pt x="28718" y="3290"/>
                  </a:cubicBezTo>
                  <a:cubicBezTo>
                    <a:pt x="39342" y="3290"/>
                    <a:pt x="45037" y="17585"/>
                    <a:pt x="45037" y="44025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6" name="u_active_eps"/>
          <p:cNvGrpSpPr/>
          <p:nvPr/>
        </p:nvGrpSpPr>
        <p:grpSpPr>
          <a:xfrm>
            <a:off x="4171620" y="2785784"/>
            <a:ext cx="327885" cy="53855"/>
            <a:chOff x="4171620" y="2785784"/>
            <a:chExt cx="327885" cy="53855"/>
          </a:xfrm>
        </p:grpSpPr>
        <p:sp>
          <p:nvSpPr>
            <p:cNvPr id="511" name="u_active_eps_outline_0"/>
            <p:cNvSpPr/>
            <p:nvPr/>
          </p:nvSpPr>
          <p:spPr>
            <a:xfrm>
              <a:off x="4171620" y="2788177"/>
              <a:ext cx="52486" cy="51462"/>
            </a:xfrm>
            <a:custGeom>
              <a:avLst/>
              <a:gdLst/>
              <a:ahLst/>
              <a:cxnLst/>
              <a:rect l="0" t="0" r="r" b="b"/>
              <a:pathLst>
                <a:path w="52487" h="51463">
                  <a:moveTo>
                    <a:pt x="52487" y="9335"/>
                  </a:moveTo>
                  <a:cubicBezTo>
                    <a:pt x="52487" y="1822"/>
                    <a:pt x="37683" y="0"/>
                    <a:pt x="31762" y="0"/>
                  </a:cubicBezTo>
                  <a:cubicBezTo>
                    <a:pt x="22999" y="0"/>
                    <a:pt x="9335" y="3643"/>
                    <a:pt x="9335" y="14232"/>
                  </a:cubicBezTo>
                  <a:cubicBezTo>
                    <a:pt x="9335" y="19467"/>
                    <a:pt x="13660" y="22769"/>
                    <a:pt x="18669" y="23567"/>
                  </a:cubicBezTo>
                  <a:lnTo>
                    <a:pt x="18669" y="24023"/>
                  </a:lnTo>
                  <a:cubicBezTo>
                    <a:pt x="10815" y="25047"/>
                    <a:pt x="0" y="29944"/>
                    <a:pt x="0" y="38937"/>
                  </a:cubicBezTo>
                  <a:cubicBezTo>
                    <a:pt x="0" y="49411"/>
                    <a:pt x="12180" y="51463"/>
                    <a:pt x="20721" y="51463"/>
                  </a:cubicBezTo>
                  <a:cubicBezTo>
                    <a:pt x="29258" y="51463"/>
                    <a:pt x="39279" y="48843"/>
                    <a:pt x="44744" y="42013"/>
                  </a:cubicBezTo>
                  <a:cubicBezTo>
                    <a:pt x="45883" y="40533"/>
                    <a:pt x="47022" y="38822"/>
                    <a:pt x="47022" y="36890"/>
                  </a:cubicBezTo>
                  <a:cubicBezTo>
                    <a:pt x="47022" y="35520"/>
                    <a:pt x="45768" y="34040"/>
                    <a:pt x="44287" y="34040"/>
                  </a:cubicBezTo>
                  <a:cubicBezTo>
                    <a:pt x="38707" y="34040"/>
                    <a:pt x="37457" y="48387"/>
                    <a:pt x="21971" y="48387"/>
                  </a:cubicBezTo>
                  <a:cubicBezTo>
                    <a:pt x="15938" y="48387"/>
                    <a:pt x="11382" y="46224"/>
                    <a:pt x="11382" y="39846"/>
                  </a:cubicBezTo>
                  <a:cubicBezTo>
                    <a:pt x="11382" y="33699"/>
                    <a:pt x="15367" y="26753"/>
                    <a:pt x="22427" y="26753"/>
                  </a:cubicBezTo>
                  <a:cubicBezTo>
                    <a:pt x="25729" y="26753"/>
                    <a:pt x="28805" y="28008"/>
                    <a:pt x="32107" y="28008"/>
                  </a:cubicBezTo>
                  <a:cubicBezTo>
                    <a:pt x="34723" y="28008"/>
                    <a:pt x="37116" y="27210"/>
                    <a:pt x="37116" y="24249"/>
                  </a:cubicBezTo>
                  <a:cubicBezTo>
                    <a:pt x="37116" y="21630"/>
                    <a:pt x="35520" y="21288"/>
                    <a:pt x="33131" y="21288"/>
                  </a:cubicBezTo>
                  <a:cubicBezTo>
                    <a:pt x="30512" y="21288"/>
                    <a:pt x="28008" y="21630"/>
                    <a:pt x="25503" y="21630"/>
                  </a:cubicBezTo>
                  <a:cubicBezTo>
                    <a:pt x="21288" y="21630"/>
                    <a:pt x="19467" y="19923"/>
                    <a:pt x="19467" y="15823"/>
                  </a:cubicBezTo>
                  <a:cubicBezTo>
                    <a:pt x="19467" y="9450"/>
                    <a:pt x="24590" y="3072"/>
                    <a:pt x="31536" y="3072"/>
                  </a:cubicBezTo>
                  <a:cubicBezTo>
                    <a:pt x="41783" y="3072"/>
                    <a:pt x="40759" y="13776"/>
                    <a:pt x="47589" y="13776"/>
                  </a:cubicBezTo>
                  <a:cubicBezTo>
                    <a:pt x="50320" y="13776"/>
                    <a:pt x="52487" y="12180"/>
                    <a:pt x="52487" y="9335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2" name="u_active_eps_outline_1"/>
            <p:cNvSpPr/>
            <p:nvPr/>
          </p:nvSpPr>
          <p:spPr>
            <a:xfrm>
              <a:off x="4267129" y="2785784"/>
              <a:ext cx="102465" cy="46680"/>
            </a:xfrm>
            <a:custGeom>
              <a:avLst/>
              <a:gdLst/>
              <a:ahLst/>
              <a:cxnLst/>
              <a:rect l="0" t="0" r="r" b="b"/>
              <a:pathLst>
                <a:path w="102465" h="46680">
                  <a:moveTo>
                    <a:pt x="102465" y="23229"/>
                  </a:moveTo>
                  <a:lnTo>
                    <a:pt x="80149" y="0"/>
                  </a:lnTo>
                  <a:lnTo>
                    <a:pt x="76621" y="3758"/>
                  </a:lnTo>
                  <a:lnTo>
                    <a:pt x="90170" y="20153"/>
                  </a:lnTo>
                  <a:lnTo>
                    <a:pt x="0" y="20153"/>
                  </a:lnTo>
                  <a:lnTo>
                    <a:pt x="0" y="26531"/>
                  </a:lnTo>
                  <a:lnTo>
                    <a:pt x="90170" y="26531"/>
                  </a:lnTo>
                  <a:lnTo>
                    <a:pt x="76621" y="42926"/>
                  </a:lnTo>
                  <a:lnTo>
                    <a:pt x="80149" y="46680"/>
                  </a:lnTo>
                  <a:lnTo>
                    <a:pt x="102465" y="2322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u_active_eps_outline_2"/>
            <p:cNvSpPr/>
            <p:nvPr/>
          </p:nvSpPr>
          <p:spPr>
            <a:xfrm>
              <a:off x="4414229" y="2788293"/>
              <a:ext cx="85276" cy="43033"/>
            </a:xfrm>
            <a:custGeom>
              <a:avLst/>
              <a:gdLst/>
              <a:ahLst/>
              <a:cxnLst/>
              <a:rect l="0" t="0" r="r" b="b"/>
              <a:pathLst>
                <a:path w="85277" h="43033">
                  <a:moveTo>
                    <a:pt x="85277" y="19352"/>
                  </a:moveTo>
                  <a:cubicBezTo>
                    <a:pt x="85277" y="8993"/>
                    <a:pt x="79696" y="226"/>
                    <a:pt x="68425" y="226"/>
                  </a:cubicBezTo>
                  <a:cubicBezTo>
                    <a:pt x="58976" y="226"/>
                    <a:pt x="49868" y="9219"/>
                    <a:pt x="44172" y="16050"/>
                  </a:cubicBezTo>
                  <a:cubicBezTo>
                    <a:pt x="39394" y="8195"/>
                    <a:pt x="30170" y="0"/>
                    <a:pt x="20606" y="0"/>
                  </a:cubicBezTo>
                  <a:cubicBezTo>
                    <a:pt x="8085" y="0"/>
                    <a:pt x="0" y="12065"/>
                    <a:pt x="0" y="23681"/>
                  </a:cubicBezTo>
                  <a:cubicBezTo>
                    <a:pt x="0" y="34040"/>
                    <a:pt x="5918" y="42922"/>
                    <a:pt x="17078" y="42922"/>
                  </a:cubicBezTo>
                  <a:cubicBezTo>
                    <a:pt x="26071" y="42922"/>
                    <a:pt x="36203" y="33699"/>
                    <a:pt x="41215" y="26753"/>
                  </a:cubicBezTo>
                  <a:cubicBezTo>
                    <a:pt x="46566" y="34611"/>
                    <a:pt x="54761" y="43033"/>
                    <a:pt x="64897" y="43033"/>
                  </a:cubicBezTo>
                  <a:cubicBezTo>
                    <a:pt x="77419" y="43033"/>
                    <a:pt x="85277" y="30738"/>
                    <a:pt x="85277" y="19352"/>
                  </a:cubicBezTo>
                  <a:close/>
                  <a:moveTo>
                    <a:pt x="78784" y="24590"/>
                  </a:moveTo>
                  <a:cubicBezTo>
                    <a:pt x="78784" y="32103"/>
                    <a:pt x="75029" y="38366"/>
                    <a:pt x="66830" y="38366"/>
                  </a:cubicBezTo>
                  <a:cubicBezTo>
                    <a:pt x="58293" y="38366"/>
                    <a:pt x="50550" y="25614"/>
                    <a:pt x="46109" y="19352"/>
                  </a:cubicBezTo>
                  <a:cubicBezTo>
                    <a:pt x="49526" y="14228"/>
                    <a:pt x="58635" y="5806"/>
                    <a:pt x="65009" y="5806"/>
                  </a:cubicBezTo>
                  <a:cubicBezTo>
                    <a:pt x="74117" y="5806"/>
                    <a:pt x="78784" y="16847"/>
                    <a:pt x="78784" y="24590"/>
                  </a:cubicBezTo>
                  <a:close/>
                  <a:moveTo>
                    <a:pt x="39279" y="23566"/>
                  </a:moveTo>
                  <a:cubicBezTo>
                    <a:pt x="35977" y="28690"/>
                    <a:pt x="26642" y="36885"/>
                    <a:pt x="20380" y="36885"/>
                  </a:cubicBezTo>
                  <a:cubicBezTo>
                    <a:pt x="11271" y="36885"/>
                    <a:pt x="6716" y="25844"/>
                    <a:pt x="6716" y="18101"/>
                  </a:cubicBezTo>
                  <a:cubicBezTo>
                    <a:pt x="6716" y="10473"/>
                    <a:pt x="10589" y="4211"/>
                    <a:pt x="18899" y="4211"/>
                  </a:cubicBezTo>
                  <a:cubicBezTo>
                    <a:pt x="26528" y="4211"/>
                    <a:pt x="35977" y="17189"/>
                    <a:pt x="39279" y="2356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14" name="penalty_schematic"/>
          <p:cNvSpPr txBox="1"/>
          <p:nvPr/>
        </p:nvSpPr>
        <p:spPr>
          <a:xfrm>
            <a:off x="127000" y="406400"/>
            <a:ext cx="8509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(schematic)</a:t>
            </a:r>
          </a:p>
        </p:txBody>
      </p:sp>
      <p:sp>
        <p:nvSpPr>
          <p:cNvPr id="515" name="lagrangian_schematic"/>
          <p:cNvSpPr txBox="1"/>
          <p:nvPr/>
        </p:nvSpPr>
        <p:spPr>
          <a:xfrm>
            <a:off x="4025900" y="406400"/>
            <a:ext cx="8509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(schematic)</a:t>
            </a:r>
          </a:p>
        </p:txBody>
      </p:sp>
      <p:sp>
        <p:nvSpPr>
          <p:cNvPr id="539" name="upper_cost_label"/>
          <p:cNvSpPr txBox="1"/>
          <p:nvPr/>
        </p:nvSpPr>
        <p:spPr>
          <a:xfrm>
            <a:off x="2247900" y="368300"/>
            <a:ext cx="457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high cost</a:t>
            </a:r>
          </a:p>
        </p:txBody>
      </p:sp>
      <p:cxnSp>
        <p:nvCxnSpPr>
          <p:cNvPr id="540" name="upper_cost_tick_0"/>
          <p:cNvCxnSpPr/>
          <p:nvPr/>
        </p:nvCxnSpPr>
        <p:spPr>
          <a:xfrm>
            <a:off x="2476500" y="501650"/>
            <a:ext cx="0" cy="76200"/>
          </a:xfrm>
          <a:prstGeom prst="line">
            <a:avLst/>
          </a:prstGeom>
          <a:ln w="7620">
            <a:solidFill>
              <a:srgbClr val="BA5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1 R3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