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755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100" y="38100"/>
            <a:ext cx="635000" cy="203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889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800" y="50800"/>
            <a:ext cx="609600" cy="266700"/>
          </a:xfrm>
          <a:prstGeom prst="roundRect">
            <a:avLst>
              <a:gd name="adj" fmla="val 9523"/>
            </a:avLst>
          </a:prstGeom>
          <a:solidFill>
            <a:srgbClr val="F5F6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3814" y="108458"/>
            <a:ext cx="463572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59636A"/>
                </a:solidFill>
                <a:latin typeface="Liberation Serif"/>
              </a:rPr>
              <a:t>1  Rollout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300" y="38100"/>
            <a:ext cx="774700" cy="203200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62000" y="50800"/>
            <a:ext cx="7493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5516" y="108458"/>
            <a:ext cx="422267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2  Inputs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38100"/>
            <a:ext cx="825500" cy="20320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612900" y="50800"/>
            <a:ext cx="8001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66312" y="108458"/>
            <a:ext cx="493276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3  Budgets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01900" y="38100"/>
            <a:ext cx="1435100" cy="2032000"/>
          </a:xfrm>
          <a:prstGeom prst="roundRect">
            <a:avLst>
              <a:gd name="adj" fmla="val 2654"/>
            </a:avLst>
          </a:prstGeom>
          <a:solidFill>
            <a:srgbClr val="FFFFFF"/>
          </a:solidFill>
          <a:ln w="889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514600" y="50800"/>
            <a:ext cx="1409700" cy="266700"/>
          </a:xfrm>
          <a:prstGeom prst="roundRect">
            <a:avLst>
              <a:gd name="adj" fmla="val 9523"/>
            </a:avLst>
          </a:prstGeom>
          <a:solidFill>
            <a:srgbClr val="F2F8F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7557" y="108458"/>
            <a:ext cx="843786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67C80"/>
                </a:solidFill>
                <a:latin typeface="Liberation Serif"/>
              </a:rPr>
              <a:t>4  Flow projection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13200" y="38100"/>
            <a:ext cx="977900" cy="203200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889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025900" y="50800"/>
            <a:ext cx="952500" cy="266700"/>
          </a:xfrm>
          <a:prstGeom prst="roundRect">
            <a:avLst>
              <a:gd name="adj" fmla="val 9523"/>
            </a:avLst>
          </a:prstGeom>
          <a:solidFill>
            <a:srgbClr val="F2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29621" y="108458"/>
            <a:ext cx="745057" cy="138684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0072B2"/>
                </a:solidFill>
                <a:latin typeface="Liberation Serif"/>
              </a:rPr>
              <a:t>5  Policy update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31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18" name="Connector 17"/>
          <p:cNvCxnSpPr/>
          <p:nvPr/>
        </p:nvCxnSpPr>
        <p:spPr>
          <a:xfrm>
            <a:off x="15240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cxnSp>
        <p:nvCxnSpPr>
          <p:cNvPr id="19" name="Connector 18"/>
          <p:cNvCxnSpPr/>
          <p:nvPr/>
        </p:nvCxnSpPr>
        <p:spPr>
          <a:xfrm>
            <a:off x="2425700" y="1130300"/>
            <a:ext cx="76200" cy="0"/>
          </a:xfrm>
          <a:prstGeom prst="line">
            <a:avLst/>
          </a:prstGeom>
          <a:ln w="1016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0" name="TextBox 19"/>
          <p:cNvSpPr txBox="1"/>
          <p:nvPr/>
        </p:nvSpPr>
        <p:spPr>
          <a:xfrm>
            <a:off x="311194" y="387350"/>
            <a:ext cx="8316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5309" y="450215"/>
            <a:ext cx="43748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</a:t>
            </a:r>
          </a:p>
        </p:txBody>
      </p:sp>
      <p:sp>
        <p:nvSpPr>
          <p:cNvPr id="22" name="Oval 21"/>
          <p:cNvSpPr/>
          <p:nvPr/>
        </p:nvSpPr>
        <p:spPr>
          <a:xfrm>
            <a:off x="1333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203200" y="685800"/>
            <a:ext cx="114300" cy="0"/>
          </a:xfrm>
          <a:prstGeom prst="line">
            <a:avLst/>
          </a:prstGeom>
          <a:ln w="8255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4" name="Oval 23"/>
          <p:cNvSpPr/>
          <p:nvPr/>
        </p:nvSpPr>
        <p:spPr>
          <a:xfrm>
            <a:off x="3238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393700" y="685800"/>
            <a:ext cx="114300" cy="0"/>
          </a:xfrm>
          <a:prstGeom prst="line">
            <a:avLst/>
          </a:prstGeom>
          <a:ln w="8255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26" name="Oval 25"/>
          <p:cNvSpPr/>
          <p:nvPr/>
        </p:nvSpPr>
        <p:spPr>
          <a:xfrm>
            <a:off x="514350" y="654050"/>
            <a:ext cx="63500" cy="635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1600" y="1016000"/>
            <a:ext cx="508000" cy="419100"/>
          </a:xfrm>
          <a:prstGeom prst="roundRect">
            <a:avLst>
              <a:gd name="adj" fmla="val 6060"/>
            </a:avLst>
          </a:prstGeom>
          <a:solidFill>
            <a:srgbClr val="FAFAF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35990" y="1064260"/>
            <a:ext cx="23922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636A"/>
                </a:solidFill>
                <a:latin typeface="Liberation Serif"/>
              </a:rPr>
              <a:t>GAE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0069" y="1242060"/>
            <a:ext cx="924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Â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3443" y="1288415"/>
            <a:ext cx="4865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3044" y="1242060"/>
            <a:ext cx="143224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59636A"/>
                </a:solidFill>
                <a:latin typeface="Liberation Serif"/>
              </a:rPr>
              <a:t>, Â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7218" y="1288415"/>
            <a:ext cx="58513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681" y="1313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901" y="1591564"/>
            <a:ext cx="519398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59636A"/>
                </a:solidFill>
                <a:latin typeface="Liberation Serif"/>
              </a:rPr>
              <a:t>Episode costs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08660" y="1784350"/>
            <a:ext cx="68481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D55E00"/>
                </a:solidFill>
                <a:latin typeface="Liberation Serif"/>
              </a:rPr>
              <a:t>J̄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58090" y="1847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3885" y="382588"/>
            <a:ext cx="545529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167C80"/>
                </a:solidFill>
                <a:latin typeface="Liberation Serif"/>
              </a:rPr>
              <a:t>Rollout graph</a:t>
            </a:r>
          </a:p>
        </p:txBody>
      </p:sp>
      <p:sp>
        <p:nvSpPr>
          <p:cNvPr id="38" name="Freeform 37"/>
          <p:cNvSpPr/>
          <p:nvPr/>
        </p:nvSpPr>
        <p:spPr>
          <a:xfrm>
            <a:off x="889000" y="596900"/>
            <a:ext cx="152400" cy="139700"/>
          </a:xfrm>
          <a:custGeom>
            <a:avLst/>
            <a:gdLst/>
            <a:ahLst/>
            <a:cxnLst/>
            <a:rect l="l" t="t" r="r" b="b"/>
            <a:pathLst>
              <a:path w="152400" h="139700">
                <a:moveTo>
                  <a:pt x="0" y="139700"/>
                </a:moveTo>
                <a:lnTo>
                  <a:pt x="152400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Freeform 38"/>
          <p:cNvSpPr/>
          <p:nvPr/>
        </p:nvSpPr>
        <p:spPr>
          <a:xfrm>
            <a:off x="1041400" y="596900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 h="0">
                <a:moveTo>
                  <a:pt x="0" y="0"/>
                </a:moveTo>
                <a:lnTo>
                  <a:pt x="187960" y="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Freeform 39"/>
          <p:cNvSpPr/>
          <p:nvPr/>
        </p:nvSpPr>
        <p:spPr>
          <a:xfrm>
            <a:off x="1229360" y="596900"/>
            <a:ext cx="167640" cy="139700"/>
          </a:xfrm>
          <a:custGeom>
            <a:avLst/>
            <a:gdLst/>
            <a:ahLst/>
            <a:cxnLst/>
            <a:rect l="l" t="t" r="r" b="b"/>
            <a:pathLst>
              <a:path w="167640" h="139700">
                <a:moveTo>
                  <a:pt x="0" y="0"/>
                </a:moveTo>
                <a:lnTo>
                  <a:pt x="167640" y="139700"/>
                </a:lnTo>
              </a:path>
            </a:pathLst>
          </a:custGeom>
          <a:noFill/>
          <a:ln w="2286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Freeform 40"/>
          <p:cNvSpPr/>
          <p:nvPr/>
        </p:nvSpPr>
        <p:spPr>
          <a:xfrm>
            <a:off x="889000" y="736600"/>
            <a:ext cx="152400" cy="139700"/>
          </a:xfrm>
          <a:custGeom>
            <a:avLst/>
            <a:gdLst/>
            <a:ahLst/>
            <a:cxnLst/>
            <a:rect l="l" t="t" r="r" b="b"/>
            <a:pathLst>
              <a:path w="152400" h="139700">
                <a:moveTo>
                  <a:pt x="0" y="0"/>
                </a:moveTo>
                <a:lnTo>
                  <a:pt x="152400" y="13970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Freeform 41"/>
          <p:cNvSpPr/>
          <p:nvPr/>
        </p:nvSpPr>
        <p:spPr>
          <a:xfrm>
            <a:off x="1041400" y="876300"/>
            <a:ext cx="187960" cy="0"/>
          </a:xfrm>
          <a:custGeom>
            <a:avLst/>
            <a:gdLst/>
            <a:ahLst/>
            <a:cxnLst/>
            <a:rect l="l" t="t" r="r" b="b"/>
            <a:pathLst>
              <a:path w="187960" h="0">
                <a:moveTo>
                  <a:pt x="0" y="0"/>
                </a:moveTo>
                <a:lnTo>
                  <a:pt x="187960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Freeform 42"/>
          <p:cNvSpPr/>
          <p:nvPr/>
        </p:nvSpPr>
        <p:spPr>
          <a:xfrm>
            <a:off x="1229360" y="736600"/>
            <a:ext cx="167640" cy="139700"/>
          </a:xfrm>
          <a:custGeom>
            <a:avLst/>
            <a:gdLst/>
            <a:ahLst/>
            <a:cxnLst/>
            <a:rect l="l" t="t" r="r" b="b"/>
            <a:pathLst>
              <a:path w="167640" h="139700">
                <a:moveTo>
                  <a:pt x="0" y="139700"/>
                </a:moveTo>
                <a:lnTo>
                  <a:pt x="167640" y="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Freeform 43"/>
          <p:cNvSpPr/>
          <p:nvPr/>
        </p:nvSpPr>
        <p:spPr>
          <a:xfrm>
            <a:off x="1041400" y="596900"/>
            <a:ext cx="187960" cy="279400"/>
          </a:xfrm>
          <a:custGeom>
            <a:avLst/>
            <a:gdLst/>
            <a:ahLst/>
            <a:cxnLst/>
            <a:rect l="l" t="t" r="r" b="b"/>
            <a:pathLst>
              <a:path w="187960" h="279400">
                <a:moveTo>
                  <a:pt x="0" y="0"/>
                </a:moveTo>
                <a:lnTo>
                  <a:pt x="187960" y="279400"/>
                </a:lnTo>
              </a:path>
            </a:pathLst>
          </a:custGeom>
          <a:noFill/>
          <a:ln w="762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3600" y="7112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16000" y="5715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1203960" y="5715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1371600" y="711200"/>
            <a:ext cx="50800" cy="5080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0396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16000" y="850900"/>
            <a:ext cx="50800" cy="5080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91440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91440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91440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5885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95885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5885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1003300" y="10668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1003300" y="11112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03300" y="11557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203294" y="10560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F̂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1440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91440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91440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5885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95885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95885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1003300" y="13716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003300" y="14160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ounded Rectangle 68"/>
          <p:cNvSpPr/>
          <p:nvPr/>
        </p:nvSpPr>
        <p:spPr>
          <a:xfrm>
            <a:off x="1003300" y="14605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193802" y="1360805"/>
            <a:ext cx="1015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A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91440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1440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ounded Rectangle 72"/>
          <p:cNvSpPr/>
          <p:nvPr/>
        </p:nvSpPr>
        <p:spPr>
          <a:xfrm>
            <a:off x="91440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95885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ounded Rectangle 74"/>
          <p:cNvSpPr/>
          <p:nvPr/>
        </p:nvSpPr>
        <p:spPr>
          <a:xfrm>
            <a:off x="95885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ounded Rectangle 75"/>
          <p:cNvSpPr/>
          <p:nvPr/>
        </p:nvSpPr>
        <p:spPr>
          <a:xfrm>
            <a:off x="95885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1003300" y="16764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03300" y="1720850"/>
            <a:ext cx="38100" cy="38100"/>
          </a:xfrm>
          <a:prstGeom prst="roundRect">
            <a:avLst>
              <a:gd name="adj" fmla="val 6666"/>
            </a:avLst>
          </a:prstGeom>
          <a:solidFill>
            <a:srgbClr val="C5DFDF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1003300" y="1765300"/>
            <a:ext cx="38100" cy="38100"/>
          </a:xfrm>
          <a:prstGeom prst="roundRect">
            <a:avLst>
              <a:gd name="adj" fmla="val 6666"/>
            </a:avLst>
          </a:prstGeom>
          <a:solidFill>
            <a:srgbClr val="EDF5F5"/>
          </a:solidFill>
          <a:ln w="635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1196954" y="1665605"/>
            <a:ext cx="9529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C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333500" y="1720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898763" y="1859915"/>
            <a:ext cx="4757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state clusters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733860" y="391160"/>
            <a:ext cx="55818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7C80"/>
                </a:solidFill>
                <a:latin typeface="Liberation Serif"/>
              </a:rPr>
              <a:t>Soft budgets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790219" y="573405"/>
            <a:ext cx="76200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847369" y="615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91819" y="573405"/>
            <a:ext cx="21689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 = B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089665" y="6153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2134115" y="573405"/>
            <a:ext cx="120616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/L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41375" y="780732"/>
            <a:ext cx="134236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STIXGeneral"/>
              </a:rPr>
              <a:t>⟨C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56561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01011" y="780732"/>
            <a:ext cx="358114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STIXGeneral"/>
              </a:rPr>
              <a:t>, F⟩ ≤ b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2240075" y="8185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93" name="Freeform 92"/>
          <p:cNvSpPr/>
          <p:nvPr/>
        </p:nvSpPr>
        <p:spPr>
          <a:xfrm>
            <a:off x="1701800" y="1028700"/>
            <a:ext cx="622300" cy="0"/>
          </a:xfrm>
          <a:custGeom>
            <a:avLst/>
            <a:gdLst/>
            <a:ahLst/>
            <a:cxnLst/>
            <a:rect l="l" t="t" r="r" b="b"/>
            <a:pathLst>
              <a:path w="622300" h="0">
                <a:moveTo>
                  <a:pt x="0" y="0"/>
                </a:moveTo>
                <a:lnTo>
                  <a:pt x="622300" y="0"/>
                </a:lnTo>
              </a:path>
            </a:pathLst>
          </a:custGeom>
          <a:noFill/>
          <a:ln w="6350">
            <a:solidFill>
              <a:srgbClr val="D8DEE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1756489" y="1127760"/>
            <a:ext cx="51292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C43C39"/>
                </a:solidFill>
                <a:latin typeface="Liberation Serif"/>
              </a:rPr>
              <a:t>Hard edges</a:t>
            </a:r>
          </a:p>
        </p:txBody>
      </p:sp>
      <p:sp>
        <p:nvSpPr>
          <p:cNvPr id="95" name="Freeform 94"/>
          <p:cNvSpPr/>
          <p:nvPr/>
        </p:nvSpPr>
        <p:spPr>
          <a:xfrm>
            <a:off x="1752600" y="1409700"/>
            <a:ext cx="520700" cy="0"/>
          </a:xfrm>
          <a:custGeom>
            <a:avLst/>
            <a:gdLst/>
            <a:ahLst/>
            <a:cxnLst/>
            <a:rect l="l" t="t" r="r" b="b"/>
            <a:pathLst>
              <a:path w="520700" h="0">
                <a:moveTo>
                  <a:pt x="0" y="0"/>
                </a:moveTo>
                <a:lnTo>
                  <a:pt x="520700" y="0"/>
                </a:lnTo>
              </a:path>
            </a:pathLst>
          </a:custGeom>
          <a:noFill/>
          <a:ln w="8890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Freeform 95"/>
          <p:cNvSpPr/>
          <p:nvPr/>
        </p:nvSpPr>
        <p:spPr>
          <a:xfrm>
            <a:off x="1968500" y="1358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0"/>
                </a:moveTo>
                <a:lnTo>
                  <a:pt x="76200" y="101600"/>
                </a:lnTo>
              </a:path>
            </a:pathLst>
          </a:custGeom>
          <a:noFill/>
          <a:ln w="1143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Freeform 96"/>
          <p:cNvSpPr/>
          <p:nvPr/>
        </p:nvSpPr>
        <p:spPr>
          <a:xfrm>
            <a:off x="1968500" y="1358900"/>
            <a:ext cx="76200" cy="101600"/>
          </a:xfrm>
          <a:custGeom>
            <a:avLst/>
            <a:gdLst/>
            <a:ahLst/>
            <a:cxnLst/>
            <a:rect l="l" t="t" r="r" b="b"/>
            <a:pathLst>
              <a:path w="76200" h="101600">
                <a:moveTo>
                  <a:pt x="0" y="101600"/>
                </a:moveTo>
                <a:lnTo>
                  <a:pt x="76200" y="0"/>
                </a:lnTo>
              </a:path>
            </a:pathLst>
          </a:custGeom>
          <a:noFill/>
          <a:ln w="1143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859691" y="15640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3C39"/>
                </a:solidFill>
                <a:latin typeface="Liberation Serif"/>
              </a:rPr>
              <a:t>F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23252" y="1605915"/>
            <a:ext cx="8325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C43C39"/>
                </a:solidFill>
                <a:latin typeface="Liberation Serif"/>
              </a:rPr>
              <a:t>H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987455" y="1564005"/>
            <a:ext cx="197804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C43C39"/>
                </a:solidFill>
                <a:latin typeface="Liberation Serif"/>
              </a:rPr>
              <a:t> = 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675120" y="1809115"/>
            <a:ext cx="67566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excluded; no price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2696511" y="378460"/>
            <a:ext cx="193977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max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871437" y="424815"/>
            <a:ext cx="68487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F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20874" y="378460"/>
            <a:ext cx="840565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 ⟨A,F⟩ − ε KL(F∥F̂)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2835637" y="562038"/>
            <a:ext cx="767625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0">
                <a:solidFill>
                  <a:srgbClr val="167C80"/>
                </a:solidFill>
                <a:latin typeface="Liberation Serif"/>
              </a:rPr>
              <a:t>F ≥ 0 · flow balance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2842623" y="734060"/>
            <a:ext cx="1274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⟨C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2951034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995484" y="734060"/>
            <a:ext cx="2619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STIXGeneral"/>
              </a:rPr>
              <a:t>,F⟩≤b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238403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282853" y="734060"/>
            <a:ext cx="16017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 · F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3423982" y="767715"/>
            <a:ext cx="83252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H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488184" y="734060"/>
            <a:ext cx="12714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=0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790794" y="967105"/>
            <a:ext cx="8261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59636A"/>
                </a:solidFill>
                <a:latin typeface="Liberation Serif"/>
              </a:rPr>
              <a:t>F̂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097395" y="983615"/>
            <a:ext cx="23141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costly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536919" y="967105"/>
            <a:ext cx="139762" cy="14859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167C80"/>
                </a:solidFill>
                <a:latin typeface="Liberation Serif"/>
              </a:rPr>
              <a:t>F*</a:t>
            </a:r>
          </a:p>
        </p:txBody>
      </p:sp>
      <p:sp>
        <p:nvSpPr>
          <p:cNvPr id="116" name="Freeform 115"/>
          <p:cNvSpPr/>
          <p:nvPr/>
        </p:nvSpPr>
        <p:spPr>
          <a:xfrm>
            <a:off x="27355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Freeform 116"/>
          <p:cNvSpPr/>
          <p:nvPr/>
        </p:nvSpPr>
        <p:spPr>
          <a:xfrm>
            <a:off x="2590800" y="11938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152400"/>
                </a:moveTo>
                <a:lnTo>
                  <a:pt x="144780" y="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Freeform 117"/>
          <p:cNvSpPr/>
          <p:nvPr/>
        </p:nvSpPr>
        <p:spPr>
          <a:xfrm>
            <a:off x="27355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Freeform 118"/>
          <p:cNvSpPr/>
          <p:nvPr/>
        </p:nvSpPr>
        <p:spPr>
          <a:xfrm>
            <a:off x="2918968" y="11938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0"/>
                </a:moveTo>
                <a:lnTo>
                  <a:pt x="154432" y="152400"/>
                </a:lnTo>
              </a:path>
            </a:pathLst>
          </a:custGeom>
          <a:noFill/>
          <a:ln w="25400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Freeform 119"/>
          <p:cNvSpPr/>
          <p:nvPr/>
        </p:nvSpPr>
        <p:spPr>
          <a:xfrm>
            <a:off x="2590800" y="13462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0"/>
                </a:moveTo>
                <a:lnTo>
                  <a:pt x="144780" y="15240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Freeform 120"/>
          <p:cNvSpPr/>
          <p:nvPr/>
        </p:nvSpPr>
        <p:spPr>
          <a:xfrm>
            <a:off x="2735580" y="14986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Freeform 121"/>
          <p:cNvSpPr/>
          <p:nvPr/>
        </p:nvSpPr>
        <p:spPr>
          <a:xfrm>
            <a:off x="2918968" y="13462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152400"/>
                </a:moveTo>
                <a:lnTo>
                  <a:pt x="154432" y="0"/>
                </a:lnTo>
              </a:path>
            </a:pathLst>
          </a:custGeom>
          <a:noFill/>
          <a:ln w="8255">
            <a:solidFill>
              <a:srgbClr val="ABB5B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Freeform 122"/>
          <p:cNvSpPr/>
          <p:nvPr/>
        </p:nvSpPr>
        <p:spPr>
          <a:xfrm>
            <a:off x="2735580" y="1193800"/>
            <a:ext cx="183388" cy="304800"/>
          </a:xfrm>
          <a:custGeom>
            <a:avLst/>
            <a:gdLst/>
            <a:ahLst/>
            <a:cxnLst/>
            <a:rect l="l" t="t" r="r" b="b"/>
            <a:pathLst>
              <a:path w="183388" h="304800">
                <a:moveTo>
                  <a:pt x="0" y="0"/>
                </a:moveTo>
                <a:lnTo>
                  <a:pt x="183388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Freeform 123"/>
          <p:cNvSpPr/>
          <p:nvPr/>
        </p:nvSpPr>
        <p:spPr>
          <a:xfrm>
            <a:off x="28018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Freeform 124"/>
          <p:cNvSpPr/>
          <p:nvPr/>
        </p:nvSpPr>
        <p:spPr>
          <a:xfrm>
            <a:off x="28018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2569210" y="1324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2713990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2897378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3051810" y="1324610"/>
            <a:ext cx="43180" cy="43180"/>
          </a:xfrm>
          <a:prstGeom prst="ellipse">
            <a:avLst/>
          </a:prstGeom>
          <a:solidFill>
            <a:srgbClr val="59636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2897378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2713990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32" name="Connector 131"/>
          <p:cNvCxnSpPr/>
          <p:nvPr/>
        </p:nvCxnSpPr>
        <p:spPr>
          <a:xfrm>
            <a:off x="3124200" y="1346200"/>
            <a:ext cx="2032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33" name="Freeform 132"/>
          <p:cNvSpPr/>
          <p:nvPr/>
        </p:nvSpPr>
        <p:spPr>
          <a:xfrm>
            <a:off x="35229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45720">
            <a:solidFill>
              <a:srgbClr val="F3D4B3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Freeform 133"/>
          <p:cNvSpPr/>
          <p:nvPr/>
        </p:nvSpPr>
        <p:spPr>
          <a:xfrm>
            <a:off x="3378200" y="11938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152400"/>
                </a:moveTo>
                <a:lnTo>
                  <a:pt x="144780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Freeform 134"/>
          <p:cNvSpPr/>
          <p:nvPr/>
        </p:nvSpPr>
        <p:spPr>
          <a:xfrm>
            <a:off x="3522980" y="11938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Freeform 135"/>
          <p:cNvSpPr/>
          <p:nvPr/>
        </p:nvSpPr>
        <p:spPr>
          <a:xfrm>
            <a:off x="3706368" y="11938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0"/>
                </a:moveTo>
                <a:lnTo>
                  <a:pt x="154432" y="152400"/>
                </a:lnTo>
              </a:path>
            </a:pathLst>
          </a:custGeom>
          <a:noFill/>
          <a:ln w="8255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Freeform 136"/>
          <p:cNvSpPr/>
          <p:nvPr/>
        </p:nvSpPr>
        <p:spPr>
          <a:xfrm>
            <a:off x="3378200" y="1346200"/>
            <a:ext cx="144780" cy="152400"/>
          </a:xfrm>
          <a:custGeom>
            <a:avLst/>
            <a:gdLst/>
            <a:ahLst/>
            <a:cxnLst/>
            <a:rect l="l" t="t" r="r" b="b"/>
            <a:pathLst>
              <a:path w="144780" h="152400">
                <a:moveTo>
                  <a:pt x="0" y="0"/>
                </a:moveTo>
                <a:lnTo>
                  <a:pt x="144780" y="15240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Freeform 137"/>
          <p:cNvSpPr/>
          <p:nvPr/>
        </p:nvSpPr>
        <p:spPr>
          <a:xfrm>
            <a:off x="3522980" y="1498600"/>
            <a:ext cx="183388" cy="0"/>
          </a:xfrm>
          <a:custGeom>
            <a:avLst/>
            <a:gdLst/>
            <a:ahLst/>
            <a:cxnLst/>
            <a:rect l="l" t="t" r="r" b="b"/>
            <a:pathLst>
              <a:path w="183388" h="0">
                <a:moveTo>
                  <a:pt x="0" y="0"/>
                </a:moveTo>
                <a:lnTo>
                  <a:pt x="183388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Freeform 138"/>
          <p:cNvSpPr/>
          <p:nvPr/>
        </p:nvSpPr>
        <p:spPr>
          <a:xfrm>
            <a:off x="3706368" y="1346200"/>
            <a:ext cx="154432" cy="152400"/>
          </a:xfrm>
          <a:custGeom>
            <a:avLst/>
            <a:gdLst/>
            <a:ahLst/>
            <a:cxnLst/>
            <a:rect l="l" t="t" r="r" b="b"/>
            <a:pathLst>
              <a:path w="154432" h="152400">
                <a:moveTo>
                  <a:pt x="0" y="152400"/>
                </a:moveTo>
                <a:lnTo>
                  <a:pt x="154432" y="0"/>
                </a:lnTo>
              </a:path>
            </a:pathLst>
          </a:custGeom>
          <a:noFill/>
          <a:ln w="2540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Freeform 139"/>
          <p:cNvSpPr/>
          <p:nvPr/>
        </p:nvSpPr>
        <p:spPr>
          <a:xfrm>
            <a:off x="3522980" y="1193800"/>
            <a:ext cx="183388" cy="304800"/>
          </a:xfrm>
          <a:custGeom>
            <a:avLst/>
            <a:gdLst/>
            <a:ahLst/>
            <a:cxnLst/>
            <a:rect l="l" t="t" r="r" b="b"/>
            <a:pathLst>
              <a:path w="183388" h="304800">
                <a:moveTo>
                  <a:pt x="0" y="0"/>
                </a:moveTo>
                <a:lnTo>
                  <a:pt x="183388" y="304800"/>
                </a:lnTo>
              </a:path>
            </a:pathLst>
          </a:custGeom>
          <a:noFill/>
          <a:ln w="8255">
            <a:solidFill>
              <a:srgbClr val="C43C39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Freeform 140"/>
          <p:cNvSpPr/>
          <p:nvPr/>
        </p:nvSpPr>
        <p:spPr>
          <a:xfrm>
            <a:off x="35892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50800" y="5080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Freeform 141"/>
          <p:cNvSpPr/>
          <p:nvPr/>
        </p:nvSpPr>
        <p:spPr>
          <a:xfrm>
            <a:off x="3589274" y="13208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50800"/>
                </a:moveTo>
                <a:lnTo>
                  <a:pt x="50800" y="0"/>
                </a:lnTo>
              </a:path>
            </a:pathLst>
          </a:custGeom>
          <a:noFill/>
          <a:ln w="10160">
            <a:solidFill>
              <a:srgbClr val="C43C3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3356610" y="13246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3501390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3684778" y="11722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3839210" y="1324610"/>
            <a:ext cx="43180" cy="43180"/>
          </a:xfrm>
          <a:prstGeom prst="ellipse">
            <a:avLst/>
          </a:prstGeom>
          <a:solidFill>
            <a:srgbClr val="167C80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3684778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3501390" y="1477010"/>
            <a:ext cx="43180" cy="43180"/>
          </a:xfrm>
          <a:prstGeom prst="ellipse">
            <a:avLst/>
          </a:prstGeom>
          <a:solidFill>
            <a:srgbClr val="FFFFFF"/>
          </a:solidFill>
          <a:ln w="762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Freeform 148"/>
          <p:cNvSpPr/>
          <p:nvPr/>
        </p:nvSpPr>
        <p:spPr>
          <a:xfrm>
            <a:off x="3454400" y="1549400"/>
            <a:ext cx="393700" cy="101600"/>
          </a:xfrm>
          <a:custGeom>
            <a:avLst/>
            <a:gdLst/>
            <a:ahLst/>
            <a:cxnLst/>
            <a:rect l="l" t="t" r="r" b="b"/>
            <a:pathLst>
              <a:path w="393700" h="101600">
                <a:moveTo>
                  <a:pt x="0" y="0"/>
                </a:moveTo>
                <a:lnTo>
                  <a:pt x="0" y="101600"/>
                </a:lnTo>
                <a:lnTo>
                  <a:pt x="393700" y="101600"/>
                </a:lnTo>
              </a:path>
            </a:pathLst>
          </a:custGeom>
          <a:noFill/>
          <a:ln w="7620">
            <a:solidFill>
              <a:srgbClr val="59636A"/>
            </a:solidFill>
            <a:prstDash val="dash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3419430" y="1694815"/>
            <a:ext cx="40013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target only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2656363" y="1694815"/>
            <a:ext cx="503874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width = visits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2686704" y="1866011"/>
            <a:ext cx="722593" cy="128778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167C80"/>
                </a:solidFill>
                <a:latin typeface="Liberation Serif"/>
              </a:rPr>
              <a:t>Budget prices λ*</a:t>
            </a:r>
          </a:p>
        </p:txBody>
      </p:sp>
      <p:sp>
        <p:nvSpPr>
          <p:cNvPr id="153" name="Freeform 152"/>
          <p:cNvSpPr/>
          <p:nvPr/>
        </p:nvSpPr>
        <p:spPr>
          <a:xfrm>
            <a:off x="3860800" y="444500"/>
            <a:ext cx="114300" cy="1485900"/>
          </a:xfrm>
          <a:custGeom>
            <a:avLst/>
            <a:gdLst/>
            <a:ahLst/>
            <a:cxnLst/>
            <a:rect l="l" t="t" r="r" b="b"/>
            <a:pathLst>
              <a:path w="114300" h="1485900">
                <a:moveTo>
                  <a:pt x="0" y="1485900"/>
                </a:moveTo>
                <a:lnTo>
                  <a:pt x="114300" y="1485900"/>
                </a:lnTo>
                <a:lnTo>
                  <a:pt x="114300" y="0"/>
                </a:lnTo>
              </a:path>
            </a:pathLst>
          </a:custGeom>
          <a:noFill/>
          <a:ln w="10160">
            <a:solidFill>
              <a:srgbClr val="167C8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4" name="Connector 153"/>
          <p:cNvCxnSpPr/>
          <p:nvPr/>
        </p:nvCxnSpPr>
        <p:spPr>
          <a:xfrm>
            <a:off x="3975100" y="444500"/>
            <a:ext cx="101600" cy="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55" name="TextBox 154"/>
          <p:cNvSpPr txBox="1"/>
          <p:nvPr/>
        </p:nvSpPr>
        <p:spPr>
          <a:xfrm>
            <a:off x="4214265" y="378460"/>
            <a:ext cx="57577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167C80"/>
                </a:solidFill>
                <a:latin typeface="Liberation Serif"/>
              </a:rPr>
              <a:t>clip c + EMA</a:t>
            </a:r>
          </a:p>
        </p:txBody>
      </p:sp>
      <p:cxnSp>
        <p:nvCxnSpPr>
          <p:cNvPr id="156" name="Connector 155"/>
          <p:cNvCxnSpPr/>
          <p:nvPr/>
        </p:nvCxnSpPr>
        <p:spPr>
          <a:xfrm>
            <a:off x="4502150" y="533400"/>
            <a:ext cx="0" cy="101600"/>
          </a:xfrm>
          <a:prstGeom prst="line">
            <a:avLst/>
          </a:prstGeom>
          <a:ln w="10160">
            <a:solidFill>
              <a:srgbClr val="167C80"/>
            </a:solidFill>
            <a:tailEnd type="triangle" w="sm" len="sm"/>
          </a:ln>
          <a:effectLst/>
        </p:spPr>
      </p:cxnSp>
      <p:sp>
        <p:nvSpPr>
          <p:cNvPr id="157" name="TextBox 156"/>
          <p:cNvSpPr txBox="1"/>
          <p:nvPr/>
        </p:nvSpPr>
        <p:spPr>
          <a:xfrm>
            <a:off x="4218603" y="717232"/>
            <a:ext cx="7138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0072B2"/>
                </a:solidFill>
                <a:latin typeface="Liberation Serif"/>
              </a:rPr>
              <a:t>λ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4270942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0072B2"/>
                </a:solidFill>
                <a:latin typeface="Liberation Serif"/>
              </a:rPr>
              <a:t>k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4315392" y="717232"/>
            <a:ext cx="13389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6A"/>
                </a:solidFill>
                <a:latin typeface="Liberation Serif"/>
              </a:rPr>
              <a:t> = 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4430240" y="717232"/>
            <a:ext cx="7138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167C80"/>
                </a:solidFill>
                <a:latin typeface="Liberation Serif"/>
              </a:rPr>
              <a:t>λ̄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4482579" y="6788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*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4527029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167C80"/>
                </a:solidFill>
                <a:latin typeface="Liberation Serif"/>
              </a:rPr>
              <a:t>k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4571479" y="717232"/>
            <a:ext cx="133899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59636A"/>
                </a:solidFill>
                <a:latin typeface="Liberation Serif"/>
              </a:rPr>
              <a:t> + 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4686328" y="717232"/>
            <a:ext cx="73970" cy="14033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741247" y="7677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cxnSp>
        <p:nvCxnSpPr>
          <p:cNvPr id="166" name="Connector 165"/>
          <p:cNvCxnSpPr/>
          <p:nvPr/>
        </p:nvCxnSpPr>
        <p:spPr>
          <a:xfrm>
            <a:off x="4502150" y="889000"/>
            <a:ext cx="0" cy="1016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167" name="Rounded Rectangle 166"/>
          <p:cNvSpPr/>
          <p:nvPr/>
        </p:nvSpPr>
        <p:spPr>
          <a:xfrm>
            <a:off x="4102100" y="1028700"/>
            <a:ext cx="800100" cy="317500"/>
          </a:xfrm>
          <a:prstGeom prst="roundRect">
            <a:avLst>
              <a:gd name="adj" fmla="val 8000"/>
            </a:avLst>
          </a:prstGeom>
          <a:solidFill>
            <a:srgbClr val="F4F8FC"/>
          </a:solidFill>
          <a:ln w="7620">
            <a:solidFill>
              <a:srgbClr val="0072B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4148881" y="1070038"/>
            <a:ext cx="706538" cy="120523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30" b="1">
                <a:solidFill>
                  <a:srgbClr val="0072B2"/>
                </a:solidFill>
                <a:latin typeface="Liberation Serif"/>
              </a:rPr>
              <a:t>Priced advantage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4446766" y="1187450"/>
            <a:ext cx="110768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0072B2"/>
                </a:solidFill>
                <a:latin typeface="Liberation Serif"/>
              </a:rPr>
              <a:t>Ã</a:t>
            </a:r>
          </a:p>
        </p:txBody>
      </p:sp>
      <p:cxnSp>
        <p:nvCxnSpPr>
          <p:cNvPr id="170" name="Connector 169"/>
          <p:cNvCxnSpPr/>
          <p:nvPr/>
        </p:nvCxnSpPr>
        <p:spPr>
          <a:xfrm>
            <a:off x="4502150" y="1358900"/>
            <a:ext cx="0" cy="101600"/>
          </a:xfrm>
          <a:prstGeom prst="line">
            <a:avLst/>
          </a:prstGeom>
          <a:ln w="10160">
            <a:solidFill>
              <a:srgbClr val="0072B2"/>
            </a:solidFill>
            <a:tailEnd type="triangle" w="sm" len="sm"/>
          </a:ln>
          <a:effectLst/>
        </p:spPr>
      </p:cxnSp>
      <p:sp>
        <p:nvSpPr>
          <p:cNvPr id="171" name="Rounded Rectangle 170"/>
          <p:cNvSpPr/>
          <p:nvPr/>
        </p:nvSpPr>
        <p:spPr>
          <a:xfrm>
            <a:off x="4102100" y="1498600"/>
            <a:ext cx="800100" cy="2540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4211320" y="1559560"/>
            <a:ext cx="581660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59636A"/>
                </a:solidFill>
                <a:latin typeface="Liberation Serif"/>
              </a:rPr>
              <a:t>PPO / TRPO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4410453" y="1847850"/>
            <a:ext cx="83165" cy="16510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59636A"/>
                </a:solidFill>
                <a:latin typeface="Liberation Serif"/>
              </a:rPr>
              <a:t>π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4474568" y="1910715"/>
            <a:ext cx="13832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t+1</a:t>
            </a:r>
          </a:p>
        </p:txBody>
      </p:sp>
      <p:sp>
        <p:nvSpPr>
          <p:cNvPr id="175" name="Freeform 174"/>
          <p:cNvSpPr/>
          <p:nvPr/>
        </p:nvSpPr>
        <p:spPr>
          <a:xfrm>
            <a:off x="355600" y="1943100"/>
            <a:ext cx="1676400" cy="317500"/>
          </a:xfrm>
          <a:custGeom>
            <a:avLst/>
            <a:gdLst/>
            <a:ahLst/>
            <a:cxnLst/>
            <a:rect l="l" t="t" r="r" b="b"/>
            <a:pathLst>
              <a:path w="1676400" h="317500">
                <a:moveTo>
                  <a:pt x="0" y="0"/>
                </a:moveTo>
                <a:lnTo>
                  <a:pt x="0" y="317500"/>
                </a:lnTo>
                <a:lnTo>
                  <a:pt x="1676400" y="317500"/>
                </a:lnTo>
              </a:path>
            </a:pathLst>
          </a:custGeom>
          <a:noFill/>
          <a:ln w="1016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ounded Rectangle 175"/>
          <p:cNvSpPr/>
          <p:nvPr/>
        </p:nvSpPr>
        <p:spPr>
          <a:xfrm>
            <a:off x="2032000" y="2159000"/>
            <a:ext cx="1600200" cy="203200"/>
          </a:xfrm>
          <a:prstGeom prst="roundRect">
            <a:avLst>
              <a:gd name="adj" fmla="val 12500"/>
            </a:avLst>
          </a:prstGeom>
          <a:solidFill>
            <a:srgbClr val="FFF8F2"/>
          </a:solidFill>
          <a:ln w="762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2334269" y="2194560"/>
            <a:ext cx="7073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β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2385958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2430408" y="2194560"/>
            <a:ext cx="25696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← [β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2668327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1" name="TextBox 180"/>
          <p:cNvSpPr txBox="1"/>
          <p:nvPr/>
        </p:nvSpPr>
        <p:spPr>
          <a:xfrm>
            <a:off x="2712777" y="2194560"/>
            <a:ext cx="253651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+ η(J̄</a:t>
            </a:r>
          </a:p>
        </p:txBody>
      </p:sp>
      <p:sp>
        <p:nvSpPr>
          <p:cNvPr id="182" name="TextBox 181"/>
          <p:cNvSpPr txBox="1"/>
          <p:nvPr/>
        </p:nvSpPr>
        <p:spPr>
          <a:xfrm>
            <a:off x="2947377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2991827" y="2194560"/>
            <a:ext cx="194913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 − B</a:t>
            </a:r>
          </a:p>
        </p:txBody>
      </p:sp>
      <p:sp>
        <p:nvSpPr>
          <p:cNvPr id="184" name="TextBox 183"/>
          <p:cNvSpPr txBox="1"/>
          <p:nvPr/>
        </p:nvSpPr>
        <p:spPr>
          <a:xfrm>
            <a:off x="3167691" y="2228215"/>
            <a:ext cx="63500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k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3212141" y="2194560"/>
            <a:ext cx="86709" cy="13208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>
                <a:solidFill>
                  <a:srgbClr val="D55E00"/>
                </a:solidFill>
                <a:latin typeface="Liberation Serif"/>
              </a:rPr>
              <a:t>)]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279800" y="2228215"/>
            <a:ext cx="69181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D55E00"/>
                </a:solidFill>
                <a:latin typeface="Liberation Serif"/>
              </a:rPr>
              <a:t>+</a:t>
            </a:r>
          </a:p>
        </p:txBody>
      </p:sp>
      <p:sp>
        <p:nvSpPr>
          <p:cNvPr id="187" name="Freeform 186"/>
          <p:cNvSpPr/>
          <p:nvPr/>
        </p:nvSpPr>
        <p:spPr>
          <a:xfrm>
            <a:off x="3632200" y="787400"/>
            <a:ext cx="419100" cy="1473200"/>
          </a:xfrm>
          <a:custGeom>
            <a:avLst/>
            <a:gdLst/>
            <a:ahLst/>
            <a:cxnLst/>
            <a:rect l="l" t="t" r="r" b="b"/>
            <a:pathLst>
              <a:path w="419100" h="1473200">
                <a:moveTo>
                  <a:pt x="0" y="1473200"/>
                </a:moveTo>
                <a:lnTo>
                  <a:pt x="419100" y="1473200"/>
                </a:lnTo>
                <a:lnTo>
                  <a:pt x="419100" y="0"/>
                </a:lnTo>
              </a:path>
            </a:pathLst>
          </a:custGeom>
          <a:noFill/>
          <a:ln w="10160">
            <a:solidFill>
              <a:srgbClr val="D55E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8" name="Connector 187"/>
          <p:cNvCxnSpPr/>
          <p:nvPr/>
        </p:nvCxnSpPr>
        <p:spPr>
          <a:xfrm>
            <a:off x="4051300" y="787400"/>
            <a:ext cx="76200" cy="0"/>
          </a:xfrm>
          <a:prstGeom prst="line">
            <a:avLst/>
          </a:prstGeom>
          <a:ln w="10160">
            <a:solidFill>
              <a:srgbClr val="D55E00"/>
            </a:solidFill>
            <a:tailEnd type="triangle" w="sm" len="sm"/>
          </a:ln>
          <a:effectLst/>
        </p:spPr>
      </p:cxnSp>
      <p:sp>
        <p:nvSpPr>
          <p:cNvPr id="189" name="Freeform 188"/>
          <p:cNvSpPr/>
          <p:nvPr/>
        </p:nvSpPr>
        <p:spPr>
          <a:xfrm>
            <a:off x="10160" y="495300"/>
            <a:ext cx="4491990" cy="2044700"/>
          </a:xfrm>
          <a:custGeom>
            <a:avLst/>
            <a:gdLst/>
            <a:ahLst/>
            <a:cxnLst/>
            <a:rect l="l" t="t" r="r" b="b"/>
            <a:pathLst>
              <a:path w="4491990" h="2044700">
                <a:moveTo>
                  <a:pt x="4491990" y="1498600"/>
                </a:moveTo>
                <a:lnTo>
                  <a:pt x="4491990" y="2044700"/>
                </a:lnTo>
                <a:lnTo>
                  <a:pt x="0" y="2044700"/>
                </a:lnTo>
                <a:lnTo>
                  <a:pt x="0" y="0"/>
                </a:lnTo>
              </a:path>
            </a:pathLst>
          </a:custGeom>
          <a:noFill/>
          <a:ln w="7620">
            <a:solidFill>
              <a:srgbClr val="59636A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0" name="Connector 189"/>
          <p:cNvCxnSpPr/>
          <p:nvPr/>
        </p:nvCxnSpPr>
        <p:spPr>
          <a:xfrm>
            <a:off x="10160" y="495300"/>
            <a:ext cx="104140" cy="0"/>
          </a:xfrm>
          <a:prstGeom prst="line">
            <a:avLst/>
          </a:prstGeom>
          <a:ln w="7620">
            <a:solidFill>
              <a:srgbClr val="59636A"/>
            </a:solidFill>
            <a:tailEnd type="triangle" w="sm" len="sm"/>
          </a:ln>
          <a:effectLst/>
        </p:spPr>
      </p:cxnSp>
      <p:sp>
        <p:nvSpPr>
          <p:cNvPr id="191" name="TextBox 190"/>
          <p:cNvSpPr txBox="1"/>
          <p:nvPr/>
        </p:nvSpPr>
        <p:spPr>
          <a:xfrm>
            <a:off x="762210" y="2406015"/>
            <a:ext cx="431379" cy="115570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59636A"/>
                </a:solidFill>
                <a:latin typeface="Liberation Serif"/>
              </a:rPr>
              <a:t>next rollout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2392236" y="2391664"/>
            <a:ext cx="879729" cy="118872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20" b="0">
                <a:solidFill>
                  <a:srgbClr val="D55E00"/>
                </a:solidFill>
                <a:latin typeface="Liberation Serif"/>
              </a:rPr>
              <a:t>observed-cost feedback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1282204" y="2617788"/>
            <a:ext cx="2490192" cy="123825"/>
          </a:xfrm>
          <a:prstGeom prst="rect">
            <a:avLst/>
          </a:prstGeom>
          <a:noFill/>
          <a:effectLst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59636A"/>
                </a:solidFill>
                <a:latin typeface="Liberation Serif"/>
              </a:rPr>
              <a:t>F* is a target, not executed; feedback corrects the realization gap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/>
  <cp:revision>1</cp:revision>
  <dcterms:created xsi:type="dcterms:W3CDTF">2000-01-01T00:00:00Z</dcterms:created>
  <dcterms:modified xsi:type="dcterms:W3CDTF">2000-01-01T00:00:00Z</dcterms:modified>
  <cp:category/>
  <dc:identifier/>
  <cp:contentStatus/>
</cp:coreProperties>
</file>