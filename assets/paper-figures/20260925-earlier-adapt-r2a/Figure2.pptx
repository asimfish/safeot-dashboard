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755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" y="38100"/>
            <a:ext cx="635000" cy="20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800" y="50800"/>
            <a:ext cx="609600" cy="266700"/>
          </a:xfrm>
          <a:prstGeom prst="roundRect">
            <a:avLst>
              <a:gd name="adj" fmla="val 9523"/>
            </a:avLst>
          </a:prstGeom>
          <a:solidFill>
            <a:srgbClr val="F5F6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814" y="108458"/>
            <a:ext cx="463572" cy="1386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59636A"/>
                </a:solidFill>
                <a:latin typeface="Liberation Serif"/>
              </a:rPr>
              <a:t>1  Rollout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300" y="38100"/>
            <a:ext cx="774700" cy="203200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889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50800"/>
            <a:ext cx="749300" cy="266700"/>
          </a:xfrm>
          <a:prstGeom prst="roundRect">
            <a:avLst>
              <a:gd name="adj" fmla="val 9523"/>
            </a:avLst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5516" y="108458"/>
            <a:ext cx="422267" cy="1386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67C80"/>
                </a:solidFill>
                <a:latin typeface="Liberation Serif"/>
              </a:rPr>
              <a:t>2  Inputs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38100"/>
            <a:ext cx="825500" cy="20320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889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12900" y="50800"/>
            <a:ext cx="800100" cy="266700"/>
          </a:xfrm>
          <a:prstGeom prst="roundRect">
            <a:avLst>
              <a:gd name="adj" fmla="val 9523"/>
            </a:avLst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6312" y="108458"/>
            <a:ext cx="493276" cy="1386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67C80"/>
                </a:solidFill>
                <a:latin typeface="Liberation Serif"/>
              </a:rPr>
              <a:t>3  Budgets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1900" y="38100"/>
            <a:ext cx="1435100" cy="2032000"/>
          </a:xfrm>
          <a:prstGeom prst="roundRect">
            <a:avLst>
              <a:gd name="adj" fmla="val 2654"/>
            </a:avLst>
          </a:prstGeom>
          <a:solidFill>
            <a:srgbClr val="FFFFFF"/>
          </a:solidFill>
          <a:ln w="889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14600" y="50800"/>
            <a:ext cx="1409700" cy="266700"/>
          </a:xfrm>
          <a:prstGeom prst="roundRect">
            <a:avLst>
              <a:gd name="adj" fmla="val 9523"/>
            </a:avLst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94565" y="108458"/>
            <a:ext cx="849770" cy="1386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67C80"/>
                </a:solidFill>
                <a:latin typeface="Liberation Serif"/>
              </a:rPr>
              <a:t>4  Joint projection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13200" y="38100"/>
            <a:ext cx="977900" cy="203200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8890">
            <a:solidFill>
              <a:srgbClr val="007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25900" y="50800"/>
            <a:ext cx="952500" cy="266700"/>
          </a:xfrm>
          <a:prstGeom prst="roundRect">
            <a:avLst>
              <a:gd name="adj" fmla="val 9523"/>
            </a:avLst>
          </a:prstGeom>
          <a:solidFill>
            <a:srgbClr val="F2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29621" y="108458"/>
            <a:ext cx="745057" cy="1386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0072B2"/>
                </a:solidFill>
                <a:latin typeface="Liberation Serif"/>
              </a:rPr>
              <a:t>5  Policy update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3100" y="1130300"/>
            <a:ext cx="76200" cy="0"/>
          </a:xfrm>
          <a:prstGeom prst="line">
            <a:avLst/>
          </a:prstGeom>
          <a:ln w="10160">
            <a:solidFill>
              <a:srgbClr val="59636A"/>
            </a:solidFill>
            <a:tailEnd type="triangle" w="sm" len="sm"/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1524000" y="1130300"/>
            <a:ext cx="76200" cy="0"/>
          </a:xfrm>
          <a:prstGeom prst="line">
            <a:avLst/>
          </a:prstGeom>
          <a:ln w="10160">
            <a:solidFill>
              <a:srgbClr val="59636A"/>
            </a:solidFill>
            <a:tailEnd type="triangle" w="sm" len="sm"/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2425700" y="1130300"/>
            <a:ext cx="76200" cy="0"/>
          </a:xfrm>
          <a:prstGeom prst="line">
            <a:avLst/>
          </a:prstGeom>
          <a:ln w="10160">
            <a:solidFill>
              <a:srgbClr val="59636A"/>
            </a:solidFill>
            <a:tailEnd type="triangle" w="sm" len="sm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311194" y="387350"/>
            <a:ext cx="83165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36A"/>
                </a:solidFill>
                <a:latin typeface="Liberation Serif"/>
              </a:rPr>
              <a:t>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309" y="450215"/>
            <a:ext cx="43748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t</a:t>
            </a:r>
          </a:p>
        </p:txBody>
      </p:sp>
      <p:sp>
        <p:nvSpPr>
          <p:cNvPr id="22" name="Oval 21"/>
          <p:cNvSpPr/>
          <p:nvPr/>
        </p:nvSpPr>
        <p:spPr>
          <a:xfrm>
            <a:off x="133350" y="654050"/>
            <a:ext cx="63500" cy="635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03200" y="685800"/>
            <a:ext cx="114300" cy="0"/>
          </a:xfrm>
          <a:prstGeom prst="line">
            <a:avLst/>
          </a:prstGeom>
          <a:ln w="8255">
            <a:solidFill>
              <a:srgbClr val="59636A"/>
            </a:solidFill>
            <a:tailEnd type="triangle" w="sm" len="sm"/>
          </a:ln>
          <a:effectLst/>
        </p:spPr>
      </p:cxnSp>
      <p:sp>
        <p:nvSpPr>
          <p:cNvPr id="24" name="Oval 23"/>
          <p:cNvSpPr/>
          <p:nvPr/>
        </p:nvSpPr>
        <p:spPr>
          <a:xfrm>
            <a:off x="323850" y="654050"/>
            <a:ext cx="63500" cy="635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393700" y="685800"/>
            <a:ext cx="114300" cy="0"/>
          </a:xfrm>
          <a:prstGeom prst="line">
            <a:avLst/>
          </a:prstGeom>
          <a:ln w="8255">
            <a:solidFill>
              <a:srgbClr val="59636A"/>
            </a:solidFill>
            <a:tailEnd type="triangle" w="sm" len="sm"/>
          </a:ln>
          <a:effectLst/>
        </p:spPr>
      </p:cxnSp>
      <p:sp>
        <p:nvSpPr>
          <p:cNvPr id="26" name="Oval 25"/>
          <p:cNvSpPr/>
          <p:nvPr/>
        </p:nvSpPr>
        <p:spPr>
          <a:xfrm>
            <a:off x="514350" y="654050"/>
            <a:ext cx="63500" cy="635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600" y="1016000"/>
            <a:ext cx="508000" cy="419100"/>
          </a:xfrm>
          <a:prstGeom prst="roundRect">
            <a:avLst>
              <a:gd name="adj" fmla="val 6060"/>
            </a:avLst>
          </a:prstGeom>
          <a:solidFill>
            <a:srgbClr val="FAFAFA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5990" y="1064260"/>
            <a:ext cx="23922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9636A"/>
                </a:solidFill>
                <a:latin typeface="Liberation Serif"/>
              </a:rPr>
              <a:t>GAE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0069" y="1242060"/>
            <a:ext cx="92424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Liberation Serif"/>
              </a:rPr>
              <a:t>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3443" y="1288415"/>
            <a:ext cx="4865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3044" y="1242060"/>
            <a:ext cx="143224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Liberation Serif"/>
              </a:rPr>
              <a:t>, 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218" y="1288415"/>
            <a:ext cx="58513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681" y="13138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901" y="1591564"/>
            <a:ext cx="519398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9636A"/>
                </a:solidFill>
                <a:latin typeface="Liberation Serif"/>
              </a:rPr>
              <a:t>Episode costs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660" y="1784350"/>
            <a:ext cx="68481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5E00"/>
                </a:solidFill>
                <a:latin typeface="Liberation Serif"/>
              </a:rPr>
              <a:t>J̄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090" y="18472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3885" y="382588"/>
            <a:ext cx="545529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67C80"/>
                </a:solidFill>
                <a:latin typeface="Liberation Serif"/>
              </a:rPr>
              <a:t>Rollout graph</a:t>
            </a:r>
          </a:p>
        </p:txBody>
      </p:sp>
      <p:sp>
        <p:nvSpPr>
          <p:cNvPr id="38" name="Freeform 37"/>
          <p:cNvSpPr/>
          <p:nvPr/>
        </p:nvSpPr>
        <p:spPr>
          <a:xfrm>
            <a:off x="889000" y="596900"/>
            <a:ext cx="152400" cy="139700"/>
          </a:xfrm>
          <a:custGeom>
            <a:avLst/>
            <a:gdLst/>
            <a:ahLst/>
            <a:cxnLst/>
            <a:rect l="l" t="t" r="r" b="b"/>
            <a:pathLst>
              <a:path w="152400" h="139700">
                <a:moveTo>
                  <a:pt x="0" y="139700"/>
                </a:moveTo>
                <a:lnTo>
                  <a:pt x="152400" y="0"/>
                </a:lnTo>
              </a:path>
            </a:pathLst>
          </a:custGeom>
          <a:noFill/>
          <a:ln w="228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041400" y="596900"/>
            <a:ext cx="187960" cy="0"/>
          </a:xfrm>
          <a:custGeom>
            <a:avLst/>
            <a:gdLst/>
            <a:ahLst/>
            <a:cxnLst/>
            <a:rect l="l" t="t" r="r" b="b"/>
            <a:pathLst>
              <a:path w="187960" h="0">
                <a:moveTo>
                  <a:pt x="0" y="0"/>
                </a:moveTo>
                <a:lnTo>
                  <a:pt x="187960" y="0"/>
                </a:lnTo>
              </a:path>
            </a:pathLst>
          </a:custGeom>
          <a:noFill/>
          <a:ln w="228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229360" y="596900"/>
            <a:ext cx="167640" cy="139700"/>
          </a:xfrm>
          <a:custGeom>
            <a:avLst/>
            <a:gdLst/>
            <a:ahLst/>
            <a:cxnLst/>
            <a:rect l="l" t="t" r="r" b="b"/>
            <a:pathLst>
              <a:path w="167640" h="139700">
                <a:moveTo>
                  <a:pt x="0" y="0"/>
                </a:moveTo>
                <a:lnTo>
                  <a:pt x="167640" y="139700"/>
                </a:lnTo>
              </a:path>
            </a:pathLst>
          </a:custGeom>
          <a:noFill/>
          <a:ln w="228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889000" y="736600"/>
            <a:ext cx="152400" cy="139700"/>
          </a:xfrm>
          <a:custGeom>
            <a:avLst/>
            <a:gdLst/>
            <a:ahLst/>
            <a:cxnLst/>
            <a:rect l="l" t="t" r="r" b="b"/>
            <a:pathLst>
              <a:path w="152400" h="139700">
                <a:moveTo>
                  <a:pt x="0" y="0"/>
                </a:moveTo>
                <a:lnTo>
                  <a:pt x="152400" y="139700"/>
                </a:lnTo>
              </a:path>
            </a:pathLst>
          </a:custGeom>
          <a:noFill/>
          <a:ln w="762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041400" y="876300"/>
            <a:ext cx="187960" cy="0"/>
          </a:xfrm>
          <a:custGeom>
            <a:avLst/>
            <a:gdLst/>
            <a:ahLst/>
            <a:cxnLst/>
            <a:rect l="l" t="t" r="r" b="b"/>
            <a:pathLst>
              <a:path w="187960" h="0">
                <a:moveTo>
                  <a:pt x="0" y="0"/>
                </a:moveTo>
                <a:lnTo>
                  <a:pt x="187960" y="0"/>
                </a:lnTo>
              </a:path>
            </a:pathLst>
          </a:custGeom>
          <a:noFill/>
          <a:ln w="762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229360" y="736600"/>
            <a:ext cx="167640" cy="139700"/>
          </a:xfrm>
          <a:custGeom>
            <a:avLst/>
            <a:gdLst/>
            <a:ahLst/>
            <a:cxnLst/>
            <a:rect l="l" t="t" r="r" b="b"/>
            <a:pathLst>
              <a:path w="167640" h="139700">
                <a:moveTo>
                  <a:pt x="0" y="139700"/>
                </a:moveTo>
                <a:lnTo>
                  <a:pt x="167640" y="0"/>
                </a:lnTo>
              </a:path>
            </a:pathLst>
          </a:custGeom>
          <a:noFill/>
          <a:ln w="762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041400" y="596900"/>
            <a:ext cx="187960" cy="279400"/>
          </a:xfrm>
          <a:custGeom>
            <a:avLst/>
            <a:gdLst/>
            <a:ahLst/>
            <a:cxnLst/>
            <a:rect l="l" t="t" r="r" b="b"/>
            <a:pathLst>
              <a:path w="187960" h="279400">
                <a:moveTo>
                  <a:pt x="0" y="0"/>
                </a:moveTo>
                <a:lnTo>
                  <a:pt x="187960" y="279400"/>
                </a:lnTo>
              </a:path>
            </a:pathLst>
          </a:custGeom>
          <a:noFill/>
          <a:ln w="762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63600" y="7112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16000" y="5715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203960" y="5715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371600" y="711200"/>
            <a:ext cx="50800" cy="50800"/>
          </a:xfrm>
          <a:prstGeom prst="ellipse">
            <a:avLst/>
          </a:prstGeom>
          <a:solidFill>
            <a:srgbClr val="167C80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203960" y="8509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16000" y="8509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4400" y="106680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14400" y="111125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4400" y="11557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58850" y="10668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58850" y="111125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58850" y="115570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003300" y="10668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03300" y="111125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03300" y="11557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3294" y="1056005"/>
            <a:ext cx="82612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7C80"/>
                </a:solidFill>
                <a:latin typeface="Liberation Serif"/>
              </a:rPr>
              <a:t>F̂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4400" y="137160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14400" y="141605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14400" y="14605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58850" y="13716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58850" y="141605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58850" y="146050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003300" y="13716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03300" y="141605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003300" y="14605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93802" y="1360805"/>
            <a:ext cx="101596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7C80"/>
                </a:solidFill>
                <a:latin typeface="Liberation Serif"/>
              </a:rPr>
              <a:t>A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4400" y="167640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14400" y="172085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14400" y="17653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58850" y="16764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58850" y="172085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58850" y="176530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003300" y="16764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003300" y="172085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003300" y="17653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96954" y="1665605"/>
            <a:ext cx="95292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7C80"/>
                </a:solidFill>
                <a:latin typeface="Liberation Serif"/>
              </a:rPr>
              <a:t>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33500" y="17202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763" y="1859915"/>
            <a:ext cx="475774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state clusters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33860" y="391160"/>
            <a:ext cx="558181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67C80"/>
                </a:solidFill>
                <a:latin typeface="Liberation Serif"/>
              </a:rPr>
              <a:t>Soft budgets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90219" y="573405"/>
            <a:ext cx="76200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7C80"/>
                </a:solidFill>
                <a:latin typeface="Liberation Serif"/>
              </a:rPr>
              <a:t>b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47369" y="6153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91819" y="573405"/>
            <a:ext cx="216896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7C80"/>
                </a:solidFill>
                <a:latin typeface="Liberation Serif"/>
              </a:rPr>
              <a:t> = B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89665" y="6153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4115" y="573405"/>
            <a:ext cx="120616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7C80"/>
                </a:solidFill>
                <a:latin typeface="Liberation Serif"/>
              </a:rPr>
              <a:t>/L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41375" y="780732"/>
            <a:ext cx="134236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67C80"/>
                </a:solidFill>
                <a:latin typeface="STIXGeneral"/>
              </a:rPr>
              <a:t>⟨C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56561" y="8185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01011" y="780732"/>
            <a:ext cx="358114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67C80"/>
                </a:solidFill>
                <a:latin typeface="STIXGeneral"/>
              </a:rPr>
              <a:t>, F⟩ ≤ b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40075" y="8185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93" name="Freeform 92"/>
          <p:cNvSpPr/>
          <p:nvPr/>
        </p:nvSpPr>
        <p:spPr>
          <a:xfrm>
            <a:off x="1701800" y="1028700"/>
            <a:ext cx="622300" cy="0"/>
          </a:xfrm>
          <a:custGeom>
            <a:avLst/>
            <a:gdLst/>
            <a:ahLst/>
            <a:cxnLst/>
            <a:rect l="l" t="t" r="r" b="b"/>
            <a:pathLst>
              <a:path w="622300" h="0">
                <a:moveTo>
                  <a:pt x="0" y="0"/>
                </a:moveTo>
                <a:lnTo>
                  <a:pt x="622300" y="0"/>
                </a:lnTo>
              </a:path>
            </a:pathLst>
          </a:custGeom>
          <a:noFill/>
          <a:ln w="635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756489" y="1127760"/>
            <a:ext cx="512921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43C39"/>
                </a:solidFill>
                <a:latin typeface="Liberation Serif"/>
              </a:rPr>
              <a:t>Hard edges</a:t>
            </a:r>
          </a:p>
        </p:txBody>
      </p:sp>
      <p:sp>
        <p:nvSpPr>
          <p:cNvPr id="95" name="Freeform 94"/>
          <p:cNvSpPr/>
          <p:nvPr/>
        </p:nvSpPr>
        <p:spPr>
          <a:xfrm>
            <a:off x="1752600" y="1409700"/>
            <a:ext cx="520700" cy="0"/>
          </a:xfrm>
          <a:custGeom>
            <a:avLst/>
            <a:gdLst/>
            <a:ahLst/>
            <a:cxnLst/>
            <a:rect l="l" t="t" r="r" b="b"/>
            <a:pathLst>
              <a:path w="520700" h="0">
                <a:moveTo>
                  <a:pt x="0" y="0"/>
                </a:moveTo>
                <a:lnTo>
                  <a:pt x="520700" y="0"/>
                </a:lnTo>
              </a:path>
            </a:pathLst>
          </a:custGeom>
          <a:noFill/>
          <a:ln w="8890">
            <a:solidFill>
              <a:srgbClr val="C43C39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1968500" y="13589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76200" h="101600">
                <a:moveTo>
                  <a:pt x="0" y="0"/>
                </a:moveTo>
                <a:lnTo>
                  <a:pt x="76200" y="101600"/>
                </a:lnTo>
              </a:path>
            </a:pathLst>
          </a:custGeom>
          <a:noFill/>
          <a:ln w="1143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968500" y="13589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76200" h="101600">
                <a:moveTo>
                  <a:pt x="0" y="101600"/>
                </a:moveTo>
                <a:lnTo>
                  <a:pt x="76200" y="0"/>
                </a:lnTo>
              </a:path>
            </a:pathLst>
          </a:custGeom>
          <a:noFill/>
          <a:ln w="1143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859691" y="1564005"/>
            <a:ext cx="82612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43C39"/>
                </a:solidFill>
                <a:latin typeface="Liberation Serif"/>
              </a:rPr>
              <a:t>F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923252" y="1605915"/>
            <a:ext cx="83252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43C39"/>
                </a:solidFill>
                <a:latin typeface="Liberation Serif"/>
              </a:rPr>
              <a:t>H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987455" y="1564005"/>
            <a:ext cx="197804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43C39"/>
                </a:solidFill>
                <a:latin typeface="Liberation Serif"/>
              </a:rPr>
              <a:t> = 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75120" y="1809115"/>
            <a:ext cx="67566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excluded; no price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696511" y="378460"/>
            <a:ext cx="193977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Liberation Serif"/>
              </a:rPr>
              <a:t>max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71437" y="424815"/>
            <a:ext cx="68487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F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20874" y="378460"/>
            <a:ext cx="840565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STIXGeneral"/>
              </a:rPr>
              <a:t> ⟨A,F⟩ − ε KL(F∥F̂)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835637" y="562038"/>
            <a:ext cx="767625" cy="12052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167C80"/>
                </a:solidFill>
                <a:latin typeface="Liberation Serif"/>
              </a:rPr>
              <a:t>F ≥ 0 · flow balance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842623" y="734060"/>
            <a:ext cx="12746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STIXGeneral"/>
              </a:rPr>
              <a:t>⟨C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951034" y="7677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95484" y="734060"/>
            <a:ext cx="2619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STIXGeneral"/>
              </a:rPr>
              <a:t>,F⟩≤b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238403" y="7677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282853" y="734060"/>
            <a:ext cx="16017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Liberation Serif"/>
              </a:rPr>
              <a:t> · F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23982" y="767715"/>
            <a:ext cx="83252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88184" y="734060"/>
            <a:ext cx="12714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Liberation Serif"/>
              </a:rPr>
              <a:t>=0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90794" y="967105"/>
            <a:ext cx="82612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6A"/>
                </a:solidFill>
                <a:latin typeface="Liberation Serif"/>
              </a:rPr>
              <a:t>F̂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097395" y="983615"/>
            <a:ext cx="23141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costly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536919" y="967105"/>
            <a:ext cx="139762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7C80"/>
                </a:solidFill>
                <a:latin typeface="Liberation Serif"/>
              </a:rPr>
              <a:t>F*</a:t>
            </a:r>
          </a:p>
        </p:txBody>
      </p:sp>
      <p:sp>
        <p:nvSpPr>
          <p:cNvPr id="116" name="Freeform 115"/>
          <p:cNvSpPr/>
          <p:nvPr/>
        </p:nvSpPr>
        <p:spPr>
          <a:xfrm>
            <a:off x="2735580" y="1193800"/>
            <a:ext cx="183388" cy="0"/>
          </a:xfrm>
          <a:custGeom>
            <a:avLst/>
            <a:gdLst/>
            <a:ahLst/>
            <a:cxnLst/>
            <a:rect l="l" t="t" r="r" b="b"/>
            <a:pathLst>
              <a:path w="183388" h="0">
                <a:moveTo>
                  <a:pt x="0" y="0"/>
                </a:moveTo>
                <a:lnTo>
                  <a:pt x="183388" y="0"/>
                </a:lnTo>
              </a:path>
            </a:pathLst>
          </a:custGeom>
          <a:noFill/>
          <a:ln w="45720">
            <a:solidFill>
              <a:srgbClr val="F3D4B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590800" y="1193800"/>
            <a:ext cx="144780" cy="152400"/>
          </a:xfrm>
          <a:custGeom>
            <a:avLst/>
            <a:gdLst/>
            <a:ahLst/>
            <a:cxnLst/>
            <a:rect l="l" t="t" r="r" b="b"/>
            <a:pathLst>
              <a:path w="144780" h="152400">
                <a:moveTo>
                  <a:pt x="0" y="152400"/>
                </a:moveTo>
                <a:lnTo>
                  <a:pt x="144780" y="0"/>
                </a:lnTo>
              </a:path>
            </a:pathLst>
          </a:custGeom>
          <a:noFill/>
          <a:ln w="25400">
            <a:solidFill>
              <a:srgbClr val="ABB5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2735580" y="1193800"/>
            <a:ext cx="183388" cy="0"/>
          </a:xfrm>
          <a:custGeom>
            <a:avLst/>
            <a:gdLst/>
            <a:ahLst/>
            <a:cxnLst/>
            <a:rect l="l" t="t" r="r" b="b"/>
            <a:pathLst>
              <a:path w="183388" h="0">
                <a:moveTo>
                  <a:pt x="0" y="0"/>
                </a:moveTo>
                <a:lnTo>
                  <a:pt x="183388" y="0"/>
                </a:lnTo>
              </a:path>
            </a:pathLst>
          </a:custGeom>
          <a:noFill/>
          <a:ln w="25400">
            <a:solidFill>
              <a:srgbClr val="ABB5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918968" y="1193800"/>
            <a:ext cx="154432" cy="152400"/>
          </a:xfrm>
          <a:custGeom>
            <a:avLst/>
            <a:gdLst/>
            <a:ahLst/>
            <a:cxnLst/>
            <a:rect l="l" t="t" r="r" b="b"/>
            <a:pathLst>
              <a:path w="154432" h="152400">
                <a:moveTo>
                  <a:pt x="0" y="0"/>
                </a:moveTo>
                <a:lnTo>
                  <a:pt x="154432" y="152400"/>
                </a:lnTo>
              </a:path>
            </a:pathLst>
          </a:custGeom>
          <a:noFill/>
          <a:ln w="25400">
            <a:solidFill>
              <a:srgbClr val="ABB5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2590800" y="1346200"/>
            <a:ext cx="144780" cy="152400"/>
          </a:xfrm>
          <a:custGeom>
            <a:avLst/>
            <a:gdLst/>
            <a:ahLst/>
            <a:cxnLst/>
            <a:rect l="l" t="t" r="r" b="b"/>
            <a:pathLst>
              <a:path w="144780" h="152400">
                <a:moveTo>
                  <a:pt x="0" y="0"/>
                </a:moveTo>
                <a:lnTo>
                  <a:pt x="144780" y="152400"/>
                </a:lnTo>
              </a:path>
            </a:pathLst>
          </a:custGeom>
          <a:noFill/>
          <a:ln w="8255">
            <a:solidFill>
              <a:srgbClr val="ABB5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2735580" y="1498600"/>
            <a:ext cx="183388" cy="0"/>
          </a:xfrm>
          <a:custGeom>
            <a:avLst/>
            <a:gdLst/>
            <a:ahLst/>
            <a:cxnLst/>
            <a:rect l="l" t="t" r="r" b="b"/>
            <a:pathLst>
              <a:path w="183388" h="0">
                <a:moveTo>
                  <a:pt x="0" y="0"/>
                </a:moveTo>
                <a:lnTo>
                  <a:pt x="183388" y="0"/>
                </a:lnTo>
              </a:path>
            </a:pathLst>
          </a:custGeom>
          <a:noFill/>
          <a:ln w="8255">
            <a:solidFill>
              <a:srgbClr val="ABB5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918968" y="1346200"/>
            <a:ext cx="154432" cy="152400"/>
          </a:xfrm>
          <a:custGeom>
            <a:avLst/>
            <a:gdLst/>
            <a:ahLst/>
            <a:cxnLst/>
            <a:rect l="l" t="t" r="r" b="b"/>
            <a:pathLst>
              <a:path w="154432" h="152400">
                <a:moveTo>
                  <a:pt x="0" y="152400"/>
                </a:moveTo>
                <a:lnTo>
                  <a:pt x="154432" y="0"/>
                </a:lnTo>
              </a:path>
            </a:pathLst>
          </a:custGeom>
          <a:noFill/>
          <a:ln w="8255">
            <a:solidFill>
              <a:srgbClr val="ABB5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2735580" y="1193800"/>
            <a:ext cx="183388" cy="304800"/>
          </a:xfrm>
          <a:custGeom>
            <a:avLst/>
            <a:gdLst/>
            <a:ahLst/>
            <a:cxnLst/>
            <a:rect l="l" t="t" r="r" b="b"/>
            <a:pathLst>
              <a:path w="183388" h="304800">
                <a:moveTo>
                  <a:pt x="0" y="0"/>
                </a:moveTo>
                <a:lnTo>
                  <a:pt x="183388" y="304800"/>
                </a:lnTo>
              </a:path>
            </a:pathLst>
          </a:custGeom>
          <a:noFill/>
          <a:ln w="8255">
            <a:solidFill>
              <a:srgbClr val="C43C39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801874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50800" y="50800"/>
                </a:lnTo>
              </a:path>
            </a:pathLst>
          </a:custGeom>
          <a:noFill/>
          <a:ln w="1016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801874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50800"/>
                </a:moveTo>
                <a:lnTo>
                  <a:pt x="50800" y="0"/>
                </a:lnTo>
              </a:path>
            </a:pathLst>
          </a:custGeom>
          <a:noFill/>
          <a:ln w="1016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2569210" y="13246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2713990" y="11722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897378" y="11722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3051810" y="1324610"/>
            <a:ext cx="43180" cy="43180"/>
          </a:xfrm>
          <a:prstGeom prst="ellipse">
            <a:avLst/>
          </a:prstGeom>
          <a:solidFill>
            <a:srgbClr val="59636A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2897378" y="14770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2713990" y="14770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3124200" y="1346200"/>
            <a:ext cx="203200" cy="0"/>
          </a:xfrm>
          <a:prstGeom prst="line">
            <a:avLst/>
          </a:prstGeom>
          <a:ln w="10160">
            <a:solidFill>
              <a:srgbClr val="167C80"/>
            </a:solidFill>
            <a:tailEnd type="triangle" w="sm" len="sm"/>
          </a:ln>
          <a:effectLst/>
        </p:spPr>
      </p:cxnSp>
      <p:sp>
        <p:nvSpPr>
          <p:cNvPr id="133" name="Freeform 132"/>
          <p:cNvSpPr/>
          <p:nvPr/>
        </p:nvSpPr>
        <p:spPr>
          <a:xfrm>
            <a:off x="3522980" y="1193800"/>
            <a:ext cx="183388" cy="0"/>
          </a:xfrm>
          <a:custGeom>
            <a:avLst/>
            <a:gdLst/>
            <a:ahLst/>
            <a:cxnLst/>
            <a:rect l="l" t="t" r="r" b="b"/>
            <a:pathLst>
              <a:path w="183388" h="0">
                <a:moveTo>
                  <a:pt x="0" y="0"/>
                </a:moveTo>
                <a:lnTo>
                  <a:pt x="183388" y="0"/>
                </a:lnTo>
              </a:path>
            </a:pathLst>
          </a:custGeom>
          <a:noFill/>
          <a:ln w="45720">
            <a:solidFill>
              <a:srgbClr val="F3D4B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3378200" y="1193800"/>
            <a:ext cx="144780" cy="152400"/>
          </a:xfrm>
          <a:custGeom>
            <a:avLst/>
            <a:gdLst/>
            <a:ahLst/>
            <a:cxnLst/>
            <a:rect l="l" t="t" r="r" b="b"/>
            <a:pathLst>
              <a:path w="144780" h="152400">
                <a:moveTo>
                  <a:pt x="0" y="152400"/>
                </a:moveTo>
                <a:lnTo>
                  <a:pt x="144780" y="0"/>
                </a:lnTo>
              </a:path>
            </a:pathLst>
          </a:custGeom>
          <a:noFill/>
          <a:ln w="8255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3522980" y="1193800"/>
            <a:ext cx="183388" cy="0"/>
          </a:xfrm>
          <a:custGeom>
            <a:avLst/>
            <a:gdLst/>
            <a:ahLst/>
            <a:cxnLst/>
            <a:rect l="l" t="t" r="r" b="b"/>
            <a:pathLst>
              <a:path w="183388" h="0">
                <a:moveTo>
                  <a:pt x="0" y="0"/>
                </a:moveTo>
                <a:lnTo>
                  <a:pt x="183388" y="0"/>
                </a:lnTo>
              </a:path>
            </a:pathLst>
          </a:custGeom>
          <a:noFill/>
          <a:ln w="8255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3706368" y="1193800"/>
            <a:ext cx="154432" cy="152400"/>
          </a:xfrm>
          <a:custGeom>
            <a:avLst/>
            <a:gdLst/>
            <a:ahLst/>
            <a:cxnLst/>
            <a:rect l="l" t="t" r="r" b="b"/>
            <a:pathLst>
              <a:path w="154432" h="152400">
                <a:moveTo>
                  <a:pt x="0" y="0"/>
                </a:moveTo>
                <a:lnTo>
                  <a:pt x="154432" y="152400"/>
                </a:lnTo>
              </a:path>
            </a:pathLst>
          </a:custGeom>
          <a:noFill/>
          <a:ln w="8255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3378200" y="1346200"/>
            <a:ext cx="144780" cy="152400"/>
          </a:xfrm>
          <a:custGeom>
            <a:avLst/>
            <a:gdLst/>
            <a:ahLst/>
            <a:cxnLst/>
            <a:rect l="l" t="t" r="r" b="b"/>
            <a:pathLst>
              <a:path w="144780" h="152400">
                <a:moveTo>
                  <a:pt x="0" y="0"/>
                </a:moveTo>
                <a:lnTo>
                  <a:pt x="144780" y="152400"/>
                </a:lnTo>
              </a:path>
            </a:pathLst>
          </a:custGeom>
          <a:noFill/>
          <a:ln w="2540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3522980" y="1498600"/>
            <a:ext cx="183388" cy="0"/>
          </a:xfrm>
          <a:custGeom>
            <a:avLst/>
            <a:gdLst/>
            <a:ahLst/>
            <a:cxnLst/>
            <a:rect l="l" t="t" r="r" b="b"/>
            <a:pathLst>
              <a:path w="183388" h="0">
                <a:moveTo>
                  <a:pt x="0" y="0"/>
                </a:moveTo>
                <a:lnTo>
                  <a:pt x="183388" y="0"/>
                </a:lnTo>
              </a:path>
            </a:pathLst>
          </a:custGeom>
          <a:noFill/>
          <a:ln w="2540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3706368" y="1346200"/>
            <a:ext cx="154432" cy="152400"/>
          </a:xfrm>
          <a:custGeom>
            <a:avLst/>
            <a:gdLst/>
            <a:ahLst/>
            <a:cxnLst/>
            <a:rect l="l" t="t" r="r" b="b"/>
            <a:pathLst>
              <a:path w="154432" h="152400">
                <a:moveTo>
                  <a:pt x="0" y="152400"/>
                </a:moveTo>
                <a:lnTo>
                  <a:pt x="154432" y="0"/>
                </a:lnTo>
              </a:path>
            </a:pathLst>
          </a:custGeom>
          <a:noFill/>
          <a:ln w="2540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3522980" y="1193800"/>
            <a:ext cx="183388" cy="304800"/>
          </a:xfrm>
          <a:custGeom>
            <a:avLst/>
            <a:gdLst/>
            <a:ahLst/>
            <a:cxnLst/>
            <a:rect l="l" t="t" r="r" b="b"/>
            <a:pathLst>
              <a:path w="183388" h="304800">
                <a:moveTo>
                  <a:pt x="0" y="0"/>
                </a:moveTo>
                <a:lnTo>
                  <a:pt x="183388" y="304800"/>
                </a:lnTo>
              </a:path>
            </a:pathLst>
          </a:custGeom>
          <a:noFill/>
          <a:ln w="8255">
            <a:solidFill>
              <a:srgbClr val="C43C39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3589274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50800" y="50800"/>
                </a:lnTo>
              </a:path>
            </a:pathLst>
          </a:custGeom>
          <a:noFill/>
          <a:ln w="1016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3589274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50800"/>
                </a:moveTo>
                <a:lnTo>
                  <a:pt x="50800" y="0"/>
                </a:lnTo>
              </a:path>
            </a:pathLst>
          </a:custGeom>
          <a:noFill/>
          <a:ln w="1016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356610" y="13246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3501390" y="11722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3684778" y="11722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839210" y="1324610"/>
            <a:ext cx="43180" cy="43180"/>
          </a:xfrm>
          <a:prstGeom prst="ellipse">
            <a:avLst/>
          </a:prstGeom>
          <a:solidFill>
            <a:srgbClr val="167C80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684778" y="14770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501390" y="14770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3454400" y="1549400"/>
            <a:ext cx="393700" cy="101600"/>
          </a:xfrm>
          <a:custGeom>
            <a:avLst/>
            <a:gdLst/>
            <a:ahLst/>
            <a:cxnLst/>
            <a:rect l="l" t="t" r="r" b="b"/>
            <a:pathLst>
              <a:path w="393700" h="101600">
                <a:moveTo>
                  <a:pt x="0" y="0"/>
                </a:moveTo>
                <a:lnTo>
                  <a:pt x="0" y="101600"/>
                </a:lnTo>
                <a:lnTo>
                  <a:pt x="393700" y="101600"/>
                </a:lnTo>
              </a:path>
            </a:pathLst>
          </a:custGeom>
          <a:noFill/>
          <a:ln w="7620">
            <a:solidFill>
              <a:srgbClr val="59636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419430" y="1694815"/>
            <a:ext cx="400139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target only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656363" y="1694815"/>
            <a:ext cx="503874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width = visits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686704" y="1866011"/>
            <a:ext cx="722593" cy="12877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167C80"/>
                </a:solidFill>
                <a:latin typeface="Liberation Serif"/>
              </a:rPr>
              <a:t>Budget prices λ*</a:t>
            </a:r>
          </a:p>
        </p:txBody>
      </p:sp>
      <p:sp>
        <p:nvSpPr>
          <p:cNvPr id="153" name="Freeform 152"/>
          <p:cNvSpPr/>
          <p:nvPr/>
        </p:nvSpPr>
        <p:spPr>
          <a:xfrm>
            <a:off x="3860800" y="444500"/>
            <a:ext cx="114300" cy="1485900"/>
          </a:xfrm>
          <a:custGeom>
            <a:avLst/>
            <a:gdLst/>
            <a:ahLst/>
            <a:cxnLst/>
            <a:rect l="l" t="t" r="r" b="b"/>
            <a:pathLst>
              <a:path w="114300" h="1485900">
                <a:moveTo>
                  <a:pt x="0" y="1485900"/>
                </a:moveTo>
                <a:lnTo>
                  <a:pt x="114300" y="1485900"/>
                </a:lnTo>
                <a:lnTo>
                  <a:pt x="114300" y="0"/>
                </a:lnTo>
              </a:path>
            </a:pathLst>
          </a:custGeom>
          <a:noFill/>
          <a:ln w="1016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>
            <a:off x="3975100" y="444500"/>
            <a:ext cx="101600" cy="0"/>
          </a:xfrm>
          <a:prstGeom prst="line">
            <a:avLst/>
          </a:prstGeom>
          <a:ln w="10160">
            <a:solidFill>
              <a:srgbClr val="167C80"/>
            </a:solidFill>
            <a:tailEnd type="triangle" w="sm" len="sm"/>
          </a:ln>
          <a:effectLst/>
        </p:spPr>
      </p:cxnSp>
      <p:sp>
        <p:nvSpPr>
          <p:cNvPr id="155" name="TextBox 154"/>
          <p:cNvSpPr txBox="1"/>
          <p:nvPr/>
        </p:nvSpPr>
        <p:spPr>
          <a:xfrm>
            <a:off x="4214265" y="378460"/>
            <a:ext cx="57577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Liberation Serif"/>
              </a:rPr>
              <a:t>clip c + EMA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4502150" y="533400"/>
            <a:ext cx="0" cy="101600"/>
          </a:xfrm>
          <a:prstGeom prst="line">
            <a:avLst/>
          </a:prstGeom>
          <a:ln w="10160">
            <a:solidFill>
              <a:srgbClr val="167C80"/>
            </a:solidFill>
            <a:tailEnd type="triangle" w="sm" len="sm"/>
          </a:ln>
          <a:effectLst/>
        </p:spPr>
      </p:cxnSp>
      <p:sp>
        <p:nvSpPr>
          <p:cNvPr id="157" name="TextBox 156"/>
          <p:cNvSpPr txBox="1"/>
          <p:nvPr/>
        </p:nvSpPr>
        <p:spPr>
          <a:xfrm>
            <a:off x="4218603" y="717232"/>
            <a:ext cx="71389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72B2"/>
                </a:solidFill>
                <a:latin typeface="Liberation Serif"/>
              </a:rPr>
              <a:t>λ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270942" y="7677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072B2"/>
                </a:solidFill>
                <a:latin typeface="Liberation Serif"/>
              </a:rPr>
              <a:t>k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315392" y="717232"/>
            <a:ext cx="133899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6A"/>
                </a:solidFill>
                <a:latin typeface="Liberation Serif"/>
              </a:rPr>
              <a:t> = 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430240" y="717232"/>
            <a:ext cx="71389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67C80"/>
                </a:solidFill>
                <a:latin typeface="Liberation Serif"/>
              </a:rPr>
              <a:t>λ̄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482579" y="6788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*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527029" y="7677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1479" y="717232"/>
            <a:ext cx="133899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6A"/>
                </a:solidFill>
                <a:latin typeface="Liberation Serif"/>
              </a:rPr>
              <a:t> + 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686328" y="717232"/>
            <a:ext cx="73970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55E00"/>
                </a:solidFill>
                <a:latin typeface="Liberation Serif"/>
              </a:rPr>
              <a:t>β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741247" y="7677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4502150" y="889000"/>
            <a:ext cx="0" cy="101600"/>
          </a:xfrm>
          <a:prstGeom prst="line">
            <a:avLst/>
          </a:prstGeom>
          <a:ln w="10160">
            <a:solidFill>
              <a:srgbClr val="0072B2"/>
            </a:solidFill>
            <a:tailEnd type="triangle" w="sm" len="sm"/>
          </a:ln>
          <a:effectLst/>
        </p:spPr>
      </p:cxnSp>
      <p:sp>
        <p:nvSpPr>
          <p:cNvPr id="167" name="Rounded Rectangle 166"/>
          <p:cNvSpPr/>
          <p:nvPr/>
        </p:nvSpPr>
        <p:spPr>
          <a:xfrm>
            <a:off x="4102100" y="1028700"/>
            <a:ext cx="800100" cy="3175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7620">
            <a:solidFill>
              <a:srgbClr val="007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148881" y="1070038"/>
            <a:ext cx="706538" cy="12052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0072B2"/>
                </a:solidFill>
                <a:latin typeface="Liberation Serif"/>
              </a:rPr>
              <a:t>Priced advantage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446766" y="1187450"/>
            <a:ext cx="110768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72B2"/>
                </a:solidFill>
                <a:latin typeface="Liberation Serif"/>
              </a:rPr>
              <a:t>Ã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4502150" y="1358900"/>
            <a:ext cx="0" cy="101600"/>
          </a:xfrm>
          <a:prstGeom prst="line">
            <a:avLst/>
          </a:prstGeom>
          <a:ln w="10160">
            <a:solidFill>
              <a:srgbClr val="0072B2"/>
            </a:solidFill>
            <a:tailEnd type="triangle" w="sm" len="sm"/>
          </a:ln>
          <a:effectLst/>
        </p:spPr>
      </p:cxnSp>
      <p:sp>
        <p:nvSpPr>
          <p:cNvPr id="171" name="Rounded Rectangle 170"/>
          <p:cNvSpPr/>
          <p:nvPr/>
        </p:nvSpPr>
        <p:spPr>
          <a:xfrm>
            <a:off x="4102100" y="1498600"/>
            <a:ext cx="800100" cy="2540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211320" y="1559560"/>
            <a:ext cx="58166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9636A"/>
                </a:solidFill>
                <a:latin typeface="Liberation Serif"/>
              </a:rPr>
              <a:t>PPO / TRPO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410453" y="1847850"/>
            <a:ext cx="83165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36A"/>
                </a:solidFill>
                <a:latin typeface="Liberation Serif"/>
              </a:rPr>
              <a:t>π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474568" y="1910715"/>
            <a:ext cx="138329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t+1</a:t>
            </a:r>
          </a:p>
        </p:txBody>
      </p:sp>
      <p:sp>
        <p:nvSpPr>
          <p:cNvPr id="175" name="Freeform 174"/>
          <p:cNvSpPr/>
          <p:nvPr/>
        </p:nvSpPr>
        <p:spPr>
          <a:xfrm>
            <a:off x="355600" y="1943100"/>
            <a:ext cx="1676400" cy="317500"/>
          </a:xfrm>
          <a:custGeom>
            <a:avLst/>
            <a:gdLst/>
            <a:ahLst/>
            <a:cxnLst/>
            <a:rect l="l" t="t" r="r" b="b"/>
            <a:pathLst>
              <a:path w="1676400" h="317500">
                <a:moveTo>
                  <a:pt x="0" y="0"/>
                </a:moveTo>
                <a:lnTo>
                  <a:pt x="0" y="317500"/>
                </a:lnTo>
                <a:lnTo>
                  <a:pt x="1676400" y="317500"/>
                </a:lnTo>
              </a:path>
            </a:pathLst>
          </a:custGeom>
          <a:noFill/>
          <a:ln w="10160">
            <a:solidFill>
              <a:srgbClr val="D55E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2032000" y="2159000"/>
            <a:ext cx="1600200" cy="203200"/>
          </a:xfrm>
          <a:prstGeom prst="roundRect">
            <a:avLst>
              <a:gd name="adj" fmla="val 12500"/>
            </a:avLst>
          </a:prstGeom>
          <a:solidFill>
            <a:srgbClr val="FFF8F2"/>
          </a:solidFill>
          <a:ln w="7620">
            <a:solidFill>
              <a:srgbClr val="D55E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2334269" y="2194560"/>
            <a:ext cx="7073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55E00"/>
                </a:solidFill>
                <a:latin typeface="Liberation Serif"/>
              </a:rPr>
              <a:t>β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385958" y="22282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430408" y="2194560"/>
            <a:ext cx="2569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55E00"/>
                </a:solidFill>
                <a:latin typeface="Liberation Serif"/>
              </a:rPr>
              <a:t> ← [β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668327" y="22282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712777" y="2194560"/>
            <a:ext cx="253651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55E00"/>
                </a:solidFill>
                <a:latin typeface="Liberation Serif"/>
              </a:rPr>
              <a:t> + η(J̄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947377" y="22282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2991827" y="2194560"/>
            <a:ext cx="19491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55E00"/>
                </a:solidFill>
                <a:latin typeface="Liberation Serif"/>
              </a:rPr>
              <a:t> − B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167691" y="22282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212141" y="2194560"/>
            <a:ext cx="8670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55E00"/>
                </a:solidFill>
                <a:latin typeface="Liberation Serif"/>
              </a:rPr>
              <a:t>)]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279800" y="2228215"/>
            <a:ext cx="6918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+</a:t>
            </a:r>
          </a:p>
        </p:txBody>
      </p:sp>
      <p:sp>
        <p:nvSpPr>
          <p:cNvPr id="187" name="Freeform 186"/>
          <p:cNvSpPr/>
          <p:nvPr/>
        </p:nvSpPr>
        <p:spPr>
          <a:xfrm>
            <a:off x="3632200" y="787400"/>
            <a:ext cx="419100" cy="1473200"/>
          </a:xfrm>
          <a:custGeom>
            <a:avLst/>
            <a:gdLst/>
            <a:ahLst/>
            <a:cxnLst/>
            <a:rect l="l" t="t" r="r" b="b"/>
            <a:pathLst>
              <a:path w="419100" h="1473200">
                <a:moveTo>
                  <a:pt x="0" y="1473200"/>
                </a:moveTo>
                <a:lnTo>
                  <a:pt x="419100" y="1473200"/>
                </a:lnTo>
                <a:lnTo>
                  <a:pt x="419100" y="0"/>
                </a:lnTo>
              </a:path>
            </a:pathLst>
          </a:custGeom>
          <a:noFill/>
          <a:ln w="10160">
            <a:solidFill>
              <a:srgbClr val="D55E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8" name="Connector 187"/>
          <p:cNvCxnSpPr/>
          <p:nvPr/>
        </p:nvCxnSpPr>
        <p:spPr>
          <a:xfrm>
            <a:off x="4051300" y="787400"/>
            <a:ext cx="76200" cy="0"/>
          </a:xfrm>
          <a:prstGeom prst="line">
            <a:avLst/>
          </a:prstGeom>
          <a:ln w="10160">
            <a:solidFill>
              <a:srgbClr val="D55E00"/>
            </a:solidFill>
            <a:tailEnd type="triangle" w="sm" len="sm"/>
          </a:ln>
          <a:effectLst/>
        </p:spPr>
      </p:cxnSp>
      <p:sp>
        <p:nvSpPr>
          <p:cNvPr id="189" name="Freeform 188"/>
          <p:cNvSpPr/>
          <p:nvPr/>
        </p:nvSpPr>
        <p:spPr>
          <a:xfrm>
            <a:off x="10160" y="495300"/>
            <a:ext cx="4491990" cy="2044700"/>
          </a:xfrm>
          <a:custGeom>
            <a:avLst/>
            <a:gdLst/>
            <a:ahLst/>
            <a:cxnLst/>
            <a:rect l="l" t="t" r="r" b="b"/>
            <a:pathLst>
              <a:path w="4491990" h="2044700">
                <a:moveTo>
                  <a:pt x="4491990" y="1498600"/>
                </a:moveTo>
                <a:lnTo>
                  <a:pt x="4491990" y="2044700"/>
                </a:lnTo>
                <a:lnTo>
                  <a:pt x="0" y="2044700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0" name="Connector 189"/>
          <p:cNvCxnSpPr/>
          <p:nvPr/>
        </p:nvCxnSpPr>
        <p:spPr>
          <a:xfrm>
            <a:off x="10160" y="495300"/>
            <a:ext cx="104140" cy="0"/>
          </a:xfrm>
          <a:prstGeom prst="line">
            <a:avLst/>
          </a:prstGeom>
          <a:ln w="7620">
            <a:solidFill>
              <a:srgbClr val="59636A"/>
            </a:solidFill>
            <a:tailEnd type="triangle" w="sm" len="sm"/>
          </a:ln>
          <a:effectLst/>
        </p:spPr>
      </p:cxnSp>
      <p:sp>
        <p:nvSpPr>
          <p:cNvPr id="191" name="TextBox 190"/>
          <p:cNvSpPr txBox="1"/>
          <p:nvPr/>
        </p:nvSpPr>
        <p:spPr>
          <a:xfrm>
            <a:off x="762210" y="2406015"/>
            <a:ext cx="431379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next rollout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392236" y="2391664"/>
            <a:ext cx="879729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D55E00"/>
                </a:solidFill>
                <a:latin typeface="Liberation Serif"/>
              </a:rPr>
              <a:t>observed-cost feedback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282204" y="2617788"/>
            <a:ext cx="2490192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9636A"/>
                </a:solidFill>
                <a:latin typeface="Liberation Serif"/>
              </a:rPr>
              <a:t>F* is a target, not executed; feedback corrects the realization gap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2000-01-01T00:00:00Z</dcterms:created>
  <dcterms:modified xsi:type="dcterms:W3CDTF">2000-01-01T00:00:00Z</dcterms:modified>
  <cp:category/>
  <dc:identifier/>
  <cp:contentStatus/>
</cp:coreProperties>
</file>