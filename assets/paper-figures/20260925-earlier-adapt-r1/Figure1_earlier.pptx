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42803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277" y="64851"/>
            <a:ext cx="2853447" cy="4345021"/>
          </a:xfrm>
          <a:prstGeom prst="roundRect">
            <a:avLst>
              <a:gd name="adj" fmla="val 4000"/>
            </a:avLst>
          </a:prstGeom>
          <a:solidFill>
            <a:srgbClr val="FDFDFD"/>
          </a:solidFill>
          <a:ln w="28575">
            <a:solidFill>
              <a:srgbClr val="181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5574" y="64851"/>
            <a:ext cx="6096000" cy="4345021"/>
          </a:xfrm>
          <a:prstGeom prst="roundRect">
            <a:avLst>
              <a:gd name="adj" fmla="val 2500"/>
            </a:avLst>
          </a:prstGeom>
          <a:solidFill>
            <a:srgbClr val="FDFDFD"/>
          </a:solidFill>
          <a:ln w="28575">
            <a:solidFill>
              <a:srgbClr val="146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76425" y="64851"/>
            <a:ext cx="2918298" cy="4345021"/>
          </a:xfrm>
          <a:prstGeom prst="roundRect">
            <a:avLst>
              <a:gd name="adj" fmla="val 4000"/>
            </a:avLst>
          </a:prstGeom>
          <a:solidFill>
            <a:srgbClr val="FDFDFD"/>
          </a:solidFill>
          <a:ln w="28575">
            <a:solidFill>
              <a:srgbClr val="DD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77" y="155643"/>
            <a:ext cx="2853447" cy="259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i="0" b="1">
                <a:solidFill>
                  <a:srgbClr val="1818E6"/>
                </a:solidFill>
                <a:latin typeface="Times New Roman"/>
              </a:rPr>
              <a:t>Soft penalty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77" y="479898"/>
            <a:ext cx="2853447" cy="23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i="0" b="0">
                <a:latin typeface="Times New Roman"/>
              </a:rPr>
              <a:t>max  </a:t>
            </a:r>
            <a:r>
              <a:rPr sz="2000" i="1" b="0">
                <a:latin typeface="Cambria Math"/>
              </a:rPr>
              <a:t>J</a:t>
            </a:r>
            <a:r>
              <a:rPr sz="1800" i="1" b="0" baseline="-25000">
                <a:latin typeface="Cambria Math"/>
              </a:rPr>
              <a:t>τ</a:t>
            </a:r>
            <a:r>
              <a:rPr sz="2000" i="0" b="0">
                <a:latin typeface="Times New Roman"/>
              </a:rPr>
              <a:t>  −  </a:t>
            </a:r>
            <a:r>
              <a:rPr sz="2000" i="1" b="0">
                <a:latin typeface="Cambria Math"/>
              </a:rPr>
              <a:t>λ</a:t>
            </a:r>
            <a:r>
              <a:rPr sz="1500" i="0" b="0" baseline="30000">
                <a:latin typeface="Cambria Math"/>
              </a:rPr>
              <a:t>⊤</a:t>
            </a:r>
            <a:r>
              <a:rPr sz="2000" i="0" b="0">
                <a:latin typeface="Times New Roman"/>
              </a:rPr>
              <a:t> </a:t>
            </a:r>
            <a:r>
              <a:rPr sz="2000" i="1" b="0">
                <a:latin typeface="Cambria Math"/>
              </a:rPr>
              <a:t>J</a:t>
            </a:r>
            <a:r>
              <a:rPr sz="1800" i="1" b="0" baseline="-25000">
                <a:latin typeface="Cambria Math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77" y="726332"/>
            <a:ext cx="2853447" cy="16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i="0" b="0">
                <a:latin typeface="Times New Roman"/>
              </a:rPr>
              <a:t>s.t.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77" y="907915"/>
            <a:ext cx="2853447" cy="1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00" i="1" b="0">
                <a:latin typeface="Cambria Math"/>
              </a:rPr>
              <a:t>τ</a:t>
            </a:r>
            <a:r>
              <a:rPr sz="1900" i="0" b="0">
                <a:latin typeface="Times New Roman"/>
              </a:rPr>
              <a:t> → 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77" y="1154349"/>
            <a:ext cx="2853447" cy="16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i="1" b="0">
                <a:latin typeface="Cambria Math"/>
              </a:rPr>
              <a:t>J</a:t>
            </a:r>
            <a:r>
              <a:rPr sz="1200" i="1" b="0" baseline="-25000">
                <a:latin typeface="Cambria Math"/>
              </a:rPr>
              <a:t>τ</a:t>
            </a:r>
            <a:r>
              <a:rPr sz="1400" i="0" b="0">
                <a:latin typeface="Times New Roman"/>
              </a:rPr>
              <a:t> = [</a:t>
            </a:r>
            <a:r>
              <a:rPr sz="1400" i="1" b="0">
                <a:latin typeface="Cambria Math"/>
              </a:rPr>
              <a:t>J</a:t>
            </a:r>
            <a:r>
              <a:rPr sz="1200" i="1" b="0" baseline="-25000">
                <a:latin typeface="Cambria Math"/>
              </a:rPr>
              <a:t>c1</a:t>
            </a:r>
            <a:r>
              <a:rPr sz="1400" i="0" b="0">
                <a:latin typeface="Times New Roman"/>
              </a:rPr>
              <a:t>,…,</a:t>
            </a:r>
            <a:r>
              <a:rPr sz="1400" i="1" b="0">
                <a:latin typeface="Cambria Math"/>
              </a:rPr>
              <a:t>J</a:t>
            </a:r>
            <a:r>
              <a:rPr sz="1200" i="1" b="0" baseline="-25000">
                <a:latin typeface="Cambria Math"/>
              </a:rPr>
              <a:t>cN</a:t>
            </a:r>
            <a:r>
              <a:rPr sz="1400" i="0" b="0">
                <a:latin typeface="Times New Roman"/>
              </a:rPr>
              <a:t>]</a:t>
            </a:r>
            <a:r>
              <a:rPr sz="1100" i="0" b="0" baseline="30000">
                <a:latin typeface="Cambria Math"/>
              </a:rPr>
              <a:t>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77" y="1309991"/>
            <a:ext cx="2853447" cy="16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i="1" b="0">
                <a:latin typeface="Cambria Math"/>
              </a:rPr>
              <a:t>λ</a:t>
            </a:r>
            <a:r>
              <a:rPr sz="1400" i="0" b="0">
                <a:latin typeface="Times New Roman"/>
              </a:rPr>
              <a:t> = [</a:t>
            </a:r>
            <a:r>
              <a:rPr sz="1400" i="1" b="0">
                <a:latin typeface="Cambria Math"/>
              </a:rPr>
              <a:t>λ</a:t>
            </a:r>
            <a:r>
              <a:rPr sz="1200" i="1" b="0" baseline="-25000">
                <a:latin typeface="Cambria Math"/>
              </a:rPr>
              <a:t>1</a:t>
            </a:r>
            <a:r>
              <a:rPr sz="1400" i="0" b="0">
                <a:latin typeface="Times New Roman"/>
              </a:rPr>
              <a:t>,…,</a:t>
            </a:r>
            <a:r>
              <a:rPr sz="1400" i="1" b="0">
                <a:latin typeface="Cambria Math"/>
              </a:rPr>
              <a:t>λ</a:t>
            </a:r>
            <a:r>
              <a:rPr sz="1200" i="1" b="0" baseline="-25000">
                <a:latin typeface="Cambria Math"/>
              </a:rPr>
              <a:t>N</a:t>
            </a:r>
            <a:r>
              <a:rPr sz="1400" i="0" b="0">
                <a:latin typeface="Times New Roman"/>
              </a:rPr>
              <a:t>]</a:t>
            </a:r>
            <a:r>
              <a:rPr sz="1100" i="0" b="0" baseline="30000">
                <a:latin typeface="Cambria Math"/>
              </a:rPr>
              <a:t>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009" y="1556425"/>
            <a:ext cx="2619983" cy="18158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8068" y="1530485"/>
            <a:ext cx="259404" cy="15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i="1" b="0">
                <a:latin typeface="Cambria Math"/>
              </a:rPr>
              <a:t>J</a:t>
            </a:r>
            <a:r>
              <a:rPr sz="1400" i="1" b="0" baseline="-25000">
                <a:latin typeface="Cambria Math"/>
              </a:rPr>
              <a:t>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0332" y="3346315"/>
            <a:ext cx="583660" cy="12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0">
                <a:latin typeface="Times New Roman"/>
              </a:rPr>
              <a:t>episodes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96" y="2295728"/>
            <a:ext cx="181583" cy="12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i="1" b="0">
                <a:solidFill>
                  <a:srgbClr val="DD1418"/>
                </a:solidFill>
                <a:latin typeface="Cambria Math"/>
              </a:rPr>
              <a:t>b</a:t>
            </a:r>
            <a:r>
              <a:rPr sz="1400" i="1" b="0" baseline="-25000">
                <a:solidFill>
                  <a:srgbClr val="DD1418"/>
                </a:solidFill>
                <a:latin typeface="Cambria Math"/>
              </a:rPr>
              <a:t>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949" y="2373549"/>
            <a:ext cx="2568102" cy="0"/>
          </a:xfrm>
          <a:prstGeom prst="line">
            <a:avLst/>
          </a:prstGeom>
          <a:ln w="17780">
            <a:solidFill>
              <a:srgbClr val="DD14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291830" y="1774325"/>
            <a:ext cx="2451370" cy="1481198"/>
          </a:xfrm>
          <a:custGeom>
            <a:avLst/>
            <a:gdLst/>
            <a:ahLst/>
            <a:cxnLst/>
            <a:rect l="l" t="t" r="r" b="b"/>
            <a:pathLst>
              <a:path w="2451370" h="1481198">
                <a:moveTo>
                  <a:pt x="0" y="1481198"/>
                </a:moveTo>
                <a:lnTo>
                  <a:pt x="393775" y="980548"/>
                </a:lnTo>
                <a:lnTo>
                  <a:pt x="839173" y="508432"/>
                </a:lnTo>
                <a:lnTo>
                  <a:pt x="1363169" y="290533"/>
                </a:lnTo>
                <a:lnTo>
                  <a:pt x="1965765" y="108950"/>
                </a:lnTo>
                <a:lnTo>
                  <a:pt x="2451370" y="0"/>
                </a:lnTo>
              </a:path>
            </a:pathLst>
          </a:custGeom>
          <a:noFill/>
          <a:ln w="33020">
            <a:solidFill>
              <a:srgbClr val="181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257595" y="1883275"/>
            <a:ext cx="0" cy="490274"/>
          </a:xfrm>
          <a:prstGeom prst="line">
            <a:avLst/>
          </a:prstGeom>
          <a:ln w="20320">
            <a:solidFill>
              <a:srgbClr val="DD141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96506" y="2050591"/>
            <a:ext cx="583660" cy="129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DD1418"/>
                </a:solidFill>
                <a:latin typeface="Times New Roman"/>
              </a:rPr>
              <a:t>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217" y="3664085"/>
            <a:ext cx="2801566" cy="142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 b="0">
                <a:solidFill>
                  <a:srgbClr val="1818E6"/>
                </a:solidFill>
                <a:latin typeface="Calibri"/>
              </a:rPr>
              <a:t>fixed-</a:t>
            </a:r>
            <a:r>
              <a:rPr sz="1000" i="1" b="0">
                <a:solidFill>
                  <a:srgbClr val="1818E6"/>
                </a:solidFill>
                <a:latin typeface="Cambria Math"/>
              </a:rPr>
              <a:t>λ</a:t>
            </a:r>
            <a:r>
              <a:rPr sz="1000" i="1" b="0">
                <a:solidFill>
                  <a:srgbClr val="1818E6"/>
                </a:solidFill>
                <a:latin typeface="Calibri"/>
              </a:rPr>
              <a:t> penalty: some safety tasks reward </a:t>
            </a:r>
            <a:r>
              <a:rPr sz="1000" i="1" b="0">
                <a:solidFill>
                  <a:srgbClr val="1818E6"/>
                </a:solidFill>
                <a:latin typeface="Cambria Math"/>
              </a:rPr>
              <a:t>b</a:t>
            </a:r>
            <a:r>
              <a:rPr sz="900" i="1" b="0" baseline="-25000">
                <a:solidFill>
                  <a:srgbClr val="1818E6"/>
                </a:solidFill>
                <a:latin typeface="Cambria Math"/>
              </a:rPr>
              <a:t>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217" y="3806757"/>
            <a:ext cx="2801566" cy="142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 b="0">
                <a:solidFill>
                  <a:srgbClr val="DD1418"/>
                </a:solidFill>
                <a:latin typeface="Calibri"/>
              </a:rPr>
              <a:t>weakness: constant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6425" y="155643"/>
            <a:ext cx="2918298" cy="259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i="0" b="1">
                <a:solidFill>
                  <a:srgbClr val="DD1418"/>
                </a:solidFill>
                <a:latin typeface="Times New Roman"/>
              </a:rPr>
              <a:t>Hard CMDP 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6425" y="479898"/>
            <a:ext cx="2918298" cy="23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i="0" b="0">
                <a:latin typeface="Times New Roman"/>
              </a:rPr>
              <a:t>max  </a:t>
            </a:r>
            <a:r>
              <a:rPr sz="2000" i="1" b="0">
                <a:latin typeface="Cambria Math"/>
              </a:rPr>
              <a:t>J</a:t>
            </a:r>
            <a:r>
              <a:rPr sz="1800" i="1" b="0" baseline="-25000">
                <a:latin typeface="Cambria Math"/>
              </a:rPr>
              <a:t>τ</a:t>
            </a:r>
            <a:r>
              <a:rPr sz="2000" i="0" b="0">
                <a:latin typeface="Times New Roman"/>
              </a:rPr>
              <a:t>    s.t.    </a:t>
            </a:r>
            <a:r>
              <a:rPr sz="2000" i="1" b="0">
                <a:latin typeface="Cambria Math"/>
              </a:rPr>
              <a:t>J</a:t>
            </a:r>
            <a:r>
              <a:rPr sz="1800" i="1" b="0" baseline="-25000">
                <a:latin typeface="Cambria Math"/>
              </a:rPr>
              <a:t>c</a:t>
            </a:r>
            <a:r>
              <a:rPr sz="2000" i="0" b="0">
                <a:latin typeface="Times New Roman"/>
              </a:rPr>
              <a:t>  ≤  </a:t>
            </a:r>
            <a:r>
              <a:rPr sz="2000" i="1" b="0">
                <a:latin typeface="Cambria Math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425" y="726332"/>
            <a:ext cx="2918298" cy="1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00" i="1" b="0">
                <a:latin typeface="Cambria Math"/>
              </a:rPr>
              <a:t>τ</a:t>
            </a:r>
            <a:r>
              <a:rPr sz="1900" i="0" b="0">
                <a:latin typeface="Times New Roman"/>
              </a:rPr>
              <a:t> →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425" y="1154349"/>
            <a:ext cx="2918298" cy="16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i="1" b="0">
                <a:latin typeface="Cambria Math"/>
              </a:rPr>
              <a:t>J</a:t>
            </a:r>
            <a:r>
              <a:rPr sz="1200" i="1" b="0" baseline="-25000">
                <a:latin typeface="Cambria Math"/>
              </a:rPr>
              <a:t>τ</a:t>
            </a:r>
            <a:r>
              <a:rPr sz="1400" i="0" b="0">
                <a:latin typeface="Times New Roman"/>
              </a:rPr>
              <a:t> = [</a:t>
            </a:r>
            <a:r>
              <a:rPr sz="1400" i="1" b="0">
                <a:latin typeface="Cambria Math"/>
              </a:rPr>
              <a:t>J</a:t>
            </a:r>
            <a:r>
              <a:rPr sz="1200" i="1" b="0" baseline="-25000">
                <a:latin typeface="Cambria Math"/>
              </a:rPr>
              <a:t>c1</a:t>
            </a:r>
            <a:r>
              <a:rPr sz="1400" i="0" b="0">
                <a:latin typeface="Times New Roman"/>
              </a:rPr>
              <a:t>,…,</a:t>
            </a:r>
            <a:r>
              <a:rPr sz="1400" i="1" b="0">
                <a:latin typeface="Cambria Math"/>
              </a:rPr>
              <a:t>J</a:t>
            </a:r>
            <a:r>
              <a:rPr sz="1200" i="1" b="0" baseline="-25000">
                <a:latin typeface="Cambria Math"/>
              </a:rPr>
              <a:t>cN</a:t>
            </a:r>
            <a:r>
              <a:rPr sz="1400" i="0" b="0">
                <a:latin typeface="Times New Roman"/>
              </a:rPr>
              <a:t>]</a:t>
            </a:r>
            <a:r>
              <a:rPr sz="1100" i="0" b="0" baseline="30000">
                <a:latin typeface="Cambria Math"/>
              </a:rPr>
              <a:t>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6425" y="1309991"/>
            <a:ext cx="2918298" cy="16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i="1" b="0">
                <a:latin typeface="Cambria Math"/>
              </a:rPr>
              <a:t>b</a:t>
            </a:r>
            <a:r>
              <a:rPr sz="1400" i="0" b="0">
                <a:latin typeface="Times New Roman"/>
              </a:rPr>
              <a:t> = [</a:t>
            </a:r>
            <a:r>
              <a:rPr sz="1400" i="1" b="0">
                <a:latin typeface="Cambria Math"/>
              </a:rPr>
              <a:t>b</a:t>
            </a:r>
            <a:r>
              <a:rPr sz="1200" i="1" b="0" baseline="-25000">
                <a:latin typeface="Cambria Math"/>
              </a:rPr>
              <a:t>1</a:t>
            </a:r>
            <a:r>
              <a:rPr sz="1400" i="0" b="0">
                <a:latin typeface="Times New Roman"/>
              </a:rPr>
              <a:t>,…,</a:t>
            </a:r>
            <a:r>
              <a:rPr sz="1400" i="1" b="0">
                <a:latin typeface="Cambria Math"/>
              </a:rPr>
              <a:t>b</a:t>
            </a:r>
            <a:r>
              <a:rPr sz="1200" i="1" b="0" baseline="-25000">
                <a:latin typeface="Cambria Math"/>
              </a:rPr>
              <a:t>N</a:t>
            </a:r>
            <a:r>
              <a:rPr sz="1400" i="0" b="0">
                <a:latin typeface="Times New Roman"/>
              </a:rPr>
              <a:t>]</a:t>
            </a:r>
            <a:r>
              <a:rPr sz="1100" i="0" b="0" baseline="30000">
                <a:latin typeface="Cambria Math"/>
              </a:rPr>
              <a:t>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93157" y="1556425"/>
            <a:ext cx="2684834" cy="18158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7217" y="1530485"/>
            <a:ext cx="259404" cy="15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i="1" b="0">
                <a:latin typeface="Cambria Math"/>
              </a:rPr>
              <a:t>J</a:t>
            </a:r>
            <a:r>
              <a:rPr sz="1400" i="1" b="0" baseline="-25000">
                <a:latin typeface="Cambria Math"/>
              </a:rPr>
              <a:t>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94332" y="3346315"/>
            <a:ext cx="583660" cy="12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0">
                <a:latin typeface="Times New Roman"/>
              </a:rPr>
              <a:t>episodes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9098" y="2101174"/>
            <a:ext cx="2632953" cy="0"/>
          </a:xfrm>
          <a:prstGeom prst="line">
            <a:avLst/>
          </a:prstGeom>
          <a:ln w="17780">
            <a:solidFill>
              <a:srgbClr val="DD14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098604" y="2023353"/>
            <a:ext cx="181583" cy="12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i="1" b="0">
                <a:solidFill>
                  <a:srgbClr val="DD1418"/>
                </a:solidFill>
                <a:latin typeface="Cambria Math"/>
              </a:rPr>
              <a:t>b</a:t>
            </a:r>
            <a:r>
              <a:rPr sz="1400" i="1" b="0" baseline="-25000">
                <a:solidFill>
                  <a:srgbClr val="DD1418"/>
                </a:solidFill>
                <a:latin typeface="Cambria Math"/>
              </a:rPr>
              <a:t>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19098" y="2464340"/>
            <a:ext cx="2632953" cy="0"/>
          </a:xfrm>
          <a:prstGeom prst="line">
            <a:avLst/>
          </a:prstGeom>
          <a:ln w="17780">
            <a:solidFill>
              <a:srgbClr val="DD14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098604" y="2386519"/>
            <a:ext cx="181583" cy="12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i="1" b="0">
                <a:solidFill>
                  <a:srgbClr val="DD1418"/>
                </a:solidFill>
                <a:latin typeface="Cambria Math"/>
              </a:rPr>
              <a:t>b</a:t>
            </a:r>
            <a:r>
              <a:rPr sz="1400" i="1" b="0" baseline="-25000">
                <a:solidFill>
                  <a:srgbClr val="DD1418"/>
                </a:solidFill>
                <a:latin typeface="Cambria Math"/>
              </a:rPr>
              <a:t>⋮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19098" y="2972773"/>
            <a:ext cx="2632953" cy="0"/>
          </a:xfrm>
          <a:prstGeom prst="line">
            <a:avLst/>
          </a:prstGeom>
          <a:ln w="17780">
            <a:solidFill>
              <a:srgbClr val="DD14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098604" y="2894951"/>
            <a:ext cx="181583" cy="12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i="1" b="0">
                <a:solidFill>
                  <a:srgbClr val="DD1418"/>
                </a:solidFill>
                <a:latin typeface="Cambria Math"/>
              </a:rPr>
              <a:t>b</a:t>
            </a:r>
            <a:r>
              <a:rPr sz="1400" i="1" b="0" baseline="-25000">
                <a:solidFill>
                  <a:srgbClr val="DD1418"/>
                </a:solidFill>
                <a:latin typeface="Cambria Math"/>
              </a:rPr>
              <a:t>K</a:t>
            </a:r>
          </a:p>
        </p:txBody>
      </p:sp>
      <p:sp>
        <p:nvSpPr>
          <p:cNvPr id="35" name="Freeform 34"/>
          <p:cNvSpPr/>
          <p:nvPr/>
        </p:nvSpPr>
        <p:spPr>
          <a:xfrm>
            <a:off x="9396919" y="2047092"/>
            <a:ext cx="2477310" cy="1016374"/>
          </a:xfrm>
          <a:custGeom>
            <a:avLst/>
            <a:gdLst/>
            <a:ahLst/>
            <a:cxnLst/>
            <a:rect l="l" t="t" r="r" b="b"/>
            <a:pathLst>
              <a:path w="2477310" h="1016374">
                <a:moveTo>
                  <a:pt x="0" y="508040"/>
                </a:moveTo>
                <a:lnTo>
                  <a:pt x="38708" y="711794"/>
                </a:lnTo>
                <a:lnTo>
                  <a:pt x="77416" y="881393"/>
                </a:lnTo>
                <a:lnTo>
                  <a:pt x="116124" y="988410"/>
                </a:lnTo>
                <a:lnTo>
                  <a:pt x="154832" y="1014905"/>
                </a:lnTo>
                <a:lnTo>
                  <a:pt x="193540" y="956437"/>
                </a:lnTo>
                <a:lnTo>
                  <a:pt x="232248" y="822807"/>
                </a:lnTo>
                <a:lnTo>
                  <a:pt x="270956" y="636415"/>
                </a:lnTo>
                <a:lnTo>
                  <a:pt x="309664" y="428504"/>
                </a:lnTo>
                <a:lnTo>
                  <a:pt x="348372" y="233924"/>
                </a:lnTo>
                <a:lnTo>
                  <a:pt x="387080" y="85294"/>
                </a:lnTo>
                <a:lnTo>
                  <a:pt x="425788" y="7526"/>
                </a:lnTo>
                <a:lnTo>
                  <a:pt x="464496" y="13656"/>
                </a:lnTo>
                <a:lnTo>
                  <a:pt x="503204" y="102656"/>
                </a:lnTo>
                <a:lnTo>
                  <a:pt x="541912" y="259609"/>
                </a:lnTo>
                <a:lnTo>
                  <a:pt x="580620" y="458205"/>
                </a:lnTo>
                <a:lnTo>
                  <a:pt x="619328" y="665154"/>
                </a:lnTo>
                <a:lnTo>
                  <a:pt x="658036" y="845767"/>
                </a:lnTo>
                <a:lnTo>
                  <a:pt x="696744" y="969769"/>
                </a:lnTo>
                <a:lnTo>
                  <a:pt x="735451" y="1016374"/>
                </a:lnTo>
                <a:lnTo>
                  <a:pt x="774159" y="977770"/>
                </a:lnTo>
                <a:lnTo>
                  <a:pt x="812867" y="860428"/>
                </a:lnTo>
                <a:lnTo>
                  <a:pt x="851575" y="684017"/>
                </a:lnTo>
                <a:lnTo>
                  <a:pt x="890283" y="478108"/>
                </a:lnTo>
                <a:lnTo>
                  <a:pt x="928991" y="277216"/>
                </a:lnTo>
                <a:lnTo>
                  <a:pt x="967699" y="115016"/>
                </a:lnTo>
                <a:lnTo>
                  <a:pt x="1006407" y="18696"/>
                </a:lnTo>
                <a:lnTo>
                  <a:pt x="1045115" y="4402"/>
                </a:lnTo>
                <a:lnTo>
                  <a:pt x="1083823" y="74530"/>
                </a:lnTo>
                <a:lnTo>
                  <a:pt x="1122531" y="217324"/>
                </a:lnTo>
                <a:lnTo>
                  <a:pt x="1161239" y="408850"/>
                </a:lnTo>
                <a:lnTo>
                  <a:pt x="1199947" y="617002"/>
                </a:lnTo>
                <a:lnTo>
                  <a:pt x="1238655" y="806889"/>
                </a:lnTo>
                <a:lnTo>
                  <a:pt x="1277363" y="946682"/>
                </a:lnTo>
                <a:lnTo>
                  <a:pt x="1316071" y="1012948"/>
                </a:lnTo>
                <a:lnTo>
                  <a:pt x="1354779" y="994579"/>
                </a:lnTo>
                <a:lnTo>
                  <a:pt x="1393487" y="894655"/>
                </a:lnTo>
                <a:lnTo>
                  <a:pt x="1432195" y="729924"/>
                </a:lnTo>
                <a:lnTo>
                  <a:pt x="1470903" y="528001"/>
                </a:lnTo>
                <a:lnTo>
                  <a:pt x="1509611" y="322731"/>
                </a:lnTo>
                <a:lnTo>
                  <a:pt x="1548319" y="148524"/>
                </a:lnTo>
                <a:lnTo>
                  <a:pt x="1587027" y="34580"/>
                </a:lnTo>
                <a:lnTo>
                  <a:pt x="1625735" y="0"/>
                </a:lnTo>
                <a:lnTo>
                  <a:pt x="1664443" y="50579"/>
                </a:lnTo>
                <a:lnTo>
                  <a:pt x="1703151" y="177839"/>
                </a:lnTo>
                <a:lnTo>
                  <a:pt x="1741859" y="360450"/>
                </a:lnTo>
                <a:lnTo>
                  <a:pt x="1780567" y="567800"/>
                </a:lnTo>
                <a:lnTo>
                  <a:pt x="1819275" y="765132"/>
                </a:lnTo>
                <a:lnTo>
                  <a:pt x="1857983" y="919370"/>
                </a:lnTo>
                <a:lnTo>
                  <a:pt x="1896691" y="1004659"/>
                </a:lnTo>
                <a:lnTo>
                  <a:pt x="1935399" y="1006703"/>
                </a:lnTo>
                <a:lnTo>
                  <a:pt x="1974107" y="925158"/>
                </a:lnTo>
                <a:lnTo>
                  <a:pt x="2012815" y="773695"/>
                </a:lnTo>
                <a:lnTo>
                  <a:pt x="2051523" y="577701"/>
                </a:lnTo>
                <a:lnTo>
                  <a:pt x="2090231" y="370031"/>
                </a:lnTo>
                <a:lnTo>
                  <a:pt x="2128939" y="185494"/>
                </a:lnTo>
                <a:lnTo>
                  <a:pt x="2167647" y="55023"/>
                </a:lnTo>
                <a:lnTo>
                  <a:pt x="2206355" y="489"/>
                </a:lnTo>
                <a:lnTo>
                  <a:pt x="2245063" y="31033"/>
                </a:lnTo>
                <a:lnTo>
                  <a:pt x="2283771" y="141535"/>
                </a:lnTo>
                <a:lnTo>
                  <a:pt x="2322479" y="313471"/>
                </a:lnTo>
                <a:lnTo>
                  <a:pt x="2361187" y="518022"/>
                </a:lnTo>
                <a:lnTo>
                  <a:pt x="2399895" y="720900"/>
                </a:lnTo>
                <a:lnTo>
                  <a:pt x="2438603" y="888097"/>
                </a:lnTo>
                <a:lnTo>
                  <a:pt x="2477310" y="991588"/>
                </a:lnTo>
              </a:path>
            </a:pathLst>
          </a:custGeom>
          <a:noFill/>
          <a:ln w="33020">
            <a:solidFill>
              <a:srgbClr val="DD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02366" y="3664085"/>
            <a:ext cx="2866417" cy="142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 b="0">
                <a:solidFill>
                  <a:srgbClr val="DD1418"/>
                </a:solidFill>
                <a:latin typeface="Calibri"/>
              </a:rPr>
              <a:t>dual updates: safety costs oscillate around </a:t>
            </a:r>
            <a:r>
              <a:rPr sz="1000" i="1" b="0">
                <a:solidFill>
                  <a:srgbClr val="DD1418"/>
                </a:solidFill>
                <a:latin typeface="Cambria Math"/>
              </a:rPr>
              <a:t>b</a:t>
            </a:r>
            <a:r>
              <a:rPr sz="900" i="1" b="0" baseline="-25000">
                <a:solidFill>
                  <a:srgbClr val="DD1418"/>
                </a:solidFill>
                <a:latin typeface="Cambria Math"/>
              </a:rPr>
              <a:t>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2366" y="3806757"/>
            <a:ext cx="2866417" cy="142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 b="0">
                <a:solidFill>
                  <a:srgbClr val="DD1418"/>
                </a:solidFill>
                <a:latin typeface="Calibri"/>
              </a:rPr>
              <a:t>weakness: oscillation / brittleness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5574" y="103762"/>
            <a:ext cx="6096000" cy="259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i="0" b="1">
                <a:solidFill>
                  <a:srgbClr val="125529"/>
                </a:solidFill>
                <a:latin typeface="Times New Roman"/>
              </a:rPr>
              <a:t>SafeTransport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5574" y="363166"/>
            <a:ext cx="6096000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i="1" b="0">
                <a:latin typeface="Times New Roman"/>
              </a:rPr>
              <a:t>safe </a:t>
            </a:r>
            <a:r>
              <a:rPr sz="1400" i="1" b="0">
                <a:latin typeface="Cambria Math"/>
              </a:rPr>
              <a:t>γ</a:t>
            </a:r>
            <a:r>
              <a:rPr sz="1400" i="1" b="0">
                <a:latin typeface="Times New Roman"/>
              </a:rPr>
              <a:t>-flow bridge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5574" y="596630"/>
            <a:ext cx="2032000" cy="1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i="0" b="1">
                <a:solidFill>
                  <a:srgbClr val="125529"/>
                </a:solidFill>
                <a:latin typeface="Times New Roman"/>
              </a:rPr>
              <a:t>1. Constraints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7574" y="596630"/>
            <a:ext cx="2032000" cy="1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i="0" b="1">
                <a:solidFill>
                  <a:srgbClr val="125529"/>
                </a:solidFill>
                <a:latin typeface="Times New Roman"/>
              </a:rPr>
              <a:t>2. Compress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79574" y="596630"/>
            <a:ext cx="2032000" cy="1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i="0" b="1">
                <a:solidFill>
                  <a:srgbClr val="125529"/>
                </a:solidFill>
                <a:latin typeface="Times New Roman"/>
              </a:rPr>
              <a:t>3. Solve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79574" y="765243"/>
            <a:ext cx="2032000" cy="129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 b="0">
                <a:solidFill>
                  <a:srgbClr val="125529"/>
                </a:solidFill>
                <a:latin typeface="Times New Roman"/>
              </a:rPr>
              <a:t>(OFT-Sinkhorn)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47574" y="830094"/>
            <a:ext cx="0" cy="3463046"/>
          </a:xfrm>
          <a:prstGeom prst="line">
            <a:avLst/>
          </a:prstGeom>
          <a:ln w="12700">
            <a:solidFill>
              <a:srgbClr val="146F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079574" y="830094"/>
            <a:ext cx="0" cy="3463046"/>
          </a:xfrm>
          <a:prstGeom prst="line">
            <a:avLst/>
          </a:prstGeom>
          <a:ln w="12700">
            <a:solidFill>
              <a:srgbClr val="146F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041515" y="933855"/>
            <a:ext cx="1964987" cy="5058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181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con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425" y="985736"/>
            <a:ext cx="181583" cy="33722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300919" y="1011677"/>
            <a:ext cx="648511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1818E6"/>
                </a:solidFill>
                <a:latin typeface="Calibri"/>
              </a:rPr>
              <a:t>Bridge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6859" y="1167319"/>
            <a:ext cx="648511" cy="142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i="1" b="0">
                <a:solidFill>
                  <a:srgbClr val="1818E6"/>
                </a:solidFill>
                <a:latin typeface="Cambria Math"/>
              </a:rPr>
              <a:t>S</a:t>
            </a:r>
            <a:r>
              <a:rPr sz="1100" i="1" b="0" baseline="-25000">
                <a:solidFill>
                  <a:srgbClr val="1818E6"/>
                </a:solidFill>
                <a:latin typeface="Cambria Math"/>
              </a:rPr>
              <a:t>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75370" y="998706"/>
            <a:ext cx="992221" cy="4409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1818E6"/>
                </a:solidFill>
                <a:latin typeface="Calibri"/>
              </a:rPr>
              <a:t>0.35   1.60   0.21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1818E6"/>
                </a:solidFill>
                <a:latin typeface="Calibri"/>
              </a:rPr>
              <a:t>0.65   1.60   0.55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1818E6"/>
                </a:solidFill>
                <a:latin typeface="Calibri"/>
              </a:rPr>
              <a:t>0.15   1.60   0.35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1515" y="1530485"/>
            <a:ext cx="1964987" cy="5058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1BA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con_liqu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425" y="1582366"/>
            <a:ext cx="181583" cy="33722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300919" y="1608306"/>
            <a:ext cx="648511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1BA9C0"/>
                </a:solidFill>
                <a:latin typeface="Calibri"/>
              </a:rPr>
              <a:t>Liquid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6859" y="1763949"/>
            <a:ext cx="648511" cy="142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i="1" b="0">
                <a:solidFill>
                  <a:srgbClr val="1BA9C0"/>
                </a:solidFill>
                <a:latin typeface="Cambria Math"/>
              </a:rPr>
              <a:t>S</a:t>
            </a:r>
            <a:r>
              <a:rPr sz="1100" i="1" b="0" baseline="-25000">
                <a:solidFill>
                  <a:srgbClr val="1BA9C0"/>
                </a:solidFill>
                <a:latin typeface="Cambria Math"/>
              </a:rPr>
              <a:t>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75370" y="1595336"/>
            <a:ext cx="992221" cy="4409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1BA9C0"/>
                </a:solidFill>
                <a:latin typeface="Calibri"/>
              </a:rPr>
              <a:t>0.30   1.60   0.15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1BA9C0"/>
                </a:solidFill>
                <a:latin typeface="Calibri"/>
              </a:rPr>
              <a:t>0.30   1.60   0.35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1BA9C0"/>
                </a:solidFill>
                <a:latin typeface="Calibri"/>
              </a:rPr>
              <a:t>0.20   1.60   0.55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41515" y="2127115"/>
            <a:ext cx="1964987" cy="5058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con_excav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425" y="2178996"/>
            <a:ext cx="181583" cy="33722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300919" y="2204936"/>
            <a:ext cx="648511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000000"/>
                </a:solidFill>
                <a:latin typeface="Calibri"/>
              </a:rPr>
              <a:t>Excavator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6859" y="2360579"/>
            <a:ext cx="648511" cy="142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i="1" b="0">
                <a:solidFill>
                  <a:srgbClr val="000000"/>
                </a:solidFill>
                <a:latin typeface="Cambria Math"/>
              </a:rPr>
              <a:t>S</a:t>
            </a:r>
            <a:r>
              <a:rPr sz="1100" i="1" b="0" baseline="-25000">
                <a:solidFill>
                  <a:srgbClr val="000000"/>
                </a:solidFill>
                <a:latin typeface="Cambria Math"/>
              </a:rPr>
              <a:t>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75370" y="2191966"/>
            <a:ext cx="992221" cy="4409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0.20   1.60   0.12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0.25   1.60   0.25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0.20   1.60   0.35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1515" y="2723745"/>
            <a:ext cx="1964987" cy="5058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D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con_fi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0425" y="2775625"/>
            <a:ext cx="181583" cy="33722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300919" y="2801566"/>
            <a:ext cx="648511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DD1418"/>
                </a:solidFill>
                <a:latin typeface="Calibri"/>
              </a:rPr>
              <a:t>Fire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26859" y="2957208"/>
            <a:ext cx="648511" cy="142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i="1" b="0">
                <a:solidFill>
                  <a:srgbClr val="DD1418"/>
                </a:solidFill>
                <a:latin typeface="Cambria Math"/>
              </a:rPr>
              <a:t>S</a:t>
            </a:r>
            <a:r>
              <a:rPr sz="1100" i="1" b="0" baseline="-25000">
                <a:solidFill>
                  <a:srgbClr val="DD1418"/>
                </a:solidFill>
                <a:latin typeface="Cambria Math"/>
              </a:rPr>
              <a:t>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75370" y="2788596"/>
            <a:ext cx="992221" cy="4409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DD1418"/>
                </a:solidFill>
                <a:latin typeface="Calibri"/>
              </a:rPr>
              <a:t>0.15   1.60   0.13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DD1418"/>
                </a:solidFill>
                <a:latin typeface="Calibri"/>
              </a:rPr>
              <a:t>0.20   1.60   0.15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DD1418"/>
                </a:solidFill>
                <a:latin typeface="Calibri"/>
              </a:rPr>
              <a:t>0.20   1.60   0.15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39447" y="959796"/>
            <a:ext cx="1848255" cy="50583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146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39447" y="998706"/>
            <a:ext cx="1848255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i="1" b="0">
                <a:solidFill>
                  <a:srgbClr val="125529"/>
                </a:solidFill>
                <a:latin typeface="Times New Roman"/>
              </a:rPr>
              <a:t>uniform compression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39447" y="1193260"/>
            <a:ext cx="1848255" cy="1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i="1" b="0">
                <a:solidFill>
                  <a:srgbClr val="125529"/>
                </a:solidFill>
                <a:latin typeface="Cambria Math"/>
              </a:rPr>
              <a:t>S</a:t>
            </a:r>
            <a:r>
              <a:rPr sz="1800" i="0" b="0">
                <a:solidFill>
                  <a:srgbClr val="125529"/>
                </a:solidFill>
                <a:latin typeface="Times New Roman"/>
              </a:rPr>
              <a:t> = min</a:t>
            </a:r>
            <a:r>
              <a:rPr sz="1200" i="1" b="0" baseline="-25000">
                <a:solidFill>
                  <a:srgbClr val="125529"/>
                </a:solidFill>
                <a:latin typeface="Cambria Math"/>
              </a:rPr>
              <a:t>i</a:t>
            </a:r>
            <a:r>
              <a:rPr sz="1800" i="0" b="0">
                <a:solidFill>
                  <a:srgbClr val="125529"/>
                </a:solidFill>
                <a:latin typeface="Times New Roman"/>
              </a:rPr>
              <a:t>  </a:t>
            </a:r>
            <a:r>
              <a:rPr sz="1800" i="1" b="0">
                <a:solidFill>
                  <a:srgbClr val="125529"/>
                </a:solidFill>
                <a:latin typeface="Cambria Math"/>
              </a:rPr>
              <a:t>S</a:t>
            </a:r>
            <a:r>
              <a:rPr sz="1200" i="1" b="0" baseline="-25000">
                <a:solidFill>
                  <a:srgbClr val="125529"/>
                </a:solidFill>
                <a:latin typeface="Cambria Math"/>
              </a:rPr>
              <a:t>i</a:t>
            </a:r>
          </a:p>
        </p:txBody>
      </p:sp>
      <p:sp>
        <p:nvSpPr>
          <p:cNvPr id="69" name="Freeform 68"/>
          <p:cNvSpPr/>
          <p:nvPr/>
        </p:nvSpPr>
        <p:spPr>
          <a:xfrm>
            <a:off x="5596647" y="1608306"/>
            <a:ext cx="1232170" cy="233464"/>
          </a:xfrm>
          <a:custGeom>
            <a:avLst/>
            <a:gdLst/>
            <a:ahLst/>
            <a:cxnLst/>
            <a:rect l="l" t="t" r="r" b="b"/>
            <a:pathLst>
              <a:path w="1232170" h="233464">
                <a:moveTo>
                  <a:pt x="142672" y="0"/>
                </a:moveTo>
                <a:lnTo>
                  <a:pt x="1232170" y="0"/>
                </a:lnTo>
                <a:lnTo>
                  <a:pt x="1089498" y="233464"/>
                </a:lnTo>
                <a:lnTo>
                  <a:pt x="0" y="233464"/>
                </a:lnTo>
                <a:close/>
              </a:path>
            </a:pathLst>
          </a:custGeom>
          <a:solidFill>
            <a:srgbClr val="9090FF"/>
          </a:solidFill>
          <a:ln w="16510">
            <a:solidFill>
              <a:srgbClr val="181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H="1">
            <a:off x="5869021" y="1608306"/>
            <a:ext cx="142672" cy="233464"/>
          </a:xfrm>
          <a:prstGeom prst="line">
            <a:avLst/>
          </a:prstGeom>
          <a:ln w="8890">
            <a:solidFill>
              <a:srgbClr val="181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6141396" y="1608306"/>
            <a:ext cx="142672" cy="233464"/>
          </a:xfrm>
          <a:prstGeom prst="line">
            <a:avLst/>
          </a:prstGeom>
          <a:ln w="8890">
            <a:solidFill>
              <a:srgbClr val="181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6413770" y="1608306"/>
            <a:ext cx="142672" cy="233464"/>
          </a:xfrm>
          <a:prstGeom prst="line">
            <a:avLst/>
          </a:prstGeom>
          <a:ln w="8890">
            <a:solidFill>
              <a:srgbClr val="181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667983" y="1725038"/>
            <a:ext cx="1089498" cy="0"/>
          </a:xfrm>
          <a:prstGeom prst="line">
            <a:avLst/>
          </a:prstGeom>
          <a:ln w="8890">
            <a:solidFill>
              <a:srgbClr val="181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854757" y="1595336"/>
            <a:ext cx="259404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i="1" b="0">
                <a:solidFill>
                  <a:srgbClr val="1818E6"/>
                </a:solidFill>
                <a:latin typeface="Cambria Math"/>
              </a:rPr>
              <a:t>S</a:t>
            </a:r>
            <a:r>
              <a:rPr sz="1200" i="1" b="0" baseline="-25000">
                <a:solidFill>
                  <a:srgbClr val="1818E6"/>
                </a:solidFill>
                <a:latin typeface="Cambria Math"/>
              </a:rPr>
              <a:t>₁</a:t>
            </a:r>
          </a:p>
        </p:txBody>
      </p:sp>
      <p:sp>
        <p:nvSpPr>
          <p:cNvPr id="75" name="Freeform 74"/>
          <p:cNvSpPr/>
          <p:nvPr/>
        </p:nvSpPr>
        <p:spPr>
          <a:xfrm>
            <a:off x="5596647" y="1699098"/>
            <a:ext cx="1232170" cy="233464"/>
          </a:xfrm>
          <a:custGeom>
            <a:avLst/>
            <a:gdLst/>
            <a:ahLst/>
            <a:cxnLst/>
            <a:rect l="l" t="t" r="r" b="b"/>
            <a:pathLst>
              <a:path w="1232170" h="233464">
                <a:moveTo>
                  <a:pt x="142672" y="0"/>
                </a:moveTo>
                <a:lnTo>
                  <a:pt x="1232170" y="0"/>
                </a:lnTo>
                <a:lnTo>
                  <a:pt x="1089498" y="233464"/>
                </a:lnTo>
                <a:lnTo>
                  <a:pt x="0" y="233464"/>
                </a:lnTo>
                <a:close/>
              </a:path>
            </a:pathLst>
          </a:custGeom>
          <a:solidFill>
            <a:srgbClr val="93FFFF"/>
          </a:solidFill>
          <a:ln w="16510">
            <a:solidFill>
              <a:srgbClr val="1BA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H="1">
            <a:off x="5869021" y="1699098"/>
            <a:ext cx="142672" cy="233464"/>
          </a:xfrm>
          <a:prstGeom prst="line">
            <a:avLst/>
          </a:prstGeom>
          <a:ln w="8890">
            <a:solidFill>
              <a:srgbClr val="1BA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6141396" y="1699098"/>
            <a:ext cx="142672" cy="233464"/>
          </a:xfrm>
          <a:prstGeom prst="line">
            <a:avLst/>
          </a:prstGeom>
          <a:ln w="8890">
            <a:solidFill>
              <a:srgbClr val="1BA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6413770" y="1699098"/>
            <a:ext cx="142672" cy="233464"/>
          </a:xfrm>
          <a:prstGeom prst="line">
            <a:avLst/>
          </a:prstGeom>
          <a:ln w="8890">
            <a:solidFill>
              <a:srgbClr val="1BA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667983" y="1815830"/>
            <a:ext cx="1089498" cy="0"/>
          </a:xfrm>
          <a:prstGeom prst="line">
            <a:avLst/>
          </a:prstGeom>
          <a:ln w="8890">
            <a:solidFill>
              <a:srgbClr val="1BA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854757" y="1686128"/>
            <a:ext cx="259404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i="1" b="0">
                <a:solidFill>
                  <a:srgbClr val="1BA9C0"/>
                </a:solidFill>
                <a:latin typeface="Cambria Math"/>
              </a:rPr>
              <a:t>S</a:t>
            </a:r>
            <a:r>
              <a:rPr sz="1200" i="1" b="0" baseline="-25000">
                <a:solidFill>
                  <a:srgbClr val="1BA9C0"/>
                </a:solidFill>
                <a:latin typeface="Cambria Math"/>
              </a:rPr>
              <a:t>₂</a:t>
            </a:r>
          </a:p>
        </p:txBody>
      </p:sp>
      <p:sp>
        <p:nvSpPr>
          <p:cNvPr id="81" name="Freeform 80"/>
          <p:cNvSpPr/>
          <p:nvPr/>
        </p:nvSpPr>
        <p:spPr>
          <a:xfrm>
            <a:off x="5596647" y="1789889"/>
            <a:ext cx="1232170" cy="233464"/>
          </a:xfrm>
          <a:custGeom>
            <a:avLst/>
            <a:gdLst/>
            <a:ahLst/>
            <a:cxnLst/>
            <a:rect l="l" t="t" r="r" b="b"/>
            <a:pathLst>
              <a:path w="1232170" h="233464">
                <a:moveTo>
                  <a:pt x="142672" y="0"/>
                </a:moveTo>
                <a:lnTo>
                  <a:pt x="1232170" y="0"/>
                </a:lnTo>
                <a:lnTo>
                  <a:pt x="1089498" y="233464"/>
                </a:lnTo>
                <a:lnTo>
                  <a:pt x="0" y="233464"/>
                </a:lnTo>
                <a:close/>
              </a:path>
            </a:pathLst>
          </a:custGeom>
          <a:solidFill>
            <a:srgbClr val="B8B8B8"/>
          </a:solidFill>
          <a:ln w="1651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 flipH="1">
            <a:off x="5869021" y="1789889"/>
            <a:ext cx="142672" cy="233464"/>
          </a:xfrm>
          <a:prstGeom prst="line">
            <a:avLst/>
          </a:prstGeom>
          <a:ln w="889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6141396" y="1789889"/>
            <a:ext cx="142672" cy="233464"/>
          </a:xfrm>
          <a:prstGeom prst="line">
            <a:avLst/>
          </a:prstGeom>
          <a:ln w="889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6413770" y="1789889"/>
            <a:ext cx="142672" cy="233464"/>
          </a:xfrm>
          <a:prstGeom prst="line">
            <a:avLst/>
          </a:prstGeom>
          <a:ln w="889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667983" y="1906621"/>
            <a:ext cx="1089498" cy="0"/>
          </a:xfrm>
          <a:prstGeom prst="line">
            <a:avLst/>
          </a:prstGeom>
          <a:ln w="889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854757" y="1776919"/>
            <a:ext cx="259404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i="1" b="0">
                <a:solidFill>
                  <a:srgbClr val="404040"/>
                </a:solidFill>
                <a:latin typeface="Cambria Math"/>
              </a:rPr>
              <a:t>S</a:t>
            </a:r>
            <a:r>
              <a:rPr sz="1200" i="1" b="0" baseline="-25000">
                <a:solidFill>
                  <a:srgbClr val="404040"/>
                </a:solidFill>
                <a:latin typeface="Cambria Math"/>
              </a:rPr>
              <a:t>₃</a:t>
            </a:r>
          </a:p>
        </p:txBody>
      </p:sp>
      <p:sp>
        <p:nvSpPr>
          <p:cNvPr id="87" name="Freeform 86"/>
          <p:cNvSpPr/>
          <p:nvPr/>
        </p:nvSpPr>
        <p:spPr>
          <a:xfrm>
            <a:off x="5596647" y="1880681"/>
            <a:ext cx="1232170" cy="233464"/>
          </a:xfrm>
          <a:custGeom>
            <a:avLst/>
            <a:gdLst/>
            <a:ahLst/>
            <a:cxnLst/>
            <a:rect l="l" t="t" r="r" b="b"/>
            <a:pathLst>
              <a:path w="1232170" h="233464">
                <a:moveTo>
                  <a:pt x="142672" y="0"/>
                </a:moveTo>
                <a:lnTo>
                  <a:pt x="1232170" y="0"/>
                </a:lnTo>
                <a:lnTo>
                  <a:pt x="1089498" y="233464"/>
                </a:lnTo>
                <a:lnTo>
                  <a:pt x="0" y="233464"/>
                </a:lnTo>
                <a:close/>
              </a:path>
            </a:pathLst>
          </a:custGeom>
          <a:solidFill>
            <a:srgbClr val="FF8C90"/>
          </a:solidFill>
          <a:ln w="16510">
            <a:solidFill>
              <a:srgbClr val="DD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H="1">
            <a:off x="5869021" y="1880681"/>
            <a:ext cx="142672" cy="233464"/>
          </a:xfrm>
          <a:prstGeom prst="line">
            <a:avLst/>
          </a:prstGeom>
          <a:ln w="8890">
            <a:solidFill>
              <a:srgbClr val="DD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6141396" y="1880681"/>
            <a:ext cx="142672" cy="233464"/>
          </a:xfrm>
          <a:prstGeom prst="line">
            <a:avLst/>
          </a:prstGeom>
          <a:ln w="8890">
            <a:solidFill>
              <a:srgbClr val="DD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6413770" y="1880681"/>
            <a:ext cx="142672" cy="233464"/>
          </a:xfrm>
          <a:prstGeom prst="line">
            <a:avLst/>
          </a:prstGeom>
          <a:ln w="8890">
            <a:solidFill>
              <a:srgbClr val="DD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667983" y="1997413"/>
            <a:ext cx="1089498" cy="0"/>
          </a:xfrm>
          <a:prstGeom prst="line">
            <a:avLst/>
          </a:prstGeom>
          <a:ln w="8890">
            <a:solidFill>
              <a:srgbClr val="DD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854757" y="1867711"/>
            <a:ext cx="259404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i="1" b="0">
                <a:solidFill>
                  <a:srgbClr val="DD1418"/>
                </a:solidFill>
                <a:latin typeface="Cambria Math"/>
              </a:rPr>
              <a:t>S</a:t>
            </a:r>
            <a:r>
              <a:rPr sz="1200" i="1" b="0" baseline="-25000">
                <a:solidFill>
                  <a:srgbClr val="DD1418"/>
                </a:solidFill>
                <a:latin typeface="Cambria Math"/>
              </a:rPr>
              <a:t>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07540" y="1770434"/>
            <a:ext cx="350196" cy="1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i="1" b="0">
                <a:solidFill>
                  <a:srgbClr val="125529"/>
                </a:solidFill>
                <a:latin typeface="Cambria Math"/>
              </a:rPr>
              <a:t>S</a:t>
            </a:r>
            <a:r>
              <a:rPr sz="1800" i="0" b="0">
                <a:solidFill>
                  <a:srgbClr val="125529"/>
                </a:solidFill>
                <a:latin typeface="Times New Roman"/>
              </a:rPr>
              <a:t> = </a:t>
            </a:r>
          </a:p>
        </p:txBody>
      </p:sp>
      <p:sp>
        <p:nvSpPr>
          <p:cNvPr id="94" name="Right Arrow 93"/>
          <p:cNvSpPr/>
          <p:nvPr/>
        </p:nvSpPr>
        <p:spPr>
          <a:xfrm>
            <a:off x="5441004" y="1770434"/>
            <a:ext cx="168613" cy="181583"/>
          </a:xfrm>
          <a:prstGeom prst="rightArrow">
            <a:avLst/>
          </a:prstGeom>
          <a:solidFill>
            <a:srgbClr val="146F32"/>
          </a:solidFill>
          <a:ln>
            <a:solidFill>
              <a:srgbClr val="146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47574" y="2295728"/>
            <a:ext cx="2032000" cy="142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i="1" b="0">
                <a:solidFill>
                  <a:srgbClr val="125529"/>
                </a:solidFill>
                <a:latin typeface="Times New Roman"/>
              </a:rPr>
              <a:t>uniform minimum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171447" y="1011677"/>
            <a:ext cx="1848255" cy="4539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146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171447" y="1037617"/>
            <a:ext cx="1848255" cy="1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i="0" b="1">
                <a:solidFill>
                  <a:srgbClr val="125529"/>
                </a:solidFill>
                <a:latin typeface="Times New Roman"/>
              </a:rPr>
              <a:t>▶ OFT-Sinkhorn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71447" y="1232170"/>
            <a:ext cx="1848255" cy="1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i="0" b="1">
                <a:solidFill>
                  <a:srgbClr val="125529"/>
                </a:solidFill>
                <a:latin typeface="Times New Roman"/>
              </a:rPr>
              <a:t>+ PPO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32536" y="1854740"/>
            <a:ext cx="285345" cy="1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i="1" b="0">
                <a:solidFill>
                  <a:srgbClr val="125529"/>
                </a:solidFill>
                <a:latin typeface="Cambria Math"/>
              </a:rPr>
              <a:t>P</a:t>
            </a:r>
            <a:r>
              <a:rPr sz="1800" i="0" b="0">
                <a:solidFill>
                  <a:srgbClr val="125529"/>
                </a:solidFill>
                <a:latin typeface="Times New Roman"/>
              </a:rPr>
              <a:t> = 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53030" y="1569396"/>
            <a:ext cx="1718553" cy="907915"/>
          </a:xfrm>
          <a:prstGeom prst="rect">
            <a:avLst/>
          </a:prstGeom>
          <a:solidFill>
            <a:srgbClr val="FFFFFF"/>
          </a:solidFill>
          <a:ln w="20320">
            <a:solidFill>
              <a:srgbClr val="146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04910" y="1608306"/>
            <a:ext cx="1614791" cy="843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25529"/>
                </a:solidFill>
                <a:latin typeface="Calibri"/>
              </a:rPr>
              <a:t>0.45     0.45     0.21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25529"/>
                </a:solidFill>
                <a:latin typeface="Calibri"/>
              </a:rPr>
              <a:t>0.65     0.55     0.02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25529"/>
                </a:solidFill>
                <a:latin typeface="Calibri"/>
              </a:rPr>
              <a:t>0.12     0.34     0.34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79574" y="2529191"/>
            <a:ext cx="2032000" cy="142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i="1" b="0">
                <a:solidFill>
                  <a:srgbClr val="125529"/>
                </a:solidFill>
                <a:latin typeface="Times New Roman"/>
              </a:rPr>
              <a:t>transport matrix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79574" y="2697804"/>
            <a:ext cx="2032000" cy="2075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i="1" b="0">
                <a:solidFill>
                  <a:srgbClr val="125529"/>
                </a:solidFill>
                <a:latin typeface="Cambria Math"/>
              </a:rPr>
              <a:t>P</a:t>
            </a:r>
            <a:r>
              <a:rPr sz="1500" i="0" b="0" baseline="30000">
                <a:solidFill>
                  <a:srgbClr val="125529"/>
                </a:solidFill>
                <a:latin typeface="Cambria Math"/>
              </a:rPr>
              <a:t>⊤</a:t>
            </a:r>
            <a:r>
              <a:rPr sz="2000" i="0" b="0">
                <a:solidFill>
                  <a:srgbClr val="125529"/>
                </a:solidFill>
                <a:latin typeface="Times New Roman"/>
              </a:rPr>
              <a:t>  ≤  </a:t>
            </a:r>
            <a:r>
              <a:rPr sz="2000" i="1" b="0">
                <a:solidFill>
                  <a:srgbClr val="125529"/>
                </a:solidFill>
                <a:latin typeface="Cambria Math"/>
              </a:rPr>
              <a:t>S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810638" y="4863830"/>
            <a:ext cx="203864" cy="0"/>
          </a:xfrm>
          <a:prstGeom prst="line">
            <a:avLst/>
          </a:prstGeom>
          <a:ln w="43180">
            <a:solidFill>
              <a:srgbClr val="181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014502" y="4863830"/>
            <a:ext cx="203864" cy="0"/>
          </a:xfrm>
          <a:prstGeom prst="line">
            <a:avLst/>
          </a:prstGeom>
          <a:ln w="43180">
            <a:solidFill>
              <a:srgbClr val="182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218366" y="4863830"/>
            <a:ext cx="203864" cy="0"/>
          </a:xfrm>
          <a:prstGeom prst="line">
            <a:avLst/>
          </a:prstGeom>
          <a:ln w="43180">
            <a:solidFill>
              <a:srgbClr val="183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422230" y="4863830"/>
            <a:ext cx="203864" cy="0"/>
          </a:xfrm>
          <a:prstGeom prst="line">
            <a:avLst/>
          </a:prstGeom>
          <a:ln w="43180">
            <a:solidFill>
              <a:srgbClr val="183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626094" y="4863830"/>
            <a:ext cx="203864" cy="0"/>
          </a:xfrm>
          <a:prstGeom prst="line">
            <a:avLst/>
          </a:prstGeom>
          <a:ln w="43180">
            <a:solidFill>
              <a:srgbClr val="184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829958" y="4863830"/>
            <a:ext cx="203864" cy="0"/>
          </a:xfrm>
          <a:prstGeom prst="line">
            <a:avLst/>
          </a:prstGeom>
          <a:ln w="43180">
            <a:solidFill>
              <a:srgbClr val="195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033822" y="4863830"/>
            <a:ext cx="203864" cy="0"/>
          </a:xfrm>
          <a:prstGeom prst="line">
            <a:avLst/>
          </a:prstGeom>
          <a:ln w="43180">
            <a:solidFill>
              <a:srgbClr val="195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237686" y="4863830"/>
            <a:ext cx="203864" cy="0"/>
          </a:xfrm>
          <a:prstGeom prst="line">
            <a:avLst/>
          </a:prstGeom>
          <a:ln w="43180">
            <a:solidFill>
              <a:srgbClr val="196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2441550" y="4863830"/>
            <a:ext cx="203864" cy="0"/>
          </a:xfrm>
          <a:prstGeom prst="line">
            <a:avLst/>
          </a:prstGeom>
          <a:ln w="43180">
            <a:solidFill>
              <a:srgbClr val="197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645414" y="4863830"/>
            <a:ext cx="203864" cy="0"/>
          </a:xfrm>
          <a:prstGeom prst="line">
            <a:avLst/>
          </a:prstGeom>
          <a:ln w="43180">
            <a:solidFill>
              <a:srgbClr val="1A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849278" y="4863830"/>
            <a:ext cx="203864" cy="0"/>
          </a:xfrm>
          <a:prstGeom prst="line">
            <a:avLst/>
          </a:prstGeom>
          <a:ln w="43180">
            <a:solidFill>
              <a:srgbClr val="1A8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053142" y="4863830"/>
            <a:ext cx="203864" cy="0"/>
          </a:xfrm>
          <a:prstGeom prst="line">
            <a:avLst/>
          </a:prstGeom>
          <a:ln w="43180">
            <a:solidFill>
              <a:srgbClr val="1A8F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257006" y="4863830"/>
            <a:ext cx="203864" cy="0"/>
          </a:xfrm>
          <a:prstGeom prst="line">
            <a:avLst/>
          </a:prstGeom>
          <a:ln w="43180">
            <a:solidFill>
              <a:srgbClr val="1A9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460870" y="4863830"/>
            <a:ext cx="203864" cy="0"/>
          </a:xfrm>
          <a:prstGeom prst="line">
            <a:avLst/>
          </a:prstGeom>
          <a:ln w="43180">
            <a:solidFill>
              <a:srgbClr val="1AA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664734" y="4863830"/>
            <a:ext cx="173661" cy="0"/>
          </a:xfrm>
          <a:prstGeom prst="line">
            <a:avLst/>
          </a:prstGeom>
          <a:ln w="43180">
            <a:solidFill>
              <a:srgbClr val="1AA8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38395" y="4863830"/>
            <a:ext cx="173662" cy="0"/>
          </a:xfrm>
          <a:prstGeom prst="line">
            <a:avLst/>
          </a:prstGeom>
          <a:ln w="43180">
            <a:solidFill>
              <a:srgbClr val="1A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4012057" y="4863830"/>
            <a:ext cx="173662" cy="0"/>
          </a:xfrm>
          <a:prstGeom prst="line">
            <a:avLst/>
          </a:prstGeom>
          <a:ln w="43180">
            <a:solidFill>
              <a:srgbClr val="1AA8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185719" y="4863830"/>
            <a:ext cx="173662" cy="0"/>
          </a:xfrm>
          <a:prstGeom prst="line">
            <a:avLst/>
          </a:prstGeom>
          <a:ln w="43180">
            <a:solidFill>
              <a:srgbClr val="19A8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4359381" y="4863830"/>
            <a:ext cx="173662" cy="0"/>
          </a:xfrm>
          <a:prstGeom prst="line">
            <a:avLst/>
          </a:prstGeom>
          <a:ln w="43180">
            <a:solidFill>
              <a:srgbClr val="19A8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533043" y="4863830"/>
            <a:ext cx="173662" cy="0"/>
          </a:xfrm>
          <a:prstGeom prst="line">
            <a:avLst/>
          </a:prstGeom>
          <a:ln w="43180">
            <a:solidFill>
              <a:srgbClr val="19A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706705" y="4863830"/>
            <a:ext cx="173662" cy="0"/>
          </a:xfrm>
          <a:prstGeom prst="line">
            <a:avLst/>
          </a:prstGeom>
          <a:ln w="43180">
            <a:solidFill>
              <a:srgbClr val="18A8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880367" y="4863830"/>
            <a:ext cx="173662" cy="0"/>
          </a:xfrm>
          <a:prstGeom prst="line">
            <a:avLst/>
          </a:prstGeom>
          <a:ln w="43180">
            <a:solidFill>
              <a:srgbClr val="18A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5054029" y="4863830"/>
            <a:ext cx="173661" cy="0"/>
          </a:xfrm>
          <a:prstGeom prst="line">
            <a:avLst/>
          </a:prstGeom>
          <a:ln w="43180">
            <a:solidFill>
              <a:srgbClr val="17A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5227690" y="4863830"/>
            <a:ext cx="173662" cy="0"/>
          </a:xfrm>
          <a:prstGeom prst="line">
            <a:avLst/>
          </a:prstGeom>
          <a:ln w="43180">
            <a:solidFill>
              <a:srgbClr val="17A8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5401352" y="4863830"/>
            <a:ext cx="173662" cy="0"/>
          </a:xfrm>
          <a:prstGeom prst="line">
            <a:avLst/>
          </a:prstGeom>
          <a:ln w="43180">
            <a:solidFill>
              <a:srgbClr val="17A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5575014" y="4863830"/>
            <a:ext cx="173662" cy="0"/>
          </a:xfrm>
          <a:prstGeom prst="line">
            <a:avLst/>
          </a:prstGeom>
          <a:ln w="43180">
            <a:solidFill>
              <a:srgbClr val="16A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748676" y="4863830"/>
            <a:ext cx="173662" cy="0"/>
          </a:xfrm>
          <a:prstGeom prst="line">
            <a:avLst/>
          </a:prstGeom>
          <a:ln w="43180">
            <a:solidFill>
              <a:srgbClr val="16A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5922338" y="4863830"/>
            <a:ext cx="173662" cy="0"/>
          </a:xfrm>
          <a:prstGeom prst="line">
            <a:avLst/>
          </a:prstGeom>
          <a:ln w="43180">
            <a:solidFill>
              <a:srgbClr val="16A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6096000" y="4863830"/>
            <a:ext cx="173662" cy="0"/>
          </a:xfrm>
          <a:prstGeom prst="line">
            <a:avLst/>
          </a:prstGeom>
          <a:ln w="43180">
            <a:solidFill>
              <a:srgbClr val="1DA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269662" y="4863830"/>
            <a:ext cx="173662" cy="0"/>
          </a:xfrm>
          <a:prstGeom prst="line">
            <a:avLst/>
          </a:prstGeom>
          <a:ln w="43180">
            <a:solidFill>
              <a:srgbClr val="2CA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443324" y="4863830"/>
            <a:ext cx="173661" cy="0"/>
          </a:xfrm>
          <a:prstGeom prst="line">
            <a:avLst/>
          </a:prstGeom>
          <a:ln w="43180">
            <a:solidFill>
              <a:srgbClr val="3BA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616985" y="4863830"/>
            <a:ext cx="173662" cy="0"/>
          </a:xfrm>
          <a:prstGeom prst="line">
            <a:avLst/>
          </a:prstGeom>
          <a:ln w="43180">
            <a:solidFill>
              <a:srgbClr val="4AA0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6790647" y="4863830"/>
            <a:ext cx="173662" cy="0"/>
          </a:xfrm>
          <a:prstGeom prst="line">
            <a:avLst/>
          </a:prstGeom>
          <a:ln w="43180">
            <a:solidFill>
              <a:srgbClr val="599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964309" y="4863830"/>
            <a:ext cx="173662" cy="0"/>
          </a:xfrm>
          <a:prstGeom prst="line">
            <a:avLst/>
          </a:prstGeom>
          <a:ln w="43180">
            <a:solidFill>
              <a:srgbClr val="689C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137971" y="4863830"/>
            <a:ext cx="173662" cy="0"/>
          </a:xfrm>
          <a:prstGeom prst="line">
            <a:avLst/>
          </a:prstGeom>
          <a:ln w="43180">
            <a:solidFill>
              <a:srgbClr val="779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311633" y="4863830"/>
            <a:ext cx="173662" cy="0"/>
          </a:xfrm>
          <a:prstGeom prst="line">
            <a:avLst/>
          </a:prstGeom>
          <a:ln w="43180">
            <a:solidFill>
              <a:srgbClr val="869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485295" y="4863830"/>
            <a:ext cx="173662" cy="0"/>
          </a:xfrm>
          <a:prstGeom prst="line">
            <a:avLst/>
          </a:prstGeom>
          <a:ln w="43180">
            <a:solidFill>
              <a:srgbClr val="959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58957" y="4863830"/>
            <a:ext cx="173662" cy="0"/>
          </a:xfrm>
          <a:prstGeom prst="line">
            <a:avLst/>
          </a:prstGeom>
          <a:ln w="43180">
            <a:solidFill>
              <a:srgbClr val="A494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832619" y="4863830"/>
            <a:ext cx="173662" cy="0"/>
          </a:xfrm>
          <a:prstGeom prst="line">
            <a:avLst/>
          </a:prstGeom>
          <a:ln w="43180">
            <a:solidFill>
              <a:srgbClr val="B39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006281" y="4863830"/>
            <a:ext cx="173661" cy="0"/>
          </a:xfrm>
          <a:prstGeom prst="line">
            <a:avLst/>
          </a:prstGeom>
          <a:ln w="43180">
            <a:solidFill>
              <a:srgbClr val="C290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179942" y="4863830"/>
            <a:ext cx="173662" cy="0"/>
          </a:xfrm>
          <a:prstGeom prst="line">
            <a:avLst/>
          </a:prstGeom>
          <a:ln w="43180">
            <a:solidFill>
              <a:srgbClr val="D18E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8353604" y="4863830"/>
            <a:ext cx="173662" cy="0"/>
          </a:xfrm>
          <a:prstGeom prst="line">
            <a:avLst/>
          </a:prstGeom>
          <a:ln w="43180">
            <a:solidFill>
              <a:srgbClr val="E08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8527266" y="4863830"/>
            <a:ext cx="203864" cy="0"/>
          </a:xfrm>
          <a:prstGeom prst="line">
            <a:avLst/>
          </a:prstGeom>
          <a:ln w="43180">
            <a:solidFill>
              <a:srgbClr val="E786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731130" y="4863830"/>
            <a:ext cx="203864" cy="0"/>
          </a:xfrm>
          <a:prstGeom prst="line">
            <a:avLst/>
          </a:prstGeom>
          <a:ln w="43180">
            <a:solidFill>
              <a:srgbClr val="E67E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934994" y="4863830"/>
            <a:ext cx="203864" cy="0"/>
          </a:xfrm>
          <a:prstGeom prst="line">
            <a:avLst/>
          </a:prstGeom>
          <a:ln w="43180">
            <a:solidFill>
              <a:srgbClr val="E675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9138858" y="4863830"/>
            <a:ext cx="203864" cy="0"/>
          </a:xfrm>
          <a:prstGeom prst="line">
            <a:avLst/>
          </a:prstGeom>
          <a:ln w="43180">
            <a:solidFill>
              <a:srgbClr val="E56D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9342722" y="4863830"/>
            <a:ext cx="203864" cy="0"/>
          </a:xfrm>
          <a:prstGeom prst="line">
            <a:avLst/>
          </a:prstGeom>
          <a:ln w="43180">
            <a:solidFill>
              <a:srgbClr val="E464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546586" y="4863830"/>
            <a:ext cx="203864" cy="0"/>
          </a:xfrm>
          <a:prstGeom prst="line">
            <a:avLst/>
          </a:prstGeom>
          <a:ln w="43180">
            <a:solidFill>
              <a:srgbClr val="E35C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9750450" y="4863830"/>
            <a:ext cx="203864" cy="0"/>
          </a:xfrm>
          <a:prstGeom prst="line">
            <a:avLst/>
          </a:prstGeom>
          <a:ln w="43180">
            <a:solidFill>
              <a:srgbClr val="E253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9954314" y="4863830"/>
            <a:ext cx="203864" cy="0"/>
          </a:xfrm>
          <a:prstGeom prst="line">
            <a:avLst/>
          </a:prstGeom>
          <a:ln w="43180">
            <a:solidFill>
              <a:srgbClr val="E24B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158178" y="4863830"/>
            <a:ext cx="203864" cy="0"/>
          </a:xfrm>
          <a:prstGeom prst="line">
            <a:avLst/>
          </a:prstGeom>
          <a:ln w="43180">
            <a:solidFill>
              <a:srgbClr val="E142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362042" y="4863830"/>
            <a:ext cx="203864" cy="0"/>
          </a:xfrm>
          <a:prstGeom prst="line">
            <a:avLst/>
          </a:prstGeom>
          <a:ln w="43180">
            <a:solidFill>
              <a:srgbClr val="E03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565906" y="4863830"/>
            <a:ext cx="203864" cy="0"/>
          </a:xfrm>
          <a:prstGeom prst="line">
            <a:avLst/>
          </a:prstGeom>
          <a:ln w="43180">
            <a:solidFill>
              <a:srgbClr val="DF31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769770" y="4863830"/>
            <a:ext cx="203864" cy="0"/>
          </a:xfrm>
          <a:prstGeom prst="line">
            <a:avLst/>
          </a:prstGeom>
          <a:ln w="43180">
            <a:solidFill>
              <a:srgbClr val="DE29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973634" y="4863830"/>
            <a:ext cx="203863" cy="0"/>
          </a:xfrm>
          <a:prstGeom prst="line">
            <a:avLst/>
          </a:prstGeom>
          <a:ln w="43180">
            <a:solidFill>
              <a:srgbClr val="DE2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1177497" y="4863830"/>
            <a:ext cx="203864" cy="0"/>
          </a:xfrm>
          <a:prstGeom prst="line">
            <a:avLst/>
          </a:prstGeom>
          <a:ln w="43180">
            <a:solidFill>
              <a:srgbClr val="DD18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765243" y="4818434"/>
            <a:ext cx="90791" cy="90791"/>
          </a:xfrm>
          <a:prstGeom prst="ellipse">
            <a:avLst/>
          </a:prstGeom>
          <a:solidFill>
            <a:srgbClr val="1818E6"/>
          </a:solidFill>
          <a:ln>
            <a:solidFill>
              <a:srgbClr val="181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23217" y="4604425"/>
            <a:ext cx="1815830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i="0" b="1">
                <a:solidFill>
                  <a:srgbClr val="000000"/>
                </a:solidFill>
                <a:latin typeface="Times New Roman"/>
              </a:rPr>
              <a:t>PPO / SAC</a:t>
            </a:r>
          </a:p>
        </p:txBody>
      </p:sp>
      <p:sp>
        <p:nvSpPr>
          <p:cNvPr id="162" name="Oval 161"/>
          <p:cNvSpPr/>
          <p:nvPr/>
        </p:nvSpPr>
        <p:spPr>
          <a:xfrm>
            <a:off x="3619338" y="4818434"/>
            <a:ext cx="90791" cy="90791"/>
          </a:xfrm>
          <a:prstGeom prst="ellipse">
            <a:avLst/>
          </a:prstGeom>
          <a:solidFill>
            <a:srgbClr val="1BA9C0"/>
          </a:solidFill>
          <a:ln>
            <a:solidFill>
              <a:srgbClr val="1BA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756819" y="4604425"/>
            <a:ext cx="1815830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i="0" b="1">
                <a:solidFill>
                  <a:srgbClr val="000000"/>
                </a:solidFill>
                <a:latin typeface="Times New Roman"/>
              </a:rPr>
              <a:t>FOCOPS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317787" y="4734128"/>
            <a:ext cx="1556425" cy="259404"/>
          </a:xfrm>
          <a:prstGeom prst="roundRect">
            <a:avLst>
              <a:gd name="adj" fmla="val 50000"/>
            </a:avLst>
          </a:prstGeom>
          <a:solidFill>
            <a:srgbClr val="144F28"/>
          </a:solidFill>
          <a:ln>
            <a:solidFill>
              <a:srgbClr val="144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SafeTransport</a:t>
            </a:r>
          </a:p>
        </p:txBody>
      </p:sp>
      <p:sp>
        <p:nvSpPr>
          <p:cNvPr id="165" name="Oval 164"/>
          <p:cNvSpPr/>
          <p:nvPr/>
        </p:nvSpPr>
        <p:spPr>
          <a:xfrm>
            <a:off x="8481870" y="4818434"/>
            <a:ext cx="90791" cy="90791"/>
          </a:xfrm>
          <a:prstGeom prst="ellipse">
            <a:avLst/>
          </a:prstGeom>
          <a:solidFill>
            <a:srgbClr val="E88B10"/>
          </a:solidFill>
          <a:ln>
            <a:solidFill>
              <a:srgbClr val="E88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619351" y="4604425"/>
            <a:ext cx="1815830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i="0" b="1">
                <a:solidFill>
                  <a:srgbClr val="000000"/>
                </a:solidFill>
                <a:latin typeface="Times New Roman"/>
              </a:rPr>
              <a:t>CPO</a:t>
            </a:r>
          </a:p>
        </p:txBody>
      </p:sp>
      <p:sp>
        <p:nvSpPr>
          <p:cNvPr id="167" name="Oval 166"/>
          <p:cNvSpPr/>
          <p:nvPr/>
        </p:nvSpPr>
        <p:spPr>
          <a:xfrm>
            <a:off x="11335966" y="4818434"/>
            <a:ext cx="90791" cy="90791"/>
          </a:xfrm>
          <a:prstGeom prst="ellipse">
            <a:avLst/>
          </a:prstGeom>
          <a:solidFill>
            <a:srgbClr val="DD1418"/>
          </a:solidFill>
          <a:ln>
            <a:solidFill>
              <a:srgbClr val="DD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252953" y="4604425"/>
            <a:ext cx="1815830" cy="155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i="0" b="1">
                <a:solidFill>
                  <a:srgbClr val="000000"/>
                </a:solidFill>
                <a:latin typeface="Times New Roman"/>
              </a:rPr>
              <a:t>hard-constraint / CUP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6187" y="4773038"/>
            <a:ext cx="622570" cy="1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i="1" b="0">
                <a:solidFill>
                  <a:srgbClr val="1818E6"/>
                </a:solidFill>
                <a:latin typeface="Cambria Math"/>
              </a:rPr>
              <a:t>τ</a:t>
            </a:r>
            <a:r>
              <a:rPr sz="1600" i="0" b="0">
                <a:solidFill>
                  <a:srgbClr val="1818E6"/>
                </a:solidFill>
                <a:latin typeface="Times New Roman"/>
              </a:rPr>
              <a:t> = ∞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433242" y="4773038"/>
            <a:ext cx="622570" cy="1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600" i="1" b="0">
                <a:solidFill>
                  <a:srgbClr val="DD1418"/>
                </a:solidFill>
                <a:latin typeface="Cambria Math"/>
              </a:rPr>
              <a:t>τ</a:t>
            </a:r>
            <a:r>
              <a:rPr sz="1600" i="0" b="0">
                <a:solidFill>
                  <a:srgbClr val="DD1418"/>
                </a:solidFill>
                <a:latin typeface="Times New Roman"/>
              </a:rPr>
              <a:t> = 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36187" y="4980562"/>
            <a:ext cx="713362" cy="129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1818E6"/>
                </a:solidFill>
                <a:latin typeface="Calibri"/>
              </a:rPr>
              <a:t>soft penalty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342451" y="4980562"/>
            <a:ext cx="713362" cy="129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i="1" b="0">
                <a:solidFill>
                  <a:srgbClr val="DD1418"/>
                </a:solidFill>
                <a:latin typeface="Calibri"/>
              </a:rPr>
              <a:t>hard budget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