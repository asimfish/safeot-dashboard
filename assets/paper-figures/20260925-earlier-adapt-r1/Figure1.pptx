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870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" y="38100"/>
            <a:ext cx="1219200" cy="2082800"/>
          </a:xfrm>
          <a:prstGeom prst="roundRect">
            <a:avLst>
              <a:gd name="adj" fmla="val 4166"/>
            </a:avLst>
          </a:prstGeom>
          <a:solidFill>
            <a:srgbClr val="F9FAFE"/>
          </a:solidFill>
          <a:ln w="10795">
            <a:solidFill>
              <a:srgbClr val="244E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20800" y="38100"/>
            <a:ext cx="2387600" cy="2082800"/>
          </a:xfrm>
          <a:prstGeom prst="roundRect">
            <a:avLst>
              <a:gd name="adj" fmla="val 2439"/>
            </a:avLst>
          </a:prstGeom>
          <a:solidFill>
            <a:srgbClr val="F8FBF8"/>
          </a:solidFill>
          <a:ln w="10795">
            <a:solidFill>
              <a:srgbClr val="24734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71900" y="38100"/>
            <a:ext cx="1219200" cy="2082800"/>
          </a:xfrm>
          <a:prstGeom prst="roundRect">
            <a:avLst>
              <a:gd name="adj" fmla="val 4166"/>
            </a:avLst>
          </a:prstGeom>
          <a:solidFill>
            <a:srgbClr val="FFF9F8"/>
          </a:solidFill>
          <a:ln w="10795">
            <a:solidFill>
              <a:srgbClr val="BD3D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4487" y="103505"/>
            <a:ext cx="606427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44EA4"/>
                </a:solidFill>
                <a:latin typeface="Liberation Serif"/>
              </a:rPr>
              <a:t>Soft penalty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448" y="296164"/>
            <a:ext cx="788503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17078"/>
                </a:solidFill>
                <a:latin typeface="Liberation Serif"/>
              </a:rPr>
              <a:t>costs in the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359" y="467995"/>
            <a:ext cx="73424" cy="1816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4EA4"/>
                </a:solidFill>
                <a:latin typeface="Liberation Serif"/>
              </a:rPr>
              <a:t>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2733" y="539115"/>
            <a:ext cx="4865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44EA4"/>
                </a:solidFill>
                <a:latin typeface="Liberation Serif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334" y="467995"/>
            <a:ext cx="248987" cy="1816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4EA4"/>
                </a:solidFill>
                <a:latin typeface="Liberation Serif"/>
              </a:rPr>
              <a:t> − 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271" y="5391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44EA4"/>
                </a:solidFill>
                <a:latin typeface="Liberation Serif"/>
              </a:rPr>
              <a:t>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21" y="467995"/>
            <a:ext cx="121708" cy="1816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4EA4"/>
                </a:solidFill>
                <a:latin typeface="Liberation Serif"/>
              </a:rPr>
              <a:t> 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379" y="5391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44EA4"/>
                </a:solidFill>
                <a:latin typeface="Liberation Serif"/>
              </a:rPr>
              <a:t>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29" y="467995"/>
            <a:ext cx="108349" cy="1816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44EA4"/>
                </a:solidFill>
                <a:latin typeface="Liberation Serif"/>
              </a:rPr>
              <a:t> 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3128" y="539115"/>
            <a:ext cx="58513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44EA4"/>
                </a:solidFill>
                <a:latin typeface="Liberation Serif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591" y="5645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44EA4"/>
                </a:solidFill>
                <a:latin typeface="Liberation Serif"/>
              </a:rPr>
              <a:t>k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54000" y="812800"/>
            <a:ext cx="0" cy="800100"/>
          </a:xfrm>
          <a:prstGeom prst="line">
            <a:avLst/>
          </a:prstGeom>
          <a:ln w="7620">
            <a:solidFill>
              <a:srgbClr val="223139"/>
            </a:solidFill>
            <a:tailEnd type="triangle" w="sm" len="sm"/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254000" y="1612900"/>
            <a:ext cx="838200" cy="0"/>
          </a:xfrm>
          <a:prstGeom prst="line">
            <a:avLst/>
          </a:prstGeom>
          <a:ln w="7620">
            <a:solidFill>
              <a:srgbClr val="223139"/>
            </a:solidFill>
            <a:tailEnd type="triangle" w="sm" len="sm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165100" y="689864"/>
            <a:ext cx="186757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23139"/>
                </a:solidFill>
                <a:latin typeface="Liberation Serif"/>
              </a:rPr>
              <a:t>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497" y="1680464"/>
            <a:ext cx="330703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23139"/>
                </a:solidFill>
                <a:latin typeface="Liberation Serif"/>
              </a:rPr>
              <a:t>Training</a:t>
            </a:r>
          </a:p>
        </p:txBody>
      </p:sp>
      <p:sp>
        <p:nvSpPr>
          <p:cNvPr id="20" name="Freeform 19"/>
          <p:cNvSpPr/>
          <p:nvPr/>
        </p:nvSpPr>
        <p:spPr>
          <a:xfrm>
            <a:off x="254000" y="1219200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 h="0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/>
          <a:ln w="8255">
            <a:solidFill>
              <a:srgbClr val="BD3D3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857" y="1083564"/>
            <a:ext cx="80043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BD3D3D"/>
                </a:solidFill>
                <a:latin typeface="Liberation Serif"/>
              </a:rPr>
              <a:t>B</a:t>
            </a:r>
          </a:p>
        </p:txBody>
      </p:sp>
      <p:sp>
        <p:nvSpPr>
          <p:cNvPr id="22" name="Freeform 21"/>
          <p:cNvSpPr/>
          <p:nvPr/>
        </p:nvSpPr>
        <p:spPr>
          <a:xfrm>
            <a:off x="292100" y="933315"/>
            <a:ext cx="736600" cy="603385"/>
          </a:xfrm>
          <a:custGeom>
            <a:avLst/>
            <a:gdLst/>
            <a:ahLst/>
            <a:cxnLst/>
            <a:rect l="l" t="t" r="r" b="b"/>
            <a:pathLst>
              <a:path w="736600" h="603385">
                <a:moveTo>
                  <a:pt x="0" y="603385"/>
                </a:moveTo>
                <a:lnTo>
                  <a:pt x="13641" y="569069"/>
                </a:lnTo>
                <a:lnTo>
                  <a:pt x="27281" y="536608"/>
                </a:lnTo>
                <a:lnTo>
                  <a:pt x="40922" y="505901"/>
                </a:lnTo>
                <a:lnTo>
                  <a:pt x="54563" y="476853"/>
                </a:lnTo>
                <a:lnTo>
                  <a:pt x="68204" y="449375"/>
                </a:lnTo>
                <a:lnTo>
                  <a:pt x="81844" y="423382"/>
                </a:lnTo>
                <a:lnTo>
                  <a:pt x="95485" y="398794"/>
                </a:lnTo>
                <a:lnTo>
                  <a:pt x="109126" y="375535"/>
                </a:lnTo>
                <a:lnTo>
                  <a:pt x="122767" y="353532"/>
                </a:lnTo>
                <a:lnTo>
                  <a:pt x="136407" y="332718"/>
                </a:lnTo>
                <a:lnTo>
                  <a:pt x="150048" y="313030"/>
                </a:lnTo>
                <a:lnTo>
                  <a:pt x="163689" y="294405"/>
                </a:lnTo>
                <a:lnTo>
                  <a:pt x="177330" y="276787"/>
                </a:lnTo>
                <a:lnTo>
                  <a:pt x="190970" y="260120"/>
                </a:lnTo>
                <a:lnTo>
                  <a:pt x="204611" y="244355"/>
                </a:lnTo>
                <a:lnTo>
                  <a:pt x="218252" y="229441"/>
                </a:lnTo>
                <a:lnTo>
                  <a:pt x="231893" y="215334"/>
                </a:lnTo>
                <a:lnTo>
                  <a:pt x="245533" y="201988"/>
                </a:lnTo>
                <a:lnTo>
                  <a:pt x="259174" y="189364"/>
                </a:lnTo>
                <a:lnTo>
                  <a:pt x="272815" y="177423"/>
                </a:lnTo>
                <a:lnTo>
                  <a:pt x="286456" y="166126"/>
                </a:lnTo>
                <a:lnTo>
                  <a:pt x="300096" y="155440"/>
                </a:lnTo>
                <a:lnTo>
                  <a:pt x="313737" y="145331"/>
                </a:lnTo>
                <a:lnTo>
                  <a:pt x="327378" y="135769"/>
                </a:lnTo>
                <a:lnTo>
                  <a:pt x="341019" y="126724"/>
                </a:lnTo>
                <a:lnTo>
                  <a:pt x="354659" y="118167"/>
                </a:lnTo>
                <a:lnTo>
                  <a:pt x="368300" y="110073"/>
                </a:lnTo>
                <a:lnTo>
                  <a:pt x="381941" y="102416"/>
                </a:lnTo>
                <a:lnTo>
                  <a:pt x="395581" y="95173"/>
                </a:lnTo>
                <a:lnTo>
                  <a:pt x="409222" y="88321"/>
                </a:lnTo>
                <a:lnTo>
                  <a:pt x="422863" y="81840"/>
                </a:lnTo>
                <a:lnTo>
                  <a:pt x="436504" y="75708"/>
                </a:lnTo>
                <a:lnTo>
                  <a:pt x="450144" y="69909"/>
                </a:lnTo>
                <a:lnTo>
                  <a:pt x="463785" y="64422"/>
                </a:lnTo>
                <a:lnTo>
                  <a:pt x="477426" y="59232"/>
                </a:lnTo>
                <a:lnTo>
                  <a:pt x="491067" y="54323"/>
                </a:lnTo>
                <a:lnTo>
                  <a:pt x="504707" y="49679"/>
                </a:lnTo>
                <a:lnTo>
                  <a:pt x="518348" y="45286"/>
                </a:lnTo>
                <a:lnTo>
                  <a:pt x="531989" y="41130"/>
                </a:lnTo>
                <a:lnTo>
                  <a:pt x="545630" y="37199"/>
                </a:lnTo>
                <a:lnTo>
                  <a:pt x="559270" y="33480"/>
                </a:lnTo>
                <a:lnTo>
                  <a:pt x="572911" y="29962"/>
                </a:lnTo>
                <a:lnTo>
                  <a:pt x="586552" y="26635"/>
                </a:lnTo>
                <a:lnTo>
                  <a:pt x="600193" y="23487"/>
                </a:lnTo>
                <a:lnTo>
                  <a:pt x="613833" y="20509"/>
                </a:lnTo>
                <a:lnTo>
                  <a:pt x="627474" y="17692"/>
                </a:lnTo>
                <a:lnTo>
                  <a:pt x="641115" y="15028"/>
                </a:lnTo>
                <a:lnTo>
                  <a:pt x="654756" y="12507"/>
                </a:lnTo>
                <a:lnTo>
                  <a:pt x="668396" y="10123"/>
                </a:lnTo>
                <a:lnTo>
                  <a:pt x="682037" y="7867"/>
                </a:lnTo>
                <a:lnTo>
                  <a:pt x="695678" y="5733"/>
                </a:lnTo>
                <a:lnTo>
                  <a:pt x="709319" y="3715"/>
                </a:lnTo>
                <a:lnTo>
                  <a:pt x="722959" y="1806"/>
                </a:lnTo>
                <a:lnTo>
                  <a:pt x="736600" y="0"/>
                </a:lnTo>
              </a:path>
            </a:pathLst>
          </a:custGeom>
          <a:noFill/>
          <a:ln w="16510">
            <a:solidFill>
              <a:srgbClr val="244E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863600" y="977900"/>
            <a:ext cx="0" cy="241300"/>
          </a:xfrm>
          <a:prstGeom prst="line">
            <a:avLst/>
          </a:prstGeom>
          <a:ln w="8890">
            <a:solidFill>
              <a:srgbClr val="BD3D3D"/>
            </a:solidFill>
            <a:tailEnd type="triangle" w="sm" len="sm"/>
            <a:headEnd type="triangle" w="sm" len="sm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327288" y="1804988"/>
            <a:ext cx="640824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44EA4"/>
                </a:solidFill>
                <a:latin typeface="Liberation Serif"/>
              </a:rPr>
              <a:t>Budget leakage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4" y="1947164"/>
            <a:ext cx="384653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17078"/>
                </a:solidFill>
                <a:latin typeface="Liberation Serif"/>
              </a:rPr>
              <a:t>schematic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6622" y="103505"/>
            <a:ext cx="809756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BD3D3D"/>
                </a:solidFill>
                <a:latin typeface="Liberation Serif"/>
              </a:rPr>
              <a:t>Explicit budgets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17724" y="296164"/>
            <a:ext cx="727553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17078"/>
                </a:solidFill>
                <a:latin typeface="Liberation Serif"/>
              </a:rPr>
              <a:t>coupled constraints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0273" y="467995"/>
            <a:ext cx="73424" cy="1816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D3D3D"/>
                </a:solidFill>
                <a:latin typeface="Liberation Serif"/>
              </a:rPr>
              <a:t>J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647" y="539115"/>
            <a:ext cx="58513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BD3D3D"/>
                </a:solidFill>
                <a:latin typeface="Liberation Serif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64110" y="5645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BD3D3D"/>
                </a:solidFill>
                <a:latin typeface="Liberation Serif"/>
              </a:rPr>
              <a:t>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08560" y="467995"/>
            <a:ext cx="258766" cy="1816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D3D3D"/>
                </a:solidFill>
                <a:latin typeface="Liberation Serif"/>
              </a:rPr>
              <a:t> ≤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48277" y="5391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BD3D3D"/>
                </a:solidFill>
                <a:latin typeface="Liberation Serif"/>
              </a:rPr>
              <a:t>k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4000500" y="812800"/>
            <a:ext cx="0" cy="800100"/>
          </a:xfrm>
          <a:prstGeom prst="line">
            <a:avLst/>
          </a:prstGeom>
          <a:ln w="7620">
            <a:solidFill>
              <a:srgbClr val="223139"/>
            </a:solidFill>
            <a:tailEnd type="triangle" w="sm" len="sm"/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4000500" y="1612900"/>
            <a:ext cx="838200" cy="0"/>
          </a:xfrm>
          <a:prstGeom prst="line">
            <a:avLst/>
          </a:prstGeom>
          <a:ln w="7620">
            <a:solidFill>
              <a:srgbClr val="223139"/>
            </a:solidFill>
            <a:tailEnd type="triangle" w="sm" len="sm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3911600" y="689864"/>
            <a:ext cx="186757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23139"/>
                </a:solidFill>
                <a:latin typeface="Liberation Serif"/>
              </a:rPr>
              <a:t>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7" y="1680464"/>
            <a:ext cx="330703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23139"/>
                </a:solidFill>
                <a:latin typeface="Liberation Serif"/>
              </a:rPr>
              <a:t>Training</a:t>
            </a:r>
          </a:p>
        </p:txBody>
      </p:sp>
      <p:sp>
        <p:nvSpPr>
          <p:cNvPr id="37" name="Freeform 36"/>
          <p:cNvSpPr/>
          <p:nvPr/>
        </p:nvSpPr>
        <p:spPr>
          <a:xfrm>
            <a:off x="4000500" y="1016000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 h="0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/>
          <a:ln w="8255">
            <a:solidFill>
              <a:srgbClr val="BD3D3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63640" y="949960"/>
            <a:ext cx="8682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D3D3D"/>
                </a:solidFill>
                <a:latin typeface="Liberation Serif"/>
              </a:rPr>
              <a:t>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410" y="983615"/>
            <a:ext cx="5004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BD3D3D"/>
                </a:solidFill>
                <a:latin typeface="Liberation Serif"/>
              </a:rPr>
              <a:t>₁</a:t>
            </a:r>
          </a:p>
        </p:txBody>
      </p:sp>
      <p:sp>
        <p:nvSpPr>
          <p:cNvPr id="40" name="Freeform 39"/>
          <p:cNvSpPr/>
          <p:nvPr/>
        </p:nvSpPr>
        <p:spPr>
          <a:xfrm>
            <a:off x="4000500" y="1206500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 h="0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/>
          <a:ln w="8255">
            <a:solidFill>
              <a:srgbClr val="BD3D3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63640" y="1140460"/>
            <a:ext cx="8682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D3D3D"/>
                </a:solidFill>
                <a:latin typeface="Liberation Serif"/>
              </a:rPr>
              <a:t>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410" y="1174115"/>
            <a:ext cx="5004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BD3D3D"/>
                </a:solidFill>
                <a:latin typeface="Liberation Serif"/>
              </a:rPr>
              <a:t>₂</a:t>
            </a:r>
          </a:p>
        </p:txBody>
      </p:sp>
      <p:sp>
        <p:nvSpPr>
          <p:cNvPr id="43" name="Freeform 42"/>
          <p:cNvSpPr/>
          <p:nvPr/>
        </p:nvSpPr>
        <p:spPr>
          <a:xfrm>
            <a:off x="4000500" y="1397000"/>
            <a:ext cx="838200" cy="0"/>
          </a:xfrm>
          <a:custGeom>
            <a:avLst/>
            <a:gdLst/>
            <a:ahLst/>
            <a:cxnLst/>
            <a:rect l="l" t="t" r="r" b="b"/>
            <a:pathLst>
              <a:path w="838200" h="0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/>
          <a:ln w="8255">
            <a:solidFill>
              <a:srgbClr val="BD3D3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50180" y="1330960"/>
            <a:ext cx="8682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BD3D3D"/>
                </a:solidFill>
                <a:latin typeface="Liberation Serif"/>
              </a:rPr>
              <a:t>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17950" y="13646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BD3D3D"/>
                </a:solidFill>
                <a:latin typeface="Liberation Serif"/>
              </a:rPr>
              <a:t>k</a:t>
            </a:r>
          </a:p>
        </p:txBody>
      </p:sp>
      <p:sp>
        <p:nvSpPr>
          <p:cNvPr id="46" name="Freeform 45"/>
          <p:cNvSpPr/>
          <p:nvPr/>
        </p:nvSpPr>
        <p:spPr>
          <a:xfrm>
            <a:off x="4038600" y="952522"/>
            <a:ext cx="762000" cy="507956"/>
          </a:xfrm>
          <a:custGeom>
            <a:avLst/>
            <a:gdLst/>
            <a:ahLst/>
            <a:cxnLst/>
            <a:rect l="l" t="t" r="r" b="b"/>
            <a:pathLst>
              <a:path w="762000" h="507956">
                <a:moveTo>
                  <a:pt x="0" y="253978"/>
                </a:moveTo>
                <a:lnTo>
                  <a:pt x="6403" y="213913"/>
                </a:lnTo>
                <a:lnTo>
                  <a:pt x="12807" y="174850"/>
                </a:lnTo>
                <a:lnTo>
                  <a:pt x="19210" y="137769"/>
                </a:lnTo>
                <a:lnTo>
                  <a:pt x="25613" y="103598"/>
                </a:lnTo>
                <a:lnTo>
                  <a:pt x="32017" y="73191"/>
                </a:lnTo>
                <a:lnTo>
                  <a:pt x="38420" y="47312"/>
                </a:lnTo>
                <a:lnTo>
                  <a:pt x="44824" y="26607"/>
                </a:lnTo>
                <a:lnTo>
                  <a:pt x="51227" y="11594"/>
                </a:lnTo>
                <a:lnTo>
                  <a:pt x="57630" y="2651"/>
                </a:lnTo>
                <a:lnTo>
                  <a:pt x="64034" y="0"/>
                </a:lnTo>
                <a:lnTo>
                  <a:pt x="70437" y="3709"/>
                </a:lnTo>
                <a:lnTo>
                  <a:pt x="76840" y="13683"/>
                </a:lnTo>
                <a:lnTo>
                  <a:pt x="83244" y="29674"/>
                </a:lnTo>
                <a:lnTo>
                  <a:pt x="89647" y="51282"/>
                </a:lnTo>
                <a:lnTo>
                  <a:pt x="96050" y="77964"/>
                </a:lnTo>
                <a:lnTo>
                  <a:pt x="102454" y="109053"/>
                </a:lnTo>
                <a:lnTo>
                  <a:pt x="108857" y="143772"/>
                </a:lnTo>
                <a:lnTo>
                  <a:pt x="115261" y="181249"/>
                </a:lnTo>
                <a:lnTo>
                  <a:pt x="121664" y="220547"/>
                </a:lnTo>
                <a:lnTo>
                  <a:pt x="128067" y="260683"/>
                </a:lnTo>
                <a:lnTo>
                  <a:pt x="134471" y="300650"/>
                </a:lnTo>
                <a:lnTo>
                  <a:pt x="140874" y="339449"/>
                </a:lnTo>
                <a:lnTo>
                  <a:pt x="147277" y="376108"/>
                </a:lnTo>
                <a:lnTo>
                  <a:pt x="153681" y="409709"/>
                </a:lnTo>
                <a:lnTo>
                  <a:pt x="160084" y="439411"/>
                </a:lnTo>
                <a:lnTo>
                  <a:pt x="166487" y="464470"/>
                </a:lnTo>
                <a:lnTo>
                  <a:pt x="172891" y="484259"/>
                </a:lnTo>
                <a:lnTo>
                  <a:pt x="179294" y="498282"/>
                </a:lnTo>
                <a:lnTo>
                  <a:pt x="185697" y="506188"/>
                </a:lnTo>
                <a:lnTo>
                  <a:pt x="192101" y="507779"/>
                </a:lnTo>
                <a:lnTo>
                  <a:pt x="198504" y="503015"/>
                </a:lnTo>
                <a:lnTo>
                  <a:pt x="204908" y="492016"/>
                </a:lnTo>
                <a:lnTo>
                  <a:pt x="211311" y="475058"/>
                </a:lnTo>
                <a:lnTo>
                  <a:pt x="217714" y="452563"/>
                </a:lnTo>
                <a:lnTo>
                  <a:pt x="224118" y="425097"/>
                </a:lnTo>
                <a:lnTo>
                  <a:pt x="230521" y="393346"/>
                </a:lnTo>
                <a:lnTo>
                  <a:pt x="236924" y="358105"/>
                </a:lnTo>
                <a:lnTo>
                  <a:pt x="243328" y="320258"/>
                </a:lnTo>
                <a:lnTo>
                  <a:pt x="249731" y="280751"/>
                </a:lnTo>
                <a:lnTo>
                  <a:pt x="256134" y="240573"/>
                </a:lnTo>
                <a:lnTo>
                  <a:pt x="262538" y="200731"/>
                </a:lnTo>
                <a:lnTo>
                  <a:pt x="268941" y="162223"/>
                </a:lnTo>
                <a:lnTo>
                  <a:pt x="275345" y="126011"/>
                </a:lnTo>
                <a:lnTo>
                  <a:pt x="281748" y="93004"/>
                </a:lnTo>
                <a:lnTo>
                  <a:pt x="288151" y="64027"/>
                </a:lnTo>
                <a:lnTo>
                  <a:pt x="294555" y="39807"/>
                </a:lnTo>
                <a:lnTo>
                  <a:pt x="300958" y="20948"/>
                </a:lnTo>
                <a:lnTo>
                  <a:pt x="307361" y="7925"/>
                </a:lnTo>
                <a:lnTo>
                  <a:pt x="313765" y="1062"/>
                </a:lnTo>
                <a:lnTo>
                  <a:pt x="320168" y="531"/>
                </a:lnTo>
                <a:lnTo>
                  <a:pt x="326571" y="6346"/>
                </a:lnTo>
                <a:lnTo>
                  <a:pt x="332975" y="18362"/>
                </a:lnTo>
                <a:lnTo>
                  <a:pt x="339378" y="36277"/>
                </a:lnTo>
                <a:lnTo>
                  <a:pt x="345782" y="59642"/>
                </a:lnTo>
                <a:lnTo>
                  <a:pt x="352185" y="87874"/>
                </a:lnTo>
                <a:lnTo>
                  <a:pt x="358588" y="120264"/>
                </a:lnTo>
                <a:lnTo>
                  <a:pt x="364992" y="156003"/>
                </a:lnTo>
                <a:lnTo>
                  <a:pt x="371395" y="194194"/>
                </a:lnTo>
                <a:lnTo>
                  <a:pt x="377798" y="233882"/>
                </a:lnTo>
                <a:lnTo>
                  <a:pt x="384202" y="274074"/>
                </a:lnTo>
                <a:lnTo>
                  <a:pt x="390605" y="313762"/>
                </a:lnTo>
                <a:lnTo>
                  <a:pt x="397008" y="351953"/>
                </a:lnTo>
                <a:lnTo>
                  <a:pt x="403412" y="387692"/>
                </a:lnTo>
                <a:lnTo>
                  <a:pt x="409815" y="420082"/>
                </a:lnTo>
                <a:lnTo>
                  <a:pt x="416218" y="448314"/>
                </a:lnTo>
                <a:lnTo>
                  <a:pt x="422622" y="471679"/>
                </a:lnTo>
                <a:lnTo>
                  <a:pt x="429025" y="489594"/>
                </a:lnTo>
                <a:lnTo>
                  <a:pt x="435429" y="501610"/>
                </a:lnTo>
                <a:lnTo>
                  <a:pt x="441832" y="507425"/>
                </a:lnTo>
                <a:lnTo>
                  <a:pt x="448235" y="506894"/>
                </a:lnTo>
                <a:lnTo>
                  <a:pt x="454639" y="500031"/>
                </a:lnTo>
                <a:lnTo>
                  <a:pt x="461042" y="487008"/>
                </a:lnTo>
                <a:lnTo>
                  <a:pt x="467445" y="468149"/>
                </a:lnTo>
                <a:lnTo>
                  <a:pt x="473849" y="443929"/>
                </a:lnTo>
                <a:lnTo>
                  <a:pt x="480252" y="414952"/>
                </a:lnTo>
                <a:lnTo>
                  <a:pt x="486655" y="381945"/>
                </a:lnTo>
                <a:lnTo>
                  <a:pt x="493059" y="345733"/>
                </a:lnTo>
                <a:lnTo>
                  <a:pt x="499462" y="307225"/>
                </a:lnTo>
                <a:lnTo>
                  <a:pt x="505866" y="267383"/>
                </a:lnTo>
                <a:lnTo>
                  <a:pt x="512269" y="227205"/>
                </a:lnTo>
                <a:lnTo>
                  <a:pt x="518672" y="187698"/>
                </a:lnTo>
                <a:lnTo>
                  <a:pt x="525076" y="149851"/>
                </a:lnTo>
                <a:lnTo>
                  <a:pt x="531479" y="114610"/>
                </a:lnTo>
                <a:lnTo>
                  <a:pt x="537882" y="82859"/>
                </a:lnTo>
                <a:lnTo>
                  <a:pt x="544286" y="55393"/>
                </a:lnTo>
                <a:lnTo>
                  <a:pt x="550689" y="32898"/>
                </a:lnTo>
                <a:lnTo>
                  <a:pt x="557092" y="15940"/>
                </a:lnTo>
                <a:lnTo>
                  <a:pt x="563496" y="4941"/>
                </a:lnTo>
                <a:lnTo>
                  <a:pt x="569899" y="177"/>
                </a:lnTo>
                <a:lnTo>
                  <a:pt x="576303" y="1768"/>
                </a:lnTo>
                <a:lnTo>
                  <a:pt x="582706" y="9674"/>
                </a:lnTo>
                <a:lnTo>
                  <a:pt x="589109" y="23697"/>
                </a:lnTo>
                <a:lnTo>
                  <a:pt x="595513" y="43486"/>
                </a:lnTo>
                <a:lnTo>
                  <a:pt x="601916" y="68545"/>
                </a:lnTo>
                <a:lnTo>
                  <a:pt x="608319" y="98247"/>
                </a:lnTo>
                <a:lnTo>
                  <a:pt x="614723" y="131848"/>
                </a:lnTo>
                <a:lnTo>
                  <a:pt x="621126" y="168507"/>
                </a:lnTo>
                <a:lnTo>
                  <a:pt x="627529" y="207306"/>
                </a:lnTo>
                <a:lnTo>
                  <a:pt x="633933" y="247273"/>
                </a:lnTo>
                <a:lnTo>
                  <a:pt x="640336" y="287409"/>
                </a:lnTo>
                <a:lnTo>
                  <a:pt x="646739" y="326707"/>
                </a:lnTo>
                <a:lnTo>
                  <a:pt x="653143" y="364184"/>
                </a:lnTo>
                <a:lnTo>
                  <a:pt x="659546" y="398903"/>
                </a:lnTo>
                <a:lnTo>
                  <a:pt x="665950" y="429992"/>
                </a:lnTo>
                <a:lnTo>
                  <a:pt x="672353" y="456674"/>
                </a:lnTo>
                <a:lnTo>
                  <a:pt x="678756" y="478282"/>
                </a:lnTo>
                <a:lnTo>
                  <a:pt x="685160" y="494273"/>
                </a:lnTo>
                <a:lnTo>
                  <a:pt x="691563" y="504247"/>
                </a:lnTo>
                <a:lnTo>
                  <a:pt x="697966" y="507956"/>
                </a:lnTo>
                <a:lnTo>
                  <a:pt x="704370" y="505305"/>
                </a:lnTo>
                <a:lnTo>
                  <a:pt x="710773" y="496362"/>
                </a:lnTo>
                <a:lnTo>
                  <a:pt x="717176" y="481349"/>
                </a:lnTo>
                <a:lnTo>
                  <a:pt x="723580" y="460644"/>
                </a:lnTo>
                <a:lnTo>
                  <a:pt x="729983" y="434765"/>
                </a:lnTo>
                <a:lnTo>
                  <a:pt x="736387" y="404358"/>
                </a:lnTo>
                <a:lnTo>
                  <a:pt x="742790" y="370187"/>
                </a:lnTo>
                <a:lnTo>
                  <a:pt x="749193" y="333106"/>
                </a:lnTo>
                <a:lnTo>
                  <a:pt x="755597" y="294043"/>
                </a:lnTo>
                <a:lnTo>
                  <a:pt x="762000" y="253978"/>
                </a:lnTo>
              </a:path>
            </a:pathLst>
          </a:custGeom>
          <a:noFill/>
          <a:ln w="14604">
            <a:solidFill>
              <a:srgbClr val="BD3D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08142" y="1804988"/>
            <a:ext cx="746715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BD3D3D"/>
                </a:solidFill>
                <a:latin typeface="Liberation Serif"/>
              </a:rPr>
              <a:t>Budget oscillation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89174" y="1947164"/>
            <a:ext cx="384653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17078"/>
                </a:solidFill>
                <a:latin typeface="Liberation Serif"/>
              </a:rPr>
              <a:t>schematic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51023" y="95250"/>
            <a:ext cx="727154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7345"/>
                </a:solidFill>
                <a:latin typeface="Liberation Serif"/>
              </a:rPr>
              <a:t>SafeOT-Dual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60209" y="289560"/>
            <a:ext cx="130878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47345"/>
                </a:solidFill>
                <a:latin typeface="Liberation Serif"/>
              </a:rPr>
              <a:t>K constraints · one joint solve</a:t>
            </a:r>
          </a:p>
        </p:txBody>
      </p:sp>
      <p:sp>
        <p:nvSpPr>
          <p:cNvPr id="51" name="Freeform 50"/>
          <p:cNvSpPr/>
          <p:nvPr/>
        </p:nvSpPr>
        <p:spPr>
          <a:xfrm>
            <a:off x="1549400" y="469900"/>
            <a:ext cx="76200" cy="139700"/>
          </a:xfrm>
          <a:custGeom>
            <a:avLst/>
            <a:gdLst/>
            <a:ahLst/>
            <a:cxnLst/>
            <a:rect l="l" t="t" r="r" b="b"/>
            <a:pathLst>
              <a:path w="76200" h="139700">
                <a:moveTo>
                  <a:pt x="38100" y="0"/>
                </a:moveTo>
                <a:lnTo>
                  <a:pt x="0" y="76200"/>
                </a:lnTo>
                <a:lnTo>
                  <a:pt x="0" y="114300"/>
                </a:lnTo>
                <a:lnTo>
                  <a:pt x="38100" y="139700"/>
                </a:lnTo>
                <a:lnTo>
                  <a:pt x="76200" y="11430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617078"/>
          </a:solidFill>
          <a:ln w="6350">
            <a:solidFill>
              <a:srgbClr val="6170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91586" y="664464"/>
            <a:ext cx="191829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17078"/>
                </a:solidFill>
                <a:latin typeface="Liberation Serif"/>
              </a:rPr>
              <a:t>Spill</a:t>
            </a:r>
          </a:p>
        </p:txBody>
      </p:sp>
      <p:sp>
        <p:nvSpPr>
          <p:cNvPr id="53" name="Freeform 52"/>
          <p:cNvSpPr/>
          <p:nvPr/>
        </p:nvSpPr>
        <p:spPr>
          <a:xfrm>
            <a:off x="2032000" y="609600"/>
            <a:ext cx="127000" cy="0"/>
          </a:xfrm>
          <a:custGeom>
            <a:avLst/>
            <a:gdLst/>
            <a:ahLst/>
            <a:cxnLst/>
            <a:rect l="l" t="t" r="r" b="b"/>
            <a:pathLst>
              <a:path w="127000" h="0">
                <a:moveTo>
                  <a:pt x="0" y="0"/>
                </a:moveTo>
                <a:lnTo>
                  <a:pt x="127000" y="0"/>
                </a:lnTo>
              </a:path>
            </a:pathLst>
          </a:custGeom>
          <a:noFill/>
          <a:ln w="12700">
            <a:solidFill>
              <a:srgbClr val="6170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2057400" y="495300"/>
            <a:ext cx="88900" cy="101600"/>
          </a:xfrm>
          <a:custGeom>
            <a:avLst/>
            <a:gdLst/>
            <a:ahLst/>
            <a:cxnLst/>
            <a:rect l="l" t="t" r="r" b="b"/>
            <a:pathLst>
              <a:path w="88900" h="101600">
                <a:moveTo>
                  <a:pt x="0" y="101600"/>
                </a:moveTo>
                <a:lnTo>
                  <a:pt x="25400" y="38100"/>
                </a:lnTo>
                <a:lnTo>
                  <a:pt x="88900" y="0"/>
                </a:lnTo>
              </a:path>
            </a:pathLst>
          </a:custGeom>
          <a:noFill/>
          <a:ln w="13970">
            <a:solidFill>
              <a:srgbClr val="6170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067560" y="518160"/>
            <a:ext cx="30480" cy="304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6170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2133600" y="495300"/>
            <a:ext cx="0" cy="63500"/>
          </a:xfrm>
          <a:prstGeom prst="line">
            <a:avLst/>
          </a:prstGeom>
          <a:ln w="8890">
            <a:solidFill>
              <a:srgbClr val="617078"/>
            </a:solidFill>
            <a:tailEnd type="triangle" w="sm" len="sm"/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1981876" y="664464"/>
            <a:ext cx="227247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17078"/>
                </a:solidFill>
                <a:latin typeface="Liberation Serif"/>
              </a:rPr>
              <a:t>Force</a:t>
            </a:r>
          </a:p>
        </p:txBody>
      </p:sp>
      <p:sp>
        <p:nvSpPr>
          <p:cNvPr id="58" name="Freeform 57"/>
          <p:cNvSpPr/>
          <p:nvPr/>
        </p:nvSpPr>
        <p:spPr>
          <a:xfrm>
            <a:off x="2565400" y="508000"/>
            <a:ext cx="127000" cy="88900"/>
          </a:xfrm>
          <a:custGeom>
            <a:avLst/>
            <a:gdLst/>
            <a:ahLst/>
            <a:cxnLst/>
            <a:rect l="l" t="t" r="r" b="b"/>
            <a:pathLst>
              <a:path w="127000" h="88900">
                <a:moveTo>
                  <a:pt x="0" y="88900"/>
                </a:moveTo>
                <a:lnTo>
                  <a:pt x="0" y="0"/>
                </a:lnTo>
                <a:lnTo>
                  <a:pt x="127000" y="0"/>
                </a:lnTo>
                <a:lnTo>
                  <a:pt x="127000" y="88900"/>
                </a:lnTo>
              </a:path>
            </a:pathLst>
          </a:custGeom>
          <a:noFill/>
          <a:ln w="11430">
            <a:solidFill>
              <a:srgbClr val="6170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2628900" y="469900"/>
            <a:ext cx="0" cy="101600"/>
          </a:xfrm>
          <a:prstGeom prst="line">
            <a:avLst/>
          </a:prstGeom>
          <a:ln w="10160">
            <a:solidFill>
              <a:srgbClr val="617078"/>
            </a:solidFill>
            <a:tailEnd type="triangle" w="sm" len="sm"/>
          </a:ln>
          <a:effectLst/>
        </p:spPr>
      </p:cxnSp>
      <p:sp>
        <p:nvSpPr>
          <p:cNvPr id="60" name="Freeform 59"/>
          <p:cNvSpPr/>
          <p:nvPr/>
        </p:nvSpPr>
        <p:spPr>
          <a:xfrm>
            <a:off x="2603500" y="571500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25400"/>
                </a:moveTo>
                <a:lnTo>
                  <a:pt x="25400" y="0"/>
                </a:lnTo>
                <a:lnTo>
                  <a:pt x="50800" y="25400"/>
                </a:lnTo>
              </a:path>
            </a:pathLst>
          </a:custGeom>
          <a:noFill/>
          <a:ln w="10160">
            <a:solidFill>
              <a:srgbClr val="6170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92438" y="664464"/>
            <a:ext cx="272925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17078"/>
                </a:solidFill>
                <a:latin typeface="Liberation Serif"/>
              </a:rPr>
              <a:t>Impact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83001" y="467995"/>
            <a:ext cx="158597" cy="1816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78"/>
                </a:solidFill>
                <a:latin typeface="Liberation Serif"/>
              </a:rPr>
              <a:t>···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11864" y="664464"/>
            <a:ext cx="427873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17078"/>
                </a:solidFill>
                <a:latin typeface="Liberation Serif"/>
              </a:rPr>
              <a:t>K channels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514600" y="812800"/>
            <a:ext cx="0" cy="101600"/>
          </a:xfrm>
          <a:prstGeom prst="line">
            <a:avLst/>
          </a:prstGeom>
          <a:ln w="10160">
            <a:solidFill>
              <a:srgbClr val="247345"/>
            </a:solidFill>
            <a:tailEnd type="triangle" w="sm" len="sm"/>
          </a:ln>
          <a:effectLst/>
        </p:spPr>
      </p:cxnSp>
      <p:sp>
        <p:nvSpPr>
          <p:cNvPr id="65" name="Rounded Rectangle 64"/>
          <p:cNvSpPr/>
          <p:nvPr/>
        </p:nvSpPr>
        <p:spPr>
          <a:xfrm>
            <a:off x="1485900" y="939800"/>
            <a:ext cx="2057400" cy="4953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8890">
            <a:solidFill>
              <a:srgbClr val="24734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00200" y="999934"/>
            <a:ext cx="473414" cy="13373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47345"/>
                </a:solidFill>
                <a:latin typeface="Liberation Serif"/>
              </a:rPr>
              <a:t>ONE joint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00200" y="1152334"/>
            <a:ext cx="450477" cy="133731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247345"/>
                </a:solidFill>
                <a:latin typeface="Liberation Serif"/>
              </a:rPr>
              <a:t>flow solve</a:t>
            </a:r>
          </a:p>
        </p:txBody>
      </p:sp>
      <p:sp>
        <p:nvSpPr>
          <p:cNvPr id="68" name="Freeform 67"/>
          <p:cNvSpPr/>
          <p:nvPr/>
        </p:nvSpPr>
        <p:spPr>
          <a:xfrm>
            <a:off x="2590800" y="1054100"/>
            <a:ext cx="240030" cy="133350"/>
          </a:xfrm>
          <a:custGeom>
            <a:avLst/>
            <a:gdLst/>
            <a:ahLst/>
            <a:cxnLst/>
            <a:rect l="l" t="t" r="r" b="b"/>
            <a:pathLst>
              <a:path w="240030" h="133350">
                <a:moveTo>
                  <a:pt x="0" y="133350"/>
                </a:moveTo>
                <a:lnTo>
                  <a:pt x="240030" y="0"/>
                </a:lnTo>
              </a:path>
            </a:pathLst>
          </a:custGeom>
          <a:noFill/>
          <a:ln w="8890">
            <a:solidFill>
              <a:srgbClr val="24734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2830830" y="1054100"/>
            <a:ext cx="296037" cy="0"/>
          </a:xfrm>
          <a:custGeom>
            <a:avLst/>
            <a:gdLst/>
            <a:ahLst/>
            <a:cxnLst/>
            <a:rect l="l" t="t" r="r" b="b"/>
            <a:pathLst>
              <a:path w="296037" h="0">
                <a:moveTo>
                  <a:pt x="0" y="0"/>
                </a:moveTo>
                <a:lnTo>
                  <a:pt x="296037" y="0"/>
                </a:lnTo>
              </a:path>
            </a:pathLst>
          </a:custGeom>
          <a:noFill/>
          <a:ln w="8890">
            <a:solidFill>
              <a:srgbClr val="24734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3126867" y="1054100"/>
            <a:ext cx="264033" cy="133350"/>
          </a:xfrm>
          <a:custGeom>
            <a:avLst/>
            <a:gdLst/>
            <a:ahLst/>
            <a:cxnLst/>
            <a:rect l="l" t="t" r="r" b="b"/>
            <a:pathLst>
              <a:path w="264033" h="133350">
                <a:moveTo>
                  <a:pt x="0" y="0"/>
                </a:moveTo>
                <a:lnTo>
                  <a:pt x="264033" y="133350"/>
                </a:lnTo>
              </a:path>
            </a:pathLst>
          </a:custGeom>
          <a:noFill/>
          <a:ln w="8890">
            <a:solidFill>
              <a:srgbClr val="24734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2590800" y="1187450"/>
            <a:ext cx="240030" cy="133350"/>
          </a:xfrm>
          <a:custGeom>
            <a:avLst/>
            <a:gdLst/>
            <a:ahLst/>
            <a:cxnLst/>
            <a:rect l="l" t="t" r="r" b="b"/>
            <a:pathLst>
              <a:path w="240030" h="133350">
                <a:moveTo>
                  <a:pt x="0" y="0"/>
                </a:moveTo>
                <a:lnTo>
                  <a:pt x="240030" y="133350"/>
                </a:lnTo>
              </a:path>
            </a:pathLst>
          </a:custGeom>
          <a:noFill/>
          <a:ln w="20955">
            <a:solidFill>
              <a:srgbClr val="24734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2830830" y="1320800"/>
            <a:ext cx="296037" cy="0"/>
          </a:xfrm>
          <a:custGeom>
            <a:avLst/>
            <a:gdLst/>
            <a:ahLst/>
            <a:cxnLst/>
            <a:rect l="l" t="t" r="r" b="b"/>
            <a:pathLst>
              <a:path w="296037" h="0">
                <a:moveTo>
                  <a:pt x="0" y="0"/>
                </a:moveTo>
                <a:lnTo>
                  <a:pt x="296037" y="0"/>
                </a:lnTo>
              </a:path>
            </a:pathLst>
          </a:custGeom>
          <a:noFill/>
          <a:ln w="20955">
            <a:solidFill>
              <a:srgbClr val="24734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3126867" y="1187450"/>
            <a:ext cx="264033" cy="133350"/>
          </a:xfrm>
          <a:custGeom>
            <a:avLst/>
            <a:gdLst/>
            <a:ahLst/>
            <a:cxnLst/>
            <a:rect l="l" t="t" r="r" b="b"/>
            <a:pathLst>
              <a:path w="264033" h="133350">
                <a:moveTo>
                  <a:pt x="0" y="133350"/>
                </a:moveTo>
                <a:lnTo>
                  <a:pt x="264033" y="0"/>
                </a:lnTo>
              </a:path>
            </a:pathLst>
          </a:custGeom>
          <a:noFill/>
          <a:ln w="20955">
            <a:solidFill>
              <a:srgbClr val="24734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reeform 73"/>
          <p:cNvSpPr/>
          <p:nvPr/>
        </p:nvSpPr>
        <p:spPr>
          <a:xfrm>
            <a:off x="2830830" y="1054100"/>
            <a:ext cx="296037" cy="266700"/>
          </a:xfrm>
          <a:custGeom>
            <a:avLst/>
            <a:gdLst/>
            <a:ahLst/>
            <a:cxnLst/>
            <a:rect l="l" t="t" r="r" b="b"/>
            <a:pathLst>
              <a:path w="296037" h="266700">
                <a:moveTo>
                  <a:pt x="0" y="0"/>
                </a:moveTo>
                <a:lnTo>
                  <a:pt x="296037" y="266700"/>
                </a:lnTo>
              </a:path>
            </a:pathLst>
          </a:custGeom>
          <a:noFill/>
          <a:ln w="8890">
            <a:solidFill>
              <a:srgbClr val="BD3D3D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2953448" y="11620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50800" y="50800"/>
                </a:lnTo>
              </a:path>
            </a:pathLst>
          </a:custGeom>
          <a:noFill/>
          <a:ln w="11430">
            <a:solidFill>
              <a:srgbClr val="BD3D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2953448" y="11620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50800"/>
                </a:moveTo>
                <a:lnTo>
                  <a:pt x="50800" y="0"/>
                </a:lnTo>
              </a:path>
            </a:pathLst>
          </a:custGeom>
          <a:noFill/>
          <a:ln w="11430">
            <a:solidFill>
              <a:srgbClr val="BD3D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565400" y="116205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24734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2805430" y="10287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24734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101467" y="10287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24734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365500" y="1162050"/>
            <a:ext cx="50800" cy="50800"/>
          </a:xfrm>
          <a:prstGeom prst="ellipse">
            <a:avLst/>
          </a:prstGeom>
          <a:solidFill>
            <a:srgbClr val="247345"/>
          </a:solidFill>
          <a:ln w="7620">
            <a:solidFill>
              <a:srgbClr val="24734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101467" y="12954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24734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805430" y="12954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24734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>
            <a:off x="2514600" y="1447800"/>
            <a:ext cx="0" cy="76200"/>
          </a:xfrm>
          <a:prstGeom prst="line">
            <a:avLst/>
          </a:prstGeom>
          <a:ln w="10160">
            <a:solidFill>
              <a:srgbClr val="247345"/>
            </a:solidFill>
            <a:tailEnd type="triangle" w="sm" len="sm"/>
          </a:ln>
          <a:effectLst/>
        </p:spPr>
      </p:cxnSp>
      <p:sp>
        <p:nvSpPr>
          <p:cNvPr id="84" name="TextBox 83"/>
          <p:cNvSpPr txBox="1"/>
          <p:nvPr/>
        </p:nvSpPr>
        <p:spPr>
          <a:xfrm>
            <a:off x="2173803" y="1547495"/>
            <a:ext cx="86783" cy="1816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7F87"/>
                </a:solidFill>
                <a:latin typeface="Liberation Serif"/>
              </a:rPr>
              <a:t>λ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41536" y="16186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87F87"/>
                </a:solidFill>
                <a:latin typeface="Liberation Serif"/>
              </a:rPr>
              <a:t>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85986" y="1547495"/>
            <a:ext cx="235410" cy="1816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7F87"/>
                </a:solidFill>
                <a:latin typeface="Liberation Serif"/>
              </a:rPr>
              <a:t> = λ̄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502346" y="1529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87F87"/>
                </a:solidFill>
                <a:latin typeface="Liberation Serif"/>
              </a:rPr>
              <a:t>*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546796" y="16186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87F87"/>
                </a:solidFill>
                <a:latin typeface="Liberation Serif"/>
              </a:rPr>
              <a:t>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91246" y="1547495"/>
            <a:ext cx="238750" cy="18161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87F87"/>
                </a:solidFill>
                <a:latin typeface="Liberation Serif"/>
              </a:rPr>
              <a:t> + β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10947" y="16186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87F87"/>
                </a:solidFill>
                <a:latin typeface="Liberation Serif"/>
              </a:rPr>
              <a:t>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29149" y="1743964"/>
            <a:ext cx="427901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087F87"/>
                </a:solidFill>
                <a:latin typeface="Liberation Serif"/>
              </a:rPr>
              <a:t>joint prices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788408" y="1743964"/>
            <a:ext cx="519184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CE751D"/>
                </a:solidFill>
                <a:latin typeface="Liberation Serif"/>
              </a:rPr>
              <a:t>cost feedback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2514600" y="1841500"/>
            <a:ext cx="0" cy="63500"/>
          </a:xfrm>
          <a:prstGeom prst="line">
            <a:avLst/>
          </a:prstGeom>
          <a:ln w="10160">
            <a:solidFill>
              <a:srgbClr val="247345"/>
            </a:solidFill>
            <a:tailEnd type="triangle" w="sm" len="sm"/>
          </a:ln>
          <a:effectLst/>
        </p:spPr>
      </p:cxnSp>
      <p:sp>
        <p:nvSpPr>
          <p:cNvPr id="94" name="Rounded Rectangle 93"/>
          <p:cNvSpPr/>
          <p:nvPr/>
        </p:nvSpPr>
        <p:spPr>
          <a:xfrm>
            <a:off x="1841500" y="1930400"/>
            <a:ext cx="1346200" cy="152400"/>
          </a:xfrm>
          <a:prstGeom prst="roundRect">
            <a:avLst>
              <a:gd name="adj" fmla="val 16666"/>
            </a:avLst>
          </a:prstGeom>
          <a:solidFill>
            <a:srgbClr val="F4F2FA"/>
          </a:solidFill>
          <a:ln w="7620">
            <a:solidFill>
              <a:srgbClr val="40347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219547" y="1940560"/>
            <a:ext cx="590106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40347C"/>
                </a:solidFill>
                <a:latin typeface="Liberation Serif"/>
              </a:rPr>
              <a:t>Actor update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58731" y="2198688"/>
            <a:ext cx="2111737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23139"/>
                </a:solidFill>
                <a:latin typeface="Liberation Serif"/>
              </a:rPr>
              <a:t>One price rule: exact settings and conditional limits</a:t>
            </a:r>
          </a:p>
        </p:txBody>
      </p:sp>
      <p:sp>
        <p:nvSpPr>
          <p:cNvPr id="97" name="Freeform 96"/>
          <p:cNvSpPr/>
          <p:nvPr/>
        </p:nvSpPr>
        <p:spPr>
          <a:xfrm>
            <a:off x="304800" y="2451100"/>
            <a:ext cx="1104900" cy="0"/>
          </a:xfrm>
          <a:custGeom>
            <a:avLst/>
            <a:gdLst/>
            <a:ahLst/>
            <a:cxnLst/>
            <a:rect l="l" t="t" r="r" b="b"/>
            <a:pathLst>
              <a:path w="1104900" h="0">
                <a:moveTo>
                  <a:pt x="0" y="0"/>
                </a:moveTo>
                <a:lnTo>
                  <a:pt x="1104900" y="0"/>
                </a:lnTo>
              </a:path>
            </a:pathLst>
          </a:custGeom>
          <a:noFill/>
          <a:ln w="25400">
            <a:solidFill>
              <a:srgbClr val="244EA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1409700" y="2451100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 h="0">
                <a:moveTo>
                  <a:pt x="0" y="0"/>
                </a:moveTo>
                <a:lnTo>
                  <a:pt x="1219200" y="0"/>
                </a:lnTo>
              </a:path>
            </a:pathLst>
          </a:custGeom>
          <a:noFill/>
          <a:ln w="25400">
            <a:solidFill>
              <a:srgbClr val="087F8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2628900" y="2451100"/>
            <a:ext cx="1028700" cy="0"/>
          </a:xfrm>
          <a:custGeom>
            <a:avLst/>
            <a:gdLst/>
            <a:ahLst/>
            <a:cxnLst/>
            <a:rect l="l" t="t" r="r" b="b"/>
            <a:pathLst>
              <a:path w="1028700" h="0">
                <a:moveTo>
                  <a:pt x="0" y="0"/>
                </a:moveTo>
                <a:lnTo>
                  <a:pt x="1028700" y="0"/>
                </a:lnTo>
              </a:path>
            </a:pathLst>
          </a:custGeom>
          <a:noFill/>
          <a:ln w="25400">
            <a:solidFill>
              <a:srgbClr val="24734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3657600" y="2451100"/>
            <a:ext cx="1092200" cy="0"/>
          </a:xfrm>
          <a:custGeom>
            <a:avLst/>
            <a:gdLst/>
            <a:ahLst/>
            <a:cxnLst/>
            <a:rect l="l" t="t" r="r" b="b"/>
            <a:pathLst>
              <a:path w="1092200" h="0">
                <a:moveTo>
                  <a:pt x="0" y="0"/>
                </a:moveTo>
                <a:lnTo>
                  <a:pt x="1092200" y="0"/>
                </a:lnTo>
              </a:path>
            </a:pathLst>
          </a:custGeom>
          <a:noFill/>
          <a:ln w="25400">
            <a:solidFill>
              <a:srgbClr val="BD3D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66090" y="2421890"/>
            <a:ext cx="58420" cy="58420"/>
          </a:xfrm>
          <a:prstGeom prst="ellipse">
            <a:avLst/>
          </a:prstGeom>
          <a:solidFill>
            <a:srgbClr val="244EA4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621790" y="2421890"/>
            <a:ext cx="58420" cy="58420"/>
          </a:xfrm>
          <a:prstGeom prst="ellipse">
            <a:avLst/>
          </a:prstGeom>
          <a:solidFill>
            <a:srgbClr val="087F87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2790190" y="2421890"/>
            <a:ext cx="58420" cy="58420"/>
          </a:xfrm>
          <a:prstGeom prst="ellipse">
            <a:avLst/>
          </a:prstGeom>
          <a:solidFill>
            <a:srgbClr val="247345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288790" y="2421890"/>
            <a:ext cx="58420" cy="58420"/>
          </a:xfrm>
          <a:prstGeom prst="ellipse">
            <a:avLst/>
          </a:prstGeom>
          <a:solidFill>
            <a:srgbClr val="BD3D3D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09290" y="2300288"/>
            <a:ext cx="572021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44EA4"/>
                </a:solidFill>
                <a:latin typeface="Liberation Serif"/>
              </a:rPr>
              <a:t>Fixed penalty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41216" y="2531364"/>
            <a:ext cx="508168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17078"/>
                </a:solidFill>
                <a:latin typeface="Liberation Serif"/>
              </a:rPr>
              <a:t>c = 0; fixed β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403305" y="2300288"/>
            <a:ext cx="495389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087F87"/>
                </a:solidFill>
                <a:latin typeface="Liberation Serif"/>
              </a:rPr>
              <a:t>Lagrangian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335987" y="2531364"/>
            <a:ext cx="630026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17078"/>
                </a:solidFill>
                <a:latin typeface="Liberation Serif"/>
              </a:rPr>
              <a:t>c = 0; adaptive β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544336" y="2300288"/>
            <a:ext cx="550128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47345"/>
                </a:solidFill>
                <a:latin typeface="Liberation Serif"/>
              </a:rPr>
              <a:t>SafeOT-Dual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682759" y="2531364"/>
            <a:ext cx="273282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17078"/>
                </a:solidFill>
                <a:latin typeface="Liberation Serif"/>
              </a:rPr>
              <a:t>finite ε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022807" y="2300288"/>
            <a:ext cx="590386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BD3D3D"/>
                </a:solidFill>
                <a:latin typeface="Liberation Serif"/>
              </a:rPr>
              <a:t>LP / active-set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917255" y="2531364"/>
            <a:ext cx="801491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17078"/>
                </a:solidFill>
                <a:latin typeface="Liberation Serif"/>
              </a:rPr>
              <a:t>ε → 0 / saturated clip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966861" y="2696464"/>
            <a:ext cx="702278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617078"/>
                </a:solidFill>
                <a:latin typeface="Liberation Serif"/>
              </a:rPr>
              <a:t>under assumptions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2000-01-01T00:00:00Z</dcterms:created>
  <dcterms:modified xsi:type="dcterms:W3CDTF">2000-01-01T00:00:00Z</dcterms:modified>
  <cp:category/>
  <dc:identifier/>
  <cp:contentStatus/>
</cp:coreProperties>
</file>