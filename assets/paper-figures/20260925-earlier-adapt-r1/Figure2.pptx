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755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" y="38100"/>
            <a:ext cx="812800" cy="20320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016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800" y="50800"/>
            <a:ext cx="787400" cy="266700"/>
          </a:xfrm>
          <a:prstGeom prst="roundRect">
            <a:avLst>
              <a:gd name="adj" fmla="val 9523"/>
            </a:avLst>
          </a:prstGeom>
          <a:solidFill>
            <a:srgbClr val="F2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068" y="107632"/>
            <a:ext cx="468864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4EA4"/>
                </a:solidFill>
                <a:latin typeface="Liberation Serif"/>
              </a:rPr>
              <a:t>1  Rollout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7100" y="38100"/>
            <a:ext cx="927100" cy="20320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016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9800" y="50800"/>
            <a:ext cx="901700" cy="266700"/>
          </a:xfrm>
          <a:prstGeom prst="roundRect">
            <a:avLst>
              <a:gd name="adj" fmla="val 9523"/>
            </a:avLst>
          </a:prstGeom>
          <a:solidFill>
            <a:srgbClr val="F2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5706" y="107632"/>
            <a:ext cx="669887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4EA4"/>
                </a:solidFill>
                <a:latin typeface="Liberation Serif"/>
              </a:rPr>
              <a:t>2  Flow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0400" y="38100"/>
            <a:ext cx="914400" cy="2032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016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43100" y="50800"/>
            <a:ext cx="889000" cy="266700"/>
          </a:xfrm>
          <a:prstGeom prst="roundRect">
            <a:avLst>
              <a:gd name="adj" fmla="val 9523"/>
            </a:avLst>
          </a:prstGeom>
          <a:solidFill>
            <a:srgbClr val="F4F9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4200" y="107632"/>
            <a:ext cx="666801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7345"/>
                </a:solidFill>
                <a:latin typeface="Liberation Serif"/>
              </a:rPr>
              <a:t>3 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1000" y="38100"/>
            <a:ext cx="990600" cy="2032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33700" y="50800"/>
            <a:ext cx="965200" cy="266700"/>
          </a:xfrm>
          <a:prstGeom prst="roundRect">
            <a:avLst>
              <a:gd name="adj" fmla="val 9523"/>
            </a:avLst>
          </a:prstGeom>
          <a:solidFill>
            <a:srgbClr val="F0F9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411" y="107632"/>
            <a:ext cx="615777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87"/>
                </a:solidFill>
                <a:latin typeface="Liberation Serif"/>
              </a:rPr>
              <a:t>4  Joint solve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87800" y="38100"/>
            <a:ext cx="1003300" cy="20320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40347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00500" y="50800"/>
            <a:ext cx="977900" cy="266700"/>
          </a:xfrm>
          <a:prstGeom prst="roundRect">
            <a:avLst>
              <a:gd name="adj" fmla="val 9523"/>
            </a:avLst>
          </a:prstGeom>
          <a:solidFill>
            <a:srgbClr val="F5F3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5545" y="107632"/>
            <a:ext cx="72780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0347C"/>
                </a:solidFill>
                <a:latin typeface="Liberation Serif"/>
              </a:rPr>
              <a:t>5  Actor update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900" y="1130300"/>
            <a:ext cx="76200" cy="0"/>
          </a:xfrm>
          <a:prstGeom prst="line">
            <a:avLst/>
          </a:prstGeom>
          <a:ln w="10160">
            <a:solidFill>
              <a:srgbClr val="223139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854200" y="1130300"/>
            <a:ext cx="76200" cy="0"/>
          </a:xfrm>
          <a:prstGeom prst="line">
            <a:avLst/>
          </a:prstGeom>
          <a:ln w="10160">
            <a:solidFill>
              <a:srgbClr val="223139"/>
            </a:solidFill>
            <a:tailEnd type="triangle" w="sm" len="sm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2844800" y="1130300"/>
            <a:ext cx="76200" cy="0"/>
          </a:xfrm>
          <a:prstGeom prst="line">
            <a:avLst/>
          </a:prstGeom>
          <a:ln w="10160">
            <a:solidFill>
              <a:srgbClr val="223139"/>
            </a:solidFill>
            <a:tailEnd type="triangle" w="sm" len="sm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158549" y="369888"/>
            <a:ext cx="571902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44EA4"/>
                </a:solidFill>
                <a:latin typeface="Liberation Serif"/>
              </a:rPr>
              <a:t>Current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99" y="471805"/>
            <a:ext cx="76754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4EA4"/>
                </a:solidFill>
                <a:latin typeface="Liberation Serif"/>
              </a:rPr>
              <a:t>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003" y="526415"/>
            <a:ext cx="4374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t</a:t>
            </a:r>
          </a:p>
        </p:txBody>
      </p:sp>
      <p:sp>
        <p:nvSpPr>
          <p:cNvPr id="23" name="Oval 22"/>
          <p:cNvSpPr/>
          <p:nvPr/>
        </p:nvSpPr>
        <p:spPr>
          <a:xfrm>
            <a:off x="152400" y="635000"/>
            <a:ext cx="76200" cy="76200"/>
          </a:xfrm>
          <a:prstGeom prst="ellipse">
            <a:avLst/>
          </a:prstGeom>
          <a:solidFill>
            <a:srgbClr val="E4ECFA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503" y="784860"/>
            <a:ext cx="5859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3139"/>
                </a:solidFill>
                <a:latin typeface="Liberation Serif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047" y="818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3139"/>
                </a:solidFill>
                <a:latin typeface="Liberation Serif"/>
              </a:rPr>
              <a:t>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" y="673100"/>
            <a:ext cx="177800" cy="0"/>
          </a:xfrm>
          <a:prstGeom prst="line">
            <a:avLst/>
          </a:prstGeom>
          <a:ln w="10160">
            <a:solidFill>
              <a:srgbClr val="244EA4"/>
            </a:solidFill>
            <a:tailEnd type="triangle" w="sm" len="sm"/>
          </a:ln>
          <a:effectLst/>
        </p:spPr>
      </p:cxnSp>
      <p:sp>
        <p:nvSpPr>
          <p:cNvPr id="27" name="Oval 26"/>
          <p:cNvSpPr/>
          <p:nvPr/>
        </p:nvSpPr>
        <p:spPr>
          <a:xfrm>
            <a:off x="406400" y="635000"/>
            <a:ext cx="76200" cy="76200"/>
          </a:xfrm>
          <a:prstGeom prst="ellipse">
            <a:avLst/>
          </a:prstGeom>
          <a:solidFill>
            <a:srgbClr val="E4ECFA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503" y="784860"/>
            <a:ext cx="5859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3139"/>
                </a:solidFill>
                <a:latin typeface="Liberation Serif"/>
              </a:rP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047" y="818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3139"/>
                </a:solidFill>
                <a:latin typeface="Liberation Serif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2600" y="673100"/>
            <a:ext cx="177800" cy="0"/>
          </a:xfrm>
          <a:prstGeom prst="line">
            <a:avLst/>
          </a:prstGeom>
          <a:ln w="10160">
            <a:solidFill>
              <a:srgbClr val="244EA4"/>
            </a:solidFill>
            <a:tailEnd type="triangle" w="sm" len="sm"/>
          </a:ln>
          <a:effectLst/>
        </p:spPr>
      </p:cxnSp>
      <p:sp>
        <p:nvSpPr>
          <p:cNvPr id="31" name="Oval 30"/>
          <p:cNvSpPr/>
          <p:nvPr/>
        </p:nvSpPr>
        <p:spPr>
          <a:xfrm>
            <a:off x="660400" y="635000"/>
            <a:ext cx="76200" cy="76200"/>
          </a:xfrm>
          <a:prstGeom prst="ellipse">
            <a:avLst/>
          </a:prstGeom>
          <a:solidFill>
            <a:srgbClr val="E4ECFA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379" y="784860"/>
            <a:ext cx="5859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3139"/>
                </a:solidFill>
                <a:latin typeface="Liberation Serif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24" y="818515"/>
            <a:ext cx="4374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3139"/>
                </a:solidFill>
                <a:latin typeface="Liberation Serif"/>
              </a:rPr>
              <a:t>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7000" y="1016000"/>
            <a:ext cx="635000" cy="419100"/>
          </a:xfrm>
          <a:prstGeom prst="roundRect">
            <a:avLst>
              <a:gd name="adj" fmla="val 6060"/>
            </a:avLst>
          </a:prstGeom>
          <a:solidFill>
            <a:srgbClr val="F8FAFE"/>
          </a:solidFill>
          <a:ln w="8255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890" y="1064260"/>
            <a:ext cx="23922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4EA4"/>
                </a:solidFill>
                <a:latin typeface="Liberation Serif"/>
              </a:rPr>
              <a:t>GAE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622" y="1221105"/>
            <a:ext cx="1015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4EA4"/>
                </a:solidFill>
                <a:latin typeface="Liberation Serif"/>
              </a:rPr>
              <a:t>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168" y="1275715"/>
            <a:ext cx="486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769" y="1221105"/>
            <a:ext cx="15874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4EA4"/>
                </a:solidFill>
                <a:latin typeface="Liberation Serif"/>
              </a:rPr>
              <a:t>, 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465" y="1275715"/>
            <a:ext cx="58513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7928" y="1301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4377" y="1563688"/>
            <a:ext cx="540246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3139"/>
                </a:solidFill>
                <a:latin typeface="Liberation Serif"/>
              </a:rPr>
              <a:t>Episode costs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560" y="1758950"/>
            <a:ext cx="68481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E751D"/>
                </a:solidFill>
                <a:latin typeface="Liberation Serif"/>
              </a:rPr>
              <a:t>J̄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990" y="1821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E751D"/>
                </a:solidFill>
                <a:latin typeface="Liberation Serif"/>
              </a:rPr>
              <a:t>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594" y="382588"/>
            <a:ext cx="540112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44EA4"/>
                </a:solidFill>
                <a:latin typeface="Liberation Serif"/>
              </a:rPr>
              <a:t>k-means cells</a:t>
            </a:r>
          </a:p>
        </p:txBody>
      </p:sp>
      <p:sp>
        <p:nvSpPr>
          <p:cNvPr id="45" name="Freeform 44"/>
          <p:cNvSpPr/>
          <p:nvPr/>
        </p:nvSpPr>
        <p:spPr>
          <a:xfrm>
            <a:off x="1092200" y="622300"/>
            <a:ext cx="179070" cy="146050"/>
          </a:xfrm>
          <a:custGeom>
            <a:avLst/>
            <a:gdLst/>
            <a:ahLst/>
            <a:cxnLst/>
            <a:rect l="l" t="t" r="r" b="b"/>
            <a:pathLst>
              <a:path w="179070" h="146050">
                <a:moveTo>
                  <a:pt x="0" y="146050"/>
                </a:moveTo>
                <a:lnTo>
                  <a:pt x="179070" y="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271270" y="622300"/>
            <a:ext cx="220853" cy="0"/>
          </a:xfrm>
          <a:custGeom>
            <a:avLst/>
            <a:gdLst/>
            <a:ahLst/>
            <a:cxnLst/>
            <a:rect l="l" t="t" r="r" b="b"/>
            <a:pathLst>
              <a:path w="220853" h="0">
                <a:moveTo>
                  <a:pt x="0" y="0"/>
                </a:moveTo>
                <a:lnTo>
                  <a:pt x="220853" y="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492123" y="622300"/>
            <a:ext cx="196977" cy="146050"/>
          </a:xfrm>
          <a:custGeom>
            <a:avLst/>
            <a:gdLst/>
            <a:ahLst/>
            <a:cxnLst/>
            <a:rect l="l" t="t" r="r" b="b"/>
            <a:pathLst>
              <a:path w="196977" h="146050">
                <a:moveTo>
                  <a:pt x="0" y="0"/>
                </a:moveTo>
                <a:lnTo>
                  <a:pt x="196977" y="14605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092200" y="768350"/>
            <a:ext cx="179070" cy="146050"/>
          </a:xfrm>
          <a:custGeom>
            <a:avLst/>
            <a:gdLst/>
            <a:ahLst/>
            <a:cxnLst/>
            <a:rect l="l" t="t" r="r" b="b"/>
            <a:pathLst>
              <a:path w="179070" h="146050">
                <a:moveTo>
                  <a:pt x="0" y="0"/>
                </a:moveTo>
                <a:lnTo>
                  <a:pt x="179070" y="14605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271270" y="914400"/>
            <a:ext cx="220853" cy="0"/>
          </a:xfrm>
          <a:custGeom>
            <a:avLst/>
            <a:gdLst/>
            <a:ahLst/>
            <a:cxnLst/>
            <a:rect l="l" t="t" r="r" b="b"/>
            <a:pathLst>
              <a:path w="220853" h="0">
                <a:moveTo>
                  <a:pt x="0" y="0"/>
                </a:moveTo>
                <a:lnTo>
                  <a:pt x="220853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492123" y="768350"/>
            <a:ext cx="196977" cy="146050"/>
          </a:xfrm>
          <a:custGeom>
            <a:avLst/>
            <a:gdLst/>
            <a:ahLst/>
            <a:cxnLst/>
            <a:rect l="l" t="t" r="r" b="b"/>
            <a:pathLst>
              <a:path w="196977" h="146050">
                <a:moveTo>
                  <a:pt x="0" y="146050"/>
                </a:moveTo>
                <a:lnTo>
                  <a:pt x="196977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271270" y="622300"/>
            <a:ext cx="220853" cy="292100"/>
          </a:xfrm>
          <a:custGeom>
            <a:avLst/>
            <a:gdLst/>
            <a:ahLst/>
            <a:cxnLst/>
            <a:rect l="l" t="t" r="r" b="b"/>
            <a:pathLst>
              <a:path w="220853" h="292100">
                <a:moveTo>
                  <a:pt x="0" y="0"/>
                </a:moveTo>
                <a:lnTo>
                  <a:pt x="220853" y="29210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6800" y="74295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45870" y="596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66723" y="596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663700" y="742950"/>
            <a:ext cx="50800" cy="50800"/>
          </a:xfrm>
          <a:prstGeom prst="ellipse">
            <a:avLst/>
          </a:prstGeom>
          <a:solidFill>
            <a:srgbClr val="244EA4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66723" y="8890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45870" y="8890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57" y="1017588"/>
            <a:ext cx="669786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44EA4"/>
                </a:solidFill>
                <a:latin typeface="Liberation Serif"/>
              </a:rPr>
              <a:t>Empirical flow F̂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6000" y="1257300"/>
            <a:ext cx="749300" cy="647700"/>
          </a:xfrm>
          <a:prstGeom prst="roundRect">
            <a:avLst>
              <a:gd name="adj" fmla="val 3921"/>
            </a:avLst>
          </a:prstGeom>
          <a:solidFill>
            <a:srgbClr val="F8FAFE"/>
          </a:solidFill>
          <a:ln w="8255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31146" y="1335088"/>
            <a:ext cx="519008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3139"/>
                </a:solidFill>
                <a:latin typeface="Liberation Serif"/>
              </a:rPr>
              <a:t>Advantage 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9733" y="1512888"/>
            <a:ext cx="516434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3139"/>
                </a:solidFill>
                <a:latin typeface="Liberation Serif"/>
              </a:rPr>
              <a:t>Edge costs 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17117" y="15424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23139"/>
                </a:solidFill>
                <a:latin typeface="Liberation Serif"/>
              </a:rPr>
              <a:t>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187" y="1690688"/>
            <a:ext cx="568925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3139"/>
                </a:solidFill>
                <a:latin typeface="Liberation Serif"/>
              </a:rPr>
              <a:t>Initial mass μ₀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8510" y="378460"/>
            <a:ext cx="55818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7345"/>
                </a:solidFill>
                <a:latin typeface="Liberation Serif"/>
              </a:rPr>
              <a:t>Soft budgets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6294" y="560705"/>
            <a:ext cx="76200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7345"/>
                </a:solidFill>
                <a:latin typeface="Liberation Serif"/>
              </a:rPr>
              <a:t>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3444" y="602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7345"/>
                </a:solidFill>
                <a:latin typeface="Liberation Serif"/>
              </a:rPr>
              <a:t>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37894" y="560705"/>
            <a:ext cx="2168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7345"/>
                </a:solidFill>
                <a:latin typeface="Liberation Serif"/>
              </a:rPr>
              <a:t> = 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35740" y="602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7345"/>
                </a:solidFill>
                <a:latin typeface="Liberation Serif"/>
              </a:rPr>
              <a:t>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80190" y="560705"/>
            <a:ext cx="17776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7345"/>
                </a:solidFill>
                <a:latin typeface="Liberation Serif"/>
              </a:rPr>
              <a:t> / 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2665" y="763905"/>
            <a:ext cx="1410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7345"/>
                </a:solidFill>
                <a:latin typeface="STIXGeneral"/>
              </a:rPr>
              <a:t>⟨C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24626" y="805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7345"/>
                </a:solidFill>
                <a:latin typeface="Liberation Serif"/>
              </a:rPr>
              <a:t>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69076" y="763905"/>
            <a:ext cx="378059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7345"/>
                </a:solidFill>
                <a:latin typeface="STIXGeneral"/>
              </a:rPr>
              <a:t>, F⟩ ≤ 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28085" y="805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7345"/>
                </a:solidFill>
                <a:latin typeface="Liberation Serif"/>
              </a:rPr>
              <a:t>k</a:t>
            </a:r>
          </a:p>
        </p:txBody>
      </p:sp>
      <p:sp>
        <p:nvSpPr>
          <p:cNvPr id="74" name="Freeform 73"/>
          <p:cNvSpPr/>
          <p:nvPr/>
        </p:nvSpPr>
        <p:spPr>
          <a:xfrm>
            <a:off x="2019300" y="1016000"/>
            <a:ext cx="736600" cy="0"/>
          </a:xfrm>
          <a:custGeom>
            <a:avLst/>
            <a:gdLst/>
            <a:ahLst/>
            <a:cxnLst/>
            <a:rect l="l" t="t" r="r" b="b"/>
            <a:pathLst>
              <a:path w="736600" h="0">
                <a:moveTo>
                  <a:pt x="0" y="0"/>
                </a:moveTo>
                <a:lnTo>
                  <a:pt x="736600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31139" y="1102360"/>
            <a:ext cx="51292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D3D3D"/>
                </a:solidFill>
                <a:latin typeface="Liberation Serif"/>
              </a:rPr>
              <a:t>Hard edges</a:t>
            </a:r>
          </a:p>
        </p:txBody>
      </p:sp>
      <p:sp>
        <p:nvSpPr>
          <p:cNvPr id="76" name="Freeform 75"/>
          <p:cNvSpPr/>
          <p:nvPr/>
        </p:nvSpPr>
        <p:spPr>
          <a:xfrm>
            <a:off x="2095500" y="1397000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 h="0">
                <a:moveTo>
                  <a:pt x="0" y="0"/>
                </a:moveTo>
                <a:lnTo>
                  <a:pt x="584200" y="0"/>
                </a:lnTo>
              </a:path>
            </a:pathLst>
          </a:custGeom>
          <a:noFill/>
          <a:ln w="10160">
            <a:solidFill>
              <a:srgbClr val="BD3D3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070100" y="13716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654300" y="13716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2349500" y="1346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0" y="0"/>
                </a:moveTo>
                <a:lnTo>
                  <a:pt x="76200" y="101600"/>
                </a:lnTo>
              </a:path>
            </a:pathLst>
          </a:custGeom>
          <a:noFill/>
          <a:ln w="1270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349500" y="1346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0" y="101600"/>
                </a:moveTo>
                <a:lnTo>
                  <a:pt x="76200" y="0"/>
                </a:lnTo>
              </a:path>
            </a:pathLst>
          </a:custGeom>
          <a:noFill/>
          <a:ln w="1270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34341" y="15386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D3D3D"/>
                </a:solidFill>
                <a:latin typeface="Liberation Serif"/>
              </a:rPr>
              <a:t>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97902" y="1580515"/>
            <a:ext cx="8325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D3D3D"/>
                </a:solidFill>
                <a:latin typeface="Liberation Serif"/>
              </a:rPr>
              <a:t>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62105" y="1538605"/>
            <a:ext cx="197804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D3D3D"/>
                </a:solidFill>
                <a:latin typeface="Liberation Serif"/>
              </a:rPr>
              <a:t> = 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32760" y="1769364"/>
            <a:ext cx="709679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Excluded; no price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7655" y="395288"/>
            <a:ext cx="817290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87F87"/>
                </a:solidFill>
                <a:latin typeface="Liberation Serif"/>
              </a:rPr>
              <a:t>Entropic projection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92990" y="581660"/>
            <a:ext cx="64662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87F87"/>
                </a:solidFill>
                <a:latin typeface="Liberation Serif"/>
              </a:rPr>
              <a:t>Reward − ε KL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62154" y="776288"/>
            <a:ext cx="508293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087F87"/>
                </a:solidFill>
                <a:latin typeface="Liberation Serif"/>
              </a:rPr>
              <a:t>flow balance</a:t>
            </a:r>
          </a:p>
        </p:txBody>
      </p:sp>
      <p:sp>
        <p:nvSpPr>
          <p:cNvPr id="88" name="Freeform 87"/>
          <p:cNvSpPr/>
          <p:nvPr/>
        </p:nvSpPr>
        <p:spPr>
          <a:xfrm>
            <a:off x="3060700" y="104140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0" y="171450"/>
                </a:moveTo>
                <a:lnTo>
                  <a:pt x="209550" y="0"/>
                </a:lnTo>
              </a:path>
            </a:pathLst>
          </a:custGeom>
          <a:noFill/>
          <a:ln w="889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3270250" y="1041400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 h="0">
                <a:moveTo>
                  <a:pt x="0" y="0"/>
                </a:moveTo>
                <a:lnTo>
                  <a:pt x="258445" y="0"/>
                </a:lnTo>
              </a:path>
            </a:pathLst>
          </a:custGeom>
          <a:noFill/>
          <a:ln w="889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3528695" y="1041400"/>
            <a:ext cx="230505" cy="171450"/>
          </a:xfrm>
          <a:custGeom>
            <a:avLst/>
            <a:gdLst/>
            <a:ahLst/>
            <a:cxnLst/>
            <a:rect l="l" t="t" r="r" b="b"/>
            <a:pathLst>
              <a:path w="230505" h="171450">
                <a:moveTo>
                  <a:pt x="0" y="0"/>
                </a:moveTo>
                <a:lnTo>
                  <a:pt x="230505" y="171450"/>
                </a:lnTo>
              </a:path>
            </a:pathLst>
          </a:custGeom>
          <a:noFill/>
          <a:ln w="889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060700" y="1212850"/>
            <a:ext cx="209550" cy="171450"/>
          </a:xfrm>
          <a:custGeom>
            <a:avLst/>
            <a:gdLst/>
            <a:ahLst/>
            <a:cxnLst/>
            <a:rect l="l" t="t" r="r" b="b"/>
            <a:pathLst>
              <a:path w="209550" h="171450">
                <a:moveTo>
                  <a:pt x="0" y="0"/>
                </a:moveTo>
                <a:lnTo>
                  <a:pt x="209550" y="171450"/>
                </a:lnTo>
              </a:path>
            </a:pathLst>
          </a:custGeom>
          <a:noFill/>
          <a:ln w="20955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3270250" y="1384300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 h="0">
                <a:moveTo>
                  <a:pt x="0" y="0"/>
                </a:moveTo>
                <a:lnTo>
                  <a:pt x="258445" y="0"/>
                </a:lnTo>
              </a:path>
            </a:pathLst>
          </a:custGeom>
          <a:noFill/>
          <a:ln w="20955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3528695" y="1212850"/>
            <a:ext cx="230505" cy="171450"/>
          </a:xfrm>
          <a:custGeom>
            <a:avLst/>
            <a:gdLst/>
            <a:ahLst/>
            <a:cxnLst/>
            <a:rect l="l" t="t" r="r" b="b"/>
            <a:pathLst>
              <a:path w="230505" h="171450">
                <a:moveTo>
                  <a:pt x="0" y="171450"/>
                </a:moveTo>
                <a:lnTo>
                  <a:pt x="230505" y="0"/>
                </a:lnTo>
              </a:path>
            </a:pathLst>
          </a:custGeom>
          <a:noFill/>
          <a:ln w="20955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3270250" y="1041400"/>
            <a:ext cx="258445" cy="342900"/>
          </a:xfrm>
          <a:custGeom>
            <a:avLst/>
            <a:gdLst/>
            <a:ahLst/>
            <a:cxnLst/>
            <a:rect l="l" t="t" r="r" b="b"/>
            <a:pathLst>
              <a:path w="258445" h="342900">
                <a:moveTo>
                  <a:pt x="0" y="0"/>
                </a:moveTo>
                <a:lnTo>
                  <a:pt x="258445" y="342900"/>
                </a:lnTo>
              </a:path>
            </a:pathLst>
          </a:custGeom>
          <a:noFill/>
          <a:ln w="8890">
            <a:solidFill>
              <a:srgbClr val="BD3D3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3374072" y="11874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143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374072" y="11874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143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035300" y="118745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244850" y="10160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503295" y="10160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733800" y="1187450"/>
            <a:ext cx="50800" cy="50800"/>
          </a:xfrm>
          <a:prstGeom prst="ellipse">
            <a:avLst/>
          </a:prstGeom>
          <a:solidFill>
            <a:srgbClr val="087F87"/>
          </a:solidFill>
          <a:ln w="762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503295" y="1358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244850" y="1358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188007" y="1487805"/>
            <a:ext cx="456587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87F87"/>
                </a:solidFill>
                <a:latin typeface="Liberation Serif"/>
              </a:rPr>
              <a:t>Target F*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63296" y="1775460"/>
            <a:ext cx="70600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87F87"/>
                </a:solidFill>
                <a:latin typeface="Liberation Serif"/>
              </a:rPr>
              <a:t>Budget prices λ*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3873500" y="444500"/>
            <a:ext cx="63500" cy="1397000"/>
          </a:xfrm>
          <a:custGeom>
            <a:avLst/>
            <a:gdLst/>
            <a:ahLst/>
            <a:cxnLst/>
            <a:rect l="l" t="t" r="r" b="b"/>
            <a:pathLst>
              <a:path w="63500" h="1397000">
                <a:moveTo>
                  <a:pt x="0" y="1397000"/>
                </a:moveTo>
                <a:lnTo>
                  <a:pt x="63500" y="1397000"/>
                </a:lnTo>
                <a:lnTo>
                  <a:pt x="63500" y="0"/>
                </a:lnTo>
              </a:path>
            </a:pathLst>
          </a:custGeom>
          <a:noFill/>
          <a:ln w="1016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3937000" y="444500"/>
            <a:ext cx="114300" cy="0"/>
          </a:xfrm>
          <a:prstGeom prst="line">
            <a:avLst/>
          </a:prstGeom>
          <a:ln w="10160">
            <a:solidFill>
              <a:srgbClr val="087F87"/>
            </a:solidFill>
            <a:tailEnd type="triangle" w="sm" len="sm"/>
          </a:ln>
          <a:effectLst/>
        </p:spPr>
      </p:cxnSp>
      <p:sp>
        <p:nvSpPr>
          <p:cNvPr id="107" name="TextBox 106"/>
          <p:cNvSpPr txBox="1"/>
          <p:nvPr/>
        </p:nvSpPr>
        <p:spPr>
          <a:xfrm>
            <a:off x="4201565" y="378460"/>
            <a:ext cx="57577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87F87"/>
                </a:solidFill>
                <a:latin typeface="Liberation Serif"/>
              </a:rPr>
              <a:t>clip c + EMA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489450" y="533400"/>
            <a:ext cx="0" cy="88900"/>
          </a:xfrm>
          <a:prstGeom prst="line">
            <a:avLst/>
          </a:prstGeom>
          <a:ln w="10160">
            <a:solidFill>
              <a:srgbClr val="087F87"/>
            </a:solidFill>
            <a:tailEnd type="triangle" w="sm" len="sm"/>
          </a:ln>
          <a:effectLst/>
        </p:spPr>
      </p:cxnSp>
      <p:sp>
        <p:nvSpPr>
          <p:cNvPr id="109" name="TextBox 108"/>
          <p:cNvSpPr txBox="1"/>
          <p:nvPr/>
        </p:nvSpPr>
        <p:spPr>
          <a:xfrm>
            <a:off x="4194453" y="687705"/>
            <a:ext cx="74468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347C"/>
                </a:solidFill>
                <a:latin typeface="Liberation Serif"/>
              </a:rPr>
              <a:t>λ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9870" y="729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0347C"/>
                </a:solidFill>
                <a:latin typeface="Liberation Serif"/>
              </a:rPr>
              <a:t>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94320" y="687705"/>
            <a:ext cx="19607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347C"/>
                </a:solidFill>
                <a:latin typeface="Liberation Serif"/>
              </a:rPr>
              <a:t> = λ̄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71343" y="666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0347C"/>
                </a:solidFill>
                <a:latin typeface="Liberation Serif"/>
              </a:rPr>
              <a:t>*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15793" y="729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0347C"/>
                </a:solidFill>
                <a:latin typeface="Liberation Serif"/>
              </a:rPr>
              <a:t>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60243" y="687705"/>
            <a:ext cx="198805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347C"/>
                </a:solidFill>
                <a:latin typeface="Liberation Serif"/>
              </a:rPr>
              <a:t> + β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39997" y="729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0347C"/>
                </a:solidFill>
                <a:latin typeface="Liberation Serif"/>
              </a:rPr>
              <a:t>k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489450" y="876300"/>
            <a:ext cx="0" cy="101600"/>
          </a:xfrm>
          <a:prstGeom prst="line">
            <a:avLst/>
          </a:prstGeom>
          <a:ln w="10160">
            <a:solidFill>
              <a:srgbClr val="40347C"/>
            </a:solidFill>
            <a:tailEnd type="triangle" w="sm" len="sm"/>
          </a:ln>
          <a:effectLst/>
        </p:spPr>
      </p:cxnSp>
      <p:sp>
        <p:nvSpPr>
          <p:cNvPr id="117" name="Rounded Rectangle 116"/>
          <p:cNvSpPr/>
          <p:nvPr/>
        </p:nvSpPr>
        <p:spPr>
          <a:xfrm>
            <a:off x="4102100" y="1016000"/>
            <a:ext cx="774700" cy="317500"/>
          </a:xfrm>
          <a:prstGeom prst="roundRect">
            <a:avLst>
              <a:gd name="adj" fmla="val 8000"/>
            </a:avLst>
          </a:prstGeom>
          <a:solidFill>
            <a:srgbClr val="F7F5FB"/>
          </a:solidFill>
          <a:ln w="8255">
            <a:solidFill>
              <a:srgbClr val="40347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36181" y="1057338"/>
            <a:ext cx="706538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40347C"/>
                </a:solidFill>
                <a:latin typeface="Liberation Serif"/>
              </a:rPr>
              <a:t>Priced advantage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434066" y="1162050"/>
            <a:ext cx="110768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347C"/>
                </a:solidFill>
                <a:latin typeface="Liberation Serif"/>
              </a:rPr>
              <a:t>Ã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489450" y="1346200"/>
            <a:ext cx="0" cy="101600"/>
          </a:xfrm>
          <a:prstGeom prst="line">
            <a:avLst/>
          </a:prstGeom>
          <a:ln w="10160">
            <a:solidFill>
              <a:srgbClr val="40347C"/>
            </a:solidFill>
            <a:tailEnd type="triangle" w="sm" len="sm"/>
          </a:ln>
          <a:effectLst/>
        </p:spPr>
      </p:cxnSp>
      <p:sp>
        <p:nvSpPr>
          <p:cNvPr id="121" name="Rounded Rectangle 120"/>
          <p:cNvSpPr/>
          <p:nvPr/>
        </p:nvSpPr>
        <p:spPr>
          <a:xfrm>
            <a:off x="4102100" y="1485900"/>
            <a:ext cx="774700" cy="266700"/>
          </a:xfrm>
          <a:prstGeom prst="roundRect">
            <a:avLst>
              <a:gd name="adj" fmla="val 9523"/>
            </a:avLst>
          </a:prstGeom>
          <a:solidFill>
            <a:srgbClr val="F7F5FB"/>
          </a:solidFill>
          <a:ln w="8255">
            <a:solidFill>
              <a:srgbClr val="40347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198620" y="1546860"/>
            <a:ext cx="5816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0347C"/>
                </a:solidFill>
                <a:latin typeface="Liberation Serif"/>
              </a:rPr>
              <a:t>PPO / TRPO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97753" y="1835150"/>
            <a:ext cx="8316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347C"/>
                </a:solidFill>
                <a:latin typeface="Liberation Serif"/>
              </a:rPr>
              <a:t>π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61868" y="1898015"/>
            <a:ext cx="13832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0347C"/>
                </a:solidFill>
                <a:latin typeface="Liberation Serif"/>
              </a:rPr>
              <a:t>t+1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444500" y="1917700"/>
            <a:ext cx="1612900" cy="317500"/>
          </a:xfrm>
          <a:custGeom>
            <a:avLst/>
            <a:gdLst/>
            <a:ahLst/>
            <a:cxnLst/>
            <a:rect l="l" t="t" r="r" b="b"/>
            <a:pathLst>
              <a:path w="1612900" h="317500">
                <a:moveTo>
                  <a:pt x="0" y="0"/>
                </a:moveTo>
                <a:lnTo>
                  <a:pt x="0" y="317500"/>
                </a:lnTo>
                <a:lnTo>
                  <a:pt x="1612900" y="317500"/>
                </a:lnTo>
              </a:path>
            </a:pathLst>
          </a:custGeom>
          <a:noFill/>
          <a:ln w="10160">
            <a:solidFill>
              <a:srgbClr val="CE751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2057400" y="2146300"/>
            <a:ext cx="1600200" cy="190500"/>
          </a:xfrm>
          <a:prstGeom prst="roundRect">
            <a:avLst>
              <a:gd name="adj" fmla="val 13333"/>
            </a:avLst>
          </a:prstGeom>
          <a:solidFill>
            <a:srgbClr val="FFF8EE"/>
          </a:solidFill>
          <a:ln w="8255">
            <a:solidFill>
              <a:srgbClr val="CE751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359669" y="2169160"/>
            <a:ext cx="7073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751D"/>
                </a:solidFill>
                <a:latin typeface="Liberation Serif"/>
              </a:rPr>
              <a:t>β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11358" y="2202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E751D"/>
                </a:solidFill>
                <a:latin typeface="Liberation Serif"/>
              </a:rPr>
              <a:t>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55808" y="2169160"/>
            <a:ext cx="2569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751D"/>
                </a:solidFill>
                <a:latin typeface="Liberation Serif"/>
              </a:rPr>
              <a:t> ← [β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93727" y="2202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E751D"/>
                </a:solidFill>
                <a:latin typeface="Liberation Serif"/>
              </a:rPr>
              <a:t>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38177" y="2169160"/>
            <a:ext cx="25365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751D"/>
                </a:solidFill>
                <a:latin typeface="Liberation Serif"/>
              </a:rPr>
              <a:t> + η(J̄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72777" y="2202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E751D"/>
                </a:solidFill>
                <a:latin typeface="Liberation Serif"/>
              </a:rPr>
              <a:t>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17227" y="2169160"/>
            <a:ext cx="19491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751D"/>
                </a:solidFill>
                <a:latin typeface="Liberation Serif"/>
              </a:rPr>
              <a:t> − B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93091" y="2202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E751D"/>
                </a:solidFill>
                <a:latin typeface="Liberation Serif"/>
              </a:rPr>
              <a:t>k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37541" y="2169160"/>
            <a:ext cx="8670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E751D"/>
                </a:solidFill>
                <a:latin typeface="Liberation Serif"/>
              </a:rPr>
              <a:t>)]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05200" y="2202815"/>
            <a:ext cx="6918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E751D"/>
                </a:solidFill>
                <a:latin typeface="Liberation Serif"/>
              </a:rPr>
              <a:t>+</a:t>
            </a:r>
          </a:p>
        </p:txBody>
      </p:sp>
      <p:sp>
        <p:nvSpPr>
          <p:cNvPr id="137" name="Freeform 136"/>
          <p:cNvSpPr/>
          <p:nvPr/>
        </p:nvSpPr>
        <p:spPr>
          <a:xfrm>
            <a:off x="3657600" y="762000"/>
            <a:ext cx="1270000" cy="1473200"/>
          </a:xfrm>
          <a:custGeom>
            <a:avLst/>
            <a:gdLst/>
            <a:ahLst/>
            <a:cxnLst/>
            <a:rect l="l" t="t" r="r" b="b"/>
            <a:pathLst>
              <a:path w="1270000" h="1473200">
                <a:moveTo>
                  <a:pt x="0" y="1473200"/>
                </a:moveTo>
                <a:lnTo>
                  <a:pt x="1270000" y="1473200"/>
                </a:lnTo>
                <a:lnTo>
                  <a:pt x="1270000" y="0"/>
                </a:lnTo>
              </a:path>
            </a:pathLst>
          </a:custGeom>
          <a:noFill/>
          <a:ln w="10160">
            <a:solidFill>
              <a:srgbClr val="CE751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H="1">
            <a:off x="4838700" y="762000"/>
            <a:ext cx="88900" cy="0"/>
          </a:xfrm>
          <a:prstGeom prst="line">
            <a:avLst/>
          </a:prstGeom>
          <a:ln w="10160">
            <a:solidFill>
              <a:srgbClr val="CE751D"/>
            </a:solidFill>
            <a:tailEnd type="triangle" w="sm" len="sm"/>
          </a:ln>
          <a:effectLst/>
        </p:spPr>
      </p:cxnSp>
      <p:sp>
        <p:nvSpPr>
          <p:cNvPr id="139" name="Freeform 138"/>
          <p:cNvSpPr/>
          <p:nvPr/>
        </p:nvSpPr>
        <p:spPr>
          <a:xfrm>
            <a:off x="11430" y="495300"/>
            <a:ext cx="4478020" cy="2032000"/>
          </a:xfrm>
          <a:custGeom>
            <a:avLst/>
            <a:gdLst/>
            <a:ahLst/>
            <a:cxnLst/>
            <a:rect l="l" t="t" r="r" b="b"/>
            <a:pathLst>
              <a:path w="4478020" h="2032000">
                <a:moveTo>
                  <a:pt x="4478020" y="1498600"/>
                </a:moveTo>
                <a:lnTo>
                  <a:pt x="4478020" y="2032000"/>
                </a:lnTo>
                <a:lnTo>
                  <a:pt x="0" y="2032000"/>
                </a:lnTo>
                <a:lnTo>
                  <a:pt x="0" y="0"/>
                </a:lnTo>
              </a:path>
            </a:pathLst>
          </a:custGeom>
          <a:noFill/>
          <a:ln w="8255">
            <a:solidFill>
              <a:srgbClr val="617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11430" y="495300"/>
            <a:ext cx="102870" cy="0"/>
          </a:xfrm>
          <a:prstGeom prst="line">
            <a:avLst/>
          </a:prstGeom>
          <a:ln w="8255">
            <a:solidFill>
              <a:srgbClr val="617078"/>
            </a:solidFill>
            <a:tailEnd type="triangle" w="sm" len="sm"/>
          </a:ln>
          <a:effectLst/>
        </p:spPr>
      </p:cxnSp>
      <p:sp>
        <p:nvSpPr>
          <p:cNvPr id="141" name="TextBox 140"/>
          <p:cNvSpPr txBox="1"/>
          <p:nvPr/>
        </p:nvSpPr>
        <p:spPr>
          <a:xfrm>
            <a:off x="794420" y="2404364"/>
            <a:ext cx="443160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next rollout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417636" y="2353564"/>
            <a:ext cx="879729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CE751D"/>
                </a:solidFill>
                <a:latin typeface="Liberation Serif"/>
              </a:rPr>
              <a:t>observed-cost feedback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91923" y="2617788"/>
            <a:ext cx="2096155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17078"/>
                </a:solidFill>
                <a:latin typeface="Liberation Serif"/>
              </a:rPr>
              <a:t>F* is a target, not executed; gap corrected by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  <dc:identifier/>
  <cp:contentStatus/>
</cp:coreProperties>
</file>