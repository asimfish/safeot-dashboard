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066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90000" y="90000"/>
            <a:ext cx="12006000" cy="2754000"/>
          </a:xfrm>
          <a:prstGeom prst="roundRect">
            <a:avLst>
              <a:gd name="adj" fmla="val 3268"/>
            </a:avLst>
          </a:prstGeom>
          <a:solidFill>
            <a:srgbClr val="F3F9F9"/>
          </a:solidFill>
          <a:ln w="254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90000" y="3222000"/>
            <a:ext cx="12006000" cy="2754000"/>
          </a:xfrm>
          <a:prstGeom prst="roundRect">
            <a:avLst>
              <a:gd name="adj" fmla="val 3268"/>
            </a:avLst>
          </a:prstGeom>
          <a:solidFill>
            <a:srgbClr val="F3F6FA"/>
          </a:solidFill>
          <a:ln w="254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252000" y="738000"/>
            <a:ext cx="2016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2916000" y="738000"/>
            <a:ext cx="2160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724000" y="738000"/>
            <a:ext cx="1584000" cy="183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956000" y="738000"/>
            <a:ext cx="3402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52000" y="3690000"/>
            <a:ext cx="2268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826000" y="3690000"/>
            <a:ext cx="3960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092000" y="3690000"/>
            <a:ext cx="1080000" cy="183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478000" y="3690000"/>
            <a:ext cx="3456000" cy="1836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528000" y="198000"/>
            <a:ext cx="936000" cy="234000"/>
          </a:xfrm>
          <a:prstGeom prst="roundRect">
            <a:avLst>
              <a:gd name="adj" fmla="val 23077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60000" y="1116000"/>
            <a:ext cx="810000" cy="216000"/>
          </a:xfrm>
          <a:prstGeom prst="roundRect">
            <a:avLst>
              <a:gd name="adj" fmla="val 16667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782000" y="1314000"/>
            <a:ext cx="378000" cy="270000"/>
          </a:xfrm>
          <a:prstGeom prst="roundRect">
            <a:avLst>
              <a:gd name="adj" fmla="val 13333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1782000" y="1692000"/>
            <a:ext cx="378000" cy="270000"/>
          </a:xfrm>
          <a:prstGeom prst="roundRect">
            <a:avLst>
              <a:gd name="adj" fmla="val 13333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782000" y="2070000"/>
            <a:ext cx="378000" cy="270000"/>
          </a:xfrm>
          <a:prstGeom prst="roundRect">
            <a:avLst>
              <a:gd name="adj" fmla="val 13333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3078000" y="2322000"/>
            <a:ext cx="1836000" cy="180000"/>
          </a:xfrm>
          <a:prstGeom prst="roundRect">
            <a:avLst>
              <a:gd name="adj" fmla="val 20000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6174000" y="1314000"/>
            <a:ext cx="1062000" cy="360000"/>
          </a:xfrm>
          <a:prstGeom prst="roundRect">
            <a:avLst>
              <a:gd name="adj" fmla="val 15000"/>
            </a:avLst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174000" y="1908000"/>
            <a:ext cx="1062000" cy="3060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316000" y="1116000"/>
            <a:ext cx="2286000" cy="21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10872000" y="1116000"/>
            <a:ext cx="324000" cy="216000"/>
          </a:xfrm>
          <a:prstGeom prst="roundRect">
            <a:avLst>
              <a:gd name="adj" fmla="val 16667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190000" y="1458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316000" y="1458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442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568000" y="1458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190000" y="1584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8316000" y="1584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8442000" y="1584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8568000" y="1584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190000" y="1710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8316000" y="1710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8442000" y="1710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568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8190000" y="1836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316000" y="1836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442000" y="1836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8568000" y="1836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8190000" y="1962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8316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8442000" y="1962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8568000" y="1962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8190000" y="1458000"/>
            <a:ext cx="504000" cy="630000"/>
          </a:xfrm>
          <a:prstGeom prst="rect">
            <a:avLst/>
          </a:prstGeom>
          <a:noFill/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9342000" y="1458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468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594000" y="1458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9720000" y="1458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9342000" y="1584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9468000" y="1584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9594000" y="1584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9720000" y="1584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9342000" y="1710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9468000" y="1710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9594000" y="1710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9720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9342000" y="1836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9468000" y="1836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9594000" y="1836000"/>
            <a:ext cx="126000" cy="126000"/>
          </a:xfrm>
          <a:prstGeom prst="rect">
            <a:avLst/>
          </a:prstGeom>
          <a:solidFill>
            <a:srgbClr val="97BEC0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9720000" y="1836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9342000" y="1962000"/>
            <a:ext cx="126000" cy="126000"/>
          </a:xfrm>
          <a:prstGeom prst="rect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9468000" y="1962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9594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9720000" y="1962000"/>
            <a:ext cx="126000" cy="126000"/>
          </a:xfrm>
          <a:prstGeom prst="rect">
            <a:avLst/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342000" y="1458000"/>
            <a:ext cx="504000" cy="630000"/>
          </a:xfrm>
          <a:prstGeom prst="rect">
            <a:avLst/>
          </a:prstGeom>
          <a:noFill/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0494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0620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0746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0872000" y="1458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0494000" y="1584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0620000" y="1584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0746000" y="1584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0872000" y="1584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0494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0620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0746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0872000" y="1710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0494000" y="1836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0620000" y="1836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0746000" y="1836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0872000" y="1836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0494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0620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0746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0872000" y="1962000"/>
            <a:ext cx="126000" cy="12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10494000" y="1458000"/>
            <a:ext cx="504000" cy="630000"/>
          </a:xfrm>
          <a:prstGeom prst="rect">
            <a:avLst/>
          </a:prstGeom>
          <a:noFill/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8064000" y="2322000"/>
            <a:ext cx="3186000" cy="180000"/>
          </a:xfrm>
          <a:prstGeom prst="roundRect">
            <a:avLst>
              <a:gd name="adj" fmla="val 20000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360000" y="4158000"/>
            <a:ext cx="396000" cy="396000"/>
          </a:xfrm>
          <a:prstGeom prst="ellipse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008000" y="4212000"/>
            <a:ext cx="270000" cy="270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1080000" y="4734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1080000" y="4878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1080000" y="5022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1080000" y="5166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1566000" y="4212000"/>
            <a:ext cx="270000" cy="270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1638000" y="4734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1638000" y="4878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1638000" y="5022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1638000" y="5166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2124000" y="4212000"/>
            <a:ext cx="270000" cy="270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2196000" y="4734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2196000" y="4878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2196000" y="5022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2196000" y="5166000"/>
            <a:ext cx="108000" cy="90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2" name="Roundrect 102"/>
          <p:cNvSpPr/>
          <p:nvPr/>
        </p:nvSpPr>
        <p:spPr>
          <a:xfrm>
            <a:off x="2934000" y="4176000"/>
            <a:ext cx="504000" cy="792000"/>
          </a:xfrm>
          <a:prstGeom prst="roundRect">
            <a:avLst>
              <a:gd name="adj" fmla="val 10714"/>
            </a:avLst>
          </a:prstGeom>
          <a:solidFill>
            <a:srgbClr val="E7F1F1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03" name="Roundrect 103"/>
          <p:cNvSpPr/>
          <p:nvPr/>
        </p:nvSpPr>
        <p:spPr>
          <a:xfrm>
            <a:off x="3618000" y="4464000"/>
            <a:ext cx="414000" cy="288000"/>
          </a:xfrm>
          <a:prstGeom prst="roundRect">
            <a:avLst>
              <a:gd name="adj" fmla="val 18750"/>
            </a:avLst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4" name="Roundrect 104"/>
          <p:cNvSpPr/>
          <p:nvPr/>
        </p:nvSpPr>
        <p:spPr>
          <a:xfrm>
            <a:off x="4248000" y="4230000"/>
            <a:ext cx="594000" cy="75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4320000" y="4482000"/>
            <a:ext cx="216000" cy="90000"/>
          </a:xfrm>
          <a:prstGeom prst="rect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4320000" y="4626000"/>
            <a:ext cx="216000" cy="90000"/>
          </a:xfrm>
          <a:prstGeom prst="rect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4320000" y="4770000"/>
            <a:ext cx="216000" cy="90000"/>
          </a:xfrm>
          <a:prstGeom prst="rect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08" name="Roundrect 108"/>
          <p:cNvSpPr/>
          <p:nvPr/>
        </p:nvSpPr>
        <p:spPr>
          <a:xfrm>
            <a:off x="5040000" y="4194000"/>
            <a:ext cx="990000" cy="1044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6174000" y="4392000"/>
            <a:ext cx="432000" cy="432000"/>
          </a:xfrm>
          <a:prstGeom prst="ellipse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0" name="Roundrect 110"/>
          <p:cNvSpPr/>
          <p:nvPr/>
        </p:nvSpPr>
        <p:spPr>
          <a:xfrm>
            <a:off x="3006000" y="5256000"/>
            <a:ext cx="2916000" cy="1800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7380000" y="4140000"/>
            <a:ext cx="504000" cy="504000"/>
          </a:xfrm>
          <a:prstGeom prst="ellipse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2" name="Roundrect 112"/>
          <p:cNvSpPr/>
          <p:nvPr/>
        </p:nvSpPr>
        <p:spPr>
          <a:xfrm>
            <a:off x="7218000" y="4842000"/>
            <a:ext cx="828000" cy="396000"/>
          </a:xfrm>
          <a:prstGeom prst="roundRect">
            <a:avLst>
              <a:gd name="adj" fmla="val 9091"/>
            </a:avLst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8640000" y="4230000"/>
            <a:ext cx="216000" cy="360000"/>
          </a:xfrm>
          <a:prstGeom prst="rect">
            <a:avLst/>
          </a:prstGeom>
          <a:solidFill>
            <a:srgbClr val="526D8B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8640000" y="4590000"/>
            <a:ext cx="216000" cy="252000"/>
          </a:xfrm>
          <a:prstGeom prst="rect">
            <a:avLst/>
          </a:prstGeom>
          <a:solidFill>
            <a:srgbClr val="D58B00"/>
          </a:solidFill>
          <a:ln w="1397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8640000" y="4842000"/>
            <a:ext cx="216000" cy="396000"/>
          </a:xfrm>
          <a:prstGeom prst="rect">
            <a:avLst/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16" name="Roundrect 116"/>
          <p:cNvSpPr/>
          <p:nvPr/>
        </p:nvSpPr>
        <p:spPr>
          <a:xfrm>
            <a:off x="8928000" y="4230000"/>
            <a:ext cx="1152000" cy="252000"/>
          </a:xfrm>
          <a:prstGeom prst="roundRect">
            <a:avLst>
              <a:gd name="adj" fmla="val 14286"/>
            </a:avLst>
          </a:prstGeom>
          <a:solidFill>
            <a:srgbClr val="E5EB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oundrect 117"/>
          <p:cNvSpPr/>
          <p:nvPr/>
        </p:nvSpPr>
        <p:spPr>
          <a:xfrm>
            <a:off x="8928000" y="4554000"/>
            <a:ext cx="1152000" cy="252000"/>
          </a:xfrm>
          <a:prstGeom prst="roundRect">
            <a:avLst>
              <a:gd name="adj" fmla="val 14286"/>
            </a:avLst>
          </a:prstGeom>
          <a:solidFill>
            <a:srgbClr val="FFF1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oundrect 118"/>
          <p:cNvSpPr/>
          <p:nvPr/>
        </p:nvSpPr>
        <p:spPr>
          <a:xfrm>
            <a:off x="8928000" y="4896000"/>
            <a:ext cx="1152000" cy="252000"/>
          </a:xfrm>
          <a:prstGeom prst="roundRect">
            <a:avLst>
              <a:gd name="adj" fmla="val 14286"/>
            </a:avLst>
          </a:prstGeom>
          <a:solidFill>
            <a:srgbClr val="E5EB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oundrect 119"/>
          <p:cNvSpPr/>
          <p:nvPr/>
        </p:nvSpPr>
        <p:spPr>
          <a:xfrm>
            <a:off x="10368000" y="4104000"/>
            <a:ext cx="1350000" cy="234000"/>
          </a:xfrm>
          <a:prstGeom prst="roundRect">
            <a:avLst>
              <a:gd name="adj" fmla="val 15385"/>
            </a:avLst>
          </a:prstGeom>
          <a:solidFill>
            <a:srgbClr val="E5EBF2"/>
          </a:solidFill>
          <a:ln w="1397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20" name="Roundrect 120"/>
          <p:cNvSpPr/>
          <p:nvPr/>
        </p:nvSpPr>
        <p:spPr>
          <a:xfrm>
            <a:off x="10188000" y="4500000"/>
            <a:ext cx="1782000" cy="882000"/>
          </a:xfrm>
          <a:prstGeom prst="roundRect">
            <a:avLst>
              <a:gd name="adj" fmla="val 6122"/>
            </a:avLst>
          </a:prstGeom>
          <a:solidFill>
            <a:srgbClr val="FFF1D6"/>
          </a:solidFill>
          <a:ln w="1397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1" name="Roundrect 121"/>
          <p:cNvSpPr/>
          <p:nvPr/>
        </p:nvSpPr>
        <p:spPr>
          <a:xfrm>
            <a:off x="10242000" y="4716000"/>
            <a:ext cx="1674000" cy="2340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2" name="Roundrect 122"/>
          <p:cNvSpPr/>
          <p:nvPr/>
        </p:nvSpPr>
        <p:spPr>
          <a:xfrm>
            <a:off x="10260000" y="5022000"/>
            <a:ext cx="1638000" cy="2340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10764000" y="2988000"/>
            <a:ext cx="0" cy="702000"/>
          </a:xfrm>
          <a:prstGeom prst="line">
            <a:avLst/>
          </a:prstGeom>
          <a:noFill/>
          <a:ln w="2286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H="1">
            <a:off x="6174000" y="2988000"/>
            <a:ext cx="4590000" cy="0"/>
          </a:xfrm>
          <a:prstGeom prst="line">
            <a:avLst/>
          </a:prstGeom>
          <a:noFill/>
          <a:ln w="2286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6174000" y="2574000"/>
            <a:ext cx="0" cy="414000"/>
          </a:xfrm>
          <a:prstGeom prst="line">
            <a:avLst/>
          </a:prstGeom>
          <a:noFill/>
          <a:ln w="22860">
            <a:solidFill>
              <a:srgbClr val="D58B00"/>
            </a:solidFill>
            <a:prstDash val="dash"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6106500" y="2562750"/>
            <a:ext cx="135000" cy="112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58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9774000" y="2916000"/>
            <a:ext cx="108000" cy="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3996000" y="432000"/>
            <a:ext cx="0" cy="306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756000" y="1332000"/>
            <a:ext cx="0" cy="108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3168000" y="1242000"/>
            <a:ext cx="1494000" cy="18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561" y="0"/>
                </a:moveTo>
                <a:lnTo>
                  <a:pt x="21600" y="0"/>
                </a:lnTo>
                <a:lnTo>
                  <a:pt x="2003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3168000" y="1602000"/>
            <a:ext cx="1494000" cy="18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561" y="0"/>
                </a:moveTo>
                <a:lnTo>
                  <a:pt x="21600" y="0"/>
                </a:lnTo>
                <a:lnTo>
                  <a:pt x="2003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3168000" y="2052000"/>
            <a:ext cx="1494000" cy="18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561" y="0"/>
                </a:moveTo>
                <a:lnTo>
                  <a:pt x="21600" y="0"/>
                </a:lnTo>
                <a:lnTo>
                  <a:pt x="2003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2268000" y="1710000"/>
            <a:ext cx="648000" cy="0"/>
          </a:xfrm>
          <a:prstGeom prst="line">
            <a:avLst/>
          </a:prstGeom>
          <a:noFill/>
          <a:ln w="3048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5076000" y="1710000"/>
            <a:ext cx="648000" cy="0"/>
          </a:xfrm>
          <a:prstGeom prst="line">
            <a:avLst/>
          </a:prstGeom>
          <a:noFill/>
          <a:ln w="3048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H="1">
            <a:off x="5850000" y="1440000"/>
            <a:ext cx="72000" cy="630000"/>
          </a:xfrm>
          <a:prstGeom prst="line">
            <a:avLst/>
          </a:prstGeom>
          <a:noFill/>
          <a:ln w="3048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5994000" y="1476000"/>
            <a:ext cx="180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5940000" y="2070000"/>
            <a:ext cx="234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7308000" y="1710000"/>
            <a:ext cx="648000" cy="0"/>
          </a:xfrm>
          <a:prstGeom prst="line">
            <a:avLst/>
          </a:prstGeom>
          <a:noFill/>
          <a:ln w="3048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8784000" y="1638000"/>
            <a:ext cx="468000" cy="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H="1">
            <a:off x="8784000" y="1890000"/>
            <a:ext cx="468000" cy="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9936000" y="1638000"/>
            <a:ext cx="468000" cy="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9936000" y="1890000"/>
            <a:ext cx="468000" cy="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2142000" y="2574000"/>
            <a:ext cx="0" cy="162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2142000" y="2736000"/>
            <a:ext cx="5994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V="1">
            <a:off x="8136000" y="2574000"/>
            <a:ext cx="0" cy="162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503999" y="2574000"/>
            <a:ext cx="0" cy="1115999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2034000" y="2574000"/>
            <a:ext cx="0" cy="522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2034000" y="3096000"/>
            <a:ext cx="1152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3186000" y="3096000"/>
            <a:ext cx="0" cy="1080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11358000" y="1710000"/>
            <a:ext cx="378000" cy="0"/>
          </a:xfrm>
          <a:prstGeom prst="line">
            <a:avLst/>
          </a:prstGeom>
          <a:noFill/>
          <a:ln w="22860">
            <a:solidFill>
              <a:srgbClr val="006D73"/>
            </a:solidFill>
            <a:prstDash val="dash"/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>
            <a:off x="11736000" y="1710000"/>
            <a:ext cx="0" cy="1980000"/>
          </a:xfrm>
          <a:prstGeom prst="line">
            <a:avLst/>
          </a:prstGeom>
          <a:noFill/>
          <a:ln w="22860">
            <a:solidFill>
              <a:srgbClr val="006D73"/>
            </a:solidFill>
            <a:prstDash val="dash"/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>
            <a:off x="1134000" y="4536000"/>
            <a:ext cx="0" cy="14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ot"/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1692000" y="4536000"/>
            <a:ext cx="0" cy="14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ot"/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>
            <a:off x="2250000" y="4536000"/>
            <a:ext cx="0" cy="14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ot"/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>
            <a:off x="756000" y="4356000"/>
            <a:ext cx="234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>
            <a:off x="1278000" y="4356000"/>
            <a:ext cx="270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>
            <a:off x="1836000" y="4356000"/>
            <a:ext cx="270000" cy="0"/>
          </a:xfrm>
          <a:prstGeom prst="line">
            <a:avLst/>
          </a:prstGeom>
          <a:noFill/>
          <a:ln w="22860">
            <a:solidFill>
              <a:srgbClr val="526D8B"/>
            </a:solidFill>
            <a:prstDash val="dot"/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>
            <a:off x="846000" y="4716000"/>
            <a:ext cx="0" cy="594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>
            <a:off x="846000" y="4716000"/>
            <a:ext cx="54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>
            <a:off x="846000" y="5310000"/>
            <a:ext cx="54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>
            <a:off x="2520000" y="4608000"/>
            <a:ext cx="306000" cy="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>
            <a:off x="3024000" y="4518000"/>
            <a:ext cx="324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3438000" y="4608000"/>
            <a:ext cx="180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4032000" y="4608000"/>
            <a:ext cx="216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4842000" y="4608000"/>
            <a:ext cx="198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5112000" y="4626000"/>
            <a:ext cx="0" cy="522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5112000" y="5148000"/>
            <a:ext cx="84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 flipV="1">
            <a:off x="5148000" y="5004000"/>
            <a:ext cx="72000" cy="90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 flipV="1">
            <a:off x="5220000" y="4878000"/>
            <a:ext cx="72000" cy="126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 flipV="1">
            <a:off x="5292000" y="4788000"/>
            <a:ext cx="72000" cy="90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 flipV="1">
            <a:off x="5364000" y="4734000"/>
            <a:ext cx="72000" cy="54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 flipV="1">
            <a:off x="5436000" y="4716000"/>
            <a:ext cx="72000" cy="18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5508000" y="4716000"/>
            <a:ext cx="72000" cy="36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>
            <a:off x="5580000" y="4752000"/>
            <a:ext cx="72000" cy="72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>
            <a:off x="5652000" y="4824000"/>
            <a:ext cx="72000" cy="72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>
            <a:off x="5724000" y="4896000"/>
            <a:ext cx="72000" cy="90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>
            <a:off x="5796000" y="4986000"/>
            <a:ext cx="90000" cy="9000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 flipV="1">
            <a:off x="5148000" y="4968000"/>
            <a:ext cx="72000" cy="126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 flipV="1">
            <a:off x="5220000" y="4806000"/>
            <a:ext cx="72000" cy="162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 flipV="1">
            <a:off x="5292000" y="4698000"/>
            <a:ext cx="72000" cy="108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 flipV="1">
            <a:off x="5364000" y="4644000"/>
            <a:ext cx="72000" cy="5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>
            <a:off x="5436000" y="4644000"/>
            <a:ext cx="72000" cy="18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>
            <a:off x="5508000" y="4662000"/>
            <a:ext cx="72000" cy="90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>
            <a:off x="5580000" y="4752000"/>
            <a:ext cx="72000" cy="14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>
            <a:off x="5652000" y="4896000"/>
            <a:ext cx="72000" cy="108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>
            <a:off x="5724000" y="5004000"/>
            <a:ext cx="72000" cy="72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 flipV="1">
            <a:off x="5148000" y="4986000"/>
            <a:ext cx="90000" cy="90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 flipV="1">
            <a:off x="5238000" y="4896000"/>
            <a:ext cx="90000" cy="90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 flipV="1">
            <a:off x="5328000" y="4824000"/>
            <a:ext cx="90000" cy="72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 flipV="1">
            <a:off x="5418000" y="4788000"/>
            <a:ext cx="90000" cy="36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>
            <a:off x="5508000" y="4788000"/>
            <a:ext cx="90000" cy="18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>
            <a:off x="5598000" y="4806000"/>
            <a:ext cx="90000" cy="54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>
            <a:off x="5688000" y="4860000"/>
            <a:ext cx="90000" cy="90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>
            <a:off x="5778000" y="4950000"/>
            <a:ext cx="108000" cy="90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>
            <a:off x="6030000" y="4608000"/>
            <a:ext cx="144000" cy="0"/>
          </a:xfrm>
          <a:prstGeom prst="line">
            <a:avLst/>
          </a:prstGeom>
          <a:noFill/>
          <a:ln w="1524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>
            <a:off x="6786000" y="4608000"/>
            <a:ext cx="306000" cy="0"/>
          </a:xfrm>
          <a:prstGeom prst="line">
            <a:avLst/>
          </a:prstGeom>
          <a:noFill/>
          <a:ln w="3048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>
            <a:off x="8172000" y="4608000"/>
            <a:ext cx="306000" cy="0"/>
          </a:xfrm>
          <a:prstGeom prst="line">
            <a:avLst/>
          </a:prstGeom>
          <a:noFill/>
          <a:ln w="22860">
            <a:solidFill>
              <a:srgbClr val="526D8B"/>
            </a:solidFill>
            <a:prstDash val="dot"/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8928000" y="4230000"/>
            <a:ext cx="0" cy="360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8892000" y="4230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8892000" y="4590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8928000" y="4590000"/>
            <a:ext cx="0" cy="252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8892000" y="4590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8892000" y="4842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8928000" y="4842000"/>
            <a:ext cx="0" cy="3960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8892000" y="4842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8892000" y="5238000"/>
            <a:ext cx="36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10116000" y="4122000"/>
            <a:ext cx="0" cy="1296000"/>
          </a:xfrm>
          <a:prstGeom prst="line">
            <a:avLst/>
          </a:prstGeom>
          <a:noFill/>
          <a:ln w="22860">
            <a:solidFill>
              <a:srgbClr val="41484F"/>
            </a:solidFill>
            <a:prstDash val="dash"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10948500" y="4360500"/>
            <a:ext cx="1350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close/>
              </a:path>
            </a:pathLst>
          </a:custGeom>
          <a:solidFill>
            <a:srgbClr val="D58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7632000" y="5526000"/>
            <a:ext cx="0" cy="252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 flipH="1">
            <a:off x="1440000" y="5778000"/>
            <a:ext cx="6192000" cy="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 flipV="1">
            <a:off x="1440000" y="5526000"/>
            <a:ext cx="0" cy="252000"/>
          </a:xfrm>
          <a:prstGeom prst="line">
            <a:avLst/>
          </a:prstGeom>
          <a:noFill/>
          <a:ln w="22860">
            <a:solidFill>
              <a:srgbClr val="526D8B"/>
            </a:solidFill>
            <a:prstDash val="dash"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3951000" y="657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711000" y="1359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2814750" y="1642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5622750" y="1642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6093000" y="1431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6093000" y="2025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7854750" y="1642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9150750" y="1570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8772750" y="1822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10302750" y="1570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9924750" y="1822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8091000" y="2565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435600" y="2562750"/>
            <a:ext cx="135000" cy="112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3141000" y="4095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11668500" y="3588750"/>
            <a:ext cx="135000" cy="112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909000" y="4311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1467000" y="4311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2004750" y="4288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2724750" y="4540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3537000" y="4563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4167000" y="4563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4959000" y="4563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6093000" y="4563000"/>
            <a:ext cx="90000" cy="9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6990750" y="4540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8376750" y="4540500"/>
            <a:ext cx="112500" cy="13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1372500" y="5514750"/>
            <a:ext cx="135000" cy="112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>
            <a:off x="9828000" y="2574000"/>
            <a:ext cx="0" cy="57600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 flipH="1">
            <a:off x="6480000" y="3150000"/>
            <a:ext cx="3348000" cy="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>
            <a:off x="6480000" y="3150000"/>
            <a:ext cx="0" cy="540000"/>
          </a:xfrm>
          <a:prstGeom prst="line">
            <a:avLst/>
          </a:prstGeom>
          <a:noFill/>
          <a:ln w="3048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6412500" y="3588750"/>
            <a:ext cx="135000" cy="112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Ellipse 254"/>
          <p:cNvSpPr/>
          <p:nvPr/>
        </p:nvSpPr>
        <p:spPr>
          <a:xfrm>
            <a:off x="5814000" y="1386000"/>
            <a:ext cx="180000" cy="180000"/>
          </a:xfrm>
          <a:prstGeom prst="ellipse">
            <a:avLst/>
          </a:prstGeom>
          <a:solidFill>
            <a:srgbClr val="006D73"/>
          </a:solidFill>
          <a:ln w="1397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255" name="Ellipse 255"/>
          <p:cNvSpPr/>
          <p:nvPr/>
        </p:nvSpPr>
        <p:spPr>
          <a:xfrm>
            <a:off x="5760000" y="1980000"/>
            <a:ext cx="180000" cy="180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256" name="Roundrect 256"/>
          <p:cNvSpPr/>
          <p:nvPr/>
        </p:nvSpPr>
        <p:spPr>
          <a:xfrm>
            <a:off x="8640000" y="4230000"/>
            <a:ext cx="216000" cy="1008000"/>
          </a:xfrm>
          <a:prstGeom prst="roundRect">
            <a:avLst>
              <a:gd name="adj" fmla="val 16667"/>
            </a:avLst>
          </a:prstGeom>
          <a:noFill/>
          <a:ln w="13970">
            <a:solidFill>
              <a:srgbClr val="41484F"/>
            </a:solidFill>
          </a:ln>
        </p:spPr>
        <p:txBody>
          <a:bodyPr/>
          <a:lstStyle/>
          <a:p/>
        </p:txBody>
      </p:sp>
      <p:pic>
        <p:nvPicPr>
          <p:cNvPr id="257" name="Source-faithful eight-node flow graph, asset-sheet sepa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00" y="1440000"/>
            <a:ext cx="1332000" cy="972000"/>
          </a:xfrm>
          <a:prstGeom prst="rect">
            <a:avLst/>
          </a:prstGeom>
        </p:spPr>
      </p:pic>
      <p:sp>
        <p:nvSpPr>
          <p:cNvPr id="258" name="Ellipse 258"/>
          <p:cNvSpPr/>
          <p:nvPr/>
        </p:nvSpPr>
        <p:spPr>
          <a:xfrm>
            <a:off x="342000" y="828000"/>
            <a:ext cx="198000" cy="198000"/>
          </a:xfrm>
          <a:prstGeom prst="ellipse">
            <a:avLst/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Ellipse 259"/>
          <p:cNvSpPr/>
          <p:nvPr/>
        </p:nvSpPr>
        <p:spPr>
          <a:xfrm>
            <a:off x="3006000" y="828000"/>
            <a:ext cx="198000" cy="198000"/>
          </a:xfrm>
          <a:prstGeom prst="ellipse">
            <a:avLst/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Ellipse 260"/>
          <p:cNvSpPr/>
          <p:nvPr/>
        </p:nvSpPr>
        <p:spPr>
          <a:xfrm>
            <a:off x="5814000" y="828000"/>
            <a:ext cx="198000" cy="198000"/>
          </a:xfrm>
          <a:prstGeom prst="ellipse">
            <a:avLst/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Ellipse 261"/>
          <p:cNvSpPr/>
          <p:nvPr/>
        </p:nvSpPr>
        <p:spPr>
          <a:xfrm>
            <a:off x="8046000" y="828000"/>
            <a:ext cx="198000" cy="198000"/>
          </a:xfrm>
          <a:prstGeom prst="ellipse">
            <a:avLst/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Ellipse 262"/>
          <p:cNvSpPr/>
          <p:nvPr/>
        </p:nvSpPr>
        <p:spPr>
          <a:xfrm>
            <a:off x="342000" y="3780000"/>
            <a:ext cx="198000" cy="1980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Ellipse 263"/>
          <p:cNvSpPr/>
          <p:nvPr/>
        </p:nvSpPr>
        <p:spPr>
          <a:xfrm>
            <a:off x="2916000" y="3780000"/>
            <a:ext cx="198000" cy="1980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Ellipse 264"/>
          <p:cNvSpPr/>
          <p:nvPr/>
        </p:nvSpPr>
        <p:spPr>
          <a:xfrm>
            <a:off x="8568000" y="3780000"/>
            <a:ext cx="198000" cy="1980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3438000" y="468000"/>
            <a:ext cx="1134000" cy="180000"/>
          </a:xfrm>
          <a:prstGeom prst="rect">
            <a:avLst/>
          </a:prstGeom>
          <a:solidFill>
            <a:srgbClr val="E7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5112000" y="2646000"/>
            <a:ext cx="774000" cy="180000"/>
          </a:xfrm>
          <a:prstGeom prst="rect">
            <a:avLst/>
          </a:prstGeom>
          <a:solidFill>
            <a:srgbClr val="E7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3204000" y="3438000"/>
            <a:ext cx="558000" cy="180000"/>
          </a:xfrm>
          <a:prstGeom prst="rect">
            <a:avLst/>
          </a:prstGeom>
          <a:solidFill>
            <a:srgbClr val="E5EB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6570000" y="2898000"/>
            <a:ext cx="558000" cy="1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8946000" y="3060000"/>
            <a:ext cx="360000" cy="1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4320000" y="5688000"/>
            <a:ext cx="1044000" cy="180000"/>
          </a:xfrm>
          <a:prstGeom prst="rect">
            <a:avLst/>
          </a:prstGeom>
          <a:solidFill>
            <a:srgbClr val="E5EB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TextBox 274"/>
          <p:cNvSpPr txBox="1"/>
          <p:nvPr/>
        </p:nvSpPr>
        <p:spPr>
          <a:xfrm>
            <a:off x="630000" y="162000"/>
            <a:ext cx="1800000" cy="25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l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FLOW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SPACE</a:t>
            </a:r>
            <a:endParaRPr lang="zh-CN" sz="1400"/>
          </a:p>
        </p:txBody>
      </p:sp>
      <p:sp>
        <p:nvSpPr>
          <p:cNvPr id="275" name="TextBox 275"/>
          <p:cNvSpPr txBox="1"/>
          <p:nvPr/>
        </p:nvSpPr>
        <p:spPr>
          <a:xfrm>
            <a:off x="630000" y="3294000"/>
            <a:ext cx="1800000" cy="25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l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POLICY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SPACE</a:t>
            </a:r>
            <a:endParaRPr lang="zh-CN" sz="1400"/>
          </a:p>
        </p:txBody>
      </p:sp>
      <p:sp>
        <p:nvSpPr>
          <p:cNvPr id="276" name="TextBox 276"/>
          <p:cNvSpPr txBox="1"/>
          <p:nvPr/>
        </p:nvSpPr>
        <p:spPr>
          <a:xfrm>
            <a:off x="594000" y="810000"/>
            <a:ext cx="1620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Flow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graph</a:t>
            </a:r>
            <a:endParaRPr lang="zh-CN" sz="1400"/>
          </a:p>
        </p:txBody>
      </p:sp>
      <p:sp>
        <p:nvSpPr>
          <p:cNvPr id="277" name="TextBox 277"/>
          <p:cNvSpPr txBox="1"/>
          <p:nvPr/>
        </p:nvSpPr>
        <p:spPr>
          <a:xfrm>
            <a:off x="3258000" y="810000"/>
            <a:ext cx="1764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Capacity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compile</a:t>
            </a:r>
            <a:endParaRPr lang="zh-CN" sz="1400"/>
          </a:p>
        </p:txBody>
      </p:sp>
      <p:sp>
        <p:nvSpPr>
          <p:cNvPr id="278" name="TextBox 278"/>
          <p:cNvSpPr txBox="1"/>
          <p:nvPr/>
        </p:nvSpPr>
        <p:spPr>
          <a:xfrm>
            <a:off x="6066000" y="810000"/>
            <a:ext cx="1188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Compose</a:t>
            </a:r>
            <a:endParaRPr lang="zh-CN" sz="1400"/>
          </a:p>
        </p:txBody>
      </p:sp>
      <p:sp>
        <p:nvSpPr>
          <p:cNvPr id="279" name="TextBox 279"/>
          <p:cNvSpPr txBox="1"/>
          <p:nvPr/>
        </p:nvSpPr>
        <p:spPr>
          <a:xfrm>
            <a:off x="8298000" y="810000"/>
            <a:ext cx="3006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γ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-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Flow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Sinkhorn</a:t>
            </a:r>
            <a:endParaRPr lang="zh-CN" sz="1400"/>
          </a:p>
        </p:txBody>
      </p:sp>
      <p:sp>
        <p:nvSpPr>
          <p:cNvPr id="280" name="TextBox 280"/>
          <p:cNvSpPr txBox="1"/>
          <p:nvPr/>
        </p:nvSpPr>
        <p:spPr>
          <a:xfrm>
            <a:off x="594000" y="3762000"/>
            <a:ext cx="1872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Policy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rollout</a:t>
            </a:r>
            <a:endParaRPr lang="zh-CN" sz="1400"/>
          </a:p>
        </p:txBody>
      </p:sp>
      <p:sp>
        <p:nvSpPr>
          <p:cNvPr id="281" name="TextBox 281"/>
          <p:cNvSpPr txBox="1"/>
          <p:nvPr/>
        </p:nvSpPr>
        <p:spPr>
          <a:xfrm>
            <a:off x="3168000" y="3762000"/>
            <a:ext cx="3564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Flow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-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weighted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PPO</a:t>
            </a:r>
            <a:endParaRPr lang="zh-CN" sz="1400"/>
          </a:p>
        </p:txBody>
      </p:sp>
      <p:sp>
        <p:nvSpPr>
          <p:cNvPr id="282" name="TextBox 282"/>
          <p:cNvSpPr txBox="1"/>
          <p:nvPr/>
        </p:nvSpPr>
        <p:spPr>
          <a:xfrm>
            <a:off x="8820000" y="3762000"/>
            <a:ext cx="3060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Deployed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-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policy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4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audit</a:t>
            </a:r>
            <a:endParaRPr lang="zh-CN" sz="1400"/>
          </a:p>
        </p:txBody>
      </p:sp>
      <p:sp>
        <p:nvSpPr>
          <p:cNvPr id="283" name="TextBox 283"/>
          <p:cNvSpPr txBox="1"/>
          <p:nvPr/>
        </p:nvSpPr>
        <p:spPr>
          <a:xfrm>
            <a:off x="3564000" y="216000"/>
            <a:ext cx="86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budgets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lang="zh-CN" sz="110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284" name="TextBox 284"/>
          <p:cNvSpPr txBox="1"/>
          <p:nvPr/>
        </p:nvSpPr>
        <p:spPr>
          <a:xfrm>
            <a:off x="3438000" y="468000"/>
            <a:ext cx="113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= 1…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285" name="TextBox 285"/>
          <p:cNvSpPr txBox="1"/>
          <p:nvPr/>
        </p:nvSpPr>
        <p:spPr>
          <a:xfrm>
            <a:off x="378000" y="1134000"/>
            <a:ext cx="77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discretise</a:t>
            </a:r>
            <a:endParaRPr lang="zh-CN" sz="1150"/>
          </a:p>
        </p:txBody>
      </p:sp>
      <p:sp>
        <p:nvSpPr>
          <p:cNvPr id="286" name="TextBox 286"/>
          <p:cNvSpPr txBox="1"/>
          <p:nvPr/>
        </p:nvSpPr>
        <p:spPr>
          <a:xfrm>
            <a:off x="1800000" y="1350000"/>
            <a:ext cx="342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</a:t>
            </a:r>
            <a:endParaRPr lang="zh-CN" sz="1150"/>
          </a:p>
        </p:txBody>
      </p:sp>
      <p:sp>
        <p:nvSpPr>
          <p:cNvPr id="287" name="TextBox 287"/>
          <p:cNvSpPr txBox="1"/>
          <p:nvPr/>
        </p:nvSpPr>
        <p:spPr>
          <a:xfrm>
            <a:off x="1800000" y="1728000"/>
            <a:ext cx="342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</a:t>
            </a:r>
            <a:endParaRPr lang="zh-CN" sz="1150"/>
          </a:p>
        </p:txBody>
      </p:sp>
      <p:sp>
        <p:nvSpPr>
          <p:cNvPr id="288" name="TextBox 288"/>
          <p:cNvSpPr txBox="1"/>
          <p:nvPr/>
        </p:nvSpPr>
        <p:spPr>
          <a:xfrm>
            <a:off x="1800000" y="2106000"/>
            <a:ext cx="342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μ̂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0</a:t>
            </a:r>
            <a:endParaRPr lang="zh-CN" sz="1150"/>
          </a:p>
        </p:txBody>
      </p:sp>
      <p:sp>
        <p:nvSpPr>
          <p:cNvPr id="289" name="TextBox 289"/>
          <p:cNvSpPr txBox="1"/>
          <p:nvPr/>
        </p:nvSpPr>
        <p:spPr>
          <a:xfrm>
            <a:off x="3312000" y="1260000"/>
            <a:ext cx="11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="1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(1)</a:t>
            </a:r>
            <a:endParaRPr lang="zh-CN" sz="1150"/>
          </a:p>
        </p:txBody>
      </p:sp>
      <p:sp>
        <p:nvSpPr>
          <p:cNvPr id="290" name="TextBox 290"/>
          <p:cNvSpPr txBox="1"/>
          <p:nvPr/>
        </p:nvSpPr>
        <p:spPr>
          <a:xfrm>
            <a:off x="3312000" y="1620000"/>
            <a:ext cx="11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="1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(2)</a:t>
            </a:r>
            <a:endParaRPr lang="zh-CN" sz="1150"/>
          </a:p>
        </p:txBody>
      </p:sp>
      <p:sp>
        <p:nvSpPr>
          <p:cNvPr id="291" name="TextBox 291"/>
          <p:cNvSpPr txBox="1"/>
          <p:nvPr/>
        </p:nvSpPr>
        <p:spPr>
          <a:xfrm>
            <a:off x="3312000" y="2070000"/>
            <a:ext cx="11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="1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150" b="1" i="1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150" b="1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292" name="TextBox 292"/>
          <p:cNvSpPr txBox="1"/>
          <p:nvPr/>
        </p:nvSpPr>
        <p:spPr>
          <a:xfrm>
            <a:off x="3906000" y="180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⋮</a:t>
            </a:r>
            <a:endParaRPr lang="zh-CN" sz="1150"/>
          </a:p>
        </p:txBody>
      </p:sp>
      <p:sp>
        <p:nvSpPr>
          <p:cNvPr id="293" name="TextBox 293"/>
          <p:cNvSpPr txBox="1"/>
          <p:nvPr/>
        </p:nvSpPr>
        <p:spPr>
          <a:xfrm>
            <a:off x="3114000" y="2322000"/>
            <a:ext cx="176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150" i="1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=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ω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150" i="1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c̄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294" name="TextBox 294"/>
          <p:cNvSpPr txBox="1"/>
          <p:nvPr/>
        </p:nvSpPr>
        <p:spPr>
          <a:xfrm>
            <a:off x="2286000" y="1422000"/>
            <a:ext cx="612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ω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150" i="1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c̄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295" name="TextBox 295"/>
          <p:cNvSpPr txBox="1"/>
          <p:nvPr/>
        </p:nvSpPr>
        <p:spPr>
          <a:xfrm>
            <a:off x="5094000" y="1440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(1…</a:t>
            </a:r>
            <a:r>
              <a:rPr lang="zh-CN" sz="1150" i="1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296" name="TextBox 296"/>
          <p:cNvSpPr txBox="1"/>
          <p:nvPr/>
        </p:nvSpPr>
        <p:spPr>
          <a:xfrm>
            <a:off x="6210000" y="1332000"/>
            <a:ext cx="990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hard</a:t>
            </a:r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min</a:t>
            </a:r>
            <a:endParaRPr lang="zh-CN" sz="1150"/>
          </a:p>
        </p:txBody>
      </p:sp>
      <p:sp>
        <p:nvSpPr>
          <p:cNvPr id="297" name="TextBox 297"/>
          <p:cNvSpPr txBox="1"/>
          <p:nvPr/>
        </p:nvSpPr>
        <p:spPr>
          <a:xfrm>
            <a:off x="6210000" y="1494000"/>
            <a:ext cx="990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certificate</a:t>
            </a:r>
            <a:r>
              <a:rPr lang="zh-CN" sz="1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298" name="TextBox 298"/>
          <p:cNvSpPr txBox="1"/>
          <p:nvPr/>
        </p:nvSpPr>
        <p:spPr>
          <a:xfrm>
            <a:off x="6210000" y="1944000"/>
            <a:ext cx="990000" cy="21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softmin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</a:t>
            </a:r>
            <a:endParaRPr lang="zh-CN" sz="1150"/>
          </a:p>
        </p:txBody>
      </p:sp>
      <p:sp>
        <p:nvSpPr>
          <p:cNvPr id="299" name="TextBox 299"/>
          <p:cNvSpPr txBox="1"/>
          <p:nvPr/>
        </p:nvSpPr>
        <p:spPr>
          <a:xfrm>
            <a:off x="7344000" y="1098000"/>
            <a:ext cx="576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endParaRPr lang="zh-CN" sz="1150"/>
          </a:p>
        </p:txBody>
      </p:sp>
      <p:sp>
        <p:nvSpPr>
          <p:cNvPr id="300" name="TextBox 300"/>
          <p:cNvSpPr txBox="1"/>
          <p:nvPr/>
        </p:nvSpPr>
        <p:spPr>
          <a:xfrm>
            <a:off x="7254000" y="1260000"/>
            <a:ext cx="756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capacity</a:t>
            </a:r>
            <a:endParaRPr lang="zh-CN" sz="900"/>
          </a:p>
        </p:txBody>
      </p:sp>
      <p:sp>
        <p:nvSpPr>
          <p:cNvPr id="301" name="TextBox 301"/>
          <p:cNvSpPr txBox="1"/>
          <p:nvPr/>
        </p:nvSpPr>
        <p:spPr>
          <a:xfrm>
            <a:off x="7254000" y="1404000"/>
            <a:ext cx="756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ceiling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900"/>
          </a:p>
        </p:txBody>
      </p:sp>
      <p:sp>
        <p:nvSpPr>
          <p:cNvPr id="302" name="TextBox 302"/>
          <p:cNvSpPr txBox="1"/>
          <p:nvPr/>
        </p:nvSpPr>
        <p:spPr>
          <a:xfrm>
            <a:off x="8352000" y="1134000"/>
            <a:ext cx="221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min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⟨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⟩ −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ε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H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303" name="TextBox 303"/>
          <p:cNvSpPr txBox="1"/>
          <p:nvPr/>
        </p:nvSpPr>
        <p:spPr>
          <a:xfrm>
            <a:off x="10872000" y="1116000"/>
            <a:ext cx="324000" cy="21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ε</a:t>
            </a:r>
            <a:endParaRPr lang="zh-CN" sz="1150"/>
          </a:p>
        </p:txBody>
      </p:sp>
      <p:sp>
        <p:nvSpPr>
          <p:cNvPr id="304" name="TextBox 304"/>
          <p:cNvSpPr txBox="1"/>
          <p:nvPr/>
        </p:nvSpPr>
        <p:spPr>
          <a:xfrm>
            <a:off x="7956000" y="2106000"/>
            <a:ext cx="1008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row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scaling</a:t>
            </a:r>
            <a:endParaRPr lang="zh-CN" sz="900"/>
          </a:p>
        </p:txBody>
      </p:sp>
      <p:sp>
        <p:nvSpPr>
          <p:cNvPr id="305" name="TextBox 305"/>
          <p:cNvSpPr txBox="1"/>
          <p:nvPr/>
        </p:nvSpPr>
        <p:spPr>
          <a:xfrm>
            <a:off x="9036000" y="2106000"/>
            <a:ext cx="11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5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column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15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scaling</a:t>
            </a:r>
            <a:endParaRPr lang="zh-CN" sz="900"/>
          </a:p>
        </p:txBody>
      </p:sp>
      <p:sp>
        <p:nvSpPr>
          <p:cNvPr id="306" name="TextBox 306"/>
          <p:cNvSpPr txBox="1"/>
          <p:nvPr/>
        </p:nvSpPr>
        <p:spPr>
          <a:xfrm>
            <a:off x="8136000" y="2322000"/>
            <a:ext cx="702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0 ≤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≤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endParaRPr lang="zh-CN" sz="1150"/>
          </a:p>
        </p:txBody>
      </p:sp>
      <p:sp>
        <p:nvSpPr>
          <p:cNvPr id="307" name="TextBox 307"/>
          <p:cNvSpPr txBox="1"/>
          <p:nvPr/>
        </p:nvSpPr>
        <p:spPr>
          <a:xfrm>
            <a:off x="8928000" y="2322000"/>
            <a:ext cx="2232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1 −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γ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050" i="1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1 = (1 −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γ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μ</a:t>
            </a:r>
            <a:r>
              <a:rPr lang="zh-CN" sz="10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0</a:t>
            </a:r>
            <a:endParaRPr lang="zh-CN" sz="1150"/>
          </a:p>
        </p:txBody>
      </p:sp>
      <p:sp>
        <p:nvSpPr>
          <p:cNvPr id="308" name="TextBox 308"/>
          <p:cNvSpPr txBox="1"/>
          <p:nvPr/>
        </p:nvSpPr>
        <p:spPr>
          <a:xfrm>
            <a:off x="5112000" y="2646000"/>
            <a:ext cx="77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μ̂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0</a:t>
            </a:r>
            <a:endParaRPr lang="zh-CN" sz="1150"/>
          </a:p>
        </p:txBody>
      </p:sp>
      <p:sp>
        <p:nvSpPr>
          <p:cNvPr id="361" name="Rectangle 360"/>
          <p:cNvSpPr/>
          <p:nvPr/>
        </p:nvSpPr>
        <p:spPr>
          <a:xfrm>
            <a:off x="612000" y="2844000"/>
            <a:ext cx="14040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9"/>
          <p:cNvSpPr txBox="1"/>
          <p:nvPr/>
        </p:nvSpPr>
        <p:spPr>
          <a:xfrm>
            <a:off x="612000" y="2844000"/>
            <a:ext cx="1404000" cy="360000"/>
          </a:xfrm>
          <a:prstGeom prst="rect">
            <a:avLst/>
          </a:prstGeom>
          <a:noFill/>
          <a:ln>
            <a:noFill/>
          </a:ln>
        </p:spPr>
        <p:txBody>
          <a:bodyPr wrap="none" anchor="t" lIns="18000" tIns="0" rIns="1800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1000" i="0">
                <a:solidFill>
                  <a:srgbClr val="41484F"/>
                </a:solidFill>
                <a:latin typeface="DejaVu Sans"/>
              </a:rPr>
              <a:t>transitions, rewards,</a:t>
            </a:r>
            <a:endParaRPr lang="zh-CN" sz="1150"/>
          </a:p>
          <a:p>
            <a:pPr algn="l">
              <a:lnSpc>
                <a:spcPct val="90000"/>
              </a:lnSpc>
            </a:pPr>
            <a:r>
              <a:rPr sz="1000" i="1">
                <a:solidFill>
                  <a:srgbClr val="41484F"/>
                </a:solidFill>
                <a:latin typeface="DejaVu Sans"/>
              </a:rPr>
              <a:t>K</a:t>
            </a:r>
            <a:r>
              <a:rPr sz="1000" i="0">
                <a:solidFill>
                  <a:srgbClr val="41484F"/>
                </a:solidFill>
                <a:latin typeface="DejaVu Sans"/>
              </a:rPr>
              <a:t> costs</a:t>
            </a:r>
          </a:p>
        </p:txBody>
      </p:sp>
      <p:sp>
        <p:nvSpPr>
          <p:cNvPr id="311" name="TextBox 311"/>
          <p:cNvSpPr txBox="1"/>
          <p:nvPr/>
        </p:nvSpPr>
        <p:spPr>
          <a:xfrm>
            <a:off x="3204000" y="3438000"/>
            <a:ext cx="558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</a:t>
            </a:r>
            <a:endParaRPr lang="zh-CN" sz="1150"/>
          </a:p>
        </p:txBody>
      </p:sp>
      <p:sp>
        <p:nvSpPr>
          <p:cNvPr id="312" name="TextBox 312"/>
          <p:cNvSpPr txBox="1"/>
          <p:nvPr/>
        </p:nvSpPr>
        <p:spPr>
          <a:xfrm>
            <a:off x="6570000" y="2898000"/>
            <a:ext cx="558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gates</a:t>
            </a:r>
            <a:endParaRPr lang="zh-CN" sz="1150"/>
          </a:p>
        </p:txBody>
      </p:sp>
      <p:sp>
        <p:nvSpPr>
          <p:cNvPr id="313" name="TextBox 313"/>
          <p:cNvSpPr txBox="1"/>
          <p:nvPr/>
        </p:nvSpPr>
        <p:spPr>
          <a:xfrm>
            <a:off x="8946000" y="3060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∗</a:t>
            </a:r>
            <a:endParaRPr lang="zh-CN" sz="1150"/>
          </a:p>
        </p:txBody>
      </p:sp>
      <p:sp>
        <p:nvSpPr>
          <p:cNvPr id="314" name="TextBox 314"/>
          <p:cNvSpPr txBox="1"/>
          <p:nvPr/>
        </p:nvSpPr>
        <p:spPr>
          <a:xfrm>
            <a:off x="11394000" y="1458000"/>
            <a:ext cx="432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∗</a:t>
            </a:r>
            <a:endParaRPr lang="zh-CN" sz="1150"/>
          </a:p>
        </p:txBody>
      </p:sp>
      <p:sp>
        <p:nvSpPr>
          <p:cNvPr id="315" name="TextBox 315"/>
          <p:cNvSpPr txBox="1"/>
          <p:nvPr/>
        </p:nvSpPr>
        <p:spPr>
          <a:xfrm>
            <a:off x="360000" y="4158000"/>
            <a:ext cx="396000" cy="39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</a:t>
            </a:r>
            <a:r>
              <a:rPr lang="zh-CN" sz="1150" i="1" baseline="-24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θ</a:t>
            </a:r>
            <a:endParaRPr lang="zh-CN" sz="1150"/>
          </a:p>
        </p:txBody>
      </p:sp>
      <p:sp>
        <p:nvSpPr>
          <p:cNvPr id="316" name="TextBox 316"/>
          <p:cNvSpPr txBox="1"/>
          <p:nvPr/>
        </p:nvSpPr>
        <p:spPr>
          <a:xfrm>
            <a:off x="1008000" y="4212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0</a:t>
            </a:r>
            <a:endParaRPr lang="zh-CN" sz="1150"/>
          </a:p>
        </p:txBody>
      </p:sp>
      <p:sp>
        <p:nvSpPr>
          <p:cNvPr id="317" name="TextBox 317"/>
          <p:cNvSpPr txBox="1"/>
          <p:nvPr/>
        </p:nvSpPr>
        <p:spPr>
          <a:xfrm>
            <a:off x="1566000" y="4212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1</a:t>
            </a:r>
            <a:endParaRPr lang="zh-CN" sz="1150"/>
          </a:p>
        </p:txBody>
      </p:sp>
      <p:sp>
        <p:nvSpPr>
          <p:cNvPr id="318" name="TextBox 318"/>
          <p:cNvSpPr txBox="1"/>
          <p:nvPr/>
        </p:nvSpPr>
        <p:spPr>
          <a:xfrm>
            <a:off x="2124000" y="4212000"/>
            <a:ext cx="270000" cy="27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</a:t>
            </a:r>
            <a:endParaRPr lang="zh-CN" sz="1150"/>
          </a:p>
        </p:txBody>
      </p:sp>
      <p:sp>
        <p:nvSpPr>
          <p:cNvPr id="319" name="TextBox 319"/>
          <p:cNvSpPr txBox="1"/>
          <p:nvPr/>
        </p:nvSpPr>
        <p:spPr>
          <a:xfrm>
            <a:off x="1836000" y="4122000"/>
            <a:ext cx="270000" cy="12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900"/>
          </a:p>
        </p:txBody>
      </p:sp>
      <p:sp>
        <p:nvSpPr>
          <p:cNvPr id="320" name="TextBox 320"/>
          <p:cNvSpPr txBox="1"/>
          <p:nvPr/>
        </p:nvSpPr>
        <p:spPr>
          <a:xfrm>
            <a:off x="360000" y="4644000"/>
            <a:ext cx="396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costs</a:t>
            </a:r>
            <a:endParaRPr lang="zh-CN" sz="1150"/>
          </a:p>
        </p:txBody>
      </p:sp>
      <p:sp>
        <p:nvSpPr>
          <p:cNvPr id="321" name="TextBox 321"/>
          <p:cNvSpPr txBox="1"/>
          <p:nvPr/>
        </p:nvSpPr>
        <p:spPr>
          <a:xfrm>
            <a:off x="414000" y="4824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1</a:t>
            </a:r>
            <a:endParaRPr lang="zh-CN" sz="1150"/>
          </a:p>
        </p:txBody>
      </p:sp>
      <p:sp>
        <p:nvSpPr>
          <p:cNvPr id="322" name="TextBox 322"/>
          <p:cNvSpPr txBox="1"/>
          <p:nvPr/>
        </p:nvSpPr>
        <p:spPr>
          <a:xfrm>
            <a:off x="414000" y="498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1150"/>
          </a:p>
        </p:txBody>
      </p:sp>
      <p:sp>
        <p:nvSpPr>
          <p:cNvPr id="323" name="TextBox 323"/>
          <p:cNvSpPr txBox="1"/>
          <p:nvPr/>
        </p:nvSpPr>
        <p:spPr>
          <a:xfrm>
            <a:off x="414000" y="516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324" name="TextBox 324"/>
          <p:cNvSpPr txBox="1"/>
          <p:nvPr/>
        </p:nvSpPr>
        <p:spPr>
          <a:xfrm>
            <a:off x="1818000" y="4806000"/>
            <a:ext cx="270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900"/>
          </a:p>
        </p:txBody>
      </p:sp>
      <p:sp>
        <p:nvSpPr>
          <p:cNvPr id="325" name="TextBox 325"/>
          <p:cNvSpPr txBox="1"/>
          <p:nvPr/>
        </p:nvSpPr>
        <p:spPr>
          <a:xfrm>
            <a:off x="2988000" y="4230000"/>
            <a:ext cx="396000" cy="23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∗</a:t>
            </a:r>
            <a:endParaRPr lang="zh-CN" sz="1150"/>
          </a:p>
        </p:txBody>
      </p:sp>
      <p:sp>
        <p:nvSpPr>
          <p:cNvPr id="326" name="TextBox 326"/>
          <p:cNvSpPr txBox="1"/>
          <p:nvPr/>
        </p:nvSpPr>
        <p:spPr>
          <a:xfrm>
            <a:off x="2952000" y="4608000"/>
            <a:ext cx="468000" cy="25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</a:t>
            </a:r>
            <a:endParaRPr lang="zh-CN" sz="1150"/>
          </a:p>
        </p:txBody>
      </p:sp>
      <p:sp>
        <p:nvSpPr>
          <p:cNvPr id="327" name="TextBox 327"/>
          <p:cNvSpPr txBox="1"/>
          <p:nvPr/>
        </p:nvSpPr>
        <p:spPr>
          <a:xfrm>
            <a:off x="3636000" y="4482000"/>
            <a:ext cx="378000" cy="25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clip</a:t>
            </a:r>
            <a:endParaRPr lang="zh-CN" sz="1150"/>
          </a:p>
        </p:txBody>
      </p:sp>
      <p:sp>
        <p:nvSpPr>
          <p:cNvPr id="328" name="TextBox 328"/>
          <p:cNvSpPr txBox="1"/>
          <p:nvPr/>
        </p:nvSpPr>
        <p:spPr>
          <a:xfrm>
            <a:off x="4320000" y="4248000"/>
            <a:ext cx="450000" cy="16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w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</a:t>
            </a:r>
            <a:endParaRPr lang="zh-CN" sz="1150"/>
          </a:p>
        </p:txBody>
      </p:sp>
      <p:sp>
        <p:nvSpPr>
          <p:cNvPr id="329" name="TextBox 329"/>
          <p:cNvSpPr txBox="1"/>
          <p:nvPr/>
        </p:nvSpPr>
        <p:spPr>
          <a:xfrm>
            <a:off x="4590000" y="4464000"/>
            <a:ext cx="180000" cy="12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900"/>
          </a:p>
        </p:txBody>
      </p:sp>
      <p:sp>
        <p:nvSpPr>
          <p:cNvPr id="330" name="TextBox 330"/>
          <p:cNvSpPr txBox="1"/>
          <p:nvPr/>
        </p:nvSpPr>
        <p:spPr>
          <a:xfrm>
            <a:off x="4590000" y="4608000"/>
            <a:ext cx="180000" cy="12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900"/>
          </a:p>
        </p:txBody>
      </p:sp>
      <p:sp>
        <p:nvSpPr>
          <p:cNvPr id="331" name="TextBox 331"/>
          <p:cNvSpPr txBox="1"/>
          <p:nvPr/>
        </p:nvSpPr>
        <p:spPr>
          <a:xfrm>
            <a:off x="4590000" y="4752000"/>
            <a:ext cx="180000" cy="12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…</a:t>
            </a:r>
            <a:endParaRPr lang="zh-CN" sz="900"/>
          </a:p>
        </p:txBody>
      </p:sp>
      <p:sp>
        <p:nvSpPr>
          <p:cNvPr id="332" name="TextBox 332"/>
          <p:cNvSpPr txBox="1"/>
          <p:nvPr/>
        </p:nvSpPr>
        <p:spPr>
          <a:xfrm>
            <a:off x="5076000" y="4248000"/>
            <a:ext cx="918000" cy="16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PPO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clipped</a:t>
            </a:r>
            <a:endParaRPr lang="zh-CN" sz="1150"/>
          </a:p>
        </p:txBody>
      </p:sp>
      <p:sp>
        <p:nvSpPr>
          <p:cNvPr id="333" name="TextBox 333"/>
          <p:cNvSpPr txBox="1"/>
          <p:nvPr/>
        </p:nvSpPr>
        <p:spPr>
          <a:xfrm>
            <a:off x="5076000" y="4410000"/>
            <a:ext cx="918000" cy="14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surrogate</a:t>
            </a:r>
            <a:endParaRPr lang="zh-CN" sz="1150"/>
          </a:p>
        </p:txBody>
      </p:sp>
      <p:sp>
        <p:nvSpPr>
          <p:cNvPr id="334" name="TextBox 334"/>
          <p:cNvSpPr txBox="1"/>
          <p:nvPr/>
        </p:nvSpPr>
        <p:spPr>
          <a:xfrm>
            <a:off x="6174000" y="4392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</a:t>
            </a:r>
            <a:r>
              <a:rPr lang="zh-CN" sz="1150" i="1" baseline="-24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θ</a:t>
            </a:r>
            <a:r>
              <a:rPr lang="zh-CN" sz="1150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+</a:t>
            </a:r>
            <a:endParaRPr lang="zh-CN" sz="1150"/>
          </a:p>
        </p:txBody>
      </p:sp>
      <p:sp>
        <p:nvSpPr>
          <p:cNvPr id="335" name="TextBox 335"/>
          <p:cNvSpPr txBox="1"/>
          <p:nvPr/>
        </p:nvSpPr>
        <p:spPr>
          <a:xfrm>
            <a:off x="3042000" y="5256000"/>
            <a:ext cx="284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w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= 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clip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∗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F̂</a:t>
            </a:r>
            <a:r>
              <a:rPr lang="zh-CN" sz="1150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336" name="TextBox 336"/>
          <p:cNvSpPr txBox="1"/>
          <p:nvPr/>
        </p:nvSpPr>
        <p:spPr>
          <a:xfrm>
            <a:off x="7380000" y="4140000"/>
            <a:ext cx="504000" cy="504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</a:t>
            </a:r>
            <a:r>
              <a:rPr lang="zh-CN" sz="1150" i="1" baseline="-24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θ</a:t>
            </a:r>
            <a:r>
              <a:rPr lang="zh-CN" sz="1150" baseline="3200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+</a:t>
            </a:r>
            <a:endParaRPr lang="zh-CN" sz="1150"/>
          </a:p>
        </p:txBody>
      </p:sp>
      <p:sp>
        <p:nvSpPr>
          <p:cNvPr id="337" name="TextBox 337"/>
          <p:cNvSpPr txBox="1"/>
          <p:nvPr/>
        </p:nvSpPr>
        <p:spPr>
          <a:xfrm>
            <a:off x="7254000" y="4860000"/>
            <a:ext cx="756000" cy="16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deployed</a:t>
            </a:r>
            <a:endParaRPr lang="zh-CN" sz="1150"/>
          </a:p>
        </p:txBody>
      </p:sp>
      <p:sp>
        <p:nvSpPr>
          <p:cNvPr id="338" name="TextBox 338"/>
          <p:cNvSpPr txBox="1"/>
          <p:nvPr/>
        </p:nvSpPr>
        <p:spPr>
          <a:xfrm>
            <a:off x="7254000" y="5040000"/>
            <a:ext cx="756000" cy="16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policy</a:t>
            </a:r>
            <a:endParaRPr lang="zh-CN" sz="1150"/>
          </a:p>
        </p:txBody>
      </p:sp>
      <p:sp>
        <p:nvSpPr>
          <p:cNvPr id="339" name="TextBox 339"/>
          <p:cNvSpPr txBox="1"/>
          <p:nvPr/>
        </p:nvSpPr>
        <p:spPr>
          <a:xfrm>
            <a:off x="8154000" y="4194000"/>
            <a:ext cx="342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π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θ</a:t>
            </a:r>
            <a:r>
              <a:rPr lang="zh-CN" sz="1150" baseline="32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+</a:t>
            </a:r>
            <a:endParaRPr lang="zh-CN" sz="1150"/>
          </a:p>
        </p:txBody>
      </p:sp>
      <p:sp>
        <p:nvSpPr>
          <p:cNvPr id="340" name="TextBox 340"/>
          <p:cNvSpPr txBox="1"/>
          <p:nvPr/>
        </p:nvSpPr>
        <p:spPr>
          <a:xfrm>
            <a:off x="8082000" y="4726800"/>
            <a:ext cx="468000" cy="25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F̂</a:t>
            </a:r>
            <a:r>
              <a:rPr lang="zh-CN" sz="140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θ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J</a:t>
            </a:r>
            <a:r>
              <a:rPr lang="zh-CN" sz="140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lang="zh-CN" sz="1400" i="1" baseline="-4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900"/>
          </a:p>
        </p:txBody>
      </p:sp>
      <p:sp>
        <p:nvSpPr>
          <p:cNvPr id="341" name="TextBox 341"/>
          <p:cNvSpPr txBox="1"/>
          <p:nvPr/>
        </p:nvSpPr>
        <p:spPr>
          <a:xfrm>
            <a:off x="8946000" y="4248000"/>
            <a:ext cx="1116000" cy="21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budget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342" name="TextBox 342"/>
          <p:cNvSpPr txBox="1"/>
          <p:nvPr/>
        </p:nvSpPr>
        <p:spPr>
          <a:xfrm>
            <a:off x="8946000" y="4572000"/>
            <a:ext cx="1116000" cy="21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transfer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Δ̂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</a:t>
            </a:r>
            <a:endParaRPr lang="zh-CN" sz="1150"/>
          </a:p>
        </p:txBody>
      </p:sp>
      <p:sp>
        <p:nvSpPr>
          <p:cNvPr id="343" name="TextBox 343"/>
          <p:cNvSpPr txBox="1"/>
          <p:nvPr/>
        </p:nvSpPr>
        <p:spPr>
          <a:xfrm>
            <a:off x="8946000" y="4914000"/>
            <a:ext cx="1116000" cy="216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sampling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(</a:t>
            </a:r>
            <a:r>
              <a:rPr lang="zh-CN" sz="115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zh-CN" sz="115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δ</a:t>
            </a:r>
            <a:r>
              <a:rPr lang="zh-CN" sz="115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</a:t>
            </a:r>
            <a:endParaRPr lang="zh-CN" sz="1150"/>
          </a:p>
        </p:txBody>
      </p:sp>
      <p:sp>
        <p:nvSpPr>
          <p:cNvPr id="344" name="TextBox 344"/>
          <p:cNvSpPr txBox="1"/>
          <p:nvPr/>
        </p:nvSpPr>
        <p:spPr>
          <a:xfrm>
            <a:off x="10404000" y="4122000"/>
            <a:ext cx="127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J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lang="zh-CN" sz="1150" i="1" baseline="-4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≤ </a:t>
            </a:r>
            <a:r>
              <a:rPr lang="zh-CN" sz="13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lang="zh-CN" sz="115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endParaRPr lang="zh-CN" sz="1150"/>
          </a:p>
        </p:txBody>
      </p:sp>
      <p:sp>
        <p:nvSpPr>
          <p:cNvPr id="345" name="TextBox 345"/>
          <p:cNvSpPr txBox="1"/>
          <p:nvPr/>
        </p:nvSpPr>
        <p:spPr>
          <a:xfrm>
            <a:off x="10278000" y="4518000"/>
            <a:ext cx="1494000" cy="162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gate</a:t>
            </a:r>
            <a:endParaRPr lang="zh-CN" sz="1150"/>
          </a:p>
        </p:txBody>
      </p:sp>
      <p:sp>
        <p:nvSpPr>
          <p:cNvPr id="346" name="TextBox 346"/>
          <p:cNvSpPr txBox="1"/>
          <p:nvPr/>
        </p:nvSpPr>
        <p:spPr>
          <a:xfrm>
            <a:off x="10260000" y="4734000"/>
            <a:ext cx="163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α̂</a:t>
            </a:r>
            <a:r>
              <a:rPr lang="zh-CN" sz="1400" i="1" baseline="-24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&gt; 3 → (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lang="zh-CN" sz="1200" i="1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)-</a:t>
            </a:r>
            <a:r>
              <a:rPr lang="zh-CN" sz="12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flow</a:t>
            </a:r>
            <a:endParaRPr lang="zh-CN" sz="900"/>
          </a:p>
        </p:txBody>
      </p:sp>
      <p:sp>
        <p:nvSpPr>
          <p:cNvPr id="347" name="TextBox 347"/>
          <p:cNvSpPr txBox="1"/>
          <p:nvPr/>
        </p:nvSpPr>
        <p:spPr>
          <a:xfrm>
            <a:off x="10260000" y="5040000"/>
            <a:ext cx="163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persistent</a:t>
            </a:r>
            <a:r>
              <a:rPr lang="zh-CN" sz="1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gap</a:t>
            </a:r>
            <a:r>
              <a:rPr lang="zh-CN" sz="1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lang="zh-CN" sz="10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recovery</a:t>
            </a:r>
            <a:endParaRPr lang="zh-CN" sz="900"/>
          </a:p>
        </p:txBody>
      </p:sp>
      <p:sp>
        <p:nvSpPr>
          <p:cNvPr id="348" name="TextBox 348"/>
          <p:cNvSpPr txBox="1"/>
          <p:nvPr/>
        </p:nvSpPr>
        <p:spPr>
          <a:xfrm>
            <a:off x="4320000" y="5688000"/>
            <a:ext cx="1044000" cy="180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next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zh-CN" sz="1300">
                <a:solidFill>
                  <a:srgbClr val="41484F"/>
                </a:solidFill>
                <a:latin typeface="DejaVu Sans"/>
                <a:ea typeface="DejaVu Sans"/>
                <a:cs typeface="DejaVu Sans"/>
              </a:rPr>
              <a:t>rollout</a:t>
            </a:r>
            <a:endParaRPr lang="zh-CN" sz="1150"/>
          </a:p>
        </p:txBody>
      </p:sp>
      <p:sp>
        <p:nvSpPr>
          <p:cNvPr id="354" name="TextBox 354"/>
          <p:cNvSpPr txBox="1"/>
          <p:nvPr/>
        </p:nvSpPr>
        <p:spPr>
          <a:xfrm>
            <a:off x="342000" y="828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  <a:endParaRPr lang="zh-CN" sz="1150"/>
          </a:p>
        </p:txBody>
      </p:sp>
      <p:sp>
        <p:nvSpPr>
          <p:cNvPr id="355" name="TextBox 355"/>
          <p:cNvSpPr txBox="1"/>
          <p:nvPr/>
        </p:nvSpPr>
        <p:spPr>
          <a:xfrm>
            <a:off x="3006000" y="828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  <a:endParaRPr lang="zh-CN" sz="1150"/>
          </a:p>
        </p:txBody>
      </p:sp>
      <p:sp>
        <p:nvSpPr>
          <p:cNvPr id="356" name="TextBox 356"/>
          <p:cNvSpPr txBox="1"/>
          <p:nvPr/>
        </p:nvSpPr>
        <p:spPr>
          <a:xfrm>
            <a:off x="5814000" y="828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  <a:endParaRPr lang="zh-CN" sz="1150"/>
          </a:p>
        </p:txBody>
      </p:sp>
      <p:sp>
        <p:nvSpPr>
          <p:cNvPr id="357" name="TextBox 357"/>
          <p:cNvSpPr txBox="1"/>
          <p:nvPr/>
        </p:nvSpPr>
        <p:spPr>
          <a:xfrm>
            <a:off x="8046000" y="828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  <a:endParaRPr lang="zh-CN" sz="1150"/>
          </a:p>
        </p:txBody>
      </p:sp>
      <p:sp>
        <p:nvSpPr>
          <p:cNvPr id="358" name="TextBox 358"/>
          <p:cNvSpPr txBox="1"/>
          <p:nvPr/>
        </p:nvSpPr>
        <p:spPr>
          <a:xfrm>
            <a:off x="342000" y="3780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  <a:endParaRPr lang="zh-CN" sz="1150"/>
          </a:p>
        </p:txBody>
      </p:sp>
      <p:sp>
        <p:nvSpPr>
          <p:cNvPr id="359" name="TextBox 359"/>
          <p:cNvSpPr txBox="1"/>
          <p:nvPr/>
        </p:nvSpPr>
        <p:spPr>
          <a:xfrm>
            <a:off x="2916000" y="3780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  <a:endParaRPr lang="zh-CN" sz="1150"/>
          </a:p>
        </p:txBody>
      </p:sp>
      <p:sp>
        <p:nvSpPr>
          <p:cNvPr id="360" name="TextBox 360"/>
          <p:cNvSpPr txBox="1"/>
          <p:nvPr/>
        </p:nvSpPr>
        <p:spPr>
          <a:xfrm>
            <a:off x="8568000" y="3780000"/>
            <a:ext cx="198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tIns="0" rIns="1800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  <a:endParaRPr lang="zh-CN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