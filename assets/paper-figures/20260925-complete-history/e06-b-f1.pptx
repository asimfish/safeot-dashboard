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9259550" cy="741045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4.svg"/><Relationship Id="rId6" Type="http://schemas.openxmlformats.org/officeDocument/2006/relationships/image" Target="../media/image5.svg"/><Relationship Id="rId7" Type="http://schemas.openxmlformats.org/officeDocument/2006/relationships/image" Target="../media/image6.svg"/><Relationship Id="rId8" Type="http://schemas.openxmlformats.org/officeDocument/2006/relationships/image" Target="../media/image7.svg"/><Relationship Id="rId9" Type="http://schemas.openxmlformats.org/officeDocument/2006/relationships/image" Target="../media/image8.svg"/><Relationship Id="rId10" Type="http://schemas.openxmlformats.org/officeDocument/2006/relationships/image" Target="../media/image9.svg"/><Relationship Id="rId11" Type="http://schemas.openxmlformats.org/officeDocument/2006/relationships/image" Target="../media/image10.svg"/><Relationship Id="rId12" Type="http://schemas.openxmlformats.org/officeDocument/2006/relationships/image" Target="../media/image11.svg"/><Relationship Id="rId13" Type="http://schemas.openxmlformats.org/officeDocument/2006/relationships/image" Target="../media/image12.svg"/><Relationship Id="rId14" Type="http://schemas.openxmlformats.org/officeDocument/2006/relationships/image" Target="../media/image13.svg"/><Relationship Id="rId15" Type="http://schemas.openxmlformats.org/officeDocument/2006/relationships/image" Target="../media/image14.svg"/><Relationship Id="rId16" Type="http://schemas.openxmlformats.org/officeDocument/2006/relationships/image" Target="../media/image15.svg"/><Relationship Id="rId17" Type="http://schemas.openxmlformats.org/officeDocument/2006/relationships/image" Target="../media/image16.svg"/><Relationship Id="rId18" Type="http://schemas.openxmlformats.org/officeDocument/2006/relationships/image" Target="../media/image17.svg"/><Relationship Id="rId19" Type="http://schemas.openxmlformats.org/officeDocument/2006/relationships/image" Target="../media/image18.svg"/><Relationship Id="rId20" Type="http://schemas.openxmlformats.org/officeDocument/2006/relationships/image" Target="../media/image19.svg"/><Relationship Id="rId21" Type="http://schemas.openxmlformats.org/officeDocument/2006/relationships/image" Target="../media/image20.svg"/><Relationship Id="rId22" Type="http://schemas.openxmlformats.org/officeDocument/2006/relationships/image" Target="../media/image21.svg"/><Relationship Id="rId23" Type="http://schemas.openxmlformats.org/officeDocument/2006/relationships/image" Target="../media/image22.svg"/><Relationship Id="rId2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9259550" cy="7410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152400" y="1162050"/>
            <a:ext cx="3438525" cy="3867150"/>
          </a:xfrm>
          <a:prstGeom prst="roundRect">
            <a:avLst>
              <a:gd name="adj" fmla="val 2770"/>
            </a:avLst>
          </a:prstGeom>
          <a:solidFill>
            <a:srgbClr val="FFFFFF"/>
          </a:solidFill>
          <a:ln w="1270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15678150" y="1162050"/>
            <a:ext cx="3438525" cy="3867150"/>
          </a:xfrm>
          <a:prstGeom prst="roundRect">
            <a:avLst>
              <a:gd name="adj" fmla="val 2770"/>
            </a:avLst>
          </a:prstGeom>
          <a:solidFill>
            <a:srgbClr val="FFFFFF"/>
          </a:solidFill>
          <a:ln w="1270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3743325" y="1162050"/>
            <a:ext cx="11782425" cy="3867150"/>
          </a:xfrm>
          <a:prstGeom prst="roundRect">
            <a:avLst>
              <a:gd name="adj" fmla="val 2463"/>
            </a:avLst>
          </a:prstGeom>
          <a:solidFill>
            <a:srgbClr val="FFFFFF"/>
          </a:solidFill>
          <a:ln w="1270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8039100" y="942975"/>
            <a:ext cx="3228975" cy="485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1428750" y="2362200"/>
            <a:ext cx="838200" cy="514350"/>
          </a:xfrm>
          <a:prstGeom prst="roundRect">
            <a:avLst>
              <a:gd name="adj" fmla="val 18519"/>
            </a:avLst>
          </a:pr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733425" y="3724275"/>
            <a:ext cx="266700" cy="438150"/>
          </a:xfrm>
          <a:prstGeom prst="rect">
            <a:avLst/>
          </a:pr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1352550" y="3819525"/>
            <a:ext cx="266700" cy="342900"/>
          </a:xfrm>
          <a:prstGeom prst="rect">
            <a:avLst/>
          </a:pr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1990725" y="3409950"/>
            <a:ext cx="266700" cy="752475"/>
          </a:xfrm>
          <a:prstGeom prst="rect">
            <a:avLst/>
          </a:prstGeom>
          <a:solidFill>
            <a:srgbClr val="D58B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2628900" y="3800475"/>
            <a:ext cx="266700" cy="361950"/>
          </a:xfrm>
          <a:prstGeom prst="rect">
            <a:avLst/>
          </a:pr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3838575" y="1724025"/>
            <a:ext cx="1143000" cy="2743200"/>
          </a:xfrm>
          <a:prstGeom prst="roundRect">
            <a:avLst>
              <a:gd name="adj" fmla="val 8333"/>
            </a:avLst>
          </a:prstGeom>
          <a:solidFill>
            <a:srgbClr val="EAF4F4"/>
          </a:solidFill>
          <a:ln w="12700">
            <a:solidFill>
              <a:srgbClr val="81B7BA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4000500" y="2238375"/>
            <a:ext cx="828675" cy="438150"/>
          </a:xfrm>
          <a:prstGeom prst="roundRect">
            <a:avLst>
              <a:gd name="adj" fmla="val 21739"/>
            </a:avLst>
          </a:prstGeom>
          <a:solidFill>
            <a:srgbClr val="C3DED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4000500" y="2819400"/>
            <a:ext cx="828675" cy="438150"/>
          </a:xfrm>
          <a:prstGeom prst="roundRect">
            <a:avLst>
              <a:gd name="adj" fmla="val 21739"/>
            </a:avLst>
          </a:prstGeom>
          <a:solidFill>
            <a:srgbClr val="C3DED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4000500" y="3790950"/>
            <a:ext cx="828675" cy="438150"/>
          </a:xfrm>
          <a:prstGeom prst="roundRect">
            <a:avLst>
              <a:gd name="adj" fmla="val 21739"/>
            </a:avLst>
          </a:prstGeom>
          <a:solidFill>
            <a:srgbClr val="C3DED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6048375" y="1724025"/>
            <a:ext cx="942975" cy="2743200"/>
          </a:xfrm>
          <a:prstGeom prst="roundRect">
            <a:avLst>
              <a:gd name="adj" fmla="val 10101"/>
            </a:avLst>
          </a:prstGeom>
          <a:solidFill>
            <a:srgbClr val="EAF4F4"/>
          </a:solidFill>
          <a:ln w="12700">
            <a:solidFill>
              <a:srgbClr val="81B7BA"/>
            </a:solidFill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6191250" y="2190750"/>
            <a:ext cx="666750" cy="457200"/>
          </a:xfrm>
          <a:prstGeom prst="roundRect">
            <a:avLst>
              <a:gd name="adj" fmla="val 20833"/>
            </a:avLst>
          </a:pr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6191250" y="2771775"/>
            <a:ext cx="666750" cy="457200"/>
          </a:xfrm>
          <a:prstGeom prst="roundRect">
            <a:avLst>
              <a:gd name="adj" fmla="val 20833"/>
            </a:avLst>
          </a:pr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6191250" y="3829050"/>
            <a:ext cx="666750" cy="457200"/>
          </a:xfrm>
          <a:prstGeom prst="roundRect">
            <a:avLst>
              <a:gd name="adj" fmla="val 20833"/>
            </a:avLst>
          </a:pr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7629525" y="2857500"/>
            <a:ext cx="1200150" cy="733425"/>
          </a:xfrm>
          <a:prstGeom prst="roundRect">
            <a:avLst>
              <a:gd name="adj" fmla="val 12987"/>
            </a:avLst>
          </a:prstGeom>
          <a:solidFill>
            <a:srgbClr val="F5F7F9"/>
          </a:solidFill>
          <a:ln w="1270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9496425" y="2905125"/>
            <a:ext cx="600075" cy="657225"/>
          </a:xfrm>
          <a:prstGeom prst="roundRect">
            <a:avLst>
              <a:gd name="adj" fmla="val 15873"/>
            </a:avLst>
          </a:pr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10258425" y="1562100"/>
            <a:ext cx="2514600" cy="3086100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11210925" y="3705225"/>
            <a:ext cx="476250" cy="323850"/>
          </a:xfrm>
          <a:prstGeom prst="roundRect">
            <a:avLst>
              <a:gd name="adj" fmla="val 29412"/>
            </a:avLst>
          </a:prstGeom>
          <a:solidFill>
            <a:srgbClr val="C3DEDF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oundrect 24"/>
          <p:cNvSpPr/>
          <p:nvPr/>
        </p:nvSpPr>
        <p:spPr>
          <a:xfrm>
            <a:off x="13049250" y="2876550"/>
            <a:ext cx="762000" cy="685800"/>
          </a:xfrm>
          <a:prstGeom prst="roundRect">
            <a:avLst>
              <a:gd name="adj" fmla="val 13889"/>
            </a:avLst>
          </a:pr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oundrect 25"/>
          <p:cNvSpPr/>
          <p:nvPr/>
        </p:nvSpPr>
        <p:spPr>
          <a:xfrm>
            <a:off x="14116050" y="2876550"/>
            <a:ext cx="1323975" cy="685800"/>
          </a:xfrm>
          <a:prstGeom prst="roundRect">
            <a:avLst>
              <a:gd name="adj" fmla="val 13889"/>
            </a:avLst>
          </a:prstGeom>
          <a:solidFill>
            <a:srgbClr val="F5F7F9"/>
          </a:solidFill>
          <a:ln w="1270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1847850" y="2876550"/>
            <a:ext cx="0" cy="15240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895350" y="3028950"/>
            <a:ext cx="1876425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895350" y="3028950"/>
            <a:ext cx="0" cy="309086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29" name="Freeform 29"/>
          <p:cNvSpPr/>
          <p:nvPr/>
        </p:nvSpPr>
        <p:spPr>
          <a:xfrm>
            <a:off x="859155" y="3314700"/>
            <a:ext cx="72390" cy="666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1485900" y="3028950"/>
            <a:ext cx="0" cy="309086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31" name="Freeform 31"/>
          <p:cNvSpPr/>
          <p:nvPr/>
        </p:nvSpPr>
        <p:spPr>
          <a:xfrm>
            <a:off x="1449705" y="3314700"/>
            <a:ext cx="72390" cy="666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2124075" y="3028950"/>
            <a:ext cx="0" cy="309086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33" name="Freeform 33"/>
          <p:cNvSpPr/>
          <p:nvPr/>
        </p:nvSpPr>
        <p:spPr>
          <a:xfrm>
            <a:off x="2087880" y="3314700"/>
            <a:ext cx="72390" cy="666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2771775" y="3028950"/>
            <a:ext cx="0" cy="309086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35" name="Freeform 35"/>
          <p:cNvSpPr/>
          <p:nvPr/>
        </p:nvSpPr>
        <p:spPr>
          <a:xfrm>
            <a:off x="2735580" y="3314700"/>
            <a:ext cx="72390" cy="666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523875" y="3638550"/>
            <a:ext cx="2257425" cy="0"/>
          </a:xfrm>
          <a:prstGeom prst="line">
            <a:avLst/>
          </a:prstGeom>
          <a:noFill/>
          <a:ln w="15240">
            <a:solidFill>
              <a:srgbClr val="D58B00"/>
            </a:solidFill>
            <a:prstDash val="dash"/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15925800" y="2990850"/>
            <a:ext cx="2628900" cy="0"/>
          </a:xfrm>
          <a:prstGeom prst="line">
            <a:avLst/>
          </a:prstGeom>
          <a:noFill/>
          <a:ln w="15240">
            <a:solidFill>
              <a:srgbClr val="D58B00"/>
            </a:solidFill>
            <a:prstDash val="dash"/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15925800" y="3409950"/>
            <a:ext cx="2628900" cy="0"/>
          </a:xfrm>
          <a:prstGeom prst="line">
            <a:avLst/>
          </a:prstGeom>
          <a:noFill/>
          <a:ln w="15240">
            <a:solidFill>
              <a:srgbClr val="D58B00"/>
            </a:solidFill>
            <a:prstDash val="dash"/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15925800" y="4000500"/>
            <a:ext cx="2628900" cy="0"/>
          </a:xfrm>
          <a:prstGeom prst="line">
            <a:avLst/>
          </a:prstGeom>
          <a:noFill/>
          <a:ln w="15240">
            <a:solidFill>
              <a:srgbClr val="D58B00"/>
            </a:solidFill>
            <a:prstDash val="dash"/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4981575" y="3238500"/>
            <a:ext cx="985361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41" name="Freeform 41"/>
          <p:cNvSpPr/>
          <p:nvPr/>
        </p:nvSpPr>
        <p:spPr>
          <a:xfrm>
            <a:off x="5943600" y="3202305"/>
            <a:ext cx="66675" cy="7239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6991350" y="3238500"/>
            <a:ext cx="566261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43" name="Freeform 43"/>
          <p:cNvSpPr/>
          <p:nvPr/>
        </p:nvSpPr>
        <p:spPr>
          <a:xfrm>
            <a:off x="7534275" y="3202305"/>
            <a:ext cx="66675" cy="7239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>
            <a:off x="8829675" y="3238500"/>
            <a:ext cx="585311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45" name="Freeform 45"/>
          <p:cNvSpPr/>
          <p:nvPr/>
        </p:nvSpPr>
        <p:spPr>
          <a:xfrm>
            <a:off x="9391650" y="3202305"/>
            <a:ext cx="66675" cy="7239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>
            <a:off x="10096500" y="3238500"/>
            <a:ext cx="161925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10439400" y="2419350"/>
            <a:ext cx="2152650" cy="0"/>
          </a:xfrm>
          <a:prstGeom prst="line">
            <a:avLst/>
          </a:prstGeom>
          <a:noFill/>
          <a:ln w="1524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10420350" y="3486150"/>
            <a:ext cx="585311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49" name="Freeform 49"/>
          <p:cNvSpPr/>
          <p:nvPr/>
        </p:nvSpPr>
        <p:spPr>
          <a:xfrm>
            <a:off x="10982325" y="3449955"/>
            <a:ext cx="66675" cy="7239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>
            <a:off x="12325350" y="3429000"/>
            <a:ext cx="0" cy="261461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51" name="Freeform 51"/>
          <p:cNvSpPr/>
          <p:nvPr/>
        </p:nvSpPr>
        <p:spPr>
          <a:xfrm>
            <a:off x="12289155" y="3667125"/>
            <a:ext cx="72390" cy="666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>
            <a:off x="12773025" y="3238500"/>
            <a:ext cx="194786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53" name="Freeform 53"/>
          <p:cNvSpPr/>
          <p:nvPr/>
        </p:nvSpPr>
        <p:spPr>
          <a:xfrm>
            <a:off x="12944475" y="3202305"/>
            <a:ext cx="66675" cy="7239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>
            <a:off x="13811250" y="3238500"/>
            <a:ext cx="223361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55" name="Freeform 55"/>
          <p:cNvSpPr/>
          <p:nvPr/>
        </p:nvSpPr>
        <p:spPr>
          <a:xfrm>
            <a:off x="14011275" y="3202305"/>
            <a:ext cx="66675" cy="7239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Line 56"/>
          <p:cNvSpPr/>
          <p:nvPr/>
        </p:nvSpPr>
        <p:spPr>
          <a:xfrm>
            <a:off x="2276475" y="5553075"/>
            <a:ext cx="14706600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 flipV="1">
            <a:off x="15897225" y="3577209"/>
            <a:ext cx="12287" cy="42291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58" name="Line 58"/>
          <p:cNvSpPr/>
          <p:nvPr/>
        </p:nvSpPr>
        <p:spPr>
          <a:xfrm flipV="1">
            <a:off x="15909512" y="3517963"/>
            <a:ext cx="14859" cy="59246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 flipV="1">
            <a:off x="15924371" y="3445002"/>
            <a:ext cx="17145" cy="72961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60" name="Line 60"/>
          <p:cNvSpPr/>
          <p:nvPr/>
        </p:nvSpPr>
        <p:spPr>
          <a:xfrm flipV="1">
            <a:off x="15941516" y="3361849"/>
            <a:ext cx="19145" cy="83153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 flipV="1">
            <a:off x="15960662" y="3271742"/>
            <a:ext cx="20955" cy="90106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 flipV="1">
            <a:off x="15981616" y="3178112"/>
            <a:ext cx="22384" cy="93631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 flipV="1">
            <a:off x="16004000" y="3084290"/>
            <a:ext cx="23622" cy="93821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64" name="Line 64"/>
          <p:cNvSpPr/>
          <p:nvPr/>
        </p:nvSpPr>
        <p:spPr>
          <a:xfrm flipV="1">
            <a:off x="16027622" y="2993708"/>
            <a:ext cx="24479" cy="90583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65" name="Line 65"/>
          <p:cNvSpPr/>
          <p:nvPr/>
        </p:nvSpPr>
        <p:spPr>
          <a:xfrm flipV="1">
            <a:off x="16052102" y="2909602"/>
            <a:ext cx="25051" cy="84106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66" name="Line 66"/>
          <p:cNvSpPr/>
          <p:nvPr/>
        </p:nvSpPr>
        <p:spPr>
          <a:xfrm flipV="1">
            <a:off x="16077152" y="2835402"/>
            <a:ext cx="25432" cy="74200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67" name="Line 67"/>
          <p:cNvSpPr/>
          <p:nvPr/>
        </p:nvSpPr>
        <p:spPr>
          <a:xfrm flipV="1">
            <a:off x="16102584" y="2774537"/>
            <a:ext cx="25432" cy="60865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68" name="Line 68"/>
          <p:cNvSpPr/>
          <p:nvPr/>
        </p:nvSpPr>
        <p:spPr>
          <a:xfrm flipV="1">
            <a:off x="16128016" y="2730246"/>
            <a:ext cx="25337" cy="44291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69" name="Line 69"/>
          <p:cNvSpPr/>
          <p:nvPr/>
        </p:nvSpPr>
        <p:spPr>
          <a:xfrm flipV="1">
            <a:off x="16153352" y="2705957"/>
            <a:ext cx="24670" cy="24289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70" name="Line 70"/>
          <p:cNvSpPr/>
          <p:nvPr/>
        </p:nvSpPr>
        <p:spPr>
          <a:xfrm flipV="1">
            <a:off x="16178022" y="2705100"/>
            <a:ext cx="24003" cy="857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71" name="Line 71"/>
          <p:cNvSpPr/>
          <p:nvPr/>
        </p:nvSpPr>
        <p:spPr>
          <a:xfrm>
            <a:off x="16202025" y="2705100"/>
            <a:ext cx="23432" cy="26956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>
            <a:off x="16225456" y="2732056"/>
            <a:ext cx="23432" cy="54197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>
            <a:off x="16248888" y="2786253"/>
            <a:ext cx="23432" cy="76867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74" name="Line 74"/>
          <p:cNvSpPr/>
          <p:nvPr/>
        </p:nvSpPr>
        <p:spPr>
          <a:xfrm>
            <a:off x="16272320" y="2863120"/>
            <a:ext cx="23622" cy="95345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>
            <a:off x="16295941" y="2958465"/>
            <a:ext cx="23717" cy="109252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76" name="Line 76"/>
          <p:cNvSpPr/>
          <p:nvPr/>
        </p:nvSpPr>
        <p:spPr>
          <a:xfrm>
            <a:off x="16319659" y="3067717"/>
            <a:ext cx="24098" cy="118872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77" name="Line 77"/>
          <p:cNvSpPr/>
          <p:nvPr/>
        </p:nvSpPr>
        <p:spPr>
          <a:xfrm>
            <a:off x="16343757" y="3186589"/>
            <a:ext cx="24384" cy="123920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78" name="Line 78"/>
          <p:cNvSpPr/>
          <p:nvPr/>
        </p:nvSpPr>
        <p:spPr>
          <a:xfrm>
            <a:off x="16368141" y="3310509"/>
            <a:ext cx="24765" cy="124778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79" name="Line 79"/>
          <p:cNvSpPr/>
          <p:nvPr/>
        </p:nvSpPr>
        <p:spPr>
          <a:xfrm>
            <a:off x="16392906" y="3435286"/>
            <a:ext cx="25337" cy="121063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80" name="Line 80"/>
          <p:cNvSpPr/>
          <p:nvPr/>
        </p:nvSpPr>
        <p:spPr>
          <a:xfrm>
            <a:off x="16418242" y="3556349"/>
            <a:ext cx="25813" cy="113062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81" name="Line 81"/>
          <p:cNvSpPr/>
          <p:nvPr/>
        </p:nvSpPr>
        <p:spPr>
          <a:xfrm>
            <a:off x="16444055" y="3669411"/>
            <a:ext cx="26479" cy="100584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82" name="Line 82"/>
          <p:cNvSpPr/>
          <p:nvPr/>
        </p:nvSpPr>
        <p:spPr>
          <a:xfrm>
            <a:off x="16470535" y="3769995"/>
            <a:ext cx="27146" cy="83725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83" name="Line 83"/>
          <p:cNvSpPr/>
          <p:nvPr/>
        </p:nvSpPr>
        <p:spPr>
          <a:xfrm>
            <a:off x="16497681" y="3853720"/>
            <a:ext cx="28004" cy="62389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84" name="Line 84"/>
          <p:cNvSpPr/>
          <p:nvPr/>
        </p:nvSpPr>
        <p:spPr>
          <a:xfrm>
            <a:off x="16525684" y="3916108"/>
            <a:ext cx="28765" cy="36767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85" name="Line 85"/>
          <p:cNvSpPr/>
          <p:nvPr/>
        </p:nvSpPr>
        <p:spPr>
          <a:xfrm>
            <a:off x="16554450" y="3952875"/>
            <a:ext cx="30194" cy="9811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86" name="Line 86"/>
          <p:cNvSpPr/>
          <p:nvPr/>
        </p:nvSpPr>
        <p:spPr>
          <a:xfrm flipV="1">
            <a:off x="16584644" y="3949636"/>
            <a:ext cx="31813" cy="13049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87" name="Line 87"/>
          <p:cNvSpPr/>
          <p:nvPr/>
        </p:nvSpPr>
        <p:spPr>
          <a:xfrm flipV="1">
            <a:off x="16616458" y="3917442"/>
            <a:ext cx="33147" cy="32195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88" name="Line 88"/>
          <p:cNvSpPr/>
          <p:nvPr/>
        </p:nvSpPr>
        <p:spPr>
          <a:xfrm flipV="1">
            <a:off x="16649605" y="3869531"/>
            <a:ext cx="34290" cy="47911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89" name="Line 89"/>
          <p:cNvSpPr/>
          <p:nvPr/>
        </p:nvSpPr>
        <p:spPr>
          <a:xfrm flipV="1">
            <a:off x="16683895" y="3809809"/>
            <a:ext cx="35052" cy="59722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90" name="Line 90"/>
          <p:cNvSpPr/>
          <p:nvPr/>
        </p:nvSpPr>
        <p:spPr>
          <a:xfrm flipV="1">
            <a:off x="16718947" y="3741706"/>
            <a:ext cx="35528" cy="68104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91" name="Line 91"/>
          <p:cNvSpPr/>
          <p:nvPr/>
        </p:nvSpPr>
        <p:spPr>
          <a:xfrm flipV="1">
            <a:off x="16754475" y="3668935"/>
            <a:ext cx="35719" cy="72771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92" name="Line 92"/>
          <p:cNvSpPr/>
          <p:nvPr/>
        </p:nvSpPr>
        <p:spPr>
          <a:xfrm flipV="1">
            <a:off x="16790194" y="3595116"/>
            <a:ext cx="35624" cy="73819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93" name="Line 93"/>
          <p:cNvSpPr/>
          <p:nvPr/>
        </p:nvSpPr>
        <p:spPr>
          <a:xfrm flipV="1">
            <a:off x="16825817" y="3523869"/>
            <a:ext cx="35243" cy="71247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94" name="Line 94"/>
          <p:cNvSpPr/>
          <p:nvPr/>
        </p:nvSpPr>
        <p:spPr>
          <a:xfrm flipV="1">
            <a:off x="16861060" y="3458813"/>
            <a:ext cx="34576" cy="65056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95" name="Line 95"/>
          <p:cNvSpPr/>
          <p:nvPr/>
        </p:nvSpPr>
        <p:spPr>
          <a:xfrm flipV="1">
            <a:off x="16895636" y="3403664"/>
            <a:ext cx="33528" cy="55150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96" name="Line 96"/>
          <p:cNvSpPr/>
          <p:nvPr/>
        </p:nvSpPr>
        <p:spPr>
          <a:xfrm flipV="1">
            <a:off x="16929164" y="3362039"/>
            <a:ext cx="32290" cy="41624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97" name="Line 97"/>
          <p:cNvSpPr/>
          <p:nvPr/>
        </p:nvSpPr>
        <p:spPr>
          <a:xfrm flipV="1">
            <a:off x="16961453" y="3337560"/>
            <a:ext cx="30766" cy="24479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98" name="Line 98"/>
          <p:cNvSpPr/>
          <p:nvPr/>
        </p:nvSpPr>
        <p:spPr>
          <a:xfrm flipV="1">
            <a:off x="16992219" y="3333750"/>
            <a:ext cx="28956" cy="3810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99" name="Line 99"/>
          <p:cNvSpPr/>
          <p:nvPr/>
        </p:nvSpPr>
        <p:spPr>
          <a:xfrm>
            <a:off x="17021175" y="3333750"/>
            <a:ext cx="26670" cy="20193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00" name="Line 100"/>
          <p:cNvSpPr/>
          <p:nvPr/>
        </p:nvSpPr>
        <p:spPr>
          <a:xfrm>
            <a:off x="17047845" y="3353943"/>
            <a:ext cx="24575" cy="42291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01" name="Line 101"/>
          <p:cNvSpPr/>
          <p:nvPr/>
        </p:nvSpPr>
        <p:spPr>
          <a:xfrm>
            <a:off x="17072420" y="3396234"/>
            <a:ext cx="22765" cy="60388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02" name="Line 102"/>
          <p:cNvSpPr/>
          <p:nvPr/>
        </p:nvSpPr>
        <p:spPr>
          <a:xfrm>
            <a:off x="17095184" y="3456622"/>
            <a:ext cx="21336" cy="74581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03" name="Line 103"/>
          <p:cNvSpPr/>
          <p:nvPr/>
        </p:nvSpPr>
        <p:spPr>
          <a:xfrm>
            <a:off x="17116520" y="3531203"/>
            <a:ext cx="20384" cy="84582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04" name="Line 104"/>
          <p:cNvSpPr/>
          <p:nvPr/>
        </p:nvSpPr>
        <p:spPr>
          <a:xfrm>
            <a:off x="17136904" y="3615785"/>
            <a:ext cx="19621" cy="90678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05" name="Line 105"/>
          <p:cNvSpPr/>
          <p:nvPr/>
        </p:nvSpPr>
        <p:spPr>
          <a:xfrm>
            <a:off x="17156525" y="3706463"/>
            <a:ext cx="19431" cy="92869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06" name="Line 106"/>
          <p:cNvSpPr/>
          <p:nvPr/>
        </p:nvSpPr>
        <p:spPr>
          <a:xfrm>
            <a:off x="17175956" y="3799332"/>
            <a:ext cx="19526" cy="90869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07" name="Line 107"/>
          <p:cNvSpPr/>
          <p:nvPr/>
        </p:nvSpPr>
        <p:spPr>
          <a:xfrm>
            <a:off x="17195482" y="3890201"/>
            <a:ext cx="19907" cy="85058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08" name="Line 108"/>
          <p:cNvSpPr/>
          <p:nvPr/>
        </p:nvSpPr>
        <p:spPr>
          <a:xfrm>
            <a:off x="17215390" y="3975259"/>
            <a:ext cx="20860" cy="75057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09" name="Line 109"/>
          <p:cNvSpPr/>
          <p:nvPr/>
        </p:nvSpPr>
        <p:spPr>
          <a:xfrm>
            <a:off x="17236250" y="4050316"/>
            <a:ext cx="22003" cy="61246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10" name="Line 110"/>
          <p:cNvSpPr/>
          <p:nvPr/>
        </p:nvSpPr>
        <p:spPr>
          <a:xfrm>
            <a:off x="17258252" y="4111561"/>
            <a:ext cx="23717" cy="43339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11" name="Line 111"/>
          <p:cNvSpPr/>
          <p:nvPr/>
        </p:nvSpPr>
        <p:spPr>
          <a:xfrm>
            <a:off x="17281970" y="4154900"/>
            <a:ext cx="25527" cy="21527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12" name="Line 112"/>
          <p:cNvSpPr/>
          <p:nvPr/>
        </p:nvSpPr>
        <p:spPr>
          <a:xfrm flipV="1">
            <a:off x="17307496" y="4171950"/>
            <a:ext cx="28004" cy="4477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13" name="Line 113"/>
          <p:cNvSpPr/>
          <p:nvPr/>
        </p:nvSpPr>
        <p:spPr>
          <a:xfrm flipV="1">
            <a:off x="17335500" y="4136707"/>
            <a:ext cx="30575" cy="35242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14" name="Line 114"/>
          <p:cNvSpPr/>
          <p:nvPr/>
        </p:nvSpPr>
        <p:spPr>
          <a:xfrm flipV="1">
            <a:off x="17366075" y="4071747"/>
            <a:ext cx="32957" cy="64960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15" name="Line 115"/>
          <p:cNvSpPr/>
          <p:nvPr/>
        </p:nvSpPr>
        <p:spPr>
          <a:xfrm flipV="1">
            <a:off x="17399032" y="3982117"/>
            <a:ext cx="34957" cy="89630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16" name="Line 116"/>
          <p:cNvSpPr/>
          <p:nvPr/>
        </p:nvSpPr>
        <p:spPr>
          <a:xfrm flipV="1">
            <a:off x="17433988" y="3872865"/>
            <a:ext cx="36576" cy="109252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17" name="Line 117"/>
          <p:cNvSpPr/>
          <p:nvPr/>
        </p:nvSpPr>
        <p:spPr>
          <a:xfrm flipV="1">
            <a:off x="17470564" y="3749040"/>
            <a:ext cx="37814" cy="123825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18" name="Line 118"/>
          <p:cNvSpPr/>
          <p:nvPr/>
        </p:nvSpPr>
        <p:spPr>
          <a:xfrm flipV="1">
            <a:off x="17508379" y="3615690"/>
            <a:ext cx="38671" cy="133350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19" name="Line 119"/>
          <p:cNvSpPr/>
          <p:nvPr/>
        </p:nvSpPr>
        <p:spPr>
          <a:xfrm flipV="1">
            <a:off x="17547050" y="3477768"/>
            <a:ext cx="39052" cy="137922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20" name="Line 120"/>
          <p:cNvSpPr/>
          <p:nvPr/>
        </p:nvSpPr>
        <p:spPr>
          <a:xfrm flipV="1">
            <a:off x="17586103" y="3340513"/>
            <a:ext cx="39243" cy="137255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21" name="Line 121"/>
          <p:cNvSpPr/>
          <p:nvPr/>
        </p:nvSpPr>
        <p:spPr>
          <a:xfrm flipV="1">
            <a:off x="17625346" y="3208687"/>
            <a:ext cx="38862" cy="131826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22" name="Line 122"/>
          <p:cNvSpPr/>
          <p:nvPr/>
        </p:nvSpPr>
        <p:spPr>
          <a:xfrm flipV="1">
            <a:off x="17664208" y="3087529"/>
            <a:ext cx="38100" cy="121158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23" name="Line 123"/>
          <p:cNvSpPr/>
          <p:nvPr/>
        </p:nvSpPr>
        <p:spPr>
          <a:xfrm flipV="1">
            <a:off x="17702308" y="2982087"/>
            <a:ext cx="37148" cy="105442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24" name="Line 124"/>
          <p:cNvSpPr/>
          <p:nvPr/>
        </p:nvSpPr>
        <p:spPr>
          <a:xfrm flipV="1">
            <a:off x="17739455" y="2897219"/>
            <a:ext cx="35624" cy="84868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25" name="Line 125"/>
          <p:cNvSpPr/>
          <p:nvPr/>
        </p:nvSpPr>
        <p:spPr>
          <a:xfrm flipV="1">
            <a:off x="17775079" y="2838164"/>
            <a:ext cx="33718" cy="59055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26" name="Line 126"/>
          <p:cNvSpPr/>
          <p:nvPr/>
        </p:nvSpPr>
        <p:spPr>
          <a:xfrm flipV="1">
            <a:off x="17808797" y="2809875"/>
            <a:ext cx="31528" cy="28289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27" name="Line 127"/>
          <p:cNvSpPr/>
          <p:nvPr/>
        </p:nvSpPr>
        <p:spPr>
          <a:xfrm>
            <a:off x="17840325" y="2809875"/>
            <a:ext cx="29623" cy="3810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28" name="Line 128"/>
          <p:cNvSpPr/>
          <p:nvPr/>
        </p:nvSpPr>
        <p:spPr>
          <a:xfrm>
            <a:off x="17869948" y="2813685"/>
            <a:ext cx="28480" cy="31052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29" name="Line 129"/>
          <p:cNvSpPr/>
          <p:nvPr/>
        </p:nvSpPr>
        <p:spPr>
          <a:xfrm>
            <a:off x="17898428" y="2844736"/>
            <a:ext cx="27337" cy="54292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30" name="Line 130"/>
          <p:cNvSpPr/>
          <p:nvPr/>
        </p:nvSpPr>
        <p:spPr>
          <a:xfrm>
            <a:off x="17925764" y="2899029"/>
            <a:ext cx="26289" cy="73438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31" name="Line 131"/>
          <p:cNvSpPr/>
          <p:nvPr/>
        </p:nvSpPr>
        <p:spPr>
          <a:xfrm>
            <a:off x="17952053" y="2972467"/>
            <a:ext cx="25432" cy="88392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32" name="Line 132"/>
          <p:cNvSpPr/>
          <p:nvPr/>
        </p:nvSpPr>
        <p:spPr>
          <a:xfrm>
            <a:off x="17977485" y="3060859"/>
            <a:ext cx="24670" cy="99441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33" name="Line 133"/>
          <p:cNvSpPr/>
          <p:nvPr/>
        </p:nvSpPr>
        <p:spPr>
          <a:xfrm>
            <a:off x="18002155" y="3160300"/>
            <a:ext cx="23908" cy="106204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34" name="Line 134"/>
          <p:cNvSpPr/>
          <p:nvPr/>
        </p:nvSpPr>
        <p:spPr>
          <a:xfrm>
            <a:off x="18026062" y="3266504"/>
            <a:ext cx="23336" cy="108966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35" name="Line 135"/>
          <p:cNvSpPr/>
          <p:nvPr/>
        </p:nvSpPr>
        <p:spPr>
          <a:xfrm>
            <a:off x="18049399" y="3375470"/>
            <a:ext cx="22955" cy="107537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36" name="Line 136"/>
          <p:cNvSpPr/>
          <p:nvPr/>
        </p:nvSpPr>
        <p:spPr>
          <a:xfrm>
            <a:off x="18072354" y="3483007"/>
            <a:ext cx="22479" cy="102203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37" name="Line 137"/>
          <p:cNvSpPr/>
          <p:nvPr/>
        </p:nvSpPr>
        <p:spPr>
          <a:xfrm>
            <a:off x="18094833" y="3585210"/>
            <a:ext cx="22288" cy="92583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38" name="Line 138"/>
          <p:cNvSpPr/>
          <p:nvPr/>
        </p:nvSpPr>
        <p:spPr>
          <a:xfrm>
            <a:off x="18117122" y="3677793"/>
            <a:ext cx="22003" cy="79058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39" name="Line 139"/>
          <p:cNvSpPr/>
          <p:nvPr/>
        </p:nvSpPr>
        <p:spPr>
          <a:xfrm>
            <a:off x="18139124" y="3756850"/>
            <a:ext cx="22003" cy="61246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40" name="Line 140"/>
          <p:cNvSpPr/>
          <p:nvPr/>
        </p:nvSpPr>
        <p:spPr>
          <a:xfrm>
            <a:off x="18161127" y="3818096"/>
            <a:ext cx="22098" cy="39529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41" name="Line 141"/>
          <p:cNvSpPr/>
          <p:nvPr/>
        </p:nvSpPr>
        <p:spPr>
          <a:xfrm>
            <a:off x="18183225" y="3857625"/>
            <a:ext cx="22479" cy="20003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42" name="Line 142"/>
          <p:cNvSpPr/>
          <p:nvPr/>
        </p:nvSpPr>
        <p:spPr>
          <a:xfrm>
            <a:off x="18205704" y="3877628"/>
            <a:ext cx="22860" cy="6667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43" name="Line 143"/>
          <p:cNvSpPr/>
          <p:nvPr/>
        </p:nvSpPr>
        <p:spPr>
          <a:xfrm flipV="1">
            <a:off x="18228564" y="3879437"/>
            <a:ext cx="23241" cy="4858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44" name="Line 144"/>
          <p:cNvSpPr/>
          <p:nvPr/>
        </p:nvSpPr>
        <p:spPr>
          <a:xfrm flipV="1">
            <a:off x="18251805" y="3864864"/>
            <a:ext cx="23241" cy="14573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45" name="Line 145"/>
          <p:cNvSpPr/>
          <p:nvPr/>
        </p:nvSpPr>
        <p:spPr>
          <a:xfrm flipV="1">
            <a:off x="18275046" y="3842290"/>
            <a:ext cx="23050" cy="22574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46" name="Line 146"/>
          <p:cNvSpPr/>
          <p:nvPr/>
        </p:nvSpPr>
        <p:spPr>
          <a:xfrm flipV="1">
            <a:off x="18298096" y="3813429"/>
            <a:ext cx="22670" cy="28861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47" name="Line 147"/>
          <p:cNvSpPr/>
          <p:nvPr/>
        </p:nvSpPr>
        <p:spPr>
          <a:xfrm flipV="1">
            <a:off x="18320766" y="3780282"/>
            <a:ext cx="22003" cy="33147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48" name="Line 148"/>
          <p:cNvSpPr/>
          <p:nvPr/>
        </p:nvSpPr>
        <p:spPr>
          <a:xfrm flipV="1">
            <a:off x="18342769" y="3744278"/>
            <a:ext cx="21146" cy="36004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49" name="Line 149"/>
          <p:cNvSpPr/>
          <p:nvPr/>
        </p:nvSpPr>
        <p:spPr>
          <a:xfrm flipV="1">
            <a:off x="18363914" y="3707511"/>
            <a:ext cx="20002" cy="36767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50" name="Line 150"/>
          <p:cNvSpPr/>
          <p:nvPr/>
        </p:nvSpPr>
        <p:spPr>
          <a:xfrm flipV="1">
            <a:off x="18383917" y="3671602"/>
            <a:ext cx="18669" cy="35909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51" name="Line 151"/>
          <p:cNvSpPr/>
          <p:nvPr/>
        </p:nvSpPr>
        <p:spPr>
          <a:xfrm flipV="1">
            <a:off x="18402586" y="3638264"/>
            <a:ext cx="17145" cy="33338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52" name="Line 152"/>
          <p:cNvSpPr/>
          <p:nvPr/>
        </p:nvSpPr>
        <p:spPr>
          <a:xfrm flipV="1">
            <a:off x="18419731" y="3609404"/>
            <a:ext cx="15335" cy="28861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53" name="Line 153"/>
          <p:cNvSpPr/>
          <p:nvPr/>
        </p:nvSpPr>
        <p:spPr>
          <a:xfrm flipV="1">
            <a:off x="18435066" y="3586639"/>
            <a:ext cx="13335" cy="22765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54" name="Line 154"/>
          <p:cNvSpPr/>
          <p:nvPr/>
        </p:nvSpPr>
        <p:spPr>
          <a:xfrm flipV="1">
            <a:off x="18448401" y="3571875"/>
            <a:ext cx="11049" cy="14764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55" name="Rect 155"/>
          <p:cNvSpPr/>
          <p:nvPr/>
        </p:nvSpPr>
        <p:spPr>
          <a:xfrm>
            <a:off x="11125200" y="2828925"/>
            <a:ext cx="257175" cy="257175"/>
          </a:xfrm>
          <a:prstGeom prst="rect">
            <a:avLst/>
          </a:prstGeom>
          <a:solidFill>
            <a:srgbClr val="C3DEDF"/>
          </a:solidFill>
          <a:ln w="63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56" name="Rect 156"/>
          <p:cNvSpPr/>
          <p:nvPr/>
        </p:nvSpPr>
        <p:spPr>
          <a:xfrm>
            <a:off x="11382375" y="2828925"/>
            <a:ext cx="257175" cy="257175"/>
          </a:xfrm>
          <a:prstGeom prst="rect">
            <a:avLst/>
          </a:prstGeom>
          <a:solidFill>
            <a:srgbClr val="81B7BA"/>
          </a:solidFill>
          <a:ln w="63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57" name="Rect 157"/>
          <p:cNvSpPr/>
          <p:nvPr/>
        </p:nvSpPr>
        <p:spPr>
          <a:xfrm>
            <a:off x="11639550" y="2828925"/>
            <a:ext cx="257175" cy="257175"/>
          </a:xfrm>
          <a:prstGeom prst="rect">
            <a:avLst/>
          </a:prstGeom>
          <a:solidFill>
            <a:srgbClr val="C3DEDF"/>
          </a:solidFill>
          <a:ln w="63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58" name="Rect 158"/>
          <p:cNvSpPr/>
          <p:nvPr/>
        </p:nvSpPr>
        <p:spPr>
          <a:xfrm>
            <a:off x="11125200" y="3086100"/>
            <a:ext cx="257175" cy="257175"/>
          </a:xfrm>
          <a:prstGeom prst="rect">
            <a:avLst/>
          </a:prstGeom>
          <a:solidFill>
            <a:srgbClr val="81B7BA"/>
          </a:solidFill>
          <a:ln w="63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59" name="Rect 159"/>
          <p:cNvSpPr/>
          <p:nvPr/>
        </p:nvSpPr>
        <p:spPr>
          <a:xfrm>
            <a:off x="11382375" y="3086100"/>
            <a:ext cx="257175" cy="257175"/>
          </a:xfrm>
          <a:prstGeom prst="rect">
            <a:avLst/>
          </a:prstGeom>
          <a:solidFill>
            <a:srgbClr val="EAF4F4"/>
          </a:solidFill>
          <a:ln w="63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60" name="Rect 160"/>
          <p:cNvSpPr/>
          <p:nvPr/>
        </p:nvSpPr>
        <p:spPr>
          <a:xfrm>
            <a:off x="11639550" y="3086100"/>
            <a:ext cx="257175" cy="257175"/>
          </a:xfrm>
          <a:prstGeom prst="rect">
            <a:avLst/>
          </a:prstGeom>
          <a:solidFill>
            <a:srgbClr val="81B7BA"/>
          </a:solidFill>
          <a:ln w="63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61" name="Rect 161"/>
          <p:cNvSpPr/>
          <p:nvPr/>
        </p:nvSpPr>
        <p:spPr>
          <a:xfrm>
            <a:off x="11125200" y="3343275"/>
            <a:ext cx="257175" cy="257175"/>
          </a:xfrm>
          <a:prstGeom prst="rect">
            <a:avLst/>
          </a:prstGeom>
          <a:solidFill>
            <a:srgbClr val="81B7BA"/>
          </a:solidFill>
          <a:ln w="63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62" name="Rect 162"/>
          <p:cNvSpPr/>
          <p:nvPr/>
        </p:nvSpPr>
        <p:spPr>
          <a:xfrm>
            <a:off x="11382375" y="3343275"/>
            <a:ext cx="257175" cy="257175"/>
          </a:xfrm>
          <a:prstGeom prst="rect">
            <a:avLst/>
          </a:prstGeom>
          <a:solidFill>
            <a:srgbClr val="C3DEDF"/>
          </a:solidFill>
          <a:ln w="63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63" name="Rect 163"/>
          <p:cNvSpPr/>
          <p:nvPr/>
        </p:nvSpPr>
        <p:spPr>
          <a:xfrm>
            <a:off x="11639550" y="3343275"/>
            <a:ext cx="257175" cy="257175"/>
          </a:xfrm>
          <a:prstGeom prst="rect">
            <a:avLst/>
          </a:prstGeom>
          <a:solidFill>
            <a:srgbClr val="EAF4F4"/>
          </a:solidFill>
          <a:ln w="63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64" name="Rect 164"/>
          <p:cNvSpPr/>
          <p:nvPr/>
        </p:nvSpPr>
        <p:spPr>
          <a:xfrm>
            <a:off x="11125200" y="2828925"/>
            <a:ext cx="771525" cy="771525"/>
          </a:xfrm>
          <a:prstGeom prst="rect">
            <a:avLst/>
          </a:prstGeom>
          <a:noFill/>
          <a:ln w="12700">
            <a:solidFill>
              <a:srgbClr val="81B7BA"/>
            </a:solidFill>
          </a:ln>
        </p:spPr>
        <p:txBody>
          <a:bodyPr/>
          <a:lstStyle/>
          <a:p/>
        </p:txBody>
      </p:sp>
      <p:sp>
        <p:nvSpPr>
          <p:cNvPr id="165" name="Ellipse 165"/>
          <p:cNvSpPr/>
          <p:nvPr/>
        </p:nvSpPr>
        <p:spPr>
          <a:xfrm>
            <a:off x="3371850" y="5410200"/>
            <a:ext cx="285750" cy="285750"/>
          </a:xfrm>
          <a:prstGeom prst="ellipse">
            <a:avLst/>
          </a:pr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" name="Ellipse 166"/>
          <p:cNvSpPr/>
          <p:nvPr/>
        </p:nvSpPr>
        <p:spPr>
          <a:xfrm>
            <a:off x="6400800" y="5410200"/>
            <a:ext cx="285750" cy="285750"/>
          </a:xfrm>
          <a:prstGeom prst="ellipse">
            <a:avLst/>
          </a:pr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" name="Ellipse 167"/>
          <p:cNvSpPr/>
          <p:nvPr/>
        </p:nvSpPr>
        <p:spPr>
          <a:xfrm>
            <a:off x="9653588" y="5410200"/>
            <a:ext cx="285750" cy="285750"/>
          </a:xfrm>
          <a:prstGeom prst="ellipse">
            <a:avLst/>
          </a:pr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" name="Ellipse 168"/>
          <p:cNvSpPr/>
          <p:nvPr/>
        </p:nvSpPr>
        <p:spPr>
          <a:xfrm>
            <a:off x="12563475" y="5410200"/>
            <a:ext cx="285750" cy="285750"/>
          </a:xfrm>
          <a:prstGeom prst="ellipse">
            <a:avLst/>
          </a:pr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9" name="Ellipse 169"/>
          <p:cNvSpPr/>
          <p:nvPr/>
        </p:nvSpPr>
        <p:spPr>
          <a:xfrm>
            <a:off x="15601950" y="5410200"/>
            <a:ext cx="285750" cy="285750"/>
          </a:xfrm>
          <a:prstGeom prst="ellipse">
            <a:avLst/>
          </a:pr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" name="Roundrect 170"/>
          <p:cNvSpPr/>
          <p:nvPr/>
        </p:nvSpPr>
        <p:spPr>
          <a:xfrm>
            <a:off x="8539162" y="5715000"/>
            <a:ext cx="2514600" cy="409575"/>
          </a:xfrm>
          <a:prstGeom prst="roundRect">
            <a:avLst>
              <a:gd name="adj" fmla="val 50000"/>
            </a:avLst>
          </a:pr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" name="TextBox 171"/>
          <p:cNvSpPr txBox="1"/>
          <p:nvPr/>
        </p:nvSpPr>
        <p:spPr>
          <a:xfrm>
            <a:off x="8039100" y="933450"/>
            <a:ext cx="3228975" cy="5143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600" b="1">
                <a:solidFill>
                  <a:srgbClr val="006D73"/>
                </a:solidFill>
                <a:latin typeface="Liberation Sans"/>
                <a:ea typeface="Liberation Sans"/>
                <a:cs typeface="Liberation Sans"/>
              </a:rPr>
              <a:t>SafeTransport</a:t>
            </a:r>
            <a:endParaRPr lang="zh-CN" sz="3600"/>
          </a:p>
        </p:txBody>
      </p:sp>
      <p:sp>
        <p:nvSpPr>
          <p:cNvPr id="172" name="TextBox 172"/>
          <p:cNvSpPr txBox="1"/>
          <p:nvPr/>
        </p:nvSpPr>
        <p:spPr>
          <a:xfrm>
            <a:off x="228600" y="1323975"/>
            <a:ext cx="3286125" cy="4095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00" b="1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Penalty-based safe RL</a:t>
            </a:r>
            <a:endParaRPr lang="zh-CN" sz="2200"/>
          </a:p>
        </p:txBody>
      </p:sp>
      <p:sp>
        <p:nvSpPr>
          <p:cNvPr id="173" name="TextBox 173"/>
          <p:cNvSpPr txBox="1"/>
          <p:nvPr/>
        </p:nvSpPr>
        <p:spPr>
          <a:xfrm>
            <a:off x="15725775" y="1323975"/>
            <a:ext cx="3352800" cy="4095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00" b="1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Constraint-based safe RL</a:t>
            </a:r>
            <a:endParaRPr lang="zh-CN" sz="2200"/>
          </a:p>
        </p:txBody>
      </p:sp>
      <p:sp>
        <p:nvSpPr>
          <p:cNvPr id="174" name="TextBox 174"/>
          <p:cNvSpPr txBox="1"/>
          <p:nvPr/>
        </p:nvSpPr>
        <p:spPr>
          <a:xfrm>
            <a:off x="1428750" y="2362200"/>
            <a:ext cx="838200" cy="5143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λ</a:t>
            </a:r>
            <a:endParaRPr lang="zh-CN" sz="2000"/>
          </a:p>
        </p:txBody>
      </p:sp>
      <p:sp>
        <p:nvSpPr>
          <p:cNvPr id="175" name="TextBox 175"/>
          <p:cNvSpPr txBox="1"/>
          <p:nvPr/>
        </p:nvSpPr>
        <p:spPr>
          <a:xfrm>
            <a:off x="2809875" y="3467100"/>
            <a:ext cx="742950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D58B00"/>
                </a:solidFill>
                <a:latin typeface="Liberation Sans"/>
                <a:ea typeface="Liberation Sans"/>
                <a:cs typeface="Liberation Sans"/>
              </a:rPr>
              <a:t>budget</a:t>
            </a:r>
            <a:endParaRPr lang="zh-CN" sz="1800"/>
          </a:p>
        </p:txBody>
      </p:sp>
      <p:sp>
        <p:nvSpPr>
          <p:cNvPr id="176" name="TextBox 176"/>
          <p:cNvSpPr txBox="1"/>
          <p:nvPr/>
        </p:nvSpPr>
        <p:spPr>
          <a:xfrm>
            <a:off x="438150" y="4562475"/>
            <a:ext cx="2876550" cy="3714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D58B00"/>
                </a:solidFill>
                <a:latin typeface="Liberation Sans"/>
                <a:ea typeface="Liberation Sans"/>
                <a:cs typeface="Liberation Sans"/>
              </a:rPr>
              <a:t>budget leakage</a:t>
            </a:r>
            <a:endParaRPr lang="zh-CN" sz="1800"/>
          </a:p>
        </p:txBody>
      </p:sp>
      <p:sp>
        <p:nvSpPr>
          <p:cNvPr id="177" name="TextBox 177"/>
          <p:cNvSpPr txBox="1"/>
          <p:nvPr/>
        </p:nvSpPr>
        <p:spPr>
          <a:xfrm>
            <a:off x="15754350" y="4562475"/>
            <a:ext cx="3295650" cy="3714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D58B00"/>
                </a:solidFill>
                <a:latin typeface="Liberation Sans"/>
                <a:ea typeface="Liberation Sans"/>
                <a:cs typeface="Liberation Sans"/>
              </a:rPr>
              <a:t>coupled duals oscillate</a:t>
            </a:r>
            <a:endParaRPr lang="zh-CN" sz="1800"/>
          </a:p>
        </p:txBody>
      </p:sp>
      <p:sp>
        <p:nvSpPr>
          <p:cNvPr id="178" name="TextBox 178"/>
          <p:cNvSpPr txBox="1"/>
          <p:nvPr/>
        </p:nvSpPr>
        <p:spPr>
          <a:xfrm>
            <a:off x="3876675" y="1790700"/>
            <a:ext cx="800100" cy="3333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budgets</a:t>
            </a:r>
            <a:endParaRPr lang="zh-CN" sz="1800"/>
          </a:p>
        </p:txBody>
      </p:sp>
      <p:sp>
        <p:nvSpPr>
          <p:cNvPr id="179" name="TextBox 179"/>
          <p:cNvSpPr txBox="1"/>
          <p:nvPr/>
        </p:nvSpPr>
        <p:spPr>
          <a:xfrm>
            <a:off x="4981575" y="2276475"/>
            <a:ext cx="1057275" cy="8382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budgets</a:t>
            </a:r>
            <a:endParaRPr lang="zh-CN" sz="1800"/>
          </a:p>
          <a:p>
            <a:pPr algn="ctr"/>
            <a:r>
              <a:rPr lang="zh-CN" sz="18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become</a:t>
            </a:r>
            <a:endParaRPr lang="zh-CN" sz="1800"/>
          </a:p>
          <a:p>
            <a:pPr algn="ctr"/>
            <a:r>
              <a:rPr lang="zh-CN" sz="18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capacities</a:t>
            </a:r>
            <a:endParaRPr lang="zh-CN" sz="1800"/>
          </a:p>
        </p:txBody>
      </p:sp>
      <p:sp>
        <p:nvSpPr>
          <p:cNvPr id="180" name="TextBox 180"/>
          <p:cNvSpPr txBox="1"/>
          <p:nvPr/>
        </p:nvSpPr>
        <p:spPr>
          <a:xfrm>
            <a:off x="7667625" y="2905125"/>
            <a:ext cx="1123950" cy="6381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hard min /</a:t>
            </a:r>
            <a:endParaRPr lang="zh-CN" sz="2000"/>
          </a:p>
          <a:p>
            <a:pPr algn="ctr"/>
            <a:r>
              <a:rPr lang="zh-CN" sz="20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softmin</a:t>
            </a:r>
            <a:endParaRPr lang="zh-CN" sz="2000"/>
          </a:p>
        </p:txBody>
      </p:sp>
      <p:sp>
        <p:nvSpPr>
          <p:cNvPr id="181" name="TextBox 181"/>
          <p:cNvSpPr txBox="1"/>
          <p:nvPr/>
        </p:nvSpPr>
        <p:spPr>
          <a:xfrm>
            <a:off x="8724900" y="2257425"/>
            <a:ext cx="1123950" cy="571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S (capacity</a:t>
            </a:r>
            <a:endParaRPr lang="zh-CN" sz="1800"/>
          </a:p>
          <a:p>
            <a:pPr algn="ctr"/>
            <a:r>
              <a:rPr lang="zh-CN" sz="18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ceiling)</a:t>
            </a:r>
            <a:endParaRPr lang="zh-CN" sz="1800"/>
          </a:p>
        </p:txBody>
      </p:sp>
      <p:sp>
        <p:nvSpPr>
          <p:cNvPr id="182" name="TextBox 182"/>
          <p:cNvSpPr txBox="1"/>
          <p:nvPr/>
        </p:nvSpPr>
        <p:spPr>
          <a:xfrm>
            <a:off x="9496425" y="2905125"/>
            <a:ext cx="600075" cy="6572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S</a:t>
            </a:r>
            <a:endParaRPr lang="zh-CN" sz="2000"/>
          </a:p>
        </p:txBody>
      </p:sp>
      <p:sp>
        <p:nvSpPr>
          <p:cNvPr id="183" name="TextBox 183"/>
          <p:cNvSpPr txBox="1"/>
          <p:nvPr/>
        </p:nvSpPr>
        <p:spPr>
          <a:xfrm>
            <a:off x="10353675" y="1685925"/>
            <a:ext cx="2324100" cy="3619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 b="1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γ-flow Sinkhorn</a:t>
            </a:r>
            <a:endParaRPr lang="zh-CN" sz="2000"/>
          </a:p>
        </p:txBody>
      </p:sp>
      <p:sp>
        <p:nvSpPr>
          <p:cNvPr id="184" name="TextBox 184"/>
          <p:cNvSpPr txBox="1"/>
          <p:nvPr/>
        </p:nvSpPr>
        <p:spPr>
          <a:xfrm>
            <a:off x="10315575" y="2867025"/>
            <a:ext cx="762000" cy="552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row</a:t>
            </a:r>
            <a:endParaRPr lang="zh-CN" sz="1800"/>
          </a:p>
          <a:p>
            <a:pPr algn="ctr"/>
            <a:r>
              <a:rPr lang="zh-CN" sz="18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scaling</a:t>
            </a:r>
            <a:endParaRPr lang="zh-CN" sz="1800"/>
          </a:p>
        </p:txBody>
      </p:sp>
      <p:sp>
        <p:nvSpPr>
          <p:cNvPr id="185" name="TextBox 185"/>
          <p:cNvSpPr txBox="1"/>
          <p:nvPr/>
        </p:nvSpPr>
        <p:spPr>
          <a:xfrm>
            <a:off x="11944350" y="2838450"/>
            <a:ext cx="762000" cy="552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column</a:t>
            </a:r>
            <a:endParaRPr lang="zh-CN" sz="1800"/>
          </a:p>
          <a:p>
            <a:pPr algn="ctr"/>
            <a:r>
              <a:rPr lang="zh-CN" sz="18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scaling</a:t>
            </a:r>
            <a:endParaRPr lang="zh-CN" sz="1800"/>
          </a:p>
        </p:txBody>
      </p:sp>
      <p:sp>
        <p:nvSpPr>
          <p:cNvPr id="186" name="TextBox 186"/>
          <p:cNvSpPr txBox="1"/>
          <p:nvPr/>
        </p:nvSpPr>
        <p:spPr>
          <a:xfrm>
            <a:off x="11210925" y="3705225"/>
            <a:ext cx="476250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ε</a:t>
            </a:r>
            <a:endParaRPr lang="zh-CN" sz="2000"/>
          </a:p>
        </p:txBody>
      </p:sp>
      <p:sp>
        <p:nvSpPr>
          <p:cNvPr id="187" name="TextBox 187"/>
          <p:cNvSpPr txBox="1"/>
          <p:nvPr/>
        </p:nvSpPr>
        <p:spPr>
          <a:xfrm>
            <a:off x="13049250" y="2876550"/>
            <a:ext cx="762000" cy="6858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PPO</a:t>
            </a:r>
            <a:endParaRPr lang="zh-CN" sz="2000"/>
          </a:p>
        </p:txBody>
      </p:sp>
      <p:sp>
        <p:nvSpPr>
          <p:cNvPr id="188" name="TextBox 188"/>
          <p:cNvSpPr txBox="1"/>
          <p:nvPr/>
        </p:nvSpPr>
        <p:spPr>
          <a:xfrm>
            <a:off x="13554075" y="2257425"/>
            <a:ext cx="1095375" cy="561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deployed</a:t>
            </a:r>
            <a:endParaRPr lang="zh-CN" sz="1800"/>
          </a:p>
          <a:p>
            <a:pPr algn="ctr"/>
            <a:r>
              <a:rPr lang="zh-CN" sz="18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policy</a:t>
            </a:r>
            <a:endParaRPr lang="zh-CN" sz="1800"/>
          </a:p>
        </p:txBody>
      </p:sp>
      <p:sp>
        <p:nvSpPr>
          <p:cNvPr id="189" name="TextBox 189"/>
          <p:cNvSpPr txBox="1"/>
          <p:nvPr/>
        </p:nvSpPr>
        <p:spPr>
          <a:xfrm>
            <a:off x="14125575" y="2905125"/>
            <a:ext cx="1304925" cy="6381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deployed-</a:t>
            </a:r>
            <a:endParaRPr lang="zh-CN" sz="2000"/>
          </a:p>
          <a:p>
            <a:pPr algn="ctr"/>
            <a:r>
              <a:rPr lang="zh-CN" sz="20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policy audit</a:t>
            </a:r>
            <a:endParaRPr lang="zh-CN" sz="2000"/>
          </a:p>
        </p:txBody>
      </p:sp>
      <p:sp>
        <p:nvSpPr>
          <p:cNvPr id="190" name="TextBox 190"/>
          <p:cNvSpPr txBox="1"/>
          <p:nvPr/>
        </p:nvSpPr>
        <p:spPr>
          <a:xfrm>
            <a:off x="152400" y="5362575"/>
            <a:ext cx="2000250" cy="4476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00" b="1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penalty-like</a:t>
            </a:r>
            <a:endParaRPr lang="zh-CN" sz="2200"/>
          </a:p>
        </p:txBody>
      </p:sp>
      <p:sp>
        <p:nvSpPr>
          <p:cNvPr id="191" name="TextBox 191"/>
          <p:cNvSpPr txBox="1"/>
          <p:nvPr/>
        </p:nvSpPr>
        <p:spPr>
          <a:xfrm>
            <a:off x="17068800" y="5362575"/>
            <a:ext cx="2047875" cy="4476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00" b="1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constraint-like</a:t>
            </a:r>
            <a:endParaRPr lang="zh-CN" sz="2200"/>
          </a:p>
        </p:txBody>
      </p:sp>
      <p:sp>
        <p:nvSpPr>
          <p:cNvPr id="192" name="TextBox 192"/>
          <p:cNvSpPr txBox="1"/>
          <p:nvPr/>
        </p:nvSpPr>
        <p:spPr>
          <a:xfrm>
            <a:off x="2047875" y="5724525"/>
            <a:ext cx="2933700" cy="4000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 b="1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PPO / SAC</a:t>
            </a:r>
            <a:endParaRPr lang="zh-CN" sz="2000"/>
          </a:p>
        </p:txBody>
      </p:sp>
      <p:sp>
        <p:nvSpPr>
          <p:cNvPr id="193" name="TextBox 193"/>
          <p:cNvSpPr txBox="1"/>
          <p:nvPr/>
        </p:nvSpPr>
        <p:spPr>
          <a:xfrm>
            <a:off x="2028825" y="6115050"/>
            <a:ext cx="2971800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unconstrained or penalty</a:t>
            </a:r>
            <a:endParaRPr lang="zh-CN" sz="1600"/>
          </a:p>
        </p:txBody>
      </p:sp>
      <p:sp>
        <p:nvSpPr>
          <p:cNvPr id="194" name="TextBox 194"/>
          <p:cNvSpPr txBox="1"/>
          <p:nvPr/>
        </p:nvSpPr>
        <p:spPr>
          <a:xfrm>
            <a:off x="5076825" y="5724525"/>
            <a:ext cx="2933700" cy="4000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 b="1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PPO-Lag / FOCOPS</a:t>
            </a:r>
            <a:endParaRPr lang="zh-CN" sz="2000"/>
          </a:p>
        </p:txBody>
      </p:sp>
      <p:sp>
        <p:nvSpPr>
          <p:cNvPr id="195" name="TextBox 195"/>
          <p:cNvSpPr txBox="1"/>
          <p:nvPr/>
        </p:nvSpPr>
        <p:spPr>
          <a:xfrm>
            <a:off x="5057775" y="6115050"/>
            <a:ext cx="2971800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external safety controller</a:t>
            </a:r>
            <a:endParaRPr lang="zh-CN" sz="1600"/>
          </a:p>
        </p:txBody>
      </p:sp>
      <p:sp>
        <p:nvSpPr>
          <p:cNvPr id="196" name="TextBox 196"/>
          <p:cNvSpPr txBox="1"/>
          <p:nvPr/>
        </p:nvSpPr>
        <p:spPr>
          <a:xfrm>
            <a:off x="8586788" y="5715000"/>
            <a:ext cx="2419350" cy="4095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SafeTransport</a:t>
            </a:r>
            <a:endParaRPr lang="zh-CN" sz="2000"/>
          </a:p>
        </p:txBody>
      </p:sp>
      <p:sp>
        <p:nvSpPr>
          <p:cNvPr id="197" name="TextBox 197"/>
          <p:cNvSpPr txBox="1"/>
          <p:nvPr/>
        </p:nvSpPr>
        <p:spPr>
          <a:xfrm>
            <a:off x="8310562" y="6115050"/>
            <a:ext cx="2971800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one inner capacity projection</a:t>
            </a:r>
            <a:endParaRPr lang="zh-CN" sz="1600"/>
          </a:p>
        </p:txBody>
      </p:sp>
      <p:sp>
        <p:nvSpPr>
          <p:cNvPr id="198" name="TextBox 198"/>
          <p:cNvSpPr txBox="1"/>
          <p:nvPr/>
        </p:nvSpPr>
        <p:spPr>
          <a:xfrm>
            <a:off x="11239500" y="5724525"/>
            <a:ext cx="2933700" cy="4000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 b="1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CPO</a:t>
            </a:r>
            <a:endParaRPr lang="zh-CN" sz="2000"/>
          </a:p>
        </p:txBody>
      </p:sp>
      <p:sp>
        <p:nvSpPr>
          <p:cNvPr id="199" name="TextBox 199"/>
          <p:cNvSpPr txBox="1"/>
          <p:nvPr/>
        </p:nvSpPr>
        <p:spPr>
          <a:xfrm>
            <a:off x="11220450" y="6115050"/>
            <a:ext cx="2971800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local constrained step</a:t>
            </a:r>
            <a:endParaRPr lang="zh-CN" sz="1600"/>
          </a:p>
        </p:txBody>
      </p:sp>
      <p:sp>
        <p:nvSpPr>
          <p:cNvPr id="200" name="TextBox 200"/>
          <p:cNvSpPr txBox="1"/>
          <p:nvPr/>
        </p:nvSpPr>
        <p:spPr>
          <a:xfrm>
            <a:off x="14277975" y="5724525"/>
            <a:ext cx="2933700" cy="4000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 b="1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CUP / hard projection</a:t>
            </a:r>
            <a:endParaRPr lang="zh-CN" sz="2000"/>
          </a:p>
        </p:txBody>
      </p:sp>
      <p:sp>
        <p:nvSpPr>
          <p:cNvPr id="201" name="TextBox 201"/>
          <p:cNvSpPr txBox="1"/>
          <p:nvPr/>
        </p:nvSpPr>
        <p:spPr>
          <a:xfrm>
            <a:off x="14258925" y="6115050"/>
            <a:ext cx="2971800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constraint-dominant</a:t>
            </a:r>
            <a:endParaRPr lang="zh-CN" sz="1600"/>
          </a:p>
        </p:txBody>
      </p:sp>
      <p:pic>
        <p:nvPicPr>
          <p:cNvPr id="202" name="LaTeX rendered formula penalty_objective"/>
          <p:cNvPicPr/>
          <p:nvPr/>
        </p:nvPicPr>
        <p:blipFill>
          <a:blip r:embed="rId2"/>
          <a:stretch>
            <a:fillRect/>
          </a:stretch>
        </p:blipFill>
        <p:spPr>
          <a:xfrm>
            <a:off x="941661" y="1900333"/>
            <a:ext cx="1860013" cy="218884"/>
          </a:xfrm>
          <a:prstGeom prst="rect">
            <a:avLst/>
          </a:prstGeom>
        </p:spPr>
      </p:pic>
      <p:pic>
        <p:nvPicPr>
          <p:cNvPr id="203" name="LaTeX rendered formula constraint_objective"/>
          <p:cNvPicPr/>
          <p:nvPr/>
        </p:nvPicPr>
        <p:blipFill>
          <a:blip r:embed="rId3"/>
          <a:stretch>
            <a:fillRect/>
          </a:stretch>
        </p:blipFill>
        <p:spPr>
          <a:xfrm>
            <a:off x="15730128" y="1906153"/>
            <a:ext cx="3344094" cy="207235"/>
          </a:xfrm>
          <a:prstGeom prst="rect">
            <a:avLst/>
          </a:prstGeom>
        </p:spPr>
      </p:pic>
      <p:pic>
        <p:nvPicPr>
          <p:cNvPr id="204" name="LaTeX rendered formula channel_1"/>
          <p:cNvPicPr/>
          <p:nvPr/>
        </p:nvPicPr>
        <p:blipFill>
          <a:blip r:embed="rId4"/>
          <a:stretch>
            <a:fillRect/>
          </a:stretch>
        </p:blipFill>
        <p:spPr>
          <a:xfrm>
            <a:off x="781402" y="4306100"/>
            <a:ext cx="208836" cy="160325"/>
          </a:xfrm>
          <a:prstGeom prst="rect">
            <a:avLst/>
          </a:prstGeom>
        </p:spPr>
      </p:pic>
      <p:pic>
        <p:nvPicPr>
          <p:cNvPr id="205" name="LaTeX rendered formula horizontal_dots"/>
          <p:cNvPicPr/>
          <p:nvPr/>
        </p:nvPicPr>
        <p:blipFill>
          <a:blip r:embed="rId5"/>
          <a:stretch>
            <a:fillRect/>
          </a:stretch>
        </p:blipFill>
        <p:spPr>
          <a:xfrm>
            <a:off x="1678276" y="4337675"/>
            <a:ext cx="291513" cy="97165"/>
          </a:xfrm>
          <a:prstGeom prst="rect">
            <a:avLst/>
          </a:prstGeom>
        </p:spPr>
      </p:pic>
      <p:pic>
        <p:nvPicPr>
          <p:cNvPr id="206" name="LaTeX rendered formula channel_K"/>
          <p:cNvPicPr/>
          <p:nvPr/>
        </p:nvPicPr>
        <p:blipFill>
          <a:blip r:embed="rId6"/>
          <a:stretch>
            <a:fillRect/>
          </a:stretch>
        </p:blipFill>
        <p:spPr>
          <a:xfrm>
            <a:off x="2652036" y="4304662"/>
            <a:ext cx="249012" cy="163192"/>
          </a:xfrm>
          <a:prstGeom prst="rect">
            <a:avLst/>
          </a:prstGeom>
        </p:spPr>
      </p:pic>
      <p:pic>
        <p:nvPicPr>
          <p:cNvPr id="207" name="LaTeX rendered formula budget_1"/>
          <p:cNvPicPr/>
          <p:nvPr/>
        </p:nvPicPr>
        <p:blipFill>
          <a:blip r:embed="rId7"/>
          <a:stretch>
            <a:fillRect/>
          </a:stretch>
        </p:blipFill>
        <p:spPr>
          <a:xfrm>
            <a:off x="18686793" y="2899600"/>
            <a:ext cx="221590" cy="201549"/>
          </a:xfrm>
          <a:prstGeom prst="rect">
            <a:avLst/>
          </a:prstGeom>
        </p:spPr>
      </p:pic>
      <p:pic>
        <p:nvPicPr>
          <p:cNvPr id="208" name="LaTeX rendered formula budget_2"/>
          <p:cNvPicPr/>
          <p:nvPr/>
        </p:nvPicPr>
        <p:blipFill>
          <a:blip r:embed="rId8"/>
          <a:stretch>
            <a:fillRect/>
          </a:stretch>
        </p:blipFill>
        <p:spPr>
          <a:xfrm>
            <a:off x="18686793" y="3318700"/>
            <a:ext cx="221590" cy="201549"/>
          </a:xfrm>
          <a:prstGeom prst="rect">
            <a:avLst/>
          </a:prstGeom>
        </p:spPr>
      </p:pic>
      <p:pic>
        <p:nvPicPr>
          <p:cNvPr id="209" name="LaTeX rendered formula budget_K"/>
          <p:cNvPicPr/>
          <p:nvPr/>
        </p:nvPicPr>
        <p:blipFill>
          <a:blip r:embed="rId9"/>
          <a:stretch>
            <a:fillRect/>
          </a:stretch>
        </p:blipFill>
        <p:spPr>
          <a:xfrm>
            <a:off x="18666704" y="3907812"/>
            <a:ext cx="261757" cy="204416"/>
          </a:xfrm>
          <a:prstGeom prst="rect">
            <a:avLst/>
          </a:prstGeom>
        </p:spPr>
      </p:pic>
      <p:pic>
        <p:nvPicPr>
          <p:cNvPr id="210" name="LaTeX rendered formula vertical_dots"/>
          <p:cNvPicPr/>
          <p:nvPr/>
        </p:nvPicPr>
        <p:blipFill>
          <a:blip r:embed="rId10"/>
          <a:stretch>
            <a:fillRect/>
          </a:stretch>
        </p:blipFill>
        <p:spPr>
          <a:xfrm>
            <a:off x="18742123" y="3614118"/>
            <a:ext cx="63313" cy="201273"/>
          </a:xfrm>
          <a:prstGeom prst="rect">
            <a:avLst/>
          </a:prstGeom>
        </p:spPr>
      </p:pic>
      <p:pic>
        <p:nvPicPr>
          <p:cNvPr id="211" name="LaTeX rendered formula budget_k"/>
          <p:cNvPicPr/>
          <p:nvPr/>
        </p:nvPicPr>
        <p:blipFill>
          <a:blip r:embed="rId11"/>
          <a:stretch>
            <a:fillRect/>
          </a:stretch>
        </p:blipFill>
        <p:spPr>
          <a:xfrm>
            <a:off x="4714875" y="1859937"/>
            <a:ext cx="228600" cy="204416"/>
          </a:xfrm>
          <a:prstGeom prst="rect">
            <a:avLst/>
          </a:prstGeom>
        </p:spPr>
      </p:pic>
      <p:pic>
        <p:nvPicPr>
          <p:cNvPr id="212" name="LaTeX rendered formula budget_1"/>
          <p:cNvPicPr/>
          <p:nvPr/>
        </p:nvPicPr>
        <p:blipFill>
          <a:blip r:embed="rId12"/>
          <a:stretch>
            <a:fillRect/>
          </a:stretch>
        </p:blipFill>
        <p:spPr>
          <a:xfrm>
            <a:off x="4291736" y="2345474"/>
            <a:ext cx="246212" cy="223942"/>
          </a:xfrm>
          <a:prstGeom prst="rect">
            <a:avLst/>
          </a:prstGeom>
        </p:spPr>
      </p:pic>
      <p:pic>
        <p:nvPicPr>
          <p:cNvPr id="213" name="LaTeX rendered formula budget_2"/>
          <p:cNvPicPr/>
          <p:nvPr/>
        </p:nvPicPr>
        <p:blipFill>
          <a:blip r:embed="rId13"/>
          <a:stretch>
            <a:fillRect/>
          </a:stretch>
        </p:blipFill>
        <p:spPr>
          <a:xfrm>
            <a:off x="4291736" y="2926499"/>
            <a:ext cx="246212" cy="223942"/>
          </a:xfrm>
          <a:prstGeom prst="rect">
            <a:avLst/>
          </a:prstGeom>
        </p:spPr>
      </p:pic>
      <p:pic>
        <p:nvPicPr>
          <p:cNvPr id="214" name="LaTeX rendered formula budget_K"/>
          <p:cNvPicPr/>
          <p:nvPr/>
        </p:nvPicPr>
        <p:blipFill>
          <a:blip r:embed="rId14"/>
          <a:stretch>
            <a:fillRect/>
          </a:stretch>
        </p:blipFill>
        <p:spPr>
          <a:xfrm>
            <a:off x="4269419" y="3896458"/>
            <a:ext cx="290846" cy="227133"/>
          </a:xfrm>
          <a:prstGeom prst="rect">
            <a:avLst/>
          </a:prstGeom>
        </p:spPr>
      </p:pic>
      <p:pic>
        <p:nvPicPr>
          <p:cNvPr id="215" name="LaTeX rendered formula vertical_dots"/>
          <p:cNvPicPr/>
          <p:nvPr/>
        </p:nvPicPr>
        <p:blipFill>
          <a:blip r:embed="rId15"/>
          <a:stretch>
            <a:fillRect/>
          </a:stretch>
        </p:blipFill>
        <p:spPr>
          <a:xfrm>
            <a:off x="4374899" y="3393386"/>
            <a:ext cx="70342" cy="223637"/>
          </a:xfrm>
          <a:prstGeom prst="rect">
            <a:avLst/>
          </a:prstGeom>
        </p:spPr>
      </p:pic>
      <p:pic>
        <p:nvPicPr>
          <p:cNvPr id="216" name="LaTeX rendered formula capacity_1"/>
          <p:cNvPicPr/>
          <p:nvPr/>
        </p:nvPicPr>
        <p:blipFill>
          <a:blip r:embed="rId16"/>
          <a:stretch>
            <a:fillRect/>
          </a:stretch>
        </p:blipFill>
        <p:spPr>
          <a:xfrm>
            <a:off x="6322609" y="2308489"/>
            <a:ext cx="404031" cy="221732"/>
          </a:xfrm>
          <a:prstGeom prst="rect">
            <a:avLst/>
          </a:prstGeom>
        </p:spPr>
      </p:pic>
      <p:pic>
        <p:nvPicPr>
          <p:cNvPr id="217" name="LaTeX rendered formula capacity_2"/>
          <p:cNvPicPr/>
          <p:nvPr/>
        </p:nvPicPr>
        <p:blipFill>
          <a:blip r:embed="rId17"/>
          <a:stretch>
            <a:fillRect/>
          </a:stretch>
        </p:blipFill>
        <p:spPr>
          <a:xfrm>
            <a:off x="6322609" y="2889514"/>
            <a:ext cx="404031" cy="221732"/>
          </a:xfrm>
          <a:prstGeom prst="rect">
            <a:avLst/>
          </a:prstGeom>
        </p:spPr>
      </p:pic>
      <p:pic>
        <p:nvPicPr>
          <p:cNvPr id="218" name="LaTeX rendered formula capacity_K"/>
          <p:cNvPicPr/>
          <p:nvPr/>
        </p:nvPicPr>
        <p:blipFill>
          <a:blip r:embed="rId18"/>
          <a:stretch>
            <a:fillRect/>
          </a:stretch>
        </p:blipFill>
        <p:spPr>
          <a:xfrm>
            <a:off x="6300283" y="3946789"/>
            <a:ext cx="448675" cy="221732"/>
          </a:xfrm>
          <a:prstGeom prst="rect">
            <a:avLst/>
          </a:prstGeom>
        </p:spPr>
      </p:pic>
      <p:pic>
        <p:nvPicPr>
          <p:cNvPr id="219" name="LaTeX rendered formula vertical_dots"/>
          <p:cNvPicPr/>
          <p:nvPr/>
        </p:nvPicPr>
        <p:blipFill>
          <a:blip r:embed="rId19"/>
          <a:stretch>
            <a:fillRect/>
          </a:stretch>
        </p:blipFill>
        <p:spPr>
          <a:xfrm>
            <a:off x="6479924" y="3393386"/>
            <a:ext cx="70342" cy="223637"/>
          </a:xfrm>
          <a:prstGeom prst="rect">
            <a:avLst/>
          </a:prstGeom>
        </p:spPr>
      </p:pic>
      <p:pic>
        <p:nvPicPr>
          <p:cNvPr id="220" name="LaTeX rendered formula capacity_bundle"/>
          <p:cNvPicPr/>
          <p:nvPr/>
        </p:nvPicPr>
        <p:blipFill>
          <a:blip r:embed="rId20"/>
          <a:stretch>
            <a:fillRect/>
          </a:stretch>
        </p:blipFill>
        <p:spPr>
          <a:xfrm>
            <a:off x="7000875" y="2811113"/>
            <a:ext cx="619125" cy="197548"/>
          </a:xfrm>
          <a:prstGeom prst="rect">
            <a:avLst/>
          </a:prstGeom>
        </p:spPr>
      </p:pic>
      <p:pic>
        <p:nvPicPr>
          <p:cNvPr id="221" name="LaTeX rendered formula solver_objective"/>
          <p:cNvPicPr/>
          <p:nvPr/>
        </p:nvPicPr>
        <p:blipFill>
          <a:blip r:embed="rId21"/>
          <a:stretch>
            <a:fillRect/>
          </a:stretch>
        </p:blipFill>
        <p:spPr>
          <a:xfrm>
            <a:off x="10592238" y="2075469"/>
            <a:ext cx="1846974" cy="221028"/>
          </a:xfrm>
          <a:prstGeom prst="rect">
            <a:avLst/>
          </a:prstGeom>
        </p:spPr>
      </p:pic>
      <p:pic>
        <p:nvPicPr>
          <p:cNvPr id="222" name="LaTeX rendered formula flow_constraint"/>
          <p:cNvPicPr/>
          <p:nvPr/>
        </p:nvPicPr>
        <p:blipFill>
          <a:blip r:embed="rId22"/>
          <a:stretch>
            <a:fillRect/>
          </a:stretch>
        </p:blipFill>
        <p:spPr>
          <a:xfrm>
            <a:off x="11005366" y="2544404"/>
            <a:ext cx="1039778" cy="197577"/>
          </a:xfrm>
          <a:prstGeom prst="rect">
            <a:avLst/>
          </a:prstGeom>
        </p:spPr>
      </p:pic>
      <p:pic>
        <p:nvPicPr>
          <p:cNvPr id="223" name="LaTeX rendered formula flow_certificate"/>
          <p:cNvPicPr/>
          <p:nvPr/>
        </p:nvPicPr>
        <p:blipFill>
          <a:blip r:embed="rId23"/>
          <a:stretch>
            <a:fillRect/>
          </a:stretch>
        </p:blipFill>
        <p:spPr>
          <a:xfrm>
            <a:off x="11110398" y="4200296"/>
            <a:ext cx="782079" cy="219523"/>
          </a:xfrm>
          <a:prstGeom prst="rect">
            <a:avLst/>
          </a:prstGeom>
        </p:spPr>
      </p:pic>
      <p:pic>
        <p:nvPicPr>
          <p:cNvPr id="224" name="LaTeX rendered formula flow_output"/>
          <p:cNvPicPr/>
          <p:nvPr/>
        </p:nvPicPr>
        <p:blipFill>
          <a:blip r:embed="rId24"/>
          <a:stretch>
            <a:fillRect/>
          </a:stretch>
        </p:blipFill>
        <p:spPr>
          <a:xfrm>
            <a:off x="12771920" y="2927633"/>
            <a:ext cx="249860" cy="1645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