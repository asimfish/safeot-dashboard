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9259550" cy="741045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4.svg"/><Relationship Id="rId6" Type="http://schemas.openxmlformats.org/officeDocument/2006/relationships/image" Target="../media/image5.svg"/><Relationship Id="rId7" Type="http://schemas.openxmlformats.org/officeDocument/2006/relationships/image" Target="../media/image6.svg"/><Relationship Id="rId8" Type="http://schemas.openxmlformats.org/officeDocument/2006/relationships/image" Target="../media/image7.svg"/><Relationship Id="rId9" Type="http://schemas.openxmlformats.org/officeDocument/2006/relationships/image" Target="../media/image8.svg"/><Relationship Id="rId10" Type="http://schemas.openxmlformats.org/officeDocument/2006/relationships/image" Target="../media/image9.svg"/><Relationship Id="rId11" Type="http://schemas.openxmlformats.org/officeDocument/2006/relationships/image" Target="../media/image10.svg"/><Relationship Id="rId12" Type="http://schemas.openxmlformats.org/officeDocument/2006/relationships/image" Target="../media/image11.svg"/><Relationship Id="rId13" Type="http://schemas.openxmlformats.org/officeDocument/2006/relationships/image" Target="../media/image12.svg"/><Relationship Id="rId14" Type="http://schemas.openxmlformats.org/officeDocument/2006/relationships/image" Target="../media/image13.svg"/><Relationship Id="rId15" Type="http://schemas.openxmlformats.org/officeDocument/2006/relationships/image" Target="../media/image14.svg"/><Relationship Id="rId16" Type="http://schemas.openxmlformats.org/officeDocument/2006/relationships/image" Target="../media/image15.svg"/><Relationship Id="rId17" Type="http://schemas.openxmlformats.org/officeDocument/2006/relationships/image" Target="../media/image16.svg"/><Relationship Id="rId18" Type="http://schemas.openxmlformats.org/officeDocument/2006/relationships/image" Target="../media/image17.svg"/><Relationship Id="rId19" Type="http://schemas.openxmlformats.org/officeDocument/2006/relationships/image" Target="../media/image18.svg"/><Relationship Id="rId20" Type="http://schemas.openxmlformats.org/officeDocument/2006/relationships/image" Target="../media/image19.svg"/><Relationship Id="rId21" Type="http://schemas.openxmlformats.org/officeDocument/2006/relationships/image" Target="../media/image20.svg"/><Relationship Id="rId22" Type="http://schemas.openxmlformats.org/officeDocument/2006/relationships/image" Target="../media/image21.svg"/><Relationship Id="rId23" Type="http://schemas.openxmlformats.org/officeDocument/2006/relationships/image" Target="../media/image22.svg"/><Relationship Id="rId2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9259550" cy="7410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142875" y="1209675"/>
            <a:ext cx="3476625" cy="3924300"/>
          </a:xfrm>
          <a:prstGeom prst="roundRect">
            <a:avLst>
              <a:gd name="adj" fmla="val 2740"/>
            </a:avLst>
          </a:prstGeom>
          <a:solidFill>
            <a:srgbClr val="F5F7F9"/>
          </a:solidFill>
          <a:ln w="1270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15401925" y="1209675"/>
            <a:ext cx="3714750" cy="3924300"/>
          </a:xfrm>
          <a:prstGeom prst="roundRect">
            <a:avLst>
              <a:gd name="adj" fmla="val 2564"/>
            </a:avLst>
          </a:prstGeom>
          <a:solidFill>
            <a:srgbClr val="F5F7F9"/>
          </a:solidFill>
          <a:ln w="1270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1247775" y="2533650"/>
            <a:ext cx="1123950" cy="514350"/>
          </a:xfrm>
          <a:prstGeom prst="roundRect">
            <a:avLst>
              <a:gd name="adj" fmla="val 18519"/>
            </a:avLst>
          </a:pr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1219200" y="3933825"/>
            <a:ext cx="266700" cy="666750"/>
          </a:xfrm>
          <a:prstGeom prst="roundRect">
            <a:avLst>
              <a:gd name="adj" fmla="val 21429"/>
            </a:avLst>
          </a:pr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1666875" y="3933825"/>
            <a:ext cx="266700" cy="666750"/>
          </a:xfrm>
          <a:prstGeom prst="roundRect">
            <a:avLst>
              <a:gd name="adj" fmla="val 21429"/>
            </a:avLst>
          </a:pr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2114550" y="3933825"/>
            <a:ext cx="266700" cy="666750"/>
          </a:xfrm>
          <a:prstGeom prst="roundRect">
            <a:avLst>
              <a:gd name="adj" fmla="val 21429"/>
            </a:avLst>
          </a:pr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2571750" y="3514725"/>
            <a:ext cx="266700" cy="1085850"/>
          </a:xfrm>
          <a:prstGeom prst="roundRect">
            <a:avLst>
              <a:gd name="adj" fmla="val 21429"/>
            </a:avLst>
          </a:prstGeom>
          <a:solidFill>
            <a:srgbClr val="D58B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3810000" y="2428875"/>
            <a:ext cx="609600" cy="504825"/>
          </a:xfrm>
          <a:prstGeom prst="roundRect">
            <a:avLst>
              <a:gd name="adj" fmla="val 18868"/>
            </a:avLst>
          </a:prstGeom>
          <a:solidFill>
            <a:srgbClr val="EAF4F4"/>
          </a:solidFill>
          <a:ln w="1270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3810000" y="3076575"/>
            <a:ext cx="609600" cy="504825"/>
          </a:xfrm>
          <a:prstGeom prst="roundRect">
            <a:avLst>
              <a:gd name="adj" fmla="val 18868"/>
            </a:avLst>
          </a:prstGeom>
          <a:solidFill>
            <a:srgbClr val="EAF4F4"/>
          </a:solidFill>
          <a:ln w="1270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3810000" y="4171950"/>
            <a:ext cx="609600" cy="504825"/>
          </a:xfrm>
          <a:prstGeom prst="roundRect">
            <a:avLst>
              <a:gd name="adj" fmla="val 18868"/>
            </a:avLst>
          </a:prstGeom>
          <a:solidFill>
            <a:srgbClr val="EAF4F4"/>
          </a:solidFill>
          <a:ln w="1270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5695950" y="2428875"/>
            <a:ext cx="800100" cy="504825"/>
          </a:xfrm>
          <a:prstGeom prst="roundRect">
            <a:avLst>
              <a:gd name="adj" fmla="val 18868"/>
            </a:avLst>
          </a:pr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5695950" y="3076575"/>
            <a:ext cx="800100" cy="504825"/>
          </a:xfrm>
          <a:prstGeom prst="roundRect">
            <a:avLst>
              <a:gd name="adj" fmla="val 18868"/>
            </a:avLst>
          </a:pr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5695950" y="4171950"/>
            <a:ext cx="800100" cy="504825"/>
          </a:xfrm>
          <a:prstGeom prst="roundRect">
            <a:avLst>
              <a:gd name="adj" fmla="val 18868"/>
            </a:avLst>
          </a:pr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8439150" y="3095625"/>
            <a:ext cx="762000" cy="809625"/>
          </a:xfrm>
          <a:prstGeom prst="roundRect">
            <a:avLst>
              <a:gd name="adj" fmla="val 12500"/>
            </a:avLst>
          </a:pr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9591675" y="1895475"/>
            <a:ext cx="2705100" cy="3190875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10553700" y="3114675"/>
            <a:ext cx="209550" cy="209550"/>
          </a:xfrm>
          <a:prstGeom prst="rect">
            <a:avLst/>
          </a:prstGeom>
          <a:solidFill>
            <a:srgbClr val="EAF4F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10763250" y="3114675"/>
            <a:ext cx="209550" cy="209550"/>
          </a:xfrm>
          <a:prstGeom prst="rect">
            <a:avLst/>
          </a:prstGeom>
          <a:solidFill>
            <a:srgbClr val="C4E0E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10972800" y="3114675"/>
            <a:ext cx="209550" cy="209550"/>
          </a:xfrm>
          <a:prstGeom prst="rect">
            <a:avLst/>
          </a:prstGeom>
          <a:solidFill>
            <a:srgbClr val="EAF4F4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11182350" y="3114675"/>
            <a:ext cx="209550" cy="209550"/>
          </a:xfrm>
          <a:prstGeom prst="rect">
            <a:avLst/>
          </a:prstGeom>
          <a:solidFill>
            <a:srgbClr val="90BFB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11391900" y="3114675"/>
            <a:ext cx="209550" cy="209550"/>
          </a:xfrm>
          <a:prstGeom prst="rect">
            <a:avLst/>
          </a:prstGeom>
          <a:solidFill>
            <a:srgbClr val="C4E0E0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10553700" y="3324225"/>
            <a:ext cx="209550" cy="209550"/>
          </a:xfrm>
          <a:prstGeom prst="rect">
            <a:avLst/>
          </a:prstGeom>
          <a:solidFill>
            <a:srgbClr val="C4E0E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10763250" y="3324225"/>
            <a:ext cx="209550" cy="209550"/>
          </a:xfrm>
          <a:prstGeom prst="rect">
            <a:avLst/>
          </a:prstGeom>
          <a:solidFill>
            <a:srgbClr val="EAF4F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10972800" y="3324225"/>
            <a:ext cx="209550" cy="209550"/>
          </a:xfrm>
          <a:prstGeom prst="rect">
            <a:avLst/>
          </a:prstGeom>
          <a:solidFill>
            <a:srgbClr val="C4E0E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11182350" y="3324225"/>
            <a:ext cx="209550" cy="209550"/>
          </a:xfrm>
          <a:prstGeom prst="rect">
            <a:avLst/>
          </a:prstGeom>
          <a:solidFill>
            <a:srgbClr val="EAF4F4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11391900" y="3324225"/>
            <a:ext cx="209550" cy="209550"/>
          </a:xfrm>
          <a:prstGeom prst="rect">
            <a:avLst/>
          </a:prstGeom>
          <a:solidFill>
            <a:srgbClr val="90BFBF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10553700" y="3533775"/>
            <a:ext cx="209550" cy="209550"/>
          </a:xfrm>
          <a:prstGeom prst="rect">
            <a:avLst/>
          </a:prstGeom>
          <a:solidFill>
            <a:srgbClr val="90BFBF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10763250" y="3533775"/>
            <a:ext cx="209550" cy="209550"/>
          </a:xfrm>
          <a:prstGeom prst="rect">
            <a:avLst/>
          </a:prstGeom>
          <a:solidFill>
            <a:srgbClr val="C4E0E0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10972800" y="3533775"/>
            <a:ext cx="209550" cy="209550"/>
          </a:xfrm>
          <a:prstGeom prst="rect">
            <a:avLst/>
          </a:prstGeom>
          <a:solidFill>
            <a:srgbClr val="EAF4F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11182350" y="3533775"/>
            <a:ext cx="209550" cy="209550"/>
          </a:xfrm>
          <a:prstGeom prst="rect">
            <a:avLst/>
          </a:prstGeom>
          <a:solidFill>
            <a:srgbClr val="C4E0E0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11391900" y="3533775"/>
            <a:ext cx="209550" cy="209550"/>
          </a:xfrm>
          <a:prstGeom prst="rect">
            <a:avLst/>
          </a:prstGeom>
          <a:solidFill>
            <a:srgbClr val="EAF4F4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10553700" y="3743325"/>
            <a:ext cx="209550" cy="209550"/>
          </a:xfrm>
          <a:prstGeom prst="rect">
            <a:avLst/>
          </a:prstGeom>
          <a:solidFill>
            <a:srgbClr val="EAF4F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10763250" y="3743325"/>
            <a:ext cx="209550" cy="209550"/>
          </a:xfrm>
          <a:prstGeom prst="rect">
            <a:avLst/>
          </a:prstGeom>
          <a:solidFill>
            <a:srgbClr val="90BFBF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10972800" y="3743325"/>
            <a:ext cx="209550" cy="209550"/>
          </a:xfrm>
          <a:prstGeom prst="rect">
            <a:avLst/>
          </a:prstGeom>
          <a:solidFill>
            <a:srgbClr val="C4E0E0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11182350" y="3743325"/>
            <a:ext cx="209550" cy="209550"/>
          </a:xfrm>
          <a:prstGeom prst="rect">
            <a:avLst/>
          </a:prstGeom>
          <a:solidFill>
            <a:srgbClr val="EAF4F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11391900" y="3743325"/>
            <a:ext cx="209550" cy="209550"/>
          </a:xfrm>
          <a:prstGeom prst="rect">
            <a:avLst/>
          </a:prstGeom>
          <a:solidFill>
            <a:srgbClr val="C4E0E0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oundrect 38"/>
          <p:cNvSpPr/>
          <p:nvPr/>
        </p:nvSpPr>
        <p:spPr>
          <a:xfrm>
            <a:off x="11811000" y="3028950"/>
            <a:ext cx="371475" cy="381000"/>
          </a:xfrm>
          <a:prstGeom prst="roundRect">
            <a:avLst>
              <a:gd name="adj" fmla="val 15385"/>
            </a:avLst>
          </a:prstGeom>
          <a:solidFill>
            <a:srgbClr val="EAF4F4"/>
          </a:solidFill>
          <a:ln w="1270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39" name="Roundrect 39"/>
          <p:cNvSpPr/>
          <p:nvPr/>
        </p:nvSpPr>
        <p:spPr>
          <a:xfrm>
            <a:off x="10144125" y="4505325"/>
            <a:ext cx="1657350" cy="466725"/>
          </a:xfrm>
          <a:prstGeom prst="roundRect">
            <a:avLst>
              <a:gd name="adj" fmla="val 16327"/>
            </a:avLst>
          </a:pr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oundrect 40"/>
          <p:cNvSpPr/>
          <p:nvPr/>
        </p:nvSpPr>
        <p:spPr>
          <a:xfrm>
            <a:off x="12601575" y="3095625"/>
            <a:ext cx="695325" cy="800100"/>
          </a:xfrm>
          <a:prstGeom prst="roundRect">
            <a:avLst>
              <a:gd name="adj" fmla="val 13699"/>
            </a:avLst>
          </a:pr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oundrect 41"/>
          <p:cNvSpPr/>
          <p:nvPr/>
        </p:nvSpPr>
        <p:spPr>
          <a:xfrm>
            <a:off x="13601700" y="3143250"/>
            <a:ext cx="1695450" cy="723900"/>
          </a:xfrm>
          <a:prstGeom prst="roundRect">
            <a:avLst>
              <a:gd name="adj" fmla="val 13158"/>
            </a:avLst>
          </a:prstGeom>
          <a:solidFill>
            <a:srgbClr val="F5F7F9"/>
          </a:solidFill>
          <a:ln w="1270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42" name="Roundrect 42"/>
          <p:cNvSpPr/>
          <p:nvPr/>
        </p:nvSpPr>
        <p:spPr>
          <a:xfrm>
            <a:off x="15906750" y="4486275"/>
            <a:ext cx="2714625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43" name="Ellipse 43"/>
          <p:cNvSpPr/>
          <p:nvPr/>
        </p:nvSpPr>
        <p:spPr>
          <a:xfrm>
            <a:off x="2162175" y="5591175"/>
            <a:ext cx="228600" cy="228600"/>
          </a:xfrm>
          <a:prstGeom prst="ellipse">
            <a:avLst/>
          </a:pr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Ellipse 44"/>
          <p:cNvSpPr/>
          <p:nvPr/>
        </p:nvSpPr>
        <p:spPr>
          <a:xfrm>
            <a:off x="5810250" y="5591175"/>
            <a:ext cx="228600" cy="228600"/>
          </a:xfrm>
          <a:prstGeom prst="ellipse">
            <a:avLst/>
          </a:pr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oundrect 45"/>
          <p:cNvSpPr/>
          <p:nvPr/>
        </p:nvSpPr>
        <p:spPr>
          <a:xfrm>
            <a:off x="8610600" y="5486400"/>
            <a:ext cx="2114550" cy="447675"/>
          </a:xfrm>
          <a:prstGeom prst="roundRect">
            <a:avLst>
              <a:gd name="adj" fmla="val 50000"/>
            </a:avLst>
          </a:pr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Ellipse 46"/>
          <p:cNvSpPr/>
          <p:nvPr/>
        </p:nvSpPr>
        <p:spPr>
          <a:xfrm>
            <a:off x="13230225" y="5591175"/>
            <a:ext cx="228600" cy="228600"/>
          </a:xfrm>
          <a:prstGeom prst="ellipse">
            <a:avLst/>
          </a:pr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Ellipse 47"/>
          <p:cNvSpPr/>
          <p:nvPr/>
        </p:nvSpPr>
        <p:spPr>
          <a:xfrm>
            <a:off x="16840200" y="5591175"/>
            <a:ext cx="228600" cy="228600"/>
          </a:xfrm>
          <a:prstGeom prst="ellipse">
            <a:avLst/>
          </a:prstGeom>
          <a:solidFill>
            <a:srgbClr val="526D8B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1333500" y="3048000"/>
            <a:ext cx="0" cy="695325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1790700" y="3048000"/>
            <a:ext cx="0" cy="695325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2247900" y="3048000"/>
            <a:ext cx="0" cy="695325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1038225" y="385762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>
            <a:off x="1209675" y="385762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1381125" y="385762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>
            <a:off x="1552575" y="385762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>
            <a:off x="1724025" y="385762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>
            <a:off x="1895475" y="385762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>
            <a:off x="2066925" y="385762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>
            <a:off x="2238375" y="385762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>
            <a:off x="2409825" y="385762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60" name="Line 60"/>
          <p:cNvSpPr/>
          <p:nvPr/>
        </p:nvSpPr>
        <p:spPr>
          <a:xfrm>
            <a:off x="2581275" y="385762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2752725" y="385762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>
            <a:off x="2924175" y="385762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 flipH="1">
            <a:off x="2733675" y="3067050"/>
            <a:ext cx="180975" cy="361950"/>
          </a:xfrm>
          <a:prstGeom prst="line">
            <a:avLst/>
          </a:prstGeom>
          <a:noFill/>
          <a:ln w="1524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>
            <a:off x="4495800" y="2676525"/>
            <a:ext cx="76200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65" name="Line 65"/>
          <p:cNvSpPr/>
          <p:nvPr/>
        </p:nvSpPr>
        <p:spPr>
          <a:xfrm>
            <a:off x="4495800" y="3324225"/>
            <a:ext cx="76200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>
            <a:off x="4495800" y="4429125"/>
            <a:ext cx="76200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67" name="Line 67"/>
          <p:cNvSpPr/>
          <p:nvPr/>
        </p:nvSpPr>
        <p:spPr>
          <a:xfrm>
            <a:off x="4572000" y="2676525"/>
            <a:ext cx="0" cy="175260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68" name="Line 68"/>
          <p:cNvSpPr/>
          <p:nvPr/>
        </p:nvSpPr>
        <p:spPr>
          <a:xfrm>
            <a:off x="4572000" y="3486150"/>
            <a:ext cx="1047750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69" name="Line 69"/>
          <p:cNvSpPr/>
          <p:nvPr/>
        </p:nvSpPr>
        <p:spPr>
          <a:xfrm>
            <a:off x="6572250" y="2676525"/>
            <a:ext cx="133350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>
            <a:off x="6572250" y="3324225"/>
            <a:ext cx="133350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71" name="Line 71"/>
          <p:cNvSpPr/>
          <p:nvPr/>
        </p:nvSpPr>
        <p:spPr>
          <a:xfrm>
            <a:off x="6572250" y="4429125"/>
            <a:ext cx="133350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>
            <a:off x="6705600" y="2676525"/>
            <a:ext cx="0" cy="175260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>
            <a:off x="6705600" y="3505200"/>
            <a:ext cx="85725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74" name="Polygon 74"/>
          <p:cNvSpPr/>
          <p:nvPr/>
        </p:nvSpPr>
        <p:spPr>
          <a:xfrm>
            <a:off x="6838950" y="2847975"/>
            <a:ext cx="1085850" cy="13049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5676"/>
                </a:lnTo>
                <a:lnTo>
                  <a:pt x="21600" y="16082"/>
                </a:lnTo>
                <a:lnTo>
                  <a:pt x="0" y="21600"/>
                </a:lnTo>
                <a:close/>
              </a:path>
            </a:pathLst>
          </a:custGeom>
          <a:solidFill>
            <a:srgbClr val="F5F7F9"/>
          </a:solidFill>
          <a:ln w="12700">
            <a:solidFill>
              <a:srgbClr val="526D8B"/>
            </a:solidFill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>
            <a:off x="7991475" y="3505200"/>
            <a:ext cx="381000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76" name="Line 76"/>
          <p:cNvSpPr/>
          <p:nvPr/>
        </p:nvSpPr>
        <p:spPr>
          <a:xfrm>
            <a:off x="9277350" y="3505200"/>
            <a:ext cx="238125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77" name="Line 77"/>
          <p:cNvSpPr/>
          <p:nvPr/>
        </p:nvSpPr>
        <p:spPr>
          <a:xfrm>
            <a:off x="10515600" y="3048000"/>
            <a:ext cx="1143000" cy="0"/>
          </a:xfrm>
          <a:prstGeom prst="line">
            <a:avLst/>
          </a:prstGeom>
          <a:noFill/>
          <a:ln w="1270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78" name="Line 78"/>
          <p:cNvSpPr/>
          <p:nvPr/>
        </p:nvSpPr>
        <p:spPr>
          <a:xfrm>
            <a:off x="10572750" y="4057650"/>
            <a:ext cx="1019175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79" name="Line 79"/>
          <p:cNvSpPr/>
          <p:nvPr/>
        </p:nvSpPr>
        <p:spPr>
          <a:xfrm>
            <a:off x="10439400" y="3133725"/>
            <a:ext cx="0" cy="80010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80" name="Line 80"/>
          <p:cNvSpPr/>
          <p:nvPr/>
        </p:nvSpPr>
        <p:spPr>
          <a:xfrm>
            <a:off x="12363450" y="3505200"/>
            <a:ext cx="171450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81" name="Line 81"/>
          <p:cNvSpPr/>
          <p:nvPr/>
        </p:nvSpPr>
        <p:spPr>
          <a:xfrm>
            <a:off x="13363575" y="3505200"/>
            <a:ext cx="171450" cy="0"/>
          </a:xfrm>
          <a:prstGeom prst="line">
            <a:avLst/>
          </a:prstGeom>
          <a:noFill/>
          <a:ln w="1524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82" name="Line 82"/>
          <p:cNvSpPr/>
          <p:nvPr/>
        </p:nvSpPr>
        <p:spPr>
          <a:xfrm>
            <a:off x="15963900" y="281940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83" name="Line 83"/>
          <p:cNvSpPr/>
          <p:nvPr/>
        </p:nvSpPr>
        <p:spPr>
          <a:xfrm>
            <a:off x="16135350" y="281940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84" name="Line 84"/>
          <p:cNvSpPr/>
          <p:nvPr/>
        </p:nvSpPr>
        <p:spPr>
          <a:xfrm>
            <a:off x="16306800" y="281940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85" name="Line 85"/>
          <p:cNvSpPr/>
          <p:nvPr/>
        </p:nvSpPr>
        <p:spPr>
          <a:xfrm>
            <a:off x="16478250" y="281940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86" name="Line 86"/>
          <p:cNvSpPr/>
          <p:nvPr/>
        </p:nvSpPr>
        <p:spPr>
          <a:xfrm>
            <a:off x="16649700" y="281940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87" name="Line 87"/>
          <p:cNvSpPr/>
          <p:nvPr/>
        </p:nvSpPr>
        <p:spPr>
          <a:xfrm>
            <a:off x="16821150" y="281940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88" name="Line 88"/>
          <p:cNvSpPr/>
          <p:nvPr/>
        </p:nvSpPr>
        <p:spPr>
          <a:xfrm>
            <a:off x="16992600" y="281940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89" name="Line 89"/>
          <p:cNvSpPr/>
          <p:nvPr/>
        </p:nvSpPr>
        <p:spPr>
          <a:xfrm>
            <a:off x="17164050" y="281940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>
            <a:off x="17335500" y="281940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91" name="Line 91"/>
          <p:cNvSpPr/>
          <p:nvPr/>
        </p:nvSpPr>
        <p:spPr>
          <a:xfrm>
            <a:off x="17506950" y="281940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92" name="Line 92"/>
          <p:cNvSpPr/>
          <p:nvPr/>
        </p:nvSpPr>
        <p:spPr>
          <a:xfrm>
            <a:off x="17678400" y="281940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93" name="Line 93"/>
          <p:cNvSpPr/>
          <p:nvPr/>
        </p:nvSpPr>
        <p:spPr>
          <a:xfrm>
            <a:off x="17849850" y="281940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94" name="Line 94"/>
          <p:cNvSpPr/>
          <p:nvPr/>
        </p:nvSpPr>
        <p:spPr>
          <a:xfrm>
            <a:off x="18021300" y="281940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95" name="Line 95"/>
          <p:cNvSpPr/>
          <p:nvPr/>
        </p:nvSpPr>
        <p:spPr>
          <a:xfrm>
            <a:off x="18192750" y="281940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96" name="Line 96"/>
          <p:cNvSpPr/>
          <p:nvPr/>
        </p:nvSpPr>
        <p:spPr>
          <a:xfrm>
            <a:off x="18364200" y="281940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97" name="Line 97"/>
          <p:cNvSpPr/>
          <p:nvPr/>
        </p:nvSpPr>
        <p:spPr>
          <a:xfrm>
            <a:off x="18535650" y="281940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98" name="Line 98"/>
          <p:cNvSpPr/>
          <p:nvPr/>
        </p:nvSpPr>
        <p:spPr>
          <a:xfrm>
            <a:off x="18707100" y="281940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99" name="Line 99"/>
          <p:cNvSpPr/>
          <p:nvPr/>
        </p:nvSpPr>
        <p:spPr>
          <a:xfrm>
            <a:off x="15963900" y="326707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00" name="Line 100"/>
          <p:cNvSpPr/>
          <p:nvPr/>
        </p:nvSpPr>
        <p:spPr>
          <a:xfrm>
            <a:off x="16135350" y="326707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01" name="Line 101"/>
          <p:cNvSpPr/>
          <p:nvPr/>
        </p:nvSpPr>
        <p:spPr>
          <a:xfrm>
            <a:off x="16306800" y="326707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02" name="Line 102"/>
          <p:cNvSpPr/>
          <p:nvPr/>
        </p:nvSpPr>
        <p:spPr>
          <a:xfrm>
            <a:off x="16478250" y="326707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03" name="Line 103"/>
          <p:cNvSpPr/>
          <p:nvPr/>
        </p:nvSpPr>
        <p:spPr>
          <a:xfrm>
            <a:off x="16649700" y="326707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04" name="Line 104"/>
          <p:cNvSpPr/>
          <p:nvPr/>
        </p:nvSpPr>
        <p:spPr>
          <a:xfrm>
            <a:off x="16821150" y="326707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05" name="Line 105"/>
          <p:cNvSpPr/>
          <p:nvPr/>
        </p:nvSpPr>
        <p:spPr>
          <a:xfrm>
            <a:off x="16992600" y="326707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06" name="Line 106"/>
          <p:cNvSpPr/>
          <p:nvPr/>
        </p:nvSpPr>
        <p:spPr>
          <a:xfrm>
            <a:off x="17164050" y="326707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07" name="Line 107"/>
          <p:cNvSpPr/>
          <p:nvPr/>
        </p:nvSpPr>
        <p:spPr>
          <a:xfrm>
            <a:off x="17335500" y="326707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08" name="Line 108"/>
          <p:cNvSpPr/>
          <p:nvPr/>
        </p:nvSpPr>
        <p:spPr>
          <a:xfrm>
            <a:off x="17506950" y="326707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09" name="Line 109"/>
          <p:cNvSpPr/>
          <p:nvPr/>
        </p:nvSpPr>
        <p:spPr>
          <a:xfrm>
            <a:off x="17678400" y="326707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10" name="Line 110"/>
          <p:cNvSpPr/>
          <p:nvPr/>
        </p:nvSpPr>
        <p:spPr>
          <a:xfrm>
            <a:off x="17849850" y="326707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11" name="Line 111"/>
          <p:cNvSpPr/>
          <p:nvPr/>
        </p:nvSpPr>
        <p:spPr>
          <a:xfrm>
            <a:off x="18021300" y="326707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12" name="Line 112"/>
          <p:cNvSpPr/>
          <p:nvPr/>
        </p:nvSpPr>
        <p:spPr>
          <a:xfrm>
            <a:off x="18192750" y="326707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13" name="Line 113"/>
          <p:cNvSpPr/>
          <p:nvPr/>
        </p:nvSpPr>
        <p:spPr>
          <a:xfrm>
            <a:off x="18364200" y="326707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14" name="Line 114"/>
          <p:cNvSpPr/>
          <p:nvPr/>
        </p:nvSpPr>
        <p:spPr>
          <a:xfrm>
            <a:off x="18535650" y="326707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15" name="Line 115"/>
          <p:cNvSpPr/>
          <p:nvPr/>
        </p:nvSpPr>
        <p:spPr>
          <a:xfrm>
            <a:off x="18707100" y="3267075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16" name="Line 116"/>
          <p:cNvSpPr/>
          <p:nvPr/>
        </p:nvSpPr>
        <p:spPr>
          <a:xfrm>
            <a:off x="15963900" y="398145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17" name="Line 117"/>
          <p:cNvSpPr/>
          <p:nvPr/>
        </p:nvSpPr>
        <p:spPr>
          <a:xfrm>
            <a:off x="16135350" y="398145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18" name="Line 118"/>
          <p:cNvSpPr/>
          <p:nvPr/>
        </p:nvSpPr>
        <p:spPr>
          <a:xfrm>
            <a:off x="16306800" y="398145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19" name="Line 119"/>
          <p:cNvSpPr/>
          <p:nvPr/>
        </p:nvSpPr>
        <p:spPr>
          <a:xfrm>
            <a:off x="16478250" y="398145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20" name="Line 120"/>
          <p:cNvSpPr/>
          <p:nvPr/>
        </p:nvSpPr>
        <p:spPr>
          <a:xfrm>
            <a:off x="16649700" y="398145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21" name="Line 121"/>
          <p:cNvSpPr/>
          <p:nvPr/>
        </p:nvSpPr>
        <p:spPr>
          <a:xfrm>
            <a:off x="16821150" y="398145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22" name="Line 122"/>
          <p:cNvSpPr/>
          <p:nvPr/>
        </p:nvSpPr>
        <p:spPr>
          <a:xfrm>
            <a:off x="16992600" y="398145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23" name="Line 123"/>
          <p:cNvSpPr/>
          <p:nvPr/>
        </p:nvSpPr>
        <p:spPr>
          <a:xfrm>
            <a:off x="17164050" y="398145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24" name="Line 124"/>
          <p:cNvSpPr/>
          <p:nvPr/>
        </p:nvSpPr>
        <p:spPr>
          <a:xfrm>
            <a:off x="17335500" y="398145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25" name="Line 125"/>
          <p:cNvSpPr/>
          <p:nvPr/>
        </p:nvSpPr>
        <p:spPr>
          <a:xfrm>
            <a:off x="17506950" y="398145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26" name="Line 126"/>
          <p:cNvSpPr/>
          <p:nvPr/>
        </p:nvSpPr>
        <p:spPr>
          <a:xfrm>
            <a:off x="17678400" y="398145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27" name="Line 127"/>
          <p:cNvSpPr/>
          <p:nvPr/>
        </p:nvSpPr>
        <p:spPr>
          <a:xfrm>
            <a:off x="17849850" y="398145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28" name="Line 128"/>
          <p:cNvSpPr/>
          <p:nvPr/>
        </p:nvSpPr>
        <p:spPr>
          <a:xfrm>
            <a:off x="18021300" y="398145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29" name="Line 129"/>
          <p:cNvSpPr/>
          <p:nvPr/>
        </p:nvSpPr>
        <p:spPr>
          <a:xfrm>
            <a:off x="18192750" y="398145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30" name="Line 130"/>
          <p:cNvSpPr/>
          <p:nvPr/>
        </p:nvSpPr>
        <p:spPr>
          <a:xfrm>
            <a:off x="18364200" y="398145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31" name="Line 131"/>
          <p:cNvSpPr/>
          <p:nvPr/>
        </p:nvSpPr>
        <p:spPr>
          <a:xfrm>
            <a:off x="18535650" y="398145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32" name="Line 132"/>
          <p:cNvSpPr/>
          <p:nvPr/>
        </p:nvSpPr>
        <p:spPr>
          <a:xfrm>
            <a:off x="18707100" y="3981450"/>
            <a:ext cx="95250" cy="0"/>
          </a:xfrm>
          <a:prstGeom prst="line">
            <a:avLst/>
          </a:prstGeom>
          <a:noFill/>
          <a:ln w="1270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33" name="Line 133"/>
          <p:cNvSpPr/>
          <p:nvPr/>
        </p:nvSpPr>
        <p:spPr>
          <a:xfrm>
            <a:off x="685800" y="5705475"/>
            <a:ext cx="17887950" cy="0"/>
          </a:xfrm>
          <a:prstGeom prst="line">
            <a:avLst/>
          </a:prstGeom>
          <a:noFill/>
          <a:ln w="12700">
            <a:solidFill>
              <a:srgbClr val="41484F"/>
            </a:solidFill>
          </a:ln>
        </p:spPr>
        <p:txBody>
          <a:bodyPr/>
          <a:lstStyle/>
          <a:p/>
        </p:txBody>
      </p:sp>
      <p:sp>
        <p:nvSpPr>
          <p:cNvPr id="134" name="Polygon 134"/>
          <p:cNvSpPr/>
          <p:nvPr/>
        </p:nvSpPr>
        <p:spPr>
          <a:xfrm>
            <a:off x="1302830" y="3676650"/>
            <a:ext cx="61341" cy="666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Polygon 135"/>
          <p:cNvSpPr/>
          <p:nvPr/>
        </p:nvSpPr>
        <p:spPr>
          <a:xfrm>
            <a:off x="1760030" y="3676650"/>
            <a:ext cx="61341" cy="666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Polygon 136"/>
          <p:cNvSpPr/>
          <p:nvPr/>
        </p:nvSpPr>
        <p:spPr>
          <a:xfrm>
            <a:off x="2217230" y="3676650"/>
            <a:ext cx="61341" cy="666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Polygon 137"/>
          <p:cNvSpPr/>
          <p:nvPr/>
        </p:nvSpPr>
        <p:spPr>
          <a:xfrm>
            <a:off x="2733675" y="3355648"/>
            <a:ext cx="57250" cy="7335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900" y="0"/>
                </a:lnTo>
                <a:lnTo>
                  <a:pt x="21600" y="8078"/>
                </a:lnTo>
                <a:close/>
              </a:path>
            </a:pathLst>
          </a:custGeom>
          <a:solidFill>
            <a:srgbClr val="D58B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Polygon 138"/>
          <p:cNvSpPr/>
          <p:nvPr/>
        </p:nvSpPr>
        <p:spPr>
          <a:xfrm>
            <a:off x="5543550" y="3451098"/>
            <a:ext cx="76200" cy="7010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Polygon 139"/>
          <p:cNvSpPr/>
          <p:nvPr/>
        </p:nvSpPr>
        <p:spPr>
          <a:xfrm>
            <a:off x="6753225" y="3487674"/>
            <a:ext cx="38100" cy="3505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Polygon 140"/>
          <p:cNvSpPr/>
          <p:nvPr/>
        </p:nvSpPr>
        <p:spPr>
          <a:xfrm>
            <a:off x="8296275" y="3470148"/>
            <a:ext cx="76200" cy="7010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" name="Polygon 141"/>
          <p:cNvSpPr/>
          <p:nvPr/>
        </p:nvSpPr>
        <p:spPr>
          <a:xfrm>
            <a:off x="9448800" y="3474529"/>
            <a:ext cx="66675" cy="6134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" name="Polygon 142"/>
          <p:cNvSpPr/>
          <p:nvPr/>
        </p:nvSpPr>
        <p:spPr>
          <a:xfrm>
            <a:off x="11525250" y="4026979"/>
            <a:ext cx="66675" cy="6134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Polygon 143"/>
          <p:cNvSpPr/>
          <p:nvPr/>
        </p:nvSpPr>
        <p:spPr>
          <a:xfrm>
            <a:off x="10572750" y="4026979"/>
            <a:ext cx="66675" cy="6134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0800"/>
                </a:move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Polygon 144"/>
          <p:cNvSpPr/>
          <p:nvPr/>
        </p:nvSpPr>
        <p:spPr>
          <a:xfrm>
            <a:off x="10408730" y="3867150"/>
            <a:ext cx="61341" cy="666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" name="Polygon 145"/>
          <p:cNvSpPr/>
          <p:nvPr/>
        </p:nvSpPr>
        <p:spPr>
          <a:xfrm>
            <a:off x="10408730" y="3133725"/>
            <a:ext cx="61341" cy="666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Polygon 146"/>
          <p:cNvSpPr/>
          <p:nvPr/>
        </p:nvSpPr>
        <p:spPr>
          <a:xfrm>
            <a:off x="12477750" y="3478911"/>
            <a:ext cx="57150" cy="5257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" name="Polygon 147"/>
          <p:cNvSpPr/>
          <p:nvPr/>
        </p:nvSpPr>
        <p:spPr>
          <a:xfrm>
            <a:off x="13477875" y="3478911"/>
            <a:ext cx="57150" cy="5257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414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" name="Line 148"/>
          <p:cNvSpPr/>
          <p:nvPr/>
        </p:nvSpPr>
        <p:spPr>
          <a:xfrm flipV="1">
            <a:off x="15973425" y="4157624"/>
            <a:ext cx="16078" cy="33376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49" name="Line 149"/>
          <p:cNvSpPr/>
          <p:nvPr/>
        </p:nvSpPr>
        <p:spPr>
          <a:xfrm flipV="1">
            <a:off x="15989503" y="4113733"/>
            <a:ext cx="22250" cy="43891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50" name="Line 150"/>
          <p:cNvSpPr/>
          <p:nvPr/>
        </p:nvSpPr>
        <p:spPr>
          <a:xfrm flipV="1">
            <a:off x="16011754" y="4057955"/>
            <a:ext cx="26594" cy="55778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51" name="Line 151"/>
          <p:cNvSpPr/>
          <p:nvPr/>
        </p:nvSpPr>
        <p:spPr>
          <a:xfrm flipV="1">
            <a:off x="16038347" y="3988918"/>
            <a:ext cx="29108" cy="6903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52" name="Line 152"/>
          <p:cNvSpPr/>
          <p:nvPr/>
        </p:nvSpPr>
        <p:spPr>
          <a:xfrm flipV="1">
            <a:off x="16067456" y="3905250"/>
            <a:ext cx="29794" cy="83668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53" name="Line 153"/>
          <p:cNvSpPr/>
          <p:nvPr/>
        </p:nvSpPr>
        <p:spPr>
          <a:xfrm flipV="1">
            <a:off x="16097250" y="3794608"/>
            <a:ext cx="32614" cy="110642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54" name="Line 154"/>
          <p:cNvSpPr/>
          <p:nvPr/>
        </p:nvSpPr>
        <p:spPr>
          <a:xfrm flipV="1">
            <a:off x="16129864" y="3657905"/>
            <a:ext cx="36652" cy="136703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55" name="Line 155"/>
          <p:cNvSpPr/>
          <p:nvPr/>
        </p:nvSpPr>
        <p:spPr>
          <a:xfrm flipV="1">
            <a:off x="16166516" y="3513658"/>
            <a:ext cx="37490" cy="14424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56" name="Line 156"/>
          <p:cNvSpPr/>
          <p:nvPr/>
        </p:nvSpPr>
        <p:spPr>
          <a:xfrm flipV="1">
            <a:off x="16204006" y="3380384"/>
            <a:ext cx="35128" cy="133274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57" name="Line 157"/>
          <p:cNvSpPr/>
          <p:nvPr/>
        </p:nvSpPr>
        <p:spPr>
          <a:xfrm flipV="1">
            <a:off x="16239134" y="3276600"/>
            <a:ext cx="29566" cy="103784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58" name="Line 158"/>
          <p:cNvSpPr/>
          <p:nvPr/>
        </p:nvSpPr>
        <p:spPr>
          <a:xfrm flipV="1">
            <a:off x="16268700" y="3202610"/>
            <a:ext cx="21869" cy="73990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59" name="Line 159"/>
          <p:cNvSpPr/>
          <p:nvPr/>
        </p:nvSpPr>
        <p:spPr>
          <a:xfrm flipV="1">
            <a:off x="16290569" y="3146069"/>
            <a:ext cx="16307" cy="56540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60" name="Line 160"/>
          <p:cNvSpPr/>
          <p:nvPr/>
        </p:nvSpPr>
        <p:spPr>
          <a:xfrm flipV="1">
            <a:off x="16306876" y="3106522"/>
            <a:ext cx="13945" cy="39548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61" name="Line 161"/>
          <p:cNvSpPr/>
          <p:nvPr/>
        </p:nvSpPr>
        <p:spPr>
          <a:xfrm flipV="1">
            <a:off x="16320821" y="3083509"/>
            <a:ext cx="14783" cy="23012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62" name="Line 162"/>
          <p:cNvSpPr/>
          <p:nvPr/>
        </p:nvSpPr>
        <p:spPr>
          <a:xfrm flipV="1">
            <a:off x="16335604" y="3076575"/>
            <a:ext cx="18821" cy="6934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63" name="Line 163"/>
          <p:cNvSpPr/>
          <p:nvPr/>
        </p:nvSpPr>
        <p:spPr>
          <a:xfrm>
            <a:off x="16354425" y="3076575"/>
            <a:ext cx="23470" cy="13106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64" name="Line 164"/>
          <p:cNvSpPr/>
          <p:nvPr/>
        </p:nvSpPr>
        <p:spPr>
          <a:xfrm>
            <a:off x="16377895" y="3089681"/>
            <a:ext cx="25984" cy="33452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65" name="Line 165"/>
          <p:cNvSpPr/>
          <p:nvPr/>
        </p:nvSpPr>
        <p:spPr>
          <a:xfrm>
            <a:off x="16403879" y="3123133"/>
            <a:ext cx="27584" cy="47854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66" name="Line 166"/>
          <p:cNvSpPr/>
          <p:nvPr/>
        </p:nvSpPr>
        <p:spPr>
          <a:xfrm>
            <a:off x="16431463" y="3170987"/>
            <a:ext cx="28270" cy="56312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67" name="Line 167"/>
          <p:cNvSpPr/>
          <p:nvPr/>
        </p:nvSpPr>
        <p:spPr>
          <a:xfrm>
            <a:off x="16459733" y="3227299"/>
            <a:ext cx="28042" cy="58826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68" name="Line 168"/>
          <p:cNvSpPr/>
          <p:nvPr/>
        </p:nvSpPr>
        <p:spPr>
          <a:xfrm>
            <a:off x="16487775" y="3286125"/>
            <a:ext cx="28575" cy="68199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69" name="Line 169"/>
          <p:cNvSpPr/>
          <p:nvPr/>
        </p:nvSpPr>
        <p:spPr>
          <a:xfrm>
            <a:off x="16516350" y="3354324"/>
            <a:ext cx="29718" cy="81534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70" name="Line 170"/>
          <p:cNvSpPr/>
          <p:nvPr/>
        </p:nvSpPr>
        <p:spPr>
          <a:xfrm>
            <a:off x="16546068" y="3435858"/>
            <a:ext cx="29718" cy="84582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71" name="Line 171"/>
          <p:cNvSpPr/>
          <p:nvPr/>
        </p:nvSpPr>
        <p:spPr>
          <a:xfrm>
            <a:off x="16575786" y="3520440"/>
            <a:ext cx="28575" cy="77343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72" name="Line 172"/>
          <p:cNvSpPr/>
          <p:nvPr/>
        </p:nvSpPr>
        <p:spPr>
          <a:xfrm>
            <a:off x="16604361" y="3597783"/>
            <a:ext cx="26289" cy="5981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73" name="Line 173"/>
          <p:cNvSpPr/>
          <p:nvPr/>
        </p:nvSpPr>
        <p:spPr>
          <a:xfrm>
            <a:off x="16630650" y="3657600"/>
            <a:ext cx="22479" cy="4457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74" name="Line 174"/>
          <p:cNvSpPr/>
          <p:nvPr/>
        </p:nvSpPr>
        <p:spPr>
          <a:xfrm>
            <a:off x="16653129" y="3702177"/>
            <a:ext cx="19431" cy="36195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75" name="Line 175"/>
          <p:cNvSpPr/>
          <p:nvPr/>
        </p:nvSpPr>
        <p:spPr>
          <a:xfrm>
            <a:off x="16672560" y="3738372"/>
            <a:ext cx="18669" cy="24384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76" name="Line 176"/>
          <p:cNvSpPr/>
          <p:nvPr/>
        </p:nvSpPr>
        <p:spPr>
          <a:xfrm>
            <a:off x="16691229" y="3762756"/>
            <a:ext cx="20193" cy="9144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77" name="Line 177"/>
          <p:cNvSpPr/>
          <p:nvPr/>
        </p:nvSpPr>
        <p:spPr>
          <a:xfrm flipV="1">
            <a:off x="16711422" y="3762375"/>
            <a:ext cx="24003" cy="9525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78" name="Line 178"/>
          <p:cNvSpPr/>
          <p:nvPr/>
        </p:nvSpPr>
        <p:spPr>
          <a:xfrm flipV="1">
            <a:off x="16735425" y="3723208"/>
            <a:ext cx="30404" cy="3916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79" name="Line 179"/>
          <p:cNvSpPr/>
          <p:nvPr/>
        </p:nvSpPr>
        <p:spPr>
          <a:xfrm flipV="1">
            <a:off x="16765829" y="3656686"/>
            <a:ext cx="35281" cy="66523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80" name="Line 180"/>
          <p:cNvSpPr/>
          <p:nvPr/>
        </p:nvSpPr>
        <p:spPr>
          <a:xfrm flipV="1">
            <a:off x="16801109" y="3579266"/>
            <a:ext cx="36271" cy="77419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81" name="Line 181"/>
          <p:cNvSpPr/>
          <p:nvPr/>
        </p:nvSpPr>
        <p:spPr>
          <a:xfrm flipV="1">
            <a:off x="16837381" y="3507410"/>
            <a:ext cx="33376" cy="7185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82" name="Line 182"/>
          <p:cNvSpPr/>
          <p:nvPr/>
        </p:nvSpPr>
        <p:spPr>
          <a:xfrm flipV="1">
            <a:off x="16870756" y="3457575"/>
            <a:ext cx="26594" cy="49835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83" name="Line 183"/>
          <p:cNvSpPr/>
          <p:nvPr/>
        </p:nvSpPr>
        <p:spPr>
          <a:xfrm flipV="1">
            <a:off x="16897350" y="3427476"/>
            <a:ext cx="16307" cy="30099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84" name="Line 184"/>
          <p:cNvSpPr/>
          <p:nvPr/>
        </p:nvSpPr>
        <p:spPr>
          <a:xfrm flipV="1">
            <a:off x="16913657" y="3406140"/>
            <a:ext cx="8611" cy="21336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85" name="Line 185"/>
          <p:cNvSpPr/>
          <p:nvPr/>
        </p:nvSpPr>
        <p:spPr>
          <a:xfrm flipV="1">
            <a:off x="16922267" y="3396996"/>
            <a:ext cx="6172" cy="9144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86" name="Line 186"/>
          <p:cNvSpPr/>
          <p:nvPr/>
        </p:nvSpPr>
        <p:spPr>
          <a:xfrm>
            <a:off x="16928440" y="3396996"/>
            <a:ext cx="8992" cy="647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87" name="Line 187"/>
          <p:cNvSpPr/>
          <p:nvPr/>
        </p:nvSpPr>
        <p:spPr>
          <a:xfrm>
            <a:off x="16937431" y="3403473"/>
            <a:ext cx="17069" cy="2552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88" name="Line 188"/>
          <p:cNvSpPr/>
          <p:nvPr/>
        </p:nvSpPr>
        <p:spPr>
          <a:xfrm>
            <a:off x="16954500" y="3429000"/>
            <a:ext cx="27889" cy="50368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89" name="Line 189"/>
          <p:cNvSpPr/>
          <p:nvPr/>
        </p:nvSpPr>
        <p:spPr>
          <a:xfrm>
            <a:off x="16982389" y="3479368"/>
            <a:ext cx="35204" cy="72923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90" name="Line 190"/>
          <p:cNvSpPr/>
          <p:nvPr/>
        </p:nvSpPr>
        <p:spPr>
          <a:xfrm>
            <a:off x="17017594" y="3552292"/>
            <a:ext cx="38405" cy="86792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91" name="Line 191"/>
          <p:cNvSpPr/>
          <p:nvPr/>
        </p:nvSpPr>
        <p:spPr>
          <a:xfrm>
            <a:off x="17055998" y="3639083"/>
            <a:ext cx="37490" cy="91973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92" name="Line 192"/>
          <p:cNvSpPr/>
          <p:nvPr/>
        </p:nvSpPr>
        <p:spPr>
          <a:xfrm>
            <a:off x="17093489" y="3731057"/>
            <a:ext cx="32461" cy="88468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93" name="Line 193"/>
          <p:cNvSpPr/>
          <p:nvPr/>
        </p:nvSpPr>
        <p:spPr>
          <a:xfrm>
            <a:off x="17125950" y="3819525"/>
            <a:ext cx="26213" cy="96850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94" name="Line 194"/>
          <p:cNvSpPr/>
          <p:nvPr/>
        </p:nvSpPr>
        <p:spPr>
          <a:xfrm>
            <a:off x="17152163" y="3916375"/>
            <a:ext cx="22708" cy="111023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95" name="Line 195"/>
          <p:cNvSpPr/>
          <p:nvPr/>
        </p:nvSpPr>
        <p:spPr>
          <a:xfrm>
            <a:off x="17174870" y="4027399"/>
            <a:ext cx="21031" cy="107366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96" name="Line 196"/>
          <p:cNvSpPr/>
          <p:nvPr/>
        </p:nvSpPr>
        <p:spPr>
          <a:xfrm>
            <a:off x="17195902" y="4134764"/>
            <a:ext cx="21184" cy="8587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97" name="Line 197"/>
          <p:cNvSpPr/>
          <p:nvPr/>
        </p:nvSpPr>
        <p:spPr>
          <a:xfrm>
            <a:off x="17217085" y="4220642"/>
            <a:ext cx="23165" cy="46558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98" name="Line 198"/>
          <p:cNvSpPr/>
          <p:nvPr/>
        </p:nvSpPr>
        <p:spPr>
          <a:xfrm>
            <a:off x="17240250" y="4267200"/>
            <a:ext cx="24689" cy="2515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199" name="Line 199"/>
          <p:cNvSpPr/>
          <p:nvPr/>
        </p:nvSpPr>
        <p:spPr>
          <a:xfrm flipV="1">
            <a:off x="17264939" y="4240073"/>
            <a:ext cx="24994" cy="29642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00" name="Line 200"/>
          <p:cNvSpPr/>
          <p:nvPr/>
        </p:nvSpPr>
        <p:spPr>
          <a:xfrm flipV="1">
            <a:off x="17289932" y="4185361"/>
            <a:ext cx="25984" cy="54712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01" name="Line 201"/>
          <p:cNvSpPr/>
          <p:nvPr/>
        </p:nvSpPr>
        <p:spPr>
          <a:xfrm flipV="1">
            <a:off x="17315917" y="4112666"/>
            <a:ext cx="27661" cy="72695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02" name="Line 202"/>
          <p:cNvSpPr/>
          <p:nvPr/>
        </p:nvSpPr>
        <p:spPr>
          <a:xfrm flipV="1">
            <a:off x="17343577" y="4029075"/>
            <a:ext cx="30023" cy="83591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03" name="Line 203"/>
          <p:cNvSpPr/>
          <p:nvPr/>
        </p:nvSpPr>
        <p:spPr>
          <a:xfrm flipV="1">
            <a:off x="17373600" y="3918585"/>
            <a:ext cx="34519" cy="110490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04" name="Line 204"/>
          <p:cNvSpPr/>
          <p:nvPr/>
        </p:nvSpPr>
        <p:spPr>
          <a:xfrm flipV="1">
            <a:off x="17408119" y="3776472"/>
            <a:ext cx="38557" cy="142113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05" name="Line 205"/>
          <p:cNvSpPr/>
          <p:nvPr/>
        </p:nvSpPr>
        <p:spPr>
          <a:xfrm flipV="1">
            <a:off x="17446676" y="3626739"/>
            <a:ext cx="39395" cy="149733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06" name="Line 206"/>
          <p:cNvSpPr/>
          <p:nvPr/>
        </p:nvSpPr>
        <p:spPr>
          <a:xfrm flipV="1">
            <a:off x="17486071" y="3493389"/>
            <a:ext cx="37033" cy="133350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07" name="Line 207"/>
          <p:cNvSpPr/>
          <p:nvPr/>
        </p:nvSpPr>
        <p:spPr>
          <a:xfrm flipV="1">
            <a:off x="17523104" y="3400425"/>
            <a:ext cx="31471" cy="92964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08" name="Line 208"/>
          <p:cNvSpPr/>
          <p:nvPr/>
        </p:nvSpPr>
        <p:spPr>
          <a:xfrm flipV="1">
            <a:off x="17554575" y="3356381"/>
            <a:ext cx="24384" cy="44044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09" name="Line 209"/>
          <p:cNvSpPr/>
          <p:nvPr/>
        </p:nvSpPr>
        <p:spPr>
          <a:xfrm flipV="1">
            <a:off x="17578959" y="3345256"/>
            <a:ext cx="19431" cy="11125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10" name="Line 210"/>
          <p:cNvSpPr/>
          <p:nvPr/>
        </p:nvSpPr>
        <p:spPr>
          <a:xfrm>
            <a:off x="17598390" y="3345256"/>
            <a:ext cx="16764" cy="8992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11" name="Line 211"/>
          <p:cNvSpPr/>
          <p:nvPr/>
        </p:nvSpPr>
        <p:spPr>
          <a:xfrm>
            <a:off x="17615154" y="3354248"/>
            <a:ext cx="16383" cy="1630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12" name="Line 212"/>
          <p:cNvSpPr/>
          <p:nvPr/>
        </p:nvSpPr>
        <p:spPr>
          <a:xfrm>
            <a:off x="17631537" y="3370555"/>
            <a:ext cx="18288" cy="10820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13" name="Line 213"/>
          <p:cNvSpPr/>
          <p:nvPr/>
        </p:nvSpPr>
        <p:spPr>
          <a:xfrm>
            <a:off x="17649825" y="3381375"/>
            <a:ext cx="19431" cy="17678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14" name="Line 214"/>
          <p:cNvSpPr/>
          <p:nvPr/>
        </p:nvSpPr>
        <p:spPr>
          <a:xfrm>
            <a:off x="17669256" y="3399053"/>
            <a:ext cx="19050" cy="33071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15" name="Line 215"/>
          <p:cNvSpPr/>
          <p:nvPr/>
        </p:nvSpPr>
        <p:spPr>
          <a:xfrm>
            <a:off x="17688306" y="3432124"/>
            <a:ext cx="19812" cy="2994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16" name="Line 216"/>
          <p:cNvSpPr/>
          <p:nvPr/>
        </p:nvSpPr>
        <p:spPr>
          <a:xfrm>
            <a:off x="17708118" y="3462071"/>
            <a:ext cx="21717" cy="8306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17" name="Line 217"/>
          <p:cNvSpPr/>
          <p:nvPr/>
        </p:nvSpPr>
        <p:spPr>
          <a:xfrm flipV="1">
            <a:off x="17729835" y="3438525"/>
            <a:ext cx="24765" cy="31852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18" name="Line 218"/>
          <p:cNvSpPr/>
          <p:nvPr/>
        </p:nvSpPr>
        <p:spPr>
          <a:xfrm flipV="1">
            <a:off x="17754600" y="3347314"/>
            <a:ext cx="29947" cy="91211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19" name="Line 219"/>
          <p:cNvSpPr/>
          <p:nvPr/>
        </p:nvSpPr>
        <p:spPr>
          <a:xfrm flipV="1">
            <a:off x="17784547" y="3209087"/>
            <a:ext cx="34366" cy="13822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20" name="Line 220"/>
          <p:cNvSpPr/>
          <p:nvPr/>
        </p:nvSpPr>
        <p:spPr>
          <a:xfrm flipV="1">
            <a:off x="17818913" y="3052648"/>
            <a:ext cx="35585" cy="156439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21" name="Line 221"/>
          <p:cNvSpPr/>
          <p:nvPr/>
        </p:nvSpPr>
        <p:spPr>
          <a:xfrm flipV="1">
            <a:off x="17854498" y="2906801"/>
            <a:ext cx="33604" cy="14584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22" name="Line 222"/>
          <p:cNvSpPr/>
          <p:nvPr/>
        </p:nvSpPr>
        <p:spPr>
          <a:xfrm flipV="1">
            <a:off x="17888102" y="2800350"/>
            <a:ext cx="28423" cy="106451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23" name="Line 223"/>
          <p:cNvSpPr/>
          <p:nvPr/>
        </p:nvSpPr>
        <p:spPr>
          <a:xfrm flipV="1">
            <a:off x="17916525" y="2729179"/>
            <a:ext cx="20803" cy="71171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24" name="Line 224"/>
          <p:cNvSpPr/>
          <p:nvPr/>
        </p:nvSpPr>
        <p:spPr>
          <a:xfrm flipV="1">
            <a:off x="17937328" y="2674087"/>
            <a:ext cx="15316" cy="55093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25" name="Line 225"/>
          <p:cNvSpPr/>
          <p:nvPr/>
        </p:nvSpPr>
        <p:spPr>
          <a:xfrm flipV="1">
            <a:off x="17952644" y="2641244"/>
            <a:ext cx="13487" cy="32842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26" name="Line 226"/>
          <p:cNvSpPr/>
          <p:nvPr/>
        </p:nvSpPr>
        <p:spPr>
          <a:xfrm flipV="1">
            <a:off x="17966131" y="2636825"/>
            <a:ext cx="15316" cy="4420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27" name="Line 227"/>
          <p:cNvSpPr/>
          <p:nvPr/>
        </p:nvSpPr>
        <p:spPr>
          <a:xfrm>
            <a:off x="17981447" y="2636825"/>
            <a:ext cx="20803" cy="30175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28" name="Line 228"/>
          <p:cNvSpPr/>
          <p:nvPr/>
        </p:nvSpPr>
        <p:spPr>
          <a:xfrm>
            <a:off x="18002250" y="2667000"/>
            <a:ext cx="28118" cy="78638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29" name="Line 229"/>
          <p:cNvSpPr/>
          <p:nvPr/>
        </p:nvSpPr>
        <p:spPr>
          <a:xfrm>
            <a:off x="18030368" y="2745638"/>
            <a:ext cx="32995" cy="12298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30" name="Line 230"/>
          <p:cNvSpPr/>
          <p:nvPr/>
        </p:nvSpPr>
        <p:spPr>
          <a:xfrm>
            <a:off x="18063362" y="2868625"/>
            <a:ext cx="35128" cy="146533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31" name="Line 231"/>
          <p:cNvSpPr/>
          <p:nvPr/>
        </p:nvSpPr>
        <p:spPr>
          <a:xfrm>
            <a:off x="18098491" y="3015158"/>
            <a:ext cx="34519" cy="149276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32" name="Line 232"/>
          <p:cNvSpPr/>
          <p:nvPr/>
        </p:nvSpPr>
        <p:spPr>
          <a:xfrm>
            <a:off x="18133009" y="3164434"/>
            <a:ext cx="31166" cy="131216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33" name="Line 233"/>
          <p:cNvSpPr/>
          <p:nvPr/>
        </p:nvSpPr>
        <p:spPr>
          <a:xfrm>
            <a:off x="18164175" y="3295650"/>
            <a:ext cx="27661" cy="115291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34" name="Line 234"/>
          <p:cNvSpPr/>
          <p:nvPr/>
        </p:nvSpPr>
        <p:spPr>
          <a:xfrm>
            <a:off x="18191836" y="3410941"/>
            <a:ext cx="25984" cy="113233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35" name="Line 235"/>
          <p:cNvSpPr/>
          <p:nvPr/>
        </p:nvSpPr>
        <p:spPr>
          <a:xfrm>
            <a:off x="18217820" y="3524174"/>
            <a:ext cx="24536" cy="107975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36" name="Line 236"/>
          <p:cNvSpPr/>
          <p:nvPr/>
        </p:nvSpPr>
        <p:spPr>
          <a:xfrm>
            <a:off x="18242356" y="3632149"/>
            <a:ext cx="23317" cy="9951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37" name="Line 237"/>
          <p:cNvSpPr/>
          <p:nvPr/>
        </p:nvSpPr>
        <p:spPr>
          <a:xfrm>
            <a:off x="18265673" y="3731666"/>
            <a:ext cx="22327" cy="87859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38" name="Line 238"/>
          <p:cNvSpPr/>
          <p:nvPr/>
        </p:nvSpPr>
        <p:spPr>
          <a:xfrm>
            <a:off x="18288000" y="3819525"/>
            <a:ext cx="19660" cy="85192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39" name="Line 239"/>
          <p:cNvSpPr/>
          <p:nvPr/>
        </p:nvSpPr>
        <p:spPr>
          <a:xfrm>
            <a:off x="18307660" y="3904717"/>
            <a:ext cx="16840" cy="84658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40" name="Line 240"/>
          <p:cNvSpPr/>
          <p:nvPr/>
        </p:nvSpPr>
        <p:spPr>
          <a:xfrm>
            <a:off x="18324500" y="3989375"/>
            <a:ext cx="16535" cy="7063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41" name="Line 241"/>
          <p:cNvSpPr/>
          <p:nvPr/>
        </p:nvSpPr>
        <p:spPr>
          <a:xfrm>
            <a:off x="18341035" y="4060012"/>
            <a:ext cx="18745" cy="43129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42" name="Line 242"/>
          <p:cNvSpPr/>
          <p:nvPr/>
        </p:nvSpPr>
        <p:spPr>
          <a:xfrm>
            <a:off x="18359780" y="4103141"/>
            <a:ext cx="23470" cy="2134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43" name="Line 243"/>
          <p:cNvSpPr/>
          <p:nvPr/>
        </p:nvSpPr>
        <p:spPr>
          <a:xfrm flipV="1">
            <a:off x="18383250" y="4046601"/>
            <a:ext cx="30785" cy="58674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44" name="Line 244"/>
          <p:cNvSpPr/>
          <p:nvPr/>
        </p:nvSpPr>
        <p:spPr>
          <a:xfrm flipV="1">
            <a:off x="18414035" y="3936111"/>
            <a:ext cx="36424" cy="110490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45" name="Line 245"/>
          <p:cNvSpPr/>
          <p:nvPr/>
        </p:nvSpPr>
        <p:spPr>
          <a:xfrm flipV="1">
            <a:off x="18450458" y="3803523"/>
            <a:ext cx="38176" cy="132588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46" name="Line 246"/>
          <p:cNvSpPr/>
          <p:nvPr/>
        </p:nvSpPr>
        <p:spPr>
          <a:xfrm flipV="1">
            <a:off x="18488635" y="3678555"/>
            <a:ext cx="36043" cy="124968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47" name="Line 247"/>
          <p:cNvSpPr/>
          <p:nvPr/>
        </p:nvSpPr>
        <p:spPr>
          <a:xfrm flipV="1">
            <a:off x="18524677" y="3590925"/>
            <a:ext cx="30023" cy="87630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48" name="Line 248"/>
          <p:cNvSpPr/>
          <p:nvPr/>
        </p:nvSpPr>
        <p:spPr>
          <a:xfrm flipV="1">
            <a:off x="18554700" y="3542919"/>
            <a:ext cx="21869" cy="48006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49" name="Line 249"/>
          <p:cNvSpPr/>
          <p:nvPr/>
        </p:nvSpPr>
        <p:spPr>
          <a:xfrm flipV="1">
            <a:off x="18576569" y="3514725"/>
            <a:ext cx="16307" cy="28194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50" name="Line 250"/>
          <p:cNvSpPr/>
          <p:nvPr/>
        </p:nvSpPr>
        <p:spPr>
          <a:xfrm flipV="1">
            <a:off x="18592876" y="3502914"/>
            <a:ext cx="13945" cy="11811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51" name="Line 251"/>
          <p:cNvSpPr/>
          <p:nvPr/>
        </p:nvSpPr>
        <p:spPr>
          <a:xfrm>
            <a:off x="18606821" y="3502914"/>
            <a:ext cx="14783" cy="1143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52" name="Line 252"/>
          <p:cNvSpPr/>
          <p:nvPr/>
        </p:nvSpPr>
        <p:spPr>
          <a:xfrm>
            <a:off x="18621604" y="3504057"/>
            <a:ext cx="18821" cy="10668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53" name="Line 253"/>
          <p:cNvSpPr/>
          <p:nvPr/>
        </p:nvSpPr>
        <p:spPr>
          <a:xfrm>
            <a:off x="18640425" y="3514725"/>
            <a:ext cx="24232" cy="30099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54" name="Line 254"/>
          <p:cNvSpPr/>
          <p:nvPr/>
        </p:nvSpPr>
        <p:spPr>
          <a:xfrm>
            <a:off x="18664657" y="3544824"/>
            <a:ext cx="27508" cy="51816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55" name="Line 255"/>
          <p:cNvSpPr/>
          <p:nvPr/>
        </p:nvSpPr>
        <p:spPr>
          <a:xfrm>
            <a:off x="18692165" y="3596640"/>
            <a:ext cx="28727" cy="58674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56" name="Line 256"/>
          <p:cNvSpPr/>
          <p:nvPr/>
        </p:nvSpPr>
        <p:spPr>
          <a:xfrm>
            <a:off x="18720892" y="3655314"/>
            <a:ext cx="27889" cy="50673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57" name="Line 257"/>
          <p:cNvSpPr/>
          <p:nvPr/>
        </p:nvSpPr>
        <p:spPr>
          <a:xfrm>
            <a:off x="18748781" y="3705987"/>
            <a:ext cx="24994" cy="27813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58" name="Line 258"/>
          <p:cNvSpPr/>
          <p:nvPr/>
        </p:nvSpPr>
        <p:spPr>
          <a:xfrm flipV="1">
            <a:off x="18773775" y="3731895"/>
            <a:ext cx="23012" cy="1905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59" name="Line 259"/>
          <p:cNvSpPr/>
          <p:nvPr/>
        </p:nvSpPr>
        <p:spPr>
          <a:xfrm flipV="1">
            <a:off x="18796787" y="3710178"/>
            <a:ext cx="22403" cy="21717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60" name="Line 260"/>
          <p:cNvSpPr/>
          <p:nvPr/>
        </p:nvSpPr>
        <p:spPr>
          <a:xfrm flipV="1">
            <a:off x="18819190" y="3678936"/>
            <a:ext cx="20422" cy="31242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61" name="Line 261"/>
          <p:cNvSpPr/>
          <p:nvPr/>
        </p:nvSpPr>
        <p:spPr>
          <a:xfrm flipV="1">
            <a:off x="18839612" y="3648456"/>
            <a:ext cx="17069" cy="30480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62" name="Line 262"/>
          <p:cNvSpPr/>
          <p:nvPr/>
        </p:nvSpPr>
        <p:spPr>
          <a:xfrm flipV="1">
            <a:off x="18856681" y="3629025"/>
            <a:ext cx="12344" cy="19431"/>
          </a:xfrm>
          <a:prstGeom prst="line">
            <a:avLst/>
          </a:prstGeom>
          <a:noFill/>
          <a:ln w="20320">
            <a:solidFill>
              <a:srgbClr val="D58B00"/>
            </a:solidFill>
          </a:ln>
        </p:spPr>
        <p:txBody>
          <a:bodyPr/>
          <a:lstStyle/>
          <a:p/>
        </p:txBody>
      </p:sp>
      <p:sp>
        <p:nvSpPr>
          <p:cNvPr id="263" name="TextBox 263"/>
          <p:cNvSpPr txBox="1"/>
          <p:nvPr/>
        </p:nvSpPr>
        <p:spPr>
          <a:xfrm>
            <a:off x="7629525" y="1019175"/>
            <a:ext cx="4048125" cy="704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600" b="1">
                <a:solidFill>
                  <a:srgbClr val="006D73"/>
                </a:solidFill>
                <a:latin typeface="Liberation Sans"/>
                <a:ea typeface="Liberation Sans"/>
                <a:cs typeface="Liberation Sans"/>
              </a:rPr>
              <a:t>SafeTransport</a:t>
            </a:r>
            <a:endParaRPr lang="zh-CN" sz="3600"/>
          </a:p>
        </p:txBody>
      </p:sp>
      <p:sp>
        <p:nvSpPr>
          <p:cNvPr id="264" name="TextBox 264"/>
          <p:cNvSpPr txBox="1"/>
          <p:nvPr/>
        </p:nvSpPr>
        <p:spPr>
          <a:xfrm>
            <a:off x="333375" y="1419225"/>
            <a:ext cx="3095625" cy="4667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 b="1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Penalty-based safe RL</a:t>
            </a:r>
            <a:endParaRPr lang="zh-CN" sz="2200"/>
          </a:p>
        </p:txBody>
      </p:sp>
      <p:sp>
        <p:nvSpPr>
          <p:cNvPr id="265" name="TextBox 265"/>
          <p:cNvSpPr txBox="1"/>
          <p:nvPr/>
        </p:nvSpPr>
        <p:spPr>
          <a:xfrm>
            <a:off x="15554325" y="1419225"/>
            <a:ext cx="3429000" cy="4667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 b="1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Constraint-based safe RL</a:t>
            </a:r>
            <a:endParaRPr lang="zh-CN" sz="2200"/>
          </a:p>
        </p:txBody>
      </p:sp>
      <p:sp>
        <p:nvSpPr>
          <p:cNvPr id="266" name="TextBox 266"/>
          <p:cNvSpPr txBox="1"/>
          <p:nvPr/>
        </p:nvSpPr>
        <p:spPr>
          <a:xfrm>
            <a:off x="1247775" y="2533650"/>
            <a:ext cx="1123950" cy="5143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λ</a:t>
            </a:r>
            <a:endParaRPr lang="zh-CN" sz="2000"/>
          </a:p>
        </p:txBody>
      </p:sp>
      <p:sp>
        <p:nvSpPr>
          <p:cNvPr id="267" name="TextBox 267"/>
          <p:cNvSpPr txBox="1"/>
          <p:nvPr/>
        </p:nvSpPr>
        <p:spPr>
          <a:xfrm>
            <a:off x="276225" y="3667125"/>
            <a:ext cx="714375" cy="3524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D58B00"/>
                </a:solidFill>
                <a:latin typeface="Liberation Sans"/>
                <a:ea typeface="Liberation Sans"/>
                <a:cs typeface="Liberation Sans"/>
              </a:rPr>
              <a:t>budget</a:t>
            </a:r>
            <a:endParaRPr lang="zh-CN" sz="1800"/>
          </a:p>
        </p:txBody>
      </p:sp>
      <p:sp>
        <p:nvSpPr>
          <p:cNvPr id="268" name="TextBox 268"/>
          <p:cNvSpPr txBox="1"/>
          <p:nvPr/>
        </p:nvSpPr>
        <p:spPr>
          <a:xfrm>
            <a:off x="2676525" y="2505075"/>
            <a:ext cx="857250" cy="5429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D58B00"/>
                </a:solidFill>
                <a:latin typeface="Liberation Sans"/>
                <a:ea typeface="Liberation Sans"/>
                <a:cs typeface="Liberation Sans"/>
              </a:rPr>
              <a:t>budget</a:t>
            </a:r>
            <a:endParaRPr lang="zh-CN" sz="1800"/>
          </a:p>
          <a:p>
            <a:pPr algn="ctr"/>
            <a:r>
              <a:rPr lang="zh-CN" sz="1800" b="1">
                <a:solidFill>
                  <a:srgbClr val="D58B00"/>
                </a:solidFill>
                <a:latin typeface="Liberation Sans"/>
                <a:ea typeface="Liberation Sans"/>
                <a:cs typeface="Liberation Sans"/>
              </a:rPr>
              <a:t>leakage</a:t>
            </a:r>
            <a:endParaRPr lang="zh-CN" sz="1800"/>
          </a:p>
        </p:txBody>
      </p:sp>
      <p:sp>
        <p:nvSpPr>
          <p:cNvPr id="269" name="TextBox 269"/>
          <p:cNvSpPr txBox="1"/>
          <p:nvPr/>
        </p:nvSpPr>
        <p:spPr>
          <a:xfrm>
            <a:off x="3762375" y="1943100"/>
            <a:ext cx="86677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budgets</a:t>
            </a:r>
            <a:endParaRPr lang="zh-CN" sz="1800"/>
          </a:p>
        </p:txBody>
      </p:sp>
      <p:sp>
        <p:nvSpPr>
          <p:cNvPr id="270" name="TextBox 270"/>
          <p:cNvSpPr txBox="1"/>
          <p:nvPr/>
        </p:nvSpPr>
        <p:spPr>
          <a:xfrm>
            <a:off x="4610100" y="2381250"/>
            <a:ext cx="1038225" cy="876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budgets</a:t>
            </a:r>
            <a:endParaRPr lang="zh-CN" sz="1800"/>
          </a:p>
          <a:p>
            <a:pPr algn="ctr"/>
            <a:r>
              <a:rPr lang="zh-CN" sz="18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become</a:t>
            </a:r>
            <a:endParaRPr lang="zh-CN" sz="1800"/>
          </a:p>
          <a:p>
            <a:pPr algn="ctr"/>
            <a:r>
              <a:rPr lang="zh-CN" sz="18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capacities</a:t>
            </a:r>
            <a:endParaRPr lang="zh-CN" sz="1800"/>
          </a:p>
        </p:txBody>
      </p:sp>
      <p:sp>
        <p:nvSpPr>
          <p:cNvPr id="271" name="TextBox 271"/>
          <p:cNvSpPr txBox="1"/>
          <p:nvPr/>
        </p:nvSpPr>
        <p:spPr>
          <a:xfrm>
            <a:off x="6858000" y="3190875"/>
            <a:ext cx="1057275" cy="6286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hard min /</a:t>
            </a:r>
            <a:endParaRPr lang="zh-CN" sz="2000"/>
          </a:p>
          <a:p>
            <a:pPr algn="ctr"/>
            <a:r>
              <a:rPr lang="zh-CN" sz="20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softmin</a:t>
            </a:r>
            <a:endParaRPr lang="zh-CN" sz="2000"/>
          </a:p>
        </p:txBody>
      </p:sp>
      <p:sp>
        <p:nvSpPr>
          <p:cNvPr id="272" name="TextBox 272"/>
          <p:cNvSpPr txBox="1"/>
          <p:nvPr/>
        </p:nvSpPr>
        <p:spPr>
          <a:xfrm>
            <a:off x="8439150" y="3095625"/>
            <a:ext cx="762000" cy="8096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S</a:t>
            </a:r>
            <a:endParaRPr lang="zh-CN" sz="2000"/>
          </a:p>
        </p:txBody>
      </p:sp>
      <p:sp>
        <p:nvSpPr>
          <p:cNvPr id="273" name="TextBox 273"/>
          <p:cNvSpPr txBox="1"/>
          <p:nvPr/>
        </p:nvSpPr>
        <p:spPr>
          <a:xfrm>
            <a:off x="7562850" y="2486025"/>
            <a:ext cx="19526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S (capacity ceiling)</a:t>
            </a:r>
            <a:endParaRPr lang="zh-CN" sz="1800"/>
          </a:p>
        </p:txBody>
      </p:sp>
      <p:sp>
        <p:nvSpPr>
          <p:cNvPr id="274" name="TextBox 274"/>
          <p:cNvSpPr txBox="1"/>
          <p:nvPr/>
        </p:nvSpPr>
        <p:spPr>
          <a:xfrm>
            <a:off x="9667875" y="1952625"/>
            <a:ext cx="2552700" cy="3524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 b="1">
                <a:solidFill>
                  <a:srgbClr val="006D73"/>
                </a:solidFill>
                <a:latin typeface="Liberation Sans"/>
                <a:ea typeface="Liberation Sans"/>
                <a:cs typeface="Liberation Sans"/>
              </a:rPr>
              <a:t>γ-flow Sinkhorn</a:t>
            </a:r>
            <a:endParaRPr lang="zh-CN" sz="2000"/>
          </a:p>
        </p:txBody>
      </p:sp>
      <p:sp>
        <p:nvSpPr>
          <p:cNvPr id="275" name="TextBox 275"/>
          <p:cNvSpPr txBox="1"/>
          <p:nvPr/>
        </p:nvSpPr>
        <p:spPr>
          <a:xfrm>
            <a:off x="10067925" y="4143375"/>
            <a:ext cx="2066925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column scaling</a:t>
            </a:r>
            <a:endParaRPr lang="zh-CN" sz="1800"/>
          </a:p>
        </p:txBody>
      </p:sp>
      <p:sp>
        <p:nvSpPr>
          <p:cNvPr id="276" name="TextBox 276"/>
          <p:cNvSpPr txBox="1"/>
          <p:nvPr/>
        </p:nvSpPr>
        <p:spPr>
          <a:xfrm>
            <a:off x="9620250" y="325755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row</a:t>
            </a:r>
            <a:endParaRPr lang="zh-CN" sz="1800"/>
          </a:p>
          <a:p>
            <a:pPr algn="ctr"/>
            <a:r>
              <a:rPr lang="zh-CN" sz="18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scaling</a:t>
            </a:r>
            <a:endParaRPr lang="zh-CN" sz="1800"/>
          </a:p>
        </p:txBody>
      </p:sp>
      <p:sp>
        <p:nvSpPr>
          <p:cNvPr id="277" name="TextBox 277"/>
          <p:cNvSpPr txBox="1"/>
          <p:nvPr/>
        </p:nvSpPr>
        <p:spPr>
          <a:xfrm>
            <a:off x="11811000" y="3028950"/>
            <a:ext cx="371475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>
                <a:solidFill>
                  <a:srgbClr val="006D73"/>
                </a:solidFill>
                <a:latin typeface="Liberation Sans"/>
                <a:ea typeface="Liberation Sans"/>
                <a:cs typeface="Liberation Sans"/>
              </a:rPr>
              <a:t>ε</a:t>
            </a:r>
            <a:endParaRPr lang="zh-CN" sz="2000"/>
          </a:p>
        </p:txBody>
      </p:sp>
      <p:sp>
        <p:nvSpPr>
          <p:cNvPr id="278" name="TextBox 278"/>
          <p:cNvSpPr txBox="1"/>
          <p:nvPr/>
        </p:nvSpPr>
        <p:spPr>
          <a:xfrm>
            <a:off x="12601575" y="3095625"/>
            <a:ext cx="695325" cy="8001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PPO</a:t>
            </a:r>
            <a:endParaRPr lang="zh-CN" sz="2000"/>
          </a:p>
        </p:txBody>
      </p:sp>
      <p:sp>
        <p:nvSpPr>
          <p:cNvPr id="279" name="TextBox 279"/>
          <p:cNvSpPr txBox="1"/>
          <p:nvPr/>
        </p:nvSpPr>
        <p:spPr>
          <a:xfrm>
            <a:off x="13192125" y="2524125"/>
            <a:ext cx="1104900" cy="5905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deployed</a:t>
            </a:r>
            <a:endParaRPr lang="zh-CN" sz="1800"/>
          </a:p>
          <a:p>
            <a:pPr algn="ctr"/>
            <a:r>
              <a:rPr lang="zh-CN" sz="18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policy</a:t>
            </a:r>
            <a:endParaRPr lang="zh-CN" sz="1800"/>
          </a:p>
        </p:txBody>
      </p:sp>
      <p:sp>
        <p:nvSpPr>
          <p:cNvPr id="280" name="TextBox 280"/>
          <p:cNvSpPr txBox="1"/>
          <p:nvPr/>
        </p:nvSpPr>
        <p:spPr>
          <a:xfrm>
            <a:off x="13639800" y="3200400"/>
            <a:ext cx="1619250" cy="609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deployed-policy</a:t>
            </a:r>
            <a:endParaRPr lang="zh-CN" sz="1800"/>
          </a:p>
          <a:p>
            <a:pPr algn="ctr"/>
            <a:r>
              <a:rPr lang="zh-CN" sz="18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audit</a:t>
            </a:r>
            <a:endParaRPr lang="zh-CN" sz="1800"/>
          </a:p>
        </p:txBody>
      </p:sp>
      <p:sp>
        <p:nvSpPr>
          <p:cNvPr id="281" name="TextBox 281"/>
          <p:cNvSpPr txBox="1"/>
          <p:nvPr/>
        </p:nvSpPr>
        <p:spPr>
          <a:xfrm>
            <a:off x="15982950" y="4495800"/>
            <a:ext cx="25622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D58B00"/>
                </a:solidFill>
                <a:latin typeface="Liberation Sans"/>
                <a:ea typeface="Liberation Sans"/>
                <a:cs typeface="Liberation Sans"/>
              </a:rPr>
              <a:t>coupled duals oscillate</a:t>
            </a:r>
            <a:endParaRPr lang="zh-CN" sz="1800"/>
          </a:p>
        </p:txBody>
      </p:sp>
      <p:sp>
        <p:nvSpPr>
          <p:cNvPr id="282" name="TextBox 282"/>
          <p:cNvSpPr txBox="1"/>
          <p:nvPr/>
        </p:nvSpPr>
        <p:spPr>
          <a:xfrm>
            <a:off x="295275" y="5286375"/>
            <a:ext cx="1571625" cy="4000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 b="1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penalty-like</a:t>
            </a:r>
            <a:endParaRPr lang="zh-CN" sz="1800"/>
          </a:p>
        </p:txBody>
      </p:sp>
      <p:sp>
        <p:nvSpPr>
          <p:cNvPr id="283" name="TextBox 283"/>
          <p:cNvSpPr txBox="1"/>
          <p:nvPr/>
        </p:nvSpPr>
        <p:spPr>
          <a:xfrm>
            <a:off x="17059275" y="5286375"/>
            <a:ext cx="1905000" cy="4000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1800" b="1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constraint-like</a:t>
            </a:r>
            <a:endParaRPr lang="zh-CN" sz="1800"/>
          </a:p>
        </p:txBody>
      </p:sp>
      <p:sp>
        <p:nvSpPr>
          <p:cNvPr id="284" name="TextBox 284"/>
          <p:cNvSpPr txBox="1"/>
          <p:nvPr/>
        </p:nvSpPr>
        <p:spPr>
          <a:xfrm>
            <a:off x="895350" y="5895975"/>
            <a:ext cx="2762250" cy="3619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PPO / SAC</a:t>
            </a:r>
            <a:endParaRPr lang="zh-CN" sz="1800"/>
          </a:p>
        </p:txBody>
      </p:sp>
      <p:sp>
        <p:nvSpPr>
          <p:cNvPr id="285" name="TextBox 285"/>
          <p:cNvSpPr txBox="1"/>
          <p:nvPr/>
        </p:nvSpPr>
        <p:spPr>
          <a:xfrm>
            <a:off x="895350" y="6191250"/>
            <a:ext cx="2762250" cy="3429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unconstrained or penalty</a:t>
            </a:r>
            <a:endParaRPr lang="zh-CN" sz="1600"/>
          </a:p>
        </p:txBody>
      </p:sp>
      <p:sp>
        <p:nvSpPr>
          <p:cNvPr id="286" name="TextBox 286"/>
          <p:cNvSpPr txBox="1"/>
          <p:nvPr/>
        </p:nvSpPr>
        <p:spPr>
          <a:xfrm>
            <a:off x="4424362" y="5895975"/>
            <a:ext cx="3000375" cy="3619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PPO-Lag / FOCOPS</a:t>
            </a:r>
            <a:endParaRPr lang="zh-CN" sz="1800"/>
          </a:p>
        </p:txBody>
      </p:sp>
      <p:sp>
        <p:nvSpPr>
          <p:cNvPr id="287" name="TextBox 287"/>
          <p:cNvSpPr txBox="1"/>
          <p:nvPr/>
        </p:nvSpPr>
        <p:spPr>
          <a:xfrm>
            <a:off x="4424362" y="6191250"/>
            <a:ext cx="3000375" cy="3429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external safety controller</a:t>
            </a:r>
            <a:endParaRPr lang="zh-CN" sz="1600"/>
          </a:p>
        </p:txBody>
      </p:sp>
      <p:sp>
        <p:nvSpPr>
          <p:cNvPr id="288" name="TextBox 288"/>
          <p:cNvSpPr txBox="1"/>
          <p:nvPr/>
        </p:nvSpPr>
        <p:spPr>
          <a:xfrm>
            <a:off x="8610600" y="5486400"/>
            <a:ext cx="2114550" cy="4476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SafeTransport</a:t>
            </a:r>
            <a:endParaRPr lang="zh-CN" sz="1800"/>
          </a:p>
        </p:txBody>
      </p:sp>
      <p:sp>
        <p:nvSpPr>
          <p:cNvPr id="289" name="TextBox 289"/>
          <p:cNvSpPr txBox="1"/>
          <p:nvPr/>
        </p:nvSpPr>
        <p:spPr>
          <a:xfrm>
            <a:off x="8001000" y="6191250"/>
            <a:ext cx="3333750" cy="3429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one inner capacity projection</a:t>
            </a:r>
            <a:endParaRPr lang="zh-CN" sz="1600"/>
          </a:p>
        </p:txBody>
      </p:sp>
      <p:sp>
        <p:nvSpPr>
          <p:cNvPr id="290" name="TextBox 290"/>
          <p:cNvSpPr txBox="1"/>
          <p:nvPr/>
        </p:nvSpPr>
        <p:spPr>
          <a:xfrm>
            <a:off x="11915775" y="5895975"/>
            <a:ext cx="2857500" cy="3619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CPO</a:t>
            </a:r>
            <a:endParaRPr lang="zh-CN" sz="1800"/>
          </a:p>
        </p:txBody>
      </p:sp>
      <p:sp>
        <p:nvSpPr>
          <p:cNvPr id="291" name="TextBox 291"/>
          <p:cNvSpPr txBox="1"/>
          <p:nvPr/>
        </p:nvSpPr>
        <p:spPr>
          <a:xfrm>
            <a:off x="11915775" y="6191250"/>
            <a:ext cx="2857500" cy="3429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local constrained step</a:t>
            </a:r>
            <a:endParaRPr lang="zh-CN" sz="1600"/>
          </a:p>
        </p:txBody>
      </p:sp>
      <p:sp>
        <p:nvSpPr>
          <p:cNvPr id="292" name="TextBox 292"/>
          <p:cNvSpPr txBox="1"/>
          <p:nvPr/>
        </p:nvSpPr>
        <p:spPr>
          <a:xfrm>
            <a:off x="15120937" y="5895975"/>
            <a:ext cx="3667125" cy="3619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CUP / hard projection</a:t>
            </a:r>
            <a:endParaRPr lang="zh-CN" sz="1800"/>
          </a:p>
        </p:txBody>
      </p:sp>
      <p:sp>
        <p:nvSpPr>
          <p:cNvPr id="293" name="TextBox 293"/>
          <p:cNvSpPr txBox="1"/>
          <p:nvPr/>
        </p:nvSpPr>
        <p:spPr>
          <a:xfrm>
            <a:off x="15120937" y="6191250"/>
            <a:ext cx="3667125" cy="3429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41484F"/>
                </a:solidFill>
                <a:latin typeface="Liberation Sans"/>
                <a:ea typeface="Liberation Sans"/>
                <a:cs typeface="Liberation Sans"/>
              </a:rPr>
              <a:t>constraint-dominant</a:t>
            </a:r>
            <a:endParaRPr lang="zh-CN" sz="1600"/>
          </a:p>
        </p:txBody>
      </p:sp>
      <p:pic>
        <p:nvPicPr>
          <p:cNvPr id="294" name="LaTeX rendered formula penalty-objective"/>
          <p:cNvPicPr/>
          <p:nvPr/>
        </p:nvPicPr>
        <p:blipFill>
          <a:blip r:embed="rId2"/>
          <a:stretch>
            <a:fillRect/>
          </a:stretch>
        </p:blipFill>
        <p:spPr>
          <a:xfrm>
            <a:off x="956177" y="1990849"/>
            <a:ext cx="1859556" cy="218827"/>
          </a:xfrm>
          <a:prstGeom prst="rect">
            <a:avLst/>
          </a:prstGeom>
        </p:spPr>
      </p:pic>
      <p:pic>
        <p:nvPicPr>
          <p:cNvPr id="295" name="LaTeX rendered formula constraint-objective"/>
          <p:cNvPicPr/>
          <p:nvPr/>
        </p:nvPicPr>
        <p:blipFill>
          <a:blip r:embed="rId3"/>
          <a:stretch>
            <a:fillRect/>
          </a:stretch>
        </p:blipFill>
        <p:spPr>
          <a:xfrm>
            <a:off x="15592425" y="1996669"/>
            <a:ext cx="3343275" cy="207188"/>
          </a:xfrm>
          <a:prstGeom prst="rect">
            <a:avLst/>
          </a:prstGeom>
        </p:spPr>
      </p:pic>
      <p:pic>
        <p:nvPicPr>
          <p:cNvPr id="296" name="LaTeX rendered formula channel-first"/>
          <p:cNvPicPr/>
          <p:nvPr/>
        </p:nvPicPr>
        <p:blipFill>
          <a:blip r:embed="rId4"/>
          <a:stretch>
            <a:fillRect/>
          </a:stretch>
        </p:blipFill>
        <p:spPr>
          <a:xfrm>
            <a:off x="1271940" y="4734725"/>
            <a:ext cx="208836" cy="160325"/>
          </a:xfrm>
          <a:prstGeom prst="rect">
            <a:avLst/>
          </a:prstGeom>
        </p:spPr>
      </p:pic>
      <p:pic>
        <p:nvPicPr>
          <p:cNvPr id="297" name="LaTeX rendered formula channel-ellipsis"/>
          <p:cNvPicPr/>
          <p:nvPr/>
        </p:nvPicPr>
        <p:blipFill>
          <a:blip r:embed="rId5"/>
          <a:stretch>
            <a:fillRect/>
          </a:stretch>
        </p:blipFill>
        <p:spPr>
          <a:xfrm>
            <a:off x="1811626" y="4775825"/>
            <a:ext cx="291513" cy="97165"/>
          </a:xfrm>
          <a:prstGeom prst="rect">
            <a:avLst/>
          </a:prstGeom>
        </p:spPr>
      </p:pic>
      <p:pic>
        <p:nvPicPr>
          <p:cNvPr id="298" name="LaTeX rendered formula channel-last"/>
          <p:cNvPicPr/>
          <p:nvPr/>
        </p:nvPicPr>
        <p:blipFill>
          <a:blip r:embed="rId6"/>
          <a:stretch>
            <a:fillRect/>
          </a:stretch>
        </p:blipFill>
        <p:spPr>
          <a:xfrm>
            <a:off x="2609174" y="4733287"/>
            <a:ext cx="249012" cy="163192"/>
          </a:xfrm>
          <a:prstGeom prst="rect">
            <a:avLst/>
          </a:prstGeom>
        </p:spPr>
      </p:pic>
      <p:pic>
        <p:nvPicPr>
          <p:cNvPr id="299" name="LaTeX rendered formula budget-heading-k"/>
          <p:cNvPicPr/>
          <p:nvPr/>
        </p:nvPicPr>
        <p:blipFill>
          <a:blip r:embed="rId7"/>
          <a:stretch>
            <a:fillRect/>
          </a:stretch>
        </p:blipFill>
        <p:spPr>
          <a:xfrm>
            <a:off x="4633912" y="2026625"/>
            <a:ext cx="228600" cy="204416"/>
          </a:xfrm>
          <a:prstGeom prst="rect">
            <a:avLst/>
          </a:prstGeom>
        </p:spPr>
      </p:pic>
      <p:pic>
        <p:nvPicPr>
          <p:cNvPr id="300" name="LaTeX rendered formula budget-1"/>
          <p:cNvPicPr/>
          <p:nvPr/>
        </p:nvPicPr>
        <p:blipFill>
          <a:blip r:embed="rId8"/>
          <a:stretch>
            <a:fillRect/>
          </a:stretch>
        </p:blipFill>
        <p:spPr>
          <a:xfrm>
            <a:off x="3992051" y="2565435"/>
            <a:ext cx="245507" cy="222190"/>
          </a:xfrm>
          <a:prstGeom prst="rect">
            <a:avLst/>
          </a:prstGeom>
        </p:spPr>
      </p:pic>
      <p:pic>
        <p:nvPicPr>
          <p:cNvPr id="301" name="LaTeX rendered formula budget-2"/>
          <p:cNvPicPr/>
          <p:nvPr/>
        </p:nvPicPr>
        <p:blipFill>
          <a:blip r:embed="rId9"/>
          <a:stretch>
            <a:fillRect/>
          </a:stretch>
        </p:blipFill>
        <p:spPr>
          <a:xfrm>
            <a:off x="3992051" y="3213135"/>
            <a:ext cx="245507" cy="222190"/>
          </a:xfrm>
          <a:prstGeom prst="rect">
            <a:avLst/>
          </a:prstGeom>
        </p:spPr>
      </p:pic>
      <p:pic>
        <p:nvPicPr>
          <p:cNvPr id="302" name="LaTeX rendered formula budget-K"/>
          <p:cNvPicPr/>
          <p:nvPr/>
        </p:nvPicPr>
        <p:blipFill>
          <a:blip r:embed="rId10"/>
          <a:stretch>
            <a:fillRect/>
          </a:stretch>
        </p:blipFill>
        <p:spPr>
          <a:xfrm>
            <a:off x="3969725" y="4308510"/>
            <a:ext cx="290141" cy="222190"/>
          </a:xfrm>
          <a:prstGeom prst="rect">
            <a:avLst/>
          </a:prstGeom>
        </p:spPr>
      </p:pic>
      <p:pic>
        <p:nvPicPr>
          <p:cNvPr id="303" name="LaTeX rendered formula budget-ellipsis"/>
          <p:cNvPicPr/>
          <p:nvPr/>
        </p:nvPicPr>
        <p:blipFill>
          <a:blip r:embed="rId11"/>
          <a:stretch>
            <a:fillRect/>
          </a:stretch>
        </p:blipFill>
        <p:spPr>
          <a:xfrm>
            <a:off x="4089149" y="3750878"/>
            <a:ext cx="70342" cy="203959"/>
          </a:xfrm>
          <a:prstGeom prst="rect">
            <a:avLst/>
          </a:prstGeom>
        </p:spPr>
      </p:pic>
      <p:pic>
        <p:nvPicPr>
          <p:cNvPr id="304" name="LaTeX rendered formula capacity-stack-heading"/>
          <p:cNvPicPr/>
          <p:nvPr/>
        </p:nvPicPr>
        <p:blipFill>
          <a:blip r:embed="rId12"/>
          <a:stretch>
            <a:fillRect/>
          </a:stretch>
        </p:blipFill>
        <p:spPr>
          <a:xfrm>
            <a:off x="5821404" y="2052876"/>
            <a:ext cx="625402" cy="199558"/>
          </a:xfrm>
          <a:prstGeom prst="rect">
            <a:avLst/>
          </a:prstGeom>
        </p:spPr>
      </p:pic>
      <p:pic>
        <p:nvPicPr>
          <p:cNvPr id="305" name="LaTeX rendered formula capacity-1"/>
          <p:cNvPicPr/>
          <p:nvPr/>
        </p:nvPicPr>
        <p:blipFill>
          <a:blip r:embed="rId13"/>
          <a:stretch>
            <a:fillRect/>
          </a:stretch>
        </p:blipFill>
        <p:spPr>
          <a:xfrm>
            <a:off x="5899099" y="2562130"/>
            <a:ext cx="403327" cy="228790"/>
          </a:xfrm>
          <a:prstGeom prst="rect">
            <a:avLst/>
          </a:prstGeom>
        </p:spPr>
      </p:pic>
      <p:pic>
        <p:nvPicPr>
          <p:cNvPr id="306" name="LaTeX rendered formula capacity-2"/>
          <p:cNvPicPr/>
          <p:nvPr/>
        </p:nvPicPr>
        <p:blipFill>
          <a:blip r:embed="rId14"/>
          <a:stretch>
            <a:fillRect/>
          </a:stretch>
        </p:blipFill>
        <p:spPr>
          <a:xfrm>
            <a:off x="5899099" y="3209830"/>
            <a:ext cx="403327" cy="228790"/>
          </a:xfrm>
          <a:prstGeom prst="rect">
            <a:avLst/>
          </a:prstGeom>
        </p:spPr>
      </p:pic>
      <p:pic>
        <p:nvPicPr>
          <p:cNvPr id="307" name="LaTeX rendered formula capacity-K"/>
          <p:cNvPicPr/>
          <p:nvPr/>
        </p:nvPicPr>
        <p:blipFill>
          <a:blip r:embed="rId15"/>
          <a:stretch>
            <a:fillRect/>
          </a:stretch>
        </p:blipFill>
        <p:spPr>
          <a:xfrm>
            <a:off x="5876782" y="4305205"/>
            <a:ext cx="447970" cy="228790"/>
          </a:xfrm>
          <a:prstGeom prst="rect">
            <a:avLst/>
          </a:prstGeom>
        </p:spPr>
      </p:pic>
      <p:pic>
        <p:nvPicPr>
          <p:cNvPr id="308" name="LaTeX rendered formula capacity-ellipsis"/>
          <p:cNvPicPr/>
          <p:nvPr/>
        </p:nvPicPr>
        <p:blipFill>
          <a:blip r:embed="rId16"/>
          <a:stretch>
            <a:fillRect/>
          </a:stretch>
        </p:blipFill>
        <p:spPr>
          <a:xfrm>
            <a:off x="6060824" y="3750878"/>
            <a:ext cx="70342" cy="203959"/>
          </a:xfrm>
          <a:prstGeom prst="rect">
            <a:avLst/>
          </a:prstGeom>
        </p:spPr>
      </p:pic>
      <p:pic>
        <p:nvPicPr>
          <p:cNvPr id="309" name="LaTeX rendered formula sinkhorn-objective"/>
          <p:cNvPicPr/>
          <p:nvPr/>
        </p:nvPicPr>
        <p:blipFill>
          <a:blip r:embed="rId17"/>
          <a:stretch>
            <a:fillRect/>
          </a:stretch>
        </p:blipFill>
        <p:spPr>
          <a:xfrm>
            <a:off x="10002517" y="2375506"/>
            <a:ext cx="1883426" cy="221028"/>
          </a:xfrm>
          <a:prstGeom prst="rect">
            <a:avLst/>
          </a:prstGeom>
        </p:spPr>
      </p:pic>
      <p:pic>
        <p:nvPicPr>
          <p:cNvPr id="310" name="LaTeX rendered formula sinkhorn-capacity-constraint"/>
          <p:cNvPicPr/>
          <p:nvPr/>
        </p:nvPicPr>
        <p:blipFill>
          <a:blip r:embed="rId18"/>
          <a:stretch>
            <a:fillRect/>
          </a:stretch>
        </p:blipFill>
        <p:spPr>
          <a:xfrm>
            <a:off x="10529116" y="2787291"/>
            <a:ext cx="1039778" cy="197577"/>
          </a:xfrm>
          <a:prstGeom prst="rect">
            <a:avLst/>
          </a:prstGeom>
        </p:spPr>
      </p:pic>
      <p:pic>
        <p:nvPicPr>
          <p:cNvPr id="311" name="LaTeX rendered formula flow-certificate"/>
          <p:cNvPicPr/>
          <p:nvPr/>
        </p:nvPicPr>
        <p:blipFill>
          <a:blip r:embed="rId19"/>
          <a:stretch>
            <a:fillRect/>
          </a:stretch>
        </p:blipFill>
        <p:spPr>
          <a:xfrm>
            <a:off x="10565749" y="4627597"/>
            <a:ext cx="814111" cy="222171"/>
          </a:xfrm>
          <a:prstGeom prst="rect">
            <a:avLst/>
          </a:prstGeom>
        </p:spPr>
      </p:pic>
      <p:pic>
        <p:nvPicPr>
          <p:cNvPr id="312" name="LaTeX rendered formula flow-to-PPO-label"/>
          <p:cNvPicPr/>
          <p:nvPr/>
        </p:nvPicPr>
        <p:blipFill>
          <a:blip r:embed="rId20"/>
          <a:stretch>
            <a:fillRect/>
          </a:stretch>
        </p:blipFill>
        <p:spPr>
          <a:xfrm>
            <a:off x="12316863" y="3175664"/>
            <a:ext cx="283664" cy="182832"/>
          </a:xfrm>
          <a:prstGeom prst="rect">
            <a:avLst/>
          </a:prstGeom>
        </p:spPr>
      </p:pic>
      <p:pic>
        <p:nvPicPr>
          <p:cNvPr id="313" name="LaTeX rendered formula constraint-budget-1"/>
          <p:cNvPicPr/>
          <p:nvPr/>
        </p:nvPicPr>
        <p:blipFill>
          <a:blip r:embed="rId21"/>
          <a:stretch>
            <a:fillRect/>
          </a:stretch>
        </p:blipFill>
        <p:spPr>
          <a:xfrm>
            <a:off x="15624505" y="2718626"/>
            <a:ext cx="221590" cy="201549"/>
          </a:xfrm>
          <a:prstGeom prst="rect">
            <a:avLst/>
          </a:prstGeom>
        </p:spPr>
      </p:pic>
      <p:pic>
        <p:nvPicPr>
          <p:cNvPr id="314" name="LaTeX rendered formula constraint-budget-2"/>
          <p:cNvPicPr/>
          <p:nvPr/>
        </p:nvPicPr>
        <p:blipFill>
          <a:blip r:embed="rId22"/>
          <a:stretch>
            <a:fillRect/>
          </a:stretch>
        </p:blipFill>
        <p:spPr>
          <a:xfrm>
            <a:off x="15624505" y="3166300"/>
            <a:ext cx="221590" cy="201549"/>
          </a:xfrm>
          <a:prstGeom prst="rect">
            <a:avLst/>
          </a:prstGeom>
        </p:spPr>
      </p:pic>
      <p:pic>
        <p:nvPicPr>
          <p:cNvPr id="315" name="LaTeX rendered formula constraint-budget-K"/>
          <p:cNvPicPr/>
          <p:nvPr/>
        </p:nvPicPr>
        <p:blipFill>
          <a:blip r:embed="rId23"/>
          <a:stretch>
            <a:fillRect/>
          </a:stretch>
        </p:blipFill>
        <p:spPr>
          <a:xfrm>
            <a:off x="15604417" y="3879237"/>
            <a:ext cx="261757" cy="204416"/>
          </a:xfrm>
          <a:prstGeom prst="rect">
            <a:avLst/>
          </a:prstGeom>
        </p:spPr>
      </p:pic>
      <p:pic>
        <p:nvPicPr>
          <p:cNvPr id="316" name="LaTeX rendered formula constraint-budget-ellipsis"/>
          <p:cNvPicPr/>
          <p:nvPr/>
        </p:nvPicPr>
        <p:blipFill>
          <a:blip r:embed="rId24"/>
          <a:stretch>
            <a:fillRect/>
          </a:stretch>
        </p:blipFill>
        <p:spPr>
          <a:xfrm>
            <a:off x="15713173" y="3552206"/>
            <a:ext cx="63313" cy="2012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