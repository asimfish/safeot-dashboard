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3422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T-1624 semantic reconstruction; generated sketches are visual references. All visible objects native. Formulas are grouped native text/lines, not OMML. Graphs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_title" descr="Editable text; source id hero_title"/>
          <p:cNvSpPr txBox="1"/>
          <p:nvPr/>
        </p:nvSpPr>
        <p:spPr>
          <a:xfrm>
            <a:off x="1502193" y="37322"/>
            <a:ext cx="2033022" cy="156108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1092"/>
              </a:lnSpc>
              <a:spcBef>
                <a:spcPts val="0"/>
              </a:spcBef>
              <a:spcAft>
                <a:spcPts val="0"/>
              </a:spcAft>
              <a:defRPr sz="950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50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SafeOT-Dual: one price rule, two views</a:t>
            </a:r>
          </a:p>
        </p:txBody>
      </p:sp>
      <p:grpSp>
        <p:nvGrpSpPr>
          <p:cNvPr id="180" name="unifying_bracket" descr="One editable routed connector; fixed endpoints."/>
          <p:cNvGrpSpPr/>
          <p:nvPr/>
        </p:nvGrpSpPr>
        <p:grpSpPr>
          <a:xfrm>
            <a:off x="477773" y="211226"/>
            <a:ext cx="4073653" cy="60350"/>
            <a:chOff x="477773" y="211226"/>
            <a:chExt cx="4073653" cy="60350"/>
          </a:xfrm>
        </p:grpSpPr>
        <p:cxnSp>
          <p:nvCxnSpPr>
            <p:cNvPr id="3" name="unifying_bracket_0" descr="Editable line; source id unifying_bracket_0"/>
            <p:cNvCxnSpPr/>
            <p:nvPr/>
          </p:nvCxnSpPr>
          <p:spPr>
            <a:xfrm flipV="1">
              <a:off x="477773" y="211226"/>
              <a:ext cx="0" cy="60350"/>
            </a:xfrm>
            <a:prstGeom prst="line">
              <a:avLst/>
            </a:prstGeom>
            <a:ln w="4526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unifying_bracket_1" descr="Editable line; source id unifying_bracket_1"/>
            <p:cNvCxnSpPr/>
            <p:nvPr/>
          </p:nvCxnSpPr>
          <p:spPr>
            <a:xfrm>
              <a:off x="477773" y="211226"/>
              <a:ext cx="4073653" cy="0"/>
            </a:xfrm>
            <a:prstGeom prst="line">
              <a:avLst/>
            </a:prstGeom>
            <a:ln w="4526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unifying_bracket_2" descr="Editable line; source id unifying_bracket_2"/>
            <p:cNvCxnSpPr/>
            <p:nvPr/>
          </p:nvCxnSpPr>
          <p:spPr>
            <a:xfrm>
              <a:off x="4551426" y="211226"/>
              <a:ext cx="0" cy="60350"/>
            </a:xfrm>
            <a:prstGeom prst="line">
              <a:avLst/>
            </a:prstGeom>
            <a:ln w="4526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penalty_view" descr="penalty view"/>
          <p:cNvGrpSpPr/>
          <p:nvPr/>
        </p:nvGrpSpPr>
        <p:grpSpPr>
          <a:xfrm>
            <a:off x="60350" y="281635"/>
            <a:ext cx="847420" cy="1533906"/>
            <a:chOff x="60350" y="281635"/>
            <a:chExt cx="847420" cy="1533906"/>
          </a:xfrm>
        </p:grpSpPr>
        <p:sp>
          <p:nvSpPr>
            <p:cNvPr id="6" name="penalty_view_panel" descr="Editable shape; source id penalty_view_panel"/>
            <p:cNvSpPr/>
            <p:nvPr/>
          </p:nvSpPr>
          <p:spPr>
            <a:xfrm>
              <a:off x="60350" y="281635"/>
              <a:ext cx="847420" cy="1533906"/>
            </a:xfrm>
            <a:prstGeom prst="roundRect">
              <a:avLst>
                <a:gd name="adj" fmla="val 2373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enalty_header" descr="Editable text; source id penalty_header"/>
            <p:cNvSpPr txBox="1"/>
            <p:nvPr/>
          </p:nvSpPr>
          <p:spPr>
            <a:xfrm>
              <a:off x="170872" y="308195"/>
              <a:ext cx="632070" cy="147206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  <a:def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Penalty view</a:t>
              </a:r>
            </a:p>
          </p:txBody>
        </p:sp>
        <p:grpSp>
          <p:nvGrpSpPr>
            <p:cNvPr id="181" name="penalty_objective" descr="Editable formula parts and native mathematical delimiters."/>
            <p:cNvGrpSpPr/>
            <p:nvPr/>
          </p:nvGrpSpPr>
          <p:grpSpPr>
            <a:xfrm>
              <a:off x="266747" y="466577"/>
              <a:ext cx="430461" cy="135370"/>
              <a:chOff x="266747" y="466577"/>
              <a:chExt cx="430461" cy="135370"/>
            </a:xfrm>
          </p:grpSpPr>
          <p:sp>
            <p:nvSpPr>
              <p:cNvPr id="8" name="penalty_objective_0" descr="Editable text; source id penalty_objective_0"/>
              <p:cNvSpPr txBox="1"/>
              <p:nvPr/>
            </p:nvSpPr>
            <p:spPr>
              <a:xfrm>
                <a:off x="266747" y="466577"/>
                <a:ext cx="177267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9" name="penalty_objective_1" descr="Editable text; source id penalty_objective_1"/>
              <p:cNvSpPr txBox="1"/>
              <p:nvPr/>
            </p:nvSpPr>
            <p:spPr>
              <a:xfrm>
                <a:off x="439910" y="521500"/>
                <a:ext cx="37623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0" name="penalty_objective_2" descr="Editable text; source id penalty_objective_2"/>
              <p:cNvSpPr txBox="1"/>
              <p:nvPr/>
            </p:nvSpPr>
            <p:spPr>
              <a:xfrm>
                <a:off x="501757" y="466577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1" name="penalty_objective_3" descr="Editable text; source id penalty_objective_3"/>
              <p:cNvSpPr txBox="1"/>
              <p:nvPr/>
            </p:nvSpPr>
            <p:spPr>
              <a:xfrm>
                <a:off x="550325" y="521500"/>
                <a:ext cx="26208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2" name="penalty_objective_4" descr="Editable text; source id penalty_objective_4"/>
              <p:cNvSpPr txBox="1"/>
              <p:nvPr/>
            </p:nvSpPr>
            <p:spPr>
              <a:xfrm>
                <a:off x="575446" y="466577"/>
                <a:ext cx="12176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182" name="penalty_cost" descr="Editable formula parts and native mathematical delimiters."/>
            <p:cNvGrpSpPr/>
            <p:nvPr/>
          </p:nvGrpSpPr>
          <p:grpSpPr>
            <a:xfrm>
              <a:off x="292986" y="569780"/>
              <a:ext cx="377984" cy="152867"/>
              <a:chOff x="292986" y="569780"/>
              <a:chExt cx="377984" cy="152867"/>
            </a:xfrm>
          </p:grpSpPr>
          <p:sp>
            <p:nvSpPr>
              <p:cNvPr id="13" name="penalty_cost_0" descr="Editable text; source id penalty_cost_0"/>
              <p:cNvSpPr txBox="1"/>
              <p:nvPr/>
            </p:nvSpPr>
            <p:spPr>
              <a:xfrm>
                <a:off x="292986" y="587278"/>
                <a:ext cx="86191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− </a:t>
                </a:r>
              </a:p>
            </p:txBody>
          </p:sp>
          <p:sp>
            <p:nvSpPr>
              <p:cNvPr id="14" name="penalty_cost_1" descr="Editable text; source id penalty_cost_1"/>
              <p:cNvSpPr txBox="1"/>
              <p:nvPr/>
            </p:nvSpPr>
            <p:spPr>
              <a:xfrm>
                <a:off x="375354" y="587278"/>
                <a:ext cx="53356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5" name="penalty_cost_2" descr="Editable text; source id penalty_cost_2"/>
              <p:cNvSpPr txBox="1"/>
              <p:nvPr/>
            </p:nvSpPr>
            <p:spPr>
              <a:xfrm>
                <a:off x="424606" y="569780"/>
                <a:ext cx="44645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16" name="penalty_cost_3" descr="Editable text; source id penalty_cost_3"/>
              <p:cNvSpPr txBox="1"/>
              <p:nvPr/>
            </p:nvSpPr>
            <p:spPr>
              <a:xfrm>
                <a:off x="468165" y="587278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7" name="penalty_cost_4" descr="Editable text; source id penalty_cost_4"/>
              <p:cNvSpPr txBox="1"/>
              <p:nvPr/>
            </p:nvSpPr>
            <p:spPr>
              <a:xfrm>
                <a:off x="516733" y="642200"/>
                <a:ext cx="33561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8" name="penalty_cost_5" descr="Editable text; source id penalty_cost_5"/>
              <p:cNvSpPr txBox="1"/>
              <p:nvPr/>
            </p:nvSpPr>
            <p:spPr>
              <a:xfrm>
                <a:off x="549208" y="587278"/>
                <a:ext cx="12176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cxnSp>
          <p:nvCxnSpPr>
            <p:cNvPr id="19" name="penalty_rule" descr="Editable line; source id penalty_rule"/>
            <p:cNvCxnSpPr/>
            <p:nvPr/>
          </p:nvCxnSpPr>
          <p:spPr>
            <a:xfrm>
              <a:off x="125730" y="739292"/>
              <a:ext cx="716661" cy="0"/>
            </a:xfrm>
            <a:prstGeom prst="line">
              <a:avLst/>
            </a:prstGeom>
            <a:ln w="3771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exact_settings" descr="Editable text; source id exact_settings"/>
            <p:cNvSpPr txBox="1"/>
            <p:nvPr/>
          </p:nvSpPr>
          <p:spPr>
            <a:xfrm>
              <a:off x="187241" y="766961"/>
              <a:ext cx="599331" cy="129403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Exact settings</a:t>
              </a:r>
            </a:p>
          </p:txBody>
        </p:sp>
        <p:sp>
          <p:nvSpPr>
            <p:cNvPr id="21" name="zero_clip_0" descr="Editable text; source id zero_clip_0"/>
            <p:cNvSpPr txBox="1"/>
            <p:nvPr/>
          </p:nvSpPr>
          <p:spPr>
            <a:xfrm>
              <a:off x="375987" y="886737"/>
              <a:ext cx="212058" cy="11688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 = 0</a:t>
              </a:r>
            </a:p>
          </p:txBody>
        </p:sp>
        <p:sp>
          <p:nvSpPr>
            <p:cNvPr id="22" name="fixed_label" descr="Editable text; source id fixed_label"/>
            <p:cNvSpPr txBox="1"/>
            <p:nvPr/>
          </p:nvSpPr>
          <p:spPr>
            <a:xfrm>
              <a:off x="318137" y="1045860"/>
              <a:ext cx="337540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Fixed β</a:t>
              </a:r>
            </a:p>
          </p:txBody>
        </p:sp>
        <p:sp>
          <p:nvSpPr>
            <p:cNvPr id="23" name="fixed_text" descr="Editable text; source id fixed_text"/>
            <p:cNvSpPr txBox="1"/>
            <p:nvPr/>
          </p:nvSpPr>
          <p:spPr>
            <a:xfrm>
              <a:off x="233121" y="1168372"/>
              <a:ext cx="507571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fixed penalty</a:t>
              </a:r>
            </a:p>
          </p:txBody>
        </p:sp>
        <p:sp>
          <p:nvSpPr>
            <p:cNvPr id="24" name="fixed_equation_0" descr="Editable text; source id fixed_equation_0"/>
            <p:cNvSpPr txBox="1"/>
            <p:nvPr/>
          </p:nvSpPr>
          <p:spPr>
            <a:xfrm>
              <a:off x="364538" y="1274688"/>
              <a:ext cx="231992" cy="125559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4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λ = β</a:t>
              </a:r>
            </a:p>
          </p:txBody>
        </p:sp>
        <p:cxnSp>
          <p:nvCxnSpPr>
            <p:cNvPr id="25" name="left_split" descr="Editable line; source id left_split"/>
            <p:cNvCxnSpPr/>
            <p:nvPr/>
          </p:nvCxnSpPr>
          <p:spPr>
            <a:xfrm>
              <a:off x="188595" y="1433322"/>
              <a:ext cx="590930" cy="0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adaptive_label" descr="Editable text; source id adaptive_label"/>
            <p:cNvSpPr txBox="1"/>
            <p:nvPr/>
          </p:nvSpPr>
          <p:spPr>
            <a:xfrm>
              <a:off x="242677" y="1483400"/>
              <a:ext cx="488460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Adaptive β</a:t>
              </a:r>
            </a:p>
          </p:txBody>
        </p:sp>
        <p:sp>
          <p:nvSpPr>
            <p:cNvPr id="27" name="adaptive_text" descr="Editable text; source id adaptive_text"/>
            <p:cNvSpPr txBox="1"/>
            <p:nvPr/>
          </p:nvSpPr>
          <p:spPr>
            <a:xfrm>
              <a:off x="86049" y="1613456"/>
              <a:ext cx="801716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Lagrangian feedback</a:t>
              </a:r>
            </a:p>
          </p:txBody>
        </p:sp>
      </p:grpSp>
      <p:grpSp>
        <p:nvGrpSpPr>
          <p:cNvPr id="208" name="shared_construction" descr="shared construction"/>
          <p:cNvGrpSpPr/>
          <p:nvPr/>
        </p:nvGrpSpPr>
        <p:grpSpPr>
          <a:xfrm>
            <a:off x="983208" y="281635"/>
            <a:ext cx="3062782" cy="1533906"/>
            <a:chOff x="983208" y="281635"/>
            <a:chExt cx="3062782" cy="1533906"/>
          </a:xfrm>
        </p:grpSpPr>
        <p:sp>
          <p:nvSpPr>
            <p:cNvPr id="28" name="shared_construction_panel" descr="Editable shape; source id shared_construction_panel"/>
            <p:cNvSpPr/>
            <p:nvPr/>
          </p:nvSpPr>
          <p:spPr>
            <a:xfrm>
              <a:off x="983208" y="281635"/>
              <a:ext cx="3062782" cy="1533906"/>
            </a:xfrm>
            <a:prstGeom prst="roundRect">
              <a:avLst>
                <a:gd name="adj" fmla="val 1311"/>
              </a:avLst>
            </a:prstGeom>
            <a:solidFill>
              <a:srgbClr val="EEF6F5"/>
            </a:solidFill>
            <a:ln w="5532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joint_header" descr="Editable text; source id joint_header"/>
            <p:cNvSpPr txBox="1"/>
            <p:nvPr/>
          </p:nvSpPr>
          <p:spPr>
            <a:xfrm>
              <a:off x="1230731" y="311596"/>
              <a:ext cx="237368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Joint</a:t>
              </a:r>
            </a:p>
          </p:txBody>
        </p:sp>
        <p:sp>
          <p:nvSpPr>
            <p:cNvPr id="30" name="joint_header2" descr="Editable text; source id joint_header2"/>
            <p:cNvSpPr txBox="1"/>
            <p:nvPr/>
          </p:nvSpPr>
          <p:spPr>
            <a:xfrm>
              <a:off x="1102363" y="419724"/>
              <a:ext cx="494104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constraints</a:t>
              </a:r>
            </a:p>
          </p:txBody>
        </p:sp>
        <p:grpSp>
          <p:nvGrpSpPr>
            <p:cNvPr id="185" name="budget_row_0" descr="budget row 0"/>
            <p:cNvGrpSpPr/>
            <p:nvPr/>
          </p:nvGrpSpPr>
          <p:grpSpPr>
            <a:xfrm>
              <a:off x="1061161" y="611047"/>
              <a:ext cx="565785" cy="143332"/>
              <a:chOff x="1061161" y="611047"/>
              <a:chExt cx="565785" cy="143332"/>
            </a:xfrm>
          </p:grpSpPr>
          <p:sp>
            <p:nvSpPr>
              <p:cNvPr id="31" name="budget_row_0_panel" descr="Editable shape; source id budget_row_0_panel"/>
              <p:cNvSpPr/>
              <p:nvPr/>
            </p:nvSpPr>
            <p:spPr>
              <a:xfrm>
                <a:off x="1061161" y="611047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4" name="budget_1" descr="Editable formula parts and native mathematical delimiters."/>
              <p:cNvGrpSpPr/>
              <p:nvPr/>
            </p:nvGrpSpPr>
            <p:grpSpPr>
              <a:xfrm>
                <a:off x="1196084" y="617453"/>
                <a:ext cx="296803" cy="135370"/>
                <a:chOff x="1196084" y="617453"/>
                <a:chExt cx="296803" cy="135370"/>
              </a:xfrm>
            </p:grpSpPr>
            <p:sp>
              <p:nvSpPr>
                <p:cNvPr id="32" name="budget_1_0" descr="Editable text; source id budget_1_0"/>
                <p:cNvSpPr txBox="1"/>
                <p:nvPr/>
              </p:nvSpPr>
              <p:spPr>
                <a:xfrm>
                  <a:off x="1196084" y="617453"/>
                  <a:ext cx="72510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3" name="budget_1_1" descr="Editable text; source id budget_1_1"/>
                <p:cNvSpPr txBox="1"/>
                <p:nvPr/>
              </p:nvSpPr>
              <p:spPr>
                <a:xfrm>
                  <a:off x="1264490" y="672376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  <p:sp>
              <p:nvSpPr>
                <p:cNvPr id="34" name="budget_1_2" descr="Editable text; source id budget_1_2"/>
                <p:cNvSpPr txBox="1"/>
                <p:nvPr/>
              </p:nvSpPr>
              <p:spPr>
                <a:xfrm>
                  <a:off x="1301027" y="617453"/>
                  <a:ext cx="104703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,  </a:t>
                  </a:r>
                </a:p>
              </p:txBody>
            </p:sp>
            <p:sp>
              <p:nvSpPr>
                <p:cNvPr id="35" name="budget_1_3" descr="Editable text; source id budget_1_3"/>
                <p:cNvSpPr txBox="1"/>
                <p:nvPr/>
              </p:nvSpPr>
              <p:spPr>
                <a:xfrm>
                  <a:off x="1404644" y="617453"/>
                  <a:ext cx="54724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6" name="budget_1_4" descr="Editable text; source id budget_1_4"/>
                <p:cNvSpPr txBox="1"/>
                <p:nvPr/>
              </p:nvSpPr>
              <p:spPr>
                <a:xfrm>
                  <a:off x="1455264" y="672376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grpSp>
          <p:nvGrpSpPr>
            <p:cNvPr id="187" name="budget_row_1" descr="budget row 1"/>
            <p:cNvGrpSpPr/>
            <p:nvPr/>
          </p:nvGrpSpPr>
          <p:grpSpPr>
            <a:xfrm>
              <a:off x="1061161" y="787069"/>
              <a:ext cx="565785" cy="143332"/>
              <a:chOff x="1061161" y="787069"/>
              <a:chExt cx="565785" cy="143332"/>
            </a:xfrm>
          </p:grpSpPr>
          <p:sp>
            <p:nvSpPr>
              <p:cNvPr id="37" name="budget_row_1_panel" descr="Editable shape; source id budget_row_1_panel"/>
              <p:cNvSpPr/>
              <p:nvPr/>
            </p:nvSpPr>
            <p:spPr>
              <a:xfrm>
                <a:off x="1061161" y="787069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6" name="budget_2" descr="Editable formula parts and native mathematical delimiters."/>
              <p:cNvGrpSpPr/>
              <p:nvPr/>
            </p:nvGrpSpPr>
            <p:grpSpPr>
              <a:xfrm>
                <a:off x="1196084" y="793475"/>
                <a:ext cx="296803" cy="135370"/>
                <a:chOff x="1196084" y="793475"/>
                <a:chExt cx="296803" cy="135370"/>
              </a:xfrm>
            </p:grpSpPr>
            <p:sp>
              <p:nvSpPr>
                <p:cNvPr id="38" name="budget_2_0" descr="Editable text; source id budget_2_0"/>
                <p:cNvSpPr txBox="1"/>
                <p:nvPr/>
              </p:nvSpPr>
              <p:spPr>
                <a:xfrm>
                  <a:off x="1196084" y="793475"/>
                  <a:ext cx="72510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9" name="budget_2_1" descr="Editable text; source id budget_2_1"/>
                <p:cNvSpPr txBox="1"/>
                <p:nvPr/>
              </p:nvSpPr>
              <p:spPr>
                <a:xfrm>
                  <a:off x="1264490" y="848398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  <p:sp>
              <p:nvSpPr>
                <p:cNvPr id="40" name="budget_2_2" descr="Editable text; source id budget_2_2"/>
                <p:cNvSpPr txBox="1"/>
                <p:nvPr/>
              </p:nvSpPr>
              <p:spPr>
                <a:xfrm>
                  <a:off x="1301027" y="793475"/>
                  <a:ext cx="104703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,  </a:t>
                  </a:r>
                </a:p>
              </p:txBody>
            </p:sp>
            <p:sp>
              <p:nvSpPr>
                <p:cNvPr id="41" name="budget_2_3" descr="Editable text; source id budget_2_3"/>
                <p:cNvSpPr txBox="1"/>
                <p:nvPr/>
              </p:nvSpPr>
              <p:spPr>
                <a:xfrm>
                  <a:off x="1404644" y="793475"/>
                  <a:ext cx="54724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42" name="budget_2_4" descr="Editable text; source id budget_2_4"/>
                <p:cNvSpPr txBox="1"/>
                <p:nvPr/>
              </p:nvSpPr>
              <p:spPr>
                <a:xfrm>
                  <a:off x="1455264" y="848398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grpSp>
          <p:nvGrpSpPr>
            <p:cNvPr id="188" name="budget_row_2" descr="budget row 2"/>
            <p:cNvGrpSpPr/>
            <p:nvPr/>
          </p:nvGrpSpPr>
          <p:grpSpPr>
            <a:xfrm>
              <a:off x="1061161" y="963091"/>
              <a:ext cx="565785" cy="143332"/>
              <a:chOff x="1061161" y="963091"/>
              <a:chExt cx="565785" cy="143332"/>
            </a:xfrm>
          </p:grpSpPr>
          <p:sp>
            <p:nvSpPr>
              <p:cNvPr id="43" name="budget_row_2_panel" descr="Editable shape; source id budget_row_2_panel"/>
              <p:cNvSpPr/>
              <p:nvPr/>
            </p:nvSpPr>
            <p:spPr>
              <a:xfrm>
                <a:off x="1061161" y="963091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budget_dots" descr="Editable text; source id budget_dots"/>
              <p:cNvSpPr txBox="1"/>
              <p:nvPr/>
            </p:nvSpPr>
            <p:spPr>
              <a:xfrm>
                <a:off x="1291954" y="967666"/>
                <a:ext cx="114921" cy="126435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…</a:t>
                </a:r>
              </a:p>
            </p:txBody>
          </p:sp>
        </p:grpSp>
        <p:grpSp>
          <p:nvGrpSpPr>
            <p:cNvPr id="190" name="budget_row_3" descr="budget row 3"/>
            <p:cNvGrpSpPr/>
            <p:nvPr/>
          </p:nvGrpSpPr>
          <p:grpSpPr>
            <a:xfrm>
              <a:off x="1061161" y="1139113"/>
              <a:ext cx="565785" cy="143332"/>
              <a:chOff x="1061161" y="1139113"/>
              <a:chExt cx="565785" cy="143332"/>
            </a:xfrm>
          </p:grpSpPr>
          <p:sp>
            <p:nvSpPr>
              <p:cNvPr id="45" name="budget_row_3_panel" descr="Editable shape; source id budget_row_3_panel"/>
              <p:cNvSpPr/>
              <p:nvPr/>
            </p:nvSpPr>
            <p:spPr>
              <a:xfrm>
                <a:off x="1061161" y="1139113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9" name="budget_K" descr="Editable formula parts and native mathematical delimiters."/>
              <p:cNvGrpSpPr/>
              <p:nvPr/>
            </p:nvGrpSpPr>
            <p:grpSpPr>
              <a:xfrm>
                <a:off x="1181666" y="1145519"/>
                <a:ext cx="325639" cy="135370"/>
                <a:chOff x="1181666" y="1145519"/>
                <a:chExt cx="325639" cy="135370"/>
              </a:xfrm>
            </p:grpSpPr>
            <p:sp>
              <p:nvSpPr>
                <p:cNvPr id="46" name="budget_K_0" descr="Editable text; source id budget_K_0"/>
                <p:cNvSpPr txBox="1"/>
                <p:nvPr/>
              </p:nvSpPr>
              <p:spPr>
                <a:xfrm>
                  <a:off x="1181666" y="1145519"/>
                  <a:ext cx="72510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7" name="budget_K_1" descr="Editable text; source id budget_K_1"/>
                <p:cNvSpPr txBox="1"/>
                <p:nvPr/>
              </p:nvSpPr>
              <p:spPr>
                <a:xfrm>
                  <a:off x="1250072" y="1200442"/>
                  <a:ext cx="52041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48" name="budget_K_2" descr="Editable text; source id budget_K_2"/>
                <p:cNvSpPr txBox="1"/>
                <p:nvPr/>
              </p:nvSpPr>
              <p:spPr>
                <a:xfrm>
                  <a:off x="1301027" y="1145519"/>
                  <a:ext cx="104703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,  </a:t>
                  </a:r>
                </a:p>
              </p:txBody>
            </p:sp>
            <p:sp>
              <p:nvSpPr>
                <p:cNvPr id="49" name="budget_K_3" descr="Editable text; source id budget_K_3"/>
                <p:cNvSpPr txBox="1"/>
                <p:nvPr/>
              </p:nvSpPr>
              <p:spPr>
                <a:xfrm>
                  <a:off x="1404644" y="1145519"/>
                  <a:ext cx="54724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50" name="budget_K_4" descr="Editable text; source id budget_K_4"/>
                <p:cNvSpPr txBox="1"/>
                <p:nvPr/>
              </p:nvSpPr>
              <p:spPr>
                <a:xfrm>
                  <a:off x="1455264" y="1200442"/>
                  <a:ext cx="52041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sp>
          <p:nvSpPr>
            <p:cNvPr id="51" name="hard_header" descr="Editable text; source id hard_header"/>
            <p:cNvSpPr txBox="1"/>
            <p:nvPr/>
          </p:nvSpPr>
          <p:spPr>
            <a:xfrm>
              <a:off x="1019335" y="1361996"/>
              <a:ext cx="660159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Hard support H</a:t>
              </a:r>
            </a:p>
          </p:txBody>
        </p:sp>
        <p:grpSp>
          <p:nvGrpSpPr>
            <p:cNvPr id="191" name="hard_edge" descr="hard edge"/>
            <p:cNvGrpSpPr/>
            <p:nvPr/>
          </p:nvGrpSpPr>
          <p:grpSpPr>
            <a:xfrm>
              <a:off x="1101394" y="1521332"/>
              <a:ext cx="487832" cy="60350"/>
              <a:chOff x="1101394" y="1521332"/>
              <a:chExt cx="487832" cy="60350"/>
            </a:xfrm>
          </p:grpSpPr>
          <p:cxnSp>
            <p:nvCxnSpPr>
              <p:cNvPr id="52" name="hard_edge_left" descr="Editable line; source id hard_edge_left"/>
              <p:cNvCxnSpPr/>
              <p:nvPr/>
            </p:nvCxnSpPr>
            <p:spPr>
              <a:xfrm>
                <a:off x="1171803" y="1551508"/>
                <a:ext cx="120701" cy="0"/>
              </a:xfrm>
              <a:prstGeom prst="line">
                <a:avLst/>
              </a:prstGeom>
              <a:ln w="5532" cap="rnd">
                <a:solidFill>
                  <a:srgbClr val="70828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hard_edge_right" descr="Editable line; source id hard_edge_right"/>
              <p:cNvCxnSpPr/>
              <p:nvPr/>
            </p:nvCxnSpPr>
            <p:spPr>
              <a:xfrm>
                <a:off x="1378000" y="1551508"/>
                <a:ext cx="140818" cy="0"/>
              </a:xfrm>
              <a:prstGeom prst="line">
                <a:avLst/>
              </a:prstGeom>
              <a:ln w="5532" cap="rnd">
                <a:solidFill>
                  <a:srgbClr val="70828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hard_node_a" descr="Editable shape; source id hard_node_a"/>
              <p:cNvSpPr/>
              <p:nvPr/>
            </p:nvSpPr>
            <p:spPr>
              <a:xfrm>
                <a:off x="1101394" y="1521332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023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hard_node_b" descr="Editable shape; source id hard_node_b"/>
              <p:cNvSpPr/>
              <p:nvPr/>
            </p:nvSpPr>
            <p:spPr>
              <a:xfrm>
                <a:off x="1528876" y="1521332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023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6" name="hard_cross_a" descr="Editable line; source id hard_cross_a"/>
              <p:cNvCxnSpPr/>
              <p:nvPr/>
            </p:nvCxnSpPr>
            <p:spPr>
              <a:xfrm>
                <a:off x="1302562" y="1523847"/>
                <a:ext cx="55322" cy="55321"/>
              </a:xfrm>
              <a:prstGeom prst="line">
                <a:avLst/>
              </a:prstGeom>
              <a:ln w="754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hard_cross_b" descr="Editable line; source id hard_cross_b"/>
              <p:cNvCxnSpPr/>
              <p:nvPr/>
            </p:nvCxnSpPr>
            <p:spPr>
              <a:xfrm flipV="1">
                <a:off x="1302562" y="1523847"/>
                <a:ext cx="55322" cy="55321"/>
              </a:xfrm>
              <a:prstGeom prst="line">
                <a:avLst/>
              </a:prstGeom>
              <a:ln w="754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hard_zero" descr="Editable formula parts and native mathematical delimiters."/>
            <p:cNvGrpSpPr/>
            <p:nvPr/>
          </p:nvGrpSpPr>
          <p:grpSpPr>
            <a:xfrm>
              <a:off x="1205797" y="1615749"/>
              <a:ext cx="276693" cy="135370"/>
              <a:chOff x="1205797" y="1615749"/>
              <a:chExt cx="276693" cy="135370"/>
            </a:xfrm>
          </p:grpSpPr>
          <p:sp>
            <p:nvSpPr>
              <p:cNvPr id="58" name="hard_zero_0" descr="Editable text; source id hard_zero_0"/>
              <p:cNvSpPr txBox="1"/>
              <p:nvPr/>
            </p:nvSpPr>
            <p:spPr>
              <a:xfrm>
                <a:off x="1205797" y="1615749"/>
                <a:ext cx="68405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205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59" name="hard_zero_1" descr="Editable text; source id hard_zero_1"/>
              <p:cNvSpPr txBox="1"/>
              <p:nvPr/>
            </p:nvSpPr>
            <p:spPr>
              <a:xfrm>
                <a:off x="1270098" y="1670672"/>
                <a:ext cx="52041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60" name="hard_zero_2" descr="Editable text; source id hard_zero_2"/>
              <p:cNvSpPr txBox="1"/>
              <p:nvPr/>
            </p:nvSpPr>
            <p:spPr>
              <a:xfrm>
                <a:off x="1321053" y="1615749"/>
                <a:ext cx="161437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cxnSp>
          <p:nvCxnSpPr>
            <p:cNvPr id="61" name="central_divider1a" descr="Editable line; source id central_divider1a"/>
            <p:cNvCxnSpPr/>
            <p:nvPr/>
          </p:nvCxnSpPr>
          <p:spPr>
            <a:xfrm>
              <a:off x="1702384" y="520522"/>
              <a:ext cx="0" cy="334442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entral_divider1b" descr="Editable line; source id central_divider1b"/>
            <p:cNvCxnSpPr/>
            <p:nvPr/>
          </p:nvCxnSpPr>
          <p:spPr>
            <a:xfrm>
              <a:off x="1702384" y="927887"/>
              <a:ext cx="0" cy="784555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graph_header" descr="Editable text; source id graph_header"/>
            <p:cNvSpPr txBox="1"/>
            <p:nvPr/>
          </p:nvSpPr>
          <p:spPr>
            <a:xfrm>
              <a:off x="1856524" y="344286"/>
              <a:ext cx="866702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One graph problem</a:t>
              </a:r>
            </a:p>
          </p:txBody>
        </p:sp>
        <p:grpSp>
          <p:nvGrpSpPr>
            <p:cNvPr id="193" name="shared_graph" descr="shared graph"/>
            <p:cNvGrpSpPr/>
            <p:nvPr/>
          </p:nvGrpSpPr>
          <p:grpSpPr>
            <a:xfrm>
              <a:off x="1813026" y="621106"/>
              <a:ext cx="940460" cy="533095"/>
              <a:chOff x="1813026" y="621106"/>
              <a:chExt cx="940460" cy="533095"/>
            </a:xfrm>
          </p:grpSpPr>
          <p:sp>
            <p:nvSpPr>
              <p:cNvPr id="64" name="shared_graph_edge0" descr="Editable line; source id shared_graph_edge0"/>
              <p:cNvSpPr/>
              <p:nvPr/>
            </p:nvSpPr>
            <p:spPr>
              <a:xfrm>
                <a:off x="1888361" y="699538"/>
                <a:ext cx="154263" cy="155270"/>
              </a:xfrm>
              <a:custGeom>
                <a:avLst/>
                <a:gdLst/>
                <a:ahLst/>
                <a:cxnLst/>
                <a:rect l="l" t="t" r="r" b="b"/>
                <a:pathLst>
                  <a:path w="56378" h="56746">
                    <a:moveTo>
                      <a:pt x="0" y="54673"/>
                    </a:moveTo>
                    <a:lnTo>
                      <a:pt x="47563" y="6788"/>
                    </a:lnTo>
                    <a:lnTo>
                      <a:pt x="45672" y="4909"/>
                    </a:lnTo>
                    <a:lnTo>
                      <a:pt x="56378" y="0"/>
                    </a:lnTo>
                    <a:lnTo>
                      <a:pt x="51541" y="10738"/>
                    </a:lnTo>
                    <a:lnTo>
                      <a:pt x="49650" y="8860"/>
                    </a:lnTo>
                    <a:lnTo>
                      <a:pt x="2087" y="56746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hared_graph_edge1" descr="Editable line; source id shared_graph_edge1"/>
              <p:cNvSpPr/>
              <p:nvPr/>
            </p:nvSpPr>
            <p:spPr>
              <a:xfrm>
                <a:off x="2128359" y="652537"/>
                <a:ext cx="292698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106971" h="8272">
                    <a:moveTo>
                      <a:pt x="0" y="2666"/>
                    </a:moveTo>
                    <a:lnTo>
                      <a:pt x="95943" y="2666"/>
                    </a:lnTo>
                    <a:lnTo>
                      <a:pt x="95943" y="0"/>
                    </a:lnTo>
                    <a:lnTo>
                      <a:pt x="106971" y="4136"/>
                    </a:lnTo>
                    <a:lnTo>
                      <a:pt x="95943" y="8272"/>
                    </a:lnTo>
                    <a:lnTo>
                      <a:pt x="95943" y="5606"/>
                    </a:lnTo>
                    <a:lnTo>
                      <a:pt x="0" y="5606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hared_graph_edge2" descr="Editable line; source id shared_graph_edge2"/>
              <p:cNvSpPr/>
              <p:nvPr/>
            </p:nvSpPr>
            <p:spPr>
              <a:xfrm>
                <a:off x="2505341" y="695261"/>
                <a:ext cx="168662" cy="158048"/>
              </a:xfrm>
              <a:custGeom>
                <a:avLst/>
                <a:gdLst/>
                <a:ahLst/>
                <a:cxnLst/>
                <a:rect l="l" t="t" r="r" b="b"/>
                <a:pathLst>
                  <a:path w="61640" h="57761">
                    <a:moveTo>
                      <a:pt x="2008" y="0"/>
                    </a:moveTo>
                    <a:lnTo>
                      <a:pt x="54588" y="49156"/>
                    </a:lnTo>
                    <a:lnTo>
                      <a:pt x="56408" y="47209"/>
                    </a:lnTo>
                    <a:lnTo>
                      <a:pt x="61640" y="57761"/>
                    </a:lnTo>
                    <a:lnTo>
                      <a:pt x="50759" y="53251"/>
                    </a:lnTo>
                    <a:lnTo>
                      <a:pt x="52579" y="51304"/>
                    </a:lnTo>
                    <a:lnTo>
                      <a:pt x="0" y="2148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hared_graph_edge3" descr="Editable line; source id shared_graph_edge3"/>
              <p:cNvSpPr/>
              <p:nvPr/>
            </p:nvSpPr>
            <p:spPr>
              <a:xfrm>
                <a:off x="1889165" y="921299"/>
                <a:ext cx="153459" cy="154471"/>
              </a:xfrm>
              <a:custGeom>
                <a:avLst/>
                <a:gdLst/>
                <a:ahLst/>
                <a:cxnLst/>
                <a:rect l="l" t="t" r="r" b="b"/>
                <a:pathLst>
                  <a:path w="56084" h="56454">
                    <a:moveTo>
                      <a:pt x="1499" y="0"/>
                    </a:moveTo>
                    <a:lnTo>
                      <a:pt x="49062" y="47885"/>
                    </a:lnTo>
                    <a:lnTo>
                      <a:pt x="51247" y="45716"/>
                    </a:lnTo>
                    <a:lnTo>
                      <a:pt x="56084" y="56454"/>
                    </a:lnTo>
                    <a:lnTo>
                      <a:pt x="45378" y="51545"/>
                    </a:lnTo>
                    <a:lnTo>
                      <a:pt x="47563" y="49375"/>
                    </a:lnTo>
                    <a:lnTo>
                      <a:pt x="0" y="1489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hared_graph_edge4" descr="Editable line; source id shared_graph_edge4"/>
              <p:cNvSpPr/>
              <p:nvPr/>
            </p:nvSpPr>
            <p:spPr>
              <a:xfrm>
                <a:off x="2128359" y="1100139"/>
                <a:ext cx="292698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06971" h="8271">
                    <a:moveTo>
                      <a:pt x="0" y="3078"/>
                    </a:moveTo>
                    <a:lnTo>
                      <a:pt x="95943" y="3078"/>
                    </a:lnTo>
                    <a:lnTo>
                      <a:pt x="95943" y="0"/>
                    </a:lnTo>
                    <a:lnTo>
                      <a:pt x="106971" y="4135"/>
                    </a:lnTo>
                    <a:lnTo>
                      <a:pt x="95943" y="8271"/>
                    </a:lnTo>
                    <a:lnTo>
                      <a:pt x="95943" y="5192"/>
                    </a:lnTo>
                    <a:lnTo>
                      <a:pt x="0" y="5192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shared_graph_edge5" descr="Editable line; source id shared_graph_edge5"/>
              <p:cNvSpPr/>
              <p:nvPr/>
            </p:nvSpPr>
            <p:spPr>
              <a:xfrm>
                <a:off x="2506112" y="921999"/>
                <a:ext cx="167890" cy="157221"/>
              </a:xfrm>
              <a:custGeom>
                <a:avLst/>
                <a:gdLst/>
                <a:ahLst/>
                <a:cxnLst/>
                <a:rect l="l" t="t" r="r" b="b"/>
                <a:pathLst>
                  <a:path w="61358" h="57459">
                    <a:moveTo>
                      <a:pt x="0" y="55915"/>
                    </a:moveTo>
                    <a:lnTo>
                      <a:pt x="52580" y="6759"/>
                    </a:lnTo>
                    <a:lnTo>
                      <a:pt x="50477" y="4510"/>
                    </a:lnTo>
                    <a:lnTo>
                      <a:pt x="61358" y="0"/>
                    </a:lnTo>
                    <a:lnTo>
                      <a:pt x="56126" y="10552"/>
                    </a:lnTo>
                    <a:lnTo>
                      <a:pt x="54023" y="8303"/>
                    </a:lnTo>
                    <a:lnTo>
                      <a:pt x="1443" y="57459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shared_graph_edge6" descr="Editable line; source id shared_graph_edge6"/>
              <p:cNvSpPr/>
              <p:nvPr/>
            </p:nvSpPr>
            <p:spPr>
              <a:xfrm>
                <a:off x="2066749" y="714146"/>
                <a:ext cx="2263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126822">
                    <a:moveTo>
                      <a:pt x="5192" y="0"/>
                    </a:moveTo>
                    <a:lnTo>
                      <a:pt x="5192" y="115794"/>
                    </a:lnTo>
                    <a:lnTo>
                      <a:pt x="8271" y="115794"/>
                    </a:lnTo>
                    <a:lnTo>
                      <a:pt x="4136" y="126822"/>
                    </a:lnTo>
                    <a:lnTo>
                      <a:pt x="0" y="115794"/>
                    </a:lnTo>
                    <a:lnTo>
                      <a:pt x="3079" y="11579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shared_graph_edge7" descr="Editable line; source id shared_graph_edge7"/>
              <p:cNvSpPr/>
              <p:nvPr/>
            </p:nvSpPr>
            <p:spPr>
              <a:xfrm>
                <a:off x="2460034" y="714146"/>
                <a:ext cx="2263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126822">
                    <a:moveTo>
                      <a:pt x="5192" y="0"/>
                    </a:moveTo>
                    <a:lnTo>
                      <a:pt x="5192" y="115794"/>
                    </a:lnTo>
                    <a:lnTo>
                      <a:pt x="8271" y="115794"/>
                    </a:lnTo>
                    <a:lnTo>
                      <a:pt x="4135" y="126822"/>
                    </a:lnTo>
                    <a:lnTo>
                      <a:pt x="0" y="115794"/>
                    </a:lnTo>
                    <a:lnTo>
                      <a:pt x="3078" y="115794"/>
                    </a:lnTo>
                    <a:lnTo>
                      <a:pt x="3078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shared_graph_node1" descr="Editable shape; source id shared_graph_node1"/>
              <p:cNvSpPr/>
              <p:nvPr/>
            </p:nvSpPr>
            <p:spPr>
              <a:xfrm>
                <a:off x="1813026" y="8449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shared_graph_node2" descr="Editable shape; source id shared_graph_node2"/>
              <p:cNvSpPr/>
              <p:nvPr/>
            </p:nvSpPr>
            <p:spPr>
              <a:xfrm>
                <a:off x="2035317" y="621106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shared_graph_node3" descr="Editable shape; source id shared_graph_node3"/>
              <p:cNvSpPr/>
              <p:nvPr/>
            </p:nvSpPr>
            <p:spPr>
              <a:xfrm>
                <a:off x="2428600" y="621106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shared_graph_node4" descr="Editable shape; source id shared_graph_node4"/>
              <p:cNvSpPr/>
              <p:nvPr/>
            </p:nvSpPr>
            <p:spPr>
              <a:xfrm>
                <a:off x="2667990" y="8449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shared_graph_node5" descr="Editable shape; source id shared_graph_node5"/>
              <p:cNvSpPr/>
              <p:nvPr/>
            </p:nvSpPr>
            <p:spPr>
              <a:xfrm>
                <a:off x="2035317" y="10687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shared_graph_node6" descr="Editable shape; source id shared_graph_node6"/>
              <p:cNvSpPr/>
              <p:nvPr/>
            </p:nvSpPr>
            <p:spPr>
              <a:xfrm>
                <a:off x="2428600" y="10687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6" name="graph_obj1" descr="Editable formula parts and native mathematical delimiters."/>
            <p:cNvGrpSpPr/>
            <p:nvPr/>
          </p:nvGrpSpPr>
          <p:grpSpPr>
            <a:xfrm>
              <a:off x="2015196" y="1193759"/>
              <a:ext cx="531534" cy="138566"/>
              <a:chOff x="2015196" y="1193759"/>
              <a:chExt cx="531534" cy="138566"/>
            </a:xfrm>
          </p:grpSpPr>
          <p:sp>
            <p:nvSpPr>
              <p:cNvPr id="78" name="graph_obj1_0" descr="Editable text; source id graph_obj1_0"/>
              <p:cNvSpPr txBox="1"/>
              <p:nvPr/>
            </p:nvSpPr>
            <p:spPr>
              <a:xfrm>
                <a:off x="2015196" y="1193759"/>
                <a:ext cx="164484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79" name="graph_obj1_1" descr="Editable text; source id graph_obj1_1"/>
              <p:cNvSpPr txBox="1"/>
              <p:nvPr/>
            </p:nvSpPr>
            <p:spPr>
              <a:xfrm>
                <a:off x="2175575" y="1249969"/>
                <a:ext cx="41941" cy="8235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16"/>
                  </a:lnSpc>
                  <a:spcBef>
                    <a:spcPts val="0"/>
                  </a:spcBef>
                  <a:spcAft>
                    <a:spcPts val="0"/>
                  </a:spcAft>
                  <a:def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80" name="graph_obj1_2" descr="Editable text; source id graph_obj1_2"/>
              <p:cNvSpPr txBox="1"/>
              <p:nvPr/>
            </p:nvSpPr>
            <p:spPr>
              <a:xfrm>
                <a:off x="2216505" y="1193759"/>
                <a:ext cx="113778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81" name="graph_obj1_3" descr="Editable text; source id graph_obj1_3"/>
              <p:cNvSpPr txBox="1"/>
              <p:nvPr/>
            </p:nvSpPr>
            <p:spPr>
              <a:xfrm>
                <a:off x="2354045" y="1193759"/>
                <a:ext cx="169646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grpSp>
            <p:nvGrpSpPr>
              <p:cNvPr id="194" name="graph_obj1_angle_0" descr="One editable routed connector; fixed endpoints."/>
              <p:cNvGrpSpPr/>
              <p:nvPr/>
            </p:nvGrpSpPr>
            <p:grpSpPr>
              <a:xfrm>
                <a:off x="2336826" y="1213244"/>
                <a:ext cx="16496" cy="82479"/>
                <a:chOff x="2336826" y="1213244"/>
                <a:chExt cx="16496" cy="82479"/>
              </a:xfrm>
            </p:grpSpPr>
            <p:cxnSp>
              <p:nvCxnSpPr>
                <p:cNvPr id="82" name="graph_obj1_angle_0_0" descr="Editable line; source id graph_obj1_angle_0_0"/>
                <p:cNvCxnSpPr/>
                <p:nvPr/>
              </p:nvCxnSpPr>
              <p:spPr>
                <a:xfrm flipH="1">
                  <a:off x="2336826" y="1213244"/>
                  <a:ext cx="16496" cy="41239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graph_obj1_angle_0_1" descr="Editable line; source id graph_obj1_angle_0_1"/>
                <p:cNvCxnSpPr/>
                <p:nvPr/>
              </p:nvCxnSpPr>
              <p:spPr>
                <a:xfrm>
                  <a:off x="2336826" y="1254483"/>
                  <a:ext cx="16496" cy="41240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aph_obj1_angle_1" descr="One editable routed connector; fixed endpoints."/>
              <p:cNvGrpSpPr/>
              <p:nvPr/>
            </p:nvGrpSpPr>
            <p:grpSpPr>
              <a:xfrm>
                <a:off x="2530234" y="1213244"/>
                <a:ext cx="16496" cy="82479"/>
                <a:chOff x="2530234" y="1213244"/>
                <a:chExt cx="16496" cy="82479"/>
              </a:xfrm>
            </p:grpSpPr>
            <p:cxnSp>
              <p:nvCxnSpPr>
                <p:cNvPr id="84" name="graph_obj1_angle_1_0" descr="Editable line; source id graph_obj1_angle_1_0"/>
                <p:cNvCxnSpPr/>
                <p:nvPr/>
              </p:nvCxnSpPr>
              <p:spPr>
                <a:xfrm>
                  <a:off x="2530234" y="1213244"/>
                  <a:ext cx="16496" cy="41239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graph_obj1_angle_1_1" descr="Editable line; source id graph_obj1_angle_1_1"/>
                <p:cNvCxnSpPr/>
                <p:nvPr/>
              </p:nvCxnSpPr>
              <p:spPr>
                <a:xfrm flipH="1">
                  <a:off x="2530234" y="1254483"/>
                  <a:ext cx="16496" cy="41240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7" name="graph_obj2" descr="Editable formula parts and native mathematical delimiters."/>
            <p:cNvGrpSpPr/>
            <p:nvPr/>
          </p:nvGrpSpPr>
          <p:grpSpPr>
            <a:xfrm>
              <a:off x="1998720" y="1324518"/>
              <a:ext cx="572376" cy="122667"/>
              <a:chOff x="1998720" y="1324518"/>
              <a:chExt cx="572376" cy="122667"/>
            </a:xfrm>
          </p:grpSpPr>
          <p:sp>
            <p:nvSpPr>
              <p:cNvPr id="86" name="graph_obj2_0" descr="Editable text; source id graph_obj2_0"/>
              <p:cNvSpPr txBox="1"/>
              <p:nvPr/>
            </p:nvSpPr>
            <p:spPr>
              <a:xfrm>
                <a:off x="1998720" y="1324518"/>
                <a:ext cx="415223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+ ε KL(F </a:t>
                </a:r>
              </a:p>
            </p:txBody>
          </p:sp>
          <p:sp>
            <p:nvSpPr>
              <p:cNvPr id="87" name="graph_obj2_1" descr="Editable text; source id graph_obj2_1"/>
              <p:cNvSpPr txBox="1"/>
              <p:nvPr/>
            </p:nvSpPr>
            <p:spPr>
              <a:xfrm>
                <a:off x="2443862" y="1324518"/>
                <a:ext cx="127234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cxnSp>
            <p:nvCxnSpPr>
              <p:cNvPr id="88" name="graph_obj2_parallel_0_0" descr="Editable line; source id graph_obj2_parallel_0_0"/>
              <p:cNvCxnSpPr/>
              <p:nvPr/>
            </p:nvCxnSpPr>
            <p:spPr>
              <a:xfrm>
                <a:off x="2422548" y="1344003"/>
                <a:ext cx="0" cy="82479"/>
              </a:xfrm>
              <a:prstGeom prst="line">
                <a:avLst/>
              </a:prstGeom>
              <a:ln w="412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raph_obj2_parallel_0_1" descr="Editable line; source id graph_obj2_parallel_0_1"/>
              <p:cNvCxnSpPr/>
              <p:nvPr/>
            </p:nvCxnSpPr>
            <p:spPr>
              <a:xfrm>
                <a:off x="2436982" y="1344003"/>
                <a:ext cx="0" cy="82479"/>
              </a:xfrm>
              <a:prstGeom prst="line">
                <a:avLst/>
              </a:prstGeom>
              <a:ln w="412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balance" descr="Editable text; source id balance"/>
            <p:cNvSpPr txBox="1"/>
            <p:nvPr/>
          </p:nvSpPr>
          <p:spPr>
            <a:xfrm>
              <a:off x="2041220" y="1460065"/>
              <a:ext cx="497310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flow balance</a:t>
              </a:r>
            </a:p>
          </p:txBody>
        </p:sp>
        <p:grpSp>
          <p:nvGrpSpPr>
            <p:cNvPr id="200" name="soft_budget" descr="Editable formula parts and native mathematical delimiters."/>
            <p:cNvGrpSpPr/>
            <p:nvPr/>
          </p:nvGrpSpPr>
          <p:grpSpPr>
            <a:xfrm>
              <a:off x="2071531" y="1585795"/>
              <a:ext cx="434158" cy="131491"/>
              <a:chOff x="2071531" y="1585795"/>
              <a:chExt cx="434158" cy="131491"/>
            </a:xfrm>
          </p:grpSpPr>
          <p:sp>
            <p:nvSpPr>
              <p:cNvPr id="91" name="soft_budget_0" descr="Editable text; source id soft_budget_0"/>
              <p:cNvSpPr txBox="1"/>
              <p:nvPr/>
            </p:nvSpPr>
            <p:spPr>
              <a:xfrm>
                <a:off x="2093700" y="1585795"/>
                <a:ext cx="70458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92" name="soft_budget_1" descr="Editable text; source id soft_budget_1"/>
              <p:cNvSpPr txBox="1"/>
              <p:nvPr/>
            </p:nvSpPr>
            <p:spPr>
              <a:xfrm>
                <a:off x="2160054" y="1638747"/>
                <a:ext cx="36939" cy="7853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93" name="soft_budget_2" descr="Editable text; source id soft_budget_2"/>
              <p:cNvSpPr txBox="1"/>
              <p:nvPr/>
            </p:nvSpPr>
            <p:spPr>
              <a:xfrm>
                <a:off x="2195830" y="1585795"/>
                <a:ext cx="89611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94" name="soft_budget_3" descr="Editable text; source id soft_budget_3"/>
              <p:cNvSpPr txBox="1"/>
              <p:nvPr/>
            </p:nvSpPr>
            <p:spPr>
              <a:xfrm>
                <a:off x="2313701" y="1585795"/>
                <a:ext cx="106959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95" name="soft_budget_4" descr="Editable text; source id soft_budget_4"/>
              <p:cNvSpPr txBox="1"/>
              <p:nvPr/>
            </p:nvSpPr>
            <p:spPr>
              <a:xfrm>
                <a:off x="2419497" y="1585795"/>
                <a:ext cx="53356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96" name="soft_budget_5" descr="Editable text; source id soft_budget_5"/>
              <p:cNvSpPr txBox="1"/>
              <p:nvPr/>
            </p:nvSpPr>
            <p:spPr>
              <a:xfrm>
                <a:off x="2468750" y="1638747"/>
                <a:ext cx="36939" cy="7853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198" name="soft_budget_angle_0" descr="One editable routed connector; fixed endpoints."/>
              <p:cNvGrpSpPr/>
              <p:nvPr/>
            </p:nvGrpSpPr>
            <p:grpSpPr>
              <a:xfrm>
                <a:off x="2071531" y="1604113"/>
                <a:ext cx="15691" cy="78456"/>
                <a:chOff x="2071531" y="1604113"/>
                <a:chExt cx="15691" cy="78456"/>
              </a:xfrm>
            </p:grpSpPr>
            <p:cxnSp>
              <p:nvCxnSpPr>
                <p:cNvPr id="97" name="soft_budget_angle_0_0" descr="Editable line; source id soft_budget_angle_0_0"/>
                <p:cNvCxnSpPr/>
                <p:nvPr/>
              </p:nvCxnSpPr>
              <p:spPr>
                <a:xfrm flipH="1">
                  <a:off x="2071531" y="1604113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oft_budget_angle_0_1" descr="Editable line; source id soft_budget_angle_0_1"/>
                <p:cNvCxnSpPr/>
                <p:nvPr/>
              </p:nvCxnSpPr>
              <p:spPr>
                <a:xfrm>
                  <a:off x="2071531" y="1643341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soft_budget_angle_1" descr="One editable routed connector; fixed endpoints."/>
              <p:cNvGrpSpPr/>
              <p:nvPr/>
            </p:nvGrpSpPr>
            <p:grpSpPr>
              <a:xfrm>
                <a:off x="2291532" y="1604113"/>
                <a:ext cx="15691" cy="78456"/>
                <a:chOff x="2291532" y="1604113"/>
                <a:chExt cx="15691" cy="78456"/>
              </a:xfrm>
            </p:grpSpPr>
            <p:cxnSp>
              <p:nvCxnSpPr>
                <p:cNvPr id="99" name="soft_budget_angle_1_0" descr="Editable line; source id soft_budget_angle_1_0"/>
                <p:cNvCxnSpPr/>
                <p:nvPr/>
              </p:nvCxnSpPr>
              <p:spPr>
                <a:xfrm>
                  <a:off x="2291532" y="1604113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oft_budget_angle_1_1" descr="Editable line; source id soft_budget_angle_1_1"/>
                <p:cNvCxnSpPr/>
                <p:nvPr/>
              </p:nvCxnSpPr>
              <p:spPr>
                <a:xfrm flipH="1">
                  <a:off x="2291532" y="1643341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1" name="central_divider2a" descr="Editable line; source id central_divider2a"/>
            <p:cNvCxnSpPr/>
            <p:nvPr/>
          </p:nvCxnSpPr>
          <p:spPr>
            <a:xfrm>
              <a:off x="2859100" y="520522"/>
              <a:ext cx="0" cy="334442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entral_divider2b" descr="Editable line; source id central_divider2b"/>
            <p:cNvCxnSpPr/>
            <p:nvPr/>
          </p:nvCxnSpPr>
          <p:spPr>
            <a:xfrm>
              <a:off x="2859100" y="927887"/>
              <a:ext cx="0" cy="784555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price_header" descr="Editable text; source id price_header"/>
            <p:cNvSpPr txBox="1"/>
            <p:nvPr/>
          </p:nvSpPr>
          <p:spPr>
            <a:xfrm>
              <a:off x="3034559" y="344286"/>
              <a:ext cx="844181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Shared safety price</a:t>
              </a:r>
            </a:p>
          </p:txBody>
        </p:sp>
        <p:grpSp>
          <p:nvGrpSpPr>
            <p:cNvPr id="201" name="solver_price" descr="Editable formula parts and native mathematical delimiters."/>
            <p:cNvGrpSpPr/>
            <p:nvPr/>
          </p:nvGrpSpPr>
          <p:grpSpPr>
            <a:xfrm>
              <a:off x="3393141" y="508503"/>
              <a:ext cx="94004" cy="150933"/>
              <a:chOff x="3393141" y="508503"/>
              <a:chExt cx="94004" cy="150933"/>
            </a:xfrm>
          </p:grpSpPr>
          <p:sp>
            <p:nvSpPr>
              <p:cNvPr id="104" name="solver_price_0" descr="Editable text; source id solver_price_0"/>
              <p:cNvSpPr txBox="1"/>
              <p:nvPr/>
            </p:nvSpPr>
            <p:spPr>
              <a:xfrm>
                <a:off x="3393141" y="528093"/>
                <a:ext cx="57493" cy="1313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1001"/>
                  </a:lnSpc>
                  <a:spcBef>
                    <a:spcPts val="0"/>
                  </a:spcBef>
                  <a:spcAft>
                    <a:spcPts val="0"/>
                  </a:spcAft>
                  <a:defRPr sz="871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71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05" name="solver_price_1" descr="Editable text; source id solver_price_1"/>
              <p:cNvSpPr txBox="1"/>
              <p:nvPr/>
            </p:nvSpPr>
            <p:spPr>
              <a:xfrm>
                <a:off x="3446530" y="508503"/>
                <a:ext cx="40615" cy="8808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61"/>
                  </a:lnSpc>
                  <a:spcBef>
                    <a:spcPts val="0"/>
                  </a:spcBef>
                  <a:spcAft>
                    <a:spcPts val="0"/>
                  </a:spcAft>
                  <a:defRPr sz="574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74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06" name="price_into_filter" descr="Editable line; source id price_into_filter"/>
            <p:cNvSpPr/>
            <p:nvPr/>
          </p:nvSpPr>
          <p:spPr>
            <a:xfrm>
              <a:off x="3438714" y="676427"/>
              <a:ext cx="22634" cy="62865"/>
            </a:xfrm>
            <a:custGeom>
              <a:avLst/>
              <a:gdLst/>
              <a:ahLst/>
              <a:cxnLst/>
              <a:rect l="l" t="t" r="r" b="b"/>
              <a:pathLst>
                <a:path w="8272" h="22975">
                  <a:moveTo>
                    <a:pt x="5147" y="0"/>
                  </a:moveTo>
                  <a:lnTo>
                    <a:pt x="5147" y="11947"/>
                  </a:lnTo>
                  <a:lnTo>
                    <a:pt x="8272" y="11947"/>
                  </a:lnTo>
                  <a:lnTo>
                    <a:pt x="4136" y="22975"/>
                  </a:lnTo>
                  <a:lnTo>
                    <a:pt x="0" y="11947"/>
                  </a:lnTo>
                  <a:lnTo>
                    <a:pt x="3125" y="11947"/>
                  </a:lnTo>
                  <a:lnTo>
                    <a:pt x="3125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2" name="filter_operator" descr="filter operator"/>
            <p:cNvGrpSpPr/>
            <p:nvPr/>
          </p:nvGrpSpPr>
          <p:grpSpPr>
            <a:xfrm>
              <a:off x="2992374" y="746836"/>
              <a:ext cx="917828" cy="208711"/>
              <a:chOff x="2992374" y="746836"/>
              <a:chExt cx="917828" cy="208711"/>
            </a:xfrm>
          </p:grpSpPr>
          <p:sp>
            <p:nvSpPr>
              <p:cNvPr id="107" name="filter_operator_panel" descr="Editable shape; source id filter_operator_panel"/>
              <p:cNvSpPr/>
              <p:nvPr/>
            </p:nvSpPr>
            <p:spPr>
              <a:xfrm>
                <a:off x="2992374" y="746836"/>
                <a:ext cx="917828" cy="208711"/>
              </a:xfrm>
              <a:prstGeom prst="roundRect">
                <a:avLst>
                  <a:gd name="adj" fmla="val 9638"/>
                </a:avLst>
              </a:prstGeom>
              <a:solidFill>
                <a:srgbClr val="FFFFFF"/>
              </a:solidFill>
              <a:ln w="4274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filter_label" descr="Editable text; source id filter_label"/>
              <p:cNvSpPr txBox="1"/>
              <p:nvPr/>
            </p:nvSpPr>
            <p:spPr>
              <a:xfrm>
                <a:off x="3198639" y="789592"/>
                <a:ext cx="510991" cy="129403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1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1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Clip + filter</a:t>
                </a:r>
              </a:p>
            </p:txBody>
          </p:sp>
        </p:grpSp>
        <p:sp>
          <p:nvSpPr>
            <p:cNvPr id="109" name="filter_down" descr="Editable line; source id filter_down"/>
            <p:cNvSpPr/>
            <p:nvPr/>
          </p:nvSpPr>
          <p:spPr>
            <a:xfrm>
              <a:off x="3438714" y="965606"/>
              <a:ext cx="22634" cy="93040"/>
            </a:xfrm>
            <a:custGeom>
              <a:avLst/>
              <a:gdLst/>
              <a:ahLst/>
              <a:cxnLst/>
              <a:rect l="l" t="t" r="r" b="b"/>
              <a:pathLst>
                <a:path w="8272" h="34003">
                  <a:moveTo>
                    <a:pt x="5147" y="0"/>
                  </a:moveTo>
                  <a:lnTo>
                    <a:pt x="5147" y="22975"/>
                  </a:lnTo>
                  <a:lnTo>
                    <a:pt x="8272" y="22975"/>
                  </a:lnTo>
                  <a:lnTo>
                    <a:pt x="4136" y="34003"/>
                  </a:lnTo>
                  <a:lnTo>
                    <a:pt x="0" y="22975"/>
                  </a:lnTo>
                  <a:lnTo>
                    <a:pt x="3125" y="22975"/>
                  </a:lnTo>
                  <a:lnTo>
                    <a:pt x="3125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3" name="unified_price" descr="Editable formula parts and native mathematical delimiters."/>
            <p:cNvGrpSpPr/>
            <p:nvPr/>
          </p:nvGrpSpPr>
          <p:grpSpPr>
            <a:xfrm>
              <a:off x="3158342" y="1066624"/>
              <a:ext cx="577854" cy="175182"/>
              <a:chOff x="3158342" y="1066624"/>
              <a:chExt cx="577854" cy="175182"/>
            </a:xfrm>
          </p:grpSpPr>
          <p:sp>
            <p:nvSpPr>
              <p:cNvPr id="110" name="unified_price_0" descr="Editable text; source id unified_price_0"/>
              <p:cNvSpPr txBox="1"/>
              <p:nvPr/>
            </p:nvSpPr>
            <p:spPr>
              <a:xfrm>
                <a:off x="3158342" y="1087259"/>
                <a:ext cx="61041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8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11" name="unified_price_1" descr="Editable text; source id unified_price_1"/>
              <p:cNvSpPr txBox="1"/>
              <p:nvPr/>
            </p:nvSpPr>
            <p:spPr>
              <a:xfrm>
                <a:off x="3215279" y="1149907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12" name="unified_price_2" descr="Editable text; source id unified_price_2"/>
              <p:cNvSpPr txBox="1"/>
              <p:nvPr/>
            </p:nvSpPr>
            <p:spPr>
              <a:xfrm>
                <a:off x="3257057" y="1087259"/>
                <a:ext cx="127234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113" name="unified_price_3" descr="Editable text; source id unified_price_3"/>
              <p:cNvSpPr txBox="1"/>
              <p:nvPr/>
            </p:nvSpPr>
            <p:spPr>
              <a:xfrm>
                <a:off x="3380237" y="1087259"/>
                <a:ext cx="89611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8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14" name="unified_price_4" descr="Editable text; source id unified_price_4"/>
              <p:cNvSpPr txBox="1"/>
              <p:nvPr/>
            </p:nvSpPr>
            <p:spPr>
              <a:xfrm>
                <a:off x="3465744" y="1149907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15" name="unified_price_5" descr="Editable text; source id unified_price_5"/>
              <p:cNvSpPr txBox="1"/>
              <p:nvPr/>
            </p:nvSpPr>
            <p:spPr>
              <a:xfrm>
                <a:off x="3465744" y="1066624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16" name="unified_price_6" descr="Editable text; source id unified_price_6"/>
              <p:cNvSpPr txBox="1"/>
              <p:nvPr/>
            </p:nvSpPr>
            <p:spPr>
              <a:xfrm>
                <a:off x="3507522" y="1087259"/>
                <a:ext cx="127234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 + </a:t>
                </a:r>
              </a:p>
            </p:txBody>
          </p:sp>
          <p:sp>
            <p:nvSpPr>
              <p:cNvPr id="117" name="unified_price_7" descr="Editable text; source id unified_price_7"/>
              <p:cNvSpPr txBox="1"/>
              <p:nvPr/>
            </p:nvSpPr>
            <p:spPr>
              <a:xfrm>
                <a:off x="3632070" y="1087259"/>
                <a:ext cx="65819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0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118" name="unified_price_8" descr="Editable text; source id unified_price_8"/>
              <p:cNvSpPr txBox="1"/>
              <p:nvPr/>
            </p:nvSpPr>
            <p:spPr>
              <a:xfrm>
                <a:off x="3693785" y="1149907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119" name="graph_price_text" descr="Editable text; source id graph_price_text"/>
            <p:cNvSpPr txBox="1"/>
            <p:nvPr/>
          </p:nvSpPr>
          <p:spPr>
            <a:xfrm>
              <a:off x="2962478" y="1261412"/>
              <a:ext cx="440159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graph price</a:t>
              </a:r>
            </a:p>
          </p:txBody>
        </p:sp>
        <p:sp>
          <p:nvSpPr>
            <p:cNvPr id="120" name="feedback_text" descr="Editable text; source id feedback_text"/>
            <p:cNvSpPr txBox="1"/>
            <p:nvPr/>
          </p:nvSpPr>
          <p:spPr>
            <a:xfrm>
              <a:off x="3548199" y="1261412"/>
              <a:ext cx="355026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feedback</a:t>
              </a:r>
            </a:p>
          </p:txBody>
        </p:sp>
        <p:grpSp>
          <p:nvGrpSpPr>
            <p:cNvPr id="207" name="shared_vector" descr="shared vector"/>
            <p:cNvGrpSpPr/>
            <p:nvPr/>
          </p:nvGrpSpPr>
          <p:grpSpPr>
            <a:xfrm>
              <a:off x="3050209" y="1486128"/>
              <a:ext cx="804672" cy="140817"/>
              <a:chOff x="3050209" y="1486128"/>
              <a:chExt cx="804672" cy="140817"/>
            </a:xfrm>
          </p:grpSpPr>
          <p:sp>
            <p:nvSpPr>
              <p:cNvPr id="121" name="shared_vector_cell0" descr="Editable shape; source id shared_vector_cell0"/>
              <p:cNvSpPr/>
              <p:nvPr/>
            </p:nvSpPr>
            <p:spPr>
              <a:xfrm>
                <a:off x="3050209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4" name="shared_vector_txt0" descr="Editable formula parts and native mathematical delimiters."/>
              <p:cNvGrpSpPr/>
              <p:nvPr/>
            </p:nvGrpSpPr>
            <p:grpSpPr>
              <a:xfrm>
                <a:off x="3106430" y="1490241"/>
                <a:ext cx="84416" cy="131490"/>
                <a:chOff x="3106430" y="1490241"/>
                <a:chExt cx="84416" cy="131490"/>
              </a:xfrm>
            </p:grpSpPr>
            <p:sp>
              <p:nvSpPr>
                <p:cNvPr id="122" name="shared_vector_txt0_0" descr="Editable text; source id shared_vector_txt0_0"/>
                <p:cNvSpPr txBox="1"/>
                <p:nvPr/>
              </p:nvSpPr>
              <p:spPr>
                <a:xfrm>
                  <a:off x="3106430" y="1490241"/>
                  <a:ext cx="52052" cy="11688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4104" anchorCtr="0" vertOverflow="overflow">
                  <a:noAutofit/>
                </a:bodyPr>
                <a:lstStyle/>
                <a:p>
                  <a:pPr algn="l" fontAlgn="base">
                    <a:lnSpc>
                      <a:spcPts val="88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23" name="shared_vector_txt0_1" descr="Editable text; source id shared_vector_txt0_1"/>
                <p:cNvSpPr txBox="1"/>
                <p:nvPr/>
              </p:nvSpPr>
              <p:spPr>
                <a:xfrm>
                  <a:off x="3154378" y="1543192"/>
                  <a:ext cx="36468" cy="7853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58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124" name="shared_vector_cell1" descr="Editable shape; source id shared_vector_cell1"/>
              <p:cNvSpPr/>
              <p:nvPr/>
            </p:nvSpPr>
            <p:spPr>
              <a:xfrm>
                <a:off x="3251377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5" name="shared_vector_txt1" descr="Editable formula parts and native mathematical delimiters."/>
              <p:cNvGrpSpPr/>
              <p:nvPr/>
            </p:nvGrpSpPr>
            <p:grpSpPr>
              <a:xfrm>
                <a:off x="3307598" y="1490241"/>
                <a:ext cx="84416" cy="131490"/>
                <a:chOff x="3307598" y="1490241"/>
                <a:chExt cx="84416" cy="131490"/>
              </a:xfrm>
            </p:grpSpPr>
            <p:sp>
              <p:nvSpPr>
                <p:cNvPr id="125" name="shared_vector_txt1_0" descr="Editable text; source id shared_vector_txt1_0"/>
                <p:cNvSpPr txBox="1"/>
                <p:nvPr/>
              </p:nvSpPr>
              <p:spPr>
                <a:xfrm>
                  <a:off x="3307598" y="1490241"/>
                  <a:ext cx="52052" cy="11688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4104" anchorCtr="0" vertOverflow="overflow">
                  <a:noAutofit/>
                </a:bodyPr>
                <a:lstStyle/>
                <a:p>
                  <a:pPr algn="l" fontAlgn="base">
                    <a:lnSpc>
                      <a:spcPts val="88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26" name="shared_vector_txt1_1" descr="Editable text; source id shared_vector_txt1_1"/>
                <p:cNvSpPr txBox="1"/>
                <p:nvPr/>
              </p:nvSpPr>
              <p:spPr>
                <a:xfrm>
                  <a:off x="3355546" y="1543192"/>
                  <a:ext cx="36468" cy="7853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58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127" name="shared_vector_cell2" descr="Editable shape; source id shared_vector_cell2"/>
              <p:cNvSpPr/>
              <p:nvPr/>
            </p:nvSpPr>
            <p:spPr>
              <a:xfrm>
                <a:off x="3452545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shared_vector_txt2" descr="Editable text; source id shared_vector_txt2"/>
              <p:cNvSpPr txBox="1"/>
              <p:nvPr/>
            </p:nvSpPr>
            <p:spPr>
              <a:xfrm>
                <a:off x="3501141" y="1495270"/>
                <a:ext cx="112185" cy="123468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…</a:t>
                </a:r>
              </a:p>
            </p:txBody>
          </p:sp>
          <p:sp>
            <p:nvSpPr>
              <p:cNvPr id="129" name="shared_vector_cell3" descr="Editable shape; source id shared_vector_cell3"/>
              <p:cNvSpPr/>
              <p:nvPr/>
            </p:nvSpPr>
            <p:spPr>
              <a:xfrm>
                <a:off x="3653713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6" name="shared_vector_txt3" descr="Editable formula parts and native mathematical delimiters."/>
              <p:cNvGrpSpPr/>
              <p:nvPr/>
            </p:nvGrpSpPr>
            <p:grpSpPr>
              <a:xfrm>
                <a:off x="3702746" y="1490241"/>
                <a:ext cx="98792" cy="131490"/>
                <a:chOff x="3702746" y="1490241"/>
                <a:chExt cx="98792" cy="131490"/>
              </a:xfrm>
            </p:grpSpPr>
            <p:sp>
              <p:nvSpPr>
                <p:cNvPr id="130" name="shared_vector_txt3_0" descr="Editable text; source id shared_vector_txt3_0"/>
                <p:cNvSpPr txBox="1"/>
                <p:nvPr/>
              </p:nvSpPr>
              <p:spPr>
                <a:xfrm>
                  <a:off x="3702746" y="1490241"/>
                  <a:ext cx="52052" cy="11688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4104" anchorCtr="0" vertOverflow="overflow">
                  <a:noAutofit/>
                </a:bodyPr>
                <a:lstStyle/>
                <a:p>
                  <a:pPr algn="l" fontAlgn="base">
                    <a:lnSpc>
                      <a:spcPts val="88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31" name="shared_vector_txt3_1" descr="Editable text; source id shared_vector_txt3_1"/>
                <p:cNvSpPr txBox="1"/>
                <p:nvPr/>
              </p:nvSpPr>
              <p:spPr>
                <a:xfrm>
                  <a:off x="3750694" y="1543192"/>
                  <a:ext cx="50844" cy="7853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58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</p:grpSp>
      <p:grpSp>
        <p:nvGrpSpPr>
          <p:cNvPr id="211" name="constraint_view" descr="constraint view"/>
          <p:cNvGrpSpPr/>
          <p:nvPr/>
        </p:nvGrpSpPr>
        <p:grpSpPr>
          <a:xfrm>
            <a:off x="4121429" y="281635"/>
            <a:ext cx="847420" cy="1533906"/>
            <a:chOff x="4121429" y="281635"/>
            <a:chExt cx="847420" cy="1533906"/>
          </a:xfrm>
        </p:grpSpPr>
        <p:sp>
          <p:nvSpPr>
            <p:cNvPr id="132" name="constraint_view_panel" descr="Editable shape; source id constraint_view_panel"/>
            <p:cNvSpPr/>
            <p:nvPr/>
          </p:nvSpPr>
          <p:spPr>
            <a:xfrm>
              <a:off x="4121429" y="281635"/>
              <a:ext cx="847420" cy="1533906"/>
            </a:xfrm>
            <a:prstGeom prst="roundRect">
              <a:avLst>
                <a:gd name="adj" fmla="val 2373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constraint_header" descr="Editable text; source id constraint_header"/>
            <p:cNvSpPr txBox="1"/>
            <p:nvPr/>
          </p:nvSpPr>
          <p:spPr>
            <a:xfrm>
              <a:off x="4153284" y="308195"/>
              <a:ext cx="789403" cy="147206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  <a:def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Constraint view</a:t>
              </a:r>
            </a:p>
          </p:txBody>
        </p:sp>
        <p:grpSp>
          <p:nvGrpSpPr>
            <p:cNvPr id="209" name="constraint_objective" descr="Editable formula parts and native mathematical delimiters."/>
            <p:cNvGrpSpPr/>
            <p:nvPr/>
          </p:nvGrpSpPr>
          <p:grpSpPr>
            <a:xfrm>
              <a:off x="4327826" y="466577"/>
              <a:ext cx="430461" cy="135370"/>
              <a:chOff x="4327826" y="466577"/>
              <a:chExt cx="430461" cy="135370"/>
            </a:xfrm>
          </p:grpSpPr>
          <p:sp>
            <p:nvSpPr>
              <p:cNvPr id="134" name="constraint_objective_0" descr="Editable text; source id constraint_objective_0"/>
              <p:cNvSpPr txBox="1"/>
              <p:nvPr/>
            </p:nvSpPr>
            <p:spPr>
              <a:xfrm>
                <a:off x="4327826" y="466577"/>
                <a:ext cx="177267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135" name="constraint_objective_1" descr="Editable text; source id constraint_objective_1"/>
              <p:cNvSpPr txBox="1"/>
              <p:nvPr/>
            </p:nvSpPr>
            <p:spPr>
              <a:xfrm>
                <a:off x="4500989" y="521500"/>
                <a:ext cx="37623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36" name="constraint_objective_2" descr="Editable text; source id constraint_objective_2"/>
              <p:cNvSpPr txBox="1"/>
              <p:nvPr/>
            </p:nvSpPr>
            <p:spPr>
              <a:xfrm>
                <a:off x="4562836" y="466577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37" name="constraint_objective_3" descr="Editable text; source id constraint_objective_3"/>
              <p:cNvSpPr txBox="1"/>
              <p:nvPr/>
            </p:nvSpPr>
            <p:spPr>
              <a:xfrm>
                <a:off x="4611404" y="521500"/>
                <a:ext cx="26208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38" name="constraint_objective_4" descr="Editable text; source id constraint_objective_4"/>
              <p:cNvSpPr txBox="1"/>
              <p:nvPr/>
            </p:nvSpPr>
            <p:spPr>
              <a:xfrm>
                <a:off x="4636525" y="466577"/>
                <a:ext cx="12176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210" name="constraint_budget" descr="Editable formula parts and native mathematical delimiters."/>
            <p:cNvGrpSpPr/>
            <p:nvPr/>
          </p:nvGrpSpPr>
          <p:grpSpPr>
            <a:xfrm>
              <a:off x="4285425" y="587278"/>
              <a:ext cx="515263" cy="135369"/>
              <a:chOff x="4285425" y="587278"/>
              <a:chExt cx="515263" cy="135369"/>
            </a:xfrm>
          </p:grpSpPr>
          <p:sp>
            <p:nvSpPr>
              <p:cNvPr id="139" name="constraint_budget_0" descr="Editable text; source id constraint_budget_0"/>
              <p:cNvSpPr txBox="1"/>
              <p:nvPr/>
            </p:nvSpPr>
            <p:spPr>
              <a:xfrm>
                <a:off x="4285425" y="587278"/>
                <a:ext cx="146634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s.t. </a:t>
                </a:r>
              </a:p>
            </p:txBody>
          </p:sp>
          <p:sp>
            <p:nvSpPr>
              <p:cNvPr id="140" name="constraint_budget_1" descr="Editable text; source id constraint_budget_1"/>
              <p:cNvSpPr txBox="1"/>
              <p:nvPr/>
            </p:nvSpPr>
            <p:spPr>
              <a:xfrm>
                <a:off x="4430973" y="587278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41" name="constraint_budget_2" descr="Editable text; source id constraint_budget_2"/>
              <p:cNvSpPr txBox="1"/>
              <p:nvPr/>
            </p:nvSpPr>
            <p:spPr>
              <a:xfrm>
                <a:off x="4479541" y="642200"/>
                <a:ext cx="33561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2" name="constraint_budget_3" descr="Editable text; source id constraint_budget_3"/>
              <p:cNvSpPr txBox="1"/>
              <p:nvPr/>
            </p:nvSpPr>
            <p:spPr>
              <a:xfrm>
                <a:off x="4512016" y="587278"/>
                <a:ext cx="288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 ≤ B</a:t>
                </a:r>
              </a:p>
            </p:txBody>
          </p:sp>
        </p:grpSp>
        <p:cxnSp>
          <p:nvCxnSpPr>
            <p:cNvPr id="143" name="constraint_rule" descr="Editable line; source id constraint_rule"/>
            <p:cNvCxnSpPr/>
            <p:nvPr/>
          </p:nvCxnSpPr>
          <p:spPr>
            <a:xfrm>
              <a:off x="4184294" y="739292"/>
              <a:ext cx="719176" cy="0"/>
            </a:xfrm>
            <a:prstGeom prst="line">
              <a:avLst/>
            </a:prstGeom>
            <a:ln w="3771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limit_header" descr="Editable text; source id limit_header"/>
            <p:cNvSpPr txBox="1"/>
            <p:nvPr/>
          </p:nvSpPr>
          <p:spPr>
            <a:xfrm>
              <a:off x="4157565" y="771527"/>
              <a:ext cx="780842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Graph-price limits</a:t>
              </a:r>
            </a:p>
          </p:txBody>
        </p:sp>
        <p:sp>
          <p:nvSpPr>
            <p:cNvPr id="145" name="limit_qualifier" descr="Editable text; source id limit_qualifier"/>
            <p:cNvSpPr txBox="1"/>
            <p:nvPr/>
          </p:nvSpPr>
          <p:spPr>
            <a:xfrm>
              <a:off x="4190865" y="886737"/>
              <a:ext cx="714242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under assumptions</a:t>
              </a:r>
            </a:p>
          </p:txBody>
        </p:sp>
        <p:sp>
          <p:nvSpPr>
            <p:cNvPr id="146" name="epsilon_zero_0" descr="Editable text; source id epsilon_zero_0"/>
            <p:cNvSpPr txBox="1"/>
            <p:nvPr/>
          </p:nvSpPr>
          <p:spPr>
            <a:xfrm>
              <a:off x="4411466" y="1043807"/>
              <a:ext cx="262956" cy="12845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ε → 0</a:t>
              </a:r>
            </a:p>
          </p:txBody>
        </p:sp>
        <p:sp>
          <p:nvSpPr>
            <p:cNvPr id="147" name="lp_price" descr="Editable text; source id lp_price"/>
            <p:cNvSpPr txBox="1"/>
            <p:nvPr/>
          </p:nvSpPr>
          <p:spPr>
            <a:xfrm>
              <a:off x="4224426" y="1173401"/>
              <a:ext cx="647119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LP-derived price</a:t>
              </a:r>
            </a:p>
          </p:txBody>
        </p:sp>
        <p:cxnSp>
          <p:nvCxnSpPr>
            <p:cNvPr id="148" name="right_split" descr="Editable line; source id right_split"/>
            <p:cNvCxnSpPr/>
            <p:nvPr/>
          </p:nvCxnSpPr>
          <p:spPr>
            <a:xfrm>
              <a:off x="4249674" y="1352854"/>
              <a:ext cx="590931" cy="0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epsilon_infty_0" descr="Editable text; source id epsilon_infty_0"/>
            <p:cNvSpPr txBox="1"/>
            <p:nvPr/>
          </p:nvSpPr>
          <p:spPr>
            <a:xfrm>
              <a:off x="4399954" y="1418483"/>
              <a:ext cx="285979" cy="12845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ε → ∞</a:t>
              </a:r>
            </a:p>
          </p:txBody>
        </p:sp>
        <p:sp>
          <p:nvSpPr>
            <p:cNvPr id="150" name="active_price" descr="Editable text; source id active_price"/>
            <p:cNvSpPr txBox="1"/>
            <p:nvPr/>
          </p:nvSpPr>
          <p:spPr>
            <a:xfrm>
              <a:off x="4211675" y="1545562"/>
              <a:ext cx="672622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clipped active-set</a:t>
              </a:r>
            </a:p>
          </p:txBody>
        </p:sp>
        <p:sp>
          <p:nvSpPr>
            <p:cNvPr id="151" name="active_price_suffix" descr="Editable text; source id active_price_suffix"/>
            <p:cNvSpPr txBox="1"/>
            <p:nvPr/>
          </p:nvSpPr>
          <p:spPr>
            <a:xfrm>
              <a:off x="4445377" y="1646146"/>
              <a:ext cx="205217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price</a:t>
              </a:r>
            </a:p>
          </p:txBody>
        </p:sp>
      </p:grpSp>
      <p:sp>
        <p:nvSpPr>
          <p:cNvPr id="152" name="joint_to_graph" descr="Editable line; source id joint_to_graph"/>
          <p:cNvSpPr/>
          <p:nvPr/>
        </p:nvSpPr>
        <p:spPr>
          <a:xfrm>
            <a:off x="1637005" y="878854"/>
            <a:ext cx="160934" cy="22631"/>
          </a:xfrm>
          <a:custGeom>
            <a:avLst/>
            <a:gdLst/>
            <a:ahLst/>
            <a:cxnLst/>
            <a:rect l="l" t="t" r="r" b="b"/>
            <a:pathLst>
              <a:path w="58816" h="8271">
                <a:moveTo>
                  <a:pt x="0" y="2986"/>
                </a:moveTo>
                <a:lnTo>
                  <a:pt x="47788" y="2986"/>
                </a:lnTo>
                <a:lnTo>
                  <a:pt x="47788" y="0"/>
                </a:lnTo>
                <a:lnTo>
                  <a:pt x="58816" y="4135"/>
                </a:lnTo>
                <a:lnTo>
                  <a:pt x="47788" y="8271"/>
                </a:lnTo>
                <a:lnTo>
                  <a:pt x="47788" y="5284"/>
                </a:lnTo>
                <a:lnTo>
                  <a:pt x="0" y="5284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aph_to_price" descr="Editable line; source id graph_to_price"/>
          <p:cNvSpPr/>
          <p:nvPr/>
        </p:nvSpPr>
        <p:spPr>
          <a:xfrm>
            <a:off x="2771089" y="878854"/>
            <a:ext cx="206197" cy="22631"/>
          </a:xfrm>
          <a:custGeom>
            <a:avLst/>
            <a:gdLst/>
            <a:ahLst/>
            <a:cxnLst/>
            <a:rect l="l" t="t" r="r" b="b"/>
            <a:pathLst>
              <a:path w="75358" h="8271">
                <a:moveTo>
                  <a:pt x="0" y="2986"/>
                </a:moveTo>
                <a:lnTo>
                  <a:pt x="64330" y="2986"/>
                </a:lnTo>
                <a:lnTo>
                  <a:pt x="64330" y="0"/>
                </a:lnTo>
                <a:lnTo>
                  <a:pt x="75358" y="4135"/>
                </a:lnTo>
                <a:lnTo>
                  <a:pt x="64330" y="8271"/>
                </a:lnTo>
                <a:lnTo>
                  <a:pt x="64330" y="5284"/>
                </a:lnTo>
                <a:lnTo>
                  <a:pt x="0" y="5284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2" name="one_price_to_update" descr="One editable routed connector; fixed endpoints."/>
          <p:cNvGrpSpPr/>
          <p:nvPr/>
        </p:nvGrpSpPr>
        <p:grpSpPr>
          <a:xfrm>
            <a:off x="2578724" y="1823085"/>
            <a:ext cx="873821" cy="168478"/>
            <a:chOff x="2578724" y="1823085"/>
            <a:chExt cx="873821" cy="168478"/>
          </a:xfrm>
        </p:grpSpPr>
        <p:cxnSp>
          <p:nvCxnSpPr>
            <p:cNvPr id="154" name="one_price_to_update_0" descr="Editable line; source id one_price_to_update_0"/>
            <p:cNvCxnSpPr/>
            <p:nvPr/>
          </p:nvCxnSpPr>
          <p:spPr>
            <a:xfrm>
              <a:off x="3452545" y="1823085"/>
              <a:ext cx="0" cy="82981"/>
            </a:xfrm>
            <a:prstGeom prst="line">
              <a:avLst/>
            </a:prstGeom>
            <a:ln w="6035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one_price_to_update_1" descr="Editable line; source id one_price_to_update_1"/>
            <p:cNvCxnSpPr/>
            <p:nvPr/>
          </p:nvCxnSpPr>
          <p:spPr>
            <a:xfrm flipH="1">
              <a:off x="2590038" y="1906066"/>
              <a:ext cx="862507" cy="0"/>
            </a:xfrm>
            <a:prstGeom prst="line">
              <a:avLst/>
            </a:prstGeom>
            <a:ln w="6035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ne_price_to_update_2" descr="Editable line; source id one_price_to_update_2"/>
            <p:cNvSpPr/>
            <p:nvPr/>
          </p:nvSpPr>
          <p:spPr>
            <a:xfrm>
              <a:off x="2578724" y="1906067"/>
              <a:ext cx="22631" cy="85496"/>
            </a:xfrm>
            <a:custGeom>
              <a:avLst/>
              <a:gdLst/>
              <a:ahLst/>
              <a:cxnLst/>
              <a:rect l="l" t="t" r="r" b="b"/>
              <a:pathLst>
                <a:path w="8271" h="31246">
                  <a:moveTo>
                    <a:pt x="5238" y="0"/>
                  </a:moveTo>
                  <a:lnTo>
                    <a:pt x="5238" y="20218"/>
                  </a:lnTo>
                  <a:lnTo>
                    <a:pt x="8271" y="20218"/>
                  </a:lnTo>
                  <a:lnTo>
                    <a:pt x="4135" y="31246"/>
                  </a:lnTo>
                  <a:lnTo>
                    <a:pt x="0" y="20218"/>
                  </a:lnTo>
                  <a:lnTo>
                    <a:pt x="3032" y="20218"/>
                  </a:lnTo>
                  <a:lnTo>
                    <a:pt x="3032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4" name="common_policy" descr="common policy"/>
          <p:cNvGrpSpPr/>
          <p:nvPr/>
        </p:nvGrpSpPr>
        <p:grpSpPr>
          <a:xfrm>
            <a:off x="60350" y="1999106"/>
            <a:ext cx="4908499" cy="292818"/>
            <a:chOff x="60350" y="1999106"/>
            <a:chExt cx="4908499" cy="292818"/>
          </a:xfrm>
        </p:grpSpPr>
        <p:sp>
          <p:nvSpPr>
            <p:cNvPr id="157" name="common_policy_panel" descr="Editable shape; source id common_policy_panel"/>
            <p:cNvSpPr/>
            <p:nvPr/>
          </p:nvSpPr>
          <p:spPr>
            <a:xfrm>
              <a:off x="60350" y="1999106"/>
              <a:ext cx="4908499" cy="292818"/>
            </a:xfrm>
            <a:prstGeom prst="roundRect">
              <a:avLst>
                <a:gd name="adj" fmla="val 6870"/>
              </a:avLst>
            </a:prstGeom>
            <a:solidFill>
              <a:srgbClr val="EEF6F5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ommon_update_label" descr="Editable text; source id common_update_label"/>
            <p:cNvSpPr txBox="1"/>
            <p:nvPr/>
          </p:nvSpPr>
          <p:spPr>
            <a:xfrm>
              <a:off x="124458" y="2042807"/>
              <a:ext cx="1107117" cy="144239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1001"/>
                </a:lnSpc>
                <a:spcBef>
                  <a:spcPts val="0"/>
                </a:spcBef>
                <a:spcAft>
                  <a:spcPts val="0"/>
                </a:spcAft>
                <a:defRPr sz="87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7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One policy-update rule</a:t>
              </a:r>
            </a:p>
          </p:txBody>
        </p:sp>
        <p:cxnSp>
          <p:nvCxnSpPr>
            <p:cNvPr id="159" name="update_separator" descr="Editable line; source id update_separator"/>
            <p:cNvCxnSpPr/>
            <p:nvPr/>
          </p:nvCxnSpPr>
          <p:spPr>
            <a:xfrm>
              <a:off x="1345311" y="2049399"/>
              <a:ext cx="0" cy="199777"/>
            </a:xfrm>
            <a:prstGeom prst="line">
              <a:avLst/>
            </a:prstGeom>
            <a:ln w="4023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3" name="common_advantage" descr="Editable formula parts and native mathematical delimiters."/>
            <p:cNvGrpSpPr/>
            <p:nvPr/>
          </p:nvGrpSpPr>
          <p:grpSpPr>
            <a:xfrm>
              <a:off x="1999956" y="2056729"/>
              <a:ext cx="1388461" cy="155328"/>
              <a:chOff x="1999956" y="2056729"/>
              <a:chExt cx="1388461" cy="155328"/>
            </a:xfrm>
          </p:grpSpPr>
          <p:sp>
            <p:nvSpPr>
              <p:cNvPr id="160" name="common_advantage_0" descr="Editable text; source id common_advantage_0"/>
              <p:cNvSpPr txBox="1"/>
              <p:nvPr/>
            </p:nvSpPr>
            <p:spPr>
              <a:xfrm>
                <a:off x="1999956" y="2056729"/>
                <a:ext cx="81402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Ã</a:t>
                </a:r>
              </a:p>
            </p:txBody>
          </p:sp>
          <p:sp>
            <p:nvSpPr>
              <p:cNvPr id="161" name="common_advantage_1" descr="Editable text; source id common_advantage_1"/>
              <p:cNvSpPr txBox="1"/>
              <p:nvPr/>
            </p:nvSpPr>
            <p:spPr>
              <a:xfrm>
                <a:off x="2080423" y="2056729"/>
                <a:ext cx="151861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(</a:t>
                </a:r>
              </a:p>
            </p:txBody>
          </p:sp>
          <p:sp>
            <p:nvSpPr>
              <p:cNvPr id="162" name="common_advantage_2" descr="Editable text; source id common_advantage_2"/>
              <p:cNvSpPr txBox="1"/>
              <p:nvPr/>
            </p:nvSpPr>
            <p:spPr>
              <a:xfrm>
                <a:off x="2225192" y="2056729"/>
                <a:ext cx="81402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63" name="common_advantage_3" descr="Editable text; source id common_advantage_3"/>
              <p:cNvSpPr txBox="1"/>
              <p:nvPr/>
            </p:nvSpPr>
            <p:spPr>
              <a:xfrm>
                <a:off x="2302491" y="2114227"/>
                <a:ext cx="27362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64" name="common_advantage_4" descr="Editable text; source id common_advantage_4"/>
              <p:cNvSpPr txBox="1"/>
              <p:nvPr/>
            </p:nvSpPr>
            <p:spPr>
              <a:xfrm>
                <a:off x="2328917" y="2056729"/>
                <a:ext cx="116471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165" name="common_advantage_5" descr="Editable text; source id common_advantage_5"/>
              <p:cNvSpPr txBox="1"/>
              <p:nvPr/>
            </p:nvSpPr>
            <p:spPr>
              <a:xfrm>
                <a:off x="2444453" y="2056729"/>
                <a:ext cx="79393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66" name="common_advantage_6" descr="Editable text; source id common_advantage_6"/>
              <p:cNvSpPr txBox="1"/>
              <p:nvPr/>
            </p:nvSpPr>
            <p:spPr>
              <a:xfrm>
                <a:off x="2519742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67" name="common_advantage_7" descr="Editable text; source id common_advantage_7"/>
              <p:cNvSpPr txBox="1"/>
              <p:nvPr/>
            </p:nvSpPr>
            <p:spPr>
              <a:xfrm>
                <a:off x="2581739" y="2056729"/>
                <a:ext cx="55408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68" name="common_advantage_8" descr="Editable text; source id common_advantage_8"/>
              <p:cNvSpPr txBox="1"/>
              <p:nvPr/>
            </p:nvSpPr>
            <p:spPr>
              <a:xfrm>
                <a:off x="2633044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69" name="common_advantage_9" descr="Editable text; source id common_advantage_9"/>
              <p:cNvSpPr txBox="1"/>
              <p:nvPr/>
            </p:nvSpPr>
            <p:spPr>
              <a:xfrm>
                <a:off x="2664943" y="2056729"/>
                <a:ext cx="81402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70" name="common_advantage_10" descr="Editable text; source id common_advantage_10"/>
              <p:cNvSpPr txBox="1"/>
              <p:nvPr/>
            </p:nvSpPr>
            <p:spPr>
              <a:xfrm>
                <a:off x="2742241" y="2114227"/>
                <a:ext cx="35036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71" name="common_advantage_11" descr="Editable text; source id common_advantage_11"/>
              <p:cNvSpPr txBox="1"/>
              <p:nvPr/>
            </p:nvSpPr>
            <p:spPr>
              <a:xfrm>
                <a:off x="2773174" y="2149655"/>
                <a:ext cx="29446" cy="6240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59"/>
                  </a:lnSpc>
                  <a:spcBef>
                    <a:spcPts val="0"/>
                  </a:spcBef>
                  <a:spcAft>
                    <a:spcPts val="0"/>
                  </a:spcAft>
                  <a:defRPr sz="39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9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2" name="common_advantage_12" descr="Editable text; source id common_advantage_12"/>
              <p:cNvSpPr txBox="1"/>
              <p:nvPr/>
            </p:nvSpPr>
            <p:spPr>
              <a:xfrm>
                <a:off x="2801684" y="2056729"/>
                <a:ext cx="321753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) / (1 + </a:t>
                </a:r>
              </a:p>
            </p:txBody>
          </p:sp>
          <p:sp>
            <p:nvSpPr>
              <p:cNvPr id="173" name="common_advantage_13" descr="Editable text; source id common_advantage_13"/>
              <p:cNvSpPr txBox="1"/>
              <p:nvPr/>
            </p:nvSpPr>
            <p:spPr>
              <a:xfrm>
                <a:off x="3122502" y="2056729"/>
                <a:ext cx="79393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74" name="common_advantage_14" descr="Editable text; source id common_advantage_14"/>
              <p:cNvSpPr txBox="1"/>
              <p:nvPr/>
            </p:nvSpPr>
            <p:spPr>
              <a:xfrm>
                <a:off x="3197791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5" name="common_advantage_15" descr="Editable text; source id common_advantage_15"/>
              <p:cNvSpPr txBox="1"/>
              <p:nvPr/>
            </p:nvSpPr>
            <p:spPr>
              <a:xfrm>
                <a:off x="3259788" y="2056729"/>
                <a:ext cx="55408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6" name="common_advantage_16" descr="Editable text; source id common_advantage_16"/>
              <p:cNvSpPr txBox="1"/>
              <p:nvPr/>
            </p:nvSpPr>
            <p:spPr>
              <a:xfrm>
                <a:off x="3311093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7" name="common_advantage_17" descr="Editable text; source id common_advantage_17"/>
              <p:cNvSpPr txBox="1"/>
              <p:nvPr/>
            </p:nvSpPr>
            <p:spPr>
              <a:xfrm>
                <a:off x="3349148" y="2056729"/>
                <a:ext cx="39269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)</a:t>
                </a:r>
              </a:p>
            </p:txBody>
          </p:sp>
        </p:grpSp>
        <p:sp>
          <p:nvSpPr>
            <p:cNvPr id="178" name="update_to_algorithm" descr="Editable line; source id update_to_algorithm"/>
            <p:cNvSpPr/>
            <p:nvPr/>
          </p:nvSpPr>
          <p:spPr>
            <a:xfrm>
              <a:off x="3885057" y="2116037"/>
              <a:ext cx="138303" cy="22631"/>
            </a:xfrm>
            <a:custGeom>
              <a:avLst/>
              <a:gdLst/>
              <a:ahLst/>
              <a:cxnLst/>
              <a:rect l="l" t="t" r="r" b="b"/>
              <a:pathLst>
                <a:path w="50545" h="8271">
                  <a:moveTo>
                    <a:pt x="0" y="3124"/>
                  </a:moveTo>
                  <a:lnTo>
                    <a:pt x="39517" y="3124"/>
                  </a:lnTo>
                  <a:lnTo>
                    <a:pt x="39517" y="0"/>
                  </a:lnTo>
                  <a:lnTo>
                    <a:pt x="50545" y="4135"/>
                  </a:lnTo>
                  <a:lnTo>
                    <a:pt x="39517" y="8271"/>
                  </a:lnTo>
                  <a:lnTo>
                    <a:pt x="39517" y="5146"/>
                  </a:lnTo>
                  <a:lnTo>
                    <a:pt x="0" y="5146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ommon_optimizer" descr="Editable text; source id common_optimizer"/>
            <p:cNvSpPr txBox="1"/>
            <p:nvPr/>
          </p:nvSpPr>
          <p:spPr>
            <a:xfrm>
              <a:off x="4203226" y="2055139"/>
              <a:ext cx="604023" cy="138304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PPO / TRPO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