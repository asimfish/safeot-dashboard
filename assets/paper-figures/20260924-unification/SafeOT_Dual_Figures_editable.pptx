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029200" cy="24529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ro_title" descr="Editable text; source id hero_title"/>
          <p:cNvSpPr txBox="1"/>
          <p:nvPr/>
        </p:nvSpPr>
        <p:spPr>
          <a:xfrm>
            <a:off x="1502193" y="37322"/>
            <a:ext cx="2033022" cy="156108"/>
          </a:xfrm>
          <a:prstGeom prst="rect">
            <a:avLst/>
          </a:prstGeom>
          <a:noFill/>
          <a:effectLst/>
        </p:spPr>
        <p:txBody>
          <a:bodyPr wrap="none" anchor="t" tIns="5472" rIns="0" bIns="0" lIns="5472" anchorCtr="0" vertOverflow="overflow">
            <a:noAutofit/>
          </a:bodyPr>
          <a:lstStyle/>
          <a:p>
            <a:pPr algn="l" fontAlgn="base">
              <a:lnSpc>
                <a:spcPts val="1092"/>
              </a:lnSpc>
              <a:spcBef>
                <a:spcPts val="0"/>
              </a:spcBef>
              <a:spcAft>
                <a:spcPts val="0"/>
              </a:spcAft>
              <a:defRPr sz="950" b="1" i="0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50" b="1" i="0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rPr>
              <a:t>SafeOT-Dual: one price rule, two views</a:t>
            </a:r>
          </a:p>
        </p:txBody>
      </p:sp>
      <p:grpSp>
        <p:nvGrpSpPr>
          <p:cNvPr id="180" name="unifying_bracket" descr="One editable routed connector; fixed endpoints."/>
          <p:cNvGrpSpPr/>
          <p:nvPr/>
        </p:nvGrpSpPr>
        <p:grpSpPr>
          <a:xfrm>
            <a:off x="477773" y="211226"/>
            <a:ext cx="4073653" cy="60350"/>
            <a:chOff x="477773" y="211226"/>
            <a:chExt cx="4073653" cy="60350"/>
          </a:xfrm>
        </p:grpSpPr>
        <p:cxnSp>
          <p:nvCxnSpPr>
            <p:cNvPr id="3" name="unifying_bracket_0" descr="Editable line; source id unifying_bracket_0"/>
            <p:cNvCxnSpPr/>
            <p:nvPr/>
          </p:nvCxnSpPr>
          <p:spPr>
            <a:xfrm flipV="1">
              <a:off x="477773" y="211226"/>
              <a:ext cx="0" cy="60350"/>
            </a:xfrm>
            <a:prstGeom prst="line">
              <a:avLst/>
            </a:prstGeom>
            <a:ln w="4526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unifying_bracket_1" descr="Editable line; source id unifying_bracket_1"/>
            <p:cNvCxnSpPr/>
            <p:nvPr/>
          </p:nvCxnSpPr>
          <p:spPr>
            <a:xfrm>
              <a:off x="477773" y="211226"/>
              <a:ext cx="4073653" cy="0"/>
            </a:xfrm>
            <a:prstGeom prst="line">
              <a:avLst/>
            </a:prstGeom>
            <a:ln w="4526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unifying_bracket_2" descr="Editable line; source id unifying_bracket_2"/>
            <p:cNvCxnSpPr/>
            <p:nvPr/>
          </p:nvCxnSpPr>
          <p:spPr>
            <a:xfrm>
              <a:off x="4551426" y="211226"/>
              <a:ext cx="0" cy="60350"/>
            </a:xfrm>
            <a:prstGeom prst="line">
              <a:avLst/>
            </a:prstGeom>
            <a:ln w="4526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3" name="penalty_view" descr="penalty view"/>
          <p:cNvGrpSpPr/>
          <p:nvPr/>
        </p:nvGrpSpPr>
        <p:grpSpPr>
          <a:xfrm>
            <a:off x="60350" y="281635"/>
            <a:ext cx="847420" cy="1533906"/>
            <a:chOff x="60350" y="281635"/>
            <a:chExt cx="847420" cy="1533906"/>
          </a:xfrm>
        </p:grpSpPr>
        <p:sp>
          <p:nvSpPr>
            <p:cNvPr id="6" name="penalty_view_panel" descr="Editable shape; source id penalty_view_panel"/>
            <p:cNvSpPr/>
            <p:nvPr/>
          </p:nvSpPr>
          <p:spPr>
            <a:xfrm>
              <a:off x="60350" y="281635"/>
              <a:ext cx="847420" cy="1533906"/>
            </a:xfrm>
            <a:prstGeom prst="roundRect">
              <a:avLst>
                <a:gd name="adj" fmla="val 2373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penalty_header" descr="Editable text; source id penalty_header"/>
            <p:cNvSpPr txBox="1"/>
            <p:nvPr/>
          </p:nvSpPr>
          <p:spPr>
            <a:xfrm>
              <a:off x="170872" y="308195"/>
              <a:ext cx="632070" cy="147206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  <a:defRPr sz="89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9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Penalty view</a:t>
              </a:r>
            </a:p>
          </p:txBody>
        </p:sp>
        <p:grpSp>
          <p:nvGrpSpPr>
            <p:cNvPr id="181" name="penalty_objective" descr="Editable formula parts and native mathematical delimiters."/>
            <p:cNvGrpSpPr/>
            <p:nvPr/>
          </p:nvGrpSpPr>
          <p:grpSpPr>
            <a:xfrm>
              <a:off x="266747" y="466577"/>
              <a:ext cx="430461" cy="135370"/>
              <a:chOff x="266747" y="466577"/>
              <a:chExt cx="430461" cy="135370"/>
            </a:xfrm>
          </p:grpSpPr>
          <p:sp>
            <p:nvSpPr>
              <p:cNvPr id="8" name="penalty_objective_0" descr="Editable text; source id penalty_objective_0"/>
              <p:cNvSpPr txBox="1"/>
              <p:nvPr/>
            </p:nvSpPr>
            <p:spPr>
              <a:xfrm>
                <a:off x="266747" y="466577"/>
                <a:ext cx="177267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9" name="penalty_objective_1" descr="Editable text; source id penalty_objective_1"/>
              <p:cNvSpPr txBox="1"/>
              <p:nvPr/>
            </p:nvSpPr>
            <p:spPr>
              <a:xfrm>
                <a:off x="439910" y="521500"/>
                <a:ext cx="37623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0" name="penalty_objective_2" descr="Editable text; source id penalty_objective_2"/>
              <p:cNvSpPr txBox="1"/>
              <p:nvPr/>
            </p:nvSpPr>
            <p:spPr>
              <a:xfrm>
                <a:off x="501757" y="466577"/>
                <a:ext cx="52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1" name="penalty_objective_3" descr="Editable text; source id penalty_objective_3"/>
              <p:cNvSpPr txBox="1"/>
              <p:nvPr/>
            </p:nvSpPr>
            <p:spPr>
              <a:xfrm>
                <a:off x="550325" y="521500"/>
                <a:ext cx="26208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2" name="penalty_objective_4" descr="Editable text; source id penalty_objective_4"/>
              <p:cNvSpPr txBox="1"/>
              <p:nvPr/>
            </p:nvSpPr>
            <p:spPr>
              <a:xfrm>
                <a:off x="575446" y="466577"/>
                <a:ext cx="12176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182" name="penalty_cost" descr="Editable formula parts and native mathematical delimiters."/>
            <p:cNvGrpSpPr/>
            <p:nvPr/>
          </p:nvGrpSpPr>
          <p:grpSpPr>
            <a:xfrm>
              <a:off x="292986" y="569780"/>
              <a:ext cx="377984" cy="152867"/>
              <a:chOff x="292986" y="569780"/>
              <a:chExt cx="377984" cy="152867"/>
            </a:xfrm>
          </p:grpSpPr>
          <p:sp>
            <p:nvSpPr>
              <p:cNvPr id="13" name="penalty_cost_0" descr="Editable text; source id penalty_cost_0"/>
              <p:cNvSpPr txBox="1"/>
              <p:nvPr/>
            </p:nvSpPr>
            <p:spPr>
              <a:xfrm>
                <a:off x="292986" y="587278"/>
                <a:ext cx="86191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− </a:t>
                </a:r>
              </a:p>
            </p:txBody>
          </p:sp>
          <p:sp>
            <p:nvSpPr>
              <p:cNvPr id="14" name="penalty_cost_1" descr="Editable text; source id penalty_cost_1"/>
              <p:cNvSpPr txBox="1"/>
              <p:nvPr/>
            </p:nvSpPr>
            <p:spPr>
              <a:xfrm>
                <a:off x="375354" y="587278"/>
                <a:ext cx="53356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5" name="penalty_cost_2" descr="Editable text; source id penalty_cost_2"/>
              <p:cNvSpPr txBox="1"/>
              <p:nvPr/>
            </p:nvSpPr>
            <p:spPr>
              <a:xfrm>
                <a:off x="424606" y="569780"/>
                <a:ext cx="44645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T</a:t>
                </a:r>
              </a:p>
            </p:txBody>
          </p:sp>
          <p:sp>
            <p:nvSpPr>
              <p:cNvPr id="16" name="penalty_cost_3" descr="Editable text; source id penalty_cost_3"/>
              <p:cNvSpPr txBox="1"/>
              <p:nvPr/>
            </p:nvSpPr>
            <p:spPr>
              <a:xfrm>
                <a:off x="468165" y="587278"/>
                <a:ext cx="52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7" name="penalty_cost_4" descr="Editable text; source id penalty_cost_4"/>
              <p:cNvSpPr txBox="1"/>
              <p:nvPr/>
            </p:nvSpPr>
            <p:spPr>
              <a:xfrm>
                <a:off x="516733" y="642200"/>
                <a:ext cx="33561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8" name="penalty_cost_5" descr="Editable text; source id penalty_cost_5"/>
              <p:cNvSpPr txBox="1"/>
              <p:nvPr/>
            </p:nvSpPr>
            <p:spPr>
              <a:xfrm>
                <a:off x="549208" y="587278"/>
                <a:ext cx="12176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cxnSp>
          <p:nvCxnSpPr>
            <p:cNvPr id="19" name="penalty_rule" descr="Editable line; source id penalty_rule"/>
            <p:cNvCxnSpPr/>
            <p:nvPr/>
          </p:nvCxnSpPr>
          <p:spPr>
            <a:xfrm>
              <a:off x="125730" y="739292"/>
              <a:ext cx="716661" cy="0"/>
            </a:xfrm>
            <a:prstGeom prst="line">
              <a:avLst/>
            </a:prstGeom>
            <a:ln w="3771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exact_settings" descr="Editable text; source id exact_settings"/>
            <p:cNvSpPr txBox="1"/>
            <p:nvPr/>
          </p:nvSpPr>
          <p:spPr>
            <a:xfrm>
              <a:off x="187241" y="766961"/>
              <a:ext cx="599331" cy="129403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88"/>
                </a:lnSpc>
                <a:spcBef>
                  <a:spcPts val="0"/>
                </a:spcBef>
                <a:spcAft>
                  <a:spcPts val="0"/>
                </a:spcAft>
                <a:defRPr sz="77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Exact settings</a:t>
              </a:r>
            </a:p>
          </p:txBody>
        </p:sp>
        <p:sp>
          <p:nvSpPr>
            <p:cNvPr id="21" name="zero_clip_0" descr="Editable text; source id zero_clip_0"/>
            <p:cNvSpPr txBox="1"/>
            <p:nvPr/>
          </p:nvSpPr>
          <p:spPr>
            <a:xfrm>
              <a:off x="375987" y="886737"/>
              <a:ext cx="212058" cy="116884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888"/>
                </a:lnSpc>
                <a:spcBef>
                  <a:spcPts val="0"/>
                </a:spcBef>
                <a:spcAft>
                  <a:spcPts val="0"/>
                </a:spcAft>
                <a:defRPr sz="77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 = 0</a:t>
              </a:r>
            </a:p>
          </p:txBody>
        </p:sp>
        <p:sp>
          <p:nvSpPr>
            <p:cNvPr id="22" name="fixed_label" descr="Editable text; source id fixed_label"/>
            <p:cNvSpPr txBox="1"/>
            <p:nvPr/>
          </p:nvSpPr>
          <p:spPr>
            <a:xfrm>
              <a:off x="318137" y="1045860"/>
              <a:ext cx="337540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Fixed β</a:t>
              </a:r>
            </a:p>
          </p:txBody>
        </p:sp>
        <p:sp>
          <p:nvSpPr>
            <p:cNvPr id="23" name="fixed_text" descr="Editable text; source id fixed_text"/>
            <p:cNvSpPr txBox="1"/>
            <p:nvPr/>
          </p:nvSpPr>
          <p:spPr>
            <a:xfrm>
              <a:off x="233121" y="1168372"/>
              <a:ext cx="507571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fixed penalty</a:t>
              </a:r>
            </a:p>
          </p:txBody>
        </p:sp>
        <p:sp>
          <p:nvSpPr>
            <p:cNvPr id="24" name="fixed_equation_0" descr="Editable text; source id fixed_equation_0"/>
            <p:cNvSpPr txBox="1"/>
            <p:nvPr/>
          </p:nvSpPr>
          <p:spPr>
            <a:xfrm>
              <a:off x="364538" y="1274688"/>
              <a:ext cx="231992" cy="125559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4104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λ = β</a:t>
              </a:r>
            </a:p>
          </p:txBody>
        </p:sp>
        <p:cxnSp>
          <p:nvCxnSpPr>
            <p:cNvPr id="25" name="left_split" descr="Editable line; source id left_split"/>
            <p:cNvCxnSpPr/>
            <p:nvPr/>
          </p:nvCxnSpPr>
          <p:spPr>
            <a:xfrm>
              <a:off x="188595" y="1433322"/>
              <a:ext cx="590930" cy="0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adaptive_label" descr="Editable text; source id adaptive_label"/>
            <p:cNvSpPr txBox="1"/>
            <p:nvPr/>
          </p:nvSpPr>
          <p:spPr>
            <a:xfrm>
              <a:off x="242677" y="1483400"/>
              <a:ext cx="488460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Adaptive β</a:t>
              </a:r>
            </a:p>
          </p:txBody>
        </p:sp>
        <p:sp>
          <p:nvSpPr>
            <p:cNvPr id="27" name="adaptive_text" descr="Editable text; source id adaptive_text"/>
            <p:cNvSpPr txBox="1"/>
            <p:nvPr/>
          </p:nvSpPr>
          <p:spPr>
            <a:xfrm>
              <a:off x="86049" y="1613456"/>
              <a:ext cx="801716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Lagrangian feedback</a:t>
              </a:r>
            </a:p>
          </p:txBody>
        </p:sp>
      </p:grpSp>
      <p:grpSp>
        <p:nvGrpSpPr>
          <p:cNvPr id="208" name="shared_construction" descr="shared construction"/>
          <p:cNvGrpSpPr/>
          <p:nvPr/>
        </p:nvGrpSpPr>
        <p:grpSpPr>
          <a:xfrm>
            <a:off x="983208" y="281635"/>
            <a:ext cx="3062782" cy="1533906"/>
            <a:chOff x="983208" y="281635"/>
            <a:chExt cx="3062782" cy="1533906"/>
          </a:xfrm>
        </p:grpSpPr>
        <p:sp>
          <p:nvSpPr>
            <p:cNvPr id="28" name="shared_construction_panel" descr="Editable shape; source id shared_construction_panel"/>
            <p:cNvSpPr/>
            <p:nvPr/>
          </p:nvSpPr>
          <p:spPr>
            <a:xfrm>
              <a:off x="983208" y="281635"/>
              <a:ext cx="3062782" cy="1533906"/>
            </a:xfrm>
            <a:prstGeom prst="roundRect">
              <a:avLst>
                <a:gd name="adj" fmla="val 1311"/>
              </a:avLst>
            </a:prstGeom>
            <a:solidFill>
              <a:srgbClr val="EEF6F5"/>
            </a:solidFill>
            <a:ln w="5532">
              <a:solidFill>
                <a:srgbClr val="087F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joint_header" descr="Editable text; source id joint_header"/>
            <p:cNvSpPr txBox="1"/>
            <p:nvPr/>
          </p:nvSpPr>
          <p:spPr>
            <a:xfrm>
              <a:off x="1230731" y="311596"/>
              <a:ext cx="237368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Joint</a:t>
              </a:r>
            </a:p>
          </p:txBody>
        </p:sp>
        <p:sp>
          <p:nvSpPr>
            <p:cNvPr id="30" name="joint_header2" descr="Editable text; source id joint_header2"/>
            <p:cNvSpPr txBox="1"/>
            <p:nvPr/>
          </p:nvSpPr>
          <p:spPr>
            <a:xfrm>
              <a:off x="1102363" y="419724"/>
              <a:ext cx="494104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constraints</a:t>
              </a:r>
            </a:p>
          </p:txBody>
        </p:sp>
        <p:grpSp>
          <p:nvGrpSpPr>
            <p:cNvPr id="185" name="budget_row_0" descr="budget row 0"/>
            <p:cNvGrpSpPr/>
            <p:nvPr/>
          </p:nvGrpSpPr>
          <p:grpSpPr>
            <a:xfrm>
              <a:off x="1061161" y="611047"/>
              <a:ext cx="565785" cy="143332"/>
              <a:chOff x="1061161" y="611047"/>
              <a:chExt cx="565785" cy="143332"/>
            </a:xfrm>
          </p:grpSpPr>
          <p:sp>
            <p:nvSpPr>
              <p:cNvPr id="31" name="budget_row_0_panel" descr="Editable shape; source id budget_row_0_panel"/>
              <p:cNvSpPr/>
              <p:nvPr/>
            </p:nvSpPr>
            <p:spPr>
              <a:xfrm>
                <a:off x="1061161" y="611047"/>
                <a:ext cx="56578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FFFFFF"/>
              </a:solidFill>
              <a:ln w="3520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4" name="budget_1" descr="Editable formula parts and native mathematical delimiters."/>
              <p:cNvGrpSpPr/>
              <p:nvPr/>
            </p:nvGrpSpPr>
            <p:grpSpPr>
              <a:xfrm>
                <a:off x="1196084" y="617453"/>
                <a:ext cx="296803" cy="135370"/>
                <a:chOff x="1196084" y="617453"/>
                <a:chExt cx="296803" cy="135370"/>
              </a:xfrm>
            </p:grpSpPr>
            <p:sp>
              <p:nvSpPr>
                <p:cNvPr id="32" name="budget_1_0" descr="Editable text; source id budget_1_0"/>
                <p:cNvSpPr txBox="1"/>
                <p:nvPr/>
              </p:nvSpPr>
              <p:spPr>
                <a:xfrm>
                  <a:off x="1196084" y="617453"/>
                  <a:ext cx="72510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3" name="budget_1_1" descr="Editable text; source id budget_1_1"/>
                <p:cNvSpPr txBox="1"/>
                <p:nvPr/>
              </p:nvSpPr>
              <p:spPr>
                <a:xfrm>
                  <a:off x="1264490" y="672376"/>
                  <a:ext cx="37623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  <p:sp>
              <p:nvSpPr>
                <p:cNvPr id="34" name="budget_1_2" descr="Editable text; source id budget_1_2"/>
                <p:cNvSpPr txBox="1"/>
                <p:nvPr/>
              </p:nvSpPr>
              <p:spPr>
                <a:xfrm>
                  <a:off x="1301027" y="617453"/>
                  <a:ext cx="104703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 ,  </a:t>
                  </a:r>
                </a:p>
              </p:txBody>
            </p:sp>
            <p:sp>
              <p:nvSpPr>
                <p:cNvPr id="35" name="budget_1_3" descr="Editable text; source id budget_1_3"/>
                <p:cNvSpPr txBox="1"/>
                <p:nvPr/>
              </p:nvSpPr>
              <p:spPr>
                <a:xfrm>
                  <a:off x="1404644" y="617453"/>
                  <a:ext cx="54724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36" name="budget_1_4" descr="Editable text; source id budget_1_4"/>
                <p:cNvSpPr txBox="1"/>
                <p:nvPr/>
              </p:nvSpPr>
              <p:spPr>
                <a:xfrm>
                  <a:off x="1455264" y="672376"/>
                  <a:ext cx="37623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grpSp>
          <p:nvGrpSpPr>
            <p:cNvPr id="187" name="budget_row_1" descr="budget row 1"/>
            <p:cNvGrpSpPr/>
            <p:nvPr/>
          </p:nvGrpSpPr>
          <p:grpSpPr>
            <a:xfrm>
              <a:off x="1061161" y="787069"/>
              <a:ext cx="565785" cy="143332"/>
              <a:chOff x="1061161" y="787069"/>
              <a:chExt cx="565785" cy="143332"/>
            </a:xfrm>
          </p:grpSpPr>
          <p:sp>
            <p:nvSpPr>
              <p:cNvPr id="37" name="budget_row_1_panel" descr="Editable shape; source id budget_row_1_panel"/>
              <p:cNvSpPr/>
              <p:nvPr/>
            </p:nvSpPr>
            <p:spPr>
              <a:xfrm>
                <a:off x="1061161" y="787069"/>
                <a:ext cx="56578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FFFFFF"/>
              </a:solidFill>
              <a:ln w="3520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6" name="budget_2" descr="Editable formula parts and native mathematical delimiters."/>
              <p:cNvGrpSpPr/>
              <p:nvPr/>
            </p:nvGrpSpPr>
            <p:grpSpPr>
              <a:xfrm>
                <a:off x="1196084" y="793475"/>
                <a:ext cx="296803" cy="135370"/>
                <a:chOff x="1196084" y="793475"/>
                <a:chExt cx="296803" cy="135370"/>
              </a:xfrm>
            </p:grpSpPr>
            <p:sp>
              <p:nvSpPr>
                <p:cNvPr id="38" name="budget_2_0" descr="Editable text; source id budget_2_0"/>
                <p:cNvSpPr txBox="1"/>
                <p:nvPr/>
              </p:nvSpPr>
              <p:spPr>
                <a:xfrm>
                  <a:off x="1196084" y="793475"/>
                  <a:ext cx="72510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9" name="budget_2_1" descr="Editable text; source id budget_2_1"/>
                <p:cNvSpPr txBox="1"/>
                <p:nvPr/>
              </p:nvSpPr>
              <p:spPr>
                <a:xfrm>
                  <a:off x="1264490" y="848398"/>
                  <a:ext cx="37623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  <p:sp>
              <p:nvSpPr>
                <p:cNvPr id="40" name="budget_2_2" descr="Editable text; source id budget_2_2"/>
                <p:cNvSpPr txBox="1"/>
                <p:nvPr/>
              </p:nvSpPr>
              <p:spPr>
                <a:xfrm>
                  <a:off x="1301027" y="793475"/>
                  <a:ext cx="104703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 ,  </a:t>
                  </a:r>
                </a:p>
              </p:txBody>
            </p:sp>
            <p:sp>
              <p:nvSpPr>
                <p:cNvPr id="41" name="budget_2_3" descr="Editable text; source id budget_2_3"/>
                <p:cNvSpPr txBox="1"/>
                <p:nvPr/>
              </p:nvSpPr>
              <p:spPr>
                <a:xfrm>
                  <a:off x="1404644" y="793475"/>
                  <a:ext cx="54724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42" name="budget_2_4" descr="Editable text; source id budget_2_4"/>
                <p:cNvSpPr txBox="1"/>
                <p:nvPr/>
              </p:nvSpPr>
              <p:spPr>
                <a:xfrm>
                  <a:off x="1455264" y="848398"/>
                  <a:ext cx="37623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</p:grpSp>
        <p:grpSp>
          <p:nvGrpSpPr>
            <p:cNvPr id="188" name="budget_row_2" descr="budget row 2"/>
            <p:cNvGrpSpPr/>
            <p:nvPr/>
          </p:nvGrpSpPr>
          <p:grpSpPr>
            <a:xfrm>
              <a:off x="1061161" y="963091"/>
              <a:ext cx="565785" cy="143332"/>
              <a:chOff x="1061161" y="963091"/>
              <a:chExt cx="565785" cy="143332"/>
            </a:xfrm>
          </p:grpSpPr>
          <p:sp>
            <p:nvSpPr>
              <p:cNvPr id="43" name="budget_row_2_panel" descr="Editable shape; source id budget_row_2_panel"/>
              <p:cNvSpPr/>
              <p:nvPr/>
            </p:nvSpPr>
            <p:spPr>
              <a:xfrm>
                <a:off x="1061161" y="963091"/>
                <a:ext cx="56578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FFFFFF"/>
              </a:solidFill>
              <a:ln w="3520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budget_dots" descr="Editable text; source id budget_dots"/>
              <p:cNvSpPr txBox="1"/>
              <p:nvPr/>
            </p:nvSpPr>
            <p:spPr>
              <a:xfrm>
                <a:off x="1291954" y="967666"/>
                <a:ext cx="114921" cy="126435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…</a:t>
                </a:r>
              </a:p>
            </p:txBody>
          </p:sp>
        </p:grpSp>
        <p:grpSp>
          <p:nvGrpSpPr>
            <p:cNvPr id="190" name="budget_row_3" descr="budget row 3"/>
            <p:cNvGrpSpPr/>
            <p:nvPr/>
          </p:nvGrpSpPr>
          <p:grpSpPr>
            <a:xfrm>
              <a:off x="1061161" y="1139113"/>
              <a:ext cx="565785" cy="143332"/>
              <a:chOff x="1061161" y="1139113"/>
              <a:chExt cx="565785" cy="143332"/>
            </a:xfrm>
          </p:grpSpPr>
          <p:sp>
            <p:nvSpPr>
              <p:cNvPr id="45" name="budget_row_3_panel" descr="Editable shape; source id budget_row_3_panel"/>
              <p:cNvSpPr/>
              <p:nvPr/>
            </p:nvSpPr>
            <p:spPr>
              <a:xfrm>
                <a:off x="1061161" y="1139113"/>
                <a:ext cx="565785" cy="143332"/>
              </a:xfrm>
              <a:prstGeom prst="roundRect">
                <a:avLst>
                  <a:gd name="adj" fmla="val 14035"/>
                </a:avLst>
              </a:prstGeom>
              <a:solidFill>
                <a:srgbClr val="FFFFFF"/>
              </a:solidFill>
              <a:ln w="3520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9" name="budget_K" descr="Editable formula parts and native mathematical delimiters."/>
              <p:cNvGrpSpPr/>
              <p:nvPr/>
            </p:nvGrpSpPr>
            <p:grpSpPr>
              <a:xfrm>
                <a:off x="1181666" y="1145519"/>
                <a:ext cx="325639" cy="135370"/>
                <a:chOff x="1181666" y="1145519"/>
                <a:chExt cx="325639" cy="135370"/>
              </a:xfrm>
            </p:grpSpPr>
            <p:sp>
              <p:nvSpPr>
                <p:cNvPr id="46" name="budget_K_0" descr="Editable text; source id budget_K_0"/>
                <p:cNvSpPr txBox="1"/>
                <p:nvPr/>
              </p:nvSpPr>
              <p:spPr>
                <a:xfrm>
                  <a:off x="1181666" y="1145519"/>
                  <a:ext cx="72510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47" name="budget_K_1" descr="Editable text; source id budget_K_1"/>
                <p:cNvSpPr txBox="1"/>
                <p:nvPr/>
              </p:nvSpPr>
              <p:spPr>
                <a:xfrm>
                  <a:off x="1250072" y="1200442"/>
                  <a:ext cx="52041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48" name="budget_K_2" descr="Editable text; source id budget_K_2"/>
                <p:cNvSpPr txBox="1"/>
                <p:nvPr/>
              </p:nvSpPr>
              <p:spPr>
                <a:xfrm>
                  <a:off x="1301027" y="1145519"/>
                  <a:ext cx="104703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 ,  </a:t>
                  </a:r>
                </a:p>
              </p:txBody>
            </p:sp>
            <p:sp>
              <p:nvSpPr>
                <p:cNvPr id="49" name="budget_K_3" descr="Editable text; source id budget_K_3"/>
                <p:cNvSpPr txBox="1"/>
                <p:nvPr/>
              </p:nvSpPr>
              <p:spPr>
                <a:xfrm>
                  <a:off x="1404644" y="1145519"/>
                  <a:ext cx="54724" cy="11977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91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9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50" name="budget_K_4" descr="Editable text; source id budget_K_4"/>
                <p:cNvSpPr txBox="1"/>
                <p:nvPr/>
              </p:nvSpPr>
              <p:spPr>
                <a:xfrm>
                  <a:off x="1455264" y="1200442"/>
                  <a:ext cx="52041" cy="8044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60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2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sp>
          <p:nvSpPr>
            <p:cNvPr id="51" name="hard_header" descr="Editable text; source id hard_header"/>
            <p:cNvSpPr txBox="1"/>
            <p:nvPr/>
          </p:nvSpPr>
          <p:spPr>
            <a:xfrm>
              <a:off x="1019335" y="1361996"/>
              <a:ext cx="660159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Hard support H</a:t>
              </a:r>
            </a:p>
          </p:txBody>
        </p:sp>
        <p:grpSp>
          <p:nvGrpSpPr>
            <p:cNvPr id="191" name="hard_edge" descr="hard edge"/>
            <p:cNvGrpSpPr/>
            <p:nvPr/>
          </p:nvGrpSpPr>
          <p:grpSpPr>
            <a:xfrm>
              <a:off x="1101394" y="1521332"/>
              <a:ext cx="487832" cy="60350"/>
              <a:chOff x="1101394" y="1521332"/>
              <a:chExt cx="487832" cy="60350"/>
            </a:xfrm>
          </p:grpSpPr>
          <p:cxnSp>
            <p:nvCxnSpPr>
              <p:cNvPr id="52" name="hard_edge_left" descr="Editable line; source id hard_edge_left"/>
              <p:cNvCxnSpPr/>
              <p:nvPr/>
            </p:nvCxnSpPr>
            <p:spPr>
              <a:xfrm>
                <a:off x="1171803" y="1551508"/>
                <a:ext cx="120701" cy="0"/>
              </a:xfrm>
              <a:prstGeom prst="line">
                <a:avLst/>
              </a:prstGeom>
              <a:ln w="5532" cap="rnd">
                <a:solidFill>
                  <a:srgbClr val="70828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hard_edge_right" descr="Editable line; source id hard_edge_right"/>
              <p:cNvCxnSpPr/>
              <p:nvPr/>
            </p:nvCxnSpPr>
            <p:spPr>
              <a:xfrm>
                <a:off x="1378000" y="1551508"/>
                <a:ext cx="140818" cy="0"/>
              </a:xfrm>
              <a:prstGeom prst="line">
                <a:avLst/>
              </a:prstGeom>
              <a:ln w="5532" cap="rnd">
                <a:solidFill>
                  <a:srgbClr val="70828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hard_node_a" descr="Editable shape; source id hard_node_a"/>
              <p:cNvSpPr/>
              <p:nvPr/>
            </p:nvSpPr>
            <p:spPr>
              <a:xfrm>
                <a:off x="1101394" y="1521332"/>
                <a:ext cx="60350" cy="60350"/>
              </a:xfrm>
              <a:prstGeom prst="ellipse">
                <a:avLst/>
              </a:prstGeom>
              <a:solidFill>
                <a:srgbClr val="FFFFFF"/>
              </a:solidFill>
              <a:ln w="4023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hard_node_b" descr="Editable shape; source id hard_node_b"/>
              <p:cNvSpPr/>
              <p:nvPr/>
            </p:nvSpPr>
            <p:spPr>
              <a:xfrm>
                <a:off x="1528876" y="1521332"/>
                <a:ext cx="60350" cy="60350"/>
              </a:xfrm>
              <a:prstGeom prst="ellipse">
                <a:avLst/>
              </a:prstGeom>
              <a:solidFill>
                <a:srgbClr val="FFFFFF"/>
              </a:solidFill>
              <a:ln w="4023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56" name="hard_cross_a" descr="Editable line; source id hard_cross_a"/>
              <p:cNvCxnSpPr/>
              <p:nvPr/>
            </p:nvCxnSpPr>
            <p:spPr>
              <a:xfrm>
                <a:off x="1302562" y="1523847"/>
                <a:ext cx="55322" cy="55321"/>
              </a:xfrm>
              <a:prstGeom prst="line">
                <a:avLst/>
              </a:prstGeom>
              <a:ln w="7543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hard_cross_b" descr="Editable line; source id hard_cross_b"/>
              <p:cNvCxnSpPr/>
              <p:nvPr/>
            </p:nvCxnSpPr>
            <p:spPr>
              <a:xfrm flipV="1">
                <a:off x="1302562" y="1523847"/>
                <a:ext cx="55322" cy="55321"/>
              </a:xfrm>
              <a:prstGeom prst="line">
                <a:avLst/>
              </a:prstGeom>
              <a:ln w="7543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2" name="hard_zero" descr="Editable formula parts and native mathematical delimiters."/>
            <p:cNvGrpSpPr/>
            <p:nvPr/>
          </p:nvGrpSpPr>
          <p:grpSpPr>
            <a:xfrm>
              <a:off x="1205797" y="1615749"/>
              <a:ext cx="276693" cy="135370"/>
              <a:chOff x="1205797" y="1615749"/>
              <a:chExt cx="276693" cy="135370"/>
            </a:xfrm>
          </p:grpSpPr>
          <p:sp>
            <p:nvSpPr>
              <p:cNvPr id="58" name="hard_zero_0" descr="Editable text; source id hard_zero_0"/>
              <p:cNvSpPr txBox="1"/>
              <p:nvPr/>
            </p:nvSpPr>
            <p:spPr>
              <a:xfrm>
                <a:off x="1205797" y="1615749"/>
                <a:ext cx="68405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205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59" name="hard_zero_1" descr="Editable text; source id hard_zero_1"/>
              <p:cNvSpPr txBox="1"/>
              <p:nvPr/>
            </p:nvSpPr>
            <p:spPr>
              <a:xfrm>
                <a:off x="1270098" y="1670672"/>
                <a:ext cx="52041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60" name="hard_zero_2" descr="Editable text; source id hard_zero_2"/>
              <p:cNvSpPr txBox="1"/>
              <p:nvPr/>
            </p:nvSpPr>
            <p:spPr>
              <a:xfrm>
                <a:off x="1321053" y="1615749"/>
                <a:ext cx="161437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= 0</a:t>
                </a:r>
              </a:p>
            </p:txBody>
          </p:sp>
        </p:grpSp>
        <p:cxnSp>
          <p:nvCxnSpPr>
            <p:cNvPr id="61" name="central_divider1a" descr="Editable line; source id central_divider1a"/>
            <p:cNvCxnSpPr/>
            <p:nvPr/>
          </p:nvCxnSpPr>
          <p:spPr>
            <a:xfrm>
              <a:off x="1702384" y="520522"/>
              <a:ext cx="0" cy="334442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entral_divider1b" descr="Editable line; source id central_divider1b"/>
            <p:cNvCxnSpPr/>
            <p:nvPr/>
          </p:nvCxnSpPr>
          <p:spPr>
            <a:xfrm>
              <a:off x="1702384" y="927887"/>
              <a:ext cx="0" cy="784555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graph_header" descr="Editable text; source id graph_header"/>
            <p:cNvSpPr txBox="1"/>
            <p:nvPr/>
          </p:nvSpPr>
          <p:spPr>
            <a:xfrm>
              <a:off x="1856524" y="344286"/>
              <a:ext cx="866702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One graph problem</a:t>
              </a:r>
            </a:p>
          </p:txBody>
        </p:sp>
        <p:grpSp>
          <p:nvGrpSpPr>
            <p:cNvPr id="193" name="shared_graph" descr="shared graph"/>
            <p:cNvGrpSpPr/>
            <p:nvPr/>
          </p:nvGrpSpPr>
          <p:grpSpPr>
            <a:xfrm>
              <a:off x="1813026" y="621106"/>
              <a:ext cx="940460" cy="533095"/>
              <a:chOff x="1813026" y="621106"/>
              <a:chExt cx="940460" cy="533095"/>
            </a:xfrm>
          </p:grpSpPr>
          <p:sp>
            <p:nvSpPr>
              <p:cNvPr id="64" name="shared_graph_edge0" descr="Editable line; source id shared_graph_edge0"/>
              <p:cNvSpPr/>
              <p:nvPr/>
            </p:nvSpPr>
            <p:spPr>
              <a:xfrm>
                <a:off x="1888361" y="699538"/>
                <a:ext cx="154263" cy="155270"/>
              </a:xfrm>
              <a:custGeom>
                <a:avLst/>
                <a:gdLst/>
                <a:ahLst/>
                <a:cxnLst/>
                <a:rect l="l" t="t" r="r" b="b"/>
                <a:pathLst>
                  <a:path w="56378" h="56746">
                    <a:moveTo>
                      <a:pt x="0" y="54673"/>
                    </a:moveTo>
                    <a:lnTo>
                      <a:pt x="47563" y="6788"/>
                    </a:lnTo>
                    <a:lnTo>
                      <a:pt x="45672" y="4909"/>
                    </a:lnTo>
                    <a:lnTo>
                      <a:pt x="56378" y="0"/>
                    </a:lnTo>
                    <a:lnTo>
                      <a:pt x="51541" y="10738"/>
                    </a:lnTo>
                    <a:lnTo>
                      <a:pt x="49650" y="8860"/>
                    </a:lnTo>
                    <a:lnTo>
                      <a:pt x="2087" y="56746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shared_graph_edge1" descr="Editable line; source id shared_graph_edge1"/>
              <p:cNvSpPr/>
              <p:nvPr/>
            </p:nvSpPr>
            <p:spPr>
              <a:xfrm>
                <a:off x="2128359" y="652537"/>
                <a:ext cx="292698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106971" h="8272">
                    <a:moveTo>
                      <a:pt x="0" y="2666"/>
                    </a:moveTo>
                    <a:lnTo>
                      <a:pt x="95943" y="2666"/>
                    </a:lnTo>
                    <a:lnTo>
                      <a:pt x="95943" y="0"/>
                    </a:lnTo>
                    <a:lnTo>
                      <a:pt x="106971" y="4136"/>
                    </a:lnTo>
                    <a:lnTo>
                      <a:pt x="95943" y="8272"/>
                    </a:lnTo>
                    <a:lnTo>
                      <a:pt x="95943" y="5606"/>
                    </a:lnTo>
                    <a:lnTo>
                      <a:pt x="0" y="5606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shared_graph_edge2" descr="Editable line; source id shared_graph_edge2"/>
              <p:cNvSpPr/>
              <p:nvPr/>
            </p:nvSpPr>
            <p:spPr>
              <a:xfrm>
                <a:off x="2505341" y="695261"/>
                <a:ext cx="168662" cy="158048"/>
              </a:xfrm>
              <a:custGeom>
                <a:avLst/>
                <a:gdLst/>
                <a:ahLst/>
                <a:cxnLst/>
                <a:rect l="l" t="t" r="r" b="b"/>
                <a:pathLst>
                  <a:path w="61640" h="57761">
                    <a:moveTo>
                      <a:pt x="2008" y="0"/>
                    </a:moveTo>
                    <a:lnTo>
                      <a:pt x="54588" y="49156"/>
                    </a:lnTo>
                    <a:lnTo>
                      <a:pt x="56408" y="47209"/>
                    </a:lnTo>
                    <a:lnTo>
                      <a:pt x="61640" y="57761"/>
                    </a:lnTo>
                    <a:lnTo>
                      <a:pt x="50759" y="53251"/>
                    </a:lnTo>
                    <a:lnTo>
                      <a:pt x="52579" y="51304"/>
                    </a:lnTo>
                    <a:lnTo>
                      <a:pt x="0" y="2148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shared_graph_edge3" descr="Editable line; source id shared_graph_edge3"/>
              <p:cNvSpPr/>
              <p:nvPr/>
            </p:nvSpPr>
            <p:spPr>
              <a:xfrm>
                <a:off x="1889165" y="921299"/>
                <a:ext cx="153459" cy="154471"/>
              </a:xfrm>
              <a:custGeom>
                <a:avLst/>
                <a:gdLst/>
                <a:ahLst/>
                <a:cxnLst/>
                <a:rect l="l" t="t" r="r" b="b"/>
                <a:pathLst>
                  <a:path w="56084" h="56454">
                    <a:moveTo>
                      <a:pt x="1499" y="0"/>
                    </a:moveTo>
                    <a:lnTo>
                      <a:pt x="49062" y="47885"/>
                    </a:lnTo>
                    <a:lnTo>
                      <a:pt x="51247" y="45716"/>
                    </a:lnTo>
                    <a:lnTo>
                      <a:pt x="56084" y="56454"/>
                    </a:lnTo>
                    <a:lnTo>
                      <a:pt x="45378" y="51545"/>
                    </a:lnTo>
                    <a:lnTo>
                      <a:pt x="47563" y="49375"/>
                    </a:lnTo>
                    <a:lnTo>
                      <a:pt x="0" y="1489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shared_graph_edge4" descr="Editable line; source id shared_graph_edge4"/>
              <p:cNvSpPr/>
              <p:nvPr/>
            </p:nvSpPr>
            <p:spPr>
              <a:xfrm>
                <a:off x="2128359" y="1100139"/>
                <a:ext cx="292698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106971" h="8271">
                    <a:moveTo>
                      <a:pt x="0" y="3078"/>
                    </a:moveTo>
                    <a:lnTo>
                      <a:pt x="95943" y="3078"/>
                    </a:lnTo>
                    <a:lnTo>
                      <a:pt x="95943" y="0"/>
                    </a:lnTo>
                    <a:lnTo>
                      <a:pt x="106971" y="4135"/>
                    </a:lnTo>
                    <a:lnTo>
                      <a:pt x="95943" y="8271"/>
                    </a:lnTo>
                    <a:lnTo>
                      <a:pt x="95943" y="5192"/>
                    </a:lnTo>
                    <a:lnTo>
                      <a:pt x="0" y="5192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shared_graph_edge5" descr="Editable line; source id shared_graph_edge5"/>
              <p:cNvSpPr/>
              <p:nvPr/>
            </p:nvSpPr>
            <p:spPr>
              <a:xfrm>
                <a:off x="2506112" y="921999"/>
                <a:ext cx="167890" cy="157221"/>
              </a:xfrm>
              <a:custGeom>
                <a:avLst/>
                <a:gdLst/>
                <a:ahLst/>
                <a:cxnLst/>
                <a:rect l="l" t="t" r="r" b="b"/>
                <a:pathLst>
                  <a:path w="61358" h="57459">
                    <a:moveTo>
                      <a:pt x="0" y="55915"/>
                    </a:moveTo>
                    <a:lnTo>
                      <a:pt x="52580" y="6759"/>
                    </a:lnTo>
                    <a:lnTo>
                      <a:pt x="50477" y="4510"/>
                    </a:lnTo>
                    <a:lnTo>
                      <a:pt x="61358" y="0"/>
                    </a:lnTo>
                    <a:lnTo>
                      <a:pt x="56126" y="10552"/>
                    </a:lnTo>
                    <a:lnTo>
                      <a:pt x="54023" y="8303"/>
                    </a:lnTo>
                    <a:lnTo>
                      <a:pt x="1443" y="57459"/>
                    </a:lnTo>
                    <a:close/>
                  </a:path>
                </a:pathLst>
              </a:custGeom>
              <a:solidFill>
                <a:srgbClr val="087F8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shared_graph_edge6" descr="Editable line; source id shared_graph_edge6"/>
              <p:cNvSpPr/>
              <p:nvPr/>
            </p:nvSpPr>
            <p:spPr>
              <a:xfrm>
                <a:off x="2066749" y="714146"/>
                <a:ext cx="22631" cy="347015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126822">
                    <a:moveTo>
                      <a:pt x="5192" y="0"/>
                    </a:moveTo>
                    <a:lnTo>
                      <a:pt x="5192" y="115794"/>
                    </a:lnTo>
                    <a:lnTo>
                      <a:pt x="8271" y="115794"/>
                    </a:lnTo>
                    <a:lnTo>
                      <a:pt x="4136" y="126822"/>
                    </a:lnTo>
                    <a:lnTo>
                      <a:pt x="0" y="115794"/>
                    </a:lnTo>
                    <a:lnTo>
                      <a:pt x="3079" y="115794"/>
                    </a:lnTo>
                    <a:lnTo>
                      <a:pt x="3079" y="0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1" name="shared_graph_edge7" descr="Editable line; source id shared_graph_edge7"/>
              <p:cNvSpPr/>
              <p:nvPr/>
            </p:nvSpPr>
            <p:spPr>
              <a:xfrm>
                <a:off x="2460034" y="714146"/>
                <a:ext cx="22631" cy="347015"/>
              </a:xfrm>
              <a:custGeom>
                <a:avLst/>
                <a:gdLst/>
                <a:ahLst/>
                <a:cxnLst/>
                <a:rect l="l" t="t" r="r" b="b"/>
                <a:pathLst>
                  <a:path w="8271" h="126822">
                    <a:moveTo>
                      <a:pt x="5192" y="0"/>
                    </a:moveTo>
                    <a:lnTo>
                      <a:pt x="5192" y="115794"/>
                    </a:lnTo>
                    <a:lnTo>
                      <a:pt x="8271" y="115794"/>
                    </a:lnTo>
                    <a:lnTo>
                      <a:pt x="4135" y="126822"/>
                    </a:lnTo>
                    <a:lnTo>
                      <a:pt x="0" y="115794"/>
                    </a:lnTo>
                    <a:lnTo>
                      <a:pt x="3078" y="115794"/>
                    </a:lnTo>
                    <a:lnTo>
                      <a:pt x="3078" y="0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shared_graph_node1" descr="Editable shape; source id shared_graph_node1"/>
              <p:cNvSpPr/>
              <p:nvPr/>
            </p:nvSpPr>
            <p:spPr>
              <a:xfrm>
                <a:off x="1813026" y="84490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shared_graph_node2" descr="Editable shape; source id shared_graph_node2"/>
              <p:cNvSpPr/>
              <p:nvPr/>
            </p:nvSpPr>
            <p:spPr>
              <a:xfrm>
                <a:off x="2035317" y="621106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shared_graph_node3" descr="Editable shape; source id shared_graph_node3"/>
              <p:cNvSpPr/>
              <p:nvPr/>
            </p:nvSpPr>
            <p:spPr>
              <a:xfrm>
                <a:off x="2428600" y="621106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shared_graph_node4" descr="Editable shape; source id shared_graph_node4"/>
              <p:cNvSpPr/>
              <p:nvPr/>
            </p:nvSpPr>
            <p:spPr>
              <a:xfrm>
                <a:off x="2667990" y="84490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shared_graph_node5" descr="Editable shape; source id shared_graph_node5"/>
              <p:cNvSpPr/>
              <p:nvPr/>
            </p:nvSpPr>
            <p:spPr>
              <a:xfrm>
                <a:off x="2035317" y="106870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shared_graph_node6" descr="Editable shape; source id shared_graph_node6"/>
              <p:cNvSpPr/>
              <p:nvPr/>
            </p:nvSpPr>
            <p:spPr>
              <a:xfrm>
                <a:off x="2428600" y="1068705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96" name="graph_obj1" descr="Editable formula parts and native mathematical delimiters."/>
            <p:cNvGrpSpPr/>
            <p:nvPr/>
          </p:nvGrpSpPr>
          <p:grpSpPr>
            <a:xfrm>
              <a:off x="2015196" y="1193759"/>
              <a:ext cx="531534" cy="138566"/>
              <a:chOff x="2015196" y="1193759"/>
              <a:chExt cx="531534" cy="138566"/>
            </a:xfrm>
          </p:grpSpPr>
          <p:sp>
            <p:nvSpPr>
              <p:cNvPr id="78" name="graph_obj1_0" descr="Editable text; source id graph_obj1_0"/>
              <p:cNvSpPr txBox="1"/>
              <p:nvPr/>
            </p:nvSpPr>
            <p:spPr>
              <a:xfrm>
                <a:off x="2015196" y="1193759"/>
                <a:ext cx="164484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min</a:t>
                </a:r>
              </a:p>
            </p:txBody>
          </p:sp>
          <p:sp>
            <p:nvSpPr>
              <p:cNvPr id="79" name="graph_obj1_1" descr="Editable text; source id graph_obj1_1"/>
              <p:cNvSpPr txBox="1"/>
              <p:nvPr/>
            </p:nvSpPr>
            <p:spPr>
              <a:xfrm>
                <a:off x="2175575" y="1249969"/>
                <a:ext cx="41941" cy="8235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16"/>
                  </a:lnSpc>
                  <a:spcBef>
                    <a:spcPts val="0"/>
                  </a:spcBef>
                  <a:spcAft>
                    <a:spcPts val="0"/>
                  </a:spcAft>
                  <a:defRPr sz="535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35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80" name="graph_obj1_2" descr="Editable text; source id graph_obj1_2"/>
              <p:cNvSpPr txBox="1"/>
              <p:nvPr/>
            </p:nvSpPr>
            <p:spPr>
              <a:xfrm>
                <a:off x="2216505" y="1193759"/>
                <a:ext cx="113778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81" name="graph_obj1_3" descr="Editable text; source id graph_obj1_3"/>
              <p:cNvSpPr txBox="1"/>
              <p:nvPr/>
            </p:nvSpPr>
            <p:spPr>
              <a:xfrm>
                <a:off x="2354045" y="1193759"/>
                <a:ext cx="169646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7524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A,F</a:t>
                </a:r>
              </a:p>
            </p:txBody>
          </p:sp>
          <p:grpSp>
            <p:nvGrpSpPr>
              <p:cNvPr id="194" name="graph_obj1_angle_0" descr="One editable routed connector; fixed endpoints."/>
              <p:cNvGrpSpPr/>
              <p:nvPr/>
            </p:nvGrpSpPr>
            <p:grpSpPr>
              <a:xfrm>
                <a:off x="2336826" y="1213244"/>
                <a:ext cx="16496" cy="82479"/>
                <a:chOff x="2336826" y="1213244"/>
                <a:chExt cx="16496" cy="82479"/>
              </a:xfrm>
            </p:grpSpPr>
            <p:cxnSp>
              <p:nvCxnSpPr>
                <p:cNvPr id="82" name="graph_obj1_angle_0_0" descr="Editable line; source id graph_obj1_angle_0_0"/>
                <p:cNvCxnSpPr/>
                <p:nvPr/>
              </p:nvCxnSpPr>
              <p:spPr>
                <a:xfrm flipH="1">
                  <a:off x="2336826" y="1213244"/>
                  <a:ext cx="16496" cy="41239"/>
                </a:xfrm>
                <a:prstGeom prst="line">
                  <a:avLst/>
                </a:prstGeom>
                <a:ln w="4123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graph_obj1_angle_0_1" descr="Editable line; source id graph_obj1_angle_0_1"/>
                <p:cNvCxnSpPr/>
                <p:nvPr/>
              </p:nvCxnSpPr>
              <p:spPr>
                <a:xfrm>
                  <a:off x="2336826" y="1254483"/>
                  <a:ext cx="16496" cy="41240"/>
                </a:xfrm>
                <a:prstGeom prst="line">
                  <a:avLst/>
                </a:prstGeom>
                <a:ln w="4123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aph_obj1_angle_1" descr="One editable routed connector; fixed endpoints."/>
              <p:cNvGrpSpPr/>
              <p:nvPr/>
            </p:nvGrpSpPr>
            <p:grpSpPr>
              <a:xfrm>
                <a:off x="2530234" y="1213244"/>
                <a:ext cx="16496" cy="82479"/>
                <a:chOff x="2530234" y="1213244"/>
                <a:chExt cx="16496" cy="82479"/>
              </a:xfrm>
            </p:grpSpPr>
            <p:cxnSp>
              <p:nvCxnSpPr>
                <p:cNvPr id="84" name="graph_obj1_angle_1_0" descr="Editable line; source id graph_obj1_angle_1_0"/>
                <p:cNvCxnSpPr/>
                <p:nvPr/>
              </p:nvCxnSpPr>
              <p:spPr>
                <a:xfrm>
                  <a:off x="2530234" y="1213244"/>
                  <a:ext cx="16496" cy="41239"/>
                </a:xfrm>
                <a:prstGeom prst="line">
                  <a:avLst/>
                </a:prstGeom>
                <a:ln w="4123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graph_obj1_angle_1_1" descr="Editable line; source id graph_obj1_angle_1_1"/>
                <p:cNvCxnSpPr/>
                <p:nvPr/>
              </p:nvCxnSpPr>
              <p:spPr>
                <a:xfrm flipH="1">
                  <a:off x="2530234" y="1254483"/>
                  <a:ext cx="16496" cy="41240"/>
                </a:xfrm>
                <a:prstGeom prst="line">
                  <a:avLst/>
                </a:prstGeom>
                <a:ln w="4123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7" name="graph_obj2" descr="Editable formula parts and native mathematical delimiters."/>
            <p:cNvGrpSpPr/>
            <p:nvPr/>
          </p:nvGrpSpPr>
          <p:grpSpPr>
            <a:xfrm>
              <a:off x="1998720" y="1324518"/>
              <a:ext cx="572376" cy="122667"/>
              <a:chOff x="1998720" y="1324518"/>
              <a:chExt cx="572376" cy="122667"/>
            </a:xfrm>
          </p:grpSpPr>
          <p:sp>
            <p:nvSpPr>
              <p:cNvPr id="86" name="graph_obj2_0" descr="Editable text; source id graph_obj2_0"/>
              <p:cNvSpPr txBox="1"/>
              <p:nvPr/>
            </p:nvSpPr>
            <p:spPr>
              <a:xfrm>
                <a:off x="1998720" y="1324518"/>
                <a:ext cx="415223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+ ε KL(F </a:t>
                </a:r>
              </a:p>
            </p:txBody>
          </p:sp>
          <p:sp>
            <p:nvSpPr>
              <p:cNvPr id="87" name="graph_obj2_1" descr="Editable text; source id graph_obj2_1"/>
              <p:cNvSpPr txBox="1"/>
              <p:nvPr/>
            </p:nvSpPr>
            <p:spPr>
              <a:xfrm>
                <a:off x="2443862" y="1324518"/>
                <a:ext cx="127234" cy="12266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F̂)</a:t>
                </a:r>
              </a:p>
            </p:txBody>
          </p:sp>
          <p:cxnSp>
            <p:nvCxnSpPr>
              <p:cNvPr id="88" name="graph_obj2_parallel_0_0" descr="Editable line; source id graph_obj2_parallel_0_0"/>
              <p:cNvCxnSpPr/>
              <p:nvPr/>
            </p:nvCxnSpPr>
            <p:spPr>
              <a:xfrm>
                <a:off x="2422548" y="1344003"/>
                <a:ext cx="0" cy="82479"/>
              </a:xfrm>
              <a:prstGeom prst="line">
                <a:avLst/>
              </a:prstGeom>
              <a:ln w="4123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graph_obj2_parallel_0_1" descr="Editable line; source id graph_obj2_parallel_0_1"/>
              <p:cNvCxnSpPr/>
              <p:nvPr/>
            </p:nvCxnSpPr>
            <p:spPr>
              <a:xfrm>
                <a:off x="2436982" y="1344003"/>
                <a:ext cx="0" cy="82479"/>
              </a:xfrm>
              <a:prstGeom prst="line">
                <a:avLst/>
              </a:prstGeom>
              <a:ln w="4123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balance" descr="Editable text; source id balance"/>
            <p:cNvSpPr txBox="1"/>
            <p:nvPr/>
          </p:nvSpPr>
          <p:spPr>
            <a:xfrm>
              <a:off x="2041220" y="1460065"/>
              <a:ext cx="497310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flow balance</a:t>
              </a:r>
            </a:p>
          </p:txBody>
        </p:sp>
        <p:grpSp>
          <p:nvGrpSpPr>
            <p:cNvPr id="200" name="soft_budget" descr="Editable formula parts and native mathematical delimiters."/>
            <p:cNvGrpSpPr/>
            <p:nvPr/>
          </p:nvGrpSpPr>
          <p:grpSpPr>
            <a:xfrm>
              <a:off x="2071531" y="1585795"/>
              <a:ext cx="434158" cy="131491"/>
              <a:chOff x="2071531" y="1585795"/>
              <a:chExt cx="434158" cy="131491"/>
            </a:xfrm>
          </p:grpSpPr>
          <p:sp>
            <p:nvSpPr>
              <p:cNvPr id="91" name="soft_budget_0" descr="Editable text; source id soft_budget_0"/>
              <p:cNvSpPr txBox="1"/>
              <p:nvPr/>
            </p:nvSpPr>
            <p:spPr>
              <a:xfrm>
                <a:off x="2093700" y="1585795"/>
                <a:ext cx="70458" cy="11688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92" name="soft_budget_1" descr="Editable text; source id soft_budget_1"/>
              <p:cNvSpPr txBox="1"/>
              <p:nvPr/>
            </p:nvSpPr>
            <p:spPr>
              <a:xfrm>
                <a:off x="2160054" y="1638747"/>
                <a:ext cx="36939" cy="7853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93" name="soft_budget_2" descr="Editable text; source id soft_budget_2"/>
              <p:cNvSpPr txBox="1"/>
              <p:nvPr/>
            </p:nvSpPr>
            <p:spPr>
              <a:xfrm>
                <a:off x="2195830" y="1585795"/>
                <a:ext cx="89611" cy="11688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,F</a:t>
                </a:r>
              </a:p>
            </p:txBody>
          </p:sp>
          <p:sp>
            <p:nvSpPr>
              <p:cNvPr id="94" name="soft_budget_3" descr="Editable text; source id soft_budget_3"/>
              <p:cNvSpPr txBox="1"/>
              <p:nvPr/>
            </p:nvSpPr>
            <p:spPr>
              <a:xfrm>
                <a:off x="2313701" y="1585795"/>
                <a:ext cx="106959" cy="11688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≤ </a:t>
                </a:r>
              </a:p>
            </p:txBody>
          </p:sp>
          <p:sp>
            <p:nvSpPr>
              <p:cNvPr id="95" name="soft_budget_4" descr="Editable text; source id soft_budget_4"/>
              <p:cNvSpPr txBox="1"/>
              <p:nvPr/>
            </p:nvSpPr>
            <p:spPr>
              <a:xfrm>
                <a:off x="2419497" y="1585795"/>
                <a:ext cx="53356" cy="11688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96" name="soft_budget_5" descr="Editable text; source id soft_budget_5"/>
              <p:cNvSpPr txBox="1"/>
              <p:nvPr/>
            </p:nvSpPr>
            <p:spPr>
              <a:xfrm>
                <a:off x="2468750" y="1638747"/>
                <a:ext cx="36939" cy="7853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grpSp>
            <p:nvGrpSpPr>
              <p:cNvPr id="198" name="soft_budget_angle_0" descr="One editable routed connector; fixed endpoints."/>
              <p:cNvGrpSpPr/>
              <p:nvPr/>
            </p:nvGrpSpPr>
            <p:grpSpPr>
              <a:xfrm>
                <a:off x="2071531" y="1604113"/>
                <a:ext cx="15691" cy="78456"/>
                <a:chOff x="2071531" y="1604113"/>
                <a:chExt cx="15691" cy="78456"/>
              </a:xfrm>
            </p:grpSpPr>
            <p:cxnSp>
              <p:nvCxnSpPr>
                <p:cNvPr id="97" name="soft_budget_angle_0_0" descr="Editable line; source id soft_budget_angle_0_0"/>
                <p:cNvCxnSpPr/>
                <p:nvPr/>
              </p:nvCxnSpPr>
              <p:spPr>
                <a:xfrm flipH="1">
                  <a:off x="2071531" y="1604113"/>
                  <a:ext cx="15691" cy="39228"/>
                </a:xfrm>
                <a:prstGeom prst="line">
                  <a:avLst/>
                </a:prstGeom>
                <a:ln w="3922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oft_budget_angle_0_1" descr="Editable line; source id soft_budget_angle_0_1"/>
                <p:cNvCxnSpPr/>
                <p:nvPr/>
              </p:nvCxnSpPr>
              <p:spPr>
                <a:xfrm>
                  <a:off x="2071531" y="1643341"/>
                  <a:ext cx="15691" cy="39228"/>
                </a:xfrm>
                <a:prstGeom prst="line">
                  <a:avLst/>
                </a:prstGeom>
                <a:ln w="3922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9" name="soft_budget_angle_1" descr="One editable routed connector; fixed endpoints."/>
              <p:cNvGrpSpPr/>
              <p:nvPr/>
            </p:nvGrpSpPr>
            <p:grpSpPr>
              <a:xfrm>
                <a:off x="2291532" y="1604113"/>
                <a:ext cx="15691" cy="78456"/>
                <a:chOff x="2291532" y="1604113"/>
                <a:chExt cx="15691" cy="78456"/>
              </a:xfrm>
            </p:grpSpPr>
            <p:cxnSp>
              <p:nvCxnSpPr>
                <p:cNvPr id="99" name="soft_budget_angle_1_0" descr="Editable line; source id soft_budget_angle_1_0"/>
                <p:cNvCxnSpPr/>
                <p:nvPr/>
              </p:nvCxnSpPr>
              <p:spPr>
                <a:xfrm>
                  <a:off x="2291532" y="1604113"/>
                  <a:ext cx="15691" cy="39228"/>
                </a:xfrm>
                <a:prstGeom prst="line">
                  <a:avLst/>
                </a:prstGeom>
                <a:ln w="3922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oft_budget_angle_1_1" descr="Editable line; source id soft_budget_angle_1_1"/>
                <p:cNvCxnSpPr/>
                <p:nvPr/>
              </p:nvCxnSpPr>
              <p:spPr>
                <a:xfrm flipH="1">
                  <a:off x="2291532" y="1643341"/>
                  <a:ext cx="15691" cy="39228"/>
                </a:xfrm>
                <a:prstGeom prst="line">
                  <a:avLst/>
                </a:prstGeom>
                <a:ln w="3922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1" name="central_divider2a" descr="Editable line; source id central_divider2a"/>
            <p:cNvCxnSpPr/>
            <p:nvPr/>
          </p:nvCxnSpPr>
          <p:spPr>
            <a:xfrm>
              <a:off x="2859100" y="520522"/>
              <a:ext cx="0" cy="334442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entral_divider2b" descr="Editable line; source id central_divider2b"/>
            <p:cNvCxnSpPr/>
            <p:nvPr/>
          </p:nvCxnSpPr>
          <p:spPr>
            <a:xfrm>
              <a:off x="2859100" y="927887"/>
              <a:ext cx="0" cy="784555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price_header" descr="Editable text; source id price_header"/>
            <p:cNvSpPr txBox="1"/>
            <p:nvPr/>
          </p:nvSpPr>
          <p:spPr>
            <a:xfrm>
              <a:off x="3034559" y="344286"/>
              <a:ext cx="844181" cy="132370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Shared safety price</a:t>
              </a:r>
            </a:p>
          </p:txBody>
        </p:sp>
        <p:grpSp>
          <p:nvGrpSpPr>
            <p:cNvPr id="201" name="solver_price" descr="Editable formula parts and native mathematical delimiters."/>
            <p:cNvGrpSpPr/>
            <p:nvPr/>
          </p:nvGrpSpPr>
          <p:grpSpPr>
            <a:xfrm>
              <a:off x="3393141" y="508503"/>
              <a:ext cx="94004" cy="150933"/>
              <a:chOff x="3393141" y="508503"/>
              <a:chExt cx="94004" cy="150933"/>
            </a:xfrm>
          </p:grpSpPr>
          <p:sp>
            <p:nvSpPr>
              <p:cNvPr id="104" name="solver_price_0" descr="Editable text; source id solver_price_0"/>
              <p:cNvSpPr txBox="1"/>
              <p:nvPr/>
            </p:nvSpPr>
            <p:spPr>
              <a:xfrm>
                <a:off x="3393141" y="528093"/>
                <a:ext cx="57493" cy="1313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1001"/>
                  </a:lnSpc>
                  <a:spcBef>
                    <a:spcPts val="0"/>
                  </a:spcBef>
                  <a:spcAft>
                    <a:spcPts val="0"/>
                  </a:spcAft>
                  <a:defRPr sz="871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71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05" name="solver_price_1" descr="Editable text; source id solver_price_1"/>
              <p:cNvSpPr txBox="1"/>
              <p:nvPr/>
            </p:nvSpPr>
            <p:spPr>
              <a:xfrm>
                <a:off x="3446530" y="508503"/>
                <a:ext cx="40615" cy="88081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61"/>
                  </a:lnSpc>
                  <a:spcBef>
                    <a:spcPts val="0"/>
                  </a:spcBef>
                  <a:spcAft>
                    <a:spcPts val="0"/>
                  </a:spcAft>
                  <a:defRPr sz="574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74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06" name="price_into_filter" descr="Editable line; source id price_into_filter"/>
            <p:cNvSpPr/>
            <p:nvPr/>
          </p:nvSpPr>
          <p:spPr>
            <a:xfrm>
              <a:off x="3438714" y="676427"/>
              <a:ext cx="22634" cy="62865"/>
            </a:xfrm>
            <a:custGeom>
              <a:avLst/>
              <a:gdLst/>
              <a:ahLst/>
              <a:cxnLst/>
              <a:rect l="l" t="t" r="r" b="b"/>
              <a:pathLst>
                <a:path w="8272" h="22975">
                  <a:moveTo>
                    <a:pt x="5147" y="0"/>
                  </a:moveTo>
                  <a:lnTo>
                    <a:pt x="5147" y="11947"/>
                  </a:lnTo>
                  <a:lnTo>
                    <a:pt x="8272" y="11947"/>
                  </a:lnTo>
                  <a:lnTo>
                    <a:pt x="4136" y="22975"/>
                  </a:lnTo>
                  <a:lnTo>
                    <a:pt x="0" y="11947"/>
                  </a:lnTo>
                  <a:lnTo>
                    <a:pt x="3125" y="11947"/>
                  </a:lnTo>
                  <a:lnTo>
                    <a:pt x="3125" y="0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02" name="filter_operator" descr="filter operator"/>
            <p:cNvGrpSpPr/>
            <p:nvPr/>
          </p:nvGrpSpPr>
          <p:grpSpPr>
            <a:xfrm>
              <a:off x="2992374" y="746836"/>
              <a:ext cx="917828" cy="208711"/>
              <a:chOff x="2992374" y="746836"/>
              <a:chExt cx="917828" cy="208711"/>
            </a:xfrm>
          </p:grpSpPr>
          <p:sp>
            <p:nvSpPr>
              <p:cNvPr id="107" name="filter_operator_panel" descr="Editable shape; source id filter_operator_panel"/>
              <p:cNvSpPr/>
              <p:nvPr/>
            </p:nvSpPr>
            <p:spPr>
              <a:xfrm>
                <a:off x="2992374" y="746836"/>
                <a:ext cx="917828" cy="208711"/>
              </a:xfrm>
              <a:prstGeom prst="roundRect">
                <a:avLst>
                  <a:gd name="adj" fmla="val 9638"/>
                </a:avLst>
              </a:prstGeom>
              <a:solidFill>
                <a:srgbClr val="FFFFFF"/>
              </a:solidFill>
              <a:ln w="4274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8" name="filter_label" descr="Editable text; source id filter_label"/>
              <p:cNvSpPr txBox="1"/>
              <p:nvPr/>
            </p:nvSpPr>
            <p:spPr>
              <a:xfrm>
                <a:off x="3198639" y="789592"/>
                <a:ext cx="510991" cy="129403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1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1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Clip + filter</a:t>
                </a:r>
              </a:p>
            </p:txBody>
          </p:sp>
        </p:grpSp>
        <p:sp>
          <p:nvSpPr>
            <p:cNvPr id="109" name="filter_down" descr="Editable line; source id filter_down"/>
            <p:cNvSpPr/>
            <p:nvPr/>
          </p:nvSpPr>
          <p:spPr>
            <a:xfrm>
              <a:off x="3438714" y="965606"/>
              <a:ext cx="22634" cy="93040"/>
            </a:xfrm>
            <a:custGeom>
              <a:avLst/>
              <a:gdLst/>
              <a:ahLst/>
              <a:cxnLst/>
              <a:rect l="l" t="t" r="r" b="b"/>
              <a:pathLst>
                <a:path w="8272" h="34003">
                  <a:moveTo>
                    <a:pt x="5147" y="0"/>
                  </a:moveTo>
                  <a:lnTo>
                    <a:pt x="5147" y="22975"/>
                  </a:lnTo>
                  <a:lnTo>
                    <a:pt x="8272" y="22975"/>
                  </a:lnTo>
                  <a:lnTo>
                    <a:pt x="4136" y="34003"/>
                  </a:lnTo>
                  <a:lnTo>
                    <a:pt x="0" y="22975"/>
                  </a:lnTo>
                  <a:lnTo>
                    <a:pt x="3125" y="22975"/>
                  </a:lnTo>
                  <a:lnTo>
                    <a:pt x="3125" y="0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03" name="unified_price" descr="Editable formula parts and native mathematical delimiters."/>
            <p:cNvGrpSpPr/>
            <p:nvPr/>
          </p:nvGrpSpPr>
          <p:grpSpPr>
            <a:xfrm>
              <a:off x="3158342" y="1066624"/>
              <a:ext cx="577854" cy="175182"/>
              <a:chOff x="3158342" y="1066624"/>
              <a:chExt cx="577854" cy="175182"/>
            </a:xfrm>
          </p:grpSpPr>
          <p:sp>
            <p:nvSpPr>
              <p:cNvPr id="110" name="unified_price_0" descr="Editable text; source id unified_price_0"/>
              <p:cNvSpPr txBox="1"/>
              <p:nvPr/>
            </p:nvSpPr>
            <p:spPr>
              <a:xfrm>
                <a:off x="3158342" y="1087259"/>
                <a:ext cx="61041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788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11" name="unified_price_1" descr="Editable text; source id unified_price_1"/>
              <p:cNvSpPr txBox="1"/>
              <p:nvPr/>
            </p:nvSpPr>
            <p:spPr>
              <a:xfrm>
                <a:off x="3215279" y="1149907"/>
                <a:ext cx="42411" cy="9189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91"/>
                  </a:lnSpc>
                  <a:spcBef>
                    <a:spcPts val="0"/>
                  </a:spcBef>
                  <a:spcAft>
                    <a:spcPts val="0"/>
                  </a:spcAft>
                  <a:def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12" name="unified_price_2" descr="Editable text; source id unified_price_2"/>
              <p:cNvSpPr txBox="1"/>
              <p:nvPr/>
            </p:nvSpPr>
            <p:spPr>
              <a:xfrm>
                <a:off x="3257057" y="1087259"/>
                <a:ext cx="127234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113" name="unified_price_3" descr="Editable text; source id unified_price_3"/>
              <p:cNvSpPr txBox="1"/>
              <p:nvPr/>
            </p:nvSpPr>
            <p:spPr>
              <a:xfrm>
                <a:off x="3380237" y="1087259"/>
                <a:ext cx="89611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788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14" name="unified_price_4" descr="Editable text; source id unified_price_4"/>
              <p:cNvSpPr txBox="1"/>
              <p:nvPr/>
            </p:nvSpPr>
            <p:spPr>
              <a:xfrm>
                <a:off x="3465744" y="1149907"/>
                <a:ext cx="42411" cy="9189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91"/>
                  </a:lnSpc>
                  <a:spcBef>
                    <a:spcPts val="0"/>
                  </a:spcBef>
                  <a:spcAft>
                    <a:spcPts val="0"/>
                  </a:spcAft>
                  <a:def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15" name="unified_price_5" descr="Editable text; source id unified_price_5"/>
              <p:cNvSpPr txBox="1"/>
              <p:nvPr/>
            </p:nvSpPr>
            <p:spPr>
              <a:xfrm>
                <a:off x="3465744" y="1066624"/>
                <a:ext cx="42411" cy="9189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91"/>
                  </a:lnSpc>
                  <a:spcBef>
                    <a:spcPts val="0"/>
                  </a:spcBef>
                  <a:spcAft>
                    <a:spcPts val="0"/>
                  </a:spcAft>
                  <a:def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16" name="unified_price_6" descr="Editable text; source id unified_price_6"/>
              <p:cNvSpPr txBox="1"/>
              <p:nvPr/>
            </p:nvSpPr>
            <p:spPr>
              <a:xfrm>
                <a:off x="3507522" y="1087259"/>
                <a:ext cx="127234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 + </a:t>
                </a:r>
              </a:p>
            </p:txBody>
          </p:sp>
          <p:sp>
            <p:nvSpPr>
              <p:cNvPr id="117" name="unified_price_7" descr="Editable text; source id unified_price_7"/>
              <p:cNvSpPr txBox="1"/>
              <p:nvPr/>
            </p:nvSpPr>
            <p:spPr>
              <a:xfrm>
                <a:off x="3632070" y="1087259"/>
                <a:ext cx="65819" cy="1371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3420" anchorCtr="0" vertOverflow="overflow">
                <a:noAutofit/>
              </a:bodyPr>
              <a:lstStyle/>
              <a:p>
                <a:pPr algn="l" fontAlgn="base">
                  <a:lnSpc>
                    <a:spcPts val="1047"/>
                  </a:lnSpc>
                  <a:spcBef>
                    <a:spcPts val="0"/>
                  </a:spcBef>
                  <a:spcAft>
                    <a:spcPts val="0"/>
                  </a:spcAft>
                  <a:def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910" b="0" i="1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  <p:sp>
            <p:nvSpPr>
              <p:cNvPr id="118" name="unified_price_8" descr="Editable text; source id unified_price_8"/>
              <p:cNvSpPr txBox="1"/>
              <p:nvPr/>
            </p:nvSpPr>
            <p:spPr>
              <a:xfrm>
                <a:off x="3693785" y="1149907"/>
                <a:ext cx="42411" cy="9189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91"/>
                  </a:lnSpc>
                  <a:spcBef>
                    <a:spcPts val="0"/>
                  </a:spcBef>
                  <a:spcAft>
                    <a:spcPts val="0"/>
                  </a:spcAft>
                  <a:def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01" b="0" i="0" lang="zh-CN" dirty="0">
                    <a:solidFill>
                      <a:srgbClr val="087F86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119" name="graph_price_text" descr="Editable text; source id graph_price_text"/>
            <p:cNvSpPr txBox="1"/>
            <p:nvPr/>
          </p:nvSpPr>
          <p:spPr>
            <a:xfrm>
              <a:off x="2962478" y="1261412"/>
              <a:ext cx="440159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graph price</a:t>
              </a:r>
            </a:p>
          </p:txBody>
        </p:sp>
        <p:sp>
          <p:nvSpPr>
            <p:cNvPr id="120" name="feedback_text" descr="Editable text; source id feedback_text"/>
            <p:cNvSpPr txBox="1"/>
            <p:nvPr/>
          </p:nvSpPr>
          <p:spPr>
            <a:xfrm>
              <a:off x="3548199" y="1261412"/>
              <a:ext cx="355026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feedback</a:t>
              </a:r>
            </a:p>
          </p:txBody>
        </p:sp>
        <p:grpSp>
          <p:nvGrpSpPr>
            <p:cNvPr id="207" name="shared_vector" descr="shared vector"/>
            <p:cNvGrpSpPr/>
            <p:nvPr/>
          </p:nvGrpSpPr>
          <p:grpSpPr>
            <a:xfrm>
              <a:off x="3050209" y="1486128"/>
              <a:ext cx="804672" cy="140817"/>
              <a:chOff x="3050209" y="1486128"/>
              <a:chExt cx="804672" cy="140817"/>
            </a:xfrm>
          </p:grpSpPr>
          <p:sp>
            <p:nvSpPr>
              <p:cNvPr id="121" name="shared_vector_cell0" descr="Editable shape; source id shared_vector_cell0"/>
              <p:cNvSpPr/>
              <p:nvPr/>
            </p:nvSpPr>
            <p:spPr>
              <a:xfrm>
                <a:off x="3050209" y="1486128"/>
                <a:ext cx="201168" cy="140817"/>
              </a:xfrm>
              <a:prstGeom prst="rect">
                <a:avLst/>
              </a:prstGeom>
              <a:solidFill>
                <a:srgbClr val="FFFFFF"/>
              </a:solidFill>
              <a:ln w="4023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04" name="shared_vector_txt0" descr="Editable formula parts and native mathematical delimiters."/>
              <p:cNvGrpSpPr/>
              <p:nvPr/>
            </p:nvGrpSpPr>
            <p:grpSpPr>
              <a:xfrm>
                <a:off x="3106430" y="1490241"/>
                <a:ext cx="84416" cy="131490"/>
                <a:chOff x="3106430" y="1490241"/>
                <a:chExt cx="84416" cy="131490"/>
              </a:xfrm>
            </p:grpSpPr>
            <p:sp>
              <p:nvSpPr>
                <p:cNvPr id="122" name="shared_vector_txt0_0" descr="Editable text; source id shared_vector_txt0_0"/>
                <p:cNvSpPr txBox="1"/>
                <p:nvPr/>
              </p:nvSpPr>
              <p:spPr>
                <a:xfrm>
                  <a:off x="3106430" y="1490241"/>
                  <a:ext cx="52052" cy="11688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4104" anchorCtr="0" vertOverflow="overflow">
                  <a:noAutofit/>
                </a:bodyPr>
                <a:lstStyle/>
                <a:p>
                  <a:pPr algn="l" fontAlgn="base">
                    <a:lnSpc>
                      <a:spcPts val="88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23" name="shared_vector_txt0_1" descr="Editable text; source id shared_vector_txt0_1"/>
                <p:cNvSpPr txBox="1"/>
                <p:nvPr/>
              </p:nvSpPr>
              <p:spPr>
                <a:xfrm>
                  <a:off x="3154378" y="1543192"/>
                  <a:ext cx="36468" cy="7853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58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  <p:sp>
            <p:nvSpPr>
              <p:cNvPr id="124" name="shared_vector_cell1" descr="Editable shape; source id shared_vector_cell1"/>
              <p:cNvSpPr/>
              <p:nvPr/>
            </p:nvSpPr>
            <p:spPr>
              <a:xfrm>
                <a:off x="3251377" y="1486128"/>
                <a:ext cx="201168" cy="140817"/>
              </a:xfrm>
              <a:prstGeom prst="rect">
                <a:avLst/>
              </a:prstGeom>
              <a:solidFill>
                <a:srgbClr val="FFFFFF"/>
              </a:solidFill>
              <a:ln w="4023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05" name="shared_vector_txt1" descr="Editable formula parts and native mathematical delimiters."/>
              <p:cNvGrpSpPr/>
              <p:nvPr/>
            </p:nvGrpSpPr>
            <p:grpSpPr>
              <a:xfrm>
                <a:off x="3307598" y="1490241"/>
                <a:ext cx="84416" cy="131490"/>
                <a:chOff x="3307598" y="1490241"/>
                <a:chExt cx="84416" cy="131490"/>
              </a:xfrm>
            </p:grpSpPr>
            <p:sp>
              <p:nvSpPr>
                <p:cNvPr id="125" name="shared_vector_txt1_0" descr="Editable text; source id shared_vector_txt1_0"/>
                <p:cNvSpPr txBox="1"/>
                <p:nvPr/>
              </p:nvSpPr>
              <p:spPr>
                <a:xfrm>
                  <a:off x="3307598" y="1490241"/>
                  <a:ext cx="52052" cy="11688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4104" anchorCtr="0" vertOverflow="overflow">
                  <a:noAutofit/>
                </a:bodyPr>
                <a:lstStyle/>
                <a:p>
                  <a:pPr algn="l" fontAlgn="base">
                    <a:lnSpc>
                      <a:spcPts val="88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26" name="shared_vector_txt1_1" descr="Editable text; source id shared_vector_txt1_1"/>
                <p:cNvSpPr txBox="1"/>
                <p:nvPr/>
              </p:nvSpPr>
              <p:spPr>
                <a:xfrm>
                  <a:off x="3355546" y="1543192"/>
                  <a:ext cx="36468" cy="7853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58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sp>
            <p:nvSpPr>
              <p:cNvPr id="127" name="shared_vector_cell2" descr="Editable shape; source id shared_vector_cell2"/>
              <p:cNvSpPr/>
              <p:nvPr/>
            </p:nvSpPr>
            <p:spPr>
              <a:xfrm>
                <a:off x="3452545" y="1486128"/>
                <a:ext cx="201168" cy="140817"/>
              </a:xfrm>
              <a:prstGeom prst="rect">
                <a:avLst/>
              </a:prstGeom>
              <a:solidFill>
                <a:srgbClr val="FFFFFF"/>
              </a:solidFill>
              <a:ln w="4023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shared_vector_txt2" descr="Editable text; source id shared_vector_txt2"/>
              <p:cNvSpPr txBox="1"/>
              <p:nvPr/>
            </p:nvSpPr>
            <p:spPr>
              <a:xfrm>
                <a:off x="3501141" y="1495270"/>
                <a:ext cx="112185" cy="123468"/>
              </a:xfrm>
              <a:prstGeom prst="rect">
                <a:avLst/>
              </a:prstGeom>
              <a:noFill/>
              <a:effectLst/>
            </p:spPr>
            <p:txBody>
              <a:bodyPr wrap="none" anchor="t" tIns="5472" rIns="0" bIns="0" lIns="5472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…</a:t>
                </a:r>
              </a:p>
            </p:txBody>
          </p:sp>
          <p:sp>
            <p:nvSpPr>
              <p:cNvPr id="129" name="shared_vector_cell3" descr="Editable shape; source id shared_vector_cell3"/>
              <p:cNvSpPr/>
              <p:nvPr/>
            </p:nvSpPr>
            <p:spPr>
              <a:xfrm>
                <a:off x="3653713" y="1486128"/>
                <a:ext cx="201168" cy="140817"/>
              </a:xfrm>
              <a:prstGeom prst="rect">
                <a:avLst/>
              </a:prstGeom>
              <a:solidFill>
                <a:srgbClr val="FFFFFF"/>
              </a:solidFill>
              <a:ln w="4023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06" name="shared_vector_txt3" descr="Editable formula parts and native mathematical delimiters."/>
              <p:cNvGrpSpPr/>
              <p:nvPr/>
            </p:nvGrpSpPr>
            <p:grpSpPr>
              <a:xfrm>
                <a:off x="3702746" y="1490241"/>
                <a:ext cx="98792" cy="131490"/>
                <a:chOff x="3702746" y="1490241"/>
                <a:chExt cx="98792" cy="131490"/>
              </a:xfrm>
            </p:grpSpPr>
            <p:sp>
              <p:nvSpPr>
                <p:cNvPr id="130" name="shared_vector_txt3_0" descr="Editable text; source id shared_vector_txt3_0"/>
                <p:cNvSpPr txBox="1"/>
                <p:nvPr/>
              </p:nvSpPr>
              <p:spPr>
                <a:xfrm>
                  <a:off x="3702746" y="1490241"/>
                  <a:ext cx="52052" cy="11688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4104" anchorCtr="0" vertOverflow="overflow">
                  <a:noAutofit/>
                </a:bodyPr>
                <a:lstStyle/>
                <a:p>
                  <a:pPr algn="l" fontAlgn="base">
                    <a:lnSpc>
                      <a:spcPts val="88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72" b="0" i="1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31" name="shared_vector_txt3_1" descr="Editable text; source id shared_vector_txt3_1"/>
                <p:cNvSpPr txBox="1"/>
                <p:nvPr/>
              </p:nvSpPr>
              <p:spPr>
                <a:xfrm>
                  <a:off x="3750694" y="1543192"/>
                  <a:ext cx="50844" cy="7853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8" rIns="0" bIns="0" lIns="1368" anchorCtr="0" vertOverflow="overflow">
                  <a:noAutofit/>
                </a:bodyPr>
                <a:lstStyle/>
                <a:p>
                  <a:pPr algn="l" fontAlgn="base">
                    <a:lnSpc>
                      <a:spcPts val="58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509" b="0" i="0" lang="zh-CN" dirty="0">
                      <a:solidFill>
                        <a:srgbClr val="087F86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</p:grpSp>
      <p:grpSp>
        <p:nvGrpSpPr>
          <p:cNvPr id="211" name="constraint_view" descr="constraint view"/>
          <p:cNvGrpSpPr/>
          <p:nvPr/>
        </p:nvGrpSpPr>
        <p:grpSpPr>
          <a:xfrm>
            <a:off x="4121429" y="281635"/>
            <a:ext cx="847420" cy="1533906"/>
            <a:chOff x="4121429" y="281635"/>
            <a:chExt cx="847420" cy="1533906"/>
          </a:xfrm>
        </p:grpSpPr>
        <p:sp>
          <p:nvSpPr>
            <p:cNvPr id="132" name="constraint_view_panel" descr="Editable shape; source id constraint_view_panel"/>
            <p:cNvSpPr/>
            <p:nvPr/>
          </p:nvSpPr>
          <p:spPr>
            <a:xfrm>
              <a:off x="4121429" y="281635"/>
              <a:ext cx="847420" cy="1533906"/>
            </a:xfrm>
            <a:prstGeom prst="roundRect">
              <a:avLst>
                <a:gd name="adj" fmla="val 2373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3" name="constraint_header" descr="Editable text; source id constraint_header"/>
            <p:cNvSpPr txBox="1"/>
            <p:nvPr/>
          </p:nvSpPr>
          <p:spPr>
            <a:xfrm>
              <a:off x="4153284" y="308195"/>
              <a:ext cx="789403" cy="147206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1024"/>
                </a:lnSpc>
                <a:spcBef>
                  <a:spcPts val="0"/>
                </a:spcBef>
                <a:spcAft>
                  <a:spcPts val="0"/>
                </a:spcAft>
                <a:defRPr sz="89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9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Constraint view</a:t>
              </a:r>
            </a:p>
          </p:txBody>
        </p:sp>
        <p:grpSp>
          <p:nvGrpSpPr>
            <p:cNvPr id="209" name="constraint_objective" descr="Editable formula parts and native mathematical delimiters."/>
            <p:cNvGrpSpPr/>
            <p:nvPr/>
          </p:nvGrpSpPr>
          <p:grpSpPr>
            <a:xfrm>
              <a:off x="4327826" y="466577"/>
              <a:ext cx="430461" cy="135370"/>
              <a:chOff x="4327826" y="466577"/>
              <a:chExt cx="430461" cy="135370"/>
            </a:xfrm>
          </p:grpSpPr>
          <p:sp>
            <p:nvSpPr>
              <p:cNvPr id="134" name="constraint_objective_0" descr="Editable text; source id constraint_objective_0"/>
              <p:cNvSpPr txBox="1"/>
              <p:nvPr/>
            </p:nvSpPr>
            <p:spPr>
              <a:xfrm>
                <a:off x="4327826" y="466577"/>
                <a:ext cx="177267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135" name="constraint_objective_1" descr="Editable text; source id constraint_objective_1"/>
              <p:cNvSpPr txBox="1"/>
              <p:nvPr/>
            </p:nvSpPr>
            <p:spPr>
              <a:xfrm>
                <a:off x="4500989" y="521500"/>
                <a:ext cx="37623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36" name="constraint_objective_2" descr="Editable text; source id constraint_objective_2"/>
              <p:cNvSpPr txBox="1"/>
              <p:nvPr/>
            </p:nvSpPr>
            <p:spPr>
              <a:xfrm>
                <a:off x="4562836" y="466577"/>
                <a:ext cx="52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37" name="constraint_objective_3" descr="Editable text; source id constraint_objective_3"/>
              <p:cNvSpPr txBox="1"/>
              <p:nvPr/>
            </p:nvSpPr>
            <p:spPr>
              <a:xfrm>
                <a:off x="4611404" y="521500"/>
                <a:ext cx="26208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38" name="constraint_objective_4" descr="Editable text; source id constraint_objective_4"/>
              <p:cNvSpPr txBox="1"/>
              <p:nvPr/>
            </p:nvSpPr>
            <p:spPr>
              <a:xfrm>
                <a:off x="4636525" y="466577"/>
                <a:ext cx="12176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210" name="constraint_budget" descr="Editable formula parts and native mathematical delimiters."/>
            <p:cNvGrpSpPr/>
            <p:nvPr/>
          </p:nvGrpSpPr>
          <p:grpSpPr>
            <a:xfrm>
              <a:off x="4285425" y="587278"/>
              <a:ext cx="515263" cy="135369"/>
              <a:chOff x="4285425" y="587278"/>
              <a:chExt cx="515263" cy="135369"/>
            </a:xfrm>
          </p:grpSpPr>
          <p:sp>
            <p:nvSpPr>
              <p:cNvPr id="139" name="constraint_budget_0" descr="Editable text; source id constraint_budget_0"/>
              <p:cNvSpPr txBox="1"/>
              <p:nvPr/>
            </p:nvSpPr>
            <p:spPr>
              <a:xfrm>
                <a:off x="4285425" y="587278"/>
                <a:ext cx="146634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s.t. </a:t>
                </a:r>
              </a:p>
            </p:txBody>
          </p:sp>
          <p:sp>
            <p:nvSpPr>
              <p:cNvPr id="140" name="constraint_budget_1" descr="Editable text; source id constraint_budget_1"/>
              <p:cNvSpPr txBox="1"/>
              <p:nvPr/>
            </p:nvSpPr>
            <p:spPr>
              <a:xfrm>
                <a:off x="4430973" y="587278"/>
                <a:ext cx="52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41" name="constraint_budget_2" descr="Editable text; source id constraint_budget_2"/>
              <p:cNvSpPr txBox="1"/>
              <p:nvPr/>
            </p:nvSpPr>
            <p:spPr>
              <a:xfrm>
                <a:off x="4479541" y="642200"/>
                <a:ext cx="33561" cy="80447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42" name="constraint_budget_3" descr="Editable text; source id constraint_budget_3"/>
              <p:cNvSpPr txBox="1"/>
              <p:nvPr/>
            </p:nvSpPr>
            <p:spPr>
              <a:xfrm>
                <a:off x="4512016" y="587278"/>
                <a:ext cx="288672" cy="119775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(π) ≤ B</a:t>
                </a:r>
              </a:p>
            </p:txBody>
          </p:sp>
        </p:grpSp>
        <p:cxnSp>
          <p:nvCxnSpPr>
            <p:cNvPr id="143" name="constraint_rule" descr="Editable line; source id constraint_rule"/>
            <p:cNvCxnSpPr/>
            <p:nvPr/>
          </p:nvCxnSpPr>
          <p:spPr>
            <a:xfrm>
              <a:off x="4184294" y="739292"/>
              <a:ext cx="719176" cy="0"/>
            </a:xfrm>
            <a:prstGeom prst="line">
              <a:avLst/>
            </a:prstGeom>
            <a:ln w="3771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limit_header" descr="Editable text; source id limit_header"/>
            <p:cNvSpPr txBox="1"/>
            <p:nvPr/>
          </p:nvSpPr>
          <p:spPr>
            <a:xfrm>
              <a:off x="4157565" y="771527"/>
              <a:ext cx="780842" cy="126435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5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Graph-price limits</a:t>
              </a:r>
            </a:p>
          </p:txBody>
        </p:sp>
        <p:sp>
          <p:nvSpPr>
            <p:cNvPr id="145" name="limit_qualifier" descr="Editable text; source id limit_qualifier"/>
            <p:cNvSpPr txBox="1"/>
            <p:nvPr/>
          </p:nvSpPr>
          <p:spPr>
            <a:xfrm>
              <a:off x="4190865" y="886737"/>
              <a:ext cx="714242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under assumptions</a:t>
              </a:r>
            </a:p>
          </p:txBody>
        </p:sp>
        <p:sp>
          <p:nvSpPr>
            <p:cNvPr id="146" name="epsilon_zero_0" descr="Editable text; source id epsilon_zero_0"/>
            <p:cNvSpPr txBox="1"/>
            <p:nvPr/>
          </p:nvSpPr>
          <p:spPr>
            <a:xfrm>
              <a:off x="4411466" y="1043807"/>
              <a:ext cx="262956" cy="12845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5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ε → 0</a:t>
              </a:r>
            </a:p>
          </p:txBody>
        </p:sp>
        <p:sp>
          <p:nvSpPr>
            <p:cNvPr id="147" name="lp_price" descr="Editable text; source id lp_price"/>
            <p:cNvSpPr txBox="1"/>
            <p:nvPr/>
          </p:nvSpPr>
          <p:spPr>
            <a:xfrm>
              <a:off x="4224426" y="1173401"/>
              <a:ext cx="647119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LP-derived price</a:t>
              </a:r>
            </a:p>
          </p:txBody>
        </p:sp>
        <p:cxnSp>
          <p:nvCxnSpPr>
            <p:cNvPr id="148" name="right_split" descr="Editable line; source id right_split"/>
            <p:cNvCxnSpPr/>
            <p:nvPr/>
          </p:nvCxnSpPr>
          <p:spPr>
            <a:xfrm>
              <a:off x="4249674" y="1352854"/>
              <a:ext cx="590931" cy="0"/>
            </a:xfrm>
            <a:prstGeom prst="line">
              <a:avLst/>
            </a:prstGeom>
            <a:ln w="3268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epsilon_infty_0" descr="Editable text; source id epsilon_infty_0"/>
            <p:cNvSpPr txBox="1"/>
            <p:nvPr/>
          </p:nvSpPr>
          <p:spPr>
            <a:xfrm>
              <a:off x="4399954" y="1418483"/>
              <a:ext cx="285979" cy="128451"/>
            </a:xfrm>
            <a:prstGeom prst="rect">
              <a:avLst/>
            </a:prstGeom>
            <a:noFill/>
            <a:effectLst/>
          </p:spPr>
          <p:txBody>
            <a:bodyPr wrap="none" anchor="t" tIns="1368" rIns="0" bIns="0" lIns="1368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51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ε → ∞</a:t>
              </a:r>
            </a:p>
          </p:txBody>
        </p:sp>
        <p:sp>
          <p:nvSpPr>
            <p:cNvPr id="150" name="active_price" descr="Editable text; source id active_price"/>
            <p:cNvSpPr txBox="1"/>
            <p:nvPr/>
          </p:nvSpPr>
          <p:spPr>
            <a:xfrm>
              <a:off x="4211675" y="1545562"/>
              <a:ext cx="672622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clipped active-set</a:t>
              </a:r>
            </a:p>
          </p:txBody>
        </p:sp>
        <p:sp>
          <p:nvSpPr>
            <p:cNvPr id="151" name="active_price_suffix" descr="Editable text; source id active_price_suffix"/>
            <p:cNvSpPr txBox="1"/>
            <p:nvPr/>
          </p:nvSpPr>
          <p:spPr>
            <a:xfrm>
              <a:off x="4445377" y="1646146"/>
              <a:ext cx="205217" cy="123468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price</a:t>
              </a:r>
            </a:p>
          </p:txBody>
        </p:sp>
      </p:grpSp>
      <p:sp>
        <p:nvSpPr>
          <p:cNvPr id="152" name="joint_to_graph" descr="Editable line; source id joint_to_graph"/>
          <p:cNvSpPr/>
          <p:nvPr/>
        </p:nvSpPr>
        <p:spPr>
          <a:xfrm>
            <a:off x="1637005" y="878854"/>
            <a:ext cx="160934" cy="22631"/>
          </a:xfrm>
          <a:custGeom>
            <a:avLst/>
            <a:gdLst/>
            <a:ahLst/>
            <a:cxnLst/>
            <a:rect l="l" t="t" r="r" b="b"/>
            <a:pathLst>
              <a:path w="58816" h="8271">
                <a:moveTo>
                  <a:pt x="0" y="2986"/>
                </a:moveTo>
                <a:lnTo>
                  <a:pt x="47788" y="2986"/>
                </a:lnTo>
                <a:lnTo>
                  <a:pt x="47788" y="0"/>
                </a:lnTo>
                <a:lnTo>
                  <a:pt x="58816" y="4135"/>
                </a:lnTo>
                <a:lnTo>
                  <a:pt x="47788" y="8271"/>
                </a:lnTo>
                <a:lnTo>
                  <a:pt x="47788" y="5284"/>
                </a:lnTo>
                <a:lnTo>
                  <a:pt x="0" y="5284"/>
                </a:lnTo>
                <a:close/>
              </a:path>
            </a:pathLst>
          </a:custGeom>
          <a:solidFill>
            <a:srgbClr val="08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graph_to_price" descr="Editable line; source id graph_to_price"/>
          <p:cNvSpPr/>
          <p:nvPr/>
        </p:nvSpPr>
        <p:spPr>
          <a:xfrm>
            <a:off x="2771089" y="878854"/>
            <a:ext cx="206197" cy="22631"/>
          </a:xfrm>
          <a:custGeom>
            <a:avLst/>
            <a:gdLst/>
            <a:ahLst/>
            <a:cxnLst/>
            <a:rect l="l" t="t" r="r" b="b"/>
            <a:pathLst>
              <a:path w="75358" h="8271">
                <a:moveTo>
                  <a:pt x="0" y="2986"/>
                </a:moveTo>
                <a:lnTo>
                  <a:pt x="64330" y="2986"/>
                </a:lnTo>
                <a:lnTo>
                  <a:pt x="64330" y="0"/>
                </a:lnTo>
                <a:lnTo>
                  <a:pt x="75358" y="4135"/>
                </a:lnTo>
                <a:lnTo>
                  <a:pt x="64330" y="8271"/>
                </a:lnTo>
                <a:lnTo>
                  <a:pt x="64330" y="5284"/>
                </a:lnTo>
                <a:lnTo>
                  <a:pt x="0" y="5284"/>
                </a:lnTo>
                <a:close/>
              </a:path>
            </a:pathLst>
          </a:custGeom>
          <a:solidFill>
            <a:srgbClr val="08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12" name="one_price_to_update" descr="One editable routed connector; fixed endpoints."/>
          <p:cNvGrpSpPr/>
          <p:nvPr/>
        </p:nvGrpSpPr>
        <p:grpSpPr>
          <a:xfrm>
            <a:off x="2578724" y="1823085"/>
            <a:ext cx="873821" cy="168478"/>
            <a:chOff x="2578724" y="1823085"/>
            <a:chExt cx="873821" cy="168478"/>
          </a:xfrm>
        </p:grpSpPr>
        <p:cxnSp>
          <p:nvCxnSpPr>
            <p:cNvPr id="154" name="one_price_to_update_0" descr="Editable line; source id one_price_to_update_0"/>
            <p:cNvCxnSpPr/>
            <p:nvPr/>
          </p:nvCxnSpPr>
          <p:spPr>
            <a:xfrm>
              <a:off x="3452545" y="1823085"/>
              <a:ext cx="0" cy="82981"/>
            </a:xfrm>
            <a:prstGeom prst="line">
              <a:avLst/>
            </a:prstGeom>
            <a:ln w="6035" cap="rnd">
              <a:solidFill>
                <a:srgbClr val="087F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one_price_to_update_1" descr="Editable line; source id one_price_to_update_1"/>
            <p:cNvCxnSpPr/>
            <p:nvPr/>
          </p:nvCxnSpPr>
          <p:spPr>
            <a:xfrm flipH="1">
              <a:off x="2590038" y="1906066"/>
              <a:ext cx="862507" cy="0"/>
            </a:xfrm>
            <a:prstGeom prst="line">
              <a:avLst/>
            </a:prstGeom>
            <a:ln w="6035" cap="rnd">
              <a:solidFill>
                <a:srgbClr val="087F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one_price_to_update_2" descr="Editable line; source id one_price_to_update_2"/>
            <p:cNvSpPr/>
            <p:nvPr/>
          </p:nvSpPr>
          <p:spPr>
            <a:xfrm>
              <a:off x="2578724" y="1906067"/>
              <a:ext cx="22631" cy="85496"/>
            </a:xfrm>
            <a:custGeom>
              <a:avLst/>
              <a:gdLst/>
              <a:ahLst/>
              <a:cxnLst/>
              <a:rect l="l" t="t" r="r" b="b"/>
              <a:pathLst>
                <a:path w="8271" h="31246">
                  <a:moveTo>
                    <a:pt x="5238" y="0"/>
                  </a:moveTo>
                  <a:lnTo>
                    <a:pt x="5238" y="20218"/>
                  </a:lnTo>
                  <a:lnTo>
                    <a:pt x="8271" y="20218"/>
                  </a:lnTo>
                  <a:lnTo>
                    <a:pt x="4135" y="31246"/>
                  </a:lnTo>
                  <a:lnTo>
                    <a:pt x="0" y="20218"/>
                  </a:lnTo>
                  <a:lnTo>
                    <a:pt x="3032" y="20218"/>
                  </a:lnTo>
                  <a:lnTo>
                    <a:pt x="3032" y="0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4" name="common_policy" descr="common policy"/>
          <p:cNvGrpSpPr/>
          <p:nvPr/>
        </p:nvGrpSpPr>
        <p:grpSpPr>
          <a:xfrm>
            <a:off x="60350" y="1999106"/>
            <a:ext cx="4908499" cy="292818"/>
            <a:chOff x="60350" y="1999106"/>
            <a:chExt cx="4908499" cy="292818"/>
          </a:xfrm>
        </p:grpSpPr>
        <p:sp>
          <p:nvSpPr>
            <p:cNvPr id="157" name="common_policy_panel" descr="Editable shape; source id common_policy_panel"/>
            <p:cNvSpPr/>
            <p:nvPr/>
          </p:nvSpPr>
          <p:spPr>
            <a:xfrm>
              <a:off x="60350" y="1999106"/>
              <a:ext cx="4908499" cy="292818"/>
            </a:xfrm>
            <a:prstGeom prst="roundRect">
              <a:avLst>
                <a:gd name="adj" fmla="val 6870"/>
              </a:avLst>
            </a:prstGeom>
            <a:solidFill>
              <a:srgbClr val="EEF6F5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8" name="common_update_label" descr="Editable text; source id common_update_label"/>
            <p:cNvSpPr txBox="1"/>
            <p:nvPr/>
          </p:nvSpPr>
          <p:spPr>
            <a:xfrm>
              <a:off x="124458" y="2042807"/>
              <a:ext cx="1107117" cy="144239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1001"/>
                </a:lnSpc>
                <a:spcBef>
                  <a:spcPts val="0"/>
                </a:spcBef>
                <a:spcAft>
                  <a:spcPts val="0"/>
                </a:spcAft>
                <a:defRPr sz="87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7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One policy-update rule</a:t>
              </a:r>
            </a:p>
          </p:txBody>
        </p:sp>
        <p:cxnSp>
          <p:nvCxnSpPr>
            <p:cNvPr id="159" name="update_separator" descr="Editable line; source id update_separator"/>
            <p:cNvCxnSpPr/>
            <p:nvPr/>
          </p:nvCxnSpPr>
          <p:spPr>
            <a:xfrm>
              <a:off x="1345311" y="2049399"/>
              <a:ext cx="0" cy="199777"/>
            </a:xfrm>
            <a:prstGeom prst="line">
              <a:avLst/>
            </a:prstGeom>
            <a:ln w="4023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3" name="common_advantage" descr="Editable formula parts and native mathematical delimiters."/>
            <p:cNvGrpSpPr/>
            <p:nvPr/>
          </p:nvGrpSpPr>
          <p:grpSpPr>
            <a:xfrm>
              <a:off x="1999956" y="2056729"/>
              <a:ext cx="1388461" cy="155328"/>
              <a:chOff x="1999956" y="2056729"/>
              <a:chExt cx="1388461" cy="155328"/>
            </a:xfrm>
          </p:grpSpPr>
          <p:sp>
            <p:nvSpPr>
              <p:cNvPr id="160" name="common_advantage_0" descr="Editable text; source id common_advantage_0"/>
              <p:cNvSpPr txBox="1"/>
              <p:nvPr/>
            </p:nvSpPr>
            <p:spPr>
              <a:xfrm>
                <a:off x="1999956" y="2056729"/>
                <a:ext cx="81402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752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Ã</a:t>
                </a:r>
              </a:p>
            </p:txBody>
          </p:sp>
          <p:sp>
            <p:nvSpPr>
              <p:cNvPr id="161" name="common_advantage_1" descr="Editable text; source id common_advantage_1"/>
              <p:cNvSpPr txBox="1"/>
              <p:nvPr/>
            </p:nvSpPr>
            <p:spPr>
              <a:xfrm>
                <a:off x="2080423" y="2056729"/>
                <a:ext cx="151861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= (</a:t>
                </a:r>
              </a:p>
            </p:txBody>
          </p:sp>
          <p:sp>
            <p:nvSpPr>
              <p:cNvPr id="162" name="common_advantage_2" descr="Editable text; source id common_advantage_2"/>
              <p:cNvSpPr txBox="1"/>
              <p:nvPr/>
            </p:nvSpPr>
            <p:spPr>
              <a:xfrm>
                <a:off x="2225192" y="2056729"/>
                <a:ext cx="81402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752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163" name="common_advantage_3" descr="Editable text; source id common_advantage_3"/>
              <p:cNvSpPr txBox="1"/>
              <p:nvPr/>
            </p:nvSpPr>
            <p:spPr>
              <a:xfrm>
                <a:off x="2302491" y="2114227"/>
                <a:ext cx="27362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64" name="common_advantage_4" descr="Editable text; source id common_advantage_4"/>
              <p:cNvSpPr txBox="1"/>
              <p:nvPr/>
            </p:nvSpPr>
            <p:spPr>
              <a:xfrm>
                <a:off x="2328917" y="2056729"/>
                <a:ext cx="116471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165" name="common_advantage_5" descr="Editable text; source id common_advantage_5"/>
              <p:cNvSpPr txBox="1"/>
              <p:nvPr/>
            </p:nvSpPr>
            <p:spPr>
              <a:xfrm>
                <a:off x="2444453" y="2056729"/>
                <a:ext cx="79393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166" name="common_advantage_6" descr="Editable text; source id common_advantage_6"/>
              <p:cNvSpPr txBox="1"/>
              <p:nvPr/>
            </p:nvSpPr>
            <p:spPr>
              <a:xfrm>
                <a:off x="2519742" y="2114227"/>
                <a:ext cx="38991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67" name="common_advantage_7" descr="Editable text; source id common_advantage_7"/>
              <p:cNvSpPr txBox="1"/>
              <p:nvPr/>
            </p:nvSpPr>
            <p:spPr>
              <a:xfrm>
                <a:off x="2581739" y="2056729"/>
                <a:ext cx="55408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68" name="common_advantage_8" descr="Editable text; source id common_advantage_8"/>
              <p:cNvSpPr txBox="1"/>
              <p:nvPr/>
            </p:nvSpPr>
            <p:spPr>
              <a:xfrm>
                <a:off x="2633044" y="2114227"/>
                <a:ext cx="38991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69" name="common_advantage_9" descr="Editable text; source id common_advantage_9"/>
              <p:cNvSpPr txBox="1"/>
              <p:nvPr/>
            </p:nvSpPr>
            <p:spPr>
              <a:xfrm>
                <a:off x="2664943" y="2056729"/>
                <a:ext cx="81402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752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170" name="common_advantage_10" descr="Editable text; source id common_advantage_10"/>
              <p:cNvSpPr txBox="1"/>
              <p:nvPr/>
            </p:nvSpPr>
            <p:spPr>
              <a:xfrm>
                <a:off x="2742241" y="2114227"/>
                <a:ext cx="35036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71" name="common_advantage_11" descr="Editable text; source id common_advantage_11"/>
              <p:cNvSpPr txBox="1"/>
              <p:nvPr/>
            </p:nvSpPr>
            <p:spPr>
              <a:xfrm>
                <a:off x="2773174" y="2149655"/>
                <a:ext cx="29446" cy="62402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459"/>
                  </a:lnSpc>
                  <a:spcBef>
                    <a:spcPts val="0"/>
                  </a:spcBef>
                  <a:spcAft>
                    <a:spcPts val="0"/>
                  </a:spcAft>
                  <a:defRPr sz="39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39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2" name="common_advantage_12" descr="Editable text; source id common_advantage_12"/>
              <p:cNvSpPr txBox="1"/>
              <p:nvPr/>
            </p:nvSpPr>
            <p:spPr>
              <a:xfrm>
                <a:off x="2801684" y="2056729"/>
                <a:ext cx="321753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) / (1 + </a:t>
                </a:r>
              </a:p>
            </p:txBody>
          </p:sp>
          <p:sp>
            <p:nvSpPr>
              <p:cNvPr id="173" name="common_advantage_13" descr="Editable text; source id common_advantage_13"/>
              <p:cNvSpPr txBox="1"/>
              <p:nvPr/>
            </p:nvSpPr>
            <p:spPr>
              <a:xfrm>
                <a:off x="3122502" y="2056729"/>
                <a:ext cx="79393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174" name="common_advantage_14" descr="Editable text; source id common_advantage_14"/>
              <p:cNvSpPr txBox="1"/>
              <p:nvPr/>
            </p:nvSpPr>
            <p:spPr>
              <a:xfrm>
                <a:off x="3197791" y="2114227"/>
                <a:ext cx="38991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5" name="common_advantage_15" descr="Editable text; source id common_advantage_15"/>
              <p:cNvSpPr txBox="1"/>
              <p:nvPr/>
            </p:nvSpPr>
            <p:spPr>
              <a:xfrm>
                <a:off x="3259788" y="2056729"/>
                <a:ext cx="55408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4104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76" name="common_advantage_16" descr="Editable text; source id common_advantage_16"/>
              <p:cNvSpPr txBox="1"/>
              <p:nvPr/>
            </p:nvSpPr>
            <p:spPr>
              <a:xfrm>
                <a:off x="3311093" y="2114227"/>
                <a:ext cx="38991" cy="842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7" name="common_advantage_17" descr="Editable text; source id common_advantage_17"/>
              <p:cNvSpPr txBox="1"/>
              <p:nvPr/>
            </p:nvSpPr>
            <p:spPr>
              <a:xfrm>
                <a:off x="3349148" y="2056729"/>
                <a:ext cx="39269" cy="125559"/>
              </a:xfrm>
              <a:prstGeom prst="rect">
                <a:avLst/>
              </a:prstGeom>
              <a:noFill/>
              <a:effectLst/>
            </p:spPr>
            <p:txBody>
              <a:bodyPr wrap="none" anchor="t" tIns="1368" rIns="0" bIns="0" lIns="136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)</a:t>
                </a:r>
              </a:p>
            </p:txBody>
          </p:sp>
        </p:grpSp>
        <p:sp>
          <p:nvSpPr>
            <p:cNvPr id="178" name="update_to_algorithm" descr="Editable line; source id update_to_algorithm"/>
            <p:cNvSpPr/>
            <p:nvPr/>
          </p:nvSpPr>
          <p:spPr>
            <a:xfrm>
              <a:off x="3885057" y="2116037"/>
              <a:ext cx="138303" cy="22631"/>
            </a:xfrm>
            <a:custGeom>
              <a:avLst/>
              <a:gdLst/>
              <a:ahLst/>
              <a:cxnLst/>
              <a:rect l="l" t="t" r="r" b="b"/>
              <a:pathLst>
                <a:path w="50545" h="8271">
                  <a:moveTo>
                    <a:pt x="0" y="3124"/>
                  </a:moveTo>
                  <a:lnTo>
                    <a:pt x="39517" y="3124"/>
                  </a:lnTo>
                  <a:lnTo>
                    <a:pt x="39517" y="0"/>
                  </a:lnTo>
                  <a:lnTo>
                    <a:pt x="50545" y="4135"/>
                  </a:lnTo>
                  <a:lnTo>
                    <a:pt x="39517" y="8271"/>
                  </a:lnTo>
                  <a:lnTo>
                    <a:pt x="39517" y="5146"/>
                  </a:lnTo>
                  <a:lnTo>
                    <a:pt x="0" y="5146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common_optimizer" descr="Editable text; source id common_optimizer"/>
            <p:cNvSpPr txBox="1"/>
            <p:nvPr/>
          </p:nvSpPr>
          <p:spPr>
            <a:xfrm>
              <a:off x="4203226" y="2055139"/>
              <a:ext cx="604023" cy="138304"/>
            </a:xfrm>
            <a:prstGeom prst="rect">
              <a:avLst/>
            </a:prstGeom>
            <a:noFill/>
            <a:effectLst/>
          </p:spPr>
          <p:txBody>
            <a:bodyPr wrap="none" anchor="t" tIns="5472" rIns="0" bIns="0" lIns="5472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PPO / TRPO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aph_band" descr="Editable shape; source id graph_band"/>
          <p:cNvSpPr/>
          <p:nvPr/>
        </p:nvSpPr>
        <p:spPr>
          <a:xfrm>
            <a:off x="45262" y="45262"/>
            <a:ext cx="4938674" cy="1330223"/>
          </a:xfrm>
          <a:prstGeom prst="roundRect">
            <a:avLst>
              <a:gd name="adj" fmla="val 1512"/>
            </a:avLst>
          </a:prstGeom>
          <a:solidFill>
            <a:srgbClr val="EEF6F5"/>
          </a:solidFill>
          <a:ln w="3771">
            <a:solidFill>
              <a:srgbClr val="C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olicy_band" descr="Editable shape; source id policy_band"/>
          <p:cNvSpPr/>
          <p:nvPr/>
        </p:nvSpPr>
        <p:spPr>
          <a:xfrm>
            <a:off x="45262" y="1455953"/>
            <a:ext cx="4938674" cy="951778"/>
          </a:xfrm>
          <a:prstGeom prst="roundRect">
            <a:avLst>
              <a:gd name="adj" fmla="val 2113"/>
            </a:avLst>
          </a:prstGeom>
          <a:solidFill>
            <a:srgbClr val="F5F7F8"/>
          </a:solidFill>
          <a:ln w="3771">
            <a:solidFill>
              <a:srgbClr val="CADA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graph_band_title" descr="Editable text; source id graph_band_title"/>
          <p:cNvSpPr txBox="1"/>
          <p:nvPr/>
        </p:nvSpPr>
        <p:spPr>
          <a:xfrm>
            <a:off x="125158" y="76742"/>
            <a:ext cx="1513115" cy="144559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1001"/>
              </a:lnSpc>
              <a:spcBef>
                <a:spcPts val="0"/>
              </a:spcBef>
              <a:spcAft>
                <a:spcPts val="0"/>
              </a:spcAft>
              <a:defRPr sz="871" b="1" i="0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1" b="1" i="0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rPr>
              <a:t>Graph-space price construction</a:t>
            </a:r>
          </a:p>
        </p:txBody>
      </p:sp>
      <p:sp>
        <p:nvSpPr>
          <p:cNvPr id="5" name="policy_band_title" descr="Editable text; source id policy_band_title"/>
          <p:cNvSpPr txBox="1"/>
          <p:nvPr/>
        </p:nvSpPr>
        <p:spPr>
          <a:xfrm>
            <a:off x="125158" y="1477375"/>
            <a:ext cx="1024476" cy="144559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1001"/>
              </a:lnSpc>
              <a:spcBef>
                <a:spcPts val="0"/>
              </a:spcBef>
              <a:spcAft>
                <a:spcPts val="0"/>
              </a:spcAft>
              <a:defRPr sz="871" b="1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71" b="1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Policy-space learning</a:t>
            </a:r>
          </a:p>
        </p:txBody>
      </p:sp>
      <p:grpSp>
        <p:nvGrpSpPr>
          <p:cNvPr id="184" name="empirical_graph" descr="empirical graph"/>
          <p:cNvGrpSpPr/>
          <p:nvPr/>
        </p:nvGrpSpPr>
        <p:grpSpPr>
          <a:xfrm>
            <a:off x="113157" y="296722"/>
            <a:ext cx="930401" cy="905256"/>
            <a:chOff x="113157" y="296722"/>
            <a:chExt cx="930401" cy="905256"/>
          </a:xfrm>
        </p:grpSpPr>
        <p:sp>
          <p:nvSpPr>
            <p:cNvPr id="6" name="empirical_graph_panel" descr="Editable shape; source id empirical_graph_panel"/>
            <p:cNvSpPr/>
            <p:nvPr/>
          </p:nvSpPr>
          <p:spPr>
            <a:xfrm>
              <a:off x="113157" y="296722"/>
              <a:ext cx="930401" cy="905256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empirical_heading" descr="Editable text; source id empirical_heading"/>
            <p:cNvSpPr txBox="1"/>
            <p:nvPr/>
          </p:nvSpPr>
          <p:spPr>
            <a:xfrm>
              <a:off x="198577" y="324859"/>
              <a:ext cx="767961" cy="138624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Empirical graph</a:t>
              </a:r>
            </a:p>
          </p:txBody>
        </p:sp>
        <p:grpSp>
          <p:nvGrpSpPr>
            <p:cNvPr id="182" name="rollout_graph" descr="rollout graph"/>
            <p:cNvGrpSpPr/>
            <p:nvPr/>
          </p:nvGrpSpPr>
          <p:grpSpPr>
            <a:xfrm>
              <a:off x="173507" y="538124"/>
              <a:ext cx="809701" cy="414909"/>
              <a:chOff x="173507" y="538124"/>
              <a:chExt cx="809701" cy="414909"/>
            </a:xfrm>
          </p:grpSpPr>
          <p:sp>
            <p:nvSpPr>
              <p:cNvPr id="8" name="rollout_graph_edge0" descr="Editable line; source id rollout_graph_edge0"/>
              <p:cNvSpPr/>
              <p:nvPr/>
            </p:nvSpPr>
            <p:spPr>
              <a:xfrm>
                <a:off x="251460" y="613985"/>
                <a:ext cx="115235" cy="101511"/>
              </a:xfrm>
              <a:custGeom>
                <a:avLst/>
                <a:gdLst/>
                <a:ahLst/>
                <a:cxnLst/>
                <a:rect l="l" t="t" r="r" b="b"/>
                <a:pathLst>
                  <a:path w="41152" h="36251">
                    <a:moveTo>
                      <a:pt x="0" y="34088"/>
                    </a:moveTo>
                    <a:lnTo>
                      <a:pt x="32095" y="6013"/>
                    </a:lnTo>
                    <a:lnTo>
                      <a:pt x="30381" y="4053"/>
                    </a:lnTo>
                    <a:lnTo>
                      <a:pt x="41152" y="0"/>
                    </a:lnTo>
                    <a:lnTo>
                      <a:pt x="35702" y="10136"/>
                    </a:lnTo>
                    <a:lnTo>
                      <a:pt x="33987" y="8176"/>
                    </a:lnTo>
                    <a:lnTo>
                      <a:pt x="1892" y="36251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rollout_graph_edge1" descr="Editable line; source id rollout_graph_edge1"/>
              <p:cNvSpPr/>
              <p:nvPr/>
            </p:nvSpPr>
            <p:spPr>
              <a:xfrm>
                <a:off x="454840" y="569557"/>
                <a:ext cx="232550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83047" h="8082">
                    <a:moveTo>
                      <a:pt x="0" y="2604"/>
                    </a:moveTo>
                    <a:lnTo>
                      <a:pt x="72271" y="2604"/>
                    </a:lnTo>
                    <a:lnTo>
                      <a:pt x="72271" y="0"/>
                    </a:lnTo>
                    <a:lnTo>
                      <a:pt x="83047" y="4041"/>
                    </a:lnTo>
                    <a:lnTo>
                      <a:pt x="72271" y="8082"/>
                    </a:lnTo>
                    <a:lnTo>
                      <a:pt x="72271" y="5478"/>
                    </a:lnTo>
                    <a:lnTo>
                      <a:pt x="0" y="5478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rollout_graph_edge2" descr="Editable line; source id rollout_graph_edge2"/>
              <p:cNvSpPr/>
              <p:nvPr/>
            </p:nvSpPr>
            <p:spPr>
              <a:xfrm>
                <a:off x="774183" y="609457"/>
                <a:ext cx="127239" cy="104415"/>
              </a:xfrm>
              <a:custGeom>
                <a:avLst/>
                <a:gdLst/>
                <a:ahLst/>
                <a:cxnLst/>
                <a:rect l="l" t="t" r="r" b="b"/>
                <a:pathLst>
                  <a:path w="45439" h="37288">
                    <a:moveTo>
                      <a:pt x="1812" y="0"/>
                    </a:moveTo>
                    <a:lnTo>
                      <a:pt x="37981" y="29378"/>
                    </a:lnTo>
                    <a:lnTo>
                      <a:pt x="39623" y="27357"/>
                    </a:lnTo>
                    <a:lnTo>
                      <a:pt x="45439" y="37288"/>
                    </a:lnTo>
                    <a:lnTo>
                      <a:pt x="34527" y="33630"/>
                    </a:lnTo>
                    <a:lnTo>
                      <a:pt x="36169" y="31609"/>
                    </a:lnTo>
                    <a:lnTo>
                      <a:pt x="0" y="2231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rollout_graph_edge3" descr="Editable line; source id rollout_graph_edge3"/>
              <p:cNvSpPr/>
              <p:nvPr/>
            </p:nvSpPr>
            <p:spPr>
              <a:xfrm>
                <a:off x="252205" y="776513"/>
                <a:ext cx="114490" cy="100660"/>
              </a:xfrm>
              <a:custGeom>
                <a:avLst/>
                <a:gdLst/>
                <a:ahLst/>
                <a:cxnLst/>
                <a:rect l="l" t="t" r="r" b="b"/>
                <a:pathLst>
                  <a:path w="40886" h="35947">
                    <a:moveTo>
                      <a:pt x="1360" y="0"/>
                    </a:moveTo>
                    <a:lnTo>
                      <a:pt x="33455" y="28075"/>
                    </a:lnTo>
                    <a:lnTo>
                      <a:pt x="35436" y="25811"/>
                    </a:lnTo>
                    <a:lnTo>
                      <a:pt x="40886" y="35947"/>
                    </a:lnTo>
                    <a:lnTo>
                      <a:pt x="30115" y="31894"/>
                    </a:lnTo>
                    <a:lnTo>
                      <a:pt x="32095" y="29630"/>
                    </a:lnTo>
                    <a:lnTo>
                      <a:pt x="0" y="1555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rollout_graph_edge4" descr="Editable line; source id rollout_graph_edge4"/>
              <p:cNvSpPr/>
              <p:nvPr/>
            </p:nvSpPr>
            <p:spPr>
              <a:xfrm>
                <a:off x="454840" y="898969"/>
                <a:ext cx="232550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83047" h="8082">
                    <a:moveTo>
                      <a:pt x="0" y="3008"/>
                    </a:moveTo>
                    <a:lnTo>
                      <a:pt x="72271" y="3008"/>
                    </a:lnTo>
                    <a:lnTo>
                      <a:pt x="72271" y="0"/>
                    </a:lnTo>
                    <a:lnTo>
                      <a:pt x="83047" y="4041"/>
                    </a:lnTo>
                    <a:lnTo>
                      <a:pt x="72271" y="8082"/>
                    </a:lnTo>
                    <a:lnTo>
                      <a:pt x="72271" y="5074"/>
                    </a:lnTo>
                    <a:lnTo>
                      <a:pt x="0" y="5074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rollout_graph_edge5" descr="Editable line; source id rollout_graph_edge5"/>
              <p:cNvSpPr/>
              <p:nvPr/>
            </p:nvSpPr>
            <p:spPr>
              <a:xfrm>
                <a:off x="774897" y="777286"/>
                <a:ext cx="126525" cy="103535"/>
              </a:xfrm>
              <a:custGeom>
                <a:avLst/>
                <a:gdLst/>
                <a:ahLst/>
                <a:cxnLst/>
                <a:rect l="l" t="t" r="r" b="b"/>
                <a:pathLst>
                  <a:path w="45184" h="36974">
                    <a:moveTo>
                      <a:pt x="0" y="35371"/>
                    </a:moveTo>
                    <a:lnTo>
                      <a:pt x="36169" y="5993"/>
                    </a:lnTo>
                    <a:lnTo>
                      <a:pt x="34272" y="3658"/>
                    </a:lnTo>
                    <a:lnTo>
                      <a:pt x="45184" y="0"/>
                    </a:lnTo>
                    <a:lnTo>
                      <a:pt x="39368" y="9931"/>
                    </a:lnTo>
                    <a:lnTo>
                      <a:pt x="37471" y="7596"/>
                    </a:lnTo>
                    <a:lnTo>
                      <a:pt x="1302" y="36974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rollout_graph_edge6" descr="Editable line; source id rollout_graph_edge6"/>
              <p:cNvSpPr/>
              <p:nvPr/>
            </p:nvSpPr>
            <p:spPr>
              <a:xfrm>
                <a:off x="393232" y="631165"/>
                <a:ext cx="22631" cy="228829"/>
              </a:xfrm>
              <a:custGeom>
                <a:avLst/>
                <a:gdLst/>
                <a:ahLst/>
                <a:cxnLst/>
                <a:rect l="l" t="t" r="r" b="b"/>
                <a:pathLst>
                  <a:path w="8082" h="81718">
                    <a:moveTo>
                      <a:pt x="5074" y="0"/>
                    </a:moveTo>
                    <a:lnTo>
                      <a:pt x="5074" y="70942"/>
                    </a:lnTo>
                    <a:lnTo>
                      <a:pt x="8082" y="70942"/>
                    </a:lnTo>
                    <a:lnTo>
                      <a:pt x="4041" y="81718"/>
                    </a:lnTo>
                    <a:lnTo>
                      <a:pt x="0" y="70942"/>
                    </a:lnTo>
                    <a:lnTo>
                      <a:pt x="3009" y="70942"/>
                    </a:lnTo>
                    <a:lnTo>
                      <a:pt x="3009" y="0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rollout_graph_edge7" descr="Editable line; source id rollout_graph_edge7"/>
              <p:cNvSpPr/>
              <p:nvPr/>
            </p:nvSpPr>
            <p:spPr>
              <a:xfrm>
                <a:off x="726367" y="631165"/>
                <a:ext cx="22631" cy="228829"/>
              </a:xfrm>
              <a:custGeom>
                <a:avLst/>
                <a:gdLst/>
                <a:ahLst/>
                <a:cxnLst/>
                <a:rect l="l" t="t" r="r" b="b"/>
                <a:pathLst>
                  <a:path w="8082" h="81718">
                    <a:moveTo>
                      <a:pt x="5074" y="0"/>
                    </a:moveTo>
                    <a:lnTo>
                      <a:pt x="5074" y="70942"/>
                    </a:lnTo>
                    <a:lnTo>
                      <a:pt x="8082" y="70942"/>
                    </a:lnTo>
                    <a:lnTo>
                      <a:pt x="4041" y="81718"/>
                    </a:lnTo>
                    <a:lnTo>
                      <a:pt x="0" y="70942"/>
                    </a:lnTo>
                    <a:lnTo>
                      <a:pt x="3009" y="70942"/>
                    </a:lnTo>
                    <a:lnTo>
                      <a:pt x="3009" y="0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rollout_graph_node1" descr="Editable shape; source id rollout_graph_node1"/>
              <p:cNvSpPr/>
              <p:nvPr/>
            </p:nvSpPr>
            <p:spPr>
              <a:xfrm>
                <a:off x="173507" y="702830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rollout_graph_node2" descr="Editable shape; source id rollout_graph_node2"/>
              <p:cNvSpPr/>
              <p:nvPr/>
            </p:nvSpPr>
            <p:spPr>
              <a:xfrm>
                <a:off x="361800" y="538124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rollout_graph_node3" descr="Editable shape; source id rollout_graph_node3"/>
              <p:cNvSpPr/>
              <p:nvPr/>
            </p:nvSpPr>
            <p:spPr>
              <a:xfrm>
                <a:off x="694934" y="538124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" name="rollout_graph_node4" descr="Editable shape; source id rollout_graph_node4"/>
              <p:cNvSpPr/>
              <p:nvPr/>
            </p:nvSpPr>
            <p:spPr>
              <a:xfrm>
                <a:off x="897712" y="702830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rollout_graph_node5" descr="Editable shape; source id rollout_graph_node5"/>
              <p:cNvSpPr/>
              <p:nvPr/>
            </p:nvSpPr>
            <p:spPr>
              <a:xfrm>
                <a:off x="361800" y="867537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rollout_graph_node6" descr="Editable shape; source id rollout_graph_node6"/>
              <p:cNvSpPr/>
              <p:nvPr/>
            </p:nvSpPr>
            <p:spPr>
              <a:xfrm>
                <a:off x="694934" y="867537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70828C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83" name="empirical_values" descr="Editable formula parts and native mathematical delimiters."/>
            <p:cNvGrpSpPr/>
            <p:nvPr/>
          </p:nvGrpSpPr>
          <p:grpSpPr>
            <a:xfrm>
              <a:off x="413552" y="982441"/>
              <a:ext cx="327218" cy="138698"/>
              <a:chOff x="413552" y="982441"/>
              <a:chExt cx="327218" cy="138698"/>
            </a:xfrm>
          </p:grpSpPr>
          <p:sp>
            <p:nvSpPr>
              <p:cNvPr id="22" name="empirical_values_0" descr="Editable text; source id empirical_values_0"/>
              <p:cNvSpPr txBox="1"/>
              <p:nvPr/>
            </p:nvSpPr>
            <p:spPr>
              <a:xfrm>
                <a:off x="413552" y="982441"/>
                <a:ext cx="219817" cy="122763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2100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F̂, A, </a:t>
                </a:r>
              </a:p>
            </p:txBody>
          </p:sp>
          <p:sp>
            <p:nvSpPr>
              <p:cNvPr id="23" name="empirical_values_1" descr="Editable text; source id empirical_values_1"/>
              <p:cNvSpPr txBox="1"/>
              <p:nvPr/>
            </p:nvSpPr>
            <p:spPr>
              <a:xfrm>
                <a:off x="632262" y="982441"/>
                <a:ext cx="74205" cy="122763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933"/>
                  </a:lnSpc>
                  <a:spcBef>
                    <a:spcPts val="0"/>
                  </a:spcBef>
                  <a:spcAft>
                    <a:spcPts val="0"/>
                  </a:spcAft>
                  <a:def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11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4" name="empirical_values_2" descr="Editable text; source id empirical_values_2"/>
              <p:cNvSpPr txBox="1"/>
              <p:nvPr/>
            </p:nvSpPr>
            <p:spPr>
              <a:xfrm>
                <a:off x="702267" y="1038687"/>
                <a:ext cx="38503" cy="8245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616"/>
                  </a:lnSpc>
                  <a:spcBef>
                    <a:spcPts val="0"/>
                  </a:spcBef>
                  <a:spcAft>
                    <a:spcPts val="0"/>
                  </a:spcAft>
                  <a:defRPr sz="535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35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</p:grpSp>
      <p:grpSp>
        <p:nvGrpSpPr>
          <p:cNvPr id="199" name="joint_solver" descr="joint solver"/>
          <p:cNvGrpSpPr/>
          <p:nvPr/>
        </p:nvGrpSpPr>
        <p:grpSpPr>
          <a:xfrm>
            <a:off x="1174318" y="296722"/>
            <a:ext cx="2519629" cy="905256"/>
            <a:chOff x="1174318" y="296722"/>
            <a:chExt cx="2519629" cy="905256"/>
          </a:xfrm>
        </p:grpSpPr>
        <p:sp>
          <p:nvSpPr>
            <p:cNvPr id="25" name="joint_solver_panel" descr="Editable shape; source id joint_solver_panel"/>
            <p:cNvSpPr/>
            <p:nvPr/>
          </p:nvSpPr>
          <p:spPr>
            <a:xfrm>
              <a:off x="1174318" y="296722"/>
              <a:ext cx="2519629" cy="905256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5029">
              <a:solidFill>
                <a:srgbClr val="087F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joint_solver_heading" descr="Editable text; source id joint_solver_heading"/>
            <p:cNvSpPr txBox="1"/>
            <p:nvPr/>
          </p:nvSpPr>
          <p:spPr>
            <a:xfrm>
              <a:off x="2003405" y="322759"/>
              <a:ext cx="854767" cy="141591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51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Joint budget solve</a:t>
              </a:r>
            </a:p>
          </p:txBody>
        </p:sp>
        <p:grpSp>
          <p:nvGrpSpPr>
            <p:cNvPr id="186" name="solver_cost0" descr="solver cost0"/>
            <p:cNvGrpSpPr/>
            <p:nvPr/>
          </p:nvGrpSpPr>
          <p:grpSpPr>
            <a:xfrm>
              <a:off x="1264843" y="495376"/>
              <a:ext cx="326898" cy="121900"/>
              <a:chOff x="1264843" y="495376"/>
              <a:chExt cx="326898" cy="121900"/>
            </a:xfrm>
          </p:grpSpPr>
          <p:sp>
            <p:nvSpPr>
              <p:cNvPr id="27" name="solver_cost0_panel" descr="Editable shape; source id solver_cost0_panel"/>
              <p:cNvSpPr/>
              <p:nvPr/>
            </p:nvSpPr>
            <p:spPr>
              <a:xfrm>
                <a:off x="1264843" y="495376"/>
                <a:ext cx="326898" cy="120700"/>
              </a:xfrm>
              <a:prstGeom prst="roundRect">
                <a:avLst>
                  <a:gd name="adj" fmla="val 16666"/>
                </a:avLst>
              </a:prstGeom>
              <a:solidFill>
                <a:srgbClr val="EEF6F5"/>
              </a:solidFill>
              <a:ln w="3017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5" name="solver_cost_math0" descr="Editable formula parts and native mathematical delimiters."/>
              <p:cNvGrpSpPr/>
              <p:nvPr/>
            </p:nvGrpSpPr>
            <p:grpSpPr>
              <a:xfrm>
                <a:off x="1319684" y="497851"/>
                <a:ext cx="215975" cy="119425"/>
                <a:chOff x="1319684" y="497851"/>
                <a:chExt cx="215975" cy="119425"/>
              </a:xfrm>
            </p:grpSpPr>
            <p:sp>
              <p:nvSpPr>
                <p:cNvPr id="28" name="solver_cost_math0_0" descr="Editable text; source id solver_cost_math0_0"/>
                <p:cNvSpPr txBox="1"/>
                <p:nvPr/>
              </p:nvSpPr>
              <p:spPr>
                <a:xfrm>
                  <a:off x="1319684" y="497851"/>
                  <a:ext cx="64405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9" name="solver_cost_math0_1" descr="Editable text; source id solver_cost_math0_1"/>
                <p:cNvSpPr txBox="1"/>
                <p:nvPr/>
              </p:nvSpPr>
              <p:spPr>
                <a:xfrm>
                  <a:off x="1379889" y="546276"/>
                  <a:ext cx="33241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  <p:sp>
              <p:nvSpPr>
                <p:cNvPr id="30" name="solver_cost_math0_2" descr="Editable text; source id solver_cost_math0_2"/>
                <p:cNvSpPr txBox="1"/>
                <p:nvPr/>
              </p:nvSpPr>
              <p:spPr>
                <a:xfrm>
                  <a:off x="1411571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, </a:t>
                  </a:r>
                </a:p>
              </p:txBody>
            </p:sp>
            <p:sp>
              <p:nvSpPr>
                <p:cNvPr id="31" name="solver_cost_math0_3" descr="Editable text; source id solver_cost_math0_3"/>
                <p:cNvSpPr txBox="1"/>
                <p:nvPr/>
              </p:nvSpPr>
              <p:spPr>
                <a:xfrm>
                  <a:off x="1458315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32" name="solver_cost_math0_4" descr="Editable text; source id solver_cost_math0_4"/>
                <p:cNvSpPr txBox="1"/>
                <p:nvPr/>
              </p:nvSpPr>
              <p:spPr>
                <a:xfrm>
                  <a:off x="1502418" y="546276"/>
                  <a:ext cx="33241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grpSp>
          <p:nvGrpSpPr>
            <p:cNvPr id="188" name="solver_cost1" descr="solver cost1"/>
            <p:cNvGrpSpPr/>
            <p:nvPr/>
          </p:nvGrpSpPr>
          <p:grpSpPr>
            <a:xfrm>
              <a:off x="1634490" y="495376"/>
              <a:ext cx="326898" cy="121900"/>
              <a:chOff x="1634490" y="495376"/>
              <a:chExt cx="326898" cy="121900"/>
            </a:xfrm>
          </p:grpSpPr>
          <p:sp>
            <p:nvSpPr>
              <p:cNvPr id="33" name="solver_cost1_panel" descr="Editable shape; source id solver_cost1_panel"/>
              <p:cNvSpPr/>
              <p:nvPr/>
            </p:nvSpPr>
            <p:spPr>
              <a:xfrm>
                <a:off x="1634490" y="495376"/>
                <a:ext cx="326898" cy="120700"/>
              </a:xfrm>
              <a:prstGeom prst="roundRect">
                <a:avLst>
                  <a:gd name="adj" fmla="val 16666"/>
                </a:avLst>
              </a:prstGeom>
              <a:solidFill>
                <a:srgbClr val="EEF6F5"/>
              </a:solidFill>
              <a:ln w="3017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7" name="solver_cost_math1" descr="Editable formula parts and native mathematical delimiters."/>
              <p:cNvGrpSpPr/>
              <p:nvPr/>
            </p:nvGrpSpPr>
            <p:grpSpPr>
              <a:xfrm>
                <a:off x="1689331" y="497851"/>
                <a:ext cx="215974" cy="119425"/>
                <a:chOff x="1689331" y="497851"/>
                <a:chExt cx="215974" cy="119425"/>
              </a:xfrm>
            </p:grpSpPr>
            <p:sp>
              <p:nvSpPr>
                <p:cNvPr id="34" name="solver_cost_math1_0" descr="Editable text; source id solver_cost_math1_0"/>
                <p:cNvSpPr txBox="1"/>
                <p:nvPr/>
              </p:nvSpPr>
              <p:spPr>
                <a:xfrm>
                  <a:off x="1689331" y="497851"/>
                  <a:ext cx="64405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5" name="solver_cost_math1_1" descr="Editable text; source id solver_cost_math1_1"/>
                <p:cNvSpPr txBox="1"/>
                <p:nvPr/>
              </p:nvSpPr>
              <p:spPr>
                <a:xfrm>
                  <a:off x="1749535" y="546276"/>
                  <a:ext cx="33241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  <p:sp>
              <p:nvSpPr>
                <p:cNvPr id="36" name="solver_cost_math1_2" descr="Editable text; source id solver_cost_math1_2"/>
                <p:cNvSpPr txBox="1"/>
                <p:nvPr/>
              </p:nvSpPr>
              <p:spPr>
                <a:xfrm>
                  <a:off x="1781217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, </a:t>
                  </a:r>
                </a:p>
              </p:txBody>
            </p:sp>
            <p:sp>
              <p:nvSpPr>
                <p:cNvPr id="37" name="solver_cost_math1_3" descr="Editable text; source id solver_cost_math1_3"/>
                <p:cNvSpPr txBox="1"/>
                <p:nvPr/>
              </p:nvSpPr>
              <p:spPr>
                <a:xfrm>
                  <a:off x="1827961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38" name="solver_cost_math1_4" descr="Editable text; source id solver_cost_math1_4"/>
                <p:cNvSpPr txBox="1"/>
                <p:nvPr/>
              </p:nvSpPr>
              <p:spPr>
                <a:xfrm>
                  <a:off x="1872064" y="546276"/>
                  <a:ext cx="33241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</p:grpSp>
        <p:grpSp>
          <p:nvGrpSpPr>
            <p:cNvPr id="190" name="solver_cost2" descr="solver cost2"/>
            <p:cNvGrpSpPr/>
            <p:nvPr/>
          </p:nvGrpSpPr>
          <p:grpSpPr>
            <a:xfrm>
              <a:off x="2004136" y="495376"/>
              <a:ext cx="326898" cy="121900"/>
              <a:chOff x="2004136" y="495376"/>
              <a:chExt cx="326898" cy="121900"/>
            </a:xfrm>
          </p:grpSpPr>
          <p:sp>
            <p:nvSpPr>
              <p:cNvPr id="39" name="solver_cost2_panel" descr="Editable shape; source id solver_cost2_panel"/>
              <p:cNvSpPr/>
              <p:nvPr/>
            </p:nvSpPr>
            <p:spPr>
              <a:xfrm>
                <a:off x="2004136" y="495376"/>
                <a:ext cx="326898" cy="120700"/>
              </a:xfrm>
              <a:prstGeom prst="roundRect">
                <a:avLst>
                  <a:gd name="adj" fmla="val 16666"/>
                </a:avLst>
              </a:prstGeom>
              <a:solidFill>
                <a:srgbClr val="EEF6F5"/>
              </a:solidFill>
              <a:ln w="3017">
                <a:solidFill>
                  <a:srgbClr val="CADADB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89" name="solver_cost_math2" descr="Editable formula parts and native mathematical delimiters."/>
              <p:cNvGrpSpPr/>
              <p:nvPr/>
            </p:nvGrpSpPr>
            <p:grpSpPr>
              <a:xfrm>
                <a:off x="2046015" y="497851"/>
                <a:ext cx="241899" cy="119425"/>
                <a:chOff x="2046015" y="497851"/>
                <a:chExt cx="241899" cy="119425"/>
              </a:xfrm>
            </p:grpSpPr>
            <p:sp>
              <p:nvSpPr>
                <p:cNvPr id="40" name="solver_cost_math2_0" descr="Editable text; source id solver_cost_math2_0"/>
                <p:cNvSpPr txBox="1"/>
                <p:nvPr/>
              </p:nvSpPr>
              <p:spPr>
                <a:xfrm>
                  <a:off x="2046015" y="497851"/>
                  <a:ext cx="64405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41" name="solver_cost_math2_1" descr="Editable text; source id solver_cost_math2_1"/>
                <p:cNvSpPr txBox="1"/>
                <p:nvPr/>
              </p:nvSpPr>
              <p:spPr>
                <a:xfrm>
                  <a:off x="2106220" y="546276"/>
                  <a:ext cx="46203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42" name="solver_cost_math2_2" descr="Editable text; source id solver_cost_math2_2"/>
                <p:cNvSpPr txBox="1"/>
                <p:nvPr/>
              </p:nvSpPr>
              <p:spPr>
                <a:xfrm>
                  <a:off x="2150863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, </a:t>
                  </a:r>
                </a:p>
              </p:txBody>
            </p:sp>
            <p:sp>
              <p:nvSpPr>
                <p:cNvPr id="43" name="solver_cost_math2_3" descr="Editable text; source id solver_cost_math2_3"/>
                <p:cNvSpPr txBox="1"/>
                <p:nvPr/>
              </p:nvSpPr>
              <p:spPr>
                <a:xfrm>
                  <a:off x="2197607" y="497851"/>
                  <a:ext cx="48303" cy="10541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44" name="solver_cost_math2_4" descr="Editable text; source id solver_cost_math2_4"/>
                <p:cNvSpPr txBox="1"/>
                <p:nvPr/>
              </p:nvSpPr>
              <p:spPr>
                <a:xfrm>
                  <a:off x="2241711" y="546276"/>
                  <a:ext cx="46203" cy="7100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grpSp>
          <p:nvGrpSpPr>
            <p:cNvPr id="191" name="rate_budget" descr="Editable formula parts and native mathematical delimiters."/>
            <p:cNvGrpSpPr/>
            <p:nvPr/>
          </p:nvGrpSpPr>
          <p:grpSpPr>
            <a:xfrm>
              <a:off x="2658731" y="488622"/>
              <a:ext cx="359112" cy="125148"/>
              <a:chOff x="2658731" y="488622"/>
              <a:chExt cx="359112" cy="125148"/>
            </a:xfrm>
          </p:grpSpPr>
          <p:sp>
            <p:nvSpPr>
              <p:cNvPr id="45" name="rate_budget_0" descr="Editable text; source id rate_budget_0"/>
              <p:cNvSpPr txBox="1"/>
              <p:nvPr/>
            </p:nvSpPr>
            <p:spPr>
              <a:xfrm>
                <a:off x="2658731" y="488622"/>
                <a:ext cx="5072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46" name="rate_budget_1" descr="Editable text; source id rate_budget_1"/>
              <p:cNvSpPr txBox="1"/>
              <p:nvPr/>
            </p:nvSpPr>
            <p:spPr>
              <a:xfrm>
                <a:off x="2705252" y="538953"/>
                <a:ext cx="35002" cy="74817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47" name="rate_budget_2" descr="Editable text; source id rate_budget_2"/>
              <p:cNvSpPr txBox="1"/>
              <p:nvPr/>
            </p:nvSpPr>
            <p:spPr>
              <a:xfrm>
                <a:off x="2738846" y="488622"/>
                <a:ext cx="10318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48" name="rate_budget_3" descr="Editable text; source id rate_budget_3"/>
              <p:cNvSpPr txBox="1"/>
              <p:nvPr/>
            </p:nvSpPr>
            <p:spPr>
              <a:xfrm>
                <a:off x="2840618" y="488622"/>
                <a:ext cx="61025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49" name="rate_budget_4" descr="Editable text; source id rate_budget_4"/>
              <p:cNvSpPr txBox="1"/>
              <p:nvPr/>
            </p:nvSpPr>
            <p:spPr>
              <a:xfrm>
                <a:off x="2897443" y="538953"/>
                <a:ext cx="35002" cy="74817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50" name="rate_budget_5" descr="Editable text; source id rate_budget_5"/>
              <p:cNvSpPr txBox="1"/>
              <p:nvPr/>
            </p:nvSpPr>
            <p:spPr>
              <a:xfrm>
                <a:off x="2926136" y="488622"/>
                <a:ext cx="91707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63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/L</a:t>
                </a:r>
              </a:p>
            </p:txBody>
          </p:sp>
        </p:grpSp>
        <p:grpSp>
          <p:nvGrpSpPr>
            <p:cNvPr id="192" name="support_zero" descr="Editable formula parts and native mathematical delimiters."/>
            <p:cNvGrpSpPr/>
            <p:nvPr/>
          </p:nvGrpSpPr>
          <p:grpSpPr>
            <a:xfrm>
              <a:off x="3265438" y="488622"/>
              <a:ext cx="256451" cy="125148"/>
              <a:chOff x="3265438" y="488622"/>
              <a:chExt cx="256451" cy="125148"/>
            </a:xfrm>
          </p:grpSpPr>
          <p:sp>
            <p:nvSpPr>
              <p:cNvPr id="51" name="support_zero_0" descr="Editable text; source id support_zero_0"/>
              <p:cNvSpPr txBox="1"/>
              <p:nvPr/>
            </p:nvSpPr>
            <p:spPr>
              <a:xfrm>
                <a:off x="3265438" y="488622"/>
                <a:ext cx="63705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21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52" name="support_zero_1" descr="Editable text; source id support_zero_1"/>
              <p:cNvSpPr txBox="1"/>
              <p:nvPr/>
            </p:nvSpPr>
            <p:spPr>
              <a:xfrm>
                <a:off x="3324943" y="538953"/>
                <a:ext cx="48544" cy="74817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53" name="support_zero_2" descr="Editable text; source id support_zero_2"/>
              <p:cNvSpPr txBox="1"/>
              <p:nvPr/>
            </p:nvSpPr>
            <p:spPr>
              <a:xfrm>
                <a:off x="3372078" y="488622"/>
                <a:ext cx="14981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= 0</a:t>
                </a:r>
              </a:p>
            </p:txBody>
          </p:sp>
        </p:grpSp>
        <p:cxnSp>
          <p:nvCxnSpPr>
            <p:cNvPr id="54" name="joint_horizontal" descr="Editable line; source id joint_horizontal"/>
            <p:cNvCxnSpPr/>
            <p:nvPr/>
          </p:nvCxnSpPr>
          <p:spPr>
            <a:xfrm>
              <a:off x="1239697" y="666368"/>
              <a:ext cx="2388870" cy="0"/>
            </a:xfrm>
            <a:prstGeom prst="line">
              <a:avLst/>
            </a:prstGeom>
            <a:ln w="3771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primal_label" descr="Editable text; source id primal_label"/>
            <p:cNvSpPr txBox="1"/>
            <p:nvPr/>
          </p:nvSpPr>
          <p:spPr>
            <a:xfrm>
              <a:off x="1379527" y="688104"/>
              <a:ext cx="920660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Entropic flow problem</a:t>
              </a:r>
            </a:p>
          </p:txBody>
        </p:sp>
        <p:grpSp>
          <p:nvGrpSpPr>
            <p:cNvPr id="195" name="primal_objective" descr="Editable formula parts and native mathematical delimiters."/>
            <p:cNvGrpSpPr/>
            <p:nvPr/>
          </p:nvGrpSpPr>
          <p:grpSpPr>
            <a:xfrm>
              <a:off x="1339440" y="843180"/>
              <a:ext cx="1026248" cy="125149"/>
              <a:chOff x="1339440" y="843180"/>
              <a:chExt cx="1026248" cy="125149"/>
            </a:xfrm>
          </p:grpSpPr>
          <p:sp>
            <p:nvSpPr>
              <p:cNvPr id="56" name="primal_objective_0" descr="Editable text; source id primal_objective_0"/>
              <p:cNvSpPr txBox="1"/>
              <p:nvPr/>
            </p:nvSpPr>
            <p:spPr>
              <a:xfrm>
                <a:off x="1339440" y="843180"/>
                <a:ext cx="14911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min</a:t>
                </a:r>
              </a:p>
            </p:txBody>
          </p:sp>
          <p:sp>
            <p:nvSpPr>
              <p:cNvPr id="57" name="primal_objective_1" descr="Editable text; source id primal_objective_1"/>
              <p:cNvSpPr txBox="1"/>
              <p:nvPr/>
            </p:nvSpPr>
            <p:spPr>
              <a:xfrm>
                <a:off x="1484351" y="893512"/>
                <a:ext cx="38503" cy="74817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58" name="primal_objective_2" descr="Editable text; source id primal_objective_2"/>
              <p:cNvSpPr txBox="1"/>
              <p:nvPr/>
            </p:nvSpPr>
            <p:spPr>
              <a:xfrm>
                <a:off x="1521445" y="843180"/>
                <a:ext cx="10318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59" name="primal_objective_3" descr="Editable text; source id primal_objective_3"/>
              <p:cNvSpPr txBox="1"/>
              <p:nvPr/>
            </p:nvSpPr>
            <p:spPr>
              <a:xfrm>
                <a:off x="1645529" y="843180"/>
                <a:ext cx="153312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70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A,F</a:t>
                </a:r>
              </a:p>
            </p:txBody>
          </p:sp>
          <p:sp>
            <p:nvSpPr>
              <p:cNvPr id="60" name="primal_objective_4" descr="Editable text; source id primal_objective_4"/>
              <p:cNvSpPr txBox="1"/>
              <p:nvPr/>
            </p:nvSpPr>
            <p:spPr>
              <a:xfrm>
                <a:off x="1825345" y="843180"/>
                <a:ext cx="398331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+ ε KL(F </a:t>
                </a:r>
              </a:p>
            </p:txBody>
          </p:sp>
          <p:sp>
            <p:nvSpPr>
              <p:cNvPr id="61" name="primal_objective_5" descr="Editable text; source id primal_objective_5"/>
              <p:cNvSpPr txBox="1"/>
              <p:nvPr/>
            </p:nvSpPr>
            <p:spPr>
              <a:xfrm>
                <a:off x="2250179" y="843180"/>
                <a:ext cx="115509" cy="111196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F̂)</a:t>
                </a:r>
              </a:p>
            </p:txBody>
          </p:sp>
          <p:grpSp>
            <p:nvGrpSpPr>
              <p:cNvPr id="193" name="primal_objective_angle_0" descr="One editable routed connector; fixed endpoints."/>
              <p:cNvGrpSpPr/>
              <p:nvPr/>
            </p:nvGrpSpPr>
            <p:grpSpPr>
              <a:xfrm>
                <a:off x="1630200" y="860898"/>
                <a:ext cx="14887" cy="74432"/>
                <a:chOff x="1630200" y="860898"/>
                <a:chExt cx="14887" cy="74432"/>
              </a:xfrm>
            </p:grpSpPr>
            <p:cxnSp>
              <p:nvCxnSpPr>
                <p:cNvPr id="62" name="primal_objective_angle_0_0" descr="Editable line; source id primal_objective_angle_0_0"/>
                <p:cNvCxnSpPr/>
                <p:nvPr/>
              </p:nvCxnSpPr>
              <p:spPr>
                <a:xfrm flipH="1">
                  <a:off x="1630200" y="860898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primal_objective_angle_0_1" descr="Editable line; source id primal_objective_angle_0_1"/>
                <p:cNvCxnSpPr/>
                <p:nvPr/>
              </p:nvCxnSpPr>
              <p:spPr>
                <a:xfrm>
                  <a:off x="1630200" y="898114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primal_objective_angle_1" descr="One editable routed connector; fixed endpoints."/>
              <p:cNvGrpSpPr/>
              <p:nvPr/>
            </p:nvGrpSpPr>
            <p:grpSpPr>
              <a:xfrm>
                <a:off x="1804415" y="860898"/>
                <a:ext cx="14887" cy="74432"/>
                <a:chOff x="1804415" y="860898"/>
                <a:chExt cx="14887" cy="74432"/>
              </a:xfrm>
            </p:grpSpPr>
            <p:cxnSp>
              <p:nvCxnSpPr>
                <p:cNvPr id="64" name="primal_objective_angle_1_0" descr="Editable line; source id primal_objective_angle_1_0"/>
                <p:cNvCxnSpPr/>
                <p:nvPr/>
              </p:nvCxnSpPr>
              <p:spPr>
                <a:xfrm>
                  <a:off x="1804415" y="860898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primal_objective_angle_1_1" descr="Editable line; source id primal_objective_angle_1_1"/>
                <p:cNvCxnSpPr/>
                <p:nvPr/>
              </p:nvCxnSpPr>
              <p:spPr>
                <a:xfrm flipH="1">
                  <a:off x="1804415" y="898114"/>
                  <a:ext cx="14887" cy="37216"/>
                </a:xfrm>
                <a:prstGeom prst="line">
                  <a:avLst/>
                </a:prstGeom>
                <a:ln w="3721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6" name="primal_objective_parallel_2_0" descr="Editable line; source id primal_objective_parallel_2_0"/>
              <p:cNvCxnSpPr/>
              <p:nvPr/>
            </p:nvCxnSpPr>
            <p:spPr>
              <a:xfrm>
                <a:off x="2231110" y="860898"/>
                <a:ext cx="0" cy="74432"/>
              </a:xfrm>
              <a:prstGeom prst="line">
                <a:avLst/>
              </a:prstGeom>
              <a:ln w="3721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primal_objective_parallel_2_1" descr="Editable line; source id primal_objective_parallel_2_1"/>
              <p:cNvCxnSpPr/>
              <p:nvPr/>
            </p:nvCxnSpPr>
            <p:spPr>
              <a:xfrm>
                <a:off x="2244136" y="860898"/>
                <a:ext cx="0" cy="74432"/>
              </a:xfrm>
              <a:prstGeom prst="line">
                <a:avLst/>
              </a:prstGeom>
              <a:ln w="3721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solver_balance" descr="Editable text; source id solver_balance"/>
            <p:cNvSpPr txBox="1"/>
            <p:nvPr/>
          </p:nvSpPr>
          <p:spPr>
            <a:xfrm>
              <a:off x="1360023" y="983998"/>
              <a:ext cx="471837" cy="117854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flow balance</a:t>
              </a:r>
            </a:p>
          </p:txBody>
        </p:sp>
        <p:grpSp>
          <p:nvGrpSpPr>
            <p:cNvPr id="198" name="solver_constraint" descr="Editable formula parts and native mathematical delimiters."/>
            <p:cNvGrpSpPr/>
            <p:nvPr/>
          </p:nvGrpSpPr>
          <p:grpSpPr>
            <a:xfrm>
              <a:off x="1947258" y="988198"/>
              <a:ext cx="390773" cy="119425"/>
              <a:chOff x="1947258" y="988198"/>
              <a:chExt cx="390773" cy="119425"/>
            </a:xfrm>
          </p:grpSpPr>
          <p:sp>
            <p:nvSpPr>
              <p:cNvPr id="69" name="solver_constraint_0" descr="Editable text; source id solver_constraint_0"/>
              <p:cNvSpPr txBox="1"/>
              <p:nvPr/>
            </p:nvSpPr>
            <p:spPr>
              <a:xfrm>
                <a:off x="1966980" y="988198"/>
                <a:ext cx="64405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70" name="solver_constraint_1" descr="Editable text; source id solver_constraint_1"/>
              <p:cNvSpPr txBox="1"/>
              <p:nvPr/>
            </p:nvSpPr>
            <p:spPr>
              <a:xfrm>
                <a:off x="2027185" y="1036623"/>
                <a:ext cx="33602" cy="710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71" name="solver_constraint_2" descr="Editable text; source id solver_constraint_2"/>
              <p:cNvSpPr txBox="1"/>
              <p:nvPr/>
            </p:nvSpPr>
            <p:spPr>
              <a:xfrm>
                <a:off x="2059228" y="988198"/>
                <a:ext cx="81206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,F</a:t>
                </a:r>
              </a:p>
            </p:txBody>
          </p:sp>
          <p:sp>
            <p:nvSpPr>
              <p:cNvPr id="72" name="solver_constraint_3" descr="Editable text; source id solver_constraint_3"/>
              <p:cNvSpPr txBox="1"/>
              <p:nvPr/>
            </p:nvSpPr>
            <p:spPr>
              <a:xfrm>
                <a:off x="2165277" y="988198"/>
                <a:ext cx="96607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≤ </a:t>
                </a:r>
              </a:p>
            </p:txBody>
          </p:sp>
          <p:sp>
            <p:nvSpPr>
              <p:cNvPr id="73" name="solver_constraint_4" descr="Editable text; source id solver_constraint_4"/>
              <p:cNvSpPr txBox="1"/>
              <p:nvPr/>
            </p:nvSpPr>
            <p:spPr>
              <a:xfrm>
                <a:off x="2260325" y="988198"/>
                <a:ext cx="48303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74" name="solver_constraint_5" descr="Editable text; source id solver_constraint_5"/>
              <p:cNvSpPr txBox="1"/>
              <p:nvPr/>
            </p:nvSpPr>
            <p:spPr>
              <a:xfrm>
                <a:off x="2304429" y="1036623"/>
                <a:ext cx="33602" cy="710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grpSp>
            <p:nvGrpSpPr>
              <p:cNvPr id="196" name="solver_constraint_angle_0" descr="One editable routed connector; fixed endpoints."/>
              <p:cNvGrpSpPr/>
              <p:nvPr/>
            </p:nvGrpSpPr>
            <p:grpSpPr>
              <a:xfrm>
                <a:off x="1947258" y="1005337"/>
                <a:ext cx="14081" cy="70408"/>
                <a:chOff x="1947258" y="1005337"/>
                <a:chExt cx="14081" cy="70408"/>
              </a:xfrm>
            </p:grpSpPr>
            <p:cxnSp>
              <p:nvCxnSpPr>
                <p:cNvPr id="75" name="solver_constraint_angle_0_0" descr="Editable line; source id solver_constraint_angle_0_0"/>
                <p:cNvCxnSpPr/>
                <p:nvPr/>
              </p:nvCxnSpPr>
              <p:spPr>
                <a:xfrm flipH="1">
                  <a:off x="1947258" y="1005337"/>
                  <a:ext cx="14081" cy="35204"/>
                </a:xfrm>
                <a:prstGeom prst="line">
                  <a:avLst/>
                </a:prstGeom>
                <a:ln w="3520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olver_constraint_angle_0_1" descr="Editable line; source id solver_constraint_angle_0_1"/>
                <p:cNvCxnSpPr/>
                <p:nvPr/>
              </p:nvCxnSpPr>
              <p:spPr>
                <a:xfrm>
                  <a:off x="1947258" y="1040541"/>
                  <a:ext cx="14081" cy="35204"/>
                </a:xfrm>
                <a:prstGeom prst="line">
                  <a:avLst/>
                </a:prstGeom>
                <a:ln w="3520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7" name="solver_constraint_angle_1" descr="One editable routed connector; fixed endpoints."/>
              <p:cNvGrpSpPr/>
              <p:nvPr/>
            </p:nvGrpSpPr>
            <p:grpSpPr>
              <a:xfrm>
                <a:off x="2145555" y="1005337"/>
                <a:ext cx="14082" cy="70408"/>
                <a:chOff x="2145555" y="1005337"/>
                <a:chExt cx="14082" cy="70408"/>
              </a:xfrm>
            </p:grpSpPr>
            <p:cxnSp>
              <p:nvCxnSpPr>
                <p:cNvPr id="77" name="solver_constraint_angle_1_0" descr="Editable line; source id solver_constraint_angle_1_0"/>
                <p:cNvCxnSpPr/>
                <p:nvPr/>
              </p:nvCxnSpPr>
              <p:spPr>
                <a:xfrm>
                  <a:off x="2145555" y="1005337"/>
                  <a:ext cx="14082" cy="35204"/>
                </a:xfrm>
                <a:prstGeom prst="line">
                  <a:avLst/>
                </a:prstGeom>
                <a:ln w="3520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olver_constraint_angle_1_1" descr="Editable line; source id solver_constraint_angle_1_1"/>
                <p:cNvCxnSpPr/>
                <p:nvPr/>
              </p:nvCxnSpPr>
              <p:spPr>
                <a:xfrm flipH="1">
                  <a:off x="2145555" y="1040541"/>
                  <a:ext cx="14082" cy="35204"/>
                </a:xfrm>
                <a:prstGeom prst="line">
                  <a:avLst/>
                </a:prstGeom>
                <a:ln w="3520" cap="rnd">
                  <a:solidFill>
                    <a:srgbClr val="24343C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9" name="joint_vertical_a" descr="Editable line; source id joint_vertical_a"/>
            <p:cNvCxnSpPr/>
            <p:nvPr/>
          </p:nvCxnSpPr>
          <p:spPr>
            <a:xfrm>
              <a:off x="2494483" y="719175"/>
              <a:ext cx="0" cy="198653"/>
            </a:xfrm>
            <a:prstGeom prst="line">
              <a:avLst/>
            </a:prstGeom>
            <a:ln w="3520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joint_vertical_b" descr="Editable line; source id joint_vertical_b"/>
            <p:cNvCxnSpPr/>
            <p:nvPr/>
          </p:nvCxnSpPr>
          <p:spPr>
            <a:xfrm>
              <a:off x="2494483" y="990752"/>
              <a:ext cx="0" cy="143332"/>
            </a:xfrm>
            <a:prstGeom prst="line">
              <a:avLst/>
            </a:prstGeom>
            <a:ln w="3520" cap="rnd">
              <a:solidFill>
                <a:srgbClr val="CADADB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dual_label" descr="Editable text; source id dual_label"/>
            <p:cNvSpPr txBox="1"/>
            <p:nvPr/>
          </p:nvSpPr>
          <p:spPr>
            <a:xfrm>
              <a:off x="2841122" y="688104"/>
              <a:ext cx="471837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Dual solver</a:t>
              </a:r>
            </a:p>
          </p:txBody>
        </p:sp>
        <p:sp>
          <p:nvSpPr>
            <p:cNvPr id="82" name="u_solve" descr="Editable text; source id u_solve"/>
            <p:cNvSpPr txBox="1"/>
            <p:nvPr/>
          </p:nvSpPr>
          <p:spPr>
            <a:xfrm>
              <a:off x="2827208" y="828921"/>
              <a:ext cx="479549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Newton in u</a:t>
              </a:r>
            </a:p>
          </p:txBody>
        </p:sp>
        <p:sp>
          <p:nvSpPr>
            <p:cNvPr id="83" name="lambda_solve" descr="Editable text; source id lambda_solve"/>
            <p:cNvSpPr txBox="1"/>
            <p:nvPr/>
          </p:nvSpPr>
          <p:spPr>
            <a:xfrm>
              <a:off x="2799474" y="979797"/>
              <a:ext cx="535017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Bisection in λ</a:t>
              </a:r>
            </a:p>
          </p:txBody>
        </p:sp>
        <p:sp>
          <p:nvSpPr>
            <p:cNvPr id="84" name="primal_to_dual" descr="Editable line; source id primal_to_dual"/>
            <p:cNvSpPr/>
            <p:nvPr/>
          </p:nvSpPr>
          <p:spPr>
            <a:xfrm>
              <a:off x="2419045" y="941718"/>
              <a:ext cx="148361" cy="22631"/>
            </a:xfrm>
            <a:custGeom>
              <a:avLst/>
              <a:gdLst/>
              <a:ahLst/>
              <a:cxnLst/>
              <a:rect l="l" t="t" r="r" b="b"/>
              <a:pathLst>
                <a:path w="52982" h="8082">
                  <a:moveTo>
                    <a:pt x="0" y="3143"/>
                  </a:moveTo>
                  <a:lnTo>
                    <a:pt x="42206" y="3143"/>
                  </a:lnTo>
                  <a:lnTo>
                    <a:pt x="42206" y="0"/>
                  </a:lnTo>
                  <a:lnTo>
                    <a:pt x="52982" y="4041"/>
                  </a:lnTo>
                  <a:lnTo>
                    <a:pt x="42206" y="8082"/>
                  </a:lnTo>
                  <a:lnTo>
                    <a:pt x="42206" y="4939"/>
                  </a:lnTo>
                  <a:lnTo>
                    <a:pt x="0" y="4939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4" name="clip_filter" descr="clip filter"/>
          <p:cNvGrpSpPr/>
          <p:nvPr/>
        </p:nvGrpSpPr>
        <p:grpSpPr>
          <a:xfrm>
            <a:off x="3834764" y="296722"/>
            <a:ext cx="1081278" cy="905256"/>
            <a:chOff x="3834764" y="296722"/>
            <a:chExt cx="1081278" cy="905256"/>
          </a:xfrm>
        </p:grpSpPr>
        <p:sp>
          <p:nvSpPr>
            <p:cNvPr id="85" name="clip_filter_panel" descr="Editable shape; source id clip_filter_panel"/>
            <p:cNvSpPr/>
            <p:nvPr/>
          </p:nvSpPr>
          <p:spPr>
            <a:xfrm>
              <a:off x="3834764" y="296722"/>
              <a:ext cx="1081278" cy="905256"/>
            </a:xfrm>
            <a:prstGeom prst="roundRect">
              <a:avLst>
                <a:gd name="adj" fmla="val 2222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clip_heading" descr="Editable text; source id clip_heading"/>
            <p:cNvSpPr txBox="1"/>
            <p:nvPr/>
          </p:nvSpPr>
          <p:spPr>
            <a:xfrm>
              <a:off x="4105089" y="324859"/>
              <a:ext cx="549029" cy="138624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Clip + filter</a:t>
              </a:r>
            </a:p>
          </p:txBody>
        </p:sp>
        <p:grpSp>
          <p:nvGrpSpPr>
            <p:cNvPr id="200" name="clip_equation" descr="Editable formula parts and native mathematical delimiters."/>
            <p:cNvGrpSpPr/>
            <p:nvPr/>
          </p:nvGrpSpPr>
          <p:grpSpPr>
            <a:xfrm>
              <a:off x="4074703" y="474294"/>
              <a:ext cx="597058" cy="134651"/>
              <a:chOff x="4074703" y="474294"/>
              <a:chExt cx="597058" cy="134651"/>
            </a:xfrm>
          </p:grpSpPr>
          <p:sp>
            <p:nvSpPr>
              <p:cNvPr id="87" name="clip_equation_0" descr="Editable text; source id clip_equation_0"/>
              <p:cNvSpPr txBox="1"/>
              <p:nvPr/>
            </p:nvSpPr>
            <p:spPr>
              <a:xfrm>
                <a:off x="4074703" y="491965"/>
                <a:ext cx="77006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88" name="clip_equation_1" descr="Editable text; source id clip_equation_1"/>
              <p:cNvSpPr txBox="1"/>
              <p:nvPr/>
            </p:nvSpPr>
            <p:spPr>
              <a:xfrm>
                <a:off x="4147509" y="474294"/>
                <a:ext cx="36566" cy="78635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89" name="clip_equation_2" descr="Editable text; source id clip_equation_2"/>
              <p:cNvSpPr txBox="1"/>
              <p:nvPr/>
            </p:nvSpPr>
            <p:spPr>
              <a:xfrm>
                <a:off x="4182817" y="491965"/>
                <a:ext cx="383630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 ← (1−α)</a:t>
                </a:r>
              </a:p>
            </p:txBody>
          </p:sp>
          <p:sp>
            <p:nvSpPr>
              <p:cNvPr id="90" name="clip_equation_3" descr="Editable text; source id clip_equation_3"/>
              <p:cNvSpPr txBox="1"/>
              <p:nvPr/>
            </p:nvSpPr>
            <p:spPr>
              <a:xfrm>
                <a:off x="4562389" y="491965"/>
                <a:ext cx="77006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91" name="clip_equation_4" descr="Editable text; source id clip_equation_4"/>
              <p:cNvSpPr txBox="1"/>
              <p:nvPr/>
            </p:nvSpPr>
            <p:spPr>
              <a:xfrm>
                <a:off x="4635195" y="474294"/>
                <a:ext cx="36566" cy="78635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grpSp>
          <p:nvGrpSpPr>
            <p:cNvPr id="201" name="clip_equation2" descr="Editable formula parts and native mathematical delimiters."/>
            <p:cNvGrpSpPr/>
            <p:nvPr/>
          </p:nvGrpSpPr>
          <p:grpSpPr>
            <a:xfrm>
              <a:off x="4067784" y="594995"/>
              <a:ext cx="613697" cy="134651"/>
              <a:chOff x="4067784" y="594995"/>
              <a:chExt cx="613697" cy="134651"/>
            </a:xfrm>
          </p:grpSpPr>
          <p:sp>
            <p:nvSpPr>
              <p:cNvPr id="92" name="clip_equation2_0" descr="Editable text; source id clip_equation2_0"/>
              <p:cNvSpPr txBox="1"/>
              <p:nvPr/>
            </p:nvSpPr>
            <p:spPr>
              <a:xfrm>
                <a:off x="4067784" y="612666"/>
                <a:ext cx="355628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+ α clip(</a:t>
                </a:r>
              </a:p>
            </p:txBody>
          </p:sp>
          <p:sp>
            <p:nvSpPr>
              <p:cNvPr id="93" name="clip_equation2_1" descr="Editable text; source id clip_equation2_1"/>
              <p:cNvSpPr txBox="1"/>
              <p:nvPr/>
            </p:nvSpPr>
            <p:spPr>
              <a:xfrm>
                <a:off x="4419354" y="612666"/>
                <a:ext cx="52504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94" name="clip_equation2_2" descr="Editable text; source id clip_equation2_2"/>
              <p:cNvSpPr txBox="1"/>
              <p:nvPr/>
            </p:nvSpPr>
            <p:spPr>
              <a:xfrm>
                <a:off x="4467658" y="594995"/>
                <a:ext cx="36566" cy="78635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95" name="clip_equation2_3" descr="Editable text; source id clip_equation2_3"/>
              <p:cNvSpPr txBox="1"/>
              <p:nvPr/>
            </p:nvSpPr>
            <p:spPr>
              <a:xfrm>
                <a:off x="4502967" y="612666"/>
                <a:ext cx="178514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,0,c)</a:t>
                </a:r>
              </a:p>
            </p:txBody>
          </p:sp>
        </p:grpSp>
        <p:sp>
          <p:nvSpPr>
            <p:cNvPr id="96" name="clip_xaxis" descr="Editable line; source id clip_xaxis"/>
            <p:cNvSpPr/>
            <p:nvPr/>
          </p:nvSpPr>
          <p:spPr>
            <a:xfrm>
              <a:off x="4048506" y="1042302"/>
              <a:ext cx="714146" cy="22631"/>
            </a:xfrm>
            <a:custGeom>
              <a:avLst/>
              <a:gdLst/>
              <a:ahLst/>
              <a:cxnLst/>
              <a:rect l="l" t="t" r="r" b="b"/>
              <a:pathLst>
                <a:path w="255032" h="8082">
                  <a:moveTo>
                    <a:pt x="0" y="3323"/>
                  </a:moveTo>
                  <a:lnTo>
                    <a:pt x="244256" y="3323"/>
                  </a:lnTo>
                  <a:lnTo>
                    <a:pt x="244256" y="0"/>
                  </a:lnTo>
                  <a:lnTo>
                    <a:pt x="255032" y="4041"/>
                  </a:lnTo>
                  <a:lnTo>
                    <a:pt x="244256" y="8082"/>
                  </a:lnTo>
                  <a:lnTo>
                    <a:pt x="244256" y="4759"/>
                  </a:lnTo>
                  <a:lnTo>
                    <a:pt x="0" y="4759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7" name="clip_yaxis" descr="Editable line; source id clip_yaxis"/>
            <p:cNvSpPr/>
            <p:nvPr/>
          </p:nvSpPr>
          <p:spPr>
            <a:xfrm>
              <a:off x="4037190" y="779526"/>
              <a:ext cx="22631" cy="274091"/>
            </a:xfrm>
            <a:custGeom>
              <a:avLst/>
              <a:gdLst/>
              <a:ahLst/>
              <a:cxnLst/>
              <a:rect l="l" t="t" r="r" b="b"/>
              <a:pathLst>
                <a:path w="8082" h="97882">
                  <a:moveTo>
                    <a:pt x="3323" y="97882"/>
                  </a:moveTo>
                  <a:lnTo>
                    <a:pt x="3323" y="10776"/>
                  </a:lnTo>
                  <a:lnTo>
                    <a:pt x="0" y="10776"/>
                  </a:lnTo>
                  <a:lnTo>
                    <a:pt x="4041" y="0"/>
                  </a:lnTo>
                  <a:lnTo>
                    <a:pt x="8082" y="10776"/>
                  </a:lnTo>
                  <a:lnTo>
                    <a:pt x="4759" y="10776"/>
                  </a:lnTo>
                  <a:lnTo>
                    <a:pt x="4759" y="97882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02" name="clip_function" descr="One editable routed connector; fixed endpoints."/>
            <p:cNvGrpSpPr/>
            <p:nvPr/>
          </p:nvGrpSpPr>
          <p:grpSpPr>
            <a:xfrm>
              <a:off x="4048505" y="824788"/>
              <a:ext cx="651282" cy="228829"/>
              <a:chOff x="4048505" y="824788"/>
              <a:chExt cx="651282" cy="228829"/>
            </a:xfrm>
          </p:grpSpPr>
          <p:cxnSp>
            <p:nvCxnSpPr>
              <p:cNvPr id="98" name="clip_function_0" descr="Editable line; source id clip_function_0"/>
              <p:cNvCxnSpPr/>
              <p:nvPr/>
            </p:nvCxnSpPr>
            <p:spPr>
              <a:xfrm flipV="1">
                <a:off x="4048505" y="824788"/>
                <a:ext cx="427483" cy="228829"/>
              </a:xfrm>
              <a:prstGeom prst="line">
                <a:avLst/>
              </a:prstGeom>
              <a:ln w="7543" cap="rnd">
                <a:solidFill>
                  <a:srgbClr val="087F8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lip_function_1" descr="Editable line; source id clip_function_1"/>
              <p:cNvCxnSpPr/>
              <p:nvPr/>
            </p:nvCxnSpPr>
            <p:spPr>
              <a:xfrm>
                <a:off x="4475988" y="824788"/>
                <a:ext cx="223799" cy="0"/>
              </a:xfrm>
              <a:prstGeom prst="line">
                <a:avLst/>
              </a:prstGeom>
              <a:ln w="7543" cap="rnd">
                <a:solidFill>
                  <a:srgbClr val="087F86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clip_cap_0" descr="Editable text; source id clip_cap_0"/>
            <p:cNvSpPr txBox="1"/>
            <p:nvPr/>
          </p:nvSpPr>
          <p:spPr>
            <a:xfrm>
              <a:off x="3948231" y="776972"/>
              <a:ext cx="43403" cy="105412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93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  <p:grpSp>
          <p:nvGrpSpPr>
            <p:cNvPr id="203" name="clip_input" descr="Editable formula parts and native mathematical delimiters."/>
            <p:cNvGrpSpPr/>
            <p:nvPr/>
          </p:nvGrpSpPr>
          <p:grpSpPr>
            <a:xfrm>
              <a:off x="4681917" y="1046178"/>
              <a:ext cx="76962" cy="120355"/>
              <a:chOff x="4681917" y="1046178"/>
              <a:chExt cx="76962" cy="120355"/>
            </a:xfrm>
          </p:grpSpPr>
          <p:sp>
            <p:nvSpPr>
              <p:cNvPr id="101" name="clip_input_0" descr="Editable text; source id clip_input_0"/>
              <p:cNvSpPr txBox="1"/>
              <p:nvPr/>
            </p:nvSpPr>
            <p:spPr>
              <a:xfrm>
                <a:off x="4681917" y="1061121"/>
                <a:ext cx="47920" cy="105412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4200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02" name="clip_input_1" descr="Editable text; source id clip_input_1"/>
              <p:cNvSpPr txBox="1"/>
              <p:nvPr/>
            </p:nvSpPr>
            <p:spPr>
              <a:xfrm>
                <a:off x="4725638" y="1046178"/>
                <a:ext cx="33241" cy="7100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</p:grpSp>
      <p:sp>
        <p:nvSpPr>
          <p:cNvPr id="103" name="graph_into_solver" descr="Editable line; source id graph_into_solver"/>
          <p:cNvSpPr/>
          <p:nvPr/>
        </p:nvSpPr>
        <p:spPr>
          <a:xfrm>
            <a:off x="1056132" y="823531"/>
            <a:ext cx="103099" cy="22631"/>
          </a:xfrm>
          <a:custGeom>
            <a:avLst/>
            <a:gdLst/>
            <a:ahLst/>
            <a:cxnLst/>
            <a:rect l="l" t="t" r="r" b="b"/>
            <a:pathLst>
              <a:path w="36818" h="8082">
                <a:moveTo>
                  <a:pt x="0" y="3053"/>
                </a:moveTo>
                <a:lnTo>
                  <a:pt x="26042" y="3053"/>
                </a:lnTo>
                <a:lnTo>
                  <a:pt x="26042" y="0"/>
                </a:lnTo>
                <a:lnTo>
                  <a:pt x="36818" y="4041"/>
                </a:lnTo>
                <a:lnTo>
                  <a:pt x="26042" y="8082"/>
                </a:lnTo>
                <a:lnTo>
                  <a:pt x="26042" y="5029"/>
                </a:lnTo>
                <a:lnTo>
                  <a:pt x="0" y="5029"/>
                </a:lnTo>
                <a:close/>
              </a:path>
            </a:pathLst>
          </a:custGeom>
          <a:solidFill>
            <a:srgbClr val="708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solver_into_filter" descr="Editable line; source id solver_into_filter"/>
          <p:cNvSpPr/>
          <p:nvPr/>
        </p:nvSpPr>
        <p:spPr>
          <a:xfrm>
            <a:off x="3709035" y="823531"/>
            <a:ext cx="110642" cy="22631"/>
          </a:xfrm>
          <a:custGeom>
            <a:avLst/>
            <a:gdLst/>
            <a:ahLst/>
            <a:cxnLst/>
            <a:rect l="l" t="t" r="r" b="b"/>
            <a:pathLst>
              <a:path w="39512" h="8082">
                <a:moveTo>
                  <a:pt x="0" y="2919"/>
                </a:moveTo>
                <a:lnTo>
                  <a:pt x="28736" y="2919"/>
                </a:lnTo>
                <a:lnTo>
                  <a:pt x="28736" y="0"/>
                </a:lnTo>
                <a:lnTo>
                  <a:pt x="39512" y="4041"/>
                </a:lnTo>
                <a:lnTo>
                  <a:pt x="28736" y="8082"/>
                </a:lnTo>
                <a:lnTo>
                  <a:pt x="28736" y="5163"/>
                </a:lnTo>
                <a:lnTo>
                  <a:pt x="0" y="5163"/>
                </a:lnTo>
                <a:close/>
              </a:path>
            </a:pathLst>
          </a:custGeom>
          <a:solidFill>
            <a:srgbClr val="08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05" name="lambda_star_label" descr="Editable formula parts and native mathematical delimiters."/>
          <p:cNvGrpSpPr/>
          <p:nvPr/>
        </p:nvGrpSpPr>
        <p:grpSpPr>
          <a:xfrm>
            <a:off x="3725259" y="673225"/>
            <a:ext cx="79106" cy="124454"/>
            <a:chOff x="3725259" y="673225"/>
            <a:chExt cx="79106" cy="124454"/>
          </a:xfrm>
        </p:grpSpPr>
        <p:sp>
          <p:nvSpPr>
            <p:cNvPr id="105" name="lambda_star_label_0" descr="Editable text; source id lambda_star_label_0"/>
            <p:cNvSpPr txBox="1"/>
            <p:nvPr/>
          </p:nvSpPr>
          <p:spPr>
            <a:xfrm>
              <a:off x="3725259" y="689375"/>
              <a:ext cx="49003" cy="108304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4200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0" i="1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12" b="0" i="1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λ</a:t>
              </a:r>
            </a:p>
          </p:txBody>
        </p:sp>
        <p:sp>
          <p:nvSpPr>
            <p:cNvPr id="106" name="lambda_star_label_1" descr="Editable text; source id lambda_star_label_1"/>
            <p:cNvSpPr txBox="1"/>
            <p:nvPr/>
          </p:nvSpPr>
          <p:spPr>
            <a:xfrm>
              <a:off x="3770063" y="673225"/>
              <a:ext cx="34302" cy="72909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41"/>
                </a:lnSpc>
                <a:spcBef>
                  <a:spcPts val="0"/>
                </a:spcBef>
                <a:spcAft>
                  <a:spcPts val="0"/>
                </a:spcAft>
                <a:defRPr sz="470" b="0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70" b="0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*</a:t>
              </a:r>
            </a:p>
          </p:txBody>
        </p:sp>
      </p:grpSp>
      <p:sp>
        <p:nvSpPr>
          <p:cNvPr id="107" name="price_boundary" descr="Editable text; source id price_boundary"/>
          <p:cNvSpPr txBox="1"/>
          <p:nvPr/>
        </p:nvSpPr>
        <p:spPr>
          <a:xfrm>
            <a:off x="1854075" y="1331841"/>
            <a:ext cx="1329449" cy="123788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842"/>
              </a:lnSpc>
              <a:spcBef>
                <a:spcPts val="0"/>
              </a:spcBef>
              <a:spcAft>
                <a:spcPts val="0"/>
              </a:spcAft>
              <a:defRPr sz="732" b="0" i="1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32" b="0" i="1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rPr>
              <a:t>Only prices enter the policy update</a:t>
            </a:r>
          </a:p>
        </p:txBody>
      </p:sp>
      <p:grpSp>
        <p:nvGrpSpPr>
          <p:cNvPr id="207" name="policy_rollout" descr="policy rollout"/>
          <p:cNvGrpSpPr/>
          <p:nvPr/>
        </p:nvGrpSpPr>
        <p:grpSpPr>
          <a:xfrm>
            <a:off x="113157" y="1662150"/>
            <a:ext cx="930401" cy="467715"/>
            <a:chOff x="113157" y="1662150"/>
            <a:chExt cx="930401" cy="467715"/>
          </a:xfrm>
        </p:grpSpPr>
        <p:sp>
          <p:nvSpPr>
            <p:cNvPr id="108" name="policy_rollout_panel" descr="Editable shape; source id policy_rollout_panel"/>
            <p:cNvSpPr/>
            <p:nvPr/>
          </p:nvSpPr>
          <p:spPr>
            <a:xfrm>
              <a:off x="113157" y="1662150"/>
              <a:ext cx="930401" cy="467715"/>
            </a:xfrm>
            <a:prstGeom prst="roundRect">
              <a:avLst>
                <a:gd name="adj" fmla="val 4301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9" name="rollout_heading" descr="Editable text; source id rollout_heading"/>
            <p:cNvSpPr txBox="1"/>
            <p:nvPr/>
          </p:nvSpPr>
          <p:spPr>
            <a:xfrm>
              <a:off x="269983" y="1675199"/>
              <a:ext cx="625149" cy="138624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31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Policy rollout</a:t>
              </a:r>
            </a:p>
          </p:txBody>
        </p:sp>
        <p:grpSp>
          <p:nvGrpSpPr>
            <p:cNvPr id="206" name="batch" descr="batch"/>
            <p:cNvGrpSpPr/>
            <p:nvPr/>
          </p:nvGrpSpPr>
          <p:grpSpPr>
            <a:xfrm>
              <a:off x="218770" y="1853260"/>
              <a:ext cx="704087" cy="228828"/>
              <a:chOff x="218770" y="1853260"/>
              <a:chExt cx="704087" cy="228828"/>
            </a:xfrm>
          </p:grpSpPr>
          <p:sp>
            <p:nvSpPr>
              <p:cNvPr id="110" name="batch_r0_e0" descr="Editable line; source id batch_r0_e0"/>
              <p:cNvSpPr/>
              <p:nvPr/>
            </p:nvSpPr>
            <p:spPr>
              <a:xfrm>
                <a:off x="294208" y="1874634"/>
                <a:ext cx="12740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9" h="8082">
                    <a:moveTo>
                      <a:pt x="0" y="3143"/>
                    </a:moveTo>
                    <a:lnTo>
                      <a:pt x="34723" y="3143"/>
                    </a:lnTo>
                    <a:lnTo>
                      <a:pt x="34723" y="0"/>
                    </a:lnTo>
                    <a:lnTo>
                      <a:pt x="45499" y="4041"/>
                    </a:lnTo>
                    <a:lnTo>
                      <a:pt x="34723" y="8082"/>
                    </a:lnTo>
                    <a:lnTo>
                      <a:pt x="34723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1" name="batch_r0_n0" descr="Editable shape; source id batch_r0_n0"/>
              <p:cNvSpPr/>
              <p:nvPr/>
            </p:nvSpPr>
            <p:spPr>
              <a:xfrm>
                <a:off x="218770" y="1853260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2" name="batch_r0_e1" descr="Editable line; source id batch_r0_e1"/>
              <p:cNvSpPr/>
              <p:nvPr/>
            </p:nvSpPr>
            <p:spPr>
              <a:xfrm>
                <a:off x="507112" y="1874634"/>
                <a:ext cx="12740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8" h="8082">
                    <a:moveTo>
                      <a:pt x="0" y="3143"/>
                    </a:moveTo>
                    <a:lnTo>
                      <a:pt x="34722" y="3143"/>
                    </a:lnTo>
                    <a:lnTo>
                      <a:pt x="34722" y="0"/>
                    </a:lnTo>
                    <a:lnTo>
                      <a:pt x="45498" y="4041"/>
                    </a:lnTo>
                    <a:lnTo>
                      <a:pt x="34722" y="8082"/>
                    </a:lnTo>
                    <a:lnTo>
                      <a:pt x="34722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3" name="batch_r0_n1" descr="Editable shape; source id batch_r0_n1"/>
              <p:cNvSpPr/>
              <p:nvPr/>
            </p:nvSpPr>
            <p:spPr>
              <a:xfrm>
                <a:off x="431673" y="1853260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4" name="batch_r0_e2" descr="Editable line; source id batch_r0_e2"/>
              <p:cNvSpPr/>
              <p:nvPr/>
            </p:nvSpPr>
            <p:spPr>
              <a:xfrm>
                <a:off x="720013" y="1874634"/>
                <a:ext cx="12740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9" h="8082">
                    <a:moveTo>
                      <a:pt x="0" y="3143"/>
                    </a:moveTo>
                    <a:lnTo>
                      <a:pt x="34723" y="3143"/>
                    </a:lnTo>
                    <a:lnTo>
                      <a:pt x="34723" y="0"/>
                    </a:lnTo>
                    <a:lnTo>
                      <a:pt x="45499" y="4041"/>
                    </a:lnTo>
                    <a:lnTo>
                      <a:pt x="34723" y="8082"/>
                    </a:lnTo>
                    <a:lnTo>
                      <a:pt x="34723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5" name="batch_r0_n2" descr="Editable shape; source id batch_r0_n2"/>
              <p:cNvSpPr/>
              <p:nvPr/>
            </p:nvSpPr>
            <p:spPr>
              <a:xfrm>
                <a:off x="644575" y="1853260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6" name="batch_r0_n3" descr="Editable shape; source id batch_r0_n3"/>
              <p:cNvSpPr/>
              <p:nvPr/>
            </p:nvSpPr>
            <p:spPr>
              <a:xfrm>
                <a:off x="857478" y="1853260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batch_r1_e0" descr="Editable line; source id batch_r1_e0"/>
              <p:cNvSpPr/>
              <p:nvPr/>
            </p:nvSpPr>
            <p:spPr>
              <a:xfrm>
                <a:off x="294208" y="2038083"/>
                <a:ext cx="12740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9" h="8082">
                    <a:moveTo>
                      <a:pt x="0" y="3143"/>
                    </a:moveTo>
                    <a:lnTo>
                      <a:pt x="34723" y="3143"/>
                    </a:lnTo>
                    <a:lnTo>
                      <a:pt x="34723" y="0"/>
                    </a:lnTo>
                    <a:lnTo>
                      <a:pt x="45499" y="4041"/>
                    </a:lnTo>
                    <a:lnTo>
                      <a:pt x="34723" y="8082"/>
                    </a:lnTo>
                    <a:lnTo>
                      <a:pt x="34723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batch_r1_n0" descr="Editable shape; source id batch_r1_n0"/>
              <p:cNvSpPr/>
              <p:nvPr/>
            </p:nvSpPr>
            <p:spPr>
              <a:xfrm>
                <a:off x="218770" y="2016709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batch_r1_e1" descr="Editable line; source id batch_r1_e1"/>
              <p:cNvSpPr/>
              <p:nvPr/>
            </p:nvSpPr>
            <p:spPr>
              <a:xfrm>
                <a:off x="507112" y="2038083"/>
                <a:ext cx="12740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8" h="8082">
                    <a:moveTo>
                      <a:pt x="0" y="3143"/>
                    </a:moveTo>
                    <a:lnTo>
                      <a:pt x="34722" y="3143"/>
                    </a:lnTo>
                    <a:lnTo>
                      <a:pt x="34722" y="0"/>
                    </a:lnTo>
                    <a:lnTo>
                      <a:pt x="45498" y="4041"/>
                    </a:lnTo>
                    <a:lnTo>
                      <a:pt x="34722" y="8082"/>
                    </a:lnTo>
                    <a:lnTo>
                      <a:pt x="34722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batch_r1_n1" descr="Editable shape; source id batch_r1_n1"/>
              <p:cNvSpPr/>
              <p:nvPr/>
            </p:nvSpPr>
            <p:spPr>
              <a:xfrm>
                <a:off x="431673" y="2016709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batch_r1_e2" descr="Editable line; source id batch_r1_e2"/>
              <p:cNvSpPr/>
              <p:nvPr/>
            </p:nvSpPr>
            <p:spPr>
              <a:xfrm>
                <a:off x="720013" y="2038083"/>
                <a:ext cx="12740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45499" h="8082">
                    <a:moveTo>
                      <a:pt x="0" y="3143"/>
                    </a:moveTo>
                    <a:lnTo>
                      <a:pt x="34723" y="3143"/>
                    </a:lnTo>
                    <a:lnTo>
                      <a:pt x="34723" y="0"/>
                    </a:lnTo>
                    <a:lnTo>
                      <a:pt x="45499" y="4041"/>
                    </a:lnTo>
                    <a:lnTo>
                      <a:pt x="34723" y="8082"/>
                    </a:lnTo>
                    <a:lnTo>
                      <a:pt x="34723" y="4939"/>
                    </a:lnTo>
                    <a:lnTo>
                      <a:pt x="0" y="4939"/>
                    </a:lnTo>
                    <a:close/>
                  </a:path>
                </a:pathLst>
              </a:custGeom>
              <a:solidFill>
                <a:srgbClr val="70828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batch_r1_n2" descr="Editable shape; source id batch_r1_n2"/>
              <p:cNvSpPr/>
              <p:nvPr/>
            </p:nvSpPr>
            <p:spPr>
              <a:xfrm>
                <a:off x="644575" y="2016709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batch_r1_n3" descr="Editable shape; source id batch_r1_n3"/>
              <p:cNvSpPr/>
              <p:nvPr/>
            </p:nvSpPr>
            <p:spPr>
              <a:xfrm>
                <a:off x="857478" y="2016709"/>
                <a:ext cx="65379" cy="65379"/>
              </a:xfrm>
              <a:prstGeom prst="ellipse">
                <a:avLst/>
              </a:prstGeom>
              <a:solidFill>
                <a:srgbClr val="EEF6F5"/>
              </a:solidFill>
              <a:ln w="4526">
                <a:solidFill>
                  <a:srgbClr val="087F8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</p:grpSp>
      <p:grpSp>
        <p:nvGrpSpPr>
          <p:cNvPr id="209" name="cost_feedback" descr="cost feedback"/>
          <p:cNvGrpSpPr/>
          <p:nvPr/>
        </p:nvGrpSpPr>
        <p:grpSpPr>
          <a:xfrm>
            <a:off x="1760220" y="1730044"/>
            <a:ext cx="1388059" cy="387248"/>
            <a:chOff x="1760220" y="1730044"/>
            <a:chExt cx="1388059" cy="387248"/>
          </a:xfrm>
        </p:grpSpPr>
        <p:sp>
          <p:nvSpPr>
            <p:cNvPr id="124" name="cost_feedback_panel" descr="Editable shape; source id cost_feedback_panel"/>
            <p:cNvSpPr/>
            <p:nvPr/>
          </p:nvSpPr>
          <p:spPr>
            <a:xfrm>
              <a:off x="1760220" y="1730044"/>
              <a:ext cx="1388059" cy="387248"/>
            </a:xfrm>
            <a:prstGeom prst="roundRect">
              <a:avLst>
                <a:gd name="adj" fmla="val 5194"/>
              </a:avLst>
            </a:prstGeom>
            <a:solidFill>
              <a:srgbClr val="FFFFFF"/>
            </a:solidFill>
            <a:ln w="4526">
              <a:solidFill>
                <a:srgbClr val="CADAD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feedback_heading" descr="Editable text; source id feedback_heading"/>
            <p:cNvSpPr txBox="1"/>
            <p:nvPr/>
          </p:nvSpPr>
          <p:spPr>
            <a:xfrm>
              <a:off x="2145525" y="1742264"/>
              <a:ext cx="625849" cy="132690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Cost feedback</a:t>
              </a:r>
            </a:p>
          </p:txBody>
        </p:sp>
        <p:grpSp>
          <p:nvGrpSpPr>
            <p:cNvPr id="208" name="feedback_rule" descr="Editable formula parts and native mathematical delimiters."/>
            <p:cNvGrpSpPr/>
            <p:nvPr/>
          </p:nvGrpSpPr>
          <p:grpSpPr>
            <a:xfrm>
              <a:off x="2046626" y="1905170"/>
              <a:ext cx="811604" cy="131574"/>
              <a:chOff x="2046626" y="1905170"/>
              <a:chExt cx="811604" cy="131574"/>
            </a:xfrm>
          </p:grpSpPr>
          <p:sp>
            <p:nvSpPr>
              <p:cNvPr id="126" name="feedback_rule_0" descr="Editable text; source id feedback_rule_0"/>
              <p:cNvSpPr txBox="1"/>
              <p:nvPr/>
            </p:nvSpPr>
            <p:spPr>
              <a:xfrm>
                <a:off x="2046626" y="1905170"/>
                <a:ext cx="739258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35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β ← [β + η(J̄ − B)</a:t>
                </a:r>
              </a:p>
            </p:txBody>
          </p:sp>
          <p:sp>
            <p:nvSpPr>
              <p:cNvPr id="127" name="feedback_rule_1" descr="Editable text; source id feedback_rule_1"/>
              <p:cNvSpPr txBox="1"/>
              <p:nvPr/>
            </p:nvSpPr>
            <p:spPr>
              <a:xfrm>
                <a:off x="2784626" y="1905170"/>
                <a:ext cx="37102" cy="116980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]</a:t>
                </a:r>
              </a:p>
            </p:txBody>
          </p:sp>
          <p:sp>
            <p:nvSpPr>
              <p:cNvPr id="128" name="feedback_rule_2" descr="Editable text; source id feedback_rule_2"/>
              <p:cNvSpPr txBox="1"/>
              <p:nvPr/>
            </p:nvSpPr>
            <p:spPr>
              <a:xfrm>
                <a:off x="2817529" y="1958109"/>
                <a:ext cx="40701" cy="78635"/>
              </a:xfrm>
              <a:prstGeom prst="rect">
                <a:avLst/>
              </a:prstGeom>
              <a:noFill/>
              <a:effectLst/>
            </p:spPr>
            <p:txBody>
              <a:bodyPr wrap="none" anchor="t" tIns="1400" rIns="0" bIns="0" lIns="1400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4343C"/>
                    </a:solidFill>
                    <a:latin typeface="Liberation Serif"/>
                    <a:ea typeface="Liberation Serif"/>
                    <a:cs typeface="Liberation Serif"/>
                  </a:rPr>
                  <a:t>+</a:t>
                </a:r>
              </a:p>
            </p:txBody>
          </p:sp>
        </p:grpSp>
      </p:grpSp>
      <p:grpSp>
        <p:nvGrpSpPr>
          <p:cNvPr id="213" name="policy_update" descr="policy update"/>
          <p:cNvGrpSpPr/>
          <p:nvPr/>
        </p:nvGrpSpPr>
        <p:grpSpPr>
          <a:xfrm>
            <a:off x="3922776" y="1662150"/>
            <a:ext cx="993267" cy="512978"/>
            <a:chOff x="3922776" y="1662150"/>
            <a:chExt cx="993267" cy="512978"/>
          </a:xfrm>
        </p:grpSpPr>
        <p:sp>
          <p:nvSpPr>
            <p:cNvPr id="129" name="policy_update_panel" descr="Editable shape; source id policy_update_panel"/>
            <p:cNvSpPr/>
            <p:nvPr/>
          </p:nvSpPr>
          <p:spPr>
            <a:xfrm>
              <a:off x="3922776" y="1662150"/>
              <a:ext cx="993267" cy="512978"/>
            </a:xfrm>
            <a:prstGeom prst="roundRect">
              <a:avLst>
                <a:gd name="adj" fmla="val 3921"/>
              </a:avLst>
            </a:prstGeom>
            <a:solidFill>
              <a:srgbClr val="FFFFFF"/>
            </a:solidFill>
            <a:ln w="4777">
              <a:solidFill>
                <a:srgbClr val="087F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policy_heading" descr="Editable text; source id policy_heading"/>
            <p:cNvSpPr txBox="1"/>
            <p:nvPr/>
          </p:nvSpPr>
          <p:spPr>
            <a:xfrm>
              <a:off x="4013005" y="1681914"/>
              <a:ext cx="818693" cy="132690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10"/>
                </a:lnSpc>
                <a:spcBef>
                  <a:spcPts val="0"/>
                </a:spcBef>
                <a:spcAft>
                  <a:spcPts val="0"/>
                </a:spcAft>
                <a:def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92" b="1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One priced update</a:t>
              </a:r>
            </a:p>
          </p:txBody>
        </p:sp>
        <p:grpSp>
          <p:nvGrpSpPr>
            <p:cNvPr id="212" name="normalized_advantage" descr="normalized advantage"/>
            <p:cNvGrpSpPr/>
            <p:nvPr/>
          </p:nvGrpSpPr>
          <p:grpSpPr>
            <a:xfrm>
              <a:off x="3940378" y="1803343"/>
              <a:ext cx="955548" cy="245153"/>
              <a:chOff x="3940378" y="1803343"/>
              <a:chExt cx="955548" cy="245153"/>
            </a:xfrm>
          </p:grpSpPr>
          <p:grpSp>
            <p:nvGrpSpPr>
              <p:cNvPr id="210" name="normalized_advantage_numerator" descr="Editable formula parts and native mathematical delimiters."/>
              <p:cNvGrpSpPr/>
              <p:nvPr/>
            </p:nvGrpSpPr>
            <p:grpSpPr>
              <a:xfrm>
                <a:off x="4165659" y="1803343"/>
                <a:ext cx="498068" cy="134194"/>
                <a:chOff x="4165659" y="1803343"/>
                <a:chExt cx="498068" cy="134194"/>
              </a:xfrm>
            </p:grpSpPr>
            <p:sp>
              <p:nvSpPr>
                <p:cNvPr id="131" name="normalized_advantage_numerator_0" descr="Editable text; source id normalized_advantage_numerator_0"/>
                <p:cNvSpPr txBox="1"/>
                <p:nvPr/>
              </p:nvSpPr>
              <p:spPr>
                <a:xfrm>
                  <a:off x="4165659" y="1803343"/>
                  <a:ext cx="7140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32" name="normalized_advantage_numerator_1" descr="Editable text; source id normalized_advantage_numerator_1"/>
                <p:cNvSpPr txBox="1"/>
                <p:nvPr/>
              </p:nvSpPr>
              <p:spPr>
                <a:xfrm>
                  <a:off x="4232864" y="1852371"/>
                  <a:ext cx="24097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r</a:t>
                  </a:r>
                </a:p>
              </p:txBody>
            </p:sp>
            <p:sp>
              <p:nvSpPr>
                <p:cNvPr id="133" name="normalized_advantage_numerator_2" descr="Editable text; source id normalized_advantage_numerator_2"/>
                <p:cNvSpPr txBox="1"/>
                <p:nvPr/>
              </p:nvSpPr>
              <p:spPr>
                <a:xfrm>
                  <a:off x="4255477" y="1803343"/>
                  <a:ext cx="100808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 − </a:t>
                  </a:r>
                </a:p>
              </p:txBody>
            </p:sp>
            <p:sp>
              <p:nvSpPr>
                <p:cNvPr id="134" name="normalized_advantage_numerator_3" descr="Editable text; source id normalized_advantage_numerator_3"/>
                <p:cNvSpPr txBox="1"/>
                <p:nvPr/>
              </p:nvSpPr>
              <p:spPr>
                <a:xfrm>
                  <a:off x="4354801" y="1803343"/>
                  <a:ext cx="6872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∑</a:t>
                  </a:r>
                </a:p>
              </p:txBody>
            </p:sp>
            <p:sp>
              <p:nvSpPr>
                <p:cNvPr id="135" name="normalized_advantage_numerator_4" descr="Editable text; source id normalized_advantage_numerator_4"/>
                <p:cNvSpPr txBox="1"/>
                <p:nvPr/>
              </p:nvSpPr>
              <p:spPr>
                <a:xfrm>
                  <a:off x="4419326" y="1852371"/>
                  <a:ext cx="343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6" name="normalized_advantage_numerator_5" descr="Editable text; source id normalized_advantage_numerator_5"/>
                <p:cNvSpPr txBox="1"/>
                <p:nvPr/>
              </p:nvSpPr>
              <p:spPr>
                <a:xfrm>
                  <a:off x="4471975" y="1803343"/>
                  <a:ext cx="49003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42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37" name="normalized_advantage_numerator_6" descr="Editable text; source id normalized_advantage_numerator_6"/>
                <p:cNvSpPr txBox="1"/>
                <p:nvPr/>
              </p:nvSpPr>
              <p:spPr>
                <a:xfrm>
                  <a:off x="4516779" y="1852371"/>
                  <a:ext cx="343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38" name="normalized_advantage_numerator_7" descr="Editable text; source id normalized_advantage_numerator_7"/>
                <p:cNvSpPr txBox="1"/>
                <p:nvPr/>
              </p:nvSpPr>
              <p:spPr>
                <a:xfrm>
                  <a:off x="4543997" y="1803343"/>
                  <a:ext cx="7140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70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39" name="normalized_advantage_numerator_8" descr="Editable text; source id normalized_advantage_numerator_8"/>
                <p:cNvSpPr txBox="1"/>
                <p:nvPr/>
              </p:nvSpPr>
              <p:spPr>
                <a:xfrm>
                  <a:off x="4611202" y="1852371"/>
                  <a:ext cx="308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140" name="normalized_advantage_numerator_9" descr="Editable text; source id normalized_advantage_numerator_9"/>
                <p:cNvSpPr txBox="1"/>
                <p:nvPr/>
              </p:nvSpPr>
              <p:spPr>
                <a:xfrm>
                  <a:off x="4637804" y="1883367"/>
                  <a:ext cx="25923" cy="54170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393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4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4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  <p:cxnSp>
            <p:nvCxnSpPr>
              <p:cNvPr id="141" name="normalized_advantage_bar" descr="Editable line; source id normalized_advantage_bar"/>
              <p:cNvCxnSpPr/>
              <p:nvPr/>
            </p:nvCxnSpPr>
            <p:spPr>
              <a:xfrm>
                <a:off x="3940378" y="1931212"/>
                <a:ext cx="955548" cy="0"/>
              </a:xfrm>
              <a:prstGeom prst="line">
                <a:avLst/>
              </a:prstGeom>
              <a:ln w="4526" cap="rnd">
                <a:solidFill>
                  <a:srgbClr val="24343C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1" name="normalized_advantage_denominator" descr="Editable formula parts and native mathematical delimiters."/>
              <p:cNvGrpSpPr/>
              <p:nvPr/>
            </p:nvGrpSpPr>
            <p:grpSpPr>
              <a:xfrm>
                <a:off x="4247208" y="1926558"/>
                <a:ext cx="340571" cy="121938"/>
                <a:chOff x="4247208" y="1926558"/>
                <a:chExt cx="340571" cy="121938"/>
              </a:xfrm>
            </p:grpSpPr>
            <p:sp>
              <p:nvSpPr>
                <p:cNvPr id="142" name="normalized_advantage_denominator_0" descr="Editable text; source id normalized_advantage_denominator_0"/>
                <p:cNvSpPr txBox="1"/>
                <p:nvPr/>
              </p:nvSpPr>
              <p:spPr>
                <a:xfrm>
                  <a:off x="4247208" y="1926558"/>
                  <a:ext cx="14577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1 + </a:t>
                  </a:r>
                </a:p>
              </p:txBody>
            </p:sp>
            <p:sp>
              <p:nvSpPr>
                <p:cNvPr id="143" name="normalized_advantage_denominator_1" descr="Editable text; source id normalized_advantage_denominator_1"/>
                <p:cNvSpPr txBox="1"/>
                <p:nvPr/>
              </p:nvSpPr>
              <p:spPr>
                <a:xfrm>
                  <a:off x="4391499" y="1926558"/>
                  <a:ext cx="68725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∑</a:t>
                  </a:r>
                </a:p>
              </p:txBody>
            </p:sp>
            <p:sp>
              <p:nvSpPr>
                <p:cNvPr id="144" name="normalized_advantage_denominator_2" descr="Editable text; source id normalized_advantage_denominator_2"/>
                <p:cNvSpPr txBox="1"/>
                <p:nvPr/>
              </p:nvSpPr>
              <p:spPr>
                <a:xfrm>
                  <a:off x="4456024" y="1975587"/>
                  <a:ext cx="343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145" name="normalized_advantage_denominator_3" descr="Editable text; source id normalized_advantage_denominator_3"/>
                <p:cNvSpPr txBox="1"/>
                <p:nvPr/>
              </p:nvSpPr>
              <p:spPr>
                <a:xfrm>
                  <a:off x="4508674" y="1926558"/>
                  <a:ext cx="49003" cy="10830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4200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12" b="0" i="1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λ</a:t>
                  </a:r>
                </a:p>
              </p:txBody>
            </p:sp>
            <p:sp>
              <p:nvSpPr>
                <p:cNvPr id="146" name="normalized_advantage_denominator_4" descr="Editable text; source id normalized_advantage_denominator_4"/>
                <p:cNvSpPr txBox="1"/>
                <p:nvPr/>
              </p:nvSpPr>
              <p:spPr>
                <a:xfrm>
                  <a:off x="4553477" y="1975587"/>
                  <a:ext cx="34302" cy="72909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00" rIns="0" bIns="0" lIns="1400" anchorCtr="0" vertOverflow="overflow">
                  <a:noAutofit/>
                </a:bodyPr>
                <a:lstStyle/>
                <a:p>
                  <a:pPr algn="l" fontAlgn="base">
                    <a:lnSpc>
                      <a:spcPts val="54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70" b="0" i="0" lang="zh-CN" dirty="0">
                      <a:solidFill>
                        <a:srgbClr val="24343C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</p:grpSp>
        </p:grpSp>
        <p:sp>
          <p:nvSpPr>
            <p:cNvPr id="147" name="optimizer" descr="Editable text; source id optimizer"/>
            <p:cNvSpPr txBox="1"/>
            <p:nvPr/>
          </p:nvSpPr>
          <p:spPr>
            <a:xfrm>
              <a:off x="4154931" y="2043473"/>
              <a:ext cx="534842" cy="123788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1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PPO / TRPO</a:t>
              </a:r>
            </a:p>
          </p:txBody>
        </p:sp>
      </p:grpSp>
      <p:grpSp>
        <p:nvGrpSpPr>
          <p:cNvPr id="214" name="gae_bypass" descr="One editable routed connector; fixed endpoints."/>
          <p:cNvGrpSpPr/>
          <p:nvPr/>
        </p:nvGrpSpPr>
        <p:grpSpPr>
          <a:xfrm>
            <a:off x="1056132" y="2029282"/>
            <a:ext cx="3199828" cy="211227"/>
            <a:chOff x="1056132" y="2029282"/>
            <a:chExt cx="3199828" cy="211227"/>
          </a:xfrm>
        </p:grpSpPr>
        <p:cxnSp>
          <p:nvCxnSpPr>
            <p:cNvPr id="148" name="gae_bypass_0" descr="Editable line; source id gae_bypass_0"/>
            <p:cNvCxnSpPr/>
            <p:nvPr/>
          </p:nvCxnSpPr>
          <p:spPr>
            <a:xfrm>
              <a:off x="1056132" y="2029282"/>
              <a:ext cx="145846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gae_bypass_1" descr="Editable line; source id gae_bypass_1"/>
            <p:cNvCxnSpPr/>
            <p:nvPr/>
          </p:nvCxnSpPr>
          <p:spPr>
            <a:xfrm>
              <a:off x="1201978" y="2029282"/>
              <a:ext cx="0" cy="211226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gae_bypass_2" descr="Editable line; source id gae_bypass_2"/>
            <p:cNvCxnSpPr/>
            <p:nvPr/>
          </p:nvCxnSpPr>
          <p:spPr>
            <a:xfrm>
              <a:off x="1201978" y="2240508"/>
              <a:ext cx="3042666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gae_bypass_3" descr="Editable line; source id gae_bypass_3"/>
            <p:cNvSpPr/>
            <p:nvPr/>
          </p:nvSpPr>
          <p:spPr>
            <a:xfrm>
              <a:off x="4233329" y="2187702"/>
              <a:ext cx="22631" cy="52807"/>
            </a:xfrm>
            <a:custGeom>
              <a:avLst/>
              <a:gdLst/>
              <a:ahLst/>
              <a:cxnLst/>
              <a:rect l="l" t="t" r="r" b="b"/>
              <a:pathLst>
                <a:path w="8082" h="18858">
                  <a:moveTo>
                    <a:pt x="3098" y="18858"/>
                  </a:moveTo>
                  <a:lnTo>
                    <a:pt x="3098" y="10776"/>
                  </a:lnTo>
                  <a:lnTo>
                    <a:pt x="0" y="10776"/>
                  </a:lnTo>
                  <a:lnTo>
                    <a:pt x="4041" y="0"/>
                  </a:lnTo>
                  <a:lnTo>
                    <a:pt x="8082" y="10776"/>
                  </a:lnTo>
                  <a:lnTo>
                    <a:pt x="4984" y="10776"/>
                  </a:lnTo>
                  <a:lnTo>
                    <a:pt x="4984" y="18858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gae_label" descr="Editable formula parts and native mathematical delimiters."/>
          <p:cNvGrpSpPr/>
          <p:nvPr/>
        </p:nvGrpSpPr>
        <p:grpSpPr>
          <a:xfrm>
            <a:off x="2229583" y="2261415"/>
            <a:ext cx="468058" cy="125148"/>
            <a:chOff x="2229583" y="2261415"/>
            <a:chExt cx="468058" cy="125148"/>
          </a:xfrm>
        </p:grpSpPr>
        <p:sp>
          <p:nvSpPr>
            <p:cNvPr id="152" name="gae_label_0" descr="Editable text; source id gae_label_0"/>
            <p:cNvSpPr txBox="1"/>
            <p:nvPr/>
          </p:nvSpPr>
          <p:spPr>
            <a:xfrm>
              <a:off x="2229583" y="2261415"/>
              <a:ext cx="239419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GAE: </a:t>
              </a:r>
            </a:p>
          </p:txBody>
        </p:sp>
        <p:sp>
          <p:nvSpPr>
            <p:cNvPr id="153" name="gae_label_1" descr="Editable text; source id gae_label_1"/>
            <p:cNvSpPr txBox="1"/>
            <p:nvPr/>
          </p:nvSpPr>
          <p:spPr>
            <a:xfrm>
              <a:off x="2461992" y="2261415"/>
              <a:ext cx="72805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70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54" name="gae_label_2" descr="Editable text; source id gae_label_2"/>
            <p:cNvSpPr txBox="1"/>
            <p:nvPr/>
          </p:nvSpPr>
          <p:spPr>
            <a:xfrm>
              <a:off x="2530598" y="2311746"/>
              <a:ext cx="24644" cy="74817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r</a:t>
              </a:r>
            </a:p>
          </p:txBody>
        </p:sp>
        <p:sp>
          <p:nvSpPr>
            <p:cNvPr id="155" name="gae_label_3" descr="Editable text; source id gae_label_3"/>
            <p:cNvSpPr txBox="1"/>
            <p:nvPr/>
          </p:nvSpPr>
          <p:spPr>
            <a:xfrm>
              <a:off x="2553833" y="2261415"/>
              <a:ext cx="50710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, </a:t>
              </a:r>
            </a:p>
          </p:txBody>
        </p:sp>
        <p:sp>
          <p:nvSpPr>
            <p:cNvPr id="156" name="gae_label_4" descr="Editable text; source id gae_label_4"/>
            <p:cNvSpPr txBox="1"/>
            <p:nvPr/>
          </p:nvSpPr>
          <p:spPr>
            <a:xfrm>
              <a:off x="2597533" y="2261415"/>
              <a:ext cx="72805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70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A</a:t>
              </a:r>
            </a:p>
          </p:txBody>
        </p:sp>
        <p:sp>
          <p:nvSpPr>
            <p:cNvPr id="157" name="gae_label_5" descr="Editable text; source id gae_label_5"/>
            <p:cNvSpPr txBox="1"/>
            <p:nvPr/>
          </p:nvSpPr>
          <p:spPr>
            <a:xfrm>
              <a:off x="2666139" y="2311746"/>
              <a:ext cx="31502" cy="74817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c</a:t>
              </a:r>
            </a:p>
          </p:txBody>
        </p:sp>
      </p:grpSp>
      <p:grpSp>
        <p:nvGrpSpPr>
          <p:cNvPr id="216" name="data_to_graph" descr="One editable routed connector; fixed endpoints."/>
          <p:cNvGrpSpPr/>
          <p:nvPr/>
        </p:nvGrpSpPr>
        <p:grpSpPr>
          <a:xfrm>
            <a:off x="72923" y="1214552"/>
            <a:ext cx="516750" cy="578357"/>
            <a:chOff x="72923" y="1214552"/>
            <a:chExt cx="516750" cy="578357"/>
          </a:xfrm>
        </p:grpSpPr>
        <p:cxnSp>
          <p:nvCxnSpPr>
            <p:cNvPr id="158" name="data_to_graph_0" descr="Editable line; source id data_to_graph_0"/>
            <p:cNvCxnSpPr/>
            <p:nvPr/>
          </p:nvCxnSpPr>
          <p:spPr>
            <a:xfrm flipH="1">
              <a:off x="72923" y="1792909"/>
              <a:ext cx="27661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data_to_graph_1" descr="Editable line; source id data_to_graph_1"/>
            <p:cNvCxnSpPr/>
            <p:nvPr/>
          </p:nvCxnSpPr>
          <p:spPr>
            <a:xfrm flipV="1">
              <a:off x="72923" y="1282446"/>
              <a:ext cx="0" cy="510463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data_to_graph_2" descr="Editable line; source id data_to_graph_2"/>
            <p:cNvCxnSpPr/>
            <p:nvPr/>
          </p:nvCxnSpPr>
          <p:spPr>
            <a:xfrm>
              <a:off x="72923" y="1282446"/>
              <a:ext cx="505435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data_to_graph_3" descr="Editable line; source id data_to_graph_3"/>
            <p:cNvSpPr/>
            <p:nvPr/>
          </p:nvSpPr>
          <p:spPr>
            <a:xfrm>
              <a:off x="567042" y="1214552"/>
              <a:ext cx="22631" cy="67894"/>
            </a:xfrm>
            <a:custGeom>
              <a:avLst/>
              <a:gdLst/>
              <a:ahLst/>
              <a:cxnLst/>
              <a:rect l="l" t="t" r="r" b="b"/>
              <a:pathLst>
                <a:path w="8082" h="24246">
                  <a:moveTo>
                    <a:pt x="3098" y="24246"/>
                  </a:moveTo>
                  <a:lnTo>
                    <a:pt x="3098" y="10776"/>
                  </a:lnTo>
                  <a:lnTo>
                    <a:pt x="0" y="10776"/>
                  </a:lnTo>
                  <a:lnTo>
                    <a:pt x="4041" y="0"/>
                  </a:lnTo>
                  <a:lnTo>
                    <a:pt x="8082" y="10776"/>
                  </a:lnTo>
                  <a:lnTo>
                    <a:pt x="4984" y="10776"/>
                  </a:lnTo>
                  <a:lnTo>
                    <a:pt x="4984" y="24246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2" name="transition_label" descr="Editable text; source id transition_label"/>
          <p:cNvSpPr txBox="1"/>
          <p:nvPr/>
        </p:nvSpPr>
        <p:spPr>
          <a:xfrm>
            <a:off x="1075677" y="1233772"/>
            <a:ext cx="692355" cy="123788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842"/>
              </a:lnSpc>
              <a:spcBef>
                <a:spcPts val="0"/>
              </a:spcBef>
              <a:spcAft>
                <a:spcPts val="0"/>
              </a:spcAft>
              <a:defRPr sz="732" b="0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32" b="0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transitions + costs</a:t>
            </a:r>
          </a:p>
        </p:txBody>
      </p:sp>
      <p:sp>
        <p:nvSpPr>
          <p:cNvPr id="163" name="episode_costs" descr="Editable line; source id episode_costs"/>
          <p:cNvSpPr/>
          <p:nvPr/>
        </p:nvSpPr>
        <p:spPr>
          <a:xfrm>
            <a:off x="1056132" y="1914868"/>
            <a:ext cx="689000" cy="22631"/>
          </a:xfrm>
          <a:custGeom>
            <a:avLst/>
            <a:gdLst/>
            <a:ahLst/>
            <a:cxnLst/>
            <a:rect l="l" t="t" r="r" b="b"/>
            <a:pathLst>
              <a:path w="246052" h="8082">
                <a:moveTo>
                  <a:pt x="0" y="3098"/>
                </a:moveTo>
                <a:lnTo>
                  <a:pt x="235276" y="3098"/>
                </a:lnTo>
                <a:lnTo>
                  <a:pt x="235276" y="0"/>
                </a:lnTo>
                <a:lnTo>
                  <a:pt x="246052" y="4041"/>
                </a:lnTo>
                <a:lnTo>
                  <a:pt x="235276" y="8082"/>
                </a:lnTo>
                <a:lnTo>
                  <a:pt x="235276" y="4984"/>
                </a:lnTo>
                <a:lnTo>
                  <a:pt x="0" y="4984"/>
                </a:lnTo>
                <a:close/>
              </a:path>
            </a:pathLst>
          </a:custGeom>
          <a:solidFill>
            <a:srgbClr val="708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episode_cost_label_0" descr="Editable text; source id episode_cost_label_0"/>
          <p:cNvSpPr txBox="1"/>
          <p:nvPr/>
        </p:nvSpPr>
        <p:spPr>
          <a:xfrm>
            <a:off x="1197648" y="1783641"/>
            <a:ext cx="378030" cy="111196"/>
          </a:xfrm>
          <a:prstGeom prst="rect">
            <a:avLst/>
          </a:prstGeom>
          <a:noFill/>
          <a:effectLst/>
        </p:spPr>
        <p:txBody>
          <a:bodyPr wrap="none" anchor="t" tIns="1400" rIns="0" bIns="0" lIns="2800" anchorCtr="0" vertOverflow="overflow">
            <a:noAutofit/>
          </a:bodyPr>
          <a:lstStyle/>
          <a:p>
            <a:pPr algn="l" fontAlgn="base">
              <a:lnSpc>
                <a:spcPts val="842"/>
              </a:lnSpc>
              <a:spcBef>
                <a:spcPts val="0"/>
              </a:spcBef>
              <a:spcAft>
                <a:spcPts val="0"/>
              </a:spcAft>
              <a:defRPr sz="732" b="0" i="1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32" b="0" i="1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Episode J̄</a:t>
            </a:r>
          </a:p>
        </p:txBody>
      </p:sp>
      <p:grpSp>
        <p:nvGrpSpPr>
          <p:cNvPr id="217" name="graph_price_transfer" descr="One editable routed connector; fixed endpoints."/>
          <p:cNvGrpSpPr/>
          <p:nvPr/>
        </p:nvGrpSpPr>
        <p:grpSpPr>
          <a:xfrm>
            <a:off x="3534270" y="1214551"/>
            <a:ext cx="841133" cy="646253"/>
            <a:chOff x="3534270" y="1214551"/>
            <a:chExt cx="841133" cy="646253"/>
          </a:xfrm>
        </p:grpSpPr>
        <p:cxnSp>
          <p:nvCxnSpPr>
            <p:cNvPr id="165" name="graph_price_transfer_0" descr="Editable line; source id graph_price_transfer_0"/>
            <p:cNvCxnSpPr/>
            <p:nvPr/>
          </p:nvCxnSpPr>
          <p:spPr>
            <a:xfrm>
              <a:off x="4375403" y="1214551"/>
              <a:ext cx="0" cy="294209"/>
            </a:xfrm>
            <a:prstGeom prst="line">
              <a:avLst/>
            </a:prstGeom>
            <a:ln w="7040" cap="rnd">
              <a:solidFill>
                <a:srgbClr val="087F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graph_price_transfer_1" descr="Editable line; source id graph_price_transfer_1"/>
            <p:cNvCxnSpPr/>
            <p:nvPr/>
          </p:nvCxnSpPr>
          <p:spPr>
            <a:xfrm flipH="1">
              <a:off x="3545586" y="1508760"/>
              <a:ext cx="829817" cy="0"/>
            </a:xfrm>
            <a:prstGeom prst="line">
              <a:avLst/>
            </a:prstGeom>
            <a:ln w="7040" cap="rnd">
              <a:solidFill>
                <a:srgbClr val="087F86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graph_price_transfer_2" descr="Editable line; source id graph_price_transfer_2"/>
            <p:cNvSpPr/>
            <p:nvPr/>
          </p:nvSpPr>
          <p:spPr>
            <a:xfrm>
              <a:off x="3534270" y="1508760"/>
              <a:ext cx="22631" cy="352044"/>
            </a:xfrm>
            <a:custGeom>
              <a:avLst/>
              <a:gdLst/>
              <a:ahLst/>
              <a:cxnLst/>
              <a:rect l="l" t="t" r="r" b="b"/>
              <a:pathLst>
                <a:path w="8082" h="125720">
                  <a:moveTo>
                    <a:pt x="5298" y="0"/>
                  </a:moveTo>
                  <a:lnTo>
                    <a:pt x="5298" y="114944"/>
                  </a:lnTo>
                  <a:lnTo>
                    <a:pt x="8082" y="114944"/>
                  </a:lnTo>
                  <a:lnTo>
                    <a:pt x="4041" y="125720"/>
                  </a:lnTo>
                  <a:lnTo>
                    <a:pt x="0" y="114944"/>
                  </a:lnTo>
                  <a:lnTo>
                    <a:pt x="2784" y="114944"/>
                  </a:lnTo>
                  <a:lnTo>
                    <a:pt x="2784" y="0"/>
                  </a:lnTo>
                  <a:close/>
                </a:path>
              </a:pathLst>
            </a:custGeom>
            <a:solidFill>
              <a:srgbClr val="087F8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8" name="barlambda_label" descr="Editable formula parts and native mathematical delimiters."/>
          <p:cNvGrpSpPr/>
          <p:nvPr/>
        </p:nvGrpSpPr>
        <p:grpSpPr>
          <a:xfrm>
            <a:off x="3591920" y="1696575"/>
            <a:ext cx="104307" cy="127853"/>
            <a:chOff x="3591920" y="1696575"/>
            <a:chExt cx="104307" cy="127853"/>
          </a:xfrm>
        </p:grpSpPr>
        <p:sp>
          <p:nvSpPr>
            <p:cNvPr id="168" name="barlambda_label_0" descr="Editable text; source id barlambda_label_0"/>
            <p:cNvSpPr txBox="1"/>
            <p:nvPr/>
          </p:nvSpPr>
          <p:spPr>
            <a:xfrm>
              <a:off x="3591920" y="1713232"/>
              <a:ext cx="73505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42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λ̄</a:t>
              </a:r>
            </a:p>
          </p:txBody>
        </p:sp>
        <p:sp>
          <p:nvSpPr>
            <p:cNvPr id="169" name="barlambda_label_1" descr="Editable text; source id barlambda_label_1"/>
            <p:cNvSpPr txBox="1"/>
            <p:nvPr/>
          </p:nvSpPr>
          <p:spPr>
            <a:xfrm>
              <a:off x="3661225" y="1696575"/>
              <a:ext cx="35002" cy="74817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087F86"/>
                  </a:solidFill>
                  <a:latin typeface="Liberation Serif"/>
                  <a:ea typeface="Liberation Serif"/>
                  <a:cs typeface="Liberation Serif"/>
                </a:rPr>
                <a:t>*</a:t>
              </a:r>
            </a:p>
          </p:txBody>
        </p:sp>
      </p:grpSp>
      <p:sp>
        <p:nvSpPr>
          <p:cNvPr id="170" name="beta_into_plus" descr="Editable line; source id beta_into_plus"/>
          <p:cNvSpPr/>
          <p:nvPr/>
        </p:nvSpPr>
        <p:spPr>
          <a:xfrm>
            <a:off x="3163367" y="1940014"/>
            <a:ext cx="266548" cy="22631"/>
          </a:xfrm>
          <a:custGeom>
            <a:avLst/>
            <a:gdLst/>
            <a:ahLst/>
            <a:cxnLst/>
            <a:rect l="l" t="t" r="r" b="b"/>
            <a:pathLst>
              <a:path w="95188" h="8082">
                <a:moveTo>
                  <a:pt x="0" y="3098"/>
                </a:moveTo>
                <a:lnTo>
                  <a:pt x="84412" y="3098"/>
                </a:lnTo>
                <a:lnTo>
                  <a:pt x="84412" y="0"/>
                </a:lnTo>
                <a:lnTo>
                  <a:pt x="95188" y="4041"/>
                </a:lnTo>
                <a:lnTo>
                  <a:pt x="84412" y="8082"/>
                </a:lnTo>
                <a:lnTo>
                  <a:pt x="84412" y="4984"/>
                </a:lnTo>
                <a:lnTo>
                  <a:pt x="0" y="4984"/>
                </a:lnTo>
                <a:close/>
              </a:path>
            </a:pathLst>
          </a:custGeom>
          <a:solidFill>
            <a:srgbClr val="7082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beta_label_0" descr="Editable text; source id beta_label_0"/>
          <p:cNvSpPr txBox="1"/>
          <p:nvPr/>
        </p:nvSpPr>
        <p:spPr>
          <a:xfrm>
            <a:off x="3264340" y="1801657"/>
            <a:ext cx="56004" cy="114088"/>
          </a:xfrm>
          <a:prstGeom prst="rect">
            <a:avLst/>
          </a:prstGeom>
          <a:noFill/>
          <a:effectLst/>
        </p:spPr>
        <p:txBody>
          <a:bodyPr wrap="none" anchor="t" tIns="1400" rIns="0" bIns="0" lIns="3500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0" i="1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2" b="0" i="1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β</a:t>
            </a:r>
          </a:p>
        </p:txBody>
      </p:sp>
      <p:grpSp>
        <p:nvGrpSpPr>
          <p:cNvPr id="219" name="price_sum" descr="price sum"/>
          <p:cNvGrpSpPr/>
          <p:nvPr/>
        </p:nvGrpSpPr>
        <p:grpSpPr>
          <a:xfrm>
            <a:off x="3452545" y="1863318"/>
            <a:ext cx="186080" cy="186080"/>
            <a:chOff x="3452545" y="1863318"/>
            <a:chExt cx="186080" cy="186080"/>
          </a:xfrm>
        </p:grpSpPr>
        <p:sp>
          <p:nvSpPr>
            <p:cNvPr id="172" name="plus_circle" descr="Editable shape; source id plus_circle"/>
            <p:cNvSpPr/>
            <p:nvPr/>
          </p:nvSpPr>
          <p:spPr>
            <a:xfrm>
              <a:off x="3452545" y="1863318"/>
              <a:ext cx="186080" cy="186080"/>
            </a:xfrm>
            <a:prstGeom prst="ellipse">
              <a:avLst/>
            </a:prstGeom>
            <a:solidFill>
              <a:srgbClr val="FFFFFF"/>
            </a:solidFill>
            <a:ln w="4777">
              <a:solidFill>
                <a:srgbClr val="087F8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plus_symbol" descr="Editable text; source id plus_symbol"/>
            <p:cNvSpPr txBox="1"/>
            <p:nvPr/>
          </p:nvSpPr>
          <p:spPr>
            <a:xfrm>
              <a:off x="3509494" y="1889355"/>
              <a:ext cx="80582" cy="141591"/>
            </a:xfrm>
            <a:prstGeom prst="rect">
              <a:avLst/>
            </a:prstGeom>
            <a:noFill/>
            <a:effectLst/>
          </p:spPr>
          <p:txBody>
            <a:bodyPr wrap="none" anchor="t" tIns="5600" rIns="0" bIns="0" lIns="5600" anchorCtr="0" vertOverflow="overflow">
              <a:noAutofit/>
            </a:bodyPr>
            <a:lstStyle/>
            <a:p>
              <a:pPr algn="l" fontAlgn="base">
                <a:lnSpc>
                  <a:spcPts val="979"/>
                </a:lnSpc>
                <a:spcBef>
                  <a:spcPts val="0"/>
                </a:spcBef>
                <a:spcAft>
                  <a:spcPts val="0"/>
                </a:spcAft>
                <a:defRPr sz="851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851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+</a:t>
              </a:r>
            </a:p>
          </p:txBody>
        </p:sp>
      </p:grpSp>
      <p:sp>
        <p:nvSpPr>
          <p:cNvPr id="174" name="lambda_into_update" descr="Editable line; source id lambda_into_update"/>
          <p:cNvSpPr/>
          <p:nvPr/>
        </p:nvSpPr>
        <p:spPr>
          <a:xfrm>
            <a:off x="3651199" y="1945043"/>
            <a:ext cx="256489" cy="22631"/>
          </a:xfrm>
          <a:custGeom>
            <a:avLst/>
            <a:gdLst/>
            <a:ahLst/>
            <a:cxnLst/>
            <a:rect l="l" t="t" r="r" b="b"/>
            <a:pathLst>
              <a:path w="91596" h="8082">
                <a:moveTo>
                  <a:pt x="0" y="2919"/>
                </a:moveTo>
                <a:lnTo>
                  <a:pt x="80820" y="2919"/>
                </a:lnTo>
                <a:lnTo>
                  <a:pt x="80820" y="0"/>
                </a:lnTo>
                <a:lnTo>
                  <a:pt x="91596" y="4041"/>
                </a:lnTo>
                <a:lnTo>
                  <a:pt x="80820" y="8082"/>
                </a:lnTo>
                <a:lnTo>
                  <a:pt x="80820" y="5163"/>
                </a:lnTo>
                <a:lnTo>
                  <a:pt x="0" y="5163"/>
                </a:lnTo>
                <a:close/>
              </a:path>
            </a:pathLst>
          </a:custGeom>
          <a:solidFill>
            <a:srgbClr val="087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lambda_total_label_0" descr="Editable text; source id lambda_total_label_0"/>
          <p:cNvSpPr txBox="1"/>
          <p:nvPr/>
        </p:nvSpPr>
        <p:spPr>
          <a:xfrm>
            <a:off x="3744176" y="1809201"/>
            <a:ext cx="51180" cy="114088"/>
          </a:xfrm>
          <a:prstGeom prst="rect">
            <a:avLst/>
          </a:prstGeom>
          <a:noFill/>
          <a:effectLst/>
        </p:spPr>
        <p:txBody>
          <a:bodyPr wrap="none" anchor="t" tIns="1400" rIns="0" bIns="0" lIns="4200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0" i="1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2" b="0" i="1" lang="zh-CN" dirty="0">
                <a:solidFill>
                  <a:srgbClr val="087F86"/>
                </a:solidFill>
                <a:latin typeface="Liberation Serif"/>
                <a:ea typeface="Liberation Serif"/>
                <a:cs typeface="Liberation Serif"/>
              </a:rPr>
              <a:t>λ</a:t>
            </a:r>
          </a:p>
        </p:txBody>
      </p:sp>
      <p:grpSp>
        <p:nvGrpSpPr>
          <p:cNvPr id="220" name="policy_next" descr="Editable formula parts and native mathematical delimiters."/>
          <p:cNvGrpSpPr/>
          <p:nvPr/>
        </p:nvGrpSpPr>
        <p:grpSpPr>
          <a:xfrm>
            <a:off x="4608555" y="2206093"/>
            <a:ext cx="135809" cy="125149"/>
            <a:chOff x="4608555" y="2206093"/>
            <a:chExt cx="135809" cy="125149"/>
          </a:xfrm>
        </p:grpSpPr>
        <p:sp>
          <p:nvSpPr>
            <p:cNvPr id="176" name="policy_next_0" descr="Editable text; source id policy_next_0"/>
            <p:cNvSpPr txBox="1"/>
            <p:nvPr/>
          </p:nvSpPr>
          <p:spPr>
            <a:xfrm>
              <a:off x="4608555" y="2206093"/>
              <a:ext cx="53204" cy="111196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842"/>
                </a:lnSpc>
                <a:spcBef>
                  <a:spcPts val="0"/>
                </a:spcBef>
                <a:spcAft>
                  <a:spcPts val="0"/>
                </a:spcAft>
                <a:def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32" b="0" i="1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π</a:t>
              </a:r>
            </a:p>
          </p:txBody>
        </p:sp>
        <p:sp>
          <p:nvSpPr>
            <p:cNvPr id="177" name="policy_next_1" descr="Editable text; source id policy_next_1"/>
            <p:cNvSpPr txBox="1"/>
            <p:nvPr/>
          </p:nvSpPr>
          <p:spPr>
            <a:xfrm>
              <a:off x="4657558" y="2256425"/>
              <a:ext cx="86806" cy="74817"/>
            </a:xfrm>
            <a:prstGeom prst="rect">
              <a:avLst/>
            </a:prstGeom>
            <a:noFill/>
            <a:effectLst/>
          </p:spPr>
          <p:txBody>
            <a:bodyPr wrap="none" anchor="t" tIns="1400" rIns="0" bIns="0" lIns="1400" anchorCtr="0" vertOverflow="overflow">
              <a:noAutofit/>
            </a:bodyPr>
            <a:lstStyle/>
            <a:p>
              <a:pPr algn="l" fontAlgn="base">
                <a:lnSpc>
                  <a:spcPts val="556"/>
                </a:lnSpc>
                <a:spcBef>
                  <a:spcPts val="0"/>
                </a:spcBef>
                <a:spcAft>
                  <a:spcPts val="0"/>
                </a:spcAft>
                <a:def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483" b="0" i="0" lang="zh-CN" dirty="0">
                  <a:solidFill>
                    <a:srgbClr val="24343C"/>
                  </a:solidFill>
                  <a:latin typeface="Liberation Serif"/>
                  <a:ea typeface="Liberation Serif"/>
                  <a:cs typeface="Liberation Serif"/>
                </a:rPr>
                <a:t>t+1</a:t>
              </a:r>
            </a:p>
          </p:txBody>
        </p:sp>
      </p:grpSp>
      <p:grpSp>
        <p:nvGrpSpPr>
          <p:cNvPr id="221" name="next_rollout" descr="One editable routed connector; fixed endpoints."/>
          <p:cNvGrpSpPr/>
          <p:nvPr/>
        </p:nvGrpSpPr>
        <p:grpSpPr>
          <a:xfrm>
            <a:off x="516750" y="2142439"/>
            <a:ext cx="4338942" cy="240147"/>
            <a:chOff x="516750" y="2142439"/>
            <a:chExt cx="4338942" cy="240147"/>
          </a:xfrm>
        </p:grpSpPr>
        <p:cxnSp>
          <p:nvCxnSpPr>
            <p:cNvPr id="178" name="next_rollout_0" descr="Editable line; source id next_rollout_0"/>
            <p:cNvCxnSpPr/>
            <p:nvPr/>
          </p:nvCxnSpPr>
          <p:spPr>
            <a:xfrm>
              <a:off x="4855692" y="2187701"/>
              <a:ext cx="0" cy="194885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next_rollout_1" descr="Editable line; source id next_rollout_1"/>
            <p:cNvCxnSpPr/>
            <p:nvPr/>
          </p:nvCxnSpPr>
          <p:spPr>
            <a:xfrm flipH="1">
              <a:off x="528066" y="2382586"/>
              <a:ext cx="4327626" cy="0"/>
            </a:xfrm>
            <a:prstGeom prst="line">
              <a:avLst/>
            </a:prstGeom>
            <a:ln w="5280" cap="rnd">
              <a:solidFill>
                <a:srgbClr val="70828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0" name="next_rollout_2" descr="Editable line; source id next_rollout_2"/>
            <p:cNvSpPr/>
            <p:nvPr/>
          </p:nvSpPr>
          <p:spPr>
            <a:xfrm>
              <a:off x="516750" y="2142439"/>
              <a:ext cx="22631" cy="240147"/>
            </a:xfrm>
            <a:custGeom>
              <a:avLst/>
              <a:gdLst/>
              <a:ahLst/>
              <a:cxnLst/>
              <a:rect l="l" t="t" r="r" b="b"/>
              <a:pathLst>
                <a:path w="8082" h="85760">
                  <a:moveTo>
                    <a:pt x="3098" y="85760"/>
                  </a:moveTo>
                  <a:lnTo>
                    <a:pt x="3098" y="10776"/>
                  </a:lnTo>
                  <a:lnTo>
                    <a:pt x="0" y="10776"/>
                  </a:lnTo>
                  <a:lnTo>
                    <a:pt x="4041" y="0"/>
                  </a:lnTo>
                  <a:lnTo>
                    <a:pt x="8082" y="10776"/>
                  </a:lnTo>
                  <a:lnTo>
                    <a:pt x="4984" y="10776"/>
                  </a:lnTo>
                  <a:lnTo>
                    <a:pt x="4984" y="85760"/>
                  </a:lnTo>
                  <a:close/>
                </a:path>
              </a:pathLst>
            </a:custGeom>
            <a:solidFill>
              <a:srgbClr val="70828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1" name="next_rollout_label" descr="Editable text; source id next_rollout_label"/>
          <p:cNvSpPr txBox="1"/>
          <p:nvPr/>
        </p:nvSpPr>
        <p:spPr>
          <a:xfrm>
            <a:off x="3008993" y="2265189"/>
            <a:ext cx="427788" cy="117854"/>
          </a:xfrm>
          <a:prstGeom prst="rect">
            <a:avLst/>
          </a:prstGeom>
          <a:noFill/>
          <a:effectLst/>
        </p:spPr>
        <p:txBody>
          <a:bodyPr wrap="none" anchor="t" tIns="5600" rIns="0" bIns="0" lIns="5600" anchorCtr="0" vertOverflow="overflow">
            <a:noAutofit/>
          </a:bodyPr>
          <a:lstStyle/>
          <a:p>
            <a:pPr algn="l" fontAlgn="base">
              <a:lnSpc>
                <a:spcPts val="796"/>
              </a:lnSpc>
              <a:spcBef>
                <a:spcPts val="0"/>
              </a:spcBef>
              <a:spcAft>
                <a:spcPts val="0"/>
              </a:spcAft>
              <a:defRPr sz="693" b="0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693" b="0" i="0" lang="zh-CN" dirty="0">
                <a:solidFill>
                  <a:srgbClr val="24343C"/>
                </a:solidFill>
                <a:latin typeface="Liberation Serif"/>
                <a:ea typeface="Liberation Serif"/>
                <a:cs typeface="Liberation Serif"/>
              </a:rPr>
              <a:t>next 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